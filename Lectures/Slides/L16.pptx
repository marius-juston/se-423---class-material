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50" d="100"/>
          <a:sy n="150" d="100"/>
        </p:scale>
        <p:origin x="10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16: LiDAR Code</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Monday: </a:t>
            </a:r>
            <a:r>
              <a:rPr lang="en-US" sz="1800" dirty="0">
                <a:latin typeface="Arial"/>
                <a:ea typeface="Arial"/>
                <a:cs typeface="Arial"/>
                <a:sym typeface="Arial"/>
              </a:rPr>
              <a:t>4-6 PM</a:t>
            </a:r>
            <a:r>
              <a:rPr lang="en-US" sz="1800" b="1" dirty="0">
                <a:latin typeface="Arial"/>
                <a:ea typeface="Arial"/>
                <a:cs typeface="Arial"/>
                <a:sym typeface="Arial"/>
              </a:rPr>
              <a:t>, </a:t>
            </a:r>
            <a:r>
              <a:rPr lang="en-US" sz="1800" dirty="0">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2-5 PM</a:t>
            </a:r>
            <a:r>
              <a:rPr lang="en-US" sz="1800" b="1" dirty="0">
                <a:latin typeface="Arial"/>
                <a:ea typeface="Arial"/>
                <a:cs typeface="Arial"/>
                <a:sym typeface="Arial"/>
              </a:rPr>
              <a:t>, </a:t>
            </a:r>
            <a:r>
              <a:rPr lang="en-US" sz="1800" dirty="0">
                <a:latin typeface="Arial"/>
                <a:ea typeface="Arial"/>
                <a:cs typeface="Arial"/>
                <a:sym typeface="Arial"/>
              </a:rPr>
              <a:t>Dan &amp; Marius</a:t>
            </a:r>
            <a:endParaRPr lang="en-US" sz="1800" b="1"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p>
          <a:p>
            <a:pPr marL="742950" lvl="1" indent="-285750">
              <a:lnSpc>
                <a:spcPct val="100000"/>
              </a:lnSpc>
              <a:spcBef>
                <a:spcPts val="0"/>
              </a:spcBef>
              <a:buSzPts val="3000"/>
            </a:pPr>
            <a:r>
              <a:rPr lang="en-US" sz="1800" dirty="0">
                <a:latin typeface="Arial"/>
                <a:ea typeface="Arial"/>
                <a:cs typeface="Arial"/>
                <a:sym typeface="Arial"/>
              </a:rPr>
              <a:t>This is a long homework, so </a:t>
            </a:r>
            <a:r>
              <a:rPr lang="en-US" sz="1800" b="1" dirty="0">
                <a:latin typeface="Arial"/>
                <a:ea typeface="Arial"/>
                <a:cs typeface="Arial"/>
                <a:sym typeface="Arial"/>
              </a:rPr>
              <a:t>DO NOT </a:t>
            </a:r>
            <a:r>
              <a:rPr lang="en-US" sz="1800" dirty="0">
                <a:latin typeface="Arial"/>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URG-04LX</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Laser Classes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Laser radiation can cause three basic types of laser hazards: </a:t>
            </a:r>
            <a:r>
              <a:rPr lang="en-US" sz="2400" b="1" dirty="0">
                <a:solidFill>
                  <a:schemeClr val="dk1"/>
                </a:solidFill>
                <a:latin typeface="Arial"/>
                <a:ea typeface="Arial"/>
                <a:cs typeface="Arial"/>
                <a:sym typeface="Arial"/>
              </a:rPr>
              <a:t>eye</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skin</a:t>
            </a:r>
            <a:r>
              <a:rPr lang="en-US" sz="2400" dirty="0">
                <a:solidFill>
                  <a:schemeClr val="dk1"/>
                </a:solidFill>
                <a:latin typeface="Arial"/>
                <a:ea typeface="Arial"/>
                <a:cs typeface="Arial"/>
                <a:sym typeface="Arial"/>
              </a:rPr>
              <a:t> and </a:t>
            </a:r>
            <a:r>
              <a:rPr lang="en-US" sz="2400" b="1" dirty="0">
                <a:solidFill>
                  <a:schemeClr val="dk1"/>
                </a:solidFill>
                <a:latin typeface="Arial"/>
                <a:ea typeface="Arial"/>
                <a:cs typeface="Arial"/>
                <a:sym typeface="Arial"/>
              </a:rPr>
              <a:t>fire hazards</a:t>
            </a:r>
            <a:r>
              <a:rPr lang="en-US" sz="2400" dirty="0">
                <a:solidFill>
                  <a:schemeClr val="dk1"/>
                </a:solidFill>
                <a:latin typeface="Arial"/>
                <a:ea typeface="Arial"/>
                <a:cs typeface="Arial"/>
                <a:sym typeface="Arial"/>
              </a:rPr>
              <a:t>.</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classes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rial"/>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rial"/>
                <a:ea typeface="Arial"/>
                <a:cs typeface="Arial"/>
                <a:sym typeface="Arial"/>
              </a:rPr>
              <a:t>When light reaches the eye, the </a:t>
            </a:r>
            <a:r>
              <a:rPr lang="en-US" sz="2000" b="1" dirty="0">
                <a:solidFill>
                  <a:schemeClr val="dk1"/>
                </a:solidFill>
                <a:latin typeface="Arial"/>
                <a:ea typeface="Arial"/>
                <a:cs typeface="Arial"/>
                <a:sym typeface="Arial"/>
              </a:rPr>
              <a:t>cornea </a:t>
            </a:r>
            <a:r>
              <a:rPr lang="en-US" sz="2000" dirty="0">
                <a:solidFill>
                  <a:schemeClr val="dk1"/>
                </a:solidFill>
                <a:latin typeface="Arial"/>
                <a:ea typeface="Arial"/>
                <a:cs typeface="Arial"/>
                <a:sym typeface="Arial"/>
              </a:rPr>
              <a:t>and the </a:t>
            </a:r>
            <a:r>
              <a:rPr lang="en-US" sz="2000" b="1" dirty="0">
                <a:solidFill>
                  <a:schemeClr val="dk1"/>
                </a:solidFill>
                <a:latin typeface="Arial"/>
                <a:ea typeface="Arial"/>
                <a:cs typeface="Arial"/>
                <a:sym typeface="Arial"/>
              </a:rPr>
              <a:t>lens </a:t>
            </a:r>
            <a:r>
              <a:rPr lang="en-US" sz="2000" dirty="0">
                <a:solidFill>
                  <a:schemeClr val="dk1"/>
                </a:solidFill>
                <a:latin typeface="Arial"/>
                <a:ea typeface="Arial"/>
                <a:cs typeface="Arial"/>
                <a:sym typeface="Arial"/>
              </a:rPr>
              <a:t>act as </a:t>
            </a:r>
            <a:r>
              <a:rPr lang="en-US" sz="2000" b="1" dirty="0">
                <a:solidFill>
                  <a:schemeClr val="dk1"/>
                </a:solidFill>
                <a:latin typeface="Arial"/>
                <a:ea typeface="Arial"/>
                <a:cs typeface="Arial"/>
                <a:sym typeface="Arial"/>
              </a:rPr>
              <a:t>amplifiers</a:t>
            </a:r>
            <a:r>
              <a:rPr lang="en-US" sz="2000" dirty="0">
                <a:solidFill>
                  <a:schemeClr val="dk1"/>
                </a:solidFill>
                <a:latin typeface="Arial"/>
                <a:ea typeface="Arial"/>
                <a:cs typeface="Arial"/>
                <a:sym typeface="Arial"/>
              </a:rPr>
              <a:t>. They concentrate light onto the </a:t>
            </a:r>
            <a:r>
              <a:rPr lang="en-US" sz="2000" b="1" dirty="0">
                <a:solidFill>
                  <a:schemeClr val="dk1"/>
                </a:solidFill>
                <a:latin typeface="Arial"/>
                <a:ea typeface="Arial"/>
                <a:cs typeface="Arial"/>
                <a:sym typeface="Arial"/>
              </a:rPr>
              <a:t>retina </a:t>
            </a:r>
            <a:r>
              <a:rPr lang="en-US" sz="2000" dirty="0">
                <a:solidFill>
                  <a:schemeClr val="dk1"/>
                </a:solidFill>
                <a:latin typeface="Arial"/>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rial"/>
                <a:ea typeface="Arial"/>
                <a:cs typeface="Arial"/>
                <a:sym typeface="Arial"/>
              </a:rPr>
              <a:t>Those three components of the human eye (</a:t>
            </a:r>
            <a:r>
              <a:rPr lang="en-US" sz="2000" b="1" dirty="0">
                <a:solidFill>
                  <a:schemeClr val="dk1"/>
                </a:solidFill>
                <a:latin typeface="Arial"/>
                <a:ea typeface="Arial"/>
                <a:cs typeface="Arial"/>
                <a:sym typeface="Arial"/>
              </a:rPr>
              <a:t>cornea, lens and retina</a:t>
            </a:r>
            <a:r>
              <a:rPr lang="en-US" sz="2000" dirty="0">
                <a:solidFill>
                  <a:schemeClr val="dk1"/>
                </a:solidFill>
                <a:latin typeface="Arial"/>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rial"/>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0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classes – Eye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Laser Systems Eye">
            <a:extLst>
              <a:ext uri="{FF2B5EF4-FFF2-40B4-BE49-F238E27FC236}">
                <a16:creationId xmlns:a16="http://schemas.microsoft.com/office/drawing/2014/main" id="{EF9E573E-BDFA-DA32-BAEC-9A7134E9912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rial"/>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rial"/>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rial"/>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rial"/>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rial"/>
                <a:ea typeface="Arial"/>
                <a:cs typeface="Arial"/>
                <a:sym typeface="Arial"/>
              </a:rPr>
              <a:t>Different goggles absorb different lights</a:t>
            </a:r>
            <a:r>
              <a:rPr lang="en-US" sz="1900" dirty="0">
                <a:solidFill>
                  <a:schemeClr val="dk1"/>
                </a:solidFill>
                <a:latin typeface="Arial"/>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Eye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Laser Systems Eye">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Skin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Fire hazards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URG-04LX</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Laser beam diameter is less than 20mm at 2000mm with maximum divergence 40mm at 4000mm. </a:t>
            </a:r>
            <a:endParaRPr lang="en-US" sz="2000" dirty="0">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rial"/>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rial"/>
              <a:ea typeface="Arial"/>
              <a:cs typeface="Arial"/>
              <a:sym typeface="Arial"/>
            </a:endParaRPr>
          </a:p>
          <a:p>
            <a:pPr indent="-457200">
              <a:lnSpc>
                <a:spcPct val="100000"/>
              </a:lnSpc>
              <a:spcBef>
                <a:spcPts val="0"/>
              </a:spcBef>
              <a:buSzPts val="3000"/>
              <a:buFont typeface="+mj-lt"/>
              <a:buAutoNum type="arabicPeriod"/>
            </a:pPr>
            <a:r>
              <a:rPr lang="en-US" sz="2400" dirty="0">
                <a:latin typeface="Arial"/>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rial"/>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rial"/>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rial"/>
                <a:ea typeface="Arial"/>
                <a:cs typeface="Arial"/>
                <a:sym typeface="Arial"/>
              </a:rPr>
              <a:t>Distance Data Acquisition Command (‘G’)</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u="sng" dirty="0">
                <a:latin typeface="Arial"/>
                <a:ea typeface="Arial"/>
                <a:cs typeface="Arial"/>
                <a:sym typeface="Arial"/>
              </a:rPr>
              <a:t>Host to Sensor</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u="sng" dirty="0">
                <a:latin typeface="Arial"/>
                <a:ea typeface="Arial"/>
                <a:cs typeface="Arial"/>
                <a:sym typeface="Arial"/>
              </a:rPr>
              <a:t>Sensor to Host</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rial"/>
                <a:ea typeface="Arial"/>
                <a:cs typeface="Arial"/>
                <a:sym typeface="Arial"/>
              </a:rPr>
              <a:t>The codes XX</a:t>
            </a:r>
            <a:r>
              <a:rPr lang="en-US" sz="2000" baseline="-25000" dirty="0">
                <a:latin typeface="Arial"/>
                <a:ea typeface="Arial"/>
                <a:cs typeface="Arial"/>
                <a:sym typeface="Arial"/>
              </a:rPr>
              <a:t>16</a:t>
            </a:r>
            <a:r>
              <a:rPr lang="en-US" sz="2000" dirty="0">
                <a:latin typeface="Arial"/>
                <a:ea typeface="Arial"/>
                <a:cs typeface="Arial"/>
                <a:sym typeface="Arial"/>
              </a:rPr>
              <a:t> represents ASCII codes in hex</a:t>
            </a:r>
          </a:p>
          <a:p>
            <a:pPr marL="342900">
              <a:lnSpc>
                <a:spcPct val="100000"/>
              </a:lnSpc>
              <a:spcBef>
                <a:spcPts val="0"/>
              </a:spcBef>
              <a:buSzPts val="3000"/>
            </a:pPr>
            <a:r>
              <a:rPr lang="en-US" sz="2000" dirty="0">
                <a:latin typeface="Arial"/>
                <a:ea typeface="Arial"/>
                <a:cs typeface="Arial"/>
                <a:sym typeface="Arial"/>
              </a:rPr>
              <a:t>Any status code other than ‘0’</a:t>
            </a:r>
            <a:r>
              <a:rPr lang="en-US" sz="2000" baseline="-25000" dirty="0">
                <a:latin typeface="Arial"/>
                <a:ea typeface="Arial"/>
                <a:cs typeface="Arial"/>
                <a:sym typeface="Arial"/>
              </a:rPr>
              <a:t>16</a:t>
            </a:r>
            <a:r>
              <a:rPr lang="en-US" sz="2000" dirty="0">
                <a:latin typeface="Arial"/>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aphicFrame>
        <p:nvGraphicFramePr>
          <p:cNvPr id="5" name="Table 4">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rial"/>
                <a:ea typeface="Arial"/>
                <a:cs typeface="Arial"/>
                <a:sym typeface="Arial"/>
              </a:rPr>
              <a:t>The command ‘V’</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Version Info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rial"/>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Illumination Control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Example : </a:t>
            </a:r>
          </a:p>
          <a:p>
            <a:pPr marL="342900">
              <a:lnSpc>
                <a:spcPct val="100000"/>
              </a:lnSpc>
              <a:spcBef>
                <a:spcPts val="0"/>
              </a:spcBef>
              <a:buSzPts val="3000"/>
            </a:pPr>
            <a:r>
              <a:rPr lang="en-US" sz="1400" dirty="0">
                <a:latin typeface="Arial"/>
                <a:ea typeface="Arial"/>
                <a:cs typeface="Arial"/>
                <a:sym typeface="Arial"/>
              </a:rPr>
              <a:t>57.6 </a:t>
            </a:r>
            <a:r>
              <a:rPr lang="en-US" sz="1400" dirty="0" err="1">
                <a:latin typeface="Arial"/>
                <a:ea typeface="Arial"/>
                <a:cs typeface="Arial"/>
                <a:sym typeface="Arial"/>
              </a:rPr>
              <a:t>Kpbs</a:t>
            </a:r>
            <a:r>
              <a:rPr lang="en-US" sz="1400" dirty="0">
                <a:latin typeface="Arial"/>
                <a:ea typeface="Arial"/>
                <a:cs typeface="Arial"/>
                <a:sym typeface="Arial"/>
              </a:rPr>
              <a:t> = “057600” (ASCII 6 Digits)</a:t>
            </a:r>
          </a:p>
          <a:p>
            <a:pPr marL="285750" indent="-285750">
              <a:lnSpc>
                <a:spcPct val="100000"/>
              </a:lnSpc>
              <a:spcBef>
                <a:spcPts val="0"/>
              </a:spcBef>
              <a:buSzPts val="3000"/>
            </a:pPr>
            <a:r>
              <a:rPr lang="en-US" sz="1400" dirty="0">
                <a:latin typeface="Arial"/>
                <a:ea typeface="Arial"/>
                <a:cs typeface="Arial"/>
                <a:sym typeface="Arial"/>
              </a:rPr>
              <a:t> 115.2 </a:t>
            </a:r>
            <a:r>
              <a:rPr lang="en-US" sz="1400" dirty="0" err="1">
                <a:latin typeface="Arial"/>
                <a:ea typeface="Arial"/>
                <a:cs typeface="Arial"/>
                <a:sym typeface="Arial"/>
              </a:rPr>
              <a:t>Kpbs</a:t>
            </a:r>
            <a:r>
              <a:rPr lang="en-US" sz="1400" dirty="0">
                <a:latin typeface="Arial"/>
                <a:ea typeface="Arial"/>
                <a:cs typeface="Arial"/>
                <a:sym typeface="Arial"/>
              </a:rPr>
              <a:t> = “115200” (ASCII 6 Digits)</a:t>
            </a: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What baud rate is being set here?</a:t>
            </a:r>
          </a:p>
          <a:p>
            <a:pPr marL="0" indent="0">
              <a:lnSpc>
                <a:spcPct val="100000"/>
              </a:lnSpc>
              <a:spcBef>
                <a:spcPts val="0"/>
              </a:spcBef>
              <a:buSzPts val="3000"/>
              <a:buNone/>
            </a:pPr>
            <a:endParaRPr lang="en-US" sz="1400" dirty="0">
              <a:latin typeface="Arial"/>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rial"/>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Communication Settings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rial"/>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rial"/>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rial"/>
                <a:ea typeface="Arial"/>
                <a:cs typeface="Arial"/>
                <a:sym typeface="Arial"/>
              </a:rPr>
              <a:t>The 12-bit data is separated into 6 bit (max value of 63) each and then have 30</a:t>
            </a:r>
            <a:r>
              <a:rPr lang="en-US" sz="1800" baseline="-25000" dirty="0">
                <a:latin typeface="Arial"/>
                <a:ea typeface="Arial"/>
                <a:cs typeface="Arial"/>
                <a:sym typeface="Arial"/>
              </a:rPr>
              <a:t>16</a:t>
            </a:r>
            <a:r>
              <a:rPr lang="en-US" sz="1800" dirty="0">
                <a:latin typeface="Arial"/>
                <a:ea typeface="Arial"/>
                <a:cs typeface="Arial"/>
                <a:sym typeface="Arial"/>
              </a:rPr>
              <a:t> (‘0’)  added to them.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Example:</a:t>
            </a:r>
          </a:p>
          <a:p>
            <a:pPr marL="0" indent="0" algn="ctr">
              <a:lnSpc>
                <a:spcPct val="100000"/>
              </a:lnSpc>
              <a:spcBef>
                <a:spcPts val="0"/>
              </a:spcBef>
              <a:buSzPts val="3000"/>
              <a:buNone/>
            </a:pPr>
            <a:r>
              <a:rPr lang="en-US" sz="1800" dirty="0">
                <a:latin typeface="Arial"/>
                <a:ea typeface="Arial"/>
                <a:cs typeface="Arial"/>
                <a:sym typeface="Arial"/>
              </a:rPr>
              <a:t>1234 mm = 0100110100102</a:t>
            </a:r>
            <a:r>
              <a:rPr lang="en-US" sz="1800" baseline="-25000" dirty="0">
                <a:latin typeface="Arial"/>
                <a:ea typeface="Arial"/>
                <a:cs typeface="Arial"/>
                <a:sym typeface="Arial"/>
              </a:rPr>
              <a:t>2</a:t>
            </a:r>
          </a:p>
          <a:p>
            <a:pPr marL="0" indent="0" algn="ctr">
              <a:lnSpc>
                <a:spcPct val="100000"/>
              </a:lnSpc>
              <a:spcBef>
                <a:spcPts val="0"/>
              </a:spcBef>
              <a:buSzPts val="3000"/>
              <a:buNone/>
            </a:pPr>
            <a:endParaRPr lang="en-US" sz="1800" baseline="-250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separation</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(010011</a:t>
            </a:r>
            <a:r>
              <a:rPr lang="en-US" sz="1800" baseline="-25000" dirty="0">
                <a:latin typeface="Arial"/>
                <a:ea typeface="Arial"/>
                <a:cs typeface="Arial"/>
                <a:sym typeface="Arial"/>
              </a:rPr>
              <a:t>2</a:t>
            </a:r>
            <a:r>
              <a:rPr lang="en-US" sz="1800" dirty="0">
                <a:latin typeface="Arial"/>
                <a:ea typeface="Arial"/>
                <a:cs typeface="Arial"/>
                <a:sym typeface="Arial"/>
              </a:rPr>
              <a:t>, 010010</a:t>
            </a:r>
            <a:r>
              <a:rPr lang="en-US" sz="1800" baseline="-25000" dirty="0">
                <a:latin typeface="Arial"/>
                <a:ea typeface="Arial"/>
                <a:cs typeface="Arial"/>
                <a:sym typeface="Arial"/>
              </a:rPr>
              <a:t>2</a:t>
            </a:r>
            <a:r>
              <a:rPr lang="en-US" sz="1800" dirty="0">
                <a:latin typeface="Arial"/>
                <a:ea typeface="Arial"/>
                <a:cs typeface="Arial"/>
                <a:sym typeface="Arial"/>
              </a:rPr>
              <a:t>) = (13</a:t>
            </a:r>
            <a:r>
              <a:rPr lang="en-US" sz="1800" baseline="-25000" dirty="0">
                <a:latin typeface="Arial"/>
                <a:ea typeface="Arial"/>
                <a:cs typeface="Arial"/>
                <a:sym typeface="Arial"/>
              </a:rPr>
              <a:t>16</a:t>
            </a:r>
            <a:r>
              <a:rPr lang="en-US" sz="1800" dirty="0">
                <a:latin typeface="Arial"/>
                <a:ea typeface="Arial"/>
                <a:cs typeface="Arial"/>
                <a:sym typeface="Arial"/>
              </a:rPr>
              <a:t>, 12</a:t>
            </a:r>
            <a:r>
              <a:rPr lang="en-US" sz="1800" baseline="-25000" dirty="0">
                <a:latin typeface="Arial"/>
                <a:ea typeface="Arial"/>
                <a:cs typeface="Arial"/>
                <a:sym typeface="Arial"/>
              </a:rPr>
              <a:t>16</a:t>
            </a:r>
            <a:r>
              <a:rPr lang="en-US" sz="1800" dirty="0">
                <a:latin typeface="Arial"/>
                <a:ea typeface="Arial"/>
                <a:cs typeface="Arial"/>
                <a:sym typeface="Arial"/>
              </a:rPr>
              <a:t>)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Add 30</a:t>
            </a:r>
            <a:r>
              <a:rPr lang="en-US" sz="1800" baseline="-25000" dirty="0">
                <a:latin typeface="Arial"/>
                <a:ea typeface="Arial"/>
                <a:cs typeface="Arial"/>
                <a:sym typeface="Arial"/>
              </a:rPr>
              <a:t>16</a:t>
            </a:r>
          </a:p>
          <a:p>
            <a:pPr marL="0" indent="0" algn="ctr">
              <a:lnSpc>
                <a:spcPct val="100000"/>
              </a:lnSpc>
              <a:spcBef>
                <a:spcPts val="0"/>
              </a:spcBef>
              <a:buSzPts val="3000"/>
              <a:buNone/>
            </a:pPr>
            <a:endParaRPr lang="en-US" sz="1800" baseline="-250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(43</a:t>
            </a:r>
            <a:r>
              <a:rPr lang="en-US" sz="1800" baseline="-25000" dirty="0">
                <a:latin typeface="Arial"/>
                <a:ea typeface="Arial"/>
                <a:cs typeface="Arial"/>
                <a:sym typeface="Arial"/>
              </a:rPr>
              <a:t>16</a:t>
            </a:r>
            <a:r>
              <a:rPr lang="en-US" sz="1800" dirty="0">
                <a:latin typeface="Arial"/>
                <a:ea typeface="Arial"/>
                <a:cs typeface="Arial"/>
                <a:sym typeface="Arial"/>
              </a:rPr>
              <a:t>, 42</a:t>
            </a:r>
            <a:r>
              <a:rPr lang="en-US" sz="1800" baseline="-25000" dirty="0">
                <a:latin typeface="Arial"/>
                <a:ea typeface="Arial"/>
                <a:cs typeface="Arial"/>
                <a:sym typeface="Arial"/>
              </a:rPr>
              <a:t>16</a:t>
            </a:r>
            <a:r>
              <a:rPr lang="en-US" sz="1800" dirty="0">
                <a:latin typeface="Arial"/>
                <a:ea typeface="Arial"/>
                <a:cs typeface="Arial"/>
                <a:sym typeface="Arial"/>
              </a:rPr>
              <a:t>) = (‘C’, ‘D’)</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To decode you just do the inverse, where you subtract 30</a:t>
            </a:r>
            <a:r>
              <a:rPr lang="en-US" sz="1800" baseline="-25000" dirty="0">
                <a:latin typeface="Arial"/>
                <a:ea typeface="Arial"/>
                <a:cs typeface="Arial"/>
                <a:sym typeface="Arial"/>
              </a:rPr>
              <a:t>16 </a:t>
            </a:r>
            <a:r>
              <a:rPr lang="en-US" sz="1800" dirty="0">
                <a:latin typeface="Arial"/>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rial"/>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rial"/>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Starting point </a:t>
            </a:r>
            <a:r>
              <a:rPr lang="en-US" sz="1800" dirty="0">
                <a:latin typeface="Arial"/>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rial"/>
                <a:ea typeface="Arial"/>
                <a:cs typeface="Arial"/>
                <a:sym typeface="Arial"/>
              </a:rPr>
              <a:t>End Point </a:t>
            </a:r>
            <a:r>
              <a:rPr lang="en-US" sz="1800" dirty="0">
                <a:latin typeface="Arial"/>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rial"/>
                <a:ea typeface="Arial"/>
                <a:cs typeface="Arial"/>
                <a:sym typeface="Arial"/>
              </a:rPr>
              <a:t>Cluster Count </a:t>
            </a:r>
            <a:r>
              <a:rPr lang="en-US" sz="1800" dirty="0">
                <a:latin typeface="Arial"/>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rial"/>
                <a:ea typeface="Arial"/>
                <a:cs typeface="Arial"/>
                <a:sym typeface="Arial"/>
              </a:rPr>
              <a:t>What is the starting point?</a:t>
            </a:r>
          </a:p>
          <a:p>
            <a:pPr marL="114300" indent="0" algn="ctr">
              <a:buNone/>
            </a:pPr>
            <a:r>
              <a:rPr lang="en-US" sz="1800" dirty="0">
                <a:latin typeface="Arial"/>
                <a:ea typeface="Arial"/>
                <a:cs typeface="Arial"/>
                <a:sym typeface="Arial"/>
              </a:rPr>
              <a:t>‘044’ = 44</a:t>
            </a:r>
            <a:r>
              <a:rPr lang="en-US" sz="1800" baseline="30000" dirty="0">
                <a:latin typeface="Arial"/>
                <a:ea typeface="Arial"/>
                <a:cs typeface="Arial"/>
                <a:sym typeface="Arial"/>
              </a:rPr>
              <a:t>th</a:t>
            </a:r>
            <a:r>
              <a:rPr lang="en-US" sz="1800" dirty="0">
                <a:latin typeface="Arial"/>
                <a:ea typeface="Arial"/>
                <a:cs typeface="Arial"/>
                <a:sym typeface="Arial"/>
              </a:rPr>
              <a:t> step</a:t>
            </a:r>
          </a:p>
          <a:p>
            <a:pPr marL="114300" indent="0">
              <a:buNone/>
            </a:pPr>
            <a:r>
              <a:rPr lang="en-US" sz="1800" dirty="0">
                <a:latin typeface="Arial"/>
                <a:ea typeface="Arial"/>
                <a:cs typeface="Arial"/>
                <a:sym typeface="Arial"/>
              </a:rPr>
              <a:t>What is the ending point?</a:t>
            </a:r>
          </a:p>
          <a:p>
            <a:pPr marL="114300" indent="0" algn="ctr">
              <a:buNone/>
            </a:pPr>
            <a:r>
              <a:rPr lang="en-US" sz="1800" dirty="0">
                <a:latin typeface="Arial"/>
                <a:ea typeface="Arial"/>
                <a:cs typeface="Arial"/>
                <a:sym typeface="Arial"/>
              </a:rPr>
              <a:t>‘725’ = 725</a:t>
            </a:r>
            <a:r>
              <a:rPr lang="en-US" sz="1800" baseline="30000" dirty="0">
                <a:latin typeface="Arial"/>
                <a:ea typeface="Arial"/>
                <a:cs typeface="Arial"/>
                <a:sym typeface="Arial"/>
              </a:rPr>
              <a:t>th</a:t>
            </a:r>
            <a:r>
              <a:rPr lang="en-US" sz="1800" dirty="0">
                <a:latin typeface="Arial"/>
                <a:ea typeface="Arial"/>
                <a:cs typeface="Arial"/>
                <a:sym typeface="Arial"/>
              </a:rPr>
              <a:t> step</a:t>
            </a:r>
          </a:p>
          <a:p>
            <a:pPr marL="114300" indent="0">
              <a:buNone/>
            </a:pPr>
            <a:r>
              <a:rPr lang="en-US" sz="1800" dirty="0">
                <a:latin typeface="Arial"/>
                <a:ea typeface="Arial"/>
                <a:cs typeface="Arial"/>
                <a:sym typeface="Arial"/>
              </a:rPr>
              <a:t>What is the cluster count?</a:t>
            </a:r>
          </a:p>
          <a:p>
            <a:pPr marL="114300" indent="0" algn="ctr">
              <a:buNone/>
            </a:pPr>
            <a:r>
              <a:rPr lang="en-US" sz="1800" dirty="0">
                <a:latin typeface="Arial"/>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rial"/>
                    <a:ea typeface="Arial"/>
                    <a:cs typeface="Arial"/>
                    <a:sym typeface="Arial"/>
                  </a:rPr>
                  <a:t>How many datapoints are we expecting then based on the command?</a:t>
                </a:r>
              </a:p>
              <a:p>
                <a:pPr marL="114300" indent="0">
                  <a:buNone/>
                </a:pPr>
                <a:endParaRPr lang="en-US" sz="1800" dirty="0">
                  <a:latin typeface="Arial"/>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rial"/>
                  <a:ea typeface="Arial"/>
                  <a:cs typeface="Arial"/>
                  <a:sym typeface="Arial"/>
                </a:endParaRPr>
              </a:p>
              <a:p>
                <a:pPr marL="114300" indent="0">
                  <a:buNone/>
                </a:pPr>
                <a:endParaRPr lang="en-US" sz="1800" dirty="0">
                  <a:latin typeface="Arial"/>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Sensor measures the distance in the range 20 mm to 4094 mm. If the distance is less than 20 mm, we can encode an error into the distance measurement.</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rial"/>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rial"/>
              <a:cs typeface="Arial"/>
              <a:sym typeface="Arial"/>
            </a:endParaRPr>
          </a:p>
          <a:p>
            <a:pPr marL="0" indent="0">
              <a:lnSpc>
                <a:spcPct val="100000"/>
              </a:lnSpc>
              <a:spcBef>
                <a:spcPts val="0"/>
              </a:spcBef>
              <a:buSzPts val="3000"/>
              <a:buNone/>
            </a:pPr>
            <a:endParaRPr lang="en-US" sz="1200" dirty="0">
              <a:latin typeface="Arial"/>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rial"/>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rial"/>
                <a:ea typeface="Arial"/>
                <a:cs typeface="Arial"/>
                <a:sym typeface="Arial"/>
              </a:rPr>
              <a:t>So, every 10Hz timer 1 sends the ‘G’ command to collect the new data into the </a:t>
            </a:r>
            <a:r>
              <a:rPr lang="en-US" sz="2400" dirty="0" err="1">
                <a:latin typeface="Arial"/>
                <a:ea typeface="Arial"/>
                <a:cs typeface="Arial"/>
                <a:sym typeface="Arial"/>
              </a:rPr>
              <a:t>lidar_data</a:t>
            </a:r>
            <a:r>
              <a:rPr lang="en-US" sz="2400" dirty="0">
                <a:latin typeface="Arial"/>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rial"/>
                <a:ea typeface="Arial"/>
                <a:cs typeface="Arial"/>
                <a:sym typeface="Arial"/>
              </a:rPr>
              <a:t>As a reminder a software interrupt is the lowest priority level and can be interrupted by any of the other interrupts of higher priority levels.</a:t>
            </a:r>
          </a:p>
          <a:p>
            <a:r>
              <a:rPr lang="en-US" sz="1800" dirty="0">
                <a:latin typeface="Arial"/>
                <a:ea typeface="Arial"/>
                <a:cs typeface="Arial"/>
                <a:sym typeface="Arial"/>
              </a:rPr>
              <a:t>The rows represent a </a:t>
            </a:r>
            <a:r>
              <a:rPr lang="en-US" sz="1800" b="1" dirty="0">
                <a:latin typeface="Arial"/>
                <a:ea typeface="Arial"/>
                <a:cs typeface="Arial"/>
                <a:sym typeface="Arial"/>
              </a:rPr>
              <a:t>group</a:t>
            </a:r>
          </a:p>
          <a:p>
            <a:r>
              <a:rPr lang="en-US" sz="1800" dirty="0">
                <a:latin typeface="Arial"/>
                <a:ea typeface="Arial"/>
                <a:cs typeface="Arial"/>
                <a:sym typeface="Arial"/>
              </a:rPr>
              <a:t>Each column a </a:t>
            </a:r>
            <a:r>
              <a:rPr lang="en-US" sz="1800" b="1" dirty="0">
                <a:latin typeface="Arial"/>
                <a:ea typeface="Arial"/>
                <a:cs typeface="Arial"/>
                <a:sym typeface="Arial"/>
              </a:rPr>
              <a:t>channel </a:t>
            </a:r>
            <a:r>
              <a:rPr lang="en-US" sz="1800" dirty="0">
                <a:latin typeface="Arial"/>
                <a:ea typeface="Arial"/>
                <a:cs typeface="Arial"/>
                <a:sym typeface="Arial"/>
              </a:rPr>
              <a:t>within that group</a:t>
            </a:r>
          </a:p>
          <a:p>
            <a:r>
              <a:rPr lang="en-US" sz="1800" dirty="0">
                <a:latin typeface="Arial"/>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1, will have the </a:t>
            </a:r>
            <a:r>
              <a:rPr lang="en-US" sz="1800" b="1" dirty="0">
                <a:latin typeface="Arial"/>
                <a:ea typeface="Arial"/>
                <a:cs typeface="Arial"/>
                <a:sym typeface="Arial"/>
              </a:rPr>
              <a:t>highest</a:t>
            </a:r>
            <a:r>
              <a:rPr lang="en-US" sz="1800" dirty="0">
                <a:latin typeface="Arial"/>
                <a:ea typeface="Arial"/>
                <a:cs typeface="Arial"/>
                <a:sym typeface="Arial"/>
              </a:rPr>
              <a:t> priority, this is used for retrieving the data and sending the data to and from the </a:t>
            </a:r>
            <a:r>
              <a:rPr lang="en-US" sz="1800" dirty="0" err="1">
                <a:latin typeface="Arial"/>
                <a:ea typeface="Arial"/>
                <a:cs typeface="Arial"/>
                <a:sym typeface="Arial"/>
              </a:rPr>
              <a:t>RaspberryPI</a:t>
            </a: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2, will have the </a:t>
            </a:r>
            <a:r>
              <a:rPr lang="en-US" sz="1800" b="1" dirty="0">
                <a:latin typeface="Arial"/>
                <a:ea typeface="Arial"/>
                <a:cs typeface="Arial"/>
                <a:sym typeface="Arial"/>
              </a:rPr>
              <a:t>middle</a:t>
            </a:r>
            <a:r>
              <a:rPr lang="en-US" sz="1800" dirty="0">
                <a:latin typeface="Arial"/>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3, will have the </a:t>
            </a:r>
            <a:r>
              <a:rPr lang="en-US" sz="1800" b="1" dirty="0">
                <a:latin typeface="Arial"/>
                <a:ea typeface="Arial"/>
                <a:cs typeface="Arial"/>
                <a:sym typeface="Arial"/>
              </a:rPr>
              <a:t>lowest</a:t>
            </a:r>
            <a:r>
              <a:rPr lang="en-US" sz="1800" dirty="0">
                <a:latin typeface="Arial"/>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rial"/>
                    <a:ea typeface="Arial"/>
                    <a:cs typeface="Arial"/>
                    <a:sym typeface="Arial"/>
                  </a:rPr>
                  <a:t>We start with the coordinate transform to get the coordinate of the LiDAR in the real world based on the robot’s position and heading.</a:t>
                </a:r>
                <a:endParaRPr lang="en-US" sz="1400" dirty="0">
                  <a:latin typeface="Arial"/>
                  <a:ea typeface="Arial"/>
                  <a:cs typeface="Arial"/>
                  <a:sym typeface="Arial"/>
                </a:endParaRPr>
              </a:p>
              <a:p>
                <a:pPr marL="114300" indent="0">
                  <a:buNone/>
                </a:pPr>
                <a:endParaRPr lang="en-US" sz="2000" dirty="0">
                  <a:solidFill>
                    <a:srgbClr val="000000"/>
                  </a:solidFill>
                  <a:latin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 - PI/2.0));</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 - PI/2.0));</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rial"/>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rial"/>
                <a:ea typeface="Arial"/>
                <a:cs typeface="Arial"/>
                <a:sym typeface="Arial"/>
              </a:rPr>
              <a:t>The pose objects as simply defined as,</a:t>
            </a:r>
          </a:p>
          <a:p>
            <a:pPr marL="114300" indent="0">
              <a:buNone/>
            </a:pPr>
            <a:endParaRPr lang="en-US" sz="2400" dirty="0">
              <a:latin typeface="Arial"/>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2083</TotalTime>
  <Words>3911</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237</cp:revision>
  <dcterms:created xsi:type="dcterms:W3CDTF">2019-01-14T22:06:33Z</dcterms:created>
  <dcterms:modified xsi:type="dcterms:W3CDTF">2026-03-19T09:30:08Z</dcterms:modified>
</cp:coreProperties>
</file>