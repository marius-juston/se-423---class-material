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2"/>
  </p:notesMasterIdLst>
  <p:sldIdLst>
    <p:sldId id="256" r:id="rId2"/>
    <p:sldId id="417" r:id="rId3"/>
    <p:sldId id="413" r:id="rId4"/>
    <p:sldId id="272" r:id="rId5"/>
    <p:sldId id="258" r:id="rId6"/>
    <p:sldId id="418" r:id="rId7"/>
    <p:sldId id="423" r:id="rId8"/>
    <p:sldId id="420" r:id="rId9"/>
    <p:sldId id="421" r:id="rId10"/>
    <p:sldId id="422" r:id="rId11"/>
    <p:sldId id="425" r:id="rId12"/>
    <p:sldId id="426" r:id="rId13"/>
    <p:sldId id="427" r:id="rId14"/>
    <p:sldId id="419" r:id="rId15"/>
    <p:sldId id="428" r:id="rId16"/>
    <p:sldId id="429" r:id="rId17"/>
    <p:sldId id="430" r:id="rId18"/>
    <p:sldId id="431" r:id="rId19"/>
    <p:sldId id="432" r:id="rId20"/>
    <p:sldId id="433" r:id="rId21"/>
    <p:sldId id="434" r:id="rId22"/>
    <p:sldId id="435" r:id="rId23"/>
    <p:sldId id="436" r:id="rId24"/>
    <p:sldId id="437" r:id="rId25"/>
    <p:sldId id="441" r:id="rId26"/>
    <p:sldId id="438" r:id="rId27"/>
    <p:sldId id="439" r:id="rId28"/>
    <p:sldId id="440" r:id="rId29"/>
    <p:sldId id="442" r:id="rId30"/>
    <p:sldId id="443" r:id="rId31"/>
    <p:sldId id="444" r:id="rId32"/>
    <p:sldId id="445" r:id="rId33"/>
    <p:sldId id="447" r:id="rId34"/>
    <p:sldId id="448" r:id="rId35"/>
    <p:sldId id="449" r:id="rId36"/>
    <p:sldId id="450" r:id="rId37"/>
    <p:sldId id="451" r:id="rId38"/>
    <p:sldId id="452" r:id="rId39"/>
    <p:sldId id="271" r:id="rId40"/>
    <p:sldId id="270" r:id="rId4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the title slide for SE 423, Introduction to Mechatronics, Lecture 16: LiDAR Code, presented by Marius Juston on Monday, March 23rd, 2026. The University of Illinois Urbana-Champaign logo sits at the top, on a dark blue background with faint hand-drawn equations and diagrams.</a:t>
            </a:r>
          </a:p>
          <a:p>
            <a:pPr marL="0" lvl="0" indent="0" algn="l" rtl="0">
              <a:spcBef>
                <a:spcPts val="0"/>
              </a:spcBef>
              <a:spcAft>
                <a:spcPts val="600"/>
              </a:spcAft>
              <a:buNone/>
            </a:pPr>
            <a:r>
              <a:rPr lang="en-US" dirty="0"/>
              <a:t>Today you move from how the URG-04LX LiDAR works to the code that talks to it: laser safety, then the commands for version info, laser control, communication settings and distance data acquisition. First, a short partner review.</a:t>
            </a: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review activity titled "Review – 5-minute partner discussion." It asks you to talk with the person next to you and answer four questions: why we used a ping pong buffer for the FFT code; what the angular resolution of the LiDAR is, given that it splits 360 degrees into 1024 steps; what happens if your angular resolution is too low and the object is far away; and whether UART is synchronous or asynchronous, and what that means.</a:t>
            </a:r>
          </a:p>
          <a:p>
            <a:pPr marL="0" lvl="0" indent="0" algn="l" rtl="0">
              <a:lnSpc>
                <a:spcPct val="100000"/>
              </a:lnSpc>
              <a:spcBef>
                <a:spcPts val="0"/>
              </a:spcBef>
              <a:spcAft>
                <a:spcPts val="600"/>
              </a:spcAft>
              <a:buSzPts val="1400"/>
              <a:buNone/>
            </a:pPr>
            <a:r>
              <a:rPr lang="en-US" dirty="0"/>
              <a:t>Take the five minutes with your partner first, then compare with these answers.</a:t>
            </a:r>
          </a:p>
          <a:p>
            <a:pPr marL="0" lvl="0" indent="0" algn="l" rtl="0">
              <a:lnSpc>
                <a:spcPct val="100000"/>
              </a:lnSpc>
              <a:spcBef>
                <a:spcPts val="0"/>
              </a:spcBef>
              <a:spcAft>
                <a:spcPts val="600"/>
              </a:spcAft>
              <a:buSzPts val="1400"/>
              <a:buNone/>
            </a:pPr>
            <a:r>
              <a:rPr lang="en-US" dirty="0"/>
              <a:t>Ping pong buffer: the ADC keeps sampling while the FFT runs. With two buffers, new samples fill one buffer while the FFT processes the other, and then the two swap roles. Samples are never lost, and the data being transformed is never overwritten mid-computation.</a:t>
            </a:r>
          </a:p>
          <a:p>
            <a:pPr marL="0" lvl="0" indent="0" algn="l" rtl="0">
              <a:lnSpc>
                <a:spcPct val="100000"/>
              </a:lnSpc>
              <a:spcBef>
                <a:spcPts val="0"/>
              </a:spcBef>
              <a:spcAft>
                <a:spcPts val="600"/>
              </a:spcAft>
              <a:buSzPts val="1400"/>
              <a:buNone/>
            </a:pPr>
            <a:r>
              <a:rPr lang="en-US" dirty="0"/>
              <a:t>Angular resolution: 360/1024 = 0.3515625, or about 0.35 degrees per step. In radians that is 2*pi/1024, about 0.00614 rad.</a:t>
            </a:r>
          </a:p>
          <a:p>
            <a:pPr marL="0" lvl="0" indent="0" algn="l" rtl="0">
              <a:lnSpc>
                <a:spcPct val="100000"/>
              </a:lnSpc>
              <a:spcBef>
                <a:spcPts val="0"/>
              </a:spcBef>
              <a:spcAft>
                <a:spcPts val="600"/>
              </a:spcAft>
              <a:buSzPts val="1400"/>
              <a:buNone/>
            </a:pPr>
            <a:r>
              <a:rPr lang="en-US" dirty="0"/>
              <a:t>Low resolution at long range: the gap between neighboring beams grows with distance, spacing = r*delta_theta. At 4 m, 4*0.00614 is about 2.5 cm, so a thin object like a chair leg may get only one point or fall between beams entirely. Your map then misses it or misjudges its edges. A common mistake is to multiply by delta_theta in degrees instead of radians.</a:t>
            </a:r>
          </a:p>
          <a:p>
            <a:pPr marL="0" lvl="0" indent="0" algn="l" rtl="0">
              <a:lnSpc>
                <a:spcPct val="100000"/>
              </a:lnSpc>
              <a:spcBef>
                <a:spcPts val="0"/>
              </a:spcBef>
              <a:spcAft>
                <a:spcPts val="600"/>
              </a:spcAft>
              <a:buSzPts val="1400"/>
              <a:buNone/>
            </a:pPr>
            <a:r>
              <a:rPr lang="en-US" dirty="0"/>
              <a:t>UART is asynchronous. There is no shared clock wire. Both sides agree in advance on a baud rate, and each byte is framed by start and stop bits so the receiver can resynchronize. A synchronous protocol such as SPI sends a clock line alongside the data.</a:t>
            </a:r>
          </a:p>
          <a:p>
            <a:pPr marL="0" lvl="0" indent="0" algn="l" rtl="0">
              <a:lnSpc>
                <a:spcPct val="100000"/>
              </a:lnSpc>
              <a:spcBef>
                <a:spcPts val="0"/>
              </a:spcBef>
              <a:spcAft>
                <a:spcPts val="600"/>
              </a:spcAft>
              <a:buSzPts val="1400"/>
              <a:buNone/>
            </a:pPr>
            <a:r>
              <a:rPr lang="en-US" dirty="0"/>
              <a:t>These ideas return today: the LiDAR streams its scans to the Red Board over a serial link, and we parse them.</a:t>
            </a: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week's reminders in three groups: office hours, lab, and homework.</a:t>
            </a:r>
          </a:p>
          <a:p>
            <a:pPr marL="0" lvl="0" indent="0" algn="l" rtl="0">
              <a:lnSpc>
                <a:spcPct val="100000"/>
              </a:lnSpc>
              <a:spcBef>
                <a:spcPts val="0"/>
              </a:spcBef>
              <a:spcAft>
                <a:spcPts val="600"/>
              </a:spcAft>
              <a:buSzPts val="1400"/>
              <a:buNone/>
            </a:pPr>
            <a:r>
              <a:rPr lang="en-US" dirty="0"/>
              <a:t>Office hours are Monday 4 to 6 PM with Neel; Tuesday 11 AM to 1 PM with Lakshmi; Tuesday 1 to 3 PM with Samuel; and Tuesday 2 to 5 PM with Dan and Marius.</a:t>
            </a:r>
          </a:p>
          <a:p>
            <a:pPr marL="0" lvl="0" indent="0" algn="l" rtl="0">
              <a:lnSpc>
                <a:spcPct val="100000"/>
              </a:lnSpc>
              <a:spcBef>
                <a:spcPts val="0"/>
              </a:spcBef>
              <a:spcAft>
                <a:spcPts val="600"/>
              </a:spcAft>
              <a:buSzPts val="1400"/>
              <a:buNone/>
            </a:pPr>
            <a:r>
              <a:rPr lang="en-US" dirty="0"/>
              <a:t>Lab 6 starts this week, and it is a three-week lab. Have your LabVIEW application for the lab implemented before you arrive, so your lab time goes to the hardware and not to setup.</a:t>
            </a:r>
          </a:p>
          <a:p>
            <a:pPr marL="0" lvl="0" indent="0" algn="l" rtl="0">
              <a:lnSpc>
                <a:spcPct val="100000"/>
              </a:lnSpc>
              <a:spcBef>
                <a:spcPts val="0"/>
              </a:spcBef>
              <a:spcAft>
                <a:spcPts val="600"/>
              </a:spcAft>
              <a:buSzPts val="1400"/>
              <a:buNone/>
            </a:pPr>
            <a:r>
              <a:rPr lang="en-US" dirty="0"/>
              <a:t>On the slide, each homework name is a link to that assignment. Check-offs for homework 3, Exercise 5, are due March 24 at 5 PM, the end of office hours. Since today is Monday, March 23, that is tomorrow. Homework 3 is long, so do not expect to start and finish it during Tuesday's office hours. Answers and code submissions for homework 3 are due March 25 at 9 AM. Check-offs for homework 4, Exercises 2 and 3, are due March 31 at 5 PM, again the end of office hours.</a:t>
            </a:r>
          </a:p>
          <a:p>
            <a:pPr marL="0" lvl="0" indent="0" algn="l" rtl="0">
              <a:lnSpc>
                <a:spcPct val="100000"/>
              </a:lnSpc>
              <a:spcBef>
                <a:spcPts val="0"/>
              </a:spcBef>
              <a:spcAft>
                <a:spcPts val="600"/>
              </a:spcAft>
              <a:buSzPts val="1400"/>
              <a:buNone/>
            </a:pPr>
            <a:r>
              <a:rPr lang="en-US" dirty="0"/>
              <a:t>Next, we take questions on the homework, the lab, or LabVIEW before moving on to the URG-04LX LiDAR.</a:t>
            </a:r>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is a pause for questions. It shows the word "Questions?" in large white text on the dark blue Illinois background, with the prompt "Homework, Lab, LabVIEW?" underneath.</a:t>
            </a:r>
          </a:p>
          <a:p>
            <a:pPr marL="0" lvl="0" indent="0" algn="l" rtl="0">
              <a:spcBef>
                <a:spcPts val="0"/>
              </a:spcBef>
              <a:spcAft>
                <a:spcPts val="600"/>
              </a:spcAft>
              <a:buNone/>
            </a:pPr>
            <a:r>
              <a:rPr lang="en-US" dirty="0"/>
              <a:t>Before we start on the LiDAR, this is your chance to ask about anything from the reminders: homework 3 or 4, starting the three-week Lab 6, or the LabVIEW application you need working before lab. Next, we meet the URG-04LX LiDAR we use on the robot.</a:t>
            </a: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It reads "URG-04LX" in large dark blue letters on the course's orange background, which has faint hand-drawn engineering sketches, the Illinois "I" logo in the corner, and the footers "Systems Engineering" and "Grainger Engineering."</a:t>
            </a:r>
          </a:p>
          <a:p>
            <a:pPr marL="0" lvl="0" indent="0" algn="l" rtl="0">
              <a:spcBef>
                <a:spcPts val="0"/>
              </a:spcBef>
              <a:spcAft>
                <a:spcPts val="600"/>
              </a:spcAft>
              <a:buNone/>
            </a:pPr>
            <a:r>
              <a:rPr lang="en-US" dirty="0"/>
              <a:t>With reminders and questions done, you now turn to the main topic of Lecture 16: the URG-04LX, the Hokuyo scanning LiDAR on your robot. First you see what the sensor is and how laser safety classes apply to it. Then you work through the commands for reading its distance data.</a:t>
            </a: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E318978-56BC-F0E7-FE39-2752278B0EB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19F0749-79CC-5005-FE81-0AF5E4FD78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has a plain white layout with the title "LiDAR" and two text points, no figures. The first point says the LiDAR you work with in this course is called the URG-04LX. The second says it is a laser sensor for area scanning, and that its light source is an infrared laser with a wavelength of 785 nanometers, rated laser class 1 for safety. The slide text writes the second name as "RG-04LX"; that is a typo, and both points refer to the same URG-04LX.</a:t>
            </a:r>
          </a:p>
          <a:p>
            <a:pPr marL="0" lvl="0" indent="0" algn="l" rtl="0">
              <a:lnSpc>
                <a:spcPct val="100000"/>
              </a:lnSpc>
              <a:spcBef>
                <a:spcPts val="0"/>
              </a:spcBef>
              <a:spcAft>
                <a:spcPts val="600"/>
              </a:spcAft>
              <a:buSzPts val="1400"/>
              <a:buNone/>
            </a:pPr>
            <a:r>
              <a:rPr lang="en-US" dirty="0"/>
              <a:t>LiDAR stands for light detection and ranging. The sensor sends out laser pulses, measures how long the light takes to reflect back, and turns that time into a distance. "Area scanning" means the URG-04LX sweeps its beam through an arc in a single plane. Each scan therefore gives you a fan of distance readings at many angles around the robot. That is exactly the data you need later for obstacle avoidance and LiDAR SLAM.</a:t>
            </a:r>
          </a:p>
          <a:p>
            <a:pPr marL="0" lvl="0" indent="0" algn="l" rtl="0">
              <a:lnSpc>
                <a:spcPct val="100000"/>
              </a:lnSpc>
              <a:spcBef>
                <a:spcPts val="0"/>
              </a:spcBef>
              <a:spcAft>
                <a:spcPts val="600"/>
              </a:spcAft>
              <a:buSzPts val="1400"/>
              <a:buNone/>
            </a:pPr>
            <a:r>
              <a:rPr lang="en-US" dirty="0"/>
              <a:t>The wavelength matters. Visible light ends at roughly 700 nanometers, so 785 nanometers is near-infrared and invisible to your eye. You cannot tell whether the laser is on just by looking at it. Do not stare into the sensor window to check; read the sensor's status through software instead.</a:t>
            </a:r>
          </a:p>
          <a:p>
            <a:pPr marL="0" lvl="0" indent="0" algn="l" rtl="0">
              <a:lnSpc>
                <a:spcPct val="100000"/>
              </a:lnSpc>
              <a:spcBef>
                <a:spcPts val="0"/>
              </a:spcBef>
              <a:spcAft>
                <a:spcPts val="600"/>
              </a:spcAft>
              <a:buSzPts val="1400"/>
              <a:buNone/>
            </a:pPr>
            <a:r>
              <a:rPr lang="en-US" dirty="0"/>
              <a:t>Class 1 is the safest laser classification: the sensor is considered safe under normal use. Next you see what the laser classes mean and what eye, skin and fire hazards the higher classes carry.</a:t>
            </a:r>
          </a:p>
        </p:txBody>
      </p:sp>
      <p:sp>
        <p:nvSpPr>
          <p:cNvPr id="116" name="Google Shape;116;p29:notes">
            <a:extLst>
              <a:ext uri="{FF2B5EF4-FFF2-40B4-BE49-F238E27FC236}">
                <a16:creationId xmlns:a16="http://schemas.microsoft.com/office/drawing/2014/main" id="{628D139C-CAC4-4D18-7223-13A0136A51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5330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125DAC8-2343-7FB6-D6E0-CDFCEA4835C9}"/>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D8E6817F-CA8F-B942-86FA-C390B1CF78E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that reads "Laser Classes." It has the course's orange background with faint decorative sketches of equations, a cube, and chemistry diagrams. These are only decoration.</a:t>
            </a:r>
          </a:p>
          <a:p>
            <a:pPr marL="0" lvl="0" indent="0" algn="l" rtl="0">
              <a:spcBef>
                <a:spcPts val="0"/>
              </a:spcBef>
              <a:spcAft>
                <a:spcPts val="600"/>
              </a:spcAft>
              <a:buNone/>
            </a:pPr>
            <a:r>
              <a:rPr lang="en-US" dirty="0"/>
              <a:t>The previous slide said the URG-04LX uses a 785 nm infrared laser rated class 1. This short section explains what that rating means. Next you see the three kinds of laser hazard: eye, skin, and fire. As you go, ask yourself why an invisible infrared beam can be riskier to your eyes than a visible one.</a:t>
            </a:r>
          </a:p>
        </p:txBody>
      </p:sp>
      <p:sp>
        <p:nvSpPr>
          <p:cNvPr id="102" name="Google Shape;102;p28:notes">
            <a:extLst>
              <a:ext uri="{FF2B5EF4-FFF2-40B4-BE49-F238E27FC236}">
                <a16:creationId xmlns:a16="http://schemas.microsoft.com/office/drawing/2014/main" id="{AC2AF65A-C08A-EE50-E09E-D8F61BEB4A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9685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46F28DC-FCF2-AD72-05BE-9F41CED51B1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514B611-F630-A11F-A913-AF4B854B18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sorts lasers by how dangerous they are, so you know why our URG-04LX, a class 1 device at 785 nm, needs no special precautions.</a:t>
            </a:r>
          </a:p>
          <a:p>
            <a:pPr marL="0" lvl="0" indent="0" algn="l" rtl="0">
              <a:lnSpc>
                <a:spcPct val="100000"/>
              </a:lnSpc>
              <a:spcBef>
                <a:spcPts val="0"/>
              </a:spcBef>
              <a:spcAft>
                <a:spcPts val="600"/>
              </a:spcAft>
              <a:buSzPts val="1400"/>
              <a:buNone/>
            </a:pPr>
            <a:r>
              <a:rPr lang="en-US" dirty="0"/>
              <a:t>The text makes two points. Laser radiation causes three basic types of hazard: eye, skin and fire. If a laser is not class 1 compliant, you should wear protective equipment when entering the danger zone: laser safety glasses for your eyes and special suits for your skin.</a:t>
            </a:r>
          </a:p>
          <a:p>
            <a:pPr marL="0" lvl="0" indent="0" algn="l" rtl="0">
              <a:lnSpc>
                <a:spcPct val="100000"/>
              </a:lnSpc>
              <a:spcBef>
                <a:spcPts val="0"/>
              </a:spcBef>
              <a:spcAft>
                <a:spcPts val="600"/>
              </a:spcAft>
              <a:buSzPts val="1400"/>
              <a:buNone/>
            </a:pPr>
            <a:r>
              <a:rPr lang="en-US" dirty="0"/>
              <a:t>Below the text is a table with four columns: laser class, hazard risk, common uses, and safe use considerations. The rows are color coded from green to red as the risk rises.</a:t>
            </a:r>
          </a:p>
          <a:p>
            <a:pPr marL="0" lvl="0" indent="0" algn="l" rtl="0">
              <a:lnSpc>
                <a:spcPct val="100000"/>
              </a:lnSpc>
              <a:spcBef>
                <a:spcPts val="0"/>
              </a:spcBef>
              <a:spcAft>
                <a:spcPts val="600"/>
              </a:spcAft>
              <a:buSzPts val="1400"/>
              <a:buNone/>
            </a:pPr>
            <a:r>
              <a:rPr lang="en-US" dirty="0"/>
              <a:t>Class 1 has no risk. It is used in barcode scanners and DVD players ("if you remember what a DVD is!") and is safe under all conditions.</a:t>
            </a:r>
          </a:p>
          <a:p>
            <a:pPr marL="0" lvl="0" indent="0" algn="l" rtl="0">
              <a:lnSpc>
                <a:spcPct val="100000"/>
              </a:lnSpc>
              <a:spcBef>
                <a:spcPts val="0"/>
              </a:spcBef>
              <a:spcAft>
                <a:spcPts val="600"/>
              </a:spcAft>
              <a:buSzPts val="1400"/>
              <a:buNone/>
            </a:pPr>
            <a:r>
              <a:rPr lang="en-US" dirty="0"/>
              <a:t>Class 1M is none to low risk. It appears in laser diodes, fiber communication systems and speed meters, and is safe unless viewed through optical instruments.</a:t>
            </a:r>
          </a:p>
          <a:p>
            <a:pPr marL="0" lvl="0" indent="0" algn="l" rtl="0">
              <a:lnSpc>
                <a:spcPct val="100000"/>
              </a:lnSpc>
              <a:spcBef>
                <a:spcPts val="0"/>
              </a:spcBef>
              <a:spcAft>
                <a:spcPts val="600"/>
              </a:spcAft>
              <a:buSzPts val="1400"/>
              <a:buNone/>
            </a:pPr>
            <a:r>
              <a:rPr lang="en-US" dirty="0"/>
              <a:t>Class 2 is low risk unless stared into. It covers laser pointers and alignment tools, and you should avoid direct eye exposure.</a:t>
            </a:r>
          </a:p>
          <a:p>
            <a:pPr marL="0" lvl="0" indent="0" algn="l" rtl="0">
              <a:lnSpc>
                <a:spcPct val="100000"/>
              </a:lnSpc>
              <a:spcBef>
                <a:spcPts val="0"/>
              </a:spcBef>
              <a:spcAft>
                <a:spcPts val="600"/>
              </a:spcAft>
              <a:buSzPts val="1400"/>
              <a:buNone/>
            </a:pPr>
            <a:r>
              <a:rPr lang="en-US" dirty="0"/>
              <a:t>Class 2M is low to moderate risk, for example projection lasers in light shows. It is safe unless viewed through optics.</a:t>
            </a:r>
          </a:p>
          <a:p>
            <a:pPr marL="0" lvl="0" indent="0" algn="l" rtl="0">
              <a:lnSpc>
                <a:spcPct val="100000"/>
              </a:lnSpc>
              <a:spcBef>
                <a:spcPts val="0"/>
              </a:spcBef>
              <a:spcAft>
                <a:spcPts val="600"/>
              </a:spcAft>
              <a:buSzPts val="1400"/>
              <a:buNone/>
            </a:pPr>
            <a:r>
              <a:rPr lang="en-US" dirty="0"/>
              <a:t>Class 3R/3B is moderate to high risk. It covers laser scanners and 3D printers and can damage the naked eye and skin.</a:t>
            </a:r>
          </a:p>
          <a:p>
            <a:pPr marL="0" lvl="0" indent="0" algn="l" rtl="0">
              <a:lnSpc>
                <a:spcPct val="100000"/>
              </a:lnSpc>
              <a:spcBef>
                <a:spcPts val="0"/>
              </a:spcBef>
              <a:spcAft>
                <a:spcPts val="600"/>
              </a:spcAft>
              <a:buSzPts val="1400"/>
              <a:buNone/>
            </a:pPr>
            <a:r>
              <a:rPr lang="en-US" dirty="0"/>
              <a:t>Class 4 is very high risk. It is used for cutting, marking, welding, cleaning and surgery, and requires protective eyewear and strict controls.</a:t>
            </a:r>
          </a:p>
          <a:p>
            <a:pPr marL="0" lvl="0" indent="0" algn="l" rtl="0">
              <a:lnSpc>
                <a:spcPct val="100000"/>
              </a:lnSpc>
              <a:spcBef>
                <a:spcPts val="0"/>
              </a:spcBef>
              <a:spcAft>
                <a:spcPts val="600"/>
              </a:spcAft>
              <a:buSzPts val="1400"/>
              <a:buNone/>
            </a:pPr>
            <a:r>
              <a:rPr lang="en-US" dirty="0"/>
              <a:t>The "M" classes are a common trap. A beam that is harmless to the naked eye can become dangerous when a lens or telescope concentrates it.</a:t>
            </a:r>
          </a:p>
          <a:p>
            <a:pPr marL="0" lvl="0" indent="0" algn="l" rtl="0">
              <a:lnSpc>
                <a:spcPct val="100000"/>
              </a:lnSpc>
              <a:spcBef>
                <a:spcPts val="0"/>
              </a:spcBef>
              <a:spcAft>
                <a:spcPts val="600"/>
              </a:spcAft>
              <a:buSzPts val="1400"/>
              <a:buNone/>
            </a:pPr>
            <a:r>
              <a:rPr lang="en-US" dirty="0"/>
              <a:t>Next, we look at each hazard in turn, starting with the most serious one: the eye.</a:t>
            </a:r>
          </a:p>
        </p:txBody>
      </p:sp>
      <p:sp>
        <p:nvSpPr>
          <p:cNvPr id="116" name="Google Shape;116;p29:notes">
            <a:extLst>
              <a:ext uri="{FF2B5EF4-FFF2-40B4-BE49-F238E27FC236}">
                <a16:creationId xmlns:a16="http://schemas.microsoft.com/office/drawing/2014/main" id="{06923FB2-F801-8C0A-2DFD-F4A8B06E54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771444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4750344-1C9D-0B16-E656-9CE19ED3A3E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A69916A-1ECD-8067-2CBB-5A3F4AE78B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begins the closer look at the first of the three laser hazards from the previous slide: eye, skin and fire. The text makes four points. Eye injuries are the most serious laser hazard. When light enters the eye, the cornea and the lens act as "amplifiers," concentrating the light onto the retina at the back of the eye, and the brain then processes that light as an image. These three parts, the cornea, lens and retina, are the most susceptible to laser damage. Almost any laser can harm your eyes, but each part of the eye reacts more strongly to certain wavelengths.</a:t>
            </a:r>
          </a:p>
          <a:p>
            <a:pPr marL="0" lvl="0" indent="0" algn="l" rtl="0">
              <a:lnSpc>
                <a:spcPct val="100000"/>
              </a:lnSpc>
              <a:spcBef>
                <a:spcPts val="0"/>
              </a:spcBef>
              <a:spcAft>
                <a:spcPts val="600"/>
              </a:spcAft>
              <a:buSzPts val="1400"/>
              <a:buNone/>
            </a:pPr>
            <a:r>
              <a:rPr lang="en-US" dirty="0"/>
              <a:t>On the right is a cross section of the human eye. Rays from a candle pass through the cornea, the pupil and the lens. They cross inside the eyeball and form an inverted image of the candle on the retina, next to the optic nerve. The iris, ciliary muscle, ligaments, the liquid behind the cornea and the jelly filling the eye are also labeled. The source is the Laserax laser safety article linked on the slide.</a:t>
            </a:r>
          </a:p>
          <a:p>
            <a:pPr marL="0" lvl="0" indent="0" algn="l" rtl="0">
              <a:lnSpc>
                <a:spcPct val="100000"/>
              </a:lnSpc>
              <a:spcBef>
                <a:spcPts val="0"/>
              </a:spcBef>
              <a:spcAft>
                <a:spcPts val="600"/>
              </a:spcAft>
              <a:buSzPts val="1400"/>
              <a:buNone/>
            </a:pPr>
            <a:r>
              <a:rPr lang="en-US" dirty="0"/>
              <a:t>The key idea is what "amplifier" means here. The lens does not add energy. It focuses light that enters through the pupil onto a very small spot on the retina. A laser beam is already narrow and nearly parallel, so the eye can concentrate it into a tiny spot, and the power per unit area on the retina becomes far higher than at the cornea. That concentration is why a beam that is harmless on your hand can burn your retina.</a:t>
            </a:r>
          </a:p>
          <a:p>
            <a:pPr marL="0" lvl="0" indent="0" algn="l" rtl="0">
              <a:lnSpc>
                <a:spcPct val="100000"/>
              </a:lnSpc>
              <a:spcBef>
                <a:spcPts val="0"/>
              </a:spcBef>
              <a:spcAft>
                <a:spcPts val="600"/>
              </a:spcAft>
              <a:buSzPts val="1400"/>
              <a:buNone/>
            </a:pPr>
            <a:r>
              <a:rPr lang="en-US" dirty="0"/>
              <a:t>Keep this in mind with the URG-04LX in lab. It is Class 1, but its beam is infrared. The next slide explains why invisible light is especially dangerous.</a:t>
            </a:r>
          </a:p>
        </p:txBody>
      </p:sp>
      <p:sp>
        <p:nvSpPr>
          <p:cNvPr id="116" name="Google Shape;116;p29:notes">
            <a:extLst>
              <a:ext uri="{FF2B5EF4-FFF2-40B4-BE49-F238E27FC236}">
                <a16:creationId xmlns:a16="http://schemas.microsoft.com/office/drawing/2014/main" id="{C3699B92-55A1-F49E-B240-EDAA7BED6C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6592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7EDDDE5-56A3-4057-CD46-E03960D38B5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949E259-AAE4-2185-0A6C-8BA4A5F1D2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the eye-hazard discussion from the previous slide and explains why the wavelength of a laser matters so much. On the right is the same cross-section of the human eye. Light from a candle passes through the cornea, pupil and lens, which focus the rays so they cross inside the eye and form an inverted image of the candle on the retina, next to the optic nerve.</a:t>
            </a:r>
          </a:p>
          <a:p>
            <a:pPr marL="0" lvl="0" indent="0" algn="l" rtl="0">
              <a:lnSpc>
                <a:spcPct val="100000"/>
              </a:lnSpc>
              <a:spcBef>
                <a:spcPts val="0"/>
              </a:spcBef>
              <a:spcAft>
                <a:spcPts val="600"/>
              </a:spcAft>
              <a:buSzPts val="1400"/>
              <a:buNone/>
            </a:pPr>
            <a:r>
              <a:rPr lang="en-US" dirty="0"/>
              <a:t>The key idea is that focusing. With visible light, part of the energy is absorbed before it is concentrated. You also see it, so you blink or look away. Near-infrared light behaves differently. It passes through the front of the eye and is focused onto the retina, and because you cannot see it, nothing makes you blink. All that energy lands on a tiny spot of the retina and can burn it, causing permanent blindness. At the other end of the spectrum, ultraviolet light below 400 nanometers causes photochemical damage rather than burns. It can produce cataracts, a clouding of the lens that reduces vision.</a:t>
            </a:r>
          </a:p>
          <a:p>
            <a:pPr marL="0" lvl="0" indent="0" algn="l" rtl="0">
              <a:lnSpc>
                <a:spcPct val="100000"/>
              </a:lnSpc>
              <a:spcBef>
                <a:spcPts val="0"/>
              </a:spcBef>
              <a:spcAft>
                <a:spcPts val="600"/>
              </a:spcAft>
              <a:buSzPts val="1400"/>
              <a:buNone/>
            </a:pPr>
            <a:r>
              <a:rPr lang="en-US" dirty="0"/>
              <a:t>Protective goggles work by absorbing the dangerous light. A pair made for one laser can be useless against another, so the eyewear must match your laser's wavelength and hazard class.</a:t>
            </a:r>
          </a:p>
          <a:p>
            <a:pPr marL="0" lvl="0" indent="0" algn="l" rtl="0">
              <a:lnSpc>
                <a:spcPct val="100000"/>
              </a:lnSpc>
              <a:spcBef>
                <a:spcPts val="0"/>
              </a:spcBef>
              <a:spcAft>
                <a:spcPts val="600"/>
              </a:spcAft>
              <a:buSzPts val="1400"/>
              <a:buNone/>
            </a:pPr>
            <a:r>
              <a:rPr lang="en-US" dirty="0"/>
              <a:t>This connects directly to your robot. The URG-04LX LiDAR uses an invisible near-infrared laser at about 785 nanometers. That sounds alarming after this slide, but it is rated class 1, which means it is safe under normal use.</a:t>
            </a:r>
          </a:p>
          <a:p>
            <a:pPr marL="0" lvl="0" indent="0" algn="l" rtl="0">
              <a:lnSpc>
                <a:spcPct val="100000"/>
              </a:lnSpc>
              <a:spcBef>
                <a:spcPts val="0"/>
              </a:spcBef>
              <a:spcAft>
                <a:spcPts val="600"/>
              </a:spcAft>
              <a:buSzPts val="1400"/>
              <a:buNone/>
            </a:pPr>
            <a:r>
              <a:rPr lang="en-US" dirty="0"/>
              <a:t>Next, you look at the second hazard type: skin.</a:t>
            </a:r>
          </a:p>
        </p:txBody>
      </p:sp>
      <p:sp>
        <p:nvSpPr>
          <p:cNvPr id="116" name="Google Shape;116;p29:notes">
            <a:extLst>
              <a:ext uri="{FF2B5EF4-FFF2-40B4-BE49-F238E27FC236}">
                <a16:creationId xmlns:a16="http://schemas.microsoft.com/office/drawing/2014/main" id="{AB412C8F-B7E0-35AB-52CE-DFF3ACC78D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7411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B7D5C5-4B3C-15CA-E15B-F0852D8C88C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F121E69-055E-2C1E-2F3C-6C2AAFE54B8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"LiDAR – Laser classes – Skin," is text only, with three points about how lasers can injure skin. It follows the two slides on eye hazards.</a:t>
            </a:r>
          </a:p>
          <a:p>
            <a:pPr marL="0" lvl="0" indent="0" algn="l" rtl="0">
              <a:lnSpc>
                <a:spcPct val="100000"/>
              </a:lnSpc>
              <a:spcBef>
                <a:spcPts val="0"/>
              </a:spcBef>
              <a:spcAft>
                <a:spcPts val="600"/>
              </a:spcAft>
              <a:buSzPts val="1400"/>
              <a:buNone/>
            </a:pPr>
            <a:r>
              <a:rPr lang="en-US" dirty="0"/>
              <a:t>The first point uses an analogy. If you had to put either your eyes or your hands on a hot stove, you would choose your hands. Skin hazards are less serious than eye hazards, but skin burns still deserve attention. The reason ties back to the last slide: the eye's cornea and lens focus incoming light onto a tiny spot on the retina. Skin has no focusing optics, so the same beam spreads its energy over a larger, tougher surface.</a:t>
            </a:r>
          </a:p>
          <a:p>
            <a:pPr marL="0" lvl="0" indent="0" algn="l" rtl="0">
              <a:lnSpc>
                <a:spcPct val="100000"/>
              </a:lnSpc>
              <a:spcBef>
                <a:spcPts val="0"/>
              </a:spcBef>
              <a:spcAft>
                <a:spcPts val="600"/>
              </a:spcAft>
              <a:buSzPts val="1400"/>
              <a:buNone/>
            </a:pPr>
            <a:r>
              <a:rPr lang="en-US" dirty="0"/>
              <a:t>The second point lists how exposure happens: direct contact with the beam, or specular reflections. Specular means mirror-like, so the reflected beam stays tight and nearly as intense as the original. Shiny metal, glass, or a polished tool can redirect a beam onto your hand without you noticing. The resulting injuries come in two kinds. Thermal damage is heat burning tissue, like touching the stove. Photochemical damage is light driving chemical changes in cells, like a sunburn.</a:t>
            </a:r>
          </a:p>
          <a:p>
            <a:pPr marL="0" lvl="0" indent="0" algn="l" rtl="0">
              <a:lnSpc>
                <a:spcPct val="100000"/>
              </a:lnSpc>
              <a:spcBef>
                <a:spcPts val="0"/>
              </a:spcBef>
              <a:spcAft>
                <a:spcPts val="600"/>
              </a:spcAft>
              <a:buSzPts val="1400"/>
              <a:buNone/>
            </a:pPr>
            <a:r>
              <a:rPr lang="en-US" dirty="0"/>
              <a:t>The third point names the four factors that set how bad a burn is:</a:t>
            </a:r>
          </a:p>
          <a:p>
            <a:pPr marL="0" lvl="0" indent="0" algn="l" rtl="0">
              <a:lnSpc>
                <a:spcPct val="100000"/>
              </a:lnSpc>
              <a:spcBef>
                <a:spcPts val="0"/>
              </a:spcBef>
              <a:spcAft>
                <a:spcPts val="600"/>
              </a:spcAft>
              <a:buSzPts val="1400"/>
              <a:buNone/>
            </a:pPr>
            <a:r>
              <a:rPr lang="en-US" dirty="0"/>
              <a:t>the laser's output power,</a:t>
            </a:r>
          </a:p>
          <a:p>
            <a:pPr marL="0" lvl="0" indent="0" algn="l" rtl="0">
              <a:lnSpc>
                <a:spcPct val="100000"/>
              </a:lnSpc>
              <a:spcBef>
                <a:spcPts val="0"/>
              </a:spcBef>
              <a:spcAft>
                <a:spcPts val="600"/>
              </a:spcAft>
              <a:buSzPts val="1400"/>
              <a:buNone/>
            </a:pPr>
            <a:r>
              <a:rPr lang="en-US" dirty="0"/>
              <a:t>the wavelength,</a:t>
            </a:r>
          </a:p>
          <a:p>
            <a:pPr marL="0" lvl="0" indent="0" algn="l" rtl="0">
              <a:lnSpc>
                <a:spcPct val="100000"/>
              </a:lnSpc>
              <a:spcBef>
                <a:spcPts val="0"/>
              </a:spcBef>
              <a:spcAft>
                <a:spcPts val="600"/>
              </a:spcAft>
              <a:buSzPts val="1400"/>
              <a:buNone/>
            </a:pPr>
            <a:r>
              <a:rPr lang="en-US" dirty="0"/>
              <a:t>the size of the affected area,</a:t>
            </a:r>
          </a:p>
          <a:p>
            <a:pPr marL="0" lvl="0" indent="0" algn="l" rtl="0">
              <a:lnSpc>
                <a:spcPct val="100000"/>
              </a:lnSpc>
              <a:spcBef>
                <a:spcPts val="0"/>
              </a:spcBef>
              <a:spcAft>
                <a:spcPts val="600"/>
              </a:spcAft>
              <a:buSzPts val="1400"/>
              <a:buNone/>
            </a:pPr>
            <a:r>
              <a:rPr lang="en-US" dirty="0"/>
              <a:t>and the duration of the irradiation, meaning how long the skin is exposed.</a:t>
            </a:r>
          </a:p>
          <a:p>
            <a:pPr marL="0" lvl="0" indent="0" algn="l" rtl="0">
              <a:lnSpc>
                <a:spcPct val="100000"/>
              </a:lnSpc>
              <a:spcBef>
                <a:spcPts val="0"/>
              </a:spcBef>
              <a:spcAft>
                <a:spcPts val="600"/>
              </a:spcAft>
              <a:buSzPts val="1400"/>
              <a:buNone/>
            </a:pPr>
            <a:r>
              <a:rPr lang="en-US" dirty="0"/>
              <a:t>As a quick check, ask yourself why a tightly focused beam is worse than a wide one at the same power. The answer is that the energy is concentrated on a smaller area.</a:t>
            </a:r>
          </a:p>
          <a:p>
            <a:pPr marL="0" lvl="0" indent="0" algn="l" rtl="0">
              <a:lnSpc>
                <a:spcPct val="100000"/>
              </a:lnSpc>
              <a:spcBef>
                <a:spcPts val="0"/>
              </a:spcBef>
              <a:spcAft>
                <a:spcPts val="600"/>
              </a:spcAft>
              <a:buSzPts val="1400"/>
              <a:buNone/>
            </a:pPr>
            <a:r>
              <a:rPr lang="en-US" dirty="0"/>
              <a:t>Next you look at the last hazard category, fire. Then you see why none of these hazards is a practical concern for the class 1 URG-04LX on your robot.</a:t>
            </a:r>
          </a:p>
        </p:txBody>
      </p:sp>
      <p:sp>
        <p:nvSpPr>
          <p:cNvPr id="116" name="Google Shape;116;p29:notes">
            <a:extLst>
              <a:ext uri="{FF2B5EF4-FFF2-40B4-BE49-F238E27FC236}">
                <a16:creationId xmlns:a16="http://schemas.microsoft.com/office/drawing/2014/main" id="{BF335813-908A-52B2-0A24-418E391EFC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1809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1024CD5-12A6-3BA3-0C5A-AB5DB7FF17C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5D97BD6-29DA-A564-E981-236A7330AAA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figures. It covers the last laser hazard in our series: fire. It makes three points. First, apart from health hazards, laser light can also start fires and put your work environment at risk. Second, only class 4 lasers pose real fire safety concerns, because their direct beam and any type of reflection can ignite combustible materials. Third, integrating a class 4 laser safely means enclosing it properly and accounting for every possible angle of reflection, including diffuse reflections. The slide ends with a question: given that the URG-04LX is a class 1 laser, what precautions do we need to take when handling it? The answer is shown below it: nothing, it is a class 1 laser.</a:t>
            </a:r>
          </a:p>
          <a:p>
            <a:pPr marL="0" lvl="0" indent="0" algn="l" rtl="0">
              <a:lnSpc>
                <a:spcPct val="100000"/>
              </a:lnSpc>
              <a:spcBef>
                <a:spcPts val="0"/>
              </a:spcBef>
              <a:spcAft>
                <a:spcPts val="600"/>
              </a:spcAft>
              <a:buSzPts val="1400"/>
              <a:buNone/>
            </a:pPr>
            <a:r>
              <a:rPr lang="en-US" dirty="0"/>
              <a:t>Recall the difference between the two kinds of reflection from the skin slide. A specular reflection is mirror-like and keeps the beam concentrated. A diffuse reflection scatters light in many directions, as from a matte wall. For most lasers, diffuse reflections are relatively harmless. A class 4 laser is powerful enough that even scattered light can burn skin or ignite paper, cardboard or fabric. That is why its enclosure has to be designed around every reflection path, not just the main beam.</a:t>
            </a:r>
          </a:p>
          <a:p>
            <a:pPr marL="0" lvl="0" indent="0" algn="l" rtl="0">
              <a:lnSpc>
                <a:spcPct val="100000"/>
              </a:lnSpc>
              <a:spcBef>
                <a:spcPts val="0"/>
              </a:spcBef>
              <a:spcAft>
                <a:spcPts val="600"/>
              </a:spcAft>
              <a:buSzPts val="1400"/>
              <a:buNone/>
            </a:pPr>
            <a:r>
              <a:rPr lang="en-US" dirty="0"/>
              <a:t>Class 1 sits at the opposite end of the scale. It is considered safe under all conditions of normal use. You do not need goggles, enclosures or beam-path planning to use the URG-04LX on your robot.</a:t>
            </a:r>
          </a:p>
          <a:p>
            <a:pPr marL="0" lvl="0" indent="0" algn="l" rtl="0">
              <a:lnSpc>
                <a:spcPct val="100000"/>
              </a:lnSpc>
              <a:spcBef>
                <a:spcPts val="0"/>
              </a:spcBef>
              <a:spcAft>
                <a:spcPts val="600"/>
              </a:spcAft>
              <a:buSzPts val="1400"/>
              <a:buNone/>
            </a:pPr>
            <a:r>
              <a:rPr lang="en-US" dirty="0"/>
              <a:t>This closes the safety discussion. Next, we look at the URG-04LX itself: its 240 degree scan area, its 4000 mm range, and how it measures distance.</a:t>
            </a:r>
          </a:p>
        </p:txBody>
      </p:sp>
      <p:sp>
        <p:nvSpPr>
          <p:cNvPr id="116" name="Google Shape;116;p29:notes">
            <a:extLst>
              <a:ext uri="{FF2B5EF4-FFF2-40B4-BE49-F238E27FC236}">
                <a16:creationId xmlns:a16="http://schemas.microsoft.com/office/drawing/2014/main" id="{945E23A5-41A7-E21D-8456-E21721D8C2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7537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F513CD8-9EE2-D37A-A25D-C111308E1F01}"/>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5C05C234-54C3-8E87-2C7E-C0A854BBB0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that reads "URG-04LX" in large dark blue letters on the orange Illinois background. The faint chalk-style sketches of equations and diagrams behind the title are decoration only.</a:t>
            </a:r>
          </a:p>
          <a:p>
            <a:pPr marL="0" lvl="0" indent="0" algn="l" rtl="0">
              <a:spcBef>
                <a:spcPts val="0"/>
              </a:spcBef>
              <a:spcAft>
                <a:spcPts val="600"/>
              </a:spcAft>
              <a:buNone/>
            </a:pPr>
            <a:r>
              <a:rPr lang="en-US" dirty="0"/>
              <a:t>You just saw that the URG-04LX is a class 1 laser, so it needs no special handling precautions. Now the lecture turns to the sensor itself. The next slides cover its scan area, angular resolution, beam size, and how it measures distance using phase difference.</a:t>
            </a:r>
          </a:p>
        </p:txBody>
      </p:sp>
      <p:sp>
        <p:nvSpPr>
          <p:cNvPr id="102" name="Google Shape;102;p28:notes">
            <a:extLst>
              <a:ext uri="{FF2B5EF4-FFF2-40B4-BE49-F238E27FC236}">
                <a16:creationId xmlns:a16="http://schemas.microsoft.com/office/drawing/2014/main" id="{D91DFD67-148A-CE37-62F2-870D2CF34A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1223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C88C9B9-FDF2-4CEE-F1FF-8DB2DD57A88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CAE1B0E-AC49-E4FC-C4A1-F4A89CF544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the key specifications of the Hokuyo URG-04LX, the 2D scanning LiDAR on your robot. It is all text, four bullets plus one sub-bullet.</a:t>
            </a:r>
          </a:p>
          <a:p>
            <a:pPr marL="0" lvl="0" indent="0" algn="l" rtl="0">
              <a:lnSpc>
                <a:spcPct val="100000"/>
              </a:lnSpc>
              <a:spcBef>
                <a:spcPts val="0"/>
              </a:spcBef>
              <a:spcAft>
                <a:spcPts val="600"/>
              </a:spcAft>
              <a:buSzPts val="1400"/>
              <a:buNone/>
            </a:pPr>
            <a:r>
              <a:rPr lang="en-US" dirty="0"/>
              <a:t>First, the sensor scans a 240 degree arc, wider than a true semicircle, out to a maximum range of 4000 mm, or 4 meters. The remaining 120 degrees behind the sensor is blind.</a:t>
            </a:r>
          </a:p>
          <a:p>
            <a:pPr marL="0" lvl="0" indent="0" algn="l" rtl="0">
              <a:lnSpc>
                <a:spcPct val="100000"/>
              </a:lnSpc>
              <a:spcBef>
                <a:spcPts val="0"/>
              </a:spcBef>
              <a:spcAft>
                <a:spcPts val="600"/>
              </a:spcAft>
              <a:buSzPts val="1400"/>
              <a:buNone/>
            </a:pPr>
            <a:r>
              <a:rPr lang="en-US" dirty="0"/>
              <a:t>Second, the angular step, called the pitch angle, is 0.36 degrees, and the sensor reports one distance at every step, 683 steps in total. If you divide 240 by 0.36 you get about 667, not 683. That is because the exact step is 360/1024, about 0.352 degrees, which the slide rounds to 0.36. Use the exact value when you convert a step index into an angle in your code.</a:t>
            </a:r>
          </a:p>
          <a:p>
            <a:pPr marL="0" lvl="0" indent="0" algn="l" rtl="0">
              <a:lnSpc>
                <a:spcPct val="100000"/>
              </a:lnSpc>
              <a:spcBef>
                <a:spcPts val="0"/>
              </a:spcBef>
              <a:spcAft>
                <a:spcPts val="600"/>
              </a:spcAft>
              <a:buSzPts val="1400"/>
              <a:buNone/>
            </a:pPr>
            <a:r>
              <a:rPr lang="en-US" dirty="0"/>
              <a:t>Third, the laser beam is less than 20 mm in diameter at 2000 mm and spreads to at most 40 mm at 4000 mm. The beam's footprint therefore grows with distance, so thin objects far away, such as a chair leg, may give blended or missed readings.</a:t>
            </a:r>
          </a:p>
          <a:p>
            <a:pPr marL="0" lvl="0" indent="0" algn="l" rtl="0">
              <a:lnSpc>
                <a:spcPct val="100000"/>
              </a:lnSpc>
              <a:spcBef>
                <a:spcPts val="0"/>
              </a:spcBef>
              <a:spcAft>
                <a:spcPts val="600"/>
              </a:spcAft>
              <a:buSzPts val="1400"/>
              <a:buNone/>
            </a:pPr>
            <a:r>
              <a:rPr lang="en-US" dirty="0"/>
              <a:t>Fourth, distance comes from phase difference. The sensor emits a continuously modulated wave and compares the phase of the returning light with the outgoing light. In words, distance equals the speed of light times the phase shift divided by four pi times the modulation frequency: d = c*delta_phi/(4*pi*f). This is essentially time of flight, but with a continuous wave instead of a discrete pulse. It makes readings stable regardless of an object's color or gloss.</a:t>
            </a:r>
          </a:p>
          <a:p>
            <a:pPr marL="0" lvl="0" indent="0" algn="l" rtl="0">
              <a:lnSpc>
                <a:spcPct val="100000"/>
              </a:lnSpc>
              <a:spcBef>
                <a:spcPts val="0"/>
              </a:spcBef>
              <a:spcAft>
                <a:spcPts val="600"/>
              </a:spcAft>
              <a:buSzPts val="1400"/>
              <a:buNone/>
            </a:pPr>
            <a:r>
              <a:rPr lang="en-US" dirty="0"/>
              <a:t>Quick check: roughly how far apart are neighboring readings on a wall 4 m away? About 4000*0.00614 rad, or about 25 mm.</a:t>
            </a:r>
          </a:p>
          <a:p>
            <a:pPr marL="0" lvl="0" indent="0" algn="l" rtl="0">
              <a:lnSpc>
                <a:spcPct val="100000"/>
              </a:lnSpc>
              <a:spcBef>
                <a:spcPts val="0"/>
              </a:spcBef>
              <a:spcAft>
                <a:spcPts val="600"/>
              </a:spcAft>
              <a:buSzPts val="1400"/>
              <a:buNone/>
            </a:pPr>
            <a:r>
              <a:rPr lang="en-US" dirty="0"/>
              <a:t>Next, you see the scan diagram and a photo of the sensor.</a:t>
            </a:r>
          </a:p>
        </p:txBody>
      </p:sp>
      <p:sp>
        <p:nvSpPr>
          <p:cNvPr id="116" name="Google Shape;116;p29:notes">
            <a:extLst>
              <a:ext uri="{FF2B5EF4-FFF2-40B4-BE49-F238E27FC236}">
                <a16:creationId xmlns:a16="http://schemas.microsoft.com/office/drawing/2014/main" id="{7F5C7388-76C5-9D2A-7EED-04971DE8E9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12303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F3A7875-0D2E-8A37-BE7C-E52383DD7CC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AFB311A-E590-7AE3-8E3E-9F7073EDF8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summarizes the Hokuyo URG-04LX, the 2D scanning LiDAR on your robot. On the left is a product photo: a small gray square base topped by a dark cylindrical window labeled "Hokuyo URG." Inside that window the laser rotates and sweeps out distance measurements. A coiled black cable ends in loose, color-coded bare wires for power and data. The photo source is robotshop.com/products/hokuyo-urg-04lx-laser-rangefinder.</a:t>
            </a:r>
          </a:p>
          <a:p>
            <a:pPr marL="0" lvl="0" indent="0" algn="l" rtl="0">
              <a:lnSpc>
                <a:spcPct val="100000"/>
              </a:lnSpc>
              <a:spcBef>
                <a:spcPts val="0"/>
              </a:spcBef>
              <a:spcAft>
                <a:spcPts val="600"/>
              </a:spcAft>
              <a:buSzPts val="1400"/>
              <a:buNone/>
            </a:pPr>
            <a:r>
              <a:rPr lang="en-US" dirty="0"/>
              <a:t>On the right is a top-view diagram of the scan. Rays fan out from the sensor at the center across a shaded detection area of 240 degrees, with a maximum distance of 4000 millimeters. The remaining 120-degree wedge behind the sensor is labeled the non-radiated area, a blind zone, and a double-headed arrow points into it. The labels also give the power as 5 volts DC and the interface as RS-232C or USB.</a:t>
            </a:r>
          </a:p>
          <a:p>
            <a:pPr marL="0" lvl="0" indent="0" algn="l" rtl="0">
              <a:lnSpc>
                <a:spcPct val="100000"/>
              </a:lnSpc>
              <a:spcBef>
                <a:spcPts val="0"/>
              </a:spcBef>
              <a:spcAft>
                <a:spcPts val="600"/>
              </a:spcAft>
              <a:buSzPts val="1400"/>
              <a:buNone/>
            </a:pPr>
            <a:r>
              <a:rPr lang="en-US" dirty="0"/>
              <a:t>This diagram pulls together the numbers from the previous slide. The 683 measurement steps, spaced 0.36 degrees apart, are the rays drawn in this fan. Spacing grows with distance. At 4 m, neighboring rays land about 4000*0.36*pi/180, or roughly 25 mm apart, so small objects far away can fall between beams.</a:t>
            </a:r>
          </a:p>
          <a:p>
            <a:pPr marL="0" lvl="0" indent="0" algn="l" rtl="0">
              <a:lnSpc>
                <a:spcPct val="100000"/>
              </a:lnSpc>
              <a:spcBef>
                <a:spcPts val="0"/>
              </a:spcBef>
              <a:spcAft>
                <a:spcPts val="600"/>
              </a:spcAft>
              <a:buSzPts val="1400"/>
              <a:buNone/>
            </a:pPr>
            <a:r>
              <a:rPr lang="en-US" dirty="0"/>
              <a:t>Two practical points for the lab follow from this. First, mount and interpret the sensor knowing it sees nothing in that rear 120 degrees. Second, anything beyond 4 m returns no valid range.</a:t>
            </a:r>
          </a:p>
          <a:p>
            <a:pPr marL="0" lvl="0" indent="0" algn="l" rtl="0">
              <a:lnSpc>
                <a:spcPct val="100000"/>
              </a:lnSpc>
              <a:spcBef>
                <a:spcPts val="0"/>
              </a:spcBef>
              <a:spcAft>
                <a:spcPts val="600"/>
              </a:spcAft>
              <a:buSzPts val="1400"/>
              <a:buNone/>
            </a:pPr>
            <a:r>
              <a:rPr lang="en-US" dirty="0"/>
              <a:t>Of the two interfaces shown, we use only the serial (SCI) link to the Red Board. The next slide introduces the four commands you send over it.</a:t>
            </a:r>
          </a:p>
        </p:txBody>
      </p:sp>
      <p:sp>
        <p:nvSpPr>
          <p:cNvPr id="116" name="Google Shape;116;p29:notes">
            <a:extLst>
              <a:ext uri="{FF2B5EF4-FFF2-40B4-BE49-F238E27FC236}">
                <a16:creationId xmlns:a16="http://schemas.microsoft.com/office/drawing/2014/main" id="{6003426D-87A9-5026-90C2-0DDEC04F66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1228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7517BC9-B248-9D55-C8B1-32BD141F365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1310CBF-C814-F357-B272-2FC04BE039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says there are two ways to communicate with the LiDAR sensor: SCI, which is UART, or USB. In this course we use SCI only. It then lists the four types of commands you can send: first, the Version command, the letter 'V'; second, the Laser Illumination command, 'L'; third, the Communication Speed Setting command for RS-232C, 'S'; and fourth, the Distance Data Acquisition command, 'G'.</a:t>
            </a:r>
          </a:p>
          <a:p>
            <a:pPr marL="0" lvl="0" indent="0" algn="l" rtl="0">
              <a:lnSpc>
                <a:spcPct val="100000"/>
              </a:lnSpc>
              <a:spcBef>
                <a:spcPts val="0"/>
              </a:spcBef>
              <a:spcAft>
                <a:spcPts val="600"/>
              </a:spcAft>
              <a:buSzPts val="1400"/>
              <a:buNone/>
            </a:pPr>
            <a:r>
              <a:rPr lang="en-US" dirty="0"/>
              <a:t>The previous slide's scan diagram listed the URG-04LX interface as RS-232C or USB. Now you see which one we actually use. SCI stands for Serial Communications Interface, TI's name for the UART peripheral on the F28379D. It is the same kind of serial port you have already used on the Red Board, so talking to the LiDAR is just sending and receiving characters over a serial channel.</a:t>
            </a:r>
          </a:p>
          <a:p>
            <a:pPr marL="0" lvl="0" indent="0" algn="l" rtl="0">
              <a:lnSpc>
                <a:spcPct val="100000"/>
              </a:lnSpc>
              <a:spcBef>
                <a:spcPts val="0"/>
              </a:spcBef>
              <a:spcAft>
                <a:spcPts val="600"/>
              </a:spcAft>
              <a:buSzPts val="1400"/>
              <a:buNone/>
            </a:pPr>
            <a:r>
              <a:rPr lang="en-US" dirty="0"/>
              <a:t>Each command is named by a single ASCII letter. Version reports identifying information about the sensor. Laser Illumination controls the laser. Speed Setting changes the RS-232C baud rate. Distance Data Acquisition is the one that matters most for the robot, because it returns the range readings across the 240 degree scan you just saw. That is why most of the remaining slides in this lecture cover the 'G' command.</a:t>
            </a:r>
          </a:p>
          <a:p>
            <a:pPr marL="0" lvl="0" indent="0" algn="l" rtl="0">
              <a:lnSpc>
                <a:spcPct val="100000"/>
              </a:lnSpc>
              <a:spcBef>
                <a:spcPts val="0"/>
              </a:spcBef>
              <a:spcAft>
                <a:spcPts val="600"/>
              </a:spcAft>
              <a:buSzPts val="1400"/>
              <a:buNone/>
            </a:pPr>
            <a:r>
              <a:rPr lang="en-US" dirty="0"/>
              <a:t>Next, you see the exact packet format for these commands: what the host sends, what the sensor replies, the termination characters, and the status code.</a:t>
            </a:r>
          </a:p>
          <a:p>
            <a:pPr marL="0" lvl="0" indent="0" algn="l" rtl="0">
              <a:lnSpc>
                <a:spcPct val="100000"/>
              </a:lnSpc>
              <a:spcBef>
                <a:spcPts val="0"/>
              </a:spcBef>
              <a:spcAft>
                <a:spcPts val="600"/>
              </a:spcAft>
              <a:buSzPts val="1400"/>
              <a:buNone/>
            </a:pPr>
            <a:r>
              <a:rPr lang="en-US" dirty="0"/>
              <a:t>Quick check: if your robot needs a fresh set of wall distances for mapping, which letter do you send?</a:t>
            </a:r>
          </a:p>
        </p:txBody>
      </p:sp>
      <p:sp>
        <p:nvSpPr>
          <p:cNvPr id="116" name="Google Shape;116;p29:notes">
            <a:extLst>
              <a:ext uri="{FF2B5EF4-FFF2-40B4-BE49-F238E27FC236}">
                <a16:creationId xmlns:a16="http://schemas.microsoft.com/office/drawing/2014/main" id="{B825BE1A-4D0C-F84D-518B-D774E297DC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250219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AD646B9-09C8-E85F-16C9-1B9C3CA592C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883CFA3-CEED-7D28-C9AC-B032B77200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Before you can send individual commands, you need to know the shape of every message on the serial (SCI) line. This slide gives the general packet format the URG-04LX uses in both directions, and every command on the following slides fills in this template.</a:t>
            </a:r>
          </a:p>
          <a:p>
            <a:pPr marL="0" lvl="0" indent="0" algn="l" rtl="0">
              <a:lnSpc>
                <a:spcPct val="100000"/>
              </a:lnSpc>
              <a:spcBef>
                <a:spcPts val="0"/>
              </a:spcBef>
              <a:spcAft>
                <a:spcPts val="600"/>
              </a:spcAft>
              <a:buSzPts val="1400"/>
              <a:buNone/>
            </a:pPr>
            <a:r>
              <a:rPr lang="en-US" dirty="0"/>
              <a:t>The first table, Host to Sensor, has three boxes: Command, then Parameter (if necessary), then a terminator, either LF, hex 0a, or CR, hex 0d. So the Red Board sends a command letter, any parameter characters, and one line-ending character.</a:t>
            </a:r>
          </a:p>
          <a:p>
            <a:pPr marL="0" lvl="0" indent="0" algn="l" rtl="0">
              <a:lnSpc>
                <a:spcPct val="100000"/>
              </a:lnSpc>
              <a:spcBef>
                <a:spcPts val="0"/>
              </a:spcBef>
              <a:spcAft>
                <a:spcPts val="600"/>
              </a:spcAft>
              <a:buSzPts val="1400"/>
              <a:buNone/>
            </a:pPr>
            <a:r>
              <a:rPr lang="en-US" dirty="0"/>
              <a:t>The second table, Sensor to Host, has eight boxes: Command, Parameter (if necessary), LF, Status, LF, Data, LF, LF. The sensor first echoes your command and parameter, then sends a status line, then the data, and ends with two line feeds in a row. That double line feed is how your receive code knows the reply is complete.</a:t>
            </a:r>
          </a:p>
          <a:p>
            <a:pPr marL="0" lvl="0" indent="0" algn="l" rtl="0">
              <a:lnSpc>
                <a:spcPct val="100000"/>
              </a:lnSpc>
              <a:spcBef>
                <a:spcPts val="0"/>
              </a:spcBef>
              <a:spcAft>
                <a:spcPts val="600"/>
              </a:spcAft>
              <a:buSzPts val="1400"/>
              <a:buNone/>
            </a:pPr>
            <a:r>
              <a:rPr lang="en-US" dirty="0"/>
              <a:t>The bullets explain the notation. The terminator can be Line Feed, written '\n' in C, or Carriage Return, '\r'. A value written with a subscript 16, like 0a_16, is an ASCII code in hexadecimal. Any status other than the character '0' means an error.</a:t>
            </a:r>
          </a:p>
          <a:p>
            <a:pPr marL="0" lvl="0" indent="0" algn="l" rtl="0">
              <a:lnSpc>
                <a:spcPct val="100000"/>
              </a:lnSpc>
              <a:spcBef>
                <a:spcPts val="0"/>
              </a:spcBef>
              <a:spcAft>
                <a:spcPts val="600"/>
              </a:spcAft>
              <a:buSzPts val="1400"/>
              <a:buNone/>
            </a:pPr>
            <a:r>
              <a:rPr lang="en-US" dirty="0"/>
              <a:t>A common mistake is comparing the status byte to the number 0. The sensor sends the ASCII character '0', which is 0x30, so compare against '0'. Another is forgetting the terminator: without '\n', the sensor never acts on your command.</a:t>
            </a:r>
          </a:p>
          <a:p>
            <a:pPr marL="0" lvl="0" indent="0" algn="l" rtl="0">
              <a:lnSpc>
                <a:spcPct val="100000"/>
              </a:lnSpc>
              <a:spcBef>
                <a:spcPts val="0"/>
              </a:spcBef>
              <a:spcAft>
                <a:spcPts val="600"/>
              </a:spcAft>
              <a:buSzPts val="1400"/>
              <a:buNone/>
            </a:pPr>
            <a:r>
              <a:rPr lang="en-US" dirty="0"/>
              <a:t>Next, you apply this format to the simplest command, 'V', for version information.</a:t>
            </a:r>
          </a:p>
        </p:txBody>
      </p:sp>
      <p:sp>
        <p:nvSpPr>
          <p:cNvPr id="116" name="Google Shape;116;p29:notes">
            <a:extLst>
              <a:ext uri="{FF2B5EF4-FFF2-40B4-BE49-F238E27FC236}">
                <a16:creationId xmlns:a16="http://schemas.microsoft.com/office/drawing/2014/main" id="{97A9A1EF-8BDD-D75F-87EB-EBC509FC21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0036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52DB05D-1C08-92EF-B35C-18D8BD63184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94BD4AD-78B6-D97B-0A7A-803CFB2279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the first and simplest of the four LiDAR commands from two slides back: the version command, a single capital V.</a:t>
            </a:r>
          </a:p>
          <a:p>
            <a:pPr marL="0" lvl="0" indent="0" algn="l" rtl="0">
              <a:lnSpc>
                <a:spcPct val="100000"/>
              </a:lnSpc>
              <a:spcBef>
                <a:spcPts val="0"/>
              </a:spcBef>
              <a:spcAft>
                <a:spcPts val="600"/>
              </a:spcAft>
              <a:buSzPts val="1400"/>
              <a:buNone/>
            </a:pPr>
            <a:r>
              <a:rPr lang="en-US" dirty="0"/>
              <a:t>On the left are two message-format tables. Host to sensor is just two fields: the character V, which is hex 56, followed by a line feed or carriage return. Sensor to host is a stack of lines, each ending in a line feed: the echoed V, a status code, vendor information, product information, firmware version, protocol version, and sensor serial number. The last line ends with two line feeds, which marks the end of the reply. On the right is an example reply: V; status 0; VEND: Hokuyo Automatic Co., Ltd.; PROD: SOKUIKI Sensor URG-X002; FIRM: 0.01.22a, dated 2004/12/27; PROT: 00001, SCIP 1.0; SERI: H0400000.</a:t>
            </a:r>
          </a:p>
          <a:p>
            <a:pPr marL="0" lvl="0" indent="0" algn="l" rtl="0">
              <a:lnSpc>
                <a:spcPct val="100000"/>
              </a:lnSpc>
              <a:spcBef>
                <a:spcPts val="0"/>
              </a:spcBef>
              <a:spcAft>
                <a:spcPts val="600"/>
              </a:spcAft>
              <a:buSzPts val="1400"/>
              <a:buNone/>
            </a:pPr>
            <a:r>
              <a:rPr lang="en-US" dirty="0"/>
              <a:t>Notice the reply follows the general packet format from the previous slide. The sensor echoes your command, then sends a status. Status 0 means success; anything else is an error. The double line feed is how your receive code knows the message is complete.</a:t>
            </a:r>
          </a:p>
          <a:p>
            <a:pPr marL="0" lvl="0" indent="0" algn="l" rtl="0">
              <a:lnSpc>
                <a:spcPct val="100000"/>
              </a:lnSpc>
              <a:spcBef>
                <a:spcPts val="0"/>
              </a:spcBef>
              <a:spcAft>
                <a:spcPts val="600"/>
              </a:spcAft>
              <a:buSzPts val="1400"/>
              <a:buNone/>
            </a:pPr>
            <a:r>
              <a:rPr lang="en-US" dirty="0"/>
              <a:t>At the bottom is the code: serial_sendSCIC(&amp;SerialC, "V\n", 2); sends it on SCI C. The 2 is the number of bytes: the V and the newline. A common mistake is to pass a length that leaves off the terminator. Without the line feed or carriage return, the sensor never sees a complete command and does not reply.</a:t>
            </a:r>
          </a:p>
          <a:p>
            <a:pPr marL="0" lvl="0" indent="0" algn="l" rtl="0">
              <a:lnSpc>
                <a:spcPct val="100000"/>
              </a:lnSpc>
              <a:spcBef>
                <a:spcPts val="0"/>
              </a:spcBef>
              <a:spcAft>
                <a:spcPts val="600"/>
              </a:spcAft>
              <a:buSzPts val="1400"/>
              <a:buNone/>
            </a:pPr>
            <a:r>
              <a:rPr lang="en-US" dirty="0"/>
              <a:t>Version info is a useful first test in lab. If you get this reply back, your wiring, baud rate, and serial code all work. Next, you use the L command to turn the laser on and off.</a:t>
            </a:r>
          </a:p>
        </p:txBody>
      </p:sp>
      <p:sp>
        <p:nvSpPr>
          <p:cNvPr id="116" name="Google Shape;116;p29:notes">
            <a:extLst>
              <a:ext uri="{FF2B5EF4-FFF2-40B4-BE49-F238E27FC236}">
                <a16:creationId xmlns:a16="http://schemas.microsoft.com/office/drawing/2014/main" id="{23F01C35-1F7B-EA74-809C-4839662A48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43438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E4A5480-02BF-B949-CDAF-21EBD9D536C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E35D050-0294-8AFC-B081-7F32AD8C4EE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the laser illumination command, the "L" command, which turns the URG-04LX's laser on or off. The slide also notes that the laser is on by default whenever the sensor starts up, even if you switched it off before.</a:t>
            </a:r>
          </a:p>
          <a:p>
            <a:pPr marL="0" lvl="0" indent="0" algn="l" rtl="0">
              <a:lnSpc>
                <a:spcPct val="100000"/>
              </a:lnSpc>
              <a:spcBef>
                <a:spcPts val="0"/>
              </a:spcBef>
              <a:spcAft>
                <a:spcPts val="600"/>
              </a:spcAft>
              <a:buSzPts val="1400"/>
              <a:buNone/>
            </a:pPr>
            <a:r>
              <a:rPr lang="en-US" dirty="0"/>
              <a:t>Two packet tables show the format. From host to sensor there are three fields: the character L (hex 4C), a one-byte control code, and a line feed or carriage return. The sensor replies with L (hex 4C), the same control code echoed back, a line feed, a status field, and then two line feeds. As on slide 17, a status of "0" means success; any other status is an error.</a:t>
            </a:r>
          </a:p>
          <a:p>
            <a:pPr marL="0" lvl="0" indent="0" algn="l" rtl="0">
              <a:lnSpc>
                <a:spcPct val="100000"/>
              </a:lnSpc>
              <a:spcBef>
                <a:spcPts val="0"/>
              </a:spcBef>
              <a:spcAft>
                <a:spcPts val="600"/>
              </a:spcAft>
              <a:buSzPts val="1400"/>
              <a:buNone/>
            </a:pPr>
            <a:r>
              <a:rPr lang="en-US" dirty="0"/>
              <a:t>Below the tables are two lines of code. serial_sendSCIC(&amp;SerialC, "L0\n", 3) turns the LiDAR off, and serial_sendSCIC(&amp;SerialC, "L1\n", 3) turns it on. The control code is the ASCII character '0' or '1' (hex 30 or 31), not the integer 0 or 1. The length is 3 because you send the letter L, the digit, and the newline. A common mistake is a length that does not match the string, which sends a truncated or malformed command.</a:t>
            </a:r>
          </a:p>
          <a:p>
            <a:pPr marL="0" lvl="0" indent="0" algn="l" rtl="0">
              <a:lnSpc>
                <a:spcPct val="100000"/>
              </a:lnSpc>
              <a:spcBef>
                <a:spcPts val="0"/>
              </a:spcBef>
              <a:spcAft>
                <a:spcPts val="600"/>
              </a:spcAft>
              <a:buSzPts val="1400"/>
              <a:buNone/>
            </a:pPr>
            <a:r>
              <a:rPr lang="en-US" dirty="0"/>
              <a:t>This follows the same pattern as the "V" version command on slide 18: one ASCII letter, optional parameters, and a terminator, with the sensor echoing your command before its status. Because the laser comes up on at power-up, you usually do not need to send L1 at startup. L0 is useful when you want the laser quiet while the robot is idle.</a:t>
            </a:r>
          </a:p>
          <a:p>
            <a:pPr marL="0" lvl="0" indent="0" algn="l" rtl="0">
              <a:lnSpc>
                <a:spcPct val="100000"/>
              </a:lnSpc>
              <a:spcBef>
                <a:spcPts val="0"/>
              </a:spcBef>
              <a:spcAft>
                <a:spcPts val="600"/>
              </a:spcAft>
              <a:buSzPts val="1400"/>
              <a:buNone/>
            </a:pPr>
            <a:r>
              <a:rPr lang="en-US" dirty="0"/>
              <a:t>Quick check: how many bytes does the full reply to L1 contain if the status is a single character? (L, 1, LF, 0, LF, LF gives 6.)</a:t>
            </a:r>
          </a:p>
          <a:p>
            <a:pPr marL="0" lvl="0" indent="0" algn="l" rtl="0">
              <a:lnSpc>
                <a:spcPct val="100000"/>
              </a:lnSpc>
              <a:spcBef>
                <a:spcPts val="0"/>
              </a:spcBef>
              <a:spcAft>
                <a:spcPts val="600"/>
              </a:spcAft>
              <a:buSzPts val="1400"/>
              <a:buNone/>
            </a:pPr>
            <a:r>
              <a:rPr lang="en-US" dirty="0"/>
              <a:t>Next, you use the "S" command to change the serial baud rate.</a:t>
            </a:r>
          </a:p>
        </p:txBody>
      </p:sp>
      <p:sp>
        <p:nvSpPr>
          <p:cNvPr id="116" name="Google Shape;116;p29:notes">
            <a:extLst>
              <a:ext uri="{FF2B5EF4-FFF2-40B4-BE49-F238E27FC236}">
                <a16:creationId xmlns:a16="http://schemas.microsoft.com/office/drawing/2014/main" id="{195C8C55-FF2A-764E-3883-4A763C0A4E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8420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B78AB23-DDC1-2B84-C92C-A12DEC4E836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6B4D49-3330-5BC6-284A-4486C78DFDE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the S command, which changes how fast the LiDAR talks over the serial (SCI) link. By default the sensor communicates at 19.2 kbps, kilobits per second. You can raise this to 57.6, 115.2, 250, 500 or 750 kbps. The baud rate is written as exactly six ASCII digits, so 57.6 kbps becomes the string "057600" and 115.2 kbps becomes "115200".</a:t>
            </a:r>
          </a:p>
          <a:p>
            <a:pPr marL="0" lvl="0" indent="0" algn="l" rtl="0">
              <a:lnSpc>
                <a:spcPct val="100000"/>
              </a:lnSpc>
              <a:spcBef>
                <a:spcPts val="0"/>
              </a:spcBef>
              <a:spcAft>
                <a:spcPts val="600"/>
              </a:spcAft>
              <a:buSzPts val="1400"/>
              <a:buNone/>
            </a:pPr>
            <a:r>
              <a:rPr lang="en-US" dirty="0"/>
              <a:t>Two tables show the packet formats. From host to sensor, you send the character S (hex 53), then the six-digit baud rate, then a seven-digit reserved area, and finally a line feed or carriage return. The sensor replies by echoing S, the baud rate and the reserved area, then adds a Status field and ends with two line feeds, the same reply pattern you saw for the V and L commands.</a:t>
            </a:r>
          </a:p>
          <a:p>
            <a:pPr marL="0" lvl="0" indent="0" algn="l" rtl="0">
              <a:lnSpc>
                <a:spcPct val="100000"/>
              </a:lnSpc>
              <a:spcBef>
                <a:spcPts val="0"/>
              </a:spcBef>
              <a:spcAft>
                <a:spcPts val="600"/>
              </a:spcAft>
              <a:buSzPts val="1400"/>
              <a:buNone/>
            </a:pPr>
            <a:r>
              <a:rPr lang="en-US" dirty="0"/>
              <a:t>The slide then asks what baud rate this code sets: char S_command[19] = "S1152000124000\n"; then S_len = 19; then serial_sendSCIC(&amp;SerialC, S_command, S_len). Split the string by field: S, then 115200, then the reserved digits 0124000, then the newline. The answer is 115200 baud.</a:t>
            </a:r>
          </a:p>
          <a:p>
            <a:pPr marL="0" lvl="0" indent="0" algn="l" rtl="0">
              <a:lnSpc>
                <a:spcPct val="100000"/>
              </a:lnSpc>
              <a:spcBef>
                <a:spcPts val="0"/>
              </a:spcBef>
              <a:spcAft>
                <a:spcPts val="600"/>
              </a:spcAft>
              <a:buSzPts val="1400"/>
              <a:buNone/>
            </a:pPr>
            <a:r>
              <a:rPr lang="en-US" dirty="0"/>
              <a:t>Before reading the answer, try splitting the string into its fields yourself.</a:t>
            </a:r>
          </a:p>
          <a:p>
            <a:pPr marL="0" lvl="0" indent="0" algn="l" rtl="0">
              <a:lnSpc>
                <a:spcPct val="100000"/>
              </a:lnSpc>
              <a:spcBef>
                <a:spcPts val="0"/>
              </a:spcBef>
              <a:spcAft>
                <a:spcPts val="600"/>
              </a:spcAft>
              <a:buSzPts val="1400"/>
              <a:buNone/>
            </a:pPr>
            <a:r>
              <a:rPr lang="en-US" dirty="0"/>
              <a:t>A common mistake is forgetting the other end of the link. Once the sensor switches to 115200, your F28379D SCI-C port must also be reconfigured to 115200. If you skip this, every later reply arrives as garbage.</a:t>
            </a:r>
          </a:p>
          <a:p>
            <a:pPr marL="0" lvl="0" indent="0" algn="l" rtl="0">
              <a:lnSpc>
                <a:spcPct val="100000"/>
              </a:lnSpc>
              <a:spcBef>
                <a:spcPts val="0"/>
              </a:spcBef>
              <a:spcAft>
                <a:spcPts val="600"/>
              </a:spcAft>
              <a:buSzPts val="1400"/>
              <a:buNone/>
            </a:pPr>
            <a:r>
              <a:rPr lang="en-US" dirty="0"/>
              <a:t>Also count the characters: the command itself is 15 bytes, so check whether you really want to send all 19 bytes of the array.</a:t>
            </a:r>
          </a:p>
          <a:p>
            <a:pPr marL="0" lvl="0" indent="0" algn="l" rtl="0">
              <a:lnSpc>
                <a:spcPct val="100000"/>
              </a:lnSpc>
              <a:spcBef>
                <a:spcPts val="0"/>
              </a:spcBef>
              <a:spcAft>
                <a:spcPts val="600"/>
              </a:spcAft>
              <a:buSzPts val="1400"/>
              <a:buNone/>
            </a:pPr>
            <a:r>
              <a:rPr lang="en-US" dirty="0"/>
              <a:t>Faster serial matters for the next slides. There, you request hundreds of distance readings per scan with the G command.</a:t>
            </a:r>
          </a:p>
        </p:txBody>
      </p:sp>
      <p:sp>
        <p:nvSpPr>
          <p:cNvPr id="116" name="Google Shape;116;p29:notes">
            <a:extLst>
              <a:ext uri="{FF2B5EF4-FFF2-40B4-BE49-F238E27FC236}">
                <a16:creationId xmlns:a16="http://schemas.microsoft.com/office/drawing/2014/main" id="{57334A43-DD67-4596-7E8F-647ED9F04C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7586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D8C6F14-E97E-6E23-1DEA-D0E915B065A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B93C11C-D73C-7A22-E382-297EFD6663E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explains how the URG-04LX packs each distance reading into ASCII characters before sending it over the serial port. After the version, laser, and baud-rate commands, this is the format you will decode when you request scans.</a:t>
            </a:r>
          </a:p>
          <a:p>
            <a:pPr marL="0" lvl="0" indent="0" algn="l" rtl="0">
              <a:lnSpc>
                <a:spcPct val="100000"/>
              </a:lnSpc>
              <a:spcBef>
                <a:spcPts val="0"/>
              </a:spcBef>
              <a:spcAft>
                <a:spcPts val="600"/>
              </a:spcAft>
              <a:buSzPts val="1400"/>
              <a:buNone/>
            </a:pPr>
            <a:r>
              <a:rPr lang="en-US" dirty="0"/>
              <a:t>The slide makes four points. The sensor measures up to 4095 millimeters with 1 millimeter resolution, so each reading fits in 12 bits (range 0 to 4095). To send it as text, the 12 bits are split into two 6-bit pieces, each with a maximum value of 63, and hexadecimal 30, the character '0', is added to each piece.</a:t>
            </a:r>
          </a:p>
          <a:p>
            <a:pPr marL="0" lvl="0" indent="0" algn="l" rtl="0">
              <a:lnSpc>
                <a:spcPct val="100000"/>
              </a:lnSpc>
              <a:spcBef>
                <a:spcPts val="0"/>
              </a:spcBef>
              <a:spcAft>
                <a:spcPts val="600"/>
              </a:spcAft>
              <a:buSzPts val="1400"/>
              <a:buNone/>
            </a:pPr>
            <a:r>
              <a:rPr lang="en-US" dirty="0"/>
              <a:t>The worked example uses 1234 millimeters. In 12-bit binary that is 010011010010. The upper six bits are 010011, which is hex 13 or decimal 19. The lower six bits are 010010, which is hex 12 or decimal 18. Adding hex 30 gives hex 43 and hex 42. Hex 43 is 'C'. The slide labels hex 42 as 'D', but in ASCII hex 42 is actually 'B', and 'D' is hex 44. So 1234 millimeters arrives as "CB".</a:t>
            </a:r>
          </a:p>
          <a:p>
            <a:pPr marL="0" lvl="0" indent="0" algn="l" rtl="0">
              <a:lnSpc>
                <a:spcPct val="100000"/>
              </a:lnSpc>
              <a:spcBef>
                <a:spcPts val="0"/>
              </a:spcBef>
              <a:spcAft>
                <a:spcPts val="600"/>
              </a:spcAft>
              <a:buSzPts val="1400"/>
              <a:buNone/>
            </a:pPr>
            <a:r>
              <a:rPr lang="en-US" dirty="0"/>
              <a:t>Why encode it this way? Adding hex 30 keeps every data byte printable, between '0' (hex 30) and 'o' (hex 6F). This means a data byte can never look like the line feed that ends a line in the reply.</a:t>
            </a:r>
          </a:p>
          <a:p>
            <a:pPr marL="0" lvl="0" indent="0" algn="l" rtl="0">
              <a:lnSpc>
                <a:spcPct val="100000"/>
              </a:lnSpc>
              <a:spcBef>
                <a:spcPts val="0"/>
              </a:spcBef>
              <a:spcAft>
                <a:spcPts val="600"/>
              </a:spcAft>
              <a:buSzPts val="1400"/>
              <a:buNone/>
            </a:pPr>
            <a:r>
              <a:rPr lang="en-US" dirty="0"/>
              <a:t>To decode, reverse the steps:</a:t>
            </a:r>
          </a:p>
          <a:p>
            <a:pPr marL="0" lvl="0" indent="0" algn="l" rtl="0">
              <a:lnSpc>
                <a:spcPct val="100000"/>
              </a:lnSpc>
              <a:spcBef>
                <a:spcPts val="0"/>
              </a:spcBef>
              <a:spcAft>
                <a:spcPts val="600"/>
              </a:spcAft>
              <a:buSzPts val="1400"/>
              <a:buNone/>
            </a:pPr>
            <a:r>
              <a:rPr lang="en-US" dirty="0"/>
              <a:t>distance = ((c1 - 0x30) &lt;&lt; 6) | (c2 - 0x30)</a:t>
            </a:r>
          </a:p>
          <a:p>
            <a:pPr marL="0" lvl="0" indent="0" algn="l" rtl="0">
              <a:lnSpc>
                <a:spcPct val="100000"/>
              </a:lnSpc>
              <a:spcBef>
                <a:spcPts val="0"/>
              </a:spcBef>
              <a:spcAft>
                <a:spcPts val="600"/>
              </a:spcAft>
              <a:buSzPts val="1400"/>
              <a:buNone/>
            </a:pPr>
            <a:r>
              <a:rPr lang="en-US" dirty="0"/>
              <a:t>Check it with the example: 19 &lt;&lt; 6 is 1216, and 1216 + 18 = 1234. The format is big-endian, so the most significant character is sent first.</a:t>
            </a:r>
          </a:p>
          <a:p>
            <a:pPr marL="0" lvl="0" indent="0" algn="l" rtl="0">
              <a:lnSpc>
                <a:spcPct val="100000"/>
              </a:lnSpc>
              <a:spcBef>
                <a:spcPts val="0"/>
              </a:spcBef>
              <a:spcAft>
                <a:spcPts val="600"/>
              </a:spcAft>
              <a:buSzPts val="1400"/>
              <a:buNone/>
            </a:pPr>
            <a:r>
              <a:rPr lang="en-US" dirty="0"/>
              <a:t>A common mistake is swapping the two characters, or forgetting to subtract hex 30 before shifting.</a:t>
            </a:r>
          </a:p>
          <a:p>
            <a:pPr marL="0" lvl="0" indent="0" algn="l" rtl="0">
              <a:lnSpc>
                <a:spcPct val="100000"/>
              </a:lnSpc>
              <a:spcBef>
                <a:spcPts val="0"/>
              </a:spcBef>
              <a:spcAft>
                <a:spcPts val="600"/>
              </a:spcAft>
              <a:buSzPts val="1400"/>
              <a:buNone/>
            </a:pPr>
            <a:r>
              <a:rPr lang="en-US" dirty="0"/>
              <a:t>Next, you will see how the G command chooses which steps of the scan are returned.</a:t>
            </a:r>
          </a:p>
        </p:txBody>
      </p:sp>
      <p:sp>
        <p:nvSpPr>
          <p:cNvPr id="116" name="Google Shape;116;p29:notes">
            <a:extLst>
              <a:ext uri="{FF2B5EF4-FFF2-40B4-BE49-F238E27FC236}">
                <a16:creationId xmlns:a16="http://schemas.microsoft.com/office/drawing/2014/main" id="{36954703-977E-E9A6-7B96-C7382F4ED7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980225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CCDF47D-81DF-C42F-3FF8-A676C0B99F9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7BD32B3-1D07-8433-AAA1-F5517C6A1E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you ask the URG-04LX for distance data using the G command. The text says the sensor sweeps a full range of 240 degrees and can send at most 683 measurement points across that sweep, but it has 768 configurable steps. You choose the part of the sweep you actually want inside the G command.</a:t>
            </a:r>
          </a:p>
          <a:p>
            <a:pPr marL="0" lvl="0" indent="0" algn="l" rtl="0">
              <a:lnSpc>
                <a:spcPct val="100000"/>
              </a:lnSpc>
              <a:spcBef>
                <a:spcPts val="0"/>
              </a:spcBef>
              <a:spcAft>
                <a:spcPts val="600"/>
              </a:spcAft>
              <a:buSzPts val="1400"/>
              <a:buNone/>
            </a:pPr>
            <a:r>
              <a:rPr lang="en-US" dirty="0"/>
              <a:t>The command has three parameters: a starting point, an end point and a cluster count. The sensor groups neighboring points according to the cluster count and sends the host the minimum distance from each group.</a:t>
            </a:r>
          </a:p>
          <a:p>
            <a:pPr marL="0" lvl="0" indent="0" algn="l" rtl="0">
              <a:lnSpc>
                <a:spcPct val="100000"/>
              </a:lnSpc>
              <a:spcBef>
                <a:spcPts val="0"/>
              </a:spcBef>
              <a:spcAft>
                <a:spcPts val="600"/>
              </a:spcAft>
              <a:buSzPts val="1400"/>
              <a:buNone/>
            </a:pPr>
            <a:r>
              <a:rPr lang="en-US" dirty="0"/>
              <a:t>A table shows the host-to-sensor message format. In order: the character 'G', which is hex 47, then the starting point as 3 digits, the end point as 3 digits, the cluster count as 2 digits, and finally a line feed or carriage return. Below the table, the starting point (0 to 768) is where data reading begins, the end point (0 to 768) is where it stops, and the cluster count (0 to 99) is how many neighboring points form one cluster.</a:t>
            </a:r>
          </a:p>
          <a:p>
            <a:pPr marL="0" lvl="0" indent="0" algn="l" rtl="0">
              <a:lnSpc>
                <a:spcPct val="100000"/>
              </a:lnSpc>
              <a:spcBef>
                <a:spcPts val="0"/>
              </a:spcBef>
              <a:spcAft>
                <a:spcPts val="600"/>
              </a:spcAft>
              <a:buSzPts val="1400"/>
              <a:buNone/>
            </a:pPr>
            <a:r>
              <a:rPr lang="en-US" dirty="0"/>
              <a:t>Each step is a small angular increment, about 240/683, or roughly 0.35 degrees. Clustering trades angular resolution for fewer data points and less serial traffic. Returning the minimum of each cluster is the conservative choice: the robot sees the closest obstacle in that angular slice, which is what matters for avoiding collisions.</a:t>
            </a:r>
          </a:p>
          <a:p>
            <a:pPr marL="0" lvl="0" indent="0" algn="l" rtl="0">
              <a:lnSpc>
                <a:spcPct val="100000"/>
              </a:lnSpc>
              <a:spcBef>
                <a:spcPts val="0"/>
              </a:spcBef>
              <a:spcAft>
                <a:spcPts val="600"/>
              </a:spcAft>
              <a:buSzPts val="1400"/>
              <a:buNone/>
            </a:pPr>
            <a:r>
              <a:rPr lang="en-US" dirty="0"/>
              <a:t>A common mistake is forgetting that every field is ASCII text with a fixed width. A start of 44 must be sent as "044", and a cluster count of 3 as "03". These are the same fixed-width ASCII digits you used for the baud rate in the S command.</a:t>
            </a:r>
          </a:p>
          <a:p>
            <a:pPr marL="0" lvl="0" indent="0" algn="l" rtl="0">
              <a:lnSpc>
                <a:spcPct val="100000"/>
              </a:lnSpc>
              <a:spcBef>
                <a:spcPts val="0"/>
              </a:spcBef>
              <a:spcAft>
                <a:spcPts val="600"/>
              </a:spcAft>
              <a:buSzPts val="1400"/>
              <a:buNone/>
            </a:pPr>
            <a:r>
              <a:rPr lang="en-US" dirty="0"/>
              <a:t>Next, you decode a real command, G04472503, to find its start, end and cluster count.</a:t>
            </a:r>
          </a:p>
        </p:txBody>
      </p:sp>
      <p:sp>
        <p:nvSpPr>
          <p:cNvPr id="116" name="Google Shape;116;p29:notes">
            <a:extLst>
              <a:ext uri="{FF2B5EF4-FFF2-40B4-BE49-F238E27FC236}">
                <a16:creationId xmlns:a16="http://schemas.microsoft.com/office/drawing/2014/main" id="{1E547459-A8AA-AA57-6BDA-CE6B18D288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39719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352B014-EB4E-0873-95A2-90178DF6713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69D0938-41F7-8789-034B-BD6C9FB5007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decodes the G command used in the lab code. The top shows the command format table: the character 'G' (hex 47), a 3-digit starting point, a 3-digit end point, a 2-digit cluster count, then a line feed or carriage return. Below it is the code:</a:t>
            </a:r>
          </a:p>
          <a:p>
            <a:pPr marL="0" lvl="0" indent="0" algn="l" rtl="0">
              <a:lnSpc>
                <a:spcPct val="100000"/>
              </a:lnSpc>
              <a:spcBef>
                <a:spcPts val="0"/>
              </a:spcBef>
              <a:spcAft>
                <a:spcPts val="600"/>
              </a:spcAft>
              <a:buSzPts val="1400"/>
              <a:buNone/>
            </a:pPr>
            <a:r>
              <a:rPr lang="en-US" dirty="0"/>
              <a:t>char G_command[] = "G04472503\n"; with the comment "command for getting distance -120 to 120 degree", then uint16_t G_len = 11; and serial_sendSCIC(&amp;SerialC, G_command, G_len);</a:t>
            </a:r>
          </a:p>
          <a:p>
            <a:pPr marL="0" lvl="0" indent="0" algn="l" rtl="0">
              <a:lnSpc>
                <a:spcPct val="100000"/>
              </a:lnSpc>
              <a:spcBef>
                <a:spcPts val="0"/>
              </a:spcBef>
              <a:spcAft>
                <a:spcPts val="600"/>
              </a:spcAft>
              <a:buSzPts val="1400"/>
              <a:buNone/>
            </a:pPr>
            <a:r>
              <a:rPr lang="en-US" dirty="0"/>
              <a:t>Red boxes highlight three parts of the string, with arrows to the answers. What is the starting point? '044', the 44th step. What is the ending point? '725', the 725th step. What is the cluster count? '03', groups of 3.</a:t>
            </a:r>
          </a:p>
          <a:p>
            <a:pPr marL="0" lvl="0" indent="0" algn="l" rtl="0">
              <a:lnSpc>
                <a:spcPct val="100000"/>
              </a:lnSpc>
              <a:spcBef>
                <a:spcPts val="0"/>
              </a:spcBef>
              <a:spcAft>
                <a:spcPts val="600"/>
              </a:spcAft>
              <a:buSzPts val="1400"/>
              <a:buNone/>
            </a:pPr>
            <a:r>
              <a:rPr lang="en-US" dirty="0"/>
              <a:t>On the right is a top-view circle of the URG sensor. FRONT points up at step 384. Step 44 is at the lower right and step 725 at the lower left, and the hatched region between them, sweeping counterclockwise, is the measurable range. Steps 0 and 768 are dotted lines at the bottom, enclosing the shaded dead zone behind the sensor.</a:t>
            </a:r>
          </a:p>
          <a:p>
            <a:pPr marL="0" lvl="0" indent="0" algn="l" rtl="0">
              <a:lnSpc>
                <a:spcPct val="100000"/>
              </a:lnSpc>
              <a:spcBef>
                <a:spcPts val="0"/>
              </a:spcBef>
              <a:spcAft>
                <a:spcPts val="600"/>
              </a:spcAft>
              <a:buSzPts val="1400"/>
              <a:buNone/>
            </a:pPr>
            <a:r>
              <a:rPr lang="en-US" dirty="0"/>
              <a:t>So the command reads as G, 044, 725, 03, newline. Step 384 is straight ahead, and 44 and 725 sit symmetrically about it, giving roughly -120 to +120 degrees. Cluster count 3 means each reported value is the minimum distance of three neighboring steps, as the previous slide described.</a:t>
            </a:r>
          </a:p>
          <a:p>
            <a:pPr marL="0" lvl="0" indent="0" algn="l" rtl="0">
              <a:lnSpc>
                <a:spcPct val="100000"/>
              </a:lnSpc>
              <a:spcBef>
                <a:spcPts val="0"/>
              </a:spcBef>
              <a:spcAft>
                <a:spcPts val="600"/>
              </a:spcAft>
              <a:buSzPts val="1400"/>
              <a:buNone/>
            </a:pPr>
            <a:r>
              <a:rPr lang="en-US" dirty="0"/>
              <a:t>A common mistake is miscounting digits. Every field must be zero-padded to its full width, so you write 044, not 44, or the sensor misparses the command.</a:t>
            </a:r>
          </a:p>
          <a:p>
            <a:pPr marL="0" lvl="0" indent="0" algn="l" rtl="0">
              <a:lnSpc>
                <a:spcPct val="100000"/>
              </a:lnSpc>
              <a:spcBef>
                <a:spcPts val="0"/>
              </a:spcBef>
              <a:spcAft>
                <a:spcPts val="600"/>
              </a:spcAft>
              <a:buSzPts val="1400"/>
              <a:buNone/>
            </a:pPr>
            <a:r>
              <a:rPr lang="en-US" dirty="0"/>
              <a:t>Next, use these numbers to predict how many data points come back.</a:t>
            </a:r>
          </a:p>
        </p:txBody>
      </p:sp>
      <p:sp>
        <p:nvSpPr>
          <p:cNvPr id="116" name="Google Shape;116;p29:notes">
            <a:extLst>
              <a:ext uri="{FF2B5EF4-FFF2-40B4-BE49-F238E27FC236}">
                <a16:creationId xmlns:a16="http://schemas.microsoft.com/office/drawing/2014/main" id="{AB5A5C26-C5D3-F698-322A-17E87564F1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122681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679932E-7D9A-78B0-7FEA-1CA2838D228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B8A2472-91C9-8050-C831-F887F4BD622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one question: given the G command we send, how many distance values should come back? It repeats the command-format table from the host to the sensor: the character 'G' (hex 47), a 3-digit starting point, a 3-digit end point, and a 2-digit cluster count, ended by a line feed or carriage return. Below it is the same code as before: char G_command[] = "G04472503\n", commented as getting distance from -120 to 120 degrees, with uint16_t G_len = 11, sent with serial_sendSCIC(&amp;SerialC, G_command, G_len).</a:t>
            </a:r>
          </a:p>
          <a:p>
            <a:pPr marL="0" lvl="0" indent="0" algn="l" rtl="0">
              <a:lnSpc>
                <a:spcPct val="100000"/>
              </a:lnSpc>
              <a:spcBef>
                <a:spcPts val="0"/>
              </a:spcBef>
              <a:spcAft>
                <a:spcPts val="600"/>
              </a:spcAft>
              <a:buSzPts val="1400"/>
              <a:buNone/>
            </a:pPr>
            <a:r>
              <a:rPr lang="en-US" dirty="0"/>
              <a:t>On the right is a diagram of the sensor seen from above. An arrow labelled FRONT points up at step 384. The hatched measurable range of the URG-X002 runs from step 44 at the lower right, counterclockwise in the direction of rotation, to step 725 at the lower left. The wedge at the bottom, between step 0 and step 768 (shown dotted), is the dead zone the sensor cannot see.</a:t>
            </a:r>
          </a:p>
          <a:p>
            <a:pPr marL="0" lvl="0" indent="0" algn="l" rtl="0">
              <a:lnSpc>
                <a:spcPct val="100000"/>
              </a:lnSpc>
              <a:spcBef>
                <a:spcPts val="0"/>
              </a:spcBef>
              <a:spcAft>
                <a:spcPts val="600"/>
              </a:spcAft>
              <a:buSzPts val="1400"/>
              <a:buNone/>
            </a:pPr>
            <a:r>
              <a:rPr lang="en-US" dirty="0"/>
              <a:t>The slide's formula is the number of points = (end step minus start step) divided by cluster count, plus 1. Here that is (725 - 44)/3 + 1 = 681/3 + 1 = 227 + 1 = 228. The plus 1 is there because both endpoints are included, like counting fence posts rather than gaps. Each cluster reports the minimum distance of its 3 neighboring steps. So you trade angular resolution (roughly 0.35 degrees per step, about 1 degree per cluster) for fewer bytes to parse.</a:t>
            </a:r>
          </a:p>
          <a:p>
            <a:pPr marL="0" lvl="0" indent="0" algn="l" rtl="0">
              <a:lnSpc>
                <a:spcPct val="100000"/>
              </a:lnSpc>
              <a:spcBef>
                <a:spcPts val="0"/>
              </a:spcBef>
              <a:spcAft>
                <a:spcPts val="600"/>
              </a:spcAft>
              <a:buSzPts val="1400"/>
              <a:buNone/>
            </a:pPr>
            <a:r>
              <a:rPr lang="en-US" dirty="0"/>
              <a:t>Knowing to expect 228 values matters because your receive code must size its distance arrays and know when the scan is complete. A common mistake is forgetting the plus 1, which drops the last point. Quick check: with cluster count 01, how many points would you get?</a:t>
            </a:r>
          </a:p>
          <a:p>
            <a:pPr marL="0" lvl="0" indent="0" algn="l" rtl="0">
              <a:lnSpc>
                <a:spcPct val="100000"/>
              </a:lnSpc>
              <a:spcBef>
                <a:spcPts val="0"/>
              </a:spcBef>
              <a:spcAft>
                <a:spcPts val="600"/>
              </a:spcAft>
              <a:buSzPts val="1400"/>
              <a:buNone/>
            </a:pPr>
            <a:r>
              <a:rPr lang="en-US" dirty="0"/>
              <a:t>Next, we look at what each returned distance value means, including error codes.</a:t>
            </a:r>
          </a:p>
        </p:txBody>
      </p:sp>
      <p:sp>
        <p:nvSpPr>
          <p:cNvPr id="116" name="Google Shape;116;p29:notes">
            <a:extLst>
              <a:ext uri="{FF2B5EF4-FFF2-40B4-BE49-F238E27FC236}">
                <a16:creationId xmlns:a16="http://schemas.microsoft.com/office/drawing/2014/main" id="{03DFB627-0199-62EE-3269-BC8FB7F459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30948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9F91E26-8698-B529-8233-20B887AEB45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A4E1375-59E0-BB3E-30BE-2A82C26369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explains what the numbers coming back from the LiDAR actually mean. The text says the sensor measures distance in the range 20 mm to 4095 mm. If a value is less than 20 mm, it is not a real distance. The sensor uses those small values to encode an error.</a:t>
            </a:r>
          </a:p>
          <a:p>
            <a:pPr marL="0" lvl="0" indent="0" algn="l" rtl="0">
              <a:lnSpc>
                <a:spcPct val="100000"/>
              </a:lnSpc>
              <a:spcBef>
                <a:spcPts val="0"/>
              </a:spcBef>
              <a:spcAft>
                <a:spcPts val="600"/>
              </a:spcAft>
              <a:buSzPts val="1400"/>
              <a:buNone/>
            </a:pPr>
            <a:r>
              <a:rPr lang="en-US" dirty="0"/>
              <a:t>Below the text is a table of error codes 0 through 19:</a:t>
            </a:r>
          </a:p>
          <a:p>
            <a:pPr marL="0" lvl="0" indent="0" algn="l" rtl="0">
              <a:lnSpc>
                <a:spcPct val="100000"/>
              </a:lnSpc>
              <a:spcBef>
                <a:spcPts val="0"/>
              </a:spcBef>
              <a:spcAft>
                <a:spcPts val="600"/>
              </a:spcAft>
              <a:buSzPts val="1400"/>
              <a:buNone/>
            </a:pPr>
            <a:r>
              <a:rPr lang="en-US" dirty="0"/>
              <a:t>Code 0 means the detected object is possibly at 22 m.</a:t>
            </a:r>
          </a:p>
          <a:p>
            <a:pPr marL="0" lvl="0" indent="0" algn="l" rtl="0">
              <a:lnSpc>
                <a:spcPct val="100000"/>
              </a:lnSpc>
              <a:spcBef>
                <a:spcPts val="0"/>
              </a:spcBef>
              <a:spcAft>
                <a:spcPts val="600"/>
              </a:spcAft>
              <a:buSzPts val="1400"/>
              <a:buNone/>
            </a:pPr>
            <a:r>
              <a:rPr lang="en-US" dirty="0"/>
              <a:t>Codes 1 through 5 mean the reflected light has low intensity.</a:t>
            </a:r>
          </a:p>
          <a:p>
            <a:pPr marL="0" lvl="0" indent="0" algn="l" rtl="0">
              <a:lnSpc>
                <a:spcPct val="100000"/>
              </a:lnSpc>
              <a:spcBef>
                <a:spcPts val="0"/>
              </a:spcBef>
              <a:spcAft>
                <a:spcPts val="600"/>
              </a:spcAft>
              <a:buSzPts val="1400"/>
              <a:buNone/>
            </a:pPr>
            <a:r>
              <a:rPr lang="en-US" dirty="0"/>
              <a:t>Code 6 means the object is possibly at 5.7 m.</a:t>
            </a:r>
          </a:p>
          <a:p>
            <a:pPr marL="0" lvl="0" indent="0" algn="l" rtl="0">
              <a:lnSpc>
                <a:spcPct val="100000"/>
              </a:lnSpc>
              <a:spcBef>
                <a:spcPts val="0"/>
              </a:spcBef>
              <a:spcAft>
                <a:spcPts val="600"/>
              </a:spcAft>
              <a:buSzPts val="1400"/>
              <a:buNone/>
            </a:pPr>
            <a:r>
              <a:rPr lang="en-US" dirty="0"/>
              <a:t>Code 7 means the distance data on the preceding and succeeding steps have errors.</a:t>
            </a:r>
          </a:p>
          <a:p>
            <a:pPr marL="0" lvl="0" indent="0" algn="l" rtl="0">
              <a:lnSpc>
                <a:spcPct val="100000"/>
              </a:lnSpc>
              <a:spcBef>
                <a:spcPts val="0"/>
              </a:spcBef>
              <a:spcAft>
                <a:spcPts val="600"/>
              </a:spcAft>
              <a:buSzPts val="1400"/>
              <a:buNone/>
            </a:pPr>
            <a:r>
              <a:rPr lang="en-US" dirty="0"/>
              <a:t>Code 9 means the same step had an error in the last two scans.</a:t>
            </a:r>
          </a:p>
          <a:p>
            <a:pPr marL="0" lvl="0" indent="0" algn="l" rtl="0">
              <a:lnSpc>
                <a:spcPct val="100000"/>
              </a:lnSpc>
              <a:spcBef>
                <a:spcPts val="0"/>
              </a:spcBef>
              <a:spcAft>
                <a:spcPts val="600"/>
              </a:spcAft>
              <a:buSzPts val="1400"/>
              <a:buNone/>
            </a:pPr>
            <a:r>
              <a:rPr lang="en-US" dirty="0"/>
              <a:t>Code 16 means the object is possibly in the range 4096 mm.</a:t>
            </a:r>
          </a:p>
          <a:p>
            <a:pPr marL="0" lvl="0" indent="0" algn="l" rtl="0">
              <a:lnSpc>
                <a:spcPct val="100000"/>
              </a:lnSpc>
              <a:spcBef>
                <a:spcPts val="0"/>
              </a:spcBef>
              <a:spcAft>
                <a:spcPts val="600"/>
              </a:spcAft>
              <a:buSzPts val="1400"/>
              <a:buNone/>
            </a:pPr>
            <a:r>
              <a:rPr lang="en-US" dirty="0"/>
              <a:t>Code 18 is unspecified.</a:t>
            </a:r>
          </a:p>
          <a:p>
            <a:pPr marL="0" lvl="0" indent="0" algn="l" rtl="0">
              <a:lnSpc>
                <a:spcPct val="100000"/>
              </a:lnSpc>
              <a:spcBef>
                <a:spcPts val="0"/>
              </a:spcBef>
              <a:spcAft>
                <a:spcPts val="600"/>
              </a:spcAft>
              <a:buSzPts val="1400"/>
              <a:buNone/>
            </a:pPr>
            <a:r>
              <a:rPr lang="en-US" dirty="0"/>
              <a:t>Code 19 is a non-measurable distance.</a:t>
            </a:r>
          </a:p>
          <a:p>
            <a:pPr marL="0" lvl="0" indent="0" algn="l" rtl="0">
              <a:lnSpc>
                <a:spcPct val="100000"/>
              </a:lnSpc>
              <a:spcBef>
                <a:spcPts val="0"/>
              </a:spcBef>
              <a:spcAft>
                <a:spcPts val="600"/>
              </a:spcAft>
              <a:buSzPts val="1400"/>
              <a:buNone/>
            </a:pPr>
            <a:r>
              <a:rPr lang="en-US" dirty="0"/>
              <a:t>Codes 8, 10 through 15, and 17 are listed as "others."</a:t>
            </a:r>
          </a:p>
          <a:p>
            <a:pPr marL="0" lvl="0" indent="0" algn="l" rtl="0">
              <a:lnSpc>
                <a:spcPct val="100000"/>
              </a:lnSpc>
              <a:spcBef>
                <a:spcPts val="0"/>
              </a:spcBef>
              <a:spcAft>
                <a:spcPts val="600"/>
              </a:spcAft>
              <a:buSzPts val="1400"/>
              <a:buNone/>
            </a:pPr>
            <a:r>
              <a:rPr lang="en-US" dirty="0"/>
              <a:t>Why 4095? Each distance is sent as two characters, each carrying 6 bits. That gives 12 bits, so the largest value is 2^12 minus 1, which is 4095. Anything below 20 mm is physically too close to measure, so the sensor reuses that otherwise wasted part of the range to report what went wrong.</a:t>
            </a:r>
          </a:p>
          <a:p>
            <a:pPr marL="0" lvl="0" indent="0" algn="l" rtl="0">
              <a:lnSpc>
                <a:spcPct val="100000"/>
              </a:lnSpc>
              <a:spcBef>
                <a:spcPts val="0"/>
              </a:spcBef>
              <a:spcAft>
                <a:spcPts val="600"/>
              </a:spcAft>
              <a:buSzPts val="1400"/>
              <a:buNone/>
            </a:pPr>
            <a:r>
              <a:rPr lang="en-US" dirty="0"/>
              <a:t>The common mistake is treating a reading of 0 or 6 as an obstacle right against the robot. Those codes actually suggest the object is far away, beyond 4 m. If your obstacle avoidance or mapping code took them literally, the robot would swerve or stop for nothing.</a:t>
            </a:r>
          </a:p>
          <a:p>
            <a:pPr marL="0" lvl="0" indent="0" algn="l" rtl="0">
              <a:lnSpc>
                <a:spcPct val="100000"/>
              </a:lnSpc>
              <a:spcBef>
                <a:spcPts val="0"/>
              </a:spcBef>
              <a:spcAft>
                <a:spcPts val="600"/>
              </a:spcAft>
              <a:buSzPts val="1400"/>
              <a:buNone/>
            </a:pPr>
            <a:r>
              <a:rPr lang="en-US" dirty="0"/>
              <a:t>On the next slides, the receive state machine handles this case by case. A dist of 0 or 6 is replaced with a MAX value, and 16 is replaced with 4096, before the data is stored in the ping/pong array.</a:t>
            </a:r>
          </a:p>
          <a:p>
            <a:pPr marL="0" lvl="0" indent="0" algn="l" rtl="0">
              <a:lnSpc>
                <a:spcPct val="100000"/>
              </a:lnSpc>
              <a:spcBef>
                <a:spcPts val="0"/>
              </a:spcBef>
              <a:spcAft>
                <a:spcPts val="600"/>
              </a:spcAft>
              <a:buSzPts val="1400"/>
              <a:buNone/>
            </a:pPr>
            <a:r>
              <a:rPr lang="en-US" dirty="0"/>
              <a:t>Quick check: how should you handle a reading of 3?</a:t>
            </a:r>
          </a:p>
        </p:txBody>
      </p:sp>
      <p:sp>
        <p:nvSpPr>
          <p:cNvPr id="116" name="Google Shape;116;p29:notes">
            <a:extLst>
              <a:ext uri="{FF2B5EF4-FFF2-40B4-BE49-F238E27FC236}">
                <a16:creationId xmlns:a16="http://schemas.microsoft.com/office/drawing/2014/main" id="{BF79495A-A5B0-D409-4CCF-DF97D8CF0D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24505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7E1310B-582F-525C-8389-9A49D49B50B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69A8EBB-6B2C-A9E9-8C6E-80B35434EE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the robot decodes the LiDAR's reply to the G command. On the left is the sensor-to-host reply format. The first line echoes the command: the character 'G' (hex 47), a 3-digit starting point, a 3-digit end point, a 2-digit cluster count, then a line feed (LF). Next is a Status line ending in LF. The distance data follows in data blocks 1 through N minus 1, each 64 bytes ending in LF. The final block N has n bytes and ends with two LFs, which marks the end of the message.</a:t>
            </a:r>
          </a:p>
          <a:p>
            <a:pPr marL="0" lvl="0" indent="0" algn="l" rtl="0">
              <a:lnSpc>
                <a:spcPct val="100000"/>
              </a:lnSpc>
              <a:spcBef>
                <a:spcPts val="0"/>
              </a:spcBef>
              <a:spcAft>
                <a:spcPts val="600"/>
              </a:spcAft>
              <a:buSzPts val="1400"/>
              <a:buNone/>
            </a:pPr>
            <a:r>
              <a:rPr lang="en-US" dirty="0"/>
              <a:t>On the right is the state machine that runs inside the SCI C receive (RXC) interrupt, one character at a time. State 0 waits for 'G' and resets buf_index to 0. Receiving 'G' sets G_count to 1 and moves to State 1, which counts header bytes and loops while G_count &lt; 11. The 11th byte is the status. If it is not '0', the scan had an error and the machine returns to State 0. Once G_count &gt;= 12, it sets get_dis_first = 1 and enters the data states.</a:t>
            </a:r>
          </a:p>
          <a:p>
            <a:pPr marL="0" lvl="0" indent="0" algn="l" rtl="0">
              <a:lnSpc>
                <a:spcPct val="100000"/>
              </a:lnSpc>
              <a:spcBef>
                <a:spcPts val="0"/>
              </a:spcBef>
              <a:spcAft>
                <a:spcPts val="600"/>
              </a:spcAft>
              <a:buSzPts val="1400"/>
              <a:buNone/>
            </a:pPr>
            <a:r>
              <a:rPr lang="en-US" dirty="0"/>
              <a:t>Each distance is two characters, and each character carries 6 bits after you subtract 0x30. In the High Byte state, temp = (RXC - 0x30) &lt;&lt; 6, read as "RXC minus hex 30, shifted left six bits." In the Low Byte state, dist = temp + (RXC - 0x30). Two 6-bit characters give 12 bits, so the largest value is 4095. Error codes 0 and 6 become MAX, and 16 becomes 4096. The result goes into the ping/pong array.</a:t>
            </a:r>
          </a:p>
          <a:p>
            <a:pPr marL="0" lvl="0" indent="0" algn="l" rtl="0">
              <a:lnSpc>
                <a:spcPct val="100000"/>
              </a:lnSpc>
              <a:spcBef>
                <a:spcPts val="0"/>
              </a:spcBef>
              <a:spcAft>
                <a:spcPts val="600"/>
              </a:spcAft>
              <a:buSzPts val="1400"/>
              <a:buNone/>
            </a:pPr>
            <a:r>
              <a:rPr lang="en-US" dirty="0"/>
              <a:t>A linefeed in either data state does not toggle get_dis_first. It only increments LF_count. When LF_count reaches 2, the stream has ended: the interrupt triggers SWI2 (INTx10), toggles the ping/pong flag, and returns to State 0. The two ping/pong buffers let one fill while SWI2 processes the other.</a:t>
            </a:r>
          </a:p>
          <a:p>
            <a:pPr marL="0" lvl="0" indent="0" algn="l" rtl="0">
              <a:lnSpc>
                <a:spcPct val="100000"/>
              </a:lnSpc>
              <a:spcBef>
                <a:spcPts val="0"/>
              </a:spcBef>
              <a:spcAft>
                <a:spcPts val="600"/>
              </a:spcAft>
              <a:buSzPts val="1400"/>
              <a:buNone/>
            </a:pPr>
            <a:r>
              <a:rPr lang="en-US" dirty="0"/>
              <a:t>A common bug is treating the block-ending LFs as data. Next, you see the code for each state.</a:t>
            </a:r>
          </a:p>
        </p:txBody>
      </p:sp>
      <p:sp>
        <p:nvSpPr>
          <p:cNvPr id="116" name="Google Shape;116;p29:notes">
            <a:extLst>
              <a:ext uri="{FF2B5EF4-FFF2-40B4-BE49-F238E27FC236}">
                <a16:creationId xmlns:a16="http://schemas.microsoft.com/office/drawing/2014/main" id="{0F49200B-91BB-1841-492A-3E1C57A5D6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44543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292DDBD-4DC9-6A96-6577-3B9D32ACD13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AFC7078-021A-00ED-C20E-43B2468A52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begins the walkthrough of the receive state machine, starting with State 0. On the left is the C code for that state. On the right is the same state diagram as the previous slide, with a red arrow pointing from the code to the circle labeled "State 0: Wait for 'G', buf_index = 0".</a:t>
            </a:r>
          </a:p>
          <a:p>
            <a:pPr marL="0" lvl="0" indent="0" algn="l" rtl="0">
              <a:lnSpc>
                <a:spcPct val="100000"/>
              </a:lnSpc>
              <a:spcBef>
                <a:spcPts val="0"/>
              </a:spcBef>
              <a:spcAft>
                <a:spcPts val="600"/>
              </a:spcAft>
              <a:buSzPts val="1400"/>
              <a:buNone/>
            </a:pPr>
            <a:r>
              <a:rPr lang="en-US" dirty="0"/>
              <a:t>The code reads: if read_ladar_state equals 0, the comment says "wait for the starting char 'G'". It sets buf_index to 0. Then, if RXCdata equals the character 'G', it sets read_ladar_state to 1 and G_count to 1.</a:t>
            </a:r>
          </a:p>
          <a:p>
            <a:pPr marL="0" lvl="0" indent="0" algn="l" rtl="0">
              <a:lnSpc>
                <a:spcPct val="100000"/>
              </a:lnSpc>
              <a:spcBef>
                <a:spcPts val="0"/>
              </a:spcBef>
              <a:spcAft>
                <a:spcPts val="600"/>
              </a:spcAft>
              <a:buSzPts val="1400"/>
              <a:buNone/>
            </a:pPr>
            <a:r>
              <a:rPr lang="en-US" dirty="0"/>
              <a:t>This code runs inside the serial receive interrupt, and the interrupt fires once for every byte that arrives. RXCdata holds that one byte. The state machine does not loop or wait inside the interrupt. It looks at the current byte, possibly changes state, and returns, so the CPU stays free for your control loop.</a:t>
            </a:r>
          </a:p>
          <a:p>
            <a:pPr marL="0" lvl="0" indent="0" algn="l" rtl="0">
              <a:lnSpc>
                <a:spcPct val="100000"/>
              </a:lnSpc>
              <a:spcBef>
                <a:spcPts val="0"/>
              </a:spcBef>
              <a:spcAft>
                <a:spcPts val="600"/>
              </a:spcAft>
              <a:buSzPts val="1400"/>
              <a:buNone/>
            </a:pPr>
            <a:r>
              <a:rPr lang="en-US" dirty="0"/>
              <a:t>State 0 is the synchronization state. Recall from the reply format that every distance message begins with 'G', hex 0x47. Any byte that is not 'G' is simply discarded. This lets the code recover if it starts listening in the middle of a message. G_count starts at 1 because the 'G' itself is the first of the 12 header bytes you count before the distance data begins.</a:t>
            </a:r>
          </a:p>
          <a:p>
            <a:pPr marL="0" lvl="0" indent="0" algn="l" rtl="0">
              <a:lnSpc>
                <a:spcPct val="100000"/>
              </a:lnSpc>
              <a:spcBef>
                <a:spcPts val="0"/>
              </a:spcBef>
              <a:spcAft>
                <a:spcPts val="600"/>
              </a:spcAft>
              <a:buSzPts val="1400"/>
              <a:buNone/>
            </a:pPr>
            <a:r>
              <a:rPr lang="en-US" dirty="0"/>
              <a:t>There is a subtle point here. Data characters are encoded as value plus 0x30, so they range from 0x30 to 0x6F, and 'G' can therefore appear inside the distance data. A false start is still caught in the next state, which checks that the status byte is '0'.</a:t>
            </a:r>
          </a:p>
          <a:p>
            <a:pPr marL="0" lvl="0" indent="0" algn="l" rtl="0">
              <a:lnSpc>
                <a:spcPct val="100000"/>
              </a:lnSpc>
              <a:spcBef>
                <a:spcPts val="0"/>
              </a:spcBef>
              <a:spcAft>
                <a:spcPts val="600"/>
              </a:spcAft>
              <a:buSzPts val="1400"/>
              <a:buNone/>
            </a:pPr>
            <a:r>
              <a:rPr lang="en-US" dirty="0"/>
              <a:t>Next, State 1 counts and validates those header bytes.</a:t>
            </a:r>
          </a:p>
        </p:txBody>
      </p:sp>
      <p:sp>
        <p:nvSpPr>
          <p:cNvPr id="116" name="Google Shape;116;p29:notes">
            <a:extLst>
              <a:ext uri="{FF2B5EF4-FFF2-40B4-BE49-F238E27FC236}">
                <a16:creationId xmlns:a16="http://schemas.microsoft.com/office/drawing/2014/main" id="{04B0B41F-6BAC-D8D1-0E72-1302140287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461113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5AB4B5C-0538-45CE-7C23-35699F04C73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8FA9A0F-C970-23CC-C1A8-ED03E0E8350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code for State 1, "Get Headers," of the LiDAR receive state machine. On the left is the C code; on the right is the same state diagram from the previous slides, with three red arrows linking lines of code to parts of the diagram.</a:t>
            </a:r>
          </a:p>
          <a:p>
            <a:pPr marL="0" lvl="0" indent="0" algn="l" rtl="0">
              <a:lnSpc>
                <a:spcPct val="100000"/>
              </a:lnSpc>
              <a:spcBef>
                <a:spcPts val="0"/>
              </a:spcBef>
              <a:spcAft>
                <a:spcPts val="600"/>
              </a:spcAft>
              <a:buSzPts val="1400"/>
              <a:buNone/>
            </a:pPr>
            <a:r>
              <a:rPr lang="en-US" dirty="0"/>
              <a:t>The code reads: else if (read_ladar_state == 1), increment G_count by 1. If G_count == 11 and RXCdata != '0', set read_ladar_state = 0. If G_count &gt;= 12, set read_ladar_state = 2, get_dis_first = 1, and dis_index = 0.</a:t>
            </a:r>
          </a:p>
          <a:p>
            <a:pPr marL="0" lvl="0" indent="0" algn="l" rtl="0">
              <a:lnSpc>
                <a:spcPct val="100000"/>
              </a:lnSpc>
              <a:spcBef>
                <a:spcPts val="0"/>
              </a:spcBef>
              <a:spcAft>
                <a:spcPts val="600"/>
              </a:spcAft>
              <a:buSzPts val="1400"/>
              <a:buNone/>
            </a:pPr>
            <a:r>
              <a:rPr lang="en-US" dirty="0"/>
              <a:t>The first arrow links G_count += 1 to State 1's self-loop, labeled "G_count &lt; 11." The second links the status check to the error transition back to State 0, labeled "G_count == 11 and RXC != '0'." The third links read_ladar_state = 2 to the transition into State 2, High Byte, labeled "G_count &gt;= 12, get_dis_first = 1."</a:t>
            </a:r>
          </a:p>
          <a:p>
            <a:pPr marL="0" lvl="0" indent="0" algn="l" rtl="0">
              <a:lnSpc>
                <a:spcPct val="100000"/>
              </a:lnSpc>
              <a:spcBef>
                <a:spcPts val="0"/>
              </a:spcBef>
              <a:spcAft>
                <a:spcPts val="600"/>
              </a:spcAft>
              <a:buSzPts val="1400"/>
              <a:buNone/>
            </a:pPr>
            <a:r>
              <a:rPr lang="en-US" dirty="0"/>
              <a:t>Remember that this code runs once per received byte, inside the serial receive interrupt. G_count starts at 1 because State 0 already counted the 'G'. The echoed command is 'G', three digits of start point, three of end point, two of cluster count, and a line feed: 10 bytes. Byte 11 is the status character, and byte 12 is its line feed. A status other than '0' means the sensor rejected the request, so you discard the packet and wait for the next 'G'.</a:t>
            </a:r>
          </a:p>
          <a:p>
            <a:pPr marL="0" lvl="0" indent="0" algn="l" rtl="0">
              <a:lnSpc>
                <a:spcPct val="100000"/>
              </a:lnSpc>
              <a:spcBef>
                <a:spcPts val="0"/>
              </a:spcBef>
              <a:spcAft>
                <a:spcPts val="600"/>
              </a:spcAft>
              <a:buSzPts val="1400"/>
              <a:buNone/>
            </a:pPr>
            <a:r>
              <a:rPr lang="en-US" dirty="0"/>
              <a:t>On the 12th byte you move to State 2. You set dis_index to 0 so the readings fill the array from the start. You set get_dis_first to 1 because the next byte is the high 6 bits of the first distance.</a:t>
            </a:r>
          </a:p>
          <a:p>
            <a:pPr marL="0" lvl="0" indent="0" algn="l" rtl="0">
              <a:lnSpc>
                <a:spcPct val="100000"/>
              </a:lnSpc>
              <a:spcBef>
                <a:spcPts val="0"/>
              </a:spcBef>
              <a:spcAft>
                <a:spcPts val="600"/>
              </a:spcAft>
              <a:buSzPts val="1400"/>
              <a:buNone/>
            </a:pPr>
            <a:r>
              <a:rPr lang="en-US" dirty="0"/>
              <a:t>A common mistake is an off-by-one error here. If you count wrong, every distance pairs the wrong high and low bytes.</a:t>
            </a:r>
          </a:p>
          <a:p>
            <a:pPr marL="0" lvl="0" indent="0" algn="l" rtl="0">
              <a:lnSpc>
                <a:spcPct val="100000"/>
              </a:lnSpc>
              <a:spcBef>
                <a:spcPts val="0"/>
              </a:spcBef>
              <a:spcAft>
                <a:spcPts val="600"/>
              </a:spcAft>
              <a:buSzPts val="1400"/>
              <a:buNone/>
            </a:pPr>
            <a:r>
              <a:rPr lang="en-US" dirty="0"/>
              <a:t>Next, State 2 decodes those distance bytes.</a:t>
            </a:r>
          </a:p>
        </p:txBody>
      </p:sp>
      <p:sp>
        <p:nvSpPr>
          <p:cNvPr id="116" name="Google Shape;116;p29:notes">
            <a:extLst>
              <a:ext uri="{FF2B5EF4-FFF2-40B4-BE49-F238E27FC236}">
                <a16:creationId xmlns:a16="http://schemas.microsoft.com/office/drawing/2014/main" id="{0743258A-D3E1-04DA-4945-B9B5B45244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6978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A19BB2C-813E-23B6-2AFC-5DD99DAF8D4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B1F599D-4F79-B906-09E7-58F7CDBAD33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State 2 of the LiDAR receive interrupt, where the actual distance bytes arrive. The C code is on the left and the state diagram from the previous slides is on the right. Red arrows link the code to the diagram. The LF_count += 1 line points to the self-loop on the High Byte state, labeled "RXC == 0x0a, LF_count += 1". The get_dis_first = 0 line points to the High Byte state. The "Continued to next slide" comment points to the transition into the Low Byte state. The ping-pong toggle points to the End of Stream state.</a:t>
            </a:r>
          </a:p>
          <a:p>
            <a:pPr marL="0" lvl="0" indent="0" algn="l" rtl="0">
              <a:lnSpc>
                <a:spcPct val="100000"/>
              </a:lnSpc>
              <a:spcBef>
                <a:spcPts val="0"/>
              </a:spcBef>
              <a:spcAft>
                <a:spcPts val="600"/>
              </a:spcAft>
              <a:buSzPts val="1400"/>
              <a:buNone/>
            </a:pPr>
            <a:r>
              <a:rPr lang="en-US" dirty="0"/>
              <a:t>The code first checks whether the received character RXCdata is a line feed, 0x0a. If it is, LF_count goes up by one. A single line feed is only a line break, because the sensor splits the scan data into lines. Any other character resets LF_count to zero and is treated as data.</a:t>
            </a:r>
          </a:p>
          <a:p>
            <a:pPr marL="0" lvl="0" indent="0" algn="l" rtl="0">
              <a:lnSpc>
                <a:spcPct val="100000"/>
              </a:lnSpc>
              <a:spcBef>
                <a:spcPts val="0"/>
              </a:spcBef>
              <a:spcAft>
                <a:spcPts val="600"/>
              </a:spcAft>
              <a:buSzPts val="1400"/>
              <a:buNone/>
            </a:pPr>
            <a:r>
              <a:rPr lang="en-US" dirty="0"/>
              <a:t>Each distance is sent as two characters, and each character carries 6 bits plus an offset of 0x30. The first character gives the top 6 bits: tempscid = (RXCdata - 0x30) &lt;&lt; 6, read as "RXCdata minus hex 30, shifted left by six". Then get_dis_first is set to 0, so the next character is handled as the low byte. For example, the characters '1' then '0' give (1 &lt;&lt; 6) + 0 = 64 mm.</a:t>
            </a:r>
          </a:p>
          <a:p>
            <a:pPr marL="0" lvl="0" indent="0" algn="l" rtl="0">
              <a:lnSpc>
                <a:spcPct val="100000"/>
              </a:lnSpc>
              <a:spcBef>
                <a:spcPts val="0"/>
              </a:spcBef>
              <a:spcAft>
                <a:spcPts val="600"/>
              </a:spcAft>
              <a:buSzPts val="1400"/>
              <a:buNone/>
            </a:pPr>
            <a:r>
              <a:rPr lang="en-US" dirty="0"/>
              <a:t>The LF_count == 2 test sits after the if/else, not inside the else branch. Inside the else, LF_count was just set to zero, so the test could never succeed there. Watch your braces if you retype this code.</a:t>
            </a:r>
          </a:p>
          <a:p>
            <a:pPr marL="0" lvl="0" indent="0" algn="l" rtl="0">
              <a:lnSpc>
                <a:spcPct val="100000"/>
              </a:lnSpc>
              <a:spcBef>
                <a:spcPts val="0"/>
              </a:spcBef>
              <a:spcAft>
                <a:spcPts val="600"/>
              </a:spcAft>
              <a:buSzPts val="1400"/>
              <a:buNone/>
            </a:pPr>
            <a:r>
              <a:rPr lang="en-US" dirty="0"/>
              <a:t>Two consecutive line feeds mark the end of the scan, and four things happen:</a:t>
            </a:r>
          </a:p>
          <a:p>
            <a:pPr marL="0" lvl="0" indent="0" algn="l" rtl="0">
              <a:lnSpc>
                <a:spcPct val="100000"/>
              </a:lnSpc>
              <a:spcBef>
                <a:spcPts val="0"/>
              </a:spcBef>
              <a:spcAft>
                <a:spcPts val="600"/>
              </a:spcAft>
              <a:buSzPts val="1400"/>
              <a:buNone/>
            </a:pPr>
            <a:r>
              <a:rPr lang="en-US" dirty="0"/>
              <a:t>1. The state returns to 0.</a:t>
            </a:r>
          </a:p>
          <a:p>
            <a:pPr marL="0" lvl="0" indent="0" algn="l" rtl="0">
              <a:lnSpc>
                <a:spcPct val="100000"/>
              </a:lnSpc>
              <a:spcBef>
                <a:spcPts val="0"/>
              </a:spcBef>
              <a:spcAft>
                <a:spcPts val="600"/>
              </a:spcAft>
              <a:buSzPts val="1400"/>
              <a:buNone/>
            </a:pPr>
            <a:r>
              <a:rPr lang="en-US" dirty="0"/>
              <a:t>2. The point count is saved in print_dis_index.</a:t>
            </a:r>
          </a:p>
          <a:p>
            <a:pPr marL="0" lvl="0" indent="0" algn="l" rtl="0">
              <a:lnSpc>
                <a:spcPct val="100000"/>
              </a:lnSpc>
              <a:spcBef>
                <a:spcPts val="0"/>
              </a:spcBef>
              <a:spcAft>
                <a:spcPts val="600"/>
              </a:spcAft>
              <a:buSzPts val="1400"/>
              <a:buNone/>
            </a:pPr>
            <a:r>
              <a:rPr lang="en-US" dirty="0"/>
              <a:t>3. Setting PIEIFR12.bit.INTx10 = 1 manually triggers software interrupt SWI2, which processes the finished scan outside this receive interrupt.</a:t>
            </a:r>
          </a:p>
          <a:p>
            <a:pPr marL="0" lvl="0" indent="0" algn="l" rtl="0">
              <a:lnSpc>
                <a:spcPct val="100000"/>
              </a:lnSpc>
              <a:spcBef>
                <a:spcPts val="0"/>
              </a:spcBef>
              <a:spcAft>
                <a:spcPts val="600"/>
              </a:spcAft>
              <a:buSzPts val="1400"/>
              <a:buNone/>
            </a:pPr>
            <a:r>
              <a:rPr lang="en-US" dirty="0"/>
              <a:t>4. LADARpingpong flips, so the next scan fills the other buffer while SWI2 reads the completed one.</a:t>
            </a:r>
          </a:p>
          <a:p>
            <a:pPr marL="0" lvl="0" indent="0" algn="l" rtl="0">
              <a:lnSpc>
                <a:spcPct val="100000"/>
              </a:lnSpc>
              <a:spcBef>
                <a:spcPts val="0"/>
              </a:spcBef>
              <a:spcAft>
                <a:spcPts val="600"/>
              </a:spcAft>
              <a:buSzPts val="1400"/>
              <a:buNone/>
            </a:pPr>
            <a:r>
              <a:rPr lang="en-US" dirty="0"/>
              <a:t>Next, you see how the low byte completes each distance.</a:t>
            </a:r>
          </a:p>
        </p:txBody>
      </p:sp>
      <p:sp>
        <p:nvSpPr>
          <p:cNvPr id="116" name="Google Shape;116;p29:notes">
            <a:extLst>
              <a:ext uri="{FF2B5EF4-FFF2-40B4-BE49-F238E27FC236}">
                <a16:creationId xmlns:a16="http://schemas.microsoft.com/office/drawing/2014/main" id="{07971F42-1FB0-9AE9-4B32-24289FC225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36326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03DD8F9-2435-2152-ED77-F2F54E5A07C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5B62F28-A4DD-9CC3-9887-CCAADE62E4E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completes the low-byte branch of the State 2 code from the previous slide. The left half shows the C code for the case get_dis_first == 0, when the second character of a distance reading arrives. The right half repeats the receive-interrupt state diagram. Three red arrows run from the code to the "State 2: Low Byte" circle: one from the error-code check, one from the line that fills the ping array, and one from the line that fills the pong array.</a:t>
            </a:r>
          </a:p>
          <a:p>
            <a:pPr marL="0" lvl="0" indent="0" algn="l" rtl="0">
              <a:lnSpc>
                <a:spcPct val="100000"/>
              </a:lnSpc>
              <a:spcBef>
                <a:spcPts val="0"/>
              </a:spcBef>
              <a:spcAft>
                <a:spcPts val="600"/>
              </a:spcAft>
              <a:buSzPts val="1400"/>
              <a:buNone/>
            </a:pPr>
            <a:r>
              <a:rPr lang="en-US" dirty="0"/>
              <a:t>First the code finishes the decode. The sensor sends each 12-bit distance as two ASCII characters, each carrying 6 bits offset by 0x30. The high byte is already stored in tempscid, so distance = tempscid + (RXCdata - 0x30). The value 0 or 6 is an error code and becomes LADAR_MAX_READING. The value 16 means 4096 mm.</a:t>
            </a:r>
          </a:p>
          <a:p>
            <a:pPr marL="0" lvl="0" indent="0" algn="l" rtl="0">
              <a:lnSpc>
                <a:spcPct val="100000"/>
              </a:lnSpc>
              <a:spcBef>
                <a:spcPts val="0"/>
              </a:spcBef>
              <a:spcAft>
                <a:spcPts val="600"/>
              </a:spcAft>
              <a:buSzPts val="1400"/>
              <a:buNone/>
            </a:pPr>
            <a:r>
              <a:rPr lang="en-US" dirty="0"/>
              <a:t>Next the distance is converted from millimeters to feet: checkdist = distance*0.00328084. A reading is accepted only if it is greater than zero and less than 20 feet. The code then stores it in whichever buffer the LADARpingpong flag selects. If the reading fails the check, numRCXerrors goes up by one and the value from the other buffer is copied in, so that the previous scan's reading fills the gap.</a:t>
            </a:r>
          </a:p>
          <a:p>
            <a:pPr marL="0" lvl="0" indent="0" algn="l" rtl="0">
              <a:lnSpc>
                <a:spcPct val="100000"/>
              </a:lnSpc>
              <a:spcBef>
                <a:spcPts val="0"/>
              </a:spcBef>
              <a:spcAft>
                <a:spcPts val="600"/>
              </a:spcAft>
              <a:buSzPts val="1400"/>
              <a:buNone/>
            </a:pPr>
            <a:r>
              <a:rPr lang="en-US" dirty="0"/>
              <a:t>Ping-pong buffering means the interrupt writes into one array while your SWI2 code reads the other complete scan. The flag toggles at the end of each stream.</a:t>
            </a:r>
          </a:p>
          <a:p>
            <a:pPr marL="0" lvl="0" indent="0" algn="l" rtl="0">
              <a:lnSpc>
                <a:spcPct val="100000"/>
              </a:lnSpc>
              <a:spcBef>
                <a:spcPts val="0"/>
              </a:spcBef>
              <a:spcAft>
                <a:spcPts val="600"/>
              </a:spcAft>
              <a:buSzPts val="1400"/>
              <a:buNone/>
            </a:pPr>
            <a:r>
              <a:rPr lang="en-US" dirty="0"/>
              <a:t>Look closely at the pong branch. It tests checkdist &gt;= 0.0, while the ping branch tests &gt; 0.0, and its comment still says "ping." Both come from copy and paste, so watch for this kind of mismatch in your own code.</a:t>
            </a:r>
          </a:p>
          <a:p>
            <a:pPr marL="0" lvl="0" indent="0" algn="l" rtl="0">
              <a:lnSpc>
                <a:spcPct val="100000"/>
              </a:lnSpc>
              <a:spcBef>
                <a:spcPts val="0"/>
              </a:spcBef>
              <a:spcAft>
                <a:spcPts val="600"/>
              </a:spcAft>
              <a:buSzPts val="1400"/>
              <a:buNone/>
            </a:pPr>
            <a:r>
              <a:rPr lang="en-US" dirty="0"/>
              <a:t>Finally, dis_index advances and get_dis_first returns to 1, ready for the next high byte.</a:t>
            </a:r>
          </a:p>
          <a:p>
            <a:pPr marL="0" lvl="0" indent="0" algn="l" rtl="0">
              <a:lnSpc>
                <a:spcPct val="100000"/>
              </a:lnSpc>
              <a:spcBef>
                <a:spcPts val="0"/>
              </a:spcBef>
              <a:spcAft>
                <a:spcPts val="600"/>
              </a:spcAft>
              <a:buSzPts val="1400"/>
              <a:buNone/>
            </a:pPr>
            <a:r>
              <a:rPr lang="en-US" dirty="0"/>
              <a:t>Quick check: if the high character is 'A' (0x41) and the low character is '0', the distance is 17*64 = 1088 mm, about 3.57 ft.</a:t>
            </a:r>
          </a:p>
          <a:p>
            <a:pPr marL="0" lvl="0" indent="0" algn="l" rtl="0">
              <a:lnSpc>
                <a:spcPct val="100000"/>
              </a:lnSpc>
              <a:spcBef>
                <a:spcPts val="0"/>
              </a:spcBef>
              <a:spcAft>
                <a:spcPts val="600"/>
              </a:spcAft>
              <a:buSzPts val="1400"/>
              <a:buNone/>
            </a:pPr>
            <a:r>
              <a:rPr lang="en-US" dirty="0"/>
              <a:t>Next, you see how main initializes the sensor and the timer that requests each scan.</a:t>
            </a:r>
          </a:p>
        </p:txBody>
      </p:sp>
      <p:sp>
        <p:nvSpPr>
          <p:cNvPr id="116" name="Google Shape;116;p29:notes">
            <a:extLst>
              <a:ext uri="{FF2B5EF4-FFF2-40B4-BE49-F238E27FC236}">
                <a16:creationId xmlns:a16="http://schemas.microsoft.com/office/drawing/2014/main" id="{CB41477F-09E2-07F4-4479-117B047586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59957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533893D-0F7B-20D0-7B77-3D29BFAD090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A36A004-EDB2-A693-4F02-E45BB0DA65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moves from the receive interrupt we just walked through to the setup code in main that makes it run. The URG-04LX completes one scan every 100 milliseconds, so 10 scans per second (10 Hz), and we want to talk to it at 115200 baud.</a:t>
            </a:r>
          </a:p>
          <a:p>
            <a:pPr marL="0" lvl="0" indent="0" algn="l" rtl="0">
              <a:lnSpc>
                <a:spcPct val="100000"/>
              </a:lnSpc>
              <a:spcBef>
                <a:spcPts val="0"/>
              </a:spcBef>
              <a:spcAft>
                <a:spcPts val="600"/>
              </a:spcAft>
              <a:buSzPts val="1400"/>
              <a:buNone/>
            </a:pPr>
            <a:r>
              <a:rPr lang="en-US" dirty="0"/>
              <a:t>The code does four things. First, ConfigCpuTimer sets CPU Timer 1 with a period of 100000 microseconds, which is 100 ms or 10 Hz, matching the scan rate. Second, init_serialSCIC opens SCI C at 19200 baud, because the LiDAR always powers up at 19200. Third, it sends the S command string "S1152000124000" followed by a newline, which tells the sensor to switch to 115200 baud. It then waits one second with DELAY_US(1000000) so the sensor can change over, and reopens SCI C at 115200.</a:t>
            </a:r>
          </a:p>
          <a:p>
            <a:pPr marL="0" lvl="0" indent="0" algn="l" rtl="0">
              <a:lnSpc>
                <a:spcPct val="100000"/>
              </a:lnSpc>
              <a:spcBef>
                <a:spcPts val="0"/>
              </a:spcBef>
              <a:spcAft>
                <a:spcPts val="600"/>
              </a:spcAft>
              <a:buSzPts val="1400"/>
              <a:buNone/>
            </a:pPr>
            <a:r>
              <a:rPr lang="en-US" dirty="0"/>
              <a:t>A common mistake is skipping the 19200 step or the delay. Either one leaves the board and the sensor at different baud rates, and you receive only garbage.</a:t>
            </a:r>
          </a:p>
          <a:p>
            <a:pPr marL="0" lvl="0" indent="0" algn="l" rtl="0">
              <a:lnSpc>
                <a:spcPct val="100000"/>
              </a:lnSpc>
              <a:spcBef>
                <a:spcPts val="0"/>
              </a:spcBef>
              <a:spcAft>
                <a:spcPts val="600"/>
              </a:spcAft>
              <a:buSzPts val="1400"/>
              <a:buNone/>
            </a:pPr>
            <a:r>
              <a:rPr lang="en-US" dirty="0"/>
              <a:t>Fourth, a loop precomputes the angle of all 228 readings, because the angles never change. In plain text: angle = ((3*i + 44)*0.3515625 - 135)*0.01745329. The sensor divides a full turn into 1024 steps, so each step is 360/1024 = 0.3515625 degrees. Readings start at step 44 and use every third step. Subtracting 135 degrees makes straight ahead zero, and multiplying by pi/180 converts to radians.</a:t>
            </a:r>
          </a:p>
          <a:p>
            <a:pPr marL="0" lvl="0" indent="0" algn="l" rtl="0">
              <a:lnSpc>
                <a:spcPct val="100000"/>
              </a:lnSpc>
              <a:spcBef>
                <a:spcPts val="0"/>
              </a:spcBef>
              <a:spcAft>
                <a:spcPts val="600"/>
              </a:spcAft>
              <a:buSzPts val="1400"/>
              <a:buNone/>
            </a:pPr>
            <a:r>
              <a:rPr lang="en-US" dirty="0"/>
              <a:t>Check yourself: what is the angle of the first point, i = 0? It is about -119.5 degrees.</a:t>
            </a:r>
          </a:p>
          <a:p>
            <a:pPr marL="0" lvl="0" indent="0" algn="l" rtl="0">
              <a:lnSpc>
                <a:spcPct val="100000"/>
              </a:lnSpc>
              <a:spcBef>
                <a:spcPts val="0"/>
              </a:spcBef>
              <a:spcAft>
                <a:spcPts val="600"/>
              </a:spcAft>
              <a:buSzPts val="1400"/>
              <a:buNone/>
            </a:pPr>
            <a:r>
              <a:rPr lang="en-US" dirty="0"/>
              <a:t>Next, we see what Timer 1 does every 100 ms.</a:t>
            </a:r>
          </a:p>
        </p:txBody>
      </p:sp>
      <p:sp>
        <p:nvSpPr>
          <p:cNvPr id="116" name="Google Shape;116;p29:notes">
            <a:extLst>
              <a:ext uri="{FF2B5EF4-FFF2-40B4-BE49-F238E27FC236}">
                <a16:creationId xmlns:a16="http://schemas.microsoft.com/office/drawing/2014/main" id="{B750FB42-08A2-85B2-9C57-63B8E4593F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157812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4029AA0-AA89-E193-DC69-60A8CDB6EA8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AA9E75B-ABB7-FF69-5A28-82ABC458C1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the request for new LiDAR data is triggered. One line of text says CPU Timer 1 calls the SCI command that reads the LiDAR information. Below it is a short C function, cpu_timer1_isr, declared with the __interrupt keyword. Its body has two statements: serial_sendSCIC(&amp;SerialC, G_command, G_len), which transmits the G command string of length G_len out serial port C to the LiDAR, and CpuTimer1.InterruptCount++, which counts how many times the timer has fired. The closing sentence says that at 10 Hz, timer 1 sends the G command so new data is collected into the lidar_data buffer.</a:t>
            </a:r>
          </a:p>
          <a:p>
            <a:pPr marL="0" lvl="0" indent="0" algn="l" rtl="0">
              <a:lnSpc>
                <a:spcPct val="100000"/>
              </a:lnSpc>
              <a:spcBef>
                <a:spcPts val="0"/>
              </a:spcBef>
              <a:spcAft>
                <a:spcPts val="600"/>
              </a:spcAft>
              <a:buSzPts val="1400"/>
              <a:buNone/>
            </a:pPr>
            <a:r>
              <a:rPr lang="en-US" dirty="0"/>
              <a:t>This ties back to the setup on the previous slide. There, ConfigCpuTimer set Timer 1 to a period of 100000 microseconds, which is 100 ms or 10 Hz. That period matches the sensor's scan time of 100 ms per scan, so you request exactly one new scan each time the LiDAR finishes one.</a:t>
            </a:r>
          </a:p>
          <a:p>
            <a:pPr marL="0" lvl="0" indent="0" algn="l" rtl="0">
              <a:lnSpc>
                <a:spcPct val="100000"/>
              </a:lnSpc>
              <a:spcBef>
                <a:spcPts val="0"/>
              </a:spcBef>
              <a:spcAft>
                <a:spcPts val="600"/>
              </a:spcAft>
              <a:buSzPts val="1400"/>
              <a:buNone/>
            </a:pPr>
            <a:r>
              <a:rPr lang="en-US" dirty="0"/>
              <a:t>The timer ISR only sends the request. The reply arrives byte by byte at 115200 baud and is handled by the SCIC receive interrupt and the state machine you saw a few slides ago. That state machine checks the header, decodes each distance from its two characters, and stores the result in the ping or pong array.</a:t>
            </a:r>
          </a:p>
          <a:p>
            <a:pPr marL="0" lvl="0" indent="0" algn="l" rtl="0">
              <a:lnSpc>
                <a:spcPct val="100000"/>
              </a:lnSpc>
              <a:spcBef>
                <a:spcPts val="0"/>
              </a:spcBef>
              <a:spcAft>
                <a:spcPts val="600"/>
              </a:spcAft>
              <a:buSzPts val="1400"/>
              <a:buNone/>
            </a:pPr>
            <a:r>
              <a:rPr lang="en-US" dirty="0"/>
              <a:t>A common mistake is to try to wait for or parse the reply inside this timer ISR. Keep it short, so it never blocks other interrupts.</a:t>
            </a:r>
          </a:p>
          <a:p>
            <a:pPr marL="0" lvl="0" indent="0" algn="l" rtl="0">
              <a:lnSpc>
                <a:spcPct val="100000"/>
              </a:lnSpc>
              <a:spcBef>
                <a:spcPts val="0"/>
              </a:spcBef>
              <a:spcAft>
                <a:spcPts val="600"/>
              </a:spcAft>
              <a:buSzPts val="1400"/>
              <a:buNone/>
            </a:pPr>
            <a:r>
              <a:rPr lang="en-US" dirty="0"/>
              <a:t>Quick check: what would go wrong if you set Timer 1 to 20 Hz?</a:t>
            </a:r>
          </a:p>
          <a:p>
            <a:pPr marL="0" lvl="0" indent="0" algn="l" rtl="0">
              <a:lnSpc>
                <a:spcPct val="100000"/>
              </a:lnSpc>
              <a:spcBef>
                <a:spcPts val="0"/>
              </a:spcBef>
              <a:spcAft>
                <a:spcPts val="600"/>
              </a:spcAft>
              <a:buSzPts val="1400"/>
              <a:buNone/>
            </a:pPr>
            <a:r>
              <a:rPr lang="en-US" dirty="0"/>
              <a:t>On the next slide you see what happens when the full scan has arrived: the receive code triggers a software interrupt to process the data.</a:t>
            </a:r>
          </a:p>
        </p:txBody>
      </p:sp>
      <p:sp>
        <p:nvSpPr>
          <p:cNvPr id="116" name="Google Shape;116;p29:notes">
            <a:extLst>
              <a:ext uri="{FF2B5EF4-FFF2-40B4-BE49-F238E27FC236}">
                <a16:creationId xmlns:a16="http://schemas.microsoft.com/office/drawing/2014/main" id="{37BBF791-950A-6F47-2D54-0E239EF8D2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2712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07D8388-E52E-5192-9E65-4222BD30DB1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246244D-AB93-2BBE-9395-C41221D00E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the SCI receive interrupt hands off a completed LiDAR scan. Once the serial interrupt has received the whole scan, it triggers a software interrupt to do the processing. The slide shows a short block of C code from the SCI receive routine, followed by reminders about interrupt priority.</a:t>
            </a:r>
          </a:p>
          <a:p>
            <a:pPr marL="0" lvl="0" indent="0" algn="l" rtl="0">
              <a:lnSpc>
                <a:spcPct val="100000"/>
              </a:lnSpc>
              <a:spcBef>
                <a:spcPts val="0"/>
              </a:spcBef>
              <a:spcAft>
                <a:spcPts val="600"/>
              </a:spcAft>
              <a:buSzPts val="1400"/>
              <a:buNone/>
            </a:pPr>
            <a:r>
              <a:rPr lang="en-US" dirty="0"/>
              <a:t>The code reads: if LF_count == 2, meaning two consecutive line feeds have arrived, which marks the end of the current data stream. Inside the if, four things happen. First, read_ladar_state is set to 0, which resets the receive state machine so it waits for the start of the next reply. Second, print_dis_index is set to dis_index, which saves how many distance values this scan contained. Third, PieCtrlRegs.PIEIFR12.bit.INTx10 is set to 1. This writes the PIE flag for group 12, channel 10, which manually causes the interrupt we use as SWI2. Fourth, LADARpingpong is set to 1 minus LADARpingpong, which toggles between 0 and 1.</a:t>
            </a:r>
          </a:p>
          <a:p>
            <a:pPr marL="0" lvl="0" indent="0" algn="l" rtl="0">
              <a:lnSpc>
                <a:spcPct val="100000"/>
              </a:lnSpc>
              <a:spcBef>
                <a:spcPts val="0"/>
              </a:spcBef>
              <a:spcAft>
                <a:spcPts val="600"/>
              </a:spcAft>
              <a:buSzPts val="1400"/>
              <a:buNone/>
            </a:pPr>
            <a:r>
              <a:rPr lang="en-US" dirty="0"/>
              <a:t>The ping-pong toggle is the important design idea. There are two buffers. The SCI interrupt fills one while SWI2 processes the other, so new bytes never overwrite data that is still being used.</a:t>
            </a:r>
          </a:p>
          <a:p>
            <a:pPr marL="0" lvl="0" indent="0" algn="l" rtl="0">
              <a:lnSpc>
                <a:spcPct val="100000"/>
              </a:lnSpc>
              <a:spcBef>
                <a:spcPts val="0"/>
              </a:spcBef>
              <a:spcAft>
                <a:spcPts val="600"/>
              </a:spcAft>
              <a:buSzPts val="1400"/>
              <a:buNone/>
            </a:pPr>
            <a:r>
              <a:rPr lang="en-US" dirty="0"/>
              <a:t>Why push the work into a software interrupt? The SCI interrupt must stay short so no characters are missed. A software interrupt sits at the lowest priority, so any higher-priority interrupt can preempt it. A common mistake is forgetting that setting the flag alone is not enough. The channel must also be enabled in the PIEIER register and in IER, or the interrupt never runs.</a:t>
            </a:r>
          </a:p>
          <a:p>
            <a:pPr marL="0" lvl="0" indent="0" algn="l" rtl="0">
              <a:lnSpc>
                <a:spcPct val="100000"/>
              </a:lnSpc>
              <a:spcBef>
                <a:spcPts val="0"/>
              </a:spcBef>
              <a:spcAft>
                <a:spcPts val="600"/>
              </a:spcAft>
              <a:buSzPts val="1400"/>
              <a:buNone/>
            </a:pPr>
            <a:r>
              <a:rPr lang="en-US" dirty="0"/>
              <a:t>The last bullets describe the PIE table on the next slide. Rows are groups and columns are channels. When several interrupts are pending, the lowest-numbered channel in the lowest-numbered group is serviced first. Interrupts at the top left of the table go first, and the bottom right goes last. So where does group 12 fall?</a:t>
            </a:r>
          </a:p>
        </p:txBody>
      </p:sp>
      <p:sp>
        <p:nvSpPr>
          <p:cNvPr id="116" name="Google Shape;116;p29:notes">
            <a:extLst>
              <a:ext uri="{FF2B5EF4-FFF2-40B4-BE49-F238E27FC236}">
                <a16:creationId xmlns:a16="http://schemas.microsoft.com/office/drawing/2014/main" id="{FCFBB0F3-AF62-47DC-BBB0-E0E167A362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855825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47C5338-49F9-B62D-398D-E108ADB57B2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EE4A24D-FAD4-8296-A9D9-AA8860FFDE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Table 3-2, PIE Channel Mapping, from the TI F28379D reference manual. It is a grid with 12 rows, the PIE groups INT1.y through INT12.y, and 16 columns, the channels INTx.1 through INTx.16. Each cell names the peripheral interrupt at that position, and cells with a dash are reserved. For example, group 1 holds ADCA1, ADCB1, ADCC1, XINT1, XINT2, ADCD1, TIMER0 and WAKE. Group 3 holds EPWM1 through EPWM12. The serial port the LiDAR uses, SCIC, sits in group 8: SCIC_RX at INT8.5 and SCIC_TX at INT8.6.</a:t>
            </a:r>
          </a:p>
          <a:p>
            <a:pPr marL="0" lvl="0" indent="0" algn="l" rtl="0">
              <a:lnSpc>
                <a:spcPct val="100000"/>
              </a:lnSpc>
              <a:spcBef>
                <a:spcPts val="0"/>
              </a:spcBef>
              <a:spcAft>
                <a:spcPts val="600"/>
              </a:spcAft>
              <a:buSzPts val="1400"/>
              <a:buNone/>
            </a:pPr>
            <a:r>
              <a:rPr lang="en-US" dirty="0"/>
              <a:t>A red box highlights the right side of the bottom row, INT12.6 through INT12.16. These cells are VCU, FPU_OVERFLOW, FPU_UNDERFLOW, EMIF_ERROR, RAM_CORRECTABLE_ERROR, FLASH_CORRECTABLE_ERROR, RAM_ACCESS_VIOLATION, SYS_PLL_SLIP, AUX_PLL_SLIP, CLA OVERFLOW and CLA UNDERFLOW.</a:t>
            </a:r>
          </a:p>
          <a:p>
            <a:pPr marL="0" lvl="0" indent="0" algn="l" rtl="0">
              <a:lnSpc>
                <a:spcPct val="100000"/>
              </a:lnSpc>
              <a:spcBef>
                <a:spcPts val="0"/>
              </a:spcBef>
              <a:spcAft>
                <a:spcPts val="600"/>
              </a:spcAft>
              <a:buSzPts val="1400"/>
              <a:buNone/>
            </a:pPr>
            <a:r>
              <a:rPr lang="en-US" dirty="0"/>
              <a:t>These are error and fault interrupts that our code never uses for their real purpose, so we borrow them as software interrupts. Nothing in hardware ever triggers them. We trigger them ourselves by setting the flag bit, as on the last slide: PieCtrlRegs.PIEIFR12.bit.INTx10 = 1. That position, INT12.10, is RAM_CORRECTABLE_ERROR, which is why the SWI2 function comment says so.</a:t>
            </a:r>
          </a:p>
          <a:p>
            <a:pPr marL="0" lvl="0" indent="0" algn="l" rtl="0">
              <a:lnSpc>
                <a:spcPct val="100000"/>
              </a:lnSpc>
              <a:spcBef>
                <a:spcPts val="0"/>
              </a:spcBef>
              <a:spcAft>
                <a:spcPts val="600"/>
              </a:spcAft>
              <a:buSzPts val="1400"/>
              <a:buNone/>
            </a:pPr>
            <a:r>
              <a:rPr lang="en-US" dirty="0"/>
              <a:t>Remember the priority rule: the lowest group number and then the lowest channel number wins. Group 12 is the lowest-priority group, so the SCIC receive interrupt in group 8 can still preempt our processing. That means no LiDAR characters are lost while you crunch the data.</a:t>
            </a:r>
          </a:p>
          <a:p>
            <a:pPr marL="0" lvl="0" indent="0" algn="l" rtl="0">
              <a:lnSpc>
                <a:spcPct val="100000"/>
              </a:lnSpc>
              <a:spcBef>
                <a:spcPts val="0"/>
              </a:spcBef>
              <a:spcAft>
                <a:spcPts val="600"/>
              </a:spcAft>
              <a:buSzPts val="1400"/>
              <a:buNone/>
            </a:pPr>
            <a:r>
              <a:rPr lang="en-US" dirty="0"/>
              <a:t>Quick check: which of SWI1, SWI2 and SWI3 should get the lowest channel number in group 12? Next, we see how the lab code uses three of these slots.</a:t>
            </a:r>
          </a:p>
        </p:txBody>
      </p:sp>
      <p:sp>
        <p:nvSpPr>
          <p:cNvPr id="116" name="Google Shape;116;p29:notes">
            <a:extLst>
              <a:ext uri="{FF2B5EF4-FFF2-40B4-BE49-F238E27FC236}">
                <a16:creationId xmlns:a16="http://schemas.microsoft.com/office/drawing/2014/main" id="{A8EB10A0-C7C3-08FE-6042-A95A13CBBA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84961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2EE1FCA-221C-A648-5596-3FDEE94CFDB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8EE58D9-1D99-2662-306E-26D15F2E593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states that the LiDAR lab code uses three software interrupts, each with a different priority. Software interrupt 1 has the highest priority and handles retrieving data and sending data to and from the Raspberry Pi. Software interrupt 2 has the middle priority and performs the LiDAR position computation and the coordinate transformations based on where the sensor sits on the robot. Software interrupt 3 has the lowest priority and is for anything else. The slide ends by saying this lecture covers only software interrupt 2.</a:t>
            </a:r>
          </a:p>
          <a:p>
            <a:pPr marL="0" lvl="0" indent="0" algn="l" rtl="0">
              <a:lnSpc>
                <a:spcPct val="100000"/>
              </a:lnSpc>
              <a:spcBef>
                <a:spcPts val="0"/>
              </a:spcBef>
              <a:spcAft>
                <a:spcPts val="600"/>
              </a:spcAft>
              <a:buSzPts val="1400"/>
              <a:buNone/>
            </a:pPr>
            <a:r>
              <a:rPr lang="en-US" dirty="0"/>
              <a:t>On the previous slide, the SCI receive interrupt saw two consecutive line feeds, which marks the end of a complete scan. It then set PieCtrlRegs.PIEIFR12.bit.INTx10 = 1 to trigger a software interrupt by hand. That interrupt is software interrupt 2.</a:t>
            </a:r>
          </a:p>
          <a:p>
            <a:pPr marL="0" lvl="0" indent="0" algn="l" rtl="0">
              <a:lnSpc>
                <a:spcPct val="100000"/>
              </a:lnSpc>
              <a:spcBef>
                <a:spcPts val="0"/>
              </a:spcBef>
              <a:spcAft>
                <a:spcPts val="600"/>
              </a:spcAft>
              <a:buSzPts val="1400"/>
              <a:buNone/>
            </a:pPr>
            <a:r>
              <a:rPr lang="en-US" dirty="0"/>
              <a:t>The reason for splitting the work is that a hardware interrupt like the SCI receive should be short. It grabs the bytes and gets out. Heavier work, such as looping over all the scan points and calling cosf and sinf, belongs in a lower-priority software interrupt that faster, time-critical tasks can preempt. Communication with the Raspberry Pi is ranked above the geometry so that data exchange is not delayed. Background tasks sit at the bottom.</a:t>
            </a:r>
          </a:p>
          <a:p>
            <a:pPr marL="0" lvl="0" indent="0" algn="l" rtl="0">
              <a:lnSpc>
                <a:spcPct val="100000"/>
              </a:lnSpc>
              <a:spcBef>
                <a:spcPts val="0"/>
              </a:spcBef>
              <a:spcAft>
                <a:spcPts val="600"/>
              </a:spcAft>
              <a:buSzPts val="1400"/>
              <a:buNone/>
            </a:pPr>
            <a:r>
              <a:rPr lang="en-US" dirty="0"/>
              <a:t>A common mistake is to put the floating-point math inside the serial interrupt itself. That makes you miss incoming characters.</a:t>
            </a:r>
          </a:p>
          <a:p>
            <a:pPr marL="0" lvl="0" indent="0" algn="l" rtl="0">
              <a:lnSpc>
                <a:spcPct val="100000"/>
              </a:lnSpc>
              <a:spcBef>
                <a:spcPts val="0"/>
              </a:spcBef>
              <a:spcAft>
                <a:spcPts val="600"/>
              </a:spcAft>
              <a:buSzPts val="1400"/>
              <a:buNone/>
            </a:pPr>
            <a:r>
              <a:rPr lang="en-US" dirty="0"/>
              <a:t>Quick check: if software interrupt 1 becomes pending while software interrupt 2 is running, which one runs? On the next slide, watch how software interrupt 2 re-enables interrupts at its start to allow exactly that.</a:t>
            </a:r>
          </a:p>
        </p:txBody>
      </p:sp>
      <p:sp>
        <p:nvSpPr>
          <p:cNvPr id="116" name="Google Shape;116;p29:notes">
            <a:extLst>
              <a:ext uri="{FF2B5EF4-FFF2-40B4-BE49-F238E27FC236}">
                <a16:creationId xmlns:a16="http://schemas.microsoft.com/office/drawing/2014/main" id="{5FB146F6-99B0-BB3B-2864-ACE26ED9EA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49300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A7CD30B-525B-EBA7-FE85-0B14231777D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68422C8-E096-0DFC-F631-E051610FFF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body of software interrupt 2, the middle-priority interrupt from the previous slide, where the LiDAR data is processed. The function is declared as __interrupt void SWI2_MiddlePriority(void). The comment RAM_CORRECTABLE_ERROR means it borrows that PIE vector, PIE group 12, channel 10. The hardware never raises that interrupt on its own, so the code can trigger it in software.</a:t>
            </a:r>
          </a:p>
          <a:p>
            <a:pPr marL="0" lvl="0" indent="0" algn="l" rtl="0">
              <a:lnSpc>
                <a:spcPct val="100000"/>
              </a:lnSpc>
              <a:spcBef>
                <a:spcPts val="0"/>
              </a:spcBef>
              <a:spcAft>
                <a:spcPts val="600"/>
              </a:spcAft>
              <a:buSzPts val="1400"/>
              <a:buNone/>
            </a:pPr>
            <a:r>
              <a:rPr lang="en-US" dirty="0"/>
              <a:t>The first block sets up nesting. It saves PIEIER12 in TempPIEIER. It then masks IER with MINT12 to set the "global" priority and masks PIEIER12 with MG12_10 to set the "group" priority, so only higher-priority interrupts remain enabled. Next it writes PIEACK = 0xFFFF, executes a NOP, and calls EINT. EINT re-enables interrupts, so software interrupt 1 and the serial interrupts can preempt this longer computation.</a:t>
            </a:r>
          </a:p>
          <a:p>
            <a:pPr marL="0" lvl="0" indent="0" algn="l" rtl="0">
              <a:lnSpc>
                <a:spcPct val="100000"/>
              </a:lnSpc>
              <a:spcBef>
                <a:spcPts val="0"/>
              </a:spcBef>
              <a:spcAft>
                <a:spcPts val="600"/>
              </a:spcAft>
              <a:buSzPts val="1400"/>
              <a:buNone/>
            </a:pPr>
            <a:r>
              <a:rPr lang="en-US" dirty="0"/>
              <a:t>The data section checks LADARpingpong. A ping-pong buffer means there are two buffers: while one fills with new serial data, you process the other. When LADARpingpong == 1, the code reads distance_ping. The pong branch does the same thing on the other buffer.</a:t>
            </a:r>
          </a:p>
          <a:p>
            <a:pPr marL="0" lvl="0" indent="0" algn="l" rtl="0">
              <a:lnSpc>
                <a:spcPct val="100000"/>
              </a:lnSpc>
              <a:spcBef>
                <a:spcPts val="0"/>
              </a:spcBef>
              <a:spcAft>
                <a:spcPts val="600"/>
              </a:spcAft>
              <a:buSzPts val="1400"/>
              <a:buNone/>
            </a:pPr>
            <a:r>
              <a:rPr lang="en-US" dirty="0"/>
              <a:t>The two loops find minimum distances. LADARrightfront is the minimum of readings 52 to 56, and LADARfront is the minimum of readings 111 to 115, which point straight ahead. Each minimum starts at 19 feet. That value is larger than any distance the sensor can return, so any real reading replaces it. Taking the minimum over five neighbouring rays gives a conservative nearest-obstacle distance, and it does not depend on any single ray.</a:t>
            </a:r>
          </a:p>
          <a:p>
            <a:pPr marL="0" lvl="0" indent="0" algn="l" rtl="0">
              <a:lnSpc>
                <a:spcPct val="100000"/>
              </a:lnSpc>
              <a:spcBef>
                <a:spcPts val="0"/>
              </a:spcBef>
              <a:spcAft>
                <a:spcPts val="600"/>
              </a:spcAft>
              <a:buSzPts val="1400"/>
              <a:buNone/>
            </a:pPr>
            <a:r>
              <a:rPr lang="en-US" dirty="0"/>
              <a:t>A common mistake is forgetting to reset the starting value each time, or reading the pong array inside the ping branch.</a:t>
            </a:r>
          </a:p>
          <a:p>
            <a:pPr marL="0" lvl="0" indent="0" algn="l" rtl="0">
              <a:lnSpc>
                <a:spcPct val="100000"/>
              </a:lnSpc>
              <a:spcBef>
                <a:spcPts val="0"/>
              </a:spcBef>
              <a:spcAft>
                <a:spcPts val="600"/>
              </a:spcAft>
              <a:buSzPts val="1400"/>
              <a:buNone/>
            </a:pPr>
            <a:r>
              <a:rPr lang="en-US" dirty="0"/>
              <a:t>Check your understanding: why should this work not run inside the serial receive interrupt itself?</a:t>
            </a:r>
          </a:p>
          <a:p>
            <a:pPr marL="0" lvl="0" indent="0" algn="l" rtl="0">
              <a:lnSpc>
                <a:spcPct val="100000"/>
              </a:lnSpc>
              <a:spcBef>
                <a:spcPts val="0"/>
              </a:spcBef>
              <a:spcAft>
                <a:spcPts val="600"/>
              </a:spcAft>
              <a:buSzPts val="1400"/>
              <a:buNone/>
            </a:pPr>
            <a:r>
              <a:rPr lang="en-US" dirty="0"/>
              <a:t>The placeholder comment leads into the next slide, which covers the coordinate transformations.</a:t>
            </a:r>
          </a:p>
        </p:txBody>
      </p:sp>
      <p:sp>
        <p:nvSpPr>
          <p:cNvPr id="116" name="Google Shape;116;p29:notes">
            <a:extLst>
              <a:ext uri="{FF2B5EF4-FFF2-40B4-BE49-F238E27FC236}">
                <a16:creationId xmlns:a16="http://schemas.microsoft.com/office/drawing/2014/main" id="{9889D7D6-6685-B213-4919-8A90304075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404936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62BE38B-709C-7E44-1B3E-40E5A3F6F0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455BF66-036B-7F95-FD9E-CE3414060BA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converts LiDAR readings into world coordinates, the step left as a placeholder in the SWI2 code on the previous slide. It has two parts: locate the LiDAR in the world, then locate each detected object.</a:t>
            </a:r>
          </a:p>
          <a:p>
            <a:pPr marL="0" lvl="0" indent="0" algn="l" rtl="0">
              <a:lnSpc>
                <a:spcPct val="100000"/>
              </a:lnSpc>
              <a:spcBef>
                <a:spcPts val="0"/>
              </a:spcBef>
              <a:spcAft>
                <a:spcPts val="600"/>
              </a:spcAft>
              <a:buSzPts val="1400"/>
              <a:buNone/>
            </a:pPr>
            <a:r>
              <a:rPr lang="en-US" dirty="0"/>
              <a:t>First, the slide shows a homogeneous transformation in matrix form. The vector x_W, y_W, 1 equals a 3 by 3 matrix times the vector x_R, y_R, 1. The matrix's first row is cos(theta), minus sin(theta), t_x; the second row is sin(theta), cos(theta), t_y; the third row is 0, 0, 1. Multiplied out, it reads x_W = cos(theta)*x_R - sin(theta)*y_R + t_x and y_W = sin(theta)*x_R + cos(theta)*y_R + t_y. In words, you rotate a point given in the robot frame by the robot's heading, then translate it by the robot's position.</a:t>
            </a:r>
          </a:p>
          <a:p>
            <a:pPr marL="0" lvl="0" indent="0" algn="l" rtl="0">
              <a:lnSpc>
                <a:spcPct val="100000"/>
              </a:lnSpc>
              <a:spcBef>
                <a:spcPts val="0"/>
              </a:spcBef>
              <a:spcAft>
                <a:spcPts val="600"/>
              </a:spcAft>
              <a:buSzPts val="1400"/>
              <a:buNone/>
            </a:pPr>
            <a:r>
              <a:rPr lang="en-US" dirty="0"/>
              <a:t>The two code lines implement exactly this. ROBOTps.x and ROBOTps.y play the role of t_x and t_y, ROBOTps.theta is theta, and LADARps.x and LADARps.y are the LiDAR's mounting location on the robot. The results are LADARxoffset and LADARyoffset, the LiDAR's position in the world frame.</a:t>
            </a:r>
          </a:p>
          <a:p>
            <a:pPr marL="0" lvl="0" indent="0" algn="l" rtl="0">
              <a:lnSpc>
                <a:spcPct val="100000"/>
              </a:lnSpc>
              <a:spcBef>
                <a:spcPts val="0"/>
              </a:spcBef>
              <a:spcAft>
                <a:spcPts val="600"/>
              </a:spcAft>
              <a:buSzPts val="1400"/>
              <a:buNone/>
            </a:pPr>
            <a:r>
              <a:rPr lang="en-US" dirty="0"/>
              <a:t>Second, a for loop runs over all 228 readings, from index 0 through 227. Each object point equals the LiDAR position plus distance_ping times cosf or sinf of (that reading's angle + ROBOTps.theta). You add the robot heading because each beam angle is measured relative to the robot, not the world. Distances are in feet.</a:t>
            </a:r>
          </a:p>
          <a:p>
            <a:pPr marL="0" lvl="0" indent="0" algn="l" rtl="0">
              <a:lnSpc>
                <a:spcPct val="100000"/>
              </a:lnSpc>
              <a:spcBef>
                <a:spcPts val="0"/>
              </a:spcBef>
              <a:spcAft>
                <a:spcPts val="600"/>
              </a:spcAft>
              <a:buSzPts val="1400"/>
              <a:buNone/>
            </a:pPr>
            <a:r>
              <a:rPr lang="en-US" dirty="0"/>
              <a:t>A common mistake is to forget the heading term, or to mix degrees and radians. cosf and sinf expect radians.</a:t>
            </a:r>
          </a:p>
          <a:p>
            <a:pPr marL="0" lvl="0" indent="0" algn="l" rtl="0">
              <a:lnSpc>
                <a:spcPct val="100000"/>
              </a:lnSpc>
              <a:spcBef>
                <a:spcPts val="0"/>
              </a:spcBef>
              <a:spcAft>
                <a:spcPts val="600"/>
              </a:spcAft>
              <a:buSzPts val="1400"/>
              <a:buNone/>
            </a:pPr>
            <a:r>
              <a:rPr lang="en-US" dirty="0"/>
              <a:t>Quick check: if the robot sits at (0, 0) facing theta = pi/2, where is a LiDAR mounted 3.5/12 feet forward? It is at about (0, 0.29) feet.</a:t>
            </a:r>
          </a:p>
          <a:p>
            <a:pPr marL="0" lvl="0" indent="0" algn="l" rtl="0">
              <a:lnSpc>
                <a:spcPct val="100000"/>
              </a:lnSpc>
              <a:spcBef>
                <a:spcPts val="0"/>
              </a:spcBef>
              <a:spcAft>
                <a:spcPts val="600"/>
              </a:spcAft>
              <a:buSzPts val="1400"/>
              <a:buNone/>
            </a:pPr>
            <a:r>
              <a:rPr lang="en-US" dirty="0"/>
              <a:t>The next slide defines the pose struct behind ROBOTps and LADARps.</a:t>
            </a:r>
          </a:p>
        </p:txBody>
      </p:sp>
      <p:sp>
        <p:nvSpPr>
          <p:cNvPr id="116" name="Google Shape;116;p29:notes">
            <a:extLst>
              <a:ext uri="{FF2B5EF4-FFF2-40B4-BE49-F238E27FC236}">
                <a16:creationId xmlns:a16="http://schemas.microsoft.com/office/drawing/2014/main" id="{343A3FD3-4802-1085-68CA-95253F5466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79204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AC76583-FF23-9140-1FEE-D0BD6AA5966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69DCE4B-3A5B-983A-4AED-1F648BA3A0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definition of the pose structures that the coordinate transform on the previous slide relies on. The heading reads "The pose objects as simply defined as," followed by C code. A typedef struct named pose holds three floats: x, in feet; y, in feet; and theta, in radians between minus pi and pi, where 0 radians points along the plus x axis and pi/2 points along the plus y axis.</a:t>
            </a:r>
          </a:p>
          <a:p>
            <a:pPr marL="0" lvl="0" indent="0" algn="l" rtl="0">
              <a:lnSpc>
                <a:spcPct val="100000"/>
              </a:lnSpc>
              <a:spcBef>
                <a:spcPts val="0"/>
              </a:spcBef>
              <a:spcAft>
                <a:spcPts val="600"/>
              </a:spcAft>
              <a:buSzPts val="1400"/>
              <a:buNone/>
            </a:pPr>
            <a:r>
              <a:rPr lang="en-US" dirty="0"/>
              <a:t>Two pose variables are then declared. ROBOTps = {0,0,0} is the robot's position, which your integration code updates. LADARps = {3.5/12.0, 0, 1} is the LiDAR's mounting position, with the comment that 3.5/12 is for front mounting and that theta is not used in the current code.</a:t>
            </a:r>
          </a:p>
          <a:p>
            <a:pPr marL="0" lvl="0" indent="0" algn="l" rtl="0">
              <a:lnSpc>
                <a:spcPct val="100000"/>
              </a:lnSpc>
              <a:spcBef>
                <a:spcPts val="0"/>
              </a:spcBef>
              <a:spcAft>
                <a:spcPts val="600"/>
              </a:spcAft>
              <a:buSzPts val="1400"/>
              <a:buNone/>
            </a:pPr>
            <a:r>
              <a:rPr lang="en-US" dirty="0"/>
              <a:t>A pose is the position plus the heading of something in a frame. ROBOTps is the robot's pose in the global (world) frame. It starts at the origin facing plus x, and your dead-reckoning code, which integrates wheel encoder and gyro data, keeps it current.</a:t>
            </a:r>
          </a:p>
          <a:p>
            <a:pPr marL="0" lvl="0" indent="0" algn="l" rtl="0">
              <a:lnSpc>
                <a:spcPct val="100000"/>
              </a:lnSpc>
              <a:spcBef>
                <a:spcPts val="0"/>
              </a:spcBef>
              <a:spcAft>
                <a:spcPts val="600"/>
              </a:spcAft>
              <a:buSzPts val="1400"/>
              <a:buNone/>
            </a:pPr>
            <a:r>
              <a:rPr lang="en-US" dirty="0"/>
              <a:t>LADARps is the LiDAR's pose relative to the robot's center, in the robot's own frame. The LiDAR sits 3.5 inches ahead of center, which is 3.5/12 feet, and has no sideways offset. Its theta of 1 is ignored because the sensor faces straight ahead, and the beam angles already come from ladar_data[i].angle. The formula from the last slide rotates this offset by ROBOTps.theta and adds ROBOTps.x and ROBOTps.y to place the LiDAR in the world.</a:t>
            </a:r>
          </a:p>
          <a:p>
            <a:pPr marL="0" lvl="0" indent="0" algn="l" rtl="0">
              <a:lnSpc>
                <a:spcPct val="100000"/>
              </a:lnSpc>
              <a:spcBef>
                <a:spcPts val="0"/>
              </a:spcBef>
              <a:spcAft>
                <a:spcPts val="600"/>
              </a:spcAft>
              <a:buSzPts val="1400"/>
              <a:buNone/>
            </a:pPr>
            <a:r>
              <a:rPr lang="en-US" dirty="0"/>
              <a:t>Watch two common mistakes. First, keep every distance in feet, because mixing in inches corrupts your map. Second, write 3.5/12.0 or 3.5/12 rather than 3/12: with integers, 3/12 evaluates to 0.</a:t>
            </a:r>
          </a:p>
          <a:p>
            <a:pPr marL="0" lvl="0" indent="0" algn="l" rtl="0">
              <a:lnSpc>
                <a:spcPct val="100000"/>
              </a:lnSpc>
              <a:spcBef>
                <a:spcPts val="0"/>
              </a:spcBef>
              <a:spcAft>
                <a:spcPts val="600"/>
              </a:spcAft>
              <a:buSzPts val="1400"/>
              <a:buNone/>
            </a:pPr>
            <a:r>
              <a:rPr lang="en-US" dirty="0"/>
              <a:t>Quick check: if your robot faces pi/2, where is the LiDAR relative to the robot's center?</a:t>
            </a:r>
          </a:p>
        </p:txBody>
      </p:sp>
      <p:sp>
        <p:nvSpPr>
          <p:cNvPr id="116" name="Google Shape;116;p29:notes">
            <a:extLst>
              <a:ext uri="{FF2B5EF4-FFF2-40B4-BE49-F238E27FC236}">
                <a16:creationId xmlns:a16="http://schemas.microsoft.com/office/drawing/2014/main" id="{AA7CF006-D449-82D0-19D7-F2A343AF40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54206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reads "Questions?" in large white text on a dark blue background with faint hand-drawn engineering sketches, the Illinois logo in the corner, and the footer "Systems Engineering" and "Grainger Engineering."</a:t>
            </a:r>
          </a:p>
          <a:p>
            <a:pPr marL="0" lvl="0" indent="0" algn="l" rtl="0">
              <a:spcBef>
                <a:spcPts val="0"/>
              </a:spcBef>
              <a:spcAft>
                <a:spcPts val="600"/>
              </a:spcAft>
              <a:buNone/>
            </a:pPr>
            <a:r>
              <a:rPr lang="en-US" dirty="0"/>
              <a:t>This is a chance to ask about anything from today: the URG-04LX, laser classes and eye safety, the command set, or the code that turns each distance and angle into global x and y points. As a quick check, ask yourself why the scan angle is added to ROBOTps.theta before taking the cosine and sine.</a:t>
            </a: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closing slide shows the Grainger College of Engineering logo, with "University of Illinois Urbana-Champaign" beneath it, on an orange background. Faint hand-drawn engineering sketches fill the background: a cube with fluid-flow equations, a sphere, chemical structures, and a commutative diagram. The slide marks the end of Lecture 16 on LiDAR code.</a:t>
            </a:r>
          </a:p>
          <a:p>
            <a:pPr marL="0" lvl="0" indent="0" algn="l" rtl="0">
              <a:spcBef>
                <a:spcPts val="0"/>
              </a:spcBef>
              <a:spcAft>
                <a:spcPts val="600"/>
              </a:spcAft>
              <a:buNone/>
            </a:pPr>
            <a:r>
              <a:rPr lang="en-US" dirty="0"/>
              <a:t>Today you saw how to talk to the URG-04LX: laser safety classes, version and laser control commands, communication settings, and distance data acquisition. You also saw how each range reading becomes an x, y point using the robot pose (ROBOTps) and the LiDAR mounting offset (LADARps).</a:t>
            </a:r>
          </a:p>
          <a:p>
            <a:pPr marL="0" lvl="0" indent="0" algn="l" rtl="0">
              <a:spcBef>
                <a:spcPts val="0"/>
              </a:spcBef>
              <a:spcAft>
                <a:spcPts val="600"/>
              </a:spcAft>
              <a:buNone/>
            </a:pPr>
            <a:r>
              <a:rPr lang="en-US" dirty="0"/>
              <a:t>Before the lab, review how those poses combine.</a:t>
            </a: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3.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Homeworks/HW4.pd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www.laserax.com/blog/laser-safety-laser-classes-explained" TargetMode="Externa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www.laserax.com/blog/laser-safety-laser-classes-explained" TargetMode="Externa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robotshop.com/products/hokuyo-urg-04lx-laser-rangefinder"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3.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9.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9.sv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9.sv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9.sv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9.sv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16: LiDAR Code</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dirty="0">
                <a:solidFill>
                  <a:schemeClr val="lt1"/>
                </a:solidFill>
              </a:rPr>
              <a:t>Monday, March 23</a:t>
            </a:r>
            <a:r>
              <a:rPr lang="en-US" sz="1800" baseline="30000" dirty="0">
                <a:solidFill>
                  <a:schemeClr val="lt1"/>
                </a:solidFill>
              </a:rPr>
              <a:t>rd</a:t>
            </a:r>
            <a:r>
              <a:rPr lang="en-US" sz="1800" dirty="0">
                <a:solidFill>
                  <a:schemeClr val="lt1"/>
                </a:solidFil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Why did we use a ping pong buffer for the FFT code?</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Given that LiDAR splits its space as 360 degrees into 1024 steps, what is the angular resolution of the LiDAR? </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What happens if your angular resolution is too low and your object is far away?</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Is UART a synchronous or asynchronous communication protocol? What does it mean for it to be synchronous or not?</a:t>
            </a:r>
          </a:p>
          <a:p>
            <a:pPr marL="285750" indent="-285750">
              <a:lnSpc>
                <a:spcPct val="100000"/>
              </a:lnSpc>
              <a:spcBef>
                <a:spcPts val="0"/>
              </a:spcBef>
              <a:buSzPts val="3000"/>
            </a:pP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1984774-B7FA-53FC-ECBE-3FFBD377F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latin typeface="Atkinson Hyperlegible Next"/>
                <a:ea typeface="Arial"/>
                <a:cs typeface="Arial"/>
                <a:sym typeface="Arial"/>
              </a:rPr>
              <a:t>Monday: </a:t>
            </a:r>
            <a:r>
              <a:rPr lang="en-US" sz="1800" dirty="0">
                <a:latin typeface="Atkinson Hyperlegible Next"/>
                <a:ea typeface="Arial"/>
                <a:cs typeface="Arial"/>
                <a:sym typeface="Arial"/>
              </a:rPr>
              <a:t>4-6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2-5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Dan &amp; Marius</a:t>
            </a:r>
            <a:endParaRPr lang="en-US" sz="1800" b="1" dirty="0">
              <a:latin typeface="Atkinson Hyperlegible Next"/>
              <a:ea typeface="Arial"/>
              <a:cs typeface="Arial"/>
              <a:sym typeface="Arial"/>
            </a:endParaRP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 </a:t>
            </a:r>
            <a:r>
              <a:rPr lang="en-US" sz="1800" dirty="0">
                <a:latin typeface="Atkinson Hyperlegible Next"/>
                <a:ea typeface="Arial"/>
                <a:cs typeface="Arial"/>
                <a:sym typeface="Arial"/>
              </a:rPr>
              <a:t>Starting Lab 6 this week. This a 3-week lab!</a:t>
            </a:r>
          </a:p>
          <a:p>
            <a:pPr marL="285750" indent="-285750">
              <a:lnSpc>
                <a:spcPct val="100000"/>
              </a:lnSpc>
              <a:spcBef>
                <a:spcPts val="0"/>
              </a:spcBef>
              <a:buSzPts val="3000"/>
            </a:pPr>
            <a:r>
              <a:rPr lang="en-US" sz="1800" dirty="0">
                <a:solidFill>
                  <a:schemeClr val="tx1"/>
                </a:solidFill>
                <a:latin typeface="Atkinson Hyperlegible Next"/>
                <a:ea typeface="Arial"/>
                <a:cs typeface="Arial"/>
                <a:sym typeface="Arial"/>
              </a:rPr>
              <a:t>Don’t forget to have the Lab LabVIEW application implemented before lab.</a:t>
            </a: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D83B27"/>
                </a:solidFill>
                <a:latin typeface="Atkinson Hyperlegible Next"/>
                <a:ea typeface="Arial"/>
                <a:cs typeface="Arial"/>
                <a:sym typeface="Arial"/>
              </a:rPr>
              <a:t>Homeworks</a:t>
            </a:r>
            <a:r>
              <a:rPr lang="en-US" sz="1800" b="1" dirty="0">
                <a:solidFill>
                  <a:srgbClr val="D83B27"/>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3 </a:t>
            </a:r>
            <a:r>
              <a:rPr lang="en-US" sz="1800" dirty="0">
                <a:latin typeface="Atkinson Hyperlegible Next"/>
                <a:ea typeface="Arial"/>
                <a:cs typeface="Arial"/>
                <a:sym typeface="Arial"/>
              </a:rPr>
              <a:t>Ex 5 are due </a:t>
            </a:r>
            <a:r>
              <a:rPr lang="en-US" sz="1800" b="1" dirty="0">
                <a:latin typeface="Atkinson Hyperlegible Next"/>
                <a:ea typeface="Arial"/>
                <a:cs typeface="Arial"/>
                <a:sym typeface="Arial"/>
              </a:rPr>
              <a:t>March 24, 5PM (The end of office hours)</a:t>
            </a:r>
          </a:p>
          <a:p>
            <a:pPr marL="742950" lvl="1" indent="-285750">
              <a:lnSpc>
                <a:spcPct val="100000"/>
              </a:lnSpc>
              <a:spcBef>
                <a:spcPts val="0"/>
              </a:spcBef>
              <a:buSzPts val="3000"/>
            </a:pPr>
            <a:r>
              <a:rPr lang="en-US" sz="1800" dirty="0">
                <a:latin typeface="Atkinson Hyperlegible Next"/>
                <a:ea typeface="Arial"/>
                <a:cs typeface="Arial"/>
                <a:sym typeface="Arial"/>
              </a:rPr>
              <a:t>This is a long homework, so </a:t>
            </a:r>
            <a:r>
              <a:rPr lang="en-US" sz="1800" b="1" dirty="0">
                <a:latin typeface="Atkinson Hyperlegible Next"/>
                <a:ea typeface="Arial"/>
                <a:cs typeface="Arial"/>
                <a:sym typeface="Arial"/>
              </a:rPr>
              <a:t>DO NOT </a:t>
            </a:r>
            <a:r>
              <a:rPr lang="en-US" sz="1800" dirty="0">
                <a:latin typeface="Atkinson Hyperlegible Next"/>
                <a:ea typeface="Arial"/>
                <a:cs typeface="Arial"/>
                <a:sym typeface="Arial"/>
              </a:rPr>
              <a:t>expect to work on and finish it during the Tuesday office hours time!</a:t>
            </a: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a:t>
            </a:r>
            <a:r>
              <a:rPr lang="en-US" sz="1800" dirty="0">
                <a:latin typeface="Atkinson Hyperlegible Next"/>
                <a:ea typeface="Arial"/>
                <a:cs typeface="Arial"/>
                <a:sym typeface="Arial"/>
                <a:hlinkClick r:id="rId3"/>
              </a:rPr>
              <a:t>homework 3</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March 25, 9AM</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4"/>
              </a:rPr>
              <a:t>homework 4</a:t>
            </a:r>
            <a:r>
              <a:rPr lang="en-US" sz="1800" dirty="0">
                <a:latin typeface="Atkinson Hyperlegible Next"/>
                <a:ea typeface="Arial"/>
                <a:cs typeface="Arial"/>
                <a:sym typeface="Arial"/>
              </a:rPr>
              <a:t> Ex 2 and 3 are due </a:t>
            </a:r>
            <a:r>
              <a:rPr lang="en-US" sz="1800" b="1" dirty="0">
                <a:latin typeface="Atkinson Hyperlegible Next"/>
                <a:ea typeface="Arial"/>
                <a:cs typeface="Arial"/>
                <a:sym typeface="Arial"/>
              </a:rPr>
              <a:t>March 31,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endParaRPr lang="en-US" sz="18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5A7A3C5-2C94-DFDE-B6CE-1AA71BB909D6}"/>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 (1/2)</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URG-04LX (1/2)</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2865D6D-E1FC-F3BD-5815-18E40B97AEE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D4650A5-C422-4826-5825-CD277BE541B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The LiDAR we are working with is called the URG-04LX</a:t>
            </a:r>
          </a:p>
          <a:p>
            <a:pPr marL="285750" indent="-28575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RG-04LX is a laser sensor for area scanning. The light source of the sensor is infrared laser of wavelength 785nm with laser class 1 safety.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F786AF23-9F90-4CD7-6060-7DA5DE457EE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8687C3C-47B1-8222-283E-F030540119A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(1/5)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4C69F26-2470-4C7F-2418-4CF9208E78A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5CCE9B9-AE2C-EA59-3E31-B2AAD5111F4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2DC3916-D58D-2730-07D1-9239030E0D1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DFBF745-E712-B403-1A1E-7884C613A16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00CFA20-1EAB-C337-F853-FAF168D7756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C639C1A-BB0E-337A-2FA5-E445EA42639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18707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BE70F94F-01CA-DAC4-D3A7-26AAADE44524}"/>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81CA94AB-4E3C-1112-78C2-95AC8E1FC7B6}"/>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Laser Classes</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79EAB7E0-D714-8F2D-0F8C-A91B2C99AB09}"/>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180A6B73-2DC5-BD5C-5E17-214F4DCB35B6}"/>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61B57FF4-4C8E-7A26-84AD-187711D1438F}"/>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C8D67F98-3A82-A9EF-C161-0013A89BDF84}"/>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AE6B2A9C-23F7-E659-1440-51A99888B8E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7E57F2B2-F5C8-028D-B49A-5A6E541DB5A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8D60A511-B7B3-D003-8F09-26068759EE5A}"/>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33026FA9-4DC2-CC74-D02A-BBBB8606D8C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52EABC74-3C69-E164-F128-8109B403252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955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3EEC096-FDD1-0232-3713-DCF998135C2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ED65181-78DF-EAFF-D3DC-0E885253A5F8}"/>
              </a:ext>
            </a:extLst>
          </p:cNvPr>
          <p:cNvSpPr txBox="1">
            <a:spLocks noGrp="1"/>
          </p:cNvSpPr>
          <p:nvPr>
            <p:ph type="body" idx="1"/>
          </p:nvPr>
        </p:nvSpPr>
        <p:spPr>
          <a:xfrm>
            <a:off x="376809" y="1334279"/>
            <a:ext cx="11177401" cy="2298900"/>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Laser radiation can cause three basic types of laser hazards: </a:t>
            </a:r>
            <a:r>
              <a:rPr lang="en-US" sz="2400" b="1" dirty="0">
                <a:solidFill>
                  <a:schemeClr val="dk1"/>
                </a:solidFill>
                <a:latin typeface="Atkinson Hyperlegible Next"/>
                <a:ea typeface="Arial"/>
                <a:cs typeface="Arial"/>
                <a:sym typeface="Arial"/>
              </a:rPr>
              <a:t>eye</a:t>
            </a:r>
            <a:r>
              <a:rPr lang="en-US" sz="2400" dirty="0">
                <a:solidFill>
                  <a:schemeClr val="dk1"/>
                </a:solidFill>
                <a:latin typeface="Atkinson Hyperlegible Next"/>
                <a:ea typeface="Arial"/>
                <a:cs typeface="Arial"/>
                <a:sym typeface="Arial"/>
              </a:rPr>
              <a:t>, </a:t>
            </a:r>
            <a:r>
              <a:rPr lang="en-US" sz="2400" b="1" dirty="0">
                <a:solidFill>
                  <a:schemeClr val="dk1"/>
                </a:solidFill>
                <a:latin typeface="Atkinson Hyperlegible Next"/>
                <a:ea typeface="Arial"/>
                <a:cs typeface="Arial"/>
                <a:sym typeface="Arial"/>
              </a:rPr>
              <a:t>skin</a:t>
            </a:r>
            <a:r>
              <a:rPr lang="en-US" sz="2400" dirty="0">
                <a:solidFill>
                  <a:schemeClr val="dk1"/>
                </a:solidFill>
                <a:latin typeface="Atkinson Hyperlegible Next"/>
                <a:ea typeface="Arial"/>
                <a:cs typeface="Arial"/>
                <a:sym typeface="Arial"/>
              </a:rPr>
              <a:t> and </a:t>
            </a:r>
            <a:r>
              <a:rPr lang="en-US" sz="2400" b="1" dirty="0">
                <a:solidFill>
                  <a:schemeClr val="dk1"/>
                </a:solidFill>
                <a:latin typeface="Atkinson Hyperlegible Next"/>
                <a:ea typeface="Arial"/>
                <a:cs typeface="Arial"/>
                <a:sym typeface="Arial"/>
              </a:rPr>
              <a:t>fire hazards</a:t>
            </a:r>
            <a:r>
              <a:rPr lang="en-US" sz="2400" dirty="0">
                <a:solidFill>
                  <a:schemeClr val="dk1"/>
                </a:solidFill>
                <a:latin typeface="Atkinson Hyperlegible Next"/>
                <a:ea typeface="Arial"/>
                <a:cs typeface="Arial"/>
                <a:sym typeface="Arial"/>
              </a:rPr>
              <a:t>.</a:t>
            </a:r>
          </a:p>
          <a:p>
            <a:pPr marL="285750" indent="-28575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If a laser is not class 1 compliant, you should wear protective equipment when entering the danger zone: laser safety glasses for eye protection and special suits for skin protection.</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93788ADA-7C68-5D43-5C59-3924D59ACFB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799A2F7-28FB-3357-2FF4-7D5DA731355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Laser classes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3BDCCA9-C0E1-419B-6791-C0997281A8F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E654CE6-5B46-2927-ACF3-1A1DDFDBCDD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AD18E9D-C9CE-EBE6-9FDE-79B201DAD9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CB6CF74-CC32-64D5-815F-E991DDD3E43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FB61022-ED4B-EED9-3907-7DFCFE16692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14E492C-D3FB-CF2C-C94A-C1596E87333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aphicFrame>
        <p:nvGraphicFramePr>
          <p:cNvPr id="2" name="Table 1">
            <a:extLst>
              <a:ext uri="{FF2B5EF4-FFF2-40B4-BE49-F238E27FC236}">
                <a16:creationId xmlns:a16="http://schemas.microsoft.com/office/drawing/2014/main" id="{469F68CC-1674-51E6-92B4-02C0B25F1732}"/>
              </a:ext>
            </a:extLst>
          </p:cNvPr>
          <p:cNvGraphicFramePr>
            <a:graphicFrameLocks noGrp="1"/>
          </p:cNvGraphicFramePr>
          <p:nvPr>
            <p:extLst>
              <p:ext uri="{D42A27DB-BD31-4B8C-83A1-F6EECF244321}">
                <p14:modId xmlns:p14="http://schemas.microsoft.com/office/powerpoint/2010/main" val="4161500191"/>
              </p:ext>
            </p:extLst>
          </p:nvPr>
        </p:nvGraphicFramePr>
        <p:xfrm>
          <a:off x="266700" y="3633520"/>
          <a:ext cx="11658600" cy="2890520"/>
        </p:xfrm>
        <a:graphic>
          <a:graphicData uri="http://schemas.openxmlformats.org/drawingml/2006/table">
            <a:tbl>
              <a:tblPr firstRow="1" bandRow="1">
                <a:tableStyleId>{5C22544A-7EE6-4342-B048-85BDC9FD1C3A}</a:tableStyleId>
              </a:tblPr>
              <a:tblGrid>
                <a:gridCol w="1212850">
                  <a:extLst>
                    <a:ext uri="{9D8B030D-6E8A-4147-A177-3AD203B41FA5}">
                      <a16:colId xmlns:a16="http://schemas.microsoft.com/office/drawing/2014/main" val="2392978423"/>
                    </a:ext>
                  </a:extLst>
                </a:gridCol>
                <a:gridCol w="2070100">
                  <a:extLst>
                    <a:ext uri="{9D8B030D-6E8A-4147-A177-3AD203B41FA5}">
                      <a16:colId xmlns:a16="http://schemas.microsoft.com/office/drawing/2014/main" val="1414924795"/>
                    </a:ext>
                  </a:extLst>
                </a:gridCol>
                <a:gridCol w="3860800">
                  <a:extLst>
                    <a:ext uri="{9D8B030D-6E8A-4147-A177-3AD203B41FA5}">
                      <a16:colId xmlns:a16="http://schemas.microsoft.com/office/drawing/2014/main" val="471111581"/>
                    </a:ext>
                  </a:extLst>
                </a:gridCol>
                <a:gridCol w="4514850">
                  <a:extLst>
                    <a:ext uri="{9D8B030D-6E8A-4147-A177-3AD203B41FA5}">
                      <a16:colId xmlns:a16="http://schemas.microsoft.com/office/drawing/2014/main" val="26670979"/>
                    </a:ext>
                  </a:extLst>
                </a:gridCol>
              </a:tblGrid>
              <a:tr h="370840">
                <a:tc>
                  <a:txBody>
                    <a:bodyPr/>
                    <a:lstStyle/>
                    <a:p>
                      <a:r>
                        <a:rPr lang="en-US" dirty="0"/>
                        <a:t>Lazer Class</a:t>
                      </a:r>
                    </a:p>
                  </a:txBody>
                  <a:tcPr/>
                </a:tc>
                <a:tc>
                  <a:txBody>
                    <a:bodyPr/>
                    <a:lstStyle/>
                    <a:p>
                      <a:r>
                        <a:rPr lang="en-US" dirty="0"/>
                        <a:t>Hazard Risk</a:t>
                      </a:r>
                    </a:p>
                  </a:txBody>
                  <a:tcPr/>
                </a:tc>
                <a:tc>
                  <a:txBody>
                    <a:bodyPr/>
                    <a:lstStyle/>
                    <a:p>
                      <a:r>
                        <a:rPr lang="en-US" dirty="0"/>
                        <a:t>Common Uses</a:t>
                      </a:r>
                    </a:p>
                  </a:txBody>
                  <a:tcPr/>
                </a:tc>
                <a:tc>
                  <a:txBody>
                    <a:bodyPr/>
                    <a:lstStyle/>
                    <a:p>
                      <a:r>
                        <a:rPr lang="en-US" dirty="0"/>
                        <a:t>Safe Use Considerations</a:t>
                      </a:r>
                    </a:p>
                  </a:txBody>
                  <a:tcPr/>
                </a:tc>
                <a:extLst>
                  <a:ext uri="{0D108BD9-81ED-4DB2-BD59-A6C34878D82A}">
                    <a16:rowId xmlns:a16="http://schemas.microsoft.com/office/drawing/2014/main" val="3813969383"/>
                  </a:ext>
                </a:extLst>
              </a:tr>
              <a:tr h="370840">
                <a:tc>
                  <a:txBody>
                    <a:bodyPr/>
                    <a:lstStyle/>
                    <a:p>
                      <a:r>
                        <a:rPr lang="en-US" b="1" dirty="0"/>
                        <a:t>Class 1</a:t>
                      </a:r>
                    </a:p>
                  </a:txBody>
                  <a:tcPr anchor="ctr">
                    <a:solidFill>
                      <a:srgbClr val="00B050"/>
                    </a:solidFill>
                  </a:tcPr>
                </a:tc>
                <a:tc>
                  <a:txBody>
                    <a:bodyPr/>
                    <a:lstStyle/>
                    <a:p>
                      <a:r>
                        <a:rPr lang="en-US" dirty="0"/>
                        <a:t>None</a:t>
                      </a:r>
                    </a:p>
                  </a:txBody>
                  <a:tcPr anchor="ctr"/>
                </a:tc>
                <a:tc>
                  <a:txBody>
                    <a:bodyPr/>
                    <a:lstStyle/>
                    <a:p>
                      <a:r>
                        <a:rPr lang="en-US" dirty="0"/>
                        <a:t>Barcode scanners, DVD players (if you remember what a DVD is!)</a:t>
                      </a:r>
                    </a:p>
                  </a:txBody>
                  <a:tcPr anchor="ctr"/>
                </a:tc>
                <a:tc>
                  <a:txBody>
                    <a:bodyPr/>
                    <a:lstStyle/>
                    <a:p>
                      <a:r>
                        <a:rPr lang="en-US" dirty="0"/>
                        <a:t>Safe under all considerations.</a:t>
                      </a:r>
                    </a:p>
                  </a:txBody>
                  <a:tcPr anchor="ctr"/>
                </a:tc>
                <a:extLst>
                  <a:ext uri="{0D108BD9-81ED-4DB2-BD59-A6C34878D82A}">
                    <a16:rowId xmlns:a16="http://schemas.microsoft.com/office/drawing/2014/main" val="1370047337"/>
                  </a:ext>
                </a:extLst>
              </a:tr>
              <a:tr h="370840">
                <a:tc>
                  <a:txBody>
                    <a:bodyPr/>
                    <a:lstStyle/>
                    <a:p>
                      <a:r>
                        <a:rPr lang="en-US" b="1" dirty="0"/>
                        <a:t>Class 1M</a:t>
                      </a:r>
                    </a:p>
                  </a:txBody>
                  <a:tcPr anchor="ctr">
                    <a:solidFill>
                      <a:srgbClr val="92D050"/>
                    </a:solidFill>
                  </a:tcPr>
                </a:tc>
                <a:tc>
                  <a:txBody>
                    <a:bodyPr/>
                    <a:lstStyle/>
                    <a:p>
                      <a:r>
                        <a:rPr lang="en-US" dirty="0"/>
                        <a:t>None to low</a:t>
                      </a:r>
                    </a:p>
                  </a:txBody>
                  <a:tcPr anchor="ctr"/>
                </a:tc>
                <a:tc>
                  <a:txBody>
                    <a:bodyPr/>
                    <a:lstStyle/>
                    <a:p>
                      <a:r>
                        <a:rPr lang="en-US" dirty="0"/>
                        <a:t>Laser diodes, fiber communication systems, speed meters</a:t>
                      </a:r>
                    </a:p>
                  </a:txBody>
                  <a:tcPr anchor="ctr"/>
                </a:tc>
                <a:tc>
                  <a:txBody>
                    <a:bodyPr/>
                    <a:lstStyle/>
                    <a:p>
                      <a:r>
                        <a:rPr lang="en-US" dirty="0"/>
                        <a:t>Safe unless viewed with optical instruments</a:t>
                      </a:r>
                    </a:p>
                  </a:txBody>
                  <a:tcPr anchor="ctr"/>
                </a:tc>
                <a:extLst>
                  <a:ext uri="{0D108BD9-81ED-4DB2-BD59-A6C34878D82A}">
                    <a16:rowId xmlns:a16="http://schemas.microsoft.com/office/drawing/2014/main" val="4214573305"/>
                  </a:ext>
                </a:extLst>
              </a:tr>
              <a:tr h="370840">
                <a:tc>
                  <a:txBody>
                    <a:bodyPr/>
                    <a:lstStyle/>
                    <a:p>
                      <a:r>
                        <a:rPr lang="en-US" b="1" dirty="0"/>
                        <a:t>Class 2</a:t>
                      </a:r>
                    </a:p>
                  </a:txBody>
                  <a:tcPr anchor="ctr">
                    <a:solidFill>
                      <a:srgbClr val="FFFF00"/>
                    </a:solidFill>
                  </a:tcPr>
                </a:tc>
                <a:tc>
                  <a:txBody>
                    <a:bodyPr/>
                    <a:lstStyle/>
                    <a:p>
                      <a:r>
                        <a:rPr lang="en-US" dirty="0"/>
                        <a:t>Low (unless stared into)</a:t>
                      </a:r>
                    </a:p>
                  </a:txBody>
                  <a:tcPr anchor="ctr"/>
                </a:tc>
                <a:tc>
                  <a:txBody>
                    <a:bodyPr/>
                    <a:lstStyle/>
                    <a:p>
                      <a:r>
                        <a:rPr lang="en-US" dirty="0"/>
                        <a:t>Laser points, alignment tools</a:t>
                      </a:r>
                    </a:p>
                  </a:txBody>
                  <a:tcPr anchor="ctr"/>
                </a:tc>
                <a:tc>
                  <a:txBody>
                    <a:bodyPr/>
                    <a:lstStyle/>
                    <a:p>
                      <a:r>
                        <a:rPr lang="en-US" dirty="0"/>
                        <a:t>Avoid direct eye exposure</a:t>
                      </a:r>
                    </a:p>
                  </a:txBody>
                  <a:tcPr anchor="ctr"/>
                </a:tc>
                <a:extLst>
                  <a:ext uri="{0D108BD9-81ED-4DB2-BD59-A6C34878D82A}">
                    <a16:rowId xmlns:a16="http://schemas.microsoft.com/office/drawing/2014/main" val="3467015480"/>
                  </a:ext>
                </a:extLst>
              </a:tr>
              <a:tr h="370840">
                <a:tc>
                  <a:txBody>
                    <a:bodyPr/>
                    <a:lstStyle/>
                    <a:p>
                      <a:r>
                        <a:rPr lang="en-US" b="1" dirty="0"/>
                        <a:t>Class 2M</a:t>
                      </a:r>
                    </a:p>
                  </a:txBody>
                  <a:tcPr anchor="ctr">
                    <a:solidFill>
                      <a:srgbClr val="FFC000"/>
                    </a:solidFill>
                  </a:tcPr>
                </a:tc>
                <a:tc>
                  <a:txBody>
                    <a:bodyPr/>
                    <a:lstStyle/>
                    <a:p>
                      <a:r>
                        <a:rPr lang="en-US" dirty="0"/>
                        <a:t>Low to moderate</a:t>
                      </a:r>
                    </a:p>
                  </a:txBody>
                  <a:tcPr anchor="ctr"/>
                </a:tc>
                <a:tc>
                  <a:txBody>
                    <a:bodyPr/>
                    <a:lstStyle/>
                    <a:p>
                      <a:r>
                        <a:rPr lang="en-US" dirty="0"/>
                        <a:t>Projection laser (e.g. light shows)</a:t>
                      </a:r>
                    </a:p>
                  </a:txBody>
                  <a:tcPr anchor="ctr"/>
                </a:tc>
                <a:tc>
                  <a:txBody>
                    <a:bodyPr/>
                    <a:lstStyle/>
                    <a:p>
                      <a:r>
                        <a:rPr lang="en-US" dirty="0"/>
                        <a:t>Safe unless viewed with optical instruments</a:t>
                      </a:r>
                    </a:p>
                  </a:txBody>
                  <a:tcPr anchor="ctr"/>
                </a:tc>
                <a:extLst>
                  <a:ext uri="{0D108BD9-81ED-4DB2-BD59-A6C34878D82A}">
                    <a16:rowId xmlns:a16="http://schemas.microsoft.com/office/drawing/2014/main" val="2932237561"/>
                  </a:ext>
                </a:extLst>
              </a:tr>
              <a:tr h="370840">
                <a:tc>
                  <a:txBody>
                    <a:bodyPr/>
                    <a:lstStyle/>
                    <a:p>
                      <a:r>
                        <a:rPr lang="en-US" b="1" dirty="0"/>
                        <a:t>Class 3R/3B</a:t>
                      </a:r>
                    </a:p>
                  </a:txBody>
                  <a:tcPr anchor="ctr">
                    <a:solidFill>
                      <a:schemeClr val="accent2"/>
                    </a:solidFill>
                  </a:tcPr>
                </a:tc>
                <a:tc>
                  <a:txBody>
                    <a:bodyPr/>
                    <a:lstStyle/>
                    <a:p>
                      <a:r>
                        <a:rPr lang="en-US" dirty="0"/>
                        <a:t>Moderate to high</a:t>
                      </a:r>
                    </a:p>
                  </a:txBody>
                  <a:tcPr anchor="ctr"/>
                </a:tc>
                <a:tc>
                  <a:txBody>
                    <a:bodyPr/>
                    <a:lstStyle/>
                    <a:p>
                      <a:r>
                        <a:rPr lang="en-US" dirty="0"/>
                        <a:t>Laser scanners, 3D printers</a:t>
                      </a:r>
                    </a:p>
                  </a:txBody>
                  <a:tcPr anchor="ctr"/>
                </a:tc>
                <a:tc>
                  <a:txBody>
                    <a:bodyPr/>
                    <a:lstStyle/>
                    <a:p>
                      <a:r>
                        <a:rPr lang="en-US" dirty="0"/>
                        <a:t>Can damage the naked eye and skin</a:t>
                      </a:r>
                    </a:p>
                  </a:txBody>
                  <a:tcPr anchor="ctr"/>
                </a:tc>
                <a:extLst>
                  <a:ext uri="{0D108BD9-81ED-4DB2-BD59-A6C34878D82A}">
                    <a16:rowId xmlns:a16="http://schemas.microsoft.com/office/drawing/2014/main" val="728004638"/>
                  </a:ext>
                </a:extLst>
              </a:tr>
              <a:tr h="370840">
                <a:tc>
                  <a:txBody>
                    <a:bodyPr/>
                    <a:lstStyle/>
                    <a:p>
                      <a:r>
                        <a:rPr lang="en-US" b="1" dirty="0"/>
                        <a:t>Class 4</a:t>
                      </a:r>
                    </a:p>
                  </a:txBody>
                  <a:tcPr anchor="ctr">
                    <a:solidFill>
                      <a:srgbClr val="FF0000"/>
                    </a:solidFill>
                  </a:tcPr>
                </a:tc>
                <a:tc>
                  <a:txBody>
                    <a:bodyPr/>
                    <a:lstStyle/>
                    <a:p>
                      <a:r>
                        <a:rPr lang="en-US" dirty="0"/>
                        <a:t>Very high</a:t>
                      </a:r>
                    </a:p>
                  </a:txBody>
                  <a:tcPr anchor="ctr"/>
                </a:tc>
                <a:tc>
                  <a:txBody>
                    <a:bodyPr/>
                    <a:lstStyle/>
                    <a:p>
                      <a:r>
                        <a:rPr lang="en-US" dirty="0"/>
                        <a:t>Cutting, marking welding, cleaning surgery</a:t>
                      </a:r>
                    </a:p>
                  </a:txBody>
                  <a:tcPr anchor="ctr"/>
                </a:tc>
                <a:tc>
                  <a:txBody>
                    <a:bodyPr/>
                    <a:lstStyle/>
                    <a:p>
                      <a:r>
                        <a:rPr lang="en-US" dirty="0"/>
                        <a:t>Requires protective eyewear and strict controls.</a:t>
                      </a:r>
                    </a:p>
                  </a:txBody>
                  <a:tcPr anchor="ctr"/>
                </a:tc>
                <a:extLst>
                  <a:ext uri="{0D108BD9-81ED-4DB2-BD59-A6C34878D82A}">
                    <a16:rowId xmlns:a16="http://schemas.microsoft.com/office/drawing/2014/main" val="2659598801"/>
                  </a:ext>
                </a:extLst>
              </a:tr>
            </a:tbl>
          </a:graphicData>
        </a:graphic>
      </p:graphicFrame>
    </p:spTree>
    <p:extLst>
      <p:ext uri="{BB962C8B-B14F-4D97-AF65-F5344CB8AC3E}">
        <p14:creationId xmlns:p14="http://schemas.microsoft.com/office/powerpoint/2010/main" val="3179289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142DF4B-A9E8-B099-0F45-D394712B2FC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1B6FCD9-AC85-E4F3-1972-FE0EC29F189E}"/>
              </a:ext>
            </a:extLst>
          </p:cNvPr>
          <p:cNvSpPr txBox="1">
            <a:spLocks noGrp="1"/>
          </p:cNvSpPr>
          <p:nvPr>
            <p:ph type="body" idx="1"/>
          </p:nvPr>
        </p:nvSpPr>
        <p:spPr>
          <a:xfrm>
            <a:off x="376809" y="1334279"/>
            <a:ext cx="5715000"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000" dirty="0">
                <a:solidFill>
                  <a:schemeClr val="dk1"/>
                </a:solidFill>
                <a:latin typeface="Atkinson Hyperlegible Next"/>
                <a:ea typeface="Arial"/>
                <a:cs typeface="Arial"/>
                <a:sym typeface="Arial"/>
              </a:rPr>
              <a:t>Of all the laser hazards, eye injuries are the most serious (unless you don’t mind being blind!).</a:t>
            </a:r>
          </a:p>
          <a:p>
            <a:pPr marL="285750" indent="-285750">
              <a:lnSpc>
                <a:spcPct val="100000"/>
              </a:lnSpc>
              <a:spcBef>
                <a:spcPts val="0"/>
              </a:spcBef>
              <a:buSzPts val="3000"/>
            </a:pPr>
            <a:r>
              <a:rPr lang="en-US" sz="2000" dirty="0">
                <a:solidFill>
                  <a:schemeClr val="dk1"/>
                </a:solidFill>
                <a:latin typeface="Atkinson Hyperlegible Next"/>
                <a:ea typeface="Arial"/>
                <a:cs typeface="Arial"/>
                <a:sym typeface="Arial"/>
              </a:rPr>
              <a:t>When light reaches the eye, the </a:t>
            </a:r>
            <a:r>
              <a:rPr lang="en-US" sz="2000" b="1" dirty="0">
                <a:solidFill>
                  <a:schemeClr val="dk1"/>
                </a:solidFill>
                <a:latin typeface="Atkinson Hyperlegible Next"/>
                <a:ea typeface="Arial"/>
                <a:cs typeface="Arial"/>
                <a:sym typeface="Arial"/>
              </a:rPr>
              <a:t>cornea </a:t>
            </a:r>
            <a:r>
              <a:rPr lang="en-US" sz="2000" dirty="0">
                <a:solidFill>
                  <a:schemeClr val="dk1"/>
                </a:solidFill>
                <a:latin typeface="Atkinson Hyperlegible Next"/>
                <a:ea typeface="Arial"/>
                <a:cs typeface="Arial"/>
                <a:sym typeface="Arial"/>
              </a:rPr>
              <a:t>and the </a:t>
            </a:r>
            <a:r>
              <a:rPr lang="en-US" sz="2000" b="1" dirty="0">
                <a:solidFill>
                  <a:schemeClr val="dk1"/>
                </a:solidFill>
                <a:latin typeface="Atkinson Hyperlegible Next"/>
                <a:ea typeface="Arial"/>
                <a:cs typeface="Arial"/>
                <a:sym typeface="Arial"/>
              </a:rPr>
              <a:t>lens </a:t>
            </a:r>
            <a:r>
              <a:rPr lang="en-US" sz="2000" dirty="0">
                <a:solidFill>
                  <a:schemeClr val="dk1"/>
                </a:solidFill>
                <a:latin typeface="Atkinson Hyperlegible Next"/>
                <a:ea typeface="Arial"/>
                <a:cs typeface="Arial"/>
                <a:sym typeface="Arial"/>
              </a:rPr>
              <a:t>act as </a:t>
            </a:r>
            <a:r>
              <a:rPr lang="en-US" sz="2000" b="1" dirty="0">
                <a:solidFill>
                  <a:schemeClr val="dk1"/>
                </a:solidFill>
                <a:latin typeface="Atkinson Hyperlegible Next"/>
                <a:ea typeface="Arial"/>
                <a:cs typeface="Arial"/>
                <a:sym typeface="Arial"/>
              </a:rPr>
              <a:t>amplifiers</a:t>
            </a:r>
            <a:r>
              <a:rPr lang="en-US" sz="2000" dirty="0">
                <a:solidFill>
                  <a:schemeClr val="dk1"/>
                </a:solidFill>
                <a:latin typeface="Atkinson Hyperlegible Next"/>
                <a:ea typeface="Arial"/>
                <a:cs typeface="Arial"/>
                <a:sym typeface="Arial"/>
              </a:rPr>
              <a:t>. They concentrate light onto the </a:t>
            </a:r>
            <a:r>
              <a:rPr lang="en-US" sz="2000" b="1" dirty="0">
                <a:solidFill>
                  <a:schemeClr val="dk1"/>
                </a:solidFill>
                <a:latin typeface="Atkinson Hyperlegible Next"/>
                <a:ea typeface="Arial"/>
                <a:cs typeface="Arial"/>
                <a:sym typeface="Arial"/>
              </a:rPr>
              <a:t>retina </a:t>
            </a:r>
            <a:r>
              <a:rPr lang="en-US" sz="2000" dirty="0">
                <a:solidFill>
                  <a:schemeClr val="dk1"/>
                </a:solidFill>
                <a:latin typeface="Atkinson Hyperlegible Next"/>
                <a:ea typeface="Arial"/>
                <a:cs typeface="Arial"/>
                <a:sym typeface="Arial"/>
              </a:rPr>
              <a:t>(the back of the eye) which, afterward, is processed by the brain as an image. </a:t>
            </a:r>
          </a:p>
          <a:p>
            <a:pPr marL="285750" indent="-285750">
              <a:lnSpc>
                <a:spcPct val="100000"/>
              </a:lnSpc>
              <a:spcBef>
                <a:spcPts val="0"/>
              </a:spcBef>
              <a:buSzPts val="3000"/>
            </a:pPr>
            <a:r>
              <a:rPr lang="en-US" sz="2000" dirty="0">
                <a:solidFill>
                  <a:schemeClr val="dk1"/>
                </a:solidFill>
                <a:latin typeface="Atkinson Hyperlegible Next"/>
                <a:ea typeface="Arial"/>
                <a:cs typeface="Arial"/>
                <a:sym typeface="Arial"/>
              </a:rPr>
              <a:t>Those three components of the human eye (</a:t>
            </a:r>
            <a:r>
              <a:rPr lang="en-US" sz="2000" b="1" dirty="0">
                <a:solidFill>
                  <a:schemeClr val="dk1"/>
                </a:solidFill>
                <a:latin typeface="Atkinson Hyperlegible Next"/>
                <a:ea typeface="Arial"/>
                <a:cs typeface="Arial"/>
                <a:sym typeface="Arial"/>
              </a:rPr>
              <a:t>cornea, lens and retina</a:t>
            </a:r>
            <a:r>
              <a:rPr lang="en-US" sz="2000" dirty="0">
                <a:solidFill>
                  <a:schemeClr val="dk1"/>
                </a:solidFill>
                <a:latin typeface="Atkinson Hyperlegible Next"/>
                <a:ea typeface="Arial"/>
                <a:cs typeface="Arial"/>
                <a:sym typeface="Arial"/>
              </a:rPr>
              <a:t>) are the most susceptible to damage from laser radiation.</a:t>
            </a:r>
          </a:p>
          <a:p>
            <a:pPr marL="285750" indent="-285750">
              <a:lnSpc>
                <a:spcPct val="100000"/>
              </a:lnSpc>
              <a:spcBef>
                <a:spcPts val="0"/>
              </a:spcBef>
              <a:buSzPts val="3000"/>
            </a:pPr>
            <a:r>
              <a:rPr lang="en-US" sz="2000" dirty="0">
                <a:latin typeface="Atkinson Hyperlegible Next"/>
                <a:ea typeface="Arial"/>
                <a:cs typeface="Arial"/>
                <a:sym typeface="Arial"/>
              </a:rPr>
              <a:t>Almost all types of laser lights can harm your eyes, but the various components of the human eye react more strongly with some light wavelengths.</a:t>
            </a:r>
            <a:endParaRPr lang="en-US" sz="2000" dirty="0">
              <a:solidFill>
                <a:schemeClr val="dk1"/>
              </a:solidFill>
              <a:latin typeface="Atkinson Hyperlegible Next"/>
              <a:ea typeface="Arial"/>
              <a:cs typeface="Arial"/>
              <a:sym typeface="Arial"/>
            </a:endParaRPr>
          </a:p>
          <a:p>
            <a:pPr marL="285750" indent="-285750">
              <a:lnSpc>
                <a:spcPct val="100000"/>
              </a:lnSpc>
              <a:spcBef>
                <a:spcPts val="0"/>
              </a:spcBef>
              <a:buSzPts val="3000"/>
            </a:pPr>
            <a:endParaRPr lang="en-US" sz="20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8E780FA-FBC8-C24B-FC81-9C0099AFE0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3866CF6-740B-A825-4231-4954DB76965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Laser classes – Eye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0580D94-B86E-00EF-8257-4747E277BB1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1DB4730-DE62-D99E-A7BA-1DF346D786F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0F18E67-BE4F-068D-60A9-BDD3AD9FDC4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FE12872-B326-C4A9-38C0-A370D959464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B0C98D7-3397-BBE5-1B11-6F9822D720F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BD58729-26F9-8A0C-AC91-9E5DF1A10DD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026" name="Picture 2" descr="Diagram: cross section of the human eye. Light rays from a candle pass through the cornea, pupil and lens, which focus them so they cross inside the eye and form an inverted image of the candle on the retina at the back of the eye, next to the optic nerve. Also labeled are the iris, ciliary muscle, ligaments, the liquid behind the cornea, and the jelly filling the eyeball.">
            <a:extLst>
              <a:ext uri="{FF2B5EF4-FFF2-40B4-BE49-F238E27FC236}">
                <a16:creationId xmlns:a16="http://schemas.microsoft.com/office/drawing/2014/main" id="{EF9E573E-BDFA-DA32-BAEC-9A7134E9912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214"/>
          <a:stretch>
            <a:fillRect/>
          </a:stretch>
        </p:blipFill>
        <p:spPr bwMode="auto">
          <a:xfrm>
            <a:off x="6483349" y="1676400"/>
            <a:ext cx="5074159" cy="3505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05027D8-52FC-D2BA-0E54-292C06F66480}"/>
              </a:ext>
            </a:extLst>
          </p:cNvPr>
          <p:cNvSpPr txBox="1"/>
          <p:nvPr/>
        </p:nvSpPr>
        <p:spPr>
          <a:xfrm>
            <a:off x="6375399" y="5410869"/>
            <a:ext cx="5453417" cy="246221"/>
          </a:xfrm>
          <a:prstGeom prst="rect">
            <a:avLst/>
          </a:prstGeom>
          <a:noFill/>
        </p:spPr>
        <p:txBody>
          <a:bodyPr wrap="square">
            <a:spAutoFit/>
          </a:bodyPr>
          <a:lstStyle/>
          <a:p>
            <a:pPr algn="ctr"/>
            <a:r>
              <a:rPr lang="en-US" sz="1000" dirty="0">
                <a:hlinkClick r:id="rId5"/>
              </a:rPr>
              <a:t>https://www.laserax.com/blog/laser-safety-laser-classes-explained</a:t>
            </a:r>
            <a:r>
              <a:rPr lang="en-US" sz="1000" dirty="0"/>
              <a:t> </a:t>
            </a:r>
          </a:p>
        </p:txBody>
      </p:sp>
    </p:spTree>
    <p:extLst>
      <p:ext uri="{BB962C8B-B14F-4D97-AF65-F5344CB8AC3E}">
        <p14:creationId xmlns:p14="http://schemas.microsoft.com/office/powerpoint/2010/main" val="50521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6458EA9-F894-19C3-048E-A1B063D9C7D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7E1AAA8-500C-63D8-F0DF-41B4499139E5}"/>
              </a:ext>
            </a:extLst>
          </p:cNvPr>
          <p:cNvSpPr txBox="1">
            <a:spLocks noGrp="1"/>
          </p:cNvSpPr>
          <p:nvPr>
            <p:ph type="body" idx="1"/>
          </p:nvPr>
        </p:nvSpPr>
        <p:spPr>
          <a:xfrm>
            <a:off x="376809" y="1334279"/>
            <a:ext cx="5715000"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900" dirty="0">
                <a:solidFill>
                  <a:schemeClr val="dk1"/>
                </a:solidFill>
                <a:latin typeface="Atkinson Hyperlegible Next"/>
                <a:ea typeface="Arial"/>
                <a:cs typeface="Arial"/>
                <a:sym typeface="Arial"/>
              </a:rPr>
              <a:t>Part of visible light is absorbed by the eyes before being amplified by the lens and cornea. </a:t>
            </a:r>
          </a:p>
          <a:p>
            <a:pPr marL="285750" indent="-285750">
              <a:lnSpc>
                <a:spcPct val="100000"/>
              </a:lnSpc>
              <a:spcBef>
                <a:spcPts val="0"/>
              </a:spcBef>
              <a:buSzPts val="3000"/>
            </a:pPr>
            <a:r>
              <a:rPr lang="en-US" sz="1900" dirty="0">
                <a:solidFill>
                  <a:schemeClr val="dk1"/>
                </a:solidFill>
                <a:latin typeface="Atkinson Hyperlegible Next"/>
                <a:ea typeface="Arial"/>
                <a:cs typeface="Arial"/>
                <a:sym typeface="Arial"/>
              </a:rPr>
              <a:t>But infrared light isn’t visible and isn’t absorbed by the eyes. Thus, is more dangerous than visible light.</a:t>
            </a:r>
          </a:p>
          <a:p>
            <a:pPr marL="285750" indent="-285750">
              <a:lnSpc>
                <a:spcPct val="100000"/>
              </a:lnSpc>
              <a:spcBef>
                <a:spcPts val="0"/>
              </a:spcBef>
              <a:buSzPts val="3000"/>
            </a:pPr>
            <a:r>
              <a:rPr lang="en-US" sz="1900" dirty="0">
                <a:solidFill>
                  <a:schemeClr val="dk1"/>
                </a:solidFill>
                <a:latin typeface="Atkinson Hyperlegible Next"/>
                <a:ea typeface="Arial"/>
                <a:cs typeface="Arial"/>
                <a:sym typeface="Arial"/>
              </a:rPr>
              <a:t>All this energy is spent burning a small area of the retina which causes blindness and severe eye damages. Photochemical damage is also possible for lights lower than 400 nm (in the ultraviolet range) and may cause cataracts (decreased vision).</a:t>
            </a:r>
          </a:p>
          <a:p>
            <a:pPr marL="285750" indent="-285750">
              <a:lnSpc>
                <a:spcPct val="100000"/>
              </a:lnSpc>
              <a:spcBef>
                <a:spcPts val="0"/>
              </a:spcBef>
              <a:buSzPts val="3000"/>
            </a:pPr>
            <a:r>
              <a:rPr lang="en-US" sz="1900" dirty="0">
                <a:solidFill>
                  <a:schemeClr val="dk1"/>
                </a:solidFill>
                <a:latin typeface="Atkinson Hyperlegible Next"/>
                <a:ea typeface="Arial"/>
                <a:cs typeface="Arial"/>
                <a:sym typeface="Arial"/>
              </a:rPr>
              <a:t>Protective eyewear like laser goggles protects you by absorbing dangerous light. </a:t>
            </a:r>
          </a:p>
          <a:p>
            <a:pPr marL="285750" indent="-285750">
              <a:lnSpc>
                <a:spcPct val="100000"/>
              </a:lnSpc>
              <a:spcBef>
                <a:spcPts val="0"/>
              </a:spcBef>
              <a:buSzPts val="3000"/>
            </a:pPr>
            <a:r>
              <a:rPr lang="en-US" sz="1900" b="1" dirty="0">
                <a:solidFill>
                  <a:schemeClr val="dk1"/>
                </a:solidFill>
                <a:latin typeface="Atkinson Hyperlegible Next"/>
                <a:ea typeface="Arial"/>
                <a:cs typeface="Arial"/>
                <a:sym typeface="Arial"/>
              </a:rPr>
              <a:t>Different goggles absorb different lights</a:t>
            </a:r>
            <a:r>
              <a:rPr lang="en-US" sz="1900" dirty="0">
                <a:solidFill>
                  <a:schemeClr val="dk1"/>
                </a:solidFill>
                <a:latin typeface="Atkinson Hyperlegible Next"/>
                <a:ea typeface="Arial"/>
                <a:cs typeface="Arial"/>
                <a:sym typeface="Arial"/>
              </a:rPr>
              <a:t>, so you need to wear the right goggles for your laser class.</a:t>
            </a:r>
          </a:p>
          <a:p>
            <a:pPr marL="285750" indent="-285750">
              <a:lnSpc>
                <a:spcPct val="100000"/>
              </a:lnSpc>
              <a:spcBef>
                <a:spcPts val="0"/>
              </a:spcBef>
              <a:buSzPts val="3000"/>
            </a:pPr>
            <a:endParaRPr lang="en-US" sz="19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EAFA5EA0-8FE5-2762-6488-45BB1E3D924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1F20E0F-B39E-DB6A-289B-E5B57A0BC10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lang="en-US" sz="2400" b="0" i="0" u="none" strike="noStrike" cap="none" dirty="0">
                <a:solidFill>
                  <a:schemeClr val="lt1"/>
                </a:solidFill>
                <a:latin typeface="Atkinson Hyperlegible Next"/>
                <a:ea typeface="Arial"/>
                <a:cs typeface="Arial"/>
                <a:sym typeface="Arial"/>
              </a:rPr>
              <a:t>LiDAR – Laser classes</a:t>
            </a:r>
            <a:r>
              <a:rPr i="0" b="0" lang="en-US" sz="2400" dirty="0">
                <a:solidFill>
                  <a:schemeClr val="lt1"/>
                </a:solidFill>
              </a:rPr>
              <a:t> – Eye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724F2BD-11D7-E9D3-B5A6-1FFB16858B2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1A39A0E-C6AD-3A1A-566C-E393B2A34D8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2B098E7-4363-B3B5-0117-47518BCCF44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FED2DE4-8263-D91B-4CC5-80901ED2210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AB00198-6F89-C864-EDE4-2BD9CDEB86B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95A5A85-0316-454B-6B5A-17BF68F8729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026" name="Picture 2" descr="Diagram: cross section of the human eye. Light rays from a candle pass through the cornea, pupil and lens, which focus them so they cross inside the eye and form an inverted image of the candle on the retina at the back of the eye, next to the optic nerve. Also labeled are the iris, ciliary muscle, ligaments, the liquid behind the cornea, and the jelly filling the eyeball.">
            <a:extLst>
              <a:ext uri="{FF2B5EF4-FFF2-40B4-BE49-F238E27FC236}">
                <a16:creationId xmlns:a16="http://schemas.microsoft.com/office/drawing/2014/main" id="{B4CAD503-94E3-549E-60EF-2A1B9F6F6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509" y="1676400"/>
            <a:ext cx="5715000" cy="3505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E04476A-FFC9-79B7-57BD-A812C9C6E049}"/>
              </a:ext>
            </a:extLst>
          </p:cNvPr>
          <p:cNvSpPr txBox="1"/>
          <p:nvPr/>
        </p:nvSpPr>
        <p:spPr>
          <a:xfrm>
            <a:off x="6375399" y="5410869"/>
            <a:ext cx="5453417" cy="246221"/>
          </a:xfrm>
          <a:prstGeom prst="rect">
            <a:avLst/>
          </a:prstGeom>
          <a:noFill/>
        </p:spPr>
        <p:txBody>
          <a:bodyPr wrap="square">
            <a:spAutoFit/>
          </a:bodyPr>
          <a:lstStyle/>
          <a:p>
            <a:pPr algn="ctr"/>
            <a:r>
              <a:rPr lang="en-US" sz="1000" dirty="0">
                <a:hlinkClick r:id="rId5"/>
              </a:rPr>
              <a:t>https://www.laserax.com/blog/laser-safety-laser-classes-explained</a:t>
            </a:r>
            <a:r>
              <a:rPr lang="en-US" sz="1000" dirty="0"/>
              <a:t> </a:t>
            </a:r>
          </a:p>
        </p:txBody>
      </p:sp>
    </p:spTree>
    <p:extLst>
      <p:ext uri="{BB962C8B-B14F-4D97-AF65-F5344CB8AC3E}">
        <p14:creationId xmlns:p14="http://schemas.microsoft.com/office/powerpoint/2010/main" val="120030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A8BA16B-5506-C909-9319-CF6453ACA09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F63B5C-76D8-16D4-53BB-7EBE4D8B3E23}"/>
              </a:ext>
            </a:extLst>
          </p:cNvPr>
          <p:cNvSpPr txBox="1">
            <a:spLocks noGrp="1"/>
          </p:cNvSpPr>
          <p:nvPr>
            <p:ph type="body" idx="1"/>
          </p:nvPr>
        </p:nvSpPr>
        <p:spPr>
          <a:xfrm>
            <a:off x="376808"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400" dirty="0">
                <a:latin typeface="Atkinson Hyperlegible Next"/>
                <a:ea typeface="Arial"/>
                <a:cs typeface="Arial"/>
                <a:sym typeface="Arial"/>
              </a:rPr>
              <a:t>If you had the choice between putting your eyes or your hands on the stove, chances are you would put your hands. It’s easy to understand why skin hazards are less serious than eye hazards. But the risks of skin burns still deserve attention.</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Direct contact with the laser beam and specular (mirror-like) reflections can cause skin injuries. Those injuries are typically caused by thermal damage like touching the stove, or photochemical damage like sunburns.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The burn level depends on the laser’s output power, the wavelength, the size of the affected area, and the duration of the irradiation.</a:t>
            </a:r>
          </a:p>
          <a:p>
            <a:pPr marL="285750" indent="-285750">
              <a:lnSpc>
                <a:spcPct val="100000"/>
              </a:lnSpc>
              <a:spcBef>
                <a:spcPts val="0"/>
              </a:spcBef>
              <a:buSzPts val="3000"/>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BD8BDD76-C8F6-5808-78C3-65263974559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9E4AE46-944C-57D7-92BA-A49BD74B573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lang="en-US" sz="2400" b="0" i="0" u="none" strike="noStrike" cap="none" dirty="0">
                <a:solidFill>
                  <a:schemeClr val="lt1"/>
                </a:solidFill>
                <a:latin typeface="Atkinson Hyperlegible Next"/>
                <a:ea typeface="Arial"/>
                <a:cs typeface="Arial"/>
                <a:sym typeface="Arial"/>
              </a:rPr>
              <a:t>LiDAR – Laser classes</a:t>
            </a:r>
            <a:r>
              <a:rPr i="0" b="0" lang="en-US" sz="2400" dirty="0">
                <a:solidFill>
                  <a:schemeClr val="lt1"/>
                </a:solidFill>
              </a:rPr>
              <a:t> – Skin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A948A14-A8FD-FA4A-891C-D860B6903A5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9D51746-A7CF-B6AA-1BD4-B94B0D60B7F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BE1E4D7-7131-E54C-56CA-6F8F3CB237E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64BE97B-FACC-BD10-9CB4-6D59C53657A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DDBD590-4D2C-C887-5C7D-B2E248E06F3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76FDE1A-276D-DF3B-364F-D70569EF929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2352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08DE9FE-EAEA-43A1-892E-473E8FC1322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2F6D58A-46E2-695D-129C-3862DB474F7B}"/>
              </a:ext>
            </a:extLst>
          </p:cNvPr>
          <p:cNvSpPr txBox="1">
            <a:spLocks noGrp="1"/>
          </p:cNvSpPr>
          <p:nvPr>
            <p:ph type="body" idx="1"/>
          </p:nvPr>
        </p:nvSpPr>
        <p:spPr>
          <a:xfrm>
            <a:off x="376808"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400" dirty="0">
                <a:latin typeface="Atkinson Hyperlegible Next"/>
                <a:ea typeface="Arial"/>
                <a:cs typeface="Arial"/>
                <a:sym typeface="Arial"/>
              </a:rPr>
              <a:t>Apart from health hazards, laser light can also start fires and put your work environment at risk.</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Only class 4 lasers pose real fire safety concerns. Their direct beam as well as any type of reflection can ignite combustible materials. </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For a safe integration, those lasers must be enclosed properly and account for all possible angles of reflection, including diffuse reflections.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Given that the URG-04LX is a class 1 laser. What precautions do we need to take when handling it?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Nothing, it is a class 1 laser!</a:t>
            </a:r>
          </a:p>
        </p:txBody>
      </p:sp>
      <p:sp>
        <p:nvSpPr>
          <p:cNvPr id="119" name="Google Shape;119;p29">
            <a:extLst>
              <a:ext uri="{FF2B5EF4-FFF2-40B4-BE49-F238E27FC236}">
                <a16:creationId xmlns:a16="http://schemas.microsoft.com/office/drawing/2014/main" id="{2DEA7276-FCB0-90D7-73C7-141EC39FCE0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AC8A84D-A1BE-AF10-E6D3-F9BF5592E9F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lang="en-US" sz="2400" b="0" i="0" u="none" strike="noStrike" cap="none" dirty="0">
                <a:solidFill>
                  <a:schemeClr val="lt1"/>
                </a:solidFill>
                <a:latin typeface="Atkinson Hyperlegible Next"/>
                <a:ea typeface="Arial"/>
                <a:cs typeface="Arial"/>
                <a:sym typeface="Arial"/>
              </a:rPr>
              <a:t>LiDAR – Laser classes</a:t>
            </a:r>
            <a:r>
              <a:rPr i="0" b="0" lang="en-US" sz="2400" dirty="0">
                <a:solidFill>
                  <a:schemeClr val="lt1"/>
                </a:solidFill>
              </a:rPr>
              <a:t> – Fire hazards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076E4B1-F171-97D8-DF7D-81370FD48BF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A8322C2-30C3-DE08-75E9-5663881391F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03576D0-668F-8776-14BD-8D1EDEAE6A5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2ED0180-C936-F20F-B9D2-12BB1C4A60A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6B80671-EC1A-DCB6-E1C0-3D58D663BE2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764595F-A351-F355-E3C7-6206FA297CD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86076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94074C76-4949-3716-FFBE-88E9F2BE8E8D}"/>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2FC355E1-B533-5A44-1B47-E44EA344F78C}"/>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URG-04LX (2/2)</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C821CBD1-42F8-4799-D4C5-C49B6E19E8B4}"/>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91D3D5EE-75A5-9A74-2495-427AA70B6AAE}"/>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4424FB7E-09DA-FEDE-8C10-7F265EF1E91B}"/>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B0CBF771-6F04-9187-8703-D9EEE06441F4}"/>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F88FA002-B777-D4AB-C8F3-76719D406D5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3B877F73-AC00-DF37-EE02-206A75761F2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687BE759-484D-DAC3-5E62-3F342789FC5E}"/>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3C1BF3B0-8A65-9869-F690-0AB8465C486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68D91B97-2531-63DA-6A01-E854DAE77FD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97128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EBD894D-0D18-8289-216F-46ECF5E40D1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902976A-994D-DA36-0BBE-4EB2290D1A9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400" dirty="0">
                <a:latin typeface="Atkinson Hyperlegible Next"/>
                <a:ea typeface="Arial"/>
                <a:cs typeface="Arial"/>
                <a:sym typeface="Arial"/>
              </a:rPr>
              <a:t>Scan area is 240º semicircle with maximum distance of 4000mm. </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Pitch angle is 0.36º and sensor outputs the distance measured at every point (683 steps).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Laser beam diameter is less than 20mm at 2000mm with maximum divergence 40mm at 4000mm. </a:t>
            </a: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The principle of distance measurement is based on calculation of the phase difference, due to which it is possible to obtain stable measurement with minimum influence from object’s color and surface gloss.</a:t>
            </a:r>
          </a:p>
          <a:p>
            <a:pPr marL="742950" lvl="1" indent="-285750">
              <a:lnSpc>
                <a:spcPct val="100000"/>
              </a:lnSpc>
              <a:spcBef>
                <a:spcPts val="0"/>
              </a:spcBef>
              <a:buSzPts val="3000"/>
            </a:pPr>
            <a:r>
              <a:rPr lang="en-US" sz="2000" dirty="0">
                <a:latin typeface="Atkinson Hyperlegible Next"/>
                <a:ea typeface="Arial"/>
                <a:cs typeface="Arial"/>
                <a:sym typeface="Arial"/>
              </a:rPr>
              <a:t>Essentially Time of Flight but with a continuous wave rather than the discrete pulse</a:t>
            </a:r>
          </a:p>
        </p:txBody>
      </p:sp>
      <p:sp>
        <p:nvSpPr>
          <p:cNvPr id="119" name="Google Shape;119;p29">
            <a:extLst>
              <a:ext uri="{FF2B5EF4-FFF2-40B4-BE49-F238E27FC236}">
                <a16:creationId xmlns:a16="http://schemas.microsoft.com/office/drawing/2014/main" id="{2FF5BAFC-FDAA-2718-D2FB-EBE2D1AD98E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142692A-D91A-E80C-8E52-A41B1FC0192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(2/5)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194F1CD-0AB5-EFCA-9959-EC706DF77E1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743B6A0-DCA3-37D1-6B90-72AD83D68B1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7D46766-AFA1-A513-8638-BCEBDE143AD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40E76F0-91B5-7A84-BA0D-1867E3BB34E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55C2D37-6062-4153-C9F0-02C42D49A77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1B97401-8890-03EC-ED75-953EA1B82A6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467417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FF4AE2A-7FF3-0DD6-E41F-781B8713DB8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74153F8-4393-88B0-D13F-B736C187EBF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9DA59B1-7E86-FD3E-4D71-D3F3591FD77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(3/5)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BCB6871-E0D0-DD4C-5DCD-1A10C96451E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92995C0-7849-EC18-DEA7-82F2F56B6EF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7E9B642-F5C1-2CCC-07C3-BE39F1458B7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3E29AFD-05F6-B085-C327-B9670A3E67C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0273EAC-6FE0-DA36-6090-C281E600DD3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2D4B91A-7E6A-C658-9988-0197985EB17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op-view scan diagram of the Hokuyo URG-04LX laser rangefinder: from the sensor at the center, rays fan out over a 240 degree detection area facing forward, with a maximum range of 4000 millimeters. The remaining 120 degree wedge behind the sensor is a non-radiated blind zone. Labels give power as 5 volts DC and the interface as RS-232C or USB.">
            <a:extLst>
              <a:ext uri="{FF2B5EF4-FFF2-40B4-BE49-F238E27FC236}">
                <a16:creationId xmlns:a16="http://schemas.microsoft.com/office/drawing/2014/main" id="{D2D10FB6-D953-00EB-84CA-C1878DFF7F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53543" y="1632724"/>
            <a:ext cx="6259512" cy="3605252"/>
          </a:xfrm>
          <a:prstGeom prst="rect">
            <a:avLst/>
          </a:prstGeom>
        </p:spPr>
      </p:pic>
      <p:pic>
        <p:nvPicPr>
          <p:cNvPr id="7" name="Picture 6" descr="Photo: Hokuyo URG-04LX laser rangefinder, a small 2D scanning LiDAR. It has a compact gray base topped by a dark cylindrical window labeled &quot;Hokuyo URG,&quot; where the laser spins to sweep distance measurements around the sensor. A coiled black cable ends in loose, color-coded bare wires for power and data connections.">
            <a:extLst>
              <a:ext uri="{FF2B5EF4-FFF2-40B4-BE49-F238E27FC236}">
                <a16:creationId xmlns:a16="http://schemas.microsoft.com/office/drawing/2014/main" id="{BBAB6D5A-341B-ACD8-BAA3-A78ADAC524D8}"/>
              </a:ext>
            </a:extLst>
          </p:cNvPr>
          <p:cNvPicPr>
            <a:picLocks noChangeAspect="1"/>
          </p:cNvPicPr>
          <p:nvPr/>
        </p:nvPicPr>
        <p:blipFill>
          <a:blip r:embed="rId6"/>
          <a:srcRect l="6600" t="13740" b="15191"/>
          <a:stretch>
            <a:fillRect/>
          </a:stretch>
        </p:blipFill>
        <p:spPr>
          <a:xfrm>
            <a:off x="240241" y="2024106"/>
            <a:ext cx="5513302" cy="2961775"/>
          </a:xfrm>
          <a:prstGeom prst="rect">
            <a:avLst/>
          </a:prstGeom>
        </p:spPr>
      </p:pic>
      <p:sp>
        <p:nvSpPr>
          <p:cNvPr id="9" name="TextBox 8">
            <a:extLst>
              <a:ext uri="{FF2B5EF4-FFF2-40B4-BE49-F238E27FC236}">
                <a16:creationId xmlns:a16="http://schemas.microsoft.com/office/drawing/2014/main" id="{95EFE8BD-2125-3967-1A6C-01F2A38F80C9}"/>
              </a:ext>
            </a:extLst>
          </p:cNvPr>
          <p:cNvSpPr txBox="1"/>
          <p:nvPr/>
        </p:nvSpPr>
        <p:spPr>
          <a:xfrm>
            <a:off x="913563" y="5149318"/>
            <a:ext cx="4166659" cy="246221"/>
          </a:xfrm>
          <a:prstGeom prst="rect">
            <a:avLst/>
          </a:prstGeom>
          <a:noFill/>
        </p:spPr>
        <p:txBody>
          <a:bodyPr wrap="square">
            <a:spAutoFit/>
          </a:bodyPr>
          <a:lstStyle/>
          <a:p>
            <a:pPr algn="ctr"/>
            <a:r>
              <a:rPr lang="en-US" sz="1000" dirty="0">
                <a:hlinkClick r:id="rId7"/>
              </a:rPr>
              <a:t>https://www.robotshop.com/products/hokuyo-urg-04lx-laser-rangefinder</a:t>
            </a:r>
            <a:r>
              <a:rPr lang="en-US" sz="1000" dirty="0"/>
              <a:t> </a:t>
            </a:r>
          </a:p>
        </p:txBody>
      </p:sp>
    </p:spTree>
    <p:extLst>
      <p:ext uri="{BB962C8B-B14F-4D97-AF65-F5344CB8AC3E}">
        <p14:creationId xmlns:p14="http://schemas.microsoft.com/office/powerpoint/2010/main" val="2271656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D10F97-37B2-96AF-03F4-98621B62A70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A06E6B1-356B-E09D-E9C8-0DC272C84A6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400" dirty="0">
                <a:latin typeface="Atkinson Hyperlegible Next"/>
                <a:ea typeface="Arial"/>
                <a:cs typeface="Arial"/>
                <a:sym typeface="Arial"/>
              </a:rPr>
              <a:t>There are 2 ways to communicate with the LiDAR sensor SCI (UART) or USB. We use SCI only.</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There are 4 types of commands that can be sent.</a:t>
            </a:r>
          </a:p>
          <a:p>
            <a:pPr marL="0" indent="0">
              <a:lnSpc>
                <a:spcPct val="100000"/>
              </a:lnSpc>
              <a:spcBef>
                <a:spcPts val="0"/>
              </a:spcBef>
              <a:buSzPts val="3000"/>
              <a:buNone/>
            </a:pPr>
            <a:endParaRPr lang="en-US" sz="2400" dirty="0">
              <a:latin typeface="Atkinson Hyperlegible Next"/>
              <a:ea typeface="Arial"/>
              <a:cs typeface="Arial"/>
              <a:sym typeface="Arial"/>
            </a:endParaRP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Version Command (‘V’)</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Laser Illumination Command (‘L’)</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Communication Speed Setting command for RS-232C (‘S’)</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Distance Data Acquisition Command (‘G’)</a:t>
            </a: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0DFDDD8-39AC-4313-0F7E-8C025718381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C4710AC-AA0D-744C-C4C1-F5C2B39A6F5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(4/5)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B6AB6B4-24C5-1EB3-C2F3-E1038821422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921F7F0-26D0-4B39-A313-6D5B309B3F5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087B5CD-50B7-467B-2BF0-BCE94C24B58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0566A3B-59E7-3C82-0421-3F42C12126D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478483D-FB1F-1394-D60B-B6856DC67EA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9EE1FE8-1664-02F6-DC74-A18F23E375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2357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E4CFE5F-4023-3041-9C94-948CC590548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1D1008C-EF4A-6B2C-F864-E87D3422669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000" dirty="0">
                <a:latin typeface="Atkinson Hyperlegible Next"/>
                <a:ea typeface="Arial"/>
                <a:cs typeface="Arial"/>
                <a:sym typeface="Arial"/>
              </a:rPr>
              <a:t>The SCI data packets are in the following format,</a:t>
            </a:r>
          </a:p>
          <a:p>
            <a:pPr marL="285750" indent="-28575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u="sng" dirty="0">
                <a:latin typeface="Atkinson Hyperlegible Next"/>
                <a:ea typeface="Arial"/>
                <a:cs typeface="Arial"/>
                <a:sym typeface="Arial"/>
              </a:rPr>
              <a:t>Host to Sensor</a:t>
            </a:r>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u="sng" dirty="0">
                <a:latin typeface="Atkinson Hyperlegible Next"/>
                <a:ea typeface="Arial"/>
                <a:cs typeface="Arial"/>
                <a:sym typeface="Arial"/>
              </a:rPr>
              <a:t>Sensor to Host</a:t>
            </a:r>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Termination code is either Line Feed (‘\n’) or Carriage Return (‘\r’)</a:t>
            </a:r>
          </a:p>
          <a:p>
            <a:pPr marL="342900">
              <a:lnSpc>
                <a:spcPct val="100000"/>
              </a:lnSpc>
              <a:spcBef>
                <a:spcPts val="0"/>
              </a:spcBef>
              <a:buSzPts val="3000"/>
            </a:pPr>
            <a:r>
              <a:rPr lang="en-US" sz="2000" dirty="0">
                <a:latin typeface="Atkinson Hyperlegible Next"/>
                <a:ea typeface="Arial"/>
                <a:cs typeface="Arial"/>
                <a:sym typeface="Arial"/>
              </a:rPr>
              <a:t>The codes XX</a:t>
            </a:r>
            <a:r>
              <a:rPr lang="en-US" sz="2000" baseline="-25000" dirty="0">
                <a:latin typeface="Atkinson Hyperlegible Next"/>
                <a:ea typeface="Arial"/>
                <a:cs typeface="Arial"/>
                <a:sym typeface="Arial"/>
              </a:rPr>
              <a:t>16</a:t>
            </a:r>
            <a:r>
              <a:rPr lang="en-US" sz="2000" dirty="0">
                <a:latin typeface="Atkinson Hyperlegible Next"/>
                <a:ea typeface="Arial"/>
                <a:cs typeface="Arial"/>
                <a:sym typeface="Arial"/>
              </a:rPr>
              <a:t> represents ASCII codes in hex</a:t>
            </a:r>
          </a:p>
          <a:p>
            <a:pPr marL="342900">
              <a:lnSpc>
                <a:spcPct val="100000"/>
              </a:lnSpc>
              <a:spcBef>
                <a:spcPts val="0"/>
              </a:spcBef>
              <a:buSzPts val="3000"/>
            </a:pPr>
            <a:r>
              <a:rPr lang="en-US" sz="2000" dirty="0">
                <a:latin typeface="Atkinson Hyperlegible Next"/>
                <a:ea typeface="Arial"/>
                <a:cs typeface="Arial"/>
                <a:sym typeface="Arial"/>
              </a:rPr>
              <a:t>Any status code other than ‘0’</a:t>
            </a:r>
            <a:r>
              <a:rPr lang="en-US" sz="2000" baseline="-25000" dirty="0">
                <a:latin typeface="Atkinson Hyperlegible Next"/>
                <a:ea typeface="Arial"/>
                <a:cs typeface="Arial"/>
                <a:sym typeface="Arial"/>
              </a:rPr>
              <a:t>16</a:t>
            </a:r>
            <a:r>
              <a:rPr lang="en-US" sz="2000" dirty="0">
                <a:latin typeface="Atkinson Hyperlegible Next"/>
                <a:ea typeface="Arial"/>
                <a:cs typeface="Arial"/>
                <a:sym typeface="Arial"/>
              </a:rPr>
              <a:t> represents an error.</a:t>
            </a:r>
          </a:p>
        </p:txBody>
      </p:sp>
      <p:sp>
        <p:nvSpPr>
          <p:cNvPr id="119" name="Google Shape;119;p29">
            <a:extLst>
              <a:ext uri="{FF2B5EF4-FFF2-40B4-BE49-F238E27FC236}">
                <a16:creationId xmlns:a16="http://schemas.microsoft.com/office/drawing/2014/main" id="{E149E90F-CC5C-2772-AB3F-434B1B28BCC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E9B220E-5567-EFC6-5BD3-77BA62B9E92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(5/5)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1C7AE7B-5A6B-E779-931E-A0C4BD713E3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636C741-2610-C979-DFAD-4C142D01298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5D9E506-B0B0-27C2-7732-528D42DF975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569CB09-2E0A-3D9F-CC16-CFF97E4D608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57F0457-F3E3-680D-D6CD-97CBE1D339F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B450B61-E0D3-EAEF-2C68-D400B4F1C7E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aphicFrame>
        <p:nvGraphicFramePr>
          <p:cNvPr id="5" name="Table 4" descr="Packet format from host to sensor, as one row of fields: Command, then Parameter (if necessary), then a line feed (0a hex) or carriage return (0d hex).">
            <a:extLst>
              <a:ext uri="{FF2B5EF4-FFF2-40B4-BE49-F238E27FC236}">
                <a16:creationId xmlns:a16="http://schemas.microsoft.com/office/drawing/2014/main" id="{33A80803-0B1C-3A2B-6EE5-08A684B4DA2A}"/>
              </a:ext>
            </a:extLst>
          </p:cNvPr>
          <p:cNvGraphicFramePr>
            <a:graphicFrameLocks noGrp="1"/>
          </p:cNvGraphicFramePr>
          <p:nvPr>
            <p:extLst>
              <p:ext uri="{D42A27DB-BD31-4B8C-83A1-F6EECF244321}">
                <p14:modId xmlns:p14="http://schemas.microsoft.com/office/powerpoint/2010/main" val="546896604"/>
              </p:ext>
            </p:extLst>
          </p:nvPr>
        </p:nvGraphicFramePr>
        <p:xfrm>
          <a:off x="3290891" y="2529416"/>
          <a:ext cx="5610219" cy="370840"/>
        </p:xfrm>
        <a:graphic>
          <a:graphicData uri="http://schemas.openxmlformats.org/drawingml/2006/table">
            <a:tbl>
              <a:tblPr bandRow="1">
                <a:tableStyleId>{073A0DAA-6AF3-43AB-8588-CEC1D06C72B9}</a:tableStyleId>
              </a:tblPr>
              <a:tblGrid>
                <a:gridCol w="1280160">
                  <a:extLst>
                    <a:ext uri="{9D8B030D-6E8A-4147-A177-3AD203B41FA5}">
                      <a16:colId xmlns:a16="http://schemas.microsoft.com/office/drawing/2014/main" val="2146093778"/>
                    </a:ext>
                  </a:extLst>
                </a:gridCol>
                <a:gridCol w="2194560">
                  <a:extLst>
                    <a:ext uri="{9D8B030D-6E8A-4147-A177-3AD203B41FA5}">
                      <a16:colId xmlns:a16="http://schemas.microsoft.com/office/drawing/2014/main" val="2159119190"/>
                    </a:ext>
                  </a:extLst>
                </a:gridCol>
                <a:gridCol w="2135499">
                  <a:extLst>
                    <a:ext uri="{9D8B030D-6E8A-4147-A177-3AD203B41FA5}">
                      <a16:colId xmlns:a16="http://schemas.microsoft.com/office/drawing/2014/main" val="2619942353"/>
                    </a:ext>
                  </a:extLst>
                </a:gridCol>
              </a:tblGrid>
              <a:tr h="370840">
                <a:tc>
                  <a:txBody>
                    <a:bodyPr/>
                    <a:lstStyle/>
                    <a:p>
                      <a:pPr algn="ctr"/>
                      <a:r>
                        <a:rPr lang="en-US" dirty="0"/>
                        <a:t>Command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Parameter (if necessary)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LF (0a</a:t>
                      </a:r>
                      <a:r>
                        <a:rPr lang="en-US" baseline="-25000" dirty="0"/>
                        <a:t>16</a:t>
                      </a:r>
                      <a:r>
                        <a:rPr lang="en-US" baseline="0" dirty="0"/>
                        <a:t>) or CR (0d</a:t>
                      </a:r>
                      <a:r>
                        <a:rPr lang="en-US" baseline="-25000" dirty="0"/>
                        <a:t>16</a:t>
                      </a:r>
                      <a:r>
                        <a:rPr lang="en-US" baseline="0" dirty="0"/>
                        <a: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8861874"/>
                  </a:ext>
                </a:extLst>
              </a:tr>
            </a:tbl>
          </a:graphicData>
        </a:graphic>
      </p:graphicFrame>
      <p:graphicFrame>
        <p:nvGraphicFramePr>
          <p:cNvPr id="6" name="Table 5" descr="Packet format from sensor to host, as one row of fields: Command, Parameter (if necessary), LF, Status, LF, Data, LF, LF.">
            <a:extLst>
              <a:ext uri="{FF2B5EF4-FFF2-40B4-BE49-F238E27FC236}">
                <a16:creationId xmlns:a16="http://schemas.microsoft.com/office/drawing/2014/main" id="{843C005E-23A4-618B-B8D1-316469A6B0B3}"/>
              </a:ext>
            </a:extLst>
          </p:cNvPr>
          <p:cNvGraphicFramePr>
            <a:graphicFrameLocks noGrp="1"/>
          </p:cNvGraphicFramePr>
          <p:nvPr>
            <p:extLst>
              <p:ext uri="{D42A27DB-BD31-4B8C-83A1-F6EECF244321}">
                <p14:modId xmlns:p14="http://schemas.microsoft.com/office/powerpoint/2010/main" val="2344673281"/>
              </p:ext>
            </p:extLst>
          </p:nvPr>
        </p:nvGraphicFramePr>
        <p:xfrm>
          <a:off x="2558352" y="3744830"/>
          <a:ext cx="7075297" cy="370840"/>
        </p:xfrm>
        <a:graphic>
          <a:graphicData uri="http://schemas.openxmlformats.org/drawingml/2006/table">
            <a:tbl>
              <a:tblPr bandRow="1">
                <a:tableStyleId>{073A0DAA-6AF3-43AB-8588-CEC1D06C72B9}</a:tableStyleId>
              </a:tblPr>
              <a:tblGrid>
                <a:gridCol w="1280160">
                  <a:extLst>
                    <a:ext uri="{9D8B030D-6E8A-4147-A177-3AD203B41FA5}">
                      <a16:colId xmlns:a16="http://schemas.microsoft.com/office/drawing/2014/main" val="2146093778"/>
                    </a:ext>
                  </a:extLst>
                </a:gridCol>
                <a:gridCol w="2194560">
                  <a:extLst>
                    <a:ext uri="{9D8B030D-6E8A-4147-A177-3AD203B41FA5}">
                      <a16:colId xmlns:a16="http://schemas.microsoft.com/office/drawing/2014/main" val="2159119190"/>
                    </a:ext>
                  </a:extLst>
                </a:gridCol>
                <a:gridCol w="555625">
                  <a:extLst>
                    <a:ext uri="{9D8B030D-6E8A-4147-A177-3AD203B41FA5}">
                      <a16:colId xmlns:a16="http://schemas.microsoft.com/office/drawing/2014/main" val="2619942353"/>
                    </a:ext>
                  </a:extLst>
                </a:gridCol>
                <a:gridCol w="731520">
                  <a:extLst>
                    <a:ext uri="{9D8B030D-6E8A-4147-A177-3AD203B41FA5}">
                      <a16:colId xmlns:a16="http://schemas.microsoft.com/office/drawing/2014/main" val="291963699"/>
                    </a:ext>
                  </a:extLst>
                </a:gridCol>
                <a:gridCol w="557784">
                  <a:extLst>
                    <a:ext uri="{9D8B030D-6E8A-4147-A177-3AD203B41FA5}">
                      <a16:colId xmlns:a16="http://schemas.microsoft.com/office/drawing/2014/main" val="3767523989"/>
                    </a:ext>
                  </a:extLst>
                </a:gridCol>
                <a:gridCol w="640080">
                  <a:extLst>
                    <a:ext uri="{9D8B030D-6E8A-4147-A177-3AD203B41FA5}">
                      <a16:colId xmlns:a16="http://schemas.microsoft.com/office/drawing/2014/main" val="1386445737"/>
                    </a:ext>
                  </a:extLst>
                </a:gridCol>
                <a:gridCol w="557784">
                  <a:extLst>
                    <a:ext uri="{9D8B030D-6E8A-4147-A177-3AD203B41FA5}">
                      <a16:colId xmlns:a16="http://schemas.microsoft.com/office/drawing/2014/main" val="4067718208"/>
                    </a:ext>
                  </a:extLst>
                </a:gridCol>
                <a:gridCol w="557784">
                  <a:extLst>
                    <a:ext uri="{9D8B030D-6E8A-4147-A177-3AD203B41FA5}">
                      <a16:colId xmlns:a16="http://schemas.microsoft.com/office/drawing/2014/main" val="1331477706"/>
                    </a:ext>
                  </a:extLst>
                </a:gridCol>
              </a:tblGrid>
              <a:tr h="370840">
                <a:tc>
                  <a:txBody>
                    <a:bodyPr/>
                    <a:lstStyle/>
                    <a:p>
                      <a:pPr algn="ctr"/>
                      <a:r>
                        <a:rPr lang="en-US" dirty="0"/>
                        <a:t>Command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Parameter (if necessary)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8861874"/>
                  </a:ext>
                </a:extLst>
              </a:tr>
            </a:tbl>
          </a:graphicData>
        </a:graphic>
      </p:graphicFrame>
    </p:spTree>
    <p:extLst>
      <p:ext uri="{BB962C8B-B14F-4D97-AF65-F5344CB8AC3E}">
        <p14:creationId xmlns:p14="http://schemas.microsoft.com/office/powerpoint/2010/main" val="217684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8">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285A495-75AE-B621-1C8B-D7EDAF3936A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3A205B6-8198-3F48-0FFA-954EAF9343C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000" dirty="0">
                <a:latin typeface="Atkinson Hyperlegible Next"/>
                <a:ea typeface="Arial"/>
                <a:cs typeface="Arial"/>
                <a:sym typeface="Arial"/>
              </a:rPr>
              <a:t>If we want to get the version information of the LiDAR we can use the version command. This can be done simply as sending,</a:t>
            </a:r>
          </a:p>
          <a:p>
            <a:pPr marL="285750" indent="-285750">
              <a:lnSpc>
                <a:spcPct val="100000"/>
              </a:lnSpc>
              <a:spcBef>
                <a:spcPts val="0"/>
              </a:spcBef>
              <a:buSzPts val="3000"/>
            </a:pPr>
            <a:r>
              <a:rPr lang="en-US" sz="2000" dirty="0">
                <a:latin typeface="Atkinson Hyperlegible Next"/>
                <a:ea typeface="Arial"/>
                <a:cs typeface="Arial"/>
                <a:sym typeface="Arial"/>
              </a:rPr>
              <a:t>The command ‘V’</a:t>
            </a:r>
          </a:p>
          <a:p>
            <a:pPr marL="285750" indent="-28575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285750" indent="-285750">
              <a:lnSpc>
                <a:spcPct val="100000"/>
              </a:lnSpc>
              <a:spcBef>
                <a:spcPts val="0"/>
              </a:spcBef>
              <a:buSzPts val="3000"/>
            </a:pPr>
            <a:r>
              <a:rPr lang="en-US" sz="2000" dirty="0">
                <a:latin typeface="Atkinson Hyperlegible Next"/>
                <a:ea typeface="Arial"/>
                <a:cs typeface="Arial"/>
                <a:sym typeface="Arial"/>
              </a:rPr>
              <a:t>Done as:</a:t>
            </a:r>
          </a:p>
          <a:p>
            <a:pPr marL="0" indent="0" algn="ctr">
              <a:lnSpc>
                <a:spcPct val="100000"/>
              </a:lnSpc>
              <a:spcBef>
                <a:spcPts val="0"/>
              </a:spcBef>
              <a:buSzPts val="3000"/>
              <a:buNone/>
            </a:pPr>
            <a:r>
              <a:rPr lang="pt-BR" sz="2000" dirty="0">
                <a:solidFill>
                  <a:srgbClr val="000000"/>
                </a:solidFill>
                <a:latin typeface="Consolas" panose="020B0609020204030204" pitchFamily="49" charset="0"/>
              </a:rPr>
              <a:t>serial_sendSCIC(&amp;SerialC, </a:t>
            </a:r>
            <a:r>
              <a:rPr lang="pt-BR" sz="2000" dirty="0">
                <a:solidFill>
                  <a:srgbClr val="2A00FF"/>
                </a:solidFill>
                <a:latin typeface="Consolas" panose="020B0609020204030204" pitchFamily="49" charset="0"/>
              </a:rPr>
              <a:t>"V\n"</a:t>
            </a:r>
            <a:r>
              <a:rPr lang="pt-BR" sz="2000" dirty="0">
                <a:solidFill>
                  <a:srgbClr val="000000"/>
                </a:solidFill>
                <a:latin typeface="Consolas" panose="020B0609020204030204" pitchFamily="49" charset="0"/>
              </a:rPr>
              <a:t>, 2);</a:t>
            </a: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6A5BB833-9786-CB66-723F-06B655394AE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186F4F1-1A4C-2FD3-C0AE-3F093776306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Version Info</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B7E6EC2-3164-9155-7549-EF72D69D0BF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281AF7B-53AD-4C22-CC96-A3DBD1C0B31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5CBE8C1-4384-F21E-699C-396B1D918B0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9373EC8-F0C0-9DF8-2F22-48DC37CBCC5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2ED8268-6B18-2386-6AA3-F52A1DDF166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DCAB84B-6666-8F8B-00D5-B39A77078E5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Message format table for the version command. Host to sensor: the character V (hex 56) followed by line feed or carriage return. Sensor to host: an echoed V (hex 56), then Status, Vendor Information, Product Information, Firmware Version, Protocol Version, and Sensor Serial Number, each line ending in line feed. The final line ends with two line feeds, marking the end of the response.">
            <a:extLst>
              <a:ext uri="{FF2B5EF4-FFF2-40B4-BE49-F238E27FC236}">
                <a16:creationId xmlns:a16="http://schemas.microsoft.com/office/drawing/2014/main" id="{6085CB31-7B1B-44F9-C259-63C45FF685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23571" y="2306616"/>
            <a:ext cx="3799974" cy="3095669"/>
          </a:xfrm>
          <a:prstGeom prst="rect">
            <a:avLst/>
          </a:prstGeom>
        </p:spPr>
      </p:pic>
      <p:pic>
        <p:nvPicPr>
          <p:cNvPr id="7" name="Graphic 6" descr="Example response to the V command, each line ending in a line feed: V echoed back; status 0; VEND: Hokuyo Automatic Co., Ltd.; PROD: SOKUIKI Sensor URG-X002; FIRM: 0.01.22a, dated 2004/12/27; PROT: 00001, SCIP 1.0; SERI: H0400000. The final line ends with two line feeds, marking the end of the reply.">
            <a:extLst>
              <a:ext uri="{FF2B5EF4-FFF2-40B4-BE49-F238E27FC236}">
                <a16:creationId xmlns:a16="http://schemas.microsoft.com/office/drawing/2014/main" id="{576F147B-51BA-D5AB-81E5-CADD9A5B10E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47116" y="2778125"/>
            <a:ext cx="4121312" cy="2152650"/>
          </a:xfrm>
          <a:prstGeom prst="rect">
            <a:avLst/>
          </a:prstGeom>
        </p:spPr>
      </p:pic>
    </p:spTree>
    <p:extLst>
      <p:ext uri="{BB962C8B-B14F-4D97-AF65-F5344CB8AC3E}">
        <p14:creationId xmlns:p14="http://schemas.microsoft.com/office/powerpoint/2010/main" val="172893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189568E-8464-DD1B-E34E-45FCCDD6C3E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CB77548-7874-6A0D-BEDE-5D153333E84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000" dirty="0">
                <a:latin typeface="Atkinson Hyperlegible Next"/>
                <a:ea typeface="Arial"/>
                <a:cs typeface="Arial"/>
                <a:sym typeface="Arial"/>
              </a:rPr>
              <a:t>If we want to turn the LiDAR on or off, we can use the ‘L’ command to turn it on or off. </a:t>
            </a:r>
          </a:p>
          <a:p>
            <a:pPr marL="285750" indent="-285750">
              <a:lnSpc>
                <a:spcPct val="100000"/>
              </a:lnSpc>
              <a:spcBef>
                <a:spcPts val="0"/>
              </a:spcBef>
              <a:buSzPts val="3000"/>
            </a:pPr>
            <a:r>
              <a:rPr lang="en-US" sz="2000" dirty="0">
                <a:latin typeface="Atkinson Hyperlegible Next"/>
                <a:ea typeface="Arial"/>
                <a:cs typeface="Arial"/>
                <a:sym typeface="Arial"/>
              </a:rPr>
              <a:t>By default, the sensor is switched on even if it was previously switched off</a:t>
            </a:r>
          </a:p>
          <a:p>
            <a:pPr marL="285750" indent="-28575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285750" indent="-28575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285750" indent="-285750">
              <a:lnSpc>
                <a:spcPct val="100000"/>
              </a:lnSpc>
              <a:spcBef>
                <a:spcPts val="0"/>
              </a:spcBef>
              <a:buSzPts val="3000"/>
            </a:pPr>
            <a:r>
              <a:rPr lang="en-US" sz="2000" dirty="0">
                <a:latin typeface="Atkinson Hyperlegible Next"/>
                <a:ea typeface="Arial"/>
                <a:cs typeface="Arial"/>
                <a:sym typeface="Arial"/>
              </a:rPr>
              <a:t>Done as:</a:t>
            </a:r>
          </a:p>
          <a:p>
            <a:pPr marL="114300" indent="0" algn="ctr">
              <a:buNone/>
            </a:pPr>
            <a:r>
              <a:rPr lang="en-US" sz="2000" dirty="0" err="1">
                <a:solidFill>
                  <a:srgbClr val="000000"/>
                </a:solidFill>
                <a:latin typeface="Consolas" panose="020B0609020204030204" pitchFamily="49" charset="0"/>
              </a:rPr>
              <a:t>serial_sendSCIC</a:t>
            </a:r>
            <a:r>
              <a:rPr lang="en-US" sz="2000" dirty="0">
                <a:solidFill>
                  <a:srgbClr val="000000"/>
                </a:solidFill>
                <a:latin typeface="Consolas" panose="020B0609020204030204" pitchFamily="49" charset="0"/>
              </a:rPr>
              <a:t>(&amp;</a:t>
            </a:r>
            <a:r>
              <a:rPr lang="en-US" sz="2000" dirty="0" err="1">
                <a:solidFill>
                  <a:srgbClr val="000000"/>
                </a:solidFill>
                <a:latin typeface="Consolas" panose="020B0609020204030204" pitchFamily="49" charset="0"/>
              </a:rPr>
              <a:t>SerialC</a:t>
            </a:r>
            <a:r>
              <a:rPr lang="en-US" sz="2000" dirty="0">
                <a:solidFill>
                  <a:srgbClr val="000000"/>
                </a:solidFill>
                <a:latin typeface="Consolas" panose="020B0609020204030204" pitchFamily="49" charset="0"/>
              </a:rPr>
              <a:t>, </a:t>
            </a:r>
            <a:r>
              <a:rPr lang="en-US" sz="2000" dirty="0">
                <a:solidFill>
                  <a:srgbClr val="2A00FF"/>
                </a:solidFill>
                <a:latin typeface="Consolas" panose="020B0609020204030204" pitchFamily="49" charset="0"/>
              </a:rPr>
              <a:t>"L0\n"</a:t>
            </a:r>
            <a:r>
              <a:rPr lang="en-US" sz="2000" dirty="0">
                <a:solidFill>
                  <a:srgbClr val="000000"/>
                </a:solidFill>
                <a:latin typeface="Consolas" panose="020B0609020204030204" pitchFamily="49" charset="0"/>
              </a:rPr>
              <a:t>, 3); </a:t>
            </a:r>
            <a:r>
              <a:rPr lang="en-US" sz="2000" dirty="0">
                <a:solidFill>
                  <a:srgbClr val="3F7F5F"/>
                </a:solidFill>
                <a:latin typeface="Consolas" panose="020B0609020204030204" pitchFamily="49" charset="0"/>
              </a:rPr>
              <a:t>// Turn LiDAR off</a:t>
            </a:r>
          </a:p>
          <a:p>
            <a:pPr marL="114300" indent="0" algn="ctr">
              <a:buNone/>
            </a:pPr>
            <a:r>
              <a:rPr lang="en-US" sz="2000" dirty="0" err="1">
                <a:solidFill>
                  <a:srgbClr val="000000"/>
                </a:solidFill>
                <a:latin typeface="Consolas" panose="020B0609020204030204" pitchFamily="49" charset="0"/>
              </a:rPr>
              <a:t>serial_sendSCIC</a:t>
            </a:r>
            <a:r>
              <a:rPr lang="en-US" sz="2000" dirty="0">
                <a:solidFill>
                  <a:srgbClr val="000000"/>
                </a:solidFill>
                <a:latin typeface="Consolas" panose="020B0609020204030204" pitchFamily="49" charset="0"/>
              </a:rPr>
              <a:t>(&amp;</a:t>
            </a:r>
            <a:r>
              <a:rPr lang="en-US" sz="2000" dirty="0" err="1">
                <a:solidFill>
                  <a:srgbClr val="000000"/>
                </a:solidFill>
                <a:latin typeface="Consolas" panose="020B0609020204030204" pitchFamily="49" charset="0"/>
              </a:rPr>
              <a:t>SerialC</a:t>
            </a:r>
            <a:r>
              <a:rPr lang="en-US" sz="2000" dirty="0">
                <a:solidFill>
                  <a:srgbClr val="000000"/>
                </a:solidFill>
                <a:latin typeface="Consolas" panose="020B0609020204030204" pitchFamily="49" charset="0"/>
              </a:rPr>
              <a:t>, </a:t>
            </a:r>
            <a:r>
              <a:rPr lang="en-US" sz="2000" dirty="0">
                <a:solidFill>
                  <a:srgbClr val="2A00FF"/>
                </a:solidFill>
                <a:latin typeface="Consolas" panose="020B0609020204030204" pitchFamily="49" charset="0"/>
              </a:rPr>
              <a:t>"L1\n"</a:t>
            </a:r>
            <a:r>
              <a:rPr lang="en-US" sz="2000" dirty="0">
                <a:solidFill>
                  <a:srgbClr val="000000"/>
                </a:solidFill>
                <a:latin typeface="Consolas" panose="020B0609020204030204" pitchFamily="49" charset="0"/>
              </a:rPr>
              <a:t>, 3); </a:t>
            </a:r>
            <a:r>
              <a:rPr lang="en-US" sz="2000" dirty="0">
                <a:solidFill>
                  <a:srgbClr val="3F7F5F"/>
                </a:solidFill>
                <a:latin typeface="Consolas" panose="020B0609020204030204" pitchFamily="49" charset="0"/>
              </a:rPr>
              <a:t>// Turn LiDAR on</a:t>
            </a: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CD897634-CDA7-7EB3-8CEF-D7040A95889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7EFAB66-5711-9273-04C8-2DBF1A0CA15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Laser Illumination Control</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BE8C017-32FF-82E7-4302-BC0C9B6EF8E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95F9E23-483C-89BC-D5F1-E95228B03DC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B78F162-9902-0587-BC6D-6210EC107F5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6F4C351-C27E-BAA6-4CC0-6C57D32D10B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096B07D-6698-7526-20AF-A17769326F3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36E0863-F78B-14A0-C5D6-B197C977D88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descr="Packet format for the laser illumination command. Host to sensor: three fields, the character L (hex 4C), a one-byte control code, then a line feed or carriage return. Sensor to host reply: L (hex 4C), the same one-byte control code, line feed, a status field, line feed, line feed.">
            <a:extLst>
              <a:ext uri="{FF2B5EF4-FFF2-40B4-BE49-F238E27FC236}">
                <a16:creationId xmlns:a16="http://schemas.microsoft.com/office/drawing/2014/main" id="{BFD2AB86-F5E6-BC4C-CEA7-D858A5E60D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13955" y="2311871"/>
            <a:ext cx="8835735" cy="2005658"/>
          </a:xfrm>
          <a:prstGeom prst="rect">
            <a:avLst/>
          </a:prstGeom>
        </p:spPr>
      </p:pic>
    </p:spTree>
    <p:extLst>
      <p:ext uri="{BB962C8B-B14F-4D97-AF65-F5344CB8AC3E}">
        <p14:creationId xmlns:p14="http://schemas.microsoft.com/office/powerpoint/2010/main" val="811315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B537BE7-02F1-309B-FBEA-6ED389062EF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34120B3-C5EB-064E-074E-AA15ACE32A7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400" dirty="0">
                <a:latin typeface="Atkinson Hyperlegible Next"/>
                <a:ea typeface="Arial"/>
                <a:cs typeface="Arial"/>
                <a:sym typeface="Arial"/>
              </a:rPr>
              <a:t>The default baud rate of the sensor through SCI is 19.2 kbps. Though it can be changed to 57.6, 115.2, 250, 500 and 750 kbps by varying the settings.</a:t>
            </a:r>
          </a:p>
          <a:p>
            <a:pPr marL="0" indent="0">
              <a:lnSpc>
                <a:spcPct val="100000"/>
              </a:lnSpc>
              <a:spcBef>
                <a:spcPts val="0"/>
              </a:spcBef>
              <a:buSzPts val="3000"/>
              <a:buNone/>
            </a:pPr>
            <a:endParaRPr lang="en-US" sz="1400" dirty="0">
              <a:latin typeface="Atkinson Hyperlegible Next"/>
              <a:ea typeface="Arial"/>
              <a:cs typeface="Arial"/>
              <a:sym typeface="Arial"/>
            </a:endParaRPr>
          </a:p>
          <a:p>
            <a:pPr marL="0" indent="0">
              <a:lnSpc>
                <a:spcPct val="100000"/>
              </a:lnSpc>
              <a:spcBef>
                <a:spcPts val="0"/>
              </a:spcBef>
              <a:buSzPts val="3000"/>
              <a:buNone/>
            </a:pPr>
            <a:r>
              <a:rPr lang="en-US" sz="1400" dirty="0">
                <a:latin typeface="Atkinson Hyperlegible Next"/>
                <a:ea typeface="Arial"/>
                <a:cs typeface="Arial"/>
                <a:sym typeface="Arial"/>
              </a:rPr>
              <a:t>Example : </a:t>
            </a:r>
          </a:p>
          <a:p>
            <a:pPr marL="342900">
              <a:lnSpc>
                <a:spcPct val="100000"/>
              </a:lnSpc>
              <a:spcBef>
                <a:spcPts val="0"/>
              </a:spcBef>
              <a:buSzPts val="3000"/>
            </a:pPr>
            <a:r>
              <a:rPr lang="en-US" sz="1400" dirty="0">
                <a:latin typeface="Atkinson Hyperlegible Next"/>
                <a:ea typeface="Arial"/>
                <a:cs typeface="Arial"/>
                <a:sym typeface="Arial"/>
              </a:rPr>
              <a:t>57.6 </a:t>
            </a:r>
            <a:r>
              <a:rPr lang="en-US" sz="1400" dirty="0" err="1">
                <a:latin typeface="Atkinson Hyperlegible Next"/>
                <a:ea typeface="Arial"/>
                <a:cs typeface="Arial"/>
                <a:sym typeface="Arial"/>
              </a:rPr>
              <a:t>Kpbs</a:t>
            </a:r>
            <a:r>
              <a:rPr lang="en-US" sz="1400" dirty="0">
                <a:latin typeface="Atkinson Hyperlegible Next"/>
                <a:ea typeface="Arial"/>
                <a:cs typeface="Arial"/>
                <a:sym typeface="Arial"/>
              </a:rPr>
              <a:t> = “057600” (ASCII 6 Digits)</a:t>
            </a:r>
          </a:p>
          <a:p>
            <a:pPr marL="285750" indent="-285750">
              <a:lnSpc>
                <a:spcPct val="100000"/>
              </a:lnSpc>
              <a:spcBef>
                <a:spcPts val="0"/>
              </a:spcBef>
              <a:buSzPts val="3000"/>
            </a:pPr>
            <a:r>
              <a:rPr lang="en-US" sz="1400" dirty="0">
                <a:latin typeface="Atkinson Hyperlegible Next"/>
                <a:ea typeface="Arial"/>
                <a:cs typeface="Arial"/>
                <a:sym typeface="Arial"/>
              </a:rPr>
              <a:t> 115.2 </a:t>
            </a:r>
            <a:r>
              <a:rPr lang="en-US" sz="1400" dirty="0" err="1">
                <a:latin typeface="Atkinson Hyperlegible Next"/>
                <a:ea typeface="Arial"/>
                <a:cs typeface="Arial"/>
                <a:sym typeface="Arial"/>
              </a:rPr>
              <a:t>Kpbs</a:t>
            </a:r>
            <a:r>
              <a:rPr lang="en-US" sz="1400" dirty="0">
                <a:latin typeface="Atkinson Hyperlegible Next"/>
                <a:ea typeface="Arial"/>
                <a:cs typeface="Arial"/>
                <a:sym typeface="Arial"/>
              </a:rPr>
              <a:t> = “115200” (ASCII 6 Digits)</a:t>
            </a:r>
          </a:p>
          <a:p>
            <a:pPr marL="285750" indent="-285750">
              <a:lnSpc>
                <a:spcPct val="100000"/>
              </a:lnSpc>
              <a:spcBef>
                <a:spcPts val="0"/>
              </a:spcBef>
              <a:buSzPts val="3000"/>
            </a:pPr>
            <a:endParaRPr lang="en-US" sz="1400" dirty="0">
              <a:latin typeface="Atkinson Hyperlegible Next"/>
              <a:ea typeface="Arial"/>
              <a:cs typeface="Arial"/>
              <a:sym typeface="Arial"/>
            </a:endParaRPr>
          </a:p>
          <a:p>
            <a:pPr marL="285750" indent="-285750">
              <a:lnSpc>
                <a:spcPct val="100000"/>
              </a:lnSpc>
              <a:spcBef>
                <a:spcPts val="0"/>
              </a:spcBef>
              <a:buSzPts val="3000"/>
            </a:pPr>
            <a:endParaRPr lang="en-US" sz="1400" dirty="0">
              <a:latin typeface="Atkinson Hyperlegible Next"/>
              <a:ea typeface="Arial"/>
              <a:cs typeface="Arial"/>
              <a:sym typeface="Arial"/>
            </a:endParaRPr>
          </a:p>
          <a:p>
            <a:pPr marL="285750" indent="-285750">
              <a:lnSpc>
                <a:spcPct val="100000"/>
              </a:lnSpc>
              <a:spcBef>
                <a:spcPts val="0"/>
              </a:spcBef>
              <a:buSzPts val="3000"/>
            </a:pPr>
            <a:endParaRPr lang="en-US" sz="1400" dirty="0">
              <a:latin typeface="Atkinson Hyperlegible Next"/>
              <a:ea typeface="Arial"/>
              <a:cs typeface="Arial"/>
              <a:sym typeface="Arial"/>
            </a:endParaRPr>
          </a:p>
          <a:p>
            <a:pPr marL="285750" indent="-285750">
              <a:lnSpc>
                <a:spcPct val="100000"/>
              </a:lnSpc>
              <a:spcBef>
                <a:spcPts val="0"/>
              </a:spcBef>
              <a:buSzPts val="3000"/>
            </a:pPr>
            <a:endParaRPr lang="en-US" sz="1400" dirty="0">
              <a:latin typeface="Atkinson Hyperlegible Next"/>
              <a:ea typeface="Arial"/>
              <a:cs typeface="Arial"/>
              <a:sym typeface="Arial"/>
            </a:endParaRPr>
          </a:p>
          <a:p>
            <a:pPr marL="0" indent="0">
              <a:lnSpc>
                <a:spcPct val="100000"/>
              </a:lnSpc>
              <a:spcBef>
                <a:spcPts val="0"/>
              </a:spcBef>
              <a:buSzPts val="3000"/>
              <a:buNone/>
            </a:pPr>
            <a:endParaRPr lang="en-US" sz="1400" dirty="0">
              <a:latin typeface="Atkinson Hyperlegible Next"/>
              <a:ea typeface="Arial"/>
              <a:cs typeface="Arial"/>
              <a:sym typeface="Arial"/>
            </a:endParaRPr>
          </a:p>
          <a:p>
            <a:pPr marL="0" indent="0">
              <a:lnSpc>
                <a:spcPct val="100000"/>
              </a:lnSpc>
              <a:spcBef>
                <a:spcPts val="0"/>
              </a:spcBef>
              <a:buSzPts val="3000"/>
              <a:buNone/>
            </a:pPr>
            <a:endParaRPr lang="en-US" sz="1400" dirty="0">
              <a:latin typeface="Atkinson Hyperlegible Next"/>
              <a:ea typeface="Arial"/>
              <a:cs typeface="Arial"/>
              <a:sym typeface="Arial"/>
            </a:endParaRPr>
          </a:p>
          <a:p>
            <a:pPr marL="0" indent="0">
              <a:lnSpc>
                <a:spcPct val="100000"/>
              </a:lnSpc>
              <a:spcBef>
                <a:spcPts val="0"/>
              </a:spcBef>
              <a:buSzPts val="3000"/>
              <a:buNone/>
            </a:pPr>
            <a:r>
              <a:rPr lang="en-US" sz="1400" dirty="0">
                <a:latin typeface="Atkinson Hyperlegible Next"/>
                <a:ea typeface="Arial"/>
                <a:cs typeface="Arial"/>
                <a:sym typeface="Arial"/>
              </a:rPr>
              <a:t>What baud rate is being set here?</a:t>
            </a:r>
          </a:p>
          <a:p>
            <a:pPr marL="0" indent="0">
              <a:lnSpc>
                <a:spcPct val="100000"/>
              </a:lnSpc>
              <a:spcBef>
                <a:spcPts val="0"/>
              </a:spcBef>
              <a:buSzPts val="3000"/>
              <a:buNone/>
            </a:pPr>
            <a:endParaRPr lang="en-US" sz="1400" dirty="0">
              <a:latin typeface="Atkinson Hyperlegible Next"/>
              <a:ea typeface="Arial"/>
              <a:cs typeface="Arial"/>
              <a:sym typeface="Arial"/>
            </a:endParaRPr>
          </a:p>
          <a:p>
            <a:pPr marL="114300" indent="0" algn="l">
              <a:buNone/>
            </a:pPr>
            <a:r>
              <a:rPr lang="en-US" sz="1400" dirty="0">
                <a:solidFill>
                  <a:srgbClr val="7F0055"/>
                </a:solidFill>
                <a:latin typeface="Consolas" panose="020B0609020204030204" pitchFamily="49" charset="0"/>
              </a:rPr>
              <a:t>char</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S_command</a:t>
            </a:r>
            <a:r>
              <a:rPr lang="en-US" sz="1400" dirty="0">
                <a:solidFill>
                  <a:srgbClr val="000000"/>
                </a:solidFill>
                <a:latin typeface="Consolas" panose="020B0609020204030204" pitchFamily="49" charset="0"/>
              </a:rPr>
              <a:t>[19] = </a:t>
            </a:r>
            <a:r>
              <a:rPr lang="en-US" sz="1400" dirty="0">
                <a:solidFill>
                  <a:srgbClr val="2A00FF"/>
                </a:solidFill>
                <a:latin typeface="Consolas" panose="020B0609020204030204" pitchFamily="49" charset="0"/>
              </a:rPr>
              <a:t>"S1152000124000\n"</a:t>
            </a:r>
            <a:r>
              <a:rPr lang="en-US" sz="1400" dirty="0">
                <a:solidFill>
                  <a:srgbClr val="000000"/>
                </a:solidFill>
                <a:latin typeface="Consolas" panose="020B0609020204030204" pitchFamily="49" charset="0"/>
              </a:rPr>
              <a:t>;</a:t>
            </a:r>
          </a:p>
          <a:p>
            <a:pPr marL="114300" indent="0" algn="l">
              <a:buNone/>
            </a:pPr>
            <a:r>
              <a:rPr lang="en-US" sz="1400" dirty="0">
                <a:solidFill>
                  <a:srgbClr val="005032"/>
                </a:solidFill>
                <a:latin typeface="Consolas" panose="020B0609020204030204" pitchFamily="49" charset="0"/>
              </a:rPr>
              <a:t>uint16_t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S_len</a:t>
            </a:r>
            <a:r>
              <a:rPr lang="en-US" sz="1400" dirty="0">
                <a:solidFill>
                  <a:srgbClr val="000000"/>
                </a:solidFill>
                <a:latin typeface="Consolas" panose="020B0609020204030204" pitchFamily="49" charset="0"/>
              </a:rPr>
              <a:t> = 19;</a:t>
            </a:r>
          </a:p>
          <a:p>
            <a:pPr marL="114300" indent="0" algn="l">
              <a:buNone/>
            </a:pPr>
            <a:r>
              <a:rPr lang="en-US" sz="1400" dirty="0" err="1">
                <a:solidFill>
                  <a:srgbClr val="000000"/>
                </a:solidFill>
                <a:latin typeface="Consolas" panose="020B0609020204030204" pitchFamily="49" charset="0"/>
              </a:rPr>
              <a:t>serial_sendSCIC</a:t>
            </a:r>
            <a:r>
              <a:rPr lang="en-US" sz="1400" dirty="0">
                <a:solidFill>
                  <a:srgbClr val="000000"/>
                </a:solidFill>
                <a:latin typeface="Consolas" panose="020B0609020204030204" pitchFamily="49" charset="0"/>
              </a:rPr>
              <a:t>(&amp;</a:t>
            </a:r>
            <a:r>
              <a:rPr lang="en-US" sz="1400" dirty="0" err="1">
                <a:solidFill>
                  <a:srgbClr val="000000"/>
                </a:solidFill>
                <a:latin typeface="Consolas" panose="020B0609020204030204" pitchFamily="49" charset="0"/>
              </a:rPr>
              <a:t>SerialC</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S_command</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S_len</a:t>
            </a:r>
            <a:r>
              <a:rPr lang="en-US" sz="1400" dirty="0">
                <a:solidFill>
                  <a:srgbClr val="000000"/>
                </a:solidFill>
                <a:latin typeface="Consolas" panose="020B0609020204030204" pitchFamily="49" charset="0"/>
              </a:rPr>
              <a:t>);</a:t>
            </a:r>
          </a:p>
          <a:p>
            <a:pPr marL="114300" indent="0" algn="l">
              <a:buNone/>
            </a:pPr>
            <a:endParaRPr lang="en-US" sz="1400" dirty="0">
              <a:solidFill>
                <a:srgbClr val="000000"/>
              </a:solidFill>
              <a:latin typeface="Consolas" panose="020B0609020204030204" pitchFamily="49" charset="0"/>
              <a:ea typeface="Arial"/>
              <a:cs typeface="Arial"/>
              <a:sym typeface="Arial"/>
            </a:endParaRPr>
          </a:p>
          <a:p>
            <a:pPr marL="114300" indent="0" algn="l">
              <a:buNone/>
            </a:pPr>
            <a:r>
              <a:rPr lang="en-US" sz="1400" dirty="0">
                <a:latin typeface="Atkinson Hyperlegible Next"/>
                <a:ea typeface="Arial"/>
                <a:cs typeface="Arial"/>
                <a:sym typeface="Arial"/>
              </a:rPr>
              <a:t>The baud rate set here is, 115200</a:t>
            </a:r>
          </a:p>
        </p:txBody>
      </p:sp>
      <p:sp>
        <p:nvSpPr>
          <p:cNvPr id="119" name="Google Shape;119;p29">
            <a:extLst>
              <a:ext uri="{FF2B5EF4-FFF2-40B4-BE49-F238E27FC236}">
                <a16:creationId xmlns:a16="http://schemas.microsoft.com/office/drawing/2014/main" id="{FAF35715-B90F-4861-B785-75F767CED1D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260C011-86BE-2A08-7499-70FBF6A2D94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Communication Settings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4895868-3CD4-16C1-6AE5-BDBEC5A12A5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44E2C14-0F51-BB32-C30A-097DC47392E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4015B23-5EC7-E880-18DD-676BFE7C8D7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F9B51F0-2B59-4975-38C6-9CD83874FE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0745D9C-FFB7-27D5-B67E-FC51E98A2D1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7631F1F-A807-440F-8C06-FE4665FA750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Message formats for the LiDAR baud-rate command. Host to sensor: the character 'S' (hex 53), then the baud rate as 6 ASCII digits, then a 7-digit reserved area, ending with LF or CR. Sensor to host: the echo repeats 'S', the 6-digit baud rate and the 7-digit reserved area, then adds a Status field and ends with two LF characters.">
            <a:extLst>
              <a:ext uri="{FF2B5EF4-FFF2-40B4-BE49-F238E27FC236}">
                <a16:creationId xmlns:a16="http://schemas.microsoft.com/office/drawing/2014/main" id="{3EFB3967-80C8-1F91-3D55-0DCA4793CEE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74181" y="2766979"/>
            <a:ext cx="6243637" cy="1047783"/>
          </a:xfrm>
          <a:prstGeom prst="rect">
            <a:avLst/>
          </a:prstGeom>
        </p:spPr>
      </p:pic>
    </p:spTree>
    <p:extLst>
      <p:ext uri="{BB962C8B-B14F-4D97-AF65-F5344CB8AC3E}">
        <p14:creationId xmlns:p14="http://schemas.microsoft.com/office/powerpoint/2010/main" val="289097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11" end="1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xEl>
                                              <p:pRg st="13" end="1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8">
                                            <p:txEl>
                                              <p:pRg st="14" end="1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8">
                                            <p:txEl>
                                              <p:pRg st="15" end="1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8">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0780F9D-3182-EDE6-9F5E-98766F9768D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2EBF95B-258E-8B8C-E189-AC72EFF47A4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800" dirty="0">
                <a:latin typeface="Atkinson Hyperlegible Next"/>
                <a:ea typeface="Arial"/>
                <a:cs typeface="Arial"/>
                <a:sym typeface="Arial"/>
              </a:rPr>
              <a:t>The maximum measurable distance of the sensor is 4095 mm with 1 mm resolution.</a:t>
            </a:r>
          </a:p>
          <a:p>
            <a:pPr marL="285750" indent="-285750">
              <a:lnSpc>
                <a:spcPct val="100000"/>
              </a:lnSpc>
              <a:spcBef>
                <a:spcPts val="0"/>
              </a:spcBef>
              <a:buSzPts val="3000"/>
            </a:pPr>
            <a:r>
              <a:rPr lang="en-US" sz="1800" dirty="0">
                <a:latin typeface="Atkinson Hyperlegible Next"/>
                <a:ea typeface="Arial"/>
                <a:cs typeface="Arial"/>
                <a:sym typeface="Arial"/>
              </a:rPr>
              <a:t>Each data point is represented with 12 bits (0-4095 range). </a:t>
            </a:r>
          </a:p>
          <a:p>
            <a:pPr marL="285750" indent="-285750">
              <a:lnSpc>
                <a:spcPct val="100000"/>
              </a:lnSpc>
              <a:spcBef>
                <a:spcPts val="0"/>
              </a:spcBef>
              <a:buSzPts val="3000"/>
            </a:pPr>
            <a:r>
              <a:rPr lang="en-US" sz="1800" dirty="0">
                <a:latin typeface="Atkinson Hyperlegible Next"/>
                <a:ea typeface="Arial"/>
                <a:cs typeface="Arial"/>
                <a:sym typeface="Arial"/>
              </a:rPr>
              <a:t>To represents the data points in ASCII format a simple encoding is implemented.</a:t>
            </a:r>
          </a:p>
          <a:p>
            <a:pPr marL="285750" indent="-285750">
              <a:lnSpc>
                <a:spcPct val="100000"/>
              </a:lnSpc>
              <a:spcBef>
                <a:spcPts val="0"/>
              </a:spcBef>
              <a:buSzPts val="3000"/>
            </a:pPr>
            <a:r>
              <a:rPr lang="en-US" sz="1800" dirty="0">
                <a:latin typeface="Atkinson Hyperlegible Next"/>
                <a:ea typeface="Arial"/>
                <a:cs typeface="Arial"/>
                <a:sym typeface="Arial"/>
              </a:rPr>
              <a:t>The 12-bit data is separated into 6 bit (max value of 63) each and then have 30</a:t>
            </a:r>
            <a:r>
              <a:rPr lang="en-US" sz="1800" baseline="-25000" dirty="0">
                <a:latin typeface="Atkinson Hyperlegible Next"/>
                <a:ea typeface="Arial"/>
                <a:cs typeface="Arial"/>
                <a:sym typeface="Arial"/>
              </a:rPr>
              <a:t>16</a:t>
            </a:r>
            <a:r>
              <a:rPr lang="en-US" sz="1800" dirty="0">
                <a:latin typeface="Atkinson Hyperlegible Next"/>
                <a:ea typeface="Arial"/>
                <a:cs typeface="Arial"/>
                <a:sym typeface="Arial"/>
              </a:rPr>
              <a:t> (‘0’)  added to them.</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Example:</a:t>
            </a:r>
          </a:p>
          <a:p>
            <a:pPr marL="0" indent="0" algn="ctr">
              <a:lnSpc>
                <a:spcPct val="100000"/>
              </a:lnSpc>
              <a:spcBef>
                <a:spcPts val="0"/>
              </a:spcBef>
              <a:buSzPts val="3000"/>
              <a:buNone/>
            </a:pPr>
            <a:r>
              <a:rPr lang="en-US" sz="1800" dirty="0">
                <a:latin typeface="Atkinson Hyperlegible Next"/>
                <a:ea typeface="Arial"/>
                <a:cs typeface="Arial"/>
                <a:sym typeface="Arial"/>
              </a:rPr>
              <a:t>1234 mm = 0100110100102</a:t>
            </a:r>
            <a:r>
              <a:rPr lang="en-US" sz="1800" baseline="-25000" dirty="0">
                <a:latin typeface="Atkinson Hyperlegible Next"/>
                <a:ea typeface="Arial"/>
                <a:cs typeface="Arial"/>
                <a:sym typeface="Arial"/>
              </a:rPr>
              <a:t>2</a:t>
            </a:r>
          </a:p>
          <a:p>
            <a:pPr marL="0" indent="0" algn="ctr">
              <a:lnSpc>
                <a:spcPct val="100000"/>
              </a:lnSpc>
              <a:spcBef>
                <a:spcPts val="0"/>
              </a:spcBef>
              <a:buSzPts val="3000"/>
              <a:buNone/>
            </a:pPr>
            <a:endParaRPr lang="en-US" sz="1800" baseline="-25000" dirty="0">
              <a:latin typeface="Atkinson Hyperlegible Next"/>
              <a:ea typeface="Arial"/>
              <a:cs typeface="Arial"/>
              <a:sym typeface="Arial"/>
            </a:endParaRPr>
          </a:p>
          <a:p>
            <a:pPr marL="0" indent="0" algn="ctr">
              <a:lnSpc>
                <a:spcPct val="100000"/>
              </a:lnSpc>
              <a:spcBef>
                <a:spcPts val="0"/>
              </a:spcBef>
              <a:buSzPts val="3000"/>
              <a:buNone/>
            </a:pPr>
            <a:r>
              <a:rPr lang="en-US" sz="1800" dirty="0">
                <a:latin typeface="Atkinson Hyperlegible Next"/>
                <a:ea typeface="Arial"/>
                <a:cs typeface="Arial"/>
                <a:sym typeface="Arial"/>
              </a:rPr>
              <a:t>↓ separation</a:t>
            </a:r>
          </a:p>
          <a:p>
            <a:pPr marL="0" indent="0" algn="ctr">
              <a:lnSpc>
                <a:spcPct val="100000"/>
              </a:lnSpc>
              <a:spcBef>
                <a:spcPts val="0"/>
              </a:spcBef>
              <a:buSzPts val="3000"/>
              <a:buNone/>
            </a:pPr>
            <a:endParaRPr lang="en-US" sz="1800" dirty="0">
              <a:latin typeface="Atkinson Hyperlegible Next"/>
              <a:ea typeface="Arial"/>
              <a:cs typeface="Arial"/>
              <a:sym typeface="Arial"/>
            </a:endParaRPr>
          </a:p>
          <a:p>
            <a:pPr marL="0" indent="0" algn="ctr">
              <a:lnSpc>
                <a:spcPct val="100000"/>
              </a:lnSpc>
              <a:spcBef>
                <a:spcPts val="0"/>
              </a:spcBef>
              <a:buSzPts val="3000"/>
              <a:buNone/>
            </a:pPr>
            <a:r>
              <a:rPr lang="en-US" sz="1800" dirty="0">
                <a:latin typeface="Atkinson Hyperlegible Next"/>
                <a:ea typeface="Arial"/>
                <a:cs typeface="Arial"/>
                <a:sym typeface="Arial"/>
              </a:rPr>
              <a:t>(010011</a:t>
            </a:r>
            <a:r>
              <a:rPr lang="en-US" sz="1800" baseline="-25000" dirty="0">
                <a:latin typeface="Atkinson Hyperlegible Next"/>
                <a:ea typeface="Arial"/>
                <a:cs typeface="Arial"/>
                <a:sym typeface="Arial"/>
              </a:rPr>
              <a:t>2</a:t>
            </a:r>
            <a:r>
              <a:rPr lang="en-US" sz="1800" dirty="0">
                <a:latin typeface="Atkinson Hyperlegible Next"/>
                <a:ea typeface="Arial"/>
                <a:cs typeface="Arial"/>
                <a:sym typeface="Arial"/>
              </a:rPr>
              <a:t>, 010010</a:t>
            </a:r>
            <a:r>
              <a:rPr lang="en-US" sz="1800" baseline="-25000" dirty="0">
                <a:latin typeface="Atkinson Hyperlegible Next"/>
                <a:ea typeface="Arial"/>
                <a:cs typeface="Arial"/>
                <a:sym typeface="Arial"/>
              </a:rPr>
              <a:t>2</a:t>
            </a:r>
            <a:r>
              <a:rPr lang="en-US" sz="1800" dirty="0">
                <a:latin typeface="Atkinson Hyperlegible Next"/>
                <a:ea typeface="Arial"/>
                <a:cs typeface="Arial"/>
                <a:sym typeface="Arial"/>
              </a:rPr>
              <a:t>) = (13</a:t>
            </a:r>
            <a:r>
              <a:rPr lang="en-US" sz="1800" baseline="-25000" dirty="0">
                <a:latin typeface="Atkinson Hyperlegible Next"/>
                <a:ea typeface="Arial"/>
                <a:cs typeface="Arial"/>
                <a:sym typeface="Arial"/>
              </a:rPr>
              <a:t>16</a:t>
            </a:r>
            <a:r>
              <a:rPr lang="en-US" sz="1800" dirty="0">
                <a:latin typeface="Atkinson Hyperlegible Next"/>
                <a:ea typeface="Arial"/>
                <a:cs typeface="Arial"/>
                <a:sym typeface="Arial"/>
              </a:rPr>
              <a:t>, 12</a:t>
            </a:r>
            <a:r>
              <a:rPr lang="en-US" sz="1800" baseline="-25000" dirty="0">
                <a:latin typeface="Atkinson Hyperlegible Next"/>
                <a:ea typeface="Arial"/>
                <a:cs typeface="Arial"/>
                <a:sym typeface="Arial"/>
              </a:rPr>
              <a:t>16</a:t>
            </a:r>
            <a:r>
              <a:rPr lang="en-US" sz="1800" dirty="0">
                <a:latin typeface="Atkinson Hyperlegible Next"/>
                <a:ea typeface="Arial"/>
                <a:cs typeface="Arial"/>
                <a:sym typeface="Arial"/>
              </a:rPr>
              <a:t>) </a:t>
            </a:r>
          </a:p>
          <a:p>
            <a:pPr marL="0" indent="0" algn="ctr">
              <a:lnSpc>
                <a:spcPct val="100000"/>
              </a:lnSpc>
              <a:spcBef>
                <a:spcPts val="0"/>
              </a:spcBef>
              <a:buSzPts val="3000"/>
              <a:buNone/>
            </a:pPr>
            <a:endParaRPr lang="en-US" sz="1800" dirty="0">
              <a:latin typeface="Atkinson Hyperlegible Next"/>
              <a:ea typeface="Arial"/>
              <a:cs typeface="Arial"/>
              <a:sym typeface="Arial"/>
            </a:endParaRPr>
          </a:p>
          <a:p>
            <a:pPr marL="0" indent="0" algn="ctr">
              <a:lnSpc>
                <a:spcPct val="100000"/>
              </a:lnSpc>
              <a:spcBef>
                <a:spcPts val="0"/>
              </a:spcBef>
              <a:buSzPts val="3000"/>
              <a:buNone/>
            </a:pPr>
            <a:r>
              <a:rPr lang="en-US" sz="1800" dirty="0">
                <a:latin typeface="Atkinson Hyperlegible Next"/>
                <a:ea typeface="Arial"/>
                <a:cs typeface="Arial"/>
                <a:sym typeface="Arial"/>
              </a:rPr>
              <a:t>↓ Add 30</a:t>
            </a:r>
            <a:r>
              <a:rPr lang="en-US" sz="1800" baseline="-25000" dirty="0">
                <a:latin typeface="Atkinson Hyperlegible Next"/>
                <a:ea typeface="Arial"/>
                <a:cs typeface="Arial"/>
                <a:sym typeface="Arial"/>
              </a:rPr>
              <a:t>16</a:t>
            </a:r>
          </a:p>
          <a:p>
            <a:pPr marL="0" indent="0" algn="ctr">
              <a:lnSpc>
                <a:spcPct val="100000"/>
              </a:lnSpc>
              <a:spcBef>
                <a:spcPts val="0"/>
              </a:spcBef>
              <a:buSzPts val="3000"/>
              <a:buNone/>
            </a:pPr>
            <a:endParaRPr lang="en-US" sz="1800" baseline="-25000" dirty="0">
              <a:latin typeface="Atkinson Hyperlegible Next"/>
              <a:ea typeface="Arial"/>
              <a:cs typeface="Arial"/>
              <a:sym typeface="Arial"/>
            </a:endParaRPr>
          </a:p>
          <a:p>
            <a:pPr marL="0" indent="0" algn="ctr">
              <a:lnSpc>
                <a:spcPct val="100000"/>
              </a:lnSpc>
              <a:spcBef>
                <a:spcPts val="0"/>
              </a:spcBef>
              <a:buSzPts val="3000"/>
              <a:buNone/>
            </a:pPr>
            <a:r>
              <a:rPr lang="en-US" sz="1800" dirty="0">
                <a:latin typeface="Atkinson Hyperlegible Next"/>
                <a:ea typeface="Arial"/>
                <a:cs typeface="Arial"/>
                <a:sym typeface="Arial"/>
              </a:rPr>
              <a:t>(43</a:t>
            </a:r>
            <a:r>
              <a:rPr lang="en-US" sz="1800" baseline="-25000" dirty="0">
                <a:latin typeface="Atkinson Hyperlegible Next"/>
                <a:ea typeface="Arial"/>
                <a:cs typeface="Arial"/>
                <a:sym typeface="Arial"/>
              </a:rPr>
              <a:t>16</a:t>
            </a:r>
            <a:r>
              <a:rPr lang="en-US" sz="1800" dirty="0">
                <a:latin typeface="Atkinson Hyperlegible Next"/>
                <a:ea typeface="Arial"/>
                <a:cs typeface="Arial"/>
                <a:sym typeface="Arial"/>
              </a:rPr>
              <a:t>, 42</a:t>
            </a:r>
            <a:r>
              <a:rPr lang="en-US" sz="1800" baseline="-25000" dirty="0">
                <a:latin typeface="Atkinson Hyperlegible Next"/>
                <a:ea typeface="Arial"/>
                <a:cs typeface="Arial"/>
                <a:sym typeface="Arial"/>
              </a:rPr>
              <a:t>16</a:t>
            </a:r>
            <a:r>
              <a:rPr lang="en-US" sz="1800" dirty="0">
                <a:latin typeface="Atkinson Hyperlegible Next"/>
                <a:ea typeface="Arial"/>
                <a:cs typeface="Arial"/>
                <a:sym typeface="Arial"/>
              </a:rPr>
              <a:t>) = (‘C’, ‘D’)</a:t>
            </a:r>
          </a:p>
          <a:p>
            <a:pPr marL="0" indent="0" algn="ctr">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To decode you just do the inverse, where you subtract 30</a:t>
            </a:r>
            <a:r>
              <a:rPr lang="en-US" sz="1800" baseline="-25000" dirty="0">
                <a:latin typeface="Atkinson Hyperlegible Next"/>
                <a:ea typeface="Arial"/>
                <a:cs typeface="Arial"/>
                <a:sym typeface="Arial"/>
              </a:rPr>
              <a:t>16 </a:t>
            </a:r>
            <a:r>
              <a:rPr lang="en-US" sz="1800" dirty="0">
                <a:latin typeface="Atkinson Hyperlegible Next"/>
                <a:ea typeface="Arial"/>
                <a:cs typeface="Arial"/>
                <a:sym typeface="Arial"/>
              </a:rPr>
              <a:t>and then merge using bitwise or and bit shifting. It follows the big-endian system. The most significant bits of the data are sent first (in this case ‘C’ then ‘D’).</a:t>
            </a:r>
          </a:p>
        </p:txBody>
      </p:sp>
      <p:sp>
        <p:nvSpPr>
          <p:cNvPr id="119" name="Google Shape;119;p29">
            <a:extLst>
              <a:ext uri="{FF2B5EF4-FFF2-40B4-BE49-F238E27FC236}">
                <a16:creationId xmlns:a16="http://schemas.microsoft.com/office/drawing/2014/main" id="{780A87F3-0886-4A85-02A5-F1404ABDE27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1E84817-058E-66F1-40ED-B8E7DAAE6C0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(1/18)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7BE5669-7945-5EBF-5461-070570B5586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B1737AC-B00D-3D37-A16D-6E90C704FDD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459D2EC-551E-4FE1-374B-254CD506FCC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573EF33-738C-A550-5E3A-44592F6B015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F12546F-B723-B372-A52D-7C67756EC60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B03D45E-4A1B-0B37-6C01-00B33B171AB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68125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4" end="1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77A79D2-FDDE-642A-12E7-A93269104B1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AB4EA49-6BAD-CE28-3918-7F4FD2C45DC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800" dirty="0">
                <a:latin typeface="Atkinson Hyperlegible Next"/>
                <a:ea typeface="Arial"/>
                <a:cs typeface="Arial"/>
                <a:sym typeface="Arial"/>
              </a:rPr>
              <a:t>The full range of the sensor is 240 degrees where it can send a maximum of 683. However, it has 768 configurable steps. To be able to specify the actual usable range that we want to observe we can set this in the ‘G’ command.</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To obtain the data, we need to assign the starting point, end point and cluster count.</a:t>
            </a:r>
          </a:p>
          <a:p>
            <a:pPr marL="285750" indent="-285750">
              <a:lnSpc>
                <a:spcPct val="100000"/>
              </a:lnSpc>
              <a:spcBef>
                <a:spcPts val="0"/>
              </a:spcBef>
              <a:buSzPts val="3000"/>
            </a:pPr>
            <a:r>
              <a:rPr lang="en-US" sz="1800" dirty="0">
                <a:latin typeface="Atkinson Hyperlegible Next"/>
                <a:ea typeface="Arial"/>
                <a:cs typeface="Arial"/>
                <a:sym typeface="Arial"/>
              </a:rPr>
              <a:t>The sensor groups multiple neighboring points assigned by the cluster count. </a:t>
            </a:r>
          </a:p>
          <a:p>
            <a:pPr marL="285750" indent="-285750">
              <a:lnSpc>
                <a:spcPct val="100000"/>
              </a:lnSpc>
              <a:spcBef>
                <a:spcPts val="0"/>
              </a:spcBef>
              <a:buSzPts val="3000"/>
            </a:pPr>
            <a:r>
              <a:rPr lang="en-US" sz="1800" dirty="0">
                <a:latin typeface="Atkinson Hyperlegible Next"/>
                <a:ea typeface="Arial"/>
                <a:cs typeface="Arial"/>
                <a:sym typeface="Arial"/>
              </a:rPr>
              <a:t>The minimum value from each group is supplied as distance data to the host</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285750" indent="-285750">
              <a:lnSpc>
                <a:spcPct val="100000"/>
              </a:lnSpc>
              <a:spcBef>
                <a:spcPts val="0"/>
              </a:spcBef>
              <a:buSzPts val="3000"/>
            </a:pPr>
            <a:endParaRPr lang="en-US" sz="1800" dirty="0">
              <a:latin typeface="Atkinson Hyperlegible Next"/>
              <a:ea typeface="Arial"/>
              <a:cs typeface="Arial"/>
              <a:sym typeface="Arial"/>
            </a:endParaRPr>
          </a:p>
          <a:p>
            <a:pPr marL="285750" indent="-285750">
              <a:lnSpc>
                <a:spcPct val="100000"/>
              </a:lnSpc>
              <a:spcBef>
                <a:spcPts val="0"/>
              </a:spcBef>
              <a:buSzPts val="3000"/>
            </a:pPr>
            <a:endParaRPr lang="en-US" sz="1800" dirty="0">
              <a:latin typeface="Atkinson Hyperlegible Next"/>
              <a:ea typeface="Arial"/>
              <a:cs typeface="Arial"/>
              <a:sym typeface="Arial"/>
            </a:endParaRPr>
          </a:p>
          <a:p>
            <a:pPr marL="285750" indent="-285750">
              <a:lnSpc>
                <a:spcPct val="100000"/>
              </a:lnSpc>
              <a:spcBef>
                <a:spcPts val="0"/>
              </a:spcBef>
              <a:buSzPts val="3000"/>
            </a:pPr>
            <a:endParaRPr lang="en-US" sz="1800" dirty="0">
              <a:latin typeface="Atkinson Hyperlegible Next"/>
              <a:ea typeface="Arial"/>
              <a:cs typeface="Arial"/>
              <a:sym typeface="Arial"/>
            </a:endParaRPr>
          </a:p>
          <a:p>
            <a:pPr marL="285750" indent="-285750">
              <a:lnSpc>
                <a:spcPct val="100000"/>
              </a:lnSpc>
              <a:spcBef>
                <a:spcPts val="0"/>
              </a:spcBef>
              <a:buSzPts val="3000"/>
            </a:pP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b="1" dirty="0">
                <a:latin typeface="Atkinson Hyperlegible Next"/>
                <a:ea typeface="Arial"/>
                <a:cs typeface="Arial"/>
                <a:sym typeface="Arial"/>
              </a:rPr>
              <a:t>Starting point </a:t>
            </a:r>
            <a:r>
              <a:rPr lang="en-US" sz="1800" dirty="0">
                <a:latin typeface="Atkinson Hyperlegible Next"/>
                <a:ea typeface="Arial"/>
                <a:cs typeface="Arial"/>
                <a:sym typeface="Arial"/>
              </a:rPr>
              <a:t>(0-768): Point of the area from where the data reading starts. </a:t>
            </a:r>
          </a:p>
          <a:p>
            <a:pPr marL="285750" indent="-285750">
              <a:lnSpc>
                <a:spcPct val="100000"/>
              </a:lnSpc>
              <a:spcBef>
                <a:spcPts val="0"/>
              </a:spcBef>
              <a:buSzPts val="3000"/>
            </a:pPr>
            <a:r>
              <a:rPr lang="en-US" sz="1800" b="1" dirty="0">
                <a:latin typeface="Atkinson Hyperlegible Next"/>
                <a:ea typeface="Arial"/>
                <a:cs typeface="Arial"/>
                <a:sym typeface="Arial"/>
              </a:rPr>
              <a:t>End Point </a:t>
            </a:r>
            <a:r>
              <a:rPr lang="en-US" sz="1800" dirty="0">
                <a:latin typeface="Atkinson Hyperlegible Next"/>
                <a:ea typeface="Arial"/>
                <a:cs typeface="Arial"/>
                <a:sym typeface="Arial"/>
              </a:rPr>
              <a:t>(0-768): Point of the area where the data reading stops. </a:t>
            </a:r>
          </a:p>
          <a:p>
            <a:pPr marL="285750" indent="-285750">
              <a:lnSpc>
                <a:spcPct val="100000"/>
              </a:lnSpc>
              <a:spcBef>
                <a:spcPts val="0"/>
              </a:spcBef>
              <a:buSzPts val="3000"/>
            </a:pPr>
            <a:r>
              <a:rPr lang="en-US" sz="1800" b="1" dirty="0">
                <a:latin typeface="Atkinson Hyperlegible Next"/>
                <a:ea typeface="Arial"/>
                <a:cs typeface="Arial"/>
                <a:sym typeface="Arial"/>
              </a:rPr>
              <a:t>Cluster Count </a:t>
            </a:r>
            <a:r>
              <a:rPr lang="en-US" sz="1800" dirty="0">
                <a:latin typeface="Atkinson Hyperlegible Next"/>
                <a:ea typeface="Arial"/>
                <a:cs typeface="Arial"/>
                <a:sym typeface="Arial"/>
              </a:rPr>
              <a:t>(0-99): Number of neighboring points that are grouped as a cluster. </a:t>
            </a:r>
          </a:p>
        </p:txBody>
      </p:sp>
      <p:sp>
        <p:nvSpPr>
          <p:cNvPr id="119" name="Google Shape;119;p29">
            <a:extLst>
              <a:ext uri="{FF2B5EF4-FFF2-40B4-BE49-F238E27FC236}">
                <a16:creationId xmlns:a16="http://schemas.microsoft.com/office/drawing/2014/main" id="{C494104A-44FE-A294-2BEF-7D23A5E6500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6D56A62-D426-CCD5-2966-13E97413396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(2/18)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66DBD15-0CD0-34E1-9C9F-BADE2C7418B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B437427-E020-348F-C061-310632598AB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6DFD9EC-2E3E-E5D2-ADFD-40B92D09A46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3CA6609-5B20-12B9-8FE0-72B85E633CB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07F4609-34AF-0660-2B12-41340B56E86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DB85590-B44E-28AC-BD24-5EDE99529CE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able: format of the G command sent from host to sensor. Fields in order: the character 'G' (hex 47), the starting point as 3 digits, the end point as 3 digits, and the cluster count as 2 digits, terminated by a line feed or carriage return.">
            <a:extLst>
              <a:ext uri="{FF2B5EF4-FFF2-40B4-BE49-F238E27FC236}">
                <a16:creationId xmlns:a16="http://schemas.microsoft.com/office/drawing/2014/main" id="{C6CEE4EA-86BC-5A3B-C33C-223CA06B5E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44486" y="3473450"/>
            <a:ext cx="6703027" cy="839787"/>
          </a:xfrm>
          <a:prstGeom prst="rect">
            <a:avLst/>
          </a:prstGeom>
        </p:spPr>
      </p:pic>
    </p:spTree>
    <p:extLst>
      <p:ext uri="{BB962C8B-B14F-4D97-AF65-F5344CB8AC3E}">
        <p14:creationId xmlns:p14="http://schemas.microsoft.com/office/powerpoint/2010/main" val="2783814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35AF4E8-227A-4D73-1E89-4548A6C35FF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581309F-60DF-8A8F-D3B5-B8470FE985D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endParaRPr lang="en-US" sz="1800" dirty="0">
              <a:latin typeface="Atkinson Hyperlegible Next"/>
              <a:ea typeface="Arial"/>
              <a:cs typeface="Arial"/>
              <a:sym typeface="Arial"/>
            </a:endParaRP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114300" indent="0" algn="l">
              <a:buNone/>
            </a:pPr>
            <a:r>
              <a:rPr lang="en-US" sz="1800" dirty="0">
                <a:solidFill>
                  <a:srgbClr val="7F0055"/>
                </a:solidFill>
                <a:latin typeface="Consolas" panose="020B0609020204030204" pitchFamily="49" charset="0"/>
              </a:rPr>
              <a:t>char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G_command</a:t>
            </a:r>
            <a:r>
              <a:rPr lang="en-US" sz="1800" dirty="0">
                <a:solidFill>
                  <a:srgbClr val="000000"/>
                </a:solidFill>
                <a:latin typeface="Consolas" panose="020B0609020204030204" pitchFamily="49" charset="0"/>
              </a:rPr>
              <a:t>[] = </a:t>
            </a:r>
            <a:r>
              <a:rPr lang="en-US" sz="1800" dirty="0">
                <a:solidFill>
                  <a:srgbClr val="2A00FF"/>
                </a:solidFill>
                <a:latin typeface="Consolas" panose="020B0609020204030204" pitchFamily="49" charset="0"/>
              </a:rPr>
              <a:t>"G04472503\n"</a:t>
            </a:r>
            <a:r>
              <a:rPr lang="en-US" sz="1800" dirty="0">
                <a:solidFill>
                  <a:srgbClr val="000000"/>
                </a:solidFill>
                <a:latin typeface="Consolas" panose="020B0609020204030204" pitchFamily="49" charset="0"/>
              </a:rPr>
              <a:t>; </a:t>
            </a:r>
            <a:r>
              <a:rPr lang="en-US" sz="1800" dirty="0">
                <a:solidFill>
                  <a:srgbClr val="3F7F5F"/>
                </a:solidFill>
                <a:latin typeface="Consolas" panose="020B0609020204030204" pitchFamily="49" charset="0"/>
              </a:rPr>
              <a:t>//command for getting distance -120 to 120 degree</a:t>
            </a:r>
          </a:p>
          <a:p>
            <a:pPr marL="114300" indent="0" algn="l">
              <a:buNone/>
            </a:pPr>
            <a:r>
              <a:rPr lang="en-US" sz="1800" dirty="0">
                <a:solidFill>
                  <a:srgbClr val="005032"/>
                </a:solidFill>
                <a:latin typeface="Consolas" panose="020B0609020204030204" pitchFamily="49" charset="0"/>
              </a:rPr>
              <a:t>uint16_t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G_len</a:t>
            </a:r>
            <a:r>
              <a:rPr lang="en-US" sz="1800" dirty="0">
                <a:solidFill>
                  <a:srgbClr val="000000"/>
                </a:solidFill>
                <a:latin typeface="Consolas" panose="020B0609020204030204" pitchFamily="49" charset="0"/>
              </a:rPr>
              <a:t> = 11;</a:t>
            </a:r>
            <a:endParaRPr lang="en-US" sz="1800" dirty="0">
              <a:solidFill>
                <a:srgbClr val="3F7F5F"/>
              </a:solidFill>
              <a:latin typeface="Consolas" panose="020B0609020204030204" pitchFamily="49" charset="0"/>
              <a:ea typeface="Arial"/>
              <a:cs typeface="Arial"/>
              <a:sym typeface="Arial"/>
            </a:endParaRPr>
          </a:p>
          <a:p>
            <a:pPr marL="114300" indent="0" algn="l">
              <a:buNone/>
            </a:pPr>
            <a:r>
              <a:rPr lang="en-US" sz="1800" dirty="0" err="1">
                <a:solidFill>
                  <a:srgbClr val="000000"/>
                </a:solidFill>
                <a:latin typeface="Consolas" panose="020B0609020204030204" pitchFamily="49" charset="0"/>
              </a:rPr>
              <a:t>serial_sendSCIC</a:t>
            </a:r>
            <a:r>
              <a:rPr lang="en-US" sz="1800" dirty="0">
                <a:solidFill>
                  <a:srgbClr val="000000"/>
                </a:solidFill>
                <a:latin typeface="Consolas" panose="020B0609020204030204" pitchFamily="49" charset="0"/>
              </a:rPr>
              <a:t>(&amp;</a:t>
            </a:r>
            <a:r>
              <a:rPr lang="en-US" sz="1800" dirty="0" err="1">
                <a:solidFill>
                  <a:srgbClr val="000000"/>
                </a:solidFill>
                <a:latin typeface="Consolas" panose="020B0609020204030204" pitchFamily="49" charset="0"/>
              </a:rPr>
              <a:t>SerialC</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G_command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G_len</a:t>
            </a:r>
            <a:r>
              <a:rPr lang="en-US" sz="1800" dirty="0">
                <a:solidFill>
                  <a:srgbClr val="000000"/>
                </a:solidFill>
                <a:latin typeface="Consolas" panose="020B0609020204030204" pitchFamily="49" charset="0"/>
              </a:rPr>
              <a:t>);</a:t>
            </a:r>
          </a:p>
          <a:p>
            <a:pPr marL="114300" indent="0" algn="l">
              <a:buNone/>
            </a:pPr>
            <a:endParaRPr lang="en-US" sz="1800" dirty="0">
              <a:solidFill>
                <a:srgbClr val="000000"/>
              </a:solidFill>
              <a:latin typeface="Consolas" panose="020B0609020204030204" pitchFamily="49" charset="0"/>
              <a:ea typeface="Arial"/>
              <a:cs typeface="Arial"/>
              <a:sym typeface="Arial"/>
            </a:endParaRPr>
          </a:p>
          <a:p>
            <a:pPr marL="114300" indent="0">
              <a:buNone/>
            </a:pPr>
            <a:r>
              <a:rPr lang="en-US" sz="1800" dirty="0">
                <a:latin typeface="Atkinson Hyperlegible Next"/>
                <a:ea typeface="Arial"/>
                <a:cs typeface="Arial"/>
                <a:sym typeface="Arial"/>
              </a:rPr>
              <a:t>What is the starting point?</a:t>
            </a:r>
          </a:p>
          <a:p>
            <a:pPr marL="114300" indent="0" algn="ctr">
              <a:buNone/>
            </a:pPr>
            <a:r>
              <a:rPr lang="en-US" sz="1800" dirty="0">
                <a:latin typeface="Atkinson Hyperlegible Next"/>
                <a:ea typeface="Arial"/>
                <a:cs typeface="Arial"/>
                <a:sym typeface="Arial"/>
              </a:rPr>
              <a:t>‘044’ = 44</a:t>
            </a:r>
            <a:r>
              <a:rPr lang="en-US" sz="1800" baseline="30000" dirty="0">
                <a:latin typeface="Atkinson Hyperlegible Next"/>
                <a:ea typeface="Arial"/>
                <a:cs typeface="Arial"/>
                <a:sym typeface="Arial"/>
              </a:rPr>
              <a:t>th</a:t>
            </a:r>
            <a:r>
              <a:rPr lang="en-US" sz="1800" dirty="0">
                <a:latin typeface="Atkinson Hyperlegible Next"/>
                <a:ea typeface="Arial"/>
                <a:cs typeface="Arial"/>
                <a:sym typeface="Arial"/>
              </a:rPr>
              <a:t> step</a:t>
            </a:r>
          </a:p>
          <a:p>
            <a:pPr marL="114300" indent="0">
              <a:buNone/>
            </a:pPr>
            <a:r>
              <a:rPr lang="en-US" sz="1800" dirty="0">
                <a:latin typeface="Atkinson Hyperlegible Next"/>
                <a:ea typeface="Arial"/>
                <a:cs typeface="Arial"/>
                <a:sym typeface="Arial"/>
              </a:rPr>
              <a:t>What is the ending point?</a:t>
            </a:r>
          </a:p>
          <a:p>
            <a:pPr marL="114300" indent="0" algn="ctr">
              <a:buNone/>
            </a:pPr>
            <a:r>
              <a:rPr lang="en-US" sz="1800" dirty="0">
                <a:latin typeface="Atkinson Hyperlegible Next"/>
                <a:ea typeface="Arial"/>
                <a:cs typeface="Arial"/>
                <a:sym typeface="Arial"/>
              </a:rPr>
              <a:t>‘725’ = 725</a:t>
            </a:r>
            <a:r>
              <a:rPr lang="en-US" sz="1800" baseline="30000" dirty="0">
                <a:latin typeface="Atkinson Hyperlegible Next"/>
                <a:ea typeface="Arial"/>
                <a:cs typeface="Arial"/>
                <a:sym typeface="Arial"/>
              </a:rPr>
              <a:t>th</a:t>
            </a:r>
            <a:r>
              <a:rPr lang="en-US" sz="1800" dirty="0">
                <a:latin typeface="Atkinson Hyperlegible Next"/>
                <a:ea typeface="Arial"/>
                <a:cs typeface="Arial"/>
                <a:sym typeface="Arial"/>
              </a:rPr>
              <a:t> step</a:t>
            </a:r>
          </a:p>
          <a:p>
            <a:pPr marL="114300" indent="0">
              <a:buNone/>
            </a:pPr>
            <a:r>
              <a:rPr lang="en-US" sz="1800" dirty="0">
                <a:latin typeface="Atkinson Hyperlegible Next"/>
                <a:ea typeface="Arial"/>
                <a:cs typeface="Arial"/>
                <a:sym typeface="Arial"/>
              </a:rPr>
              <a:t>What is the cluster count?</a:t>
            </a:r>
          </a:p>
          <a:p>
            <a:pPr marL="114300" indent="0" algn="ctr">
              <a:buNone/>
            </a:pPr>
            <a:r>
              <a:rPr lang="en-US" sz="1800" dirty="0">
                <a:latin typeface="Atkinson Hyperlegible Next"/>
                <a:ea typeface="Arial"/>
                <a:cs typeface="Arial"/>
                <a:sym typeface="Arial"/>
              </a:rPr>
              <a:t>‘03’ = group 3</a:t>
            </a:r>
          </a:p>
        </p:txBody>
      </p:sp>
      <p:sp>
        <p:nvSpPr>
          <p:cNvPr id="119" name="Google Shape;119;p29">
            <a:extLst>
              <a:ext uri="{FF2B5EF4-FFF2-40B4-BE49-F238E27FC236}">
                <a16:creationId xmlns:a16="http://schemas.microsoft.com/office/drawing/2014/main" id="{48BE62C4-BA28-8921-D77F-D0CE33BDEDA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55AF822-836E-18A0-C10E-E1513738A2A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(3/18)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3BF887C-0371-A623-770B-8B2927D10C4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2D390DD-6DE4-8AF3-0470-7FB2C2D4592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CDAEFB8-8B30-7D60-B61A-465DB529145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3686A0F-6995-B28E-A8FD-37615D7DF4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FE4DD92-4604-B901-CBCF-3ABB9D7A125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DCD986D-08C8-9F9E-5E2A-C375DB222AF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able: format of the G command sent from host to sensor. Fields in order: the character 'G' (hex 47), the starting point as 3 digits, the end point as 3 digits, and the cluster count as 2 digits, terminated by a line feed or carriage return.">
            <a:extLst>
              <a:ext uri="{FF2B5EF4-FFF2-40B4-BE49-F238E27FC236}">
                <a16:creationId xmlns:a16="http://schemas.microsoft.com/office/drawing/2014/main" id="{DF6ABBC9-8162-C324-89DA-8469C01AFE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44486" y="1352446"/>
            <a:ext cx="6703027" cy="839787"/>
          </a:xfrm>
          <a:prstGeom prst="rect">
            <a:avLst/>
          </a:prstGeom>
        </p:spPr>
      </p:pic>
      <p:grpSp>
        <p:nvGrpSpPr>
          <p:cNvPr id="9" name="Group 8">
            <a:extLst>
              <a:ext uri="{FF2B5EF4-FFF2-40B4-BE49-F238E27FC236}">
                <a16:creationId xmlns:a16="http://schemas.microsoft.com/office/drawing/2014/main" id="{AB2CA151-5F14-9B9C-7D1B-D86E884E9D6B}"/>
              </a:ext>
            </a:extLst>
          </p:cNvPr>
          <p:cNvGrpSpPr/>
          <p:nvPr/>
        </p:nvGrpSpPr>
        <p:grpSpPr>
          <a:xfrm>
            <a:off x="3187700" y="2330450"/>
            <a:ext cx="2273300" cy="1847850"/>
            <a:chOff x="3187700" y="2330450"/>
            <a:chExt cx="2273300" cy="1847850"/>
          </a:xfrm>
        </p:grpSpPr>
        <p:sp>
          <p:nvSpPr>
            <p:cNvPr id="2" name="Rectangle 1">
              <a:extLst>
                <a:ext uri="{FF2B5EF4-FFF2-40B4-BE49-F238E27FC236}">
                  <a16:creationId xmlns:a16="http://schemas.microsoft.com/office/drawing/2014/main" id="{A1659574-721C-276D-AF17-51F62C3C33B2}"/>
                </a:ext>
              </a:extLst>
            </p:cNvPr>
            <p:cNvSpPr/>
            <p:nvPr/>
          </p:nvSpPr>
          <p:spPr>
            <a:xfrm>
              <a:off x="3187700" y="2330450"/>
              <a:ext cx="438944" cy="2307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14A378F-0E5A-758A-52F9-C083E59BBE9C}"/>
                </a:ext>
              </a:extLst>
            </p:cNvPr>
            <p:cNvCxnSpPr>
              <a:cxnSpLocks/>
              <a:endCxn id="2" idx="2"/>
            </p:cNvCxnSpPr>
            <p:nvPr/>
          </p:nvCxnSpPr>
          <p:spPr>
            <a:xfrm flipH="1" flipV="1">
              <a:off x="3407172" y="2561233"/>
              <a:ext cx="2053828" cy="161706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7DB87D5F-2C76-9126-6668-DF5A3E637F0C}"/>
              </a:ext>
            </a:extLst>
          </p:cNvPr>
          <p:cNvGrpSpPr/>
          <p:nvPr/>
        </p:nvGrpSpPr>
        <p:grpSpPr>
          <a:xfrm>
            <a:off x="3558523" y="2321249"/>
            <a:ext cx="1788177" cy="2612701"/>
            <a:chOff x="3187700" y="2330450"/>
            <a:chExt cx="1788177" cy="2612701"/>
          </a:xfrm>
        </p:grpSpPr>
        <p:sp>
          <p:nvSpPr>
            <p:cNvPr id="17" name="Rectangle 16">
              <a:extLst>
                <a:ext uri="{FF2B5EF4-FFF2-40B4-BE49-F238E27FC236}">
                  <a16:creationId xmlns:a16="http://schemas.microsoft.com/office/drawing/2014/main" id="{47618416-15CB-C155-4F06-9C304B192984}"/>
                </a:ext>
              </a:extLst>
            </p:cNvPr>
            <p:cNvSpPr/>
            <p:nvPr/>
          </p:nvSpPr>
          <p:spPr>
            <a:xfrm>
              <a:off x="3187700" y="2330450"/>
              <a:ext cx="438944" cy="2307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3E55D02A-D199-9EA4-7829-9A0AC048299F}"/>
                </a:ext>
              </a:extLst>
            </p:cNvPr>
            <p:cNvCxnSpPr>
              <a:cxnSpLocks/>
              <a:endCxn id="17" idx="2"/>
            </p:cNvCxnSpPr>
            <p:nvPr/>
          </p:nvCxnSpPr>
          <p:spPr>
            <a:xfrm flipH="1" flipV="1">
              <a:off x="3407172" y="2561233"/>
              <a:ext cx="1568705" cy="238191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77300279-8F2A-698D-D354-E9232AD7BD81}"/>
              </a:ext>
            </a:extLst>
          </p:cNvPr>
          <p:cNvGrpSpPr/>
          <p:nvPr/>
        </p:nvGrpSpPr>
        <p:grpSpPr>
          <a:xfrm>
            <a:off x="3955255" y="2322340"/>
            <a:ext cx="1391445" cy="3348210"/>
            <a:chOff x="3320256" y="2330450"/>
            <a:chExt cx="1391445" cy="3348210"/>
          </a:xfrm>
        </p:grpSpPr>
        <p:sp>
          <p:nvSpPr>
            <p:cNvPr id="21" name="Rectangle 20">
              <a:extLst>
                <a:ext uri="{FF2B5EF4-FFF2-40B4-BE49-F238E27FC236}">
                  <a16:creationId xmlns:a16="http://schemas.microsoft.com/office/drawing/2014/main" id="{68C7A40B-BAD0-CAD3-DCC4-BDAFF2BA036E}"/>
                </a:ext>
              </a:extLst>
            </p:cNvPr>
            <p:cNvSpPr/>
            <p:nvPr/>
          </p:nvSpPr>
          <p:spPr>
            <a:xfrm>
              <a:off x="3320256" y="2330450"/>
              <a:ext cx="306387" cy="2307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D9280C13-725E-4BF9-9D12-919FEBB1AE59}"/>
                </a:ext>
              </a:extLst>
            </p:cNvPr>
            <p:cNvCxnSpPr>
              <a:cxnSpLocks/>
              <a:endCxn id="21" idx="2"/>
            </p:cNvCxnSpPr>
            <p:nvPr/>
          </p:nvCxnSpPr>
          <p:spPr>
            <a:xfrm flipH="1" flipV="1">
              <a:off x="3473450" y="2561233"/>
              <a:ext cx="1238251" cy="31174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25" name="Graphic 24" descr="Upward-pointing arrow, likely marking the LiDAR's forward direction, the center of its minus 120 to plus 120 degree scan; no other detail of the figure is visible.">
            <a:extLst>
              <a:ext uri="{FF2B5EF4-FFF2-40B4-BE49-F238E27FC236}">
                <a16:creationId xmlns:a16="http://schemas.microsoft.com/office/drawing/2014/main" id="{F479F71F-6634-1BB5-519F-67394CB2FD1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71460" y="3143121"/>
            <a:ext cx="3957357" cy="2418385"/>
          </a:xfrm>
          <a:prstGeom prst="rect">
            <a:avLst/>
          </a:prstGeom>
        </p:spPr>
      </p:pic>
    </p:spTree>
    <p:extLst>
      <p:ext uri="{BB962C8B-B14F-4D97-AF65-F5344CB8AC3E}">
        <p14:creationId xmlns:p14="http://schemas.microsoft.com/office/powerpoint/2010/main" val="27200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8">
                                            <p:txEl>
                                              <p:pRg st="9" end="9"/>
                                            </p:txEl>
                                          </p:spTgt>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8">
                                            <p:txEl>
                                              <p:pRg st="11" end="11"/>
                                            </p:txEl>
                                          </p:spTgt>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1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7F40B2B-20BA-CB0B-2BCB-C995A916D6D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45303B9-7008-D933-D546-6B123CD0103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endParaRPr lang="en-US" sz="1800" dirty="0">
                  <a:latin typeface="Atkinson Hyperlegible Next"/>
                  <a:ea typeface="Arial"/>
                  <a:cs typeface="Arial"/>
                  <a:sym typeface="Arial"/>
                </a:endParaRP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114300" indent="0" algn="l">
                  <a:buNone/>
                </a:pPr>
                <a:r>
                  <a:rPr lang="en-US" sz="1800" dirty="0">
                    <a:solidFill>
                      <a:srgbClr val="7F0055"/>
                    </a:solidFill>
                    <a:latin typeface="Consolas" panose="020B0609020204030204" pitchFamily="49" charset="0"/>
                  </a:rPr>
                  <a:t>char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G_command</a:t>
                </a:r>
                <a:r>
                  <a:rPr lang="en-US" sz="1800" dirty="0">
                    <a:solidFill>
                      <a:srgbClr val="000000"/>
                    </a:solidFill>
                    <a:latin typeface="Consolas" panose="020B0609020204030204" pitchFamily="49" charset="0"/>
                  </a:rPr>
                  <a:t>[] = </a:t>
                </a:r>
                <a:r>
                  <a:rPr lang="en-US" sz="1800" dirty="0">
                    <a:solidFill>
                      <a:srgbClr val="2A00FF"/>
                    </a:solidFill>
                    <a:latin typeface="Consolas" panose="020B0609020204030204" pitchFamily="49" charset="0"/>
                  </a:rPr>
                  <a:t>"G04472503\n"</a:t>
                </a:r>
                <a:r>
                  <a:rPr lang="en-US" sz="1800" dirty="0">
                    <a:solidFill>
                      <a:srgbClr val="000000"/>
                    </a:solidFill>
                    <a:latin typeface="Consolas" panose="020B0609020204030204" pitchFamily="49" charset="0"/>
                  </a:rPr>
                  <a:t>; </a:t>
                </a:r>
                <a:r>
                  <a:rPr lang="en-US" sz="1800" dirty="0">
                    <a:solidFill>
                      <a:srgbClr val="3F7F5F"/>
                    </a:solidFill>
                    <a:latin typeface="Consolas" panose="020B0609020204030204" pitchFamily="49" charset="0"/>
                  </a:rPr>
                  <a:t>//command for getting distance -120 to 120 degree</a:t>
                </a:r>
              </a:p>
              <a:p>
                <a:pPr marL="114300" indent="0" algn="l">
                  <a:buNone/>
                </a:pPr>
                <a:r>
                  <a:rPr lang="en-US" sz="1800" dirty="0">
                    <a:solidFill>
                      <a:srgbClr val="005032"/>
                    </a:solidFill>
                    <a:latin typeface="Consolas" panose="020B0609020204030204" pitchFamily="49" charset="0"/>
                  </a:rPr>
                  <a:t>uint16_t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G_len</a:t>
                </a:r>
                <a:r>
                  <a:rPr lang="en-US" sz="1800" dirty="0">
                    <a:solidFill>
                      <a:srgbClr val="000000"/>
                    </a:solidFill>
                    <a:latin typeface="Consolas" panose="020B0609020204030204" pitchFamily="49" charset="0"/>
                  </a:rPr>
                  <a:t> = 11;</a:t>
                </a:r>
                <a:endParaRPr lang="en-US" sz="1800" dirty="0">
                  <a:solidFill>
                    <a:srgbClr val="3F7F5F"/>
                  </a:solidFill>
                  <a:latin typeface="Consolas" panose="020B0609020204030204" pitchFamily="49" charset="0"/>
                  <a:ea typeface="Arial"/>
                  <a:cs typeface="Arial"/>
                  <a:sym typeface="Arial"/>
                </a:endParaRPr>
              </a:p>
              <a:p>
                <a:pPr marL="114300" indent="0" algn="l">
                  <a:buNone/>
                </a:pPr>
                <a:r>
                  <a:rPr lang="en-US" sz="1800" dirty="0" err="1">
                    <a:solidFill>
                      <a:srgbClr val="000000"/>
                    </a:solidFill>
                    <a:latin typeface="Consolas" panose="020B0609020204030204" pitchFamily="49" charset="0"/>
                  </a:rPr>
                  <a:t>serial_sendSCIC</a:t>
                </a:r>
                <a:r>
                  <a:rPr lang="en-US" sz="1800" dirty="0">
                    <a:solidFill>
                      <a:srgbClr val="000000"/>
                    </a:solidFill>
                    <a:latin typeface="Consolas" panose="020B0609020204030204" pitchFamily="49" charset="0"/>
                  </a:rPr>
                  <a:t>(&amp;</a:t>
                </a:r>
                <a:r>
                  <a:rPr lang="en-US" sz="1800" dirty="0" err="1">
                    <a:solidFill>
                      <a:srgbClr val="000000"/>
                    </a:solidFill>
                    <a:latin typeface="Consolas" panose="020B0609020204030204" pitchFamily="49" charset="0"/>
                  </a:rPr>
                  <a:t>SerialC</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G_command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G_len</a:t>
                </a:r>
                <a:r>
                  <a:rPr lang="en-US" sz="1800" dirty="0">
                    <a:solidFill>
                      <a:srgbClr val="000000"/>
                    </a:solidFill>
                    <a:latin typeface="Consolas" panose="020B0609020204030204" pitchFamily="49" charset="0"/>
                  </a:rPr>
                  <a:t>);</a:t>
                </a:r>
              </a:p>
              <a:p>
                <a:pPr marL="114300" indent="0" algn="l">
                  <a:buNone/>
                </a:pPr>
                <a:endParaRPr lang="en-US" sz="1800" dirty="0">
                  <a:solidFill>
                    <a:srgbClr val="000000"/>
                  </a:solidFill>
                  <a:latin typeface="Consolas" panose="020B0609020204030204" pitchFamily="49" charset="0"/>
                  <a:ea typeface="Arial"/>
                  <a:cs typeface="Arial"/>
                  <a:sym typeface="Arial"/>
                </a:endParaRPr>
              </a:p>
              <a:p>
                <a:pPr marL="114300" indent="0">
                  <a:buNone/>
                </a:pPr>
                <a:r>
                  <a:rPr lang="en-US" sz="1800" dirty="0">
                    <a:latin typeface="Atkinson Hyperlegible Next"/>
                    <a:ea typeface="Arial"/>
                    <a:cs typeface="Arial"/>
                    <a:sym typeface="Arial"/>
                  </a:rPr>
                  <a:t>How many datapoints are we expecting then based on the command?</a:t>
                </a:r>
              </a:p>
              <a:p>
                <a:pPr marL="114300" indent="0">
                  <a:buNone/>
                </a:pPr>
                <a:endParaRPr lang="en-US" sz="1800" dirty="0">
                  <a:latin typeface="Atkinson Hyperlegible Next"/>
                  <a:ea typeface="Arial"/>
                  <a:cs typeface="Arial"/>
                  <a:sym typeface="Arial"/>
                </a:endParaRPr>
              </a:p>
              <a:p>
                <a:pPr marL="114300" indent="0">
                  <a:buNone/>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cs typeface="Arial"/>
                              <a:sym typeface="Arial"/>
                            </a:rPr>
                          </m:ctrlPr>
                        </m:fPr>
                        <m:num>
                          <m:r>
                            <m:rPr>
                              <m:sty m:val="p"/>
                            </m:rPr>
                            <a:rPr lang="en-US" sz="1800" i="1">
                              <a:latin typeface="Cambria Math" panose="02040503050406030204" pitchFamily="18" charset="0"/>
                              <a:ea typeface="Arial"/>
                              <a:cs typeface="Arial"/>
                              <a:sym typeface="Arial"/>
                            </a:rPr>
                            <m:t>End</m:t>
                          </m:r>
                          <m:r>
                            <a:rPr lang="en-US" sz="1800" i="1">
                              <a:latin typeface="Cambria Math" panose="02040503050406030204" pitchFamily="18" charset="0"/>
                              <a:ea typeface="Arial"/>
                              <a:cs typeface="Arial"/>
                              <a:sym typeface="Arial"/>
                            </a:rPr>
                            <m:t> </m:t>
                          </m:r>
                          <m:r>
                            <m:rPr>
                              <m:sty m:val="p"/>
                            </m:rPr>
                            <a:rPr lang="en-US" sz="1800" i="1">
                              <a:latin typeface="Cambria Math" panose="02040503050406030204" pitchFamily="18" charset="0"/>
                              <a:ea typeface="Arial"/>
                              <a:cs typeface="Arial"/>
                              <a:sym typeface="Arial"/>
                            </a:rPr>
                            <m:t>step</m:t>
                          </m:r>
                          <m:r>
                            <a:rPr lang="en-US" sz="1800" i="1">
                              <a:latin typeface="Cambria Math" panose="02040503050406030204" pitchFamily="18" charset="0"/>
                              <a:ea typeface="Arial"/>
                              <a:cs typeface="Arial"/>
                              <a:sym typeface="Arial"/>
                            </a:rPr>
                            <m:t> − </m:t>
                          </m:r>
                          <m:r>
                            <m:rPr>
                              <m:sty m:val="p"/>
                            </m:rPr>
                            <a:rPr lang="en-US" sz="1800" i="1">
                              <a:latin typeface="Cambria Math" panose="02040503050406030204" pitchFamily="18" charset="0"/>
                              <a:ea typeface="Arial"/>
                              <a:cs typeface="Arial"/>
                              <a:sym typeface="Arial"/>
                            </a:rPr>
                            <m:t>start</m:t>
                          </m:r>
                          <m:r>
                            <a:rPr lang="en-US" sz="1800" i="1">
                              <a:latin typeface="Cambria Math" panose="02040503050406030204" pitchFamily="18" charset="0"/>
                              <a:ea typeface="Arial"/>
                              <a:cs typeface="Arial"/>
                              <a:sym typeface="Arial"/>
                            </a:rPr>
                            <m:t> </m:t>
                          </m:r>
                          <m:r>
                            <m:rPr>
                              <m:sty m:val="p"/>
                            </m:rPr>
                            <a:rPr lang="en-US" sz="1800" i="1">
                              <a:latin typeface="Cambria Math" panose="02040503050406030204" pitchFamily="18" charset="0"/>
                              <a:ea typeface="Arial"/>
                              <a:cs typeface="Arial"/>
                              <a:sym typeface="Arial"/>
                            </a:rPr>
                            <m:t>step</m:t>
                          </m:r>
                        </m:num>
                        <m:den>
                          <m:r>
                            <m:rPr>
                              <m:sty m:val="p"/>
                            </m:rPr>
                            <a:rPr lang="en-US" sz="1800" b="0" i="1" smtClean="0">
                              <a:latin typeface="Cambria Math" panose="02040503050406030204" pitchFamily="18" charset="0"/>
                              <a:cs typeface="Arial"/>
                              <a:sym typeface="Arial"/>
                            </a:rPr>
                            <m:t>Cluster</m:t>
                          </m:r>
                          <m:r>
                            <a:rPr lang="en-US" sz="1800" b="0" i="1" smtClean="0">
                              <a:latin typeface="Cambria Math" panose="02040503050406030204" pitchFamily="18" charset="0"/>
                              <a:cs typeface="Arial"/>
                              <a:sym typeface="Arial"/>
                            </a:rPr>
                            <m:t> </m:t>
                          </m:r>
                          <m:r>
                            <m:rPr>
                              <m:sty m:val="p"/>
                            </m:rPr>
                            <a:rPr lang="en-US" sz="1800" b="0" i="1" smtClean="0">
                              <a:latin typeface="Cambria Math" panose="02040503050406030204" pitchFamily="18" charset="0"/>
                              <a:cs typeface="Arial"/>
                              <a:sym typeface="Arial"/>
                            </a:rPr>
                            <m:t>count</m:t>
                          </m:r>
                        </m:den>
                      </m:f>
                      <m:r>
                        <a:rPr lang="en-US" sz="1800" b="0" i="1" smtClean="0">
                          <a:latin typeface="Cambria Math" panose="02040503050406030204" pitchFamily="18" charset="0"/>
                          <a:cs typeface="Arial"/>
                          <a:sym typeface="Arial"/>
                        </a:rPr>
                        <m:t> + 1</m:t>
                      </m:r>
                    </m:oMath>
                  </m:oMathPara>
                </a14:m>
                <a:endParaRPr lang="en-US" sz="1800" dirty="0">
                  <a:latin typeface="Atkinson Hyperlegible Next"/>
                  <a:ea typeface="Arial"/>
                  <a:cs typeface="Arial"/>
                  <a:sym typeface="Arial"/>
                </a:endParaRPr>
              </a:p>
              <a:p>
                <a:pPr marL="114300" indent="0">
                  <a:buNone/>
                </a:pPr>
                <a:endParaRPr lang="en-US" sz="1800" dirty="0">
                  <a:latin typeface="Atkinson Hyperlegible Next"/>
                  <a:ea typeface="Arial"/>
                  <a:cs typeface="Arial"/>
                  <a:sym typeface="Arial"/>
                </a:endParaRPr>
              </a:p>
              <a:p>
                <a:pPr marL="114300" indent="0">
                  <a:buNone/>
                </a:pPr>
                <a14:m>
                  <m:oMathPara xmlns:m="http://schemas.openxmlformats.org/officeDocument/2006/math">
                    <m:oMathParaPr>
                      <m:jc m:val="centerGroup"/>
                    </m:oMathParaPr>
                    <m:oMath xmlns:m="http://schemas.openxmlformats.org/officeDocument/2006/math">
                      <m:f>
                        <m:fPr>
                          <m:ctrlPr>
                            <a:rPr lang="en-US" sz="1800" i="1">
                              <a:latin typeface="Cambria Math" panose="02040503050406030204" pitchFamily="18" charset="0"/>
                              <a:cs typeface="Arial"/>
                              <a:sym typeface="Arial"/>
                            </a:rPr>
                          </m:ctrlPr>
                        </m:fPr>
                        <m:num>
                          <m:r>
                            <a:rPr lang="en-US" sz="1800" i="1">
                              <a:latin typeface="Cambria Math" panose="02040503050406030204" pitchFamily="18" charset="0"/>
                              <a:cs typeface="Arial"/>
                              <a:sym typeface="Arial"/>
                            </a:rPr>
                            <m:t>725 − 44</m:t>
                          </m:r>
                        </m:num>
                        <m:den>
                          <m:r>
                            <a:rPr lang="en-US" sz="1800" i="1">
                              <a:latin typeface="Cambria Math" panose="02040503050406030204" pitchFamily="18" charset="0"/>
                              <a:cs typeface="Arial"/>
                              <a:sym typeface="Arial"/>
                            </a:rPr>
                            <m:t>3</m:t>
                          </m:r>
                        </m:den>
                      </m:f>
                      <m:r>
                        <a:rPr lang="en-US" sz="1800" i="1">
                          <a:latin typeface="Cambria Math" panose="02040503050406030204" pitchFamily="18" charset="0"/>
                          <a:cs typeface="Arial"/>
                          <a:sym typeface="Arial"/>
                        </a:rPr>
                        <m:t> +1=</m:t>
                      </m:r>
                      <m:r>
                        <a:rPr lang="en-US" sz="1800" b="0" i="1" smtClean="0">
                          <a:latin typeface="Cambria Math" panose="02040503050406030204" pitchFamily="18" charset="0"/>
                          <a:cs typeface="Arial"/>
                          <a:sym typeface="Arial"/>
                        </a:rPr>
                        <m:t>228</m:t>
                      </m:r>
                    </m:oMath>
                  </m:oMathPara>
                </a14:m>
                <a:endParaRPr lang="en-US" sz="18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045303B9-7008-D933-D546-6B123CD0103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F253781-FFC7-031F-3450-E0378EE718D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49D2341-DD34-E32B-C427-9D36DF9850E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(4/18)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DC11889-17EF-91AF-D1FB-0CE7C1007D0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1E8A107-7AB2-8EB7-ADBE-C8D7CA62E38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A68CFAC-9CD9-A594-E11C-48F8FAE0A34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328042E-9B1F-9E4F-399A-B32B70A0A59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55822DF-3B78-5A36-5739-DAFDFB7FDC1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728C47E-630E-6620-0AF0-D0B603B50B7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able: format of the G command sent from host to sensor. Fields in order: the character 'G' (hex 47), the starting point as 3 digits, the end point as 3 digits, and the cluster count as 2 digits, terminated by a line feed or carriage return.">
            <a:extLst>
              <a:ext uri="{FF2B5EF4-FFF2-40B4-BE49-F238E27FC236}">
                <a16:creationId xmlns:a16="http://schemas.microsoft.com/office/drawing/2014/main" id="{77A5E155-8E76-E0A9-D357-6759E148F1F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44486" y="1352446"/>
            <a:ext cx="6703027" cy="839787"/>
          </a:xfrm>
          <a:prstGeom prst="rect">
            <a:avLst/>
          </a:prstGeom>
        </p:spPr>
      </p:pic>
      <p:pic>
        <p:nvPicPr>
          <p:cNvPr id="4" name="Graphic 3" descr="Upward-pointing arrow, likely marking the LiDAR's forward direction, the center of its minus 120 to plus 120 degree scan; no other detail of the figure is visible.">
            <a:extLst>
              <a:ext uri="{FF2B5EF4-FFF2-40B4-BE49-F238E27FC236}">
                <a16:creationId xmlns:a16="http://schemas.microsoft.com/office/drawing/2014/main" id="{A6D11F94-4902-1D2F-2530-E6A7ACD8875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71460" y="3143121"/>
            <a:ext cx="3957357" cy="2418385"/>
          </a:xfrm>
          <a:prstGeom prst="rect">
            <a:avLst/>
          </a:prstGeom>
        </p:spPr>
      </p:pic>
    </p:spTree>
    <p:extLst>
      <p:ext uri="{BB962C8B-B14F-4D97-AF65-F5344CB8AC3E}">
        <p14:creationId xmlns:p14="http://schemas.microsoft.com/office/powerpoint/2010/main" val="43437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831F7EB-B323-6892-3BD6-68DE9DAD2BF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2A258A6-8567-E0F6-8337-CFA2EACBF4B0}"/>
              </a:ext>
            </a:extLst>
          </p:cNvPr>
          <p:cNvSpPr txBox="1">
            <a:spLocks noGrp="1"/>
          </p:cNvSpPr>
          <p:nvPr>
            <p:ph type="body" idx="1"/>
          </p:nvPr>
        </p:nvSpPr>
        <p:spPr>
          <a:xfrm>
            <a:off x="376809" y="1334279"/>
            <a:ext cx="11177401" cy="731057"/>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800" dirty="0">
                <a:latin typeface="Atkinson Hyperlegible Next"/>
                <a:ea typeface="Arial"/>
                <a:cs typeface="Arial"/>
                <a:sym typeface="Arial"/>
              </a:rPr>
              <a:t>Sensor measures the distance in the range 20 mm to 4095 mm. If the distance is less than 20 mm, we can encode an error into the distance measurement.</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 </a:t>
            </a:r>
          </a:p>
        </p:txBody>
      </p:sp>
      <p:sp>
        <p:nvSpPr>
          <p:cNvPr id="119" name="Google Shape;119;p29">
            <a:extLst>
              <a:ext uri="{FF2B5EF4-FFF2-40B4-BE49-F238E27FC236}">
                <a16:creationId xmlns:a16="http://schemas.microsoft.com/office/drawing/2014/main" id="{84B31BC7-2894-264B-64E9-775B255F799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614DBBB-B3F8-F1D8-EC96-71DB33014C8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(5/18)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82F999B-EFB6-9669-C5FF-568A0CB5F4B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22D7D31-7036-C205-8689-316AC75639F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58DCBF6-3727-74E8-CD45-FC223AAE92E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BC355FF-48E5-3CA9-4BBF-741053DD923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30F7DDB-707A-EB18-82E9-45F91E0271A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8E3F571-BBCA-99A9-476F-E272316C59F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able of LiDAR error codes, values 0 to 19, reported in place of a distance below 20 mm. Code 0: object possibly at 22 m. Codes 1 to 5: reflected light has low intensity. Code 6: object possibly at 5.7 m. Code 7: distance data on the preceding and succeeding steps have errors. Code 9: same step had an error in the last two scans. Code 16: object possibly in the range 4096 mm. Code 18: unspecified. Code 19: non-measurable distance. Codes 8, 10 to 15, and 17: others.">
            <a:extLst>
              <a:ext uri="{FF2B5EF4-FFF2-40B4-BE49-F238E27FC236}">
                <a16:creationId xmlns:a16="http://schemas.microsoft.com/office/drawing/2014/main" id="{4CBEC6BF-EC18-1A02-C5F8-07B8B2AD0B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4274" y="2097714"/>
            <a:ext cx="5237917" cy="4311101"/>
          </a:xfrm>
          <a:prstGeom prst="rect">
            <a:avLst/>
          </a:prstGeom>
        </p:spPr>
      </p:pic>
    </p:spTree>
    <p:extLst>
      <p:ext uri="{BB962C8B-B14F-4D97-AF65-F5344CB8AC3E}">
        <p14:creationId xmlns:p14="http://schemas.microsoft.com/office/powerpoint/2010/main" val="2157633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556F99B-FCAC-9F96-6A5F-8D9F31E6F45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626FD08-7C07-0A93-323B-86C6BDD2B68D}"/>
              </a:ext>
            </a:extLst>
          </p:cNvPr>
          <p:cNvSpPr txBox="1">
            <a:spLocks noGrp="1"/>
          </p:cNvSpPr>
          <p:nvPr>
            <p:ph type="body" idx="1"/>
          </p:nvPr>
        </p:nvSpPr>
        <p:spPr>
          <a:xfrm>
            <a:off x="376809" y="1334279"/>
            <a:ext cx="643168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800" dirty="0">
                <a:latin typeface="Atkinson Hyperlegible Next"/>
                <a:ea typeface="Arial"/>
                <a:cs typeface="Arial"/>
                <a:sym typeface="Arial"/>
              </a:rPr>
              <a:t>We implement the reading of the data as a state machine,</a:t>
            </a:r>
          </a:p>
          <a:p>
            <a:pPr marL="0" indent="0">
              <a:lnSpc>
                <a:spcPct val="100000"/>
              </a:lnSpc>
              <a:spcBef>
                <a:spcPts val="0"/>
              </a:spcBef>
              <a:buSzPts val="3000"/>
              <a:buNone/>
            </a:pPr>
            <a:endParaRPr lang="en-US" sz="18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3AEDAD0B-CFB5-AEDB-18D5-C02FB6EF1E8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D674C38-AC3E-1C3D-5585-0985B70705E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(6/18)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CF9BEAD-E30A-A3F0-CEBF-7375165ACDE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A05DB1C-4DC4-8AE0-2185-DDC66159AD8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572BBFB-F094-27B1-75A4-4FB5406CA52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A01EE3C-593C-F0E9-C754-30DFF273085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628B07F-4B4D-E449-F1CB-10A28D23309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2517AFD-59DB-34C6-C881-CFE41FB749F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9" name="Graphic 8" descr="Table: sensor-to-host reply format for the LiDAR 'G' distance command. The first line is 'G' (hex 47), a 3-digit starting point, 3-digit end point, 2-digit cluster count, then line feed (LF). Next comes a Status line ending in LF. Data blocks 1 through N minus 1 follow, each 64 bytes ending in LF. The final data block N has n bytes and ends with two LFs, which marks the end of the message.">
            <a:extLst>
              <a:ext uri="{FF2B5EF4-FFF2-40B4-BE49-F238E27FC236}">
                <a16:creationId xmlns:a16="http://schemas.microsoft.com/office/drawing/2014/main" id="{ADD02CC6-039D-F520-F02E-F9DF710273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6807" y="2975969"/>
            <a:ext cx="6228395" cy="1666369"/>
          </a:xfrm>
          <a:prstGeom prst="rect">
            <a:avLst/>
          </a:prstGeom>
        </p:spPr>
      </p:pic>
      <p:pic>
        <p:nvPicPr>
          <p:cNvPr id="10" name="Graphic 9" descr="State diagram of the LiDAR receive interrupt. State 0 waits for the character 'G', then moves to State 1, which counts header bytes, loops while the count is under 11, and returns to State 0 if the 11th byte isn't '0'. After 12 header bytes, distance bytes alternate between two states. High byte: temp equals RXC minus 0x30, shifted left 6. Low byte: dist equals temp plus RXC minus 0x30. A dist of 0 or 6 becomes MAX, 16 becomes 4096, and the result is stored in the ping/pong array. Each linefeed increments a counter. The second linefeed ends the stream, triggers SWI2, toggles the ping/pong flag, and returns to State 0.">
            <a:extLst>
              <a:ext uri="{FF2B5EF4-FFF2-40B4-BE49-F238E27FC236}">
                <a16:creationId xmlns:a16="http://schemas.microsoft.com/office/drawing/2014/main" id="{C04602B4-FB65-879D-0271-533181C290B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7113660" y="1407029"/>
            <a:ext cx="5001607" cy="4675602"/>
          </a:xfrm>
          <a:prstGeom prst="rect">
            <a:avLst/>
          </a:prstGeom>
        </p:spPr>
      </p:pic>
    </p:spTree>
    <p:extLst>
      <p:ext uri="{BB962C8B-B14F-4D97-AF65-F5344CB8AC3E}">
        <p14:creationId xmlns:p14="http://schemas.microsoft.com/office/powerpoint/2010/main" val="12959368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5FFCF05-659B-E96B-7478-38BB5693AB4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21F47EE-822A-CED1-878C-9521E248347C}"/>
              </a:ext>
            </a:extLst>
          </p:cNvPr>
          <p:cNvSpPr txBox="1">
            <a:spLocks noGrp="1"/>
          </p:cNvSpPr>
          <p:nvPr>
            <p:ph type="body" idx="1"/>
          </p:nvPr>
        </p:nvSpPr>
        <p:spPr>
          <a:xfrm>
            <a:off x="376810" y="1334279"/>
            <a:ext cx="6204552"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dirty="0">
                <a:solidFill>
                  <a:srgbClr val="7F0055"/>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read_ladar_state</a:t>
            </a:r>
            <a:r>
              <a:rPr lang="en-US" sz="1800" dirty="0">
                <a:solidFill>
                  <a:srgbClr val="000000"/>
                </a:solidFill>
                <a:latin typeface="Consolas" panose="020B0609020204030204" pitchFamily="49" charset="0"/>
              </a:rPr>
              <a:t> == 0) {</a:t>
            </a:r>
            <a:r>
              <a:rPr lang="en-US" sz="1800" dirty="0">
                <a:solidFill>
                  <a:srgbClr val="3F7F5F"/>
                </a:solidFill>
                <a:latin typeface="Consolas" panose="020B0609020204030204" pitchFamily="49" charset="0"/>
              </a:rPr>
              <a:t>//wait for the starting char 'G'</a:t>
            </a:r>
          </a:p>
          <a:p>
            <a:pPr marL="114300" indent="0" algn="l">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buf_index</a:t>
            </a:r>
            <a:r>
              <a:rPr lang="en-US" sz="1800" dirty="0">
                <a:solidFill>
                  <a:srgbClr val="000000"/>
                </a:solidFill>
                <a:latin typeface="Consolas" panose="020B0609020204030204" pitchFamily="49" charset="0"/>
              </a:rPr>
              <a:t> = 0;</a:t>
            </a:r>
          </a:p>
          <a:p>
            <a:pPr marL="114300" indent="0" algn="l">
              <a:buNone/>
            </a:pPr>
            <a:r>
              <a:rPr lang="en-US" sz="1800" dirty="0">
                <a:solidFill>
                  <a:srgbClr val="000000"/>
                </a:solidFill>
                <a:latin typeface="Consolas" panose="020B0609020204030204" pitchFamily="49" charset="0"/>
              </a:rPr>
              <a:t>    </a:t>
            </a:r>
            <a:r>
              <a:rPr lang="en-US" sz="1800" dirty="0">
                <a:solidFill>
                  <a:srgbClr val="7F0055"/>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RXCdata</a:t>
            </a:r>
            <a:r>
              <a:rPr lang="en-US" sz="1800" dirty="0">
                <a:solidFill>
                  <a:srgbClr val="000000"/>
                </a:solidFill>
                <a:latin typeface="Consolas" panose="020B0609020204030204" pitchFamily="49" charset="0"/>
              </a:rPr>
              <a:t> ==</a:t>
            </a:r>
            <a:r>
              <a:rPr lang="en-US" sz="1800" dirty="0">
                <a:solidFill>
                  <a:srgbClr val="2A00FF"/>
                </a:solidFill>
                <a:latin typeface="Consolas" panose="020B0609020204030204" pitchFamily="49" charset="0"/>
              </a:rPr>
              <a:t>'G'</a:t>
            </a:r>
            <a:r>
              <a:rPr lang="en-US" sz="1800" dirty="0">
                <a:solidFill>
                  <a:srgbClr val="000000"/>
                </a:solidFill>
                <a:latin typeface="Consolas" panose="020B0609020204030204" pitchFamily="49" charset="0"/>
              </a:rPr>
              <a:t>) {</a:t>
            </a:r>
          </a:p>
          <a:p>
            <a:pPr marL="114300" indent="0" algn="l">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read_ladar_state</a:t>
            </a:r>
            <a:r>
              <a:rPr lang="en-US" sz="1800" dirty="0">
                <a:solidFill>
                  <a:srgbClr val="000000"/>
                </a:solidFill>
                <a:latin typeface="Consolas" panose="020B0609020204030204" pitchFamily="49" charset="0"/>
              </a:rPr>
              <a:t> = 1;</a:t>
            </a:r>
          </a:p>
          <a:p>
            <a:pPr marL="114300" indent="0" algn="l">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G_count</a:t>
            </a:r>
            <a:r>
              <a:rPr lang="en-US" sz="1800" dirty="0">
                <a:solidFill>
                  <a:srgbClr val="000000"/>
                </a:solidFill>
                <a:latin typeface="Consolas" panose="020B0609020204030204" pitchFamily="49" charset="0"/>
              </a:rPr>
              <a:t> = 1;</a:t>
            </a:r>
          </a:p>
          <a:p>
            <a:pPr marL="114300" indent="0" algn="l">
              <a:buNone/>
            </a:pPr>
            <a:r>
              <a:rPr lang="en-US" sz="1800" dirty="0">
                <a:solidFill>
                  <a:srgbClr val="000000"/>
                </a:solidFill>
                <a:latin typeface="Consolas" panose="020B0609020204030204" pitchFamily="49" charset="0"/>
              </a:rPr>
              <a:t>    }</a:t>
            </a:r>
          </a:p>
          <a:p>
            <a:pPr marL="114300" indent="0" algn="l">
              <a:buNone/>
            </a:pPr>
            <a:r>
              <a:rPr lang="en-US" sz="1800" dirty="0">
                <a:solidFill>
                  <a:srgbClr val="000000"/>
                </a:solidFill>
                <a:latin typeface="Consolas" panose="020B0609020204030204" pitchFamily="49" charset="0"/>
              </a:rPr>
              <a:t>}</a:t>
            </a:r>
            <a:endParaRPr lang="en-US" sz="18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41C3982-F797-0EC2-ECB5-5ADC9C86F1B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1CE5B31-96F1-AD0F-2776-878BB55CF64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(7/18)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4809C2F-7421-2771-E573-F60D6B55E62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2906471-ED52-E8DF-7D2E-2A9AEF4BC61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95B5A08-A4AC-1844-B572-0AADE2F0714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D2EA00E-1447-0787-2170-DA56763A6CD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BB45F16-EB84-939F-5552-804A830BF2C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BEBD5E4-45FC-CCE0-C7A5-23A960C8A86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State diagram of the LiDAR receive interrupt. State 0 waits for the character 'G', then moves to State 1, which counts header bytes, loops while the count is under 11, and returns to State 0 if the 11th byte isn't '0'. After 12 header bytes, distance bytes alternate between two states. High byte: temp equals RXC minus 0x30, shifted left 6. Low byte: dist equals temp plus RXC minus 0x30. A dist of 0 or 6 becomes MAX, 16 becomes 4096, and the result is stored in the ping/pong array. Each linefeed increments a counter. The second linefeed ends the stream, triggers SWI2, toggles the ping/pong flag, and returns to State 0.">
            <a:extLst>
              <a:ext uri="{FF2B5EF4-FFF2-40B4-BE49-F238E27FC236}">
                <a16:creationId xmlns:a16="http://schemas.microsoft.com/office/drawing/2014/main" id="{6ECD23FF-F85B-E3AE-06E9-78DBEF2C530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113660" y="1407029"/>
            <a:ext cx="5001607" cy="4675602"/>
          </a:xfrm>
          <a:prstGeom prst="rect">
            <a:avLst/>
          </a:prstGeom>
        </p:spPr>
      </p:pic>
      <p:cxnSp>
        <p:nvCxnSpPr>
          <p:cNvPr id="3" name="Straight Arrow Connector 2">
            <a:extLst>
              <a:ext uri="{FF2B5EF4-FFF2-40B4-BE49-F238E27FC236}">
                <a16:creationId xmlns:a16="http://schemas.microsoft.com/office/drawing/2014/main" id="{5F8A4141-D281-1697-A51F-8D7D5957EB47}"/>
              </a:ext>
            </a:extLst>
          </p:cNvPr>
          <p:cNvCxnSpPr>
            <a:cxnSpLocks/>
          </p:cNvCxnSpPr>
          <p:nvPr/>
        </p:nvCxnSpPr>
        <p:spPr>
          <a:xfrm>
            <a:off x="4335407" y="2589734"/>
            <a:ext cx="277825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4938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97DF4E1-4822-0CD3-E2F3-54B6DC559A8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B3C2BBA-C35E-4AA0-CA83-217D4885D97C}"/>
              </a:ext>
            </a:extLst>
          </p:cNvPr>
          <p:cNvSpPr txBox="1">
            <a:spLocks noGrp="1"/>
          </p:cNvSpPr>
          <p:nvPr>
            <p:ph type="body" idx="1"/>
          </p:nvPr>
        </p:nvSpPr>
        <p:spPr>
          <a:xfrm>
            <a:off x="376810" y="1334279"/>
            <a:ext cx="6204552"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300" dirty="0">
                <a:solidFill>
                  <a:srgbClr val="7F0055"/>
                </a:solidFill>
                <a:latin typeface="Consolas" panose="020B0609020204030204" pitchFamily="49" charset="0"/>
              </a:rPr>
              <a:t>else</a:t>
            </a:r>
            <a:r>
              <a:rPr lang="en-US" sz="1300" dirty="0">
                <a:solidFill>
                  <a:srgbClr val="000000"/>
                </a:solidFill>
                <a:latin typeface="Consolas" panose="020B0609020204030204" pitchFamily="49" charset="0"/>
              </a:rPr>
              <a:t> </a:t>
            </a:r>
            <a:r>
              <a:rPr lang="en-US" sz="1300" dirty="0">
                <a:solidFill>
                  <a:srgbClr val="7F0055"/>
                </a:solidFill>
                <a:latin typeface="Consolas" panose="020B0609020204030204" pitchFamily="49" charset="0"/>
              </a:rPr>
              <a:t>if</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read_ladar_state</a:t>
            </a:r>
            <a:r>
              <a:rPr lang="en-US" sz="1300" dirty="0">
                <a:solidFill>
                  <a:srgbClr val="000000"/>
                </a:solidFill>
                <a:latin typeface="Consolas" panose="020B0609020204030204" pitchFamily="49" charset="0"/>
              </a:rPr>
              <a:t> == 1) {</a:t>
            </a:r>
            <a:r>
              <a:rPr lang="en-US" sz="1300" dirty="0">
                <a:solidFill>
                  <a:srgbClr val="3F7F5F"/>
                </a:solidFill>
                <a:latin typeface="Consolas" panose="020B0609020204030204" pitchFamily="49" charset="0"/>
              </a:rPr>
              <a:t>//get the headers</a:t>
            </a:r>
          </a:p>
          <a:p>
            <a:pPr marL="114300" indent="0" algn="l">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G_count</a:t>
            </a:r>
            <a:r>
              <a:rPr lang="en-US" sz="1300" dirty="0">
                <a:solidFill>
                  <a:srgbClr val="000000"/>
                </a:solidFill>
                <a:latin typeface="Consolas" panose="020B0609020204030204" pitchFamily="49" charset="0"/>
              </a:rPr>
              <a:t> += 1;</a:t>
            </a:r>
            <a:r>
              <a:rPr lang="en-US" sz="1300" dirty="0">
                <a:solidFill>
                  <a:srgbClr val="3F7F5F"/>
                </a:solidFill>
                <a:latin typeface="Consolas" panose="020B0609020204030204" pitchFamily="49" charset="0"/>
              </a:rPr>
              <a:t>//count the number of headers</a:t>
            </a:r>
          </a:p>
          <a:p>
            <a:pPr marL="114300" indent="0" algn="l">
              <a:buNone/>
            </a:pPr>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//check the status code and if it is not '0', wait for the next packet</a:t>
            </a:r>
          </a:p>
          <a:p>
            <a:pPr marL="114300" indent="0" algn="l">
              <a:buNone/>
            </a:pPr>
            <a:r>
              <a:rPr lang="en-US" sz="1300" dirty="0">
                <a:solidFill>
                  <a:srgbClr val="000000"/>
                </a:solidFill>
                <a:latin typeface="Consolas" panose="020B0609020204030204" pitchFamily="49" charset="0"/>
              </a:rPr>
              <a:t>    </a:t>
            </a:r>
            <a:r>
              <a:rPr lang="en-US" sz="1300" dirty="0">
                <a:solidFill>
                  <a:srgbClr val="7F0055"/>
                </a:solidFill>
                <a:latin typeface="Consolas" panose="020B0609020204030204" pitchFamily="49" charset="0"/>
              </a:rPr>
              <a:t>if</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G_count</a:t>
            </a:r>
            <a:r>
              <a:rPr lang="en-US" sz="1300" dirty="0">
                <a:solidFill>
                  <a:srgbClr val="000000"/>
                </a:solidFill>
                <a:latin typeface="Consolas" panose="020B0609020204030204" pitchFamily="49" charset="0"/>
              </a:rPr>
              <a:t> == 11) {</a:t>
            </a:r>
          </a:p>
          <a:p>
            <a:pPr marL="114300" indent="0" algn="l">
              <a:buNone/>
            </a:pPr>
            <a:r>
              <a:rPr lang="en-US" sz="1300" dirty="0">
                <a:solidFill>
                  <a:srgbClr val="000000"/>
                </a:solidFill>
                <a:latin typeface="Consolas" panose="020B0609020204030204" pitchFamily="49" charset="0"/>
              </a:rPr>
              <a:t>        </a:t>
            </a:r>
            <a:r>
              <a:rPr lang="en-US" sz="1300" dirty="0">
                <a:solidFill>
                  <a:srgbClr val="7F0055"/>
                </a:solidFill>
                <a:latin typeface="Consolas" panose="020B0609020204030204" pitchFamily="49" charset="0"/>
              </a:rPr>
              <a:t>if</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RXCdata</a:t>
            </a:r>
            <a:r>
              <a:rPr lang="en-US" sz="1300" dirty="0">
                <a:solidFill>
                  <a:srgbClr val="000000"/>
                </a:solidFill>
                <a:latin typeface="Consolas" panose="020B0609020204030204" pitchFamily="49" charset="0"/>
              </a:rPr>
              <a:t> != </a:t>
            </a:r>
            <a:r>
              <a:rPr lang="en-US" sz="1300" dirty="0">
                <a:solidFill>
                  <a:srgbClr val="2A00FF"/>
                </a:solidFill>
                <a:latin typeface="Consolas" panose="020B0609020204030204" pitchFamily="49" charset="0"/>
              </a:rPr>
              <a:t>'0'</a:t>
            </a:r>
            <a:r>
              <a:rPr lang="en-US" sz="1300" dirty="0">
                <a:solidFill>
                  <a:srgbClr val="000000"/>
                </a:solidFill>
                <a:latin typeface="Consolas" panose="020B0609020204030204" pitchFamily="49" charset="0"/>
              </a:rPr>
              <a:t>) {</a:t>
            </a:r>
          </a:p>
          <a:p>
            <a:pPr marL="114300" indent="0" algn="l">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read_ladar_state</a:t>
            </a:r>
            <a:r>
              <a:rPr lang="en-US" sz="1300" dirty="0">
                <a:solidFill>
                  <a:srgbClr val="000000"/>
                </a:solidFill>
                <a:latin typeface="Consolas" panose="020B0609020204030204" pitchFamily="49" charset="0"/>
              </a:rPr>
              <a:t> = 0;</a:t>
            </a:r>
          </a:p>
          <a:p>
            <a:pPr marL="114300" indent="0" algn="l">
              <a:buNone/>
            </a:pPr>
            <a:r>
              <a:rPr lang="en-US" sz="1300" dirty="0">
                <a:solidFill>
                  <a:srgbClr val="000000"/>
                </a:solidFill>
                <a:latin typeface="Consolas" panose="020B0609020204030204" pitchFamily="49" charset="0"/>
              </a:rPr>
              <a:t>        }</a:t>
            </a:r>
          </a:p>
          <a:p>
            <a:pPr marL="114300" indent="0" algn="l">
              <a:buNone/>
            </a:pPr>
            <a:r>
              <a:rPr lang="en-US" sz="1300" dirty="0">
                <a:solidFill>
                  <a:srgbClr val="000000"/>
                </a:solidFill>
                <a:latin typeface="Consolas" panose="020B0609020204030204" pitchFamily="49" charset="0"/>
              </a:rPr>
              <a:t>    }</a:t>
            </a:r>
          </a:p>
          <a:p>
            <a:pPr marL="114300" indent="0" algn="l">
              <a:buNone/>
            </a:pPr>
            <a:r>
              <a:rPr lang="en-US" sz="1300" dirty="0">
                <a:solidFill>
                  <a:srgbClr val="000000"/>
                </a:solidFill>
                <a:latin typeface="Consolas" panose="020B0609020204030204" pitchFamily="49" charset="0"/>
              </a:rPr>
              <a:t>    </a:t>
            </a:r>
            <a:r>
              <a:rPr lang="en-US" sz="1300" dirty="0">
                <a:solidFill>
                  <a:srgbClr val="7F0055"/>
                </a:solidFill>
                <a:latin typeface="Consolas" panose="020B0609020204030204" pitchFamily="49" charset="0"/>
              </a:rPr>
              <a:t>if</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G_count</a:t>
            </a:r>
            <a:r>
              <a:rPr lang="en-US" sz="1300" dirty="0">
                <a:solidFill>
                  <a:srgbClr val="000000"/>
                </a:solidFill>
                <a:latin typeface="Consolas" panose="020B0609020204030204" pitchFamily="49" charset="0"/>
              </a:rPr>
              <a:t> &gt;= 12) {</a:t>
            </a:r>
            <a:r>
              <a:rPr lang="en-US" sz="1300" dirty="0">
                <a:solidFill>
                  <a:srgbClr val="3F7F5F"/>
                </a:solidFill>
                <a:latin typeface="Consolas" panose="020B0609020204030204" pitchFamily="49" charset="0"/>
              </a:rPr>
              <a:t>//there are total 12 things before the data</a:t>
            </a:r>
          </a:p>
          <a:p>
            <a:pPr marL="114300" indent="0" algn="l">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read_ladar_state</a:t>
            </a:r>
            <a:r>
              <a:rPr lang="en-US" sz="1300" dirty="0">
                <a:solidFill>
                  <a:srgbClr val="000000"/>
                </a:solidFill>
                <a:latin typeface="Consolas" panose="020B0609020204030204" pitchFamily="49" charset="0"/>
              </a:rPr>
              <a:t> = 2;</a:t>
            </a:r>
          </a:p>
          <a:p>
            <a:pPr marL="114300" indent="0" algn="l">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get_dis_first</a:t>
            </a:r>
            <a:r>
              <a:rPr lang="en-US" sz="1300" dirty="0">
                <a:solidFill>
                  <a:srgbClr val="000000"/>
                </a:solidFill>
                <a:latin typeface="Consolas" panose="020B0609020204030204" pitchFamily="49" charset="0"/>
              </a:rPr>
              <a:t> = 1;</a:t>
            </a:r>
          </a:p>
          <a:p>
            <a:pPr marL="114300" indent="0" algn="l">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dis_index</a:t>
            </a:r>
            <a:r>
              <a:rPr lang="en-US" sz="1300" dirty="0">
                <a:solidFill>
                  <a:srgbClr val="000000"/>
                </a:solidFill>
                <a:latin typeface="Consolas" panose="020B0609020204030204" pitchFamily="49" charset="0"/>
              </a:rPr>
              <a:t> = 0;</a:t>
            </a:r>
          </a:p>
          <a:p>
            <a:pPr marL="114300" indent="0" algn="l">
              <a:buNone/>
            </a:pPr>
            <a:r>
              <a:rPr lang="en-US" sz="1300" dirty="0">
                <a:solidFill>
                  <a:srgbClr val="000000"/>
                </a:solidFill>
                <a:latin typeface="Consolas" panose="020B0609020204030204" pitchFamily="49" charset="0"/>
              </a:rPr>
              <a:t>    }</a:t>
            </a:r>
          </a:p>
          <a:p>
            <a:pPr marL="114300" indent="0" algn="l">
              <a:buNone/>
            </a:pPr>
            <a:r>
              <a:rPr lang="en-US" sz="1300" dirty="0">
                <a:solidFill>
                  <a:srgbClr val="000000"/>
                </a:solidFill>
                <a:latin typeface="Consolas" panose="020B0609020204030204" pitchFamily="49" charset="0"/>
              </a:rPr>
              <a:t>}</a:t>
            </a:r>
            <a:endParaRPr lang="en-US" sz="13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D3CA6CC7-A93F-57A2-0BD7-C95CAB32E27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BDB752E-3BF6-AD96-5DDE-94C7C969116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(8/18)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C54698F-B0D5-6C72-6E13-1D822A470EC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34922E1-37D2-FF1D-0D37-A584CA6553D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8E90496-5DC3-941E-C165-231B8734F25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1062FFF-305C-833C-7496-02777B6FFED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BA80184-241C-F4A2-77D5-426E5235EF1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6BD89C0-5095-F911-B92E-71C173B1E6B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State diagram of the LiDAR receive interrupt. State 0 waits for the character 'G', then moves to State 1, which counts header bytes, loops while the count is under 11, and returns to State 0 if the 11th byte isn't '0'. After 12 header bytes, distance bytes alternate between two states. High byte: temp equals RXC minus 0x30, shifted left 6. Low byte: dist equals temp plus RXC minus 0x30. A dist of 0 or 6 becomes MAX, 16 becomes 4096, and the result is stored in the ping/pong array. Each linefeed increments a counter. The second linefeed ends the stream, triggers SWI2, toggles the ping/pong flag, and returns to State 0.">
            <a:extLst>
              <a:ext uri="{FF2B5EF4-FFF2-40B4-BE49-F238E27FC236}">
                <a16:creationId xmlns:a16="http://schemas.microsoft.com/office/drawing/2014/main" id="{B5EBC154-0030-723B-6E07-EF9517686B53}"/>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113660" y="1407029"/>
            <a:ext cx="5001607" cy="4675602"/>
          </a:xfrm>
          <a:prstGeom prst="rect">
            <a:avLst/>
          </a:prstGeom>
        </p:spPr>
      </p:pic>
      <p:cxnSp>
        <p:nvCxnSpPr>
          <p:cNvPr id="2" name="Straight Arrow Connector 1">
            <a:extLst>
              <a:ext uri="{FF2B5EF4-FFF2-40B4-BE49-F238E27FC236}">
                <a16:creationId xmlns:a16="http://schemas.microsoft.com/office/drawing/2014/main" id="{74090195-FF60-5C72-9A04-3257536C4577}"/>
              </a:ext>
            </a:extLst>
          </p:cNvPr>
          <p:cNvCxnSpPr>
            <a:cxnSpLocks/>
          </p:cNvCxnSpPr>
          <p:nvPr/>
        </p:nvCxnSpPr>
        <p:spPr>
          <a:xfrm flipV="1">
            <a:off x="3203597" y="2129337"/>
            <a:ext cx="5026003" cy="62025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44812BBD-B107-B8D1-3154-D66D250DB949}"/>
              </a:ext>
            </a:extLst>
          </p:cNvPr>
          <p:cNvCxnSpPr>
            <a:cxnSpLocks/>
          </p:cNvCxnSpPr>
          <p:nvPr/>
        </p:nvCxnSpPr>
        <p:spPr>
          <a:xfrm flipV="1">
            <a:off x="3376246" y="3337880"/>
            <a:ext cx="6081080" cy="13300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2FAA7A6-BB52-5875-5C77-75017E0EFE90}"/>
              </a:ext>
            </a:extLst>
          </p:cNvPr>
          <p:cNvCxnSpPr>
            <a:cxnSpLocks/>
          </p:cNvCxnSpPr>
          <p:nvPr/>
        </p:nvCxnSpPr>
        <p:spPr>
          <a:xfrm flipV="1">
            <a:off x="4853354" y="1509080"/>
            <a:ext cx="4376286" cy="3644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1077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7DAD764-46A6-DF34-D0D1-45961C2EE89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1532E9E-E33C-3B0A-956E-030742D1E949}"/>
              </a:ext>
            </a:extLst>
          </p:cNvPr>
          <p:cNvSpPr txBox="1">
            <a:spLocks noGrp="1"/>
          </p:cNvSpPr>
          <p:nvPr>
            <p:ph type="body" idx="1"/>
          </p:nvPr>
        </p:nvSpPr>
        <p:spPr>
          <a:xfrm>
            <a:off x="376810" y="1334279"/>
            <a:ext cx="6736850"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900" dirty="0">
                <a:solidFill>
                  <a:srgbClr val="7F0055"/>
                </a:solidFill>
                <a:latin typeface="Consolas" panose="020B0609020204030204" pitchFamily="49" charset="0"/>
              </a:rPr>
              <a:t>else</a:t>
            </a: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if</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read_ladar_state</a:t>
            </a:r>
            <a:r>
              <a:rPr lang="en-US" sz="900" dirty="0">
                <a:solidFill>
                  <a:srgbClr val="000000"/>
                </a:solidFill>
                <a:latin typeface="Consolas" panose="020B0609020204030204" pitchFamily="49" charset="0"/>
              </a:rPr>
              <a:t> == 2) {</a:t>
            </a:r>
            <a:r>
              <a:rPr lang="en-US" sz="900" dirty="0">
                <a:solidFill>
                  <a:srgbClr val="3F7F5F"/>
                </a:solidFill>
                <a:latin typeface="Consolas" panose="020B0609020204030204" pitchFamily="49" charset="0"/>
              </a:rPr>
              <a:t>//get actual data</a:t>
            </a:r>
          </a:p>
          <a:p>
            <a:pPr marL="114300" indent="0" algn="l">
              <a:buNone/>
            </a:pP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if</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RXCdata</a:t>
            </a:r>
            <a:r>
              <a:rPr lang="en-US" sz="900" dirty="0">
                <a:solidFill>
                  <a:srgbClr val="000000"/>
                </a:solidFill>
                <a:latin typeface="Consolas" panose="020B0609020204030204" pitchFamily="49" charset="0"/>
              </a:rPr>
              <a:t> == 0x0a) { </a:t>
            </a:r>
            <a:r>
              <a:rPr lang="en-US" sz="900" dirty="0">
                <a:solidFill>
                  <a:srgbClr val="3F7F5F"/>
                </a:solidFill>
                <a:latin typeface="Consolas" panose="020B0609020204030204" pitchFamily="49" charset="0"/>
              </a:rPr>
              <a:t>//check for line feed</a:t>
            </a:r>
          </a:p>
          <a:p>
            <a:pPr marL="114300" indent="0" algn="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LF_count</a:t>
            </a:r>
            <a:r>
              <a:rPr lang="en-US" sz="900" dirty="0">
                <a:solidFill>
                  <a:srgbClr val="000000"/>
                </a:solidFill>
                <a:latin typeface="Consolas" panose="020B0609020204030204" pitchFamily="49" charset="0"/>
              </a:rPr>
              <a:t> += 1;</a:t>
            </a:r>
          </a:p>
          <a:p>
            <a:pPr marL="114300" indent="0" algn="l">
              <a:buNone/>
            </a:pPr>
            <a:r>
              <a:rPr lang="en-US" sz="900" dirty="0">
                <a:solidFill>
                  <a:srgbClr val="000000"/>
                </a:solidFill>
                <a:latin typeface="Consolas" panose="020B0609020204030204" pitchFamily="49" charset="0"/>
              </a:rPr>
              <a:t>    } </a:t>
            </a:r>
            <a:r>
              <a:rPr lang="en-US" sz="900" dirty="0">
                <a:solidFill>
                  <a:srgbClr val="7F0055"/>
                </a:solidFill>
                <a:latin typeface="Consolas" panose="020B0609020204030204" pitchFamily="49" charset="0"/>
              </a:rPr>
              <a:t>else</a:t>
            </a:r>
            <a:r>
              <a:rPr lang="en-US" sz="900" dirty="0">
                <a:solidFill>
                  <a:srgbClr val="000000"/>
                </a:solidFill>
                <a:latin typeface="Consolas" panose="020B0609020204030204" pitchFamily="49" charset="0"/>
              </a:rPr>
              <a:t> {</a:t>
            </a:r>
          </a:p>
          <a:p>
            <a:pPr marL="114300" indent="0" algn="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LF_count</a:t>
            </a:r>
            <a:r>
              <a:rPr lang="en-US" sz="900" dirty="0">
                <a:solidFill>
                  <a:srgbClr val="000000"/>
                </a:solidFill>
                <a:latin typeface="Consolas" panose="020B0609020204030204" pitchFamily="49" charset="0"/>
              </a:rPr>
              <a:t> = 0;</a:t>
            </a:r>
          </a:p>
          <a:p>
            <a:pPr marL="114300" indent="0" algn="l">
              <a:buNone/>
            </a:pP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if</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get_dis_first</a:t>
            </a:r>
            <a:r>
              <a:rPr lang="en-US" sz="900" dirty="0">
                <a:solidFill>
                  <a:srgbClr val="000000"/>
                </a:solidFill>
                <a:latin typeface="Consolas" panose="020B0609020204030204" pitchFamily="49" charset="0"/>
              </a:rPr>
              <a:t> == 1) {</a:t>
            </a:r>
          </a:p>
          <a:p>
            <a:pPr marL="114300" indent="0" algn="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tempscid</a:t>
            </a:r>
            <a:r>
              <a:rPr lang="en-US" sz="900" dirty="0">
                <a:solidFill>
                  <a:srgbClr val="000000"/>
                </a:solidFill>
                <a:latin typeface="Consolas" panose="020B0609020204030204" pitchFamily="49" charset="0"/>
              </a:rPr>
              <a:t> = (</a:t>
            </a:r>
            <a:r>
              <a:rPr lang="en-US" sz="900" dirty="0" err="1">
                <a:solidFill>
                  <a:srgbClr val="000000"/>
                </a:solidFill>
                <a:latin typeface="Consolas" panose="020B0609020204030204" pitchFamily="49" charset="0"/>
              </a:rPr>
              <a:t>RXCdata</a:t>
            </a:r>
            <a:r>
              <a:rPr lang="en-US" sz="900" dirty="0">
                <a:solidFill>
                  <a:srgbClr val="000000"/>
                </a:solidFill>
                <a:latin typeface="Consolas" panose="020B0609020204030204" pitchFamily="49" charset="0"/>
              </a:rPr>
              <a:t> - 0x30) &lt;&lt; 6;</a:t>
            </a:r>
            <a:r>
              <a:rPr lang="en-US" sz="900" dirty="0">
                <a:solidFill>
                  <a:srgbClr val="3F7F5F"/>
                </a:solidFill>
                <a:latin typeface="Consolas" panose="020B0609020204030204" pitchFamily="49" charset="0"/>
              </a:rPr>
              <a:t>//first data is the top 6 bit of the distance reading</a:t>
            </a:r>
          </a:p>
          <a:p>
            <a:pPr marL="114300" indent="0" algn="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get_dis_first</a:t>
            </a:r>
            <a:r>
              <a:rPr lang="en-US" sz="900" dirty="0">
                <a:solidFill>
                  <a:srgbClr val="000000"/>
                </a:solidFill>
                <a:latin typeface="Consolas" panose="020B0609020204030204" pitchFamily="49" charset="0"/>
              </a:rPr>
              <a:t> = 0;</a:t>
            </a:r>
          </a:p>
          <a:p>
            <a:pPr marL="114300" indent="0" algn="l">
              <a:buNone/>
            </a:pPr>
            <a:r>
              <a:rPr lang="en-US" sz="900" dirty="0">
                <a:solidFill>
                  <a:srgbClr val="000000"/>
                </a:solidFill>
                <a:latin typeface="Consolas" panose="020B0609020204030204" pitchFamily="49" charset="0"/>
              </a:rPr>
              <a:t>        } </a:t>
            </a:r>
            <a:r>
              <a:rPr lang="en-US" sz="900" dirty="0">
                <a:solidFill>
                  <a:srgbClr val="7F0055"/>
                </a:solidFill>
                <a:latin typeface="Consolas" panose="020B0609020204030204" pitchFamily="49" charset="0"/>
              </a:rPr>
              <a:t>else</a:t>
            </a: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if</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get_dis_first</a:t>
            </a:r>
            <a:r>
              <a:rPr lang="en-US" sz="900" dirty="0">
                <a:solidFill>
                  <a:srgbClr val="000000"/>
                </a:solidFill>
                <a:latin typeface="Consolas" panose="020B0609020204030204" pitchFamily="49" charset="0"/>
              </a:rPr>
              <a:t> == 0) {</a:t>
            </a:r>
          </a:p>
          <a:p>
            <a:pPr marL="114300" indent="0" algn="l">
              <a:buNone/>
            </a:pPr>
            <a:r>
              <a:rPr lang="en-US" sz="900" dirty="0">
                <a:solidFill>
                  <a:srgbClr val="000000"/>
                </a:solidFill>
                <a:latin typeface="Consolas" panose="020B0609020204030204" pitchFamily="49" charset="0"/>
              </a:rPr>
              <a:t>            </a:t>
            </a:r>
            <a:r>
              <a:rPr lang="en-US" sz="900" b="1" dirty="0">
                <a:solidFill>
                  <a:srgbClr val="3F7F5F"/>
                </a:solidFill>
                <a:latin typeface="Consolas" panose="020B0609020204030204" pitchFamily="49" charset="0"/>
              </a:rPr>
              <a:t>// Continued to next slide</a:t>
            </a:r>
          </a:p>
          <a:p>
            <a:pPr marL="114300" indent="0" algn="l">
              <a:buNone/>
            </a:pPr>
            <a:r>
              <a:rPr lang="en-US" sz="900" dirty="0">
                <a:solidFill>
                  <a:srgbClr val="000000"/>
                </a:solidFill>
                <a:latin typeface="Consolas" panose="020B0609020204030204" pitchFamily="49" charset="0"/>
              </a:rPr>
              <a:t>        }</a:t>
            </a:r>
          </a:p>
          <a:p>
            <a:pPr marL="114300" indent="0" algn="l">
              <a:buNone/>
            </a:pP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if</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LF_count</a:t>
            </a:r>
            <a:r>
              <a:rPr lang="en-US" sz="900" dirty="0">
                <a:solidFill>
                  <a:srgbClr val="000000"/>
                </a:solidFill>
                <a:latin typeface="Consolas" panose="020B0609020204030204" pitchFamily="49" charset="0"/>
              </a:rPr>
              <a:t> == 2) { </a:t>
            </a:r>
            <a:r>
              <a:rPr lang="en-US" sz="900" dirty="0">
                <a:solidFill>
                  <a:srgbClr val="3F7F5F"/>
                </a:solidFill>
                <a:latin typeface="Consolas" panose="020B0609020204030204" pitchFamily="49" charset="0"/>
              </a:rPr>
              <a:t>//two consecutive line feed means the end of the current data stream</a:t>
            </a:r>
          </a:p>
          <a:p>
            <a:pPr marL="114300" indent="0" algn="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read_ladar_state</a:t>
            </a:r>
            <a:r>
              <a:rPr lang="en-US" sz="900" dirty="0">
                <a:solidFill>
                  <a:srgbClr val="000000"/>
                </a:solidFill>
                <a:latin typeface="Consolas" panose="020B0609020204030204" pitchFamily="49" charset="0"/>
              </a:rPr>
              <a:t> = 0;</a:t>
            </a:r>
          </a:p>
          <a:p>
            <a:pPr marL="114300" indent="0" algn="l">
              <a:buNone/>
            </a:pPr>
            <a:r>
              <a:rPr lang="fr-FR" sz="900" dirty="0">
                <a:solidFill>
                  <a:srgbClr val="000000"/>
                </a:solidFill>
                <a:latin typeface="Consolas" panose="020B0609020204030204" pitchFamily="49" charset="0"/>
              </a:rPr>
              <a:t>        </a:t>
            </a:r>
            <a:r>
              <a:rPr lang="fr-FR" sz="900" dirty="0" err="1">
                <a:solidFill>
                  <a:srgbClr val="000000"/>
                </a:solidFill>
                <a:latin typeface="Consolas" panose="020B0609020204030204" pitchFamily="49" charset="0"/>
              </a:rPr>
              <a:t>print_dis_index</a:t>
            </a:r>
            <a:r>
              <a:rPr lang="fr-FR" sz="900" dirty="0">
                <a:solidFill>
                  <a:srgbClr val="000000"/>
                </a:solidFill>
                <a:latin typeface="Consolas" panose="020B0609020204030204" pitchFamily="49" charset="0"/>
              </a:rPr>
              <a:t> = </a:t>
            </a:r>
            <a:r>
              <a:rPr lang="fr-FR" sz="900" dirty="0" err="1">
                <a:solidFill>
                  <a:srgbClr val="000000"/>
                </a:solidFill>
                <a:latin typeface="Consolas" panose="020B0609020204030204" pitchFamily="49" charset="0"/>
              </a:rPr>
              <a:t>dis_index</a:t>
            </a:r>
            <a:r>
              <a:rPr lang="fr-FR" sz="900" dirty="0">
                <a:solidFill>
                  <a:srgbClr val="000000"/>
                </a:solidFill>
                <a:latin typeface="Consolas" panose="020B0609020204030204" pitchFamily="49" charset="0"/>
              </a:rPr>
              <a:t>;</a:t>
            </a:r>
          </a:p>
          <a:p>
            <a:pPr marL="114300" indent="0" algn="l">
              <a:buNone/>
            </a:pPr>
            <a:r>
              <a:rPr lang="en-US" sz="900" dirty="0">
                <a:solidFill>
                  <a:srgbClr val="000000"/>
                </a:solidFill>
                <a:latin typeface="Consolas" panose="020B0609020204030204" pitchFamily="49" charset="0"/>
              </a:rPr>
              <a:t>        PieCtrlRegs.</a:t>
            </a:r>
            <a:r>
              <a:rPr lang="en-US" sz="900" dirty="0">
                <a:solidFill>
                  <a:srgbClr val="0000C0"/>
                </a:solidFill>
                <a:latin typeface="Consolas" panose="020B0609020204030204" pitchFamily="49" charset="0"/>
              </a:rPr>
              <a:t>PIEIFR12</a:t>
            </a:r>
            <a:r>
              <a:rPr lang="en-US" sz="900" dirty="0">
                <a:solidFill>
                  <a:srgbClr val="000000"/>
                </a:solidFill>
                <a:latin typeface="Consolas" panose="020B0609020204030204" pitchFamily="49" charset="0"/>
              </a:rPr>
              <a:t>.</a:t>
            </a:r>
            <a:r>
              <a:rPr lang="en-US" sz="900" dirty="0">
                <a:solidFill>
                  <a:srgbClr val="0000C0"/>
                </a:solidFill>
                <a:latin typeface="Consolas" panose="020B0609020204030204" pitchFamily="49" charset="0"/>
              </a:rPr>
              <a:t>bit</a:t>
            </a:r>
            <a:r>
              <a:rPr lang="en-US" sz="900" dirty="0">
                <a:solidFill>
                  <a:srgbClr val="000000"/>
                </a:solidFill>
                <a:latin typeface="Consolas" panose="020B0609020204030204" pitchFamily="49" charset="0"/>
              </a:rPr>
              <a:t>.</a:t>
            </a:r>
            <a:r>
              <a:rPr lang="en-US" sz="900" dirty="0">
                <a:solidFill>
                  <a:srgbClr val="0000C0"/>
                </a:solidFill>
                <a:latin typeface="Consolas" panose="020B0609020204030204" pitchFamily="49" charset="0"/>
              </a:rPr>
              <a:t>INTx10</a:t>
            </a:r>
            <a:r>
              <a:rPr lang="en-US" sz="900" dirty="0">
                <a:solidFill>
                  <a:srgbClr val="000000"/>
                </a:solidFill>
                <a:latin typeface="Consolas" panose="020B0609020204030204" pitchFamily="49" charset="0"/>
              </a:rPr>
              <a:t> = 1; </a:t>
            </a:r>
            <a:r>
              <a:rPr lang="en-US" sz="900" dirty="0">
                <a:solidFill>
                  <a:srgbClr val="3F7F5F"/>
                </a:solidFill>
                <a:latin typeface="Consolas" panose="020B0609020204030204" pitchFamily="49" charset="0"/>
              </a:rPr>
              <a:t>// Manually cause the interrupt for the SWI2</a:t>
            </a:r>
          </a:p>
          <a:p>
            <a:pPr marL="114300" indent="0" algn="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LADARpingpong</a:t>
            </a:r>
            <a:r>
              <a:rPr lang="en-US" sz="900" dirty="0">
                <a:solidFill>
                  <a:srgbClr val="000000"/>
                </a:solidFill>
                <a:latin typeface="Consolas" panose="020B0609020204030204" pitchFamily="49" charset="0"/>
              </a:rPr>
              <a:t> = 1-LADARpingpong;</a:t>
            </a:r>
          </a:p>
          <a:p>
            <a:pPr marL="114300" indent="0" algn="l">
              <a:buNone/>
            </a:pPr>
            <a:r>
              <a:rPr lang="en-US" sz="900" dirty="0">
                <a:solidFill>
                  <a:srgbClr val="000000"/>
                </a:solidFill>
                <a:latin typeface="Consolas" panose="020B0609020204030204" pitchFamily="49" charset="0"/>
              </a:rPr>
              <a:t>    }</a:t>
            </a:r>
          </a:p>
          <a:p>
            <a:pPr marL="114300" indent="0" algn="l">
              <a:buNone/>
            </a:pPr>
            <a:r>
              <a:rPr lang="en-US" sz="900" dirty="0">
                <a:solidFill>
                  <a:srgbClr val="000000"/>
                </a:solidFill>
                <a:latin typeface="Consolas" panose="020B0609020204030204" pitchFamily="49" charset="0"/>
              </a:rPr>
              <a:t>}</a:t>
            </a:r>
          </a:p>
        </p:txBody>
      </p:sp>
      <p:sp>
        <p:nvSpPr>
          <p:cNvPr id="119" name="Google Shape;119;p29">
            <a:extLst>
              <a:ext uri="{FF2B5EF4-FFF2-40B4-BE49-F238E27FC236}">
                <a16:creationId xmlns:a16="http://schemas.microsoft.com/office/drawing/2014/main" id="{39BC8C54-5418-C945-F362-D7FADA06A17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97B00C5-33B1-7655-A1A7-0F2BB107221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(9/18)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6982727-61DC-0628-69C7-4867E2A526C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2D71A19-5222-9F12-0EA5-451BAA6B6F8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A3F28AD-0134-44B4-B0ED-763CA95A934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BDEB74C-A86D-3171-EB66-0F92576221A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C949207-32A5-3BD4-9FBF-11B54B90A69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BD156F1-CB89-4234-EF7E-B9954C27BC7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State diagram of the LiDAR receive interrupt. State 0 waits for the character 'G', then moves to State 1, which counts header bytes, loops while the count is under 11, and returns to State 0 if the 11th byte isn't '0'. After 12 header bytes, distance bytes alternate between two states. High byte: temp equals RXC minus 0x30, shifted left 6. Low byte: dist equals temp plus RXC minus 0x30. A dist of 0 or 6 becomes MAX, 16 becomes 4096, and the result is stored in the ping/pong array. Each linefeed increments a counter. The second linefeed ends the stream, triggers SWI2, toggles the ping/pong flag, and returns to State 0.">
            <a:extLst>
              <a:ext uri="{FF2B5EF4-FFF2-40B4-BE49-F238E27FC236}">
                <a16:creationId xmlns:a16="http://schemas.microsoft.com/office/drawing/2014/main" id="{1D699870-7E14-EDEE-84C3-89063CD246F4}"/>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113660" y="1407029"/>
            <a:ext cx="5001607" cy="4675602"/>
          </a:xfrm>
          <a:prstGeom prst="rect">
            <a:avLst/>
          </a:prstGeom>
        </p:spPr>
      </p:pic>
      <p:cxnSp>
        <p:nvCxnSpPr>
          <p:cNvPr id="3" name="Straight Arrow Connector 2">
            <a:extLst>
              <a:ext uri="{FF2B5EF4-FFF2-40B4-BE49-F238E27FC236}">
                <a16:creationId xmlns:a16="http://schemas.microsoft.com/office/drawing/2014/main" id="{9BF815D3-E8EA-BB22-553E-0DE05764CB78}"/>
              </a:ext>
            </a:extLst>
          </p:cNvPr>
          <p:cNvCxnSpPr>
            <a:cxnSpLocks/>
          </p:cNvCxnSpPr>
          <p:nvPr/>
        </p:nvCxnSpPr>
        <p:spPr>
          <a:xfrm>
            <a:off x="3785488" y="1982266"/>
            <a:ext cx="4476084" cy="11126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940842F-E476-833D-7352-646406CF54EB}"/>
              </a:ext>
            </a:extLst>
          </p:cNvPr>
          <p:cNvCxnSpPr>
            <a:cxnSpLocks/>
          </p:cNvCxnSpPr>
          <p:nvPr/>
        </p:nvCxnSpPr>
        <p:spPr>
          <a:xfrm>
            <a:off x="3018159" y="3299513"/>
            <a:ext cx="5908431" cy="85685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62F9886-F140-65A8-9E72-EF53AB020D92}"/>
              </a:ext>
            </a:extLst>
          </p:cNvPr>
          <p:cNvCxnSpPr>
            <a:cxnSpLocks/>
          </p:cNvCxnSpPr>
          <p:nvPr/>
        </p:nvCxnSpPr>
        <p:spPr>
          <a:xfrm>
            <a:off x="3203597" y="3964531"/>
            <a:ext cx="6925141" cy="4923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BED9F4B-B336-7215-A96A-E03BFC81EC54}"/>
              </a:ext>
            </a:extLst>
          </p:cNvPr>
          <p:cNvCxnSpPr>
            <a:cxnSpLocks/>
          </p:cNvCxnSpPr>
          <p:nvPr/>
        </p:nvCxnSpPr>
        <p:spPr>
          <a:xfrm>
            <a:off x="3280330" y="5256200"/>
            <a:ext cx="6560660" cy="12788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41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BA2C0EC-F738-DC93-3CAE-3A879E8313A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D72E96D-022E-3101-F542-218FB38CDD3E}"/>
              </a:ext>
            </a:extLst>
          </p:cNvPr>
          <p:cNvSpPr txBox="1">
            <a:spLocks noGrp="1"/>
          </p:cNvSpPr>
          <p:nvPr>
            <p:ph type="body" idx="1"/>
          </p:nvPr>
        </p:nvSpPr>
        <p:spPr>
          <a:xfrm>
            <a:off x="376810" y="1334279"/>
            <a:ext cx="6736850" cy="4821102"/>
          </a:xfrm>
          <a:prstGeom prst="rect">
            <a:avLst/>
          </a:prstGeom>
          <a:noFill/>
          <a:ln>
            <a:noFill/>
          </a:ln>
        </p:spPr>
        <p:txBody>
          <a:bodyPr spcFirstLastPara="1" wrap="square" lIns="91425" tIns="45700" rIns="91425" bIns="45700" anchor="t" anchorCtr="0">
            <a:noAutofit/>
          </a:bodyPr>
          <a:lstStyle/>
          <a:p>
            <a:pPr marL="114300" indent="0" algn="l">
              <a:lnSpc>
                <a:spcPct val="100000"/>
              </a:lnSpc>
              <a:spcBef>
                <a:spcPts val="0"/>
              </a:spcBef>
              <a:buNone/>
            </a:pPr>
            <a:r>
              <a:rPr lang="en-US" sz="1000" dirty="0">
                <a:solidFill>
                  <a:srgbClr val="7F0055"/>
                </a:solidFill>
                <a:latin typeface="Consolas" panose="020B0609020204030204" pitchFamily="49" charset="0"/>
              </a:rPr>
              <a:t>else</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if</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get_dis_first</a:t>
            </a:r>
            <a:r>
              <a:rPr lang="en-US" sz="1000" dirty="0">
                <a:solidFill>
                  <a:srgbClr val="000000"/>
                </a:solidFill>
                <a:latin typeface="Consolas" panose="020B0609020204030204" pitchFamily="49" charset="0"/>
              </a:rPr>
              <a:t> == 0) {</a:t>
            </a:r>
          </a:p>
          <a:p>
            <a:pPr marL="114300" indent="0" algn="l">
              <a:lnSpc>
                <a:spcPct val="100000"/>
              </a:lnSpc>
              <a:spcBef>
                <a:spcPts val="0"/>
              </a:spcBef>
              <a:buNone/>
            </a:pPr>
            <a:r>
              <a:rPr lang="en-US" sz="1000" dirty="0">
                <a:solidFill>
                  <a:srgbClr val="000000"/>
                </a:solidFill>
                <a:latin typeface="Consolas" panose="020B0609020204030204" pitchFamily="49" charset="0"/>
              </a:rPr>
              <a:t>    distance = </a:t>
            </a:r>
            <a:r>
              <a:rPr lang="en-US" sz="1000" dirty="0" err="1">
                <a:solidFill>
                  <a:srgbClr val="000000"/>
                </a:solidFill>
                <a:latin typeface="Consolas" panose="020B0609020204030204" pitchFamily="49" charset="0"/>
              </a:rPr>
              <a:t>tempscid</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RXCdata</a:t>
            </a:r>
            <a:r>
              <a:rPr lang="en-US" sz="1000" dirty="0">
                <a:solidFill>
                  <a:srgbClr val="000000"/>
                </a:solidFill>
                <a:latin typeface="Consolas" panose="020B0609020204030204" pitchFamily="49" charset="0"/>
              </a:rPr>
              <a:t> - 0x30);</a:t>
            </a:r>
            <a:r>
              <a:rPr lang="en-US" sz="1000" dirty="0">
                <a:solidFill>
                  <a:srgbClr val="3F7F5F"/>
                </a:solidFill>
                <a:latin typeface="Consolas" panose="020B0609020204030204" pitchFamily="49" charset="0"/>
              </a:rPr>
              <a:t>//second data is the bottom 6 bit of the distance reading</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if</a:t>
            </a:r>
            <a:r>
              <a:rPr lang="en-US" sz="1000" dirty="0">
                <a:solidFill>
                  <a:srgbClr val="000000"/>
                </a:solidFill>
                <a:latin typeface="Consolas" panose="020B0609020204030204" pitchFamily="49" charset="0"/>
              </a:rPr>
              <a:t> (distance == 0 || distance == 6) {</a:t>
            </a:r>
            <a:r>
              <a:rPr lang="en-US" sz="1000" dirty="0">
                <a:solidFill>
                  <a:srgbClr val="3F7F5F"/>
                </a:solidFill>
                <a:latin typeface="Consolas" panose="020B0609020204030204" pitchFamily="49" charset="0"/>
              </a:rPr>
              <a:t>//error code</a:t>
            </a:r>
          </a:p>
          <a:p>
            <a:pPr marL="114300" indent="0" algn="l">
              <a:lnSpc>
                <a:spcPct val="100000"/>
              </a:lnSpc>
              <a:spcBef>
                <a:spcPts val="0"/>
              </a:spcBef>
              <a:buNone/>
            </a:pPr>
            <a:r>
              <a:rPr lang="en-US" sz="1000" dirty="0">
                <a:solidFill>
                  <a:srgbClr val="000000"/>
                </a:solidFill>
                <a:latin typeface="Consolas" panose="020B0609020204030204" pitchFamily="49" charset="0"/>
              </a:rPr>
              <a:t>        distance = LADAR_MAX_READING; </a:t>
            </a:r>
            <a:r>
              <a:rPr lang="en-US" sz="1000" dirty="0">
                <a:solidFill>
                  <a:srgbClr val="3F7F5F"/>
                </a:solidFill>
                <a:latin typeface="Consolas" panose="020B0609020204030204" pitchFamily="49" charset="0"/>
              </a:rPr>
              <a:t>//set to the max reading</a:t>
            </a:r>
          </a:p>
          <a:p>
            <a:pPr marL="114300" indent="0" algn="l">
              <a:lnSpc>
                <a:spcPct val="100000"/>
              </a:lnSpc>
              <a:spcBef>
                <a:spcPts val="0"/>
              </a:spcBef>
              <a:buNone/>
            </a:pPr>
            <a:r>
              <a:rPr lang="en-US" sz="1000" dirty="0">
                <a:solidFill>
                  <a:srgbClr val="000000"/>
                </a:solidFill>
                <a:latin typeface="Consolas" panose="020B0609020204030204" pitchFamily="49" charset="0"/>
              </a:rPr>
              <a:t>    } </a:t>
            </a:r>
            <a:r>
              <a:rPr lang="en-US" sz="1000" dirty="0">
                <a:solidFill>
                  <a:srgbClr val="7F0055"/>
                </a:solidFill>
                <a:latin typeface="Consolas" panose="020B0609020204030204" pitchFamily="49" charset="0"/>
              </a:rPr>
              <a:t>else</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if</a:t>
            </a:r>
            <a:r>
              <a:rPr lang="en-US" sz="1000" dirty="0">
                <a:solidFill>
                  <a:srgbClr val="000000"/>
                </a:solidFill>
                <a:latin typeface="Consolas" panose="020B0609020204030204" pitchFamily="49" charset="0"/>
              </a:rPr>
              <a:t> (distance == 16) { </a:t>
            </a:r>
            <a:r>
              <a:rPr lang="en-US" sz="1000" dirty="0">
                <a:solidFill>
                  <a:srgbClr val="3F7F5F"/>
                </a:solidFill>
                <a:latin typeface="Consolas" panose="020B0609020204030204" pitchFamily="49" charset="0"/>
              </a:rPr>
              <a:t>//distance is 4096mm</a:t>
            </a:r>
          </a:p>
          <a:p>
            <a:pPr marL="114300" indent="0" algn="l">
              <a:lnSpc>
                <a:spcPct val="100000"/>
              </a:lnSpc>
              <a:spcBef>
                <a:spcPts val="0"/>
              </a:spcBef>
              <a:buNone/>
            </a:pPr>
            <a:r>
              <a:rPr lang="en-US" sz="1000" dirty="0">
                <a:solidFill>
                  <a:srgbClr val="000000"/>
                </a:solidFill>
                <a:latin typeface="Consolas" panose="020B0609020204030204" pitchFamily="49" charset="0"/>
              </a:rPr>
              <a:t>        distance = 4096;</a:t>
            </a:r>
          </a:p>
          <a:p>
            <a:pPr marL="114300" indent="0" algn="l">
              <a:lnSpc>
                <a:spcPct val="100000"/>
              </a:lnSpc>
              <a:spcBef>
                <a:spcPts val="0"/>
              </a:spcBef>
              <a:buNone/>
            </a:pPr>
            <a:r>
              <a:rPr lang="en-US" sz="1000" dirty="0">
                <a:solidFill>
                  <a:srgbClr val="000000"/>
                </a:solidFill>
                <a:latin typeface="Consolas" panose="020B0609020204030204" pitchFamily="49" charset="0"/>
              </a:rPr>
              <a:t>    }</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if</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LADARpingpong</a:t>
            </a:r>
            <a:r>
              <a:rPr lang="en-US" sz="1000" dirty="0">
                <a:solidFill>
                  <a:srgbClr val="000000"/>
                </a:solidFill>
                <a:latin typeface="Consolas" panose="020B0609020204030204" pitchFamily="49" charset="0"/>
              </a:rPr>
              <a:t> == 0) {</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checkdist</a:t>
            </a:r>
            <a:r>
              <a:rPr lang="en-US" sz="1000" dirty="0">
                <a:solidFill>
                  <a:srgbClr val="000000"/>
                </a:solidFill>
                <a:latin typeface="Consolas" panose="020B0609020204030204" pitchFamily="49" charset="0"/>
              </a:rPr>
              <a:t> = distance*0.00328084;</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if</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checkdist</a:t>
            </a:r>
            <a:r>
              <a:rPr lang="en-US" sz="1000" dirty="0">
                <a:solidFill>
                  <a:srgbClr val="000000"/>
                </a:solidFill>
                <a:latin typeface="Consolas" panose="020B0609020204030204" pitchFamily="49" charset="0"/>
              </a:rPr>
              <a:t> &gt; 0.0) &amp;&amp; (</a:t>
            </a:r>
            <a:r>
              <a:rPr lang="en-US" sz="1000" dirty="0" err="1">
                <a:solidFill>
                  <a:srgbClr val="000000"/>
                </a:solidFill>
                <a:latin typeface="Consolas" panose="020B0609020204030204" pitchFamily="49" charset="0"/>
              </a:rPr>
              <a:t>checkdist</a:t>
            </a:r>
            <a:r>
              <a:rPr lang="en-US" sz="1000" dirty="0">
                <a:solidFill>
                  <a:srgbClr val="000000"/>
                </a:solidFill>
                <a:latin typeface="Consolas" panose="020B0609020204030204" pitchFamily="49" charset="0"/>
              </a:rPr>
              <a:t> &lt; 20.0)) {</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ladar_data</a:t>
            </a:r>
            <a:r>
              <a:rPr lang="en-US" sz="1000" dirty="0">
                <a:solidFill>
                  <a:srgbClr val="000000"/>
                </a:solidFill>
                <a:latin typeface="Consolas" panose="020B0609020204030204" pitchFamily="49" charset="0"/>
              </a:rPr>
              <a:t>[</a:t>
            </a:r>
            <a:r>
              <a:rPr lang="en-US" sz="1000" dirty="0" err="1">
                <a:solidFill>
                  <a:srgbClr val="000000"/>
                </a:solidFill>
                <a:latin typeface="Consolas" panose="020B0609020204030204" pitchFamily="49" charset="0"/>
              </a:rPr>
              <a:t>dis_index</a:t>
            </a:r>
            <a:r>
              <a:rPr lang="en-US" sz="1000" dirty="0">
                <a:solidFill>
                  <a:srgbClr val="000000"/>
                </a:solidFill>
                <a:latin typeface="Consolas" panose="020B0609020204030204" pitchFamily="49" charset="0"/>
              </a:rPr>
              <a:t>].</a:t>
            </a:r>
            <a:r>
              <a:rPr lang="en-US" sz="1000" dirty="0" err="1">
                <a:solidFill>
                  <a:srgbClr val="0000C0"/>
                </a:solidFill>
                <a:latin typeface="Consolas" panose="020B0609020204030204" pitchFamily="49" charset="0"/>
              </a:rPr>
              <a:t>distance_ping</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checkdist</a:t>
            </a: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fill in the </a:t>
            </a:r>
            <a:r>
              <a:rPr lang="en-US" sz="1000" dirty="0" err="1">
                <a:solidFill>
                  <a:srgbClr val="3F7F5F"/>
                </a:solidFill>
                <a:latin typeface="Consolas" panose="020B0609020204030204" pitchFamily="49" charset="0"/>
              </a:rPr>
              <a:t>distance_ping</a:t>
            </a:r>
            <a:r>
              <a:rPr lang="en-US" sz="1000" dirty="0">
                <a:solidFill>
                  <a:srgbClr val="3F7F5F"/>
                </a:solidFill>
                <a:latin typeface="Consolas" panose="020B0609020204030204" pitchFamily="49" charset="0"/>
              </a:rPr>
              <a:t> array</a:t>
            </a:r>
          </a:p>
          <a:p>
            <a:pPr marL="114300" indent="0" algn="l">
              <a:lnSpc>
                <a:spcPct val="100000"/>
              </a:lnSpc>
              <a:spcBef>
                <a:spcPts val="0"/>
              </a:spcBef>
              <a:buNone/>
            </a:pPr>
            <a:r>
              <a:rPr lang="en-US" sz="1000" dirty="0">
                <a:solidFill>
                  <a:srgbClr val="000000"/>
                </a:solidFill>
                <a:latin typeface="Consolas" panose="020B0609020204030204" pitchFamily="49" charset="0"/>
              </a:rPr>
              <a:t>        } </a:t>
            </a:r>
            <a:r>
              <a:rPr lang="en-US" sz="1000" dirty="0">
                <a:solidFill>
                  <a:srgbClr val="7F0055"/>
                </a:solidFill>
                <a:latin typeface="Consolas" panose="020B0609020204030204" pitchFamily="49" charset="0"/>
              </a:rPr>
              <a:t>else</a:t>
            </a:r>
            <a:r>
              <a:rPr lang="en-US" sz="1000" dirty="0">
                <a:solidFill>
                  <a:srgbClr val="000000"/>
                </a:solidFill>
                <a:latin typeface="Consolas" panose="020B0609020204030204" pitchFamily="49" charset="0"/>
              </a:rPr>
              <a:t> {</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numRCXerrors</a:t>
            </a:r>
            <a:r>
              <a:rPr lang="en-US" sz="1000" dirty="0">
                <a:solidFill>
                  <a:srgbClr val="000000"/>
                </a:solidFill>
                <a:latin typeface="Consolas" panose="020B0609020204030204" pitchFamily="49" charset="0"/>
              </a:rPr>
              <a:t>++;</a:t>
            </a:r>
          </a:p>
          <a:p>
            <a:pPr marL="114300" indent="0" algn="l">
              <a:lnSpc>
                <a:spcPct val="100000"/>
              </a:lnSpc>
              <a:spcBef>
                <a:spcPts val="0"/>
              </a:spcBef>
              <a:buNone/>
            </a:pPr>
            <a:r>
              <a:rPr lang="pt-BR" sz="1000" dirty="0">
                <a:solidFill>
                  <a:srgbClr val="000000"/>
                </a:solidFill>
                <a:latin typeface="Consolas" panose="020B0609020204030204" pitchFamily="49" charset="0"/>
              </a:rPr>
              <a:t>            ladar_data[dis_index].</a:t>
            </a:r>
            <a:r>
              <a:rPr lang="pt-BR" sz="1000" dirty="0">
                <a:solidFill>
                  <a:srgbClr val="0000C0"/>
                </a:solidFill>
                <a:latin typeface="Consolas" panose="020B0609020204030204" pitchFamily="49" charset="0"/>
              </a:rPr>
              <a:t>distance_ping</a:t>
            </a:r>
            <a:r>
              <a:rPr lang="pt-BR" sz="1000" dirty="0">
                <a:solidFill>
                  <a:srgbClr val="000000"/>
                </a:solidFill>
                <a:latin typeface="Consolas" panose="020B0609020204030204" pitchFamily="49" charset="0"/>
              </a:rPr>
              <a:t> = ladar_data[dis_index].</a:t>
            </a:r>
            <a:r>
              <a:rPr lang="pt-BR" sz="1000" dirty="0">
                <a:solidFill>
                  <a:srgbClr val="0000C0"/>
                </a:solidFill>
                <a:latin typeface="Consolas" panose="020B0609020204030204" pitchFamily="49" charset="0"/>
              </a:rPr>
              <a:t>distance_pong</a:t>
            </a:r>
            <a:r>
              <a:rPr lang="pt-BR" sz="1000" dirty="0">
                <a:solidFill>
                  <a:srgbClr val="000000"/>
                </a:solidFill>
                <a:latin typeface="Consolas" panose="020B0609020204030204" pitchFamily="49" charset="0"/>
              </a:rPr>
              <a:t>;</a:t>
            </a:r>
          </a:p>
          <a:p>
            <a:pPr marL="114300" indent="0" algn="l">
              <a:lnSpc>
                <a:spcPct val="100000"/>
              </a:lnSpc>
              <a:spcBef>
                <a:spcPts val="0"/>
              </a:spcBef>
              <a:buNone/>
            </a:pPr>
            <a:r>
              <a:rPr lang="en-US" sz="1000" dirty="0">
                <a:solidFill>
                  <a:srgbClr val="000000"/>
                </a:solidFill>
                <a:latin typeface="Consolas" panose="020B0609020204030204" pitchFamily="49" charset="0"/>
              </a:rPr>
              <a:t>        }</a:t>
            </a:r>
          </a:p>
          <a:p>
            <a:pPr marL="114300" indent="0" algn="l">
              <a:lnSpc>
                <a:spcPct val="100000"/>
              </a:lnSpc>
              <a:spcBef>
                <a:spcPts val="0"/>
              </a:spcBef>
              <a:buNone/>
            </a:pPr>
            <a:r>
              <a:rPr lang="en-US" sz="1000" dirty="0">
                <a:solidFill>
                  <a:srgbClr val="000000"/>
                </a:solidFill>
                <a:latin typeface="Consolas" panose="020B0609020204030204" pitchFamily="49" charset="0"/>
              </a:rPr>
              <a:t>    } </a:t>
            </a:r>
            <a:r>
              <a:rPr lang="en-US" sz="1000" dirty="0">
                <a:solidFill>
                  <a:srgbClr val="7F0055"/>
                </a:solidFill>
                <a:latin typeface="Consolas" panose="020B0609020204030204" pitchFamily="49" charset="0"/>
              </a:rPr>
              <a:t>else</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if</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LADARpingpong</a:t>
            </a:r>
            <a:r>
              <a:rPr lang="en-US" sz="1000" dirty="0">
                <a:solidFill>
                  <a:srgbClr val="000000"/>
                </a:solidFill>
                <a:latin typeface="Consolas" panose="020B0609020204030204" pitchFamily="49" charset="0"/>
              </a:rPr>
              <a:t> == 1) {</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checkdist</a:t>
            </a:r>
            <a:r>
              <a:rPr lang="en-US" sz="1000" dirty="0">
                <a:solidFill>
                  <a:srgbClr val="000000"/>
                </a:solidFill>
                <a:latin typeface="Consolas" panose="020B0609020204030204" pitchFamily="49" charset="0"/>
              </a:rPr>
              <a:t> = distance*0.00328084;</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if</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checkdist</a:t>
            </a:r>
            <a:r>
              <a:rPr lang="en-US" sz="1000" dirty="0">
                <a:solidFill>
                  <a:srgbClr val="000000"/>
                </a:solidFill>
                <a:latin typeface="Consolas" panose="020B0609020204030204" pitchFamily="49" charset="0"/>
              </a:rPr>
              <a:t> &gt;= 0.0) &amp;&amp; (</a:t>
            </a:r>
            <a:r>
              <a:rPr lang="en-US" sz="1000" dirty="0" err="1">
                <a:solidFill>
                  <a:srgbClr val="000000"/>
                </a:solidFill>
                <a:latin typeface="Consolas" panose="020B0609020204030204" pitchFamily="49" charset="0"/>
              </a:rPr>
              <a:t>checkdist</a:t>
            </a:r>
            <a:r>
              <a:rPr lang="en-US" sz="1000" dirty="0">
                <a:solidFill>
                  <a:srgbClr val="000000"/>
                </a:solidFill>
                <a:latin typeface="Consolas" panose="020B0609020204030204" pitchFamily="49" charset="0"/>
              </a:rPr>
              <a:t> &lt; 20.0)) {</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ladar_data</a:t>
            </a:r>
            <a:r>
              <a:rPr lang="en-US" sz="1000" dirty="0">
                <a:solidFill>
                  <a:srgbClr val="000000"/>
                </a:solidFill>
                <a:latin typeface="Consolas" panose="020B0609020204030204" pitchFamily="49" charset="0"/>
              </a:rPr>
              <a:t>[</a:t>
            </a:r>
            <a:r>
              <a:rPr lang="en-US" sz="1000" dirty="0" err="1">
                <a:solidFill>
                  <a:srgbClr val="000000"/>
                </a:solidFill>
                <a:latin typeface="Consolas" panose="020B0609020204030204" pitchFamily="49" charset="0"/>
              </a:rPr>
              <a:t>dis_index</a:t>
            </a:r>
            <a:r>
              <a:rPr lang="en-US" sz="1000" dirty="0">
                <a:solidFill>
                  <a:srgbClr val="000000"/>
                </a:solidFill>
                <a:latin typeface="Consolas" panose="020B0609020204030204" pitchFamily="49" charset="0"/>
              </a:rPr>
              <a:t>].</a:t>
            </a:r>
            <a:r>
              <a:rPr lang="en-US" sz="1000" dirty="0" err="1">
                <a:solidFill>
                  <a:srgbClr val="0000C0"/>
                </a:solidFill>
                <a:latin typeface="Consolas" panose="020B0609020204030204" pitchFamily="49" charset="0"/>
              </a:rPr>
              <a:t>distance_pong</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checkdist</a:t>
            </a: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fill in the </a:t>
            </a:r>
            <a:r>
              <a:rPr lang="en-US" sz="1000" dirty="0" err="1">
                <a:solidFill>
                  <a:srgbClr val="3F7F5F"/>
                </a:solidFill>
                <a:latin typeface="Consolas" panose="020B0609020204030204" pitchFamily="49" charset="0"/>
              </a:rPr>
              <a:t>distance_ping</a:t>
            </a:r>
            <a:r>
              <a:rPr lang="en-US" sz="1000" dirty="0">
                <a:solidFill>
                  <a:srgbClr val="3F7F5F"/>
                </a:solidFill>
                <a:latin typeface="Consolas" panose="020B0609020204030204" pitchFamily="49" charset="0"/>
              </a:rPr>
              <a:t> array</a:t>
            </a:r>
          </a:p>
          <a:p>
            <a:pPr marL="114300" indent="0" algn="l">
              <a:lnSpc>
                <a:spcPct val="100000"/>
              </a:lnSpc>
              <a:spcBef>
                <a:spcPts val="0"/>
              </a:spcBef>
              <a:buNone/>
            </a:pPr>
            <a:r>
              <a:rPr lang="en-US" sz="1000" dirty="0">
                <a:solidFill>
                  <a:srgbClr val="000000"/>
                </a:solidFill>
                <a:latin typeface="Consolas" panose="020B0609020204030204" pitchFamily="49" charset="0"/>
              </a:rPr>
              <a:t>        } </a:t>
            </a:r>
            <a:r>
              <a:rPr lang="en-US" sz="1000" dirty="0">
                <a:solidFill>
                  <a:srgbClr val="7F0055"/>
                </a:solidFill>
                <a:latin typeface="Consolas" panose="020B0609020204030204" pitchFamily="49" charset="0"/>
              </a:rPr>
              <a:t>else</a:t>
            </a:r>
            <a:r>
              <a:rPr lang="en-US" sz="1000" dirty="0">
                <a:solidFill>
                  <a:srgbClr val="000000"/>
                </a:solidFill>
                <a:latin typeface="Consolas" panose="020B0609020204030204" pitchFamily="49" charset="0"/>
              </a:rPr>
              <a:t> {</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numRCXerrors</a:t>
            </a:r>
            <a:r>
              <a:rPr lang="en-US" sz="1000" dirty="0">
                <a:solidFill>
                  <a:srgbClr val="000000"/>
                </a:solidFill>
                <a:latin typeface="Consolas" panose="020B0609020204030204" pitchFamily="49" charset="0"/>
              </a:rPr>
              <a:t>++;</a:t>
            </a:r>
          </a:p>
          <a:p>
            <a:pPr marL="114300" indent="0" algn="l">
              <a:lnSpc>
                <a:spcPct val="100000"/>
              </a:lnSpc>
              <a:spcBef>
                <a:spcPts val="0"/>
              </a:spcBef>
              <a:buNone/>
            </a:pPr>
            <a:r>
              <a:rPr lang="pt-BR" sz="1000" dirty="0">
                <a:solidFill>
                  <a:srgbClr val="000000"/>
                </a:solidFill>
                <a:latin typeface="Consolas" panose="020B0609020204030204" pitchFamily="49" charset="0"/>
              </a:rPr>
              <a:t>            ladar_data[dis_index].</a:t>
            </a:r>
            <a:r>
              <a:rPr lang="pt-BR" sz="1000" dirty="0">
                <a:solidFill>
                  <a:srgbClr val="0000C0"/>
                </a:solidFill>
                <a:latin typeface="Consolas" panose="020B0609020204030204" pitchFamily="49" charset="0"/>
              </a:rPr>
              <a:t>distance_pong</a:t>
            </a:r>
            <a:r>
              <a:rPr lang="pt-BR" sz="1000" dirty="0">
                <a:solidFill>
                  <a:srgbClr val="000000"/>
                </a:solidFill>
                <a:latin typeface="Consolas" panose="020B0609020204030204" pitchFamily="49" charset="0"/>
              </a:rPr>
              <a:t> = ladar_data[dis_index].</a:t>
            </a:r>
            <a:r>
              <a:rPr lang="pt-BR" sz="1000" dirty="0">
                <a:solidFill>
                  <a:srgbClr val="0000C0"/>
                </a:solidFill>
                <a:latin typeface="Consolas" panose="020B0609020204030204" pitchFamily="49" charset="0"/>
              </a:rPr>
              <a:t>distance_ping</a:t>
            </a:r>
            <a:r>
              <a:rPr lang="pt-BR" sz="1000" dirty="0">
                <a:solidFill>
                  <a:srgbClr val="000000"/>
                </a:solidFill>
                <a:latin typeface="Consolas" panose="020B0609020204030204" pitchFamily="49" charset="0"/>
              </a:rPr>
              <a:t>;</a:t>
            </a:r>
          </a:p>
          <a:p>
            <a:pPr marL="114300" indent="0" algn="l">
              <a:lnSpc>
                <a:spcPct val="100000"/>
              </a:lnSpc>
              <a:spcBef>
                <a:spcPts val="0"/>
              </a:spcBef>
              <a:buNone/>
            </a:pPr>
            <a:r>
              <a:rPr lang="en-US" sz="1000" dirty="0">
                <a:solidFill>
                  <a:srgbClr val="000000"/>
                </a:solidFill>
                <a:latin typeface="Consolas" panose="020B0609020204030204" pitchFamily="49" charset="0"/>
              </a:rPr>
              <a:t>        }</a:t>
            </a:r>
          </a:p>
          <a:p>
            <a:pPr marL="114300" indent="0" algn="l">
              <a:lnSpc>
                <a:spcPct val="100000"/>
              </a:lnSpc>
              <a:spcBef>
                <a:spcPts val="0"/>
              </a:spcBef>
              <a:buNone/>
            </a:pPr>
            <a:r>
              <a:rPr lang="en-US" sz="1000" dirty="0">
                <a:solidFill>
                  <a:srgbClr val="000000"/>
                </a:solidFill>
                <a:latin typeface="Consolas" panose="020B0609020204030204" pitchFamily="49" charset="0"/>
              </a:rPr>
              <a:t>    }</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dis_index</a:t>
            </a:r>
            <a:r>
              <a:rPr lang="en-US" sz="1000" dirty="0">
                <a:solidFill>
                  <a:srgbClr val="000000"/>
                </a:solidFill>
                <a:latin typeface="Consolas" panose="020B0609020204030204" pitchFamily="49" charset="0"/>
              </a:rPr>
              <a:t> += 1;</a:t>
            </a:r>
          </a:p>
          <a:p>
            <a:pPr marL="114300" indent="0" algn="l">
              <a:lnSpc>
                <a:spcPct val="100000"/>
              </a:lnSpc>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get_dis_first</a:t>
            </a:r>
            <a:r>
              <a:rPr lang="en-US" sz="1000" dirty="0">
                <a:solidFill>
                  <a:srgbClr val="000000"/>
                </a:solidFill>
                <a:latin typeface="Consolas" panose="020B0609020204030204" pitchFamily="49" charset="0"/>
              </a:rPr>
              <a:t> = 1;</a:t>
            </a:r>
          </a:p>
          <a:p>
            <a:pPr marL="114300" indent="0" algn="l">
              <a:lnSpc>
                <a:spcPct val="100000"/>
              </a:lnSpc>
              <a:spcBef>
                <a:spcPts val="0"/>
              </a:spcBef>
              <a:buNone/>
            </a:pPr>
            <a:r>
              <a:rPr lang="en-US" sz="1000" dirty="0">
                <a:solidFill>
                  <a:srgbClr val="000000"/>
                </a:solidFill>
                <a:latin typeface="Consolas" panose="020B0609020204030204" pitchFamily="49" charset="0"/>
              </a:rPr>
              <a:t>}</a:t>
            </a:r>
          </a:p>
        </p:txBody>
      </p:sp>
      <p:sp>
        <p:nvSpPr>
          <p:cNvPr id="119" name="Google Shape;119;p29">
            <a:extLst>
              <a:ext uri="{FF2B5EF4-FFF2-40B4-BE49-F238E27FC236}">
                <a16:creationId xmlns:a16="http://schemas.microsoft.com/office/drawing/2014/main" id="{0B3CE8DB-5DCD-1834-0EC2-AC494087DED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3F1989E-7E72-E12E-CBF4-4387012E648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(10/18)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40787D7-E78B-BDF5-4224-B9DC28341FE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135F7AB-A202-7550-0B2B-DAE23326333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FA29C4F-09B6-4A6A-3916-EEF9EF7DD3A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F46B3E7-E003-048A-0D42-3C8EEF4D1CC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3166C7D-1A6F-9173-FD5F-86B059BD3B4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9A45A7B-4603-B5EA-5B1B-CBE095C5557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State diagram of the LiDAR receive interrupt. State 0 waits for the character 'G', then moves to State 1, which counts header bytes, loops while the count is under 11, and returns to State 0 if the 11th byte isn't '0'. After 12 header bytes, distance bytes alternate between two states. High byte: temp equals RXC minus 0x30, shifted left 6. Low byte: dist equals temp plus RXC minus 0x30. A dist of 0 or 6 becomes MAX, 16 becomes 4096, and the result is stored in the ping/pong array. Each linefeed increments a counter. The second linefeed ends the stream, triggers SWI2, toggles the ping/pong flag, and returns to State 0.">
            <a:extLst>
              <a:ext uri="{FF2B5EF4-FFF2-40B4-BE49-F238E27FC236}">
                <a16:creationId xmlns:a16="http://schemas.microsoft.com/office/drawing/2014/main" id="{4C8F5941-36FB-E6BC-27C0-9366122C7FD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113660" y="1407029"/>
            <a:ext cx="5001607" cy="4675602"/>
          </a:xfrm>
          <a:prstGeom prst="rect">
            <a:avLst/>
          </a:prstGeom>
        </p:spPr>
      </p:pic>
      <p:cxnSp>
        <p:nvCxnSpPr>
          <p:cNvPr id="2" name="Straight Arrow Connector 1">
            <a:extLst>
              <a:ext uri="{FF2B5EF4-FFF2-40B4-BE49-F238E27FC236}">
                <a16:creationId xmlns:a16="http://schemas.microsoft.com/office/drawing/2014/main" id="{324227F1-34B0-FA28-BF0E-E64A8CD1C1D4}"/>
              </a:ext>
            </a:extLst>
          </p:cNvPr>
          <p:cNvCxnSpPr>
            <a:cxnSpLocks/>
          </p:cNvCxnSpPr>
          <p:nvPr/>
        </p:nvCxnSpPr>
        <p:spPr>
          <a:xfrm>
            <a:off x="5078341" y="2052604"/>
            <a:ext cx="5952009" cy="21932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28300E78-DEEA-DA76-6469-445A46667755}"/>
              </a:ext>
            </a:extLst>
          </p:cNvPr>
          <p:cNvCxnSpPr>
            <a:cxnSpLocks/>
          </p:cNvCxnSpPr>
          <p:nvPr/>
        </p:nvCxnSpPr>
        <p:spPr>
          <a:xfrm>
            <a:off x="6096000" y="3273936"/>
            <a:ext cx="4934350" cy="11254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E89ACE3-4228-99D1-3DDD-0763BCC07D3A}"/>
              </a:ext>
            </a:extLst>
          </p:cNvPr>
          <p:cNvCxnSpPr>
            <a:cxnSpLocks/>
          </p:cNvCxnSpPr>
          <p:nvPr/>
        </p:nvCxnSpPr>
        <p:spPr>
          <a:xfrm flipV="1">
            <a:off x="6912352" y="4399351"/>
            <a:ext cx="4117998" cy="12788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09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8">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8">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8">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8">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8">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8">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8">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8">
                                            <p:txEl>
                                              <p:pRg st="15" end="1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8">
                                            <p:txEl>
                                              <p:pRg st="16" end="16"/>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8">
                                            <p:txEl>
                                              <p:pRg st="17" end="17"/>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8">
                                            <p:txEl>
                                              <p:pRg st="18" end="18"/>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8">
                                            <p:txEl>
                                              <p:pRg st="19" end="19"/>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8">
                                            <p:txEl>
                                              <p:pRg st="20" end="2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8">
                                            <p:txEl>
                                              <p:pRg st="21" end="21"/>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8">
                                            <p:txEl>
                                              <p:pRg st="22" end="22"/>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8">
                                            <p:txEl>
                                              <p:pRg st="23" end="23"/>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8">
                                            <p:txEl>
                                              <p:pRg st="24" end="24"/>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8">
                                            <p:txEl>
                                              <p:pRg st="25" end="2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9CC9664-B147-D3FC-9140-283B7592E82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1BBBC79-743B-441A-93AC-C9413A33A63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800" dirty="0">
                <a:latin typeface="Atkinson Hyperlegible Next"/>
                <a:ea typeface="Arial"/>
                <a:cs typeface="Arial"/>
                <a:sym typeface="Arial"/>
              </a:rPr>
              <a:t>The sensor has a scanning speed of 100 msec / scan ( so 10 Hz ) and we want to communicate with at a baud rate of 115200.</a:t>
            </a:r>
          </a:p>
          <a:p>
            <a:pPr marL="285750" indent="-285750">
              <a:lnSpc>
                <a:spcPct val="100000"/>
              </a:lnSpc>
              <a:spcBef>
                <a:spcPts val="0"/>
              </a:spcBef>
              <a:buSzPts val="3000"/>
            </a:pPr>
            <a:r>
              <a:rPr lang="en-US" sz="1800" dirty="0">
                <a:latin typeface="Atkinson Hyperlegible Next"/>
                <a:ea typeface="Arial"/>
                <a:cs typeface="Arial"/>
                <a:sym typeface="Arial"/>
              </a:rPr>
              <a:t>As such in the main function we do the initialization:</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200" dirty="0" err="1">
                <a:solidFill>
                  <a:srgbClr val="642880"/>
                </a:solidFill>
                <a:latin typeface="Consolas" panose="020B0609020204030204" pitchFamily="49" charset="0"/>
              </a:rPr>
              <a:t>ConfigCpuTimer</a:t>
            </a:r>
            <a:r>
              <a:rPr lang="en-US" sz="1200" dirty="0">
                <a:solidFill>
                  <a:srgbClr val="000000"/>
                </a:solidFill>
                <a:latin typeface="Consolas" panose="020B0609020204030204" pitchFamily="49" charset="0"/>
              </a:rPr>
              <a:t>(&amp;CpuTimer1, LAUNCHPAD_CPU_FREQUENCY, 100000); </a:t>
            </a:r>
            <a:r>
              <a:rPr lang="en-US" sz="1200" dirty="0">
                <a:solidFill>
                  <a:srgbClr val="3F7F5F"/>
                </a:solidFill>
                <a:latin typeface="Consolas" panose="020B0609020204030204" pitchFamily="49" charset="0"/>
              </a:rPr>
              <a:t>// 10 Hz timer</a:t>
            </a:r>
            <a:endParaRPr lang="en-US" sz="1200" dirty="0">
              <a:solidFill>
                <a:srgbClr val="000000"/>
              </a:solidFill>
              <a:latin typeface="Consolas" panose="020B0609020204030204" pitchFamily="49" charset="0"/>
              <a:cs typeface="Arial"/>
              <a:sym typeface="Arial"/>
            </a:endParaRPr>
          </a:p>
          <a:p>
            <a:pPr marL="0" indent="0">
              <a:lnSpc>
                <a:spcPct val="100000"/>
              </a:lnSpc>
              <a:spcBef>
                <a:spcPts val="0"/>
              </a:spcBef>
              <a:buSzPts val="3000"/>
              <a:buNone/>
            </a:pPr>
            <a:r>
              <a:rPr lang="en-US" sz="1200" dirty="0" err="1">
                <a:solidFill>
                  <a:srgbClr val="000000"/>
                </a:solidFill>
                <a:latin typeface="Consolas" panose="020B0609020204030204" pitchFamily="49" charset="0"/>
              </a:rPr>
              <a:t>init_serialSCIC</a:t>
            </a:r>
            <a:r>
              <a:rPr lang="en-US" sz="1200" dirty="0">
                <a:solidFill>
                  <a:srgbClr val="000000"/>
                </a:solidFill>
                <a:latin typeface="Consolas" panose="020B0609020204030204" pitchFamily="49" charset="0"/>
              </a:rPr>
              <a:t>(&amp;SerialC,19200); </a:t>
            </a:r>
            <a:r>
              <a:rPr lang="en-US" sz="1200" dirty="0">
                <a:solidFill>
                  <a:srgbClr val="3F7F5F"/>
                </a:solidFill>
                <a:latin typeface="Consolas" panose="020B0609020204030204" pitchFamily="49" charset="0"/>
              </a:rPr>
              <a:t>//remember that the initial baud rate is 19200!</a:t>
            </a:r>
            <a:endParaRPr lang="en-US" sz="1200" dirty="0">
              <a:solidFill>
                <a:srgbClr val="3F7F5F"/>
              </a:solidFill>
              <a:latin typeface="Atkinson Hyperlegible Next"/>
              <a:cs typeface="Arial"/>
              <a:sym typeface="Arial"/>
            </a:endParaRPr>
          </a:p>
          <a:p>
            <a:pPr marL="0" indent="0">
              <a:lnSpc>
                <a:spcPct val="100000"/>
              </a:lnSpc>
              <a:spcBef>
                <a:spcPts val="0"/>
              </a:spcBef>
              <a:buSzPts val="3000"/>
              <a:buNone/>
            </a:pPr>
            <a:endParaRPr lang="en-US" sz="1200" dirty="0">
              <a:latin typeface="Atkinson Hyperlegible Next"/>
              <a:cs typeface="Arial"/>
              <a:sym typeface="Arial"/>
            </a:endParaRPr>
          </a:p>
          <a:p>
            <a:pPr marL="114300" indent="0" algn="l">
              <a:buNone/>
            </a:pPr>
            <a:r>
              <a:rPr lang="en-US" sz="1200" dirty="0">
                <a:solidFill>
                  <a:srgbClr val="7F0055"/>
                </a:solidFill>
                <a:latin typeface="Consolas" panose="020B0609020204030204" pitchFamily="49" charset="0"/>
              </a:rPr>
              <a:t>char</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S_command</a:t>
            </a:r>
            <a:r>
              <a:rPr lang="en-US" sz="1200" dirty="0">
                <a:solidFill>
                  <a:srgbClr val="000000"/>
                </a:solidFill>
                <a:latin typeface="Consolas" panose="020B0609020204030204" pitchFamily="49" charset="0"/>
              </a:rPr>
              <a:t>[19] = </a:t>
            </a:r>
            <a:r>
              <a:rPr lang="en-US" sz="1200" dirty="0">
                <a:solidFill>
                  <a:srgbClr val="2A00FF"/>
                </a:solidFill>
                <a:latin typeface="Consolas" panose="020B0609020204030204" pitchFamily="49" charset="0"/>
              </a:rPr>
              <a:t>"S1152000124000\n"</a:t>
            </a: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this changes the baud rate to 115200</a:t>
            </a:r>
          </a:p>
          <a:p>
            <a:pPr marL="114300" indent="0" algn="l">
              <a:buNone/>
            </a:pPr>
            <a:r>
              <a:rPr lang="en-US" sz="1200" dirty="0">
                <a:solidFill>
                  <a:srgbClr val="005032"/>
                </a:solidFill>
                <a:latin typeface="Consolas" panose="020B0609020204030204" pitchFamily="49" charset="0"/>
              </a:rPr>
              <a:t>uint16_t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S_len</a:t>
            </a:r>
            <a:r>
              <a:rPr lang="en-US" sz="1200" dirty="0">
                <a:solidFill>
                  <a:srgbClr val="000000"/>
                </a:solidFill>
                <a:latin typeface="Consolas" panose="020B0609020204030204" pitchFamily="49" charset="0"/>
              </a:rPr>
              <a:t> = 19;</a:t>
            </a:r>
          </a:p>
          <a:p>
            <a:pPr marL="114300" indent="0" algn="l">
              <a:buNone/>
            </a:pPr>
            <a:r>
              <a:rPr lang="en-US" sz="1200" dirty="0" err="1">
                <a:solidFill>
                  <a:srgbClr val="000000"/>
                </a:solidFill>
                <a:latin typeface="Consolas" panose="020B0609020204030204" pitchFamily="49" charset="0"/>
              </a:rPr>
              <a:t>serial_sendSCIC</a:t>
            </a:r>
            <a:r>
              <a:rPr lang="en-US" sz="1200" dirty="0">
                <a:solidFill>
                  <a:srgbClr val="000000"/>
                </a:solidFill>
                <a:latin typeface="Consolas" panose="020B0609020204030204" pitchFamily="49" charset="0"/>
              </a:rPr>
              <a:t>(&amp;</a:t>
            </a:r>
            <a:r>
              <a:rPr lang="en-US" sz="1200" dirty="0" err="1">
                <a:solidFill>
                  <a:srgbClr val="000000"/>
                </a:solidFill>
                <a:latin typeface="Consolas" panose="020B0609020204030204" pitchFamily="49" charset="0"/>
              </a:rPr>
              <a:t>SerialC</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S_command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S_len</a:t>
            </a:r>
            <a:r>
              <a:rPr lang="en-US" sz="1200" dirty="0">
                <a:solidFill>
                  <a:srgbClr val="000000"/>
                </a:solidFill>
                <a:latin typeface="Consolas" panose="020B0609020204030204" pitchFamily="49" charset="0"/>
              </a:rPr>
              <a:t>);</a:t>
            </a:r>
          </a:p>
          <a:p>
            <a:pPr algn="l"/>
            <a:endParaRPr lang="en-US" sz="1200" dirty="0">
              <a:solidFill>
                <a:srgbClr val="000000"/>
              </a:solidFill>
              <a:latin typeface="Consolas" panose="020B0609020204030204" pitchFamily="49" charset="0"/>
            </a:endParaRPr>
          </a:p>
          <a:p>
            <a:pPr marL="114300" indent="0" algn="l">
              <a:buNone/>
            </a:pPr>
            <a:r>
              <a:rPr lang="en-US" sz="1200" dirty="0">
                <a:solidFill>
                  <a:srgbClr val="000000"/>
                </a:solidFill>
                <a:latin typeface="Consolas" panose="020B0609020204030204" pitchFamily="49" charset="0"/>
              </a:rPr>
              <a:t>DELAY_US(1000000); </a:t>
            </a:r>
            <a:r>
              <a:rPr lang="en-US" sz="1200" dirty="0">
                <a:solidFill>
                  <a:srgbClr val="3F7F5F"/>
                </a:solidFill>
                <a:latin typeface="Consolas" panose="020B0609020204030204" pitchFamily="49" charset="0"/>
              </a:rPr>
              <a:t>// Delay letting LADAR change its Baud rate</a:t>
            </a:r>
          </a:p>
          <a:p>
            <a:pPr marL="114300" indent="0">
              <a:buNone/>
            </a:pPr>
            <a:r>
              <a:rPr lang="en-US" sz="1200" dirty="0" err="1">
                <a:solidFill>
                  <a:srgbClr val="000000"/>
                </a:solidFill>
                <a:latin typeface="Consolas" panose="020B0609020204030204" pitchFamily="49" charset="0"/>
              </a:rPr>
              <a:t>init_serialSCIC</a:t>
            </a:r>
            <a:r>
              <a:rPr lang="en-US" sz="1200" dirty="0">
                <a:solidFill>
                  <a:srgbClr val="000000"/>
                </a:solidFill>
                <a:latin typeface="Consolas" panose="020B0609020204030204" pitchFamily="49" charset="0"/>
              </a:rPr>
              <a:t>(&amp;SerialC,115200); </a:t>
            </a:r>
            <a:r>
              <a:rPr lang="en-US" sz="1200" dirty="0">
                <a:solidFill>
                  <a:srgbClr val="3F7F5F"/>
                </a:solidFill>
                <a:latin typeface="Consolas" panose="020B0609020204030204" pitchFamily="49" charset="0"/>
              </a:rPr>
              <a:t>// Use the new baud rate for communication</a:t>
            </a:r>
          </a:p>
          <a:p>
            <a:pPr marL="114300" indent="0">
              <a:buNone/>
            </a:pPr>
            <a:endParaRPr lang="en-US" sz="1200" dirty="0">
              <a:solidFill>
                <a:srgbClr val="3F7F5F"/>
              </a:solidFill>
              <a:latin typeface="Consolas" panose="020B0609020204030204" pitchFamily="49" charset="0"/>
            </a:endParaRPr>
          </a:p>
          <a:p>
            <a:pPr marL="114300" indent="0">
              <a:buNone/>
            </a:pPr>
            <a:r>
              <a:rPr lang="en-US" sz="1200" dirty="0">
                <a:solidFill>
                  <a:srgbClr val="7F0055"/>
                </a:solidFill>
                <a:latin typeface="Consolas" panose="020B0609020204030204" pitchFamily="49" charset="0"/>
              </a:rPr>
              <a:t>for</a:t>
            </a:r>
            <a:r>
              <a:rPr lang="en-US" sz="1200" dirty="0">
                <a:solidFill>
                  <a:srgbClr val="000000"/>
                </a:solidFill>
                <a:latin typeface="Consolas" panose="020B0609020204030204" pitchFamily="49" charset="0"/>
              </a:rPr>
              <a:t> (LADARi = 0; LADARi &lt; 228; LADARi++) { </a:t>
            </a:r>
            <a:r>
              <a:rPr lang="en-US" sz="1200" dirty="0">
                <a:solidFill>
                  <a:srgbClr val="3F7F5F"/>
                </a:solidFill>
                <a:latin typeface="Consolas" panose="020B0609020204030204" pitchFamily="49" charset="0"/>
              </a:rPr>
              <a:t>// the angle each point will be at will be constant</a:t>
            </a:r>
            <a:endParaRPr lang="en-US" sz="1200" dirty="0">
              <a:solidFill>
                <a:srgbClr val="000000"/>
              </a:solidFill>
              <a:latin typeface="Consolas" panose="020B0609020204030204" pitchFamily="49" charset="0"/>
            </a:endParaRPr>
          </a:p>
          <a:p>
            <a:pPr marL="114300" indent="0">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ladar_data</a:t>
            </a:r>
            <a:r>
              <a:rPr lang="en-US" sz="1200" dirty="0">
                <a:solidFill>
                  <a:srgbClr val="000000"/>
                </a:solidFill>
                <a:latin typeface="Consolas" panose="020B0609020204030204" pitchFamily="49" charset="0"/>
              </a:rPr>
              <a:t>[LADARi].</a:t>
            </a:r>
            <a:r>
              <a:rPr lang="en-US" sz="1200" dirty="0">
                <a:solidFill>
                  <a:srgbClr val="0000C0"/>
                </a:solidFill>
                <a:latin typeface="Consolas" panose="020B0609020204030204" pitchFamily="49" charset="0"/>
              </a:rPr>
              <a:t>angle</a:t>
            </a:r>
            <a:r>
              <a:rPr lang="en-US" sz="1200" dirty="0">
                <a:solidFill>
                  <a:srgbClr val="000000"/>
                </a:solidFill>
                <a:latin typeface="Consolas" panose="020B0609020204030204" pitchFamily="49" charset="0"/>
              </a:rPr>
              <a:t> = ((3*LADARi+44)*0.3515625-135)*0.01745329; </a:t>
            </a:r>
            <a:r>
              <a:rPr lang="en-US" sz="1200" dirty="0">
                <a:solidFill>
                  <a:srgbClr val="3F7F5F"/>
                </a:solidFill>
                <a:latin typeface="Consolas" panose="020B0609020204030204" pitchFamily="49" charset="0"/>
              </a:rPr>
              <a:t>//0.017453292519943 is pi/180, multiplication is faster; 0.3515625 is 360/1024</a:t>
            </a:r>
          </a:p>
          <a:p>
            <a:pPr marL="114300" indent="0">
              <a:buNone/>
            </a:pPr>
            <a:r>
              <a:rPr lang="en-US" sz="1200" dirty="0">
                <a:solidFill>
                  <a:srgbClr val="000000"/>
                </a:solidFill>
                <a:latin typeface="Consolas" panose="020B0609020204030204" pitchFamily="49" charset="0"/>
              </a:rPr>
              <a:t>}</a:t>
            </a:r>
            <a:endParaRPr lang="en-US" sz="18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D0F1D3C1-7F17-281C-8527-2F6B18B7591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A0FEC54-21FA-B537-1E61-2ED8FBA72AE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(11/18)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6AD7CCA-6613-F0A7-7608-59190CEF2E2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D1EAE43-31D4-6B65-FADB-3FB6642025C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346B575-D69B-841A-B9CA-83B0333A8A9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D75B0F5-B3F3-4FA5-7E1B-03385CED434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2164E51-7B09-A72C-E7DE-0BEB9AFA1BD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F46864D-C9FA-FB89-1D60-D686FCBE0CA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6343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8">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8">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8">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C17640C-DEE3-8EB5-79F5-8DB778301F1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355D15D-B2E5-F087-F203-A277D52C98B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400" dirty="0">
                <a:latin typeface="Atkinson Hyperlegible Next"/>
                <a:ea typeface="Arial"/>
                <a:cs typeface="Arial"/>
                <a:sym typeface="Arial"/>
              </a:rPr>
              <a:t>We use CPU Timer 1 to call the SCI command for reading the LiDAR information</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114300" indent="0">
              <a:buNone/>
            </a:pPr>
            <a:r>
              <a:rPr lang="en-US" sz="2400" dirty="0">
                <a:solidFill>
                  <a:srgbClr val="000000"/>
                </a:solidFill>
                <a:latin typeface="Consolas" panose="020B0609020204030204" pitchFamily="49" charset="0"/>
              </a:rPr>
              <a:t>__interrupt </a:t>
            </a:r>
            <a:r>
              <a:rPr lang="en-US" sz="2400" dirty="0">
                <a:solidFill>
                  <a:srgbClr val="7F0055"/>
                </a:solidFill>
                <a:latin typeface="Consolas" panose="020B0609020204030204" pitchFamily="49" charset="0"/>
              </a:rPr>
              <a:t>void</a:t>
            </a:r>
            <a:r>
              <a:rPr lang="en-US" sz="2400" dirty="0">
                <a:solidFill>
                  <a:srgbClr val="000000"/>
                </a:solidFill>
                <a:latin typeface="Consolas" panose="020B0609020204030204" pitchFamily="49" charset="0"/>
              </a:rPr>
              <a:t> cpu_timer1_isr(</a:t>
            </a:r>
            <a:r>
              <a:rPr lang="en-US" sz="2400" dirty="0">
                <a:solidFill>
                  <a:srgbClr val="7F0055"/>
                </a:solidFill>
                <a:latin typeface="Consolas" panose="020B0609020204030204" pitchFamily="49" charset="0"/>
              </a:rPr>
              <a:t>void</a:t>
            </a:r>
            <a:r>
              <a:rPr lang="en-US" sz="2400" dirty="0">
                <a:solidFill>
                  <a:srgbClr val="000000"/>
                </a:solidFill>
                <a:latin typeface="Consolas" panose="020B0609020204030204" pitchFamily="49" charset="0"/>
              </a:rPr>
              <a:t>)</a:t>
            </a:r>
          </a:p>
          <a:p>
            <a:pPr marL="114300" indent="0">
              <a:buNone/>
            </a:pPr>
            <a:r>
              <a:rPr lang="en-US" sz="2400" dirty="0">
                <a:solidFill>
                  <a:srgbClr val="000000"/>
                </a:solidFill>
                <a:latin typeface="Consolas" panose="020B0609020204030204" pitchFamily="49" charset="0"/>
              </a:rPr>
              <a:t>{</a:t>
            </a:r>
            <a:endParaRPr lang="en-US" sz="2400" dirty="0">
              <a:latin typeface="Consolas" panose="020B0609020204030204" pitchFamily="49" charset="0"/>
            </a:endParaRPr>
          </a:p>
          <a:p>
            <a:pPr marL="114300" indent="0">
              <a:buNone/>
            </a:pP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serial_sendSCIC</a:t>
            </a:r>
            <a:r>
              <a:rPr lang="en-US" sz="2400" dirty="0">
                <a:solidFill>
                  <a:srgbClr val="000000"/>
                </a:solidFill>
                <a:latin typeface="Consolas" panose="020B0609020204030204" pitchFamily="49" charset="0"/>
              </a:rPr>
              <a:t>(&amp;</a:t>
            </a:r>
            <a:r>
              <a:rPr lang="en-US" sz="2400" dirty="0" err="1">
                <a:solidFill>
                  <a:srgbClr val="000000"/>
                </a:solidFill>
                <a:latin typeface="Consolas" panose="020B0609020204030204" pitchFamily="49" charset="0"/>
              </a:rPr>
              <a:t>SerialC</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G_command</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G_len</a:t>
            </a:r>
            <a:r>
              <a:rPr lang="en-US" sz="2400" dirty="0">
                <a:solidFill>
                  <a:srgbClr val="000000"/>
                </a:solidFill>
                <a:latin typeface="Consolas" panose="020B0609020204030204" pitchFamily="49" charset="0"/>
              </a:rPr>
              <a:t>);</a:t>
            </a:r>
            <a:endParaRPr lang="en-US" sz="2400" dirty="0">
              <a:latin typeface="Consolas" panose="020B0609020204030204" pitchFamily="49" charset="0"/>
            </a:endParaRPr>
          </a:p>
          <a:p>
            <a:pPr marL="114300" indent="0">
              <a:buNone/>
            </a:pPr>
            <a:r>
              <a:rPr lang="en-US" sz="2400" dirty="0">
                <a:solidFill>
                  <a:srgbClr val="000000"/>
                </a:solidFill>
                <a:latin typeface="Consolas" panose="020B0609020204030204" pitchFamily="49" charset="0"/>
              </a:rPr>
              <a:t>    CpuTimer1.</a:t>
            </a:r>
            <a:r>
              <a:rPr lang="en-US" sz="2400" dirty="0">
                <a:solidFill>
                  <a:srgbClr val="0000C0"/>
                </a:solidFill>
                <a:latin typeface="Consolas" panose="020B0609020204030204" pitchFamily="49" charset="0"/>
              </a:rPr>
              <a:t>InterruptCount</a:t>
            </a:r>
            <a:r>
              <a:rPr lang="en-US" sz="2400" dirty="0">
                <a:solidFill>
                  <a:srgbClr val="000000"/>
                </a:solidFill>
                <a:latin typeface="Consolas" panose="020B0609020204030204" pitchFamily="49" charset="0"/>
              </a:rPr>
              <a:t>++;</a:t>
            </a:r>
          </a:p>
          <a:p>
            <a:pPr marL="114300" indent="0">
              <a:buNone/>
            </a:pPr>
            <a:r>
              <a:rPr lang="en-US" sz="2400" dirty="0">
                <a:solidFill>
                  <a:srgbClr val="000000"/>
                </a:solidFill>
                <a:latin typeface="Consolas" panose="020B0609020204030204" pitchFamily="49" charset="0"/>
              </a:rPr>
              <a:t>}</a:t>
            </a:r>
          </a:p>
          <a:p>
            <a:pPr marL="114300" indent="0">
              <a:buNone/>
            </a:pPr>
            <a:endParaRPr lang="en-US" sz="2400" dirty="0">
              <a:solidFill>
                <a:srgbClr val="000000"/>
              </a:solidFill>
              <a:latin typeface="Consolas" panose="020B0609020204030204" pitchFamily="49" charset="0"/>
            </a:endParaRPr>
          </a:p>
          <a:p>
            <a:pPr marL="114300" indent="0">
              <a:buNone/>
            </a:pPr>
            <a:r>
              <a:rPr lang="en-US" sz="2400" dirty="0">
                <a:latin typeface="Atkinson Hyperlegible Next"/>
                <a:ea typeface="Arial"/>
                <a:cs typeface="Arial"/>
                <a:sym typeface="Arial"/>
              </a:rPr>
              <a:t>So, every 10Hz timer 1 sends the ‘G’ command to collect the new data into the </a:t>
            </a:r>
            <a:r>
              <a:rPr lang="en-US" sz="2400" dirty="0" err="1">
                <a:latin typeface="Atkinson Hyperlegible Next"/>
                <a:ea typeface="Arial"/>
                <a:cs typeface="Arial"/>
                <a:sym typeface="Arial"/>
              </a:rPr>
              <a:t>lidar_data</a:t>
            </a:r>
            <a:r>
              <a:rPr lang="en-US" sz="2400" dirty="0">
                <a:latin typeface="Atkinson Hyperlegible Next"/>
                <a:ea typeface="Arial"/>
                <a:cs typeface="Arial"/>
                <a:sym typeface="Arial"/>
              </a:rPr>
              <a:t> buffer.</a:t>
            </a:r>
          </a:p>
        </p:txBody>
      </p:sp>
      <p:sp>
        <p:nvSpPr>
          <p:cNvPr id="119" name="Google Shape;119;p29">
            <a:extLst>
              <a:ext uri="{FF2B5EF4-FFF2-40B4-BE49-F238E27FC236}">
                <a16:creationId xmlns:a16="http://schemas.microsoft.com/office/drawing/2014/main" id="{F5107F29-21B3-FF93-598F-4782E40F1B6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05BE6CF-7171-A512-DF81-B2C7D450BE5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(12/18)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606F31C-DC2C-77A1-432A-CD48717B148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33D6D8F-8D82-D234-759D-B0948C66004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35E3F84-BCEF-20E6-1176-9AE33529A63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FBDC07B-E576-8226-8AE1-0B741459AD4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525984B-32E4-75A1-A9E0-9763CDF6D3C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6CBF953-65B7-D1B7-D77A-5C136BC15EB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3621363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8A09F29-44E0-1BAA-F0E6-969EF578A8B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C322A7F-027C-081A-EF6A-F6B75BF1BF5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800" dirty="0">
                <a:latin typeface="Atkinson Hyperlegible Next"/>
                <a:ea typeface="Arial"/>
                <a:cs typeface="Arial"/>
                <a:sym typeface="Arial"/>
              </a:rPr>
              <a:t>Once we get all the information from the SCI interrupt it triggers a software interrupt </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114300" indent="0" algn="l">
              <a:buNone/>
            </a:pPr>
            <a:r>
              <a:rPr lang="en-US" sz="1200" dirty="0">
                <a:solidFill>
                  <a:srgbClr val="7F0055"/>
                </a:solidFill>
                <a:latin typeface="Consolas" panose="020B0609020204030204" pitchFamily="49" charset="0"/>
              </a:rPr>
              <a:t>if</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LF_count</a:t>
            </a:r>
            <a:r>
              <a:rPr lang="en-US" sz="1200" dirty="0">
                <a:solidFill>
                  <a:srgbClr val="000000"/>
                </a:solidFill>
                <a:latin typeface="Consolas" panose="020B0609020204030204" pitchFamily="49" charset="0"/>
              </a:rPr>
              <a:t> == 2) { </a:t>
            </a:r>
            <a:r>
              <a:rPr lang="en-US" sz="1200" dirty="0">
                <a:solidFill>
                  <a:srgbClr val="3F7F5F"/>
                </a:solidFill>
                <a:latin typeface="Consolas" panose="020B0609020204030204" pitchFamily="49" charset="0"/>
              </a:rPr>
              <a:t>//two consecutive line feed means the end of the current data stream</a:t>
            </a: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read_ladar_state</a:t>
            </a:r>
            <a:r>
              <a:rPr lang="en-US" sz="1200" dirty="0">
                <a:solidFill>
                  <a:srgbClr val="000000"/>
                </a:solidFill>
                <a:latin typeface="Consolas" panose="020B0609020204030204" pitchFamily="49" charset="0"/>
              </a:rPr>
              <a:t> = 0;</a:t>
            </a:r>
          </a:p>
          <a:p>
            <a:pPr marL="114300" indent="0" algn="l">
              <a:buNone/>
            </a:pPr>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print_dis_index</a:t>
            </a:r>
            <a:r>
              <a:rPr lang="fr-FR" sz="1200" dirty="0">
                <a:solidFill>
                  <a:srgbClr val="000000"/>
                </a:solidFill>
                <a:latin typeface="Consolas" panose="020B0609020204030204" pitchFamily="49" charset="0"/>
              </a:rPr>
              <a:t> = </a:t>
            </a:r>
            <a:r>
              <a:rPr lang="fr-FR" sz="1200" dirty="0" err="1">
                <a:solidFill>
                  <a:srgbClr val="000000"/>
                </a:solidFill>
                <a:latin typeface="Consolas" panose="020B0609020204030204" pitchFamily="49" charset="0"/>
              </a:rPr>
              <a:t>dis_index</a:t>
            </a:r>
            <a:r>
              <a:rPr lang="fr-FR" sz="1200" dirty="0">
                <a:solidFill>
                  <a:srgbClr val="000000"/>
                </a:solidFill>
                <a:latin typeface="Consolas" panose="020B0609020204030204" pitchFamily="49" charset="0"/>
              </a:rPr>
              <a:t>;</a:t>
            </a:r>
          </a:p>
          <a:p>
            <a:pPr marL="114300" indent="0" algn="l">
              <a:buNone/>
            </a:pPr>
            <a:r>
              <a:rPr lang="en-US" sz="1200" dirty="0">
                <a:solidFill>
                  <a:srgbClr val="000000"/>
                </a:solidFill>
                <a:latin typeface="Consolas" panose="020B0609020204030204" pitchFamily="49" charset="0"/>
              </a:rPr>
              <a:t>    PieCtrlRegs.</a:t>
            </a:r>
            <a:r>
              <a:rPr lang="en-US" sz="1200" dirty="0">
                <a:solidFill>
                  <a:srgbClr val="0000C0"/>
                </a:solidFill>
                <a:latin typeface="Consolas" panose="020B0609020204030204" pitchFamily="49" charset="0"/>
              </a:rPr>
              <a:t>PIEIFR12</a:t>
            </a:r>
            <a:r>
              <a:rPr lang="en-US" sz="1200" dirty="0">
                <a:solidFill>
                  <a:srgbClr val="000000"/>
                </a:solidFill>
                <a:latin typeface="Consolas" panose="020B0609020204030204" pitchFamily="49" charset="0"/>
              </a:rPr>
              <a:t>.</a:t>
            </a:r>
            <a:r>
              <a:rPr lang="en-US" sz="1200" dirty="0">
                <a:solidFill>
                  <a:srgbClr val="0000C0"/>
                </a:solidFill>
                <a:latin typeface="Consolas" panose="020B0609020204030204" pitchFamily="49" charset="0"/>
              </a:rPr>
              <a:t>bit</a:t>
            </a:r>
            <a:r>
              <a:rPr lang="en-US" sz="1200" dirty="0">
                <a:solidFill>
                  <a:srgbClr val="000000"/>
                </a:solidFill>
                <a:latin typeface="Consolas" panose="020B0609020204030204" pitchFamily="49" charset="0"/>
              </a:rPr>
              <a:t>.</a:t>
            </a:r>
            <a:r>
              <a:rPr lang="en-US" sz="1200" dirty="0">
                <a:solidFill>
                  <a:srgbClr val="0000C0"/>
                </a:solidFill>
                <a:latin typeface="Consolas" panose="020B0609020204030204" pitchFamily="49" charset="0"/>
              </a:rPr>
              <a:t>INTx10</a:t>
            </a:r>
            <a:r>
              <a:rPr lang="en-US" sz="1200" dirty="0">
                <a:solidFill>
                  <a:srgbClr val="000000"/>
                </a:solidFill>
                <a:latin typeface="Consolas" panose="020B0609020204030204" pitchFamily="49" charset="0"/>
              </a:rPr>
              <a:t> = 1; </a:t>
            </a:r>
            <a:r>
              <a:rPr lang="en-US" sz="1200" dirty="0">
                <a:solidFill>
                  <a:srgbClr val="3F7F5F"/>
                </a:solidFill>
                <a:latin typeface="Consolas" panose="020B0609020204030204" pitchFamily="49" charset="0"/>
              </a:rPr>
              <a:t>// Manually cause the interrupt for the SWI2</a:t>
            </a: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LADARpingpong</a:t>
            </a:r>
            <a:r>
              <a:rPr lang="en-US" sz="1200" dirty="0">
                <a:solidFill>
                  <a:srgbClr val="000000"/>
                </a:solidFill>
                <a:latin typeface="Consolas" panose="020B0609020204030204" pitchFamily="49" charset="0"/>
              </a:rPr>
              <a:t> = 1-LADARpingpong;</a:t>
            </a:r>
          </a:p>
          <a:p>
            <a:pPr marL="114300" indent="0" algn="l">
              <a:buNone/>
            </a:pPr>
            <a:r>
              <a:rPr lang="en-US" sz="1200" dirty="0">
                <a:solidFill>
                  <a:srgbClr val="000000"/>
                </a:solidFill>
                <a:latin typeface="Consolas" panose="020B0609020204030204" pitchFamily="49" charset="0"/>
              </a:rPr>
              <a:t>}</a:t>
            </a:r>
          </a:p>
          <a:p>
            <a:pPr marL="114300" indent="0" algn="l">
              <a:buNone/>
            </a:pPr>
            <a:endParaRPr lang="en-US" sz="1200" dirty="0">
              <a:solidFill>
                <a:srgbClr val="000000"/>
              </a:solidFill>
              <a:latin typeface="Consolas" panose="020B0609020204030204" pitchFamily="49" charset="0"/>
              <a:ea typeface="Arial"/>
              <a:cs typeface="Arial"/>
              <a:sym typeface="Arial"/>
            </a:endParaRPr>
          </a:p>
          <a:p>
            <a:r>
              <a:rPr lang="en-US" sz="1800" dirty="0">
                <a:latin typeface="Atkinson Hyperlegible Next"/>
                <a:ea typeface="Arial"/>
                <a:cs typeface="Arial"/>
                <a:sym typeface="Arial"/>
              </a:rPr>
              <a:t>As a reminder a software interrupt is the lowest priority level and can be interrupted by any of the other interrupts of higher priority levels.</a:t>
            </a:r>
          </a:p>
          <a:p>
            <a:r>
              <a:rPr lang="en-US" sz="1800" dirty="0">
                <a:latin typeface="Atkinson Hyperlegible Next"/>
                <a:ea typeface="Arial"/>
                <a:cs typeface="Arial"/>
                <a:sym typeface="Arial"/>
              </a:rPr>
              <a:t>The rows represent a </a:t>
            </a:r>
            <a:r>
              <a:rPr lang="en-US" sz="1800" b="1" dirty="0">
                <a:latin typeface="Atkinson Hyperlegible Next"/>
                <a:ea typeface="Arial"/>
                <a:cs typeface="Arial"/>
                <a:sym typeface="Arial"/>
              </a:rPr>
              <a:t>group</a:t>
            </a:r>
          </a:p>
          <a:p>
            <a:r>
              <a:rPr lang="en-US" sz="1800" dirty="0">
                <a:latin typeface="Atkinson Hyperlegible Next"/>
                <a:ea typeface="Arial"/>
                <a:cs typeface="Arial"/>
                <a:sym typeface="Arial"/>
              </a:rPr>
              <a:t>Each column a </a:t>
            </a:r>
            <a:r>
              <a:rPr lang="en-US" sz="1800" b="1" dirty="0">
                <a:latin typeface="Atkinson Hyperlegible Next"/>
                <a:ea typeface="Arial"/>
                <a:cs typeface="Arial"/>
                <a:sym typeface="Arial"/>
              </a:rPr>
              <a:t>channel </a:t>
            </a:r>
            <a:r>
              <a:rPr lang="en-US" sz="1800" dirty="0">
                <a:latin typeface="Atkinson Hyperlegible Next"/>
                <a:ea typeface="Arial"/>
                <a:cs typeface="Arial"/>
                <a:sym typeface="Arial"/>
              </a:rPr>
              <a:t>within that group</a:t>
            </a:r>
          </a:p>
          <a:p>
            <a:r>
              <a:rPr lang="en-US" sz="1800" dirty="0">
                <a:latin typeface="Atkinson Hyperlegible Next"/>
                <a:ea typeface="Arial"/>
                <a:cs typeface="Arial"/>
                <a:sym typeface="Arial"/>
              </a:rPr>
              <a:t>When multiple interrupts are pending, the lowest-numbered channel from the lowest-numbered group is serviced first. Thus, the interrupts at the top left of the table are service first and the bottom right last.</a:t>
            </a:r>
          </a:p>
        </p:txBody>
      </p:sp>
      <p:sp>
        <p:nvSpPr>
          <p:cNvPr id="119" name="Google Shape;119;p29">
            <a:extLst>
              <a:ext uri="{FF2B5EF4-FFF2-40B4-BE49-F238E27FC236}">
                <a16:creationId xmlns:a16="http://schemas.microsoft.com/office/drawing/2014/main" id="{65924DD2-C069-B006-5F24-F7645539498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61E0CFD-F8FB-DA07-F949-0CD1BB457E7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(13/18)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4F580C8-8EC7-8FE6-1084-5C1580A3AF4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07F43C1-BA43-B30C-7045-8C888C19E52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895DFD2-B638-2FC5-C505-C2E0CED0060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D0A945D-A0B9-F027-80B1-A425CA6810E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8BA99CD-FA0B-E477-3D7B-DCAF1B59B75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9428E6B-F220-0C33-A5E7-4ECCB39DDD9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736287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D94FFEE-62F8-E2D0-F788-27BF0A3871A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7600D5A-C80D-E989-A869-D2020DCCBC5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00DAE46-36AD-4012-69D3-C63581DC537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(14/18)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2FE43C1-E6EC-9DB1-5E31-BCDB1DB1ACB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10B45E7-08F1-5188-E72C-4DF067EF85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8A18FF4-6654-351B-CB8D-0CABB82F772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9FED91B-A5FD-053E-19CC-AD363D29992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AA5C143-2609-AE4F-2890-087145C49C2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3BA86FA-6975-D145-09D3-A41C9A5E192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able 3-2, PIE Channel Mapping, for the TI F28379D: a grid of 12 PIE groups (INT1.y to INT12.y) by 16 channels (INTx.1 to INTx.16), giving the peripheral interrupt at each position; dashes are reserved. Serial receive and transmit interrupts relevant to reading LiDAR data are SCIA_RX at INT9.1, SCIA_TX at INT9.2, SCIB_RX at INT9.3, SCIB_TX at INT9.4, SCIC_RX at INT8.5, SCIC_TX at INT8.6, SCID_RX at INT8.7 and SCID_TX at INT8.8. DMA channels 1 to 6 occupy INT7.1 to INT7.6.">
            <a:extLst>
              <a:ext uri="{FF2B5EF4-FFF2-40B4-BE49-F238E27FC236}">
                <a16:creationId xmlns:a16="http://schemas.microsoft.com/office/drawing/2014/main" id="{7A495A7C-4D09-60AF-F301-540BA71603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479" y="1525095"/>
            <a:ext cx="12121041" cy="3951743"/>
          </a:xfrm>
          <a:prstGeom prst="rect">
            <a:avLst/>
          </a:prstGeom>
        </p:spPr>
      </p:pic>
      <p:sp>
        <p:nvSpPr>
          <p:cNvPr id="4" name="Rectangle 3">
            <a:extLst>
              <a:ext uri="{FF2B5EF4-FFF2-40B4-BE49-F238E27FC236}">
                <a16:creationId xmlns:a16="http://schemas.microsoft.com/office/drawing/2014/main" id="{2E7B447E-6CD9-F230-0079-1516EE32F132}"/>
              </a:ext>
            </a:extLst>
          </p:cNvPr>
          <p:cNvSpPr/>
          <p:nvPr/>
        </p:nvSpPr>
        <p:spPr>
          <a:xfrm>
            <a:off x="4316224" y="4802199"/>
            <a:ext cx="7840296" cy="5307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0056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F10F45D-E315-CF7F-B794-016A6DD355B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225AF0C-54EF-932B-63E9-607540ACFB6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In the LiDAR lab code, we will have 3 software interrupts:</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Software interrupt 1, will have the </a:t>
            </a:r>
            <a:r>
              <a:rPr lang="en-US" sz="1800" b="1" dirty="0">
                <a:latin typeface="Atkinson Hyperlegible Next"/>
                <a:ea typeface="Arial"/>
                <a:cs typeface="Arial"/>
                <a:sym typeface="Arial"/>
              </a:rPr>
              <a:t>highest</a:t>
            </a:r>
            <a:r>
              <a:rPr lang="en-US" sz="1800" dirty="0">
                <a:latin typeface="Atkinson Hyperlegible Next"/>
                <a:ea typeface="Arial"/>
                <a:cs typeface="Arial"/>
                <a:sym typeface="Arial"/>
              </a:rPr>
              <a:t> priority, this is used for retrieving the data and sending the data to and from the </a:t>
            </a:r>
            <a:r>
              <a:rPr lang="en-US" sz="1800" dirty="0" err="1">
                <a:latin typeface="Atkinson Hyperlegible Next"/>
                <a:ea typeface="Arial"/>
                <a:cs typeface="Arial"/>
                <a:sym typeface="Arial"/>
              </a:rPr>
              <a:t>RaspberryPI</a:t>
            </a: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Software interrupt 2, will have the </a:t>
            </a:r>
            <a:r>
              <a:rPr lang="en-US" sz="1800" b="1" dirty="0">
                <a:latin typeface="Atkinson Hyperlegible Next"/>
                <a:ea typeface="Arial"/>
                <a:cs typeface="Arial"/>
                <a:sym typeface="Arial"/>
              </a:rPr>
              <a:t>middle</a:t>
            </a:r>
            <a:r>
              <a:rPr lang="en-US" sz="1800" dirty="0">
                <a:latin typeface="Atkinson Hyperlegible Next"/>
                <a:ea typeface="Arial"/>
                <a:cs typeface="Arial"/>
                <a:sym typeface="Arial"/>
              </a:rPr>
              <a:t> priority, where we will perform the LiDAR position computation and the coordinate transformations based on the sensor’s location on the robot.</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Software interrupt 3, will have the </a:t>
            </a:r>
            <a:r>
              <a:rPr lang="en-US" sz="1800" b="1" dirty="0">
                <a:latin typeface="Atkinson Hyperlegible Next"/>
                <a:ea typeface="Arial"/>
                <a:cs typeface="Arial"/>
                <a:sym typeface="Arial"/>
              </a:rPr>
              <a:t>lowest</a:t>
            </a:r>
            <a:r>
              <a:rPr lang="en-US" sz="1800" dirty="0">
                <a:latin typeface="Atkinson Hyperlegible Next"/>
                <a:ea typeface="Arial"/>
                <a:cs typeface="Arial"/>
                <a:sym typeface="Arial"/>
              </a:rPr>
              <a:t> priority, where anything else can be done</a:t>
            </a:r>
          </a:p>
          <a:p>
            <a:pPr marL="0" indent="0">
              <a:lnSpc>
                <a:spcPct val="100000"/>
              </a:lnSpc>
              <a:spcBef>
                <a:spcPts val="0"/>
              </a:spcBef>
              <a:buSzPts val="3000"/>
              <a:buNone/>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In this lecture we will only look at software interrupt 2.</a:t>
            </a:r>
          </a:p>
          <a:p>
            <a:pPr marL="0" indent="0">
              <a:lnSpc>
                <a:spcPct val="100000"/>
              </a:lnSpc>
              <a:spcBef>
                <a:spcPts val="0"/>
              </a:spcBef>
              <a:buSzPts val="3000"/>
              <a:buNone/>
            </a:pPr>
            <a:endParaRPr lang="en-US" sz="18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09390E3E-5B94-EE89-E7D7-4D94B7C8ACE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5BF838C-1D62-A0A4-56C4-D05694D729F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(15/18)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4F0152A-0F81-6B70-6035-52A30DC8F95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1480F46-DB5B-CA7B-C9F9-2267E5D76B9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AF67281-FA32-E978-38DC-DBE20991EA0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118BBA-83EE-DEB6-6589-6E562CFADFB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9FC4CAC-927F-D94C-8035-98F4269CABD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228291D-F9C6-9062-B434-06F2D4C57E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53661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8627310-F6AB-F7A5-1224-C67CD6409D8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B0A5145-00A7-4690-1D43-F1FCCA60D37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spcBef>
                <a:spcPts val="0"/>
              </a:spcBef>
              <a:buNone/>
            </a:pPr>
            <a:r>
              <a:rPr lang="en-US" sz="1100" dirty="0">
                <a:solidFill>
                  <a:srgbClr val="000000"/>
                </a:solidFill>
                <a:latin typeface="Consolas" panose="020B0609020204030204" pitchFamily="49" charset="0"/>
              </a:rPr>
              <a:t>__interrupt </a:t>
            </a:r>
            <a:r>
              <a:rPr lang="en-US" sz="1100"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SWI2_MiddlePriority(</a:t>
            </a:r>
            <a:r>
              <a:rPr lang="en-US" sz="1100"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a:solidFill>
                  <a:srgbClr val="3F7F5F"/>
                </a:solidFill>
                <a:latin typeface="Consolas" panose="020B0609020204030204" pitchFamily="49" charset="0"/>
              </a:rPr>
              <a:t>// RAM_CORRECTABLE_ERROR</a:t>
            </a:r>
          </a:p>
          <a:p>
            <a:pPr marL="114300" indent="0" algn="l">
              <a:spcBef>
                <a:spcPts val="0"/>
              </a:spcBef>
              <a:buNone/>
            </a:pPr>
            <a:r>
              <a:rPr lang="en-US" sz="1100" dirty="0">
                <a:solidFill>
                  <a:srgbClr val="000000"/>
                </a:solidFill>
                <a:latin typeface="Consolas" panose="020B0609020204030204" pitchFamily="49" charset="0"/>
              </a:rPr>
              <a:t>{</a:t>
            </a:r>
          </a:p>
          <a:p>
            <a:pPr marL="114300" indent="0" algn="l">
              <a:spcBef>
                <a:spcPts val="0"/>
              </a:spcBef>
              <a:buNone/>
            </a:pPr>
            <a:r>
              <a:rPr lang="en-US" sz="1100" dirty="0">
                <a:solidFill>
                  <a:srgbClr val="000000"/>
                </a:solidFill>
                <a:latin typeface="Consolas" panose="020B0609020204030204" pitchFamily="49" charset="0"/>
              </a:rPr>
              <a:t>    </a:t>
            </a:r>
            <a:r>
              <a:rPr lang="en-US" sz="1100" dirty="0">
                <a:solidFill>
                  <a:srgbClr val="3F7F5F"/>
                </a:solidFill>
                <a:latin typeface="Consolas" panose="020B0609020204030204" pitchFamily="49" charset="0"/>
              </a:rPr>
              <a:t>// Set interrupt priority:</a:t>
            </a:r>
          </a:p>
          <a:p>
            <a:pPr marL="114300" indent="0" algn="l">
              <a:spcBef>
                <a:spcPts val="0"/>
              </a:spcBef>
              <a:buNone/>
            </a:pP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volatile</a:t>
            </a:r>
            <a:r>
              <a:rPr lang="en-US" sz="1100" dirty="0">
                <a:solidFill>
                  <a:srgbClr val="000000"/>
                </a:solidFill>
                <a:latin typeface="Consolas" panose="020B0609020204030204" pitchFamily="49" charset="0"/>
              </a:rPr>
              <a:t> </a:t>
            </a:r>
            <a:r>
              <a:rPr lang="en-US" sz="1100" dirty="0">
                <a:solidFill>
                  <a:srgbClr val="005032"/>
                </a:solidFill>
                <a:latin typeface="Consolas" panose="020B0609020204030204" pitchFamily="49" charset="0"/>
              </a:rPr>
              <a:t>Uint16</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TempPIEIER</a:t>
            </a:r>
            <a:r>
              <a:rPr lang="en-US" sz="1100" dirty="0">
                <a:solidFill>
                  <a:srgbClr val="000000"/>
                </a:solidFill>
                <a:latin typeface="Consolas" panose="020B0609020204030204" pitchFamily="49" charset="0"/>
              </a:rPr>
              <a:t> = PieCtrlRegs.</a:t>
            </a:r>
            <a:r>
              <a:rPr lang="en-US" sz="1100" dirty="0">
                <a:solidFill>
                  <a:srgbClr val="0000C0"/>
                </a:solidFill>
                <a:latin typeface="Consolas" panose="020B0609020204030204" pitchFamily="49" charset="0"/>
              </a:rPr>
              <a:t>PIEIER12</a:t>
            </a:r>
            <a:r>
              <a:rPr lang="en-US" sz="1100" dirty="0">
                <a:solidFill>
                  <a:srgbClr val="000000"/>
                </a:solidFill>
                <a:latin typeface="Consolas" panose="020B0609020204030204" pitchFamily="49" charset="0"/>
              </a:rPr>
              <a:t>.</a:t>
            </a:r>
            <a:r>
              <a:rPr lang="en-US" sz="1100" dirty="0">
                <a:solidFill>
                  <a:srgbClr val="0000C0"/>
                </a:solidFill>
                <a:latin typeface="Consolas" panose="020B0609020204030204" pitchFamily="49" charset="0"/>
              </a:rPr>
              <a:t>all</a:t>
            </a:r>
            <a:r>
              <a:rPr lang="en-US" sz="1100" dirty="0">
                <a:solidFill>
                  <a:srgbClr val="000000"/>
                </a:solidFill>
                <a:latin typeface="Consolas" panose="020B0609020204030204" pitchFamily="49" charset="0"/>
              </a:rPr>
              <a:t>;</a:t>
            </a:r>
          </a:p>
          <a:p>
            <a:pPr marL="114300" indent="0" algn="l">
              <a:spcBef>
                <a:spcPts val="0"/>
              </a:spcBef>
              <a:buNone/>
            </a:pPr>
            <a:r>
              <a:rPr lang="en-US" sz="1100" dirty="0">
                <a:solidFill>
                  <a:srgbClr val="000000"/>
                </a:solidFill>
                <a:latin typeface="Consolas" panose="020B0609020204030204" pitchFamily="49" charset="0"/>
              </a:rPr>
              <a:t>    IER |= M_INT12;</a:t>
            </a:r>
          </a:p>
          <a:p>
            <a:pPr marL="114300" indent="0" algn="l">
              <a:spcBef>
                <a:spcPts val="0"/>
              </a:spcBef>
              <a:buNone/>
            </a:pPr>
            <a:r>
              <a:rPr lang="en-US" sz="1100" dirty="0">
                <a:solidFill>
                  <a:srgbClr val="000000"/>
                </a:solidFill>
                <a:latin typeface="Consolas" panose="020B0609020204030204" pitchFamily="49" charset="0"/>
              </a:rPr>
              <a:t>    IER &amp;= MINT12;                        </a:t>
            </a:r>
            <a:r>
              <a:rPr lang="en-US" sz="1100" dirty="0">
                <a:solidFill>
                  <a:srgbClr val="3F7F5F"/>
                </a:solidFill>
                <a:latin typeface="Consolas" panose="020B0609020204030204" pitchFamily="49" charset="0"/>
              </a:rPr>
              <a:t>// Set "global" priority</a:t>
            </a:r>
          </a:p>
          <a:p>
            <a:pPr marL="114300" indent="0" algn="l">
              <a:spcBef>
                <a:spcPts val="0"/>
              </a:spcBef>
              <a:buNone/>
            </a:pPr>
            <a:r>
              <a:rPr lang="en-US" sz="1100" dirty="0">
                <a:solidFill>
                  <a:srgbClr val="000000"/>
                </a:solidFill>
                <a:latin typeface="Consolas" panose="020B0609020204030204" pitchFamily="49" charset="0"/>
              </a:rPr>
              <a:t>    PieCtrlRegs.</a:t>
            </a:r>
            <a:r>
              <a:rPr lang="en-US" sz="1100" dirty="0">
                <a:solidFill>
                  <a:srgbClr val="0000C0"/>
                </a:solidFill>
                <a:latin typeface="Consolas" panose="020B0609020204030204" pitchFamily="49" charset="0"/>
              </a:rPr>
              <a:t>PIEIER12</a:t>
            </a:r>
            <a:r>
              <a:rPr lang="en-US" sz="1100" dirty="0">
                <a:solidFill>
                  <a:srgbClr val="000000"/>
                </a:solidFill>
                <a:latin typeface="Consolas" panose="020B0609020204030204" pitchFamily="49" charset="0"/>
              </a:rPr>
              <a:t>.</a:t>
            </a:r>
            <a:r>
              <a:rPr lang="en-US" sz="1100" dirty="0">
                <a:solidFill>
                  <a:srgbClr val="0000C0"/>
                </a:solidFill>
                <a:latin typeface="Consolas" panose="020B0609020204030204" pitchFamily="49" charset="0"/>
              </a:rPr>
              <a:t>all</a:t>
            </a:r>
            <a:r>
              <a:rPr lang="en-US" sz="1100" dirty="0">
                <a:solidFill>
                  <a:srgbClr val="000000"/>
                </a:solidFill>
                <a:latin typeface="Consolas" panose="020B0609020204030204" pitchFamily="49" charset="0"/>
              </a:rPr>
              <a:t> &amp;= MG12_10;  </a:t>
            </a:r>
            <a:r>
              <a:rPr lang="en-US" sz="1100" dirty="0">
                <a:solidFill>
                  <a:srgbClr val="3F7F5F"/>
                </a:solidFill>
                <a:latin typeface="Consolas" panose="020B0609020204030204" pitchFamily="49" charset="0"/>
              </a:rPr>
              <a:t>// Set "group"  priority</a:t>
            </a:r>
          </a:p>
          <a:p>
            <a:pPr marL="114300" indent="0" algn="l">
              <a:spcBef>
                <a:spcPts val="0"/>
              </a:spcBef>
              <a:buNone/>
            </a:pP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PieCtrlRegs.</a:t>
            </a:r>
            <a:r>
              <a:rPr lang="en-US" sz="1100" dirty="0" err="1">
                <a:solidFill>
                  <a:srgbClr val="0000C0"/>
                </a:solidFill>
                <a:latin typeface="Consolas" panose="020B0609020204030204" pitchFamily="49" charset="0"/>
              </a:rPr>
              <a:t>PIEACK</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all</a:t>
            </a:r>
            <a:r>
              <a:rPr lang="en-US" sz="1100" dirty="0">
                <a:solidFill>
                  <a:srgbClr val="000000"/>
                </a:solidFill>
                <a:latin typeface="Consolas" panose="020B0609020204030204" pitchFamily="49" charset="0"/>
              </a:rPr>
              <a:t> = 0xFFFF;      </a:t>
            </a:r>
            <a:r>
              <a:rPr lang="en-US" sz="1100" dirty="0">
                <a:solidFill>
                  <a:srgbClr val="3F7F5F"/>
                </a:solidFill>
                <a:latin typeface="Consolas" panose="020B0609020204030204" pitchFamily="49" charset="0"/>
              </a:rPr>
              <a:t>// Enable PIE interrupts so that other interrupts can go in between</a:t>
            </a:r>
          </a:p>
          <a:p>
            <a:pPr marL="114300" indent="0" algn="l">
              <a:spcBef>
                <a:spcPts val="0"/>
              </a:spcBef>
              <a:buNone/>
            </a:pP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__</a:t>
            </a:r>
            <a:r>
              <a:rPr lang="en-US" sz="1100" dirty="0" err="1">
                <a:solidFill>
                  <a:srgbClr val="7F0055"/>
                </a:solidFill>
                <a:latin typeface="Consolas" panose="020B0609020204030204" pitchFamily="49" charset="0"/>
              </a:rPr>
              <a:t>asm</a:t>
            </a:r>
            <a:r>
              <a:rPr lang="en-US" sz="1100" dirty="0">
                <a:solidFill>
                  <a:srgbClr val="000000"/>
                </a:solidFill>
                <a:latin typeface="Consolas" panose="020B0609020204030204" pitchFamily="49" charset="0"/>
              </a:rPr>
              <a:t>(</a:t>
            </a:r>
            <a:r>
              <a:rPr lang="en-US" sz="1100" dirty="0">
                <a:solidFill>
                  <a:srgbClr val="2A00FF"/>
                </a:solidFill>
                <a:latin typeface="Consolas" panose="020B0609020204030204" pitchFamily="49" charset="0"/>
              </a:rPr>
              <a:t>"  NOP"</a:t>
            </a:r>
            <a:r>
              <a:rPr lang="en-US" sz="1100" dirty="0">
                <a:solidFill>
                  <a:srgbClr val="000000"/>
                </a:solidFill>
                <a:latin typeface="Consolas" panose="020B0609020204030204" pitchFamily="49" charset="0"/>
              </a:rPr>
              <a:t>);</a:t>
            </a:r>
          </a:p>
          <a:p>
            <a:pPr marL="114300" indent="0" algn="l">
              <a:spcBef>
                <a:spcPts val="0"/>
              </a:spcBef>
              <a:buNone/>
            </a:pPr>
            <a:r>
              <a:rPr lang="en-US" sz="1100" dirty="0">
                <a:solidFill>
                  <a:srgbClr val="000000"/>
                </a:solidFill>
                <a:latin typeface="Consolas" panose="020B0609020204030204" pitchFamily="49" charset="0"/>
              </a:rPr>
              <a:t>    EINT;</a:t>
            </a:r>
          </a:p>
          <a:p>
            <a:pPr marL="114300" indent="0" algn="l">
              <a:spcBef>
                <a:spcPts val="0"/>
              </a:spcBef>
              <a:buNone/>
            </a:pPr>
            <a:endParaRPr lang="en-US" sz="1100" dirty="0">
              <a:latin typeface="Consolas" panose="020B0609020204030204" pitchFamily="49" charset="0"/>
            </a:endParaRPr>
          </a:p>
          <a:p>
            <a:pPr marL="114300" indent="0" algn="l">
              <a:spcBef>
                <a:spcPts val="0"/>
              </a:spcBef>
              <a:buNone/>
            </a:pP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if</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LADARpingpong</a:t>
            </a:r>
            <a:r>
              <a:rPr lang="en-US" sz="1100" dirty="0">
                <a:solidFill>
                  <a:srgbClr val="000000"/>
                </a:solidFill>
                <a:latin typeface="Consolas" panose="020B0609020204030204" pitchFamily="49" charset="0"/>
              </a:rPr>
              <a:t> == 1) {</a:t>
            </a:r>
          </a:p>
          <a:p>
            <a:pPr marL="114300" indent="0" algn="l">
              <a:spcBef>
                <a:spcPts val="0"/>
              </a:spcBef>
              <a:buNone/>
            </a:pPr>
            <a:r>
              <a:rPr lang="en-US" sz="1100" dirty="0">
                <a:solidFill>
                  <a:srgbClr val="000000"/>
                </a:solidFill>
                <a:latin typeface="Consolas" panose="020B0609020204030204" pitchFamily="49" charset="0"/>
              </a:rPr>
              <a:t>        </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LADARrightfront</a:t>
            </a:r>
            <a:r>
              <a:rPr lang="en-US" sz="1100" dirty="0">
                <a:solidFill>
                  <a:srgbClr val="3F7F5F"/>
                </a:solidFill>
                <a:latin typeface="Consolas" panose="020B0609020204030204" pitchFamily="49" charset="0"/>
              </a:rPr>
              <a:t> is the min of </a:t>
            </a:r>
            <a:r>
              <a:rPr lang="en-US" sz="1100" dirty="0" err="1">
                <a:solidFill>
                  <a:srgbClr val="3F7F5F"/>
                </a:solidFill>
                <a:latin typeface="Consolas" panose="020B0609020204030204" pitchFamily="49" charset="0"/>
              </a:rPr>
              <a:t>dist</a:t>
            </a:r>
            <a:r>
              <a:rPr lang="en-US" sz="1100" dirty="0">
                <a:solidFill>
                  <a:srgbClr val="3F7F5F"/>
                </a:solidFill>
                <a:latin typeface="Consolas" panose="020B0609020204030204" pitchFamily="49" charset="0"/>
              </a:rPr>
              <a:t> 52, 53, 54, 55, 56</a:t>
            </a:r>
          </a:p>
          <a:p>
            <a:pPr marL="114300" indent="0">
              <a:spcBef>
                <a:spcPts val="0"/>
              </a:spcBef>
              <a:buNone/>
            </a:pP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for</a:t>
            </a:r>
            <a:r>
              <a:rPr lang="en-US" sz="1100" dirty="0">
                <a:solidFill>
                  <a:srgbClr val="000000"/>
                </a:solidFill>
                <a:latin typeface="Consolas" panose="020B0609020204030204" pitchFamily="49" charset="0"/>
              </a:rPr>
              <a:t> (LADARi = 52, </a:t>
            </a:r>
            <a:r>
              <a:rPr lang="en-US" sz="1100" dirty="0" err="1">
                <a:solidFill>
                  <a:srgbClr val="000000"/>
                </a:solidFill>
                <a:latin typeface="Consolas" panose="020B0609020204030204" pitchFamily="49" charset="0"/>
              </a:rPr>
              <a:t>LADARrightfront</a:t>
            </a:r>
            <a:r>
              <a:rPr lang="en-US" sz="1100" dirty="0">
                <a:solidFill>
                  <a:srgbClr val="000000"/>
                </a:solidFill>
                <a:latin typeface="Consolas" panose="020B0609020204030204" pitchFamily="49" charset="0"/>
              </a:rPr>
              <a:t> = 19; LADARi &lt;= 56 ; LADARi++) { </a:t>
            </a:r>
            <a:r>
              <a:rPr lang="en-US" sz="1100" dirty="0">
                <a:solidFill>
                  <a:srgbClr val="3F7F5F"/>
                </a:solidFill>
                <a:latin typeface="Consolas" panose="020B0609020204030204" pitchFamily="49" charset="0"/>
              </a:rPr>
              <a:t>// 19 is greater than max feet</a:t>
            </a:r>
            <a:endParaRPr lang="en-US" sz="1100" dirty="0">
              <a:solidFill>
                <a:srgbClr val="000000"/>
              </a:solidFill>
              <a:latin typeface="Consolas" panose="020B0609020204030204" pitchFamily="49" charset="0"/>
            </a:endParaRPr>
          </a:p>
          <a:p>
            <a:pPr marL="114300" indent="0" algn="l">
              <a:spcBef>
                <a:spcPts val="0"/>
              </a:spcBef>
              <a:buNone/>
            </a:pP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if</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ladar_data</a:t>
            </a:r>
            <a:r>
              <a:rPr lang="en-US" sz="1100" dirty="0">
                <a:solidFill>
                  <a:srgbClr val="000000"/>
                </a:solidFill>
                <a:latin typeface="Consolas" panose="020B0609020204030204" pitchFamily="49" charset="0"/>
              </a:rPr>
              <a:t>[LADARi].</a:t>
            </a:r>
            <a:r>
              <a:rPr lang="en-US" sz="1100" dirty="0" err="1">
                <a:solidFill>
                  <a:srgbClr val="0000C0"/>
                </a:solidFill>
                <a:latin typeface="Consolas" panose="020B0609020204030204" pitchFamily="49" charset="0"/>
              </a:rPr>
              <a:t>distance_ping</a:t>
            </a:r>
            <a:r>
              <a:rPr lang="en-US" sz="1100" dirty="0">
                <a:solidFill>
                  <a:srgbClr val="000000"/>
                </a:solidFill>
                <a:latin typeface="Consolas" panose="020B0609020204030204" pitchFamily="49" charset="0"/>
              </a:rPr>
              <a:t> &lt; </a:t>
            </a:r>
            <a:r>
              <a:rPr lang="en-US" sz="1100" dirty="0" err="1">
                <a:solidFill>
                  <a:srgbClr val="000000"/>
                </a:solidFill>
                <a:latin typeface="Consolas" panose="020B0609020204030204" pitchFamily="49" charset="0"/>
              </a:rPr>
              <a:t>LADARrightfront</a:t>
            </a:r>
            <a:r>
              <a:rPr lang="en-US" sz="1100" dirty="0">
                <a:solidFill>
                  <a:srgbClr val="000000"/>
                </a:solidFill>
                <a:latin typeface="Consolas" panose="020B0609020204030204" pitchFamily="49" charset="0"/>
              </a:rPr>
              <a:t>) {</a:t>
            </a:r>
          </a:p>
          <a:p>
            <a:pPr marL="114300" indent="0" algn="l">
              <a:spcBef>
                <a:spcPts val="0"/>
              </a:spcBef>
              <a:buNone/>
            </a:pP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LADARrightfront</a:t>
            </a:r>
            <a:r>
              <a:rPr lang="en-US" sz="1100" dirty="0">
                <a:solidFill>
                  <a:srgbClr val="000000"/>
                </a:solidFill>
                <a:latin typeface="Consolas" panose="020B0609020204030204" pitchFamily="49" charset="0"/>
              </a:rPr>
              <a:t> = </a:t>
            </a:r>
            <a:r>
              <a:rPr lang="en-US" sz="1100" dirty="0" err="1">
                <a:solidFill>
                  <a:srgbClr val="000000"/>
                </a:solidFill>
                <a:latin typeface="Consolas" panose="020B0609020204030204" pitchFamily="49" charset="0"/>
              </a:rPr>
              <a:t>ladar_data</a:t>
            </a:r>
            <a:r>
              <a:rPr lang="en-US" sz="1100" dirty="0">
                <a:solidFill>
                  <a:srgbClr val="000000"/>
                </a:solidFill>
                <a:latin typeface="Consolas" panose="020B0609020204030204" pitchFamily="49" charset="0"/>
              </a:rPr>
              <a:t>[LADARi].</a:t>
            </a:r>
            <a:r>
              <a:rPr lang="en-US" sz="1100" dirty="0" err="1">
                <a:solidFill>
                  <a:srgbClr val="0000C0"/>
                </a:solidFill>
                <a:latin typeface="Consolas" panose="020B0609020204030204" pitchFamily="49" charset="0"/>
              </a:rPr>
              <a:t>distance_ping</a:t>
            </a:r>
            <a:r>
              <a:rPr lang="en-US" sz="1100" dirty="0">
                <a:solidFill>
                  <a:srgbClr val="000000"/>
                </a:solidFill>
                <a:latin typeface="Consolas" panose="020B0609020204030204" pitchFamily="49" charset="0"/>
              </a:rPr>
              <a:t>;</a:t>
            </a:r>
          </a:p>
          <a:p>
            <a:pPr marL="114300" indent="0" algn="l">
              <a:spcBef>
                <a:spcPts val="0"/>
              </a:spcBef>
              <a:buNone/>
            </a:pPr>
            <a:r>
              <a:rPr lang="en-US" sz="1100" dirty="0">
                <a:solidFill>
                  <a:srgbClr val="000000"/>
                </a:solidFill>
                <a:latin typeface="Consolas" panose="020B0609020204030204" pitchFamily="49" charset="0"/>
              </a:rPr>
              <a:t>            }</a:t>
            </a:r>
          </a:p>
          <a:p>
            <a:pPr marL="114300" indent="0" algn="l">
              <a:spcBef>
                <a:spcPts val="0"/>
              </a:spcBef>
              <a:buNone/>
            </a:pPr>
            <a:r>
              <a:rPr lang="en-US" sz="1100" dirty="0">
                <a:solidFill>
                  <a:srgbClr val="000000"/>
                </a:solidFill>
                <a:latin typeface="Consolas" panose="020B0609020204030204" pitchFamily="49" charset="0"/>
              </a:rPr>
              <a:t>        }</a:t>
            </a:r>
          </a:p>
          <a:p>
            <a:pPr marL="114300" indent="0" algn="l">
              <a:spcBef>
                <a:spcPts val="0"/>
              </a:spcBef>
              <a:buNone/>
            </a:pPr>
            <a:r>
              <a:rPr lang="en-US" sz="1100" dirty="0">
                <a:solidFill>
                  <a:srgbClr val="000000"/>
                </a:solidFill>
                <a:latin typeface="Consolas" panose="020B0609020204030204" pitchFamily="49" charset="0"/>
              </a:rPr>
              <a:t>        </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LADARfront</a:t>
            </a:r>
            <a:r>
              <a:rPr lang="en-US" sz="1100" dirty="0">
                <a:solidFill>
                  <a:srgbClr val="3F7F5F"/>
                </a:solidFill>
                <a:latin typeface="Consolas" panose="020B0609020204030204" pitchFamily="49" charset="0"/>
              </a:rPr>
              <a:t> is the min of </a:t>
            </a:r>
            <a:r>
              <a:rPr lang="en-US" sz="1100" dirty="0" err="1">
                <a:solidFill>
                  <a:srgbClr val="3F7F5F"/>
                </a:solidFill>
                <a:latin typeface="Consolas" panose="020B0609020204030204" pitchFamily="49" charset="0"/>
              </a:rPr>
              <a:t>dist</a:t>
            </a:r>
            <a:r>
              <a:rPr lang="en-US" sz="1100" dirty="0">
                <a:solidFill>
                  <a:srgbClr val="3F7F5F"/>
                </a:solidFill>
                <a:latin typeface="Consolas" panose="020B0609020204030204" pitchFamily="49" charset="0"/>
              </a:rPr>
              <a:t> 111, 112, 113, 114, 115</a:t>
            </a:r>
            <a:endParaRPr lang="en-US" sz="1100" dirty="0">
              <a:solidFill>
                <a:srgbClr val="000000"/>
              </a:solidFill>
              <a:latin typeface="Consolas" panose="020B0609020204030204" pitchFamily="49" charset="0"/>
            </a:endParaRPr>
          </a:p>
          <a:p>
            <a:pPr marL="114300" indent="0">
              <a:spcBef>
                <a:spcPts val="0"/>
              </a:spcBef>
              <a:buNone/>
            </a:pP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for</a:t>
            </a:r>
            <a:r>
              <a:rPr lang="en-US" sz="1100" dirty="0">
                <a:solidFill>
                  <a:srgbClr val="000000"/>
                </a:solidFill>
                <a:latin typeface="Consolas" panose="020B0609020204030204" pitchFamily="49" charset="0"/>
              </a:rPr>
              <a:t> (LADARi = 111, </a:t>
            </a:r>
            <a:r>
              <a:rPr lang="en-US" sz="1100" dirty="0" err="1">
                <a:solidFill>
                  <a:srgbClr val="000000"/>
                </a:solidFill>
                <a:latin typeface="Consolas" panose="020B0609020204030204" pitchFamily="49" charset="0"/>
              </a:rPr>
              <a:t>LADARfront</a:t>
            </a:r>
            <a:r>
              <a:rPr lang="en-US" sz="1100" dirty="0">
                <a:solidFill>
                  <a:srgbClr val="000000"/>
                </a:solidFill>
                <a:latin typeface="Consolas" panose="020B0609020204030204" pitchFamily="49" charset="0"/>
              </a:rPr>
              <a:t> = 19; LADARi &lt;= 115 ; LADARi++) {</a:t>
            </a:r>
          </a:p>
          <a:p>
            <a:pPr marL="114300" indent="0" algn="l">
              <a:spcBef>
                <a:spcPts val="0"/>
              </a:spcBef>
              <a:buNone/>
            </a:pP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if</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ladar_data</a:t>
            </a:r>
            <a:r>
              <a:rPr lang="en-US" sz="1100" dirty="0">
                <a:solidFill>
                  <a:srgbClr val="000000"/>
                </a:solidFill>
                <a:latin typeface="Consolas" panose="020B0609020204030204" pitchFamily="49" charset="0"/>
              </a:rPr>
              <a:t>[LADARi].</a:t>
            </a:r>
            <a:r>
              <a:rPr lang="en-US" sz="1100" dirty="0" err="1">
                <a:solidFill>
                  <a:srgbClr val="0000C0"/>
                </a:solidFill>
                <a:latin typeface="Consolas" panose="020B0609020204030204" pitchFamily="49" charset="0"/>
              </a:rPr>
              <a:t>distance_ping</a:t>
            </a:r>
            <a:r>
              <a:rPr lang="en-US" sz="1100" dirty="0">
                <a:solidFill>
                  <a:srgbClr val="000000"/>
                </a:solidFill>
                <a:latin typeface="Consolas" panose="020B0609020204030204" pitchFamily="49" charset="0"/>
              </a:rPr>
              <a:t> &lt; </a:t>
            </a:r>
            <a:r>
              <a:rPr lang="en-US" sz="1100" dirty="0" err="1">
                <a:solidFill>
                  <a:srgbClr val="000000"/>
                </a:solidFill>
                <a:latin typeface="Consolas" panose="020B0609020204030204" pitchFamily="49" charset="0"/>
              </a:rPr>
              <a:t>LADARfront</a:t>
            </a:r>
            <a:r>
              <a:rPr lang="en-US" sz="1100" dirty="0">
                <a:solidFill>
                  <a:srgbClr val="000000"/>
                </a:solidFill>
                <a:latin typeface="Consolas" panose="020B0609020204030204" pitchFamily="49" charset="0"/>
              </a:rPr>
              <a:t>) {</a:t>
            </a:r>
          </a:p>
          <a:p>
            <a:pPr marL="114300" indent="0" algn="l">
              <a:spcBef>
                <a:spcPts val="0"/>
              </a:spcBef>
              <a:buNone/>
            </a:pP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LADARfront</a:t>
            </a:r>
            <a:r>
              <a:rPr lang="en-US" sz="1100" dirty="0">
                <a:solidFill>
                  <a:srgbClr val="000000"/>
                </a:solidFill>
                <a:latin typeface="Consolas" panose="020B0609020204030204" pitchFamily="49" charset="0"/>
              </a:rPr>
              <a:t> = </a:t>
            </a:r>
            <a:r>
              <a:rPr lang="en-US" sz="1100" dirty="0" err="1">
                <a:solidFill>
                  <a:srgbClr val="000000"/>
                </a:solidFill>
                <a:latin typeface="Consolas" panose="020B0609020204030204" pitchFamily="49" charset="0"/>
              </a:rPr>
              <a:t>ladar_data</a:t>
            </a:r>
            <a:r>
              <a:rPr lang="en-US" sz="1100" dirty="0">
                <a:solidFill>
                  <a:srgbClr val="000000"/>
                </a:solidFill>
                <a:latin typeface="Consolas" panose="020B0609020204030204" pitchFamily="49" charset="0"/>
              </a:rPr>
              <a:t>[LADARi].</a:t>
            </a:r>
            <a:r>
              <a:rPr lang="en-US" sz="1100" dirty="0" err="1">
                <a:solidFill>
                  <a:srgbClr val="0000C0"/>
                </a:solidFill>
                <a:latin typeface="Consolas" panose="020B0609020204030204" pitchFamily="49" charset="0"/>
              </a:rPr>
              <a:t>distance_ping</a:t>
            </a:r>
            <a:r>
              <a:rPr lang="en-US" sz="1100" dirty="0">
                <a:solidFill>
                  <a:srgbClr val="000000"/>
                </a:solidFill>
                <a:latin typeface="Consolas" panose="020B0609020204030204" pitchFamily="49" charset="0"/>
              </a:rPr>
              <a:t>;</a:t>
            </a:r>
          </a:p>
          <a:p>
            <a:pPr marL="114300" indent="0" algn="l">
              <a:spcBef>
                <a:spcPts val="0"/>
              </a:spcBef>
              <a:buNone/>
            </a:pPr>
            <a:r>
              <a:rPr lang="en-US" sz="1100" dirty="0">
                <a:solidFill>
                  <a:srgbClr val="000000"/>
                </a:solidFill>
                <a:latin typeface="Consolas" panose="020B0609020204030204" pitchFamily="49" charset="0"/>
              </a:rPr>
              <a:t>            }</a:t>
            </a:r>
          </a:p>
          <a:p>
            <a:pPr marL="114300" indent="0" algn="l">
              <a:spcBef>
                <a:spcPts val="0"/>
              </a:spcBef>
              <a:buNone/>
            </a:pPr>
            <a:r>
              <a:rPr lang="en-US" sz="1100" dirty="0">
                <a:solidFill>
                  <a:srgbClr val="000000"/>
                </a:solidFill>
                <a:latin typeface="Consolas" panose="020B0609020204030204" pitchFamily="49" charset="0"/>
              </a:rPr>
              <a:t>        }</a:t>
            </a:r>
          </a:p>
          <a:p>
            <a:pPr marL="114300" indent="0" algn="l">
              <a:spcBef>
                <a:spcPts val="0"/>
              </a:spcBef>
              <a:buNone/>
            </a:pPr>
            <a:endParaRPr lang="en-US" sz="1100" dirty="0">
              <a:solidFill>
                <a:srgbClr val="000000"/>
              </a:solidFill>
              <a:latin typeface="Consolas" panose="020B0609020204030204" pitchFamily="49" charset="0"/>
            </a:endParaRPr>
          </a:p>
          <a:p>
            <a:pPr marL="114300" indent="0">
              <a:spcBef>
                <a:spcPts val="0"/>
              </a:spcBef>
              <a:buNone/>
            </a:pPr>
            <a:r>
              <a:rPr lang="en-US" sz="1100" dirty="0">
                <a:solidFill>
                  <a:srgbClr val="000000"/>
                </a:solidFill>
                <a:latin typeface="Consolas" panose="020B0609020204030204" pitchFamily="49" charset="0"/>
              </a:rPr>
              <a:t>        </a:t>
            </a:r>
            <a:r>
              <a:rPr lang="en-US" sz="1100" dirty="0">
                <a:solidFill>
                  <a:srgbClr val="3F7F5F"/>
                </a:solidFill>
                <a:latin typeface="Consolas" panose="020B0609020204030204" pitchFamily="49" charset="0"/>
              </a:rPr>
              <a:t>// Do coordinate transformations here, done in the next slides</a:t>
            </a:r>
          </a:p>
          <a:p>
            <a:pPr marL="114300" indent="0">
              <a:spcBef>
                <a:spcPts val="0"/>
              </a:spcBef>
              <a:buNone/>
            </a:pPr>
            <a:endParaRPr lang="en-US" sz="1100" dirty="0">
              <a:solidFill>
                <a:srgbClr val="000000"/>
              </a:solidFill>
              <a:latin typeface="Consolas" panose="020B0609020204030204" pitchFamily="49" charset="0"/>
            </a:endParaRPr>
          </a:p>
          <a:p>
            <a:pPr marL="114300" indent="0" algn="l">
              <a:spcBef>
                <a:spcPts val="0"/>
              </a:spcBef>
              <a:buNone/>
            </a:pPr>
            <a:r>
              <a:rPr lang="en-US" sz="1100" dirty="0">
                <a:solidFill>
                  <a:srgbClr val="000000"/>
                </a:solidFill>
                <a:latin typeface="Consolas" panose="020B0609020204030204" pitchFamily="49" charset="0"/>
              </a:rPr>
              <a:t>    } </a:t>
            </a:r>
            <a:r>
              <a:rPr lang="en-US" sz="1100" dirty="0">
                <a:solidFill>
                  <a:srgbClr val="7F0055"/>
                </a:solidFill>
                <a:latin typeface="Consolas" panose="020B0609020204030204" pitchFamily="49" charset="0"/>
              </a:rPr>
              <a:t>else</a:t>
            </a:r>
            <a:r>
              <a:rPr lang="en-US" sz="1100" dirty="0">
                <a:solidFill>
                  <a:srgbClr val="000000"/>
                </a:solidFill>
                <a:latin typeface="Consolas" panose="020B0609020204030204" pitchFamily="49" charset="0"/>
              </a:rPr>
              <a:t> </a:t>
            </a:r>
            <a:r>
              <a:rPr lang="en-US" sz="1100" dirty="0">
                <a:solidFill>
                  <a:srgbClr val="7F0055"/>
                </a:solidFill>
                <a:latin typeface="Consolas" panose="020B0609020204030204" pitchFamily="49" charset="0"/>
              </a:rPr>
              <a:t>if</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LADARpingpong</a:t>
            </a:r>
            <a:r>
              <a:rPr lang="en-US" sz="1100" dirty="0">
                <a:solidFill>
                  <a:srgbClr val="000000"/>
                </a:solidFill>
                <a:latin typeface="Consolas" panose="020B0609020204030204" pitchFamily="49" charset="0"/>
              </a:rPr>
              <a:t> == 0) { </a:t>
            </a:r>
            <a:r>
              <a:rPr lang="en-US" sz="1100" dirty="0">
                <a:solidFill>
                  <a:srgbClr val="3F7F5F"/>
                </a:solidFill>
                <a:latin typeface="Consolas" panose="020B0609020204030204" pitchFamily="49" charset="0"/>
              </a:rPr>
              <a:t>/** same for pong */</a:t>
            </a:r>
            <a:r>
              <a:rPr lang="en-US" sz="1100" dirty="0">
                <a:latin typeface="Consolas" panose="020B0609020204030204" pitchFamily="49" charset="0"/>
              </a:rPr>
              <a:t> </a:t>
            </a:r>
            <a:r>
              <a:rPr lang="en-US" sz="1100" dirty="0">
                <a:solidFill>
                  <a:srgbClr val="000000"/>
                </a:solidFill>
                <a:latin typeface="Consolas" panose="020B0609020204030204" pitchFamily="49" charset="0"/>
              </a:rPr>
              <a:t>}</a:t>
            </a:r>
          </a:p>
          <a:p>
            <a:pPr marL="114300" indent="0" algn="l">
              <a:spcBef>
                <a:spcPts val="0"/>
              </a:spcBef>
              <a:buNone/>
            </a:pPr>
            <a:r>
              <a:rPr lang="en-US" sz="1100" dirty="0">
                <a:solidFill>
                  <a:srgbClr val="000000"/>
                </a:solidFill>
                <a:latin typeface="Consolas" panose="020B0609020204030204" pitchFamily="49" charset="0"/>
              </a:rPr>
              <a:t>}</a:t>
            </a:r>
            <a:endParaRPr lang="en-US" sz="11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FAC38673-347C-5D08-8E3D-B9ACDB41DB9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C4BAD44-0A6F-3CA2-4234-598FAE7BA30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(16/18)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88EDECB-FF39-BE5D-DE03-774EC2CC1E4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EF13763-146D-6C39-BA74-B86B0DBC5A3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FDC54EE-9C21-6AC1-698E-70B99F88858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E02195F-1B0D-8CD1-FE5B-96BA07F07A2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44E1970-8DF2-19D8-7945-5BD09B85FFD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0EF8084-15FA-613D-77F7-7EA48DAB46E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1554460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A1A1A64-C64A-F19D-1CC3-EDE7302D9CB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A4E51EA2-39C6-E885-3098-919A58EC4AD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600" dirty="0">
                    <a:latin typeface="Atkinson Hyperlegible Next"/>
                    <a:ea typeface="Arial"/>
                    <a:cs typeface="Arial"/>
                    <a:sym typeface="Arial"/>
                  </a:rPr>
                  <a:t>We start with the coordinate transform to get the coordinate of the LiDAR in the real world based on the robot’s position and heading.</a:t>
                </a:r>
                <a:endParaRPr lang="en-US" sz="1400" dirty="0">
                  <a:latin typeface="Atkinson Hyperlegible Next"/>
                  <a:ea typeface="Arial"/>
                  <a:cs typeface="Arial"/>
                  <a:sym typeface="Arial"/>
                </a:endParaRPr>
              </a:p>
              <a:p>
                <a:pPr marL="114300" indent="0">
                  <a:buNone/>
                </a:pPr>
                <a:endParaRPr lang="en-US" sz="2000" dirty="0">
                  <a:solidFill>
                    <a:srgbClr val="000000"/>
                  </a:solidFill>
                  <a:latin typeface="Atkinson Hyperlegible Next"/>
                  <a:cs typeface="Arial"/>
                  <a:sym typeface="Arial"/>
                </a:endParaRPr>
              </a:p>
              <a:p>
                <a:pPr marL="114300" indent="0">
                  <a:buNone/>
                </a:pPr>
                <a14:m>
                  <m:oMathPara xmlns:m="http://schemas.openxmlformats.org/officeDocument/2006/math">
                    <m:oMathParaPr>
                      <m:jc m:val="centerGroup"/>
                    </m:oMathParaPr>
                    <m:oMath xmlns:m="http://schemas.openxmlformats.org/officeDocument/2006/math">
                      <m:d>
                        <m:dPr>
                          <m:begChr m:val="["/>
                          <m:endChr m:val="]"/>
                          <m:ctrlPr>
                            <a:rPr lang="en-US" sz="1600" i="1">
                              <a:latin typeface="Cambria Math" panose="02040503050406030204" pitchFamily="18" charset="0"/>
                              <a:cs typeface="Arial"/>
                              <a:sym typeface="Arial"/>
                            </a:rPr>
                          </m:ctrlPr>
                        </m:dPr>
                        <m:e>
                          <m:m>
                            <m:mPr>
                              <m:plcHide m:val="on"/>
                              <m:mcs>
                                <m:mc>
                                  <m:mcPr>
                                    <m:count m:val="1"/>
                                    <m:mcJc m:val="center"/>
                                  </m:mcPr>
                                </m:mc>
                              </m:mcs>
                              <m:ctrlPr>
                                <a:rPr lang="en-US" sz="1600" i="1">
                                  <a:latin typeface="Cambria Math" panose="02040503050406030204" pitchFamily="18" charset="0"/>
                                  <a:cs typeface="Arial"/>
                                  <a:sym typeface="Arial"/>
                                </a:rPr>
                              </m:ctrlPr>
                            </m:mPr>
                            <m:mr>
                              <m:e>
                                <m:sSub>
                                  <m:sSubPr>
                                    <m:ctrlPr>
                                      <a:rPr lang="en-US" sz="1600" i="1">
                                        <a:latin typeface="Cambria Math" panose="02040503050406030204" pitchFamily="18" charset="0"/>
                                        <a:cs typeface="Arial"/>
                                        <a:sym typeface="Arial"/>
                                      </a:rPr>
                                    </m:ctrlPr>
                                  </m:sSubPr>
                                  <m:e>
                                    <m:r>
                                      <a:rPr lang="en-US" sz="1600" i="1">
                                        <a:latin typeface="Cambria Math" panose="02040503050406030204" pitchFamily="18" charset="0"/>
                                        <a:cs typeface="Arial"/>
                                        <a:sym typeface="Arial"/>
                                      </a:rPr>
                                      <m:t>𝑥</m:t>
                                    </m:r>
                                  </m:e>
                                  <m:sub>
                                    <m:r>
                                      <a:rPr lang="en-US" sz="1600" i="1">
                                        <a:latin typeface="Cambria Math" panose="02040503050406030204" pitchFamily="18" charset="0"/>
                                        <a:cs typeface="Arial"/>
                                        <a:sym typeface="Arial"/>
                                      </a:rPr>
                                      <m:t>𝑊</m:t>
                                    </m:r>
                                  </m:sub>
                                </m:sSub>
                              </m:e>
                            </m:mr>
                            <m:mr>
                              <m:e>
                                <m:sSub>
                                  <m:sSubPr>
                                    <m:ctrlPr>
                                      <a:rPr lang="en-US" sz="1600" i="1">
                                        <a:latin typeface="Cambria Math" panose="02040503050406030204" pitchFamily="18" charset="0"/>
                                        <a:cs typeface="Arial"/>
                                        <a:sym typeface="Arial"/>
                                      </a:rPr>
                                    </m:ctrlPr>
                                  </m:sSubPr>
                                  <m:e>
                                    <m:r>
                                      <a:rPr lang="en-US" sz="1600" i="1">
                                        <a:latin typeface="Cambria Math" panose="02040503050406030204" pitchFamily="18" charset="0"/>
                                        <a:cs typeface="Arial"/>
                                        <a:sym typeface="Arial"/>
                                      </a:rPr>
                                      <m:t>𝑦</m:t>
                                    </m:r>
                                  </m:e>
                                  <m:sub>
                                    <m:r>
                                      <a:rPr lang="en-US" sz="1600" i="1">
                                        <a:latin typeface="Cambria Math" panose="02040503050406030204" pitchFamily="18" charset="0"/>
                                        <a:cs typeface="Arial"/>
                                        <a:sym typeface="Arial"/>
                                      </a:rPr>
                                      <m:t>𝑊</m:t>
                                    </m:r>
                                  </m:sub>
                                </m:sSub>
                              </m:e>
                            </m:mr>
                            <m:mr>
                              <m:e>
                                <m:r>
                                  <a:rPr lang="en-US" sz="1600" i="1">
                                    <a:latin typeface="Cambria Math" panose="02040503050406030204" pitchFamily="18" charset="0"/>
                                    <a:cs typeface="Arial"/>
                                    <a:sym typeface="Arial"/>
                                  </a:rPr>
                                  <m:t>1</m:t>
                                </m:r>
                              </m:e>
                            </m:mr>
                          </m:m>
                        </m:e>
                      </m:d>
                      <m:r>
                        <a:rPr lang="en-US" sz="1600" i="1">
                          <a:latin typeface="Cambria Math" panose="02040503050406030204" pitchFamily="18" charset="0"/>
                          <a:cs typeface="Arial"/>
                          <a:sym typeface="Arial"/>
                        </a:rPr>
                        <m:t>=</m:t>
                      </m:r>
                      <m:d>
                        <m:dPr>
                          <m:begChr m:val="["/>
                          <m:endChr m:val="]"/>
                          <m:ctrlPr>
                            <a:rPr lang="en-US" sz="1600" i="1">
                              <a:latin typeface="Cambria Math" panose="02040503050406030204" pitchFamily="18" charset="0"/>
                              <a:cs typeface="Arial"/>
                              <a:sym typeface="Arial"/>
                            </a:rPr>
                          </m:ctrlPr>
                        </m:dPr>
                        <m:e>
                          <m:m>
                            <m:mPr>
                              <m:plcHide m:val="on"/>
                              <m:mcs>
                                <m:mc>
                                  <m:mcPr>
                                    <m:count m:val="3"/>
                                    <m:mcJc m:val="center"/>
                                  </m:mcPr>
                                </m:mc>
                              </m:mcs>
                              <m:ctrlPr>
                                <a:rPr lang="en-US" sz="1600" i="1">
                                  <a:latin typeface="Cambria Math" panose="02040503050406030204" pitchFamily="18" charset="0"/>
                                  <a:cs typeface="Arial"/>
                                  <a:sym typeface="Arial"/>
                                </a:rPr>
                              </m:ctrlPr>
                            </m:mPr>
                            <m:mr>
                              <m:e>
                                <m:func>
                                  <m:funcPr>
                                    <m:ctrlPr>
                                      <a:rPr lang="en-US" sz="1600" i="1">
                                        <a:latin typeface="Cambria Math" panose="02040503050406030204" pitchFamily="18" charset="0"/>
                                        <a:cs typeface="Arial"/>
                                        <a:sym typeface="Arial"/>
                                      </a:rPr>
                                    </m:ctrlPr>
                                  </m:funcPr>
                                  <m:fName>
                                    <m:r>
                                      <m:rPr>
                                        <m:sty m:val="p"/>
                                      </m:rPr>
                                      <a:rPr lang="en-US" sz="1600">
                                        <a:latin typeface="Cambria Math" panose="02040503050406030204" pitchFamily="18" charset="0"/>
                                        <a:cs typeface="Arial"/>
                                        <a:sym typeface="Arial"/>
                                      </a:rPr>
                                      <m:t>cos</m:t>
                                    </m:r>
                                  </m:fName>
                                  <m:e>
                                    <m:d>
                                      <m:dPr>
                                        <m:ctrlPr>
                                          <a:rPr lang="en-US" sz="1600" i="1">
                                            <a:latin typeface="Cambria Math" panose="02040503050406030204" pitchFamily="18" charset="0"/>
                                            <a:cs typeface="Arial"/>
                                            <a:sym typeface="Arial"/>
                                          </a:rPr>
                                        </m:ctrlPr>
                                      </m:dPr>
                                      <m:e>
                                        <m:r>
                                          <a:rPr lang="en-US" sz="1600" i="1">
                                            <a:latin typeface="Cambria Math" panose="02040503050406030204" pitchFamily="18" charset="0"/>
                                            <a:cs typeface="Arial"/>
                                            <a:sym typeface="Arial"/>
                                          </a:rPr>
                                          <m:t>𝜃</m:t>
                                        </m:r>
                                      </m:e>
                                    </m:d>
                                  </m:e>
                                </m:func>
                              </m:e>
                              <m:e>
                                <m:r>
                                  <a:rPr lang="en-US" sz="1600" i="1">
                                    <a:latin typeface="Cambria Math" panose="02040503050406030204" pitchFamily="18" charset="0"/>
                                    <a:cs typeface="Arial"/>
                                    <a:sym typeface="Arial"/>
                                  </a:rPr>
                                  <m:t>−</m:t>
                                </m:r>
                                <m:func>
                                  <m:funcPr>
                                    <m:ctrlPr>
                                      <a:rPr lang="en-US" sz="1600" i="1">
                                        <a:latin typeface="Cambria Math" panose="02040503050406030204" pitchFamily="18" charset="0"/>
                                        <a:cs typeface="Arial"/>
                                        <a:sym typeface="Arial"/>
                                      </a:rPr>
                                    </m:ctrlPr>
                                  </m:funcPr>
                                  <m:fName>
                                    <m:r>
                                      <m:rPr>
                                        <m:sty m:val="p"/>
                                      </m:rPr>
                                      <a:rPr lang="en-US" sz="1600">
                                        <a:latin typeface="Cambria Math" panose="02040503050406030204" pitchFamily="18" charset="0"/>
                                        <a:cs typeface="Arial"/>
                                        <a:sym typeface="Arial"/>
                                      </a:rPr>
                                      <m:t>sin</m:t>
                                    </m:r>
                                  </m:fName>
                                  <m:e>
                                    <m:d>
                                      <m:dPr>
                                        <m:ctrlPr>
                                          <a:rPr lang="en-US" sz="1600" i="1">
                                            <a:latin typeface="Cambria Math" panose="02040503050406030204" pitchFamily="18" charset="0"/>
                                            <a:cs typeface="Arial"/>
                                            <a:sym typeface="Arial"/>
                                          </a:rPr>
                                        </m:ctrlPr>
                                      </m:dPr>
                                      <m:e>
                                        <m:r>
                                          <a:rPr lang="en-US" sz="1600" i="1">
                                            <a:latin typeface="Cambria Math" panose="02040503050406030204" pitchFamily="18" charset="0"/>
                                            <a:cs typeface="Arial"/>
                                            <a:sym typeface="Arial"/>
                                          </a:rPr>
                                          <m:t>𝜃</m:t>
                                        </m:r>
                                      </m:e>
                                    </m:d>
                                  </m:e>
                                </m:func>
                              </m:e>
                              <m:e>
                                <m:sSub>
                                  <m:sSubPr>
                                    <m:ctrlPr>
                                      <a:rPr lang="en-US" sz="1600" i="1">
                                        <a:latin typeface="Cambria Math" panose="02040503050406030204" pitchFamily="18" charset="0"/>
                                        <a:cs typeface="Arial"/>
                                        <a:sym typeface="Arial"/>
                                      </a:rPr>
                                    </m:ctrlPr>
                                  </m:sSubPr>
                                  <m:e>
                                    <m:r>
                                      <a:rPr lang="en-US" sz="1600" i="1">
                                        <a:latin typeface="Cambria Math" panose="02040503050406030204" pitchFamily="18" charset="0"/>
                                        <a:cs typeface="Arial"/>
                                        <a:sym typeface="Arial"/>
                                      </a:rPr>
                                      <m:t>𝑡</m:t>
                                    </m:r>
                                  </m:e>
                                  <m:sub>
                                    <m:r>
                                      <a:rPr lang="en-US" sz="1600" i="1">
                                        <a:latin typeface="Cambria Math" panose="02040503050406030204" pitchFamily="18" charset="0"/>
                                        <a:cs typeface="Arial"/>
                                        <a:sym typeface="Arial"/>
                                      </a:rPr>
                                      <m:t>𝑥</m:t>
                                    </m:r>
                                  </m:sub>
                                </m:sSub>
                              </m:e>
                            </m:mr>
                            <m:mr>
                              <m:e>
                                <m:func>
                                  <m:funcPr>
                                    <m:ctrlPr>
                                      <a:rPr lang="en-US" sz="1600" i="1">
                                        <a:latin typeface="Cambria Math" panose="02040503050406030204" pitchFamily="18" charset="0"/>
                                        <a:cs typeface="Arial"/>
                                        <a:sym typeface="Arial"/>
                                      </a:rPr>
                                    </m:ctrlPr>
                                  </m:funcPr>
                                  <m:fName>
                                    <m:r>
                                      <m:rPr>
                                        <m:sty m:val="p"/>
                                      </m:rPr>
                                      <a:rPr lang="en-US" sz="1600">
                                        <a:latin typeface="Cambria Math" panose="02040503050406030204" pitchFamily="18" charset="0"/>
                                        <a:cs typeface="Arial"/>
                                        <a:sym typeface="Arial"/>
                                      </a:rPr>
                                      <m:t>sin</m:t>
                                    </m:r>
                                  </m:fName>
                                  <m:e>
                                    <m:d>
                                      <m:dPr>
                                        <m:ctrlPr>
                                          <a:rPr lang="en-US" sz="1600" i="1">
                                            <a:latin typeface="Cambria Math" panose="02040503050406030204" pitchFamily="18" charset="0"/>
                                            <a:cs typeface="Arial"/>
                                            <a:sym typeface="Arial"/>
                                          </a:rPr>
                                        </m:ctrlPr>
                                      </m:dPr>
                                      <m:e>
                                        <m:r>
                                          <a:rPr lang="en-US" sz="1600" i="1">
                                            <a:latin typeface="Cambria Math" panose="02040503050406030204" pitchFamily="18" charset="0"/>
                                            <a:cs typeface="Arial"/>
                                            <a:sym typeface="Arial"/>
                                          </a:rPr>
                                          <m:t>𝜃</m:t>
                                        </m:r>
                                      </m:e>
                                    </m:d>
                                  </m:e>
                                </m:func>
                              </m:e>
                              <m:e>
                                <m:func>
                                  <m:funcPr>
                                    <m:ctrlPr>
                                      <a:rPr lang="en-US" sz="1600" i="1">
                                        <a:latin typeface="Cambria Math" panose="02040503050406030204" pitchFamily="18" charset="0"/>
                                        <a:cs typeface="Arial"/>
                                        <a:sym typeface="Arial"/>
                                      </a:rPr>
                                    </m:ctrlPr>
                                  </m:funcPr>
                                  <m:fName>
                                    <m:r>
                                      <m:rPr>
                                        <m:sty m:val="p"/>
                                      </m:rPr>
                                      <a:rPr lang="en-US" sz="1600">
                                        <a:latin typeface="Cambria Math" panose="02040503050406030204" pitchFamily="18" charset="0"/>
                                        <a:cs typeface="Arial"/>
                                        <a:sym typeface="Arial"/>
                                      </a:rPr>
                                      <m:t>cos</m:t>
                                    </m:r>
                                  </m:fName>
                                  <m:e>
                                    <m:d>
                                      <m:dPr>
                                        <m:ctrlPr>
                                          <a:rPr lang="en-US" sz="1600" i="1">
                                            <a:latin typeface="Cambria Math" panose="02040503050406030204" pitchFamily="18" charset="0"/>
                                            <a:cs typeface="Arial"/>
                                            <a:sym typeface="Arial"/>
                                          </a:rPr>
                                        </m:ctrlPr>
                                      </m:dPr>
                                      <m:e>
                                        <m:r>
                                          <a:rPr lang="en-US" sz="1600" i="1">
                                            <a:latin typeface="Cambria Math" panose="02040503050406030204" pitchFamily="18" charset="0"/>
                                            <a:cs typeface="Arial"/>
                                            <a:sym typeface="Arial"/>
                                          </a:rPr>
                                          <m:t>𝜃</m:t>
                                        </m:r>
                                      </m:e>
                                    </m:d>
                                  </m:e>
                                </m:func>
                              </m:e>
                              <m:e>
                                <m:sSub>
                                  <m:sSubPr>
                                    <m:ctrlPr>
                                      <a:rPr lang="en-US" sz="1600" i="1">
                                        <a:latin typeface="Cambria Math" panose="02040503050406030204" pitchFamily="18" charset="0"/>
                                        <a:cs typeface="Arial"/>
                                        <a:sym typeface="Arial"/>
                                      </a:rPr>
                                    </m:ctrlPr>
                                  </m:sSubPr>
                                  <m:e>
                                    <m:r>
                                      <a:rPr lang="en-US" sz="1600" i="1">
                                        <a:latin typeface="Cambria Math" panose="02040503050406030204" pitchFamily="18" charset="0"/>
                                        <a:cs typeface="Arial"/>
                                        <a:sym typeface="Arial"/>
                                      </a:rPr>
                                      <m:t>𝑡</m:t>
                                    </m:r>
                                  </m:e>
                                  <m:sub>
                                    <m:r>
                                      <a:rPr lang="en-US" sz="1600" i="1">
                                        <a:latin typeface="Cambria Math" panose="02040503050406030204" pitchFamily="18" charset="0"/>
                                        <a:cs typeface="Arial"/>
                                        <a:sym typeface="Arial"/>
                                      </a:rPr>
                                      <m:t>𝑦</m:t>
                                    </m:r>
                                  </m:sub>
                                </m:sSub>
                              </m:e>
                            </m:mr>
                            <m:mr>
                              <m:e>
                                <m:r>
                                  <a:rPr lang="en-US" sz="1600" i="1">
                                    <a:latin typeface="Cambria Math" panose="02040503050406030204" pitchFamily="18" charset="0"/>
                                    <a:cs typeface="Arial"/>
                                    <a:sym typeface="Arial"/>
                                  </a:rPr>
                                  <m:t>0</m:t>
                                </m:r>
                              </m:e>
                              <m:e>
                                <m:r>
                                  <a:rPr lang="en-US" sz="1600" i="1">
                                    <a:latin typeface="Cambria Math" panose="02040503050406030204" pitchFamily="18" charset="0"/>
                                    <a:cs typeface="Arial"/>
                                    <a:sym typeface="Arial"/>
                                  </a:rPr>
                                  <m:t>0</m:t>
                                </m:r>
                              </m:e>
                              <m:e>
                                <m:r>
                                  <a:rPr lang="en-US" sz="1600" i="1">
                                    <a:latin typeface="Cambria Math" panose="02040503050406030204" pitchFamily="18" charset="0"/>
                                    <a:cs typeface="Arial"/>
                                    <a:sym typeface="Arial"/>
                                  </a:rPr>
                                  <m:t>1</m:t>
                                </m:r>
                              </m:e>
                            </m:mr>
                          </m:m>
                        </m:e>
                      </m:d>
                      <m:d>
                        <m:dPr>
                          <m:begChr m:val="["/>
                          <m:endChr m:val="]"/>
                          <m:ctrlPr>
                            <a:rPr lang="en-US" sz="1600" i="1">
                              <a:latin typeface="Cambria Math" panose="02040503050406030204" pitchFamily="18" charset="0"/>
                              <a:cs typeface="Arial"/>
                              <a:sym typeface="Arial"/>
                            </a:rPr>
                          </m:ctrlPr>
                        </m:dPr>
                        <m:e>
                          <m:m>
                            <m:mPr>
                              <m:plcHide m:val="on"/>
                              <m:mcs>
                                <m:mc>
                                  <m:mcPr>
                                    <m:count m:val="1"/>
                                    <m:mcJc m:val="center"/>
                                  </m:mcPr>
                                </m:mc>
                              </m:mcs>
                              <m:ctrlPr>
                                <a:rPr lang="en-US" sz="1600" i="1">
                                  <a:latin typeface="Cambria Math" panose="02040503050406030204" pitchFamily="18" charset="0"/>
                                  <a:cs typeface="Arial"/>
                                  <a:sym typeface="Arial"/>
                                </a:rPr>
                              </m:ctrlPr>
                            </m:mPr>
                            <m:mr>
                              <m:e>
                                <m:sSub>
                                  <m:sSubPr>
                                    <m:ctrlPr>
                                      <a:rPr lang="en-US" sz="1600" i="1">
                                        <a:latin typeface="Cambria Math" panose="02040503050406030204" pitchFamily="18" charset="0"/>
                                        <a:cs typeface="Arial"/>
                                        <a:sym typeface="Arial"/>
                                      </a:rPr>
                                    </m:ctrlPr>
                                  </m:sSubPr>
                                  <m:e>
                                    <m:r>
                                      <a:rPr lang="en-US" sz="1600" i="1">
                                        <a:latin typeface="Cambria Math" panose="02040503050406030204" pitchFamily="18" charset="0"/>
                                        <a:cs typeface="Arial"/>
                                        <a:sym typeface="Arial"/>
                                      </a:rPr>
                                      <m:t>𝑥</m:t>
                                    </m:r>
                                  </m:e>
                                  <m:sub>
                                    <m:r>
                                      <a:rPr lang="en-US" sz="1600" i="1">
                                        <a:latin typeface="Cambria Math" panose="02040503050406030204" pitchFamily="18" charset="0"/>
                                        <a:cs typeface="Arial"/>
                                        <a:sym typeface="Arial"/>
                                      </a:rPr>
                                      <m:t>𝑅</m:t>
                                    </m:r>
                                  </m:sub>
                                </m:sSub>
                              </m:e>
                            </m:mr>
                            <m:mr>
                              <m:e>
                                <m:sSub>
                                  <m:sSubPr>
                                    <m:ctrlPr>
                                      <a:rPr lang="en-US" sz="1600" i="1">
                                        <a:latin typeface="Cambria Math" panose="02040503050406030204" pitchFamily="18" charset="0"/>
                                        <a:cs typeface="Arial"/>
                                        <a:sym typeface="Arial"/>
                                      </a:rPr>
                                    </m:ctrlPr>
                                  </m:sSubPr>
                                  <m:e>
                                    <m:r>
                                      <a:rPr lang="en-US" sz="1600" i="1">
                                        <a:latin typeface="Cambria Math" panose="02040503050406030204" pitchFamily="18" charset="0"/>
                                        <a:cs typeface="Arial"/>
                                        <a:sym typeface="Arial"/>
                                      </a:rPr>
                                      <m:t>𝑦</m:t>
                                    </m:r>
                                  </m:e>
                                  <m:sub>
                                    <m:r>
                                      <a:rPr lang="en-US" sz="1600" i="1">
                                        <a:latin typeface="Cambria Math" panose="02040503050406030204" pitchFamily="18" charset="0"/>
                                        <a:cs typeface="Arial"/>
                                        <a:sym typeface="Arial"/>
                                      </a:rPr>
                                      <m:t>𝑅</m:t>
                                    </m:r>
                                  </m:sub>
                                </m:sSub>
                              </m:e>
                            </m:mr>
                            <m:mr>
                              <m:e>
                                <m:r>
                                  <a:rPr lang="en-US" sz="1600" i="1">
                                    <a:latin typeface="Cambria Math" panose="02040503050406030204" pitchFamily="18" charset="0"/>
                                    <a:cs typeface="Arial"/>
                                    <a:sym typeface="Arial"/>
                                  </a:rPr>
                                  <m:t>1</m:t>
                                </m:r>
                              </m:e>
                            </m:mr>
                          </m:m>
                        </m:e>
                      </m:d>
                    </m:oMath>
                  </m:oMathPara>
                </a14:m>
                <a:endParaRPr lang="en-US" sz="1100" dirty="0">
                  <a:solidFill>
                    <a:srgbClr val="000000"/>
                  </a:solidFill>
                  <a:latin typeface="Consolas" panose="020B0609020204030204" pitchFamily="49" charset="0"/>
                </a:endParaRPr>
              </a:p>
              <a:p>
                <a:pPr marL="114300" indent="0" algn="l">
                  <a:buNone/>
                </a:pPr>
                <a:endParaRPr lang="en-US" sz="1100" dirty="0">
                  <a:solidFill>
                    <a:srgbClr val="000000"/>
                  </a:solidFill>
                  <a:latin typeface="Consolas" panose="020B0609020204030204" pitchFamily="49" charset="0"/>
                </a:endParaRPr>
              </a:p>
              <a:p>
                <a:pPr marL="114300" indent="0" algn="l">
                  <a:buNone/>
                </a:pPr>
                <a:r>
                  <a:rPr lang="en-US" sz="1400" dirty="0" err="1">
                    <a:solidFill>
                      <a:srgbClr val="000000"/>
                    </a:solidFill>
                    <a:latin typeface="Consolas" panose="020B0609020204030204" pitchFamily="49" charset="0"/>
                  </a:rPr>
                  <a:t>LADARxoffset</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ROBOTps.</a:t>
                </a:r>
                <a:r>
                  <a:rPr lang="en-US" sz="1400" dirty="0" err="1">
                    <a:solidFill>
                      <a:srgbClr val="0000C0"/>
                    </a:solidFill>
                    <a:latin typeface="Consolas" panose="020B0609020204030204" pitchFamily="49" charset="0"/>
                  </a:rPr>
                  <a:t>x</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LADARps.</a:t>
                </a:r>
                <a:r>
                  <a:rPr lang="en-US" sz="1400" dirty="0" err="1">
                    <a:solidFill>
                      <a:srgbClr val="0000C0"/>
                    </a:solidFill>
                    <a:latin typeface="Consolas" panose="020B0609020204030204" pitchFamily="49" charset="0"/>
                  </a:rPr>
                  <a:t>x</a:t>
                </a:r>
                <a:r>
                  <a:rPr lang="en-US" sz="1400" dirty="0">
                    <a:solidFill>
                      <a:srgbClr val="000000"/>
                    </a:solidFill>
                    <a:latin typeface="Consolas" panose="020B0609020204030204" pitchFamily="49" charset="0"/>
                  </a:rPr>
                  <a:t>*</a:t>
                </a:r>
                <a:r>
                  <a:rPr lang="en-US" sz="1400" dirty="0" err="1">
                    <a:solidFill>
                      <a:srgbClr val="642880"/>
                    </a:solidFill>
                    <a:latin typeface="Consolas" panose="020B0609020204030204" pitchFamily="49" charset="0"/>
                  </a:rPr>
                  <a:t>cosf</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ROBOTps.</a:t>
                </a:r>
                <a:r>
                  <a:rPr lang="en-US" sz="1400" dirty="0" err="1">
                    <a:solidFill>
                      <a:srgbClr val="0000C0"/>
                    </a:solidFill>
                    <a:latin typeface="Consolas" panose="020B0609020204030204" pitchFamily="49" charset="0"/>
                  </a:rPr>
                  <a:t>theta</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LADARps.</a:t>
                </a:r>
                <a:r>
                  <a:rPr lang="en-US" sz="1400" dirty="0" err="1">
                    <a:solidFill>
                      <a:srgbClr val="0000C0"/>
                    </a:solidFill>
                    <a:latin typeface="Consolas" panose="020B0609020204030204" pitchFamily="49" charset="0"/>
                  </a:rPr>
                  <a:t>y</a:t>
                </a:r>
                <a:r>
                  <a:rPr lang="en-US" sz="1400" dirty="0">
                    <a:solidFill>
                      <a:srgbClr val="000000"/>
                    </a:solidFill>
                    <a:latin typeface="Consolas" panose="020B0609020204030204" pitchFamily="49" charset="0"/>
                  </a:rPr>
                  <a:t>*</a:t>
                </a:r>
                <a:r>
                  <a:rPr lang="en-US" sz="1400" dirty="0" err="1">
                    <a:solidFill>
                      <a:srgbClr val="642880"/>
                    </a:solidFill>
                    <a:latin typeface="Consolas" panose="020B0609020204030204" pitchFamily="49" charset="0"/>
                  </a:rPr>
                  <a:t>sinf</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ROBOTps.</a:t>
                </a:r>
                <a:r>
                  <a:rPr lang="en-US" sz="1400" dirty="0" err="1">
                    <a:solidFill>
                      <a:srgbClr val="0000C0"/>
                    </a:solidFill>
                    <a:latin typeface="Consolas" panose="020B0609020204030204" pitchFamily="49" charset="0"/>
                  </a:rPr>
                  <a:t>theta</a:t>
                </a:r>
                <a:r>
                  <a:rPr lang="en-US" sz="1400" dirty="0">
                    <a:solidFill>
                      <a:srgbClr val="000000"/>
                    </a:solidFill>
                    <a:latin typeface="Consolas" panose="020B0609020204030204" pitchFamily="49" charset="0"/>
                  </a:rPr>
                  <a:t>));</a:t>
                </a:r>
              </a:p>
              <a:p>
                <a:pPr marL="114300" indent="0" algn="l">
                  <a:buNone/>
                </a:pPr>
                <a:r>
                  <a:rPr lang="en-US" sz="1400" dirty="0" err="1">
                    <a:solidFill>
                      <a:srgbClr val="000000"/>
                    </a:solidFill>
                    <a:latin typeface="Consolas" panose="020B0609020204030204" pitchFamily="49" charset="0"/>
                  </a:rPr>
                  <a:t>LADARyoffset</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ROBOTps.</a:t>
                </a:r>
                <a:r>
                  <a:rPr lang="en-US" sz="1400" dirty="0" err="1">
                    <a:solidFill>
                      <a:srgbClr val="0000C0"/>
                    </a:solidFill>
                    <a:latin typeface="Consolas" panose="020B0609020204030204" pitchFamily="49" charset="0"/>
                  </a:rPr>
                  <a:t>y</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LADARps.</a:t>
                </a:r>
                <a:r>
                  <a:rPr lang="en-US" sz="1400" dirty="0" err="1">
                    <a:solidFill>
                      <a:srgbClr val="0000C0"/>
                    </a:solidFill>
                    <a:latin typeface="Consolas" panose="020B0609020204030204" pitchFamily="49" charset="0"/>
                  </a:rPr>
                  <a:t>x</a:t>
                </a:r>
                <a:r>
                  <a:rPr lang="en-US" sz="1400" dirty="0">
                    <a:solidFill>
                      <a:srgbClr val="000000"/>
                    </a:solidFill>
                    <a:latin typeface="Consolas" panose="020B0609020204030204" pitchFamily="49" charset="0"/>
                  </a:rPr>
                  <a:t>*</a:t>
                </a:r>
                <a:r>
                  <a:rPr lang="en-US" sz="1400" dirty="0" err="1">
                    <a:solidFill>
                      <a:srgbClr val="642880"/>
                    </a:solidFill>
                    <a:latin typeface="Consolas" panose="020B0609020204030204" pitchFamily="49" charset="0"/>
                  </a:rPr>
                  <a:t>sinf</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ROBOTps.</a:t>
                </a:r>
                <a:r>
                  <a:rPr lang="en-US" sz="1400" dirty="0" err="1">
                    <a:solidFill>
                      <a:srgbClr val="0000C0"/>
                    </a:solidFill>
                    <a:latin typeface="Consolas" panose="020B0609020204030204" pitchFamily="49" charset="0"/>
                  </a:rPr>
                  <a:t>theta</a:t>
                </a:r>
                <a:r>
                  <a:rPr lang="en-US" sz="1400">
                    <a:solidFill>
                      <a:srgbClr val="000000"/>
                    </a:solidFill>
                    <a:latin typeface="Consolas" panose="020B0609020204030204" pitchFamily="49" charset="0"/>
                  </a:rPr>
                  <a:t>)+LADARps</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y</a:t>
                </a:r>
                <a:r>
                  <a:rPr lang="en-US" sz="1400" dirty="0">
                    <a:solidFill>
                      <a:srgbClr val="000000"/>
                    </a:solidFill>
                    <a:latin typeface="Consolas" panose="020B0609020204030204" pitchFamily="49" charset="0"/>
                  </a:rPr>
                  <a:t>*</a:t>
                </a:r>
                <a:r>
                  <a:rPr lang="en-US" sz="1400" dirty="0" err="1">
                    <a:solidFill>
                      <a:srgbClr val="642880"/>
                    </a:solidFill>
                    <a:latin typeface="Consolas" panose="020B0609020204030204" pitchFamily="49" charset="0"/>
                  </a:rPr>
                  <a:t>cosf</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ROBOTps.</a:t>
                </a:r>
                <a:r>
                  <a:rPr lang="en-US" sz="1400" dirty="0" err="1">
                    <a:solidFill>
                      <a:srgbClr val="0000C0"/>
                    </a:solidFill>
                    <a:latin typeface="Consolas" panose="020B0609020204030204" pitchFamily="49" charset="0"/>
                  </a:rPr>
                  <a:t>theta</a:t>
                </a:r>
                <a:r>
                  <a:rPr lang="en-US" sz="1400" dirty="0">
                    <a:solidFill>
                      <a:srgbClr val="000000"/>
                    </a:solidFill>
                    <a:latin typeface="Consolas" panose="020B0609020204030204" pitchFamily="49" charset="0"/>
                  </a:rPr>
                  <a:t>));</a:t>
                </a:r>
              </a:p>
              <a:p>
                <a:pPr marL="114300" indent="0" algn="l">
                  <a:buNone/>
                </a:pPr>
                <a:endParaRPr lang="en-US" sz="1100" dirty="0">
                  <a:solidFill>
                    <a:srgbClr val="000000"/>
                  </a:solidFill>
                  <a:latin typeface="Consolas" panose="020B0609020204030204" pitchFamily="49" charset="0"/>
                </a:endParaRPr>
              </a:p>
              <a:p>
                <a:pPr marL="114300" indent="0">
                  <a:buNone/>
                </a:pPr>
                <a:r>
                  <a:rPr lang="en-US" sz="1600" dirty="0">
                    <a:latin typeface="Atkinson Hyperlegible Next"/>
                    <a:ea typeface="Arial"/>
                    <a:cs typeface="Arial"/>
                    <a:sym typeface="Arial"/>
                  </a:rPr>
                  <a:t>Now we can get the coordinates of the object in the global reference frame based on the distance returned from the LiDAR and the angle.</a:t>
                </a:r>
                <a:endParaRPr lang="en-US" sz="1600" dirty="0">
                  <a:solidFill>
                    <a:srgbClr val="000000"/>
                  </a:solidFill>
                  <a:latin typeface="Consolas" panose="020B0609020204030204" pitchFamily="49" charset="0"/>
                </a:endParaRPr>
              </a:p>
              <a:p>
                <a:pPr marL="114300" indent="0" algn="l">
                  <a:buNone/>
                </a:pPr>
                <a:endParaRPr lang="en-US" sz="1100" dirty="0">
                  <a:solidFill>
                    <a:srgbClr val="000000"/>
                  </a:solidFill>
                  <a:latin typeface="Consolas" panose="020B0609020204030204" pitchFamily="49" charset="0"/>
                </a:endParaRPr>
              </a:p>
              <a:p>
                <a:pPr marL="114300" indent="0" algn="l">
                  <a:buNone/>
                </a:pPr>
                <a:r>
                  <a:rPr lang="en-US" sz="1200" dirty="0">
                    <a:solidFill>
                      <a:srgbClr val="7F0055"/>
                    </a:solidFill>
                    <a:latin typeface="Consolas" panose="020B0609020204030204" pitchFamily="49" charset="0"/>
                  </a:rPr>
                  <a:t>for</a:t>
                </a:r>
                <a:r>
                  <a:rPr lang="en-US" sz="1200" dirty="0">
                    <a:solidFill>
                      <a:srgbClr val="000000"/>
                    </a:solidFill>
                    <a:latin typeface="Consolas" panose="020B0609020204030204" pitchFamily="49" charset="0"/>
                  </a:rPr>
                  <a:t> (LADARi = 0; LADARi &lt; 228; LADARi++) {</a:t>
                </a:r>
                <a:endParaRPr lang="en-US" sz="1200" dirty="0">
                  <a:latin typeface="Consolas" panose="020B0609020204030204" pitchFamily="49" charset="0"/>
                </a:endParaRP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ladar_pts</a:t>
                </a:r>
                <a:r>
                  <a:rPr lang="en-US" sz="1200" dirty="0">
                    <a:solidFill>
                      <a:srgbClr val="000000"/>
                    </a:solidFill>
                    <a:latin typeface="Consolas" panose="020B0609020204030204" pitchFamily="49" charset="0"/>
                  </a:rPr>
                  <a:t>[LADARi].</a:t>
                </a:r>
                <a:r>
                  <a:rPr lang="en-US" sz="1200" dirty="0">
                    <a:solidFill>
                      <a:srgbClr val="0000C0"/>
                    </a:solidFill>
                    <a:latin typeface="Consolas" panose="020B0609020204030204" pitchFamily="49" charset="0"/>
                  </a:rPr>
                  <a:t>x</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LADARxoffset</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ladar_data</a:t>
                </a:r>
                <a:r>
                  <a:rPr lang="en-US" sz="1200" dirty="0">
                    <a:solidFill>
                      <a:srgbClr val="000000"/>
                    </a:solidFill>
                    <a:latin typeface="Consolas" panose="020B0609020204030204" pitchFamily="49" charset="0"/>
                  </a:rPr>
                  <a:t>[LADARi].</a:t>
                </a:r>
                <a:r>
                  <a:rPr lang="en-US" sz="1200" dirty="0" err="1">
                    <a:solidFill>
                      <a:srgbClr val="0000C0"/>
                    </a:solidFill>
                    <a:latin typeface="Consolas" panose="020B0609020204030204" pitchFamily="49" charset="0"/>
                  </a:rPr>
                  <a:t>distance_ping</a:t>
                </a:r>
                <a:r>
                  <a:rPr lang="en-US" sz="1200" dirty="0">
                    <a:solidFill>
                      <a:srgbClr val="000000"/>
                    </a:solidFill>
                    <a:latin typeface="Consolas" panose="020B0609020204030204" pitchFamily="49" charset="0"/>
                  </a:rPr>
                  <a:t>*</a:t>
                </a:r>
                <a:r>
                  <a:rPr lang="en-US" sz="1200" dirty="0" err="1">
                    <a:solidFill>
                      <a:srgbClr val="642880"/>
                    </a:solidFill>
                    <a:latin typeface="Consolas" panose="020B0609020204030204" pitchFamily="49" charset="0"/>
                  </a:rPr>
                  <a:t>cosf</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ladar_data</a:t>
                </a:r>
                <a:r>
                  <a:rPr lang="en-US" sz="1200" dirty="0">
                    <a:solidFill>
                      <a:srgbClr val="000000"/>
                    </a:solidFill>
                    <a:latin typeface="Consolas" panose="020B0609020204030204" pitchFamily="49" charset="0"/>
                  </a:rPr>
                  <a:t>[LADARi].</a:t>
                </a:r>
                <a:r>
                  <a:rPr lang="en-US" sz="1200" dirty="0">
                    <a:solidFill>
                      <a:srgbClr val="0000C0"/>
                    </a:solidFill>
                    <a:latin typeface="Consolas" panose="020B0609020204030204" pitchFamily="49" charset="0"/>
                  </a:rPr>
                  <a:t>angle</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ROBOTps.</a:t>
                </a:r>
                <a:r>
                  <a:rPr lang="en-US" sz="1200" dirty="0" err="1">
                    <a:solidFill>
                      <a:srgbClr val="0000C0"/>
                    </a:solidFill>
                    <a:latin typeface="Consolas" panose="020B0609020204030204" pitchFamily="49" charset="0"/>
                  </a:rPr>
                  <a:t>theta</a:t>
                </a:r>
                <a:r>
                  <a:rPr lang="en-US" sz="1200" dirty="0">
                    <a:solidFill>
                      <a:srgbClr val="000000"/>
                    </a:solidFill>
                    <a:latin typeface="Consolas" panose="020B0609020204030204" pitchFamily="49" charset="0"/>
                  </a:rPr>
                  <a:t>);</a:t>
                </a: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ladar_pts</a:t>
                </a:r>
                <a:r>
                  <a:rPr lang="en-US" sz="1200" dirty="0">
                    <a:solidFill>
                      <a:srgbClr val="000000"/>
                    </a:solidFill>
                    <a:latin typeface="Consolas" panose="020B0609020204030204" pitchFamily="49" charset="0"/>
                  </a:rPr>
                  <a:t>[LADARi].</a:t>
                </a:r>
                <a:r>
                  <a:rPr lang="en-US" sz="1200" dirty="0">
                    <a:solidFill>
                      <a:srgbClr val="0000C0"/>
                    </a:solidFill>
                    <a:latin typeface="Consolas" panose="020B0609020204030204" pitchFamily="49" charset="0"/>
                  </a:rPr>
                  <a:t>y</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LADARyoffset</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ladar_data</a:t>
                </a:r>
                <a:r>
                  <a:rPr lang="en-US" sz="1200" dirty="0">
                    <a:solidFill>
                      <a:srgbClr val="000000"/>
                    </a:solidFill>
                    <a:latin typeface="Consolas" panose="020B0609020204030204" pitchFamily="49" charset="0"/>
                  </a:rPr>
                  <a:t>[LADARi].</a:t>
                </a:r>
                <a:r>
                  <a:rPr lang="en-US" sz="1200" dirty="0" err="1">
                    <a:solidFill>
                      <a:srgbClr val="0000C0"/>
                    </a:solidFill>
                    <a:latin typeface="Consolas" panose="020B0609020204030204" pitchFamily="49" charset="0"/>
                  </a:rPr>
                  <a:t>distance_ping</a:t>
                </a:r>
                <a:r>
                  <a:rPr lang="en-US" sz="1200" dirty="0">
                    <a:solidFill>
                      <a:srgbClr val="000000"/>
                    </a:solidFill>
                    <a:latin typeface="Consolas" panose="020B0609020204030204" pitchFamily="49" charset="0"/>
                  </a:rPr>
                  <a:t>*</a:t>
                </a:r>
                <a:r>
                  <a:rPr lang="en-US" sz="1200" dirty="0" err="1">
                    <a:solidFill>
                      <a:srgbClr val="642880"/>
                    </a:solidFill>
                    <a:latin typeface="Consolas" panose="020B0609020204030204" pitchFamily="49" charset="0"/>
                  </a:rPr>
                  <a:t>sinf</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ladar_data</a:t>
                </a:r>
                <a:r>
                  <a:rPr lang="en-US" sz="1200" dirty="0">
                    <a:solidFill>
                      <a:srgbClr val="000000"/>
                    </a:solidFill>
                    <a:latin typeface="Consolas" panose="020B0609020204030204" pitchFamily="49" charset="0"/>
                  </a:rPr>
                  <a:t>[LADARi].</a:t>
                </a:r>
                <a:r>
                  <a:rPr lang="en-US" sz="1200" dirty="0">
                    <a:solidFill>
                      <a:srgbClr val="0000C0"/>
                    </a:solidFill>
                    <a:latin typeface="Consolas" panose="020B0609020204030204" pitchFamily="49" charset="0"/>
                  </a:rPr>
                  <a:t>angle</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ROBOTps.</a:t>
                </a:r>
                <a:r>
                  <a:rPr lang="en-US" sz="1200" dirty="0" err="1">
                    <a:solidFill>
                      <a:srgbClr val="0000C0"/>
                    </a:solidFill>
                    <a:latin typeface="Consolas" panose="020B0609020204030204" pitchFamily="49" charset="0"/>
                  </a:rPr>
                  <a:t>theta</a:t>
                </a:r>
                <a:r>
                  <a:rPr lang="en-US" sz="1200" dirty="0">
                    <a:solidFill>
                      <a:srgbClr val="000000"/>
                    </a:solidFill>
                    <a:latin typeface="Consolas" panose="020B0609020204030204" pitchFamily="49" charset="0"/>
                  </a:rPr>
                  <a:t>);</a:t>
                </a:r>
                <a:endParaRPr lang="en-US" sz="1200" dirty="0">
                  <a:latin typeface="Consolas" panose="020B0609020204030204" pitchFamily="49" charset="0"/>
                </a:endParaRPr>
              </a:p>
              <a:p>
                <a:pPr marL="114300" indent="0" algn="l">
                  <a:buNone/>
                </a:pPr>
                <a:r>
                  <a:rPr lang="en-US" sz="1200" dirty="0">
                    <a:solidFill>
                      <a:srgbClr val="000000"/>
                    </a:solidFill>
                    <a:latin typeface="Consolas" panose="020B0609020204030204" pitchFamily="49" charset="0"/>
                  </a:rPr>
                  <a:t>}</a:t>
                </a:r>
                <a:endParaRPr lang="en-US" sz="1200" dirty="0">
                  <a:latin typeface="Atkinson Hyperlegible Next"/>
                  <a:ea typeface="Arial"/>
                  <a:cs typeface="Arial"/>
                  <a:sym typeface="Arial"/>
                </a:endParaRPr>
              </a:p>
            </p:txBody>
          </p:sp>
        </mc:Choice>
        <mc:Fallback>
          <p:sp>
            <p:nvSpPr>
              <p:cNvPr id="118" name="Google Shape;118;p29">
                <a:extLst>
                  <a:ext uri="{FF2B5EF4-FFF2-40B4-BE49-F238E27FC236}">
                    <a16:creationId xmlns:a16="http://schemas.microsoft.com/office/drawing/2014/main" id="{A4E51EA2-39C6-E885-3098-919A58EC4AD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b="-379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C0680AE2-4E33-0C0F-A8AF-02B36C09A5E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9647F28-4C21-4629-0C4E-4289DDCA943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(17/18)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318D3A4-92BD-3D66-0C1C-001152FAA3F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81D2381-CFAA-8E67-351F-9AA572AA66B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2328D6E-3A84-10BA-EB73-F38A65999BB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BAEFD3-6F64-D18F-5D15-90D1B009087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CFCD839-D454-B0F9-1A24-A9982B96D7A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A5B62B7-C604-38A9-D534-ABEA1668B8B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5411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8">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8">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B1C0211-49C0-68FC-39EC-2C1608C6046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98ABDDF-12C6-8BC4-9E6B-747B5C6AE77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2400" dirty="0">
                <a:latin typeface="Atkinson Hyperlegible Next"/>
                <a:ea typeface="Arial"/>
                <a:cs typeface="Arial"/>
                <a:sym typeface="Arial"/>
              </a:rPr>
              <a:t>The pose objects as simply defined as,</a:t>
            </a:r>
          </a:p>
          <a:p>
            <a:pPr marL="114300" indent="0">
              <a:buNone/>
            </a:pPr>
            <a:endParaRPr lang="en-US" sz="2400" dirty="0">
              <a:latin typeface="Atkinson Hyperlegible Next"/>
              <a:ea typeface="Arial"/>
              <a:cs typeface="Arial"/>
              <a:sym typeface="Arial"/>
            </a:endParaRPr>
          </a:p>
          <a:p>
            <a:pPr marL="114300" indent="0">
              <a:buNone/>
            </a:pPr>
            <a:r>
              <a:rPr lang="en-US" sz="1600" dirty="0">
                <a:solidFill>
                  <a:srgbClr val="7F0055"/>
                </a:solidFill>
                <a:latin typeface="Consolas" panose="020B0609020204030204" pitchFamily="49" charset="0"/>
              </a:rPr>
              <a:t>typedef</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struct</a:t>
            </a:r>
          </a:p>
          <a:p>
            <a:pPr marL="114300" indent="0">
              <a:buNone/>
            </a:pPr>
            <a:r>
              <a:rPr lang="en-US" sz="1600" dirty="0">
                <a:solidFill>
                  <a:srgbClr val="000000"/>
                </a:solidFill>
                <a:latin typeface="Consolas" panose="020B0609020204030204" pitchFamily="49" charset="0"/>
              </a:rPr>
              <a:t>{</a:t>
            </a:r>
          </a:p>
          <a:p>
            <a:pPr marL="114300" indent="0">
              <a:buNone/>
            </a:pP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float</a:t>
            </a:r>
            <a:r>
              <a:rPr lang="en-US" sz="1600" dirty="0">
                <a:solidFill>
                  <a:srgbClr val="000000"/>
                </a:solidFill>
                <a:latin typeface="Consolas" panose="020B0609020204030204" pitchFamily="49" charset="0"/>
              </a:rPr>
              <a:t> </a:t>
            </a:r>
            <a:r>
              <a:rPr lang="en-US" sz="1600" dirty="0">
                <a:solidFill>
                  <a:srgbClr val="0000C0"/>
                </a:solidFill>
                <a:latin typeface="Consolas" panose="020B0609020204030204" pitchFamily="49" charset="0"/>
              </a:rPr>
              <a:t>x</a:t>
            </a:r>
            <a:r>
              <a:rPr lang="en-US" sz="1600" dirty="0">
                <a:solidFill>
                  <a:srgbClr val="000000"/>
                </a:solidFill>
                <a:latin typeface="Consolas" panose="020B0609020204030204" pitchFamily="49" charset="0"/>
              </a:rPr>
              <a:t>;        </a:t>
            </a:r>
            <a:r>
              <a:rPr lang="en-US" sz="1600" dirty="0">
                <a:solidFill>
                  <a:srgbClr val="3F7F5F"/>
                </a:solidFill>
                <a:latin typeface="Consolas" panose="020B0609020204030204" pitchFamily="49" charset="0"/>
              </a:rPr>
              <a:t>//in feet</a:t>
            </a:r>
          </a:p>
          <a:p>
            <a:pPr marL="114300" indent="0">
              <a:buNone/>
            </a:pP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float</a:t>
            </a:r>
            <a:r>
              <a:rPr lang="en-US" sz="1600" dirty="0">
                <a:solidFill>
                  <a:srgbClr val="000000"/>
                </a:solidFill>
                <a:latin typeface="Consolas" panose="020B0609020204030204" pitchFamily="49" charset="0"/>
              </a:rPr>
              <a:t> </a:t>
            </a:r>
            <a:r>
              <a:rPr lang="en-US" sz="1600" dirty="0">
                <a:solidFill>
                  <a:srgbClr val="0000C0"/>
                </a:solidFill>
                <a:latin typeface="Consolas" panose="020B0609020204030204" pitchFamily="49" charset="0"/>
              </a:rPr>
              <a:t>y</a:t>
            </a:r>
            <a:r>
              <a:rPr lang="en-US" sz="1600" dirty="0">
                <a:solidFill>
                  <a:srgbClr val="000000"/>
                </a:solidFill>
                <a:latin typeface="Consolas" panose="020B0609020204030204" pitchFamily="49" charset="0"/>
              </a:rPr>
              <a:t>;        </a:t>
            </a:r>
            <a:r>
              <a:rPr lang="en-US" sz="1600" dirty="0">
                <a:solidFill>
                  <a:srgbClr val="3F7F5F"/>
                </a:solidFill>
                <a:latin typeface="Consolas" panose="020B0609020204030204" pitchFamily="49" charset="0"/>
              </a:rPr>
              <a:t>//in feet</a:t>
            </a:r>
          </a:p>
          <a:p>
            <a:pPr marL="114300" indent="0">
              <a:buNone/>
            </a:pP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float</a:t>
            </a:r>
            <a:r>
              <a:rPr lang="en-US" sz="1600" dirty="0">
                <a:solidFill>
                  <a:srgbClr val="000000"/>
                </a:solidFill>
                <a:latin typeface="Consolas" panose="020B0609020204030204" pitchFamily="49" charset="0"/>
              </a:rPr>
              <a:t> </a:t>
            </a:r>
            <a:r>
              <a:rPr lang="en-US" sz="1600" dirty="0">
                <a:solidFill>
                  <a:srgbClr val="0000C0"/>
                </a:solidFill>
                <a:latin typeface="Consolas" panose="020B0609020204030204" pitchFamily="49" charset="0"/>
              </a:rPr>
              <a:t>theta</a:t>
            </a:r>
            <a:r>
              <a:rPr lang="en-US" sz="1600" dirty="0">
                <a:solidFill>
                  <a:srgbClr val="000000"/>
                </a:solidFill>
                <a:latin typeface="Consolas" panose="020B0609020204030204" pitchFamily="49" charset="0"/>
              </a:rPr>
              <a:t>;    </a:t>
            </a:r>
            <a:r>
              <a:rPr lang="en-US" sz="1600" dirty="0">
                <a:solidFill>
                  <a:srgbClr val="3F7F5F"/>
                </a:solidFill>
                <a:latin typeface="Consolas" panose="020B0609020204030204" pitchFamily="49" charset="0"/>
              </a:rPr>
              <a:t>// in radians between -PI and PI. O radian is along the +x axis, PI/2 is the +y axis</a:t>
            </a:r>
          </a:p>
          <a:p>
            <a:pPr marL="114300" indent="0">
              <a:buNone/>
            </a:pPr>
            <a:r>
              <a:rPr lang="en-US" sz="1600" dirty="0">
                <a:solidFill>
                  <a:srgbClr val="000000"/>
                </a:solidFill>
                <a:latin typeface="Consolas" panose="020B0609020204030204" pitchFamily="49" charset="0"/>
              </a:rPr>
              <a:t>} </a:t>
            </a:r>
            <a:r>
              <a:rPr lang="en-US" sz="1600" dirty="0">
                <a:solidFill>
                  <a:srgbClr val="005032"/>
                </a:solidFill>
                <a:latin typeface="Consolas" panose="020B0609020204030204" pitchFamily="49" charset="0"/>
              </a:rPr>
              <a:t>pose</a:t>
            </a:r>
            <a:r>
              <a:rPr lang="en-US" sz="1600" dirty="0">
                <a:solidFill>
                  <a:srgbClr val="000000"/>
                </a:solidFill>
                <a:latin typeface="Consolas" panose="020B0609020204030204" pitchFamily="49" charset="0"/>
              </a:rPr>
              <a:t>;</a:t>
            </a:r>
          </a:p>
          <a:p>
            <a:pPr marL="114300" indent="0">
              <a:buNone/>
            </a:pPr>
            <a:endParaRPr lang="en-US" sz="1600" dirty="0">
              <a:solidFill>
                <a:srgbClr val="000000"/>
              </a:solidFill>
              <a:latin typeface="Consolas" panose="020B0609020204030204" pitchFamily="49" charset="0"/>
            </a:endParaRPr>
          </a:p>
          <a:p>
            <a:pPr marL="114300" indent="0">
              <a:buNone/>
            </a:pPr>
            <a:r>
              <a:rPr lang="en-US" sz="1600" dirty="0">
                <a:solidFill>
                  <a:srgbClr val="005032"/>
                </a:solidFill>
                <a:latin typeface="Consolas" panose="020B0609020204030204" pitchFamily="49" charset="0"/>
              </a:rPr>
              <a:t>pose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ROBOTps</a:t>
            </a:r>
            <a:r>
              <a:rPr lang="en-US" sz="1600" dirty="0">
                <a:solidFill>
                  <a:srgbClr val="000000"/>
                </a:solidFill>
                <a:latin typeface="Consolas" panose="020B0609020204030204" pitchFamily="49" charset="0"/>
              </a:rPr>
              <a:t> = {0,0,0}; </a:t>
            </a:r>
            <a:r>
              <a:rPr lang="en-US" sz="1600" dirty="0">
                <a:solidFill>
                  <a:srgbClr val="3F7F5F"/>
                </a:solidFill>
                <a:latin typeface="Consolas" panose="020B0609020204030204" pitchFamily="49" charset="0"/>
              </a:rPr>
              <a:t>//robot position, will be updated through your integration code</a:t>
            </a:r>
          </a:p>
          <a:p>
            <a:pPr marL="114300" indent="0">
              <a:buNone/>
            </a:pPr>
            <a:r>
              <a:rPr lang="en-US" sz="1600" dirty="0">
                <a:solidFill>
                  <a:srgbClr val="005032"/>
                </a:solidFill>
                <a:latin typeface="Consolas" panose="020B0609020204030204" pitchFamily="49" charset="0"/>
              </a:rPr>
              <a:t>pose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LADARps</a:t>
            </a:r>
            <a:r>
              <a:rPr lang="en-US" sz="1600" dirty="0">
                <a:solidFill>
                  <a:srgbClr val="000000"/>
                </a:solidFill>
                <a:latin typeface="Consolas" panose="020B0609020204030204" pitchFamily="49" charset="0"/>
              </a:rPr>
              <a:t> = {3.5/12.0,0,1};  </a:t>
            </a:r>
            <a:r>
              <a:rPr lang="en-US" sz="1600" dirty="0">
                <a:solidFill>
                  <a:srgbClr val="3F7F5F"/>
                </a:solidFill>
                <a:latin typeface="Consolas" panose="020B0609020204030204" pitchFamily="49" charset="0"/>
              </a:rPr>
              <a:t>// 3.5/12 for front mounting, theta is not used in this current code</a:t>
            </a:r>
            <a:endParaRPr lang="en-US" sz="16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0BC45ECF-A7FB-3902-A474-FDD5F023AB9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4FB72A3-A0F4-EEBC-5631-52C5ACE0E0B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 – Distance Data Acquisition (18/18)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57F17F3-C28D-A685-110D-F1221640B08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FC4FB54-9BB7-70BB-8978-FB9FBFD3A5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0496E43-C89E-4CAE-F47C-0013FF83DFA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AEC4ED2-8047-88D6-93F1-0AEB7639983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DB5E0B7-A5F6-74B4-7749-A2D70C5C10C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70C9409-67A9-7427-DD0A-DAA6E719267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44632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 (2/2)</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16</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2098</TotalTime>
  <Words>3903</Words>
  <Application>Microsoft Office PowerPoint</Application>
  <PresentationFormat>Widescreen</PresentationFormat>
  <Paragraphs>515</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240</cp:revision>
  <dcterms:created xsi:type="dcterms:W3CDTF">2019-01-14T22:06:33Z</dcterms:created>
  <dcterms:modified xsi:type="dcterms:W3CDTF">2026-03-23T18:31:41Z</dcterms:modified>
</cp:coreProperties>
</file>