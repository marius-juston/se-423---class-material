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42"/>
  </p:notesMasterIdLst>
  <p:sldIdLst>
    <p:sldId id="256" r:id="rId2"/>
    <p:sldId id="417" r:id="rId3"/>
    <p:sldId id="413" r:id="rId4"/>
    <p:sldId id="272" r:id="rId5"/>
    <p:sldId id="258" r:id="rId6"/>
    <p:sldId id="418" r:id="rId7"/>
    <p:sldId id="423" r:id="rId8"/>
    <p:sldId id="420" r:id="rId9"/>
    <p:sldId id="421" r:id="rId10"/>
    <p:sldId id="422" r:id="rId11"/>
    <p:sldId id="425" r:id="rId12"/>
    <p:sldId id="426" r:id="rId13"/>
    <p:sldId id="427" r:id="rId14"/>
    <p:sldId id="419" r:id="rId15"/>
    <p:sldId id="428" r:id="rId16"/>
    <p:sldId id="429" r:id="rId17"/>
    <p:sldId id="430" r:id="rId18"/>
    <p:sldId id="431" r:id="rId19"/>
    <p:sldId id="432" r:id="rId20"/>
    <p:sldId id="433" r:id="rId21"/>
    <p:sldId id="434" r:id="rId22"/>
    <p:sldId id="435" r:id="rId23"/>
    <p:sldId id="436" r:id="rId24"/>
    <p:sldId id="437" r:id="rId25"/>
    <p:sldId id="441" r:id="rId26"/>
    <p:sldId id="438" r:id="rId27"/>
    <p:sldId id="439" r:id="rId28"/>
    <p:sldId id="440" r:id="rId29"/>
    <p:sldId id="442" r:id="rId30"/>
    <p:sldId id="443" r:id="rId31"/>
    <p:sldId id="444" r:id="rId32"/>
    <p:sldId id="445" r:id="rId33"/>
    <p:sldId id="447" r:id="rId34"/>
    <p:sldId id="448" r:id="rId35"/>
    <p:sldId id="449" r:id="rId36"/>
    <p:sldId id="450" r:id="rId37"/>
    <p:sldId id="451" r:id="rId38"/>
    <p:sldId id="452" r:id="rId39"/>
    <p:sldId id="271" r:id="rId40"/>
    <p:sldId id="270" r:id="rId41"/>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43"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79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notesMaster" Target="notesMasters/notesMaster1.xml"/><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customschemas.google.com/relationships/presentationmetadata" Target="metadata"/><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E318978-56BC-F0E7-FE39-2752278B0EB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19F0749-79CC-5005-FE81-0AF5E4FD78C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28D139C-CAC4-4D18-7223-13A0136A51A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7533082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125DAC8-2343-7FB6-D6E0-CDFCEA4835C9}"/>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D8E6817F-CA8F-B942-86FA-C390B1CF78E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AC2AF65A-C08A-EE50-E09E-D8F61BEB4A4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6855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46F28DC-FCF2-AD72-05BE-9F41CED51B1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514B611-F630-A11F-A913-AF4B854B189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6923FB2-F801-8C0A-2DFD-F4A8B06E549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17714441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4750344-1C9D-0B16-E656-9CE19ED3A3E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A69916A-1ECD-8067-2CBB-5A3F4AE78BA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3699B92-55A1-F49E-B240-EDAA7BED6C7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6659249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7EDDDE5-56A3-4057-CD46-E03960D38B5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949E259-AAE4-2185-0A6C-8BA4A5F1D2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B412C8F-B7E0-35AB-52CE-DFF3ACC78D4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8741121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B7D5C5-4B3C-15CA-E15B-F0852D8C88C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F121E69-055E-2C1E-2F3C-6C2AAFE54B8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F335813-908A-52B2-0A24-418E391EFCD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14180925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1024CD5-12A6-3BA3-0C5A-AB5DB7FF17C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5D97BD6-29DA-A564-E981-236A7330AAA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45E23A5-41A7-E21D-8456-E21721D8C2D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3753781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8F513CD8-9EE2-D37A-A25D-C111308E1F01}"/>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5C05C234-54C3-8E87-2C7E-C0A854BBB0A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D91DFD67-148A-CE37-62F2-870D2CF34AE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3122338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C88C9B9-FDF2-4CEE-F1FF-8DB2DD57A88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CAE1B0E-AC49-E4FC-C4A1-F4A89CF5445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F5C7388-76C5-9D2A-7EED-04971DE8E95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1230334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F3A7875-0D2E-8A37-BE7C-E52383DD7CC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AFB311A-E590-7AE3-8E3E-9F7073EDF83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003426D-87A9-5026-90C2-0DDEC04F66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0122875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7517BC9-B248-9D55-C8B1-32BD141F365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1310CBF-C814-F357-B272-2FC04BE039B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825BE1A-4D0C-F84D-518B-D774E297DC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2502194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AD646B9-09C8-E85F-16C9-1B9C3CA592C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883CFA3-CEED-7D28-C9AC-B032B772003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7A9A1EF-8BDD-D75F-87EB-EBC509FC21D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7003618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52DB05D-1C08-92EF-B35C-18D8BD63184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94BD4AD-78B6-D97B-0A7A-803CFB2279D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3F01C35-1F7B-EA74-809C-4839662A48B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0434386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E4A5480-02BF-B949-CDAF-21EBD9D536C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E35D050-0294-8AFC-B081-7F32AD8C4EE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95C8C55-FF2A-764E-3883-4A763C0A4E8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684202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B78AB23-DDC1-2B84-C92C-A12DEC4E836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6B4D49-3330-5BC6-284A-4486C78DFDE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7334A43-DD67-4596-7E8F-647ED9F04CA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1758650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D8C6F14-E97E-6E23-1DEA-D0E915B065A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B93C11C-D73C-7A22-E382-297EFD6663E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6954703-977E-E9A6-7B96-C7382F4ED7B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9802253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CCDF47D-81DF-C42F-3FF8-A676C0B99F9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7BD32B3-1D07-8433-AAA1-F5517C6A1EA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E547459-A8AA-AA57-6BDA-CE6B18D2885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397192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352B014-EB4E-0873-95A2-90178DF6713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69D0938-41F7-8789-034B-BD6C9FB5007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B5A5C26-C5D3-F698-322A-17E87564F1F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1226816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679932E-7D9A-78B0-7FEA-1CA2838D228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B8A2472-91C9-8050-C831-F887F4BD622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3DFB627-0199-62EE-3269-BC8FB7F4590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3094863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9F91E26-8698-B529-8233-20B887AEB45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A4E1375-59E0-BB3E-30BE-2A82C263692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F79495A-A5B0-D409-4CCF-DF97D8CF0D4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1245053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7E1310B-582F-525C-8389-9A49D49B50B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69A8EBB-6B2C-A9E9-8C6E-80B35434EEC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F49200B-91BB-1841-492A-3E1C57A5D69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2445431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292DDBD-4DC9-6A96-6577-3B9D32ACD13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AFC7078-021A-00ED-C20E-43B2468A520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4B0B41F-6BAC-D8D1-0E72-13021402873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4611138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5AB4B5C-0538-45CE-7C23-35699F04C73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8FA9A0F-C970-23CC-C1A8-ED03E0E8350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743258A-D3E1-04DA-4945-B9B5B452443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3697838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A19BB2C-813E-23B6-2AFC-5DD99DAF8D4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B1F599D-4F79-B906-09E7-58F7CDBAD33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7971F42-1FB0-9AE9-4B32-24289FC225D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2363260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03DD8F9-2435-2152-ED77-F2F54E5A07C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5B62F28-A4DD-9CC3-9887-CCAADE62E4E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B41477F-09E2-07F4-4479-117B0475869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599579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533893D-0F7B-20D0-7B77-3D29BFAD090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A36A004-EDB2-A693-4F02-E45BB0DA65C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750FB42-08A2-85B2-9C57-63B8E4593FF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1578127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4029AA0-AA89-E193-DC69-60A8CDB6EA8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AA9E75B-ABB7-FF69-5A28-82ABC458C17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7BBF791-950A-6F47-2D54-0E239EF8D2E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927121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07D8388-E52E-5192-9E65-4222BD30DB1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246244D-AB93-2BBE-9395-C41221D00E2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CFBB0F3-AF62-47DC-BBB0-E0E167A3623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8558253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47C5338-49F9-B62D-398D-E108ADB57B2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EE4A24D-FAD4-8296-A9D9-AA8860FFDE1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8EB10A0-C7C3-08FE-6042-A95A13CBBA9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7849616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2EE1FCA-221C-A648-5596-3FDEE94CFDB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8EE58D9-1D99-2662-306E-26D15F2E593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FB146F6-99B0-BB3B-2864-ACE26ED9EAC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3493006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A7CD30B-525B-EBA7-FE85-0B14231777D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68422C8-E096-0DFC-F631-E051610FFFD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889D7D6-6685-B213-4919-8A903040753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4049360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62BE38B-709C-7E44-1B3E-40E5A3F6F0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455BF66-036B-7F95-FD9E-CE3414060BA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43A3FD3-4802-1085-68CA-95253F54661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2792046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AC76583-FF23-9140-1FEE-D0BD6AA5966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69DCE4B-3A5B-983A-4AED-1F648BA3A07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A7CF006-D449-82D0-19D7-F2A343AF406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5542065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3.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HW4.pdf"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hyperlink" Target="https://www.laserax.com/blog/laser-safety-laser-classes-explained" TargetMode="External"/><Relationship Id="rId4" Type="http://schemas.openxmlformats.org/officeDocument/2006/relationships/image" Target="../media/image7.jpe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hyperlink" Target="https://www.laserax.com/blog/laser-safety-laser-classes-explained" TargetMode="External"/><Relationship Id="rId4" Type="http://schemas.openxmlformats.org/officeDocument/2006/relationships/image" Target="../media/image7.jpe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www.robotshop.com/products/hokuyo-urg-04lx-laser-rangefinder" TargetMode="Externa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svg"/><Relationship Id="rId4" Type="http://schemas.openxmlformats.org/officeDocument/2006/relationships/image" Target="../media/image8.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4.sv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svg"/><Relationship Id="rId4" Type="http://schemas.openxmlformats.org/officeDocument/2006/relationships/image" Target="../media/image11.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16.svg"/><Relationship Id="rId4" Type="http://schemas.openxmlformats.org/officeDocument/2006/relationships/image" Target="../media/image15.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18.svg"/><Relationship Id="rId4" Type="http://schemas.openxmlformats.org/officeDocument/2006/relationships/image" Target="../media/image17.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2.xml"/><Relationship Id="rId5" Type="http://schemas.openxmlformats.org/officeDocument/2006/relationships/image" Target="../media/image20.svg"/><Relationship Id="rId4" Type="http://schemas.openxmlformats.org/officeDocument/2006/relationships/image" Target="../media/image19.pn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2.sv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21.png"/><Relationship Id="rId5" Type="http://schemas.openxmlformats.org/officeDocument/2006/relationships/image" Target="../media/image20.svg"/><Relationship Id="rId4" Type="http://schemas.openxmlformats.org/officeDocument/2006/relationships/image" Target="../media/image19.png"/></Relationships>
</file>

<file path=ppt/slides/_rels/slide24.xml.rels><?xml version="1.0" encoding="UTF-8" standalone="yes"?>
<Relationships xmlns="http://schemas.openxmlformats.org/package/2006/relationships"><Relationship Id="rId8" Type="http://schemas.openxmlformats.org/officeDocument/2006/relationships/image" Target="../media/image22.svg"/><Relationship Id="rId3" Type="http://schemas.openxmlformats.org/officeDocument/2006/relationships/image" Target="../media/image23.png"/><Relationship Id="rId7" Type="http://schemas.openxmlformats.org/officeDocument/2006/relationships/image" Target="../media/image21.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20.svg"/><Relationship Id="rId5" Type="http://schemas.openxmlformats.org/officeDocument/2006/relationships/image" Target="../media/image19.png"/><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 Id="rId5" Type="http://schemas.openxmlformats.org/officeDocument/2006/relationships/image" Target="../media/image25.svg"/><Relationship Id="rId4" Type="http://schemas.openxmlformats.org/officeDocument/2006/relationships/image" Target="../media/image24.png"/></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9.sv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28.png"/><Relationship Id="rId5" Type="http://schemas.openxmlformats.org/officeDocument/2006/relationships/image" Target="../media/image27.svg"/><Relationship Id="rId4" Type="http://schemas.openxmlformats.org/officeDocument/2006/relationships/image" Target="../media/image26.png"/></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 Id="rId5" Type="http://schemas.openxmlformats.org/officeDocument/2006/relationships/image" Target="../media/image29.svg"/><Relationship Id="rId4" Type="http://schemas.openxmlformats.org/officeDocument/2006/relationships/image" Target="../media/image28.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 Id="rId5" Type="http://schemas.openxmlformats.org/officeDocument/2006/relationships/image" Target="../media/image29.svg"/><Relationship Id="rId4" Type="http://schemas.openxmlformats.org/officeDocument/2006/relationships/image" Target="../media/image28.png"/></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29.svg"/><Relationship Id="rId4" Type="http://schemas.openxmlformats.org/officeDocument/2006/relationships/image" Target="../media/image28.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 Id="rId5" Type="http://schemas.openxmlformats.org/officeDocument/2006/relationships/image" Target="../media/image29.svg"/><Relationship Id="rId4" Type="http://schemas.openxmlformats.org/officeDocument/2006/relationships/image" Target="../media/image28.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2.xml"/><Relationship Id="rId5" Type="http://schemas.openxmlformats.org/officeDocument/2006/relationships/image" Target="../media/image31.svg"/><Relationship Id="rId4" Type="http://schemas.openxmlformats.org/officeDocument/2006/relationships/image" Target="../media/image30.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0.xml"/><Relationship Id="rId1" Type="http://schemas.openxmlformats.org/officeDocument/2006/relationships/slideLayout" Target="../slideLayouts/slideLayout1.xml"/><Relationship Id="rId4" Type="http://schemas.openxmlformats.org/officeDocument/2006/relationships/image" Target="../media/image33.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16: LiDAR Code</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dirty="0">
                <a:solidFill>
                  <a:schemeClr val="lt1"/>
                </a:solidFill>
              </a:rPr>
              <a:t>Monday, March 23</a:t>
            </a:r>
            <a:r>
              <a:rPr lang="en-US" sz="1800" baseline="30000" dirty="0">
                <a:solidFill>
                  <a:schemeClr val="lt1"/>
                </a:solidFill>
              </a:rPr>
              <a:t>rd</a:t>
            </a:r>
            <a:r>
              <a:rPr lang="en-US" sz="1800" dirty="0">
                <a:solidFill>
                  <a:schemeClr val="lt1"/>
                </a:solidFil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Why did we use a ping pong buffer for the FFT code?</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Given that LiDAR splits its space as 360 degrees into 1024 steps, what is the angular resolution of the LiDAR? </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What happens if your angular resolution is too low and your object is far away?</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Is UART a synchronous or asynchronous communication protocol? What does it mean for it to be synchronous or not?</a:t>
            </a:r>
          </a:p>
          <a:p>
            <a:pPr marL="285750" indent="-285750">
              <a:lnSpc>
                <a:spcPct val="100000"/>
              </a:lnSpc>
              <a:spcBef>
                <a:spcPts val="0"/>
              </a:spcBef>
              <a:buSzPts val="3000"/>
            </a:pPr>
            <a:endParaRPr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Review – 5-minute partner discussion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latin typeface="Atkinson Hyperlegible Next"/>
                <a:ea typeface="Arial"/>
                <a:cs typeface="Arial"/>
                <a:sym typeface="Arial"/>
              </a:rPr>
              <a:t>Monday: </a:t>
            </a:r>
            <a:r>
              <a:rPr lang="en-US" sz="1800" dirty="0">
                <a:latin typeface="Atkinson Hyperlegible Next"/>
                <a:ea typeface="Arial"/>
                <a:cs typeface="Arial"/>
                <a:sym typeface="Arial"/>
              </a:rPr>
              <a:t>4-6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2-5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Dan &amp; Marius</a:t>
            </a:r>
            <a:endParaRPr lang="en-US" sz="1800" b="1" dirty="0">
              <a:latin typeface="Atkinson Hyperlegible Next"/>
              <a:ea typeface="Arial"/>
              <a:cs typeface="Arial"/>
              <a:sym typeface="Arial"/>
            </a:endParaRP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 </a:t>
            </a:r>
            <a:r>
              <a:rPr lang="en-US" sz="1800" dirty="0">
                <a:latin typeface="Atkinson Hyperlegible Next"/>
                <a:ea typeface="Arial"/>
                <a:cs typeface="Arial"/>
                <a:sym typeface="Arial"/>
              </a:rPr>
              <a:t>Starting Lab 6 this week. This a 3-week lab!</a:t>
            </a:r>
          </a:p>
          <a:p>
            <a:pPr marL="285750" indent="-285750">
              <a:lnSpc>
                <a:spcPct val="100000"/>
              </a:lnSpc>
              <a:spcBef>
                <a:spcPts val="0"/>
              </a:spcBef>
              <a:buSzPts val="3000"/>
            </a:pPr>
            <a:r>
              <a:rPr lang="en-US" sz="1800" dirty="0">
                <a:solidFill>
                  <a:schemeClr val="tx1"/>
                </a:solidFill>
                <a:latin typeface="Atkinson Hyperlegible Next"/>
                <a:ea typeface="Arial"/>
                <a:cs typeface="Arial"/>
                <a:sym typeface="Arial"/>
              </a:rPr>
              <a:t>Don’t forget to have the Lab LabVIEW application implemented before lab.</a:t>
            </a: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D83B27"/>
                </a:solidFill>
                <a:latin typeface="Atkinson Hyperlegible Next"/>
                <a:ea typeface="Arial"/>
                <a:cs typeface="Arial"/>
                <a:sym typeface="Arial"/>
              </a:rPr>
              <a:t>Homeworks</a:t>
            </a:r>
            <a:r>
              <a:rPr lang="en-US" sz="1800" b="1" dirty="0">
                <a:solidFill>
                  <a:srgbClr val="D83B27"/>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3 </a:t>
            </a:r>
            <a:r>
              <a:rPr lang="en-US" sz="1800" dirty="0">
                <a:latin typeface="Atkinson Hyperlegible Next"/>
                <a:ea typeface="Arial"/>
                <a:cs typeface="Arial"/>
                <a:sym typeface="Arial"/>
              </a:rPr>
              <a:t>Ex 5 are due </a:t>
            </a:r>
            <a:r>
              <a:rPr lang="en-US" sz="1800" b="1" dirty="0">
                <a:latin typeface="Atkinson Hyperlegible Next"/>
                <a:ea typeface="Arial"/>
                <a:cs typeface="Arial"/>
                <a:sym typeface="Arial"/>
              </a:rPr>
              <a:t>March 24, 5PM (The end of office hours)</a:t>
            </a:r>
          </a:p>
          <a:p>
            <a:pPr marL="742950" lvl="1" indent="-285750">
              <a:lnSpc>
                <a:spcPct val="100000"/>
              </a:lnSpc>
              <a:spcBef>
                <a:spcPts val="0"/>
              </a:spcBef>
              <a:buSzPts val="3000"/>
            </a:pPr>
            <a:r>
              <a:rPr lang="en-US" sz="1800" dirty="0">
                <a:latin typeface="Atkinson Hyperlegible Next"/>
                <a:ea typeface="Arial"/>
                <a:cs typeface="Arial"/>
                <a:sym typeface="Arial"/>
              </a:rPr>
              <a:t>This is a long homework, so </a:t>
            </a:r>
            <a:r>
              <a:rPr lang="en-US" sz="1800" b="1" dirty="0">
                <a:latin typeface="Atkinson Hyperlegible Next"/>
                <a:ea typeface="Arial"/>
                <a:cs typeface="Arial"/>
                <a:sym typeface="Arial"/>
              </a:rPr>
              <a:t>DO NOT </a:t>
            </a:r>
            <a:r>
              <a:rPr lang="en-US" sz="1800" dirty="0">
                <a:latin typeface="Atkinson Hyperlegible Next"/>
                <a:ea typeface="Arial"/>
                <a:cs typeface="Arial"/>
                <a:sym typeface="Arial"/>
              </a:rPr>
              <a:t>expect to work on and finish it during the Tuesday office hours time!</a:t>
            </a: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a:t>
            </a:r>
            <a:r>
              <a:rPr lang="en-US" sz="1800" dirty="0">
                <a:latin typeface="Atkinson Hyperlegible Next"/>
                <a:ea typeface="Arial"/>
                <a:cs typeface="Arial"/>
                <a:sym typeface="Arial"/>
                <a:hlinkClick r:id="rId3"/>
              </a:rPr>
              <a:t>homework 3</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March 25, 9AM</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4"/>
              </a:rPr>
              <a:t>homework 4</a:t>
            </a:r>
            <a:r>
              <a:rPr lang="en-US" sz="1800" dirty="0">
                <a:latin typeface="Atkinson Hyperlegible Next"/>
                <a:ea typeface="Arial"/>
                <a:cs typeface="Arial"/>
                <a:sym typeface="Arial"/>
              </a:rPr>
              <a:t> Ex 2 and 3 are due </a:t>
            </a:r>
            <a:r>
              <a:rPr lang="en-US" sz="1800" b="1" dirty="0">
                <a:latin typeface="Atkinson Hyperlegible Next"/>
                <a:ea typeface="Arial"/>
                <a:cs typeface="Arial"/>
                <a:sym typeface="Arial"/>
              </a:rPr>
              <a:t>March 31,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endParaRPr lang="en-US" sz="1800" b="1"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5A7A3C5-2C94-DFDE-B6CE-1AA71BB909D6}"/>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a:t>
              </a:r>
              <a:endParaRPr sz="1800" b="0" i="0" u="none" strike="noStrike" cap="none" dirty="0">
                <a:solidFill>
                  <a:schemeClr val="lt1"/>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URG-04LX</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2865D6D-E1FC-F3BD-5815-18E40B97AEE2}"/>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D4650A5-C422-4826-5825-CD277BE541B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The LiDAR we are working with is called the URG-04LX</a:t>
            </a:r>
          </a:p>
          <a:p>
            <a:pPr marL="285750" indent="-285750">
              <a:lnSpc>
                <a:spcPct val="100000"/>
              </a:lnSpc>
              <a:spcBef>
                <a:spcPts val="0"/>
              </a:spcBef>
              <a:buSzPts val="3000"/>
            </a:pPr>
            <a:endParaRPr lang="en-US" sz="2400" dirty="0">
              <a:solidFill>
                <a:schemeClr val="dk1"/>
              </a:solidFill>
              <a:latin typeface="Atkinson Hyperlegible Next"/>
              <a:ea typeface="Arial"/>
              <a:cs typeface="Arial"/>
              <a:sym typeface="Arial"/>
            </a:endParaRP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RG-04LX is a laser sensor for area scanning. The light source of the sensor is infrared laser of wavelength 785nm with laser class 1 safety.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F786AF23-9F90-4CD7-6060-7DA5DE457EE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8687C3C-47B1-8222-283E-F030540119A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4C69F26-2470-4C7F-2418-4CF9208E78A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5CCE9B9-AE2C-EA59-3E31-B2AAD5111F4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2DC3916-D58D-2730-07D1-9239030E0D1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DFBF745-E712-B403-1A1E-7884C613A16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00CFA20-1EAB-C337-F853-FAF168D7756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C639C1A-BB0E-337A-2FA5-E445EA42639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1870757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BE70F94F-01CA-DAC4-D3A7-26AAADE44524}"/>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81CA94AB-4E3C-1112-78C2-95AC8E1FC7B6}"/>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Laser Classes</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79EAB7E0-D714-8F2D-0F8C-A91B2C99AB09}"/>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80A6B73-2DC5-BD5C-5E17-214F4DCB35B6}"/>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61B57FF4-4C8E-7A26-84AD-187711D1438F}"/>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C8D67F98-3A82-A9EF-C161-0013A89BDF84}"/>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AE6B2A9C-23F7-E659-1440-51A99888B8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7E57F2B2-F5C8-028D-B49A-5A6E541DB5A0}"/>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8D60A511-B7B3-D003-8F09-26068759EE5A}"/>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33026FA9-4DC2-CC74-D02A-BBBB8606D8C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52EABC74-3C69-E164-F128-8109B403252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9555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3EEC096-FDD1-0232-3713-DCF998135C2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ED65181-78DF-EAFF-D3DC-0E885253A5F8}"/>
              </a:ext>
            </a:extLst>
          </p:cNvPr>
          <p:cNvSpPr txBox="1">
            <a:spLocks noGrp="1"/>
          </p:cNvSpPr>
          <p:nvPr>
            <p:ph type="body" idx="1"/>
          </p:nvPr>
        </p:nvSpPr>
        <p:spPr>
          <a:xfrm>
            <a:off x="376809" y="1334279"/>
            <a:ext cx="11177401" cy="2298900"/>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Laser radiation can cause three basic types of laser hazards: </a:t>
            </a:r>
            <a:r>
              <a:rPr lang="en-US" sz="2400" b="1" dirty="0">
                <a:solidFill>
                  <a:schemeClr val="dk1"/>
                </a:solidFill>
                <a:latin typeface="Atkinson Hyperlegible Next"/>
                <a:ea typeface="Arial"/>
                <a:cs typeface="Arial"/>
                <a:sym typeface="Arial"/>
              </a:rPr>
              <a:t>eye</a:t>
            </a:r>
            <a:r>
              <a:rPr lang="en-US" sz="2400" dirty="0">
                <a:solidFill>
                  <a:schemeClr val="dk1"/>
                </a:solidFill>
                <a:latin typeface="Atkinson Hyperlegible Next"/>
                <a:ea typeface="Arial"/>
                <a:cs typeface="Arial"/>
                <a:sym typeface="Arial"/>
              </a:rPr>
              <a:t>, </a:t>
            </a:r>
            <a:r>
              <a:rPr lang="en-US" sz="2400" b="1" dirty="0">
                <a:solidFill>
                  <a:schemeClr val="dk1"/>
                </a:solidFill>
                <a:latin typeface="Atkinson Hyperlegible Next"/>
                <a:ea typeface="Arial"/>
                <a:cs typeface="Arial"/>
                <a:sym typeface="Arial"/>
              </a:rPr>
              <a:t>skin</a:t>
            </a:r>
            <a:r>
              <a:rPr lang="en-US" sz="2400" dirty="0">
                <a:solidFill>
                  <a:schemeClr val="dk1"/>
                </a:solidFill>
                <a:latin typeface="Atkinson Hyperlegible Next"/>
                <a:ea typeface="Arial"/>
                <a:cs typeface="Arial"/>
                <a:sym typeface="Arial"/>
              </a:rPr>
              <a:t> and </a:t>
            </a:r>
            <a:r>
              <a:rPr lang="en-US" sz="2400" b="1" dirty="0">
                <a:solidFill>
                  <a:schemeClr val="dk1"/>
                </a:solidFill>
                <a:latin typeface="Atkinson Hyperlegible Next"/>
                <a:ea typeface="Arial"/>
                <a:cs typeface="Arial"/>
                <a:sym typeface="Arial"/>
              </a:rPr>
              <a:t>fire hazards</a:t>
            </a:r>
            <a:r>
              <a:rPr lang="en-US" sz="2400" dirty="0">
                <a:solidFill>
                  <a:schemeClr val="dk1"/>
                </a:solidFill>
                <a:latin typeface="Atkinson Hyperlegible Next"/>
                <a:ea typeface="Arial"/>
                <a:cs typeface="Arial"/>
                <a:sym typeface="Arial"/>
              </a:rPr>
              <a:t>.</a:t>
            </a:r>
          </a:p>
          <a:p>
            <a:pPr marL="285750" indent="-285750">
              <a:lnSpc>
                <a:spcPct val="100000"/>
              </a:lnSpc>
              <a:spcBef>
                <a:spcPts val="0"/>
              </a:spcBef>
              <a:buSzPts val="3000"/>
            </a:pPr>
            <a:endParaRPr lang="en-US" sz="2400" dirty="0">
              <a:solidFill>
                <a:schemeClr val="dk1"/>
              </a:solidFill>
              <a:latin typeface="Atkinson Hyperlegible Next"/>
              <a:ea typeface="Arial"/>
              <a:cs typeface="Arial"/>
              <a:sym typeface="Arial"/>
            </a:endParaRP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If a laser is not class 1 compliant, you should wear protective equipment when entering the danger zone: laser safety glasses for eye protection and special suits for skin protection.</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93788ADA-7C68-5D43-5C59-3924D59ACFB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799A2F7-28FB-3357-2FF4-7D5DA731355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Laser classes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3BDCCA9-C0E1-419B-6791-C0997281A8F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E654CE6-5B46-2927-ACF3-1A1DDFDBCDD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AD18E9D-C9CE-EBE6-9FDE-79B201DAD9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CB6CF74-CC32-64D5-815F-E991DDD3E4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FB61022-ED4B-EED9-3907-7DFCFE16692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14E492C-D3FB-CF2C-C94A-C1596E87333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aphicFrame>
        <p:nvGraphicFramePr>
          <p:cNvPr id="2" name="Table 1">
            <a:extLst>
              <a:ext uri="{FF2B5EF4-FFF2-40B4-BE49-F238E27FC236}">
                <a16:creationId xmlns:a16="http://schemas.microsoft.com/office/drawing/2014/main" id="{469F68CC-1674-51E6-92B4-02C0B25F1732}"/>
              </a:ext>
            </a:extLst>
          </p:cNvPr>
          <p:cNvGraphicFramePr>
            <a:graphicFrameLocks noGrp="1"/>
          </p:cNvGraphicFramePr>
          <p:nvPr>
            <p:extLst>
              <p:ext uri="{D42A27DB-BD31-4B8C-83A1-F6EECF244321}">
                <p14:modId xmlns:p14="http://schemas.microsoft.com/office/powerpoint/2010/main" val="4161500191"/>
              </p:ext>
            </p:extLst>
          </p:nvPr>
        </p:nvGraphicFramePr>
        <p:xfrm>
          <a:off x="266700" y="3633520"/>
          <a:ext cx="11658600" cy="2890520"/>
        </p:xfrm>
        <a:graphic>
          <a:graphicData uri="http://schemas.openxmlformats.org/drawingml/2006/table">
            <a:tbl>
              <a:tblPr firstRow="1" bandRow="1">
                <a:tableStyleId>{5C22544A-7EE6-4342-B048-85BDC9FD1C3A}</a:tableStyleId>
              </a:tblPr>
              <a:tblGrid>
                <a:gridCol w="1212850">
                  <a:extLst>
                    <a:ext uri="{9D8B030D-6E8A-4147-A177-3AD203B41FA5}">
                      <a16:colId xmlns:a16="http://schemas.microsoft.com/office/drawing/2014/main" val="2392978423"/>
                    </a:ext>
                  </a:extLst>
                </a:gridCol>
                <a:gridCol w="2070100">
                  <a:extLst>
                    <a:ext uri="{9D8B030D-6E8A-4147-A177-3AD203B41FA5}">
                      <a16:colId xmlns:a16="http://schemas.microsoft.com/office/drawing/2014/main" val="1414924795"/>
                    </a:ext>
                  </a:extLst>
                </a:gridCol>
                <a:gridCol w="3860800">
                  <a:extLst>
                    <a:ext uri="{9D8B030D-6E8A-4147-A177-3AD203B41FA5}">
                      <a16:colId xmlns:a16="http://schemas.microsoft.com/office/drawing/2014/main" val="471111581"/>
                    </a:ext>
                  </a:extLst>
                </a:gridCol>
                <a:gridCol w="4514850">
                  <a:extLst>
                    <a:ext uri="{9D8B030D-6E8A-4147-A177-3AD203B41FA5}">
                      <a16:colId xmlns:a16="http://schemas.microsoft.com/office/drawing/2014/main" val="26670979"/>
                    </a:ext>
                  </a:extLst>
                </a:gridCol>
              </a:tblGrid>
              <a:tr h="370840">
                <a:tc>
                  <a:txBody>
                    <a:bodyPr/>
                    <a:lstStyle/>
                    <a:p>
                      <a:r>
                        <a:rPr lang="en-US" dirty="0"/>
                        <a:t>Lazer Class</a:t>
                      </a:r>
                    </a:p>
                  </a:txBody>
                  <a:tcPr/>
                </a:tc>
                <a:tc>
                  <a:txBody>
                    <a:bodyPr/>
                    <a:lstStyle/>
                    <a:p>
                      <a:r>
                        <a:rPr lang="en-US" dirty="0"/>
                        <a:t>Hazard Risk</a:t>
                      </a:r>
                    </a:p>
                  </a:txBody>
                  <a:tcPr/>
                </a:tc>
                <a:tc>
                  <a:txBody>
                    <a:bodyPr/>
                    <a:lstStyle/>
                    <a:p>
                      <a:r>
                        <a:rPr lang="en-US" dirty="0"/>
                        <a:t>Common Uses</a:t>
                      </a:r>
                    </a:p>
                  </a:txBody>
                  <a:tcPr/>
                </a:tc>
                <a:tc>
                  <a:txBody>
                    <a:bodyPr/>
                    <a:lstStyle/>
                    <a:p>
                      <a:r>
                        <a:rPr lang="en-US" dirty="0"/>
                        <a:t>Safe Use Considerations</a:t>
                      </a:r>
                    </a:p>
                  </a:txBody>
                  <a:tcPr/>
                </a:tc>
                <a:extLst>
                  <a:ext uri="{0D108BD9-81ED-4DB2-BD59-A6C34878D82A}">
                    <a16:rowId xmlns:a16="http://schemas.microsoft.com/office/drawing/2014/main" val="3813969383"/>
                  </a:ext>
                </a:extLst>
              </a:tr>
              <a:tr h="370840">
                <a:tc>
                  <a:txBody>
                    <a:bodyPr/>
                    <a:lstStyle/>
                    <a:p>
                      <a:r>
                        <a:rPr lang="en-US" b="1" dirty="0"/>
                        <a:t>Class 1</a:t>
                      </a:r>
                    </a:p>
                  </a:txBody>
                  <a:tcPr anchor="ctr">
                    <a:solidFill>
                      <a:srgbClr val="00B050"/>
                    </a:solidFill>
                  </a:tcPr>
                </a:tc>
                <a:tc>
                  <a:txBody>
                    <a:bodyPr/>
                    <a:lstStyle/>
                    <a:p>
                      <a:r>
                        <a:rPr lang="en-US" dirty="0"/>
                        <a:t>None</a:t>
                      </a:r>
                    </a:p>
                  </a:txBody>
                  <a:tcPr anchor="ctr"/>
                </a:tc>
                <a:tc>
                  <a:txBody>
                    <a:bodyPr/>
                    <a:lstStyle/>
                    <a:p>
                      <a:r>
                        <a:rPr lang="en-US" dirty="0"/>
                        <a:t>Barcode scanners, DVD players (if you remember what a DVD is!)</a:t>
                      </a:r>
                    </a:p>
                  </a:txBody>
                  <a:tcPr anchor="ctr"/>
                </a:tc>
                <a:tc>
                  <a:txBody>
                    <a:bodyPr/>
                    <a:lstStyle/>
                    <a:p>
                      <a:r>
                        <a:rPr lang="en-US" dirty="0"/>
                        <a:t>Safe under all considerations.</a:t>
                      </a:r>
                    </a:p>
                  </a:txBody>
                  <a:tcPr anchor="ctr"/>
                </a:tc>
                <a:extLst>
                  <a:ext uri="{0D108BD9-81ED-4DB2-BD59-A6C34878D82A}">
                    <a16:rowId xmlns:a16="http://schemas.microsoft.com/office/drawing/2014/main" val="1370047337"/>
                  </a:ext>
                </a:extLst>
              </a:tr>
              <a:tr h="370840">
                <a:tc>
                  <a:txBody>
                    <a:bodyPr/>
                    <a:lstStyle/>
                    <a:p>
                      <a:r>
                        <a:rPr lang="en-US" b="1" dirty="0"/>
                        <a:t>Class 1M</a:t>
                      </a:r>
                    </a:p>
                  </a:txBody>
                  <a:tcPr anchor="ctr">
                    <a:solidFill>
                      <a:srgbClr val="92D050"/>
                    </a:solidFill>
                  </a:tcPr>
                </a:tc>
                <a:tc>
                  <a:txBody>
                    <a:bodyPr/>
                    <a:lstStyle/>
                    <a:p>
                      <a:r>
                        <a:rPr lang="en-US" dirty="0"/>
                        <a:t>None to low</a:t>
                      </a:r>
                    </a:p>
                  </a:txBody>
                  <a:tcPr anchor="ctr"/>
                </a:tc>
                <a:tc>
                  <a:txBody>
                    <a:bodyPr/>
                    <a:lstStyle/>
                    <a:p>
                      <a:r>
                        <a:rPr lang="en-US" dirty="0"/>
                        <a:t>Laser diodes, fiber communication systems, speed meters</a:t>
                      </a:r>
                    </a:p>
                  </a:txBody>
                  <a:tcPr anchor="ctr"/>
                </a:tc>
                <a:tc>
                  <a:txBody>
                    <a:bodyPr/>
                    <a:lstStyle/>
                    <a:p>
                      <a:r>
                        <a:rPr lang="en-US" dirty="0"/>
                        <a:t>Safe unless viewed with optical instruments</a:t>
                      </a:r>
                    </a:p>
                  </a:txBody>
                  <a:tcPr anchor="ctr"/>
                </a:tc>
                <a:extLst>
                  <a:ext uri="{0D108BD9-81ED-4DB2-BD59-A6C34878D82A}">
                    <a16:rowId xmlns:a16="http://schemas.microsoft.com/office/drawing/2014/main" val="4214573305"/>
                  </a:ext>
                </a:extLst>
              </a:tr>
              <a:tr h="370840">
                <a:tc>
                  <a:txBody>
                    <a:bodyPr/>
                    <a:lstStyle/>
                    <a:p>
                      <a:r>
                        <a:rPr lang="en-US" b="1" dirty="0"/>
                        <a:t>Class 2</a:t>
                      </a:r>
                    </a:p>
                  </a:txBody>
                  <a:tcPr anchor="ctr">
                    <a:solidFill>
                      <a:srgbClr val="FFFF00"/>
                    </a:solidFill>
                  </a:tcPr>
                </a:tc>
                <a:tc>
                  <a:txBody>
                    <a:bodyPr/>
                    <a:lstStyle/>
                    <a:p>
                      <a:r>
                        <a:rPr lang="en-US" dirty="0"/>
                        <a:t>Low (unless stared into)</a:t>
                      </a:r>
                    </a:p>
                  </a:txBody>
                  <a:tcPr anchor="ctr"/>
                </a:tc>
                <a:tc>
                  <a:txBody>
                    <a:bodyPr/>
                    <a:lstStyle/>
                    <a:p>
                      <a:r>
                        <a:rPr lang="en-US" dirty="0"/>
                        <a:t>Laser points, alignment tools</a:t>
                      </a:r>
                    </a:p>
                  </a:txBody>
                  <a:tcPr anchor="ctr"/>
                </a:tc>
                <a:tc>
                  <a:txBody>
                    <a:bodyPr/>
                    <a:lstStyle/>
                    <a:p>
                      <a:r>
                        <a:rPr lang="en-US" dirty="0"/>
                        <a:t>Avoid direct eye exposure</a:t>
                      </a:r>
                    </a:p>
                  </a:txBody>
                  <a:tcPr anchor="ctr"/>
                </a:tc>
                <a:extLst>
                  <a:ext uri="{0D108BD9-81ED-4DB2-BD59-A6C34878D82A}">
                    <a16:rowId xmlns:a16="http://schemas.microsoft.com/office/drawing/2014/main" val="3467015480"/>
                  </a:ext>
                </a:extLst>
              </a:tr>
              <a:tr h="370840">
                <a:tc>
                  <a:txBody>
                    <a:bodyPr/>
                    <a:lstStyle/>
                    <a:p>
                      <a:r>
                        <a:rPr lang="en-US" b="1" dirty="0"/>
                        <a:t>Class 2M</a:t>
                      </a:r>
                    </a:p>
                  </a:txBody>
                  <a:tcPr anchor="ctr">
                    <a:solidFill>
                      <a:srgbClr val="FFC000"/>
                    </a:solidFill>
                  </a:tcPr>
                </a:tc>
                <a:tc>
                  <a:txBody>
                    <a:bodyPr/>
                    <a:lstStyle/>
                    <a:p>
                      <a:r>
                        <a:rPr lang="en-US" dirty="0"/>
                        <a:t>Low to moderate</a:t>
                      </a:r>
                    </a:p>
                  </a:txBody>
                  <a:tcPr anchor="ctr"/>
                </a:tc>
                <a:tc>
                  <a:txBody>
                    <a:bodyPr/>
                    <a:lstStyle/>
                    <a:p>
                      <a:r>
                        <a:rPr lang="en-US" dirty="0"/>
                        <a:t>Projection laser (e.g. light shows)</a:t>
                      </a:r>
                    </a:p>
                  </a:txBody>
                  <a:tcPr anchor="ctr"/>
                </a:tc>
                <a:tc>
                  <a:txBody>
                    <a:bodyPr/>
                    <a:lstStyle/>
                    <a:p>
                      <a:r>
                        <a:rPr lang="en-US" dirty="0"/>
                        <a:t>Safe unless viewed with optical instruments</a:t>
                      </a:r>
                    </a:p>
                  </a:txBody>
                  <a:tcPr anchor="ctr"/>
                </a:tc>
                <a:extLst>
                  <a:ext uri="{0D108BD9-81ED-4DB2-BD59-A6C34878D82A}">
                    <a16:rowId xmlns:a16="http://schemas.microsoft.com/office/drawing/2014/main" val="2932237561"/>
                  </a:ext>
                </a:extLst>
              </a:tr>
              <a:tr h="370840">
                <a:tc>
                  <a:txBody>
                    <a:bodyPr/>
                    <a:lstStyle/>
                    <a:p>
                      <a:r>
                        <a:rPr lang="en-US" b="1" dirty="0"/>
                        <a:t>Class 3R/3B</a:t>
                      </a:r>
                    </a:p>
                  </a:txBody>
                  <a:tcPr anchor="ctr">
                    <a:solidFill>
                      <a:schemeClr val="accent2"/>
                    </a:solidFill>
                  </a:tcPr>
                </a:tc>
                <a:tc>
                  <a:txBody>
                    <a:bodyPr/>
                    <a:lstStyle/>
                    <a:p>
                      <a:r>
                        <a:rPr lang="en-US" dirty="0"/>
                        <a:t>Moderate to high</a:t>
                      </a:r>
                    </a:p>
                  </a:txBody>
                  <a:tcPr anchor="ctr"/>
                </a:tc>
                <a:tc>
                  <a:txBody>
                    <a:bodyPr/>
                    <a:lstStyle/>
                    <a:p>
                      <a:r>
                        <a:rPr lang="en-US" dirty="0"/>
                        <a:t>Laser scanners, 3D printers</a:t>
                      </a:r>
                    </a:p>
                  </a:txBody>
                  <a:tcPr anchor="ctr"/>
                </a:tc>
                <a:tc>
                  <a:txBody>
                    <a:bodyPr/>
                    <a:lstStyle/>
                    <a:p>
                      <a:r>
                        <a:rPr lang="en-US" dirty="0"/>
                        <a:t>Can damage the naked eye and skin</a:t>
                      </a:r>
                    </a:p>
                  </a:txBody>
                  <a:tcPr anchor="ctr"/>
                </a:tc>
                <a:extLst>
                  <a:ext uri="{0D108BD9-81ED-4DB2-BD59-A6C34878D82A}">
                    <a16:rowId xmlns:a16="http://schemas.microsoft.com/office/drawing/2014/main" val="728004638"/>
                  </a:ext>
                </a:extLst>
              </a:tr>
              <a:tr h="370840">
                <a:tc>
                  <a:txBody>
                    <a:bodyPr/>
                    <a:lstStyle/>
                    <a:p>
                      <a:r>
                        <a:rPr lang="en-US" b="1" dirty="0"/>
                        <a:t>Class 4</a:t>
                      </a:r>
                    </a:p>
                  </a:txBody>
                  <a:tcPr anchor="ctr">
                    <a:solidFill>
                      <a:srgbClr val="FF0000"/>
                    </a:solidFill>
                  </a:tcPr>
                </a:tc>
                <a:tc>
                  <a:txBody>
                    <a:bodyPr/>
                    <a:lstStyle/>
                    <a:p>
                      <a:r>
                        <a:rPr lang="en-US" dirty="0"/>
                        <a:t>Very high</a:t>
                      </a:r>
                    </a:p>
                  </a:txBody>
                  <a:tcPr anchor="ctr"/>
                </a:tc>
                <a:tc>
                  <a:txBody>
                    <a:bodyPr/>
                    <a:lstStyle/>
                    <a:p>
                      <a:r>
                        <a:rPr lang="en-US" dirty="0"/>
                        <a:t>Cutting, marking welding, cleaning surgery</a:t>
                      </a:r>
                    </a:p>
                  </a:txBody>
                  <a:tcPr anchor="ctr"/>
                </a:tc>
                <a:tc>
                  <a:txBody>
                    <a:bodyPr/>
                    <a:lstStyle/>
                    <a:p>
                      <a:r>
                        <a:rPr lang="en-US" dirty="0"/>
                        <a:t>Requires protective eyewear and strict controls.</a:t>
                      </a:r>
                    </a:p>
                  </a:txBody>
                  <a:tcPr anchor="ctr"/>
                </a:tc>
                <a:extLst>
                  <a:ext uri="{0D108BD9-81ED-4DB2-BD59-A6C34878D82A}">
                    <a16:rowId xmlns:a16="http://schemas.microsoft.com/office/drawing/2014/main" val="2659598801"/>
                  </a:ext>
                </a:extLst>
              </a:tr>
            </a:tbl>
          </a:graphicData>
        </a:graphic>
      </p:graphicFrame>
    </p:spTree>
    <p:extLst>
      <p:ext uri="{BB962C8B-B14F-4D97-AF65-F5344CB8AC3E}">
        <p14:creationId xmlns:p14="http://schemas.microsoft.com/office/powerpoint/2010/main" val="31792892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142DF4B-A9E8-B099-0F45-D394712B2FC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1B6FCD9-AC85-E4F3-1972-FE0EC29F189E}"/>
              </a:ext>
            </a:extLst>
          </p:cNvPr>
          <p:cNvSpPr txBox="1">
            <a:spLocks noGrp="1"/>
          </p:cNvSpPr>
          <p:nvPr>
            <p:ph type="body" idx="1"/>
          </p:nvPr>
        </p:nvSpPr>
        <p:spPr>
          <a:xfrm>
            <a:off x="376809" y="1334279"/>
            <a:ext cx="5715000"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000" dirty="0">
                <a:solidFill>
                  <a:schemeClr val="dk1"/>
                </a:solidFill>
                <a:latin typeface="Atkinson Hyperlegible Next"/>
                <a:ea typeface="Arial"/>
                <a:cs typeface="Arial"/>
                <a:sym typeface="Arial"/>
              </a:rPr>
              <a:t>Of all the laser hazards, eye injuries are the most serious (unless you don’t mind being blind!).</a:t>
            </a:r>
          </a:p>
          <a:p>
            <a:pPr marL="285750" indent="-285750">
              <a:lnSpc>
                <a:spcPct val="100000"/>
              </a:lnSpc>
              <a:spcBef>
                <a:spcPts val="0"/>
              </a:spcBef>
              <a:buSzPts val="3000"/>
            </a:pPr>
            <a:r>
              <a:rPr lang="en-US" sz="2000" dirty="0">
                <a:solidFill>
                  <a:schemeClr val="dk1"/>
                </a:solidFill>
                <a:latin typeface="Atkinson Hyperlegible Next"/>
                <a:ea typeface="Arial"/>
                <a:cs typeface="Arial"/>
                <a:sym typeface="Arial"/>
              </a:rPr>
              <a:t>When light reaches the eye, the </a:t>
            </a:r>
            <a:r>
              <a:rPr lang="en-US" sz="2000" b="1" dirty="0">
                <a:solidFill>
                  <a:schemeClr val="dk1"/>
                </a:solidFill>
                <a:latin typeface="Atkinson Hyperlegible Next"/>
                <a:ea typeface="Arial"/>
                <a:cs typeface="Arial"/>
                <a:sym typeface="Arial"/>
              </a:rPr>
              <a:t>cornea </a:t>
            </a:r>
            <a:r>
              <a:rPr lang="en-US" sz="2000" dirty="0">
                <a:solidFill>
                  <a:schemeClr val="dk1"/>
                </a:solidFill>
                <a:latin typeface="Atkinson Hyperlegible Next"/>
                <a:ea typeface="Arial"/>
                <a:cs typeface="Arial"/>
                <a:sym typeface="Arial"/>
              </a:rPr>
              <a:t>and the </a:t>
            </a:r>
            <a:r>
              <a:rPr lang="en-US" sz="2000" b="1" dirty="0">
                <a:solidFill>
                  <a:schemeClr val="dk1"/>
                </a:solidFill>
                <a:latin typeface="Atkinson Hyperlegible Next"/>
                <a:ea typeface="Arial"/>
                <a:cs typeface="Arial"/>
                <a:sym typeface="Arial"/>
              </a:rPr>
              <a:t>lens </a:t>
            </a:r>
            <a:r>
              <a:rPr lang="en-US" sz="2000" dirty="0">
                <a:solidFill>
                  <a:schemeClr val="dk1"/>
                </a:solidFill>
                <a:latin typeface="Atkinson Hyperlegible Next"/>
                <a:ea typeface="Arial"/>
                <a:cs typeface="Arial"/>
                <a:sym typeface="Arial"/>
              </a:rPr>
              <a:t>act as </a:t>
            </a:r>
            <a:r>
              <a:rPr lang="en-US" sz="2000" b="1" dirty="0">
                <a:solidFill>
                  <a:schemeClr val="dk1"/>
                </a:solidFill>
                <a:latin typeface="Atkinson Hyperlegible Next"/>
                <a:ea typeface="Arial"/>
                <a:cs typeface="Arial"/>
                <a:sym typeface="Arial"/>
              </a:rPr>
              <a:t>amplifiers</a:t>
            </a:r>
            <a:r>
              <a:rPr lang="en-US" sz="2000" dirty="0">
                <a:solidFill>
                  <a:schemeClr val="dk1"/>
                </a:solidFill>
                <a:latin typeface="Atkinson Hyperlegible Next"/>
                <a:ea typeface="Arial"/>
                <a:cs typeface="Arial"/>
                <a:sym typeface="Arial"/>
              </a:rPr>
              <a:t>. They concentrate light onto the </a:t>
            </a:r>
            <a:r>
              <a:rPr lang="en-US" sz="2000" b="1" dirty="0">
                <a:solidFill>
                  <a:schemeClr val="dk1"/>
                </a:solidFill>
                <a:latin typeface="Atkinson Hyperlegible Next"/>
                <a:ea typeface="Arial"/>
                <a:cs typeface="Arial"/>
                <a:sym typeface="Arial"/>
              </a:rPr>
              <a:t>retina </a:t>
            </a:r>
            <a:r>
              <a:rPr lang="en-US" sz="2000" dirty="0">
                <a:solidFill>
                  <a:schemeClr val="dk1"/>
                </a:solidFill>
                <a:latin typeface="Atkinson Hyperlegible Next"/>
                <a:ea typeface="Arial"/>
                <a:cs typeface="Arial"/>
                <a:sym typeface="Arial"/>
              </a:rPr>
              <a:t>(the back of the eye) which, afterward, is processed by the brain as an image. </a:t>
            </a:r>
          </a:p>
          <a:p>
            <a:pPr marL="285750" indent="-285750">
              <a:lnSpc>
                <a:spcPct val="100000"/>
              </a:lnSpc>
              <a:spcBef>
                <a:spcPts val="0"/>
              </a:spcBef>
              <a:buSzPts val="3000"/>
            </a:pPr>
            <a:r>
              <a:rPr lang="en-US" sz="2000" dirty="0">
                <a:solidFill>
                  <a:schemeClr val="dk1"/>
                </a:solidFill>
                <a:latin typeface="Atkinson Hyperlegible Next"/>
                <a:ea typeface="Arial"/>
                <a:cs typeface="Arial"/>
                <a:sym typeface="Arial"/>
              </a:rPr>
              <a:t>Those three components of the human eye (</a:t>
            </a:r>
            <a:r>
              <a:rPr lang="en-US" sz="2000" b="1" dirty="0">
                <a:solidFill>
                  <a:schemeClr val="dk1"/>
                </a:solidFill>
                <a:latin typeface="Atkinson Hyperlegible Next"/>
                <a:ea typeface="Arial"/>
                <a:cs typeface="Arial"/>
                <a:sym typeface="Arial"/>
              </a:rPr>
              <a:t>cornea, lens and retina</a:t>
            </a:r>
            <a:r>
              <a:rPr lang="en-US" sz="2000" dirty="0">
                <a:solidFill>
                  <a:schemeClr val="dk1"/>
                </a:solidFill>
                <a:latin typeface="Atkinson Hyperlegible Next"/>
                <a:ea typeface="Arial"/>
                <a:cs typeface="Arial"/>
                <a:sym typeface="Arial"/>
              </a:rPr>
              <a:t>) are the most susceptible to damage from laser radiation.</a:t>
            </a:r>
          </a:p>
          <a:p>
            <a:pPr marL="285750" indent="-285750">
              <a:lnSpc>
                <a:spcPct val="100000"/>
              </a:lnSpc>
              <a:spcBef>
                <a:spcPts val="0"/>
              </a:spcBef>
              <a:buSzPts val="3000"/>
            </a:pPr>
            <a:r>
              <a:rPr lang="en-US" sz="2000" dirty="0">
                <a:latin typeface="Atkinson Hyperlegible Next"/>
                <a:ea typeface="Arial"/>
                <a:cs typeface="Arial"/>
                <a:sym typeface="Arial"/>
              </a:rPr>
              <a:t>Almost all types of laser lights can harm your eyes, but the various components of the human eye react more strongly with some light wavelengths.</a:t>
            </a:r>
            <a:endParaRPr lang="en-US" sz="2000" dirty="0">
              <a:solidFill>
                <a:schemeClr val="dk1"/>
              </a:solidFill>
              <a:latin typeface="Atkinson Hyperlegible Next"/>
              <a:ea typeface="Arial"/>
              <a:cs typeface="Arial"/>
              <a:sym typeface="Arial"/>
            </a:endParaRPr>
          </a:p>
          <a:p>
            <a:pPr marL="285750" indent="-285750">
              <a:lnSpc>
                <a:spcPct val="100000"/>
              </a:lnSpc>
              <a:spcBef>
                <a:spcPts val="0"/>
              </a:spcBef>
              <a:buSzPts val="3000"/>
            </a:pPr>
            <a:endParaRPr lang="en-US" sz="20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8E780FA-FBC8-C24B-FC81-9C0099AFE0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3866CF6-740B-A825-4231-4954DB76965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Laser classes – Eye </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0580D94-B86E-00EF-8257-4747E277BB1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1DB4730-DE62-D99E-A7BA-1DF346D786F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0F18E67-BE4F-068D-60A9-BDD3AD9FDC4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FE12872-B326-C4A9-38C0-A370D959464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B0C98D7-3397-BBE5-1B11-6F9822D720F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BD58729-26F9-8A0C-AC91-9E5DF1A10DD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1026" name="Picture 2" descr="Diagram: cross section of the human eye. Light rays from a candle pass through the cornea, pupil and lens, which focus them so they cross inside the eye and form an inverted image of the candle on the retina at the back of the eye, next to the optic nerve. Also labeled are the iris, ciliary muscle, ligaments, the liquid behind the cornea, and the jelly filling the eyeball.">
            <a:extLst>
              <a:ext uri="{FF2B5EF4-FFF2-40B4-BE49-F238E27FC236}">
                <a16:creationId xmlns:a16="http://schemas.microsoft.com/office/drawing/2014/main" id="{EF9E573E-BDFA-DA32-BAEC-9A7134E9912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1214"/>
          <a:stretch>
            <a:fillRect/>
          </a:stretch>
        </p:blipFill>
        <p:spPr bwMode="auto">
          <a:xfrm>
            <a:off x="6483349" y="1676400"/>
            <a:ext cx="5074159" cy="350520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A05027D8-52FC-D2BA-0E54-292C06F66480}"/>
              </a:ext>
            </a:extLst>
          </p:cNvPr>
          <p:cNvSpPr txBox="1"/>
          <p:nvPr/>
        </p:nvSpPr>
        <p:spPr>
          <a:xfrm>
            <a:off x="6375399" y="5410869"/>
            <a:ext cx="5453417" cy="246221"/>
          </a:xfrm>
          <a:prstGeom prst="rect">
            <a:avLst/>
          </a:prstGeom>
          <a:noFill/>
        </p:spPr>
        <p:txBody>
          <a:bodyPr wrap="square">
            <a:spAutoFit/>
          </a:bodyPr>
          <a:lstStyle/>
          <a:p>
            <a:pPr algn="ctr"/>
            <a:r>
              <a:rPr lang="en-US" sz="1000" dirty="0">
                <a:hlinkClick r:id="rId5"/>
              </a:rPr>
              <a:t>https://www.laserax.com/blog/laser-safety-laser-classes-explained</a:t>
            </a:r>
            <a:r>
              <a:rPr lang="en-US" sz="1000" dirty="0"/>
              <a:t> </a:t>
            </a:r>
          </a:p>
        </p:txBody>
      </p:sp>
    </p:spTree>
    <p:extLst>
      <p:ext uri="{BB962C8B-B14F-4D97-AF65-F5344CB8AC3E}">
        <p14:creationId xmlns:p14="http://schemas.microsoft.com/office/powerpoint/2010/main" val="505211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6458EA9-F894-19C3-048E-A1B063D9C7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7E1AAA8-500C-63D8-F0DF-41B4499139E5}"/>
              </a:ext>
            </a:extLst>
          </p:cNvPr>
          <p:cNvSpPr txBox="1">
            <a:spLocks noGrp="1"/>
          </p:cNvSpPr>
          <p:nvPr>
            <p:ph type="body" idx="1"/>
          </p:nvPr>
        </p:nvSpPr>
        <p:spPr>
          <a:xfrm>
            <a:off x="376809" y="1334279"/>
            <a:ext cx="5715000"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900" dirty="0">
                <a:solidFill>
                  <a:schemeClr val="dk1"/>
                </a:solidFill>
                <a:latin typeface="Atkinson Hyperlegible Next"/>
                <a:ea typeface="Arial"/>
                <a:cs typeface="Arial"/>
                <a:sym typeface="Arial"/>
              </a:rPr>
              <a:t>Part of visible light is absorbed by the eyes before being amplified by the lens and cornea. </a:t>
            </a:r>
          </a:p>
          <a:p>
            <a:pPr marL="285750" indent="-285750">
              <a:lnSpc>
                <a:spcPct val="100000"/>
              </a:lnSpc>
              <a:spcBef>
                <a:spcPts val="0"/>
              </a:spcBef>
              <a:buSzPts val="3000"/>
            </a:pPr>
            <a:r>
              <a:rPr lang="en-US" sz="1900" dirty="0">
                <a:solidFill>
                  <a:schemeClr val="dk1"/>
                </a:solidFill>
                <a:latin typeface="Atkinson Hyperlegible Next"/>
                <a:ea typeface="Arial"/>
                <a:cs typeface="Arial"/>
                <a:sym typeface="Arial"/>
              </a:rPr>
              <a:t>But infrared light isn’t visible and isn’t absorbed by the eyes. Thus, is more dangerous than visible light.</a:t>
            </a:r>
          </a:p>
          <a:p>
            <a:pPr marL="285750" indent="-285750">
              <a:lnSpc>
                <a:spcPct val="100000"/>
              </a:lnSpc>
              <a:spcBef>
                <a:spcPts val="0"/>
              </a:spcBef>
              <a:buSzPts val="3000"/>
            </a:pPr>
            <a:r>
              <a:rPr lang="en-US" sz="1900" dirty="0">
                <a:solidFill>
                  <a:schemeClr val="dk1"/>
                </a:solidFill>
                <a:latin typeface="Atkinson Hyperlegible Next"/>
                <a:ea typeface="Arial"/>
                <a:cs typeface="Arial"/>
                <a:sym typeface="Arial"/>
              </a:rPr>
              <a:t>All this energy is spent burning a small area of the retina which causes blindness and severe eye damages. Photochemical damage is also possible for lights lower than 400 nm (in the ultraviolet range) and may cause cataracts (decreased vision).</a:t>
            </a:r>
          </a:p>
          <a:p>
            <a:pPr marL="285750" indent="-285750">
              <a:lnSpc>
                <a:spcPct val="100000"/>
              </a:lnSpc>
              <a:spcBef>
                <a:spcPts val="0"/>
              </a:spcBef>
              <a:buSzPts val="3000"/>
            </a:pPr>
            <a:r>
              <a:rPr lang="en-US" sz="1900" dirty="0">
                <a:solidFill>
                  <a:schemeClr val="dk1"/>
                </a:solidFill>
                <a:latin typeface="Atkinson Hyperlegible Next"/>
                <a:ea typeface="Arial"/>
                <a:cs typeface="Arial"/>
                <a:sym typeface="Arial"/>
              </a:rPr>
              <a:t>Protective eyewear like laser goggles protects you by absorbing dangerous light. </a:t>
            </a:r>
          </a:p>
          <a:p>
            <a:pPr marL="285750" indent="-285750">
              <a:lnSpc>
                <a:spcPct val="100000"/>
              </a:lnSpc>
              <a:spcBef>
                <a:spcPts val="0"/>
              </a:spcBef>
              <a:buSzPts val="3000"/>
            </a:pPr>
            <a:r>
              <a:rPr lang="en-US" sz="1900" b="1" dirty="0">
                <a:solidFill>
                  <a:schemeClr val="dk1"/>
                </a:solidFill>
                <a:latin typeface="Atkinson Hyperlegible Next"/>
                <a:ea typeface="Arial"/>
                <a:cs typeface="Arial"/>
                <a:sym typeface="Arial"/>
              </a:rPr>
              <a:t>Different goggles absorb different lights</a:t>
            </a:r>
            <a:r>
              <a:rPr lang="en-US" sz="1900" dirty="0">
                <a:solidFill>
                  <a:schemeClr val="dk1"/>
                </a:solidFill>
                <a:latin typeface="Atkinson Hyperlegible Next"/>
                <a:ea typeface="Arial"/>
                <a:cs typeface="Arial"/>
                <a:sym typeface="Arial"/>
              </a:rPr>
              <a:t>, so you need to wear the right goggles for your laser class.</a:t>
            </a:r>
          </a:p>
          <a:p>
            <a:pPr marL="285750" indent="-285750">
              <a:lnSpc>
                <a:spcPct val="100000"/>
              </a:lnSpc>
              <a:spcBef>
                <a:spcPts val="0"/>
              </a:spcBef>
              <a:buSzPts val="3000"/>
            </a:pPr>
            <a:endParaRPr lang="en-US" sz="19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EAFA5EA0-8FE5-2762-6488-45BB1E3D924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1F20E0F-B39E-DB6A-289B-E5B57A0BC10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lang="en-US" sz="2400" b="0" i="0" u="none" strike="noStrike" cap="none" dirty="0">
                <a:solidFill>
                  <a:schemeClr val="lt1"/>
                </a:solidFill>
                <a:latin typeface="Atkinson Hyperlegible Next"/>
                <a:ea typeface="Arial"/>
                <a:cs typeface="Arial"/>
                <a:sym typeface="Arial"/>
              </a:rPr>
              <a:t>LiDAR – Laser classes</a:t>
            </a:r>
            <a:r>
              <a:rPr i="0" b="0" lang="en-US" sz="2400" dirty="0">
                <a:solidFill>
                  <a:schemeClr val="lt1"/>
                </a:solidFill>
              </a:rPr>
              <a:t> – Eye </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724F2BD-11D7-E9D3-B5A6-1FFB16858B2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1A39A0E-C6AD-3A1A-566C-E393B2A34D8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2B098E7-4363-B3B5-0117-47518BCCF44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FED2DE4-8263-D91B-4CC5-80901ED2210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AB00198-6F89-C864-EDE4-2BD9CDEB86B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95A5A85-0316-454B-6B5A-17BF68F8729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1026" name="Picture 2" descr="Diagram: cross section of the human eye. Light rays from a candle pass through the cornea, pupil and lens, which focus them so they cross inside the eye and form an inverted image of the candle on the retina at the back of the eye, next to the optic nerve. Also labeled are the iris, ciliary muscle, ligaments, the liquid behind the cornea, and the jelly filling the eyeball.">
            <a:extLst>
              <a:ext uri="{FF2B5EF4-FFF2-40B4-BE49-F238E27FC236}">
                <a16:creationId xmlns:a16="http://schemas.microsoft.com/office/drawing/2014/main" id="{B4CAD503-94E3-549E-60EF-2A1B9F6F673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842509" y="1676400"/>
            <a:ext cx="5715000" cy="350520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6E04476A-FFC9-79B7-57BD-A812C9C6E049}"/>
              </a:ext>
            </a:extLst>
          </p:cNvPr>
          <p:cNvSpPr txBox="1"/>
          <p:nvPr/>
        </p:nvSpPr>
        <p:spPr>
          <a:xfrm>
            <a:off x="6375399" y="5410869"/>
            <a:ext cx="5453417" cy="246221"/>
          </a:xfrm>
          <a:prstGeom prst="rect">
            <a:avLst/>
          </a:prstGeom>
          <a:noFill/>
        </p:spPr>
        <p:txBody>
          <a:bodyPr wrap="square">
            <a:spAutoFit/>
          </a:bodyPr>
          <a:lstStyle/>
          <a:p>
            <a:pPr algn="ctr"/>
            <a:r>
              <a:rPr lang="en-US" sz="1000" dirty="0">
                <a:hlinkClick r:id="rId5"/>
              </a:rPr>
              <a:t>https://www.laserax.com/blog/laser-safety-laser-classes-explained</a:t>
            </a:r>
            <a:r>
              <a:rPr lang="en-US" sz="1000" dirty="0"/>
              <a:t> </a:t>
            </a:r>
          </a:p>
        </p:txBody>
      </p:sp>
    </p:spTree>
    <p:extLst>
      <p:ext uri="{BB962C8B-B14F-4D97-AF65-F5344CB8AC3E}">
        <p14:creationId xmlns:p14="http://schemas.microsoft.com/office/powerpoint/2010/main" val="12003049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A8BA16B-5506-C909-9319-CF6453ACA09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F63B5C-76D8-16D4-53BB-7EBE4D8B3E23}"/>
              </a:ext>
            </a:extLst>
          </p:cNvPr>
          <p:cNvSpPr txBox="1">
            <a:spLocks noGrp="1"/>
          </p:cNvSpPr>
          <p:nvPr>
            <p:ph type="body" idx="1"/>
          </p:nvPr>
        </p:nvSpPr>
        <p:spPr>
          <a:xfrm>
            <a:off x="376808"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latin typeface="Atkinson Hyperlegible Next"/>
                <a:ea typeface="Arial"/>
                <a:cs typeface="Arial"/>
                <a:sym typeface="Arial"/>
              </a:rPr>
              <a:t>If you had the choice between putting your eyes or your hands on the stove, chances are you would put your hands. It’s easy to understand why skin hazards are less serious than eye hazards. But the risks of skin burns still deserve attention.</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Direct contact with the laser beam and specular (mirror-like) reflections can cause skin injuries. Those injuries are typically caused by thermal damage like touching the stove, or photochemical damage like sunburns.</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The burn level depends on the laser’s output power, the wavelength, the size of the affected area, and the duration of the irradiation.</a:t>
            </a:r>
          </a:p>
          <a:p>
            <a:pPr marL="285750" indent="-285750">
              <a:lnSpc>
                <a:spcPct val="100000"/>
              </a:lnSpc>
              <a:spcBef>
                <a:spcPts val="0"/>
              </a:spcBef>
              <a:buSzPts val="3000"/>
            </a:pPr>
            <a:endParaRPr lang="en-US" sz="2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BD8BDD76-C8F6-5808-78C3-65263974559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9E4AE46-944C-57D7-92BA-A49BD74B573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lang="en-US" sz="2400" b="0" i="0" u="none" strike="noStrike" cap="none" dirty="0">
                <a:solidFill>
                  <a:schemeClr val="lt1"/>
                </a:solidFill>
                <a:latin typeface="Atkinson Hyperlegible Next"/>
                <a:ea typeface="Arial"/>
                <a:cs typeface="Arial"/>
                <a:sym typeface="Arial"/>
              </a:rPr>
              <a:t>LiDAR – Laser classes</a:t>
            </a:r>
            <a:r>
              <a:rPr i="0" b="0" lang="en-US" sz="2400" dirty="0">
                <a:solidFill>
                  <a:schemeClr val="lt1"/>
                </a:solidFill>
              </a:rPr>
              <a:t> – Skin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A948A14-A8FD-FA4A-891C-D860B6903A5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9D51746-A7CF-B6AA-1BD4-B94B0D60B7F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BE1E4D7-7131-E54C-56CA-6F8F3CB237E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64BE97B-FACC-BD10-9CB4-6D59C53657A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DDBD590-4D2C-C887-5C7D-B2E248E06F3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76FDE1A-276D-DF3B-364F-D70569EF929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235282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08DE9FE-EAEA-43A1-892E-473E8FC1322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2F6D58A-46E2-695D-129C-3862DB474F7B}"/>
              </a:ext>
            </a:extLst>
          </p:cNvPr>
          <p:cNvSpPr txBox="1">
            <a:spLocks noGrp="1"/>
          </p:cNvSpPr>
          <p:nvPr>
            <p:ph type="body" idx="1"/>
          </p:nvPr>
        </p:nvSpPr>
        <p:spPr>
          <a:xfrm>
            <a:off x="376808"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latin typeface="Atkinson Hyperlegible Next"/>
                <a:ea typeface="Arial"/>
                <a:cs typeface="Arial"/>
                <a:sym typeface="Arial"/>
              </a:rPr>
              <a:t>Apart from health hazards, laser light can also start fires and put your work environment at risk.</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Only class 4 lasers pose real fire safety concerns. Their direct beam as well as any type of reflection can ignite combustible materials. </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For a safe integration, those lasers must be enclosed properly and account for all possible angles of reflection, including diffuse reflections.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Given that the URG-04LX is a class 1 laser. What precautions do we need to take when handling it?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Nothing, it is a class 1 laser!</a:t>
            </a:r>
          </a:p>
        </p:txBody>
      </p:sp>
      <p:sp>
        <p:nvSpPr>
          <p:cNvPr id="119" name="Google Shape;119;p29">
            <a:extLst>
              <a:ext uri="{FF2B5EF4-FFF2-40B4-BE49-F238E27FC236}">
                <a16:creationId xmlns:a16="http://schemas.microsoft.com/office/drawing/2014/main" id="{2DEA7276-FCB0-90D7-73C7-141EC39FCE0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AC8A84D-A1BE-AF10-E6D3-F9BF5592E9F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lang="en-US" sz="2400" b="0" i="0" u="none" strike="noStrike" cap="none" dirty="0">
                <a:solidFill>
                  <a:schemeClr val="lt1"/>
                </a:solidFill>
                <a:latin typeface="Atkinson Hyperlegible Next"/>
                <a:ea typeface="Arial"/>
                <a:cs typeface="Arial"/>
                <a:sym typeface="Arial"/>
              </a:rPr>
              <a:t>LiDAR – Laser classes</a:t>
            </a:r>
            <a:r>
              <a:rPr i="0" b="0" lang="en-US" sz="2400" dirty="0">
                <a:solidFill>
                  <a:schemeClr val="lt1"/>
                </a:solidFill>
              </a:rPr>
              <a:t> – Fire hazards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076E4B1-F171-97D8-DF7D-81370FD48BF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A8322C2-30C3-DE08-75E9-5663881391F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03576D0-668F-8776-14BD-8D1EDEAE6A5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2ED0180-C936-F20F-B9D2-12BB1C4A60A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6B80671-EC1A-DCB6-E1C0-3D58D663BE2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764595F-A351-F355-E3C7-6206FA297CD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8607669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94074C76-4949-3716-FFBE-88E9F2BE8E8D}"/>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2FC355E1-B533-5A44-1B47-E44EA344F78C}"/>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URG-04LX</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C821CBD1-42F8-4799-D4C5-C49B6E19E8B4}"/>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91D3D5EE-75A5-9A74-2495-427AA70B6AAE}"/>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4424FB7E-09DA-FEDE-8C10-7F265EF1E91B}"/>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B0CBF771-6F04-9187-8703-D9EEE06441F4}"/>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F88FA002-B777-D4AB-C8F3-76719D406D5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3B877F73-AC00-DF37-EE02-206A75761F20}"/>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687BE759-484D-DAC3-5E62-3F342789FC5E}"/>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3C1BF3B0-8A65-9869-F690-0AB8465C48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68D91B97-2531-63DA-6A01-E854DAE77FD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69712867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EBD894D-0D18-8289-216F-46ECF5E40D1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902976A-994D-DA36-0BBE-4EB2290D1A9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latin typeface="Atkinson Hyperlegible Next"/>
                <a:ea typeface="Arial"/>
                <a:cs typeface="Arial"/>
                <a:sym typeface="Arial"/>
              </a:rPr>
              <a:t>Scan area is 240º semicircle with maximum distance of 4000mm. </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Pitch angle is 0.36º and sensor outputs the distance measured at every point (683 steps).</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Laser beam diameter is less than 20mm at 2000mm with maximum divergence 40mm at 4000mm. </a:t>
            </a: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The principle of distance measurement is based on calculation of the phase difference, due to which it is possible to obtain stable measurement with minimum influence from object’s color and surface gloss.</a:t>
            </a:r>
          </a:p>
          <a:p>
            <a:pPr marL="742950" lvl="1" indent="-285750">
              <a:lnSpc>
                <a:spcPct val="100000"/>
              </a:lnSpc>
              <a:spcBef>
                <a:spcPts val="0"/>
              </a:spcBef>
              <a:buSzPts val="3000"/>
            </a:pPr>
            <a:r>
              <a:rPr lang="en-US" sz="2000" dirty="0">
                <a:latin typeface="Atkinson Hyperlegible Next"/>
                <a:ea typeface="Arial"/>
                <a:cs typeface="Arial"/>
                <a:sym typeface="Arial"/>
              </a:rPr>
              <a:t>Essentially Time of Flight but with a continuous wave rather than the discrete pulse</a:t>
            </a:r>
          </a:p>
        </p:txBody>
      </p:sp>
      <p:sp>
        <p:nvSpPr>
          <p:cNvPr id="119" name="Google Shape;119;p29">
            <a:extLst>
              <a:ext uri="{FF2B5EF4-FFF2-40B4-BE49-F238E27FC236}">
                <a16:creationId xmlns:a16="http://schemas.microsoft.com/office/drawing/2014/main" id="{2FF5BAFC-FDAA-2718-D2FB-EBE2D1AD98E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142692A-D91A-E80C-8E52-A41B1FC0192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194F1CD-0AB5-EFCA-9959-EC706DF77E1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743B6A0-DCA3-37D1-6B90-72AD83D68B1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7D46766-AFA1-A513-8638-BCEBDE143AD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40E76F0-91B5-7A84-BA0D-1867E3BB34E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55C2D37-6062-4153-C9F0-02C42D49A77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1B97401-8890-03EC-ED75-953EA1B82A6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4674179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FF4AE2A-7FF3-0DD6-E41F-781B8713DB8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74153F8-4393-88B0-D13F-B736C187EBF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9DA59B1-7E86-FD3E-4D71-D3F3591FD77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BCB6871-E0D0-DD4C-5DCD-1A10C96451E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92995C0-7849-EC18-DEA7-82F2F56B6EF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7E9B642-F5C1-2CCC-07C3-BE39F1458B7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3E29AFD-05F6-B085-C327-B9670A3E67C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0273EAC-6FE0-DA36-6090-C281E600DD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2D4B91A-7E6A-C658-9988-0197985EB17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Top-view scan diagram of the Hokuyo URG-04LX laser rangefinder: from the sensor at the center, rays fan out over a 240 degree detection area facing forward, with a maximum range of 4000 millimeters. The remaining 120 degree wedge behind the sensor is a non-radiated blind zone. Labels give power as 5 volts DC and the interface as RS-232C or USB.">
            <a:extLst>
              <a:ext uri="{FF2B5EF4-FFF2-40B4-BE49-F238E27FC236}">
                <a16:creationId xmlns:a16="http://schemas.microsoft.com/office/drawing/2014/main" id="{D2D10FB6-D953-00EB-84CA-C1878DFF7FF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753543" y="1632724"/>
            <a:ext cx="6259512" cy="3605252"/>
          </a:xfrm>
          <a:prstGeom prst="rect">
            <a:avLst/>
          </a:prstGeom>
        </p:spPr>
      </p:pic>
      <p:pic>
        <p:nvPicPr>
          <p:cNvPr id="7" name="Picture 6" descr="Photo: Hokuyo URG-04LX laser rangefinder, a small 2D scanning LiDAR. It has a compact gray base topped by a dark cylindrical window labeled &quot;Hokuyo URG,&quot; where the laser spins to sweep distance measurements around the sensor. A coiled black cable ends in loose, color-coded bare wires for power and data connections.">
            <a:extLst>
              <a:ext uri="{FF2B5EF4-FFF2-40B4-BE49-F238E27FC236}">
                <a16:creationId xmlns:a16="http://schemas.microsoft.com/office/drawing/2014/main" id="{BBAB6D5A-341B-ACD8-BAA3-A78ADAC524D8}"/>
              </a:ext>
            </a:extLst>
          </p:cNvPr>
          <p:cNvPicPr>
            <a:picLocks noChangeAspect="1"/>
          </p:cNvPicPr>
          <p:nvPr/>
        </p:nvPicPr>
        <p:blipFill>
          <a:blip r:embed="rId6"/>
          <a:srcRect l="6600" t="13740" b="15191"/>
          <a:stretch>
            <a:fillRect/>
          </a:stretch>
        </p:blipFill>
        <p:spPr>
          <a:xfrm>
            <a:off x="240241" y="2024106"/>
            <a:ext cx="5513302" cy="2961775"/>
          </a:xfrm>
          <a:prstGeom prst="rect">
            <a:avLst/>
          </a:prstGeom>
        </p:spPr>
      </p:pic>
      <p:sp>
        <p:nvSpPr>
          <p:cNvPr id="9" name="TextBox 8">
            <a:extLst>
              <a:ext uri="{FF2B5EF4-FFF2-40B4-BE49-F238E27FC236}">
                <a16:creationId xmlns:a16="http://schemas.microsoft.com/office/drawing/2014/main" id="{95EFE8BD-2125-3967-1A6C-01F2A38F80C9}"/>
              </a:ext>
            </a:extLst>
          </p:cNvPr>
          <p:cNvSpPr txBox="1"/>
          <p:nvPr/>
        </p:nvSpPr>
        <p:spPr>
          <a:xfrm>
            <a:off x="913563" y="5149318"/>
            <a:ext cx="4166659" cy="246221"/>
          </a:xfrm>
          <a:prstGeom prst="rect">
            <a:avLst/>
          </a:prstGeom>
          <a:noFill/>
        </p:spPr>
        <p:txBody>
          <a:bodyPr wrap="square">
            <a:spAutoFit/>
          </a:bodyPr>
          <a:lstStyle/>
          <a:p>
            <a:pPr algn="ctr"/>
            <a:r>
              <a:rPr lang="en-US" sz="1000" dirty="0">
                <a:hlinkClick r:id="rId7"/>
              </a:rPr>
              <a:t>https://www.robotshop.com/products/hokuyo-urg-04lx-laser-rangefinder</a:t>
            </a:r>
            <a:r>
              <a:rPr lang="en-US" sz="1000" dirty="0"/>
              <a:t> </a:t>
            </a:r>
          </a:p>
        </p:txBody>
      </p:sp>
    </p:spTree>
    <p:extLst>
      <p:ext uri="{BB962C8B-B14F-4D97-AF65-F5344CB8AC3E}">
        <p14:creationId xmlns:p14="http://schemas.microsoft.com/office/powerpoint/2010/main" val="227165625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D10F97-37B2-96AF-03F4-98621B62A70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A06E6B1-356B-E09D-E9C8-0DC272C84A6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latin typeface="Atkinson Hyperlegible Next"/>
                <a:ea typeface="Arial"/>
                <a:cs typeface="Arial"/>
                <a:sym typeface="Arial"/>
              </a:rPr>
              <a:t>There are 2 ways to communicate with the LiDAR sensor SCI (UART) or USB. We use SCI only.</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There are 4 types of commands that can be sent.</a:t>
            </a:r>
          </a:p>
          <a:p>
            <a:pPr marL="0" indent="0">
              <a:lnSpc>
                <a:spcPct val="100000"/>
              </a:lnSpc>
              <a:spcBef>
                <a:spcPts val="0"/>
              </a:spcBef>
              <a:buSzPts val="3000"/>
              <a:buNone/>
            </a:pPr>
            <a:endParaRPr lang="en-US" sz="2400" dirty="0">
              <a:latin typeface="Atkinson Hyperlegible Next"/>
              <a:ea typeface="Arial"/>
              <a:cs typeface="Arial"/>
              <a:sym typeface="Arial"/>
            </a:endParaRP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Version Command (‘V’)</a:t>
            </a: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Laser Illumination Command (‘L’)</a:t>
            </a: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Communication Speed Setting command for RS-232C (‘S’)</a:t>
            </a: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Distance Data Acquisition Command (‘G’)</a:t>
            </a: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0DFDDD8-39AC-4313-0F7E-8C025718381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C4710AC-AA0D-744C-C4C1-F5C2B39A6F5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B6AB6B4-24C5-1EB3-C2F3-E1038821422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921F7F0-26D0-4B39-A313-6D5B309B3F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087B5CD-50B7-467B-2BF0-BCE94C24B58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0566A3B-59E7-3C82-0421-3F42C12126D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478483D-FB1F-1394-D60B-B6856DC67EA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9EE1FE8-1664-02F6-DC74-A18F23E375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9235735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E4CFE5F-4023-3041-9C94-948CC590548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1D1008C-EF4A-6B2C-F864-E87D3422669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000" dirty="0">
                <a:latin typeface="Atkinson Hyperlegible Next"/>
                <a:ea typeface="Arial"/>
                <a:cs typeface="Arial"/>
                <a:sym typeface="Arial"/>
              </a:rPr>
              <a:t>The SCI data packets are in the following format,</a:t>
            </a:r>
          </a:p>
          <a:p>
            <a:pPr marL="285750" indent="-28575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u="sng" dirty="0">
                <a:latin typeface="Atkinson Hyperlegible Next"/>
                <a:ea typeface="Arial"/>
                <a:cs typeface="Arial"/>
                <a:sym typeface="Arial"/>
              </a:rPr>
              <a:t>Host to Sensor</a:t>
            </a:r>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u="sng" dirty="0">
                <a:latin typeface="Atkinson Hyperlegible Next"/>
                <a:ea typeface="Arial"/>
                <a:cs typeface="Arial"/>
                <a:sym typeface="Arial"/>
              </a:rPr>
              <a:t>Sensor to Host</a:t>
            </a:r>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Termination code is either Line Feed (‘\n’) or Carriage Return (‘\r’)</a:t>
            </a:r>
          </a:p>
          <a:p>
            <a:pPr marL="342900">
              <a:lnSpc>
                <a:spcPct val="100000"/>
              </a:lnSpc>
              <a:spcBef>
                <a:spcPts val="0"/>
              </a:spcBef>
              <a:buSzPts val="3000"/>
            </a:pPr>
            <a:r>
              <a:rPr lang="en-US" sz="2000" dirty="0">
                <a:latin typeface="Atkinson Hyperlegible Next"/>
                <a:ea typeface="Arial"/>
                <a:cs typeface="Arial"/>
                <a:sym typeface="Arial"/>
              </a:rPr>
              <a:t>The codes XX</a:t>
            </a:r>
            <a:r>
              <a:rPr lang="en-US" sz="2000" baseline="-25000" dirty="0">
                <a:latin typeface="Atkinson Hyperlegible Next"/>
                <a:ea typeface="Arial"/>
                <a:cs typeface="Arial"/>
                <a:sym typeface="Arial"/>
              </a:rPr>
              <a:t>16</a:t>
            </a:r>
            <a:r>
              <a:rPr lang="en-US" sz="2000" dirty="0">
                <a:latin typeface="Atkinson Hyperlegible Next"/>
                <a:ea typeface="Arial"/>
                <a:cs typeface="Arial"/>
                <a:sym typeface="Arial"/>
              </a:rPr>
              <a:t> represents ASCII codes in hex</a:t>
            </a:r>
          </a:p>
          <a:p>
            <a:pPr marL="342900">
              <a:lnSpc>
                <a:spcPct val="100000"/>
              </a:lnSpc>
              <a:spcBef>
                <a:spcPts val="0"/>
              </a:spcBef>
              <a:buSzPts val="3000"/>
            </a:pPr>
            <a:r>
              <a:rPr lang="en-US" sz="2000" dirty="0">
                <a:latin typeface="Atkinson Hyperlegible Next"/>
                <a:ea typeface="Arial"/>
                <a:cs typeface="Arial"/>
                <a:sym typeface="Arial"/>
              </a:rPr>
              <a:t>Any status code other than ‘0’</a:t>
            </a:r>
            <a:r>
              <a:rPr lang="en-US" sz="2000" baseline="-25000" dirty="0">
                <a:latin typeface="Atkinson Hyperlegible Next"/>
                <a:ea typeface="Arial"/>
                <a:cs typeface="Arial"/>
                <a:sym typeface="Arial"/>
              </a:rPr>
              <a:t>16</a:t>
            </a:r>
            <a:r>
              <a:rPr lang="en-US" sz="2000" dirty="0">
                <a:latin typeface="Atkinson Hyperlegible Next"/>
                <a:ea typeface="Arial"/>
                <a:cs typeface="Arial"/>
                <a:sym typeface="Arial"/>
              </a:rPr>
              <a:t> represents an error.</a:t>
            </a:r>
          </a:p>
        </p:txBody>
      </p:sp>
      <p:sp>
        <p:nvSpPr>
          <p:cNvPr id="119" name="Google Shape;119;p29">
            <a:extLst>
              <a:ext uri="{FF2B5EF4-FFF2-40B4-BE49-F238E27FC236}">
                <a16:creationId xmlns:a16="http://schemas.microsoft.com/office/drawing/2014/main" id="{E149E90F-CC5C-2772-AB3F-434B1B28BCC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E9B220E-5567-EFC6-5BD3-77BA62B9E92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1C7AE7B-5A6B-E779-931E-A0C4BD713E3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636C741-2610-C979-DFAD-4C142D01298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5D9E506-B0B0-27C2-7732-528D42DF975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569CB09-2E0A-3D9F-CC16-CFF97E4D608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57F0457-F3E3-680D-D6CD-97CBE1D339F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B450B61-E0D3-EAEF-2C68-D400B4F1C7E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aphicFrame>
        <p:nvGraphicFramePr>
          <p:cNvPr id="5" name="Table 4" descr="Packet format from host to sensor, as one row of fields: Command, then Parameter (if necessary), then a line feed (0a hex) or carriage return (0d hex).">
            <a:extLst>
              <a:ext uri="{FF2B5EF4-FFF2-40B4-BE49-F238E27FC236}">
                <a16:creationId xmlns:a16="http://schemas.microsoft.com/office/drawing/2014/main" id="{33A80803-0B1C-3A2B-6EE5-08A684B4DA2A}"/>
              </a:ext>
            </a:extLst>
          </p:cNvPr>
          <p:cNvGraphicFramePr>
            <a:graphicFrameLocks noGrp="1"/>
          </p:cNvGraphicFramePr>
          <p:nvPr>
            <p:extLst>
              <p:ext uri="{D42A27DB-BD31-4B8C-83A1-F6EECF244321}">
                <p14:modId xmlns:p14="http://schemas.microsoft.com/office/powerpoint/2010/main" val="546896604"/>
              </p:ext>
            </p:extLst>
          </p:nvPr>
        </p:nvGraphicFramePr>
        <p:xfrm>
          <a:off x="3290891" y="2529416"/>
          <a:ext cx="5610219" cy="370840"/>
        </p:xfrm>
        <a:graphic>
          <a:graphicData uri="http://schemas.openxmlformats.org/drawingml/2006/table">
            <a:tbl>
              <a:tblPr bandRow="1">
                <a:tableStyleId>{073A0DAA-6AF3-43AB-8588-CEC1D06C72B9}</a:tableStyleId>
              </a:tblPr>
              <a:tblGrid>
                <a:gridCol w="1280160">
                  <a:extLst>
                    <a:ext uri="{9D8B030D-6E8A-4147-A177-3AD203B41FA5}">
                      <a16:colId xmlns:a16="http://schemas.microsoft.com/office/drawing/2014/main" val="2146093778"/>
                    </a:ext>
                  </a:extLst>
                </a:gridCol>
                <a:gridCol w="2194560">
                  <a:extLst>
                    <a:ext uri="{9D8B030D-6E8A-4147-A177-3AD203B41FA5}">
                      <a16:colId xmlns:a16="http://schemas.microsoft.com/office/drawing/2014/main" val="2159119190"/>
                    </a:ext>
                  </a:extLst>
                </a:gridCol>
                <a:gridCol w="2135499">
                  <a:extLst>
                    <a:ext uri="{9D8B030D-6E8A-4147-A177-3AD203B41FA5}">
                      <a16:colId xmlns:a16="http://schemas.microsoft.com/office/drawing/2014/main" val="2619942353"/>
                    </a:ext>
                  </a:extLst>
                </a:gridCol>
              </a:tblGrid>
              <a:tr h="370840">
                <a:tc>
                  <a:txBody>
                    <a:bodyPr/>
                    <a:lstStyle/>
                    <a:p>
                      <a:pPr algn="ctr"/>
                      <a:r>
                        <a:rPr lang="en-US" dirty="0"/>
                        <a:t>Command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Parameter (if necessary)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LF (0a</a:t>
                      </a:r>
                      <a:r>
                        <a:rPr lang="en-US" baseline="-25000" dirty="0"/>
                        <a:t>16</a:t>
                      </a:r>
                      <a:r>
                        <a:rPr lang="en-US" baseline="0" dirty="0"/>
                        <a:t>) or CR (0d</a:t>
                      </a:r>
                      <a:r>
                        <a:rPr lang="en-US" baseline="-25000" dirty="0"/>
                        <a:t>16</a:t>
                      </a:r>
                      <a:r>
                        <a:rPr lang="en-US" baseline="0" dirty="0"/>
                        <a:t>)</a:t>
                      </a:r>
                      <a:endParaRPr 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98861874"/>
                  </a:ext>
                </a:extLst>
              </a:tr>
            </a:tbl>
          </a:graphicData>
        </a:graphic>
      </p:graphicFrame>
      <p:graphicFrame>
        <p:nvGraphicFramePr>
          <p:cNvPr id="6" name="Table 5" descr="Packet format from sensor to host, as one row of fields: Command, Parameter (if necessary), LF, Status, LF, Data, LF, LF.">
            <a:extLst>
              <a:ext uri="{FF2B5EF4-FFF2-40B4-BE49-F238E27FC236}">
                <a16:creationId xmlns:a16="http://schemas.microsoft.com/office/drawing/2014/main" id="{843C005E-23A4-618B-B8D1-316469A6B0B3}"/>
              </a:ext>
            </a:extLst>
          </p:cNvPr>
          <p:cNvGraphicFramePr>
            <a:graphicFrameLocks noGrp="1"/>
          </p:cNvGraphicFramePr>
          <p:nvPr>
            <p:extLst>
              <p:ext uri="{D42A27DB-BD31-4B8C-83A1-F6EECF244321}">
                <p14:modId xmlns:p14="http://schemas.microsoft.com/office/powerpoint/2010/main" val="2344673281"/>
              </p:ext>
            </p:extLst>
          </p:nvPr>
        </p:nvGraphicFramePr>
        <p:xfrm>
          <a:off x="2558352" y="3744830"/>
          <a:ext cx="7075297" cy="370840"/>
        </p:xfrm>
        <a:graphic>
          <a:graphicData uri="http://schemas.openxmlformats.org/drawingml/2006/table">
            <a:tbl>
              <a:tblPr bandRow="1">
                <a:tableStyleId>{073A0DAA-6AF3-43AB-8588-CEC1D06C72B9}</a:tableStyleId>
              </a:tblPr>
              <a:tblGrid>
                <a:gridCol w="1280160">
                  <a:extLst>
                    <a:ext uri="{9D8B030D-6E8A-4147-A177-3AD203B41FA5}">
                      <a16:colId xmlns:a16="http://schemas.microsoft.com/office/drawing/2014/main" val="2146093778"/>
                    </a:ext>
                  </a:extLst>
                </a:gridCol>
                <a:gridCol w="2194560">
                  <a:extLst>
                    <a:ext uri="{9D8B030D-6E8A-4147-A177-3AD203B41FA5}">
                      <a16:colId xmlns:a16="http://schemas.microsoft.com/office/drawing/2014/main" val="2159119190"/>
                    </a:ext>
                  </a:extLst>
                </a:gridCol>
                <a:gridCol w="555625">
                  <a:extLst>
                    <a:ext uri="{9D8B030D-6E8A-4147-A177-3AD203B41FA5}">
                      <a16:colId xmlns:a16="http://schemas.microsoft.com/office/drawing/2014/main" val="2619942353"/>
                    </a:ext>
                  </a:extLst>
                </a:gridCol>
                <a:gridCol w="731520">
                  <a:extLst>
                    <a:ext uri="{9D8B030D-6E8A-4147-A177-3AD203B41FA5}">
                      <a16:colId xmlns:a16="http://schemas.microsoft.com/office/drawing/2014/main" val="291963699"/>
                    </a:ext>
                  </a:extLst>
                </a:gridCol>
                <a:gridCol w="557784">
                  <a:extLst>
                    <a:ext uri="{9D8B030D-6E8A-4147-A177-3AD203B41FA5}">
                      <a16:colId xmlns:a16="http://schemas.microsoft.com/office/drawing/2014/main" val="3767523989"/>
                    </a:ext>
                  </a:extLst>
                </a:gridCol>
                <a:gridCol w="640080">
                  <a:extLst>
                    <a:ext uri="{9D8B030D-6E8A-4147-A177-3AD203B41FA5}">
                      <a16:colId xmlns:a16="http://schemas.microsoft.com/office/drawing/2014/main" val="1386445737"/>
                    </a:ext>
                  </a:extLst>
                </a:gridCol>
                <a:gridCol w="557784">
                  <a:extLst>
                    <a:ext uri="{9D8B030D-6E8A-4147-A177-3AD203B41FA5}">
                      <a16:colId xmlns:a16="http://schemas.microsoft.com/office/drawing/2014/main" val="4067718208"/>
                    </a:ext>
                  </a:extLst>
                </a:gridCol>
                <a:gridCol w="557784">
                  <a:extLst>
                    <a:ext uri="{9D8B030D-6E8A-4147-A177-3AD203B41FA5}">
                      <a16:colId xmlns:a16="http://schemas.microsoft.com/office/drawing/2014/main" val="1331477706"/>
                    </a:ext>
                  </a:extLst>
                </a:gridCol>
              </a:tblGrid>
              <a:tr h="370840">
                <a:tc>
                  <a:txBody>
                    <a:bodyPr/>
                    <a:lstStyle/>
                    <a:p>
                      <a:pPr algn="ctr"/>
                      <a:r>
                        <a:rPr lang="en-US" dirty="0"/>
                        <a:t>Command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Parameter (if necessary)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LF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Status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LF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Data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LF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LF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98861874"/>
                  </a:ext>
                </a:extLst>
              </a:tr>
            </a:tbl>
          </a:graphicData>
        </a:graphic>
      </p:graphicFrame>
    </p:spTree>
    <p:extLst>
      <p:ext uri="{BB962C8B-B14F-4D97-AF65-F5344CB8AC3E}">
        <p14:creationId xmlns:p14="http://schemas.microsoft.com/office/powerpoint/2010/main" val="2176848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18">
                                            <p:txEl>
                                              <p:pRg st="12" end="12"/>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285A495-75AE-B621-1C8B-D7EDAF3936A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3A205B6-8198-3F48-0FFA-954EAF9343C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000" dirty="0">
                <a:latin typeface="Atkinson Hyperlegible Next"/>
                <a:ea typeface="Arial"/>
                <a:cs typeface="Arial"/>
                <a:sym typeface="Arial"/>
              </a:rPr>
              <a:t>If we want to get the version information of the LiDAR we can use the version command. This can be done simply as sending,</a:t>
            </a:r>
          </a:p>
          <a:p>
            <a:pPr marL="285750" indent="-285750">
              <a:lnSpc>
                <a:spcPct val="100000"/>
              </a:lnSpc>
              <a:spcBef>
                <a:spcPts val="0"/>
              </a:spcBef>
              <a:buSzPts val="3000"/>
            </a:pPr>
            <a:r>
              <a:rPr lang="en-US" sz="2000" dirty="0">
                <a:latin typeface="Atkinson Hyperlegible Next"/>
                <a:ea typeface="Arial"/>
                <a:cs typeface="Arial"/>
                <a:sym typeface="Arial"/>
              </a:rPr>
              <a:t>The command ‘V’</a:t>
            </a:r>
          </a:p>
          <a:p>
            <a:pPr marL="285750" indent="-28575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285750" indent="-285750">
              <a:lnSpc>
                <a:spcPct val="100000"/>
              </a:lnSpc>
              <a:spcBef>
                <a:spcPts val="0"/>
              </a:spcBef>
              <a:buSzPts val="3000"/>
            </a:pPr>
            <a:r>
              <a:rPr lang="en-US" sz="2000" dirty="0">
                <a:latin typeface="Atkinson Hyperlegible Next"/>
                <a:ea typeface="Arial"/>
                <a:cs typeface="Arial"/>
                <a:sym typeface="Arial"/>
              </a:rPr>
              <a:t>Done as:</a:t>
            </a:r>
          </a:p>
          <a:p>
            <a:pPr marL="0" indent="0" algn="ctr">
              <a:lnSpc>
                <a:spcPct val="100000"/>
              </a:lnSpc>
              <a:spcBef>
                <a:spcPts val="0"/>
              </a:spcBef>
              <a:buSzPts val="3000"/>
              <a:buNone/>
            </a:pPr>
            <a:r>
              <a:rPr lang="pt-BR" sz="2000" dirty="0">
                <a:solidFill>
                  <a:srgbClr val="000000"/>
                </a:solidFill>
                <a:latin typeface="Consolas" panose="020B0609020204030204" pitchFamily="49" charset="0"/>
              </a:rPr>
              <a:t>serial_sendSCIC(&amp;SerialC, </a:t>
            </a:r>
            <a:r>
              <a:rPr lang="pt-BR" sz="2000" dirty="0">
                <a:solidFill>
                  <a:srgbClr val="2A00FF"/>
                </a:solidFill>
                <a:latin typeface="Consolas" panose="020B0609020204030204" pitchFamily="49" charset="0"/>
              </a:rPr>
              <a:t>"V\n"</a:t>
            </a:r>
            <a:r>
              <a:rPr lang="pt-BR" sz="2000" dirty="0">
                <a:solidFill>
                  <a:srgbClr val="000000"/>
                </a:solidFill>
                <a:latin typeface="Consolas" panose="020B0609020204030204" pitchFamily="49" charset="0"/>
              </a:rPr>
              <a:t>, 2);</a:t>
            </a: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6A5BB833-9786-CB66-723F-06B655394AE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186F4F1-1A4C-2FD3-C0AE-3F093776306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Version Info</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B7E6EC2-3164-9155-7549-EF72D69D0BF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281AF7B-53AD-4C22-CC96-A3DBD1C0B31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5CBE8C1-4384-F21E-699C-396B1D918B0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9373EC8-F0C0-9DF8-2F22-48DC37CBCC5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2ED8268-6B18-2386-6AA3-F52A1DDF166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DCAB84B-6666-8F8B-00D5-B39A77078E5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Message format table for the version command. Host to sensor: the character V (hex 56) followed by line feed or carriage return. Sensor to host: an echoed V (hex 56), then Status, Vendor Information, Product Information, Firmware Version, Protocol Version, and Sensor Serial Number, each line ending in line feed. The final line ends with two line feeds, marking the end of the response.">
            <a:extLst>
              <a:ext uri="{FF2B5EF4-FFF2-40B4-BE49-F238E27FC236}">
                <a16:creationId xmlns:a16="http://schemas.microsoft.com/office/drawing/2014/main" id="{6085CB31-7B1B-44F9-C259-63C45FF6857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423571" y="2306616"/>
            <a:ext cx="3799974" cy="3095669"/>
          </a:xfrm>
          <a:prstGeom prst="rect">
            <a:avLst/>
          </a:prstGeom>
        </p:spPr>
      </p:pic>
      <p:pic>
        <p:nvPicPr>
          <p:cNvPr id="7" name="Graphic 6" descr="Example response to the V command, each line ending in a line feed: V echoed back; status 0; VEND: Hokuyo Automatic Co., Ltd.; PROD: SOKUIKI Sensor URG-X002; FIRM: 0.01.22a, dated 2004/12/27; PROT: 00001, SCIP 1.0; SERI: H0400000. The final line ends with two line feeds, marking the end of the reply.">
            <a:extLst>
              <a:ext uri="{FF2B5EF4-FFF2-40B4-BE49-F238E27FC236}">
                <a16:creationId xmlns:a16="http://schemas.microsoft.com/office/drawing/2014/main" id="{576F147B-51BA-D5AB-81E5-CADD9A5B10E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647116" y="2778125"/>
            <a:ext cx="4121312" cy="2152650"/>
          </a:xfrm>
          <a:prstGeom prst="rect">
            <a:avLst/>
          </a:prstGeom>
        </p:spPr>
      </p:pic>
    </p:spTree>
    <p:extLst>
      <p:ext uri="{BB962C8B-B14F-4D97-AF65-F5344CB8AC3E}">
        <p14:creationId xmlns:p14="http://schemas.microsoft.com/office/powerpoint/2010/main" val="17289368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189568E-8464-DD1B-E34E-45FCCDD6C3E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CB77548-7874-6A0D-BEDE-5D153333E84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000" dirty="0">
                <a:latin typeface="Atkinson Hyperlegible Next"/>
                <a:ea typeface="Arial"/>
                <a:cs typeface="Arial"/>
                <a:sym typeface="Arial"/>
              </a:rPr>
              <a:t>If we want to turn the LiDAR on or off, we can use the ‘L’ command to turn it on or off. </a:t>
            </a:r>
          </a:p>
          <a:p>
            <a:pPr marL="285750" indent="-285750">
              <a:lnSpc>
                <a:spcPct val="100000"/>
              </a:lnSpc>
              <a:spcBef>
                <a:spcPts val="0"/>
              </a:spcBef>
              <a:buSzPts val="3000"/>
            </a:pPr>
            <a:r>
              <a:rPr lang="en-US" sz="2000" dirty="0">
                <a:latin typeface="Atkinson Hyperlegible Next"/>
                <a:ea typeface="Arial"/>
                <a:cs typeface="Arial"/>
                <a:sym typeface="Arial"/>
              </a:rPr>
              <a:t>By default, the sensor is switched on even if it was previously switched off</a:t>
            </a:r>
          </a:p>
          <a:p>
            <a:pPr marL="285750" indent="-28575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285750" indent="-285750">
              <a:lnSpc>
                <a:spcPct val="100000"/>
              </a:lnSpc>
              <a:spcBef>
                <a:spcPts val="0"/>
              </a:spcBef>
              <a:buSzPts val="3000"/>
            </a:pPr>
            <a:r>
              <a:rPr lang="en-US" sz="2000" dirty="0">
                <a:latin typeface="Atkinson Hyperlegible Next"/>
                <a:ea typeface="Arial"/>
                <a:cs typeface="Arial"/>
                <a:sym typeface="Arial"/>
              </a:rPr>
              <a:t>Done as:</a:t>
            </a:r>
          </a:p>
          <a:p>
            <a:pPr marL="114300" indent="0" algn="ctr">
              <a:buNone/>
            </a:pPr>
            <a:r>
              <a:rPr lang="en-US" sz="2000" dirty="0" err="1">
                <a:solidFill>
                  <a:srgbClr val="000000"/>
                </a:solidFill>
                <a:latin typeface="Consolas" panose="020B0609020204030204" pitchFamily="49" charset="0"/>
              </a:rPr>
              <a:t>serial_sendSCIC</a:t>
            </a:r>
            <a:r>
              <a:rPr lang="en-US" sz="2000" dirty="0">
                <a:solidFill>
                  <a:srgbClr val="000000"/>
                </a:solidFill>
                <a:latin typeface="Consolas" panose="020B0609020204030204" pitchFamily="49" charset="0"/>
              </a:rPr>
              <a:t>(&amp;</a:t>
            </a:r>
            <a:r>
              <a:rPr lang="en-US" sz="2000" dirty="0" err="1">
                <a:solidFill>
                  <a:srgbClr val="000000"/>
                </a:solidFill>
                <a:latin typeface="Consolas" panose="020B0609020204030204" pitchFamily="49" charset="0"/>
              </a:rPr>
              <a:t>SerialC</a:t>
            </a:r>
            <a:r>
              <a:rPr lang="en-US" sz="2000" dirty="0">
                <a:solidFill>
                  <a:srgbClr val="000000"/>
                </a:solidFill>
                <a:latin typeface="Consolas" panose="020B0609020204030204" pitchFamily="49" charset="0"/>
              </a:rPr>
              <a:t>, </a:t>
            </a:r>
            <a:r>
              <a:rPr lang="en-US" sz="2000" dirty="0">
                <a:solidFill>
                  <a:srgbClr val="2A00FF"/>
                </a:solidFill>
                <a:latin typeface="Consolas" panose="020B0609020204030204" pitchFamily="49" charset="0"/>
              </a:rPr>
              <a:t>"L0\n"</a:t>
            </a:r>
            <a:r>
              <a:rPr lang="en-US" sz="2000" dirty="0">
                <a:solidFill>
                  <a:srgbClr val="000000"/>
                </a:solidFill>
                <a:latin typeface="Consolas" panose="020B0609020204030204" pitchFamily="49" charset="0"/>
              </a:rPr>
              <a:t>, 3); </a:t>
            </a:r>
            <a:r>
              <a:rPr lang="en-US" sz="2000" dirty="0">
                <a:solidFill>
                  <a:srgbClr val="3F7F5F"/>
                </a:solidFill>
                <a:latin typeface="Consolas" panose="020B0609020204030204" pitchFamily="49" charset="0"/>
              </a:rPr>
              <a:t>// Turn LiDAR off</a:t>
            </a:r>
          </a:p>
          <a:p>
            <a:pPr marL="114300" indent="0" algn="ctr">
              <a:buNone/>
            </a:pPr>
            <a:r>
              <a:rPr lang="en-US" sz="2000" dirty="0" err="1">
                <a:solidFill>
                  <a:srgbClr val="000000"/>
                </a:solidFill>
                <a:latin typeface="Consolas" panose="020B0609020204030204" pitchFamily="49" charset="0"/>
              </a:rPr>
              <a:t>serial_sendSCIC</a:t>
            </a:r>
            <a:r>
              <a:rPr lang="en-US" sz="2000" dirty="0">
                <a:solidFill>
                  <a:srgbClr val="000000"/>
                </a:solidFill>
                <a:latin typeface="Consolas" panose="020B0609020204030204" pitchFamily="49" charset="0"/>
              </a:rPr>
              <a:t>(&amp;</a:t>
            </a:r>
            <a:r>
              <a:rPr lang="en-US" sz="2000" dirty="0" err="1">
                <a:solidFill>
                  <a:srgbClr val="000000"/>
                </a:solidFill>
                <a:latin typeface="Consolas" panose="020B0609020204030204" pitchFamily="49" charset="0"/>
              </a:rPr>
              <a:t>SerialC</a:t>
            </a:r>
            <a:r>
              <a:rPr lang="en-US" sz="2000" dirty="0">
                <a:solidFill>
                  <a:srgbClr val="000000"/>
                </a:solidFill>
                <a:latin typeface="Consolas" panose="020B0609020204030204" pitchFamily="49" charset="0"/>
              </a:rPr>
              <a:t>, </a:t>
            </a:r>
            <a:r>
              <a:rPr lang="en-US" sz="2000" dirty="0">
                <a:solidFill>
                  <a:srgbClr val="2A00FF"/>
                </a:solidFill>
                <a:latin typeface="Consolas" panose="020B0609020204030204" pitchFamily="49" charset="0"/>
              </a:rPr>
              <a:t>"L1\n"</a:t>
            </a:r>
            <a:r>
              <a:rPr lang="en-US" sz="2000" dirty="0">
                <a:solidFill>
                  <a:srgbClr val="000000"/>
                </a:solidFill>
                <a:latin typeface="Consolas" panose="020B0609020204030204" pitchFamily="49" charset="0"/>
              </a:rPr>
              <a:t>, 3); </a:t>
            </a:r>
            <a:r>
              <a:rPr lang="en-US" sz="2000" dirty="0">
                <a:solidFill>
                  <a:srgbClr val="3F7F5F"/>
                </a:solidFill>
                <a:latin typeface="Consolas" panose="020B0609020204030204" pitchFamily="49" charset="0"/>
              </a:rPr>
              <a:t>// Turn LiDAR on</a:t>
            </a: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CD897634-CDA7-7EB3-8CEF-D7040A95889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7EFAB66-5711-9273-04C8-2DBF1A0CA15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Laser Illumination Control</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BE8C017-32FF-82E7-4302-BC0C9B6EF8E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95F9E23-483C-89BC-D5F1-E95228B03DC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B78F162-9902-0587-BC6D-6210EC107F5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6F4C351-C27E-BAA6-4CC0-6C57D32D10B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096B07D-6698-7526-20AF-A17769326F3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36E0863-F78B-14A0-C5D6-B197C977D88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Graphic 3" descr="Packet format for the laser illumination command. Host to sensor: three fields, the character L (hex 4C), a one-byte control code, then a line feed or carriage return. Sensor to host reply: L (hex 4C), the same one-byte control code, line feed, a status field, line feed, line feed.">
            <a:extLst>
              <a:ext uri="{FF2B5EF4-FFF2-40B4-BE49-F238E27FC236}">
                <a16:creationId xmlns:a16="http://schemas.microsoft.com/office/drawing/2014/main" id="{BFD2AB86-F5E6-BC4C-CEA7-D858A5E60D1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413955" y="2311871"/>
            <a:ext cx="8835735" cy="2005658"/>
          </a:xfrm>
          <a:prstGeom prst="rect">
            <a:avLst/>
          </a:prstGeom>
        </p:spPr>
      </p:pic>
    </p:spTree>
    <p:extLst>
      <p:ext uri="{BB962C8B-B14F-4D97-AF65-F5344CB8AC3E}">
        <p14:creationId xmlns:p14="http://schemas.microsoft.com/office/powerpoint/2010/main" val="81131551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B537BE7-02F1-309B-FBEA-6ED389062EF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34120B3-C5EB-064E-074E-AA15ACE32A7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400" dirty="0">
                <a:latin typeface="Atkinson Hyperlegible Next"/>
                <a:ea typeface="Arial"/>
                <a:cs typeface="Arial"/>
                <a:sym typeface="Arial"/>
              </a:rPr>
              <a:t>The default baud rate of the sensor through SCI is 19.2 kbps. Though it can be changed to 57.6, 115.2, 250, 500 and 750 kbps by varying the settings.</a:t>
            </a:r>
          </a:p>
          <a:p>
            <a:pPr marL="0" indent="0">
              <a:lnSpc>
                <a:spcPct val="100000"/>
              </a:lnSpc>
              <a:spcBef>
                <a:spcPts val="0"/>
              </a:spcBef>
              <a:buSzPts val="3000"/>
              <a:buNone/>
            </a:pPr>
            <a:endParaRPr lang="en-US" sz="1400" dirty="0">
              <a:latin typeface="Atkinson Hyperlegible Next"/>
              <a:ea typeface="Arial"/>
              <a:cs typeface="Arial"/>
              <a:sym typeface="Arial"/>
            </a:endParaRPr>
          </a:p>
          <a:p>
            <a:pPr marL="0" indent="0">
              <a:lnSpc>
                <a:spcPct val="100000"/>
              </a:lnSpc>
              <a:spcBef>
                <a:spcPts val="0"/>
              </a:spcBef>
              <a:buSzPts val="3000"/>
              <a:buNone/>
            </a:pPr>
            <a:r>
              <a:rPr lang="en-US" sz="1400" dirty="0">
                <a:latin typeface="Atkinson Hyperlegible Next"/>
                <a:ea typeface="Arial"/>
                <a:cs typeface="Arial"/>
                <a:sym typeface="Arial"/>
              </a:rPr>
              <a:t>Example : </a:t>
            </a:r>
          </a:p>
          <a:p>
            <a:pPr marL="342900">
              <a:lnSpc>
                <a:spcPct val="100000"/>
              </a:lnSpc>
              <a:spcBef>
                <a:spcPts val="0"/>
              </a:spcBef>
              <a:buSzPts val="3000"/>
            </a:pPr>
            <a:r>
              <a:rPr lang="en-US" sz="1400" dirty="0">
                <a:latin typeface="Atkinson Hyperlegible Next"/>
                <a:ea typeface="Arial"/>
                <a:cs typeface="Arial"/>
                <a:sym typeface="Arial"/>
              </a:rPr>
              <a:t>57.6 </a:t>
            </a:r>
            <a:r>
              <a:rPr lang="en-US" sz="1400" dirty="0" err="1">
                <a:latin typeface="Atkinson Hyperlegible Next"/>
                <a:ea typeface="Arial"/>
                <a:cs typeface="Arial"/>
                <a:sym typeface="Arial"/>
              </a:rPr>
              <a:t>Kpbs</a:t>
            </a:r>
            <a:r>
              <a:rPr lang="en-US" sz="1400" dirty="0">
                <a:latin typeface="Atkinson Hyperlegible Next"/>
                <a:ea typeface="Arial"/>
                <a:cs typeface="Arial"/>
                <a:sym typeface="Arial"/>
              </a:rPr>
              <a:t> = “057600” (ASCII 6 Digits)</a:t>
            </a:r>
          </a:p>
          <a:p>
            <a:pPr marL="285750" indent="-285750">
              <a:lnSpc>
                <a:spcPct val="100000"/>
              </a:lnSpc>
              <a:spcBef>
                <a:spcPts val="0"/>
              </a:spcBef>
              <a:buSzPts val="3000"/>
            </a:pPr>
            <a:r>
              <a:rPr lang="en-US" sz="1400" dirty="0">
                <a:latin typeface="Atkinson Hyperlegible Next"/>
                <a:ea typeface="Arial"/>
                <a:cs typeface="Arial"/>
                <a:sym typeface="Arial"/>
              </a:rPr>
              <a:t> 115.2 </a:t>
            </a:r>
            <a:r>
              <a:rPr lang="en-US" sz="1400" dirty="0" err="1">
                <a:latin typeface="Atkinson Hyperlegible Next"/>
                <a:ea typeface="Arial"/>
                <a:cs typeface="Arial"/>
                <a:sym typeface="Arial"/>
              </a:rPr>
              <a:t>Kpbs</a:t>
            </a:r>
            <a:r>
              <a:rPr lang="en-US" sz="1400" dirty="0">
                <a:latin typeface="Atkinson Hyperlegible Next"/>
                <a:ea typeface="Arial"/>
                <a:cs typeface="Arial"/>
                <a:sym typeface="Arial"/>
              </a:rPr>
              <a:t> = “115200” (ASCII 6 Digits)</a:t>
            </a:r>
          </a:p>
          <a:p>
            <a:pPr marL="285750" indent="-285750">
              <a:lnSpc>
                <a:spcPct val="100000"/>
              </a:lnSpc>
              <a:spcBef>
                <a:spcPts val="0"/>
              </a:spcBef>
              <a:buSzPts val="3000"/>
            </a:pPr>
            <a:endParaRPr lang="en-US" sz="1400" dirty="0">
              <a:latin typeface="Atkinson Hyperlegible Next"/>
              <a:ea typeface="Arial"/>
              <a:cs typeface="Arial"/>
              <a:sym typeface="Arial"/>
            </a:endParaRPr>
          </a:p>
          <a:p>
            <a:pPr marL="285750" indent="-285750">
              <a:lnSpc>
                <a:spcPct val="100000"/>
              </a:lnSpc>
              <a:spcBef>
                <a:spcPts val="0"/>
              </a:spcBef>
              <a:buSzPts val="3000"/>
            </a:pPr>
            <a:endParaRPr lang="en-US" sz="1400" dirty="0">
              <a:latin typeface="Atkinson Hyperlegible Next"/>
              <a:ea typeface="Arial"/>
              <a:cs typeface="Arial"/>
              <a:sym typeface="Arial"/>
            </a:endParaRPr>
          </a:p>
          <a:p>
            <a:pPr marL="285750" indent="-285750">
              <a:lnSpc>
                <a:spcPct val="100000"/>
              </a:lnSpc>
              <a:spcBef>
                <a:spcPts val="0"/>
              </a:spcBef>
              <a:buSzPts val="3000"/>
            </a:pPr>
            <a:endParaRPr lang="en-US" sz="1400" dirty="0">
              <a:latin typeface="Atkinson Hyperlegible Next"/>
              <a:ea typeface="Arial"/>
              <a:cs typeface="Arial"/>
              <a:sym typeface="Arial"/>
            </a:endParaRPr>
          </a:p>
          <a:p>
            <a:pPr marL="285750" indent="-285750">
              <a:lnSpc>
                <a:spcPct val="100000"/>
              </a:lnSpc>
              <a:spcBef>
                <a:spcPts val="0"/>
              </a:spcBef>
              <a:buSzPts val="3000"/>
            </a:pPr>
            <a:endParaRPr lang="en-US" sz="1400" dirty="0">
              <a:latin typeface="Atkinson Hyperlegible Next"/>
              <a:ea typeface="Arial"/>
              <a:cs typeface="Arial"/>
              <a:sym typeface="Arial"/>
            </a:endParaRPr>
          </a:p>
          <a:p>
            <a:pPr marL="0" indent="0">
              <a:lnSpc>
                <a:spcPct val="100000"/>
              </a:lnSpc>
              <a:spcBef>
                <a:spcPts val="0"/>
              </a:spcBef>
              <a:buSzPts val="3000"/>
              <a:buNone/>
            </a:pPr>
            <a:endParaRPr lang="en-US" sz="1400" dirty="0">
              <a:latin typeface="Atkinson Hyperlegible Next"/>
              <a:ea typeface="Arial"/>
              <a:cs typeface="Arial"/>
              <a:sym typeface="Arial"/>
            </a:endParaRPr>
          </a:p>
          <a:p>
            <a:pPr marL="0" indent="0">
              <a:lnSpc>
                <a:spcPct val="100000"/>
              </a:lnSpc>
              <a:spcBef>
                <a:spcPts val="0"/>
              </a:spcBef>
              <a:buSzPts val="3000"/>
              <a:buNone/>
            </a:pPr>
            <a:endParaRPr lang="en-US" sz="1400" dirty="0">
              <a:latin typeface="Atkinson Hyperlegible Next"/>
              <a:ea typeface="Arial"/>
              <a:cs typeface="Arial"/>
              <a:sym typeface="Arial"/>
            </a:endParaRPr>
          </a:p>
          <a:p>
            <a:pPr marL="0" indent="0">
              <a:lnSpc>
                <a:spcPct val="100000"/>
              </a:lnSpc>
              <a:spcBef>
                <a:spcPts val="0"/>
              </a:spcBef>
              <a:buSzPts val="3000"/>
              <a:buNone/>
            </a:pPr>
            <a:r>
              <a:rPr lang="en-US" sz="1400" dirty="0">
                <a:latin typeface="Atkinson Hyperlegible Next"/>
                <a:ea typeface="Arial"/>
                <a:cs typeface="Arial"/>
                <a:sym typeface="Arial"/>
              </a:rPr>
              <a:t>What baud rate is being set here?</a:t>
            </a:r>
          </a:p>
          <a:p>
            <a:pPr marL="0" indent="0">
              <a:lnSpc>
                <a:spcPct val="100000"/>
              </a:lnSpc>
              <a:spcBef>
                <a:spcPts val="0"/>
              </a:spcBef>
              <a:buSzPts val="3000"/>
              <a:buNone/>
            </a:pPr>
            <a:endParaRPr lang="en-US" sz="1400" dirty="0">
              <a:latin typeface="Atkinson Hyperlegible Next"/>
              <a:ea typeface="Arial"/>
              <a:cs typeface="Arial"/>
              <a:sym typeface="Arial"/>
            </a:endParaRPr>
          </a:p>
          <a:p>
            <a:pPr marL="114300" indent="0" algn="l">
              <a:buNone/>
            </a:pPr>
            <a:r>
              <a:rPr lang="en-US" sz="1400" dirty="0">
                <a:solidFill>
                  <a:srgbClr val="7F0055"/>
                </a:solidFill>
                <a:latin typeface="Consolas" panose="020B0609020204030204" pitchFamily="49" charset="0"/>
              </a:rPr>
              <a:t>char</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S_command</a:t>
            </a:r>
            <a:r>
              <a:rPr lang="en-US" sz="1400" dirty="0">
                <a:solidFill>
                  <a:srgbClr val="000000"/>
                </a:solidFill>
                <a:latin typeface="Consolas" panose="020B0609020204030204" pitchFamily="49" charset="0"/>
              </a:rPr>
              <a:t>[19] = </a:t>
            </a:r>
            <a:r>
              <a:rPr lang="en-US" sz="1400" dirty="0">
                <a:solidFill>
                  <a:srgbClr val="2A00FF"/>
                </a:solidFill>
                <a:latin typeface="Consolas" panose="020B0609020204030204" pitchFamily="49" charset="0"/>
              </a:rPr>
              <a:t>"S1152000124000\n"</a:t>
            </a:r>
            <a:r>
              <a:rPr lang="en-US" sz="1400" dirty="0">
                <a:solidFill>
                  <a:srgbClr val="000000"/>
                </a:solidFill>
                <a:latin typeface="Consolas" panose="020B0609020204030204" pitchFamily="49" charset="0"/>
              </a:rPr>
              <a:t>;</a:t>
            </a:r>
          </a:p>
          <a:p>
            <a:pPr marL="114300" indent="0" algn="l">
              <a:buNone/>
            </a:pPr>
            <a:r>
              <a:rPr lang="en-US" sz="1400" dirty="0">
                <a:solidFill>
                  <a:srgbClr val="005032"/>
                </a:solidFill>
                <a:latin typeface="Consolas" panose="020B0609020204030204" pitchFamily="49" charset="0"/>
              </a:rPr>
              <a:t>uint16_t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S_len</a:t>
            </a:r>
            <a:r>
              <a:rPr lang="en-US" sz="1400" dirty="0">
                <a:solidFill>
                  <a:srgbClr val="000000"/>
                </a:solidFill>
                <a:latin typeface="Consolas" panose="020B0609020204030204" pitchFamily="49" charset="0"/>
              </a:rPr>
              <a:t> = 19;</a:t>
            </a:r>
          </a:p>
          <a:p>
            <a:pPr marL="114300" indent="0" algn="l">
              <a:buNone/>
            </a:pPr>
            <a:r>
              <a:rPr lang="en-US" sz="1400" dirty="0" err="1">
                <a:solidFill>
                  <a:srgbClr val="000000"/>
                </a:solidFill>
                <a:latin typeface="Consolas" panose="020B0609020204030204" pitchFamily="49" charset="0"/>
              </a:rPr>
              <a:t>serial_sendSCIC</a:t>
            </a:r>
            <a:r>
              <a:rPr lang="en-US" sz="1400" dirty="0">
                <a:solidFill>
                  <a:srgbClr val="000000"/>
                </a:solidFill>
                <a:latin typeface="Consolas" panose="020B0609020204030204" pitchFamily="49" charset="0"/>
              </a:rPr>
              <a:t>(&amp;</a:t>
            </a:r>
            <a:r>
              <a:rPr lang="en-US" sz="1400" dirty="0" err="1">
                <a:solidFill>
                  <a:srgbClr val="000000"/>
                </a:solidFill>
                <a:latin typeface="Consolas" panose="020B0609020204030204" pitchFamily="49" charset="0"/>
              </a:rPr>
              <a:t>SerialC</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S_command</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S_len</a:t>
            </a:r>
            <a:r>
              <a:rPr lang="en-US" sz="1400" dirty="0">
                <a:solidFill>
                  <a:srgbClr val="000000"/>
                </a:solidFill>
                <a:latin typeface="Consolas" panose="020B0609020204030204" pitchFamily="49" charset="0"/>
              </a:rPr>
              <a:t>);</a:t>
            </a:r>
          </a:p>
          <a:p>
            <a:pPr marL="114300" indent="0" algn="l">
              <a:buNone/>
            </a:pPr>
            <a:endParaRPr lang="en-US" sz="1400" dirty="0">
              <a:solidFill>
                <a:srgbClr val="000000"/>
              </a:solidFill>
              <a:latin typeface="Consolas" panose="020B0609020204030204" pitchFamily="49" charset="0"/>
              <a:ea typeface="Arial"/>
              <a:cs typeface="Arial"/>
              <a:sym typeface="Arial"/>
            </a:endParaRPr>
          </a:p>
          <a:p>
            <a:pPr marL="114300" indent="0" algn="l">
              <a:buNone/>
            </a:pPr>
            <a:r>
              <a:rPr lang="en-US" sz="1400" dirty="0">
                <a:latin typeface="Atkinson Hyperlegible Next"/>
                <a:ea typeface="Arial"/>
                <a:cs typeface="Arial"/>
                <a:sym typeface="Arial"/>
              </a:rPr>
              <a:t>The baud rate set here is, 115200</a:t>
            </a:r>
          </a:p>
        </p:txBody>
      </p:sp>
      <p:sp>
        <p:nvSpPr>
          <p:cNvPr id="119" name="Google Shape;119;p29">
            <a:extLst>
              <a:ext uri="{FF2B5EF4-FFF2-40B4-BE49-F238E27FC236}">
                <a16:creationId xmlns:a16="http://schemas.microsoft.com/office/drawing/2014/main" id="{FAF35715-B90F-4861-B785-75F767CED1D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260C011-86BE-2A08-7499-70FBF6A2D94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Communication Settings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4895868-3CD4-16C1-6AE5-BDBEC5A12A5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44E2C14-0F51-BB32-C30A-097DC47392E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4015B23-5EC7-E880-18DD-676BFE7C8D7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F9B51F0-2B59-4975-38C6-9CD83874FE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0745D9C-FFB7-27D5-B67E-FC51E98A2D1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7631F1F-A807-440F-8C06-FE4665FA750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Message formats for the LiDAR baud-rate command. Host to sensor: the character 'S' (hex 53), then the baud rate as 6 ASCII digits, then a 7-digit reserved area, ending with LF or CR. Sensor to host: the echo repeats 'S', the 6-digit baud rate and the 7-digit reserved area, then adds a Status field and ends with two LF characters.">
            <a:extLst>
              <a:ext uri="{FF2B5EF4-FFF2-40B4-BE49-F238E27FC236}">
                <a16:creationId xmlns:a16="http://schemas.microsoft.com/office/drawing/2014/main" id="{3EFB3967-80C8-1F91-3D55-0DCA4793CEE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974181" y="2766979"/>
            <a:ext cx="6243637" cy="1047783"/>
          </a:xfrm>
          <a:prstGeom prst="rect">
            <a:avLst/>
          </a:prstGeom>
        </p:spPr>
      </p:pic>
    </p:spTree>
    <p:extLst>
      <p:ext uri="{BB962C8B-B14F-4D97-AF65-F5344CB8AC3E}">
        <p14:creationId xmlns:p14="http://schemas.microsoft.com/office/powerpoint/2010/main" val="28909738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1" end="11"/>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13" end="13"/>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8">
                                            <p:txEl>
                                              <p:pRg st="14" end="14"/>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8">
                                            <p:txEl>
                                              <p:pRg st="17" end="1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0780F9D-3182-EDE6-9F5E-98766F9768D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2EBF95B-258E-8B8C-E189-AC72EFF47A4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latin typeface="Atkinson Hyperlegible Next"/>
                <a:ea typeface="Arial"/>
                <a:cs typeface="Arial"/>
                <a:sym typeface="Arial"/>
              </a:rPr>
              <a:t>The maximum measurable distance of the sensor is 4095 mm with 1 mm resolution.</a:t>
            </a:r>
          </a:p>
          <a:p>
            <a:pPr marL="285750" indent="-285750">
              <a:lnSpc>
                <a:spcPct val="100000"/>
              </a:lnSpc>
              <a:spcBef>
                <a:spcPts val="0"/>
              </a:spcBef>
              <a:buSzPts val="3000"/>
            </a:pPr>
            <a:r>
              <a:rPr lang="en-US" sz="1800" dirty="0">
                <a:latin typeface="Atkinson Hyperlegible Next"/>
                <a:ea typeface="Arial"/>
                <a:cs typeface="Arial"/>
                <a:sym typeface="Arial"/>
              </a:rPr>
              <a:t>Each data point is represented with 12 bits (0-4095 range). </a:t>
            </a:r>
          </a:p>
          <a:p>
            <a:pPr marL="285750" indent="-285750">
              <a:lnSpc>
                <a:spcPct val="100000"/>
              </a:lnSpc>
              <a:spcBef>
                <a:spcPts val="0"/>
              </a:spcBef>
              <a:buSzPts val="3000"/>
            </a:pPr>
            <a:r>
              <a:rPr lang="en-US" sz="1800" dirty="0">
                <a:latin typeface="Atkinson Hyperlegible Next"/>
                <a:ea typeface="Arial"/>
                <a:cs typeface="Arial"/>
                <a:sym typeface="Arial"/>
              </a:rPr>
              <a:t>To represents the data points in ASCII format a simple encoding is implemented.</a:t>
            </a:r>
          </a:p>
          <a:p>
            <a:pPr marL="285750" indent="-285750">
              <a:lnSpc>
                <a:spcPct val="100000"/>
              </a:lnSpc>
              <a:spcBef>
                <a:spcPts val="0"/>
              </a:spcBef>
              <a:buSzPts val="3000"/>
            </a:pPr>
            <a:r>
              <a:rPr lang="en-US" sz="1800" dirty="0">
                <a:latin typeface="Atkinson Hyperlegible Next"/>
                <a:ea typeface="Arial"/>
                <a:cs typeface="Arial"/>
                <a:sym typeface="Arial"/>
              </a:rPr>
              <a:t>The 12-bit data is separated into 6 bit (max value of 63) each and then have 30</a:t>
            </a:r>
            <a:r>
              <a:rPr lang="en-US" sz="1800" baseline="-25000" dirty="0">
                <a:latin typeface="Atkinson Hyperlegible Next"/>
                <a:ea typeface="Arial"/>
                <a:cs typeface="Arial"/>
                <a:sym typeface="Arial"/>
              </a:rPr>
              <a:t>16</a:t>
            </a:r>
            <a:r>
              <a:rPr lang="en-US" sz="1800" dirty="0">
                <a:latin typeface="Atkinson Hyperlegible Next"/>
                <a:ea typeface="Arial"/>
                <a:cs typeface="Arial"/>
                <a:sym typeface="Arial"/>
              </a:rPr>
              <a:t> (‘0’)  added to them.</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Example:</a:t>
            </a:r>
          </a:p>
          <a:p>
            <a:pPr marL="0" indent="0" algn="ctr">
              <a:lnSpc>
                <a:spcPct val="100000"/>
              </a:lnSpc>
              <a:spcBef>
                <a:spcPts val="0"/>
              </a:spcBef>
              <a:buSzPts val="3000"/>
              <a:buNone/>
            </a:pPr>
            <a:r>
              <a:rPr lang="en-US" sz="1800" dirty="0">
                <a:latin typeface="Atkinson Hyperlegible Next"/>
                <a:ea typeface="Arial"/>
                <a:cs typeface="Arial"/>
                <a:sym typeface="Arial"/>
              </a:rPr>
              <a:t>1234 mm = 0100110100102</a:t>
            </a:r>
            <a:r>
              <a:rPr lang="en-US" sz="1800" baseline="-25000" dirty="0">
                <a:latin typeface="Atkinson Hyperlegible Next"/>
                <a:ea typeface="Arial"/>
                <a:cs typeface="Arial"/>
                <a:sym typeface="Arial"/>
              </a:rPr>
              <a:t>2</a:t>
            </a:r>
          </a:p>
          <a:p>
            <a:pPr marL="0" indent="0" algn="ctr">
              <a:lnSpc>
                <a:spcPct val="100000"/>
              </a:lnSpc>
              <a:spcBef>
                <a:spcPts val="0"/>
              </a:spcBef>
              <a:buSzPts val="3000"/>
              <a:buNone/>
            </a:pPr>
            <a:endParaRPr lang="en-US" sz="1800" baseline="-25000" dirty="0">
              <a:latin typeface="Atkinson Hyperlegible Next"/>
              <a:ea typeface="Arial"/>
              <a:cs typeface="Arial"/>
              <a:sym typeface="Arial"/>
            </a:endParaRPr>
          </a:p>
          <a:p>
            <a:pPr marL="0" indent="0" algn="ctr">
              <a:lnSpc>
                <a:spcPct val="100000"/>
              </a:lnSpc>
              <a:spcBef>
                <a:spcPts val="0"/>
              </a:spcBef>
              <a:buSzPts val="3000"/>
              <a:buNone/>
            </a:pPr>
            <a:r>
              <a:rPr lang="en-US" sz="1800" dirty="0">
                <a:latin typeface="Atkinson Hyperlegible Next"/>
                <a:ea typeface="Arial"/>
                <a:cs typeface="Arial"/>
                <a:sym typeface="Arial"/>
              </a:rPr>
              <a:t>↓ separation</a:t>
            </a:r>
          </a:p>
          <a:p>
            <a:pPr marL="0" indent="0" algn="ctr">
              <a:lnSpc>
                <a:spcPct val="100000"/>
              </a:lnSpc>
              <a:spcBef>
                <a:spcPts val="0"/>
              </a:spcBef>
              <a:buSzPts val="3000"/>
              <a:buNone/>
            </a:pPr>
            <a:endParaRPr lang="en-US" sz="1800" dirty="0">
              <a:latin typeface="Atkinson Hyperlegible Next"/>
              <a:ea typeface="Arial"/>
              <a:cs typeface="Arial"/>
              <a:sym typeface="Arial"/>
            </a:endParaRPr>
          </a:p>
          <a:p>
            <a:pPr marL="0" indent="0" algn="ctr">
              <a:lnSpc>
                <a:spcPct val="100000"/>
              </a:lnSpc>
              <a:spcBef>
                <a:spcPts val="0"/>
              </a:spcBef>
              <a:buSzPts val="3000"/>
              <a:buNone/>
            </a:pPr>
            <a:r>
              <a:rPr lang="en-US" sz="1800" dirty="0">
                <a:latin typeface="Atkinson Hyperlegible Next"/>
                <a:ea typeface="Arial"/>
                <a:cs typeface="Arial"/>
                <a:sym typeface="Arial"/>
              </a:rPr>
              <a:t>(010011</a:t>
            </a:r>
            <a:r>
              <a:rPr lang="en-US" sz="1800" baseline="-25000" dirty="0">
                <a:latin typeface="Atkinson Hyperlegible Next"/>
                <a:ea typeface="Arial"/>
                <a:cs typeface="Arial"/>
                <a:sym typeface="Arial"/>
              </a:rPr>
              <a:t>2</a:t>
            </a:r>
            <a:r>
              <a:rPr lang="en-US" sz="1800" dirty="0">
                <a:latin typeface="Atkinson Hyperlegible Next"/>
                <a:ea typeface="Arial"/>
                <a:cs typeface="Arial"/>
                <a:sym typeface="Arial"/>
              </a:rPr>
              <a:t>, 010010</a:t>
            </a:r>
            <a:r>
              <a:rPr lang="en-US" sz="1800" baseline="-25000" dirty="0">
                <a:latin typeface="Atkinson Hyperlegible Next"/>
                <a:ea typeface="Arial"/>
                <a:cs typeface="Arial"/>
                <a:sym typeface="Arial"/>
              </a:rPr>
              <a:t>2</a:t>
            </a:r>
            <a:r>
              <a:rPr lang="en-US" sz="1800" dirty="0">
                <a:latin typeface="Atkinson Hyperlegible Next"/>
                <a:ea typeface="Arial"/>
                <a:cs typeface="Arial"/>
                <a:sym typeface="Arial"/>
              </a:rPr>
              <a:t>) = (13</a:t>
            </a:r>
            <a:r>
              <a:rPr lang="en-US" sz="1800" baseline="-25000" dirty="0">
                <a:latin typeface="Atkinson Hyperlegible Next"/>
                <a:ea typeface="Arial"/>
                <a:cs typeface="Arial"/>
                <a:sym typeface="Arial"/>
              </a:rPr>
              <a:t>16</a:t>
            </a:r>
            <a:r>
              <a:rPr lang="en-US" sz="1800" dirty="0">
                <a:latin typeface="Atkinson Hyperlegible Next"/>
                <a:ea typeface="Arial"/>
                <a:cs typeface="Arial"/>
                <a:sym typeface="Arial"/>
              </a:rPr>
              <a:t>, 12</a:t>
            </a:r>
            <a:r>
              <a:rPr lang="en-US" sz="1800" baseline="-25000" dirty="0">
                <a:latin typeface="Atkinson Hyperlegible Next"/>
                <a:ea typeface="Arial"/>
                <a:cs typeface="Arial"/>
                <a:sym typeface="Arial"/>
              </a:rPr>
              <a:t>16</a:t>
            </a:r>
            <a:r>
              <a:rPr lang="en-US" sz="1800" dirty="0">
                <a:latin typeface="Atkinson Hyperlegible Next"/>
                <a:ea typeface="Arial"/>
                <a:cs typeface="Arial"/>
                <a:sym typeface="Arial"/>
              </a:rPr>
              <a:t>) </a:t>
            </a:r>
          </a:p>
          <a:p>
            <a:pPr marL="0" indent="0" algn="ctr">
              <a:lnSpc>
                <a:spcPct val="100000"/>
              </a:lnSpc>
              <a:spcBef>
                <a:spcPts val="0"/>
              </a:spcBef>
              <a:buSzPts val="3000"/>
              <a:buNone/>
            </a:pPr>
            <a:endParaRPr lang="en-US" sz="1800" dirty="0">
              <a:latin typeface="Atkinson Hyperlegible Next"/>
              <a:ea typeface="Arial"/>
              <a:cs typeface="Arial"/>
              <a:sym typeface="Arial"/>
            </a:endParaRPr>
          </a:p>
          <a:p>
            <a:pPr marL="0" indent="0" algn="ctr">
              <a:lnSpc>
                <a:spcPct val="100000"/>
              </a:lnSpc>
              <a:spcBef>
                <a:spcPts val="0"/>
              </a:spcBef>
              <a:buSzPts val="3000"/>
              <a:buNone/>
            </a:pPr>
            <a:r>
              <a:rPr lang="en-US" sz="1800" dirty="0">
                <a:latin typeface="Atkinson Hyperlegible Next"/>
                <a:ea typeface="Arial"/>
                <a:cs typeface="Arial"/>
                <a:sym typeface="Arial"/>
              </a:rPr>
              <a:t>↓ Add 30</a:t>
            </a:r>
            <a:r>
              <a:rPr lang="en-US" sz="1800" baseline="-25000" dirty="0">
                <a:latin typeface="Atkinson Hyperlegible Next"/>
                <a:ea typeface="Arial"/>
                <a:cs typeface="Arial"/>
                <a:sym typeface="Arial"/>
              </a:rPr>
              <a:t>16</a:t>
            </a:r>
          </a:p>
          <a:p>
            <a:pPr marL="0" indent="0" algn="ctr">
              <a:lnSpc>
                <a:spcPct val="100000"/>
              </a:lnSpc>
              <a:spcBef>
                <a:spcPts val="0"/>
              </a:spcBef>
              <a:buSzPts val="3000"/>
              <a:buNone/>
            </a:pPr>
            <a:endParaRPr lang="en-US" sz="1800" baseline="-25000" dirty="0">
              <a:latin typeface="Atkinson Hyperlegible Next"/>
              <a:ea typeface="Arial"/>
              <a:cs typeface="Arial"/>
              <a:sym typeface="Arial"/>
            </a:endParaRPr>
          </a:p>
          <a:p>
            <a:pPr marL="0" indent="0" algn="ctr">
              <a:lnSpc>
                <a:spcPct val="100000"/>
              </a:lnSpc>
              <a:spcBef>
                <a:spcPts val="0"/>
              </a:spcBef>
              <a:buSzPts val="3000"/>
              <a:buNone/>
            </a:pPr>
            <a:r>
              <a:rPr lang="en-US" sz="1800" dirty="0">
                <a:latin typeface="Atkinson Hyperlegible Next"/>
                <a:ea typeface="Arial"/>
                <a:cs typeface="Arial"/>
                <a:sym typeface="Arial"/>
              </a:rPr>
              <a:t>(43</a:t>
            </a:r>
            <a:r>
              <a:rPr lang="en-US" sz="1800" baseline="-25000" dirty="0">
                <a:latin typeface="Atkinson Hyperlegible Next"/>
                <a:ea typeface="Arial"/>
                <a:cs typeface="Arial"/>
                <a:sym typeface="Arial"/>
              </a:rPr>
              <a:t>16</a:t>
            </a:r>
            <a:r>
              <a:rPr lang="en-US" sz="1800" dirty="0">
                <a:latin typeface="Atkinson Hyperlegible Next"/>
                <a:ea typeface="Arial"/>
                <a:cs typeface="Arial"/>
                <a:sym typeface="Arial"/>
              </a:rPr>
              <a:t>, 42</a:t>
            </a:r>
            <a:r>
              <a:rPr lang="en-US" sz="1800" baseline="-25000" dirty="0">
                <a:latin typeface="Atkinson Hyperlegible Next"/>
                <a:ea typeface="Arial"/>
                <a:cs typeface="Arial"/>
                <a:sym typeface="Arial"/>
              </a:rPr>
              <a:t>16</a:t>
            </a:r>
            <a:r>
              <a:rPr lang="en-US" sz="1800" dirty="0">
                <a:latin typeface="Atkinson Hyperlegible Next"/>
                <a:ea typeface="Arial"/>
                <a:cs typeface="Arial"/>
                <a:sym typeface="Arial"/>
              </a:rPr>
              <a:t>) = (‘C’, ‘D’)</a:t>
            </a:r>
          </a:p>
          <a:p>
            <a:pPr marL="0" indent="0" algn="ctr">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To decode you just do the inverse, where you subtract 30</a:t>
            </a:r>
            <a:r>
              <a:rPr lang="en-US" sz="1800" baseline="-25000" dirty="0">
                <a:latin typeface="Atkinson Hyperlegible Next"/>
                <a:ea typeface="Arial"/>
                <a:cs typeface="Arial"/>
                <a:sym typeface="Arial"/>
              </a:rPr>
              <a:t>16 </a:t>
            </a:r>
            <a:r>
              <a:rPr lang="en-US" sz="1800" dirty="0">
                <a:latin typeface="Atkinson Hyperlegible Next"/>
                <a:ea typeface="Arial"/>
                <a:cs typeface="Arial"/>
                <a:sym typeface="Arial"/>
              </a:rPr>
              <a:t>and then merge using bitwise or and bit shifting. It follows the big-endian system. The most significant bits of the data are sent first (in this case ‘C’ then ‘D’).</a:t>
            </a:r>
          </a:p>
        </p:txBody>
      </p:sp>
      <p:sp>
        <p:nvSpPr>
          <p:cNvPr id="119" name="Google Shape;119;p29">
            <a:extLst>
              <a:ext uri="{FF2B5EF4-FFF2-40B4-BE49-F238E27FC236}">
                <a16:creationId xmlns:a16="http://schemas.microsoft.com/office/drawing/2014/main" id="{780A87F3-0886-4A85-02A5-F1404ABDE27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1E84817-058E-66F1-40ED-B8E7DAAE6C0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7BE5669-7945-5EBF-5461-070570B5586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1737AC-B00D-3D37-A16D-6E90C704FD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459D2EC-551E-4FE1-374B-254CD506FCC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573EF33-738C-A550-5E3A-44592F6B015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F12546F-B723-B372-A52D-7C67756EC60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B03D45E-4A1B-0B37-6C01-00B33B171AB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681255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6" end="1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77A79D2-FDDE-642A-12E7-A93269104B1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AB4EA49-6BAD-CE28-3918-7F4FD2C45DC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latin typeface="Atkinson Hyperlegible Next"/>
                <a:ea typeface="Arial"/>
                <a:cs typeface="Arial"/>
                <a:sym typeface="Arial"/>
              </a:rPr>
              <a:t>The full range of the sensor is 240 degrees where it can send a maximum of 683. However, it has 768 configurable steps. To be able to specify the actual usable range that we want to observe we can set this in the ‘G’ command.</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To obtain the data, we need to assign the starting point, end point and cluster count.</a:t>
            </a:r>
          </a:p>
          <a:p>
            <a:pPr marL="285750" indent="-285750">
              <a:lnSpc>
                <a:spcPct val="100000"/>
              </a:lnSpc>
              <a:spcBef>
                <a:spcPts val="0"/>
              </a:spcBef>
              <a:buSzPts val="3000"/>
            </a:pPr>
            <a:r>
              <a:rPr lang="en-US" sz="1800" dirty="0">
                <a:latin typeface="Atkinson Hyperlegible Next"/>
                <a:ea typeface="Arial"/>
                <a:cs typeface="Arial"/>
                <a:sym typeface="Arial"/>
              </a:rPr>
              <a:t>The sensor groups multiple neighboring points assigned by the cluster count. </a:t>
            </a:r>
          </a:p>
          <a:p>
            <a:pPr marL="285750" indent="-285750">
              <a:lnSpc>
                <a:spcPct val="100000"/>
              </a:lnSpc>
              <a:spcBef>
                <a:spcPts val="0"/>
              </a:spcBef>
              <a:buSzPts val="3000"/>
            </a:pPr>
            <a:r>
              <a:rPr lang="en-US" sz="1800" dirty="0">
                <a:latin typeface="Atkinson Hyperlegible Next"/>
                <a:ea typeface="Arial"/>
                <a:cs typeface="Arial"/>
                <a:sym typeface="Arial"/>
              </a:rPr>
              <a:t>The minimum value from each group is supplied as distance data to the host</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285750" indent="-285750">
              <a:lnSpc>
                <a:spcPct val="100000"/>
              </a:lnSpc>
              <a:spcBef>
                <a:spcPts val="0"/>
              </a:spcBef>
              <a:buSzPts val="3000"/>
            </a:pPr>
            <a:endParaRPr lang="en-US" sz="1800" dirty="0">
              <a:latin typeface="Atkinson Hyperlegible Next"/>
              <a:ea typeface="Arial"/>
              <a:cs typeface="Arial"/>
              <a:sym typeface="Arial"/>
            </a:endParaRPr>
          </a:p>
          <a:p>
            <a:pPr marL="285750" indent="-285750">
              <a:lnSpc>
                <a:spcPct val="100000"/>
              </a:lnSpc>
              <a:spcBef>
                <a:spcPts val="0"/>
              </a:spcBef>
              <a:buSzPts val="3000"/>
            </a:pPr>
            <a:endParaRPr lang="en-US" sz="1800" dirty="0">
              <a:latin typeface="Atkinson Hyperlegible Next"/>
              <a:ea typeface="Arial"/>
              <a:cs typeface="Arial"/>
              <a:sym typeface="Arial"/>
            </a:endParaRPr>
          </a:p>
          <a:p>
            <a:pPr marL="285750" indent="-285750">
              <a:lnSpc>
                <a:spcPct val="100000"/>
              </a:lnSpc>
              <a:spcBef>
                <a:spcPts val="0"/>
              </a:spcBef>
              <a:buSzPts val="3000"/>
            </a:pPr>
            <a:endParaRPr lang="en-US" sz="1800" dirty="0">
              <a:latin typeface="Atkinson Hyperlegible Next"/>
              <a:ea typeface="Arial"/>
              <a:cs typeface="Arial"/>
              <a:sym typeface="Arial"/>
            </a:endParaRPr>
          </a:p>
          <a:p>
            <a:pPr marL="285750" indent="-285750">
              <a:lnSpc>
                <a:spcPct val="100000"/>
              </a:lnSpc>
              <a:spcBef>
                <a:spcPts val="0"/>
              </a:spcBef>
              <a:buSzPts val="3000"/>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b="1" dirty="0">
                <a:latin typeface="Atkinson Hyperlegible Next"/>
                <a:ea typeface="Arial"/>
                <a:cs typeface="Arial"/>
                <a:sym typeface="Arial"/>
              </a:rPr>
              <a:t>Starting point </a:t>
            </a:r>
            <a:r>
              <a:rPr lang="en-US" sz="1800" dirty="0">
                <a:latin typeface="Atkinson Hyperlegible Next"/>
                <a:ea typeface="Arial"/>
                <a:cs typeface="Arial"/>
                <a:sym typeface="Arial"/>
              </a:rPr>
              <a:t>(0-768): Point of the area from where the data reading starts. </a:t>
            </a:r>
          </a:p>
          <a:p>
            <a:pPr marL="285750" indent="-285750">
              <a:lnSpc>
                <a:spcPct val="100000"/>
              </a:lnSpc>
              <a:spcBef>
                <a:spcPts val="0"/>
              </a:spcBef>
              <a:buSzPts val="3000"/>
            </a:pPr>
            <a:r>
              <a:rPr lang="en-US" sz="1800" b="1" dirty="0">
                <a:latin typeface="Atkinson Hyperlegible Next"/>
                <a:ea typeface="Arial"/>
                <a:cs typeface="Arial"/>
                <a:sym typeface="Arial"/>
              </a:rPr>
              <a:t>End Point </a:t>
            </a:r>
            <a:r>
              <a:rPr lang="en-US" sz="1800" dirty="0">
                <a:latin typeface="Atkinson Hyperlegible Next"/>
                <a:ea typeface="Arial"/>
                <a:cs typeface="Arial"/>
                <a:sym typeface="Arial"/>
              </a:rPr>
              <a:t>(0-768): Point of the area where the data reading stops. </a:t>
            </a:r>
          </a:p>
          <a:p>
            <a:pPr marL="285750" indent="-285750">
              <a:lnSpc>
                <a:spcPct val="100000"/>
              </a:lnSpc>
              <a:spcBef>
                <a:spcPts val="0"/>
              </a:spcBef>
              <a:buSzPts val="3000"/>
            </a:pPr>
            <a:r>
              <a:rPr lang="en-US" sz="1800" b="1" dirty="0">
                <a:latin typeface="Atkinson Hyperlegible Next"/>
                <a:ea typeface="Arial"/>
                <a:cs typeface="Arial"/>
                <a:sym typeface="Arial"/>
              </a:rPr>
              <a:t>Cluster Count </a:t>
            </a:r>
            <a:r>
              <a:rPr lang="en-US" sz="1800" dirty="0">
                <a:latin typeface="Atkinson Hyperlegible Next"/>
                <a:ea typeface="Arial"/>
                <a:cs typeface="Arial"/>
                <a:sym typeface="Arial"/>
              </a:rPr>
              <a:t>(0-99): Number of neighboring points that are grouped as a cluster. </a:t>
            </a:r>
          </a:p>
        </p:txBody>
      </p:sp>
      <p:sp>
        <p:nvSpPr>
          <p:cNvPr id="119" name="Google Shape;119;p29">
            <a:extLst>
              <a:ext uri="{FF2B5EF4-FFF2-40B4-BE49-F238E27FC236}">
                <a16:creationId xmlns:a16="http://schemas.microsoft.com/office/drawing/2014/main" id="{C494104A-44FE-A294-2BEF-7D23A5E650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6D56A62-D426-CCD5-2966-13E97413396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66DBD15-0CD0-34E1-9C9F-BADE2C7418B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B437427-E020-348F-C061-310632598AB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6DFD9EC-2E3E-E5D2-ADFD-40B92D09A46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3CA6609-5B20-12B9-8FE0-72B85E633CB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07F4609-34AF-0660-2B12-41340B56E86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DB85590-B44E-28AC-BD24-5EDE99529CE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Table: format of the G command sent from host to sensor. Fields in order: the character 'G' (hex 47), the starting point as 3 digits, the end point as 3 digits, and the cluster count as 2 digits, terminated by a line feed or carriage return.">
            <a:extLst>
              <a:ext uri="{FF2B5EF4-FFF2-40B4-BE49-F238E27FC236}">
                <a16:creationId xmlns:a16="http://schemas.microsoft.com/office/drawing/2014/main" id="{C6CEE4EA-86BC-5A3B-C33C-223CA06B5EF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44486" y="3473450"/>
            <a:ext cx="6703027" cy="839787"/>
          </a:xfrm>
          <a:prstGeom prst="rect">
            <a:avLst/>
          </a:prstGeom>
        </p:spPr>
      </p:pic>
    </p:spTree>
    <p:extLst>
      <p:ext uri="{BB962C8B-B14F-4D97-AF65-F5344CB8AC3E}">
        <p14:creationId xmlns:p14="http://schemas.microsoft.com/office/powerpoint/2010/main" val="278381404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35AF4E8-227A-4D73-1E89-4548A6C35FF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581309F-60DF-8A8F-D3B5-B8470FE985D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endParaRPr lang="en-US" sz="1800" dirty="0">
              <a:latin typeface="Atkinson Hyperlegible Next"/>
              <a:ea typeface="Arial"/>
              <a:cs typeface="Arial"/>
              <a:sym typeface="Arial"/>
            </a:endParaRP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114300" indent="0" algn="l">
              <a:buNone/>
            </a:pPr>
            <a:r>
              <a:rPr lang="en-US" sz="1800" dirty="0">
                <a:solidFill>
                  <a:srgbClr val="7F0055"/>
                </a:solidFill>
                <a:latin typeface="Consolas" panose="020B0609020204030204" pitchFamily="49" charset="0"/>
              </a:rPr>
              <a:t>char</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G_command</a:t>
            </a:r>
            <a:r>
              <a:rPr lang="en-US" sz="1800" dirty="0">
                <a:solidFill>
                  <a:srgbClr val="000000"/>
                </a:solidFill>
                <a:latin typeface="Consolas" panose="020B0609020204030204" pitchFamily="49" charset="0"/>
              </a:rPr>
              <a:t>[] = </a:t>
            </a:r>
            <a:r>
              <a:rPr lang="en-US" sz="1800" dirty="0">
                <a:solidFill>
                  <a:srgbClr val="2A00FF"/>
                </a:solidFill>
                <a:latin typeface="Consolas" panose="020B0609020204030204" pitchFamily="49" charset="0"/>
              </a:rPr>
              <a:t>"G04472503\n"</a:t>
            </a:r>
            <a:r>
              <a:rPr lang="en-US" sz="1800" dirty="0">
                <a:solidFill>
                  <a:srgbClr val="000000"/>
                </a:solidFill>
                <a:latin typeface="Consolas" panose="020B0609020204030204" pitchFamily="49" charset="0"/>
              </a:rPr>
              <a:t>; </a:t>
            </a:r>
            <a:r>
              <a:rPr lang="en-US" sz="1800" dirty="0">
                <a:solidFill>
                  <a:srgbClr val="3F7F5F"/>
                </a:solidFill>
                <a:latin typeface="Consolas" panose="020B0609020204030204" pitchFamily="49" charset="0"/>
              </a:rPr>
              <a:t>//command for getting distance -120 to 120 degree</a:t>
            </a:r>
          </a:p>
          <a:p>
            <a:pPr marL="114300" indent="0" algn="l">
              <a:buNone/>
            </a:pPr>
            <a:r>
              <a:rPr lang="en-US" sz="1800" dirty="0">
                <a:solidFill>
                  <a:srgbClr val="005032"/>
                </a:solidFill>
                <a:latin typeface="Consolas" panose="020B0609020204030204" pitchFamily="49" charset="0"/>
              </a:rPr>
              <a:t>uint16_t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G_len</a:t>
            </a:r>
            <a:r>
              <a:rPr lang="en-US" sz="1800" dirty="0">
                <a:solidFill>
                  <a:srgbClr val="000000"/>
                </a:solidFill>
                <a:latin typeface="Consolas" panose="020B0609020204030204" pitchFamily="49" charset="0"/>
              </a:rPr>
              <a:t> = 11;</a:t>
            </a:r>
            <a:endParaRPr lang="en-US" sz="1800" dirty="0">
              <a:solidFill>
                <a:srgbClr val="3F7F5F"/>
              </a:solidFill>
              <a:latin typeface="Consolas" panose="020B0609020204030204" pitchFamily="49" charset="0"/>
              <a:ea typeface="Arial"/>
              <a:cs typeface="Arial"/>
              <a:sym typeface="Arial"/>
            </a:endParaRPr>
          </a:p>
          <a:p>
            <a:pPr marL="114300" indent="0" algn="l">
              <a:buNone/>
            </a:pPr>
            <a:r>
              <a:rPr lang="en-US" sz="1800" dirty="0" err="1">
                <a:solidFill>
                  <a:srgbClr val="000000"/>
                </a:solidFill>
                <a:latin typeface="Consolas" panose="020B0609020204030204" pitchFamily="49" charset="0"/>
              </a:rPr>
              <a:t>serial_sendSCIC</a:t>
            </a:r>
            <a:r>
              <a:rPr lang="en-US" sz="1800" dirty="0">
                <a:solidFill>
                  <a:srgbClr val="000000"/>
                </a:solidFill>
                <a:latin typeface="Consolas" panose="020B0609020204030204" pitchFamily="49" charset="0"/>
              </a:rPr>
              <a:t>(&amp;</a:t>
            </a:r>
            <a:r>
              <a:rPr lang="en-US" sz="1800" dirty="0" err="1">
                <a:solidFill>
                  <a:srgbClr val="000000"/>
                </a:solidFill>
                <a:latin typeface="Consolas" panose="020B0609020204030204" pitchFamily="49" charset="0"/>
              </a:rPr>
              <a:t>SerialC</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G_command</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G_len</a:t>
            </a:r>
            <a:r>
              <a:rPr lang="en-US" sz="1800" dirty="0">
                <a:solidFill>
                  <a:srgbClr val="000000"/>
                </a:solidFill>
                <a:latin typeface="Consolas" panose="020B0609020204030204" pitchFamily="49" charset="0"/>
              </a:rPr>
              <a:t>);</a:t>
            </a:r>
          </a:p>
          <a:p>
            <a:pPr marL="114300" indent="0" algn="l">
              <a:buNone/>
            </a:pPr>
            <a:endParaRPr lang="en-US" sz="1800" dirty="0">
              <a:solidFill>
                <a:srgbClr val="000000"/>
              </a:solidFill>
              <a:latin typeface="Consolas" panose="020B0609020204030204" pitchFamily="49" charset="0"/>
              <a:ea typeface="Arial"/>
              <a:cs typeface="Arial"/>
              <a:sym typeface="Arial"/>
            </a:endParaRPr>
          </a:p>
          <a:p>
            <a:pPr marL="114300" indent="0">
              <a:buNone/>
            </a:pPr>
            <a:r>
              <a:rPr lang="en-US" sz="1800" dirty="0">
                <a:latin typeface="Atkinson Hyperlegible Next"/>
                <a:ea typeface="Arial"/>
                <a:cs typeface="Arial"/>
                <a:sym typeface="Arial"/>
              </a:rPr>
              <a:t>What is the starting point?</a:t>
            </a:r>
          </a:p>
          <a:p>
            <a:pPr marL="114300" indent="0" algn="ctr">
              <a:buNone/>
            </a:pPr>
            <a:r>
              <a:rPr lang="en-US" sz="1800" dirty="0">
                <a:latin typeface="Atkinson Hyperlegible Next"/>
                <a:ea typeface="Arial"/>
                <a:cs typeface="Arial"/>
                <a:sym typeface="Arial"/>
              </a:rPr>
              <a:t>‘044’ = 44</a:t>
            </a:r>
            <a:r>
              <a:rPr lang="en-US" sz="1800" baseline="30000" dirty="0">
                <a:latin typeface="Atkinson Hyperlegible Next"/>
                <a:ea typeface="Arial"/>
                <a:cs typeface="Arial"/>
                <a:sym typeface="Arial"/>
              </a:rPr>
              <a:t>th</a:t>
            </a:r>
            <a:r>
              <a:rPr lang="en-US" sz="1800" dirty="0">
                <a:latin typeface="Atkinson Hyperlegible Next"/>
                <a:ea typeface="Arial"/>
                <a:cs typeface="Arial"/>
                <a:sym typeface="Arial"/>
              </a:rPr>
              <a:t> step</a:t>
            </a:r>
          </a:p>
          <a:p>
            <a:pPr marL="114300" indent="0">
              <a:buNone/>
            </a:pPr>
            <a:r>
              <a:rPr lang="en-US" sz="1800" dirty="0">
                <a:latin typeface="Atkinson Hyperlegible Next"/>
                <a:ea typeface="Arial"/>
                <a:cs typeface="Arial"/>
                <a:sym typeface="Arial"/>
              </a:rPr>
              <a:t>What is the ending point?</a:t>
            </a:r>
          </a:p>
          <a:p>
            <a:pPr marL="114300" indent="0" algn="ctr">
              <a:buNone/>
            </a:pPr>
            <a:r>
              <a:rPr lang="en-US" sz="1800" dirty="0">
                <a:latin typeface="Atkinson Hyperlegible Next"/>
                <a:ea typeface="Arial"/>
                <a:cs typeface="Arial"/>
                <a:sym typeface="Arial"/>
              </a:rPr>
              <a:t>‘725’ = 725</a:t>
            </a:r>
            <a:r>
              <a:rPr lang="en-US" sz="1800" baseline="30000" dirty="0">
                <a:latin typeface="Atkinson Hyperlegible Next"/>
                <a:ea typeface="Arial"/>
                <a:cs typeface="Arial"/>
                <a:sym typeface="Arial"/>
              </a:rPr>
              <a:t>th</a:t>
            </a:r>
            <a:r>
              <a:rPr lang="en-US" sz="1800" dirty="0">
                <a:latin typeface="Atkinson Hyperlegible Next"/>
                <a:ea typeface="Arial"/>
                <a:cs typeface="Arial"/>
                <a:sym typeface="Arial"/>
              </a:rPr>
              <a:t> step</a:t>
            </a:r>
          </a:p>
          <a:p>
            <a:pPr marL="114300" indent="0">
              <a:buNone/>
            </a:pPr>
            <a:r>
              <a:rPr lang="en-US" sz="1800" dirty="0">
                <a:latin typeface="Atkinson Hyperlegible Next"/>
                <a:ea typeface="Arial"/>
                <a:cs typeface="Arial"/>
                <a:sym typeface="Arial"/>
              </a:rPr>
              <a:t>What is the cluster count?</a:t>
            </a:r>
          </a:p>
          <a:p>
            <a:pPr marL="114300" indent="0" algn="ctr">
              <a:buNone/>
            </a:pPr>
            <a:r>
              <a:rPr lang="en-US" sz="1800" dirty="0">
                <a:latin typeface="Atkinson Hyperlegible Next"/>
                <a:ea typeface="Arial"/>
                <a:cs typeface="Arial"/>
                <a:sym typeface="Arial"/>
              </a:rPr>
              <a:t>‘03’ = group 3</a:t>
            </a:r>
          </a:p>
        </p:txBody>
      </p:sp>
      <p:sp>
        <p:nvSpPr>
          <p:cNvPr id="119" name="Google Shape;119;p29">
            <a:extLst>
              <a:ext uri="{FF2B5EF4-FFF2-40B4-BE49-F238E27FC236}">
                <a16:creationId xmlns:a16="http://schemas.microsoft.com/office/drawing/2014/main" id="{48BE62C4-BA28-8921-D77F-D0CE33BDEDA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55AF822-836E-18A0-C10E-E1513738A2A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3BF887C-0371-A623-770B-8B2927D10C4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2D390DD-6DE4-8AF3-0470-7FB2C2D4592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CDAEFB8-8B30-7D60-B61A-465DB529145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3686A0F-6995-B28E-A8FD-37615D7DF4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FE4DD92-4604-B901-CBCF-3ABB9D7A125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DCD986D-08C8-9F9E-5E2A-C375DB222AF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Table: format of the G command sent from host to sensor. Fields in order: the character 'G' (hex 47), the starting point as 3 digits, the end point as 3 digits, and the cluster count as 2 digits, terminated by a line feed or carriage return.">
            <a:extLst>
              <a:ext uri="{FF2B5EF4-FFF2-40B4-BE49-F238E27FC236}">
                <a16:creationId xmlns:a16="http://schemas.microsoft.com/office/drawing/2014/main" id="{DF6ABBC9-8162-C324-89DA-8469C01AFE7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44486" y="1352446"/>
            <a:ext cx="6703027" cy="839787"/>
          </a:xfrm>
          <a:prstGeom prst="rect">
            <a:avLst/>
          </a:prstGeom>
        </p:spPr>
      </p:pic>
      <p:grpSp>
        <p:nvGrpSpPr>
          <p:cNvPr id="9" name="Group 8">
            <a:extLst>
              <a:ext uri="{FF2B5EF4-FFF2-40B4-BE49-F238E27FC236}">
                <a16:creationId xmlns:a16="http://schemas.microsoft.com/office/drawing/2014/main" id="{AB2CA151-5F14-9B9C-7D1B-D86E884E9D6B}"/>
              </a:ext>
            </a:extLst>
          </p:cNvPr>
          <p:cNvGrpSpPr/>
          <p:nvPr/>
        </p:nvGrpSpPr>
        <p:grpSpPr>
          <a:xfrm>
            <a:off x="3187700" y="2330450"/>
            <a:ext cx="2273300" cy="1847850"/>
            <a:chOff x="3187700" y="2330450"/>
            <a:chExt cx="2273300" cy="1847850"/>
          </a:xfrm>
        </p:grpSpPr>
        <p:sp>
          <p:nvSpPr>
            <p:cNvPr id="2" name="Rectangle 1">
              <a:extLst>
                <a:ext uri="{FF2B5EF4-FFF2-40B4-BE49-F238E27FC236}">
                  <a16:creationId xmlns:a16="http://schemas.microsoft.com/office/drawing/2014/main" id="{A1659574-721C-276D-AF17-51F62C3C33B2}"/>
                </a:ext>
              </a:extLst>
            </p:cNvPr>
            <p:cNvSpPr/>
            <p:nvPr/>
          </p:nvSpPr>
          <p:spPr>
            <a:xfrm>
              <a:off x="3187700" y="2330450"/>
              <a:ext cx="438944" cy="23078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B14A378F-0E5A-758A-52F9-C083E59BBE9C}"/>
                </a:ext>
              </a:extLst>
            </p:cNvPr>
            <p:cNvCxnSpPr>
              <a:cxnSpLocks/>
              <a:endCxn id="2" idx="2"/>
            </p:cNvCxnSpPr>
            <p:nvPr/>
          </p:nvCxnSpPr>
          <p:spPr>
            <a:xfrm flipH="1" flipV="1">
              <a:off x="3407172" y="2561233"/>
              <a:ext cx="2053828" cy="161706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6" name="Group 15">
            <a:extLst>
              <a:ext uri="{FF2B5EF4-FFF2-40B4-BE49-F238E27FC236}">
                <a16:creationId xmlns:a16="http://schemas.microsoft.com/office/drawing/2014/main" id="{7DB87D5F-2C76-9126-6668-DF5A3E637F0C}"/>
              </a:ext>
            </a:extLst>
          </p:cNvPr>
          <p:cNvGrpSpPr/>
          <p:nvPr/>
        </p:nvGrpSpPr>
        <p:grpSpPr>
          <a:xfrm>
            <a:off x="3558523" y="2321249"/>
            <a:ext cx="1788177" cy="2612701"/>
            <a:chOff x="3187700" y="2330450"/>
            <a:chExt cx="1788177" cy="2612701"/>
          </a:xfrm>
        </p:grpSpPr>
        <p:sp>
          <p:nvSpPr>
            <p:cNvPr id="17" name="Rectangle 16">
              <a:extLst>
                <a:ext uri="{FF2B5EF4-FFF2-40B4-BE49-F238E27FC236}">
                  <a16:creationId xmlns:a16="http://schemas.microsoft.com/office/drawing/2014/main" id="{47618416-15CB-C155-4F06-9C304B192984}"/>
                </a:ext>
              </a:extLst>
            </p:cNvPr>
            <p:cNvSpPr/>
            <p:nvPr/>
          </p:nvSpPr>
          <p:spPr>
            <a:xfrm>
              <a:off x="3187700" y="2330450"/>
              <a:ext cx="438944" cy="23078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 name="Straight Arrow Connector 17">
              <a:extLst>
                <a:ext uri="{FF2B5EF4-FFF2-40B4-BE49-F238E27FC236}">
                  <a16:creationId xmlns:a16="http://schemas.microsoft.com/office/drawing/2014/main" id="{3E55D02A-D199-9EA4-7829-9A0AC048299F}"/>
                </a:ext>
              </a:extLst>
            </p:cNvPr>
            <p:cNvCxnSpPr>
              <a:cxnSpLocks/>
              <a:endCxn id="17" idx="2"/>
            </p:cNvCxnSpPr>
            <p:nvPr/>
          </p:nvCxnSpPr>
          <p:spPr>
            <a:xfrm flipH="1" flipV="1">
              <a:off x="3407172" y="2561233"/>
              <a:ext cx="1568705" cy="238191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0" name="Group 19">
            <a:extLst>
              <a:ext uri="{FF2B5EF4-FFF2-40B4-BE49-F238E27FC236}">
                <a16:creationId xmlns:a16="http://schemas.microsoft.com/office/drawing/2014/main" id="{77300279-8F2A-698D-D354-E9232AD7BD81}"/>
              </a:ext>
            </a:extLst>
          </p:cNvPr>
          <p:cNvGrpSpPr/>
          <p:nvPr/>
        </p:nvGrpSpPr>
        <p:grpSpPr>
          <a:xfrm>
            <a:off x="3955255" y="2322340"/>
            <a:ext cx="1391445" cy="3348210"/>
            <a:chOff x="3320256" y="2330450"/>
            <a:chExt cx="1391445" cy="3348210"/>
          </a:xfrm>
        </p:grpSpPr>
        <p:sp>
          <p:nvSpPr>
            <p:cNvPr id="21" name="Rectangle 20">
              <a:extLst>
                <a:ext uri="{FF2B5EF4-FFF2-40B4-BE49-F238E27FC236}">
                  <a16:creationId xmlns:a16="http://schemas.microsoft.com/office/drawing/2014/main" id="{68C7A40B-BAD0-CAD3-DCC4-BDAFF2BA036E}"/>
                </a:ext>
              </a:extLst>
            </p:cNvPr>
            <p:cNvSpPr/>
            <p:nvPr/>
          </p:nvSpPr>
          <p:spPr>
            <a:xfrm>
              <a:off x="3320256" y="2330450"/>
              <a:ext cx="306387" cy="23078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2" name="Straight Arrow Connector 21">
              <a:extLst>
                <a:ext uri="{FF2B5EF4-FFF2-40B4-BE49-F238E27FC236}">
                  <a16:creationId xmlns:a16="http://schemas.microsoft.com/office/drawing/2014/main" id="{D9280C13-725E-4BF9-9D12-919FEBB1AE59}"/>
                </a:ext>
              </a:extLst>
            </p:cNvPr>
            <p:cNvCxnSpPr>
              <a:cxnSpLocks/>
              <a:endCxn id="21" idx="2"/>
            </p:cNvCxnSpPr>
            <p:nvPr/>
          </p:nvCxnSpPr>
          <p:spPr>
            <a:xfrm flipH="1" flipV="1">
              <a:off x="3473450" y="2561233"/>
              <a:ext cx="1238251" cy="311742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pic>
        <p:nvPicPr>
          <p:cNvPr id="25" name="Graphic 24" descr="Upward-pointing arrow, likely marking the LiDAR's forward direction, the center of its minus 120 to plus 120 degree scan; no other detail of the figure is visible.">
            <a:extLst>
              <a:ext uri="{FF2B5EF4-FFF2-40B4-BE49-F238E27FC236}">
                <a16:creationId xmlns:a16="http://schemas.microsoft.com/office/drawing/2014/main" id="{F479F71F-6634-1BB5-519F-67394CB2FD1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871460" y="3143121"/>
            <a:ext cx="3957357" cy="2418385"/>
          </a:xfrm>
          <a:prstGeom prst="rect">
            <a:avLst/>
          </a:prstGeom>
        </p:spPr>
      </p:pic>
    </p:spTree>
    <p:extLst>
      <p:ext uri="{BB962C8B-B14F-4D97-AF65-F5344CB8AC3E}">
        <p14:creationId xmlns:p14="http://schemas.microsoft.com/office/powerpoint/2010/main" val="2720098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8">
                                            <p:txEl>
                                              <p:pRg st="9" end="9"/>
                                            </p:txEl>
                                          </p:spTgt>
                                        </p:tgtEl>
                                        <p:attrNameLst>
                                          <p:attrName>style.visibility</p:attrName>
                                        </p:attrNameLst>
                                      </p:cBhvr>
                                      <p:to>
                                        <p:strVal val="visible"/>
                                      </p:to>
                                    </p:set>
                                  </p:childTnLst>
                                </p:cTn>
                              </p:par>
                              <p:par>
                                <p:cTn id="13" presetID="1" presetClass="exit" presetSubtype="0" fill="hold" nodeType="withEffect">
                                  <p:stCondLst>
                                    <p:cond delay="0"/>
                                  </p:stCondLst>
                                  <p:childTnLst>
                                    <p:set>
                                      <p:cBhvr>
                                        <p:cTn id="14" dur="1" fill="hold">
                                          <p:stCondLst>
                                            <p:cond delay="0"/>
                                          </p:stCondLst>
                                        </p:cTn>
                                        <p:tgtEl>
                                          <p:spTgt spid="9"/>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18">
                                            <p:txEl>
                                              <p:pRg st="11" end="11"/>
                                            </p:txEl>
                                          </p:spTgt>
                                        </p:tgtEl>
                                        <p:attrNameLst>
                                          <p:attrName>style.visibility</p:attrName>
                                        </p:attrNameLst>
                                      </p:cBhvr>
                                      <p:to>
                                        <p:strVal val="visible"/>
                                      </p:to>
                                    </p:set>
                                  </p:childTnLst>
                                </p:cTn>
                              </p:par>
                              <p:par>
                                <p:cTn id="25" presetID="1" presetClass="exit" presetSubtype="0" fill="hold" nodeType="withEffect">
                                  <p:stCondLst>
                                    <p:cond delay="0"/>
                                  </p:stCondLst>
                                  <p:childTnLst>
                                    <p:set>
                                      <p:cBhvr>
                                        <p:cTn id="26" dur="1" fill="hold">
                                          <p:stCondLst>
                                            <p:cond delay="0"/>
                                          </p:stCondLst>
                                        </p:cTn>
                                        <p:tgtEl>
                                          <p:spTgt spid="16"/>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7F40B2B-20BA-CB0B-2BCB-C995A916D6D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45303B9-7008-D933-D546-6B123CD0103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endParaRPr lang="en-US" sz="1800" dirty="0">
                  <a:latin typeface="Atkinson Hyperlegible Next"/>
                  <a:ea typeface="Arial"/>
                  <a:cs typeface="Arial"/>
                  <a:sym typeface="Arial"/>
                </a:endParaRP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114300" indent="0" algn="l">
                  <a:buNone/>
                </a:pPr>
                <a:r>
                  <a:rPr lang="en-US" sz="1800" dirty="0">
                    <a:solidFill>
                      <a:srgbClr val="7F0055"/>
                    </a:solidFill>
                    <a:latin typeface="Consolas" panose="020B0609020204030204" pitchFamily="49" charset="0"/>
                  </a:rPr>
                  <a:t>char</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G_command</a:t>
                </a:r>
                <a:r>
                  <a:rPr lang="en-US" sz="1800" dirty="0">
                    <a:solidFill>
                      <a:srgbClr val="000000"/>
                    </a:solidFill>
                    <a:latin typeface="Consolas" panose="020B0609020204030204" pitchFamily="49" charset="0"/>
                  </a:rPr>
                  <a:t>[] = </a:t>
                </a:r>
                <a:r>
                  <a:rPr lang="en-US" sz="1800" dirty="0">
                    <a:solidFill>
                      <a:srgbClr val="2A00FF"/>
                    </a:solidFill>
                    <a:latin typeface="Consolas" panose="020B0609020204030204" pitchFamily="49" charset="0"/>
                  </a:rPr>
                  <a:t>"G04472503\n"</a:t>
                </a:r>
                <a:r>
                  <a:rPr lang="en-US" sz="1800" dirty="0">
                    <a:solidFill>
                      <a:srgbClr val="000000"/>
                    </a:solidFill>
                    <a:latin typeface="Consolas" panose="020B0609020204030204" pitchFamily="49" charset="0"/>
                  </a:rPr>
                  <a:t>; </a:t>
                </a:r>
                <a:r>
                  <a:rPr lang="en-US" sz="1800" dirty="0">
                    <a:solidFill>
                      <a:srgbClr val="3F7F5F"/>
                    </a:solidFill>
                    <a:latin typeface="Consolas" panose="020B0609020204030204" pitchFamily="49" charset="0"/>
                  </a:rPr>
                  <a:t>//command for getting distance -120 to 120 degree</a:t>
                </a:r>
              </a:p>
              <a:p>
                <a:pPr marL="114300" indent="0" algn="l">
                  <a:buNone/>
                </a:pPr>
                <a:r>
                  <a:rPr lang="en-US" sz="1800" dirty="0">
                    <a:solidFill>
                      <a:srgbClr val="005032"/>
                    </a:solidFill>
                    <a:latin typeface="Consolas" panose="020B0609020204030204" pitchFamily="49" charset="0"/>
                  </a:rPr>
                  <a:t>uint16_t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G_len</a:t>
                </a:r>
                <a:r>
                  <a:rPr lang="en-US" sz="1800" dirty="0">
                    <a:solidFill>
                      <a:srgbClr val="000000"/>
                    </a:solidFill>
                    <a:latin typeface="Consolas" panose="020B0609020204030204" pitchFamily="49" charset="0"/>
                  </a:rPr>
                  <a:t> = 11;</a:t>
                </a:r>
                <a:endParaRPr lang="en-US" sz="1800" dirty="0">
                  <a:solidFill>
                    <a:srgbClr val="3F7F5F"/>
                  </a:solidFill>
                  <a:latin typeface="Consolas" panose="020B0609020204030204" pitchFamily="49" charset="0"/>
                  <a:ea typeface="Arial"/>
                  <a:cs typeface="Arial"/>
                  <a:sym typeface="Arial"/>
                </a:endParaRPr>
              </a:p>
              <a:p>
                <a:pPr marL="114300" indent="0" algn="l">
                  <a:buNone/>
                </a:pPr>
                <a:r>
                  <a:rPr lang="en-US" sz="1800" dirty="0" err="1">
                    <a:solidFill>
                      <a:srgbClr val="000000"/>
                    </a:solidFill>
                    <a:latin typeface="Consolas" panose="020B0609020204030204" pitchFamily="49" charset="0"/>
                  </a:rPr>
                  <a:t>serial_sendSCIC</a:t>
                </a:r>
                <a:r>
                  <a:rPr lang="en-US" sz="1800" dirty="0">
                    <a:solidFill>
                      <a:srgbClr val="000000"/>
                    </a:solidFill>
                    <a:latin typeface="Consolas" panose="020B0609020204030204" pitchFamily="49" charset="0"/>
                  </a:rPr>
                  <a:t>(&amp;</a:t>
                </a:r>
                <a:r>
                  <a:rPr lang="en-US" sz="1800" dirty="0" err="1">
                    <a:solidFill>
                      <a:srgbClr val="000000"/>
                    </a:solidFill>
                    <a:latin typeface="Consolas" panose="020B0609020204030204" pitchFamily="49" charset="0"/>
                  </a:rPr>
                  <a:t>SerialC</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G_command</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G_len</a:t>
                </a:r>
                <a:r>
                  <a:rPr lang="en-US" sz="1800" dirty="0">
                    <a:solidFill>
                      <a:srgbClr val="000000"/>
                    </a:solidFill>
                    <a:latin typeface="Consolas" panose="020B0609020204030204" pitchFamily="49" charset="0"/>
                  </a:rPr>
                  <a:t>);</a:t>
                </a:r>
              </a:p>
              <a:p>
                <a:pPr marL="114300" indent="0" algn="l">
                  <a:buNone/>
                </a:pPr>
                <a:endParaRPr lang="en-US" sz="1800" dirty="0">
                  <a:solidFill>
                    <a:srgbClr val="000000"/>
                  </a:solidFill>
                  <a:latin typeface="Consolas" panose="020B0609020204030204" pitchFamily="49" charset="0"/>
                  <a:ea typeface="Arial"/>
                  <a:cs typeface="Arial"/>
                  <a:sym typeface="Arial"/>
                </a:endParaRPr>
              </a:p>
              <a:p>
                <a:pPr marL="114300" indent="0">
                  <a:buNone/>
                </a:pPr>
                <a:r>
                  <a:rPr lang="en-US" sz="1800" dirty="0">
                    <a:latin typeface="Atkinson Hyperlegible Next"/>
                    <a:ea typeface="Arial"/>
                    <a:cs typeface="Arial"/>
                    <a:sym typeface="Arial"/>
                  </a:rPr>
                  <a:t>How many datapoints are we expecting then based on the command?</a:t>
                </a:r>
              </a:p>
              <a:p>
                <a:pPr marL="114300" indent="0">
                  <a:buNone/>
                </a:pPr>
                <a:endParaRPr lang="en-US" sz="1800" dirty="0">
                  <a:latin typeface="Atkinson Hyperlegible Next"/>
                  <a:ea typeface="Arial"/>
                  <a:cs typeface="Arial"/>
                  <a:sym typeface="Arial"/>
                </a:endParaRPr>
              </a:p>
              <a:p>
                <a:pPr marL="114300" indent="0">
                  <a:buNone/>
                </a:pPr>
                <a14:m>
                  <m:oMathPara xmlns:m="http://schemas.openxmlformats.org/officeDocument/2006/math">
                    <m:oMathParaPr>
                      <m:jc m:val="centerGroup"/>
                    </m:oMathParaPr>
                    <m:oMath xmlns:m="http://schemas.openxmlformats.org/officeDocument/2006/math">
                      <m:f>
                        <m:fPr>
                          <m:ctrlPr>
                            <a:rPr lang="en-US" sz="1800" b="0" i="1" smtClean="0">
                              <a:latin typeface="Cambria Math" panose="02040503050406030204" pitchFamily="18" charset="0"/>
                              <a:cs typeface="Arial"/>
                              <a:sym typeface="Arial"/>
                            </a:rPr>
                          </m:ctrlPr>
                        </m:fPr>
                        <m:num>
                          <m:r>
                            <m:rPr>
                              <m:sty m:val="p"/>
                            </m:rPr>
                            <a:rPr lang="en-US" sz="1800" i="1">
                              <a:latin typeface="Cambria Math" panose="02040503050406030204" pitchFamily="18" charset="0"/>
                              <a:ea typeface="Arial"/>
                              <a:cs typeface="Arial"/>
                              <a:sym typeface="Arial"/>
                            </a:rPr>
                            <m:t>End</m:t>
                          </m:r>
                          <m:r>
                            <a:rPr lang="en-US" sz="1800" i="1">
                              <a:latin typeface="Cambria Math" panose="02040503050406030204" pitchFamily="18" charset="0"/>
                              <a:ea typeface="Arial"/>
                              <a:cs typeface="Arial"/>
                              <a:sym typeface="Arial"/>
                            </a:rPr>
                            <m:t> </m:t>
                          </m:r>
                          <m:r>
                            <m:rPr>
                              <m:sty m:val="p"/>
                            </m:rPr>
                            <a:rPr lang="en-US" sz="1800" i="1">
                              <a:latin typeface="Cambria Math" panose="02040503050406030204" pitchFamily="18" charset="0"/>
                              <a:ea typeface="Arial"/>
                              <a:cs typeface="Arial"/>
                              <a:sym typeface="Arial"/>
                            </a:rPr>
                            <m:t>step</m:t>
                          </m:r>
                          <m:r>
                            <a:rPr lang="en-US" sz="1800" i="1">
                              <a:latin typeface="Cambria Math" panose="02040503050406030204" pitchFamily="18" charset="0"/>
                              <a:ea typeface="Arial"/>
                              <a:cs typeface="Arial"/>
                              <a:sym typeface="Arial"/>
                            </a:rPr>
                            <m:t> − </m:t>
                          </m:r>
                          <m:r>
                            <m:rPr>
                              <m:sty m:val="p"/>
                            </m:rPr>
                            <a:rPr lang="en-US" sz="1800" i="1">
                              <a:latin typeface="Cambria Math" panose="02040503050406030204" pitchFamily="18" charset="0"/>
                              <a:ea typeface="Arial"/>
                              <a:cs typeface="Arial"/>
                              <a:sym typeface="Arial"/>
                            </a:rPr>
                            <m:t>start</m:t>
                          </m:r>
                          <m:r>
                            <a:rPr lang="en-US" sz="1800" i="1">
                              <a:latin typeface="Cambria Math" panose="02040503050406030204" pitchFamily="18" charset="0"/>
                              <a:ea typeface="Arial"/>
                              <a:cs typeface="Arial"/>
                              <a:sym typeface="Arial"/>
                            </a:rPr>
                            <m:t> </m:t>
                          </m:r>
                          <m:r>
                            <m:rPr>
                              <m:sty m:val="p"/>
                            </m:rPr>
                            <a:rPr lang="en-US" sz="1800" i="1">
                              <a:latin typeface="Cambria Math" panose="02040503050406030204" pitchFamily="18" charset="0"/>
                              <a:ea typeface="Arial"/>
                              <a:cs typeface="Arial"/>
                              <a:sym typeface="Arial"/>
                            </a:rPr>
                            <m:t>step</m:t>
                          </m:r>
                        </m:num>
                        <m:den>
                          <m:r>
                            <m:rPr>
                              <m:sty m:val="p"/>
                            </m:rPr>
                            <a:rPr lang="en-US" sz="1800" b="0" i="1" smtClean="0">
                              <a:latin typeface="Cambria Math" panose="02040503050406030204" pitchFamily="18" charset="0"/>
                              <a:cs typeface="Arial"/>
                              <a:sym typeface="Arial"/>
                            </a:rPr>
                            <m:t>Cluster</m:t>
                          </m:r>
                          <m:r>
                            <a:rPr lang="en-US" sz="1800" b="0" i="1" smtClean="0">
                              <a:latin typeface="Cambria Math" panose="02040503050406030204" pitchFamily="18" charset="0"/>
                              <a:cs typeface="Arial"/>
                              <a:sym typeface="Arial"/>
                            </a:rPr>
                            <m:t> </m:t>
                          </m:r>
                          <m:r>
                            <m:rPr>
                              <m:sty m:val="p"/>
                            </m:rPr>
                            <a:rPr lang="en-US" sz="1800" b="0" i="1" smtClean="0">
                              <a:latin typeface="Cambria Math" panose="02040503050406030204" pitchFamily="18" charset="0"/>
                              <a:cs typeface="Arial"/>
                              <a:sym typeface="Arial"/>
                            </a:rPr>
                            <m:t>count</m:t>
                          </m:r>
                        </m:den>
                      </m:f>
                      <m:r>
                        <a:rPr lang="en-US" sz="1800" b="0" i="1" smtClean="0">
                          <a:latin typeface="Cambria Math" panose="02040503050406030204" pitchFamily="18" charset="0"/>
                          <a:cs typeface="Arial"/>
                          <a:sym typeface="Arial"/>
                        </a:rPr>
                        <m:t> + 1</m:t>
                      </m:r>
                    </m:oMath>
                  </m:oMathPara>
                </a14:m>
                <a:endParaRPr lang="en-US" sz="1800" dirty="0">
                  <a:latin typeface="Atkinson Hyperlegible Next"/>
                  <a:ea typeface="Arial"/>
                  <a:cs typeface="Arial"/>
                  <a:sym typeface="Arial"/>
                </a:endParaRPr>
              </a:p>
              <a:p>
                <a:pPr marL="114300" indent="0">
                  <a:buNone/>
                </a:pPr>
                <a:endParaRPr lang="en-US" sz="1800" dirty="0">
                  <a:latin typeface="Atkinson Hyperlegible Next"/>
                  <a:ea typeface="Arial"/>
                  <a:cs typeface="Arial"/>
                  <a:sym typeface="Arial"/>
                </a:endParaRPr>
              </a:p>
              <a:p>
                <a:pPr marL="114300" indent="0">
                  <a:buNone/>
                </a:pPr>
                <a14:m>
                  <m:oMathPara xmlns:m="http://schemas.openxmlformats.org/officeDocument/2006/math">
                    <m:oMathParaPr>
                      <m:jc m:val="centerGroup"/>
                    </m:oMathParaPr>
                    <m:oMath xmlns:m="http://schemas.openxmlformats.org/officeDocument/2006/math">
                      <m:f>
                        <m:fPr>
                          <m:ctrlPr>
                            <a:rPr lang="en-US" sz="1800" i="1">
                              <a:latin typeface="Cambria Math" panose="02040503050406030204" pitchFamily="18" charset="0"/>
                              <a:cs typeface="Arial"/>
                              <a:sym typeface="Arial"/>
                            </a:rPr>
                          </m:ctrlPr>
                        </m:fPr>
                        <m:num>
                          <m:r>
                            <a:rPr lang="en-US" sz="1800" i="1">
                              <a:latin typeface="Cambria Math" panose="02040503050406030204" pitchFamily="18" charset="0"/>
                              <a:cs typeface="Arial"/>
                              <a:sym typeface="Arial"/>
                            </a:rPr>
                            <m:t>725 − 44</m:t>
                          </m:r>
                        </m:num>
                        <m:den>
                          <m:r>
                            <a:rPr lang="en-US" sz="1800" i="1">
                              <a:latin typeface="Cambria Math" panose="02040503050406030204" pitchFamily="18" charset="0"/>
                              <a:cs typeface="Arial"/>
                              <a:sym typeface="Arial"/>
                            </a:rPr>
                            <m:t>3</m:t>
                          </m:r>
                        </m:den>
                      </m:f>
                      <m:r>
                        <a:rPr lang="en-US" sz="1800" i="1">
                          <a:latin typeface="Cambria Math" panose="02040503050406030204" pitchFamily="18" charset="0"/>
                          <a:cs typeface="Arial"/>
                          <a:sym typeface="Arial"/>
                        </a:rPr>
                        <m:t> +1=</m:t>
                      </m:r>
                      <m:r>
                        <a:rPr lang="en-US" sz="1800" b="0" i="1" smtClean="0">
                          <a:latin typeface="Cambria Math" panose="02040503050406030204" pitchFamily="18" charset="0"/>
                          <a:cs typeface="Arial"/>
                          <a:sym typeface="Arial"/>
                        </a:rPr>
                        <m:t>228</m:t>
                      </m:r>
                    </m:oMath>
                  </m:oMathPara>
                </a14:m>
                <a:endParaRPr lang="en-US" sz="18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045303B9-7008-D933-D546-6B123CD0103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F253781-FFC7-031F-3450-E0378EE718D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49D2341-DD34-E32B-C427-9D36DF9850E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DC11889-17EF-91AF-D1FB-0CE7C1007D0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1E8A107-7AB2-8EB7-ADBE-C8D7CA62E38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A68CFAC-9CD9-A594-E11C-48F8FAE0A34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328042E-9B1F-9E4F-399A-B32B70A0A59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55822DF-3B78-5A36-5739-DAFDFB7FDC1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728C47E-630E-6620-0AF0-D0B603B50B7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Table: format of the G command sent from host to sensor. Fields in order: the character 'G' (hex 47), the starting point as 3 digits, the end point as 3 digits, and the cluster count as 2 digits, terminated by a line feed or carriage return.">
            <a:extLst>
              <a:ext uri="{FF2B5EF4-FFF2-40B4-BE49-F238E27FC236}">
                <a16:creationId xmlns:a16="http://schemas.microsoft.com/office/drawing/2014/main" id="{77A5E155-8E76-E0A9-D357-6759E148F1F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744486" y="1352446"/>
            <a:ext cx="6703027" cy="839787"/>
          </a:xfrm>
          <a:prstGeom prst="rect">
            <a:avLst/>
          </a:prstGeom>
        </p:spPr>
      </p:pic>
      <p:pic>
        <p:nvPicPr>
          <p:cNvPr id="4" name="Graphic 3" descr="Upward-pointing arrow, likely marking the LiDAR's forward direction, the center of its minus 120 to plus 120 degree scan; no other detail of the figure is visible.">
            <a:extLst>
              <a:ext uri="{FF2B5EF4-FFF2-40B4-BE49-F238E27FC236}">
                <a16:creationId xmlns:a16="http://schemas.microsoft.com/office/drawing/2014/main" id="{A6D11F94-4902-1D2F-2530-E6A7ACD88758}"/>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871460" y="3143121"/>
            <a:ext cx="3957357" cy="2418385"/>
          </a:xfrm>
          <a:prstGeom prst="rect">
            <a:avLst/>
          </a:prstGeom>
        </p:spPr>
      </p:pic>
    </p:spTree>
    <p:extLst>
      <p:ext uri="{BB962C8B-B14F-4D97-AF65-F5344CB8AC3E}">
        <p14:creationId xmlns:p14="http://schemas.microsoft.com/office/powerpoint/2010/main" val="434375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831F7EB-B323-6892-3BD6-68DE9DAD2BF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2A258A6-8567-E0F6-8337-CFA2EACBF4B0}"/>
              </a:ext>
            </a:extLst>
          </p:cNvPr>
          <p:cNvSpPr txBox="1">
            <a:spLocks noGrp="1"/>
          </p:cNvSpPr>
          <p:nvPr>
            <p:ph type="body" idx="1"/>
          </p:nvPr>
        </p:nvSpPr>
        <p:spPr>
          <a:xfrm>
            <a:off x="376809" y="1334279"/>
            <a:ext cx="11177401" cy="731057"/>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latin typeface="Atkinson Hyperlegible Next"/>
                <a:ea typeface="Arial"/>
                <a:cs typeface="Arial"/>
                <a:sym typeface="Arial"/>
              </a:rPr>
              <a:t>Sensor measures the distance in the range 20 mm to 4095 mm. If the distance is less than 20 mm, we can encode an error into the distance measurement.</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 </a:t>
            </a:r>
          </a:p>
        </p:txBody>
      </p:sp>
      <p:sp>
        <p:nvSpPr>
          <p:cNvPr id="119" name="Google Shape;119;p29">
            <a:extLst>
              <a:ext uri="{FF2B5EF4-FFF2-40B4-BE49-F238E27FC236}">
                <a16:creationId xmlns:a16="http://schemas.microsoft.com/office/drawing/2014/main" id="{84B31BC7-2894-264B-64E9-775B255F799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614DBBB-B3F8-F1D8-EC96-71DB33014C8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82F999B-EFB6-9669-C5FF-568A0CB5F4B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22D7D31-7036-C205-8689-316AC75639F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58DCBF6-3727-74E8-CD45-FC223AAE92E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BC355FF-48E5-3CA9-4BBF-741053DD923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30F7DDB-707A-EB18-82E9-45F91E0271A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8E3F571-BBCA-99A9-476F-E272316C59F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Table of LiDAR error codes, values 0 to 19, reported in place of a distance below 20 mm. Code 0: object possibly at 22 m. Codes 1 to 5: reflected light has low intensity. Code 6: object possibly at 5.7 m. Code 7: distance data on the preceding and succeeding steps have errors. Code 9: same step had an error in the last two scans. Code 16: object possibly in the range 4096 mm. Code 18: unspecified. Code 19: non-measurable distance. Codes 8, 10 to 15, and 17: others.">
            <a:extLst>
              <a:ext uri="{FF2B5EF4-FFF2-40B4-BE49-F238E27FC236}">
                <a16:creationId xmlns:a16="http://schemas.microsoft.com/office/drawing/2014/main" id="{4CBEC6BF-EC18-1A02-C5F8-07B8B2AD0B7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344274" y="2097714"/>
            <a:ext cx="5237917" cy="4311101"/>
          </a:xfrm>
          <a:prstGeom prst="rect">
            <a:avLst/>
          </a:prstGeom>
        </p:spPr>
      </p:pic>
    </p:spTree>
    <p:extLst>
      <p:ext uri="{BB962C8B-B14F-4D97-AF65-F5344CB8AC3E}">
        <p14:creationId xmlns:p14="http://schemas.microsoft.com/office/powerpoint/2010/main" val="215763305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556F99B-FCAC-9F96-6A5F-8D9F31E6F45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626FD08-7C07-0A93-323B-86C6BDD2B68D}"/>
              </a:ext>
            </a:extLst>
          </p:cNvPr>
          <p:cNvSpPr txBox="1">
            <a:spLocks noGrp="1"/>
          </p:cNvSpPr>
          <p:nvPr>
            <p:ph type="body" idx="1"/>
          </p:nvPr>
        </p:nvSpPr>
        <p:spPr>
          <a:xfrm>
            <a:off x="376809" y="1334279"/>
            <a:ext cx="643168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latin typeface="Atkinson Hyperlegible Next"/>
                <a:ea typeface="Arial"/>
                <a:cs typeface="Arial"/>
                <a:sym typeface="Arial"/>
              </a:rPr>
              <a:t>We implement the reading of the data as a state machine,</a:t>
            </a:r>
          </a:p>
          <a:p>
            <a:pPr marL="0" indent="0">
              <a:lnSpc>
                <a:spcPct val="100000"/>
              </a:lnSpc>
              <a:spcBef>
                <a:spcPts val="0"/>
              </a:spcBef>
              <a:buSzPts val="3000"/>
              <a:buNone/>
            </a:pP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3AEDAD0B-CFB5-AEDB-18D5-C02FB6EF1E8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D674C38-AC3E-1C3D-5585-0985B70705E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CF9BEAD-E30A-A3F0-CEBF-7375165ACDE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A05DB1C-4DC4-8AE0-2185-DDC66159AD8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572BBFB-F094-27B1-75A4-4FB5406CA52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A01EE3C-593C-F0E9-C754-30DFF273085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28B07F-4B4D-E449-F1CB-10A28D23309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2517AFD-59DB-34C6-C881-CFE41FB749F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9" name="Graphic 8" descr="Table: sensor-to-host reply format for the LiDAR 'G' distance command. The first line is 'G' (hex 47), a 3-digit starting point, 3-digit end point, 2-digit cluster count, then line feed (LF). Next comes a Status line ending in LF. Data blocks 1 through N minus 1 follow, each 64 bytes ending in LF. The final data block N has n bytes and ends with two LFs, which marks the end of the message.">
            <a:extLst>
              <a:ext uri="{FF2B5EF4-FFF2-40B4-BE49-F238E27FC236}">
                <a16:creationId xmlns:a16="http://schemas.microsoft.com/office/drawing/2014/main" id="{ADD02CC6-039D-F520-F02E-F9DF7102730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76807" y="2975969"/>
            <a:ext cx="6228395" cy="1666369"/>
          </a:xfrm>
          <a:prstGeom prst="rect">
            <a:avLst/>
          </a:prstGeom>
        </p:spPr>
      </p:pic>
      <p:pic>
        <p:nvPicPr>
          <p:cNvPr id="10" name="Graphic 9" descr="State diagram of the LiDAR receive interrupt. State 0 waits for the character 'G', then moves to State 1, which counts header bytes, loops while the count is under 11, and returns to State 0 if the 11th byte isn't '0'. After 12 header bytes, distance bytes alternate between two states. High byte: temp equals RXC minus 0x30, shifted left 6. Low byte: dist equals temp plus RXC minus 0x30. A dist of 0 or 6 becomes MAX, 16 becomes 4096, and the result is stored in the ping/pong array. Each linefeed increments a counter. The second linefeed ends the stream, triggers SWI2, toggles the ping/pong flag, and returns to State 0.">
            <a:extLst>
              <a:ext uri="{FF2B5EF4-FFF2-40B4-BE49-F238E27FC236}">
                <a16:creationId xmlns:a16="http://schemas.microsoft.com/office/drawing/2014/main" id="{C04602B4-FB65-879D-0271-533181C290B2}"/>
              </a:ext>
            </a:extLst>
          </p:cNvPr>
          <p:cNvPicPr>
            <a:picLocks noChangeAspect="1"/>
          </p:cNvPicPr>
          <p:nvPr/>
        </p:nvPicPr>
        <p:blipFill>
          <a:blip r:embed="rId6">
            <a:extLst>
              <a:ext uri="{96DAC541-7B7A-43D3-8B79-37D633B846F1}">
                <asvg:svgBlip xmlns:asvg="http://schemas.microsoft.com/office/drawing/2016/SVG/main" r:embed="rId7"/>
              </a:ext>
            </a:extLst>
          </a:blip>
          <a:srcRect/>
          <a:stretch/>
        </p:blipFill>
        <p:spPr>
          <a:xfrm>
            <a:off x="7113660" y="1407029"/>
            <a:ext cx="5001607" cy="4675602"/>
          </a:xfrm>
          <a:prstGeom prst="rect">
            <a:avLst/>
          </a:prstGeom>
        </p:spPr>
      </p:pic>
    </p:spTree>
    <p:extLst>
      <p:ext uri="{BB962C8B-B14F-4D97-AF65-F5344CB8AC3E}">
        <p14:creationId xmlns:p14="http://schemas.microsoft.com/office/powerpoint/2010/main" val="129593682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5FFCF05-659B-E96B-7478-38BB5693AB4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21F47EE-822A-CED1-878C-9521E248347C}"/>
              </a:ext>
            </a:extLst>
          </p:cNvPr>
          <p:cNvSpPr txBox="1">
            <a:spLocks noGrp="1"/>
          </p:cNvSpPr>
          <p:nvPr>
            <p:ph type="body" idx="1"/>
          </p:nvPr>
        </p:nvSpPr>
        <p:spPr>
          <a:xfrm>
            <a:off x="376810" y="1334279"/>
            <a:ext cx="6204552"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1800" dirty="0">
                <a:solidFill>
                  <a:srgbClr val="7F0055"/>
                </a:solidFill>
                <a:latin typeface="Consolas" panose="020B0609020204030204" pitchFamily="49" charset="0"/>
              </a:rPr>
              <a:t>if</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read_ladar_state</a:t>
            </a:r>
            <a:r>
              <a:rPr lang="en-US" sz="1800" dirty="0">
                <a:solidFill>
                  <a:srgbClr val="000000"/>
                </a:solidFill>
                <a:latin typeface="Consolas" panose="020B0609020204030204" pitchFamily="49" charset="0"/>
              </a:rPr>
              <a:t> == 0) {</a:t>
            </a:r>
            <a:r>
              <a:rPr lang="en-US" sz="1800" dirty="0">
                <a:solidFill>
                  <a:srgbClr val="3F7F5F"/>
                </a:solidFill>
                <a:latin typeface="Consolas" panose="020B0609020204030204" pitchFamily="49" charset="0"/>
              </a:rPr>
              <a:t>//wait for the starting char 'G'</a:t>
            </a:r>
          </a:p>
          <a:p>
            <a:pPr marL="114300" indent="0" algn="l">
              <a:buNone/>
            </a:pP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buf_index</a:t>
            </a:r>
            <a:r>
              <a:rPr lang="en-US" sz="1800" dirty="0">
                <a:solidFill>
                  <a:srgbClr val="000000"/>
                </a:solidFill>
                <a:latin typeface="Consolas" panose="020B0609020204030204" pitchFamily="49" charset="0"/>
              </a:rPr>
              <a:t> = 0;</a:t>
            </a:r>
          </a:p>
          <a:p>
            <a:pPr marL="114300" indent="0" algn="l">
              <a:buNone/>
            </a:pPr>
            <a:r>
              <a:rPr lang="en-US" sz="1800" dirty="0">
                <a:solidFill>
                  <a:srgbClr val="000000"/>
                </a:solidFill>
                <a:latin typeface="Consolas" panose="020B0609020204030204" pitchFamily="49" charset="0"/>
              </a:rPr>
              <a:t>    </a:t>
            </a:r>
            <a:r>
              <a:rPr lang="en-US" sz="1800" dirty="0">
                <a:solidFill>
                  <a:srgbClr val="7F0055"/>
                </a:solidFill>
                <a:latin typeface="Consolas" panose="020B0609020204030204" pitchFamily="49" charset="0"/>
              </a:rPr>
              <a:t>if</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RXCdata</a:t>
            </a:r>
            <a:r>
              <a:rPr lang="en-US" sz="1800" dirty="0">
                <a:solidFill>
                  <a:srgbClr val="000000"/>
                </a:solidFill>
                <a:latin typeface="Consolas" panose="020B0609020204030204" pitchFamily="49" charset="0"/>
              </a:rPr>
              <a:t> ==</a:t>
            </a:r>
            <a:r>
              <a:rPr lang="en-US" sz="1800" dirty="0">
                <a:solidFill>
                  <a:srgbClr val="2A00FF"/>
                </a:solidFill>
                <a:latin typeface="Consolas" panose="020B0609020204030204" pitchFamily="49" charset="0"/>
              </a:rPr>
              <a:t>'G'</a:t>
            </a:r>
            <a:r>
              <a:rPr lang="en-US" sz="1800" dirty="0">
                <a:solidFill>
                  <a:srgbClr val="000000"/>
                </a:solidFill>
                <a:latin typeface="Consolas" panose="020B0609020204030204" pitchFamily="49" charset="0"/>
              </a:rPr>
              <a:t>) {</a:t>
            </a:r>
          </a:p>
          <a:p>
            <a:pPr marL="114300" indent="0" algn="l">
              <a:buNone/>
            </a:pP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read_ladar_state</a:t>
            </a:r>
            <a:r>
              <a:rPr lang="en-US" sz="1800" dirty="0">
                <a:solidFill>
                  <a:srgbClr val="000000"/>
                </a:solidFill>
                <a:latin typeface="Consolas" panose="020B0609020204030204" pitchFamily="49" charset="0"/>
              </a:rPr>
              <a:t> = 1;</a:t>
            </a:r>
          </a:p>
          <a:p>
            <a:pPr marL="114300" indent="0" algn="l">
              <a:buNone/>
            </a:pP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G_count</a:t>
            </a:r>
            <a:r>
              <a:rPr lang="en-US" sz="1800" dirty="0">
                <a:solidFill>
                  <a:srgbClr val="000000"/>
                </a:solidFill>
                <a:latin typeface="Consolas" panose="020B0609020204030204" pitchFamily="49" charset="0"/>
              </a:rPr>
              <a:t> = 1;</a:t>
            </a:r>
          </a:p>
          <a:p>
            <a:pPr marL="114300" indent="0" algn="l">
              <a:buNone/>
            </a:pPr>
            <a:r>
              <a:rPr lang="en-US" sz="1800" dirty="0">
                <a:solidFill>
                  <a:srgbClr val="000000"/>
                </a:solidFill>
                <a:latin typeface="Consolas" panose="020B0609020204030204" pitchFamily="49" charset="0"/>
              </a:rPr>
              <a:t>    }</a:t>
            </a:r>
          </a:p>
          <a:p>
            <a:pPr marL="114300" indent="0" algn="l">
              <a:buNone/>
            </a:pPr>
            <a:r>
              <a:rPr lang="en-US" sz="1800" dirty="0">
                <a:solidFill>
                  <a:srgbClr val="000000"/>
                </a:solidFill>
                <a:latin typeface="Consolas" panose="020B0609020204030204" pitchFamily="49" charset="0"/>
              </a:rPr>
              <a:t>}</a:t>
            </a: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41C3982-F797-0EC2-ECB5-5ADC9C86F1B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1CE5B31-96F1-AD0F-2776-878BB55CF64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4809C2F-7421-2771-E573-F60D6B55E62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2906471-ED52-E8DF-7D2E-2A9AEF4BC61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95B5A08-A4AC-1844-B572-0AADE2F0714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D2EA00E-1447-0787-2170-DA56763A6CD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BB45F16-EB84-939F-5552-804A830BF2C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BEBD5E4-45FC-CCE0-C7A5-23A960C8A86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State diagram of the LiDAR receive interrupt. State 0 waits for the character 'G', then moves to State 1, which counts header bytes, loops while the count is under 11, and returns to State 0 if the 11th byte isn't '0'. After 12 header bytes, distance bytes alternate between two states. High byte: temp equals RXC minus 0x30, shifted left 6. Low byte: dist equals temp plus RXC minus 0x30. A dist of 0 or 6 becomes MAX, 16 becomes 4096, and the result is stored in the ping/pong array. Each linefeed increments a counter. The second linefeed ends the stream, triggers SWI2, toggles the ping/pong flag, and returns to State 0.">
            <a:extLst>
              <a:ext uri="{FF2B5EF4-FFF2-40B4-BE49-F238E27FC236}">
                <a16:creationId xmlns:a16="http://schemas.microsoft.com/office/drawing/2014/main" id="{6ECD23FF-F85B-E3AE-06E9-78DBEF2C5302}"/>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7113660" y="1407029"/>
            <a:ext cx="5001607" cy="4675602"/>
          </a:xfrm>
          <a:prstGeom prst="rect">
            <a:avLst/>
          </a:prstGeom>
        </p:spPr>
      </p:pic>
      <p:cxnSp>
        <p:nvCxnSpPr>
          <p:cNvPr id="3" name="Straight Arrow Connector 2">
            <a:extLst>
              <a:ext uri="{FF2B5EF4-FFF2-40B4-BE49-F238E27FC236}">
                <a16:creationId xmlns:a16="http://schemas.microsoft.com/office/drawing/2014/main" id="{5F8A4141-D281-1697-A51F-8D7D5957EB47}"/>
              </a:ext>
            </a:extLst>
          </p:cNvPr>
          <p:cNvCxnSpPr>
            <a:cxnSpLocks/>
          </p:cNvCxnSpPr>
          <p:nvPr/>
        </p:nvCxnSpPr>
        <p:spPr>
          <a:xfrm>
            <a:off x="4335407" y="2589734"/>
            <a:ext cx="2778253"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549387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97DF4E1-4822-0CD3-E2F3-54B6DC559A8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B3C2BBA-C35E-4AA0-CA83-217D4885D97C}"/>
              </a:ext>
            </a:extLst>
          </p:cNvPr>
          <p:cNvSpPr txBox="1">
            <a:spLocks noGrp="1"/>
          </p:cNvSpPr>
          <p:nvPr>
            <p:ph type="body" idx="1"/>
          </p:nvPr>
        </p:nvSpPr>
        <p:spPr>
          <a:xfrm>
            <a:off x="376810" y="1334279"/>
            <a:ext cx="6204552"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1300" dirty="0">
                <a:solidFill>
                  <a:srgbClr val="7F0055"/>
                </a:solidFill>
                <a:latin typeface="Consolas" panose="020B0609020204030204" pitchFamily="49" charset="0"/>
              </a:rPr>
              <a:t>else</a:t>
            </a:r>
            <a:r>
              <a:rPr lang="en-US" sz="1300" dirty="0">
                <a:solidFill>
                  <a:srgbClr val="000000"/>
                </a:solidFill>
                <a:latin typeface="Consolas" panose="020B0609020204030204" pitchFamily="49" charset="0"/>
              </a:rPr>
              <a:t> </a:t>
            </a:r>
            <a:r>
              <a:rPr lang="en-US" sz="1300" dirty="0">
                <a:solidFill>
                  <a:srgbClr val="7F0055"/>
                </a:solidFill>
                <a:latin typeface="Consolas" panose="020B0609020204030204" pitchFamily="49" charset="0"/>
              </a:rPr>
              <a:t>if</a:t>
            </a: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read_ladar_state</a:t>
            </a:r>
            <a:r>
              <a:rPr lang="en-US" sz="1300" dirty="0">
                <a:solidFill>
                  <a:srgbClr val="000000"/>
                </a:solidFill>
                <a:latin typeface="Consolas" panose="020B0609020204030204" pitchFamily="49" charset="0"/>
              </a:rPr>
              <a:t> == 1) {</a:t>
            </a:r>
            <a:r>
              <a:rPr lang="en-US" sz="1300" dirty="0">
                <a:solidFill>
                  <a:srgbClr val="3F7F5F"/>
                </a:solidFill>
                <a:latin typeface="Consolas" panose="020B0609020204030204" pitchFamily="49" charset="0"/>
              </a:rPr>
              <a:t>//get the headers</a:t>
            </a:r>
          </a:p>
          <a:p>
            <a:pPr marL="114300" indent="0" algn="l">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G_count</a:t>
            </a:r>
            <a:r>
              <a:rPr lang="en-US" sz="1300" dirty="0">
                <a:solidFill>
                  <a:srgbClr val="000000"/>
                </a:solidFill>
                <a:latin typeface="Consolas" panose="020B0609020204030204" pitchFamily="49" charset="0"/>
              </a:rPr>
              <a:t> += 1;</a:t>
            </a:r>
            <a:r>
              <a:rPr lang="en-US" sz="1300" dirty="0">
                <a:solidFill>
                  <a:srgbClr val="3F7F5F"/>
                </a:solidFill>
                <a:latin typeface="Consolas" panose="020B0609020204030204" pitchFamily="49" charset="0"/>
              </a:rPr>
              <a:t>//count the number of headers</a:t>
            </a:r>
          </a:p>
          <a:p>
            <a:pPr marL="114300" indent="0" algn="l">
              <a:buNone/>
            </a:pPr>
            <a:r>
              <a:rPr lang="en-US" sz="1300" dirty="0">
                <a:solidFill>
                  <a:srgbClr val="000000"/>
                </a:solidFill>
                <a:latin typeface="Consolas" panose="020B0609020204030204" pitchFamily="49" charset="0"/>
              </a:rPr>
              <a:t>    </a:t>
            </a:r>
            <a:r>
              <a:rPr lang="en-US" sz="1300" dirty="0">
                <a:solidFill>
                  <a:srgbClr val="3F7F5F"/>
                </a:solidFill>
                <a:latin typeface="Consolas" panose="020B0609020204030204" pitchFamily="49" charset="0"/>
              </a:rPr>
              <a:t>//check the status code and if it is not '0', wait for the next packet</a:t>
            </a:r>
          </a:p>
          <a:p>
            <a:pPr marL="114300" indent="0" algn="l">
              <a:buNone/>
            </a:pPr>
            <a:r>
              <a:rPr lang="en-US" sz="1300" dirty="0">
                <a:solidFill>
                  <a:srgbClr val="000000"/>
                </a:solidFill>
                <a:latin typeface="Consolas" panose="020B0609020204030204" pitchFamily="49" charset="0"/>
              </a:rPr>
              <a:t>    </a:t>
            </a:r>
            <a:r>
              <a:rPr lang="en-US" sz="1300" dirty="0">
                <a:solidFill>
                  <a:srgbClr val="7F0055"/>
                </a:solidFill>
                <a:latin typeface="Consolas" panose="020B0609020204030204" pitchFamily="49" charset="0"/>
              </a:rPr>
              <a:t>if</a:t>
            </a: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G_count</a:t>
            </a:r>
            <a:r>
              <a:rPr lang="en-US" sz="1300" dirty="0">
                <a:solidFill>
                  <a:srgbClr val="000000"/>
                </a:solidFill>
                <a:latin typeface="Consolas" panose="020B0609020204030204" pitchFamily="49" charset="0"/>
              </a:rPr>
              <a:t> == 11) {</a:t>
            </a:r>
          </a:p>
          <a:p>
            <a:pPr marL="114300" indent="0" algn="l">
              <a:buNone/>
            </a:pPr>
            <a:r>
              <a:rPr lang="en-US" sz="1300" dirty="0">
                <a:solidFill>
                  <a:srgbClr val="000000"/>
                </a:solidFill>
                <a:latin typeface="Consolas" panose="020B0609020204030204" pitchFamily="49" charset="0"/>
              </a:rPr>
              <a:t>        </a:t>
            </a:r>
            <a:r>
              <a:rPr lang="en-US" sz="1300" dirty="0">
                <a:solidFill>
                  <a:srgbClr val="7F0055"/>
                </a:solidFill>
                <a:latin typeface="Consolas" panose="020B0609020204030204" pitchFamily="49" charset="0"/>
              </a:rPr>
              <a:t>if</a:t>
            </a: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RXCdata</a:t>
            </a:r>
            <a:r>
              <a:rPr lang="en-US" sz="1300" dirty="0">
                <a:solidFill>
                  <a:srgbClr val="000000"/>
                </a:solidFill>
                <a:latin typeface="Consolas" panose="020B0609020204030204" pitchFamily="49" charset="0"/>
              </a:rPr>
              <a:t> != </a:t>
            </a:r>
            <a:r>
              <a:rPr lang="en-US" sz="1300" dirty="0">
                <a:solidFill>
                  <a:srgbClr val="2A00FF"/>
                </a:solidFill>
                <a:latin typeface="Consolas" panose="020B0609020204030204" pitchFamily="49" charset="0"/>
              </a:rPr>
              <a:t>'0'</a:t>
            </a:r>
            <a:r>
              <a:rPr lang="en-US" sz="1300" dirty="0">
                <a:solidFill>
                  <a:srgbClr val="000000"/>
                </a:solidFill>
                <a:latin typeface="Consolas" panose="020B0609020204030204" pitchFamily="49" charset="0"/>
              </a:rPr>
              <a:t>) {</a:t>
            </a:r>
          </a:p>
          <a:p>
            <a:pPr marL="114300" indent="0" algn="l">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read_ladar_state</a:t>
            </a:r>
            <a:r>
              <a:rPr lang="en-US" sz="1300" dirty="0">
                <a:solidFill>
                  <a:srgbClr val="000000"/>
                </a:solidFill>
                <a:latin typeface="Consolas" panose="020B0609020204030204" pitchFamily="49" charset="0"/>
              </a:rPr>
              <a:t> = 0;</a:t>
            </a:r>
          </a:p>
          <a:p>
            <a:pPr marL="114300" indent="0" algn="l">
              <a:buNone/>
            </a:pPr>
            <a:r>
              <a:rPr lang="en-US" sz="1300" dirty="0">
                <a:solidFill>
                  <a:srgbClr val="000000"/>
                </a:solidFill>
                <a:latin typeface="Consolas" panose="020B0609020204030204" pitchFamily="49" charset="0"/>
              </a:rPr>
              <a:t>        }</a:t>
            </a:r>
          </a:p>
          <a:p>
            <a:pPr marL="114300" indent="0" algn="l">
              <a:buNone/>
            </a:pPr>
            <a:r>
              <a:rPr lang="en-US" sz="1300" dirty="0">
                <a:solidFill>
                  <a:srgbClr val="000000"/>
                </a:solidFill>
                <a:latin typeface="Consolas" panose="020B0609020204030204" pitchFamily="49" charset="0"/>
              </a:rPr>
              <a:t>    }</a:t>
            </a:r>
          </a:p>
          <a:p>
            <a:pPr marL="114300" indent="0" algn="l">
              <a:buNone/>
            </a:pPr>
            <a:r>
              <a:rPr lang="en-US" sz="1300" dirty="0">
                <a:solidFill>
                  <a:srgbClr val="000000"/>
                </a:solidFill>
                <a:latin typeface="Consolas" panose="020B0609020204030204" pitchFamily="49" charset="0"/>
              </a:rPr>
              <a:t>    </a:t>
            </a:r>
            <a:r>
              <a:rPr lang="en-US" sz="1300" dirty="0">
                <a:solidFill>
                  <a:srgbClr val="7F0055"/>
                </a:solidFill>
                <a:latin typeface="Consolas" panose="020B0609020204030204" pitchFamily="49" charset="0"/>
              </a:rPr>
              <a:t>if</a:t>
            </a: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G_count</a:t>
            </a:r>
            <a:r>
              <a:rPr lang="en-US" sz="1300" dirty="0">
                <a:solidFill>
                  <a:srgbClr val="000000"/>
                </a:solidFill>
                <a:latin typeface="Consolas" panose="020B0609020204030204" pitchFamily="49" charset="0"/>
              </a:rPr>
              <a:t> &gt;= 12) {</a:t>
            </a:r>
            <a:r>
              <a:rPr lang="en-US" sz="1300" dirty="0">
                <a:solidFill>
                  <a:srgbClr val="3F7F5F"/>
                </a:solidFill>
                <a:latin typeface="Consolas" panose="020B0609020204030204" pitchFamily="49" charset="0"/>
              </a:rPr>
              <a:t>//there are total 12 things before the data</a:t>
            </a:r>
          </a:p>
          <a:p>
            <a:pPr marL="114300" indent="0" algn="l">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read_ladar_state</a:t>
            </a:r>
            <a:r>
              <a:rPr lang="en-US" sz="1300" dirty="0">
                <a:solidFill>
                  <a:srgbClr val="000000"/>
                </a:solidFill>
                <a:latin typeface="Consolas" panose="020B0609020204030204" pitchFamily="49" charset="0"/>
              </a:rPr>
              <a:t> = 2;</a:t>
            </a:r>
          </a:p>
          <a:p>
            <a:pPr marL="114300" indent="0" algn="l">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get_dis_first</a:t>
            </a:r>
            <a:r>
              <a:rPr lang="en-US" sz="1300" dirty="0">
                <a:solidFill>
                  <a:srgbClr val="000000"/>
                </a:solidFill>
                <a:latin typeface="Consolas" panose="020B0609020204030204" pitchFamily="49" charset="0"/>
              </a:rPr>
              <a:t> = 1;</a:t>
            </a:r>
          </a:p>
          <a:p>
            <a:pPr marL="114300" indent="0" algn="l">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dis_index</a:t>
            </a:r>
            <a:r>
              <a:rPr lang="en-US" sz="1300" dirty="0">
                <a:solidFill>
                  <a:srgbClr val="000000"/>
                </a:solidFill>
                <a:latin typeface="Consolas" panose="020B0609020204030204" pitchFamily="49" charset="0"/>
              </a:rPr>
              <a:t> = 0;</a:t>
            </a:r>
          </a:p>
          <a:p>
            <a:pPr marL="114300" indent="0" algn="l">
              <a:buNone/>
            </a:pPr>
            <a:r>
              <a:rPr lang="en-US" sz="1300" dirty="0">
                <a:solidFill>
                  <a:srgbClr val="000000"/>
                </a:solidFill>
                <a:latin typeface="Consolas" panose="020B0609020204030204" pitchFamily="49" charset="0"/>
              </a:rPr>
              <a:t>    }</a:t>
            </a:r>
          </a:p>
          <a:p>
            <a:pPr marL="114300" indent="0" algn="l">
              <a:buNone/>
            </a:pPr>
            <a:r>
              <a:rPr lang="en-US" sz="1300" dirty="0">
                <a:solidFill>
                  <a:srgbClr val="000000"/>
                </a:solidFill>
                <a:latin typeface="Consolas" panose="020B0609020204030204" pitchFamily="49" charset="0"/>
              </a:rPr>
              <a:t>}</a:t>
            </a:r>
            <a:endParaRPr lang="en-US" sz="13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D3CA6CC7-A93F-57A2-0BD7-C95CAB32E27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BDB752E-3BF6-AD96-5DDE-94C7C969116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C54698F-B0D5-6C72-6E13-1D822A470EC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34922E1-37D2-FF1D-0D37-A584CA6553D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8E90496-5DC3-941E-C165-231B8734F25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1062FFF-305C-833C-7496-02777B6FFED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BA80184-241C-F4A2-77D5-426E5235EF1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6BD89C0-5095-F911-B92E-71C173B1E6B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State diagram of the LiDAR receive interrupt. State 0 waits for the character 'G', then moves to State 1, which counts header bytes, loops while the count is under 11, and returns to State 0 if the 11th byte isn't '0'. After 12 header bytes, distance bytes alternate between two states. High byte: temp equals RXC minus 0x30, shifted left 6. Low byte: dist equals temp plus RXC minus 0x30. A dist of 0 or 6 becomes MAX, 16 becomes 4096, and the result is stored in the ping/pong array. Each linefeed increments a counter. The second linefeed ends the stream, triggers SWI2, toggles the ping/pong flag, and returns to State 0.">
            <a:extLst>
              <a:ext uri="{FF2B5EF4-FFF2-40B4-BE49-F238E27FC236}">
                <a16:creationId xmlns:a16="http://schemas.microsoft.com/office/drawing/2014/main" id="{B5EBC154-0030-723B-6E07-EF9517686B53}"/>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7113660" y="1407029"/>
            <a:ext cx="5001607" cy="4675602"/>
          </a:xfrm>
          <a:prstGeom prst="rect">
            <a:avLst/>
          </a:prstGeom>
        </p:spPr>
      </p:pic>
      <p:cxnSp>
        <p:nvCxnSpPr>
          <p:cNvPr id="2" name="Straight Arrow Connector 1">
            <a:extLst>
              <a:ext uri="{FF2B5EF4-FFF2-40B4-BE49-F238E27FC236}">
                <a16:creationId xmlns:a16="http://schemas.microsoft.com/office/drawing/2014/main" id="{74090195-FF60-5C72-9A04-3257536C4577}"/>
              </a:ext>
            </a:extLst>
          </p:cNvPr>
          <p:cNvCxnSpPr>
            <a:cxnSpLocks/>
          </p:cNvCxnSpPr>
          <p:nvPr/>
        </p:nvCxnSpPr>
        <p:spPr>
          <a:xfrm flipV="1">
            <a:off x="3203597" y="2129337"/>
            <a:ext cx="5026003" cy="62025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5" name="Straight Arrow Connector 4">
            <a:extLst>
              <a:ext uri="{FF2B5EF4-FFF2-40B4-BE49-F238E27FC236}">
                <a16:creationId xmlns:a16="http://schemas.microsoft.com/office/drawing/2014/main" id="{44812BBD-B107-B8D1-3154-D66D250DB949}"/>
              </a:ext>
            </a:extLst>
          </p:cNvPr>
          <p:cNvCxnSpPr>
            <a:cxnSpLocks/>
          </p:cNvCxnSpPr>
          <p:nvPr/>
        </p:nvCxnSpPr>
        <p:spPr>
          <a:xfrm flipV="1">
            <a:off x="3376246" y="3337880"/>
            <a:ext cx="6081080" cy="1330036"/>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D2FAA7A6-BB52-5875-5C77-75017E0EFE90}"/>
              </a:ext>
            </a:extLst>
          </p:cNvPr>
          <p:cNvCxnSpPr>
            <a:cxnSpLocks/>
          </p:cNvCxnSpPr>
          <p:nvPr/>
        </p:nvCxnSpPr>
        <p:spPr>
          <a:xfrm flipV="1">
            <a:off x="4853354" y="1509080"/>
            <a:ext cx="4376286" cy="3644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110772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7DAD764-46A6-DF34-D0D1-45961C2EE89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1532E9E-E33C-3B0A-956E-030742D1E949}"/>
              </a:ext>
            </a:extLst>
          </p:cNvPr>
          <p:cNvSpPr txBox="1">
            <a:spLocks noGrp="1"/>
          </p:cNvSpPr>
          <p:nvPr>
            <p:ph type="body" idx="1"/>
          </p:nvPr>
        </p:nvSpPr>
        <p:spPr>
          <a:xfrm>
            <a:off x="376810" y="1334279"/>
            <a:ext cx="6736850"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900" dirty="0">
                <a:solidFill>
                  <a:srgbClr val="7F0055"/>
                </a:solidFill>
                <a:latin typeface="Consolas" panose="020B0609020204030204" pitchFamily="49" charset="0"/>
              </a:rPr>
              <a:t>else</a:t>
            </a: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if</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read_ladar_state</a:t>
            </a:r>
            <a:r>
              <a:rPr lang="en-US" sz="900" dirty="0">
                <a:solidFill>
                  <a:srgbClr val="000000"/>
                </a:solidFill>
                <a:latin typeface="Consolas" panose="020B0609020204030204" pitchFamily="49" charset="0"/>
              </a:rPr>
              <a:t> == 2) {</a:t>
            </a:r>
            <a:r>
              <a:rPr lang="en-US" sz="900" dirty="0">
                <a:solidFill>
                  <a:srgbClr val="3F7F5F"/>
                </a:solidFill>
                <a:latin typeface="Consolas" panose="020B0609020204030204" pitchFamily="49" charset="0"/>
              </a:rPr>
              <a:t>//get actual data</a:t>
            </a:r>
          </a:p>
          <a:p>
            <a:pPr marL="114300" indent="0" algn="l">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if</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RXCdata</a:t>
            </a:r>
            <a:r>
              <a:rPr lang="en-US" sz="900" dirty="0">
                <a:solidFill>
                  <a:srgbClr val="000000"/>
                </a:solidFill>
                <a:latin typeface="Consolas" panose="020B0609020204030204" pitchFamily="49" charset="0"/>
              </a:rPr>
              <a:t> == 0x0a) { </a:t>
            </a:r>
            <a:r>
              <a:rPr lang="en-US" sz="900" dirty="0">
                <a:solidFill>
                  <a:srgbClr val="3F7F5F"/>
                </a:solidFill>
                <a:latin typeface="Consolas" panose="020B0609020204030204" pitchFamily="49" charset="0"/>
              </a:rPr>
              <a:t>//check for line feed</a:t>
            </a:r>
          </a:p>
          <a:p>
            <a:pPr marL="114300" indent="0" algn="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LF_count</a:t>
            </a:r>
            <a:r>
              <a:rPr lang="en-US" sz="900" dirty="0">
                <a:solidFill>
                  <a:srgbClr val="000000"/>
                </a:solidFill>
                <a:latin typeface="Consolas" panose="020B0609020204030204" pitchFamily="49" charset="0"/>
              </a:rPr>
              <a:t> += 1;</a:t>
            </a:r>
          </a:p>
          <a:p>
            <a:pPr marL="114300" indent="0" algn="l">
              <a:buNone/>
            </a:pPr>
            <a:r>
              <a:rPr lang="en-US" sz="900" dirty="0">
                <a:solidFill>
                  <a:srgbClr val="000000"/>
                </a:solidFill>
                <a:latin typeface="Consolas" panose="020B0609020204030204" pitchFamily="49" charset="0"/>
              </a:rPr>
              <a:t>    } </a:t>
            </a:r>
            <a:r>
              <a:rPr lang="en-US" sz="900" dirty="0">
                <a:solidFill>
                  <a:srgbClr val="7F0055"/>
                </a:solidFill>
                <a:latin typeface="Consolas" panose="020B0609020204030204" pitchFamily="49" charset="0"/>
              </a:rPr>
              <a:t>else</a:t>
            </a:r>
            <a:r>
              <a:rPr lang="en-US" sz="900" dirty="0">
                <a:solidFill>
                  <a:srgbClr val="000000"/>
                </a:solidFill>
                <a:latin typeface="Consolas" panose="020B0609020204030204" pitchFamily="49" charset="0"/>
              </a:rPr>
              <a:t> {</a:t>
            </a:r>
          </a:p>
          <a:p>
            <a:pPr marL="114300" indent="0" algn="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LF_count</a:t>
            </a:r>
            <a:r>
              <a:rPr lang="en-US" sz="900" dirty="0">
                <a:solidFill>
                  <a:srgbClr val="000000"/>
                </a:solidFill>
                <a:latin typeface="Consolas" panose="020B0609020204030204" pitchFamily="49" charset="0"/>
              </a:rPr>
              <a:t> = 0;</a:t>
            </a:r>
          </a:p>
          <a:p>
            <a:pPr marL="114300" indent="0" algn="l">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if</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get_dis_first</a:t>
            </a:r>
            <a:r>
              <a:rPr lang="en-US" sz="900" dirty="0">
                <a:solidFill>
                  <a:srgbClr val="000000"/>
                </a:solidFill>
                <a:latin typeface="Consolas" panose="020B0609020204030204" pitchFamily="49" charset="0"/>
              </a:rPr>
              <a:t> == 1) {</a:t>
            </a:r>
          </a:p>
          <a:p>
            <a:pPr marL="114300" indent="0" algn="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tempscid</a:t>
            </a:r>
            <a:r>
              <a:rPr lang="en-US" sz="900" dirty="0">
                <a:solidFill>
                  <a:srgbClr val="000000"/>
                </a:solidFill>
                <a:latin typeface="Consolas" panose="020B0609020204030204" pitchFamily="49" charset="0"/>
              </a:rPr>
              <a:t> = (</a:t>
            </a:r>
            <a:r>
              <a:rPr lang="en-US" sz="900" dirty="0" err="1">
                <a:solidFill>
                  <a:srgbClr val="000000"/>
                </a:solidFill>
                <a:latin typeface="Consolas" panose="020B0609020204030204" pitchFamily="49" charset="0"/>
              </a:rPr>
              <a:t>RXCdata</a:t>
            </a:r>
            <a:r>
              <a:rPr lang="en-US" sz="900" dirty="0">
                <a:solidFill>
                  <a:srgbClr val="000000"/>
                </a:solidFill>
                <a:latin typeface="Consolas" panose="020B0609020204030204" pitchFamily="49" charset="0"/>
              </a:rPr>
              <a:t> - 0x30) &lt;&lt; 6;</a:t>
            </a:r>
            <a:r>
              <a:rPr lang="en-US" sz="900" dirty="0">
                <a:solidFill>
                  <a:srgbClr val="3F7F5F"/>
                </a:solidFill>
                <a:latin typeface="Consolas" panose="020B0609020204030204" pitchFamily="49" charset="0"/>
              </a:rPr>
              <a:t>//first data is the top 6 bit of the distance reading</a:t>
            </a:r>
          </a:p>
          <a:p>
            <a:pPr marL="114300" indent="0" algn="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get_dis_first</a:t>
            </a:r>
            <a:r>
              <a:rPr lang="en-US" sz="900" dirty="0">
                <a:solidFill>
                  <a:srgbClr val="000000"/>
                </a:solidFill>
                <a:latin typeface="Consolas" panose="020B0609020204030204" pitchFamily="49" charset="0"/>
              </a:rPr>
              <a:t> = 0;</a:t>
            </a:r>
          </a:p>
          <a:p>
            <a:pPr marL="114300" indent="0" algn="l">
              <a:buNone/>
            </a:pPr>
            <a:r>
              <a:rPr lang="en-US" sz="900" dirty="0">
                <a:solidFill>
                  <a:srgbClr val="000000"/>
                </a:solidFill>
                <a:latin typeface="Consolas" panose="020B0609020204030204" pitchFamily="49" charset="0"/>
              </a:rPr>
              <a:t>        } </a:t>
            </a:r>
            <a:r>
              <a:rPr lang="en-US" sz="900" dirty="0">
                <a:solidFill>
                  <a:srgbClr val="7F0055"/>
                </a:solidFill>
                <a:latin typeface="Consolas" panose="020B0609020204030204" pitchFamily="49" charset="0"/>
              </a:rPr>
              <a:t>else</a:t>
            </a: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if</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get_dis_first</a:t>
            </a:r>
            <a:r>
              <a:rPr lang="en-US" sz="900" dirty="0">
                <a:solidFill>
                  <a:srgbClr val="000000"/>
                </a:solidFill>
                <a:latin typeface="Consolas" panose="020B0609020204030204" pitchFamily="49" charset="0"/>
              </a:rPr>
              <a:t> == 0) {</a:t>
            </a:r>
          </a:p>
          <a:p>
            <a:pPr marL="114300" indent="0" algn="l">
              <a:buNone/>
            </a:pPr>
            <a:r>
              <a:rPr lang="en-US" sz="900" dirty="0">
                <a:solidFill>
                  <a:srgbClr val="000000"/>
                </a:solidFill>
                <a:latin typeface="Consolas" panose="020B0609020204030204" pitchFamily="49" charset="0"/>
              </a:rPr>
              <a:t>            </a:t>
            </a:r>
            <a:r>
              <a:rPr lang="en-US" sz="900" b="1" dirty="0">
                <a:solidFill>
                  <a:srgbClr val="3F7F5F"/>
                </a:solidFill>
                <a:latin typeface="Consolas" panose="020B0609020204030204" pitchFamily="49" charset="0"/>
              </a:rPr>
              <a:t>// Continued to next slide</a:t>
            </a:r>
          </a:p>
          <a:p>
            <a:pPr marL="114300" indent="0" algn="l">
              <a:buNone/>
            </a:pPr>
            <a:r>
              <a:rPr lang="en-US" sz="900" dirty="0">
                <a:solidFill>
                  <a:srgbClr val="000000"/>
                </a:solidFill>
                <a:latin typeface="Consolas" panose="020B0609020204030204" pitchFamily="49" charset="0"/>
              </a:rPr>
              <a:t>        }</a:t>
            </a:r>
          </a:p>
          <a:p>
            <a:pPr marL="114300" indent="0" algn="l">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if</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LF_count</a:t>
            </a:r>
            <a:r>
              <a:rPr lang="en-US" sz="900" dirty="0">
                <a:solidFill>
                  <a:srgbClr val="000000"/>
                </a:solidFill>
                <a:latin typeface="Consolas" panose="020B0609020204030204" pitchFamily="49" charset="0"/>
              </a:rPr>
              <a:t> == 2) { </a:t>
            </a:r>
            <a:r>
              <a:rPr lang="en-US" sz="900" dirty="0">
                <a:solidFill>
                  <a:srgbClr val="3F7F5F"/>
                </a:solidFill>
                <a:latin typeface="Consolas" panose="020B0609020204030204" pitchFamily="49" charset="0"/>
              </a:rPr>
              <a:t>//two consecutive line feed means the end of the current data stream</a:t>
            </a:r>
          </a:p>
          <a:p>
            <a:pPr marL="114300" indent="0" algn="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read_ladar_state</a:t>
            </a:r>
            <a:r>
              <a:rPr lang="en-US" sz="900" dirty="0">
                <a:solidFill>
                  <a:srgbClr val="000000"/>
                </a:solidFill>
                <a:latin typeface="Consolas" panose="020B0609020204030204" pitchFamily="49" charset="0"/>
              </a:rPr>
              <a:t> = 0;</a:t>
            </a:r>
          </a:p>
          <a:p>
            <a:pPr marL="114300" indent="0" algn="l">
              <a:buNone/>
            </a:pPr>
            <a:r>
              <a:rPr lang="fr-FR" sz="900" dirty="0">
                <a:solidFill>
                  <a:srgbClr val="000000"/>
                </a:solidFill>
                <a:latin typeface="Consolas" panose="020B0609020204030204" pitchFamily="49" charset="0"/>
              </a:rPr>
              <a:t>        </a:t>
            </a:r>
            <a:r>
              <a:rPr lang="fr-FR" sz="900" dirty="0" err="1">
                <a:solidFill>
                  <a:srgbClr val="000000"/>
                </a:solidFill>
                <a:latin typeface="Consolas" panose="020B0609020204030204" pitchFamily="49" charset="0"/>
              </a:rPr>
              <a:t>print_dis_index</a:t>
            </a:r>
            <a:r>
              <a:rPr lang="fr-FR" sz="900" dirty="0">
                <a:solidFill>
                  <a:srgbClr val="000000"/>
                </a:solidFill>
                <a:latin typeface="Consolas" panose="020B0609020204030204" pitchFamily="49" charset="0"/>
              </a:rPr>
              <a:t> = </a:t>
            </a:r>
            <a:r>
              <a:rPr lang="fr-FR" sz="900" dirty="0" err="1">
                <a:solidFill>
                  <a:srgbClr val="000000"/>
                </a:solidFill>
                <a:latin typeface="Consolas" panose="020B0609020204030204" pitchFamily="49" charset="0"/>
              </a:rPr>
              <a:t>dis_index</a:t>
            </a:r>
            <a:r>
              <a:rPr lang="fr-FR" sz="900" dirty="0">
                <a:solidFill>
                  <a:srgbClr val="000000"/>
                </a:solidFill>
                <a:latin typeface="Consolas" panose="020B0609020204030204" pitchFamily="49" charset="0"/>
              </a:rPr>
              <a:t>;</a:t>
            </a:r>
          </a:p>
          <a:p>
            <a:pPr marL="114300" indent="0" algn="l">
              <a:buNone/>
            </a:pPr>
            <a:r>
              <a:rPr lang="en-US" sz="900" dirty="0">
                <a:solidFill>
                  <a:srgbClr val="000000"/>
                </a:solidFill>
                <a:latin typeface="Consolas" panose="020B0609020204030204" pitchFamily="49" charset="0"/>
              </a:rPr>
              <a:t>        PieCtrlRegs.</a:t>
            </a:r>
            <a:r>
              <a:rPr lang="en-US" sz="900" dirty="0">
                <a:solidFill>
                  <a:srgbClr val="0000C0"/>
                </a:solidFill>
                <a:latin typeface="Consolas" panose="020B0609020204030204" pitchFamily="49" charset="0"/>
              </a:rPr>
              <a:t>PIEIFR12</a:t>
            </a:r>
            <a:r>
              <a:rPr lang="en-US" sz="900" dirty="0">
                <a:solidFill>
                  <a:srgbClr val="000000"/>
                </a:solidFill>
                <a:latin typeface="Consolas" panose="020B0609020204030204" pitchFamily="49" charset="0"/>
              </a:rPr>
              <a:t>.</a:t>
            </a:r>
            <a:r>
              <a:rPr lang="en-US" sz="900" dirty="0">
                <a:solidFill>
                  <a:srgbClr val="0000C0"/>
                </a:solidFill>
                <a:latin typeface="Consolas" panose="020B0609020204030204" pitchFamily="49" charset="0"/>
              </a:rPr>
              <a:t>bit</a:t>
            </a:r>
            <a:r>
              <a:rPr lang="en-US" sz="900" dirty="0">
                <a:solidFill>
                  <a:srgbClr val="000000"/>
                </a:solidFill>
                <a:latin typeface="Consolas" panose="020B0609020204030204" pitchFamily="49" charset="0"/>
              </a:rPr>
              <a:t>.</a:t>
            </a:r>
            <a:r>
              <a:rPr lang="en-US" sz="900" dirty="0">
                <a:solidFill>
                  <a:srgbClr val="0000C0"/>
                </a:solidFill>
                <a:latin typeface="Consolas" panose="020B0609020204030204" pitchFamily="49" charset="0"/>
              </a:rPr>
              <a:t>INTx10</a:t>
            </a:r>
            <a:r>
              <a:rPr lang="en-US" sz="900" dirty="0">
                <a:solidFill>
                  <a:srgbClr val="000000"/>
                </a:solidFill>
                <a:latin typeface="Consolas" panose="020B0609020204030204" pitchFamily="49" charset="0"/>
              </a:rPr>
              <a:t> = 1; </a:t>
            </a:r>
            <a:r>
              <a:rPr lang="en-US" sz="900" dirty="0">
                <a:solidFill>
                  <a:srgbClr val="3F7F5F"/>
                </a:solidFill>
                <a:latin typeface="Consolas" panose="020B0609020204030204" pitchFamily="49" charset="0"/>
              </a:rPr>
              <a:t>// Manually cause the interrupt for the SWI2</a:t>
            </a:r>
          </a:p>
          <a:p>
            <a:pPr marL="114300" indent="0" algn="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LADARpingpong</a:t>
            </a:r>
            <a:r>
              <a:rPr lang="en-US" sz="900" dirty="0">
                <a:solidFill>
                  <a:srgbClr val="000000"/>
                </a:solidFill>
                <a:latin typeface="Consolas" panose="020B0609020204030204" pitchFamily="49" charset="0"/>
              </a:rPr>
              <a:t> = 1-LADARpingpong;</a:t>
            </a:r>
          </a:p>
          <a:p>
            <a:pPr marL="114300" indent="0" algn="l">
              <a:buNone/>
            </a:pPr>
            <a:r>
              <a:rPr lang="en-US" sz="900" dirty="0">
                <a:solidFill>
                  <a:srgbClr val="000000"/>
                </a:solidFill>
                <a:latin typeface="Consolas" panose="020B0609020204030204" pitchFamily="49" charset="0"/>
              </a:rPr>
              <a:t>    }</a:t>
            </a:r>
          </a:p>
          <a:p>
            <a:pPr marL="114300" indent="0" algn="l">
              <a:buNone/>
            </a:pPr>
            <a:r>
              <a:rPr lang="en-US" sz="900" dirty="0">
                <a:solidFill>
                  <a:srgbClr val="000000"/>
                </a:solidFill>
                <a:latin typeface="Consolas" panose="020B0609020204030204" pitchFamily="49" charset="0"/>
              </a:rPr>
              <a:t>}</a:t>
            </a:r>
          </a:p>
        </p:txBody>
      </p:sp>
      <p:sp>
        <p:nvSpPr>
          <p:cNvPr id="119" name="Google Shape;119;p29">
            <a:extLst>
              <a:ext uri="{FF2B5EF4-FFF2-40B4-BE49-F238E27FC236}">
                <a16:creationId xmlns:a16="http://schemas.microsoft.com/office/drawing/2014/main" id="{39BC8C54-5418-C945-F362-D7FADA06A17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97B00C5-33B1-7655-A1A7-0F2BB107221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6982727-61DC-0628-69C7-4867E2A526C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2D71A19-5222-9F12-0EA5-451BAA6B6F8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A3F28AD-0134-44B4-B0ED-763CA95A934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BDEB74C-A86D-3171-EB66-0F92576221A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C949207-32A5-3BD4-9FBF-11B54B90A69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BD156F1-CB89-4234-EF7E-B9954C27BC7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State diagram of the LiDAR receive interrupt. State 0 waits for the character 'G', then moves to State 1, which counts header bytes, loops while the count is under 11, and returns to State 0 if the 11th byte isn't '0'. After 12 header bytes, distance bytes alternate between two states. High byte: temp equals RXC minus 0x30, shifted left 6. Low byte: dist equals temp plus RXC minus 0x30. A dist of 0 or 6 becomes MAX, 16 becomes 4096, and the result is stored in the ping/pong array. Each linefeed increments a counter. The second linefeed ends the stream, triggers SWI2, toggles the ping/pong flag, and returns to State 0.">
            <a:extLst>
              <a:ext uri="{FF2B5EF4-FFF2-40B4-BE49-F238E27FC236}">
                <a16:creationId xmlns:a16="http://schemas.microsoft.com/office/drawing/2014/main" id="{1D699870-7E14-EDEE-84C3-89063CD246F4}"/>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7113660" y="1407029"/>
            <a:ext cx="5001607" cy="4675602"/>
          </a:xfrm>
          <a:prstGeom prst="rect">
            <a:avLst/>
          </a:prstGeom>
        </p:spPr>
      </p:pic>
      <p:cxnSp>
        <p:nvCxnSpPr>
          <p:cNvPr id="3" name="Straight Arrow Connector 2">
            <a:extLst>
              <a:ext uri="{FF2B5EF4-FFF2-40B4-BE49-F238E27FC236}">
                <a16:creationId xmlns:a16="http://schemas.microsoft.com/office/drawing/2014/main" id="{9BF815D3-E8EA-BB22-553E-0DE05764CB78}"/>
              </a:ext>
            </a:extLst>
          </p:cNvPr>
          <p:cNvCxnSpPr>
            <a:cxnSpLocks/>
          </p:cNvCxnSpPr>
          <p:nvPr/>
        </p:nvCxnSpPr>
        <p:spPr>
          <a:xfrm>
            <a:off x="3785488" y="1982266"/>
            <a:ext cx="4476084" cy="1112626"/>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B940842F-E476-833D-7352-646406CF54EB}"/>
              </a:ext>
            </a:extLst>
          </p:cNvPr>
          <p:cNvCxnSpPr>
            <a:cxnSpLocks/>
          </p:cNvCxnSpPr>
          <p:nvPr/>
        </p:nvCxnSpPr>
        <p:spPr>
          <a:xfrm>
            <a:off x="3018159" y="3299513"/>
            <a:ext cx="5908431" cy="85685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E62F9886-F140-65A8-9E72-EF53AB020D92}"/>
              </a:ext>
            </a:extLst>
          </p:cNvPr>
          <p:cNvCxnSpPr>
            <a:cxnSpLocks/>
          </p:cNvCxnSpPr>
          <p:nvPr/>
        </p:nvCxnSpPr>
        <p:spPr>
          <a:xfrm>
            <a:off x="3203597" y="3964531"/>
            <a:ext cx="6925141" cy="49237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0BED9F4B-B336-7215-A96A-E03BFC81EC54}"/>
              </a:ext>
            </a:extLst>
          </p:cNvPr>
          <p:cNvCxnSpPr>
            <a:cxnSpLocks/>
          </p:cNvCxnSpPr>
          <p:nvPr/>
        </p:nvCxnSpPr>
        <p:spPr>
          <a:xfrm>
            <a:off x="3280330" y="5256200"/>
            <a:ext cx="6560660" cy="12788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971411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BA2C0EC-F738-DC93-3CAE-3A879E8313A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D72E96D-022E-3101-F542-218FB38CDD3E}"/>
              </a:ext>
            </a:extLst>
          </p:cNvPr>
          <p:cNvSpPr txBox="1">
            <a:spLocks noGrp="1"/>
          </p:cNvSpPr>
          <p:nvPr>
            <p:ph type="body" idx="1"/>
          </p:nvPr>
        </p:nvSpPr>
        <p:spPr>
          <a:xfrm>
            <a:off x="376810" y="1334279"/>
            <a:ext cx="6736850" cy="4821102"/>
          </a:xfrm>
          <a:prstGeom prst="rect">
            <a:avLst/>
          </a:prstGeom>
          <a:noFill/>
          <a:ln>
            <a:noFill/>
          </a:ln>
        </p:spPr>
        <p:txBody>
          <a:bodyPr spcFirstLastPara="1" wrap="square" lIns="91425" tIns="45700" rIns="91425" bIns="45700" anchor="t" anchorCtr="0">
            <a:noAutofit/>
          </a:bodyPr>
          <a:lstStyle/>
          <a:p>
            <a:pPr marL="114300" indent="0" algn="l">
              <a:lnSpc>
                <a:spcPct val="100000"/>
              </a:lnSpc>
              <a:spcBef>
                <a:spcPts val="0"/>
              </a:spcBef>
              <a:buNone/>
            </a:pPr>
            <a:r>
              <a:rPr lang="en-US" sz="1000" dirty="0">
                <a:solidFill>
                  <a:srgbClr val="7F0055"/>
                </a:solidFill>
                <a:latin typeface="Consolas" panose="020B0609020204030204" pitchFamily="49" charset="0"/>
              </a:rPr>
              <a:t>else</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get_dis_first</a:t>
            </a:r>
            <a:r>
              <a:rPr lang="en-US" sz="1000" dirty="0">
                <a:solidFill>
                  <a:srgbClr val="000000"/>
                </a:solidFill>
                <a:latin typeface="Consolas" panose="020B0609020204030204" pitchFamily="49" charset="0"/>
              </a:rPr>
              <a:t> == 0) {</a:t>
            </a:r>
          </a:p>
          <a:p>
            <a:pPr marL="114300" indent="0" algn="l">
              <a:lnSpc>
                <a:spcPct val="100000"/>
              </a:lnSpc>
              <a:spcBef>
                <a:spcPts val="0"/>
              </a:spcBef>
              <a:buNone/>
            </a:pPr>
            <a:r>
              <a:rPr lang="en-US" sz="1000" dirty="0">
                <a:solidFill>
                  <a:srgbClr val="000000"/>
                </a:solidFill>
                <a:latin typeface="Consolas" panose="020B0609020204030204" pitchFamily="49" charset="0"/>
              </a:rPr>
              <a:t>    distance = </a:t>
            </a:r>
            <a:r>
              <a:rPr lang="en-US" sz="1000" dirty="0" err="1">
                <a:solidFill>
                  <a:srgbClr val="000000"/>
                </a:solidFill>
                <a:latin typeface="Consolas" panose="020B0609020204030204" pitchFamily="49" charset="0"/>
              </a:rPr>
              <a:t>tempscid</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RXCdata</a:t>
            </a:r>
            <a:r>
              <a:rPr lang="en-US" sz="1000" dirty="0">
                <a:solidFill>
                  <a:srgbClr val="000000"/>
                </a:solidFill>
                <a:latin typeface="Consolas" panose="020B0609020204030204" pitchFamily="49" charset="0"/>
              </a:rPr>
              <a:t> - 0x30);</a:t>
            </a:r>
            <a:r>
              <a:rPr lang="en-US" sz="1000" dirty="0">
                <a:solidFill>
                  <a:srgbClr val="3F7F5F"/>
                </a:solidFill>
                <a:latin typeface="Consolas" panose="020B0609020204030204" pitchFamily="49" charset="0"/>
              </a:rPr>
              <a:t>//second data is the bottom 6 bit of the distance reading</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 (distance == 0 || distance == 6) {</a:t>
            </a:r>
            <a:r>
              <a:rPr lang="en-US" sz="1000" dirty="0">
                <a:solidFill>
                  <a:srgbClr val="3F7F5F"/>
                </a:solidFill>
                <a:latin typeface="Consolas" panose="020B0609020204030204" pitchFamily="49" charset="0"/>
              </a:rPr>
              <a:t>//error code</a:t>
            </a:r>
          </a:p>
          <a:p>
            <a:pPr marL="114300" indent="0" algn="l">
              <a:lnSpc>
                <a:spcPct val="100000"/>
              </a:lnSpc>
              <a:spcBef>
                <a:spcPts val="0"/>
              </a:spcBef>
              <a:buNone/>
            </a:pPr>
            <a:r>
              <a:rPr lang="en-US" sz="1000" dirty="0">
                <a:solidFill>
                  <a:srgbClr val="000000"/>
                </a:solidFill>
                <a:latin typeface="Consolas" panose="020B0609020204030204" pitchFamily="49" charset="0"/>
              </a:rPr>
              <a:t>        distance = LADAR_MAX_READING; </a:t>
            </a:r>
            <a:r>
              <a:rPr lang="en-US" sz="1000" dirty="0">
                <a:solidFill>
                  <a:srgbClr val="3F7F5F"/>
                </a:solidFill>
                <a:latin typeface="Consolas" panose="020B0609020204030204" pitchFamily="49" charset="0"/>
              </a:rPr>
              <a:t>//set to the max reading</a:t>
            </a:r>
          </a:p>
          <a:p>
            <a:pPr marL="114300" indent="0" algn="l">
              <a:lnSpc>
                <a:spcPct val="100000"/>
              </a:lnSpc>
              <a:spcBef>
                <a:spcPts val="0"/>
              </a:spcBef>
              <a:buNone/>
            </a:pPr>
            <a:r>
              <a:rPr lang="en-US" sz="1000" dirty="0">
                <a:solidFill>
                  <a:srgbClr val="000000"/>
                </a:solidFill>
                <a:latin typeface="Consolas" panose="020B0609020204030204" pitchFamily="49" charset="0"/>
              </a:rPr>
              <a:t>    } </a:t>
            </a:r>
            <a:r>
              <a:rPr lang="en-US" sz="1000" dirty="0">
                <a:solidFill>
                  <a:srgbClr val="7F0055"/>
                </a:solidFill>
                <a:latin typeface="Consolas" panose="020B0609020204030204" pitchFamily="49" charset="0"/>
              </a:rPr>
              <a:t>else</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 (distance == 16) { </a:t>
            </a:r>
            <a:r>
              <a:rPr lang="en-US" sz="1000" dirty="0">
                <a:solidFill>
                  <a:srgbClr val="3F7F5F"/>
                </a:solidFill>
                <a:latin typeface="Consolas" panose="020B0609020204030204" pitchFamily="49" charset="0"/>
              </a:rPr>
              <a:t>//distance is 4096mm</a:t>
            </a:r>
          </a:p>
          <a:p>
            <a:pPr marL="114300" indent="0" algn="l">
              <a:lnSpc>
                <a:spcPct val="100000"/>
              </a:lnSpc>
              <a:spcBef>
                <a:spcPts val="0"/>
              </a:spcBef>
              <a:buNone/>
            </a:pPr>
            <a:r>
              <a:rPr lang="en-US" sz="1000" dirty="0">
                <a:solidFill>
                  <a:srgbClr val="000000"/>
                </a:solidFill>
                <a:latin typeface="Consolas" panose="020B0609020204030204" pitchFamily="49" charset="0"/>
              </a:rPr>
              <a:t>        distance = 4096;</a:t>
            </a:r>
          </a:p>
          <a:p>
            <a:pPr marL="114300" indent="0" algn="l">
              <a:lnSpc>
                <a:spcPct val="100000"/>
              </a:lnSpc>
              <a:spcBef>
                <a:spcPts val="0"/>
              </a:spcBef>
              <a:buNone/>
            </a:pPr>
            <a:r>
              <a:rPr lang="en-US" sz="1000" dirty="0">
                <a:solidFill>
                  <a:srgbClr val="000000"/>
                </a:solidFill>
                <a:latin typeface="Consolas" panose="020B0609020204030204" pitchFamily="49" charset="0"/>
              </a:rPr>
              <a:t>    }</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LADARpingpong</a:t>
            </a:r>
            <a:r>
              <a:rPr lang="en-US" sz="1000" dirty="0">
                <a:solidFill>
                  <a:srgbClr val="000000"/>
                </a:solidFill>
                <a:latin typeface="Consolas" panose="020B0609020204030204" pitchFamily="49" charset="0"/>
              </a:rPr>
              <a:t> == 0) {</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checkdist</a:t>
            </a:r>
            <a:r>
              <a:rPr lang="en-US" sz="1000" dirty="0">
                <a:solidFill>
                  <a:srgbClr val="000000"/>
                </a:solidFill>
                <a:latin typeface="Consolas" panose="020B0609020204030204" pitchFamily="49" charset="0"/>
              </a:rPr>
              <a:t> = distance*0.00328084;</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checkdist</a:t>
            </a:r>
            <a:r>
              <a:rPr lang="en-US" sz="1000" dirty="0">
                <a:solidFill>
                  <a:srgbClr val="000000"/>
                </a:solidFill>
                <a:latin typeface="Consolas" panose="020B0609020204030204" pitchFamily="49" charset="0"/>
              </a:rPr>
              <a:t> &gt; 0.0) &amp;&amp; (</a:t>
            </a:r>
            <a:r>
              <a:rPr lang="en-US" sz="1000" dirty="0" err="1">
                <a:solidFill>
                  <a:srgbClr val="000000"/>
                </a:solidFill>
                <a:latin typeface="Consolas" panose="020B0609020204030204" pitchFamily="49" charset="0"/>
              </a:rPr>
              <a:t>checkdist</a:t>
            </a:r>
            <a:r>
              <a:rPr lang="en-US" sz="1000" dirty="0">
                <a:solidFill>
                  <a:srgbClr val="000000"/>
                </a:solidFill>
                <a:latin typeface="Consolas" panose="020B0609020204030204" pitchFamily="49" charset="0"/>
              </a:rPr>
              <a:t> &lt; 20.0)) {</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ladar_data</a:t>
            </a:r>
            <a:r>
              <a:rPr lang="en-US" sz="1000" dirty="0">
                <a:solidFill>
                  <a:srgbClr val="000000"/>
                </a:solidFill>
                <a:latin typeface="Consolas" panose="020B0609020204030204" pitchFamily="49" charset="0"/>
              </a:rPr>
              <a:t>[</a:t>
            </a:r>
            <a:r>
              <a:rPr lang="en-US" sz="1000" dirty="0" err="1">
                <a:solidFill>
                  <a:srgbClr val="000000"/>
                </a:solidFill>
                <a:latin typeface="Consolas" panose="020B0609020204030204" pitchFamily="49" charset="0"/>
              </a:rPr>
              <a:t>dis_index</a:t>
            </a:r>
            <a:r>
              <a:rPr lang="en-US" sz="1000" dirty="0">
                <a:solidFill>
                  <a:srgbClr val="000000"/>
                </a:solidFill>
                <a:latin typeface="Consolas" panose="020B0609020204030204" pitchFamily="49" charset="0"/>
              </a:rPr>
              <a:t>].</a:t>
            </a:r>
            <a:r>
              <a:rPr lang="en-US" sz="1000" dirty="0" err="1">
                <a:solidFill>
                  <a:srgbClr val="0000C0"/>
                </a:solidFill>
                <a:latin typeface="Consolas" panose="020B0609020204030204" pitchFamily="49" charset="0"/>
              </a:rPr>
              <a:t>distance_ping</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checkdist</a:t>
            </a: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fill in the </a:t>
            </a:r>
            <a:r>
              <a:rPr lang="en-US" sz="1000" dirty="0" err="1">
                <a:solidFill>
                  <a:srgbClr val="3F7F5F"/>
                </a:solidFill>
                <a:latin typeface="Consolas" panose="020B0609020204030204" pitchFamily="49" charset="0"/>
              </a:rPr>
              <a:t>distance_ping</a:t>
            </a:r>
            <a:r>
              <a:rPr lang="en-US" sz="1000" dirty="0">
                <a:solidFill>
                  <a:srgbClr val="3F7F5F"/>
                </a:solidFill>
                <a:latin typeface="Consolas" panose="020B0609020204030204" pitchFamily="49" charset="0"/>
              </a:rPr>
              <a:t> array</a:t>
            </a:r>
          </a:p>
          <a:p>
            <a:pPr marL="114300" indent="0" algn="l">
              <a:lnSpc>
                <a:spcPct val="100000"/>
              </a:lnSpc>
              <a:spcBef>
                <a:spcPts val="0"/>
              </a:spcBef>
              <a:buNone/>
            </a:pPr>
            <a:r>
              <a:rPr lang="en-US" sz="1000" dirty="0">
                <a:solidFill>
                  <a:srgbClr val="000000"/>
                </a:solidFill>
                <a:latin typeface="Consolas" panose="020B0609020204030204" pitchFamily="49" charset="0"/>
              </a:rPr>
              <a:t>        } </a:t>
            </a:r>
            <a:r>
              <a:rPr lang="en-US" sz="1000" dirty="0">
                <a:solidFill>
                  <a:srgbClr val="7F0055"/>
                </a:solidFill>
                <a:latin typeface="Consolas" panose="020B0609020204030204" pitchFamily="49" charset="0"/>
              </a:rPr>
              <a:t>else</a:t>
            </a:r>
            <a:r>
              <a:rPr lang="en-US" sz="1000" dirty="0">
                <a:solidFill>
                  <a:srgbClr val="000000"/>
                </a:solidFill>
                <a:latin typeface="Consolas" panose="020B0609020204030204" pitchFamily="49" charset="0"/>
              </a:rPr>
              <a:t> {</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numRCXerrors</a:t>
            </a:r>
            <a:r>
              <a:rPr lang="en-US" sz="1000" dirty="0">
                <a:solidFill>
                  <a:srgbClr val="000000"/>
                </a:solidFill>
                <a:latin typeface="Consolas" panose="020B0609020204030204" pitchFamily="49" charset="0"/>
              </a:rPr>
              <a:t>++;</a:t>
            </a:r>
          </a:p>
          <a:p>
            <a:pPr marL="114300" indent="0" algn="l">
              <a:lnSpc>
                <a:spcPct val="100000"/>
              </a:lnSpc>
              <a:spcBef>
                <a:spcPts val="0"/>
              </a:spcBef>
              <a:buNone/>
            </a:pPr>
            <a:r>
              <a:rPr lang="pt-BR" sz="1000" dirty="0">
                <a:solidFill>
                  <a:srgbClr val="000000"/>
                </a:solidFill>
                <a:latin typeface="Consolas" panose="020B0609020204030204" pitchFamily="49" charset="0"/>
              </a:rPr>
              <a:t>            ladar_data[dis_index].</a:t>
            </a:r>
            <a:r>
              <a:rPr lang="pt-BR" sz="1000" dirty="0">
                <a:solidFill>
                  <a:srgbClr val="0000C0"/>
                </a:solidFill>
                <a:latin typeface="Consolas" panose="020B0609020204030204" pitchFamily="49" charset="0"/>
              </a:rPr>
              <a:t>distance_ping</a:t>
            </a:r>
            <a:r>
              <a:rPr lang="pt-BR" sz="1000" dirty="0">
                <a:solidFill>
                  <a:srgbClr val="000000"/>
                </a:solidFill>
                <a:latin typeface="Consolas" panose="020B0609020204030204" pitchFamily="49" charset="0"/>
              </a:rPr>
              <a:t> = ladar_data[dis_index].</a:t>
            </a:r>
            <a:r>
              <a:rPr lang="pt-BR" sz="1000" dirty="0">
                <a:solidFill>
                  <a:srgbClr val="0000C0"/>
                </a:solidFill>
                <a:latin typeface="Consolas" panose="020B0609020204030204" pitchFamily="49" charset="0"/>
              </a:rPr>
              <a:t>distance_pong</a:t>
            </a:r>
            <a:r>
              <a:rPr lang="pt-BR" sz="1000" dirty="0">
                <a:solidFill>
                  <a:srgbClr val="000000"/>
                </a:solidFill>
                <a:latin typeface="Consolas" panose="020B0609020204030204" pitchFamily="49" charset="0"/>
              </a:rPr>
              <a:t>;</a:t>
            </a:r>
          </a:p>
          <a:p>
            <a:pPr marL="114300" indent="0" algn="l">
              <a:lnSpc>
                <a:spcPct val="100000"/>
              </a:lnSpc>
              <a:spcBef>
                <a:spcPts val="0"/>
              </a:spcBef>
              <a:buNone/>
            </a:pPr>
            <a:r>
              <a:rPr lang="en-US" sz="1000" dirty="0">
                <a:solidFill>
                  <a:srgbClr val="000000"/>
                </a:solidFill>
                <a:latin typeface="Consolas" panose="020B0609020204030204" pitchFamily="49" charset="0"/>
              </a:rPr>
              <a:t>        }</a:t>
            </a:r>
          </a:p>
          <a:p>
            <a:pPr marL="114300" indent="0" algn="l">
              <a:lnSpc>
                <a:spcPct val="100000"/>
              </a:lnSpc>
              <a:spcBef>
                <a:spcPts val="0"/>
              </a:spcBef>
              <a:buNone/>
            </a:pPr>
            <a:r>
              <a:rPr lang="en-US" sz="1000" dirty="0">
                <a:solidFill>
                  <a:srgbClr val="000000"/>
                </a:solidFill>
                <a:latin typeface="Consolas" panose="020B0609020204030204" pitchFamily="49" charset="0"/>
              </a:rPr>
              <a:t>    } </a:t>
            </a:r>
            <a:r>
              <a:rPr lang="en-US" sz="1000" dirty="0">
                <a:solidFill>
                  <a:srgbClr val="7F0055"/>
                </a:solidFill>
                <a:latin typeface="Consolas" panose="020B0609020204030204" pitchFamily="49" charset="0"/>
              </a:rPr>
              <a:t>else</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LADARpingpong</a:t>
            </a:r>
            <a:r>
              <a:rPr lang="en-US" sz="1000" dirty="0">
                <a:solidFill>
                  <a:srgbClr val="000000"/>
                </a:solidFill>
                <a:latin typeface="Consolas" panose="020B0609020204030204" pitchFamily="49" charset="0"/>
              </a:rPr>
              <a:t> == 1) {</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checkdist</a:t>
            </a:r>
            <a:r>
              <a:rPr lang="en-US" sz="1000" dirty="0">
                <a:solidFill>
                  <a:srgbClr val="000000"/>
                </a:solidFill>
                <a:latin typeface="Consolas" panose="020B0609020204030204" pitchFamily="49" charset="0"/>
              </a:rPr>
              <a:t> = distance*0.00328084;</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checkdist</a:t>
            </a:r>
            <a:r>
              <a:rPr lang="en-US" sz="1000" dirty="0">
                <a:solidFill>
                  <a:srgbClr val="000000"/>
                </a:solidFill>
                <a:latin typeface="Consolas" panose="020B0609020204030204" pitchFamily="49" charset="0"/>
              </a:rPr>
              <a:t> &gt;= 0.0) &amp;&amp; (</a:t>
            </a:r>
            <a:r>
              <a:rPr lang="en-US" sz="1000" dirty="0" err="1">
                <a:solidFill>
                  <a:srgbClr val="000000"/>
                </a:solidFill>
                <a:latin typeface="Consolas" panose="020B0609020204030204" pitchFamily="49" charset="0"/>
              </a:rPr>
              <a:t>checkdist</a:t>
            </a:r>
            <a:r>
              <a:rPr lang="en-US" sz="1000" dirty="0">
                <a:solidFill>
                  <a:srgbClr val="000000"/>
                </a:solidFill>
                <a:latin typeface="Consolas" panose="020B0609020204030204" pitchFamily="49" charset="0"/>
              </a:rPr>
              <a:t> &lt; 20.0)) {</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ladar_data</a:t>
            </a:r>
            <a:r>
              <a:rPr lang="en-US" sz="1000" dirty="0">
                <a:solidFill>
                  <a:srgbClr val="000000"/>
                </a:solidFill>
                <a:latin typeface="Consolas" panose="020B0609020204030204" pitchFamily="49" charset="0"/>
              </a:rPr>
              <a:t>[</a:t>
            </a:r>
            <a:r>
              <a:rPr lang="en-US" sz="1000" dirty="0" err="1">
                <a:solidFill>
                  <a:srgbClr val="000000"/>
                </a:solidFill>
                <a:latin typeface="Consolas" panose="020B0609020204030204" pitchFamily="49" charset="0"/>
              </a:rPr>
              <a:t>dis_index</a:t>
            </a:r>
            <a:r>
              <a:rPr lang="en-US" sz="1000" dirty="0">
                <a:solidFill>
                  <a:srgbClr val="000000"/>
                </a:solidFill>
                <a:latin typeface="Consolas" panose="020B0609020204030204" pitchFamily="49" charset="0"/>
              </a:rPr>
              <a:t>].</a:t>
            </a:r>
            <a:r>
              <a:rPr lang="en-US" sz="1000" dirty="0" err="1">
                <a:solidFill>
                  <a:srgbClr val="0000C0"/>
                </a:solidFill>
                <a:latin typeface="Consolas" panose="020B0609020204030204" pitchFamily="49" charset="0"/>
              </a:rPr>
              <a:t>distance_pong</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checkdist</a:t>
            </a: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fill in the </a:t>
            </a:r>
            <a:r>
              <a:rPr lang="en-US" sz="1000" dirty="0" err="1">
                <a:solidFill>
                  <a:srgbClr val="3F7F5F"/>
                </a:solidFill>
                <a:latin typeface="Consolas" panose="020B0609020204030204" pitchFamily="49" charset="0"/>
              </a:rPr>
              <a:t>distance_ping</a:t>
            </a:r>
            <a:r>
              <a:rPr lang="en-US" sz="1000" dirty="0">
                <a:solidFill>
                  <a:srgbClr val="3F7F5F"/>
                </a:solidFill>
                <a:latin typeface="Consolas" panose="020B0609020204030204" pitchFamily="49" charset="0"/>
              </a:rPr>
              <a:t> array</a:t>
            </a:r>
          </a:p>
          <a:p>
            <a:pPr marL="114300" indent="0" algn="l">
              <a:lnSpc>
                <a:spcPct val="100000"/>
              </a:lnSpc>
              <a:spcBef>
                <a:spcPts val="0"/>
              </a:spcBef>
              <a:buNone/>
            </a:pPr>
            <a:r>
              <a:rPr lang="en-US" sz="1000" dirty="0">
                <a:solidFill>
                  <a:srgbClr val="000000"/>
                </a:solidFill>
                <a:latin typeface="Consolas" panose="020B0609020204030204" pitchFamily="49" charset="0"/>
              </a:rPr>
              <a:t>        } </a:t>
            </a:r>
            <a:r>
              <a:rPr lang="en-US" sz="1000" dirty="0">
                <a:solidFill>
                  <a:srgbClr val="7F0055"/>
                </a:solidFill>
                <a:latin typeface="Consolas" panose="020B0609020204030204" pitchFamily="49" charset="0"/>
              </a:rPr>
              <a:t>else</a:t>
            </a:r>
            <a:r>
              <a:rPr lang="en-US" sz="1000" dirty="0">
                <a:solidFill>
                  <a:srgbClr val="000000"/>
                </a:solidFill>
                <a:latin typeface="Consolas" panose="020B0609020204030204" pitchFamily="49" charset="0"/>
              </a:rPr>
              <a:t> {</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numRCXerrors</a:t>
            </a:r>
            <a:r>
              <a:rPr lang="en-US" sz="1000" dirty="0">
                <a:solidFill>
                  <a:srgbClr val="000000"/>
                </a:solidFill>
                <a:latin typeface="Consolas" panose="020B0609020204030204" pitchFamily="49" charset="0"/>
              </a:rPr>
              <a:t>++;</a:t>
            </a:r>
          </a:p>
          <a:p>
            <a:pPr marL="114300" indent="0" algn="l">
              <a:lnSpc>
                <a:spcPct val="100000"/>
              </a:lnSpc>
              <a:spcBef>
                <a:spcPts val="0"/>
              </a:spcBef>
              <a:buNone/>
            </a:pPr>
            <a:r>
              <a:rPr lang="pt-BR" sz="1000" dirty="0">
                <a:solidFill>
                  <a:srgbClr val="000000"/>
                </a:solidFill>
                <a:latin typeface="Consolas" panose="020B0609020204030204" pitchFamily="49" charset="0"/>
              </a:rPr>
              <a:t>            ladar_data[dis_index].</a:t>
            </a:r>
            <a:r>
              <a:rPr lang="pt-BR" sz="1000" dirty="0">
                <a:solidFill>
                  <a:srgbClr val="0000C0"/>
                </a:solidFill>
                <a:latin typeface="Consolas" panose="020B0609020204030204" pitchFamily="49" charset="0"/>
              </a:rPr>
              <a:t>distance_pong</a:t>
            </a:r>
            <a:r>
              <a:rPr lang="pt-BR" sz="1000" dirty="0">
                <a:solidFill>
                  <a:srgbClr val="000000"/>
                </a:solidFill>
                <a:latin typeface="Consolas" panose="020B0609020204030204" pitchFamily="49" charset="0"/>
              </a:rPr>
              <a:t> = ladar_data[dis_index].</a:t>
            </a:r>
            <a:r>
              <a:rPr lang="pt-BR" sz="1000" dirty="0">
                <a:solidFill>
                  <a:srgbClr val="0000C0"/>
                </a:solidFill>
                <a:latin typeface="Consolas" panose="020B0609020204030204" pitchFamily="49" charset="0"/>
              </a:rPr>
              <a:t>distance_ping</a:t>
            </a:r>
            <a:r>
              <a:rPr lang="pt-BR" sz="1000" dirty="0">
                <a:solidFill>
                  <a:srgbClr val="000000"/>
                </a:solidFill>
                <a:latin typeface="Consolas" panose="020B0609020204030204" pitchFamily="49" charset="0"/>
              </a:rPr>
              <a:t>;</a:t>
            </a:r>
          </a:p>
          <a:p>
            <a:pPr marL="114300" indent="0" algn="l">
              <a:lnSpc>
                <a:spcPct val="100000"/>
              </a:lnSpc>
              <a:spcBef>
                <a:spcPts val="0"/>
              </a:spcBef>
              <a:buNone/>
            </a:pPr>
            <a:r>
              <a:rPr lang="en-US" sz="1000" dirty="0">
                <a:solidFill>
                  <a:srgbClr val="000000"/>
                </a:solidFill>
                <a:latin typeface="Consolas" panose="020B0609020204030204" pitchFamily="49" charset="0"/>
              </a:rPr>
              <a:t>        }</a:t>
            </a:r>
          </a:p>
          <a:p>
            <a:pPr marL="114300" indent="0" algn="l">
              <a:lnSpc>
                <a:spcPct val="100000"/>
              </a:lnSpc>
              <a:spcBef>
                <a:spcPts val="0"/>
              </a:spcBef>
              <a:buNone/>
            </a:pPr>
            <a:r>
              <a:rPr lang="en-US" sz="1000" dirty="0">
                <a:solidFill>
                  <a:srgbClr val="000000"/>
                </a:solidFill>
                <a:latin typeface="Consolas" panose="020B0609020204030204" pitchFamily="49" charset="0"/>
              </a:rPr>
              <a:t>    }</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dis_index</a:t>
            </a:r>
            <a:r>
              <a:rPr lang="en-US" sz="1000" dirty="0">
                <a:solidFill>
                  <a:srgbClr val="000000"/>
                </a:solidFill>
                <a:latin typeface="Consolas" panose="020B0609020204030204" pitchFamily="49" charset="0"/>
              </a:rPr>
              <a:t> += 1;</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get_dis_first</a:t>
            </a:r>
            <a:r>
              <a:rPr lang="en-US" sz="1000" dirty="0">
                <a:solidFill>
                  <a:srgbClr val="000000"/>
                </a:solidFill>
                <a:latin typeface="Consolas" panose="020B0609020204030204" pitchFamily="49" charset="0"/>
              </a:rPr>
              <a:t> = 1;</a:t>
            </a:r>
          </a:p>
          <a:p>
            <a:pPr marL="114300" indent="0" algn="l">
              <a:lnSpc>
                <a:spcPct val="100000"/>
              </a:lnSpc>
              <a:spcBef>
                <a:spcPts val="0"/>
              </a:spcBef>
              <a:buNone/>
            </a:pPr>
            <a:r>
              <a:rPr lang="en-US" sz="1000" dirty="0">
                <a:solidFill>
                  <a:srgbClr val="000000"/>
                </a:solidFill>
                <a:latin typeface="Consolas" panose="020B0609020204030204" pitchFamily="49" charset="0"/>
              </a:rPr>
              <a:t>}</a:t>
            </a:r>
          </a:p>
        </p:txBody>
      </p:sp>
      <p:sp>
        <p:nvSpPr>
          <p:cNvPr id="119" name="Google Shape;119;p29">
            <a:extLst>
              <a:ext uri="{FF2B5EF4-FFF2-40B4-BE49-F238E27FC236}">
                <a16:creationId xmlns:a16="http://schemas.microsoft.com/office/drawing/2014/main" id="{0B3CE8DB-5DCD-1834-0EC2-AC494087DED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3F1989E-7E72-E12E-CBF4-4387012E648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40787D7-E78B-BDF5-4224-B9DC28341FE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135F7AB-A202-7550-0B2B-DAE23326333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FA29C4F-09B6-4A6A-3916-EEF9EF7DD3A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F46B3E7-E003-048A-0D42-3C8EEF4D1CC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3166C7D-1A6F-9173-FD5F-86B059BD3B4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9A45A7B-4603-B5EA-5B1B-CBE095C5557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State diagram of the LiDAR receive interrupt. State 0 waits for the character 'G', then moves to State 1, which counts header bytes, loops while the count is under 11, and returns to State 0 if the 11th byte isn't '0'. After 12 header bytes, distance bytes alternate between two states. High byte: temp equals RXC minus 0x30, shifted left 6. Low byte: dist equals temp plus RXC minus 0x30. A dist of 0 or 6 becomes MAX, 16 becomes 4096, and the result is stored in the ping/pong array. Each linefeed increments a counter. The second linefeed ends the stream, triggers SWI2, toggles the ping/pong flag, and returns to State 0.">
            <a:extLst>
              <a:ext uri="{FF2B5EF4-FFF2-40B4-BE49-F238E27FC236}">
                <a16:creationId xmlns:a16="http://schemas.microsoft.com/office/drawing/2014/main" id="{4C8F5941-36FB-E6BC-27C0-9366122C7FD0}"/>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7113660" y="1407029"/>
            <a:ext cx="5001607" cy="4675602"/>
          </a:xfrm>
          <a:prstGeom prst="rect">
            <a:avLst/>
          </a:prstGeom>
        </p:spPr>
      </p:pic>
      <p:cxnSp>
        <p:nvCxnSpPr>
          <p:cNvPr id="2" name="Straight Arrow Connector 1">
            <a:extLst>
              <a:ext uri="{FF2B5EF4-FFF2-40B4-BE49-F238E27FC236}">
                <a16:creationId xmlns:a16="http://schemas.microsoft.com/office/drawing/2014/main" id="{324227F1-34B0-FA28-BF0E-E64A8CD1C1D4}"/>
              </a:ext>
            </a:extLst>
          </p:cNvPr>
          <p:cNvCxnSpPr>
            <a:cxnSpLocks/>
          </p:cNvCxnSpPr>
          <p:nvPr/>
        </p:nvCxnSpPr>
        <p:spPr>
          <a:xfrm>
            <a:off x="5078341" y="2052604"/>
            <a:ext cx="5952009" cy="21932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5" name="Straight Arrow Connector 4">
            <a:extLst>
              <a:ext uri="{FF2B5EF4-FFF2-40B4-BE49-F238E27FC236}">
                <a16:creationId xmlns:a16="http://schemas.microsoft.com/office/drawing/2014/main" id="{28300E78-DEEA-DA76-6469-445A46667755}"/>
              </a:ext>
            </a:extLst>
          </p:cNvPr>
          <p:cNvCxnSpPr>
            <a:cxnSpLocks/>
          </p:cNvCxnSpPr>
          <p:nvPr/>
        </p:nvCxnSpPr>
        <p:spPr>
          <a:xfrm>
            <a:off x="6096000" y="3273936"/>
            <a:ext cx="4934350" cy="112541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CE89ACE3-4228-99D1-3DDD-0763BCC07D3A}"/>
              </a:ext>
            </a:extLst>
          </p:cNvPr>
          <p:cNvCxnSpPr>
            <a:cxnSpLocks/>
          </p:cNvCxnSpPr>
          <p:nvPr/>
        </p:nvCxnSpPr>
        <p:spPr>
          <a:xfrm flipV="1">
            <a:off x="6912352" y="4399351"/>
            <a:ext cx="4117998" cy="12788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600948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18">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18">
                                            <p:txEl>
                                              <p:pRg st="9" end="9"/>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18">
                                            <p:txEl>
                                              <p:pRg st="11" end="11"/>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18">
                                            <p:txEl>
                                              <p:pRg st="13" end="13"/>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18">
                                            <p:txEl>
                                              <p:pRg st="14" end="14"/>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5"/>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118">
                                            <p:txEl>
                                              <p:pRg st="15" end="15"/>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18">
                                            <p:txEl>
                                              <p:pRg st="16" end="16"/>
                                            </p:txEl>
                                          </p:spTgt>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18">
                                            <p:txEl>
                                              <p:pRg st="17" end="17"/>
                                            </p:txEl>
                                          </p:spTgt>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18">
                                            <p:txEl>
                                              <p:pRg st="18" end="18"/>
                                            </p:txEl>
                                          </p:spTgt>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118">
                                            <p:txEl>
                                              <p:pRg st="19" end="19"/>
                                            </p:txEl>
                                          </p:spTgt>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118">
                                            <p:txEl>
                                              <p:pRg st="20" end="20"/>
                                            </p:txEl>
                                          </p:spTgt>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118">
                                            <p:txEl>
                                              <p:pRg st="21" end="21"/>
                                            </p:txEl>
                                          </p:spTgt>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118">
                                            <p:txEl>
                                              <p:pRg st="22" end="22"/>
                                            </p:txEl>
                                          </p:spTgt>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118">
                                            <p:txEl>
                                              <p:pRg st="23" end="23"/>
                                            </p:txEl>
                                          </p:spTgt>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9"/>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118">
                                            <p:txEl>
                                              <p:pRg st="24" end="24"/>
                                            </p:txEl>
                                          </p:spTgt>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118">
                                            <p:txEl>
                                              <p:pRg st="25" end="2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9CC9664-B147-D3FC-9140-283B7592E82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1BBBC79-743B-441A-93AC-C9413A33A63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latin typeface="Atkinson Hyperlegible Next"/>
                <a:ea typeface="Arial"/>
                <a:cs typeface="Arial"/>
                <a:sym typeface="Arial"/>
              </a:rPr>
              <a:t>The sensor has a scanning speed of 100 msec / scan ( so 10 Hz ) and we want to communicate with at a baud rate of 115200.</a:t>
            </a:r>
          </a:p>
          <a:p>
            <a:pPr marL="285750" indent="-285750">
              <a:lnSpc>
                <a:spcPct val="100000"/>
              </a:lnSpc>
              <a:spcBef>
                <a:spcPts val="0"/>
              </a:spcBef>
              <a:buSzPts val="3000"/>
            </a:pPr>
            <a:r>
              <a:rPr lang="en-US" sz="1800" dirty="0">
                <a:latin typeface="Atkinson Hyperlegible Next"/>
                <a:ea typeface="Arial"/>
                <a:cs typeface="Arial"/>
                <a:sym typeface="Arial"/>
              </a:rPr>
              <a:t>As such in the main function we do the initialization:</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200" dirty="0" err="1">
                <a:solidFill>
                  <a:srgbClr val="642880"/>
                </a:solidFill>
                <a:latin typeface="Consolas" panose="020B0609020204030204" pitchFamily="49" charset="0"/>
              </a:rPr>
              <a:t>ConfigCpuTimer</a:t>
            </a:r>
            <a:r>
              <a:rPr lang="en-US" sz="1200" dirty="0">
                <a:solidFill>
                  <a:srgbClr val="000000"/>
                </a:solidFill>
                <a:latin typeface="Consolas" panose="020B0609020204030204" pitchFamily="49" charset="0"/>
              </a:rPr>
              <a:t>(&amp;CpuTimer1, LAUNCHPAD_CPU_FREQUENCY, 100000); </a:t>
            </a:r>
            <a:r>
              <a:rPr lang="en-US" sz="1200" dirty="0">
                <a:solidFill>
                  <a:srgbClr val="3F7F5F"/>
                </a:solidFill>
                <a:latin typeface="Consolas" panose="020B0609020204030204" pitchFamily="49" charset="0"/>
              </a:rPr>
              <a:t>// 10 Hz timer</a:t>
            </a:r>
            <a:endParaRPr lang="en-US" sz="1200" dirty="0">
              <a:solidFill>
                <a:srgbClr val="000000"/>
              </a:solidFill>
              <a:latin typeface="Consolas" panose="020B0609020204030204" pitchFamily="49" charset="0"/>
              <a:cs typeface="Arial"/>
              <a:sym typeface="Arial"/>
            </a:endParaRPr>
          </a:p>
          <a:p>
            <a:pPr marL="0" indent="0">
              <a:lnSpc>
                <a:spcPct val="100000"/>
              </a:lnSpc>
              <a:spcBef>
                <a:spcPts val="0"/>
              </a:spcBef>
              <a:buSzPts val="3000"/>
              <a:buNone/>
            </a:pPr>
            <a:r>
              <a:rPr lang="en-US" sz="1200" dirty="0" err="1">
                <a:solidFill>
                  <a:srgbClr val="000000"/>
                </a:solidFill>
                <a:latin typeface="Consolas" panose="020B0609020204030204" pitchFamily="49" charset="0"/>
              </a:rPr>
              <a:t>init_serialSCIC</a:t>
            </a:r>
            <a:r>
              <a:rPr lang="en-US" sz="1200" dirty="0">
                <a:solidFill>
                  <a:srgbClr val="000000"/>
                </a:solidFill>
                <a:latin typeface="Consolas" panose="020B0609020204030204" pitchFamily="49" charset="0"/>
              </a:rPr>
              <a:t>(&amp;SerialC,19200); </a:t>
            </a:r>
            <a:r>
              <a:rPr lang="en-US" sz="1200" dirty="0">
                <a:solidFill>
                  <a:srgbClr val="3F7F5F"/>
                </a:solidFill>
                <a:latin typeface="Consolas" panose="020B0609020204030204" pitchFamily="49" charset="0"/>
              </a:rPr>
              <a:t>//remember that the initial baud rate is 19200!</a:t>
            </a:r>
            <a:endParaRPr lang="en-US" sz="1200" dirty="0">
              <a:solidFill>
                <a:srgbClr val="3F7F5F"/>
              </a:solidFill>
              <a:latin typeface="Atkinson Hyperlegible Next"/>
              <a:cs typeface="Arial"/>
              <a:sym typeface="Arial"/>
            </a:endParaRPr>
          </a:p>
          <a:p>
            <a:pPr marL="0" indent="0">
              <a:lnSpc>
                <a:spcPct val="100000"/>
              </a:lnSpc>
              <a:spcBef>
                <a:spcPts val="0"/>
              </a:spcBef>
              <a:buSzPts val="3000"/>
              <a:buNone/>
            </a:pPr>
            <a:endParaRPr lang="en-US" sz="1200" dirty="0">
              <a:latin typeface="Atkinson Hyperlegible Next"/>
              <a:cs typeface="Arial"/>
              <a:sym typeface="Arial"/>
            </a:endParaRPr>
          </a:p>
          <a:p>
            <a:pPr marL="114300" indent="0" algn="l">
              <a:buNone/>
            </a:pPr>
            <a:r>
              <a:rPr lang="en-US" sz="1200" dirty="0">
                <a:solidFill>
                  <a:srgbClr val="7F0055"/>
                </a:solidFill>
                <a:latin typeface="Consolas" panose="020B0609020204030204" pitchFamily="49" charset="0"/>
              </a:rPr>
              <a:t>char</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S_command</a:t>
            </a:r>
            <a:r>
              <a:rPr lang="en-US" sz="1200" dirty="0">
                <a:solidFill>
                  <a:srgbClr val="000000"/>
                </a:solidFill>
                <a:latin typeface="Consolas" panose="020B0609020204030204" pitchFamily="49" charset="0"/>
              </a:rPr>
              <a:t>[19] = </a:t>
            </a:r>
            <a:r>
              <a:rPr lang="en-US" sz="1200" dirty="0">
                <a:solidFill>
                  <a:srgbClr val="2A00FF"/>
                </a:solidFill>
                <a:latin typeface="Consolas" panose="020B0609020204030204" pitchFamily="49" charset="0"/>
              </a:rPr>
              <a:t>"S1152000124000\n"</a:t>
            </a: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this changes the baud rate to 115200</a:t>
            </a:r>
          </a:p>
          <a:p>
            <a:pPr marL="114300" indent="0" algn="l">
              <a:buNone/>
            </a:pPr>
            <a:r>
              <a:rPr lang="en-US" sz="1200" dirty="0">
                <a:solidFill>
                  <a:srgbClr val="005032"/>
                </a:solidFill>
                <a:latin typeface="Consolas" panose="020B0609020204030204" pitchFamily="49" charset="0"/>
              </a:rPr>
              <a:t>uint16_t</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S_len</a:t>
            </a:r>
            <a:r>
              <a:rPr lang="en-US" sz="1200" dirty="0">
                <a:solidFill>
                  <a:srgbClr val="000000"/>
                </a:solidFill>
                <a:latin typeface="Consolas" panose="020B0609020204030204" pitchFamily="49" charset="0"/>
              </a:rPr>
              <a:t> = 19;</a:t>
            </a:r>
          </a:p>
          <a:p>
            <a:pPr marL="114300" indent="0" algn="l">
              <a:buNone/>
            </a:pPr>
            <a:r>
              <a:rPr lang="en-US" sz="1200" dirty="0" err="1">
                <a:solidFill>
                  <a:srgbClr val="000000"/>
                </a:solidFill>
                <a:latin typeface="Consolas" panose="020B0609020204030204" pitchFamily="49" charset="0"/>
              </a:rPr>
              <a:t>serial_sendSCIC</a:t>
            </a:r>
            <a:r>
              <a:rPr lang="en-US" sz="1200" dirty="0">
                <a:solidFill>
                  <a:srgbClr val="000000"/>
                </a:solidFill>
                <a:latin typeface="Consolas" panose="020B0609020204030204" pitchFamily="49" charset="0"/>
              </a:rPr>
              <a:t>(&amp;</a:t>
            </a:r>
            <a:r>
              <a:rPr lang="en-US" sz="1200" dirty="0" err="1">
                <a:solidFill>
                  <a:srgbClr val="000000"/>
                </a:solidFill>
                <a:latin typeface="Consolas" panose="020B0609020204030204" pitchFamily="49" charset="0"/>
              </a:rPr>
              <a:t>SerialC</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S_command</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S_len</a:t>
            </a:r>
            <a:r>
              <a:rPr lang="en-US" sz="1200" dirty="0">
                <a:solidFill>
                  <a:srgbClr val="000000"/>
                </a:solidFill>
                <a:latin typeface="Consolas" panose="020B0609020204030204" pitchFamily="49" charset="0"/>
              </a:rPr>
              <a:t>);</a:t>
            </a:r>
          </a:p>
          <a:p>
            <a:pPr algn="l"/>
            <a:endParaRPr lang="en-US" sz="1200" dirty="0">
              <a:solidFill>
                <a:srgbClr val="000000"/>
              </a:solidFill>
              <a:latin typeface="Consolas" panose="020B0609020204030204" pitchFamily="49" charset="0"/>
            </a:endParaRPr>
          </a:p>
          <a:p>
            <a:pPr marL="114300" indent="0" algn="l">
              <a:buNone/>
            </a:pPr>
            <a:r>
              <a:rPr lang="en-US" sz="1200" dirty="0">
                <a:solidFill>
                  <a:srgbClr val="000000"/>
                </a:solidFill>
                <a:latin typeface="Consolas" panose="020B0609020204030204" pitchFamily="49" charset="0"/>
              </a:rPr>
              <a:t>DELAY_US(1000000); </a:t>
            </a:r>
            <a:r>
              <a:rPr lang="en-US" sz="1200" dirty="0">
                <a:solidFill>
                  <a:srgbClr val="3F7F5F"/>
                </a:solidFill>
                <a:latin typeface="Consolas" panose="020B0609020204030204" pitchFamily="49" charset="0"/>
              </a:rPr>
              <a:t>// Delay letting LADAR change its Baud rate</a:t>
            </a:r>
          </a:p>
          <a:p>
            <a:pPr marL="114300" indent="0">
              <a:buNone/>
            </a:pPr>
            <a:r>
              <a:rPr lang="en-US" sz="1200" dirty="0" err="1">
                <a:solidFill>
                  <a:srgbClr val="000000"/>
                </a:solidFill>
                <a:latin typeface="Consolas" panose="020B0609020204030204" pitchFamily="49" charset="0"/>
              </a:rPr>
              <a:t>init_serialSCIC</a:t>
            </a:r>
            <a:r>
              <a:rPr lang="en-US" sz="1200" dirty="0">
                <a:solidFill>
                  <a:srgbClr val="000000"/>
                </a:solidFill>
                <a:latin typeface="Consolas" panose="020B0609020204030204" pitchFamily="49" charset="0"/>
              </a:rPr>
              <a:t>(&amp;SerialC,115200); </a:t>
            </a:r>
            <a:r>
              <a:rPr lang="en-US" sz="1200" dirty="0">
                <a:solidFill>
                  <a:srgbClr val="3F7F5F"/>
                </a:solidFill>
                <a:latin typeface="Consolas" panose="020B0609020204030204" pitchFamily="49" charset="0"/>
              </a:rPr>
              <a:t>// Use the new baud rate for communication</a:t>
            </a:r>
          </a:p>
          <a:p>
            <a:pPr marL="114300" indent="0">
              <a:buNone/>
            </a:pPr>
            <a:endParaRPr lang="en-US" sz="1200" dirty="0">
              <a:solidFill>
                <a:srgbClr val="3F7F5F"/>
              </a:solidFill>
              <a:latin typeface="Consolas" panose="020B0609020204030204" pitchFamily="49" charset="0"/>
            </a:endParaRPr>
          </a:p>
          <a:p>
            <a:pPr marL="114300" indent="0">
              <a:buNone/>
            </a:pPr>
            <a:r>
              <a:rPr lang="en-US" sz="1200" dirty="0">
                <a:solidFill>
                  <a:srgbClr val="7F0055"/>
                </a:solidFill>
                <a:latin typeface="Consolas" panose="020B0609020204030204" pitchFamily="49" charset="0"/>
              </a:rPr>
              <a:t>for</a:t>
            </a:r>
            <a:r>
              <a:rPr lang="en-US" sz="1200" dirty="0">
                <a:solidFill>
                  <a:srgbClr val="000000"/>
                </a:solidFill>
                <a:latin typeface="Consolas" panose="020B0609020204030204" pitchFamily="49" charset="0"/>
              </a:rPr>
              <a:t> (LADARi = 0; LADARi &lt; 228; LADARi++) { </a:t>
            </a:r>
            <a:r>
              <a:rPr lang="en-US" sz="1200" dirty="0">
                <a:solidFill>
                  <a:srgbClr val="3F7F5F"/>
                </a:solidFill>
                <a:latin typeface="Consolas" panose="020B0609020204030204" pitchFamily="49" charset="0"/>
              </a:rPr>
              <a:t>// the angle each point will be at will be constant</a:t>
            </a:r>
            <a:endParaRPr lang="en-US" sz="1200" dirty="0">
              <a:solidFill>
                <a:srgbClr val="000000"/>
              </a:solidFill>
              <a:latin typeface="Consolas" panose="020B0609020204030204" pitchFamily="49" charset="0"/>
            </a:endParaRPr>
          </a:p>
          <a:p>
            <a:pPr marL="114300" indent="0">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ladar_data</a:t>
            </a:r>
            <a:r>
              <a:rPr lang="en-US" sz="1200" dirty="0">
                <a:solidFill>
                  <a:srgbClr val="000000"/>
                </a:solidFill>
                <a:latin typeface="Consolas" panose="020B0609020204030204" pitchFamily="49" charset="0"/>
              </a:rPr>
              <a:t>[LADARi].</a:t>
            </a:r>
            <a:r>
              <a:rPr lang="en-US" sz="1200" dirty="0">
                <a:solidFill>
                  <a:srgbClr val="0000C0"/>
                </a:solidFill>
                <a:latin typeface="Consolas" panose="020B0609020204030204" pitchFamily="49" charset="0"/>
              </a:rPr>
              <a:t>angle</a:t>
            </a:r>
            <a:r>
              <a:rPr lang="en-US" sz="1200" dirty="0">
                <a:solidFill>
                  <a:srgbClr val="000000"/>
                </a:solidFill>
                <a:latin typeface="Consolas" panose="020B0609020204030204" pitchFamily="49" charset="0"/>
              </a:rPr>
              <a:t> = ((3*LADARi+44)*0.3515625-135)*0.01745329; </a:t>
            </a:r>
            <a:r>
              <a:rPr lang="en-US" sz="1200" dirty="0">
                <a:solidFill>
                  <a:srgbClr val="3F7F5F"/>
                </a:solidFill>
                <a:latin typeface="Consolas" panose="020B0609020204030204" pitchFamily="49" charset="0"/>
              </a:rPr>
              <a:t>//0.017453292519943 is pi/180, multiplication is faster; 0.3515625 is 360/1024</a:t>
            </a:r>
          </a:p>
          <a:p>
            <a:pPr marL="114300" indent="0">
              <a:buNone/>
            </a:pPr>
            <a:r>
              <a:rPr lang="en-US" sz="1200" dirty="0">
                <a:solidFill>
                  <a:srgbClr val="000000"/>
                </a:solidFill>
                <a:latin typeface="Consolas" panose="020B0609020204030204" pitchFamily="49" charset="0"/>
              </a:rPr>
              <a:t>}</a:t>
            </a: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D0F1D3C1-7F17-281C-8527-2F6B18B7591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A0FEC54-21FA-B537-1E61-2ED8FBA72AE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6AD7CCA-6613-F0A7-7608-59190CEF2E2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D1EAE43-31D4-6B65-FADB-3FB6642025C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346B575-D69B-841A-B9CA-83B0333A8A9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D75B0F5-B3F3-4FA5-7E1B-03385CED434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2164E51-7B09-A72C-E7DE-0BEB9AFA1BD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F46864D-C9FA-FB89-1D60-D686FCBE0CA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6634379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8">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18">
                                            <p:txEl>
                                              <p:pRg st="10" end="10"/>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3" end="13"/>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18">
                                            <p:txEl>
                                              <p:pRg st="14" end="14"/>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C17640C-DEE3-8EB5-79F5-8DB778301F1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355D15D-B2E5-F087-F203-A277D52C98B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latin typeface="Atkinson Hyperlegible Next"/>
                <a:ea typeface="Arial"/>
                <a:cs typeface="Arial"/>
                <a:sym typeface="Arial"/>
              </a:rPr>
              <a:t>We use CPU Timer 1 to call the SCI command for reading the LiDAR information</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114300" indent="0">
              <a:buNone/>
            </a:pPr>
            <a:r>
              <a:rPr lang="en-US" sz="2400" dirty="0">
                <a:solidFill>
                  <a:srgbClr val="000000"/>
                </a:solidFill>
                <a:latin typeface="Consolas" panose="020B0609020204030204" pitchFamily="49" charset="0"/>
              </a:rPr>
              <a:t>__interrupt </a:t>
            </a:r>
            <a:r>
              <a:rPr lang="en-US" sz="2400" dirty="0">
                <a:solidFill>
                  <a:srgbClr val="7F0055"/>
                </a:solidFill>
                <a:latin typeface="Consolas" panose="020B0609020204030204" pitchFamily="49" charset="0"/>
              </a:rPr>
              <a:t>void</a:t>
            </a:r>
            <a:r>
              <a:rPr lang="en-US" sz="2400" dirty="0">
                <a:solidFill>
                  <a:srgbClr val="000000"/>
                </a:solidFill>
                <a:latin typeface="Consolas" panose="020B0609020204030204" pitchFamily="49" charset="0"/>
              </a:rPr>
              <a:t> cpu_timer1_isr(</a:t>
            </a:r>
            <a:r>
              <a:rPr lang="en-US" sz="2400" dirty="0">
                <a:solidFill>
                  <a:srgbClr val="7F0055"/>
                </a:solidFill>
                <a:latin typeface="Consolas" panose="020B0609020204030204" pitchFamily="49" charset="0"/>
              </a:rPr>
              <a:t>void</a:t>
            </a:r>
            <a:r>
              <a:rPr lang="en-US" sz="2400" dirty="0">
                <a:solidFill>
                  <a:srgbClr val="000000"/>
                </a:solidFill>
                <a:latin typeface="Consolas" panose="020B0609020204030204" pitchFamily="49" charset="0"/>
              </a:rPr>
              <a:t>)</a:t>
            </a:r>
          </a:p>
          <a:p>
            <a:pPr marL="114300" indent="0">
              <a:buNone/>
            </a:pPr>
            <a:r>
              <a:rPr lang="en-US" sz="2400" dirty="0">
                <a:solidFill>
                  <a:srgbClr val="000000"/>
                </a:solidFill>
                <a:latin typeface="Consolas" panose="020B0609020204030204" pitchFamily="49" charset="0"/>
              </a:rPr>
              <a:t>{</a:t>
            </a:r>
            <a:endParaRPr lang="en-US" sz="2400" dirty="0">
              <a:latin typeface="Consolas" panose="020B0609020204030204" pitchFamily="49" charset="0"/>
            </a:endParaRPr>
          </a:p>
          <a:p>
            <a:pPr marL="114300" indent="0">
              <a:buNone/>
            </a:pPr>
            <a:r>
              <a:rPr lang="en-US" sz="2400" dirty="0">
                <a:solidFill>
                  <a:srgbClr val="000000"/>
                </a:solidFill>
                <a:latin typeface="Consolas" panose="020B0609020204030204" pitchFamily="49" charset="0"/>
              </a:rPr>
              <a:t>    </a:t>
            </a:r>
            <a:r>
              <a:rPr lang="en-US" sz="2400" dirty="0" err="1">
                <a:solidFill>
                  <a:srgbClr val="000000"/>
                </a:solidFill>
                <a:latin typeface="Consolas" panose="020B0609020204030204" pitchFamily="49" charset="0"/>
              </a:rPr>
              <a:t>serial_sendSCIC</a:t>
            </a:r>
            <a:r>
              <a:rPr lang="en-US" sz="2400" dirty="0">
                <a:solidFill>
                  <a:srgbClr val="000000"/>
                </a:solidFill>
                <a:latin typeface="Consolas" panose="020B0609020204030204" pitchFamily="49" charset="0"/>
              </a:rPr>
              <a:t>(&amp;</a:t>
            </a:r>
            <a:r>
              <a:rPr lang="en-US" sz="2400" dirty="0" err="1">
                <a:solidFill>
                  <a:srgbClr val="000000"/>
                </a:solidFill>
                <a:latin typeface="Consolas" panose="020B0609020204030204" pitchFamily="49" charset="0"/>
              </a:rPr>
              <a:t>SerialC</a:t>
            </a:r>
            <a:r>
              <a:rPr lang="en-US" sz="2400" dirty="0">
                <a:solidFill>
                  <a:srgbClr val="000000"/>
                </a:solidFill>
                <a:latin typeface="Consolas" panose="020B0609020204030204" pitchFamily="49" charset="0"/>
              </a:rPr>
              <a:t>, </a:t>
            </a:r>
            <a:r>
              <a:rPr lang="en-US" sz="2400" dirty="0" err="1">
                <a:solidFill>
                  <a:srgbClr val="000000"/>
                </a:solidFill>
                <a:latin typeface="Consolas" panose="020B0609020204030204" pitchFamily="49" charset="0"/>
              </a:rPr>
              <a:t>G_command</a:t>
            </a:r>
            <a:r>
              <a:rPr lang="en-US" sz="2400" dirty="0">
                <a:solidFill>
                  <a:srgbClr val="000000"/>
                </a:solidFill>
                <a:latin typeface="Consolas" panose="020B0609020204030204" pitchFamily="49" charset="0"/>
              </a:rPr>
              <a:t>, </a:t>
            </a:r>
            <a:r>
              <a:rPr lang="en-US" sz="2400" dirty="0" err="1">
                <a:solidFill>
                  <a:srgbClr val="000000"/>
                </a:solidFill>
                <a:latin typeface="Consolas" panose="020B0609020204030204" pitchFamily="49" charset="0"/>
              </a:rPr>
              <a:t>G_len</a:t>
            </a:r>
            <a:r>
              <a:rPr lang="en-US" sz="2400" dirty="0">
                <a:solidFill>
                  <a:srgbClr val="000000"/>
                </a:solidFill>
                <a:latin typeface="Consolas" panose="020B0609020204030204" pitchFamily="49" charset="0"/>
              </a:rPr>
              <a:t>);</a:t>
            </a:r>
            <a:endParaRPr lang="en-US" sz="2400" dirty="0">
              <a:latin typeface="Consolas" panose="020B0609020204030204" pitchFamily="49" charset="0"/>
            </a:endParaRPr>
          </a:p>
          <a:p>
            <a:pPr marL="114300" indent="0">
              <a:buNone/>
            </a:pPr>
            <a:r>
              <a:rPr lang="en-US" sz="2400" dirty="0">
                <a:solidFill>
                  <a:srgbClr val="000000"/>
                </a:solidFill>
                <a:latin typeface="Consolas" panose="020B0609020204030204" pitchFamily="49" charset="0"/>
              </a:rPr>
              <a:t>    CpuTimer1.</a:t>
            </a:r>
            <a:r>
              <a:rPr lang="en-US" sz="2400" dirty="0">
                <a:solidFill>
                  <a:srgbClr val="0000C0"/>
                </a:solidFill>
                <a:latin typeface="Consolas" panose="020B0609020204030204" pitchFamily="49" charset="0"/>
              </a:rPr>
              <a:t>InterruptCount</a:t>
            </a:r>
            <a:r>
              <a:rPr lang="en-US" sz="2400" dirty="0">
                <a:solidFill>
                  <a:srgbClr val="000000"/>
                </a:solidFill>
                <a:latin typeface="Consolas" panose="020B0609020204030204" pitchFamily="49" charset="0"/>
              </a:rPr>
              <a:t>++;</a:t>
            </a:r>
          </a:p>
          <a:p>
            <a:pPr marL="114300" indent="0">
              <a:buNone/>
            </a:pPr>
            <a:r>
              <a:rPr lang="en-US" sz="2400" dirty="0">
                <a:solidFill>
                  <a:srgbClr val="000000"/>
                </a:solidFill>
                <a:latin typeface="Consolas" panose="020B0609020204030204" pitchFamily="49" charset="0"/>
              </a:rPr>
              <a:t>}</a:t>
            </a:r>
          </a:p>
          <a:p>
            <a:pPr marL="114300" indent="0">
              <a:buNone/>
            </a:pPr>
            <a:endParaRPr lang="en-US" sz="2400" dirty="0">
              <a:solidFill>
                <a:srgbClr val="000000"/>
              </a:solidFill>
              <a:latin typeface="Consolas" panose="020B0609020204030204" pitchFamily="49" charset="0"/>
            </a:endParaRPr>
          </a:p>
          <a:p>
            <a:pPr marL="114300" indent="0">
              <a:buNone/>
            </a:pPr>
            <a:r>
              <a:rPr lang="en-US" sz="2400" dirty="0">
                <a:latin typeface="Atkinson Hyperlegible Next"/>
                <a:ea typeface="Arial"/>
                <a:cs typeface="Arial"/>
                <a:sym typeface="Arial"/>
              </a:rPr>
              <a:t>So, every 10Hz timer 1 sends the ‘G’ command to collect the new data into the </a:t>
            </a:r>
            <a:r>
              <a:rPr lang="en-US" sz="2400" dirty="0" err="1">
                <a:latin typeface="Atkinson Hyperlegible Next"/>
                <a:ea typeface="Arial"/>
                <a:cs typeface="Arial"/>
                <a:sym typeface="Arial"/>
              </a:rPr>
              <a:t>lidar_data</a:t>
            </a:r>
            <a:r>
              <a:rPr lang="en-US" sz="2400" dirty="0">
                <a:latin typeface="Atkinson Hyperlegible Next"/>
                <a:ea typeface="Arial"/>
                <a:cs typeface="Arial"/>
                <a:sym typeface="Arial"/>
              </a:rPr>
              <a:t> buffer.</a:t>
            </a:r>
          </a:p>
        </p:txBody>
      </p:sp>
      <p:sp>
        <p:nvSpPr>
          <p:cNvPr id="119" name="Google Shape;119;p29">
            <a:extLst>
              <a:ext uri="{FF2B5EF4-FFF2-40B4-BE49-F238E27FC236}">
                <a16:creationId xmlns:a16="http://schemas.microsoft.com/office/drawing/2014/main" id="{F5107F29-21B3-FF93-598F-4782E40F1B6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05BE6CF-7171-A512-DF81-B2C7D450BE5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606F31C-DC2C-77A1-432A-CD48717B148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33D6D8F-8D82-D234-759D-B0948C66004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35E3F84-BCEF-20E6-1176-9AE33529A63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FBDC07B-E576-8226-8AE1-0B741459AD4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525984B-32E4-75A1-A9E0-9763CDF6D3C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6CBF953-65B7-D1B7-D77A-5C136BC15EB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36213634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8A09F29-44E0-1BAA-F0E6-969EF578A8B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C322A7F-027C-081A-EF6A-F6B75BF1BF5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latin typeface="Atkinson Hyperlegible Next"/>
                <a:ea typeface="Arial"/>
                <a:cs typeface="Arial"/>
                <a:sym typeface="Arial"/>
              </a:rPr>
              <a:t>Once we get all the information from the SCI interrupt it triggers a software interrupt </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114300" indent="0" algn="l">
              <a:buNone/>
            </a:pPr>
            <a:r>
              <a:rPr lang="en-US" sz="1200" dirty="0">
                <a:solidFill>
                  <a:srgbClr val="7F0055"/>
                </a:solidFill>
                <a:latin typeface="Consolas" panose="020B0609020204030204" pitchFamily="49" charset="0"/>
              </a:rPr>
              <a:t>if</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LF_count</a:t>
            </a:r>
            <a:r>
              <a:rPr lang="en-US" sz="1200" dirty="0">
                <a:solidFill>
                  <a:srgbClr val="000000"/>
                </a:solidFill>
                <a:latin typeface="Consolas" panose="020B0609020204030204" pitchFamily="49" charset="0"/>
              </a:rPr>
              <a:t> == 2) { </a:t>
            </a:r>
            <a:r>
              <a:rPr lang="en-US" sz="1200" dirty="0">
                <a:solidFill>
                  <a:srgbClr val="3F7F5F"/>
                </a:solidFill>
                <a:latin typeface="Consolas" panose="020B0609020204030204" pitchFamily="49" charset="0"/>
              </a:rPr>
              <a:t>//two consecutive line feed means the end of the current data stream</a:t>
            </a: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read_ladar_state</a:t>
            </a:r>
            <a:r>
              <a:rPr lang="en-US" sz="1200" dirty="0">
                <a:solidFill>
                  <a:srgbClr val="000000"/>
                </a:solidFill>
                <a:latin typeface="Consolas" panose="020B0609020204030204" pitchFamily="49" charset="0"/>
              </a:rPr>
              <a:t> = 0;</a:t>
            </a:r>
          </a:p>
          <a:p>
            <a:pPr marL="114300" indent="0" algn="l">
              <a:buNone/>
            </a:pPr>
            <a:r>
              <a:rPr lang="fr-FR" sz="1200" dirty="0">
                <a:solidFill>
                  <a:srgbClr val="000000"/>
                </a:solidFill>
                <a:latin typeface="Consolas" panose="020B0609020204030204" pitchFamily="49" charset="0"/>
              </a:rPr>
              <a:t>    </a:t>
            </a:r>
            <a:r>
              <a:rPr lang="fr-FR" sz="1200" dirty="0" err="1">
                <a:solidFill>
                  <a:srgbClr val="000000"/>
                </a:solidFill>
                <a:latin typeface="Consolas" panose="020B0609020204030204" pitchFamily="49" charset="0"/>
              </a:rPr>
              <a:t>print_dis_index</a:t>
            </a:r>
            <a:r>
              <a:rPr lang="fr-FR" sz="1200" dirty="0">
                <a:solidFill>
                  <a:srgbClr val="000000"/>
                </a:solidFill>
                <a:latin typeface="Consolas" panose="020B0609020204030204" pitchFamily="49" charset="0"/>
              </a:rPr>
              <a:t> = </a:t>
            </a:r>
            <a:r>
              <a:rPr lang="fr-FR" sz="1200" dirty="0" err="1">
                <a:solidFill>
                  <a:srgbClr val="000000"/>
                </a:solidFill>
                <a:latin typeface="Consolas" panose="020B0609020204030204" pitchFamily="49" charset="0"/>
              </a:rPr>
              <a:t>dis_index</a:t>
            </a:r>
            <a:r>
              <a:rPr lang="fr-FR" sz="1200" dirty="0">
                <a:solidFill>
                  <a:srgbClr val="000000"/>
                </a:solidFill>
                <a:latin typeface="Consolas" panose="020B0609020204030204" pitchFamily="49" charset="0"/>
              </a:rPr>
              <a:t>;</a:t>
            </a:r>
          </a:p>
          <a:p>
            <a:pPr marL="114300" indent="0" algn="l">
              <a:buNone/>
            </a:pPr>
            <a:r>
              <a:rPr lang="en-US" sz="1200" dirty="0">
                <a:solidFill>
                  <a:srgbClr val="000000"/>
                </a:solidFill>
                <a:latin typeface="Consolas" panose="020B0609020204030204" pitchFamily="49" charset="0"/>
              </a:rPr>
              <a:t>    PieCtrlRegs.</a:t>
            </a:r>
            <a:r>
              <a:rPr lang="en-US" sz="1200" dirty="0">
                <a:solidFill>
                  <a:srgbClr val="0000C0"/>
                </a:solidFill>
                <a:latin typeface="Consolas" panose="020B0609020204030204" pitchFamily="49" charset="0"/>
              </a:rPr>
              <a:t>PIEIFR12</a:t>
            </a:r>
            <a:r>
              <a:rPr lang="en-US" sz="1200" dirty="0">
                <a:solidFill>
                  <a:srgbClr val="000000"/>
                </a:solidFill>
                <a:latin typeface="Consolas" panose="020B0609020204030204" pitchFamily="49" charset="0"/>
              </a:rPr>
              <a:t>.</a:t>
            </a:r>
            <a:r>
              <a:rPr lang="en-US" sz="1200" dirty="0">
                <a:solidFill>
                  <a:srgbClr val="0000C0"/>
                </a:solidFill>
                <a:latin typeface="Consolas" panose="020B0609020204030204" pitchFamily="49" charset="0"/>
              </a:rPr>
              <a:t>bit</a:t>
            </a:r>
            <a:r>
              <a:rPr lang="en-US" sz="1200" dirty="0">
                <a:solidFill>
                  <a:srgbClr val="000000"/>
                </a:solidFill>
                <a:latin typeface="Consolas" panose="020B0609020204030204" pitchFamily="49" charset="0"/>
              </a:rPr>
              <a:t>.</a:t>
            </a:r>
            <a:r>
              <a:rPr lang="en-US" sz="1200" dirty="0">
                <a:solidFill>
                  <a:srgbClr val="0000C0"/>
                </a:solidFill>
                <a:latin typeface="Consolas" panose="020B0609020204030204" pitchFamily="49" charset="0"/>
              </a:rPr>
              <a:t>INTx10</a:t>
            </a:r>
            <a:r>
              <a:rPr lang="en-US" sz="1200" dirty="0">
                <a:solidFill>
                  <a:srgbClr val="000000"/>
                </a:solidFill>
                <a:latin typeface="Consolas" panose="020B0609020204030204" pitchFamily="49" charset="0"/>
              </a:rPr>
              <a:t> = 1; </a:t>
            </a:r>
            <a:r>
              <a:rPr lang="en-US" sz="1200" dirty="0">
                <a:solidFill>
                  <a:srgbClr val="3F7F5F"/>
                </a:solidFill>
                <a:latin typeface="Consolas" panose="020B0609020204030204" pitchFamily="49" charset="0"/>
              </a:rPr>
              <a:t>// Manually cause the interrupt for the SWI2</a:t>
            </a: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LADARpingpong</a:t>
            </a:r>
            <a:r>
              <a:rPr lang="en-US" sz="1200" dirty="0">
                <a:solidFill>
                  <a:srgbClr val="000000"/>
                </a:solidFill>
                <a:latin typeface="Consolas" panose="020B0609020204030204" pitchFamily="49" charset="0"/>
              </a:rPr>
              <a:t> = 1-LADARpingpong;</a:t>
            </a:r>
          </a:p>
          <a:p>
            <a:pPr marL="114300" indent="0" algn="l">
              <a:buNone/>
            </a:pPr>
            <a:r>
              <a:rPr lang="en-US" sz="1200" dirty="0">
                <a:solidFill>
                  <a:srgbClr val="000000"/>
                </a:solidFill>
                <a:latin typeface="Consolas" panose="020B0609020204030204" pitchFamily="49" charset="0"/>
              </a:rPr>
              <a:t>}</a:t>
            </a:r>
          </a:p>
          <a:p>
            <a:pPr marL="114300" indent="0" algn="l">
              <a:buNone/>
            </a:pPr>
            <a:endParaRPr lang="en-US" sz="1200" dirty="0">
              <a:solidFill>
                <a:srgbClr val="000000"/>
              </a:solidFill>
              <a:latin typeface="Consolas" panose="020B0609020204030204" pitchFamily="49" charset="0"/>
              <a:ea typeface="Arial"/>
              <a:cs typeface="Arial"/>
              <a:sym typeface="Arial"/>
            </a:endParaRPr>
          </a:p>
          <a:p>
            <a:r>
              <a:rPr lang="en-US" sz="1800" dirty="0">
                <a:latin typeface="Atkinson Hyperlegible Next"/>
                <a:ea typeface="Arial"/>
                <a:cs typeface="Arial"/>
                <a:sym typeface="Arial"/>
              </a:rPr>
              <a:t>As a reminder a software interrupt is the lowest priority level and can be interrupted by any of the other interrupts of higher priority levels.</a:t>
            </a:r>
          </a:p>
          <a:p>
            <a:r>
              <a:rPr lang="en-US" sz="1800" dirty="0">
                <a:latin typeface="Atkinson Hyperlegible Next"/>
                <a:ea typeface="Arial"/>
                <a:cs typeface="Arial"/>
                <a:sym typeface="Arial"/>
              </a:rPr>
              <a:t>The rows represent a </a:t>
            </a:r>
            <a:r>
              <a:rPr lang="en-US" sz="1800" b="1" dirty="0">
                <a:latin typeface="Atkinson Hyperlegible Next"/>
                <a:ea typeface="Arial"/>
                <a:cs typeface="Arial"/>
                <a:sym typeface="Arial"/>
              </a:rPr>
              <a:t>group</a:t>
            </a:r>
          </a:p>
          <a:p>
            <a:r>
              <a:rPr lang="en-US" sz="1800" dirty="0">
                <a:latin typeface="Atkinson Hyperlegible Next"/>
                <a:ea typeface="Arial"/>
                <a:cs typeface="Arial"/>
                <a:sym typeface="Arial"/>
              </a:rPr>
              <a:t>Each column a </a:t>
            </a:r>
            <a:r>
              <a:rPr lang="en-US" sz="1800" b="1" dirty="0">
                <a:latin typeface="Atkinson Hyperlegible Next"/>
                <a:ea typeface="Arial"/>
                <a:cs typeface="Arial"/>
                <a:sym typeface="Arial"/>
              </a:rPr>
              <a:t>channel </a:t>
            </a:r>
            <a:r>
              <a:rPr lang="en-US" sz="1800" dirty="0">
                <a:latin typeface="Atkinson Hyperlegible Next"/>
                <a:ea typeface="Arial"/>
                <a:cs typeface="Arial"/>
                <a:sym typeface="Arial"/>
              </a:rPr>
              <a:t>within that group</a:t>
            </a:r>
          </a:p>
          <a:p>
            <a:r>
              <a:rPr lang="en-US" sz="1800" dirty="0">
                <a:latin typeface="Atkinson Hyperlegible Next"/>
                <a:ea typeface="Arial"/>
                <a:cs typeface="Arial"/>
                <a:sym typeface="Arial"/>
              </a:rPr>
              <a:t>When multiple interrupts are pending, the lowest-numbered channel from the lowest-numbered group is serviced first. Thus, the interrupts at the top left of the table are service first and the bottom right last.</a:t>
            </a:r>
          </a:p>
        </p:txBody>
      </p:sp>
      <p:sp>
        <p:nvSpPr>
          <p:cNvPr id="119" name="Google Shape;119;p29">
            <a:extLst>
              <a:ext uri="{FF2B5EF4-FFF2-40B4-BE49-F238E27FC236}">
                <a16:creationId xmlns:a16="http://schemas.microsoft.com/office/drawing/2014/main" id="{65924DD2-C069-B006-5F24-F7645539498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61E0CFD-F8FB-DA07-F949-0CD1BB457E7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4F580C8-8EC7-8FE6-1084-5C1580A3AF4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07F43C1-BA43-B30C-7045-8C888C19E52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895DFD2-B638-2FC5-C505-C2E0CED0060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D0A945D-A0B9-F027-80B1-A425CA6810E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8BA99CD-FA0B-E477-3D7B-DCAF1B59B75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9428E6B-F220-0C33-A5E7-4ECCB39DDD9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57362876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D94FFEE-62F8-E2D0-F788-27BF0A3871A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7600D5A-C80D-E989-A869-D2020DCCBC5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00DAE46-36AD-4012-69D3-C63581DC537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2FE43C1-E6EC-9DB1-5E31-BCDB1DB1ACB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10B45E7-08F1-5188-E72C-4DF067EF85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8A18FF4-6654-351B-CB8D-0CABB82F772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9FED91B-A5FD-053E-19CC-AD363D29992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AA5C143-2609-AE4F-2890-087145C49C2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3BA86FA-6975-D145-09D3-A41C9A5E192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Table 3-2, PIE Channel Mapping, for the TI F28379D: a grid of 12 PIE groups (INT1.y to INT12.y) by 16 channels (INTx.1 to INTx.16), giving the peripheral interrupt at each position; dashes are reserved. Serial receive and transmit interrupts relevant to reading LiDAR data are SCIA_RX at INT9.1, SCIA_TX at INT9.2, SCIB_RX at INT9.3, SCIB_TX at INT9.4, SCIC_RX at INT8.5, SCIC_TX at INT8.6, SCID_RX at INT8.7 and SCID_TX at INT8.8. DMA channels 1 to 6 occupy INT7.1 to INT7.6.">
            <a:extLst>
              <a:ext uri="{FF2B5EF4-FFF2-40B4-BE49-F238E27FC236}">
                <a16:creationId xmlns:a16="http://schemas.microsoft.com/office/drawing/2014/main" id="{7A495A7C-4D09-60AF-F301-540BA716036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5479" y="1525095"/>
            <a:ext cx="12121041" cy="3951743"/>
          </a:xfrm>
          <a:prstGeom prst="rect">
            <a:avLst/>
          </a:prstGeom>
        </p:spPr>
      </p:pic>
      <p:sp>
        <p:nvSpPr>
          <p:cNvPr id="4" name="Rectangle 3">
            <a:extLst>
              <a:ext uri="{FF2B5EF4-FFF2-40B4-BE49-F238E27FC236}">
                <a16:creationId xmlns:a16="http://schemas.microsoft.com/office/drawing/2014/main" id="{2E7B447E-6CD9-F230-0079-1516EE32F132}"/>
              </a:ext>
            </a:extLst>
          </p:cNvPr>
          <p:cNvSpPr/>
          <p:nvPr/>
        </p:nvSpPr>
        <p:spPr>
          <a:xfrm>
            <a:off x="4316224" y="4802199"/>
            <a:ext cx="7840296" cy="53070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88005603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F10F45D-E315-CF7F-B794-016A6DD355B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225AF0C-54EF-932B-63E9-607540ACFB6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In the LiDAR lab code, we will have 3 software interrupts:</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Software interrupt 1, will have the </a:t>
            </a:r>
            <a:r>
              <a:rPr lang="en-US" sz="1800" b="1" dirty="0">
                <a:latin typeface="Atkinson Hyperlegible Next"/>
                <a:ea typeface="Arial"/>
                <a:cs typeface="Arial"/>
                <a:sym typeface="Arial"/>
              </a:rPr>
              <a:t>highest</a:t>
            </a:r>
            <a:r>
              <a:rPr lang="en-US" sz="1800" dirty="0">
                <a:latin typeface="Atkinson Hyperlegible Next"/>
                <a:ea typeface="Arial"/>
                <a:cs typeface="Arial"/>
                <a:sym typeface="Arial"/>
              </a:rPr>
              <a:t> priority, this is used for retrieving the data and sending the data to and from the </a:t>
            </a:r>
            <a:r>
              <a:rPr lang="en-US" sz="1800" dirty="0" err="1">
                <a:latin typeface="Atkinson Hyperlegible Next"/>
                <a:ea typeface="Arial"/>
                <a:cs typeface="Arial"/>
                <a:sym typeface="Arial"/>
              </a:rPr>
              <a:t>RaspberryPI</a:t>
            </a: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Software interrupt 2, will have the </a:t>
            </a:r>
            <a:r>
              <a:rPr lang="en-US" sz="1800" b="1" dirty="0">
                <a:latin typeface="Atkinson Hyperlegible Next"/>
                <a:ea typeface="Arial"/>
                <a:cs typeface="Arial"/>
                <a:sym typeface="Arial"/>
              </a:rPr>
              <a:t>middle</a:t>
            </a:r>
            <a:r>
              <a:rPr lang="en-US" sz="1800" dirty="0">
                <a:latin typeface="Atkinson Hyperlegible Next"/>
                <a:ea typeface="Arial"/>
                <a:cs typeface="Arial"/>
                <a:sym typeface="Arial"/>
              </a:rPr>
              <a:t> priority, where we will perform the LiDAR position computation and the coordinate transformations based on the sensor’s location on the robot.</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Software interrupt 3, will have the </a:t>
            </a:r>
            <a:r>
              <a:rPr lang="en-US" sz="1800" b="1" dirty="0">
                <a:latin typeface="Atkinson Hyperlegible Next"/>
                <a:ea typeface="Arial"/>
                <a:cs typeface="Arial"/>
                <a:sym typeface="Arial"/>
              </a:rPr>
              <a:t>lowest</a:t>
            </a:r>
            <a:r>
              <a:rPr lang="en-US" sz="1800" dirty="0">
                <a:latin typeface="Atkinson Hyperlegible Next"/>
                <a:ea typeface="Arial"/>
                <a:cs typeface="Arial"/>
                <a:sym typeface="Arial"/>
              </a:rPr>
              <a:t> priority, where anything else can be done</a:t>
            </a:r>
          </a:p>
          <a:p>
            <a:pPr marL="0" indent="0">
              <a:lnSpc>
                <a:spcPct val="100000"/>
              </a:lnSpc>
              <a:spcBef>
                <a:spcPts val="0"/>
              </a:spcBef>
              <a:buSzPts val="3000"/>
              <a:buNone/>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In this lecture we will only look at software interrupt 2.</a:t>
            </a:r>
          </a:p>
          <a:p>
            <a:pPr marL="0" indent="0">
              <a:lnSpc>
                <a:spcPct val="100000"/>
              </a:lnSpc>
              <a:spcBef>
                <a:spcPts val="0"/>
              </a:spcBef>
              <a:buSzPts val="3000"/>
              <a:buNone/>
            </a:pPr>
            <a:endParaRPr lang="en-US" sz="1800" b="1"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09390E3E-5B94-EE89-E7D7-4D94B7C8ACE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5BF838C-1D62-A0A4-56C4-D05694D729F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4F0152A-0F81-6B70-6035-52A30DC8F95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1480F46-DB5B-CA7B-C9F9-2267E5D76B9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AF67281-FA32-E978-38DC-DBE20991EA0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118BBA-83EE-DEB6-6589-6E562CFADFB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9FC4CAC-927F-D94C-8035-98F4269CABD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228291D-F9C6-9062-B434-06F2D4C57E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5366144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8627310-F6AB-F7A5-1224-C67CD6409D8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B0A5145-00A7-4690-1D43-F1FCCA60D37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spcBef>
                <a:spcPts val="0"/>
              </a:spcBef>
              <a:buNone/>
            </a:pPr>
            <a:r>
              <a:rPr lang="en-US" sz="1100" dirty="0">
                <a:solidFill>
                  <a:srgbClr val="000000"/>
                </a:solidFill>
                <a:latin typeface="Consolas" panose="020B0609020204030204" pitchFamily="49" charset="0"/>
              </a:rPr>
              <a:t>__interrupt </a:t>
            </a:r>
            <a:r>
              <a:rPr lang="en-US" sz="1100" dirty="0">
                <a:solidFill>
                  <a:srgbClr val="7F0055"/>
                </a:solidFill>
                <a:latin typeface="Consolas" panose="020B0609020204030204" pitchFamily="49" charset="0"/>
              </a:rPr>
              <a:t>void</a:t>
            </a:r>
            <a:r>
              <a:rPr lang="en-US" sz="1100" dirty="0">
                <a:solidFill>
                  <a:srgbClr val="000000"/>
                </a:solidFill>
                <a:latin typeface="Consolas" panose="020B0609020204030204" pitchFamily="49" charset="0"/>
              </a:rPr>
              <a:t> SWI2_MiddlePriority(</a:t>
            </a:r>
            <a:r>
              <a:rPr lang="en-US" sz="1100" dirty="0">
                <a:solidFill>
                  <a:srgbClr val="7F0055"/>
                </a:solidFill>
                <a:latin typeface="Consolas" panose="020B0609020204030204" pitchFamily="49" charset="0"/>
              </a:rPr>
              <a:t>void</a:t>
            </a:r>
            <a:r>
              <a:rPr lang="en-US" sz="1100" dirty="0">
                <a:solidFill>
                  <a:srgbClr val="000000"/>
                </a:solidFill>
                <a:latin typeface="Consolas" panose="020B0609020204030204" pitchFamily="49" charset="0"/>
              </a:rPr>
              <a:t>)     </a:t>
            </a:r>
            <a:r>
              <a:rPr lang="en-US" sz="1100" dirty="0">
                <a:solidFill>
                  <a:srgbClr val="3F7F5F"/>
                </a:solidFill>
                <a:latin typeface="Consolas" panose="020B0609020204030204" pitchFamily="49" charset="0"/>
              </a:rPr>
              <a:t>// RAM_CORRECTABLE_ERROR</a:t>
            </a:r>
          </a:p>
          <a:p>
            <a:pPr marL="114300" indent="0" algn="l">
              <a:spcBef>
                <a:spcPts val="0"/>
              </a:spcBef>
              <a:buNone/>
            </a:pPr>
            <a:r>
              <a:rPr lang="en-US" sz="1100" dirty="0">
                <a:solidFill>
                  <a:srgbClr val="000000"/>
                </a:solidFill>
                <a:latin typeface="Consolas" panose="020B0609020204030204" pitchFamily="49" charset="0"/>
              </a:rPr>
              <a:t>{</a:t>
            </a:r>
          </a:p>
          <a:p>
            <a:pPr marL="114300" indent="0" algn="l">
              <a:spcBef>
                <a:spcPts val="0"/>
              </a:spcBef>
              <a:buNone/>
            </a:pPr>
            <a:r>
              <a:rPr lang="en-US" sz="1100" dirty="0">
                <a:solidFill>
                  <a:srgbClr val="000000"/>
                </a:solidFill>
                <a:latin typeface="Consolas" panose="020B0609020204030204" pitchFamily="49" charset="0"/>
              </a:rPr>
              <a:t>    </a:t>
            </a:r>
            <a:r>
              <a:rPr lang="en-US" sz="1100" dirty="0">
                <a:solidFill>
                  <a:srgbClr val="3F7F5F"/>
                </a:solidFill>
                <a:latin typeface="Consolas" panose="020B0609020204030204" pitchFamily="49" charset="0"/>
              </a:rPr>
              <a:t>// Set interrupt priority:</a:t>
            </a:r>
          </a:p>
          <a:p>
            <a:pPr marL="114300" indent="0" algn="l">
              <a:spcBef>
                <a:spcPts val="0"/>
              </a:spcBef>
              <a:buNone/>
            </a:pPr>
            <a:r>
              <a:rPr lang="en-US" sz="1100" dirty="0">
                <a:solidFill>
                  <a:srgbClr val="000000"/>
                </a:solidFill>
                <a:latin typeface="Consolas" panose="020B0609020204030204" pitchFamily="49" charset="0"/>
              </a:rPr>
              <a:t>    </a:t>
            </a:r>
            <a:r>
              <a:rPr lang="en-US" sz="1100" dirty="0">
                <a:solidFill>
                  <a:srgbClr val="7F0055"/>
                </a:solidFill>
                <a:latin typeface="Consolas" panose="020B0609020204030204" pitchFamily="49" charset="0"/>
              </a:rPr>
              <a:t>volatile</a:t>
            </a:r>
            <a:r>
              <a:rPr lang="en-US" sz="1100" dirty="0">
                <a:solidFill>
                  <a:srgbClr val="000000"/>
                </a:solidFill>
                <a:latin typeface="Consolas" panose="020B0609020204030204" pitchFamily="49" charset="0"/>
              </a:rPr>
              <a:t> </a:t>
            </a:r>
            <a:r>
              <a:rPr lang="en-US" sz="1100" dirty="0">
                <a:solidFill>
                  <a:srgbClr val="005032"/>
                </a:solidFill>
                <a:latin typeface="Consolas" panose="020B0609020204030204" pitchFamily="49" charset="0"/>
              </a:rPr>
              <a:t>Uint16</a:t>
            </a:r>
            <a:r>
              <a:rPr lang="en-US" sz="1100" dirty="0">
                <a:solidFill>
                  <a:srgbClr val="000000"/>
                </a:solidFill>
                <a:latin typeface="Consolas" panose="020B0609020204030204" pitchFamily="49" charset="0"/>
              </a:rPr>
              <a:t> </a:t>
            </a:r>
            <a:r>
              <a:rPr lang="en-US" sz="1100" dirty="0" err="1">
                <a:solidFill>
                  <a:srgbClr val="000000"/>
                </a:solidFill>
                <a:latin typeface="Consolas" panose="020B0609020204030204" pitchFamily="49" charset="0"/>
              </a:rPr>
              <a:t>TempPIEIER</a:t>
            </a:r>
            <a:r>
              <a:rPr lang="en-US" sz="1100" dirty="0">
                <a:solidFill>
                  <a:srgbClr val="000000"/>
                </a:solidFill>
                <a:latin typeface="Consolas" panose="020B0609020204030204" pitchFamily="49" charset="0"/>
              </a:rPr>
              <a:t> = PieCtrlRegs.</a:t>
            </a:r>
            <a:r>
              <a:rPr lang="en-US" sz="1100" dirty="0">
                <a:solidFill>
                  <a:srgbClr val="0000C0"/>
                </a:solidFill>
                <a:latin typeface="Consolas" panose="020B0609020204030204" pitchFamily="49" charset="0"/>
              </a:rPr>
              <a:t>PIEIER12</a:t>
            </a:r>
            <a:r>
              <a:rPr lang="en-US" sz="1100" dirty="0">
                <a:solidFill>
                  <a:srgbClr val="000000"/>
                </a:solidFill>
                <a:latin typeface="Consolas" panose="020B0609020204030204" pitchFamily="49" charset="0"/>
              </a:rPr>
              <a:t>.</a:t>
            </a:r>
            <a:r>
              <a:rPr lang="en-US" sz="1100" dirty="0">
                <a:solidFill>
                  <a:srgbClr val="0000C0"/>
                </a:solidFill>
                <a:latin typeface="Consolas" panose="020B0609020204030204" pitchFamily="49" charset="0"/>
              </a:rPr>
              <a:t>all</a:t>
            </a:r>
            <a:r>
              <a:rPr lang="en-US" sz="1100" dirty="0">
                <a:solidFill>
                  <a:srgbClr val="000000"/>
                </a:solidFill>
                <a:latin typeface="Consolas" panose="020B0609020204030204" pitchFamily="49" charset="0"/>
              </a:rPr>
              <a:t>;</a:t>
            </a:r>
          </a:p>
          <a:p>
            <a:pPr marL="114300" indent="0" algn="l">
              <a:spcBef>
                <a:spcPts val="0"/>
              </a:spcBef>
              <a:buNone/>
            </a:pPr>
            <a:r>
              <a:rPr lang="en-US" sz="1100" dirty="0">
                <a:solidFill>
                  <a:srgbClr val="000000"/>
                </a:solidFill>
                <a:latin typeface="Consolas" panose="020B0609020204030204" pitchFamily="49" charset="0"/>
              </a:rPr>
              <a:t>    IER |= M_INT12;</a:t>
            </a:r>
          </a:p>
          <a:p>
            <a:pPr marL="114300" indent="0" algn="l">
              <a:spcBef>
                <a:spcPts val="0"/>
              </a:spcBef>
              <a:buNone/>
            </a:pPr>
            <a:r>
              <a:rPr lang="en-US" sz="1100" dirty="0">
                <a:solidFill>
                  <a:srgbClr val="000000"/>
                </a:solidFill>
                <a:latin typeface="Consolas" panose="020B0609020204030204" pitchFamily="49" charset="0"/>
              </a:rPr>
              <a:t>    IER &amp;= MINT12;                        </a:t>
            </a:r>
            <a:r>
              <a:rPr lang="en-US" sz="1100" dirty="0">
                <a:solidFill>
                  <a:srgbClr val="3F7F5F"/>
                </a:solidFill>
                <a:latin typeface="Consolas" panose="020B0609020204030204" pitchFamily="49" charset="0"/>
              </a:rPr>
              <a:t>// Set "global" priority</a:t>
            </a:r>
          </a:p>
          <a:p>
            <a:pPr marL="114300" indent="0" algn="l">
              <a:spcBef>
                <a:spcPts val="0"/>
              </a:spcBef>
              <a:buNone/>
            </a:pPr>
            <a:r>
              <a:rPr lang="en-US" sz="1100" dirty="0">
                <a:solidFill>
                  <a:srgbClr val="000000"/>
                </a:solidFill>
                <a:latin typeface="Consolas" panose="020B0609020204030204" pitchFamily="49" charset="0"/>
              </a:rPr>
              <a:t>    PieCtrlRegs.</a:t>
            </a:r>
            <a:r>
              <a:rPr lang="en-US" sz="1100" dirty="0">
                <a:solidFill>
                  <a:srgbClr val="0000C0"/>
                </a:solidFill>
                <a:latin typeface="Consolas" panose="020B0609020204030204" pitchFamily="49" charset="0"/>
              </a:rPr>
              <a:t>PIEIER12</a:t>
            </a:r>
            <a:r>
              <a:rPr lang="en-US" sz="1100" dirty="0">
                <a:solidFill>
                  <a:srgbClr val="000000"/>
                </a:solidFill>
                <a:latin typeface="Consolas" panose="020B0609020204030204" pitchFamily="49" charset="0"/>
              </a:rPr>
              <a:t>.</a:t>
            </a:r>
            <a:r>
              <a:rPr lang="en-US" sz="1100" dirty="0">
                <a:solidFill>
                  <a:srgbClr val="0000C0"/>
                </a:solidFill>
                <a:latin typeface="Consolas" panose="020B0609020204030204" pitchFamily="49" charset="0"/>
              </a:rPr>
              <a:t>all</a:t>
            </a:r>
            <a:r>
              <a:rPr lang="en-US" sz="1100" dirty="0">
                <a:solidFill>
                  <a:srgbClr val="000000"/>
                </a:solidFill>
                <a:latin typeface="Consolas" panose="020B0609020204030204" pitchFamily="49" charset="0"/>
              </a:rPr>
              <a:t> &amp;= MG12_10;  </a:t>
            </a:r>
            <a:r>
              <a:rPr lang="en-US" sz="1100" dirty="0">
                <a:solidFill>
                  <a:srgbClr val="3F7F5F"/>
                </a:solidFill>
                <a:latin typeface="Consolas" panose="020B0609020204030204" pitchFamily="49" charset="0"/>
              </a:rPr>
              <a:t>// Set "group"  priority</a:t>
            </a:r>
          </a:p>
          <a:p>
            <a:pPr marL="114300" indent="0" algn="l">
              <a:spcBef>
                <a:spcPts val="0"/>
              </a:spcBef>
              <a:buNone/>
            </a:pPr>
            <a:r>
              <a:rPr lang="en-US" sz="1100" dirty="0">
                <a:solidFill>
                  <a:srgbClr val="000000"/>
                </a:solidFill>
                <a:latin typeface="Consolas" panose="020B0609020204030204" pitchFamily="49" charset="0"/>
              </a:rPr>
              <a:t>    </a:t>
            </a:r>
            <a:r>
              <a:rPr lang="en-US" sz="1100" dirty="0" err="1">
                <a:solidFill>
                  <a:srgbClr val="000000"/>
                </a:solidFill>
                <a:latin typeface="Consolas" panose="020B0609020204030204" pitchFamily="49" charset="0"/>
              </a:rPr>
              <a:t>PieCtrlRegs.</a:t>
            </a:r>
            <a:r>
              <a:rPr lang="en-US" sz="1100" dirty="0" err="1">
                <a:solidFill>
                  <a:srgbClr val="0000C0"/>
                </a:solidFill>
                <a:latin typeface="Consolas" panose="020B0609020204030204" pitchFamily="49" charset="0"/>
              </a:rPr>
              <a:t>PIEACK</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all</a:t>
            </a:r>
            <a:r>
              <a:rPr lang="en-US" sz="1100" dirty="0">
                <a:solidFill>
                  <a:srgbClr val="000000"/>
                </a:solidFill>
                <a:latin typeface="Consolas" panose="020B0609020204030204" pitchFamily="49" charset="0"/>
              </a:rPr>
              <a:t> = 0xFFFF;      </a:t>
            </a:r>
            <a:r>
              <a:rPr lang="en-US" sz="1100" dirty="0">
                <a:solidFill>
                  <a:srgbClr val="3F7F5F"/>
                </a:solidFill>
                <a:latin typeface="Consolas" panose="020B0609020204030204" pitchFamily="49" charset="0"/>
              </a:rPr>
              <a:t>// Enable PIE interrupts so that other interrupts can go in between</a:t>
            </a:r>
          </a:p>
          <a:p>
            <a:pPr marL="114300" indent="0" algn="l">
              <a:spcBef>
                <a:spcPts val="0"/>
              </a:spcBef>
              <a:buNone/>
            </a:pPr>
            <a:r>
              <a:rPr lang="en-US" sz="1100" dirty="0">
                <a:solidFill>
                  <a:srgbClr val="000000"/>
                </a:solidFill>
                <a:latin typeface="Consolas" panose="020B0609020204030204" pitchFamily="49" charset="0"/>
              </a:rPr>
              <a:t>    </a:t>
            </a:r>
            <a:r>
              <a:rPr lang="en-US" sz="1100" dirty="0">
                <a:solidFill>
                  <a:srgbClr val="7F0055"/>
                </a:solidFill>
                <a:latin typeface="Consolas" panose="020B0609020204030204" pitchFamily="49" charset="0"/>
              </a:rPr>
              <a:t>__</a:t>
            </a:r>
            <a:r>
              <a:rPr lang="en-US" sz="1100" dirty="0" err="1">
                <a:solidFill>
                  <a:srgbClr val="7F0055"/>
                </a:solidFill>
                <a:latin typeface="Consolas" panose="020B0609020204030204" pitchFamily="49" charset="0"/>
              </a:rPr>
              <a:t>asm</a:t>
            </a:r>
            <a:r>
              <a:rPr lang="en-US" sz="1100" dirty="0">
                <a:solidFill>
                  <a:srgbClr val="000000"/>
                </a:solidFill>
                <a:latin typeface="Consolas" panose="020B0609020204030204" pitchFamily="49" charset="0"/>
              </a:rPr>
              <a:t>(</a:t>
            </a:r>
            <a:r>
              <a:rPr lang="en-US" sz="1100" dirty="0">
                <a:solidFill>
                  <a:srgbClr val="2A00FF"/>
                </a:solidFill>
                <a:latin typeface="Consolas" panose="020B0609020204030204" pitchFamily="49" charset="0"/>
              </a:rPr>
              <a:t>"  NOP"</a:t>
            </a:r>
            <a:r>
              <a:rPr lang="en-US" sz="1100" dirty="0">
                <a:solidFill>
                  <a:srgbClr val="000000"/>
                </a:solidFill>
                <a:latin typeface="Consolas" panose="020B0609020204030204" pitchFamily="49" charset="0"/>
              </a:rPr>
              <a:t>);</a:t>
            </a:r>
          </a:p>
          <a:p>
            <a:pPr marL="114300" indent="0" algn="l">
              <a:spcBef>
                <a:spcPts val="0"/>
              </a:spcBef>
              <a:buNone/>
            </a:pPr>
            <a:r>
              <a:rPr lang="en-US" sz="1100" dirty="0">
                <a:solidFill>
                  <a:srgbClr val="000000"/>
                </a:solidFill>
                <a:latin typeface="Consolas" panose="020B0609020204030204" pitchFamily="49" charset="0"/>
              </a:rPr>
              <a:t>    EINT;</a:t>
            </a:r>
          </a:p>
          <a:p>
            <a:pPr marL="114300" indent="0" algn="l">
              <a:spcBef>
                <a:spcPts val="0"/>
              </a:spcBef>
              <a:buNone/>
            </a:pPr>
            <a:endParaRPr lang="en-US" sz="1100" dirty="0">
              <a:latin typeface="Consolas" panose="020B0609020204030204" pitchFamily="49" charset="0"/>
            </a:endParaRPr>
          </a:p>
          <a:p>
            <a:pPr marL="114300" indent="0" algn="l">
              <a:spcBef>
                <a:spcPts val="0"/>
              </a:spcBef>
              <a:buNone/>
            </a:pPr>
            <a:r>
              <a:rPr lang="en-US" sz="1100" dirty="0">
                <a:solidFill>
                  <a:srgbClr val="000000"/>
                </a:solidFill>
                <a:latin typeface="Consolas" panose="020B0609020204030204" pitchFamily="49" charset="0"/>
              </a:rPr>
              <a:t>    </a:t>
            </a:r>
            <a:r>
              <a:rPr lang="en-US" sz="1100" dirty="0">
                <a:solidFill>
                  <a:srgbClr val="7F0055"/>
                </a:solidFill>
                <a:latin typeface="Consolas" panose="020B0609020204030204" pitchFamily="49" charset="0"/>
              </a:rPr>
              <a:t>if</a:t>
            </a:r>
            <a:r>
              <a:rPr lang="en-US" sz="1100" dirty="0">
                <a:solidFill>
                  <a:srgbClr val="000000"/>
                </a:solidFill>
                <a:latin typeface="Consolas" panose="020B0609020204030204" pitchFamily="49" charset="0"/>
              </a:rPr>
              <a:t> (</a:t>
            </a:r>
            <a:r>
              <a:rPr lang="en-US" sz="1100" dirty="0" err="1">
                <a:solidFill>
                  <a:srgbClr val="000000"/>
                </a:solidFill>
                <a:latin typeface="Consolas" panose="020B0609020204030204" pitchFamily="49" charset="0"/>
              </a:rPr>
              <a:t>LADARpingpong</a:t>
            </a:r>
            <a:r>
              <a:rPr lang="en-US" sz="1100" dirty="0">
                <a:solidFill>
                  <a:srgbClr val="000000"/>
                </a:solidFill>
                <a:latin typeface="Consolas" panose="020B0609020204030204" pitchFamily="49" charset="0"/>
              </a:rPr>
              <a:t> == 1) {</a:t>
            </a:r>
          </a:p>
          <a:p>
            <a:pPr marL="114300" indent="0" algn="l">
              <a:spcBef>
                <a:spcPts val="0"/>
              </a:spcBef>
              <a:buNone/>
            </a:pPr>
            <a:r>
              <a:rPr lang="en-US" sz="1100" dirty="0">
                <a:solidFill>
                  <a:srgbClr val="000000"/>
                </a:solidFill>
                <a:latin typeface="Consolas" panose="020B0609020204030204" pitchFamily="49" charset="0"/>
              </a:rPr>
              <a:t>        </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LADARrightfront</a:t>
            </a:r>
            <a:r>
              <a:rPr lang="en-US" sz="1100" dirty="0">
                <a:solidFill>
                  <a:srgbClr val="3F7F5F"/>
                </a:solidFill>
                <a:latin typeface="Consolas" panose="020B0609020204030204" pitchFamily="49" charset="0"/>
              </a:rPr>
              <a:t> is the min of </a:t>
            </a:r>
            <a:r>
              <a:rPr lang="en-US" sz="1100" dirty="0" err="1">
                <a:solidFill>
                  <a:srgbClr val="3F7F5F"/>
                </a:solidFill>
                <a:latin typeface="Consolas" panose="020B0609020204030204" pitchFamily="49" charset="0"/>
              </a:rPr>
              <a:t>dist</a:t>
            </a:r>
            <a:r>
              <a:rPr lang="en-US" sz="1100" dirty="0">
                <a:solidFill>
                  <a:srgbClr val="3F7F5F"/>
                </a:solidFill>
                <a:latin typeface="Consolas" panose="020B0609020204030204" pitchFamily="49" charset="0"/>
              </a:rPr>
              <a:t> 52, 53, 54, 55, 56</a:t>
            </a:r>
          </a:p>
          <a:p>
            <a:pPr marL="114300" indent="0">
              <a:spcBef>
                <a:spcPts val="0"/>
              </a:spcBef>
              <a:buNone/>
            </a:pPr>
            <a:r>
              <a:rPr lang="en-US" sz="1100" dirty="0">
                <a:solidFill>
                  <a:srgbClr val="000000"/>
                </a:solidFill>
                <a:latin typeface="Consolas" panose="020B0609020204030204" pitchFamily="49" charset="0"/>
              </a:rPr>
              <a:t>        </a:t>
            </a:r>
            <a:r>
              <a:rPr lang="en-US" sz="1100" dirty="0">
                <a:solidFill>
                  <a:srgbClr val="7F0055"/>
                </a:solidFill>
                <a:latin typeface="Consolas" panose="020B0609020204030204" pitchFamily="49" charset="0"/>
              </a:rPr>
              <a:t>for</a:t>
            </a:r>
            <a:r>
              <a:rPr lang="en-US" sz="1100" dirty="0">
                <a:solidFill>
                  <a:srgbClr val="000000"/>
                </a:solidFill>
                <a:latin typeface="Consolas" panose="020B0609020204030204" pitchFamily="49" charset="0"/>
              </a:rPr>
              <a:t> (LADARi = 52, </a:t>
            </a:r>
            <a:r>
              <a:rPr lang="en-US" sz="1100" dirty="0" err="1">
                <a:solidFill>
                  <a:srgbClr val="000000"/>
                </a:solidFill>
                <a:latin typeface="Consolas" panose="020B0609020204030204" pitchFamily="49" charset="0"/>
              </a:rPr>
              <a:t>LADARrightfront</a:t>
            </a:r>
            <a:r>
              <a:rPr lang="en-US" sz="1100" dirty="0">
                <a:solidFill>
                  <a:srgbClr val="000000"/>
                </a:solidFill>
                <a:latin typeface="Consolas" panose="020B0609020204030204" pitchFamily="49" charset="0"/>
              </a:rPr>
              <a:t> = 19; LADARi &lt;= 56 ; LADARi++) { </a:t>
            </a:r>
            <a:r>
              <a:rPr lang="en-US" sz="1100" dirty="0">
                <a:solidFill>
                  <a:srgbClr val="3F7F5F"/>
                </a:solidFill>
                <a:latin typeface="Consolas" panose="020B0609020204030204" pitchFamily="49" charset="0"/>
              </a:rPr>
              <a:t>// 19 is greater than max feet</a:t>
            </a:r>
            <a:endParaRPr lang="en-US" sz="1100" dirty="0">
              <a:solidFill>
                <a:srgbClr val="000000"/>
              </a:solidFill>
              <a:latin typeface="Consolas" panose="020B0609020204030204" pitchFamily="49" charset="0"/>
            </a:endParaRPr>
          </a:p>
          <a:p>
            <a:pPr marL="114300" indent="0" algn="l">
              <a:spcBef>
                <a:spcPts val="0"/>
              </a:spcBef>
              <a:buNone/>
            </a:pPr>
            <a:r>
              <a:rPr lang="en-US" sz="1100" dirty="0">
                <a:solidFill>
                  <a:srgbClr val="000000"/>
                </a:solidFill>
                <a:latin typeface="Consolas" panose="020B0609020204030204" pitchFamily="49" charset="0"/>
              </a:rPr>
              <a:t>            </a:t>
            </a:r>
            <a:r>
              <a:rPr lang="en-US" sz="1100" dirty="0">
                <a:solidFill>
                  <a:srgbClr val="7F0055"/>
                </a:solidFill>
                <a:latin typeface="Consolas" panose="020B0609020204030204" pitchFamily="49" charset="0"/>
              </a:rPr>
              <a:t>if</a:t>
            </a:r>
            <a:r>
              <a:rPr lang="en-US" sz="1100" dirty="0">
                <a:solidFill>
                  <a:srgbClr val="000000"/>
                </a:solidFill>
                <a:latin typeface="Consolas" panose="020B0609020204030204" pitchFamily="49" charset="0"/>
              </a:rPr>
              <a:t> (</a:t>
            </a:r>
            <a:r>
              <a:rPr lang="en-US" sz="1100" dirty="0" err="1">
                <a:solidFill>
                  <a:srgbClr val="000000"/>
                </a:solidFill>
                <a:latin typeface="Consolas" panose="020B0609020204030204" pitchFamily="49" charset="0"/>
              </a:rPr>
              <a:t>ladar_data</a:t>
            </a:r>
            <a:r>
              <a:rPr lang="en-US" sz="1100" dirty="0">
                <a:solidFill>
                  <a:srgbClr val="000000"/>
                </a:solidFill>
                <a:latin typeface="Consolas" panose="020B0609020204030204" pitchFamily="49" charset="0"/>
              </a:rPr>
              <a:t>[LADARi].</a:t>
            </a:r>
            <a:r>
              <a:rPr lang="en-US" sz="1100" dirty="0" err="1">
                <a:solidFill>
                  <a:srgbClr val="0000C0"/>
                </a:solidFill>
                <a:latin typeface="Consolas" panose="020B0609020204030204" pitchFamily="49" charset="0"/>
              </a:rPr>
              <a:t>distance_ping</a:t>
            </a:r>
            <a:r>
              <a:rPr lang="en-US" sz="1100" dirty="0">
                <a:solidFill>
                  <a:srgbClr val="000000"/>
                </a:solidFill>
                <a:latin typeface="Consolas" panose="020B0609020204030204" pitchFamily="49" charset="0"/>
              </a:rPr>
              <a:t> &lt; </a:t>
            </a:r>
            <a:r>
              <a:rPr lang="en-US" sz="1100" dirty="0" err="1">
                <a:solidFill>
                  <a:srgbClr val="000000"/>
                </a:solidFill>
                <a:latin typeface="Consolas" panose="020B0609020204030204" pitchFamily="49" charset="0"/>
              </a:rPr>
              <a:t>LADARrightfront</a:t>
            </a:r>
            <a:r>
              <a:rPr lang="en-US" sz="1100" dirty="0">
                <a:solidFill>
                  <a:srgbClr val="000000"/>
                </a:solidFill>
                <a:latin typeface="Consolas" panose="020B0609020204030204" pitchFamily="49" charset="0"/>
              </a:rPr>
              <a:t>) {</a:t>
            </a:r>
          </a:p>
          <a:p>
            <a:pPr marL="114300" indent="0" algn="l">
              <a:spcBef>
                <a:spcPts val="0"/>
              </a:spcBef>
              <a:buNone/>
            </a:pPr>
            <a:r>
              <a:rPr lang="en-US" sz="1100" dirty="0">
                <a:solidFill>
                  <a:srgbClr val="000000"/>
                </a:solidFill>
                <a:latin typeface="Consolas" panose="020B0609020204030204" pitchFamily="49" charset="0"/>
              </a:rPr>
              <a:t>                </a:t>
            </a:r>
            <a:r>
              <a:rPr lang="en-US" sz="1100" dirty="0" err="1">
                <a:solidFill>
                  <a:srgbClr val="000000"/>
                </a:solidFill>
                <a:latin typeface="Consolas" panose="020B0609020204030204" pitchFamily="49" charset="0"/>
              </a:rPr>
              <a:t>LADARrightfront</a:t>
            </a:r>
            <a:r>
              <a:rPr lang="en-US" sz="1100" dirty="0">
                <a:solidFill>
                  <a:srgbClr val="000000"/>
                </a:solidFill>
                <a:latin typeface="Consolas" panose="020B0609020204030204" pitchFamily="49" charset="0"/>
              </a:rPr>
              <a:t> = </a:t>
            </a:r>
            <a:r>
              <a:rPr lang="en-US" sz="1100" dirty="0" err="1">
                <a:solidFill>
                  <a:srgbClr val="000000"/>
                </a:solidFill>
                <a:latin typeface="Consolas" panose="020B0609020204030204" pitchFamily="49" charset="0"/>
              </a:rPr>
              <a:t>ladar_data</a:t>
            </a:r>
            <a:r>
              <a:rPr lang="en-US" sz="1100" dirty="0">
                <a:solidFill>
                  <a:srgbClr val="000000"/>
                </a:solidFill>
                <a:latin typeface="Consolas" panose="020B0609020204030204" pitchFamily="49" charset="0"/>
              </a:rPr>
              <a:t>[LADARi].</a:t>
            </a:r>
            <a:r>
              <a:rPr lang="en-US" sz="1100" dirty="0" err="1">
                <a:solidFill>
                  <a:srgbClr val="0000C0"/>
                </a:solidFill>
                <a:latin typeface="Consolas" panose="020B0609020204030204" pitchFamily="49" charset="0"/>
              </a:rPr>
              <a:t>distance_ping</a:t>
            </a:r>
            <a:r>
              <a:rPr lang="en-US" sz="1100" dirty="0">
                <a:solidFill>
                  <a:srgbClr val="000000"/>
                </a:solidFill>
                <a:latin typeface="Consolas" panose="020B0609020204030204" pitchFamily="49" charset="0"/>
              </a:rPr>
              <a:t>;</a:t>
            </a:r>
          </a:p>
          <a:p>
            <a:pPr marL="114300" indent="0" algn="l">
              <a:spcBef>
                <a:spcPts val="0"/>
              </a:spcBef>
              <a:buNone/>
            </a:pPr>
            <a:r>
              <a:rPr lang="en-US" sz="1100" dirty="0">
                <a:solidFill>
                  <a:srgbClr val="000000"/>
                </a:solidFill>
                <a:latin typeface="Consolas" panose="020B0609020204030204" pitchFamily="49" charset="0"/>
              </a:rPr>
              <a:t>            }</a:t>
            </a:r>
          </a:p>
          <a:p>
            <a:pPr marL="114300" indent="0" algn="l">
              <a:spcBef>
                <a:spcPts val="0"/>
              </a:spcBef>
              <a:buNone/>
            </a:pPr>
            <a:r>
              <a:rPr lang="en-US" sz="1100" dirty="0">
                <a:solidFill>
                  <a:srgbClr val="000000"/>
                </a:solidFill>
                <a:latin typeface="Consolas" panose="020B0609020204030204" pitchFamily="49" charset="0"/>
              </a:rPr>
              <a:t>        }</a:t>
            </a:r>
          </a:p>
          <a:p>
            <a:pPr marL="114300" indent="0" algn="l">
              <a:spcBef>
                <a:spcPts val="0"/>
              </a:spcBef>
              <a:buNone/>
            </a:pPr>
            <a:r>
              <a:rPr lang="en-US" sz="1100" dirty="0">
                <a:solidFill>
                  <a:srgbClr val="000000"/>
                </a:solidFill>
                <a:latin typeface="Consolas" panose="020B0609020204030204" pitchFamily="49" charset="0"/>
              </a:rPr>
              <a:t>        </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LADARfront</a:t>
            </a:r>
            <a:r>
              <a:rPr lang="en-US" sz="1100" dirty="0">
                <a:solidFill>
                  <a:srgbClr val="3F7F5F"/>
                </a:solidFill>
                <a:latin typeface="Consolas" panose="020B0609020204030204" pitchFamily="49" charset="0"/>
              </a:rPr>
              <a:t> is the min of </a:t>
            </a:r>
            <a:r>
              <a:rPr lang="en-US" sz="1100" dirty="0" err="1">
                <a:solidFill>
                  <a:srgbClr val="3F7F5F"/>
                </a:solidFill>
                <a:latin typeface="Consolas" panose="020B0609020204030204" pitchFamily="49" charset="0"/>
              </a:rPr>
              <a:t>dist</a:t>
            </a:r>
            <a:r>
              <a:rPr lang="en-US" sz="1100" dirty="0">
                <a:solidFill>
                  <a:srgbClr val="3F7F5F"/>
                </a:solidFill>
                <a:latin typeface="Consolas" panose="020B0609020204030204" pitchFamily="49" charset="0"/>
              </a:rPr>
              <a:t> 111, 112, 113, 114, 115</a:t>
            </a:r>
            <a:endParaRPr lang="en-US" sz="1100" dirty="0">
              <a:solidFill>
                <a:srgbClr val="000000"/>
              </a:solidFill>
              <a:latin typeface="Consolas" panose="020B0609020204030204" pitchFamily="49" charset="0"/>
            </a:endParaRPr>
          </a:p>
          <a:p>
            <a:pPr marL="114300" indent="0">
              <a:spcBef>
                <a:spcPts val="0"/>
              </a:spcBef>
              <a:buNone/>
            </a:pPr>
            <a:r>
              <a:rPr lang="en-US" sz="1100" dirty="0">
                <a:solidFill>
                  <a:srgbClr val="000000"/>
                </a:solidFill>
                <a:latin typeface="Consolas" panose="020B0609020204030204" pitchFamily="49" charset="0"/>
              </a:rPr>
              <a:t>        </a:t>
            </a:r>
            <a:r>
              <a:rPr lang="en-US" sz="1100" dirty="0">
                <a:solidFill>
                  <a:srgbClr val="7F0055"/>
                </a:solidFill>
                <a:latin typeface="Consolas" panose="020B0609020204030204" pitchFamily="49" charset="0"/>
              </a:rPr>
              <a:t>for</a:t>
            </a:r>
            <a:r>
              <a:rPr lang="en-US" sz="1100" dirty="0">
                <a:solidFill>
                  <a:srgbClr val="000000"/>
                </a:solidFill>
                <a:latin typeface="Consolas" panose="020B0609020204030204" pitchFamily="49" charset="0"/>
              </a:rPr>
              <a:t> (LADARi = 111, </a:t>
            </a:r>
            <a:r>
              <a:rPr lang="en-US" sz="1100" dirty="0" err="1">
                <a:solidFill>
                  <a:srgbClr val="000000"/>
                </a:solidFill>
                <a:latin typeface="Consolas" panose="020B0609020204030204" pitchFamily="49" charset="0"/>
              </a:rPr>
              <a:t>LADARfront</a:t>
            </a:r>
            <a:r>
              <a:rPr lang="en-US" sz="1100" dirty="0">
                <a:solidFill>
                  <a:srgbClr val="000000"/>
                </a:solidFill>
                <a:latin typeface="Consolas" panose="020B0609020204030204" pitchFamily="49" charset="0"/>
              </a:rPr>
              <a:t> = 19; LADARi &lt;= 115 ; LADARi++) {</a:t>
            </a:r>
          </a:p>
          <a:p>
            <a:pPr marL="114300" indent="0" algn="l">
              <a:spcBef>
                <a:spcPts val="0"/>
              </a:spcBef>
              <a:buNone/>
            </a:pPr>
            <a:r>
              <a:rPr lang="en-US" sz="1100" dirty="0">
                <a:solidFill>
                  <a:srgbClr val="000000"/>
                </a:solidFill>
                <a:latin typeface="Consolas" panose="020B0609020204030204" pitchFamily="49" charset="0"/>
              </a:rPr>
              <a:t>            </a:t>
            </a:r>
            <a:r>
              <a:rPr lang="en-US" sz="1100" dirty="0">
                <a:solidFill>
                  <a:srgbClr val="7F0055"/>
                </a:solidFill>
                <a:latin typeface="Consolas" panose="020B0609020204030204" pitchFamily="49" charset="0"/>
              </a:rPr>
              <a:t>if</a:t>
            </a:r>
            <a:r>
              <a:rPr lang="en-US" sz="1100" dirty="0">
                <a:solidFill>
                  <a:srgbClr val="000000"/>
                </a:solidFill>
                <a:latin typeface="Consolas" panose="020B0609020204030204" pitchFamily="49" charset="0"/>
              </a:rPr>
              <a:t> (</a:t>
            </a:r>
            <a:r>
              <a:rPr lang="en-US" sz="1100" dirty="0" err="1">
                <a:solidFill>
                  <a:srgbClr val="000000"/>
                </a:solidFill>
                <a:latin typeface="Consolas" panose="020B0609020204030204" pitchFamily="49" charset="0"/>
              </a:rPr>
              <a:t>ladar_data</a:t>
            </a:r>
            <a:r>
              <a:rPr lang="en-US" sz="1100" dirty="0">
                <a:solidFill>
                  <a:srgbClr val="000000"/>
                </a:solidFill>
                <a:latin typeface="Consolas" panose="020B0609020204030204" pitchFamily="49" charset="0"/>
              </a:rPr>
              <a:t>[LADARi].</a:t>
            </a:r>
            <a:r>
              <a:rPr lang="en-US" sz="1100" dirty="0" err="1">
                <a:solidFill>
                  <a:srgbClr val="0000C0"/>
                </a:solidFill>
                <a:latin typeface="Consolas" panose="020B0609020204030204" pitchFamily="49" charset="0"/>
              </a:rPr>
              <a:t>distance_ping</a:t>
            </a:r>
            <a:r>
              <a:rPr lang="en-US" sz="1100" dirty="0">
                <a:solidFill>
                  <a:srgbClr val="000000"/>
                </a:solidFill>
                <a:latin typeface="Consolas" panose="020B0609020204030204" pitchFamily="49" charset="0"/>
              </a:rPr>
              <a:t> &lt; </a:t>
            </a:r>
            <a:r>
              <a:rPr lang="en-US" sz="1100" dirty="0" err="1">
                <a:solidFill>
                  <a:srgbClr val="000000"/>
                </a:solidFill>
                <a:latin typeface="Consolas" panose="020B0609020204030204" pitchFamily="49" charset="0"/>
              </a:rPr>
              <a:t>LADARfront</a:t>
            </a:r>
            <a:r>
              <a:rPr lang="en-US" sz="1100" dirty="0">
                <a:solidFill>
                  <a:srgbClr val="000000"/>
                </a:solidFill>
                <a:latin typeface="Consolas" panose="020B0609020204030204" pitchFamily="49" charset="0"/>
              </a:rPr>
              <a:t>) {</a:t>
            </a:r>
          </a:p>
          <a:p>
            <a:pPr marL="114300" indent="0" algn="l">
              <a:spcBef>
                <a:spcPts val="0"/>
              </a:spcBef>
              <a:buNone/>
            </a:pPr>
            <a:r>
              <a:rPr lang="en-US" sz="1100" dirty="0">
                <a:solidFill>
                  <a:srgbClr val="000000"/>
                </a:solidFill>
                <a:latin typeface="Consolas" panose="020B0609020204030204" pitchFamily="49" charset="0"/>
              </a:rPr>
              <a:t>                </a:t>
            </a:r>
            <a:r>
              <a:rPr lang="en-US" sz="1100" dirty="0" err="1">
                <a:solidFill>
                  <a:srgbClr val="000000"/>
                </a:solidFill>
                <a:latin typeface="Consolas" panose="020B0609020204030204" pitchFamily="49" charset="0"/>
              </a:rPr>
              <a:t>LADARfront</a:t>
            </a:r>
            <a:r>
              <a:rPr lang="en-US" sz="1100" dirty="0">
                <a:solidFill>
                  <a:srgbClr val="000000"/>
                </a:solidFill>
                <a:latin typeface="Consolas" panose="020B0609020204030204" pitchFamily="49" charset="0"/>
              </a:rPr>
              <a:t> = </a:t>
            </a:r>
            <a:r>
              <a:rPr lang="en-US" sz="1100" dirty="0" err="1">
                <a:solidFill>
                  <a:srgbClr val="000000"/>
                </a:solidFill>
                <a:latin typeface="Consolas" panose="020B0609020204030204" pitchFamily="49" charset="0"/>
              </a:rPr>
              <a:t>ladar_data</a:t>
            </a:r>
            <a:r>
              <a:rPr lang="en-US" sz="1100" dirty="0">
                <a:solidFill>
                  <a:srgbClr val="000000"/>
                </a:solidFill>
                <a:latin typeface="Consolas" panose="020B0609020204030204" pitchFamily="49" charset="0"/>
              </a:rPr>
              <a:t>[LADARi].</a:t>
            </a:r>
            <a:r>
              <a:rPr lang="en-US" sz="1100" dirty="0" err="1">
                <a:solidFill>
                  <a:srgbClr val="0000C0"/>
                </a:solidFill>
                <a:latin typeface="Consolas" panose="020B0609020204030204" pitchFamily="49" charset="0"/>
              </a:rPr>
              <a:t>distance_ping</a:t>
            </a:r>
            <a:r>
              <a:rPr lang="en-US" sz="1100" dirty="0">
                <a:solidFill>
                  <a:srgbClr val="000000"/>
                </a:solidFill>
                <a:latin typeface="Consolas" panose="020B0609020204030204" pitchFamily="49" charset="0"/>
              </a:rPr>
              <a:t>;</a:t>
            </a:r>
          </a:p>
          <a:p>
            <a:pPr marL="114300" indent="0" algn="l">
              <a:spcBef>
                <a:spcPts val="0"/>
              </a:spcBef>
              <a:buNone/>
            </a:pPr>
            <a:r>
              <a:rPr lang="en-US" sz="1100" dirty="0">
                <a:solidFill>
                  <a:srgbClr val="000000"/>
                </a:solidFill>
                <a:latin typeface="Consolas" panose="020B0609020204030204" pitchFamily="49" charset="0"/>
              </a:rPr>
              <a:t>            }</a:t>
            </a:r>
          </a:p>
          <a:p>
            <a:pPr marL="114300" indent="0" algn="l">
              <a:spcBef>
                <a:spcPts val="0"/>
              </a:spcBef>
              <a:buNone/>
            </a:pPr>
            <a:r>
              <a:rPr lang="en-US" sz="1100" dirty="0">
                <a:solidFill>
                  <a:srgbClr val="000000"/>
                </a:solidFill>
                <a:latin typeface="Consolas" panose="020B0609020204030204" pitchFamily="49" charset="0"/>
              </a:rPr>
              <a:t>        }</a:t>
            </a:r>
          </a:p>
          <a:p>
            <a:pPr marL="114300" indent="0" algn="l">
              <a:spcBef>
                <a:spcPts val="0"/>
              </a:spcBef>
              <a:buNone/>
            </a:pPr>
            <a:endParaRPr lang="en-US" sz="1100" dirty="0">
              <a:solidFill>
                <a:srgbClr val="000000"/>
              </a:solidFill>
              <a:latin typeface="Consolas" panose="020B0609020204030204" pitchFamily="49" charset="0"/>
            </a:endParaRPr>
          </a:p>
          <a:p>
            <a:pPr marL="114300" indent="0">
              <a:spcBef>
                <a:spcPts val="0"/>
              </a:spcBef>
              <a:buNone/>
            </a:pPr>
            <a:r>
              <a:rPr lang="en-US" sz="1100" dirty="0">
                <a:solidFill>
                  <a:srgbClr val="000000"/>
                </a:solidFill>
                <a:latin typeface="Consolas" panose="020B0609020204030204" pitchFamily="49" charset="0"/>
              </a:rPr>
              <a:t>        </a:t>
            </a:r>
            <a:r>
              <a:rPr lang="en-US" sz="1100" dirty="0">
                <a:solidFill>
                  <a:srgbClr val="3F7F5F"/>
                </a:solidFill>
                <a:latin typeface="Consolas" panose="020B0609020204030204" pitchFamily="49" charset="0"/>
              </a:rPr>
              <a:t>// Do coordinate transformations here, done in the next slides</a:t>
            </a:r>
          </a:p>
          <a:p>
            <a:pPr marL="114300" indent="0">
              <a:spcBef>
                <a:spcPts val="0"/>
              </a:spcBef>
              <a:buNone/>
            </a:pPr>
            <a:endParaRPr lang="en-US" sz="1100" dirty="0">
              <a:solidFill>
                <a:srgbClr val="000000"/>
              </a:solidFill>
              <a:latin typeface="Consolas" panose="020B0609020204030204" pitchFamily="49" charset="0"/>
            </a:endParaRPr>
          </a:p>
          <a:p>
            <a:pPr marL="114300" indent="0" algn="l">
              <a:spcBef>
                <a:spcPts val="0"/>
              </a:spcBef>
              <a:buNone/>
            </a:pPr>
            <a:r>
              <a:rPr lang="en-US" sz="1100" dirty="0">
                <a:solidFill>
                  <a:srgbClr val="000000"/>
                </a:solidFill>
                <a:latin typeface="Consolas" panose="020B0609020204030204" pitchFamily="49" charset="0"/>
              </a:rPr>
              <a:t>    } </a:t>
            </a:r>
            <a:r>
              <a:rPr lang="en-US" sz="1100" dirty="0">
                <a:solidFill>
                  <a:srgbClr val="7F0055"/>
                </a:solidFill>
                <a:latin typeface="Consolas" panose="020B0609020204030204" pitchFamily="49" charset="0"/>
              </a:rPr>
              <a:t>else</a:t>
            </a:r>
            <a:r>
              <a:rPr lang="en-US" sz="1100" dirty="0">
                <a:solidFill>
                  <a:srgbClr val="000000"/>
                </a:solidFill>
                <a:latin typeface="Consolas" panose="020B0609020204030204" pitchFamily="49" charset="0"/>
              </a:rPr>
              <a:t> </a:t>
            </a:r>
            <a:r>
              <a:rPr lang="en-US" sz="1100" dirty="0">
                <a:solidFill>
                  <a:srgbClr val="7F0055"/>
                </a:solidFill>
                <a:latin typeface="Consolas" panose="020B0609020204030204" pitchFamily="49" charset="0"/>
              </a:rPr>
              <a:t>if</a:t>
            </a:r>
            <a:r>
              <a:rPr lang="en-US" sz="1100" dirty="0">
                <a:solidFill>
                  <a:srgbClr val="000000"/>
                </a:solidFill>
                <a:latin typeface="Consolas" panose="020B0609020204030204" pitchFamily="49" charset="0"/>
              </a:rPr>
              <a:t> (</a:t>
            </a:r>
            <a:r>
              <a:rPr lang="en-US" sz="1100" dirty="0" err="1">
                <a:solidFill>
                  <a:srgbClr val="000000"/>
                </a:solidFill>
                <a:latin typeface="Consolas" panose="020B0609020204030204" pitchFamily="49" charset="0"/>
              </a:rPr>
              <a:t>LADARpingpong</a:t>
            </a:r>
            <a:r>
              <a:rPr lang="en-US" sz="1100" dirty="0">
                <a:solidFill>
                  <a:srgbClr val="000000"/>
                </a:solidFill>
                <a:latin typeface="Consolas" panose="020B0609020204030204" pitchFamily="49" charset="0"/>
              </a:rPr>
              <a:t> == 0) { </a:t>
            </a:r>
            <a:r>
              <a:rPr lang="en-US" sz="1100" dirty="0">
                <a:solidFill>
                  <a:srgbClr val="3F7F5F"/>
                </a:solidFill>
                <a:latin typeface="Consolas" panose="020B0609020204030204" pitchFamily="49" charset="0"/>
              </a:rPr>
              <a:t>/** same for pong */</a:t>
            </a:r>
            <a:r>
              <a:rPr lang="en-US" sz="1100" dirty="0">
                <a:latin typeface="Consolas" panose="020B0609020204030204" pitchFamily="49" charset="0"/>
              </a:rPr>
              <a:t> </a:t>
            </a:r>
            <a:r>
              <a:rPr lang="en-US" sz="1100" dirty="0">
                <a:solidFill>
                  <a:srgbClr val="000000"/>
                </a:solidFill>
                <a:latin typeface="Consolas" panose="020B0609020204030204" pitchFamily="49" charset="0"/>
              </a:rPr>
              <a:t>}</a:t>
            </a:r>
          </a:p>
          <a:p>
            <a:pPr marL="114300" indent="0" algn="l">
              <a:spcBef>
                <a:spcPts val="0"/>
              </a:spcBef>
              <a:buNone/>
            </a:pPr>
            <a:r>
              <a:rPr lang="en-US" sz="1100" dirty="0">
                <a:solidFill>
                  <a:srgbClr val="000000"/>
                </a:solidFill>
                <a:latin typeface="Consolas" panose="020B0609020204030204" pitchFamily="49" charset="0"/>
              </a:rPr>
              <a:t>}</a:t>
            </a:r>
            <a:endParaRPr lang="en-US" sz="11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FAC38673-347C-5D08-8E3D-B9ACDB41DB9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C4BAD44-0A6F-3CA2-4234-598FAE7BA30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88EDECB-FF39-BE5D-DE03-774EC2CC1E4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EF13763-146D-6C39-BA74-B86B0DBC5A3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FDC54EE-9C21-6AC1-698E-70B99F88858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E02195F-1B0D-8CD1-FE5B-96BA07F07A2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44E1970-8DF2-19D8-7945-5BD09B85FFD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0EF8084-15FA-613D-77F7-7EA48DAB46E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15544608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A1A1A64-C64A-F19D-1CC3-EDE7302D9CB0}"/>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A4E51EA2-39C6-E885-3098-919A58EC4AD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600" dirty="0">
                    <a:latin typeface="Atkinson Hyperlegible Next"/>
                    <a:ea typeface="Arial"/>
                    <a:cs typeface="Arial"/>
                    <a:sym typeface="Arial"/>
                  </a:rPr>
                  <a:t>We start with the coordinate transform to get the coordinate of the LiDAR in the real world based on the robot’s position and heading.</a:t>
                </a:r>
                <a:endParaRPr lang="en-US" sz="1400" dirty="0">
                  <a:latin typeface="Atkinson Hyperlegible Next"/>
                  <a:ea typeface="Arial"/>
                  <a:cs typeface="Arial"/>
                  <a:sym typeface="Arial"/>
                </a:endParaRPr>
              </a:p>
              <a:p>
                <a:pPr marL="114300" indent="0">
                  <a:buNone/>
                </a:pPr>
                <a:endParaRPr lang="en-US" sz="2000" dirty="0">
                  <a:solidFill>
                    <a:srgbClr val="000000"/>
                  </a:solidFill>
                  <a:latin typeface="Atkinson Hyperlegible Next"/>
                  <a:cs typeface="Arial"/>
                  <a:sym typeface="Arial"/>
                </a:endParaRPr>
              </a:p>
              <a:p>
                <a:pPr marL="114300" indent="0">
                  <a:buNone/>
                </a:pPr>
                <a14:m>
                  <m:oMathPara xmlns:m="http://schemas.openxmlformats.org/officeDocument/2006/math">
                    <m:oMathParaPr>
                      <m:jc m:val="centerGroup"/>
                    </m:oMathParaPr>
                    <m:oMath xmlns:m="http://schemas.openxmlformats.org/officeDocument/2006/math">
                      <m:d>
                        <m:dPr>
                          <m:begChr m:val="["/>
                          <m:endChr m:val="]"/>
                          <m:ctrlPr>
                            <a:rPr lang="en-US" sz="1600" i="1">
                              <a:latin typeface="Cambria Math" panose="02040503050406030204" pitchFamily="18" charset="0"/>
                              <a:cs typeface="Arial"/>
                              <a:sym typeface="Arial"/>
                            </a:rPr>
                          </m:ctrlPr>
                        </m:dPr>
                        <m:e>
                          <m:m>
                            <m:mPr>
                              <m:plcHide m:val="on"/>
                              <m:mcs>
                                <m:mc>
                                  <m:mcPr>
                                    <m:count m:val="1"/>
                                    <m:mcJc m:val="center"/>
                                  </m:mcPr>
                                </m:mc>
                              </m:mcs>
                              <m:ctrlPr>
                                <a:rPr lang="en-US" sz="1600" i="1">
                                  <a:latin typeface="Cambria Math" panose="02040503050406030204" pitchFamily="18" charset="0"/>
                                  <a:cs typeface="Arial"/>
                                  <a:sym typeface="Arial"/>
                                </a:rPr>
                              </m:ctrlPr>
                            </m:mPr>
                            <m:mr>
                              <m:e>
                                <m:sSub>
                                  <m:sSubPr>
                                    <m:ctrlPr>
                                      <a:rPr lang="en-US" sz="1600" i="1">
                                        <a:latin typeface="Cambria Math" panose="02040503050406030204" pitchFamily="18" charset="0"/>
                                        <a:cs typeface="Arial"/>
                                        <a:sym typeface="Arial"/>
                                      </a:rPr>
                                    </m:ctrlPr>
                                  </m:sSubPr>
                                  <m:e>
                                    <m:r>
                                      <a:rPr lang="en-US" sz="1600" i="1">
                                        <a:latin typeface="Cambria Math" panose="02040503050406030204" pitchFamily="18" charset="0"/>
                                        <a:cs typeface="Arial"/>
                                        <a:sym typeface="Arial"/>
                                      </a:rPr>
                                      <m:t>𝑥</m:t>
                                    </m:r>
                                  </m:e>
                                  <m:sub>
                                    <m:r>
                                      <a:rPr lang="en-US" sz="1600" i="1">
                                        <a:latin typeface="Cambria Math" panose="02040503050406030204" pitchFamily="18" charset="0"/>
                                        <a:cs typeface="Arial"/>
                                        <a:sym typeface="Arial"/>
                                      </a:rPr>
                                      <m:t>𝑊</m:t>
                                    </m:r>
                                  </m:sub>
                                </m:sSub>
                              </m:e>
                            </m:mr>
                            <m:mr>
                              <m:e>
                                <m:sSub>
                                  <m:sSubPr>
                                    <m:ctrlPr>
                                      <a:rPr lang="en-US" sz="1600" i="1">
                                        <a:latin typeface="Cambria Math" panose="02040503050406030204" pitchFamily="18" charset="0"/>
                                        <a:cs typeface="Arial"/>
                                        <a:sym typeface="Arial"/>
                                      </a:rPr>
                                    </m:ctrlPr>
                                  </m:sSubPr>
                                  <m:e>
                                    <m:r>
                                      <a:rPr lang="en-US" sz="1600" i="1">
                                        <a:latin typeface="Cambria Math" panose="02040503050406030204" pitchFamily="18" charset="0"/>
                                        <a:cs typeface="Arial"/>
                                        <a:sym typeface="Arial"/>
                                      </a:rPr>
                                      <m:t>𝑦</m:t>
                                    </m:r>
                                  </m:e>
                                  <m:sub>
                                    <m:r>
                                      <a:rPr lang="en-US" sz="1600" i="1">
                                        <a:latin typeface="Cambria Math" panose="02040503050406030204" pitchFamily="18" charset="0"/>
                                        <a:cs typeface="Arial"/>
                                        <a:sym typeface="Arial"/>
                                      </a:rPr>
                                      <m:t>𝑊</m:t>
                                    </m:r>
                                  </m:sub>
                                </m:sSub>
                              </m:e>
                            </m:mr>
                            <m:mr>
                              <m:e>
                                <m:r>
                                  <a:rPr lang="en-US" sz="1600" i="1">
                                    <a:latin typeface="Cambria Math" panose="02040503050406030204" pitchFamily="18" charset="0"/>
                                    <a:cs typeface="Arial"/>
                                    <a:sym typeface="Arial"/>
                                  </a:rPr>
                                  <m:t>1</m:t>
                                </m:r>
                              </m:e>
                            </m:mr>
                          </m:m>
                        </m:e>
                      </m:d>
                      <m:r>
                        <a:rPr lang="en-US" sz="1600" i="1">
                          <a:latin typeface="Cambria Math" panose="02040503050406030204" pitchFamily="18" charset="0"/>
                          <a:cs typeface="Arial"/>
                          <a:sym typeface="Arial"/>
                        </a:rPr>
                        <m:t>=</m:t>
                      </m:r>
                      <m:d>
                        <m:dPr>
                          <m:begChr m:val="["/>
                          <m:endChr m:val="]"/>
                          <m:ctrlPr>
                            <a:rPr lang="en-US" sz="1600" i="1">
                              <a:latin typeface="Cambria Math" panose="02040503050406030204" pitchFamily="18" charset="0"/>
                              <a:cs typeface="Arial"/>
                              <a:sym typeface="Arial"/>
                            </a:rPr>
                          </m:ctrlPr>
                        </m:dPr>
                        <m:e>
                          <m:m>
                            <m:mPr>
                              <m:plcHide m:val="on"/>
                              <m:mcs>
                                <m:mc>
                                  <m:mcPr>
                                    <m:count m:val="3"/>
                                    <m:mcJc m:val="center"/>
                                  </m:mcPr>
                                </m:mc>
                              </m:mcs>
                              <m:ctrlPr>
                                <a:rPr lang="en-US" sz="1600" i="1">
                                  <a:latin typeface="Cambria Math" panose="02040503050406030204" pitchFamily="18" charset="0"/>
                                  <a:cs typeface="Arial"/>
                                  <a:sym typeface="Arial"/>
                                </a:rPr>
                              </m:ctrlPr>
                            </m:mPr>
                            <m:mr>
                              <m:e>
                                <m:func>
                                  <m:funcPr>
                                    <m:ctrlPr>
                                      <a:rPr lang="en-US" sz="1600" i="1">
                                        <a:latin typeface="Cambria Math" panose="02040503050406030204" pitchFamily="18" charset="0"/>
                                        <a:cs typeface="Arial"/>
                                        <a:sym typeface="Arial"/>
                                      </a:rPr>
                                    </m:ctrlPr>
                                  </m:funcPr>
                                  <m:fName>
                                    <m:r>
                                      <m:rPr>
                                        <m:sty m:val="p"/>
                                      </m:rPr>
                                      <a:rPr lang="en-US" sz="1600">
                                        <a:latin typeface="Cambria Math" panose="02040503050406030204" pitchFamily="18" charset="0"/>
                                        <a:cs typeface="Arial"/>
                                        <a:sym typeface="Arial"/>
                                      </a:rPr>
                                      <m:t>cos</m:t>
                                    </m:r>
                                  </m:fName>
                                  <m:e>
                                    <m:d>
                                      <m:dPr>
                                        <m:ctrlPr>
                                          <a:rPr lang="en-US" sz="1600" i="1">
                                            <a:latin typeface="Cambria Math" panose="02040503050406030204" pitchFamily="18" charset="0"/>
                                            <a:cs typeface="Arial"/>
                                            <a:sym typeface="Arial"/>
                                          </a:rPr>
                                        </m:ctrlPr>
                                      </m:dPr>
                                      <m:e>
                                        <m:r>
                                          <a:rPr lang="en-US" sz="1600" i="1">
                                            <a:latin typeface="Cambria Math" panose="02040503050406030204" pitchFamily="18" charset="0"/>
                                            <a:cs typeface="Arial"/>
                                            <a:sym typeface="Arial"/>
                                          </a:rPr>
                                          <m:t>𝜃</m:t>
                                        </m:r>
                                      </m:e>
                                    </m:d>
                                  </m:e>
                                </m:func>
                              </m:e>
                              <m:e>
                                <m:r>
                                  <a:rPr lang="en-US" sz="1600" i="1">
                                    <a:latin typeface="Cambria Math" panose="02040503050406030204" pitchFamily="18" charset="0"/>
                                    <a:cs typeface="Arial"/>
                                    <a:sym typeface="Arial"/>
                                  </a:rPr>
                                  <m:t>−</m:t>
                                </m:r>
                                <m:func>
                                  <m:funcPr>
                                    <m:ctrlPr>
                                      <a:rPr lang="en-US" sz="1600" i="1">
                                        <a:latin typeface="Cambria Math" panose="02040503050406030204" pitchFamily="18" charset="0"/>
                                        <a:cs typeface="Arial"/>
                                        <a:sym typeface="Arial"/>
                                      </a:rPr>
                                    </m:ctrlPr>
                                  </m:funcPr>
                                  <m:fName>
                                    <m:r>
                                      <m:rPr>
                                        <m:sty m:val="p"/>
                                      </m:rPr>
                                      <a:rPr lang="en-US" sz="1600">
                                        <a:latin typeface="Cambria Math" panose="02040503050406030204" pitchFamily="18" charset="0"/>
                                        <a:cs typeface="Arial"/>
                                        <a:sym typeface="Arial"/>
                                      </a:rPr>
                                      <m:t>sin</m:t>
                                    </m:r>
                                  </m:fName>
                                  <m:e>
                                    <m:d>
                                      <m:dPr>
                                        <m:ctrlPr>
                                          <a:rPr lang="en-US" sz="1600" i="1">
                                            <a:latin typeface="Cambria Math" panose="02040503050406030204" pitchFamily="18" charset="0"/>
                                            <a:cs typeface="Arial"/>
                                            <a:sym typeface="Arial"/>
                                          </a:rPr>
                                        </m:ctrlPr>
                                      </m:dPr>
                                      <m:e>
                                        <m:r>
                                          <a:rPr lang="en-US" sz="1600" i="1">
                                            <a:latin typeface="Cambria Math" panose="02040503050406030204" pitchFamily="18" charset="0"/>
                                            <a:cs typeface="Arial"/>
                                            <a:sym typeface="Arial"/>
                                          </a:rPr>
                                          <m:t>𝜃</m:t>
                                        </m:r>
                                      </m:e>
                                    </m:d>
                                  </m:e>
                                </m:func>
                              </m:e>
                              <m:e>
                                <m:sSub>
                                  <m:sSubPr>
                                    <m:ctrlPr>
                                      <a:rPr lang="en-US" sz="1600" i="1">
                                        <a:latin typeface="Cambria Math" panose="02040503050406030204" pitchFamily="18" charset="0"/>
                                        <a:cs typeface="Arial"/>
                                        <a:sym typeface="Arial"/>
                                      </a:rPr>
                                    </m:ctrlPr>
                                  </m:sSubPr>
                                  <m:e>
                                    <m:r>
                                      <a:rPr lang="en-US" sz="1600" i="1">
                                        <a:latin typeface="Cambria Math" panose="02040503050406030204" pitchFamily="18" charset="0"/>
                                        <a:cs typeface="Arial"/>
                                        <a:sym typeface="Arial"/>
                                      </a:rPr>
                                      <m:t>𝑡</m:t>
                                    </m:r>
                                  </m:e>
                                  <m:sub>
                                    <m:r>
                                      <a:rPr lang="en-US" sz="1600" i="1">
                                        <a:latin typeface="Cambria Math" panose="02040503050406030204" pitchFamily="18" charset="0"/>
                                        <a:cs typeface="Arial"/>
                                        <a:sym typeface="Arial"/>
                                      </a:rPr>
                                      <m:t>𝑥</m:t>
                                    </m:r>
                                  </m:sub>
                                </m:sSub>
                              </m:e>
                            </m:mr>
                            <m:mr>
                              <m:e>
                                <m:func>
                                  <m:funcPr>
                                    <m:ctrlPr>
                                      <a:rPr lang="en-US" sz="1600" i="1">
                                        <a:latin typeface="Cambria Math" panose="02040503050406030204" pitchFamily="18" charset="0"/>
                                        <a:cs typeface="Arial"/>
                                        <a:sym typeface="Arial"/>
                                      </a:rPr>
                                    </m:ctrlPr>
                                  </m:funcPr>
                                  <m:fName>
                                    <m:r>
                                      <m:rPr>
                                        <m:sty m:val="p"/>
                                      </m:rPr>
                                      <a:rPr lang="en-US" sz="1600">
                                        <a:latin typeface="Cambria Math" panose="02040503050406030204" pitchFamily="18" charset="0"/>
                                        <a:cs typeface="Arial"/>
                                        <a:sym typeface="Arial"/>
                                      </a:rPr>
                                      <m:t>sin</m:t>
                                    </m:r>
                                  </m:fName>
                                  <m:e>
                                    <m:d>
                                      <m:dPr>
                                        <m:ctrlPr>
                                          <a:rPr lang="en-US" sz="1600" i="1">
                                            <a:latin typeface="Cambria Math" panose="02040503050406030204" pitchFamily="18" charset="0"/>
                                            <a:cs typeface="Arial"/>
                                            <a:sym typeface="Arial"/>
                                          </a:rPr>
                                        </m:ctrlPr>
                                      </m:dPr>
                                      <m:e>
                                        <m:r>
                                          <a:rPr lang="en-US" sz="1600" i="1">
                                            <a:latin typeface="Cambria Math" panose="02040503050406030204" pitchFamily="18" charset="0"/>
                                            <a:cs typeface="Arial"/>
                                            <a:sym typeface="Arial"/>
                                          </a:rPr>
                                          <m:t>𝜃</m:t>
                                        </m:r>
                                      </m:e>
                                    </m:d>
                                  </m:e>
                                </m:func>
                              </m:e>
                              <m:e>
                                <m:func>
                                  <m:funcPr>
                                    <m:ctrlPr>
                                      <a:rPr lang="en-US" sz="1600" i="1">
                                        <a:latin typeface="Cambria Math" panose="02040503050406030204" pitchFamily="18" charset="0"/>
                                        <a:cs typeface="Arial"/>
                                        <a:sym typeface="Arial"/>
                                      </a:rPr>
                                    </m:ctrlPr>
                                  </m:funcPr>
                                  <m:fName>
                                    <m:r>
                                      <m:rPr>
                                        <m:sty m:val="p"/>
                                      </m:rPr>
                                      <a:rPr lang="en-US" sz="1600">
                                        <a:latin typeface="Cambria Math" panose="02040503050406030204" pitchFamily="18" charset="0"/>
                                        <a:cs typeface="Arial"/>
                                        <a:sym typeface="Arial"/>
                                      </a:rPr>
                                      <m:t>cos</m:t>
                                    </m:r>
                                  </m:fName>
                                  <m:e>
                                    <m:d>
                                      <m:dPr>
                                        <m:ctrlPr>
                                          <a:rPr lang="en-US" sz="1600" i="1">
                                            <a:latin typeface="Cambria Math" panose="02040503050406030204" pitchFamily="18" charset="0"/>
                                            <a:cs typeface="Arial"/>
                                            <a:sym typeface="Arial"/>
                                          </a:rPr>
                                        </m:ctrlPr>
                                      </m:dPr>
                                      <m:e>
                                        <m:r>
                                          <a:rPr lang="en-US" sz="1600" i="1">
                                            <a:latin typeface="Cambria Math" panose="02040503050406030204" pitchFamily="18" charset="0"/>
                                            <a:cs typeface="Arial"/>
                                            <a:sym typeface="Arial"/>
                                          </a:rPr>
                                          <m:t>𝜃</m:t>
                                        </m:r>
                                      </m:e>
                                    </m:d>
                                  </m:e>
                                </m:func>
                              </m:e>
                              <m:e>
                                <m:sSub>
                                  <m:sSubPr>
                                    <m:ctrlPr>
                                      <a:rPr lang="en-US" sz="1600" i="1">
                                        <a:latin typeface="Cambria Math" panose="02040503050406030204" pitchFamily="18" charset="0"/>
                                        <a:cs typeface="Arial"/>
                                        <a:sym typeface="Arial"/>
                                      </a:rPr>
                                    </m:ctrlPr>
                                  </m:sSubPr>
                                  <m:e>
                                    <m:r>
                                      <a:rPr lang="en-US" sz="1600" i="1">
                                        <a:latin typeface="Cambria Math" panose="02040503050406030204" pitchFamily="18" charset="0"/>
                                        <a:cs typeface="Arial"/>
                                        <a:sym typeface="Arial"/>
                                      </a:rPr>
                                      <m:t>𝑡</m:t>
                                    </m:r>
                                  </m:e>
                                  <m:sub>
                                    <m:r>
                                      <a:rPr lang="en-US" sz="1600" i="1">
                                        <a:latin typeface="Cambria Math" panose="02040503050406030204" pitchFamily="18" charset="0"/>
                                        <a:cs typeface="Arial"/>
                                        <a:sym typeface="Arial"/>
                                      </a:rPr>
                                      <m:t>𝑦</m:t>
                                    </m:r>
                                  </m:sub>
                                </m:sSub>
                              </m:e>
                            </m:mr>
                            <m:mr>
                              <m:e>
                                <m:r>
                                  <a:rPr lang="en-US" sz="1600" i="1">
                                    <a:latin typeface="Cambria Math" panose="02040503050406030204" pitchFamily="18" charset="0"/>
                                    <a:cs typeface="Arial"/>
                                    <a:sym typeface="Arial"/>
                                  </a:rPr>
                                  <m:t>0</m:t>
                                </m:r>
                              </m:e>
                              <m:e>
                                <m:r>
                                  <a:rPr lang="en-US" sz="1600" i="1">
                                    <a:latin typeface="Cambria Math" panose="02040503050406030204" pitchFamily="18" charset="0"/>
                                    <a:cs typeface="Arial"/>
                                    <a:sym typeface="Arial"/>
                                  </a:rPr>
                                  <m:t>0</m:t>
                                </m:r>
                              </m:e>
                              <m:e>
                                <m:r>
                                  <a:rPr lang="en-US" sz="1600" i="1">
                                    <a:latin typeface="Cambria Math" panose="02040503050406030204" pitchFamily="18" charset="0"/>
                                    <a:cs typeface="Arial"/>
                                    <a:sym typeface="Arial"/>
                                  </a:rPr>
                                  <m:t>1</m:t>
                                </m:r>
                              </m:e>
                            </m:mr>
                          </m:m>
                        </m:e>
                      </m:d>
                      <m:d>
                        <m:dPr>
                          <m:begChr m:val="["/>
                          <m:endChr m:val="]"/>
                          <m:ctrlPr>
                            <a:rPr lang="en-US" sz="1600" i="1">
                              <a:latin typeface="Cambria Math" panose="02040503050406030204" pitchFamily="18" charset="0"/>
                              <a:cs typeface="Arial"/>
                              <a:sym typeface="Arial"/>
                            </a:rPr>
                          </m:ctrlPr>
                        </m:dPr>
                        <m:e>
                          <m:m>
                            <m:mPr>
                              <m:plcHide m:val="on"/>
                              <m:mcs>
                                <m:mc>
                                  <m:mcPr>
                                    <m:count m:val="1"/>
                                    <m:mcJc m:val="center"/>
                                  </m:mcPr>
                                </m:mc>
                              </m:mcs>
                              <m:ctrlPr>
                                <a:rPr lang="en-US" sz="1600" i="1">
                                  <a:latin typeface="Cambria Math" panose="02040503050406030204" pitchFamily="18" charset="0"/>
                                  <a:cs typeface="Arial"/>
                                  <a:sym typeface="Arial"/>
                                </a:rPr>
                              </m:ctrlPr>
                            </m:mPr>
                            <m:mr>
                              <m:e>
                                <m:sSub>
                                  <m:sSubPr>
                                    <m:ctrlPr>
                                      <a:rPr lang="en-US" sz="1600" i="1">
                                        <a:latin typeface="Cambria Math" panose="02040503050406030204" pitchFamily="18" charset="0"/>
                                        <a:cs typeface="Arial"/>
                                        <a:sym typeface="Arial"/>
                                      </a:rPr>
                                    </m:ctrlPr>
                                  </m:sSubPr>
                                  <m:e>
                                    <m:r>
                                      <a:rPr lang="en-US" sz="1600" i="1">
                                        <a:latin typeface="Cambria Math" panose="02040503050406030204" pitchFamily="18" charset="0"/>
                                        <a:cs typeface="Arial"/>
                                        <a:sym typeface="Arial"/>
                                      </a:rPr>
                                      <m:t>𝑥</m:t>
                                    </m:r>
                                  </m:e>
                                  <m:sub>
                                    <m:r>
                                      <a:rPr lang="en-US" sz="1600" i="1">
                                        <a:latin typeface="Cambria Math" panose="02040503050406030204" pitchFamily="18" charset="0"/>
                                        <a:cs typeface="Arial"/>
                                        <a:sym typeface="Arial"/>
                                      </a:rPr>
                                      <m:t>𝑅</m:t>
                                    </m:r>
                                  </m:sub>
                                </m:sSub>
                              </m:e>
                            </m:mr>
                            <m:mr>
                              <m:e>
                                <m:sSub>
                                  <m:sSubPr>
                                    <m:ctrlPr>
                                      <a:rPr lang="en-US" sz="1600" i="1">
                                        <a:latin typeface="Cambria Math" panose="02040503050406030204" pitchFamily="18" charset="0"/>
                                        <a:cs typeface="Arial"/>
                                        <a:sym typeface="Arial"/>
                                      </a:rPr>
                                    </m:ctrlPr>
                                  </m:sSubPr>
                                  <m:e>
                                    <m:r>
                                      <a:rPr lang="en-US" sz="1600" i="1">
                                        <a:latin typeface="Cambria Math" panose="02040503050406030204" pitchFamily="18" charset="0"/>
                                        <a:cs typeface="Arial"/>
                                        <a:sym typeface="Arial"/>
                                      </a:rPr>
                                      <m:t>𝑦</m:t>
                                    </m:r>
                                  </m:e>
                                  <m:sub>
                                    <m:r>
                                      <a:rPr lang="en-US" sz="1600" i="1">
                                        <a:latin typeface="Cambria Math" panose="02040503050406030204" pitchFamily="18" charset="0"/>
                                        <a:cs typeface="Arial"/>
                                        <a:sym typeface="Arial"/>
                                      </a:rPr>
                                      <m:t>𝑅</m:t>
                                    </m:r>
                                  </m:sub>
                                </m:sSub>
                              </m:e>
                            </m:mr>
                            <m:mr>
                              <m:e>
                                <m:r>
                                  <a:rPr lang="en-US" sz="1600" i="1">
                                    <a:latin typeface="Cambria Math" panose="02040503050406030204" pitchFamily="18" charset="0"/>
                                    <a:cs typeface="Arial"/>
                                    <a:sym typeface="Arial"/>
                                  </a:rPr>
                                  <m:t>1</m:t>
                                </m:r>
                              </m:e>
                            </m:mr>
                          </m:m>
                        </m:e>
                      </m:d>
                    </m:oMath>
                  </m:oMathPara>
                </a14:m>
                <a:endParaRPr lang="en-US" sz="1100" dirty="0">
                  <a:solidFill>
                    <a:srgbClr val="000000"/>
                  </a:solidFill>
                  <a:latin typeface="Consolas" panose="020B0609020204030204" pitchFamily="49" charset="0"/>
                </a:endParaRPr>
              </a:p>
              <a:p>
                <a:pPr marL="114300" indent="0" algn="l">
                  <a:buNone/>
                </a:pPr>
                <a:endParaRPr lang="en-US" sz="1100" dirty="0">
                  <a:solidFill>
                    <a:srgbClr val="000000"/>
                  </a:solidFill>
                  <a:latin typeface="Consolas" panose="020B0609020204030204" pitchFamily="49" charset="0"/>
                </a:endParaRPr>
              </a:p>
              <a:p>
                <a:pPr marL="114300" indent="0" algn="l">
                  <a:buNone/>
                </a:pPr>
                <a:r>
                  <a:rPr lang="en-US" sz="1400" dirty="0" err="1">
                    <a:solidFill>
                      <a:srgbClr val="000000"/>
                    </a:solidFill>
                    <a:latin typeface="Consolas" panose="020B0609020204030204" pitchFamily="49" charset="0"/>
                  </a:rPr>
                  <a:t>LADARxoffset</a:t>
                </a:r>
                <a:r>
                  <a:rPr lang="en-US" sz="1400" dirty="0">
                    <a:solidFill>
                      <a:srgbClr val="000000"/>
                    </a:solidFill>
                    <a:latin typeface="Consolas" panose="020B0609020204030204" pitchFamily="49" charset="0"/>
                  </a:rPr>
                  <a:t> = </a:t>
                </a:r>
                <a:r>
                  <a:rPr lang="en-US" sz="1400" dirty="0" err="1">
                    <a:solidFill>
                      <a:srgbClr val="000000"/>
                    </a:solidFill>
                    <a:latin typeface="Consolas" panose="020B0609020204030204" pitchFamily="49" charset="0"/>
                  </a:rPr>
                  <a:t>ROBOTps.</a:t>
                </a:r>
                <a:r>
                  <a:rPr lang="en-US" sz="1400" dirty="0" err="1">
                    <a:solidFill>
                      <a:srgbClr val="0000C0"/>
                    </a:solidFill>
                    <a:latin typeface="Consolas" panose="020B0609020204030204" pitchFamily="49" charset="0"/>
                  </a:rPr>
                  <a:t>x</a:t>
                </a:r>
                <a:r>
                  <a:rPr lang="en-US" sz="1400" dirty="0">
                    <a:solidFill>
                      <a:srgbClr val="000000"/>
                    </a:solidFill>
                    <a:latin typeface="Consolas" panose="020B0609020204030204" pitchFamily="49" charset="0"/>
                  </a:rPr>
                  <a:t> + (</a:t>
                </a:r>
                <a:r>
                  <a:rPr lang="en-US" sz="1400" dirty="0" err="1">
                    <a:solidFill>
                      <a:srgbClr val="000000"/>
                    </a:solidFill>
                    <a:latin typeface="Consolas" panose="020B0609020204030204" pitchFamily="49" charset="0"/>
                  </a:rPr>
                  <a:t>LADARps.</a:t>
                </a:r>
                <a:r>
                  <a:rPr lang="en-US" sz="1400" dirty="0" err="1">
                    <a:solidFill>
                      <a:srgbClr val="0000C0"/>
                    </a:solidFill>
                    <a:latin typeface="Consolas" panose="020B0609020204030204" pitchFamily="49" charset="0"/>
                  </a:rPr>
                  <a:t>x</a:t>
                </a:r>
                <a:r>
                  <a:rPr lang="en-US" sz="1400" dirty="0">
                    <a:solidFill>
                      <a:srgbClr val="000000"/>
                    </a:solidFill>
                    <a:latin typeface="Consolas" panose="020B0609020204030204" pitchFamily="49" charset="0"/>
                  </a:rPr>
                  <a:t>*</a:t>
                </a:r>
                <a:r>
                  <a:rPr lang="en-US" sz="1400" dirty="0" err="1">
                    <a:solidFill>
                      <a:srgbClr val="642880"/>
                    </a:solidFill>
                    <a:latin typeface="Consolas" panose="020B0609020204030204" pitchFamily="49" charset="0"/>
                  </a:rPr>
                  <a:t>cosf</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ROBOTps.</a:t>
                </a:r>
                <a:r>
                  <a:rPr lang="en-US" sz="1400" dirty="0" err="1">
                    <a:solidFill>
                      <a:srgbClr val="0000C0"/>
                    </a:solidFill>
                    <a:latin typeface="Consolas" panose="020B0609020204030204" pitchFamily="49" charset="0"/>
                  </a:rPr>
                  <a:t>theta</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LADARps.</a:t>
                </a:r>
                <a:r>
                  <a:rPr lang="en-US" sz="1400" dirty="0" err="1">
                    <a:solidFill>
                      <a:srgbClr val="0000C0"/>
                    </a:solidFill>
                    <a:latin typeface="Consolas" panose="020B0609020204030204" pitchFamily="49" charset="0"/>
                  </a:rPr>
                  <a:t>y</a:t>
                </a:r>
                <a:r>
                  <a:rPr lang="en-US" sz="1400" dirty="0">
                    <a:solidFill>
                      <a:srgbClr val="000000"/>
                    </a:solidFill>
                    <a:latin typeface="Consolas" panose="020B0609020204030204" pitchFamily="49" charset="0"/>
                  </a:rPr>
                  <a:t>*</a:t>
                </a:r>
                <a:r>
                  <a:rPr lang="en-US" sz="1400" dirty="0" err="1">
                    <a:solidFill>
                      <a:srgbClr val="642880"/>
                    </a:solidFill>
                    <a:latin typeface="Consolas" panose="020B0609020204030204" pitchFamily="49" charset="0"/>
                  </a:rPr>
                  <a:t>sinf</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ROBOTps.</a:t>
                </a:r>
                <a:r>
                  <a:rPr lang="en-US" sz="1400" dirty="0" err="1">
                    <a:solidFill>
                      <a:srgbClr val="0000C0"/>
                    </a:solidFill>
                    <a:latin typeface="Consolas" panose="020B0609020204030204" pitchFamily="49" charset="0"/>
                  </a:rPr>
                  <a:t>theta</a:t>
                </a:r>
                <a:r>
                  <a:rPr lang="en-US" sz="1400" dirty="0">
                    <a:solidFill>
                      <a:srgbClr val="000000"/>
                    </a:solidFill>
                    <a:latin typeface="Consolas" panose="020B0609020204030204" pitchFamily="49" charset="0"/>
                  </a:rPr>
                  <a:t>));</a:t>
                </a:r>
              </a:p>
              <a:p>
                <a:pPr marL="114300" indent="0" algn="l">
                  <a:buNone/>
                </a:pPr>
                <a:r>
                  <a:rPr lang="en-US" sz="1400" dirty="0" err="1">
                    <a:solidFill>
                      <a:srgbClr val="000000"/>
                    </a:solidFill>
                    <a:latin typeface="Consolas" panose="020B0609020204030204" pitchFamily="49" charset="0"/>
                  </a:rPr>
                  <a:t>LADARyoffset</a:t>
                </a:r>
                <a:r>
                  <a:rPr lang="en-US" sz="1400" dirty="0">
                    <a:solidFill>
                      <a:srgbClr val="000000"/>
                    </a:solidFill>
                    <a:latin typeface="Consolas" panose="020B0609020204030204" pitchFamily="49" charset="0"/>
                  </a:rPr>
                  <a:t> = </a:t>
                </a:r>
                <a:r>
                  <a:rPr lang="en-US" sz="1400" dirty="0" err="1">
                    <a:solidFill>
                      <a:srgbClr val="000000"/>
                    </a:solidFill>
                    <a:latin typeface="Consolas" panose="020B0609020204030204" pitchFamily="49" charset="0"/>
                  </a:rPr>
                  <a:t>ROBOTps.</a:t>
                </a:r>
                <a:r>
                  <a:rPr lang="en-US" sz="1400" dirty="0" err="1">
                    <a:solidFill>
                      <a:srgbClr val="0000C0"/>
                    </a:solidFill>
                    <a:latin typeface="Consolas" panose="020B0609020204030204" pitchFamily="49" charset="0"/>
                  </a:rPr>
                  <a:t>y</a:t>
                </a:r>
                <a:r>
                  <a:rPr lang="en-US" sz="1400" dirty="0">
                    <a:solidFill>
                      <a:srgbClr val="000000"/>
                    </a:solidFill>
                    <a:latin typeface="Consolas" panose="020B0609020204030204" pitchFamily="49" charset="0"/>
                  </a:rPr>
                  <a:t> + (</a:t>
                </a:r>
                <a:r>
                  <a:rPr lang="en-US" sz="1400" dirty="0" err="1">
                    <a:solidFill>
                      <a:srgbClr val="000000"/>
                    </a:solidFill>
                    <a:latin typeface="Consolas" panose="020B0609020204030204" pitchFamily="49" charset="0"/>
                  </a:rPr>
                  <a:t>LADARps.</a:t>
                </a:r>
                <a:r>
                  <a:rPr lang="en-US" sz="1400" dirty="0" err="1">
                    <a:solidFill>
                      <a:srgbClr val="0000C0"/>
                    </a:solidFill>
                    <a:latin typeface="Consolas" panose="020B0609020204030204" pitchFamily="49" charset="0"/>
                  </a:rPr>
                  <a:t>x</a:t>
                </a:r>
                <a:r>
                  <a:rPr lang="en-US" sz="1400" dirty="0">
                    <a:solidFill>
                      <a:srgbClr val="000000"/>
                    </a:solidFill>
                    <a:latin typeface="Consolas" panose="020B0609020204030204" pitchFamily="49" charset="0"/>
                  </a:rPr>
                  <a:t>*</a:t>
                </a:r>
                <a:r>
                  <a:rPr lang="en-US" sz="1400" dirty="0" err="1">
                    <a:solidFill>
                      <a:srgbClr val="642880"/>
                    </a:solidFill>
                    <a:latin typeface="Consolas" panose="020B0609020204030204" pitchFamily="49" charset="0"/>
                  </a:rPr>
                  <a:t>sinf</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ROBOTps.</a:t>
                </a:r>
                <a:r>
                  <a:rPr lang="en-US" sz="1400" dirty="0" err="1">
                    <a:solidFill>
                      <a:srgbClr val="0000C0"/>
                    </a:solidFill>
                    <a:latin typeface="Consolas" panose="020B0609020204030204" pitchFamily="49" charset="0"/>
                  </a:rPr>
                  <a:t>theta</a:t>
                </a:r>
                <a:r>
                  <a:rPr lang="en-US" sz="1400">
                    <a:solidFill>
                      <a:srgbClr val="000000"/>
                    </a:solidFill>
                    <a:latin typeface="Consolas" panose="020B0609020204030204" pitchFamily="49" charset="0"/>
                  </a:rPr>
                  <a:t>)+LADARps</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y</a:t>
                </a:r>
                <a:r>
                  <a:rPr lang="en-US" sz="1400" dirty="0">
                    <a:solidFill>
                      <a:srgbClr val="000000"/>
                    </a:solidFill>
                    <a:latin typeface="Consolas" panose="020B0609020204030204" pitchFamily="49" charset="0"/>
                  </a:rPr>
                  <a:t>*</a:t>
                </a:r>
                <a:r>
                  <a:rPr lang="en-US" sz="1400" dirty="0" err="1">
                    <a:solidFill>
                      <a:srgbClr val="642880"/>
                    </a:solidFill>
                    <a:latin typeface="Consolas" panose="020B0609020204030204" pitchFamily="49" charset="0"/>
                  </a:rPr>
                  <a:t>cosf</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ROBOTps.</a:t>
                </a:r>
                <a:r>
                  <a:rPr lang="en-US" sz="1400" dirty="0" err="1">
                    <a:solidFill>
                      <a:srgbClr val="0000C0"/>
                    </a:solidFill>
                    <a:latin typeface="Consolas" panose="020B0609020204030204" pitchFamily="49" charset="0"/>
                  </a:rPr>
                  <a:t>theta</a:t>
                </a:r>
                <a:r>
                  <a:rPr lang="en-US" sz="1400" dirty="0">
                    <a:solidFill>
                      <a:srgbClr val="000000"/>
                    </a:solidFill>
                    <a:latin typeface="Consolas" panose="020B0609020204030204" pitchFamily="49" charset="0"/>
                  </a:rPr>
                  <a:t>));</a:t>
                </a:r>
              </a:p>
              <a:p>
                <a:pPr marL="114300" indent="0" algn="l">
                  <a:buNone/>
                </a:pPr>
                <a:endParaRPr lang="en-US" sz="1100" dirty="0">
                  <a:solidFill>
                    <a:srgbClr val="000000"/>
                  </a:solidFill>
                  <a:latin typeface="Consolas" panose="020B0609020204030204" pitchFamily="49" charset="0"/>
                </a:endParaRPr>
              </a:p>
              <a:p>
                <a:pPr marL="114300" indent="0">
                  <a:buNone/>
                </a:pPr>
                <a:r>
                  <a:rPr lang="en-US" sz="1600" dirty="0">
                    <a:latin typeface="Atkinson Hyperlegible Next"/>
                    <a:ea typeface="Arial"/>
                    <a:cs typeface="Arial"/>
                    <a:sym typeface="Arial"/>
                  </a:rPr>
                  <a:t>Now we can get the coordinates of the object in the global reference frame based on the distance returned from the LiDAR and the angle.</a:t>
                </a:r>
                <a:endParaRPr lang="en-US" sz="1600" dirty="0">
                  <a:solidFill>
                    <a:srgbClr val="000000"/>
                  </a:solidFill>
                  <a:latin typeface="Consolas" panose="020B0609020204030204" pitchFamily="49" charset="0"/>
                </a:endParaRPr>
              </a:p>
              <a:p>
                <a:pPr marL="114300" indent="0" algn="l">
                  <a:buNone/>
                </a:pPr>
                <a:endParaRPr lang="en-US" sz="1100" dirty="0">
                  <a:solidFill>
                    <a:srgbClr val="000000"/>
                  </a:solidFill>
                  <a:latin typeface="Consolas" panose="020B0609020204030204" pitchFamily="49" charset="0"/>
                </a:endParaRPr>
              </a:p>
              <a:p>
                <a:pPr marL="114300" indent="0" algn="l">
                  <a:buNone/>
                </a:pPr>
                <a:r>
                  <a:rPr lang="en-US" sz="1200" dirty="0">
                    <a:solidFill>
                      <a:srgbClr val="7F0055"/>
                    </a:solidFill>
                    <a:latin typeface="Consolas" panose="020B0609020204030204" pitchFamily="49" charset="0"/>
                  </a:rPr>
                  <a:t>for</a:t>
                </a:r>
                <a:r>
                  <a:rPr lang="en-US" sz="1200" dirty="0">
                    <a:solidFill>
                      <a:srgbClr val="000000"/>
                    </a:solidFill>
                    <a:latin typeface="Consolas" panose="020B0609020204030204" pitchFamily="49" charset="0"/>
                  </a:rPr>
                  <a:t> (LADARi = 0; LADARi &lt; 228; LADARi++) {</a:t>
                </a:r>
                <a:endParaRPr lang="en-US" sz="1200" dirty="0">
                  <a:latin typeface="Consolas" panose="020B0609020204030204" pitchFamily="49" charset="0"/>
                </a:endParaRP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ladar_pts</a:t>
                </a:r>
                <a:r>
                  <a:rPr lang="en-US" sz="1200" dirty="0">
                    <a:solidFill>
                      <a:srgbClr val="000000"/>
                    </a:solidFill>
                    <a:latin typeface="Consolas" panose="020B0609020204030204" pitchFamily="49" charset="0"/>
                  </a:rPr>
                  <a:t>[LADARi].</a:t>
                </a:r>
                <a:r>
                  <a:rPr lang="en-US" sz="1200" dirty="0">
                    <a:solidFill>
                      <a:srgbClr val="0000C0"/>
                    </a:solidFill>
                    <a:latin typeface="Consolas" panose="020B0609020204030204" pitchFamily="49" charset="0"/>
                  </a:rPr>
                  <a:t>x</a:t>
                </a:r>
                <a:r>
                  <a:rPr lang="en-US" sz="1200" dirty="0">
                    <a:solidFill>
                      <a:srgbClr val="000000"/>
                    </a:solidFill>
                    <a:latin typeface="Consolas" panose="020B0609020204030204" pitchFamily="49" charset="0"/>
                  </a:rPr>
                  <a:t> = </a:t>
                </a:r>
                <a:r>
                  <a:rPr lang="en-US" sz="1200" dirty="0" err="1">
                    <a:solidFill>
                      <a:srgbClr val="000000"/>
                    </a:solidFill>
                    <a:latin typeface="Consolas" panose="020B0609020204030204" pitchFamily="49" charset="0"/>
                  </a:rPr>
                  <a:t>LADARxoffset</a:t>
                </a:r>
                <a:r>
                  <a:rPr lang="en-US" sz="1200" dirty="0">
                    <a:solidFill>
                      <a:srgbClr val="000000"/>
                    </a:solidFill>
                    <a:latin typeface="Consolas" panose="020B0609020204030204" pitchFamily="49" charset="0"/>
                  </a:rPr>
                  <a:t> + </a:t>
                </a:r>
                <a:r>
                  <a:rPr lang="en-US" sz="1200" dirty="0" err="1">
                    <a:solidFill>
                      <a:srgbClr val="000000"/>
                    </a:solidFill>
                    <a:latin typeface="Consolas" panose="020B0609020204030204" pitchFamily="49" charset="0"/>
                  </a:rPr>
                  <a:t>ladar_data</a:t>
                </a:r>
                <a:r>
                  <a:rPr lang="en-US" sz="1200" dirty="0">
                    <a:solidFill>
                      <a:srgbClr val="000000"/>
                    </a:solidFill>
                    <a:latin typeface="Consolas" panose="020B0609020204030204" pitchFamily="49" charset="0"/>
                  </a:rPr>
                  <a:t>[LADARi].</a:t>
                </a:r>
                <a:r>
                  <a:rPr lang="en-US" sz="1200" dirty="0" err="1">
                    <a:solidFill>
                      <a:srgbClr val="0000C0"/>
                    </a:solidFill>
                    <a:latin typeface="Consolas" panose="020B0609020204030204" pitchFamily="49" charset="0"/>
                  </a:rPr>
                  <a:t>distance_ping</a:t>
                </a:r>
                <a:r>
                  <a:rPr lang="en-US" sz="1200" dirty="0">
                    <a:solidFill>
                      <a:srgbClr val="000000"/>
                    </a:solidFill>
                    <a:latin typeface="Consolas" panose="020B0609020204030204" pitchFamily="49" charset="0"/>
                  </a:rPr>
                  <a:t>*</a:t>
                </a:r>
                <a:r>
                  <a:rPr lang="en-US" sz="1200" dirty="0" err="1">
                    <a:solidFill>
                      <a:srgbClr val="642880"/>
                    </a:solidFill>
                    <a:latin typeface="Consolas" panose="020B0609020204030204" pitchFamily="49" charset="0"/>
                  </a:rPr>
                  <a:t>cosf</a:t>
                </a:r>
                <a:r>
                  <a:rPr lang="en-US" sz="1200" dirty="0">
                    <a:solidFill>
                      <a:srgbClr val="000000"/>
                    </a:solidFill>
                    <a:latin typeface="Consolas" panose="020B0609020204030204" pitchFamily="49" charset="0"/>
                  </a:rPr>
                  <a:t>(</a:t>
                </a:r>
                <a:r>
                  <a:rPr lang="en-US" sz="1200" dirty="0" err="1">
                    <a:solidFill>
                      <a:srgbClr val="000000"/>
                    </a:solidFill>
                    <a:latin typeface="Consolas" panose="020B0609020204030204" pitchFamily="49" charset="0"/>
                  </a:rPr>
                  <a:t>ladar_data</a:t>
                </a:r>
                <a:r>
                  <a:rPr lang="en-US" sz="1200" dirty="0">
                    <a:solidFill>
                      <a:srgbClr val="000000"/>
                    </a:solidFill>
                    <a:latin typeface="Consolas" panose="020B0609020204030204" pitchFamily="49" charset="0"/>
                  </a:rPr>
                  <a:t>[LADARi].</a:t>
                </a:r>
                <a:r>
                  <a:rPr lang="en-US" sz="1200" dirty="0">
                    <a:solidFill>
                      <a:srgbClr val="0000C0"/>
                    </a:solidFill>
                    <a:latin typeface="Consolas" panose="020B0609020204030204" pitchFamily="49" charset="0"/>
                  </a:rPr>
                  <a:t>angle</a:t>
                </a:r>
                <a:r>
                  <a:rPr lang="en-US" sz="1200" dirty="0">
                    <a:solidFill>
                      <a:srgbClr val="000000"/>
                    </a:solidFill>
                    <a:latin typeface="Consolas" panose="020B0609020204030204" pitchFamily="49" charset="0"/>
                  </a:rPr>
                  <a:t> + </a:t>
                </a:r>
                <a:r>
                  <a:rPr lang="en-US" sz="1200" dirty="0" err="1">
                    <a:solidFill>
                      <a:srgbClr val="000000"/>
                    </a:solidFill>
                    <a:latin typeface="Consolas" panose="020B0609020204030204" pitchFamily="49" charset="0"/>
                  </a:rPr>
                  <a:t>ROBOTps.</a:t>
                </a:r>
                <a:r>
                  <a:rPr lang="en-US" sz="1200" dirty="0" err="1">
                    <a:solidFill>
                      <a:srgbClr val="0000C0"/>
                    </a:solidFill>
                    <a:latin typeface="Consolas" panose="020B0609020204030204" pitchFamily="49" charset="0"/>
                  </a:rPr>
                  <a:t>theta</a:t>
                </a:r>
                <a:r>
                  <a:rPr lang="en-US" sz="1200" dirty="0">
                    <a:solidFill>
                      <a:srgbClr val="000000"/>
                    </a:solidFill>
                    <a:latin typeface="Consolas" panose="020B0609020204030204" pitchFamily="49" charset="0"/>
                  </a:rPr>
                  <a:t>);</a:t>
                </a: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ladar_pts</a:t>
                </a:r>
                <a:r>
                  <a:rPr lang="en-US" sz="1200" dirty="0">
                    <a:solidFill>
                      <a:srgbClr val="000000"/>
                    </a:solidFill>
                    <a:latin typeface="Consolas" panose="020B0609020204030204" pitchFamily="49" charset="0"/>
                  </a:rPr>
                  <a:t>[LADARi].</a:t>
                </a:r>
                <a:r>
                  <a:rPr lang="en-US" sz="1200" dirty="0">
                    <a:solidFill>
                      <a:srgbClr val="0000C0"/>
                    </a:solidFill>
                    <a:latin typeface="Consolas" panose="020B0609020204030204" pitchFamily="49" charset="0"/>
                  </a:rPr>
                  <a:t>y</a:t>
                </a:r>
                <a:r>
                  <a:rPr lang="en-US" sz="1200" dirty="0">
                    <a:solidFill>
                      <a:srgbClr val="000000"/>
                    </a:solidFill>
                    <a:latin typeface="Consolas" panose="020B0609020204030204" pitchFamily="49" charset="0"/>
                  </a:rPr>
                  <a:t> = </a:t>
                </a:r>
                <a:r>
                  <a:rPr lang="en-US" sz="1200" dirty="0" err="1">
                    <a:solidFill>
                      <a:srgbClr val="000000"/>
                    </a:solidFill>
                    <a:latin typeface="Consolas" panose="020B0609020204030204" pitchFamily="49" charset="0"/>
                  </a:rPr>
                  <a:t>LADARyoffset</a:t>
                </a:r>
                <a:r>
                  <a:rPr lang="en-US" sz="1200" dirty="0">
                    <a:solidFill>
                      <a:srgbClr val="000000"/>
                    </a:solidFill>
                    <a:latin typeface="Consolas" panose="020B0609020204030204" pitchFamily="49" charset="0"/>
                  </a:rPr>
                  <a:t> + </a:t>
                </a:r>
                <a:r>
                  <a:rPr lang="en-US" sz="1200" dirty="0" err="1">
                    <a:solidFill>
                      <a:srgbClr val="000000"/>
                    </a:solidFill>
                    <a:latin typeface="Consolas" panose="020B0609020204030204" pitchFamily="49" charset="0"/>
                  </a:rPr>
                  <a:t>ladar_data</a:t>
                </a:r>
                <a:r>
                  <a:rPr lang="en-US" sz="1200" dirty="0">
                    <a:solidFill>
                      <a:srgbClr val="000000"/>
                    </a:solidFill>
                    <a:latin typeface="Consolas" panose="020B0609020204030204" pitchFamily="49" charset="0"/>
                  </a:rPr>
                  <a:t>[LADARi].</a:t>
                </a:r>
                <a:r>
                  <a:rPr lang="en-US" sz="1200" dirty="0" err="1">
                    <a:solidFill>
                      <a:srgbClr val="0000C0"/>
                    </a:solidFill>
                    <a:latin typeface="Consolas" panose="020B0609020204030204" pitchFamily="49" charset="0"/>
                  </a:rPr>
                  <a:t>distance_ping</a:t>
                </a:r>
                <a:r>
                  <a:rPr lang="en-US" sz="1200" dirty="0">
                    <a:solidFill>
                      <a:srgbClr val="000000"/>
                    </a:solidFill>
                    <a:latin typeface="Consolas" panose="020B0609020204030204" pitchFamily="49" charset="0"/>
                  </a:rPr>
                  <a:t>*</a:t>
                </a:r>
                <a:r>
                  <a:rPr lang="en-US" sz="1200" dirty="0" err="1">
                    <a:solidFill>
                      <a:srgbClr val="642880"/>
                    </a:solidFill>
                    <a:latin typeface="Consolas" panose="020B0609020204030204" pitchFamily="49" charset="0"/>
                  </a:rPr>
                  <a:t>sinf</a:t>
                </a:r>
                <a:r>
                  <a:rPr lang="en-US" sz="1200" dirty="0">
                    <a:solidFill>
                      <a:srgbClr val="000000"/>
                    </a:solidFill>
                    <a:latin typeface="Consolas" panose="020B0609020204030204" pitchFamily="49" charset="0"/>
                  </a:rPr>
                  <a:t>(</a:t>
                </a:r>
                <a:r>
                  <a:rPr lang="en-US" sz="1200" dirty="0" err="1">
                    <a:solidFill>
                      <a:srgbClr val="000000"/>
                    </a:solidFill>
                    <a:latin typeface="Consolas" panose="020B0609020204030204" pitchFamily="49" charset="0"/>
                  </a:rPr>
                  <a:t>ladar_data</a:t>
                </a:r>
                <a:r>
                  <a:rPr lang="en-US" sz="1200" dirty="0">
                    <a:solidFill>
                      <a:srgbClr val="000000"/>
                    </a:solidFill>
                    <a:latin typeface="Consolas" panose="020B0609020204030204" pitchFamily="49" charset="0"/>
                  </a:rPr>
                  <a:t>[LADARi].</a:t>
                </a:r>
                <a:r>
                  <a:rPr lang="en-US" sz="1200" dirty="0">
                    <a:solidFill>
                      <a:srgbClr val="0000C0"/>
                    </a:solidFill>
                    <a:latin typeface="Consolas" panose="020B0609020204030204" pitchFamily="49" charset="0"/>
                  </a:rPr>
                  <a:t>angle</a:t>
                </a:r>
                <a:r>
                  <a:rPr lang="en-US" sz="1200" dirty="0">
                    <a:solidFill>
                      <a:srgbClr val="000000"/>
                    </a:solidFill>
                    <a:latin typeface="Consolas" panose="020B0609020204030204" pitchFamily="49" charset="0"/>
                  </a:rPr>
                  <a:t> + </a:t>
                </a:r>
                <a:r>
                  <a:rPr lang="en-US" sz="1200" dirty="0" err="1">
                    <a:solidFill>
                      <a:srgbClr val="000000"/>
                    </a:solidFill>
                    <a:latin typeface="Consolas" panose="020B0609020204030204" pitchFamily="49" charset="0"/>
                  </a:rPr>
                  <a:t>ROBOTps.</a:t>
                </a:r>
                <a:r>
                  <a:rPr lang="en-US" sz="1200" dirty="0" err="1">
                    <a:solidFill>
                      <a:srgbClr val="0000C0"/>
                    </a:solidFill>
                    <a:latin typeface="Consolas" panose="020B0609020204030204" pitchFamily="49" charset="0"/>
                  </a:rPr>
                  <a:t>theta</a:t>
                </a:r>
                <a:r>
                  <a:rPr lang="en-US" sz="1200" dirty="0">
                    <a:solidFill>
                      <a:srgbClr val="000000"/>
                    </a:solidFill>
                    <a:latin typeface="Consolas" panose="020B0609020204030204" pitchFamily="49" charset="0"/>
                  </a:rPr>
                  <a:t>);</a:t>
                </a:r>
                <a:endParaRPr lang="en-US" sz="1200" dirty="0">
                  <a:latin typeface="Consolas" panose="020B0609020204030204" pitchFamily="49" charset="0"/>
                </a:endParaRPr>
              </a:p>
              <a:p>
                <a:pPr marL="114300" indent="0" algn="l">
                  <a:buNone/>
                </a:pPr>
                <a:r>
                  <a:rPr lang="en-US" sz="1200" dirty="0">
                    <a:solidFill>
                      <a:srgbClr val="000000"/>
                    </a:solidFill>
                    <a:latin typeface="Consolas" panose="020B0609020204030204" pitchFamily="49" charset="0"/>
                  </a:rPr>
                  <a:t>}</a:t>
                </a:r>
                <a:endParaRPr lang="en-US" sz="1200" dirty="0">
                  <a:latin typeface="Atkinson Hyperlegible Next"/>
                  <a:ea typeface="Arial"/>
                  <a:cs typeface="Arial"/>
                  <a:sym typeface="Arial"/>
                </a:endParaRPr>
              </a:p>
            </p:txBody>
          </p:sp>
        </mc:Choice>
        <mc:Fallback>
          <p:sp>
            <p:nvSpPr>
              <p:cNvPr id="118" name="Google Shape;118;p29">
                <a:extLst>
                  <a:ext uri="{FF2B5EF4-FFF2-40B4-BE49-F238E27FC236}">
                    <a16:creationId xmlns:a16="http://schemas.microsoft.com/office/drawing/2014/main" id="{A4E51EA2-39C6-E885-3098-919A58EC4AD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b="-379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C0680AE2-4E33-0C0F-A8AF-02B36C09A5E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9647F28-4C21-4629-0C4E-4289DDCA943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318D3A4-92BD-3D66-0C1C-001152FAA3F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81D2381-CFAA-8E67-351F-9AA572AA66B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2328D6E-3A84-10BA-EB73-F38A65999BB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BAEFD3-6F64-D18F-5D15-90D1B009087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CFCD839-D454-B0F9-1A24-A9982B96D7A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A5B62B7-C604-38A9-D534-ABEA1668B8B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541126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8">
                                            <p:txEl>
                                              <p:pRg st="9" end="9"/>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8">
                                            <p:txEl>
                                              <p:pRg st="11" end="11"/>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1C0211-49C0-68FC-39EC-2C1608C6046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98ABDDF-12C6-8BC4-9E6B-747B5C6AE77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2400" dirty="0">
                <a:latin typeface="Atkinson Hyperlegible Next"/>
                <a:ea typeface="Arial"/>
                <a:cs typeface="Arial"/>
                <a:sym typeface="Arial"/>
              </a:rPr>
              <a:t>The pose objects as simply defined as,</a:t>
            </a:r>
          </a:p>
          <a:p>
            <a:pPr marL="114300" indent="0">
              <a:buNone/>
            </a:pPr>
            <a:endParaRPr lang="en-US" sz="2400" dirty="0">
              <a:latin typeface="Atkinson Hyperlegible Next"/>
              <a:ea typeface="Arial"/>
              <a:cs typeface="Arial"/>
              <a:sym typeface="Arial"/>
            </a:endParaRPr>
          </a:p>
          <a:p>
            <a:pPr marL="114300" indent="0">
              <a:buNone/>
            </a:pPr>
            <a:r>
              <a:rPr lang="en-US" sz="1600" dirty="0">
                <a:solidFill>
                  <a:srgbClr val="7F0055"/>
                </a:solidFill>
                <a:latin typeface="Consolas" panose="020B0609020204030204" pitchFamily="49" charset="0"/>
              </a:rPr>
              <a:t>typedef</a:t>
            </a:r>
            <a:r>
              <a:rPr lang="en-US" sz="1600" dirty="0">
                <a:solidFill>
                  <a:srgbClr val="000000"/>
                </a:solidFill>
                <a:latin typeface="Consolas" panose="020B0609020204030204" pitchFamily="49" charset="0"/>
              </a:rPr>
              <a:t> </a:t>
            </a:r>
            <a:r>
              <a:rPr lang="en-US" sz="1600" dirty="0">
                <a:solidFill>
                  <a:srgbClr val="7F0055"/>
                </a:solidFill>
                <a:latin typeface="Consolas" panose="020B0609020204030204" pitchFamily="49" charset="0"/>
              </a:rPr>
              <a:t>struct</a:t>
            </a:r>
          </a:p>
          <a:p>
            <a:pPr marL="114300" indent="0">
              <a:buNone/>
            </a:pPr>
            <a:r>
              <a:rPr lang="en-US" sz="1600" dirty="0">
                <a:solidFill>
                  <a:srgbClr val="000000"/>
                </a:solidFill>
                <a:latin typeface="Consolas" panose="020B0609020204030204" pitchFamily="49" charset="0"/>
              </a:rPr>
              <a:t>{</a:t>
            </a:r>
          </a:p>
          <a:p>
            <a:pPr marL="114300" indent="0">
              <a:buNone/>
            </a:pPr>
            <a:r>
              <a:rPr lang="en-US" sz="1600" dirty="0">
                <a:solidFill>
                  <a:srgbClr val="000000"/>
                </a:solidFill>
                <a:latin typeface="Consolas" panose="020B0609020204030204" pitchFamily="49" charset="0"/>
              </a:rPr>
              <a:t>    </a:t>
            </a:r>
            <a:r>
              <a:rPr lang="en-US" sz="1600" dirty="0">
                <a:solidFill>
                  <a:srgbClr val="7F0055"/>
                </a:solidFill>
                <a:latin typeface="Consolas" panose="020B0609020204030204" pitchFamily="49" charset="0"/>
              </a:rPr>
              <a:t>float</a:t>
            </a:r>
            <a:r>
              <a:rPr lang="en-US" sz="1600" dirty="0">
                <a:solidFill>
                  <a:srgbClr val="000000"/>
                </a:solidFill>
                <a:latin typeface="Consolas" panose="020B0609020204030204" pitchFamily="49" charset="0"/>
              </a:rPr>
              <a:t> </a:t>
            </a:r>
            <a:r>
              <a:rPr lang="en-US" sz="1600" dirty="0">
                <a:solidFill>
                  <a:srgbClr val="0000C0"/>
                </a:solidFill>
                <a:latin typeface="Consolas" panose="020B0609020204030204" pitchFamily="49" charset="0"/>
              </a:rPr>
              <a:t>x</a:t>
            </a: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//in feet</a:t>
            </a:r>
          </a:p>
          <a:p>
            <a:pPr marL="114300" indent="0">
              <a:buNone/>
            </a:pPr>
            <a:r>
              <a:rPr lang="en-US" sz="1600" dirty="0">
                <a:solidFill>
                  <a:srgbClr val="000000"/>
                </a:solidFill>
                <a:latin typeface="Consolas" panose="020B0609020204030204" pitchFamily="49" charset="0"/>
              </a:rPr>
              <a:t>    </a:t>
            </a:r>
            <a:r>
              <a:rPr lang="en-US" sz="1600" dirty="0">
                <a:solidFill>
                  <a:srgbClr val="7F0055"/>
                </a:solidFill>
                <a:latin typeface="Consolas" panose="020B0609020204030204" pitchFamily="49" charset="0"/>
              </a:rPr>
              <a:t>float</a:t>
            </a:r>
            <a:r>
              <a:rPr lang="en-US" sz="1600" dirty="0">
                <a:solidFill>
                  <a:srgbClr val="000000"/>
                </a:solidFill>
                <a:latin typeface="Consolas" panose="020B0609020204030204" pitchFamily="49" charset="0"/>
              </a:rPr>
              <a:t> </a:t>
            </a:r>
            <a:r>
              <a:rPr lang="en-US" sz="1600" dirty="0">
                <a:solidFill>
                  <a:srgbClr val="0000C0"/>
                </a:solidFill>
                <a:latin typeface="Consolas" panose="020B0609020204030204" pitchFamily="49" charset="0"/>
              </a:rPr>
              <a:t>y</a:t>
            </a: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//in feet</a:t>
            </a:r>
          </a:p>
          <a:p>
            <a:pPr marL="114300" indent="0">
              <a:buNone/>
            </a:pPr>
            <a:r>
              <a:rPr lang="en-US" sz="1600" dirty="0">
                <a:solidFill>
                  <a:srgbClr val="000000"/>
                </a:solidFill>
                <a:latin typeface="Consolas" panose="020B0609020204030204" pitchFamily="49" charset="0"/>
              </a:rPr>
              <a:t>    </a:t>
            </a:r>
            <a:r>
              <a:rPr lang="en-US" sz="1600" dirty="0">
                <a:solidFill>
                  <a:srgbClr val="7F0055"/>
                </a:solidFill>
                <a:latin typeface="Consolas" panose="020B0609020204030204" pitchFamily="49" charset="0"/>
              </a:rPr>
              <a:t>float</a:t>
            </a:r>
            <a:r>
              <a:rPr lang="en-US" sz="1600" dirty="0">
                <a:solidFill>
                  <a:srgbClr val="000000"/>
                </a:solidFill>
                <a:latin typeface="Consolas" panose="020B0609020204030204" pitchFamily="49" charset="0"/>
              </a:rPr>
              <a:t> </a:t>
            </a:r>
            <a:r>
              <a:rPr lang="en-US" sz="1600" dirty="0">
                <a:solidFill>
                  <a:srgbClr val="0000C0"/>
                </a:solidFill>
                <a:latin typeface="Consolas" panose="020B0609020204030204" pitchFamily="49" charset="0"/>
              </a:rPr>
              <a:t>theta</a:t>
            </a: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 in radians between -PI and PI. O radian is along the +x axis, PI/2 is the +y axis</a:t>
            </a:r>
          </a:p>
          <a:p>
            <a:pPr marL="114300" indent="0">
              <a:buNone/>
            </a:pPr>
            <a:r>
              <a:rPr lang="en-US" sz="1600" dirty="0">
                <a:solidFill>
                  <a:srgbClr val="000000"/>
                </a:solidFill>
                <a:latin typeface="Consolas" panose="020B0609020204030204" pitchFamily="49" charset="0"/>
              </a:rPr>
              <a:t>} </a:t>
            </a:r>
            <a:r>
              <a:rPr lang="en-US" sz="1600" dirty="0">
                <a:solidFill>
                  <a:srgbClr val="005032"/>
                </a:solidFill>
                <a:latin typeface="Consolas" panose="020B0609020204030204" pitchFamily="49" charset="0"/>
              </a:rPr>
              <a:t>pose</a:t>
            </a:r>
            <a:r>
              <a:rPr lang="en-US" sz="1600" dirty="0">
                <a:solidFill>
                  <a:srgbClr val="000000"/>
                </a:solidFill>
                <a:latin typeface="Consolas" panose="020B0609020204030204" pitchFamily="49" charset="0"/>
              </a:rPr>
              <a:t>;</a:t>
            </a:r>
          </a:p>
          <a:p>
            <a:pPr marL="114300" indent="0">
              <a:buNone/>
            </a:pPr>
            <a:endParaRPr lang="en-US" sz="1600" dirty="0">
              <a:solidFill>
                <a:srgbClr val="000000"/>
              </a:solidFill>
              <a:latin typeface="Consolas" panose="020B0609020204030204" pitchFamily="49" charset="0"/>
            </a:endParaRPr>
          </a:p>
          <a:p>
            <a:pPr marL="114300" indent="0">
              <a:buNone/>
            </a:pPr>
            <a:r>
              <a:rPr lang="en-US" sz="1600" dirty="0">
                <a:solidFill>
                  <a:srgbClr val="005032"/>
                </a:solidFill>
                <a:latin typeface="Consolas" panose="020B0609020204030204" pitchFamily="49" charset="0"/>
              </a:rPr>
              <a:t>pose</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ROBOTps</a:t>
            </a:r>
            <a:r>
              <a:rPr lang="en-US" sz="1600" dirty="0">
                <a:solidFill>
                  <a:srgbClr val="000000"/>
                </a:solidFill>
                <a:latin typeface="Consolas" panose="020B0609020204030204" pitchFamily="49" charset="0"/>
              </a:rPr>
              <a:t> = {0,0,0}; </a:t>
            </a:r>
            <a:r>
              <a:rPr lang="en-US" sz="1600" dirty="0">
                <a:solidFill>
                  <a:srgbClr val="3F7F5F"/>
                </a:solidFill>
                <a:latin typeface="Consolas" panose="020B0609020204030204" pitchFamily="49" charset="0"/>
              </a:rPr>
              <a:t>//robot position, will be updated through your integration code</a:t>
            </a:r>
          </a:p>
          <a:p>
            <a:pPr marL="114300" indent="0">
              <a:buNone/>
            </a:pPr>
            <a:r>
              <a:rPr lang="en-US" sz="1600" dirty="0">
                <a:solidFill>
                  <a:srgbClr val="005032"/>
                </a:solidFill>
                <a:latin typeface="Consolas" panose="020B0609020204030204" pitchFamily="49" charset="0"/>
              </a:rPr>
              <a:t>pose</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LADARps</a:t>
            </a:r>
            <a:r>
              <a:rPr lang="en-US" sz="1600" dirty="0">
                <a:solidFill>
                  <a:srgbClr val="000000"/>
                </a:solidFill>
                <a:latin typeface="Consolas" panose="020B0609020204030204" pitchFamily="49" charset="0"/>
              </a:rPr>
              <a:t> = {3.5/12.0,0,1};  </a:t>
            </a:r>
            <a:r>
              <a:rPr lang="en-US" sz="1600" dirty="0">
                <a:solidFill>
                  <a:srgbClr val="3F7F5F"/>
                </a:solidFill>
                <a:latin typeface="Consolas" panose="020B0609020204030204" pitchFamily="49" charset="0"/>
              </a:rPr>
              <a:t>// 3.5/12 for front mounting, theta is not used in this current code</a:t>
            </a:r>
            <a:endParaRPr lang="en-US" sz="16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0BC45ECF-A7FB-3902-A474-FDD5F023AB9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4FB72A3-A0F4-EEBC-5631-52C5ACE0E0B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57F17F3-C28D-A685-110D-F1221640B08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FC4FB54-9BB7-70BB-8978-FB9FBFD3A5C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0496E43-C89E-4CAE-F47C-0013FF83DFA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AEC4ED2-8047-88D6-93F1-0AEB7639983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DB5E0B7-A5F6-74B4-7749-A2D70C5C10C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70C9409-67A9-7427-DD0A-DAA6E719267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4463264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 16</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2098</TotalTime>
  <Words>3903</Words>
  <Application>Microsoft Office PowerPoint</Application>
  <PresentationFormat>Widescreen</PresentationFormat>
  <Paragraphs>515</Paragraphs>
  <Slides>40</Slides>
  <Notes>40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40</vt:i4>
      </vt:variant>
    </vt:vector>
  </HeadingPairs>
  <TitlesOfParts>
    <vt:vector size="45" baseType="lpstr">
      <vt:lpstr>Arial</vt:lpstr>
      <vt:lpstr>Calibri</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240</cp:revision>
  <dcterms:created xsi:type="dcterms:W3CDTF">2019-01-14T22:06:33Z</dcterms:created>
  <dcterms:modified xsi:type="dcterms:W3CDTF">2026-03-23T18:31:41Z</dcterms:modified>
</cp:coreProperties>
</file>