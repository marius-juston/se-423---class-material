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16: LiDAR Code</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Monday: </a:t>
            </a:r>
            <a:r>
              <a:rPr lang="en-US" sz="1800" dirty="0">
                <a:latin typeface="Atkinson Hyperlegible Next"/>
                <a:ea typeface="Arial"/>
                <a:cs typeface="Arial"/>
                <a:sym typeface="Arial"/>
              </a:rPr>
              <a:t>4-6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2-5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Dan &amp; Marius</a:t>
            </a: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Laser Classes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Laser radiation can cause three basic types of laser hazards: </a:t>
            </a:r>
            <a:r>
              <a:rPr lang="en-US" sz="2400" b="1" dirty="0">
                <a:solidFill>
                  <a:schemeClr val="dk1"/>
                </a:solidFill>
                <a:latin typeface="Atkinson Hyperlegible Next"/>
                <a:ea typeface="Arial"/>
                <a:cs typeface="Arial"/>
                <a:sym typeface="Arial"/>
              </a:rPr>
              <a:t>eye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skin</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fire hazards</a:t>
            </a:r>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When light reaches the eye, the </a:t>
            </a:r>
            <a:r>
              <a:rPr lang="en-US" sz="2000" b="1" dirty="0">
                <a:solidFill>
                  <a:schemeClr val="dk1"/>
                </a:solidFill>
                <a:latin typeface="Atkinson Hyperlegible Next"/>
                <a:ea typeface="Arial"/>
                <a:cs typeface="Arial"/>
                <a:sym typeface="Arial"/>
              </a:rPr>
              <a:t>cornea </a:t>
            </a:r>
            <a:r>
              <a:rPr lang="en-US" sz="2000" dirty="0">
                <a:solidFill>
                  <a:schemeClr val="dk1"/>
                </a:solidFill>
                <a:latin typeface="Atkinson Hyperlegible Next"/>
                <a:ea typeface="Arial"/>
                <a:cs typeface="Arial"/>
                <a:sym typeface="Arial"/>
              </a:rPr>
              <a:t>and the </a:t>
            </a:r>
            <a:r>
              <a:rPr lang="en-US" sz="2000" b="1" dirty="0">
                <a:solidFill>
                  <a:schemeClr val="dk1"/>
                </a:solidFill>
                <a:latin typeface="Atkinson Hyperlegible Next"/>
                <a:ea typeface="Arial"/>
                <a:cs typeface="Arial"/>
                <a:sym typeface="Arial"/>
              </a:rPr>
              <a:t>lens </a:t>
            </a:r>
            <a:r>
              <a:rPr lang="en-US" sz="2000" dirty="0">
                <a:solidFill>
                  <a:schemeClr val="dk1"/>
                </a:solidFill>
                <a:latin typeface="Atkinson Hyperlegible Next"/>
                <a:ea typeface="Arial"/>
                <a:cs typeface="Arial"/>
                <a:sym typeface="Arial"/>
              </a:rPr>
              <a:t>act as </a:t>
            </a:r>
            <a:r>
              <a:rPr lang="en-US" sz="2000" b="1" dirty="0">
                <a:solidFill>
                  <a:schemeClr val="dk1"/>
                </a:solidFill>
                <a:latin typeface="Atkinson Hyperlegible Next"/>
                <a:ea typeface="Arial"/>
                <a:cs typeface="Arial"/>
                <a:sym typeface="Arial"/>
              </a:rPr>
              <a:t>amplifiers</a:t>
            </a:r>
            <a:r>
              <a:rPr lang="en-US" sz="2000" dirty="0">
                <a:solidFill>
                  <a:schemeClr val="dk1"/>
                </a:solidFill>
                <a:latin typeface="Atkinson Hyperlegible Next"/>
                <a:ea typeface="Arial"/>
                <a:cs typeface="Arial"/>
                <a:sym typeface="Arial"/>
              </a:rPr>
              <a:t>. They concentrate light onto the </a:t>
            </a:r>
            <a:r>
              <a:rPr lang="en-US" sz="2000" b="1" dirty="0">
                <a:solidFill>
                  <a:schemeClr val="dk1"/>
                </a:solidFill>
                <a:latin typeface="Atkinson Hyperlegible Next"/>
                <a:ea typeface="Arial"/>
                <a:cs typeface="Arial"/>
                <a:sym typeface="Arial"/>
              </a:rPr>
              <a:t>retina </a:t>
            </a:r>
            <a:r>
              <a:rPr lang="en-US" sz="2000" dirty="0">
                <a:solidFill>
                  <a:schemeClr val="dk1"/>
                </a:solidFill>
                <a:latin typeface="Atkinson Hyperlegible Next"/>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Those three components of the human eye (</a:t>
            </a:r>
            <a:r>
              <a:rPr lang="en-US" sz="2000" b="1" dirty="0">
                <a:solidFill>
                  <a:schemeClr val="dk1"/>
                </a:solidFill>
                <a:latin typeface="Atkinson Hyperlegible Next"/>
                <a:ea typeface="Arial"/>
                <a:cs typeface="Arial"/>
                <a:sym typeface="Arial"/>
              </a:rPr>
              <a:t>cornea, lens and retina</a:t>
            </a:r>
            <a:r>
              <a:rPr lang="en-US" sz="2000" dirty="0">
                <a:solidFill>
                  <a:schemeClr val="dk1"/>
                </a:solidFill>
                <a:latin typeface="Atkinson Hyperlegible Next"/>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tkinson Hyperlegible Next"/>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0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Laser Systems Eye">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tkinson Hyperlegible Next"/>
                <a:ea typeface="Arial"/>
                <a:cs typeface="Arial"/>
                <a:sym typeface="Arial"/>
              </a:rPr>
              <a:t>Different goggles absorb different lights</a:t>
            </a:r>
            <a:r>
              <a:rPr lang="en-US" sz="1900" dirty="0">
                <a:solidFill>
                  <a:schemeClr val="dk1"/>
                </a:solidFill>
                <a:latin typeface="Atkinson Hyperlegible Next"/>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LiDAR – Laser classes</a:t>
            </a:r>
            <a:r>
              <a:rPr lang="en-US" sz="2400" dirty="0">
                <a:solidFill>
                  <a:schemeClr val="lt1"/>
                </a:solidFill>
              </a:rPr>
              <a:t>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Laser Systems Eye">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LiDAR – Laser classes</a:t>
            </a:r>
            <a:r>
              <a:rPr lang="en-US" sz="2400" dirty="0">
                <a:solidFill>
                  <a:schemeClr val="lt1"/>
                </a:solidFill>
              </a:rPr>
              <a:t> – Skin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LiDAR – Laser classes</a:t>
            </a:r>
            <a:r>
              <a:rPr lang="en-US" sz="2400" dirty="0">
                <a:solidFill>
                  <a:schemeClr val="lt1"/>
                </a:solidFill>
              </a:rPr>
              <a:t> – Fire hazards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Laser beam diameter is less than 20mm at 2000mm with maximum divergence 40mm at 4000mm. </a:t>
            </a: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tkinson Hyperlegible Next"/>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Distance Data Acquisition Command (‘G’)</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Host to Sensor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Sensor to Host</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tkinson Hyperlegible Next"/>
                <a:ea typeface="Arial"/>
                <a:cs typeface="Arial"/>
                <a:sym typeface="Arial"/>
              </a:rPr>
              <a:t>The codes XX</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ASCII codes in hex</a:t>
            </a:r>
          </a:p>
          <a:p>
            <a:pPr marL="342900">
              <a:lnSpc>
                <a:spcPct val="100000"/>
              </a:lnSpc>
              <a:spcBef>
                <a:spcPts val="0"/>
              </a:spcBef>
              <a:buSzPts val="3000"/>
            </a:pPr>
            <a:r>
              <a:rPr lang="en-US" sz="2000" dirty="0">
                <a:latin typeface="Atkinson Hyperlegible Next"/>
                <a:ea typeface="Arial"/>
                <a:cs typeface="Arial"/>
                <a:sym typeface="Arial"/>
              </a:rPr>
              <a:t>Any status code other than ‘0’</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5" name="Table 4">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tkinson Hyperlegible Next"/>
                <a:ea typeface="Arial"/>
                <a:cs typeface="Arial"/>
                <a:sym typeface="Arial"/>
              </a:rPr>
              <a:t>The command ‘V’</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Version Info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tkinson Hyperlegible Next"/>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Illumination Control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Example : </a:t>
            </a:r>
          </a:p>
          <a:p>
            <a:pPr marL="342900">
              <a:lnSpc>
                <a:spcPct val="100000"/>
              </a:lnSpc>
              <a:spcBef>
                <a:spcPts val="0"/>
              </a:spcBef>
              <a:buSzPts val="3000"/>
            </a:pPr>
            <a:r>
              <a:rPr lang="en-US" sz="1400" dirty="0">
                <a:latin typeface="Atkinson Hyperlegible Next"/>
                <a:ea typeface="Arial"/>
                <a:cs typeface="Arial"/>
                <a:sym typeface="Arial"/>
              </a:rPr>
              <a:t>57.6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“057600” (ASCII 6 Digits)</a:t>
            </a:r>
          </a:p>
          <a:p>
            <a:pPr marL="285750" indent="-285750">
              <a:lnSpc>
                <a:spcPct val="100000"/>
              </a:lnSpc>
              <a:spcBef>
                <a:spcPts val="0"/>
              </a:spcBef>
              <a:buSzPts val="3000"/>
            </a:pPr>
            <a:r>
              <a:rPr lang="en-US" sz="1400" dirty="0">
                <a:latin typeface="Atkinson Hyperlegible Next"/>
                <a:ea typeface="Arial"/>
                <a:cs typeface="Arial"/>
                <a:sym typeface="Arial"/>
              </a:rPr>
              <a:t> 115.2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“115200” (ASCII 6 Digits)</a:t>
            </a: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What baud rate is being set here?</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tkinson Hyperlegible Next"/>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Communication Settings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tkinson Hyperlegible Next"/>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tkinson Hyperlegible Next"/>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tkinson Hyperlegible Next"/>
                <a:ea typeface="Arial"/>
                <a:cs typeface="Arial"/>
                <a:sym typeface="Arial"/>
              </a:rPr>
              <a:t>The 12-bit data is separated into 6 bit (max value of 63) each and then have 30</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(‘0’)  added to them.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gn="ctr">
              <a:lnSpc>
                <a:spcPct val="100000"/>
              </a:lnSpc>
              <a:spcBef>
                <a:spcPts val="0"/>
              </a:spcBef>
              <a:buSzPts val="3000"/>
              <a:buNone/>
            </a:pPr>
            <a:r>
              <a:rPr lang="en-US" sz="1800" dirty="0">
                <a:latin typeface="Atkinson Hyperlegible Next"/>
                <a:ea typeface="Arial"/>
                <a:cs typeface="Arial"/>
                <a:sym typeface="Arial"/>
              </a:rPr>
              <a:t>1234 mm = 0100110100102</a:t>
            </a:r>
            <a:r>
              <a:rPr lang="en-US" sz="1800" baseline="-25000" dirty="0">
                <a:latin typeface="Atkinson Hyperlegible Next"/>
                <a:ea typeface="Arial"/>
                <a:cs typeface="Arial"/>
                <a:sym typeface="Arial"/>
              </a:rPr>
              <a:t>2</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separation</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(010011</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010010</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 (13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12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Add 30</a:t>
            </a:r>
            <a:r>
              <a:rPr lang="en-US" sz="1800" baseline="-25000" dirty="0">
                <a:latin typeface="Atkinson Hyperlegible Next"/>
                <a:ea typeface="Arial"/>
                <a:cs typeface="Arial"/>
                <a:sym typeface="Arial"/>
              </a:rPr>
              <a:t>16</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(43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42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 (‘C’, ‘D’)</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decode you just do the inverse, where you subtract 30</a:t>
            </a:r>
            <a:r>
              <a:rPr lang="en-US" sz="1800" baseline="-25000" dirty="0">
                <a:latin typeface="Atkinson Hyperlegible Next"/>
                <a:ea typeface="Arial"/>
                <a:cs typeface="Arial"/>
                <a:sym typeface="Arial"/>
              </a:rPr>
              <a:t>16 </a:t>
            </a:r>
            <a:r>
              <a:rPr lang="en-US" sz="1800" dirty="0">
                <a:latin typeface="Atkinson Hyperlegible Next"/>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tkinson Hyperlegible Next"/>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tkinson Hyperlegible Next"/>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Starting point </a:t>
            </a:r>
            <a:r>
              <a:rPr lang="en-US" sz="1800" dirty="0">
                <a:latin typeface="Atkinson Hyperlegible Next"/>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tkinson Hyperlegible Next"/>
                <a:ea typeface="Arial"/>
                <a:cs typeface="Arial"/>
                <a:sym typeface="Arial"/>
              </a:rPr>
              <a:t>End Point </a:t>
            </a:r>
            <a:r>
              <a:rPr lang="en-US" sz="1800" dirty="0">
                <a:latin typeface="Atkinson Hyperlegible Next"/>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tkinson Hyperlegible Next"/>
                <a:ea typeface="Arial"/>
                <a:cs typeface="Arial"/>
                <a:sym typeface="Arial"/>
              </a:rPr>
              <a:t>Cluster Count </a:t>
            </a:r>
            <a:r>
              <a:rPr lang="en-US" sz="1800" dirty="0">
                <a:latin typeface="Atkinson Hyperlegible Next"/>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What is the starting point?</a:t>
            </a:r>
          </a:p>
          <a:p>
            <a:pPr marL="114300" indent="0" algn="ctr">
              <a:buNone/>
            </a:pPr>
            <a:r>
              <a:rPr lang="en-US" sz="1800" dirty="0">
                <a:latin typeface="Atkinson Hyperlegible Next"/>
                <a:ea typeface="Arial"/>
                <a:cs typeface="Arial"/>
                <a:sym typeface="Arial"/>
              </a:rPr>
              <a:t>‘044’ = 44</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ending point?</a:t>
            </a:r>
          </a:p>
          <a:p>
            <a:pPr marL="114300" indent="0" algn="ctr">
              <a:buNone/>
            </a:pPr>
            <a:r>
              <a:rPr lang="en-US" sz="1800" dirty="0">
                <a:latin typeface="Atkinson Hyperlegible Next"/>
                <a:ea typeface="Arial"/>
                <a:cs typeface="Arial"/>
                <a:sym typeface="Arial"/>
              </a:rPr>
              <a:t>‘725’ = 725</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cluster count?</a:t>
            </a:r>
          </a:p>
          <a:p>
            <a:pPr marL="114300" indent="0" algn="ctr">
              <a:buNone/>
            </a:pPr>
            <a:r>
              <a:rPr lang="en-US" sz="1800" dirty="0">
                <a:latin typeface="Atkinson Hyperlegible Next"/>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How many datapoints are we expecting then based on the command?</a:t>
                </a: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tkinson Hyperlegible Next"/>
                  <a:ea typeface="Arial"/>
                  <a:cs typeface="Arial"/>
                  <a:sym typeface="Arial"/>
                </a:endParaRP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tkinson Hyperlegible Next"/>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tkinson Hyperlegible Next"/>
              <a:cs typeface="Arial"/>
              <a:sym typeface="Arial"/>
            </a:endParaRPr>
          </a:p>
          <a:p>
            <a:pPr marL="0" indent="0">
              <a:lnSpc>
                <a:spcPct val="100000"/>
              </a:lnSpc>
              <a:spcBef>
                <a:spcPts val="0"/>
              </a:spcBef>
              <a:buSzPts val="3000"/>
              <a:buNone/>
            </a:pPr>
            <a:endParaRPr lang="en-US" sz="1200" dirty="0">
              <a:latin typeface="Atkinson Hyperlegible Next"/>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tkinson Hyperlegible Next"/>
                <a:ea typeface="Arial"/>
                <a:cs typeface="Arial"/>
                <a:sym typeface="Arial"/>
              </a:rPr>
              <a:t>So, every 10Hz timer 1 sends the ‘G’ command to collect the new data into the </a:t>
            </a:r>
            <a:r>
              <a:rPr lang="en-US" sz="2400" dirty="0" err="1">
                <a:latin typeface="Atkinson Hyperlegible Next"/>
                <a:ea typeface="Arial"/>
                <a:cs typeface="Arial"/>
                <a:sym typeface="Arial"/>
              </a:rPr>
              <a:t>lidar_data</a:t>
            </a:r>
            <a:r>
              <a:rPr lang="en-US" sz="2400" dirty="0">
                <a:latin typeface="Atkinson Hyperlegible Next"/>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tkinson Hyperlegible Next"/>
                <a:ea typeface="Arial"/>
                <a:cs typeface="Arial"/>
                <a:sym typeface="Arial"/>
              </a:rPr>
              <a:t>As a reminder a software interrupt is the lowest priority level and can be interrupted by any of the other interrupts of higher priority levels.</a:t>
            </a:r>
          </a:p>
          <a:p>
            <a:r>
              <a:rPr lang="en-US" sz="1800" dirty="0">
                <a:latin typeface="Atkinson Hyperlegible Next"/>
                <a:ea typeface="Arial"/>
                <a:cs typeface="Arial"/>
                <a:sym typeface="Arial"/>
              </a:rPr>
              <a:t>The rows represent a </a:t>
            </a:r>
            <a:r>
              <a:rPr lang="en-US" sz="1800" b="1" dirty="0">
                <a:latin typeface="Atkinson Hyperlegible Next"/>
                <a:ea typeface="Arial"/>
                <a:cs typeface="Arial"/>
                <a:sym typeface="Arial"/>
              </a:rPr>
              <a:t>group</a:t>
            </a:r>
          </a:p>
          <a:p>
            <a:r>
              <a:rPr lang="en-US" sz="1800" dirty="0">
                <a:latin typeface="Atkinson Hyperlegible Next"/>
                <a:ea typeface="Arial"/>
                <a:cs typeface="Arial"/>
                <a:sym typeface="Arial"/>
              </a:rPr>
              <a:t>Each column a </a:t>
            </a:r>
            <a:r>
              <a:rPr lang="en-US" sz="1800" b="1" dirty="0">
                <a:latin typeface="Atkinson Hyperlegible Next"/>
                <a:ea typeface="Arial"/>
                <a:cs typeface="Arial"/>
                <a:sym typeface="Arial"/>
              </a:rPr>
              <a:t>channel </a:t>
            </a:r>
            <a:r>
              <a:rPr lang="en-US" sz="1800" dirty="0">
                <a:latin typeface="Atkinson Hyperlegible Next"/>
                <a:ea typeface="Arial"/>
                <a:cs typeface="Arial"/>
                <a:sym typeface="Arial"/>
              </a:rPr>
              <a:t>within that group</a:t>
            </a:r>
          </a:p>
          <a:p>
            <a:r>
              <a:rPr lang="en-US" sz="1800" dirty="0">
                <a:latin typeface="Atkinson Hyperlegible Next"/>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1, will have the </a:t>
            </a:r>
            <a:r>
              <a:rPr lang="en-US" sz="1800" b="1" dirty="0">
                <a:latin typeface="Atkinson Hyperlegible Next"/>
                <a:ea typeface="Arial"/>
                <a:cs typeface="Arial"/>
                <a:sym typeface="Arial"/>
              </a:rPr>
              <a:t>highest</a:t>
            </a:r>
            <a:r>
              <a:rPr lang="en-US" sz="1800" dirty="0">
                <a:latin typeface="Atkinson Hyperlegible Next"/>
                <a:ea typeface="Arial"/>
                <a:cs typeface="Arial"/>
                <a:sym typeface="Arial"/>
              </a:rPr>
              <a:t> priority, this is used for retrieving the data and sending the data to and from the </a:t>
            </a:r>
            <a:r>
              <a:rPr lang="en-US" sz="1800" dirty="0" err="1">
                <a:latin typeface="Atkinson Hyperlegible Next"/>
                <a:ea typeface="Arial"/>
                <a:cs typeface="Arial"/>
                <a:sym typeface="Arial"/>
              </a:rPr>
              <a:t>RaspberryPI</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2, will have the </a:t>
            </a:r>
            <a:r>
              <a:rPr lang="en-US" sz="1800" b="1" dirty="0">
                <a:latin typeface="Atkinson Hyperlegible Next"/>
                <a:ea typeface="Arial"/>
                <a:cs typeface="Arial"/>
                <a:sym typeface="Arial"/>
              </a:rPr>
              <a:t>middle</a:t>
            </a:r>
            <a:r>
              <a:rPr lang="en-US" sz="1800" dirty="0">
                <a:latin typeface="Atkinson Hyperlegible Next"/>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3, will have the </a:t>
            </a:r>
            <a:r>
              <a:rPr lang="en-US" sz="1800" b="1" dirty="0">
                <a:latin typeface="Atkinson Hyperlegible Next"/>
                <a:ea typeface="Arial"/>
                <a:cs typeface="Arial"/>
                <a:sym typeface="Arial"/>
              </a:rPr>
              <a:t>lowest</a:t>
            </a:r>
            <a:r>
              <a:rPr lang="en-US" sz="1800" dirty="0">
                <a:latin typeface="Atkinson Hyperlegible Next"/>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tkinson Hyperlegible Next"/>
                    <a:ea typeface="Arial"/>
                    <a:cs typeface="Arial"/>
                    <a:sym typeface="Arial"/>
                  </a:rPr>
                  <a:t>We start with the coordinate transform to get the coordinate of the LiDAR in the real world based on the robot’s position and heading.</a:t>
                </a:r>
                <a:endParaRPr lang="en-US" sz="1400" dirty="0">
                  <a:latin typeface="Atkinson Hyperlegible Next"/>
                  <a:ea typeface="Arial"/>
                  <a:cs typeface="Arial"/>
                  <a:sym typeface="Arial"/>
                </a:endParaRPr>
              </a:p>
              <a:p>
                <a:pPr marL="114300" indent="0">
                  <a:buNone/>
                </a:pPr>
                <a:endParaRPr lang="en-US" sz="2000" dirty="0">
                  <a:solidFill>
                    <a:srgbClr val="000000"/>
                  </a:solidFill>
                  <a:latin typeface="Atkinson Hyperlegible Next"/>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tkinson Hyperlegible Next"/>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tkinson Hyperlegible Next"/>
                <a:ea typeface="Arial"/>
                <a:cs typeface="Arial"/>
                <a:sym typeface="Arial"/>
              </a:rPr>
              <a:t>The pose objects as simply defined as,</a:t>
            </a:r>
          </a:p>
          <a:p>
            <a:pPr marL="114300" indent="0">
              <a:buNone/>
            </a:pPr>
            <a:endParaRPr lang="en-US" sz="2400" dirty="0">
              <a:latin typeface="Atkinson Hyperlegible Next"/>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cp:coreProperties>
</file>