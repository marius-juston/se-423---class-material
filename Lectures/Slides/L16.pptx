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2"/>
  </p:notesMasterIdLst>
  <p:sldIdLst>
    <p:sldId id="256" r:id="rId2"/>
    <p:sldId id="417" r:id="rId3"/>
    <p:sldId id="413" r:id="rId4"/>
    <p:sldId id="272" r:id="rId5"/>
    <p:sldId id="258" r:id="rId6"/>
    <p:sldId id="418" r:id="rId7"/>
    <p:sldId id="423" r:id="rId8"/>
    <p:sldId id="420" r:id="rId9"/>
    <p:sldId id="421" r:id="rId10"/>
    <p:sldId id="422" r:id="rId11"/>
    <p:sldId id="425" r:id="rId12"/>
    <p:sldId id="426" r:id="rId13"/>
    <p:sldId id="427" r:id="rId14"/>
    <p:sldId id="419" r:id="rId15"/>
    <p:sldId id="428" r:id="rId16"/>
    <p:sldId id="429" r:id="rId17"/>
    <p:sldId id="430" r:id="rId18"/>
    <p:sldId id="431" r:id="rId19"/>
    <p:sldId id="432" r:id="rId20"/>
    <p:sldId id="433" r:id="rId21"/>
    <p:sldId id="434" r:id="rId22"/>
    <p:sldId id="435" r:id="rId23"/>
    <p:sldId id="436" r:id="rId24"/>
    <p:sldId id="437" r:id="rId25"/>
    <p:sldId id="441" r:id="rId26"/>
    <p:sldId id="438" r:id="rId27"/>
    <p:sldId id="439" r:id="rId28"/>
    <p:sldId id="440" r:id="rId29"/>
    <p:sldId id="442" r:id="rId30"/>
    <p:sldId id="443" r:id="rId31"/>
    <p:sldId id="444" r:id="rId32"/>
    <p:sldId id="445" r:id="rId33"/>
    <p:sldId id="447" r:id="rId34"/>
    <p:sldId id="448" r:id="rId35"/>
    <p:sldId id="449" r:id="rId36"/>
    <p:sldId id="450" r:id="rId37"/>
    <p:sldId id="451" r:id="rId38"/>
    <p:sldId id="452" r:id="rId39"/>
    <p:sldId id="271" r:id="rId40"/>
    <p:sldId id="270" r:id="rId4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318978-56BC-F0E7-FE39-2752278B0E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9F0749-79CC-5005-FE81-0AF5E4FD78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D139C-CAC4-4D18-7223-13A0136A51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5330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125DAC8-2343-7FB6-D6E0-CDFCEA4835C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8E6817F-CA8F-B942-86FA-C390B1CF78E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C2AF65A-C08A-EE50-E09E-D8F61BEB4A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685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6F28DC-FCF2-AD72-05BE-9F41CED51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14B611-F630-A11F-A913-AF4B854B18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923FB2-F801-8C0A-2DFD-F4A8B06E5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77144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750344-1C9D-0B16-E656-9CE19ED3A3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69916A-1ECD-8067-2CBB-5A3F4AE78B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699B92-55A1-F49E-B240-EDAA7BED6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6592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EDDDE5-56A3-4057-CD46-E03960D38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49E259-AAE4-2185-0A6C-8BA4A5F1D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412C8F-B7E0-35AB-52CE-DFF3ACC78D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874112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B7D5C5-4B3C-15CA-E15B-F0852D8C88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121E69-055E-2C1E-2F3C-6C2AAFE54B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335813-908A-52B2-0A24-418E391EFC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809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024CD5-12A6-3BA3-0C5A-AB5DB7FF17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D97BD6-29DA-A564-E981-236A7330AA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5E23A5-41A7-E21D-8456-E21721D8C2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7537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F513CD8-9EE2-D37A-A25D-C111308E1F0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C05C234-54C3-8E87-2C7E-C0A854BBB0A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91DFD67-148A-CE37-62F2-870D2CF34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1223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88C9B9-FDF2-4CEE-F1FF-8DB2DD57A8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AE1B0E-AC49-E4FC-C4A1-F4A89CF54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5C7388-76C5-9D2A-7EED-04971DE8E9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12303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3A7875-0D2E-8A37-BE7C-E52383DD7C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FB311A-E590-7AE3-8E3E-9F7073EDF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3426D-87A9-5026-90C2-0DDEC04F6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1228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17BC9-B248-9D55-C8B1-32BD141F36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310CBF-C814-F357-B272-2FC04BE03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25BE1A-4D0C-F84D-518B-D774E297DC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0219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D646B9-09C8-E85F-16C9-1B9C3CA592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83CFA3-CEED-7D28-C9AC-B032B77200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A9A1EF-8BDD-D75F-87EB-EBC509FC21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00361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2DB05D-1C08-92EF-B35C-18D8BD631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4BD4AD-78B6-D97B-0A7A-803CFB2279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F01C35-1F7B-EA74-809C-4839662A48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4343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E4A5480-02BF-B949-CDAF-21EBD9D536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35D050-0294-8AFC-B081-7F32AD8C4E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8C55-FF2A-764E-3883-4A763C0A4E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84202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78AB23-DDC1-2B84-C92C-A12DEC4E83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6B4D49-3330-5BC6-284A-4486C78DFD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334A43-DD67-4596-7E8F-647ED9F04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75865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8C6F14-E97E-6E23-1DEA-D0E915B065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3C11C-D73C-7A22-E382-297EFD6663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954703-977E-E9A6-7B96-C7382F4ED7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80225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CDF47D-81DF-C42F-3FF8-A676C0B99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BD32B3-1D07-8433-AAA1-F5517C6A1E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47459-A8AA-AA57-6BDA-CE6B18D288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9719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52B014-EB4E-0873-95A2-90178DF67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9D0938-41F7-8789-034B-BD6C9FB500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5A5C26-C5D3-F698-322A-17E87564F1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22681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79932E-7D9A-78B0-7FEA-1CA2838D22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8A2472-91C9-8050-C831-F887F4BD62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DFB627-0199-62EE-3269-BC8FB7F459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094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F91E26-8698-B529-8233-20B887AEB4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A4E1375-59E0-BB3E-30BE-2A82C26369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79495A-A5B0-D409-4CCF-DF97D8CF0D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24505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1310B-582F-525C-8389-9A49D49B50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A8EBB-6B2C-A9E9-8C6E-80B35434EE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49200B-91BB-1841-492A-3E1C57A5D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4543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2DDBD-4DC9-6A96-6577-3B9D32ACD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FC7078-021A-00ED-C20E-43B2468A52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4B0B41F-6BAC-D8D1-0E72-1302140287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46111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AB4B5C-0538-45CE-7C23-35699F04C7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FA9A0F-C970-23CC-C1A8-ED03E0E835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43258A-D3E1-04DA-4945-B9B5B45244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69783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19BB2C-813E-23B6-2AFC-5DD99DAF8D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1F599D-4F79-B906-09E7-58F7CDBAD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971F42-1FB0-9AE9-4B32-24289FC225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36326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DD8F9-2435-2152-ED77-F2F54E5A07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B62F28-A4DD-9CC3-9887-CCAADE62E4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B41477F-09E2-07F4-4479-117B047586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995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33893D-0F7B-20D0-7B77-3D29BFAD09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36A004-EDB2-A693-4F02-E45BB0DA65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50FB42-08A2-85B2-9C57-63B8E4593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781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029AA0-AA89-E193-DC69-60A8CDB6EA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9E75B-ABB7-FF69-5A28-82ABC458C1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BBF791-950A-6F47-2D54-0E239EF8D2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271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7D8388-E52E-5192-9E65-4222BD30DB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246244D-AB93-2BBE-9395-C41221D00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FBB0F3-AF62-47DC-BBB0-E0E167A362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85582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7C5338-49F9-B62D-398D-E108ADB57B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4A24D-FAD4-8296-A9D9-AA8860FFD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EB10A0-C7C3-08FE-6042-A95A13CBBA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496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EE1FCA-221C-A648-5596-3FDEE94CFDB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EE58D9-1D99-2662-306E-26D15F2E59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B146F6-99B0-BB3B-2864-ACE26ED9EA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300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7CD30B-525B-EBA7-FE85-0B14231777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8422C8-E096-0DFC-F631-E051610FFF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89D7D6-6685-B213-4919-8A90304075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04936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2BE38B-709C-7E44-1B3E-40E5A3F6F0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55BF66-036B-7F95-FD9E-CE3414060B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3A3FD3-4802-1085-68CA-95253F546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9204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C76583-FF23-9140-1FEE-D0BD6AA596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DCE4B-3A5B-983A-4AED-1F648BA3A0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7CF006-D449-82D0-19D7-F2A343AF40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54206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obotshop.com/products/hokuyo-urg-04lx-laser-rangefinder"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sv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23.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9.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16: LiDAR Code</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dirty="0">
                <a:solidFill>
                  <a:schemeClr val="lt1"/>
                </a:solidFill>
              </a:rPr>
              <a:t>Monday, March 23</a:t>
            </a:r>
            <a:r>
              <a:rPr lang="en-US" sz="1800" baseline="30000" dirty="0">
                <a:solidFill>
                  <a:schemeClr val="lt1"/>
                </a:solidFill>
              </a:rPr>
              <a:t>rd</a:t>
            </a:r>
            <a:r>
              <a:rPr lang="en-US" sz="1800" dirty="0">
                <a:solidFill>
                  <a:schemeClr val="lt1"/>
                </a:solidFil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Why did we use a ping pong buffer for the FFT code?</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Given that LiDAR splits its space as 360 degrees into 1024 steps, what is the angular resolution of the LiDAR? </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What happens if your angular resolution is too low and your object is far away?</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Is UART a synchronous or asynchronous communication protocol? What does it mean for it to be synchronous or not?</a:t>
            </a: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Monday: </a:t>
            </a:r>
            <a:r>
              <a:rPr lang="en-US" sz="1800" dirty="0">
                <a:latin typeface="Arial"/>
                <a:ea typeface="Arial"/>
                <a:cs typeface="Arial"/>
                <a:sym typeface="Arial"/>
              </a:rPr>
              <a:t>4-6 PM</a:t>
            </a:r>
            <a:r>
              <a:rPr lang="en-US" sz="1800" b="1" dirty="0">
                <a:latin typeface="Arial"/>
                <a:ea typeface="Arial"/>
                <a:cs typeface="Arial"/>
                <a:sym typeface="Arial"/>
              </a:rPr>
              <a:t>, </a:t>
            </a:r>
            <a:r>
              <a:rPr lang="en-US" sz="1800" dirty="0">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2-5 PM</a:t>
            </a:r>
            <a:r>
              <a:rPr lang="en-US" sz="1800" b="1" dirty="0">
                <a:latin typeface="Arial"/>
                <a:ea typeface="Arial"/>
                <a:cs typeface="Arial"/>
                <a:sym typeface="Arial"/>
              </a:rPr>
              <a:t>, </a:t>
            </a:r>
            <a:r>
              <a:rPr lang="en-US" sz="1800" dirty="0">
                <a:latin typeface="Arial"/>
                <a:ea typeface="Arial"/>
                <a:cs typeface="Arial"/>
                <a:sym typeface="Arial"/>
              </a:rPr>
              <a:t>Dan &amp; Marius</a:t>
            </a:r>
            <a:endParaRPr lang="en-US" sz="1800" b="1"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p>
          <a:p>
            <a:pPr marL="742950" lvl="1" indent="-285750">
              <a:lnSpc>
                <a:spcPct val="100000"/>
              </a:lnSpc>
              <a:spcBef>
                <a:spcPts val="0"/>
              </a:spcBef>
              <a:buSzPts val="3000"/>
            </a:pPr>
            <a:r>
              <a:rPr lang="en-US" sz="1800" dirty="0">
                <a:latin typeface="Arial"/>
                <a:ea typeface="Arial"/>
                <a:cs typeface="Arial"/>
                <a:sym typeface="Arial"/>
              </a:rPr>
              <a:t>This is a long homework, so </a:t>
            </a:r>
            <a:r>
              <a:rPr lang="en-US" sz="1800" b="1" dirty="0">
                <a:latin typeface="Arial"/>
                <a:ea typeface="Arial"/>
                <a:cs typeface="Arial"/>
                <a:sym typeface="Arial"/>
              </a:rPr>
              <a:t>DO NOT </a:t>
            </a:r>
            <a:r>
              <a:rPr lang="en-US" sz="1800" dirty="0">
                <a:latin typeface="Arial"/>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4"/>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URG-04LX</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865D6D-E1FC-F3BD-5815-18E40B97AEE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D4650A5-C422-4826-5825-CD277BE541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LiDAR we are working with is called the URG-04LX</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RG-04LX is a laser sensor for area scanning. The light source of the sensor is infrared laser of wavelength 785nm with laser class 1 safety.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786AF23-9F90-4CD7-6060-7DA5DE457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8687C3C-47B1-8222-283E-F030540119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C69F26-2470-4C7F-2418-4CF9208E78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CCE9B9-AE2C-EA59-3E31-B2AAD5111F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DC3916-D58D-2730-07D1-9239030E0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DFBF745-E712-B403-1A1E-7884C613A16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0CFA20-1EAB-C337-F853-FAF168D775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639C1A-BB0E-337A-2FA5-E445EA4263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1870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E70F94F-01CA-DAC4-D3A7-26AAADE4452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1CA94AB-4E3C-1112-78C2-95AC8E1FC7B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Laser Classes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79EAB7E0-D714-8F2D-0F8C-A91B2C99A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80A6B73-2DC5-BD5C-5E17-214F4DCB35B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B57FF4-4C8E-7A26-84AD-187711D143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8D67F98-3A82-A9EF-C161-0013A89BDF8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E6B2A9C-23F7-E659-1440-51A99888B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E57F2B2-F5C8-028D-B49A-5A6E541DB5A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60A511-B7B3-D003-8F09-26068759EE5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3026FA9-4DC2-CC74-D02A-BBBB8606D8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EABC74-3C69-E164-F128-8109B4032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955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EEC096-FDD1-0232-3713-DCF998135C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D65181-78DF-EAFF-D3DC-0E885253A5F8}"/>
              </a:ext>
            </a:extLst>
          </p:cNvPr>
          <p:cNvSpPr txBox="1">
            <a:spLocks noGrp="1"/>
          </p:cNvSpPr>
          <p:nvPr>
            <p:ph type="body" idx="1"/>
          </p:nvPr>
        </p:nvSpPr>
        <p:spPr>
          <a:xfrm>
            <a:off x="376809" y="1334279"/>
            <a:ext cx="11177401" cy="2298900"/>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Laser radiation can cause three basic types of laser hazards: </a:t>
            </a:r>
            <a:r>
              <a:rPr lang="en-US" sz="2400" b="1" dirty="0">
                <a:solidFill>
                  <a:schemeClr val="dk1"/>
                </a:solidFill>
                <a:latin typeface="Arial"/>
                <a:ea typeface="Arial"/>
                <a:cs typeface="Arial"/>
                <a:sym typeface="Arial"/>
              </a:rPr>
              <a:t>eye</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skin</a:t>
            </a:r>
            <a:r>
              <a:rPr lang="en-US" sz="2400" dirty="0">
                <a:solidFill>
                  <a:schemeClr val="dk1"/>
                </a:solidFill>
                <a:latin typeface="Arial"/>
                <a:ea typeface="Arial"/>
                <a:cs typeface="Arial"/>
                <a:sym typeface="Arial"/>
              </a:rPr>
              <a:t> and </a:t>
            </a:r>
            <a:r>
              <a:rPr lang="en-US" sz="2400" b="1" dirty="0">
                <a:solidFill>
                  <a:schemeClr val="dk1"/>
                </a:solidFill>
                <a:latin typeface="Arial"/>
                <a:ea typeface="Arial"/>
                <a:cs typeface="Arial"/>
                <a:sym typeface="Arial"/>
              </a:rPr>
              <a:t>fire hazards</a:t>
            </a:r>
            <a:r>
              <a:rPr lang="en-US" sz="2400" dirty="0">
                <a:solidFill>
                  <a:schemeClr val="dk1"/>
                </a:solidFill>
                <a:latin typeface="Arial"/>
                <a:ea typeface="Arial"/>
                <a:cs typeface="Arial"/>
                <a:sym typeface="Arial"/>
              </a:rPr>
              <a:t>.</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If a laser is not class 1 compliant, you should wear protective equipment when entering the danger zone: laser safety glasses for eye protection and special suits for skin protection.</a:t>
            </a:r>
          </a:p>
          <a:p>
            <a:pPr marL="285750" indent="-28575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3788ADA-7C68-5D43-5C59-3924D59ACF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99A2F7-28FB-3357-2FF4-7D5DA73135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Laser classes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BDCCA9-C0E1-419B-6791-C0997281A8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654CE6-5B46-2927-ACF3-1A1DDFDBCD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D18E9D-C9CE-EBE6-9FDE-79B201DAD9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B6CF74-CC32-64D5-815F-E991DDD3E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B61022-ED4B-EED9-3907-7DFCFE1669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4E492C-D3FB-CF2C-C94A-C1596E8733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aphicFrame>
        <p:nvGraphicFramePr>
          <p:cNvPr id="2" name="Table 1">
            <a:extLst>
              <a:ext uri="{FF2B5EF4-FFF2-40B4-BE49-F238E27FC236}">
                <a16:creationId xmlns:a16="http://schemas.microsoft.com/office/drawing/2014/main" id="{469F68CC-1674-51E6-92B4-02C0B25F1732}"/>
              </a:ext>
            </a:extLst>
          </p:cNvPr>
          <p:cNvGraphicFramePr>
            <a:graphicFrameLocks noGrp="1"/>
          </p:cNvGraphicFramePr>
          <p:nvPr>
            <p:extLst>
              <p:ext uri="{D42A27DB-BD31-4B8C-83A1-F6EECF244321}">
                <p14:modId xmlns:p14="http://schemas.microsoft.com/office/powerpoint/2010/main" val="4161500191"/>
              </p:ext>
            </p:extLst>
          </p:nvPr>
        </p:nvGraphicFramePr>
        <p:xfrm>
          <a:off x="266700" y="3633520"/>
          <a:ext cx="11658600" cy="2890520"/>
        </p:xfrm>
        <a:graphic>
          <a:graphicData uri="http://schemas.openxmlformats.org/drawingml/2006/table">
            <a:tbl>
              <a:tblPr firstRow="1" bandRow="1">
                <a:tableStyleId>{5C22544A-7EE6-4342-B048-85BDC9FD1C3A}</a:tableStyleId>
              </a:tblPr>
              <a:tblGrid>
                <a:gridCol w="1212850">
                  <a:extLst>
                    <a:ext uri="{9D8B030D-6E8A-4147-A177-3AD203B41FA5}">
                      <a16:colId xmlns:a16="http://schemas.microsoft.com/office/drawing/2014/main" val="2392978423"/>
                    </a:ext>
                  </a:extLst>
                </a:gridCol>
                <a:gridCol w="2070100">
                  <a:extLst>
                    <a:ext uri="{9D8B030D-6E8A-4147-A177-3AD203B41FA5}">
                      <a16:colId xmlns:a16="http://schemas.microsoft.com/office/drawing/2014/main" val="1414924795"/>
                    </a:ext>
                  </a:extLst>
                </a:gridCol>
                <a:gridCol w="3860800">
                  <a:extLst>
                    <a:ext uri="{9D8B030D-6E8A-4147-A177-3AD203B41FA5}">
                      <a16:colId xmlns:a16="http://schemas.microsoft.com/office/drawing/2014/main" val="471111581"/>
                    </a:ext>
                  </a:extLst>
                </a:gridCol>
                <a:gridCol w="4514850">
                  <a:extLst>
                    <a:ext uri="{9D8B030D-6E8A-4147-A177-3AD203B41FA5}">
                      <a16:colId xmlns:a16="http://schemas.microsoft.com/office/drawing/2014/main" val="26670979"/>
                    </a:ext>
                  </a:extLst>
                </a:gridCol>
              </a:tblGrid>
              <a:tr h="370840">
                <a:tc>
                  <a:txBody>
                    <a:bodyPr/>
                    <a:lstStyle/>
                    <a:p>
                      <a:r>
                        <a:rPr lang="en-US" dirty="0"/>
                        <a:t>Lazer Class</a:t>
                      </a:r>
                    </a:p>
                  </a:txBody>
                  <a:tcPr/>
                </a:tc>
                <a:tc>
                  <a:txBody>
                    <a:bodyPr/>
                    <a:lstStyle/>
                    <a:p>
                      <a:r>
                        <a:rPr lang="en-US" dirty="0"/>
                        <a:t>Hazard Risk</a:t>
                      </a:r>
                    </a:p>
                  </a:txBody>
                  <a:tcPr/>
                </a:tc>
                <a:tc>
                  <a:txBody>
                    <a:bodyPr/>
                    <a:lstStyle/>
                    <a:p>
                      <a:r>
                        <a:rPr lang="en-US" dirty="0"/>
                        <a:t>Common Uses</a:t>
                      </a:r>
                    </a:p>
                  </a:txBody>
                  <a:tcPr/>
                </a:tc>
                <a:tc>
                  <a:txBody>
                    <a:bodyPr/>
                    <a:lstStyle/>
                    <a:p>
                      <a:r>
                        <a:rPr lang="en-US" dirty="0"/>
                        <a:t>Safe Use Considerations</a:t>
                      </a:r>
                    </a:p>
                  </a:txBody>
                  <a:tcPr/>
                </a:tc>
                <a:extLst>
                  <a:ext uri="{0D108BD9-81ED-4DB2-BD59-A6C34878D82A}">
                    <a16:rowId xmlns:a16="http://schemas.microsoft.com/office/drawing/2014/main" val="3813969383"/>
                  </a:ext>
                </a:extLst>
              </a:tr>
              <a:tr h="370840">
                <a:tc>
                  <a:txBody>
                    <a:bodyPr/>
                    <a:lstStyle/>
                    <a:p>
                      <a:r>
                        <a:rPr lang="en-US" b="1" dirty="0"/>
                        <a:t>Class 1</a:t>
                      </a:r>
                    </a:p>
                  </a:txBody>
                  <a:tcPr anchor="ctr">
                    <a:solidFill>
                      <a:srgbClr val="00B050"/>
                    </a:solidFill>
                  </a:tcPr>
                </a:tc>
                <a:tc>
                  <a:txBody>
                    <a:bodyPr/>
                    <a:lstStyle/>
                    <a:p>
                      <a:r>
                        <a:rPr lang="en-US" dirty="0"/>
                        <a:t>None</a:t>
                      </a:r>
                    </a:p>
                  </a:txBody>
                  <a:tcPr anchor="ctr"/>
                </a:tc>
                <a:tc>
                  <a:txBody>
                    <a:bodyPr/>
                    <a:lstStyle/>
                    <a:p>
                      <a:r>
                        <a:rPr lang="en-US" dirty="0"/>
                        <a:t>Barcode scanners, DVD players (if you remember what a DVD is!)</a:t>
                      </a:r>
                    </a:p>
                  </a:txBody>
                  <a:tcPr anchor="ctr"/>
                </a:tc>
                <a:tc>
                  <a:txBody>
                    <a:bodyPr/>
                    <a:lstStyle/>
                    <a:p>
                      <a:r>
                        <a:rPr lang="en-US" dirty="0"/>
                        <a:t>Safe under all considerations.</a:t>
                      </a:r>
                    </a:p>
                  </a:txBody>
                  <a:tcPr anchor="ctr"/>
                </a:tc>
                <a:extLst>
                  <a:ext uri="{0D108BD9-81ED-4DB2-BD59-A6C34878D82A}">
                    <a16:rowId xmlns:a16="http://schemas.microsoft.com/office/drawing/2014/main" val="1370047337"/>
                  </a:ext>
                </a:extLst>
              </a:tr>
              <a:tr h="370840">
                <a:tc>
                  <a:txBody>
                    <a:bodyPr/>
                    <a:lstStyle/>
                    <a:p>
                      <a:r>
                        <a:rPr lang="en-US" b="1" dirty="0"/>
                        <a:t>Class 1M</a:t>
                      </a:r>
                    </a:p>
                  </a:txBody>
                  <a:tcPr anchor="ctr">
                    <a:solidFill>
                      <a:srgbClr val="92D050"/>
                    </a:solidFill>
                  </a:tcPr>
                </a:tc>
                <a:tc>
                  <a:txBody>
                    <a:bodyPr/>
                    <a:lstStyle/>
                    <a:p>
                      <a:r>
                        <a:rPr lang="en-US" dirty="0"/>
                        <a:t>None to low</a:t>
                      </a:r>
                    </a:p>
                  </a:txBody>
                  <a:tcPr anchor="ctr"/>
                </a:tc>
                <a:tc>
                  <a:txBody>
                    <a:bodyPr/>
                    <a:lstStyle/>
                    <a:p>
                      <a:r>
                        <a:rPr lang="en-US" dirty="0"/>
                        <a:t>Laser diodes, fiber communication systems, speed meters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4214573305"/>
                  </a:ext>
                </a:extLst>
              </a:tr>
              <a:tr h="370840">
                <a:tc>
                  <a:txBody>
                    <a:bodyPr/>
                    <a:lstStyle/>
                    <a:p>
                      <a:r>
                        <a:rPr lang="en-US" b="1" dirty="0"/>
                        <a:t>Class 2</a:t>
                      </a:r>
                    </a:p>
                  </a:txBody>
                  <a:tcPr anchor="ctr">
                    <a:solidFill>
                      <a:srgbClr val="FFFF00"/>
                    </a:solidFill>
                  </a:tcPr>
                </a:tc>
                <a:tc>
                  <a:txBody>
                    <a:bodyPr/>
                    <a:lstStyle/>
                    <a:p>
                      <a:r>
                        <a:rPr lang="en-US" dirty="0"/>
                        <a:t>Low (unless stared into)</a:t>
                      </a:r>
                    </a:p>
                  </a:txBody>
                  <a:tcPr anchor="ctr"/>
                </a:tc>
                <a:tc>
                  <a:txBody>
                    <a:bodyPr/>
                    <a:lstStyle/>
                    <a:p>
                      <a:r>
                        <a:rPr lang="en-US" dirty="0"/>
                        <a:t>Laser points, alignment tools</a:t>
                      </a:r>
                    </a:p>
                  </a:txBody>
                  <a:tcPr anchor="ctr"/>
                </a:tc>
                <a:tc>
                  <a:txBody>
                    <a:bodyPr/>
                    <a:lstStyle/>
                    <a:p>
                      <a:r>
                        <a:rPr lang="en-US" dirty="0"/>
                        <a:t>Avoid direct eye exposure</a:t>
                      </a:r>
                    </a:p>
                  </a:txBody>
                  <a:tcPr anchor="ctr"/>
                </a:tc>
                <a:extLst>
                  <a:ext uri="{0D108BD9-81ED-4DB2-BD59-A6C34878D82A}">
                    <a16:rowId xmlns:a16="http://schemas.microsoft.com/office/drawing/2014/main" val="3467015480"/>
                  </a:ext>
                </a:extLst>
              </a:tr>
              <a:tr h="370840">
                <a:tc>
                  <a:txBody>
                    <a:bodyPr/>
                    <a:lstStyle/>
                    <a:p>
                      <a:r>
                        <a:rPr lang="en-US" b="1" dirty="0"/>
                        <a:t>Class 2M</a:t>
                      </a:r>
                    </a:p>
                  </a:txBody>
                  <a:tcPr anchor="ctr">
                    <a:solidFill>
                      <a:srgbClr val="FFC000"/>
                    </a:solidFill>
                  </a:tcPr>
                </a:tc>
                <a:tc>
                  <a:txBody>
                    <a:bodyPr/>
                    <a:lstStyle/>
                    <a:p>
                      <a:r>
                        <a:rPr lang="en-US" dirty="0"/>
                        <a:t>Low to moderate</a:t>
                      </a:r>
                    </a:p>
                  </a:txBody>
                  <a:tcPr anchor="ctr"/>
                </a:tc>
                <a:tc>
                  <a:txBody>
                    <a:bodyPr/>
                    <a:lstStyle/>
                    <a:p>
                      <a:r>
                        <a:rPr lang="en-US" dirty="0"/>
                        <a:t>Projection laser (e.g. light shows)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2932237561"/>
                  </a:ext>
                </a:extLst>
              </a:tr>
              <a:tr h="370840">
                <a:tc>
                  <a:txBody>
                    <a:bodyPr/>
                    <a:lstStyle/>
                    <a:p>
                      <a:r>
                        <a:rPr lang="en-US" b="1" dirty="0"/>
                        <a:t>Class 3R/3B</a:t>
                      </a:r>
                    </a:p>
                  </a:txBody>
                  <a:tcPr anchor="ctr">
                    <a:solidFill>
                      <a:schemeClr val="accent2"/>
                    </a:solidFill>
                  </a:tcPr>
                </a:tc>
                <a:tc>
                  <a:txBody>
                    <a:bodyPr/>
                    <a:lstStyle/>
                    <a:p>
                      <a:r>
                        <a:rPr lang="en-US" dirty="0"/>
                        <a:t>Moderate to high</a:t>
                      </a:r>
                    </a:p>
                  </a:txBody>
                  <a:tcPr anchor="ctr"/>
                </a:tc>
                <a:tc>
                  <a:txBody>
                    <a:bodyPr/>
                    <a:lstStyle/>
                    <a:p>
                      <a:r>
                        <a:rPr lang="en-US" dirty="0"/>
                        <a:t>Laser scanners, 3D printers</a:t>
                      </a:r>
                    </a:p>
                  </a:txBody>
                  <a:tcPr anchor="ctr"/>
                </a:tc>
                <a:tc>
                  <a:txBody>
                    <a:bodyPr/>
                    <a:lstStyle/>
                    <a:p>
                      <a:r>
                        <a:rPr lang="en-US" dirty="0"/>
                        <a:t>Can damage the naked eye and skin</a:t>
                      </a:r>
                    </a:p>
                  </a:txBody>
                  <a:tcPr anchor="ctr"/>
                </a:tc>
                <a:extLst>
                  <a:ext uri="{0D108BD9-81ED-4DB2-BD59-A6C34878D82A}">
                    <a16:rowId xmlns:a16="http://schemas.microsoft.com/office/drawing/2014/main" val="728004638"/>
                  </a:ext>
                </a:extLst>
              </a:tr>
              <a:tr h="370840">
                <a:tc>
                  <a:txBody>
                    <a:bodyPr/>
                    <a:lstStyle/>
                    <a:p>
                      <a:r>
                        <a:rPr lang="en-US" b="1" dirty="0"/>
                        <a:t>Class 4</a:t>
                      </a:r>
                    </a:p>
                  </a:txBody>
                  <a:tcPr anchor="ctr">
                    <a:solidFill>
                      <a:srgbClr val="FF0000"/>
                    </a:solidFill>
                  </a:tcPr>
                </a:tc>
                <a:tc>
                  <a:txBody>
                    <a:bodyPr/>
                    <a:lstStyle/>
                    <a:p>
                      <a:r>
                        <a:rPr lang="en-US" dirty="0"/>
                        <a:t>Very high</a:t>
                      </a:r>
                    </a:p>
                  </a:txBody>
                  <a:tcPr anchor="ctr"/>
                </a:tc>
                <a:tc>
                  <a:txBody>
                    <a:bodyPr/>
                    <a:lstStyle/>
                    <a:p>
                      <a:r>
                        <a:rPr lang="en-US" dirty="0"/>
                        <a:t>Cutting, marking welding, cleaning surgery</a:t>
                      </a:r>
                    </a:p>
                  </a:txBody>
                  <a:tcPr anchor="ctr"/>
                </a:tc>
                <a:tc>
                  <a:txBody>
                    <a:bodyPr/>
                    <a:lstStyle/>
                    <a:p>
                      <a:r>
                        <a:rPr lang="en-US" dirty="0"/>
                        <a:t>Requires protective eyewear and strict controls.</a:t>
                      </a:r>
                    </a:p>
                  </a:txBody>
                  <a:tcPr anchor="ctr"/>
                </a:tc>
                <a:extLst>
                  <a:ext uri="{0D108BD9-81ED-4DB2-BD59-A6C34878D82A}">
                    <a16:rowId xmlns:a16="http://schemas.microsoft.com/office/drawing/2014/main" val="2659598801"/>
                  </a:ext>
                </a:extLst>
              </a:tr>
            </a:tbl>
          </a:graphicData>
        </a:graphic>
      </p:graphicFrame>
    </p:spTree>
    <p:extLst>
      <p:ext uri="{BB962C8B-B14F-4D97-AF65-F5344CB8AC3E}">
        <p14:creationId xmlns:p14="http://schemas.microsoft.com/office/powerpoint/2010/main" val="3179289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42DF4B-A9E8-B099-0F45-D394712B2F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1B6FCD9-AC85-E4F3-1972-FE0EC29F189E}"/>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solidFill>
                  <a:schemeClr val="dk1"/>
                </a:solidFill>
                <a:latin typeface="Arial"/>
                <a:ea typeface="Arial"/>
                <a:cs typeface="Arial"/>
                <a:sym typeface="Arial"/>
              </a:rPr>
              <a:t>Of all the laser hazards, eye injuries are the most serious (unless you don’t mind being blind!).</a:t>
            </a:r>
          </a:p>
          <a:p>
            <a:pPr marL="285750" indent="-285750">
              <a:lnSpc>
                <a:spcPct val="100000"/>
              </a:lnSpc>
              <a:spcBef>
                <a:spcPts val="0"/>
              </a:spcBef>
              <a:buSzPts val="3000"/>
            </a:pPr>
            <a:r>
              <a:rPr lang="en-US" sz="2000" dirty="0">
                <a:solidFill>
                  <a:schemeClr val="dk1"/>
                </a:solidFill>
                <a:latin typeface="Arial"/>
                <a:ea typeface="Arial"/>
                <a:cs typeface="Arial"/>
                <a:sym typeface="Arial"/>
              </a:rPr>
              <a:t>When light reaches the eye, the </a:t>
            </a:r>
            <a:r>
              <a:rPr lang="en-US" sz="2000" b="1" dirty="0">
                <a:solidFill>
                  <a:schemeClr val="dk1"/>
                </a:solidFill>
                <a:latin typeface="Arial"/>
                <a:ea typeface="Arial"/>
                <a:cs typeface="Arial"/>
                <a:sym typeface="Arial"/>
              </a:rPr>
              <a:t>cornea </a:t>
            </a:r>
            <a:r>
              <a:rPr lang="en-US" sz="2000" dirty="0">
                <a:solidFill>
                  <a:schemeClr val="dk1"/>
                </a:solidFill>
                <a:latin typeface="Arial"/>
                <a:ea typeface="Arial"/>
                <a:cs typeface="Arial"/>
                <a:sym typeface="Arial"/>
              </a:rPr>
              <a:t>and the </a:t>
            </a:r>
            <a:r>
              <a:rPr lang="en-US" sz="2000" b="1" dirty="0">
                <a:solidFill>
                  <a:schemeClr val="dk1"/>
                </a:solidFill>
                <a:latin typeface="Arial"/>
                <a:ea typeface="Arial"/>
                <a:cs typeface="Arial"/>
                <a:sym typeface="Arial"/>
              </a:rPr>
              <a:t>lens </a:t>
            </a:r>
            <a:r>
              <a:rPr lang="en-US" sz="2000" dirty="0">
                <a:solidFill>
                  <a:schemeClr val="dk1"/>
                </a:solidFill>
                <a:latin typeface="Arial"/>
                <a:ea typeface="Arial"/>
                <a:cs typeface="Arial"/>
                <a:sym typeface="Arial"/>
              </a:rPr>
              <a:t>act as </a:t>
            </a:r>
            <a:r>
              <a:rPr lang="en-US" sz="2000" b="1" dirty="0">
                <a:solidFill>
                  <a:schemeClr val="dk1"/>
                </a:solidFill>
                <a:latin typeface="Arial"/>
                <a:ea typeface="Arial"/>
                <a:cs typeface="Arial"/>
                <a:sym typeface="Arial"/>
              </a:rPr>
              <a:t>amplifiers</a:t>
            </a:r>
            <a:r>
              <a:rPr lang="en-US" sz="2000" dirty="0">
                <a:solidFill>
                  <a:schemeClr val="dk1"/>
                </a:solidFill>
                <a:latin typeface="Arial"/>
                <a:ea typeface="Arial"/>
                <a:cs typeface="Arial"/>
                <a:sym typeface="Arial"/>
              </a:rPr>
              <a:t>. They concentrate light onto the </a:t>
            </a:r>
            <a:r>
              <a:rPr lang="en-US" sz="2000" b="1" dirty="0">
                <a:solidFill>
                  <a:schemeClr val="dk1"/>
                </a:solidFill>
                <a:latin typeface="Arial"/>
                <a:ea typeface="Arial"/>
                <a:cs typeface="Arial"/>
                <a:sym typeface="Arial"/>
              </a:rPr>
              <a:t>retina </a:t>
            </a:r>
            <a:r>
              <a:rPr lang="en-US" sz="2000" dirty="0">
                <a:solidFill>
                  <a:schemeClr val="dk1"/>
                </a:solidFill>
                <a:latin typeface="Arial"/>
                <a:ea typeface="Arial"/>
                <a:cs typeface="Arial"/>
                <a:sym typeface="Arial"/>
              </a:rPr>
              <a:t>(the back of the eye) which, afterward, is processed by the brain as an image. </a:t>
            </a:r>
          </a:p>
          <a:p>
            <a:pPr marL="285750" indent="-285750">
              <a:lnSpc>
                <a:spcPct val="100000"/>
              </a:lnSpc>
              <a:spcBef>
                <a:spcPts val="0"/>
              </a:spcBef>
              <a:buSzPts val="3000"/>
            </a:pPr>
            <a:r>
              <a:rPr lang="en-US" sz="2000" dirty="0">
                <a:solidFill>
                  <a:schemeClr val="dk1"/>
                </a:solidFill>
                <a:latin typeface="Arial"/>
                <a:ea typeface="Arial"/>
                <a:cs typeface="Arial"/>
                <a:sym typeface="Arial"/>
              </a:rPr>
              <a:t>Those three components of the human eye (</a:t>
            </a:r>
            <a:r>
              <a:rPr lang="en-US" sz="2000" b="1" dirty="0">
                <a:solidFill>
                  <a:schemeClr val="dk1"/>
                </a:solidFill>
                <a:latin typeface="Arial"/>
                <a:ea typeface="Arial"/>
                <a:cs typeface="Arial"/>
                <a:sym typeface="Arial"/>
              </a:rPr>
              <a:t>cornea, lens and retina</a:t>
            </a:r>
            <a:r>
              <a:rPr lang="en-US" sz="2000" dirty="0">
                <a:solidFill>
                  <a:schemeClr val="dk1"/>
                </a:solidFill>
                <a:latin typeface="Arial"/>
                <a:ea typeface="Arial"/>
                <a:cs typeface="Arial"/>
                <a:sym typeface="Arial"/>
              </a:rPr>
              <a:t>) are the most susceptible to damage from laser radiation.</a:t>
            </a:r>
          </a:p>
          <a:p>
            <a:pPr marL="285750" indent="-285750">
              <a:lnSpc>
                <a:spcPct val="100000"/>
              </a:lnSpc>
              <a:spcBef>
                <a:spcPts val="0"/>
              </a:spcBef>
              <a:buSzPts val="3000"/>
            </a:pPr>
            <a:r>
              <a:rPr lang="en-US" sz="2000" dirty="0">
                <a:latin typeface="Arial"/>
                <a:ea typeface="Arial"/>
                <a:cs typeface="Arial"/>
                <a:sym typeface="Arial"/>
              </a:rPr>
              <a:t>Almost all types of laser lights can harm your eyes, but the various components of the human eye react more strongly with some light wavelengths.</a:t>
            </a:r>
            <a:endParaRPr lang="en-US" sz="20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0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28E780FA-FBC8-C24B-FC81-9C0099AF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866CF6-740B-A825-4231-4954DB7696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Laser classes – Eye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0580D94-B86E-00EF-8257-4747E277B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DB4730-DE62-D99E-A7BA-1DF346D786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F18E67-BE4F-068D-60A9-BDD3AD9FDC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E12872-B326-C4A9-38C0-A370D9594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0C98D7-3397-BBE5-1B11-6F9822D720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D58729-26F9-8A0C-AC91-9E5DF1A10D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Laser Systems Eye">
            <a:extLst>
              <a:ext uri="{FF2B5EF4-FFF2-40B4-BE49-F238E27FC236}">
                <a16:creationId xmlns:a16="http://schemas.microsoft.com/office/drawing/2014/main" id="{EF9E573E-BDFA-DA32-BAEC-9A7134E991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214"/>
          <a:stretch>
            <a:fillRect/>
          </a:stretch>
        </p:blipFill>
        <p:spPr bwMode="auto">
          <a:xfrm>
            <a:off x="6483349" y="1676400"/>
            <a:ext cx="5074159"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05027D8-52FC-D2BA-0E54-292C06F66480}"/>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50521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458EA9-F894-19C3-048E-A1B063D9C7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E1AAA8-500C-63D8-F0DF-41B4499139E5}"/>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900" dirty="0">
                <a:solidFill>
                  <a:schemeClr val="dk1"/>
                </a:solidFill>
                <a:latin typeface="Arial"/>
                <a:ea typeface="Arial"/>
                <a:cs typeface="Arial"/>
                <a:sym typeface="Arial"/>
              </a:rPr>
              <a:t>Part of visible light is absorbed by the eyes before being amplified by the lens and cornea. </a:t>
            </a:r>
          </a:p>
          <a:p>
            <a:pPr marL="285750" indent="-285750">
              <a:lnSpc>
                <a:spcPct val="100000"/>
              </a:lnSpc>
              <a:spcBef>
                <a:spcPts val="0"/>
              </a:spcBef>
              <a:buSzPts val="3000"/>
            </a:pPr>
            <a:r>
              <a:rPr lang="en-US" sz="1900" dirty="0">
                <a:solidFill>
                  <a:schemeClr val="dk1"/>
                </a:solidFill>
                <a:latin typeface="Arial"/>
                <a:ea typeface="Arial"/>
                <a:cs typeface="Arial"/>
                <a:sym typeface="Arial"/>
              </a:rPr>
              <a:t>But infrared light isn’t visible and isn’t absorbed by the eyes. Thus, is more dangerous than visible light.</a:t>
            </a:r>
          </a:p>
          <a:p>
            <a:pPr marL="285750" indent="-285750">
              <a:lnSpc>
                <a:spcPct val="100000"/>
              </a:lnSpc>
              <a:spcBef>
                <a:spcPts val="0"/>
              </a:spcBef>
              <a:buSzPts val="3000"/>
            </a:pPr>
            <a:r>
              <a:rPr lang="en-US" sz="1900" dirty="0">
                <a:solidFill>
                  <a:schemeClr val="dk1"/>
                </a:solidFill>
                <a:latin typeface="Arial"/>
                <a:ea typeface="Arial"/>
                <a:cs typeface="Arial"/>
                <a:sym typeface="Arial"/>
              </a:rPr>
              <a:t>All this energy is spent burning a small area of the retina which causes blindness and severe eye damages. Photochemical damage is also possible for lights lower than 400 nm (in the ultraviolet range) and may cause cataracts (decreased vision).</a:t>
            </a:r>
          </a:p>
          <a:p>
            <a:pPr marL="285750" indent="-285750">
              <a:lnSpc>
                <a:spcPct val="100000"/>
              </a:lnSpc>
              <a:spcBef>
                <a:spcPts val="0"/>
              </a:spcBef>
              <a:buSzPts val="3000"/>
            </a:pPr>
            <a:r>
              <a:rPr lang="en-US" sz="1900" dirty="0">
                <a:solidFill>
                  <a:schemeClr val="dk1"/>
                </a:solidFill>
                <a:latin typeface="Arial"/>
                <a:ea typeface="Arial"/>
                <a:cs typeface="Arial"/>
                <a:sym typeface="Arial"/>
              </a:rPr>
              <a:t>Protective eyewear like laser goggles protects you by absorbing dangerous light. </a:t>
            </a:r>
          </a:p>
          <a:p>
            <a:pPr marL="285750" indent="-285750">
              <a:lnSpc>
                <a:spcPct val="100000"/>
              </a:lnSpc>
              <a:spcBef>
                <a:spcPts val="0"/>
              </a:spcBef>
              <a:buSzPts val="3000"/>
            </a:pPr>
            <a:r>
              <a:rPr lang="en-US" sz="1900" b="1" dirty="0">
                <a:solidFill>
                  <a:schemeClr val="dk1"/>
                </a:solidFill>
                <a:latin typeface="Arial"/>
                <a:ea typeface="Arial"/>
                <a:cs typeface="Arial"/>
                <a:sym typeface="Arial"/>
              </a:rPr>
              <a:t>Different goggles absorb different lights</a:t>
            </a:r>
            <a:r>
              <a:rPr lang="en-US" sz="1900" dirty="0">
                <a:solidFill>
                  <a:schemeClr val="dk1"/>
                </a:solidFill>
                <a:latin typeface="Arial"/>
                <a:ea typeface="Arial"/>
                <a:cs typeface="Arial"/>
                <a:sym typeface="Arial"/>
              </a:rPr>
              <a:t>, so you need to wear the right goggles for your laser class.</a:t>
            </a:r>
          </a:p>
          <a:p>
            <a:pPr marL="285750" indent="-285750">
              <a:lnSpc>
                <a:spcPct val="100000"/>
              </a:lnSpc>
              <a:spcBef>
                <a:spcPts val="0"/>
              </a:spcBef>
              <a:buSzPts val="3000"/>
            </a:pPr>
            <a:endParaRPr lang="en-US" sz="19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EAFA5EA0-8FE5-2762-6488-45BB1E3D92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F20E0F-B39E-DB6A-289B-E5B57A0BC1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LiDAR – Laser classes</a:t>
            </a:r>
            <a:r>
              <a:rPr lang="en-US" sz="2400" dirty="0">
                <a:solidFill>
                  <a:schemeClr val="lt1"/>
                </a:solidFill>
              </a:rPr>
              <a:t> – Eye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24F2BD-11D7-E9D3-B5A6-1FFB16858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A39A0E-C6AD-3A1A-566C-E393B2A34D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B098E7-4363-B3B5-0117-47518BCCF4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ED2DE4-8263-D91B-4CC5-80901ED221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B00198-6F89-C864-EDE4-2BD9CDEB86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5A5A85-0316-454B-6B5A-17BF68F872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Laser Systems Eye">
            <a:extLst>
              <a:ext uri="{FF2B5EF4-FFF2-40B4-BE49-F238E27FC236}">
                <a16:creationId xmlns:a16="http://schemas.microsoft.com/office/drawing/2014/main" id="{B4CAD503-94E3-549E-60EF-2A1B9F6F6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2509" y="1676400"/>
            <a:ext cx="5715000"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E04476A-FFC9-79B7-57BD-A812C9C6E049}"/>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120030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8BA16B-5506-C909-9319-CF6453ACA0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F63B5C-76D8-16D4-53BB-7EBE4D8B3E23}"/>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If you had the choice between putting your eyes or your hands on the stove, chances are you would put your hands. It’s easy to understand why skin hazards are less serious than eye hazards. But the risks of skin burns still deserve attention.</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Direct contact with the laser beam and specular (mirror-like) reflections can cause skin injuries. Those injuries are typically caused by thermal damage like touching the stove, or photochemical damage like sunburns.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The burn level depends on the laser’s output power, the wavelength, the size of the affected area, and the duration of the irradiation.</a:t>
            </a:r>
          </a:p>
          <a:p>
            <a:pPr marL="285750" indent="-285750">
              <a:lnSpc>
                <a:spcPct val="100000"/>
              </a:lnSpc>
              <a:spcBef>
                <a:spcPts val="0"/>
              </a:spcBef>
              <a:buSzPts val="3000"/>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D8BDD76-C8F6-5808-78C3-6526397455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9E4AE46-944C-57D7-92BA-A49BD74B5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LiDAR – Laser classes</a:t>
            </a:r>
            <a:r>
              <a:rPr lang="en-US" sz="2400" dirty="0">
                <a:solidFill>
                  <a:schemeClr val="lt1"/>
                </a:solidFill>
              </a:rPr>
              <a:t> – Skin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A948A14-A8FD-FA4A-891C-D860B6903A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51746-A7CF-B6AA-1BD4-B94B0D60B7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E1E4D7-7131-E54C-56CA-6F8F3CB237E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4BE97B-FACC-BD10-9CB4-6D59C53657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BD590-4D2C-C887-5C7D-B2E248E06F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6FDE1A-276D-DF3B-364F-D70569EF92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2352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8DE9FE-EAEA-43A1-892E-473E8FC13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F6D58A-46E2-695D-129C-3862DB474F7B}"/>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Apart from health hazards, laser light can also start fires and put your work environment at risk.</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Only class 4 lasers pose real fire safety concerns. Their direct beam as well as any type of reflection can ignite combustible materials. </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For a safe integration, those lasers must be enclosed properly and account for all possible angles of reflection, including diffuse reflections.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Given that the URG-04LX is a class 1 laser. What precautions do we need to take when handling it?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Nothing, it is a class 1 laser!</a:t>
            </a:r>
          </a:p>
        </p:txBody>
      </p:sp>
      <p:sp>
        <p:nvSpPr>
          <p:cNvPr id="119" name="Google Shape;119;p29">
            <a:extLst>
              <a:ext uri="{FF2B5EF4-FFF2-40B4-BE49-F238E27FC236}">
                <a16:creationId xmlns:a16="http://schemas.microsoft.com/office/drawing/2014/main" id="{2DEA7276-FCB0-90D7-73C7-141EC39FC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C8A84D-A1BE-AF10-E6D3-F9BF5592E9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LiDAR – Laser classes</a:t>
            </a:r>
            <a:r>
              <a:rPr lang="en-US" sz="2400" dirty="0">
                <a:solidFill>
                  <a:schemeClr val="lt1"/>
                </a:solidFill>
              </a:rPr>
              <a:t> – Fire hazards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76E4B1-F171-97D8-DF7D-81370FD48B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8322C2-30C3-DE08-75E9-5663881391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3576D0-668F-8776-14BD-8D1EDEAE6A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ED0180-C936-F20F-B9D2-12BB1C4A60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B80671-EC1A-DCB6-E1C0-3D58D663BE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4595F-A351-F355-E3C7-6206FA297C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6076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94074C76-4949-3716-FFBE-88E9F2BE8E8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FC355E1-B533-5A44-1B47-E44EA344F78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URG-04LX</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C821CBD1-42F8-4799-D4C5-C49B6E19E8B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1D3D5EE-75A5-9A74-2495-427AA70B6AA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424FB7E-09DA-FEDE-8C10-7F265EF1E91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0CBF771-6F04-9187-8703-D9EEE06441F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F88FA002-B777-D4AB-C8F3-76719D406D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B877F73-AC00-DF37-EE02-206A75761F2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87BE759-484D-DAC3-5E62-3F342789FC5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C1BF3B0-8A65-9869-F690-0AB8465C4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8D91B97-2531-63DA-6A01-E854DAE77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97128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BD894D-0D18-8289-216F-46ECF5E40D1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02976A-994D-DA36-0BBE-4EB2290D1A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Scan area is 240º semicircle with maximum distance of 4000mm. </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Pitch angle is 0.36º and sensor outputs the distance measured at every point (683 steps).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Laser beam diameter is less than 20mm at 2000mm with maximum divergence 40mm at 4000mm. </a:t>
            </a:r>
            <a:endParaRPr lang="en-US" sz="2000" dirty="0">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The principle of distance measurement is based on calculation of the phase difference, due to which it is possible to obtain stable measurement with minimum influence from object’s color and surface gloss.</a:t>
            </a:r>
          </a:p>
          <a:p>
            <a:pPr marL="742950" lvl="1" indent="-285750">
              <a:lnSpc>
                <a:spcPct val="100000"/>
              </a:lnSpc>
              <a:spcBef>
                <a:spcPts val="0"/>
              </a:spcBef>
              <a:buSzPts val="3000"/>
            </a:pPr>
            <a:r>
              <a:rPr lang="en-US" sz="2000" dirty="0">
                <a:latin typeface="Arial"/>
                <a:ea typeface="Arial"/>
                <a:cs typeface="Arial"/>
                <a:sym typeface="Arial"/>
              </a:rPr>
              <a:t>Essentially Time of Flight but with a continuous wave rather than the discrete pulse</a:t>
            </a:r>
          </a:p>
        </p:txBody>
      </p:sp>
      <p:sp>
        <p:nvSpPr>
          <p:cNvPr id="119" name="Google Shape;119;p29">
            <a:extLst>
              <a:ext uri="{FF2B5EF4-FFF2-40B4-BE49-F238E27FC236}">
                <a16:creationId xmlns:a16="http://schemas.microsoft.com/office/drawing/2014/main" id="{2FF5BAFC-FDAA-2718-D2FB-EBE2D1AD98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142692A-D91A-E80C-8E52-A41B1FC019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94F1CD-0AB5-EFCA-9959-EC706DF77E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43B6A0-DCA3-37D1-6B90-72AD83D68B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D46766-AFA1-A513-8638-BCEBDE143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0E76F0-91B5-7A84-BA0D-1867E3BB34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5C2D37-6062-4153-C9F0-02C42D49A7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B97401-8890-03EC-ED75-953EA1B82A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67417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FF4AE2A-7FF3-0DD6-E41F-781B8713DB8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4153F8-4393-88B0-D13F-B736C187EB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DA59B1-7E86-FD3E-4D71-D3F3591FD7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CB6871-E0D0-DD4C-5DCD-1A10C96451E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2995C0-7849-EC18-DEA7-82F2F56B6E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E9B642-F5C1-2CCC-07C3-BE39F1458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E29AFD-05F6-B085-C327-B9670A3E67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273EAC-6FE0-DA36-6090-C281E600DD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D4B91A-7E6A-C658-9988-0197985EB1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2D10FB6-D953-00EB-84CA-C1878DFF7F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53543" y="1632724"/>
            <a:ext cx="6259512" cy="3605252"/>
          </a:xfrm>
          <a:prstGeom prst="rect">
            <a:avLst/>
          </a:prstGeom>
        </p:spPr>
      </p:pic>
      <p:pic>
        <p:nvPicPr>
          <p:cNvPr id="7" name="Picture 6">
            <a:extLst>
              <a:ext uri="{FF2B5EF4-FFF2-40B4-BE49-F238E27FC236}">
                <a16:creationId xmlns:a16="http://schemas.microsoft.com/office/drawing/2014/main" id="{BBAB6D5A-341B-ACD8-BAA3-A78ADAC524D8}"/>
              </a:ext>
            </a:extLst>
          </p:cNvPr>
          <p:cNvPicPr>
            <a:picLocks noChangeAspect="1"/>
          </p:cNvPicPr>
          <p:nvPr/>
        </p:nvPicPr>
        <p:blipFill>
          <a:blip r:embed="rId6"/>
          <a:srcRect l="6600" t="13740" b="15191"/>
          <a:stretch>
            <a:fillRect/>
          </a:stretch>
        </p:blipFill>
        <p:spPr>
          <a:xfrm>
            <a:off x="240241" y="2024106"/>
            <a:ext cx="5513302" cy="2961775"/>
          </a:xfrm>
          <a:prstGeom prst="rect">
            <a:avLst/>
          </a:prstGeom>
        </p:spPr>
      </p:pic>
      <p:sp>
        <p:nvSpPr>
          <p:cNvPr id="9" name="TextBox 8">
            <a:extLst>
              <a:ext uri="{FF2B5EF4-FFF2-40B4-BE49-F238E27FC236}">
                <a16:creationId xmlns:a16="http://schemas.microsoft.com/office/drawing/2014/main" id="{95EFE8BD-2125-3967-1A6C-01F2A38F80C9}"/>
              </a:ext>
            </a:extLst>
          </p:cNvPr>
          <p:cNvSpPr txBox="1"/>
          <p:nvPr/>
        </p:nvSpPr>
        <p:spPr>
          <a:xfrm>
            <a:off x="913563" y="5149318"/>
            <a:ext cx="4166659" cy="246221"/>
          </a:xfrm>
          <a:prstGeom prst="rect">
            <a:avLst/>
          </a:prstGeom>
          <a:noFill/>
        </p:spPr>
        <p:txBody>
          <a:bodyPr wrap="square">
            <a:spAutoFit/>
          </a:bodyPr>
          <a:lstStyle/>
          <a:p>
            <a:pPr algn="ctr"/>
            <a:r>
              <a:rPr lang="en-US" sz="1000" dirty="0">
                <a:hlinkClick r:id="rId7"/>
              </a:rPr>
              <a:t>https://www.robotshop.com/products/hokuyo-urg-04lx-laser-rangefinder</a:t>
            </a:r>
            <a:r>
              <a:rPr lang="en-US" sz="1000" dirty="0"/>
              <a:t> </a:t>
            </a:r>
          </a:p>
        </p:txBody>
      </p:sp>
    </p:spTree>
    <p:extLst>
      <p:ext uri="{BB962C8B-B14F-4D97-AF65-F5344CB8AC3E}">
        <p14:creationId xmlns:p14="http://schemas.microsoft.com/office/powerpoint/2010/main" val="2271656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D10F97-37B2-96AF-03F4-98621B62A7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06E6B1-356B-E09D-E9C8-0DC272C84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There are 2 ways to communicate with the LiDAR sensor SCI (UART) or USB. We use SCI only.</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There are 4 types of commands that can be sent.</a:t>
            </a:r>
          </a:p>
          <a:p>
            <a:pPr marL="0" indent="0">
              <a:lnSpc>
                <a:spcPct val="100000"/>
              </a:lnSpc>
              <a:spcBef>
                <a:spcPts val="0"/>
              </a:spcBef>
              <a:buSzPts val="3000"/>
              <a:buNone/>
            </a:pPr>
            <a:endParaRPr lang="en-US" sz="2400" dirty="0">
              <a:latin typeface="Arial"/>
              <a:ea typeface="Arial"/>
              <a:cs typeface="Arial"/>
              <a:sym typeface="Arial"/>
            </a:endParaRPr>
          </a:p>
          <a:p>
            <a:pPr indent="-457200">
              <a:lnSpc>
                <a:spcPct val="100000"/>
              </a:lnSpc>
              <a:spcBef>
                <a:spcPts val="0"/>
              </a:spcBef>
              <a:buSzPts val="3000"/>
              <a:buFont typeface="+mj-lt"/>
              <a:buAutoNum type="arabicPeriod"/>
            </a:pPr>
            <a:r>
              <a:rPr lang="en-US" sz="2400" dirty="0">
                <a:latin typeface="Arial"/>
                <a:ea typeface="Arial"/>
                <a:cs typeface="Arial"/>
                <a:sym typeface="Arial"/>
              </a:rPr>
              <a:t>Version Command (‘V’)</a:t>
            </a:r>
          </a:p>
          <a:p>
            <a:pPr indent="-457200">
              <a:lnSpc>
                <a:spcPct val="100000"/>
              </a:lnSpc>
              <a:spcBef>
                <a:spcPts val="0"/>
              </a:spcBef>
              <a:buSzPts val="3000"/>
              <a:buFont typeface="+mj-lt"/>
              <a:buAutoNum type="arabicPeriod"/>
            </a:pPr>
            <a:r>
              <a:rPr lang="en-US" sz="2400" dirty="0">
                <a:latin typeface="Arial"/>
                <a:ea typeface="Arial"/>
                <a:cs typeface="Arial"/>
                <a:sym typeface="Arial"/>
              </a:rPr>
              <a:t>Laser Illumination Command (‘L’)</a:t>
            </a:r>
          </a:p>
          <a:p>
            <a:pPr indent="-457200">
              <a:lnSpc>
                <a:spcPct val="100000"/>
              </a:lnSpc>
              <a:spcBef>
                <a:spcPts val="0"/>
              </a:spcBef>
              <a:buSzPts val="3000"/>
              <a:buFont typeface="+mj-lt"/>
              <a:buAutoNum type="arabicPeriod"/>
            </a:pPr>
            <a:r>
              <a:rPr lang="en-US" sz="2400" dirty="0">
                <a:latin typeface="Arial"/>
                <a:ea typeface="Arial"/>
                <a:cs typeface="Arial"/>
                <a:sym typeface="Arial"/>
              </a:rPr>
              <a:t>Communication Speed Setting command for RS-232C (‘S’)</a:t>
            </a:r>
          </a:p>
          <a:p>
            <a:pPr indent="-457200">
              <a:lnSpc>
                <a:spcPct val="100000"/>
              </a:lnSpc>
              <a:spcBef>
                <a:spcPts val="0"/>
              </a:spcBef>
              <a:buSzPts val="3000"/>
              <a:buFont typeface="+mj-lt"/>
              <a:buAutoNum type="arabicPeriod"/>
            </a:pPr>
            <a:r>
              <a:rPr lang="en-US" sz="2400" dirty="0">
                <a:latin typeface="Arial"/>
                <a:ea typeface="Arial"/>
                <a:cs typeface="Arial"/>
                <a:sym typeface="Arial"/>
              </a:rPr>
              <a:t>Distance Data Acquisition Command (‘G’)</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0DFDDD8-39AC-4313-0F7E-8C02571838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4710AC-AA0D-744C-C4C1-F5C2B39A6F5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6AB6B4-24C5-1EB3-C2F3-E103882142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21F7F0-26D0-4B39-A313-6D5B309B3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87B5CD-50B7-467B-2BF0-BCE94C24B5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566A3B-59E7-3C82-0421-3F42C12126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78483D-FB1F-1394-D60B-B6856DC67E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EE1FE8-1664-02F6-DC74-A18F23E37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3573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4CFE5F-4023-3041-9C94-948CC590548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D1008C-EF4A-6B2C-F864-E87D342266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rial"/>
                <a:ea typeface="Arial"/>
                <a:cs typeface="Arial"/>
                <a:sym typeface="Arial"/>
              </a:rPr>
              <a:t>The SCI data packets are in the following format,</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u="sng" dirty="0">
                <a:latin typeface="Arial"/>
                <a:ea typeface="Arial"/>
                <a:cs typeface="Arial"/>
                <a:sym typeface="Arial"/>
              </a:rPr>
              <a:t>Host to Sensor</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u="sng" dirty="0">
                <a:latin typeface="Arial"/>
                <a:ea typeface="Arial"/>
                <a:cs typeface="Arial"/>
                <a:sym typeface="Arial"/>
              </a:rPr>
              <a:t>Sensor to Host</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Termination code is either Line Feed (‘\n’) or Carriage Return (‘\r’)</a:t>
            </a:r>
          </a:p>
          <a:p>
            <a:pPr marL="342900">
              <a:lnSpc>
                <a:spcPct val="100000"/>
              </a:lnSpc>
              <a:spcBef>
                <a:spcPts val="0"/>
              </a:spcBef>
              <a:buSzPts val="3000"/>
            </a:pPr>
            <a:r>
              <a:rPr lang="en-US" sz="2000" dirty="0">
                <a:latin typeface="Arial"/>
                <a:ea typeface="Arial"/>
                <a:cs typeface="Arial"/>
                <a:sym typeface="Arial"/>
              </a:rPr>
              <a:t>The codes XX</a:t>
            </a:r>
            <a:r>
              <a:rPr lang="en-US" sz="2000" baseline="-25000" dirty="0">
                <a:latin typeface="Arial"/>
                <a:ea typeface="Arial"/>
                <a:cs typeface="Arial"/>
                <a:sym typeface="Arial"/>
              </a:rPr>
              <a:t>16</a:t>
            </a:r>
            <a:r>
              <a:rPr lang="en-US" sz="2000" dirty="0">
                <a:latin typeface="Arial"/>
                <a:ea typeface="Arial"/>
                <a:cs typeface="Arial"/>
                <a:sym typeface="Arial"/>
              </a:rPr>
              <a:t> represents ASCII codes in hex</a:t>
            </a:r>
          </a:p>
          <a:p>
            <a:pPr marL="342900">
              <a:lnSpc>
                <a:spcPct val="100000"/>
              </a:lnSpc>
              <a:spcBef>
                <a:spcPts val="0"/>
              </a:spcBef>
              <a:buSzPts val="3000"/>
            </a:pPr>
            <a:r>
              <a:rPr lang="en-US" sz="2000" dirty="0">
                <a:latin typeface="Arial"/>
                <a:ea typeface="Arial"/>
                <a:cs typeface="Arial"/>
                <a:sym typeface="Arial"/>
              </a:rPr>
              <a:t>Any status code other than ‘0’</a:t>
            </a:r>
            <a:r>
              <a:rPr lang="en-US" sz="2000" baseline="-25000" dirty="0">
                <a:latin typeface="Arial"/>
                <a:ea typeface="Arial"/>
                <a:cs typeface="Arial"/>
                <a:sym typeface="Arial"/>
              </a:rPr>
              <a:t>16</a:t>
            </a:r>
            <a:r>
              <a:rPr lang="en-US" sz="2000" dirty="0">
                <a:latin typeface="Arial"/>
                <a:ea typeface="Arial"/>
                <a:cs typeface="Arial"/>
                <a:sym typeface="Arial"/>
              </a:rPr>
              <a:t> represents an error.</a:t>
            </a:r>
          </a:p>
        </p:txBody>
      </p:sp>
      <p:sp>
        <p:nvSpPr>
          <p:cNvPr id="119" name="Google Shape;119;p29">
            <a:extLst>
              <a:ext uri="{FF2B5EF4-FFF2-40B4-BE49-F238E27FC236}">
                <a16:creationId xmlns:a16="http://schemas.microsoft.com/office/drawing/2014/main" id="{E149E90F-CC5C-2772-AB3F-434B1B28B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9B220E-5567-EFC6-5BD3-77BA62B9E9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C7AE7B-5A6B-E779-931E-A0C4BD713E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36C741-2610-C979-DFAD-4C142D0129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D9E506-B0B0-27C2-7732-528D42DF97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69CB09-2E0A-3D9F-CC16-CFF97E4D60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7F0457-F3E3-680D-D6CD-97CBE1D339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450B61-E0D3-EAEF-2C68-D400B4F1C7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aphicFrame>
        <p:nvGraphicFramePr>
          <p:cNvPr id="5" name="Table 4">
            <a:extLst>
              <a:ext uri="{FF2B5EF4-FFF2-40B4-BE49-F238E27FC236}">
                <a16:creationId xmlns:a16="http://schemas.microsoft.com/office/drawing/2014/main" id="{33A80803-0B1C-3A2B-6EE5-08A684B4DA2A}"/>
              </a:ext>
            </a:extLst>
          </p:cNvPr>
          <p:cNvGraphicFramePr>
            <a:graphicFrameLocks noGrp="1"/>
          </p:cNvGraphicFramePr>
          <p:nvPr>
            <p:extLst>
              <p:ext uri="{D42A27DB-BD31-4B8C-83A1-F6EECF244321}">
                <p14:modId xmlns:p14="http://schemas.microsoft.com/office/powerpoint/2010/main" val="546896604"/>
              </p:ext>
            </p:extLst>
          </p:nvPr>
        </p:nvGraphicFramePr>
        <p:xfrm>
          <a:off x="3290891" y="2529416"/>
          <a:ext cx="5610219"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2135499">
                  <a:extLst>
                    <a:ext uri="{9D8B030D-6E8A-4147-A177-3AD203B41FA5}">
                      <a16:colId xmlns:a16="http://schemas.microsoft.com/office/drawing/2014/main" val="2619942353"/>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 (0a</a:t>
                      </a:r>
                      <a:r>
                        <a:rPr lang="en-US" baseline="-25000" dirty="0"/>
                        <a:t>16</a:t>
                      </a:r>
                      <a:r>
                        <a:rPr lang="en-US" baseline="0" dirty="0"/>
                        <a:t>) or CR (0d</a:t>
                      </a:r>
                      <a:r>
                        <a:rPr lang="en-US" baseline="-25000" dirty="0"/>
                        <a:t>16</a:t>
                      </a:r>
                      <a:r>
                        <a:rPr lang="en-US" baseline="0" dirty="0"/>
                        <a: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graphicFrame>
        <p:nvGraphicFramePr>
          <p:cNvPr id="6" name="Table 5">
            <a:extLst>
              <a:ext uri="{FF2B5EF4-FFF2-40B4-BE49-F238E27FC236}">
                <a16:creationId xmlns:a16="http://schemas.microsoft.com/office/drawing/2014/main" id="{843C005E-23A4-618B-B8D1-316469A6B0B3}"/>
              </a:ext>
            </a:extLst>
          </p:cNvPr>
          <p:cNvGraphicFramePr>
            <a:graphicFrameLocks noGrp="1"/>
          </p:cNvGraphicFramePr>
          <p:nvPr>
            <p:extLst>
              <p:ext uri="{D42A27DB-BD31-4B8C-83A1-F6EECF244321}">
                <p14:modId xmlns:p14="http://schemas.microsoft.com/office/powerpoint/2010/main" val="2344673281"/>
              </p:ext>
            </p:extLst>
          </p:nvPr>
        </p:nvGraphicFramePr>
        <p:xfrm>
          <a:off x="2558352" y="3744830"/>
          <a:ext cx="7075297"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555625">
                  <a:extLst>
                    <a:ext uri="{9D8B030D-6E8A-4147-A177-3AD203B41FA5}">
                      <a16:colId xmlns:a16="http://schemas.microsoft.com/office/drawing/2014/main" val="2619942353"/>
                    </a:ext>
                  </a:extLst>
                </a:gridCol>
                <a:gridCol w="731520">
                  <a:extLst>
                    <a:ext uri="{9D8B030D-6E8A-4147-A177-3AD203B41FA5}">
                      <a16:colId xmlns:a16="http://schemas.microsoft.com/office/drawing/2014/main" val="291963699"/>
                    </a:ext>
                  </a:extLst>
                </a:gridCol>
                <a:gridCol w="557784">
                  <a:extLst>
                    <a:ext uri="{9D8B030D-6E8A-4147-A177-3AD203B41FA5}">
                      <a16:colId xmlns:a16="http://schemas.microsoft.com/office/drawing/2014/main" val="3767523989"/>
                    </a:ext>
                  </a:extLst>
                </a:gridCol>
                <a:gridCol w="640080">
                  <a:extLst>
                    <a:ext uri="{9D8B030D-6E8A-4147-A177-3AD203B41FA5}">
                      <a16:colId xmlns:a16="http://schemas.microsoft.com/office/drawing/2014/main" val="1386445737"/>
                    </a:ext>
                  </a:extLst>
                </a:gridCol>
                <a:gridCol w="557784">
                  <a:extLst>
                    <a:ext uri="{9D8B030D-6E8A-4147-A177-3AD203B41FA5}">
                      <a16:colId xmlns:a16="http://schemas.microsoft.com/office/drawing/2014/main" val="4067718208"/>
                    </a:ext>
                  </a:extLst>
                </a:gridCol>
                <a:gridCol w="557784">
                  <a:extLst>
                    <a:ext uri="{9D8B030D-6E8A-4147-A177-3AD203B41FA5}">
                      <a16:colId xmlns:a16="http://schemas.microsoft.com/office/drawing/2014/main" val="1331477706"/>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Status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spTree>
    <p:extLst>
      <p:ext uri="{BB962C8B-B14F-4D97-AF65-F5344CB8AC3E}">
        <p14:creationId xmlns:p14="http://schemas.microsoft.com/office/powerpoint/2010/main" val="217684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85A495-75AE-B621-1C8B-D7EDAF3936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205B6-8198-3F48-0FFA-954EAF9343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rial"/>
                <a:ea typeface="Arial"/>
                <a:cs typeface="Arial"/>
                <a:sym typeface="Arial"/>
              </a:rPr>
              <a:t>If we want to get the version information of the LiDAR we can use the version command. This can be done simply as sending,</a:t>
            </a:r>
          </a:p>
          <a:p>
            <a:pPr marL="285750" indent="-285750">
              <a:lnSpc>
                <a:spcPct val="100000"/>
              </a:lnSpc>
              <a:spcBef>
                <a:spcPts val="0"/>
              </a:spcBef>
              <a:buSzPts val="3000"/>
            </a:pPr>
            <a:r>
              <a:rPr lang="en-US" sz="2000" dirty="0">
                <a:latin typeface="Arial"/>
                <a:ea typeface="Arial"/>
                <a:cs typeface="Arial"/>
                <a:sym typeface="Arial"/>
              </a:rPr>
              <a:t>The command ‘V’</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Done as:</a:t>
            </a:r>
          </a:p>
          <a:p>
            <a:pPr marL="0" indent="0" algn="ctr">
              <a:lnSpc>
                <a:spcPct val="100000"/>
              </a:lnSpc>
              <a:spcBef>
                <a:spcPts val="0"/>
              </a:spcBef>
              <a:buSzPts val="3000"/>
              <a:buNone/>
            </a:pPr>
            <a:r>
              <a:rPr lang="pt-BR" sz="2000" dirty="0">
                <a:solidFill>
                  <a:srgbClr val="000000"/>
                </a:solidFill>
                <a:latin typeface="Consolas" panose="020B0609020204030204" pitchFamily="49" charset="0"/>
              </a:rPr>
              <a:t>serial_sendSCIC(&amp;SerialC, </a:t>
            </a:r>
            <a:r>
              <a:rPr lang="pt-BR" sz="2000" dirty="0">
                <a:solidFill>
                  <a:srgbClr val="2A00FF"/>
                </a:solidFill>
                <a:latin typeface="Consolas" panose="020B0609020204030204" pitchFamily="49" charset="0"/>
              </a:rPr>
              <a:t>"V\n"</a:t>
            </a:r>
            <a:r>
              <a:rPr lang="pt-BR" sz="2000" dirty="0">
                <a:solidFill>
                  <a:srgbClr val="000000"/>
                </a:solidFill>
                <a:latin typeface="Consolas" panose="020B0609020204030204" pitchFamily="49" charset="0"/>
              </a:rPr>
              <a:t>, 2);</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A5BB833-9786-CB66-723F-06B655394A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86F4F1-1A4C-2FD3-C0AE-3F093776306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Version Info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7E6EC2-3164-9155-7549-EF72D69D0B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81AF7B-53AD-4C22-CC96-A3DBD1C0B3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CBE8C1-4384-F21E-699C-396B1D918B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373EC8-F0C0-9DF8-2F22-48DC37CBCC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ED8268-6B18-2386-6AA3-F52A1DDF1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CAB84B-6666-8F8B-00D5-B39A77078E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085CB31-7B1B-44F9-C259-63C45FF6857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3571" y="2306616"/>
            <a:ext cx="3799974" cy="3095669"/>
          </a:xfrm>
          <a:prstGeom prst="rect">
            <a:avLst/>
          </a:prstGeom>
        </p:spPr>
      </p:pic>
      <p:pic>
        <p:nvPicPr>
          <p:cNvPr id="7" name="Graphic 6">
            <a:extLst>
              <a:ext uri="{FF2B5EF4-FFF2-40B4-BE49-F238E27FC236}">
                <a16:creationId xmlns:a16="http://schemas.microsoft.com/office/drawing/2014/main" id="{576F147B-51BA-D5AB-81E5-CADD9A5B10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47116" y="2778125"/>
            <a:ext cx="4121312" cy="2152650"/>
          </a:xfrm>
          <a:prstGeom prst="rect">
            <a:avLst/>
          </a:prstGeom>
        </p:spPr>
      </p:pic>
    </p:spTree>
    <p:extLst>
      <p:ext uri="{BB962C8B-B14F-4D97-AF65-F5344CB8AC3E}">
        <p14:creationId xmlns:p14="http://schemas.microsoft.com/office/powerpoint/2010/main" val="1728936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89568E-8464-DD1B-E34E-45FCCDD6C3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CB77548-7874-6A0D-BEDE-5D153333E8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rial"/>
                <a:ea typeface="Arial"/>
                <a:cs typeface="Arial"/>
                <a:sym typeface="Arial"/>
              </a:rPr>
              <a:t>If we want to turn the LiDAR on or off, we can use the ‘L’ command to turn it on or off. </a:t>
            </a:r>
          </a:p>
          <a:p>
            <a:pPr marL="285750" indent="-285750">
              <a:lnSpc>
                <a:spcPct val="100000"/>
              </a:lnSpc>
              <a:spcBef>
                <a:spcPts val="0"/>
              </a:spcBef>
              <a:buSzPts val="3000"/>
            </a:pPr>
            <a:r>
              <a:rPr lang="en-US" sz="2000" dirty="0">
                <a:latin typeface="Arial"/>
                <a:ea typeface="Arial"/>
                <a:cs typeface="Arial"/>
                <a:sym typeface="Arial"/>
              </a:rPr>
              <a:t>By default, the sensor is switched on even if it was previously switched off</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Done as:</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"L0\n"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off</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"L1\n"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on</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CD897634-CDA7-7EB3-8CEF-D7040A9588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7EFAB66-5711-9273-04C8-2DBF1A0CA15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Laser Illumination Control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BE8C017-32FF-82E7-4302-BC0C9B6EF8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5F9E23-483C-89BC-D5F1-E95228B03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78F162-9902-0587-BC6D-6210EC107F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F4C351-C27E-BAA6-4CC0-6C57D32D10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96B07D-6698-7526-20AF-A17769326F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6E0863-F78B-14A0-C5D6-B197C977D8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BFD2AB86-F5E6-BC4C-CEA7-D858A5E60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3955" y="2311871"/>
            <a:ext cx="8835735" cy="2005658"/>
          </a:xfrm>
          <a:prstGeom prst="rect">
            <a:avLst/>
          </a:prstGeom>
        </p:spPr>
      </p:pic>
    </p:spTree>
    <p:extLst>
      <p:ext uri="{BB962C8B-B14F-4D97-AF65-F5344CB8AC3E}">
        <p14:creationId xmlns:p14="http://schemas.microsoft.com/office/powerpoint/2010/main" val="81131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537BE7-02F1-309B-FBEA-6ED389062E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4120B3-C5EB-064E-074E-AA15ACE32A7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rial"/>
                <a:ea typeface="Arial"/>
                <a:cs typeface="Arial"/>
                <a:sym typeface="Arial"/>
              </a:rPr>
              <a:t>The default baud rate of the sensor through SCI is 19.2 kbps. Though it can be changed to 57.6, 115.2, 250, 500 and 750 kbps by varying the settings.</a:t>
            </a: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r>
              <a:rPr lang="en-US" sz="1400" dirty="0">
                <a:latin typeface="Arial"/>
                <a:ea typeface="Arial"/>
                <a:cs typeface="Arial"/>
                <a:sym typeface="Arial"/>
              </a:rPr>
              <a:t>Example : </a:t>
            </a:r>
          </a:p>
          <a:p>
            <a:pPr marL="342900">
              <a:lnSpc>
                <a:spcPct val="100000"/>
              </a:lnSpc>
              <a:spcBef>
                <a:spcPts val="0"/>
              </a:spcBef>
              <a:buSzPts val="3000"/>
            </a:pPr>
            <a:r>
              <a:rPr lang="en-US" sz="1400" dirty="0">
                <a:latin typeface="Arial"/>
                <a:ea typeface="Arial"/>
                <a:cs typeface="Arial"/>
                <a:sym typeface="Arial"/>
              </a:rPr>
              <a:t>57.6 </a:t>
            </a:r>
            <a:r>
              <a:rPr lang="en-US" sz="1400" dirty="0" err="1">
                <a:latin typeface="Arial"/>
                <a:ea typeface="Arial"/>
                <a:cs typeface="Arial"/>
                <a:sym typeface="Arial"/>
              </a:rPr>
              <a:t>Kpbs</a:t>
            </a:r>
            <a:r>
              <a:rPr lang="en-US" sz="1400" dirty="0">
                <a:latin typeface="Arial"/>
                <a:ea typeface="Arial"/>
                <a:cs typeface="Arial"/>
                <a:sym typeface="Arial"/>
              </a:rPr>
              <a:t> = “057600” (ASCII 6 Digits)</a:t>
            </a:r>
          </a:p>
          <a:p>
            <a:pPr marL="285750" indent="-285750">
              <a:lnSpc>
                <a:spcPct val="100000"/>
              </a:lnSpc>
              <a:spcBef>
                <a:spcPts val="0"/>
              </a:spcBef>
              <a:buSzPts val="3000"/>
            </a:pPr>
            <a:r>
              <a:rPr lang="en-US" sz="1400" dirty="0">
                <a:latin typeface="Arial"/>
                <a:ea typeface="Arial"/>
                <a:cs typeface="Arial"/>
                <a:sym typeface="Arial"/>
              </a:rPr>
              <a:t> 115.2 </a:t>
            </a:r>
            <a:r>
              <a:rPr lang="en-US" sz="1400" dirty="0" err="1">
                <a:latin typeface="Arial"/>
                <a:ea typeface="Arial"/>
                <a:cs typeface="Arial"/>
                <a:sym typeface="Arial"/>
              </a:rPr>
              <a:t>Kpbs</a:t>
            </a:r>
            <a:r>
              <a:rPr lang="en-US" sz="1400" dirty="0">
                <a:latin typeface="Arial"/>
                <a:ea typeface="Arial"/>
                <a:cs typeface="Arial"/>
                <a:sym typeface="Arial"/>
              </a:rPr>
              <a:t> = “115200” (ASCII 6 Digits)</a:t>
            </a:r>
          </a:p>
          <a:p>
            <a:pPr marL="285750" indent="-285750">
              <a:lnSpc>
                <a:spcPct val="100000"/>
              </a:lnSpc>
              <a:spcBef>
                <a:spcPts val="0"/>
              </a:spcBef>
              <a:buSzPts val="3000"/>
            </a:pPr>
            <a:endParaRPr lang="en-US" sz="1400" dirty="0">
              <a:latin typeface="Arial"/>
              <a:ea typeface="Arial"/>
              <a:cs typeface="Arial"/>
              <a:sym typeface="Arial"/>
            </a:endParaRPr>
          </a:p>
          <a:p>
            <a:pPr marL="285750" indent="-285750">
              <a:lnSpc>
                <a:spcPct val="100000"/>
              </a:lnSpc>
              <a:spcBef>
                <a:spcPts val="0"/>
              </a:spcBef>
              <a:buSzPts val="3000"/>
            </a:pPr>
            <a:endParaRPr lang="en-US" sz="1400" dirty="0">
              <a:latin typeface="Arial"/>
              <a:ea typeface="Arial"/>
              <a:cs typeface="Arial"/>
              <a:sym typeface="Arial"/>
            </a:endParaRPr>
          </a:p>
          <a:p>
            <a:pPr marL="285750" indent="-285750">
              <a:lnSpc>
                <a:spcPct val="100000"/>
              </a:lnSpc>
              <a:spcBef>
                <a:spcPts val="0"/>
              </a:spcBef>
              <a:buSzPts val="3000"/>
            </a:pPr>
            <a:endParaRPr lang="en-US" sz="1400" dirty="0">
              <a:latin typeface="Arial"/>
              <a:ea typeface="Arial"/>
              <a:cs typeface="Arial"/>
              <a:sym typeface="Arial"/>
            </a:endParaRPr>
          </a:p>
          <a:p>
            <a:pPr marL="285750" indent="-285750">
              <a:lnSpc>
                <a:spcPct val="100000"/>
              </a:lnSpc>
              <a:spcBef>
                <a:spcPts val="0"/>
              </a:spcBef>
              <a:buSzPts val="3000"/>
            </a:pPr>
            <a:endParaRPr lang="en-US" sz="14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r>
              <a:rPr lang="en-US" sz="1400" dirty="0">
                <a:latin typeface="Arial"/>
                <a:ea typeface="Arial"/>
                <a:cs typeface="Arial"/>
                <a:sym typeface="Arial"/>
              </a:rPr>
              <a:t>What baud rate is being set here?</a:t>
            </a:r>
          </a:p>
          <a:p>
            <a:pPr marL="0" indent="0">
              <a:lnSpc>
                <a:spcPct val="100000"/>
              </a:lnSpc>
              <a:spcBef>
                <a:spcPts val="0"/>
              </a:spcBef>
              <a:buSzPts val="3000"/>
              <a:buNone/>
            </a:pPr>
            <a:endParaRPr lang="en-US" sz="1400" dirty="0">
              <a:latin typeface="Arial"/>
              <a:ea typeface="Arial"/>
              <a:cs typeface="Arial"/>
              <a:sym typeface="Arial"/>
            </a:endParaRPr>
          </a:p>
          <a:p>
            <a:pPr marL="114300" indent="0" algn="l">
              <a:buNone/>
            </a:pPr>
            <a:r>
              <a:rPr lang="en-US" sz="1400" dirty="0">
                <a:solidFill>
                  <a:srgbClr val="7F0055"/>
                </a:solidFill>
                <a:latin typeface="Consolas" panose="020B0609020204030204" pitchFamily="49" charset="0"/>
              </a:rPr>
              <a:t>char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[19] = </a:t>
            </a:r>
            <a:r>
              <a:rPr lang="en-US" sz="1400" dirty="0">
                <a:solidFill>
                  <a:srgbClr val="2A00FF"/>
                </a:solidFill>
                <a:latin typeface="Consolas" panose="020B0609020204030204" pitchFamily="49" charset="0"/>
              </a:rPr>
              <a:t>"S1152000124000\n"</a:t>
            </a:r>
            <a:r>
              <a:rPr lang="en-US" sz="1400" dirty="0">
                <a:solidFill>
                  <a:srgbClr val="000000"/>
                </a:solidFill>
                <a:latin typeface="Consolas" panose="020B0609020204030204" pitchFamily="49" charset="0"/>
              </a:rPr>
              <a:t>;</a:t>
            </a:r>
          </a:p>
          <a:p>
            <a:pPr marL="114300" indent="0" algn="l">
              <a:buNone/>
            </a:pPr>
            <a:r>
              <a:rPr lang="en-US" sz="1400" dirty="0">
                <a:solidFill>
                  <a:srgbClr val="005032"/>
                </a:solidFill>
                <a:latin typeface="Consolas" panose="020B0609020204030204" pitchFamily="49" charset="0"/>
              </a:rPr>
              <a:t>uint16_t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 = 19;</a:t>
            </a:r>
          </a:p>
          <a:p>
            <a:pPr marL="114300" indent="0" algn="l">
              <a:buNone/>
            </a:pPr>
            <a:r>
              <a:rPr lang="en-US" sz="1400" dirty="0" err="1">
                <a:solidFill>
                  <a:srgbClr val="000000"/>
                </a:solidFill>
                <a:latin typeface="Consolas" panose="020B0609020204030204" pitchFamily="49" charset="0"/>
              </a:rPr>
              <a:t>serial_sendSCIC</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SerialC</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a:t>
            </a:r>
          </a:p>
          <a:p>
            <a:pPr marL="114300" indent="0" algn="l">
              <a:buNone/>
            </a:pPr>
            <a:endParaRPr lang="en-US" sz="1400" dirty="0">
              <a:solidFill>
                <a:srgbClr val="000000"/>
              </a:solidFill>
              <a:latin typeface="Consolas" panose="020B0609020204030204" pitchFamily="49" charset="0"/>
              <a:ea typeface="Arial"/>
              <a:cs typeface="Arial"/>
              <a:sym typeface="Arial"/>
            </a:endParaRPr>
          </a:p>
          <a:p>
            <a:pPr marL="114300" indent="0" algn="l">
              <a:buNone/>
            </a:pPr>
            <a:r>
              <a:rPr lang="en-US" sz="1400" dirty="0">
                <a:latin typeface="Arial"/>
                <a:ea typeface="Arial"/>
                <a:cs typeface="Arial"/>
                <a:sym typeface="Arial"/>
              </a:rPr>
              <a:t>The baud rate set here is, 115200</a:t>
            </a:r>
          </a:p>
        </p:txBody>
      </p:sp>
      <p:sp>
        <p:nvSpPr>
          <p:cNvPr id="119" name="Google Shape;119;p29">
            <a:extLst>
              <a:ext uri="{FF2B5EF4-FFF2-40B4-BE49-F238E27FC236}">
                <a16:creationId xmlns:a16="http://schemas.microsoft.com/office/drawing/2014/main" id="{FAF35715-B90F-4861-B785-75F767CE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60C011-86BE-2A08-7499-70FBF6A2D9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Communication Settings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95868-3CD4-16C1-6AE5-BDBEC5A12A5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4E2C14-0F51-BB32-C30A-097DC47392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015B23-5EC7-E880-18DD-676BFE7C8D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9B51F0-2B59-4975-38C6-9CD83874FE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745D9C-FFB7-27D5-B67E-FC51E98A2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31F1F-A807-440F-8C06-FE4665FA75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EFB3967-80C8-1F91-3D55-0DCA4793CEE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74181" y="2766979"/>
            <a:ext cx="6243637" cy="1047783"/>
          </a:xfrm>
          <a:prstGeom prst="rect">
            <a:avLst/>
          </a:prstGeom>
        </p:spPr>
      </p:pic>
    </p:spTree>
    <p:extLst>
      <p:ext uri="{BB962C8B-B14F-4D97-AF65-F5344CB8AC3E}">
        <p14:creationId xmlns:p14="http://schemas.microsoft.com/office/powerpoint/2010/main" val="2890973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3" end="1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780F9D-3182-EDE6-9F5E-98766F9768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EBF95B-258E-8B8C-E189-AC72EFF47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maximum measurable distance of the sensor is 4095 mm with 1 mm resolution.</a:t>
            </a:r>
          </a:p>
          <a:p>
            <a:pPr marL="285750" indent="-285750">
              <a:lnSpc>
                <a:spcPct val="100000"/>
              </a:lnSpc>
              <a:spcBef>
                <a:spcPts val="0"/>
              </a:spcBef>
              <a:buSzPts val="3000"/>
            </a:pPr>
            <a:r>
              <a:rPr lang="en-US" sz="1800" dirty="0">
                <a:latin typeface="Arial"/>
                <a:ea typeface="Arial"/>
                <a:cs typeface="Arial"/>
                <a:sym typeface="Arial"/>
              </a:rPr>
              <a:t>Each data point is represented with 12 bits (0-4095 range). </a:t>
            </a:r>
          </a:p>
          <a:p>
            <a:pPr marL="285750" indent="-285750">
              <a:lnSpc>
                <a:spcPct val="100000"/>
              </a:lnSpc>
              <a:spcBef>
                <a:spcPts val="0"/>
              </a:spcBef>
              <a:buSzPts val="3000"/>
            </a:pPr>
            <a:r>
              <a:rPr lang="en-US" sz="1800" dirty="0">
                <a:latin typeface="Arial"/>
                <a:ea typeface="Arial"/>
                <a:cs typeface="Arial"/>
                <a:sym typeface="Arial"/>
              </a:rPr>
              <a:t>To represents the data points in ASCII format a simple encoding is implemented.</a:t>
            </a:r>
          </a:p>
          <a:p>
            <a:pPr marL="285750" indent="-285750">
              <a:lnSpc>
                <a:spcPct val="100000"/>
              </a:lnSpc>
              <a:spcBef>
                <a:spcPts val="0"/>
              </a:spcBef>
              <a:buSzPts val="3000"/>
            </a:pPr>
            <a:r>
              <a:rPr lang="en-US" sz="1800" dirty="0">
                <a:latin typeface="Arial"/>
                <a:ea typeface="Arial"/>
                <a:cs typeface="Arial"/>
                <a:sym typeface="Arial"/>
              </a:rPr>
              <a:t>The 12-bit data is separated into 6 bit (max value of 63) each and then have 30</a:t>
            </a:r>
            <a:r>
              <a:rPr lang="en-US" sz="1800" baseline="-25000" dirty="0">
                <a:latin typeface="Arial"/>
                <a:ea typeface="Arial"/>
                <a:cs typeface="Arial"/>
                <a:sym typeface="Arial"/>
              </a:rPr>
              <a:t>16</a:t>
            </a:r>
            <a:r>
              <a:rPr lang="en-US" sz="1800" dirty="0">
                <a:latin typeface="Arial"/>
                <a:ea typeface="Arial"/>
                <a:cs typeface="Arial"/>
                <a:sym typeface="Arial"/>
              </a:rPr>
              <a:t> (‘0’)  added to them.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Example:</a:t>
            </a:r>
          </a:p>
          <a:p>
            <a:pPr marL="0" indent="0" algn="ctr">
              <a:lnSpc>
                <a:spcPct val="100000"/>
              </a:lnSpc>
              <a:spcBef>
                <a:spcPts val="0"/>
              </a:spcBef>
              <a:buSzPts val="3000"/>
              <a:buNone/>
            </a:pPr>
            <a:r>
              <a:rPr lang="en-US" sz="1800" dirty="0">
                <a:latin typeface="Arial"/>
                <a:ea typeface="Arial"/>
                <a:cs typeface="Arial"/>
                <a:sym typeface="Arial"/>
              </a:rPr>
              <a:t>1234 mm = 0100110100102</a:t>
            </a:r>
            <a:r>
              <a:rPr lang="en-US" sz="1800" baseline="-25000" dirty="0">
                <a:latin typeface="Arial"/>
                <a:ea typeface="Arial"/>
                <a:cs typeface="Arial"/>
                <a:sym typeface="Arial"/>
              </a:rPr>
              <a:t>2</a:t>
            </a:r>
          </a:p>
          <a:p>
            <a:pPr marL="0" indent="0" algn="ctr">
              <a:lnSpc>
                <a:spcPct val="100000"/>
              </a:lnSpc>
              <a:spcBef>
                <a:spcPts val="0"/>
              </a:spcBef>
              <a:buSzPts val="3000"/>
              <a:buNone/>
            </a:pPr>
            <a:endParaRPr lang="en-US" sz="1800" baseline="-250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 separation</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(010011</a:t>
            </a:r>
            <a:r>
              <a:rPr lang="en-US" sz="1800" baseline="-25000" dirty="0">
                <a:latin typeface="Arial"/>
                <a:ea typeface="Arial"/>
                <a:cs typeface="Arial"/>
                <a:sym typeface="Arial"/>
              </a:rPr>
              <a:t>2</a:t>
            </a:r>
            <a:r>
              <a:rPr lang="en-US" sz="1800" dirty="0">
                <a:latin typeface="Arial"/>
                <a:ea typeface="Arial"/>
                <a:cs typeface="Arial"/>
                <a:sym typeface="Arial"/>
              </a:rPr>
              <a:t>, 010010</a:t>
            </a:r>
            <a:r>
              <a:rPr lang="en-US" sz="1800" baseline="-25000" dirty="0">
                <a:latin typeface="Arial"/>
                <a:ea typeface="Arial"/>
                <a:cs typeface="Arial"/>
                <a:sym typeface="Arial"/>
              </a:rPr>
              <a:t>2</a:t>
            </a:r>
            <a:r>
              <a:rPr lang="en-US" sz="1800" dirty="0">
                <a:latin typeface="Arial"/>
                <a:ea typeface="Arial"/>
                <a:cs typeface="Arial"/>
                <a:sym typeface="Arial"/>
              </a:rPr>
              <a:t>) = (13</a:t>
            </a:r>
            <a:r>
              <a:rPr lang="en-US" sz="1800" baseline="-25000" dirty="0">
                <a:latin typeface="Arial"/>
                <a:ea typeface="Arial"/>
                <a:cs typeface="Arial"/>
                <a:sym typeface="Arial"/>
              </a:rPr>
              <a:t>16</a:t>
            </a:r>
            <a:r>
              <a:rPr lang="en-US" sz="1800" dirty="0">
                <a:latin typeface="Arial"/>
                <a:ea typeface="Arial"/>
                <a:cs typeface="Arial"/>
                <a:sym typeface="Arial"/>
              </a:rPr>
              <a:t>, 12</a:t>
            </a:r>
            <a:r>
              <a:rPr lang="en-US" sz="1800" baseline="-25000" dirty="0">
                <a:latin typeface="Arial"/>
                <a:ea typeface="Arial"/>
                <a:cs typeface="Arial"/>
                <a:sym typeface="Arial"/>
              </a:rPr>
              <a:t>16</a:t>
            </a:r>
            <a:r>
              <a:rPr lang="en-US" sz="1800" dirty="0">
                <a:latin typeface="Arial"/>
                <a:ea typeface="Arial"/>
                <a:cs typeface="Arial"/>
                <a:sym typeface="Arial"/>
              </a:rPr>
              <a:t>) </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 Add 30</a:t>
            </a:r>
            <a:r>
              <a:rPr lang="en-US" sz="1800" baseline="-25000" dirty="0">
                <a:latin typeface="Arial"/>
                <a:ea typeface="Arial"/>
                <a:cs typeface="Arial"/>
                <a:sym typeface="Arial"/>
              </a:rPr>
              <a:t>16</a:t>
            </a:r>
          </a:p>
          <a:p>
            <a:pPr marL="0" indent="0" algn="ctr">
              <a:lnSpc>
                <a:spcPct val="100000"/>
              </a:lnSpc>
              <a:spcBef>
                <a:spcPts val="0"/>
              </a:spcBef>
              <a:buSzPts val="3000"/>
              <a:buNone/>
            </a:pPr>
            <a:endParaRPr lang="en-US" sz="1800" baseline="-250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(43</a:t>
            </a:r>
            <a:r>
              <a:rPr lang="en-US" sz="1800" baseline="-25000" dirty="0">
                <a:latin typeface="Arial"/>
                <a:ea typeface="Arial"/>
                <a:cs typeface="Arial"/>
                <a:sym typeface="Arial"/>
              </a:rPr>
              <a:t>16</a:t>
            </a:r>
            <a:r>
              <a:rPr lang="en-US" sz="1800" dirty="0">
                <a:latin typeface="Arial"/>
                <a:ea typeface="Arial"/>
                <a:cs typeface="Arial"/>
                <a:sym typeface="Arial"/>
              </a:rPr>
              <a:t>, 42</a:t>
            </a:r>
            <a:r>
              <a:rPr lang="en-US" sz="1800" baseline="-25000" dirty="0">
                <a:latin typeface="Arial"/>
                <a:ea typeface="Arial"/>
                <a:cs typeface="Arial"/>
                <a:sym typeface="Arial"/>
              </a:rPr>
              <a:t>16</a:t>
            </a:r>
            <a:r>
              <a:rPr lang="en-US" sz="1800" dirty="0">
                <a:latin typeface="Arial"/>
                <a:ea typeface="Arial"/>
                <a:cs typeface="Arial"/>
                <a:sym typeface="Arial"/>
              </a:rPr>
              <a:t>) = (‘C’, ‘D’)</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To decode you just do the inverse, where you subtract 30</a:t>
            </a:r>
            <a:r>
              <a:rPr lang="en-US" sz="1800" baseline="-25000" dirty="0">
                <a:latin typeface="Arial"/>
                <a:ea typeface="Arial"/>
                <a:cs typeface="Arial"/>
                <a:sym typeface="Arial"/>
              </a:rPr>
              <a:t>16 </a:t>
            </a:r>
            <a:r>
              <a:rPr lang="en-US" sz="1800" dirty="0">
                <a:latin typeface="Arial"/>
                <a:ea typeface="Arial"/>
                <a:cs typeface="Arial"/>
                <a:sym typeface="Arial"/>
              </a:rPr>
              <a:t>and then merge using bitwise or and bit shifting. It follows the big-endian system. The most significant bits of the data are sent first (in this case ‘C’ then ‘D’).</a:t>
            </a:r>
          </a:p>
        </p:txBody>
      </p:sp>
      <p:sp>
        <p:nvSpPr>
          <p:cNvPr id="119" name="Google Shape;119;p29">
            <a:extLst>
              <a:ext uri="{FF2B5EF4-FFF2-40B4-BE49-F238E27FC236}">
                <a16:creationId xmlns:a16="http://schemas.microsoft.com/office/drawing/2014/main" id="{780A87F3-0886-4A85-02A5-F1404ABDE2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1E84817-058E-66F1-40ED-B8E7DAAE6C0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7BE5669-7945-5EBF-5461-070570B558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1737AC-B00D-3D37-A16D-6E90C704F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59D2EC-551E-4FE1-374B-254CD506FC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73EF33-738C-A550-5E3A-44592F6B01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12546F-B723-B372-A52D-7C67756EC6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03D45E-4A1B-0B37-6C01-00B33B171A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68125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7A79D2-FDDE-642A-12E7-A93269104B1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B4EA49-6BAD-CE28-3918-7F4FD2C45DC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full range of the sensor is 240 degrees where it can send a maximum of 683. However, it has 768 configurable steps. To be able to specify the actual usable range that we want to observe we can set this in the ‘G’ command.</a:t>
            </a: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To obtain the data, we need to assign the starting point, end point and cluster count.</a:t>
            </a:r>
          </a:p>
          <a:p>
            <a:pPr marL="285750" indent="-285750">
              <a:lnSpc>
                <a:spcPct val="100000"/>
              </a:lnSpc>
              <a:spcBef>
                <a:spcPts val="0"/>
              </a:spcBef>
              <a:buSzPts val="3000"/>
            </a:pPr>
            <a:r>
              <a:rPr lang="en-US" sz="1800" dirty="0">
                <a:latin typeface="Arial"/>
                <a:ea typeface="Arial"/>
                <a:cs typeface="Arial"/>
                <a:sym typeface="Arial"/>
              </a:rPr>
              <a:t>The sensor groups multiple neighboring points assigned by the cluster count. </a:t>
            </a:r>
          </a:p>
          <a:p>
            <a:pPr marL="285750" indent="-285750">
              <a:lnSpc>
                <a:spcPct val="100000"/>
              </a:lnSpc>
              <a:spcBef>
                <a:spcPts val="0"/>
              </a:spcBef>
              <a:buSzPts val="3000"/>
            </a:pPr>
            <a:r>
              <a:rPr lang="en-US" sz="1800" dirty="0">
                <a:latin typeface="Arial"/>
                <a:ea typeface="Arial"/>
                <a:cs typeface="Arial"/>
                <a:sym typeface="Arial"/>
              </a:rPr>
              <a:t>The minimum value from each group is supplied as distance data to the host</a:t>
            </a: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Starting point </a:t>
            </a:r>
            <a:r>
              <a:rPr lang="en-US" sz="1800" dirty="0">
                <a:latin typeface="Arial"/>
                <a:ea typeface="Arial"/>
                <a:cs typeface="Arial"/>
                <a:sym typeface="Arial"/>
              </a:rPr>
              <a:t>(0-768): Point of the area from where the data reading starts. </a:t>
            </a:r>
          </a:p>
          <a:p>
            <a:pPr marL="285750" indent="-285750">
              <a:lnSpc>
                <a:spcPct val="100000"/>
              </a:lnSpc>
              <a:spcBef>
                <a:spcPts val="0"/>
              </a:spcBef>
              <a:buSzPts val="3000"/>
            </a:pPr>
            <a:r>
              <a:rPr lang="en-US" sz="1800" b="1" dirty="0">
                <a:latin typeface="Arial"/>
                <a:ea typeface="Arial"/>
                <a:cs typeface="Arial"/>
                <a:sym typeface="Arial"/>
              </a:rPr>
              <a:t>End Point </a:t>
            </a:r>
            <a:r>
              <a:rPr lang="en-US" sz="1800" dirty="0">
                <a:latin typeface="Arial"/>
                <a:ea typeface="Arial"/>
                <a:cs typeface="Arial"/>
                <a:sym typeface="Arial"/>
              </a:rPr>
              <a:t>(0-768): Point of the area where the data reading stops. </a:t>
            </a:r>
          </a:p>
          <a:p>
            <a:pPr marL="285750" indent="-285750">
              <a:lnSpc>
                <a:spcPct val="100000"/>
              </a:lnSpc>
              <a:spcBef>
                <a:spcPts val="0"/>
              </a:spcBef>
              <a:buSzPts val="3000"/>
            </a:pPr>
            <a:r>
              <a:rPr lang="en-US" sz="1800" b="1" dirty="0">
                <a:latin typeface="Arial"/>
                <a:ea typeface="Arial"/>
                <a:cs typeface="Arial"/>
                <a:sym typeface="Arial"/>
              </a:rPr>
              <a:t>Cluster Count </a:t>
            </a:r>
            <a:r>
              <a:rPr lang="en-US" sz="1800" dirty="0">
                <a:latin typeface="Arial"/>
                <a:ea typeface="Arial"/>
                <a:cs typeface="Arial"/>
                <a:sym typeface="Arial"/>
              </a:rPr>
              <a:t>(0-99): Number of neighboring points that are grouped as a cluster. </a:t>
            </a:r>
          </a:p>
        </p:txBody>
      </p:sp>
      <p:sp>
        <p:nvSpPr>
          <p:cNvPr id="119" name="Google Shape;119;p29">
            <a:extLst>
              <a:ext uri="{FF2B5EF4-FFF2-40B4-BE49-F238E27FC236}">
                <a16:creationId xmlns:a16="http://schemas.microsoft.com/office/drawing/2014/main" id="{C494104A-44FE-A294-2BEF-7D23A5E650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6D56A62-D426-CCD5-2966-13E974133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66DBD15-0CD0-34E1-9C9F-BADE2C7418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437427-E020-348F-C061-310632598A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DFD9EC-2E3E-E5D2-ADFD-40B92D09A4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CA6609-5B20-12B9-8FE0-72B85E633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7F4609-34AF-0660-2B12-41340B56E8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B85590-B44E-28AC-BD24-5EDE99529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6CEE4EA-86BC-5A3B-C33C-223CA06B5E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3473450"/>
            <a:ext cx="6703027" cy="839787"/>
          </a:xfrm>
          <a:prstGeom prst="rect">
            <a:avLst/>
          </a:prstGeom>
        </p:spPr>
      </p:pic>
    </p:spTree>
    <p:extLst>
      <p:ext uri="{BB962C8B-B14F-4D97-AF65-F5344CB8AC3E}">
        <p14:creationId xmlns:p14="http://schemas.microsoft.com/office/powerpoint/2010/main" val="2783814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AF4E8-227A-4D73-1E89-4548A6C35F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81309F-60DF-8A8F-D3B5-B8470FE985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rial"/>
                <a:ea typeface="Arial"/>
                <a:cs typeface="Arial"/>
                <a:sym typeface="Arial"/>
              </a:rPr>
              <a:t>What is the starting point?</a:t>
            </a:r>
          </a:p>
          <a:p>
            <a:pPr marL="114300" indent="0" algn="ctr">
              <a:buNone/>
            </a:pPr>
            <a:r>
              <a:rPr lang="en-US" sz="1800" dirty="0">
                <a:latin typeface="Arial"/>
                <a:ea typeface="Arial"/>
                <a:cs typeface="Arial"/>
                <a:sym typeface="Arial"/>
              </a:rPr>
              <a:t>‘044’ = 44</a:t>
            </a:r>
            <a:r>
              <a:rPr lang="en-US" sz="1800" baseline="30000" dirty="0">
                <a:latin typeface="Arial"/>
                <a:ea typeface="Arial"/>
                <a:cs typeface="Arial"/>
                <a:sym typeface="Arial"/>
              </a:rPr>
              <a:t>th</a:t>
            </a:r>
            <a:r>
              <a:rPr lang="en-US" sz="1800" dirty="0">
                <a:latin typeface="Arial"/>
                <a:ea typeface="Arial"/>
                <a:cs typeface="Arial"/>
                <a:sym typeface="Arial"/>
              </a:rPr>
              <a:t> step</a:t>
            </a:r>
          </a:p>
          <a:p>
            <a:pPr marL="114300" indent="0">
              <a:buNone/>
            </a:pPr>
            <a:r>
              <a:rPr lang="en-US" sz="1800" dirty="0">
                <a:latin typeface="Arial"/>
                <a:ea typeface="Arial"/>
                <a:cs typeface="Arial"/>
                <a:sym typeface="Arial"/>
              </a:rPr>
              <a:t>What is the ending point?</a:t>
            </a:r>
          </a:p>
          <a:p>
            <a:pPr marL="114300" indent="0" algn="ctr">
              <a:buNone/>
            </a:pPr>
            <a:r>
              <a:rPr lang="en-US" sz="1800" dirty="0">
                <a:latin typeface="Arial"/>
                <a:ea typeface="Arial"/>
                <a:cs typeface="Arial"/>
                <a:sym typeface="Arial"/>
              </a:rPr>
              <a:t>‘725’ = 725</a:t>
            </a:r>
            <a:r>
              <a:rPr lang="en-US" sz="1800" baseline="30000" dirty="0">
                <a:latin typeface="Arial"/>
                <a:ea typeface="Arial"/>
                <a:cs typeface="Arial"/>
                <a:sym typeface="Arial"/>
              </a:rPr>
              <a:t>th</a:t>
            </a:r>
            <a:r>
              <a:rPr lang="en-US" sz="1800" dirty="0">
                <a:latin typeface="Arial"/>
                <a:ea typeface="Arial"/>
                <a:cs typeface="Arial"/>
                <a:sym typeface="Arial"/>
              </a:rPr>
              <a:t> step</a:t>
            </a:r>
          </a:p>
          <a:p>
            <a:pPr marL="114300" indent="0">
              <a:buNone/>
            </a:pPr>
            <a:r>
              <a:rPr lang="en-US" sz="1800" dirty="0">
                <a:latin typeface="Arial"/>
                <a:ea typeface="Arial"/>
                <a:cs typeface="Arial"/>
                <a:sym typeface="Arial"/>
              </a:rPr>
              <a:t>What is the cluster count?</a:t>
            </a:r>
          </a:p>
          <a:p>
            <a:pPr marL="114300" indent="0" algn="ctr">
              <a:buNone/>
            </a:pPr>
            <a:r>
              <a:rPr lang="en-US" sz="1800" dirty="0">
                <a:latin typeface="Arial"/>
                <a:ea typeface="Arial"/>
                <a:cs typeface="Arial"/>
                <a:sym typeface="Arial"/>
              </a:rPr>
              <a:t>‘03’ = group 3</a:t>
            </a:r>
          </a:p>
        </p:txBody>
      </p:sp>
      <p:sp>
        <p:nvSpPr>
          <p:cNvPr id="119" name="Google Shape;119;p29">
            <a:extLst>
              <a:ext uri="{FF2B5EF4-FFF2-40B4-BE49-F238E27FC236}">
                <a16:creationId xmlns:a16="http://schemas.microsoft.com/office/drawing/2014/main" id="{48BE62C4-BA28-8921-D77F-D0CE33BDED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55AF822-836E-18A0-C10E-E1513738A2A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BF887C-0371-A623-770B-8B2927D10C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2D390DD-6DE4-8AF3-0470-7FB2C2D459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DAEFB8-8B30-7D60-B61A-465DB52914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86A0F-6995-B28E-A8FD-37615D7DF4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E4DD92-4604-B901-CBCF-3ABB9D7A12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CD986D-08C8-9F9E-5E2A-C375DB222A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F6ABBC9-8162-C324-89DA-8469C01AFE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1352446"/>
            <a:ext cx="6703027" cy="839787"/>
          </a:xfrm>
          <a:prstGeom prst="rect">
            <a:avLst/>
          </a:prstGeom>
        </p:spPr>
      </p:pic>
      <p:grpSp>
        <p:nvGrpSpPr>
          <p:cNvPr id="9" name="Group 8">
            <a:extLst>
              <a:ext uri="{FF2B5EF4-FFF2-40B4-BE49-F238E27FC236}">
                <a16:creationId xmlns:a16="http://schemas.microsoft.com/office/drawing/2014/main" id="{AB2CA151-5F14-9B9C-7D1B-D86E884E9D6B}"/>
              </a:ext>
            </a:extLst>
          </p:cNvPr>
          <p:cNvGrpSpPr/>
          <p:nvPr/>
        </p:nvGrpSpPr>
        <p:grpSpPr>
          <a:xfrm>
            <a:off x="3187700" y="2330450"/>
            <a:ext cx="2273300" cy="1847850"/>
            <a:chOff x="3187700" y="2330450"/>
            <a:chExt cx="2273300" cy="1847850"/>
          </a:xfrm>
        </p:grpSpPr>
        <p:sp>
          <p:nvSpPr>
            <p:cNvPr id="2" name="Rectangle 1">
              <a:extLst>
                <a:ext uri="{FF2B5EF4-FFF2-40B4-BE49-F238E27FC236}">
                  <a16:creationId xmlns:a16="http://schemas.microsoft.com/office/drawing/2014/main" id="{A1659574-721C-276D-AF17-51F62C3C33B2}"/>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B14A378F-0E5A-758A-52F9-C083E59BBE9C}"/>
                </a:ext>
              </a:extLst>
            </p:cNvPr>
            <p:cNvCxnSpPr>
              <a:cxnSpLocks/>
              <a:endCxn id="2" idx="2"/>
            </p:cNvCxnSpPr>
            <p:nvPr/>
          </p:nvCxnSpPr>
          <p:spPr>
            <a:xfrm flipH="1" flipV="1">
              <a:off x="3407172" y="2561233"/>
              <a:ext cx="2053828" cy="16170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7DB87D5F-2C76-9126-6668-DF5A3E637F0C}"/>
              </a:ext>
            </a:extLst>
          </p:cNvPr>
          <p:cNvGrpSpPr/>
          <p:nvPr/>
        </p:nvGrpSpPr>
        <p:grpSpPr>
          <a:xfrm>
            <a:off x="3558523" y="2321249"/>
            <a:ext cx="1788177" cy="2612701"/>
            <a:chOff x="3187700" y="2330450"/>
            <a:chExt cx="1788177" cy="2612701"/>
          </a:xfrm>
        </p:grpSpPr>
        <p:sp>
          <p:nvSpPr>
            <p:cNvPr id="17" name="Rectangle 16">
              <a:extLst>
                <a:ext uri="{FF2B5EF4-FFF2-40B4-BE49-F238E27FC236}">
                  <a16:creationId xmlns:a16="http://schemas.microsoft.com/office/drawing/2014/main" id="{47618416-15CB-C155-4F06-9C304B192984}"/>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3E55D02A-D199-9EA4-7829-9A0AC048299F}"/>
                </a:ext>
              </a:extLst>
            </p:cNvPr>
            <p:cNvCxnSpPr>
              <a:cxnSpLocks/>
              <a:endCxn id="17" idx="2"/>
            </p:cNvCxnSpPr>
            <p:nvPr/>
          </p:nvCxnSpPr>
          <p:spPr>
            <a:xfrm flipH="1" flipV="1">
              <a:off x="3407172" y="2561233"/>
              <a:ext cx="1568705" cy="238191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77300279-8F2A-698D-D354-E9232AD7BD81}"/>
              </a:ext>
            </a:extLst>
          </p:cNvPr>
          <p:cNvGrpSpPr/>
          <p:nvPr/>
        </p:nvGrpSpPr>
        <p:grpSpPr>
          <a:xfrm>
            <a:off x="3955255" y="2322340"/>
            <a:ext cx="1391445" cy="3348210"/>
            <a:chOff x="3320256" y="2330450"/>
            <a:chExt cx="1391445" cy="3348210"/>
          </a:xfrm>
        </p:grpSpPr>
        <p:sp>
          <p:nvSpPr>
            <p:cNvPr id="21" name="Rectangle 20">
              <a:extLst>
                <a:ext uri="{FF2B5EF4-FFF2-40B4-BE49-F238E27FC236}">
                  <a16:creationId xmlns:a16="http://schemas.microsoft.com/office/drawing/2014/main" id="{68C7A40B-BAD0-CAD3-DCC4-BDAFF2BA036E}"/>
                </a:ext>
              </a:extLst>
            </p:cNvPr>
            <p:cNvSpPr/>
            <p:nvPr/>
          </p:nvSpPr>
          <p:spPr>
            <a:xfrm>
              <a:off x="3320256" y="2330450"/>
              <a:ext cx="306387"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D9280C13-725E-4BF9-9D12-919FEBB1AE59}"/>
                </a:ext>
              </a:extLst>
            </p:cNvPr>
            <p:cNvCxnSpPr>
              <a:cxnSpLocks/>
              <a:endCxn id="21" idx="2"/>
            </p:cNvCxnSpPr>
            <p:nvPr/>
          </p:nvCxnSpPr>
          <p:spPr>
            <a:xfrm flipH="1" flipV="1">
              <a:off x="3473450" y="2561233"/>
              <a:ext cx="1238251" cy="31174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Graphic 24">
            <a:extLst>
              <a:ext uri="{FF2B5EF4-FFF2-40B4-BE49-F238E27FC236}">
                <a16:creationId xmlns:a16="http://schemas.microsoft.com/office/drawing/2014/main" id="{F479F71F-6634-1BB5-519F-67394CB2FD1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272009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F40B2B-20BA-CB0B-2BCB-C995A916D6D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5303B9-7008-D933-D546-6B123CD0103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rial"/>
                    <a:ea typeface="Arial"/>
                    <a:cs typeface="Arial"/>
                    <a:sym typeface="Arial"/>
                  </a:rPr>
                  <a:t>How many datapoints are we expecting then based on the command?</a:t>
                </a:r>
              </a:p>
              <a:p>
                <a:pPr marL="114300" indent="0">
                  <a:buNone/>
                </a:pPr>
                <a:endParaRPr lang="en-US" sz="1800" dirty="0">
                  <a:latin typeface="Arial"/>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b="0" i="1" smtClean="0">
                              <a:latin typeface="Cambria Math" panose="02040503050406030204" pitchFamily="18" charset="0"/>
                              <a:cs typeface="Arial"/>
                              <a:sym typeface="Arial"/>
                            </a:rPr>
                          </m:ctrlPr>
                        </m:fPr>
                        <m:num>
                          <m:r>
                            <m:rPr>
                              <m:sty m:val="p"/>
                            </m:rPr>
                            <a:rPr lang="en-US" sz="1800" i="1">
                              <a:latin typeface="Cambria Math" panose="02040503050406030204" pitchFamily="18" charset="0"/>
                              <a:ea typeface="Arial"/>
                              <a:cs typeface="Arial"/>
                              <a:sym typeface="Arial"/>
                            </a:rPr>
                            <m:t>End</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r>
                            <a:rPr lang="en-US" sz="1800" i="1">
                              <a:latin typeface="Cambria Math" panose="02040503050406030204" pitchFamily="18" charset="0"/>
                              <a:ea typeface="Arial"/>
                              <a:cs typeface="Arial"/>
                              <a:sym typeface="Arial"/>
                            </a:rPr>
                            <m:t> − </m:t>
                          </m:r>
                          <m:r>
                            <m:rPr>
                              <m:sty m:val="p"/>
                            </m:rPr>
                            <a:rPr lang="en-US" sz="1800" i="1">
                              <a:latin typeface="Cambria Math" panose="02040503050406030204" pitchFamily="18" charset="0"/>
                              <a:ea typeface="Arial"/>
                              <a:cs typeface="Arial"/>
                              <a:sym typeface="Arial"/>
                            </a:rPr>
                            <m:t>start</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num>
                        <m:den>
                          <m:r>
                            <m:rPr>
                              <m:sty m:val="p"/>
                            </m:rPr>
                            <a:rPr lang="en-US" sz="1800" b="0" i="1" smtClean="0">
                              <a:latin typeface="Cambria Math" panose="02040503050406030204" pitchFamily="18" charset="0"/>
                              <a:cs typeface="Arial"/>
                              <a:sym typeface="Arial"/>
                            </a:rPr>
                            <m:t>Cluster</m:t>
                          </m:r>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count</m:t>
                          </m:r>
                        </m:den>
                      </m:f>
                      <m:r>
                        <a:rPr lang="en-US" sz="1800" b="0" i="1" smtClean="0">
                          <a:latin typeface="Cambria Math" panose="02040503050406030204" pitchFamily="18" charset="0"/>
                          <a:cs typeface="Arial"/>
                          <a:sym typeface="Arial"/>
                        </a:rPr>
                        <m:t> + 1</m:t>
                      </m:r>
                    </m:oMath>
                  </m:oMathPara>
                </a14:m>
                <a:endParaRPr lang="en-US" sz="1800" dirty="0">
                  <a:latin typeface="Arial"/>
                  <a:ea typeface="Arial"/>
                  <a:cs typeface="Arial"/>
                  <a:sym typeface="Arial"/>
                </a:endParaRPr>
              </a:p>
              <a:p>
                <a:pPr marL="114300" indent="0">
                  <a:buNone/>
                </a:pPr>
                <a:endParaRPr lang="en-US" sz="1800" dirty="0">
                  <a:latin typeface="Arial"/>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cs typeface="Arial"/>
                              <a:sym typeface="Arial"/>
                            </a:rPr>
                            <m:t>725 − 44</m:t>
                          </m:r>
                        </m:num>
                        <m:den>
                          <m:r>
                            <a:rPr lang="en-US" sz="1800" i="1">
                              <a:latin typeface="Cambria Math" panose="02040503050406030204" pitchFamily="18" charset="0"/>
                              <a:cs typeface="Arial"/>
                              <a:sym typeface="Arial"/>
                            </a:rPr>
                            <m:t>3</m:t>
                          </m:r>
                        </m:den>
                      </m:f>
                      <m:r>
                        <a:rPr lang="en-US" sz="1800" i="1">
                          <a:latin typeface="Cambria Math" panose="02040503050406030204" pitchFamily="18" charset="0"/>
                          <a:cs typeface="Arial"/>
                          <a:sym typeface="Arial"/>
                        </a:rPr>
                        <m:t> +1=</m:t>
                      </m:r>
                      <m:r>
                        <a:rPr lang="en-US" sz="1800" b="0" i="1" smtClean="0">
                          <a:latin typeface="Cambria Math" panose="02040503050406030204" pitchFamily="18" charset="0"/>
                          <a:cs typeface="Arial"/>
                          <a:sym typeface="Arial"/>
                        </a:rPr>
                        <m:t>228</m:t>
                      </m:r>
                    </m:oMath>
                  </m:oMathPara>
                </a14:m>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045303B9-7008-D933-D546-6B123CD0103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253781-FFC7-031F-3450-E0378EE718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49D2341-DD34-E32B-C427-9D36DF9850E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DC11889-17EF-91AF-D1FB-0CE7C1007D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E8A107-7AB2-8EB7-ADBE-C8D7CA62E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68CFAC-9CD9-A594-E11C-48F8FAE0A3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28042E-9B1F-9E4F-399A-B32B70A0A5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5822DF-3B78-5A36-5739-DAFDFB7FD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28C47E-630E-6620-0AF0-D0B603B50B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7A5E155-8E76-E0A9-D357-6759E148F1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44486" y="1352446"/>
            <a:ext cx="6703027" cy="839787"/>
          </a:xfrm>
          <a:prstGeom prst="rect">
            <a:avLst/>
          </a:prstGeom>
        </p:spPr>
      </p:pic>
      <p:pic>
        <p:nvPicPr>
          <p:cNvPr id="4" name="Graphic 3">
            <a:extLst>
              <a:ext uri="{FF2B5EF4-FFF2-40B4-BE49-F238E27FC236}">
                <a16:creationId xmlns:a16="http://schemas.microsoft.com/office/drawing/2014/main" id="{A6D11F94-4902-1D2F-2530-E6A7ACD887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4343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31F7EB-B323-6892-3BD6-68DE9DAD2B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2A258A6-8567-E0F6-8337-CFA2EACBF4B0}"/>
              </a:ext>
            </a:extLst>
          </p:cNvPr>
          <p:cNvSpPr txBox="1">
            <a:spLocks noGrp="1"/>
          </p:cNvSpPr>
          <p:nvPr>
            <p:ph type="body" idx="1"/>
          </p:nvPr>
        </p:nvSpPr>
        <p:spPr>
          <a:xfrm>
            <a:off x="376809" y="1334279"/>
            <a:ext cx="11177401" cy="731057"/>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Sensor measures the distance in the range 20 mm to 4095 mm. If the distance is less than 20 mm, we can encode an error into the distance measurement.</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 </a:t>
            </a:r>
          </a:p>
        </p:txBody>
      </p:sp>
      <p:sp>
        <p:nvSpPr>
          <p:cNvPr id="119" name="Google Shape;119;p29">
            <a:extLst>
              <a:ext uri="{FF2B5EF4-FFF2-40B4-BE49-F238E27FC236}">
                <a16:creationId xmlns:a16="http://schemas.microsoft.com/office/drawing/2014/main" id="{84B31BC7-2894-264B-64E9-775B255F79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614DBBB-B3F8-F1D8-EC96-71DB33014C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2F999B-EFB6-9669-C5FF-568A0CB5F4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2D7D31-7036-C205-8689-316AC75639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8DCBF6-3727-74E8-CD45-FC223AAE92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C355FF-48E5-3CA9-4BBF-741053DD92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7DDB-707A-EB18-82E9-45F91E0271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E3F571-BBCA-99A9-476F-E272316C59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4CBEC6BF-EC18-1A02-C5F8-07B8B2AD0B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44274" y="2097714"/>
            <a:ext cx="5237917" cy="4311101"/>
          </a:xfrm>
          <a:prstGeom prst="rect">
            <a:avLst/>
          </a:prstGeom>
        </p:spPr>
      </p:pic>
    </p:spTree>
    <p:extLst>
      <p:ext uri="{BB962C8B-B14F-4D97-AF65-F5344CB8AC3E}">
        <p14:creationId xmlns:p14="http://schemas.microsoft.com/office/powerpoint/2010/main" val="2157633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56F99B-FCAC-9F96-6A5F-8D9F31E6F4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26FD08-7C07-0A93-323B-86C6BDD2B68D}"/>
              </a:ext>
            </a:extLst>
          </p:cNvPr>
          <p:cNvSpPr txBox="1">
            <a:spLocks noGrp="1"/>
          </p:cNvSpPr>
          <p:nvPr>
            <p:ph type="body" idx="1"/>
          </p:nvPr>
        </p:nvSpPr>
        <p:spPr>
          <a:xfrm>
            <a:off x="376809" y="1334279"/>
            <a:ext cx="643168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We implement the reading of the data as a state machine,</a:t>
            </a:r>
          </a:p>
          <a:p>
            <a:pPr mar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AEDAD0B-CFB5-AEDB-18D5-C02FB6EF1E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674C38-AC3E-1C3D-5585-0985B70705E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F9BEAD-E30A-A3F0-CEBF-7375165ACD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05DB1C-4DC4-8AE0-2185-DDC66159AD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72BBFB-F094-27B1-75A4-4FB5406CA5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1EE3C-593C-F0E9-C754-30DFF27308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28B07F-4B4D-E449-F1CB-10A28D233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517AFD-59DB-34C6-C881-CFE41FB749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ADD02CC6-039D-F520-F02E-F9DF710273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6807" y="2975969"/>
            <a:ext cx="6228395" cy="1666369"/>
          </a:xfrm>
          <a:prstGeom prst="rect">
            <a:avLst/>
          </a:prstGeom>
        </p:spPr>
      </p:pic>
      <p:pic>
        <p:nvPicPr>
          <p:cNvPr id="10" name="Graphic 9">
            <a:extLst>
              <a:ext uri="{FF2B5EF4-FFF2-40B4-BE49-F238E27FC236}">
                <a16:creationId xmlns:a16="http://schemas.microsoft.com/office/drawing/2014/main" id="{C04602B4-FB65-879D-0271-533181C290B2}"/>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7113660" y="1407029"/>
            <a:ext cx="5001607" cy="4675602"/>
          </a:xfrm>
          <a:prstGeom prst="rect">
            <a:avLst/>
          </a:prstGeom>
        </p:spPr>
      </p:pic>
    </p:spTree>
    <p:extLst>
      <p:ext uri="{BB962C8B-B14F-4D97-AF65-F5344CB8AC3E}">
        <p14:creationId xmlns:p14="http://schemas.microsoft.com/office/powerpoint/2010/main" val="12959368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FFCF05-659B-E96B-7478-38BB5693AB4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1F47EE-822A-CED1-878C-9521E24834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//wait for the starting char 'G'</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buf_index</a:t>
            </a:r>
            <a:r>
              <a:rPr lang="en-US" sz="1800" dirty="0">
                <a:solidFill>
                  <a:srgbClr val="000000"/>
                </a:solidFill>
                <a:latin typeface="Consolas" panose="020B0609020204030204" pitchFamily="49" charset="0"/>
              </a:rPr>
              <a:t> = 0;</a:t>
            </a:r>
          </a:p>
          <a:p>
            <a:pPr marL="114300" indent="0" algn="l">
              <a:buNone/>
            </a:pPr>
            <a:r>
              <a:rPr lang="en-US" sz="1800" dirty="0">
                <a:solidFill>
                  <a:srgbClr val="000000"/>
                </a:solidFill>
                <a:latin typeface="Consolas" panose="020B0609020204030204" pitchFamily="49" charset="0"/>
              </a:rPr>
              <a:t>    </a:t>
            </a: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RXCdata</a:t>
            </a:r>
            <a:r>
              <a:rPr lang="en-US" sz="1800" dirty="0">
                <a:solidFill>
                  <a:srgbClr val="000000"/>
                </a:solidFill>
                <a:latin typeface="Consolas" panose="020B0609020204030204" pitchFamily="49" charset="0"/>
              </a:rPr>
              <a:t> ==</a:t>
            </a:r>
            <a:r>
              <a:rPr lang="en-US" sz="1800" dirty="0">
                <a:solidFill>
                  <a:srgbClr val="2A00FF"/>
                </a:solidFill>
                <a:latin typeface="Consolas" panose="020B0609020204030204" pitchFamily="49" charset="0"/>
              </a:rPr>
              <a:t>'G'</a:t>
            </a: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G_count</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41C3982-F797-0EC2-ECB5-5ADC9C86F1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CE5B31-96F1-AD0F-2776-878BB55CF64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4809C2F-7421-2771-E573-F60D6B55E6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906471-ED52-E8DF-7D2E-2A9AEF4BC6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5B5A08-A4AC-1844-B572-0AADE2F071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2EA00E-1447-0787-2170-DA56763A6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5F16-EB84-939F-5552-804A830BF2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EBD5E4-45FC-CCE0-C7A5-23A960C8A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6ECD23FF-F85B-E3AE-06E9-78DBEF2C530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5F8A4141-D281-1697-A51F-8D7D5957EB47}"/>
              </a:ext>
            </a:extLst>
          </p:cNvPr>
          <p:cNvCxnSpPr>
            <a:cxnSpLocks/>
          </p:cNvCxnSpPr>
          <p:nvPr/>
        </p:nvCxnSpPr>
        <p:spPr>
          <a:xfrm>
            <a:off x="4335407" y="2589734"/>
            <a:ext cx="277825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49387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7DF4E1-4822-0CD3-E2F3-54B6DC559A8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B3C2BBA-C35E-4AA0-CA83-217D4885D9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300" dirty="0">
                <a:solidFill>
                  <a:srgbClr val="7F0055"/>
                </a:solidFill>
                <a:latin typeface="Consolas" panose="020B0609020204030204" pitchFamily="49" charset="0"/>
              </a:rPr>
              <a:t>else</a:t>
            </a: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//get the headers</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a:t>
            </a:r>
            <a:r>
              <a:rPr lang="en-US" sz="1300" dirty="0">
                <a:solidFill>
                  <a:srgbClr val="3F7F5F"/>
                </a:solidFill>
                <a:latin typeface="Consolas" panose="020B0609020204030204" pitchFamily="49" charset="0"/>
              </a:rPr>
              <a:t>//count the number of headers</a:t>
            </a:r>
          </a:p>
          <a:p>
            <a:pPr marL="114300" indent="0" algn="l">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//check the status code and if it is not '0', wait for the next packet</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11)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RXCdata</a:t>
            </a:r>
            <a:r>
              <a:rPr lang="en-US" sz="1300" dirty="0">
                <a:solidFill>
                  <a:srgbClr val="000000"/>
                </a:solidFill>
                <a:latin typeface="Consolas" panose="020B0609020204030204" pitchFamily="49" charset="0"/>
              </a:rPr>
              <a:t> != </a:t>
            </a:r>
            <a:r>
              <a:rPr lang="en-US" sz="1300" dirty="0">
                <a:solidFill>
                  <a:srgbClr val="2A00FF"/>
                </a:solidFill>
                <a:latin typeface="Consolas" panose="020B0609020204030204" pitchFamily="49" charset="0"/>
              </a:rPr>
              <a:t>'0'</a:t>
            </a: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&gt;= 12) {</a:t>
            </a:r>
            <a:r>
              <a:rPr lang="en-US" sz="1300" dirty="0">
                <a:solidFill>
                  <a:srgbClr val="3F7F5F"/>
                </a:solidFill>
                <a:latin typeface="Consolas" panose="020B0609020204030204" pitchFamily="49" charset="0"/>
              </a:rPr>
              <a:t>//there are total 12 things before the data</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2;</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get_dis_first</a:t>
            </a:r>
            <a:r>
              <a:rPr lang="en-US" sz="1300" dirty="0">
                <a:solidFill>
                  <a:srgbClr val="000000"/>
                </a:solidFill>
                <a:latin typeface="Consolas" panose="020B0609020204030204" pitchFamily="49" charset="0"/>
              </a:rPr>
              <a:t> = 1;</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dis_index</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a:t>
            </a:r>
            <a:endParaRPr lang="en-US" sz="1300" dirty="0">
              <a:latin typeface="Arial"/>
              <a:ea typeface="Arial"/>
              <a:cs typeface="Arial"/>
              <a:sym typeface="Arial"/>
            </a:endParaRPr>
          </a:p>
        </p:txBody>
      </p:sp>
      <p:sp>
        <p:nvSpPr>
          <p:cNvPr id="119" name="Google Shape;119;p29">
            <a:extLst>
              <a:ext uri="{FF2B5EF4-FFF2-40B4-BE49-F238E27FC236}">
                <a16:creationId xmlns:a16="http://schemas.microsoft.com/office/drawing/2014/main" id="{D3CA6CC7-A93F-57A2-0BD7-C95CAB32E2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DB752E-3BF6-AD96-5DDE-94C7C969116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54698F-B0D5-6C72-6E13-1D822A470E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4922E1-37D2-FF1D-0D37-A584CA655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E90496-5DC3-941E-C165-231B8734F2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062FFF-305C-833C-7496-02777B6F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A80184-241C-F4A2-77D5-426E5235EF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BD89C0-5095-F911-B92E-71C173B1E6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B5EBC154-0030-723B-6E07-EF9517686B53}"/>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74090195-FF60-5C72-9A04-3257536C4577}"/>
              </a:ext>
            </a:extLst>
          </p:cNvPr>
          <p:cNvCxnSpPr>
            <a:cxnSpLocks/>
          </p:cNvCxnSpPr>
          <p:nvPr/>
        </p:nvCxnSpPr>
        <p:spPr>
          <a:xfrm flipV="1">
            <a:off x="3203597" y="2129337"/>
            <a:ext cx="5026003" cy="62025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4812BBD-B107-B8D1-3154-D66D250DB949}"/>
              </a:ext>
            </a:extLst>
          </p:cNvPr>
          <p:cNvCxnSpPr>
            <a:cxnSpLocks/>
          </p:cNvCxnSpPr>
          <p:nvPr/>
        </p:nvCxnSpPr>
        <p:spPr>
          <a:xfrm flipV="1">
            <a:off x="3376246" y="3337880"/>
            <a:ext cx="6081080" cy="13300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FAA7A6-BB52-5875-5C77-75017E0EFE90}"/>
              </a:ext>
            </a:extLst>
          </p:cNvPr>
          <p:cNvCxnSpPr>
            <a:cxnSpLocks/>
          </p:cNvCxnSpPr>
          <p:nvPr/>
        </p:nvCxnSpPr>
        <p:spPr>
          <a:xfrm flipV="1">
            <a:off x="4853354" y="1509080"/>
            <a:ext cx="4376286" cy="3644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1077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AD764-46A6-DF34-D0D1-45961C2EE8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532E9E-E33C-3B0A-956E-030742D1E949}"/>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2) {</a:t>
            </a:r>
            <a:r>
              <a:rPr lang="en-US" sz="900" dirty="0">
                <a:solidFill>
                  <a:srgbClr val="3F7F5F"/>
                </a:solidFill>
                <a:latin typeface="Consolas" panose="020B0609020204030204" pitchFamily="49" charset="0"/>
              </a:rPr>
              <a:t>//get actual data</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0x0a) { </a:t>
            </a:r>
            <a:r>
              <a:rPr lang="en-US" sz="900" dirty="0">
                <a:solidFill>
                  <a:srgbClr val="3F7F5F"/>
                </a:solidFill>
                <a:latin typeface="Consolas" panose="020B0609020204030204" pitchFamily="49" charset="0"/>
              </a:rPr>
              <a:t>//check for line feed</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1;</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1)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tempscid</a:t>
            </a:r>
            <a:r>
              <a:rPr lang="en-US" sz="900" dirty="0">
                <a:solidFill>
                  <a:srgbClr val="000000"/>
                </a:solidFill>
                <a:latin typeface="Consolas" panose="020B0609020204030204" pitchFamily="49" charset="0"/>
              </a:rPr>
              <a:t> =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- 0x30) &lt;&lt; 6;</a:t>
            </a:r>
            <a:r>
              <a:rPr lang="en-US" sz="900" dirty="0">
                <a:solidFill>
                  <a:srgbClr val="3F7F5F"/>
                </a:solidFill>
                <a:latin typeface="Consolas" panose="020B0609020204030204" pitchFamily="49" charset="0"/>
              </a:rPr>
              <a:t>//first data is the top 6 bit of the distance reading</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 {</a:t>
            </a:r>
          </a:p>
          <a:p>
            <a:pPr marL="114300" indent="0" algn="l">
              <a:buNone/>
            </a:pPr>
            <a:r>
              <a:rPr lang="en-US" sz="900" dirty="0">
                <a:solidFill>
                  <a:srgbClr val="000000"/>
                </a:solidFill>
                <a:latin typeface="Consolas" panose="020B0609020204030204" pitchFamily="49" charset="0"/>
              </a:rPr>
              <a:t>            </a:t>
            </a:r>
            <a:r>
              <a:rPr lang="en-US" sz="900" b="1" dirty="0">
                <a:solidFill>
                  <a:srgbClr val="3F7F5F"/>
                </a:solidFill>
                <a:latin typeface="Consolas" panose="020B0609020204030204" pitchFamily="49" charset="0"/>
              </a:rPr>
              <a:t>// Continued to next slide</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2) { </a:t>
            </a:r>
            <a:r>
              <a:rPr lang="en-US" sz="900" dirty="0">
                <a:solidFill>
                  <a:srgbClr val="3F7F5F"/>
                </a:solidFill>
                <a:latin typeface="Consolas" panose="020B0609020204030204" pitchFamily="49" charset="0"/>
              </a:rPr>
              <a:t>//two consecutive line feed means the end of the current data stream</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0;</a:t>
            </a:r>
          </a:p>
          <a:p>
            <a:pPr marL="114300" indent="0" algn="l">
              <a:buNone/>
            </a:pP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print_dis_index</a:t>
            </a:r>
            <a:r>
              <a:rPr lang="fr-FR" sz="900" dirty="0">
                <a:solidFill>
                  <a:srgbClr val="000000"/>
                </a:solidFill>
                <a:latin typeface="Consolas" panose="020B0609020204030204" pitchFamily="49" charset="0"/>
              </a:rPr>
              <a:t> = </a:t>
            </a:r>
            <a:r>
              <a:rPr lang="fr-FR" sz="900" dirty="0" err="1">
                <a:solidFill>
                  <a:srgbClr val="000000"/>
                </a:solidFill>
                <a:latin typeface="Consolas" panose="020B0609020204030204" pitchFamily="49" charset="0"/>
              </a:rPr>
              <a:t>dis_index</a:t>
            </a:r>
            <a:r>
              <a:rPr lang="fr-FR" sz="900" dirty="0">
                <a:solidFill>
                  <a:srgbClr val="000000"/>
                </a:solidFill>
                <a:latin typeface="Consolas" panose="020B0609020204030204" pitchFamily="49" charset="0"/>
              </a:rPr>
              <a:t>;</a:t>
            </a:r>
          </a:p>
          <a:p>
            <a:pPr marL="114300" indent="0" algn="l">
              <a:buNone/>
            </a:pPr>
            <a:r>
              <a:rPr lang="en-US" sz="900" dirty="0">
                <a:solidFill>
                  <a:srgbClr val="000000"/>
                </a:solidFill>
                <a:latin typeface="Consolas" panose="020B0609020204030204" pitchFamily="49" charset="0"/>
              </a:rPr>
              <a:t>        PieCtrlRegs.</a:t>
            </a:r>
            <a:r>
              <a:rPr lang="en-US" sz="900" dirty="0">
                <a:solidFill>
                  <a:srgbClr val="0000C0"/>
                </a:solidFill>
                <a:latin typeface="Consolas" panose="020B0609020204030204" pitchFamily="49" charset="0"/>
              </a:rPr>
              <a:t>PIEIFR12</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bit</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INTx10</a:t>
            </a:r>
            <a:r>
              <a:rPr lang="en-US" sz="900" dirty="0">
                <a:solidFill>
                  <a:srgbClr val="000000"/>
                </a:solidFill>
                <a:latin typeface="Consolas" panose="020B0609020204030204" pitchFamily="49" charset="0"/>
              </a:rPr>
              <a:t> = 1; </a:t>
            </a:r>
            <a:r>
              <a:rPr lang="en-US" sz="900" dirty="0">
                <a:solidFill>
                  <a:srgbClr val="3F7F5F"/>
                </a:solidFill>
                <a:latin typeface="Consolas" panose="020B0609020204030204" pitchFamily="49" charset="0"/>
              </a:rPr>
              <a:t>// Manually cause the interrupt for the SWI2</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LADARpingpong</a:t>
            </a:r>
            <a:r>
              <a:rPr lang="en-US" sz="900" dirty="0">
                <a:solidFill>
                  <a:srgbClr val="000000"/>
                </a:solidFill>
                <a:latin typeface="Consolas" panose="020B0609020204030204" pitchFamily="49" charset="0"/>
              </a:rPr>
              <a:t> = 1-LADARpingpong;</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39BC8C54-5418-C945-F362-D7FADA06A1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7B00C5-33B1-7655-A1A7-0F2BB107221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982727-61DC-0628-69C7-4867E2A52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D71A19-5222-9F12-0EA5-451BAA6B6F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3F28AD-0134-44B4-B0ED-763CA95A93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DEB74C-A86D-3171-EB66-0F92576221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949207-32A5-3BD4-9FBF-11B54B90A6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D156F1-CB89-4234-EF7E-B9954C27B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1D699870-7E14-EDEE-84C3-89063CD246F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9BF815D3-E8EA-BB22-553E-0DE05764CB78}"/>
              </a:ext>
            </a:extLst>
          </p:cNvPr>
          <p:cNvCxnSpPr>
            <a:cxnSpLocks/>
          </p:cNvCxnSpPr>
          <p:nvPr/>
        </p:nvCxnSpPr>
        <p:spPr>
          <a:xfrm>
            <a:off x="3785488" y="1982266"/>
            <a:ext cx="4476084" cy="11126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B940842F-E476-833D-7352-646406CF54EB}"/>
              </a:ext>
            </a:extLst>
          </p:cNvPr>
          <p:cNvCxnSpPr>
            <a:cxnSpLocks/>
          </p:cNvCxnSpPr>
          <p:nvPr/>
        </p:nvCxnSpPr>
        <p:spPr>
          <a:xfrm>
            <a:off x="3018159" y="3299513"/>
            <a:ext cx="5908431" cy="8568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62F9886-F140-65A8-9E72-EF53AB020D92}"/>
              </a:ext>
            </a:extLst>
          </p:cNvPr>
          <p:cNvCxnSpPr>
            <a:cxnSpLocks/>
          </p:cNvCxnSpPr>
          <p:nvPr/>
        </p:nvCxnSpPr>
        <p:spPr>
          <a:xfrm>
            <a:off x="3203597" y="3964531"/>
            <a:ext cx="6925141" cy="4923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BED9F4B-B336-7215-A96A-E03BFC81EC54}"/>
              </a:ext>
            </a:extLst>
          </p:cNvPr>
          <p:cNvCxnSpPr>
            <a:cxnSpLocks/>
          </p:cNvCxnSpPr>
          <p:nvPr/>
        </p:nvCxnSpPr>
        <p:spPr>
          <a:xfrm>
            <a:off x="3280330" y="5256200"/>
            <a:ext cx="6560660"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714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A2C0EC-F738-DC93-3CAE-3A879E8313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D72E96D-022E-3101-F542-218FB38CDD3E}"/>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lnSpc>
                <a:spcPct val="100000"/>
              </a:lnSpc>
              <a:spcBef>
                <a:spcPts val="0"/>
              </a:spcBef>
              <a:buNone/>
            </a:pP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a:t>
            </a:r>
            <a:r>
              <a:rPr lang="en-US" sz="1000" dirty="0" err="1">
                <a:solidFill>
                  <a:srgbClr val="000000"/>
                </a:solidFill>
                <a:latin typeface="Consolas" panose="020B0609020204030204" pitchFamily="49" charset="0"/>
              </a:rPr>
              <a:t>tempscid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RXCdata</a:t>
            </a:r>
            <a:r>
              <a:rPr lang="en-US" sz="1000" dirty="0">
                <a:solidFill>
                  <a:srgbClr val="000000"/>
                </a:solidFill>
                <a:latin typeface="Consolas" panose="020B0609020204030204" pitchFamily="49" charset="0"/>
              </a:rPr>
              <a:t> - 0x30);</a:t>
            </a:r>
            <a:r>
              <a:rPr lang="en-US" sz="1000" dirty="0">
                <a:solidFill>
                  <a:srgbClr val="3F7F5F"/>
                </a:solidFill>
                <a:latin typeface="Consolas" panose="020B0609020204030204" pitchFamily="49" charset="0"/>
              </a:rPr>
              <a:t>//second data is the bottom 6 bit of the distance reading</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0 || distance == 6) {</a:t>
            </a:r>
            <a:r>
              <a:rPr lang="en-US" sz="1000" dirty="0">
                <a:solidFill>
                  <a:srgbClr val="3F7F5F"/>
                </a:solidFill>
                <a:latin typeface="Consolas" panose="020B0609020204030204" pitchFamily="49" charset="0"/>
              </a:rPr>
              <a:t>//error code</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LADAR_MAX_READING; </a:t>
            </a:r>
            <a:r>
              <a:rPr lang="en-US" sz="1000" dirty="0">
                <a:solidFill>
                  <a:srgbClr val="3F7F5F"/>
                </a:solidFill>
                <a:latin typeface="Consolas" panose="020B0609020204030204" pitchFamily="49" charset="0"/>
              </a:rPr>
              <a:t>//set to the max reading</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16) { </a:t>
            </a:r>
            <a:r>
              <a:rPr lang="en-US" sz="1000" dirty="0">
                <a:solidFill>
                  <a:srgbClr val="3F7F5F"/>
                </a:solidFill>
                <a:latin typeface="Consolas" panose="020B0609020204030204" pitchFamily="49" charset="0"/>
              </a:rPr>
              <a:t>//distance is 4096mm</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4096;</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distance_ping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1)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distance_pong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0B3CE8DB-5DCD-1834-0EC2-AC494087DE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F1989E-7E72-E12E-CBF4-4387012E64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40787D7-E78B-BDF5-4224-B9DC28341F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35F7AB-A202-7550-0B2B-DAE2332633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A29C4F-09B6-4A6A-3916-EEF9EF7DD3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46B3E7-E003-048A-0D42-3C8EEF4D1C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3166C7D-1A6F-9173-FD5F-86B059BD3B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A45A7B-4603-B5EA-5B1B-CBE095C555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4C8F5941-36FB-E6BC-27C0-9366122C7FD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324227F1-34B0-FA28-BF0E-E64A8CD1C1D4}"/>
              </a:ext>
            </a:extLst>
          </p:cNvPr>
          <p:cNvCxnSpPr>
            <a:cxnSpLocks/>
          </p:cNvCxnSpPr>
          <p:nvPr/>
        </p:nvCxnSpPr>
        <p:spPr>
          <a:xfrm>
            <a:off x="5078341" y="2052604"/>
            <a:ext cx="5952009" cy="21932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28300E78-DEEA-DA76-6469-445A46667755}"/>
              </a:ext>
            </a:extLst>
          </p:cNvPr>
          <p:cNvCxnSpPr>
            <a:cxnSpLocks/>
          </p:cNvCxnSpPr>
          <p:nvPr/>
        </p:nvCxnSpPr>
        <p:spPr>
          <a:xfrm>
            <a:off x="6096000" y="3273936"/>
            <a:ext cx="4934350" cy="11254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E89ACE3-4228-99D1-3DDD-0763BCC07D3A}"/>
              </a:ext>
            </a:extLst>
          </p:cNvPr>
          <p:cNvCxnSpPr>
            <a:cxnSpLocks/>
          </p:cNvCxnSpPr>
          <p:nvPr/>
        </p:nvCxnSpPr>
        <p:spPr>
          <a:xfrm flipV="1">
            <a:off x="6912352" y="4399351"/>
            <a:ext cx="4117998"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09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18">
                                            <p:txEl>
                                              <p:pRg st="15" end="15"/>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xEl>
                                              <p:pRg st="16" end="16"/>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xEl>
                                              <p:pRg st="17" end="17"/>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8">
                                            <p:txEl>
                                              <p:pRg st="18" end="1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8">
                                            <p:txEl>
                                              <p:pRg st="19" end="19"/>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18">
                                            <p:txEl>
                                              <p:pRg st="20" end="20"/>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18">
                                            <p:txEl>
                                              <p:pRg st="21" end="21"/>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8">
                                            <p:txEl>
                                              <p:pRg st="22" end="22"/>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8">
                                            <p:txEl>
                                              <p:pRg st="23" end="23"/>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8">
                                            <p:txEl>
                                              <p:pRg st="24" end="24"/>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18">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9CC9664-B147-D3FC-9140-283B7592E8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BBBC79-743B-441A-93AC-C9413A33A6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sensor has a scanning speed of 100 msec / scan ( so 10 Hz ) and we want to communicate with at a baud rate of 115200.</a:t>
            </a:r>
          </a:p>
          <a:p>
            <a:pPr marL="285750" indent="-285750">
              <a:lnSpc>
                <a:spcPct val="100000"/>
              </a:lnSpc>
              <a:spcBef>
                <a:spcPts val="0"/>
              </a:spcBef>
              <a:buSzPts val="3000"/>
            </a:pPr>
            <a:r>
              <a:rPr lang="en-US" sz="1800" dirty="0">
                <a:latin typeface="Arial"/>
                <a:ea typeface="Arial"/>
                <a:cs typeface="Arial"/>
                <a:sym typeface="Arial"/>
              </a:rPr>
              <a:t>As such in the main function we do the initialization:</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200" dirty="0" err="1">
                <a:solidFill>
                  <a:srgbClr val="642880"/>
                </a:solidFill>
                <a:latin typeface="Consolas" panose="020B0609020204030204" pitchFamily="49" charset="0"/>
              </a:rPr>
              <a:t>ConfigCpuTimer</a:t>
            </a:r>
            <a:r>
              <a:rPr lang="en-US" sz="1200" dirty="0">
                <a:solidFill>
                  <a:srgbClr val="000000"/>
                </a:solidFill>
                <a:latin typeface="Consolas" panose="020B0609020204030204" pitchFamily="49" charset="0"/>
              </a:rPr>
              <a:t>(&amp;CpuTimer1, LAUNCHPAD_CPU_FREQUENCY, 100000); </a:t>
            </a:r>
            <a:r>
              <a:rPr lang="en-US" sz="1200" dirty="0">
                <a:solidFill>
                  <a:srgbClr val="3F7F5F"/>
                </a:solidFill>
                <a:latin typeface="Consolas" panose="020B0609020204030204" pitchFamily="49" charset="0"/>
              </a:rPr>
              <a:t>// 10 Hz timer</a:t>
            </a:r>
            <a:endParaRPr lang="en-US" sz="1200" dirty="0">
              <a:solidFill>
                <a:srgbClr val="000000"/>
              </a:solidFill>
              <a:latin typeface="Consolas" panose="020B0609020204030204" pitchFamily="49" charset="0"/>
              <a:cs typeface="Arial"/>
              <a:sym typeface="Arial"/>
            </a:endParaRPr>
          </a:p>
          <a:p>
            <a:pPr marL="0" indent="0">
              <a:lnSpc>
                <a:spcPct val="100000"/>
              </a:lnSpc>
              <a:spcBef>
                <a:spcPts val="0"/>
              </a:spcBef>
              <a:buSzPts val="300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(&amp;SerialC,19200); </a:t>
            </a:r>
            <a:r>
              <a:rPr lang="en-US" sz="1200" dirty="0">
                <a:solidFill>
                  <a:srgbClr val="3F7F5F"/>
                </a:solidFill>
                <a:latin typeface="Consolas" panose="020B0609020204030204" pitchFamily="49" charset="0"/>
              </a:rPr>
              <a:t>//remember that the initial baud rate is 19200!</a:t>
            </a:r>
            <a:endParaRPr lang="en-US" sz="1200" dirty="0">
              <a:solidFill>
                <a:srgbClr val="3F7F5F"/>
              </a:solidFill>
              <a:latin typeface="Arial"/>
              <a:cs typeface="Arial"/>
              <a:sym typeface="Arial"/>
            </a:endParaRPr>
          </a:p>
          <a:p>
            <a:pPr marL="0" indent="0">
              <a:lnSpc>
                <a:spcPct val="100000"/>
              </a:lnSpc>
              <a:spcBef>
                <a:spcPts val="0"/>
              </a:spcBef>
              <a:buSzPts val="3000"/>
              <a:buNone/>
            </a:pPr>
            <a:endParaRPr lang="en-US" sz="1200" dirty="0">
              <a:latin typeface="Arial"/>
              <a:cs typeface="Arial"/>
              <a:sym typeface="Arial"/>
            </a:endParaRPr>
          </a:p>
          <a:p>
            <a:pPr marL="114300" indent="0" algn="l">
              <a:buNone/>
            </a:pPr>
            <a:r>
              <a:rPr lang="en-US" sz="1200" dirty="0">
                <a:solidFill>
                  <a:srgbClr val="7F0055"/>
                </a:solidFill>
                <a:latin typeface="Consolas" panose="020B0609020204030204" pitchFamily="49" charset="0"/>
              </a:rPr>
              <a:t>char</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[19] = </a:t>
            </a:r>
            <a:r>
              <a:rPr lang="en-US" sz="1200" dirty="0">
                <a:solidFill>
                  <a:srgbClr val="2A00FF"/>
                </a:solidFill>
                <a:latin typeface="Consolas" panose="020B0609020204030204" pitchFamily="49" charset="0"/>
              </a:rPr>
              <a:t>"S1152000124000\n"</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this changes the baud rate to 115200</a:t>
            </a:r>
          </a:p>
          <a:p>
            <a:pPr marL="114300" indent="0" algn="l">
              <a:buNone/>
            </a:pPr>
            <a:r>
              <a:rPr lang="en-US" sz="1200" dirty="0">
                <a:solidFill>
                  <a:srgbClr val="005032"/>
                </a:solidFill>
                <a:latin typeface="Consolas" panose="020B0609020204030204" pitchFamily="49" charset="0"/>
              </a:rPr>
              <a:t>uint16_t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 = 19;</a:t>
            </a:r>
          </a:p>
          <a:p>
            <a:pPr marL="114300" indent="0" algn="l">
              <a:buNone/>
            </a:pPr>
            <a:r>
              <a:rPr lang="en-US" sz="1200" dirty="0" err="1">
                <a:solidFill>
                  <a:srgbClr val="000000"/>
                </a:solidFill>
                <a:latin typeface="Consolas" panose="020B0609020204030204" pitchFamily="49" charset="0"/>
              </a:rPr>
              <a:t>serial_sendSCIC</a:t>
            </a:r>
            <a:r>
              <a:rPr lang="en-US" sz="1200" dirty="0">
                <a:solidFill>
                  <a:srgbClr val="000000"/>
                </a:solidFill>
                <a:latin typeface="Consolas" panose="020B0609020204030204" pitchFamily="49" charset="0"/>
              </a:rPr>
              <a:t>(&amp;</a:t>
            </a:r>
            <a:r>
              <a:rPr lang="en-US" sz="1200" dirty="0" err="1">
                <a:solidFill>
                  <a:srgbClr val="000000"/>
                </a:solidFill>
                <a:latin typeface="Consolas" panose="020B0609020204030204" pitchFamily="49" charset="0"/>
              </a:rPr>
              <a:t>SerialC</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a:t>
            </a:r>
          </a:p>
          <a:p>
            <a:pPr algn="l"/>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DELAY_US(1000000); </a:t>
            </a:r>
            <a:r>
              <a:rPr lang="en-US" sz="1200" dirty="0">
                <a:solidFill>
                  <a:srgbClr val="3F7F5F"/>
                </a:solidFill>
                <a:latin typeface="Consolas" panose="020B0609020204030204" pitchFamily="49" charset="0"/>
              </a:rPr>
              <a:t>// Delay letting LADAR change its Baud rate</a:t>
            </a:r>
          </a:p>
          <a:p>
            <a:pPr marL="114300" indent="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(&amp;SerialC,115200); </a:t>
            </a:r>
            <a:r>
              <a:rPr lang="en-US" sz="1200" dirty="0">
                <a:solidFill>
                  <a:srgbClr val="3F7F5F"/>
                </a:solidFill>
                <a:latin typeface="Consolas" panose="020B0609020204030204" pitchFamily="49" charset="0"/>
              </a:rPr>
              <a:t>// Use the new baud rate for communication</a:t>
            </a:r>
          </a:p>
          <a:p>
            <a:pPr marL="114300" indent="0">
              <a:buNone/>
            </a:pPr>
            <a:endParaRPr lang="en-US" sz="1200" dirty="0">
              <a:solidFill>
                <a:srgbClr val="3F7F5F"/>
              </a:solidFill>
              <a:latin typeface="Consolas" panose="020B0609020204030204" pitchFamily="49" charset="0"/>
            </a:endParaRPr>
          </a:p>
          <a:p>
            <a:pPr marL="114300" indent="0">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 </a:t>
            </a:r>
            <a:r>
              <a:rPr lang="en-US" sz="1200" dirty="0">
                <a:solidFill>
                  <a:srgbClr val="3F7F5F"/>
                </a:solidFill>
                <a:latin typeface="Consolas" panose="020B0609020204030204" pitchFamily="49" charset="0"/>
              </a:rPr>
              <a:t>// the angle each point will be at will be constant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((3*LADARi+44)*0.3515625-135)*0.01745329; </a:t>
            </a:r>
            <a:r>
              <a:rPr lang="en-US" sz="1200" dirty="0">
                <a:solidFill>
                  <a:srgbClr val="3F7F5F"/>
                </a:solidFill>
                <a:latin typeface="Consolas" panose="020B0609020204030204" pitchFamily="49" charset="0"/>
              </a:rPr>
              <a:t>//0.017453292519943 is pi/180, multiplication is faster; 0.3515625 is 360/1024</a:t>
            </a:r>
          </a:p>
          <a:p>
            <a:pPr marL="114300" indent="0">
              <a:buNone/>
            </a:pPr>
            <a:r>
              <a:rPr lang="en-US" sz="1200" dirty="0">
                <a:solidFill>
                  <a:srgbClr val="000000"/>
                </a:solidFill>
                <a:latin typeface="Consolas" panose="020B0609020204030204" pitchFamily="49" charset="0"/>
              </a:rPr>
              <a:t>}</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D0F1D3C1-7F17-281C-8527-2F6B18B759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A0FEC54-21FA-B537-1E61-2ED8FBA72AE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AD7CCA-6613-F0A7-7608-59190CEF2E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1EAE43-31D4-6B65-FADB-3FB6642025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6B575-D69B-841A-B9CA-83B0333A8A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75B0F5-B3F3-4FA5-7E1B-03385CED434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64E51-7B09-A72C-E7DE-0BEB9AFA1B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6864D-C9FA-FB89-1D60-D686FCBE0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6343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17640C-DEE3-8EB5-79F5-8DB778301F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55D15D-B2E5-F087-F203-A277D52C98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We use CPU Timer 1 to call the SCI command for reading the LiDAR information</a:t>
            </a:r>
          </a:p>
          <a:p>
            <a:pPr marL="285750" indent="-285750">
              <a:lnSpc>
                <a:spcPct val="100000"/>
              </a:lnSpc>
              <a:spcBef>
                <a:spcPts val="0"/>
              </a:spcBef>
              <a:buSzPts val="3000"/>
            </a:pPr>
            <a:endParaRPr lang="en-US" sz="2400" dirty="0">
              <a:latin typeface="Arial"/>
              <a:ea typeface="Arial"/>
              <a:cs typeface="Arial"/>
              <a:sym typeface="Arial"/>
            </a:endParaRPr>
          </a:p>
          <a:p>
            <a:pPr marL="114300" indent="0">
              <a:buNone/>
            </a:pPr>
            <a:r>
              <a:rPr lang="en-US" sz="2400" dirty="0">
                <a:solidFill>
                  <a:srgbClr val="000000"/>
                </a:solidFill>
                <a:latin typeface="Consolas" panose="020B0609020204030204" pitchFamily="49" charset="0"/>
              </a:rPr>
              <a:t>__interrupt </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 cpu_timer1_isr(</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serial_sendSCIC</a:t>
            </a:r>
            <a:r>
              <a:rPr lang="en-US" sz="2400" dirty="0">
                <a:solidFill>
                  <a:srgbClr val="000000"/>
                </a:solidFill>
                <a:latin typeface="Consolas" panose="020B0609020204030204" pitchFamily="49" charset="0"/>
              </a:rPr>
              <a:t>(&amp;</a:t>
            </a:r>
            <a:r>
              <a:rPr lang="en-US" sz="2400" dirty="0" err="1">
                <a:solidFill>
                  <a:srgbClr val="000000"/>
                </a:solidFill>
                <a:latin typeface="Consolas" panose="020B0609020204030204" pitchFamily="49" charset="0"/>
              </a:rPr>
              <a:t>SerialC</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G_command</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G_len</a:t>
            </a: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CpuTimer1.</a:t>
            </a:r>
            <a:r>
              <a:rPr lang="en-US" sz="2400" dirty="0">
                <a:solidFill>
                  <a:srgbClr val="0000C0"/>
                </a:solidFill>
                <a:latin typeface="Consolas" panose="020B0609020204030204" pitchFamily="49" charset="0"/>
              </a:rPr>
              <a:t>InterruptCount</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p>
          <a:p>
            <a:pPr marL="114300" indent="0">
              <a:buNone/>
            </a:pPr>
            <a:endParaRPr lang="en-US" sz="2400" dirty="0">
              <a:solidFill>
                <a:srgbClr val="000000"/>
              </a:solidFill>
              <a:latin typeface="Consolas" panose="020B0609020204030204" pitchFamily="49" charset="0"/>
            </a:endParaRPr>
          </a:p>
          <a:p>
            <a:pPr marL="114300" indent="0">
              <a:buNone/>
            </a:pPr>
            <a:r>
              <a:rPr lang="en-US" sz="2400" dirty="0">
                <a:latin typeface="Arial"/>
                <a:ea typeface="Arial"/>
                <a:cs typeface="Arial"/>
                <a:sym typeface="Arial"/>
              </a:rPr>
              <a:t>So, every 10Hz timer 1 sends the ‘G’ command to collect the new data into the </a:t>
            </a:r>
            <a:r>
              <a:rPr lang="en-US" sz="2400" dirty="0" err="1">
                <a:latin typeface="Arial"/>
                <a:ea typeface="Arial"/>
                <a:cs typeface="Arial"/>
                <a:sym typeface="Arial"/>
              </a:rPr>
              <a:t>lidar_data</a:t>
            </a:r>
            <a:r>
              <a:rPr lang="en-US" sz="2400" dirty="0">
                <a:latin typeface="Arial"/>
                <a:ea typeface="Arial"/>
                <a:cs typeface="Arial"/>
                <a:sym typeface="Arial"/>
              </a:rPr>
              <a:t> buffer.</a:t>
            </a:r>
          </a:p>
        </p:txBody>
      </p:sp>
      <p:sp>
        <p:nvSpPr>
          <p:cNvPr id="119" name="Google Shape;119;p29">
            <a:extLst>
              <a:ext uri="{FF2B5EF4-FFF2-40B4-BE49-F238E27FC236}">
                <a16:creationId xmlns:a16="http://schemas.microsoft.com/office/drawing/2014/main" id="{F5107F29-21B3-FF93-598F-4782E40F1B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05BE6CF-7171-A512-DF81-B2C7D450BE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06F31C-DC2C-77A1-432A-CD48717B14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3D6D8F-8D82-D234-759D-B0948C6600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5E3F84-BCEF-20E6-1176-9AE33529A6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DC07B-E576-8226-8AE1-0B741459A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25984B-32E4-75A1-A9E0-9763CDF6D3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CBF953-65B7-D1B7-D77A-5C136BC15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621363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A09F29-44E0-1BAA-F0E6-969EF578A8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322A7F-027C-081A-EF6A-F6B75BF1BF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Once we get all the information from the SCI interrupt it triggers a software interrupt </a:t>
            </a:r>
          </a:p>
          <a:p>
            <a:pPr marL="0" indent="0">
              <a:lnSpc>
                <a:spcPct val="100000"/>
              </a:lnSpc>
              <a:spcBef>
                <a:spcPts val="0"/>
              </a:spcBef>
              <a:buSzPts val="3000"/>
              <a:buNone/>
            </a:pPr>
            <a:endParaRPr lang="en-US" sz="1800" dirty="0">
              <a:latin typeface="Arial"/>
              <a:ea typeface="Arial"/>
              <a:cs typeface="Arial"/>
              <a:sym typeface="Arial"/>
            </a:endParaRPr>
          </a:p>
          <a:p>
            <a:pPr marL="114300" indent="0" algn="l">
              <a:buNone/>
            </a:pP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LF_count</a:t>
            </a:r>
            <a:r>
              <a:rPr lang="en-US" sz="1200" dirty="0">
                <a:solidFill>
                  <a:srgbClr val="000000"/>
                </a:solidFill>
                <a:latin typeface="Consolas" panose="020B0609020204030204" pitchFamily="49" charset="0"/>
              </a:rPr>
              <a:t> == 2) { </a:t>
            </a:r>
            <a:r>
              <a:rPr lang="en-US" sz="1200" dirty="0">
                <a:solidFill>
                  <a:srgbClr val="3F7F5F"/>
                </a:solidFill>
                <a:latin typeface="Consolas" panose="020B0609020204030204" pitchFamily="49" charset="0"/>
              </a:rPr>
              <a:t>//two consecutive line feed means the end of the current data stream</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read_ladar_state</a:t>
            </a:r>
            <a:r>
              <a:rPr lang="en-US" sz="1200" dirty="0">
                <a:solidFill>
                  <a:srgbClr val="000000"/>
                </a:solidFill>
                <a:latin typeface="Consolas" panose="020B0609020204030204" pitchFamily="49" charset="0"/>
              </a:rPr>
              <a:t> = 0;</a:t>
            </a:r>
          </a:p>
          <a:p>
            <a:pPr marL="114300" indent="0" algn="l">
              <a:buNone/>
            </a:pPr>
            <a:r>
              <a:rPr lang="fr-FR" sz="1200" dirty="0">
                <a:solidFill>
                  <a:srgbClr val="000000"/>
                </a:solidFill>
                <a:latin typeface="Consolas" panose="020B0609020204030204" pitchFamily="49" charset="0"/>
              </a:rPr>
              <a:t>    </a:t>
            </a:r>
            <a:r>
              <a:rPr lang="fr-FR" sz="1200" dirty="0" err="1">
                <a:solidFill>
                  <a:srgbClr val="000000"/>
                </a:solidFill>
                <a:latin typeface="Consolas" panose="020B0609020204030204" pitchFamily="49" charset="0"/>
              </a:rPr>
              <a:t>print_dis_index</a:t>
            </a:r>
            <a:r>
              <a:rPr lang="fr-FR" sz="1200" dirty="0">
                <a:solidFill>
                  <a:srgbClr val="000000"/>
                </a:solidFill>
                <a:latin typeface="Consolas" panose="020B0609020204030204" pitchFamily="49" charset="0"/>
              </a:rPr>
              <a:t> = </a:t>
            </a:r>
            <a:r>
              <a:rPr lang="fr-FR" sz="1200" dirty="0" err="1">
                <a:solidFill>
                  <a:srgbClr val="000000"/>
                </a:solidFill>
                <a:latin typeface="Consolas" panose="020B0609020204030204" pitchFamily="49" charset="0"/>
              </a:rPr>
              <a:t>dis_index</a:t>
            </a:r>
            <a:r>
              <a:rPr lang="fr-FR"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PieCtrlRegs.</a:t>
            </a:r>
            <a:r>
              <a:rPr lang="en-US" sz="1200" dirty="0">
                <a:solidFill>
                  <a:srgbClr val="0000C0"/>
                </a:solidFill>
                <a:latin typeface="Consolas" panose="020B0609020204030204" pitchFamily="49" charset="0"/>
              </a:rPr>
              <a:t>PIEIFR12</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INTx10</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Manually cause the interrupt for the SWI2</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LADARpingpong</a:t>
            </a:r>
            <a:r>
              <a:rPr lang="en-US" sz="1200" dirty="0">
                <a:solidFill>
                  <a:srgbClr val="000000"/>
                </a:solidFill>
                <a:latin typeface="Consolas" panose="020B0609020204030204" pitchFamily="49" charset="0"/>
              </a:rPr>
              <a:t> = 1-LADARpingpong;</a:t>
            </a:r>
          </a:p>
          <a:p>
            <a:pPr marL="114300" indent="0" algn="l">
              <a:buNone/>
            </a:pPr>
            <a:r>
              <a:rPr lang="en-US" sz="1200" dirty="0">
                <a:solidFill>
                  <a:srgbClr val="000000"/>
                </a:solidFill>
                <a:latin typeface="Consolas" panose="020B0609020204030204" pitchFamily="49" charset="0"/>
              </a:rPr>
              <a:t>}</a:t>
            </a:r>
          </a:p>
          <a:p>
            <a:pPr marL="114300" indent="0" algn="l">
              <a:buNone/>
            </a:pPr>
            <a:endParaRPr lang="en-US" sz="1200" dirty="0">
              <a:solidFill>
                <a:srgbClr val="000000"/>
              </a:solidFill>
              <a:latin typeface="Consolas" panose="020B0609020204030204" pitchFamily="49" charset="0"/>
              <a:ea typeface="Arial"/>
              <a:cs typeface="Arial"/>
              <a:sym typeface="Arial"/>
            </a:endParaRPr>
          </a:p>
          <a:p>
            <a:r>
              <a:rPr lang="en-US" sz="1800" dirty="0">
                <a:latin typeface="Arial"/>
                <a:ea typeface="Arial"/>
                <a:cs typeface="Arial"/>
                <a:sym typeface="Arial"/>
              </a:rPr>
              <a:t>As a reminder a software interrupt is the lowest priority level and can be interrupted by any of the other interrupts of higher priority levels.</a:t>
            </a:r>
          </a:p>
          <a:p>
            <a:r>
              <a:rPr lang="en-US" sz="1800" dirty="0">
                <a:latin typeface="Arial"/>
                <a:ea typeface="Arial"/>
                <a:cs typeface="Arial"/>
                <a:sym typeface="Arial"/>
              </a:rPr>
              <a:t>The rows represent a </a:t>
            </a:r>
            <a:r>
              <a:rPr lang="en-US" sz="1800" b="1" dirty="0">
                <a:latin typeface="Arial"/>
                <a:ea typeface="Arial"/>
                <a:cs typeface="Arial"/>
                <a:sym typeface="Arial"/>
              </a:rPr>
              <a:t>group</a:t>
            </a:r>
          </a:p>
          <a:p>
            <a:r>
              <a:rPr lang="en-US" sz="1800" dirty="0">
                <a:latin typeface="Arial"/>
                <a:ea typeface="Arial"/>
                <a:cs typeface="Arial"/>
                <a:sym typeface="Arial"/>
              </a:rPr>
              <a:t>Each column a </a:t>
            </a:r>
            <a:r>
              <a:rPr lang="en-US" sz="1800" b="1" dirty="0">
                <a:latin typeface="Arial"/>
                <a:ea typeface="Arial"/>
                <a:cs typeface="Arial"/>
                <a:sym typeface="Arial"/>
              </a:rPr>
              <a:t>channel </a:t>
            </a:r>
            <a:r>
              <a:rPr lang="en-US" sz="1800" dirty="0">
                <a:latin typeface="Arial"/>
                <a:ea typeface="Arial"/>
                <a:cs typeface="Arial"/>
                <a:sym typeface="Arial"/>
              </a:rPr>
              <a:t>within that group</a:t>
            </a:r>
          </a:p>
          <a:p>
            <a:r>
              <a:rPr lang="en-US" sz="1800" dirty="0">
                <a:latin typeface="Arial"/>
                <a:ea typeface="Arial"/>
                <a:cs typeface="Arial"/>
                <a:sym typeface="Arial"/>
              </a:rPr>
              <a:t>When multiple interrupts are pending, the lowest-numbered channel from the lowest-numbered group is serviced first. Thus, the interrupts at the top left of the table are service first and the bottom right last.</a:t>
            </a:r>
          </a:p>
        </p:txBody>
      </p:sp>
      <p:sp>
        <p:nvSpPr>
          <p:cNvPr id="119" name="Google Shape;119;p29">
            <a:extLst>
              <a:ext uri="{FF2B5EF4-FFF2-40B4-BE49-F238E27FC236}">
                <a16:creationId xmlns:a16="http://schemas.microsoft.com/office/drawing/2014/main" id="{65924DD2-C069-B006-5F24-F764553949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61E0CFD-F8FB-DA07-F949-0CD1BB457E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F580C8-8EC7-8FE6-1084-5C1580A3AF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7F43C1-BA43-B30C-7045-8C888C19E5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95DFD2-B638-2FC5-C505-C2E0CED006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0A945D-A0B9-F027-80B1-A425CA681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A99CD-FA0B-E477-3D7B-DCAF1B59B7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428E6B-F220-0C33-A5E7-4ECCB39DDD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3628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94FFEE-62F8-E2D0-F788-27BF0A3871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600D5A-C80D-E989-A869-D2020DCCBC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0DAE46-36AD-4012-69D3-C63581DC53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2FE43C1-E6EC-9DB1-5E31-BCDB1DB1AC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0B45E7-08F1-5188-E72C-4DF067EF85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A18FF4-6654-351B-CB8D-0CABB82F77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FED91B-A5FD-053E-19CC-AD363D29992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5C143-2609-AE4F-2890-087145C49C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BA86FA-6975-D145-09D3-A41C9A5E19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A495A7C-4D09-60AF-F301-540BA7160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79" y="1525095"/>
            <a:ext cx="12121041" cy="3951743"/>
          </a:xfrm>
          <a:prstGeom prst="rect">
            <a:avLst/>
          </a:prstGeom>
        </p:spPr>
      </p:pic>
      <p:sp>
        <p:nvSpPr>
          <p:cNvPr id="4" name="Rectangle 3">
            <a:extLst>
              <a:ext uri="{FF2B5EF4-FFF2-40B4-BE49-F238E27FC236}">
                <a16:creationId xmlns:a16="http://schemas.microsoft.com/office/drawing/2014/main" id="{2E7B447E-6CD9-F230-0079-1516EE32F132}"/>
              </a:ext>
            </a:extLst>
          </p:cNvPr>
          <p:cNvSpPr/>
          <p:nvPr/>
        </p:nvSpPr>
        <p:spPr>
          <a:xfrm>
            <a:off x="4316224" y="4802199"/>
            <a:ext cx="7840296" cy="53070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0056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10F45D-E315-CF7F-B794-016A6DD355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225AF0C-54EF-932B-63E9-607540ACFB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In the LiDAR lab code, we will have 3 software interrupts:</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Software interrupt 1, will have the </a:t>
            </a:r>
            <a:r>
              <a:rPr lang="en-US" sz="1800" b="1" dirty="0">
                <a:latin typeface="Arial"/>
                <a:ea typeface="Arial"/>
                <a:cs typeface="Arial"/>
                <a:sym typeface="Arial"/>
              </a:rPr>
              <a:t>highest</a:t>
            </a:r>
            <a:r>
              <a:rPr lang="en-US" sz="1800" dirty="0">
                <a:latin typeface="Arial"/>
                <a:ea typeface="Arial"/>
                <a:cs typeface="Arial"/>
                <a:sym typeface="Arial"/>
              </a:rPr>
              <a:t> priority, this is used for retrieving the data and sending the data to and from the </a:t>
            </a:r>
            <a:r>
              <a:rPr lang="en-US" sz="1800" dirty="0" err="1">
                <a:latin typeface="Arial"/>
                <a:ea typeface="Arial"/>
                <a:cs typeface="Arial"/>
                <a:sym typeface="Arial"/>
              </a:rPr>
              <a:t>RaspberryPI</a:t>
            </a: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Software interrupt 2, will have the </a:t>
            </a:r>
            <a:r>
              <a:rPr lang="en-US" sz="1800" b="1" dirty="0">
                <a:latin typeface="Arial"/>
                <a:ea typeface="Arial"/>
                <a:cs typeface="Arial"/>
                <a:sym typeface="Arial"/>
              </a:rPr>
              <a:t>middle</a:t>
            </a:r>
            <a:r>
              <a:rPr lang="en-US" sz="1800" dirty="0">
                <a:latin typeface="Arial"/>
                <a:ea typeface="Arial"/>
                <a:cs typeface="Arial"/>
                <a:sym typeface="Arial"/>
              </a:rPr>
              <a:t> priority, where we will perform the LiDAR position computation and the coordinate transformations based on the sensor’s location on the robot.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Software interrupt 3, will have the </a:t>
            </a:r>
            <a:r>
              <a:rPr lang="en-US" sz="1800" b="1" dirty="0">
                <a:latin typeface="Arial"/>
                <a:ea typeface="Arial"/>
                <a:cs typeface="Arial"/>
                <a:sym typeface="Arial"/>
              </a:rPr>
              <a:t>lowest</a:t>
            </a:r>
            <a:r>
              <a:rPr lang="en-US" sz="1800" dirty="0">
                <a:latin typeface="Arial"/>
                <a:ea typeface="Arial"/>
                <a:cs typeface="Arial"/>
                <a:sym typeface="Arial"/>
              </a:rPr>
              <a:t> priority, where anything else can be done</a:t>
            </a: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In this lecture we will only look at software interrupt 2.</a:t>
            </a:r>
          </a:p>
          <a:p>
            <a:pPr marL="0" indent="0">
              <a:lnSpc>
                <a:spcPct val="100000"/>
              </a:lnSpc>
              <a:spcBef>
                <a:spcPts val="0"/>
              </a:spcBef>
              <a:buSzPts val="3000"/>
              <a:buNone/>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09390E3E-5B94-EE89-E7D7-4D94B7C8AC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BF838C-1D62-A0A4-56C4-D05694D729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4F0152A-0F81-6B70-6035-52A30DC8F9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480F46-DB5B-CA7B-C9F9-2267E5D76B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F67281-FA32-E978-38DC-DBE20991EA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118BBA-83EE-DEB6-6589-6E562CFADF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FC4CAC-927F-D94C-8035-98F4269CAB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28291D-F9C6-9062-B434-06F2D4C57E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536614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7310-F6AB-F7A5-1224-C67CD6409D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0A5145-00A7-4690-1D43-F1FCCA60D3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100" dirty="0">
                <a:solidFill>
                  <a:srgbClr val="000000"/>
                </a:solidFill>
                <a:latin typeface="Consolas" panose="020B0609020204030204" pitchFamily="49" charset="0"/>
              </a:rPr>
              <a:t>__interrupt </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SWI2_MiddlePriority(</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RAM_CORRECTABLE_ERROR</a:t>
            </a:r>
          </a:p>
          <a:p>
            <a:pPr marL="114300" indent="0" algn="l">
              <a:spcBef>
                <a:spcPts val="0"/>
              </a:spcBef>
              <a:buNone/>
            </a:pP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Set interrupt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volatile</a:t>
            </a:r>
            <a:r>
              <a:rPr lang="en-US" sz="1100" dirty="0">
                <a:solidFill>
                  <a:srgbClr val="000000"/>
                </a:solidFill>
                <a:latin typeface="Consolas" panose="020B0609020204030204" pitchFamily="49" charset="0"/>
              </a:rPr>
              <a:t> </a:t>
            </a:r>
            <a:r>
              <a:rPr lang="en-US" sz="1100" dirty="0">
                <a:solidFill>
                  <a:srgbClr val="005032"/>
                </a:solidFill>
                <a:latin typeface="Consolas" panose="020B0609020204030204" pitchFamily="49" charset="0"/>
              </a:rPr>
              <a:t>Uint16</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TempPIEIER</a:t>
            </a:r>
            <a:r>
              <a:rPr lang="en-US" sz="1100" dirty="0">
                <a:solidFill>
                  <a:srgbClr val="000000"/>
                </a:solidFill>
                <a:latin typeface="Consolas" panose="020B0609020204030204" pitchFamily="49" charset="0"/>
              </a:rPr>
              <a:t> =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IER |= M_INT12;</a:t>
            </a:r>
          </a:p>
          <a:p>
            <a:pPr marL="114300" indent="0" algn="l">
              <a:spcBef>
                <a:spcPts val="0"/>
              </a:spcBef>
              <a:buNone/>
            </a:pPr>
            <a:r>
              <a:rPr lang="en-US" sz="1100" dirty="0">
                <a:solidFill>
                  <a:srgbClr val="000000"/>
                </a:solidFill>
                <a:latin typeface="Consolas" panose="020B0609020204030204" pitchFamily="49" charset="0"/>
              </a:rPr>
              <a:t>    IER &amp;= MINT12;                        </a:t>
            </a:r>
            <a:r>
              <a:rPr lang="en-US" sz="1100" dirty="0">
                <a:solidFill>
                  <a:srgbClr val="3F7F5F"/>
                </a:solidFill>
                <a:latin typeface="Consolas" panose="020B0609020204030204" pitchFamily="49" charset="0"/>
              </a:rPr>
              <a:t>// Set "global" priority</a:t>
            </a:r>
          </a:p>
          <a:p>
            <a:pPr marL="114300" indent="0" algn="l">
              <a:spcBef>
                <a:spcPts val="0"/>
              </a:spcBef>
              <a:buNone/>
            </a:pPr>
            <a:r>
              <a:rPr lang="en-US" sz="1100" dirty="0">
                <a:solidFill>
                  <a:srgbClr val="000000"/>
                </a:solidFill>
                <a:latin typeface="Consolas" panose="020B0609020204030204" pitchFamily="49" charset="0"/>
              </a:rPr>
              <a:t>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&amp;= MG12_10;  </a:t>
            </a:r>
            <a:r>
              <a:rPr lang="en-US" sz="1100" dirty="0">
                <a:solidFill>
                  <a:srgbClr val="3F7F5F"/>
                </a:solidFill>
                <a:latin typeface="Consolas" panose="020B0609020204030204" pitchFamily="49" charset="0"/>
              </a:rPr>
              <a:t>// Set "group"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PieCtrlRegs.</a:t>
            </a:r>
            <a:r>
              <a:rPr lang="en-US" sz="1100" dirty="0" err="1">
                <a:solidFill>
                  <a:srgbClr val="0000C0"/>
                </a:solidFill>
                <a:latin typeface="Consolas" panose="020B0609020204030204" pitchFamily="49" charset="0"/>
              </a:rPr>
              <a:t>PIEACK</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 0xFFFF;      </a:t>
            </a:r>
            <a:r>
              <a:rPr lang="en-US" sz="1100" dirty="0">
                <a:solidFill>
                  <a:srgbClr val="3F7F5F"/>
                </a:solidFill>
                <a:latin typeface="Consolas" panose="020B0609020204030204" pitchFamily="49" charset="0"/>
              </a:rPr>
              <a:t>// Enable PIE interrupts so that other interrupts can go in between</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__</a:t>
            </a:r>
            <a:r>
              <a:rPr lang="en-US" sz="1100" dirty="0" err="1">
                <a:solidFill>
                  <a:srgbClr val="7F0055"/>
                </a:solidFill>
                <a:latin typeface="Consolas" panose="020B0609020204030204" pitchFamily="49" charset="0"/>
              </a:rPr>
              <a:t>asm</a:t>
            </a:r>
            <a:r>
              <a:rPr lang="en-US" sz="1100" dirty="0">
                <a:solidFill>
                  <a:srgbClr val="000000"/>
                </a:solidFill>
                <a:latin typeface="Consolas" panose="020B0609020204030204" pitchFamily="49" charset="0"/>
              </a:rPr>
              <a:t>(</a:t>
            </a:r>
            <a:r>
              <a:rPr lang="en-US" sz="1100" dirty="0">
                <a:solidFill>
                  <a:srgbClr val="2A00FF"/>
                </a:solidFill>
                <a:latin typeface="Consolas" panose="020B0609020204030204" pitchFamily="49" charset="0"/>
              </a:rPr>
              <a:t>"  NOP"</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EINT;</a:t>
            </a:r>
          </a:p>
          <a:p>
            <a:pPr marL="114300" indent="0" algn="l">
              <a:spcBef>
                <a:spcPts val="0"/>
              </a:spcBef>
              <a:buNone/>
            </a:pPr>
            <a:endParaRPr lang="en-US" sz="1100" dirty="0">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1)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LADARrightfront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52, 53, 54, 55, 56</a:t>
            </a: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52,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19; LADARi &lt;= 56 ; LADARi++) { </a:t>
            </a:r>
            <a:r>
              <a:rPr lang="en-US" sz="1100" dirty="0">
                <a:solidFill>
                  <a:srgbClr val="3F7F5F"/>
                </a:solidFill>
                <a:latin typeface="Consolas" panose="020B0609020204030204" pitchFamily="49" charset="0"/>
              </a:rPr>
              <a:t>// 19 is greater than max feet</a:t>
            </a: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111, 112, 113, 114, 115</a:t>
            </a: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111,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19; LADARi &lt;= 115 ; LADARi++)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Do coordinate transformations here, done in the next slides</a:t>
            </a:r>
          </a:p>
          <a:p>
            <a:pPr marL="114300" indent="0">
              <a:spcBef>
                <a:spcPts val="0"/>
              </a:spcBef>
              <a:buNone/>
            </a:pP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 </a:t>
            </a:r>
            <a:r>
              <a:rPr lang="en-US" sz="1100" dirty="0">
                <a:solidFill>
                  <a:srgbClr val="7F0055"/>
                </a:solidFill>
                <a:latin typeface="Consolas" panose="020B0609020204030204" pitchFamily="49" charset="0"/>
              </a:rPr>
              <a:t>else</a:t>
            </a: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0) { </a:t>
            </a:r>
            <a:r>
              <a:rPr lang="en-US" sz="1100" dirty="0">
                <a:solidFill>
                  <a:srgbClr val="3F7F5F"/>
                </a:solidFill>
                <a:latin typeface="Consolas" panose="020B0609020204030204" pitchFamily="49" charset="0"/>
              </a:rPr>
              <a:t>/** same for pong */</a:t>
            </a:r>
            <a:r>
              <a:rPr lang="en-US" sz="1100" dirty="0">
                <a:latin typeface="Consolas" panose="020B0609020204030204" pitchFamily="49" charset="0"/>
              </a:rPr>
              <a:t> </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a:t>
            </a:r>
            <a:endParaRPr lang="en-US" sz="11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AC38673-347C-5D08-8E3D-B9ACDB41DB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BAD44-0A6F-3CA2-4234-598FAE7BA3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88EDECB-FF39-BE5D-DE03-774EC2CC1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13763-146D-6C39-BA74-B86B0DBC5A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DC54EE-9C21-6AC1-698E-70B99F8885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02195F-1B0D-8CD1-FE5B-96BA07F07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4E1970-8DF2-19D8-7945-5BD09B85FF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EF8084-15FA-613D-77F7-7EA48DAB46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554460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1A1A64-C64A-F19D-1CC3-EDE7302D9C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4E51EA2-39C6-E885-3098-919A58EC4AD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latin typeface="Arial"/>
                    <a:ea typeface="Arial"/>
                    <a:cs typeface="Arial"/>
                    <a:sym typeface="Arial"/>
                  </a:rPr>
                  <a:t>We start with the coordinate transform to get the coordinate of the LiDAR in the real world based on the robot’s position and heading.</a:t>
                </a:r>
                <a:endParaRPr lang="en-US" sz="1400" dirty="0">
                  <a:latin typeface="Arial"/>
                  <a:ea typeface="Arial"/>
                  <a:cs typeface="Arial"/>
                  <a:sym typeface="Arial"/>
                </a:endParaRPr>
              </a:p>
              <a:p>
                <a:pPr marL="114300" indent="0">
                  <a:buNone/>
                </a:pPr>
                <a:endParaRPr lang="en-US" sz="2000" dirty="0">
                  <a:solidFill>
                    <a:srgbClr val="000000"/>
                  </a:solidFill>
                  <a:latin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𝑊</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𝑊</m:t>
                                    </m:r>
                                  </m:sub>
                                </m:sSub>
                              </m:e>
                            </m:mr>
                            <m:mr>
                              <m:e>
                                <m:r>
                                  <a:rPr lang="en-US" sz="1600" i="1">
                                    <a:latin typeface="Cambria Math" panose="02040503050406030204" pitchFamily="18" charset="0"/>
                                    <a:cs typeface="Arial"/>
                                    <a:sym typeface="Arial"/>
                                  </a:rPr>
                                  <m:t>1</m:t>
                                </m:r>
                              </m:e>
                            </m:mr>
                          </m:m>
                        </m:e>
                      </m:d>
                      <m:r>
                        <a:rPr lang="en-US" sz="1600" i="1">
                          <a:latin typeface="Cambria Math" panose="02040503050406030204" pitchFamily="18" charset="0"/>
                          <a:cs typeface="Arial"/>
                          <a:sym typeface="Arial"/>
                        </a:rPr>
                        <m:t>=</m:t>
                      </m:r>
                      <m:d>
                        <m:dPr>
                          <m:begChr m:val="["/>
                          <m:endChr m:val="]"/>
                          <m:ctrlPr>
                            <a:rPr lang="en-US" sz="1600" i="1">
                              <a:latin typeface="Cambria Math" panose="02040503050406030204" pitchFamily="18" charset="0"/>
                              <a:cs typeface="Arial"/>
                              <a:sym typeface="Arial"/>
                            </a:rPr>
                          </m:ctrlPr>
                        </m:dPr>
                        <m:e>
                          <m:m>
                            <m:mPr>
                              <m:plcHide m:val="on"/>
                              <m:mcs>
                                <m:mc>
                                  <m:mcPr>
                                    <m:count m:val="3"/>
                                    <m:mcJc m:val="center"/>
                                  </m:mcPr>
                                </m:mc>
                              </m:mcs>
                              <m:ctrlPr>
                                <a:rPr lang="en-US" sz="1600" i="1">
                                  <a:latin typeface="Cambria Math" panose="02040503050406030204" pitchFamily="18" charset="0"/>
                                  <a:cs typeface="Arial"/>
                                  <a:sym typeface="Arial"/>
                                </a:rPr>
                              </m:ctrlPr>
                            </m:mP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r>
                                  <a:rPr lang="en-US" sz="1600" i="1">
                                    <a:latin typeface="Cambria Math" panose="02040503050406030204" pitchFamily="18" charset="0"/>
                                    <a:cs typeface="Arial"/>
                                    <a:sym typeface="Arial"/>
                                  </a:rPr>
                                  <m:t>−</m:t>
                                </m:r>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𝑥</m:t>
                                    </m:r>
                                  </m:sub>
                                </m:sSub>
                              </m:e>
                            </m:m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𝑦</m:t>
                                    </m:r>
                                  </m:sub>
                                </m:sSub>
                              </m:e>
                            </m:mr>
                            <m:mr>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1</m:t>
                                </m:r>
                              </m:e>
                            </m:mr>
                          </m:m>
                        </m:e>
                      </m:d>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𝑅</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𝑅</m:t>
                                    </m:r>
                                  </m:sub>
                                </m:sSub>
                              </m:e>
                            </m:mr>
                            <m:mr>
                              <m:e>
                                <m:r>
                                  <a:rPr lang="en-US" sz="1600" i="1">
                                    <a:latin typeface="Cambria Math" panose="02040503050406030204" pitchFamily="18" charset="0"/>
                                    <a:cs typeface="Arial"/>
                                    <a:sym typeface="Arial"/>
                                  </a:rPr>
                                  <m:t>1</m:t>
                                </m:r>
                              </m:e>
                            </m:mr>
                          </m:m>
                        </m:e>
                      </m:d>
                    </m:oMath>
                  </m:oMathPara>
                </a14:m>
                <a:endParaRPr lang="en-US" sz="11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LADARxoffset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r>
                  <a:rPr lang="en-US" sz="1400" dirty="0" err="1">
                    <a:solidFill>
                      <a:srgbClr val="000000"/>
                    </a:solidFill>
                    <a:latin typeface="Consolas" panose="020B0609020204030204" pitchFamily="49" charset="0"/>
                  </a:rPr>
                  <a:t>LADARyoffset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a:solidFill>
                      <a:srgbClr val="000000"/>
                    </a:solidFill>
                    <a:latin typeface="Consolas" panose="020B0609020204030204" pitchFamily="49" charset="0"/>
                  </a:rPr>
                  <a:t>)+LADARps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endParaRPr lang="en-US" sz="1100" dirty="0">
                  <a:solidFill>
                    <a:srgbClr val="000000"/>
                  </a:solidFill>
                  <a:latin typeface="Consolas" panose="020B0609020204030204" pitchFamily="49" charset="0"/>
                </a:endParaRPr>
              </a:p>
              <a:p>
                <a:pPr marL="114300" indent="0">
                  <a:buNone/>
                </a:pPr>
                <a:r>
                  <a:rPr lang="en-US" sz="1600" dirty="0">
                    <a:latin typeface="Arial"/>
                    <a:ea typeface="Arial"/>
                    <a:cs typeface="Arial"/>
                    <a:sym typeface="Arial"/>
                  </a:rPr>
                  <a:t>Now we can get the coordinates of the object in the global reference frame based on the distance returned from the LiDAR and the angle.</a:t>
                </a:r>
                <a:endParaRPr lang="en-US" sz="16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x</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LADARxoffset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cosf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y</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LADARyoffset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sinf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a:t>
                </a:r>
                <a:endParaRPr lang="en-US" sz="1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A4E51EA2-39C6-E885-3098-919A58EC4AD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b="-379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0680AE2-4E33-0C0F-A8AF-02B36C09A5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9647F28-4C21-4629-0C4E-4289DDCA943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318D3A4-92BD-3D66-0C1C-001152FAA3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1D2381-CFAA-8E67-351F-9AA572AA66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328D6E-3A84-10BA-EB73-F38A65999B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BAEFD3-6F64-D18F-5D15-90D1B00908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FCD839-D454-B0F9-1A24-A9982B96D7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5B62B7-C604-38A9-D534-ABEA1668B8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54112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C0211-49C0-68FC-39EC-2C1608C604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8ABDDF-12C6-8BC4-9E6B-747B5C6AE7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Arial"/>
                <a:ea typeface="Arial"/>
                <a:cs typeface="Arial"/>
                <a:sym typeface="Arial"/>
              </a:rPr>
              <a:t>The pose objects as simply defined as,</a:t>
            </a:r>
          </a:p>
          <a:p>
            <a:pPr marL="114300" indent="0">
              <a:buNone/>
            </a:pPr>
            <a:endParaRPr lang="en-US" sz="2400" dirty="0">
              <a:latin typeface="Arial"/>
              <a:ea typeface="Arial"/>
              <a:cs typeface="Arial"/>
              <a:sym typeface="Arial"/>
            </a:endParaRPr>
          </a:p>
          <a:p>
            <a:pPr marL="114300" indent="0">
              <a:buNone/>
            </a:pPr>
            <a:r>
              <a:rPr lang="en-US" sz="1600" dirty="0">
                <a:solidFill>
                  <a:srgbClr val="7F0055"/>
                </a:solidFill>
                <a:latin typeface="Consolas" panose="020B0609020204030204" pitchFamily="49" charset="0"/>
              </a:rPr>
              <a:t>typedef</a:t>
            </a: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struct</a:t>
            </a:r>
          </a:p>
          <a:p>
            <a:pPr marL="114300" indent="0">
              <a:buNone/>
            </a:pPr>
            <a:r>
              <a:rPr lang="en-US" sz="1600" dirty="0">
                <a:solidFill>
                  <a:srgbClr val="000000"/>
                </a:solidFill>
                <a:latin typeface="Consolas" panose="020B0609020204030204" pitchFamily="49" charset="0"/>
              </a:rPr>
              <a: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x</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y</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theta</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in radians between -PI and PI. O radian is along the +x axis, PI/2 is the +y axis</a:t>
            </a:r>
          </a:p>
          <a:p>
            <a:pPr marL="114300" indent="0">
              <a:buNone/>
            </a:pPr>
            <a:r>
              <a:rPr lang="en-US" sz="1600" dirty="0">
                <a:solidFill>
                  <a:srgbClr val="000000"/>
                </a:solidFill>
                <a:latin typeface="Consolas" panose="020B0609020204030204" pitchFamily="49" charset="0"/>
              </a:rPr>
              <a:t>} </a:t>
            </a: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a:t>
            </a:r>
          </a:p>
          <a:p>
            <a:pPr marL="114300" indent="0">
              <a:buNone/>
            </a:pPr>
            <a:endParaRPr lang="en-US" sz="1600" dirty="0">
              <a:solidFill>
                <a:srgbClr val="000000"/>
              </a:solidFill>
              <a:latin typeface="Consolas" panose="020B0609020204030204" pitchFamily="49" charset="0"/>
            </a:endParaRP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ROBOTps</a:t>
            </a:r>
            <a:r>
              <a:rPr lang="en-US" sz="1600" dirty="0">
                <a:solidFill>
                  <a:srgbClr val="000000"/>
                </a:solidFill>
                <a:latin typeface="Consolas" panose="020B0609020204030204" pitchFamily="49" charset="0"/>
              </a:rPr>
              <a:t> = {0,0,0}; </a:t>
            </a:r>
            <a:r>
              <a:rPr lang="en-US" sz="1600" dirty="0">
                <a:solidFill>
                  <a:srgbClr val="3F7F5F"/>
                </a:solidFill>
                <a:latin typeface="Consolas" panose="020B0609020204030204" pitchFamily="49" charset="0"/>
              </a:rPr>
              <a:t>//robot position, will be updated through your integration code</a:t>
            </a: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LADARps</a:t>
            </a:r>
            <a:r>
              <a:rPr lang="en-US" sz="1600" dirty="0">
                <a:solidFill>
                  <a:srgbClr val="000000"/>
                </a:solidFill>
                <a:latin typeface="Consolas" panose="020B0609020204030204" pitchFamily="49" charset="0"/>
              </a:rPr>
              <a:t> = {3.5/12.0,0,1};  </a:t>
            </a:r>
            <a:r>
              <a:rPr lang="en-US" sz="1600" dirty="0">
                <a:solidFill>
                  <a:srgbClr val="3F7F5F"/>
                </a:solidFill>
                <a:latin typeface="Consolas" panose="020B0609020204030204" pitchFamily="49" charset="0"/>
              </a:rPr>
              <a:t>// 3.5/12 for front mounting, theta is not used in this current code</a:t>
            </a:r>
            <a:endParaRPr lang="en-US" sz="1600" dirty="0">
              <a:latin typeface="Arial"/>
              <a:ea typeface="Arial"/>
              <a:cs typeface="Arial"/>
              <a:sym typeface="Arial"/>
            </a:endParaRPr>
          </a:p>
        </p:txBody>
      </p:sp>
      <p:sp>
        <p:nvSpPr>
          <p:cNvPr id="119" name="Google Shape;119;p29">
            <a:extLst>
              <a:ext uri="{FF2B5EF4-FFF2-40B4-BE49-F238E27FC236}">
                <a16:creationId xmlns:a16="http://schemas.microsoft.com/office/drawing/2014/main" id="{0BC45ECF-A7FB-3902-A474-FDD5F023AB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FB72A3-A0F4-EEBC-5631-52C5ACE0E0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7F17F3-C28D-A685-110D-F1221640B08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C4FB54-9BB7-70BB-8978-FB9FBFD3A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496E43-C89E-4CAE-F47C-0013FF83DF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EC4ED2-8047-88D6-93F1-0AEB763998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B5E0B7-A5F6-74B4-7749-A2D70C5C10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0C9409-67A9-7427-DD0A-DAA6E71926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44632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2098</TotalTime>
  <Words>3903</Words>
  <Application>Microsoft Office PowerPoint</Application>
  <PresentationFormat>Widescreen</PresentationFormat>
  <Paragraphs>515</Paragraphs>
  <Slides>40</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240</cp:revision>
  <dcterms:created xsi:type="dcterms:W3CDTF">2019-01-14T22:06:33Z</dcterms:created>
  <dcterms:modified xsi:type="dcterms:W3CDTF">2026-03-23T18:31:41Z</dcterms:modified>
</cp:coreProperties>
</file>