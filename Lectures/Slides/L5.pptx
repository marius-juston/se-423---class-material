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2"/>
  </p:notesMasterIdLst>
  <p:sldIdLst>
    <p:sldId id="256" r:id="rId2"/>
    <p:sldId id="310" r:id="rId3"/>
    <p:sldId id="311" r:id="rId4"/>
    <p:sldId id="259" r:id="rId5"/>
    <p:sldId id="258" r:id="rId6"/>
    <p:sldId id="312" r:id="rId7"/>
    <p:sldId id="313" r:id="rId8"/>
    <p:sldId id="314" r:id="rId9"/>
    <p:sldId id="316" r:id="rId10"/>
    <p:sldId id="317" r:id="rId11"/>
    <p:sldId id="318" r:id="rId12"/>
    <p:sldId id="319" r:id="rId13"/>
    <p:sldId id="320" r:id="rId14"/>
    <p:sldId id="321" r:id="rId15"/>
    <p:sldId id="322" r:id="rId16"/>
    <p:sldId id="323" r:id="rId17"/>
    <p:sldId id="324" r:id="rId18"/>
    <p:sldId id="327" r:id="rId19"/>
    <p:sldId id="334" r:id="rId20"/>
    <p:sldId id="335" r:id="rId21"/>
    <p:sldId id="328" r:id="rId22"/>
    <p:sldId id="329" r:id="rId23"/>
    <p:sldId id="330" r:id="rId24"/>
    <p:sldId id="331" r:id="rId25"/>
    <p:sldId id="332" r:id="rId26"/>
    <p:sldId id="333" r:id="rId27"/>
    <p:sldId id="325" r:id="rId28"/>
    <p:sldId id="326" r:id="rId29"/>
    <p:sldId id="271" r:id="rId30"/>
    <p:sldId id="270"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933" autoAdjust="0"/>
  </p:normalViewPr>
  <p:slideViewPr>
    <p:cSldViewPr snapToGrid="0">
      <p:cViewPr varScale="1">
        <p:scale>
          <a:sx n="127" d="100"/>
          <a:sy n="127" d="100"/>
        </p:scale>
        <p:origin x="840"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the title slide for SE 423, Introduction to Mechatronics, Lecture 5: DAC and ADC, presented by Marius Juston on Wednesday, February 4th, 2026. The University of Illinois Urbana-Champaign logo sits at the top, over a dark blue background with faint hand-drawn math sketches.</a:t>
            </a:r>
          </a:p>
          <a:p>
            <a:pPr marL="0" lvl="0" indent="0" algn="l" rtl="0">
              <a:spcBef>
                <a:spcPts val="0"/>
              </a:spcBef>
              <a:spcAft>
                <a:spcPts val="600"/>
              </a:spcAft>
              <a:buNone/>
            </a:pPr>
            <a:r>
              <a:rPr lang="en-US" dirty="0"/>
              <a:t>Today covers how the Red Board crosses between the digital and analog worlds. A DAC, a digital-to-analog converter, turns numbers into voltages. An ADC, an analog-to-digital converter, turns sensor voltages into numbers. First, a few reminders.</a:t>
            </a: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11560CD-FFDE-70C6-6183-A453F3E9816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57E4E91-ED9F-DE16-BEB6-F07455961A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lists this week's course reminders: office hours, the lab schedule, homework deadlines and LabVIEW check-offs.</a:t>
            </a:r>
          </a:p>
          <a:p>
            <a:pPr marL="0" lvl="0" indent="0" algn="l" rtl="0">
              <a:lnSpc>
                <a:spcPct val="100000"/>
              </a:lnSpc>
              <a:spcBef>
                <a:spcPts val="0"/>
              </a:spcBef>
              <a:spcAft>
                <a:spcPts val="600"/>
              </a:spcAft>
              <a:buSzPts val="1400"/>
              <a:buNone/>
            </a:pPr>
            <a:r>
              <a:rPr lang="en-US" dirty="0"/>
              <a:t>Office hours are Monday 4 to 6 PM with Neel; Tuesday 11 AM to 1 PM with Lakshmi; Tuesday 1 to 3 PM with Samuel; and Tuesday 2 to 5 PM with Dan and Marius.</a:t>
            </a:r>
          </a:p>
          <a:p>
            <a:pPr marL="0" lvl="0" indent="0" algn="l" rtl="0">
              <a:lnSpc>
                <a:spcPct val="100000"/>
              </a:lnSpc>
              <a:spcBef>
                <a:spcPts val="0"/>
              </a:spcBef>
              <a:spcAft>
                <a:spcPts val="600"/>
              </a:spcAft>
              <a:buSzPts val="1400"/>
              <a:buNone/>
            </a:pPr>
            <a:r>
              <a:rPr lang="en-US" dirty="0"/>
              <a:t>Lab 2 starts this week, and like Lab 1 it is a one-week lab, so plan to finish it within this week's session.</a:t>
            </a:r>
          </a:p>
          <a:p>
            <a:pPr marL="0" lvl="0" indent="0" algn="l" rtl="0">
              <a:lnSpc>
                <a:spcPct val="100000"/>
              </a:lnSpc>
              <a:spcBef>
                <a:spcPts val="0"/>
              </a:spcBef>
              <a:spcAft>
                <a:spcPts val="600"/>
              </a:spcAft>
              <a:buSzPts val="1400"/>
              <a:buNone/>
            </a:pPr>
            <a:r>
              <a:rPr lang="en-US" dirty="0"/>
              <a:t>For homework 2, the slide links to the assignment page. Check-offs for Exercises 1 and 2 are due February 17 at 5 PM, and check-offs for Exercises 3 and 4 are due February 24 at 5 PM. In both cases 5 PM is the end of office hours, so arrive early enough to be checked off. Your written answers and code submissions for homework 2 are due earlier, on February 17 at 9 AM. Do not confuse the 9 AM submission deadline with the 5 PM check-off deadline on the same day.</a:t>
            </a:r>
          </a:p>
          <a:p>
            <a:pPr marL="0" lvl="0" indent="0" algn="l" rtl="0">
              <a:lnSpc>
                <a:spcPct val="100000"/>
              </a:lnSpc>
              <a:spcBef>
                <a:spcPts val="0"/>
              </a:spcBef>
              <a:spcAft>
                <a:spcPts val="600"/>
              </a:spcAft>
              <a:buSzPts val="1400"/>
              <a:buNone/>
            </a:pPr>
            <a:r>
              <a:rPr lang="en-US" dirty="0"/>
              <a:t>All check-offs for LabVIEW 1, also linked on the slide, are due this week, on February 5 at 5 PM. The slide notes in red that LabVIEW is checked off quickly at the beginning or end of your lab session, so have it ready when your session starts.</a:t>
            </a:r>
          </a:p>
          <a:p>
            <a:pPr marL="0" lvl="0" indent="0" algn="l" rtl="0">
              <a:lnSpc>
                <a:spcPct val="100000"/>
              </a:lnSpc>
              <a:spcBef>
                <a:spcPts val="0"/>
              </a:spcBef>
              <a:spcAft>
                <a:spcPts val="600"/>
              </a:spcAft>
              <a:buSzPts val="1400"/>
              <a:buNone/>
            </a:pPr>
            <a:r>
              <a:rPr lang="en-US" dirty="0"/>
              <a:t>Next, there is time for questions before the lecture moves on to DACs and ADCs.</a:t>
            </a:r>
          </a:p>
        </p:txBody>
      </p:sp>
      <p:sp>
        <p:nvSpPr>
          <p:cNvPr id="116" name="Google Shape;116;p29:notes">
            <a:extLst>
              <a:ext uri="{FF2B5EF4-FFF2-40B4-BE49-F238E27FC236}">
                <a16:creationId xmlns:a16="http://schemas.microsoft.com/office/drawing/2014/main" id="{063A7F12-DA54-6672-271A-7F884E56D7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9943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6BB021B-4C2E-58B0-7B17-0FB83D9600F0}"/>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0C0472AC-2E57-40C3-3F46-8CE40D413A5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shows the word "Questions?" in large white text on a dark blue background with faint hand-drawn engineering sketches. Below it is the prompt: "Homework, Lab, LabVIEW, quiz questions?"</a:t>
            </a:r>
          </a:p>
          <a:p>
            <a:pPr marL="0" lvl="0" indent="0" algn="l" rtl="0">
              <a:spcBef>
                <a:spcPts val="0"/>
              </a:spcBef>
              <a:spcAft>
                <a:spcPts val="600"/>
              </a:spcAft>
              <a:buNone/>
            </a:pPr>
            <a:r>
              <a:rPr lang="en-US" dirty="0"/>
              <a:t>This is a pause for your questions before new material. It follows the reminders slide, so it is a good time to ask about Lab 2, which is a one-week lab, about the homework 2 check-offs and submissions, or about the LabVIEW 1 check-offs due this week.</a:t>
            </a:r>
          </a:p>
          <a:p>
            <a:pPr marL="0" lvl="0" indent="0" algn="l" rtl="0">
              <a:spcBef>
                <a:spcPts val="0"/>
              </a:spcBef>
              <a:spcAft>
                <a:spcPts val="600"/>
              </a:spcAft>
              <a:buNone/>
            </a:pPr>
            <a:r>
              <a:rPr lang="en-US" dirty="0"/>
              <a:t>Next, the lecture introduces how the microcontroller connects to the continuous real world through the ADC and the DAC.</a:t>
            </a:r>
          </a:p>
        </p:txBody>
      </p:sp>
      <p:sp>
        <p:nvSpPr>
          <p:cNvPr id="87" name="Google Shape;87;p27:notes">
            <a:extLst>
              <a:ext uri="{FF2B5EF4-FFF2-40B4-BE49-F238E27FC236}">
                <a16:creationId xmlns:a16="http://schemas.microsoft.com/office/drawing/2014/main" id="{DA0F0361-466B-375A-18E7-2198E1CD8C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4108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the lecture's main theme: how a digital processor connects to an analog world. It is text only. It lists five continuous real-world signals: temperature, sound, velocity, pressure and luminosity. It then repeats a point from earlier lectures: the CPU can only process discrete binary values, 0 or 1. Two converters bridge that gap. The ADC, or analog-to-digital converter, is labeled "the eyes and ears" because it turns physical signals into numbers the CPU can process. The DAC, or digital-to-analog converter, is labeled "the hands and voice" because it turns processed numbers back into voltages that drive motors, speakers, and similar devices.</a:t>
            </a:r>
          </a:p>
          <a:p>
            <a:pPr marL="0" lvl="0" indent="0" algn="l" rtl="0">
              <a:lnSpc>
                <a:spcPct val="100000"/>
              </a:lnSpc>
              <a:spcBef>
                <a:spcPts val="0"/>
              </a:spcBef>
              <a:spcAft>
                <a:spcPts val="600"/>
              </a:spcAft>
              <a:buSzPts val="1400"/>
              <a:buNone/>
            </a:pPr>
            <a:r>
              <a:rPr lang="en-US" dirty="0"/>
              <a:t>A continuous signal can take any value at any instant. A temperature can be 21.37 degrees, not just 21 or 22. Your F28379D has no way to store "any value." It stores binary words of a fixed length. Conversion therefore always involves two approximations: sampling at discrete times, and rounding to a finite set of levels. The number of levels is set by the converter's resolution, in bits.</a:t>
            </a:r>
          </a:p>
          <a:p>
            <a:pPr marL="0" lvl="0" indent="0" algn="l" rtl="0">
              <a:lnSpc>
                <a:spcPct val="100000"/>
              </a:lnSpc>
              <a:spcBef>
                <a:spcPts val="0"/>
              </a:spcBef>
              <a:spcAft>
                <a:spcPts val="600"/>
              </a:spcAft>
              <a:buSzPts val="1400"/>
              <a:buNone/>
            </a:pPr>
            <a:r>
              <a:rPr lang="en-US" dirty="0"/>
              <a:t>Notice the pattern this sets up for the rest of the course. A sensor voltage enters through the ADC, your code filters it or runs a control law on it, and the result goes back out through a DAC or PWM to an actuator. That loop of sense, compute and act is the core of every feedback controller you build on the robot.</a:t>
            </a:r>
          </a:p>
          <a:p>
            <a:pPr marL="0" lvl="0" indent="0" algn="l" rtl="0">
              <a:lnSpc>
                <a:spcPct val="100000"/>
              </a:lnSpc>
              <a:spcBef>
                <a:spcPts val="0"/>
              </a:spcBef>
              <a:spcAft>
                <a:spcPts val="600"/>
              </a:spcAft>
              <a:buSzPts val="1400"/>
              <a:buNone/>
            </a:pPr>
            <a:r>
              <a:rPr lang="en-US" dirty="0"/>
              <a:t>As a quick check, ask yourself which converter you need for each of these: reading a microphone, and setting a voltage to a speaker.</a:t>
            </a:r>
          </a:p>
          <a:p>
            <a:pPr marL="0" lvl="0" indent="0" algn="l" rtl="0">
              <a:lnSpc>
                <a:spcPct val="100000"/>
              </a:lnSpc>
              <a:spcBef>
                <a:spcPts val="0"/>
              </a:spcBef>
              <a:spcAft>
                <a:spcPts val="600"/>
              </a:spcAft>
              <a:buSzPts val="1400"/>
              <a:buNone/>
            </a:pPr>
            <a:r>
              <a:rPr lang="en-US" dirty="0"/>
              <a:t>Next, we start with the DAC and see how a binary number becomes a proportional voltage, beginning with resolution.</a:t>
            </a:r>
          </a:p>
        </p:txBody>
      </p:sp>
      <p:sp>
        <p:nvSpPr>
          <p:cNvPr id="116" name="Google Shape;11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is a section title slide on an orange background with faint hand-drawn sketches of equations, a cube, a sphere and chemical structures. It reads "DAC" with the subtitle "(Digital-to-Analog Converter)".</a:t>
            </a:r>
          </a:p>
          <a:p>
            <a:pPr marL="0" lvl="0" indent="0" algn="l" rtl="0">
              <a:spcBef>
                <a:spcPts val="0"/>
              </a:spcBef>
              <a:spcAft>
                <a:spcPts val="600"/>
              </a:spcAft>
              <a:buNone/>
            </a:pPr>
            <a:r>
              <a:rPr lang="en-US" dirty="0"/>
              <a:t>In the introduction, the DAC is "the hands and voice" of the system: it turns numbers computed by the CPU back into voltages. Next, you see how a DAC's bit count sets its resolution, how many bits your microcontroller's DAC has, and how an R-2R resistor ladder builds the output voltage.</a:t>
            </a: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EAFA202-7A7B-7DD0-F218-5A858905380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A2D013F-453D-57A9-383A-C45AA77FDF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gives the basic definition and equation of a DAC. The text says a DAC is a device that converts a binary input number into a proportional analog voltage. The general equation, centered on the slide, is V_out = V_ref * X / 2^N: the output voltage equals the reference voltage times X divided by 2 to the power N. N is the resolution in bits. A larger N gives more possible subdivisions of the output range, and the slide notes that more bits also means a more expensive part. X is the digital value you input to be converted.</a:t>
            </a:r>
          </a:p>
          <a:p>
            <a:pPr marL="0" lvl="0" indent="0" algn="l" rtl="0">
              <a:lnSpc>
                <a:spcPct val="100000"/>
              </a:lnSpc>
              <a:spcBef>
                <a:spcPts val="0"/>
              </a:spcBef>
              <a:spcAft>
                <a:spcPts val="600"/>
              </a:spcAft>
              <a:buSzPts val="1400"/>
              <a:buNone/>
            </a:pPr>
            <a:r>
              <a:rPr lang="en-US" dirty="0"/>
              <a:t>Below that is the version for our microcontroller: DACOUT = DACVALA * DACREF / 4096. The output pin voltage equals the value in the DACVALA register times the DAC reference voltage, divided by 4096. The slide then asks how many bits of resolution we have, and the answer is 12, because 4096 = 2^12.</a:t>
            </a:r>
          </a:p>
          <a:p>
            <a:pPr marL="0" lvl="0" indent="0" algn="l" rtl="0">
              <a:lnSpc>
                <a:spcPct val="100000"/>
              </a:lnSpc>
              <a:spcBef>
                <a:spcPts val="0"/>
              </a:spcBef>
              <a:spcAft>
                <a:spcPts val="600"/>
              </a:spcAft>
              <a:buSzPts val="1400"/>
              <a:buNone/>
            </a:pPr>
            <a:r>
              <a:rPr lang="en-US" dirty="0"/>
              <a:t>With 12 bits, the input code runs from 0 to 4095, not 4096. So the largest output is 4095/4096 of the reference, slightly below DACREF. The smallest step, one LSB (least significant bit), is DACREF / 4096. For example, with a 3.0 V reference, one step is about 0.73 mV, and a code of 2048 gives 1.5 V.</a:t>
            </a:r>
          </a:p>
          <a:p>
            <a:pPr marL="0" lvl="0" indent="0" algn="l" rtl="0">
              <a:lnSpc>
                <a:spcPct val="100000"/>
              </a:lnSpc>
              <a:spcBef>
                <a:spcPts val="0"/>
              </a:spcBef>
              <a:spcAft>
                <a:spcPts val="600"/>
              </a:spcAft>
              <a:buSzPts val="1400"/>
              <a:buNone/>
            </a:pPr>
            <a:r>
              <a:rPr lang="en-US" dirty="0"/>
              <a:t>A common mistake is trying to write 4096 to get the full reference voltage. That value does not fit in a 12-bit register.</a:t>
            </a:r>
          </a:p>
          <a:p>
            <a:pPr marL="0" lvl="0" indent="0" algn="l" rtl="0">
              <a:lnSpc>
                <a:spcPct val="100000"/>
              </a:lnSpc>
              <a:spcBef>
                <a:spcPts val="0"/>
              </a:spcBef>
              <a:spcAft>
                <a:spcPts val="600"/>
              </a:spcAft>
              <a:buSzPts val="1400"/>
              <a:buNone/>
            </a:pPr>
            <a:r>
              <a:rPr lang="en-US" dirty="0"/>
              <a:t>Quick check: with a 3.0 V reference, what code gives about 1.0 V? Roughly 1365.</a:t>
            </a:r>
          </a:p>
          <a:p>
            <a:pPr marL="0" lvl="0" indent="0" algn="l" rtl="0">
              <a:lnSpc>
                <a:spcPct val="100000"/>
              </a:lnSpc>
              <a:spcBef>
                <a:spcPts val="0"/>
              </a:spcBef>
              <a:spcAft>
                <a:spcPts val="600"/>
              </a:spcAft>
              <a:buSzPts val="1400"/>
              <a:buNone/>
            </a:pPr>
            <a:r>
              <a:rPr lang="en-US" dirty="0"/>
              <a:t>The equation tells you what the DAC outputs. Next, the R-2R resistor ladder shows how a circuit physically produces that voltage.</a:t>
            </a:r>
          </a:p>
        </p:txBody>
      </p:sp>
      <p:sp>
        <p:nvSpPr>
          <p:cNvPr id="116" name="Google Shape;116;p29:notes">
            <a:extLst>
              <a:ext uri="{FF2B5EF4-FFF2-40B4-BE49-F238E27FC236}">
                <a16:creationId xmlns:a16="http://schemas.microsoft.com/office/drawing/2014/main" id="{48385503-D8E0-89D2-7BC7-02CC7C9FAE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46202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0E32622-5A88-89D8-C8F1-7EEF6ADC89A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AA0EC07-2446-17ED-D674-CD7E2E62DD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how a DAC can actually be built from a resistor network, the R-2R ladder. The title is "DAC – R-2R resistor ladder," and the slide calls it a voltage-mode R-2R resistor ladder network. A small note on the slide reads "If the image is still here, I did not have time to make an animation," so the static schematic stands in for an animation.</a:t>
            </a:r>
          </a:p>
          <a:p>
            <a:pPr marL="0" lvl="0" indent="0" algn="l" rtl="0">
              <a:lnSpc>
                <a:spcPct val="100000"/>
              </a:lnSpc>
              <a:spcBef>
                <a:spcPts val="0"/>
              </a:spcBef>
              <a:spcAft>
                <a:spcPts val="600"/>
              </a:spcAft>
              <a:buSzPts val="1400"/>
              <a:buNone/>
            </a:pPr>
            <a:r>
              <a:rPr lang="en-US" dirty="0"/>
              <a:t>The schematic is a horizontal chain of nodes joined by series resistors of value R. The leftmost node connects to ground through a 2R resistor. Each node also connects upward through its own 2R resistor to a digital bit input: a_0 at the grounded left end, then a_1, a_2, and so on through a_(n-1) at the right end, with dots marking the repeated middle stages. The rightmost node is the output V_out. The slide credits Wikipedia's Resistor_ladder page, https://en.wikipedia.org/wiki/Resistor_ladder.</a:t>
            </a:r>
          </a:p>
          <a:p>
            <a:pPr marL="0" lvl="0" indent="0" algn="l" rtl="0">
              <a:lnSpc>
                <a:spcPct val="100000"/>
              </a:lnSpc>
              <a:spcBef>
                <a:spcPts val="0"/>
              </a:spcBef>
              <a:spcAft>
                <a:spcPts val="600"/>
              </a:spcAft>
              <a:buSzPts val="1400"/>
              <a:buNone/>
            </a:pPr>
            <a:r>
              <a:rPr lang="en-US" dirty="0"/>
              <a:t>Each bit input is switched to either 0 V (bit = 0) or V_ref (bit = 1). The key property is that the resistance looking left from any node is always R. At the first node, the 2R to ground in parallel with the 2R bit leg gives R. Adding the series R gives 2R again, and that pairs with the next 2R leg, and so on. Because of this symmetry, a bit's contribution is halved at every node it passes on the way to the output.</a:t>
            </a:r>
          </a:p>
          <a:p>
            <a:pPr marL="0" lvl="0" indent="0" algn="l" rtl="0">
              <a:lnSpc>
                <a:spcPct val="100000"/>
              </a:lnSpc>
              <a:spcBef>
                <a:spcPts val="0"/>
              </a:spcBef>
              <a:spcAft>
                <a:spcPts val="600"/>
              </a:spcAft>
              <a:buSzPts val="1400"/>
              <a:buNone/>
            </a:pPr>
            <a:r>
              <a:rPr lang="en-US" dirty="0"/>
              <a:t>The output therefore reads V_out = V_ref*(a_(n-1)/2 + a_(n-2)/4 + ... + a_0/2^n), which simplifies to V_out = V_ref*X/2^n. This is the formula from the previous slide, and the slide's text states the same idea: the output comes from the integer X made of bits a_(n-1), the most significant bit (MSB), through a_0, the least significant bit (LSB).</a:t>
            </a:r>
          </a:p>
          <a:p>
            <a:pPr marL="0" lvl="0" indent="0" algn="l" rtl="0">
              <a:lnSpc>
                <a:spcPct val="100000"/>
              </a:lnSpc>
              <a:spcBef>
                <a:spcPts val="0"/>
              </a:spcBef>
              <a:spcAft>
                <a:spcPts val="600"/>
              </a:spcAft>
              <a:buSzPts val="1400"/>
              <a:buNone/>
            </a:pPr>
            <a:r>
              <a:rPr lang="en-US" dirty="0"/>
              <a:t>Quick check: with 3 bits, V_ref = 3 V and X = 101 in binary (5), what is V_out? The answer is 3*5/8 = 1.875 V. The design is attractive because it needs only two resistor values, however many bits there are.</a:t>
            </a:r>
          </a:p>
          <a:p>
            <a:pPr marL="0" lvl="0" indent="0" algn="l" rtl="0">
              <a:lnSpc>
                <a:spcPct val="100000"/>
              </a:lnSpc>
              <a:spcBef>
                <a:spcPts val="0"/>
              </a:spcBef>
              <a:spcAft>
                <a:spcPts val="600"/>
              </a:spcAft>
              <a:buSzPts val="1400"/>
              <a:buNone/>
            </a:pPr>
            <a:r>
              <a:rPr lang="en-US" dirty="0"/>
              <a:t>One limitation sets up the next slide. The ladder's output resistance is R, so connecting a load pulls V_out down. That is why the next slide adds a buffer amplifier.</a:t>
            </a:r>
          </a:p>
        </p:txBody>
      </p:sp>
      <p:sp>
        <p:nvSpPr>
          <p:cNvPr id="116" name="Google Shape;116;p29:notes">
            <a:extLst>
              <a:ext uri="{FF2B5EF4-FFF2-40B4-BE49-F238E27FC236}">
                <a16:creationId xmlns:a16="http://schemas.microsoft.com/office/drawing/2014/main" id="{7464E5B4-5024-AD55-0C86-BCBB1CC6B1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0745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A5D7C26-16C5-F3CB-2617-294E585397F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8D89B72-D17B-2C54-3234-15FFC9BAC1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Figure 12-1 from the TI reference manual, the block diagram of one buffered DAC module on our F28379D. Last slide's R-2R ladder is the conversion core; this slide shows what surrounds it.</a:t>
            </a:r>
          </a:p>
          <a:p>
            <a:pPr marL="0" lvl="0" indent="0" algn="l" rtl="0">
              <a:lnSpc>
                <a:spcPct val="100000"/>
              </a:lnSpc>
              <a:spcBef>
                <a:spcPts val="0"/>
              </a:spcBef>
              <a:spcAft>
                <a:spcPts val="600"/>
              </a:spcAft>
              <a:buSzPts val="1400"/>
              <a:buNone/>
            </a:pPr>
            <a:r>
              <a:rPr lang="en-US" dirty="0"/>
              <a:t>Reading left to right: you write your number into a shadow register called DACVALS. That value is copied into the active register DACVALA in one of two ways, chosen by the DACCTL LOADMODE bit. With LOADMODE = 0, the copy happens on the next SYSCLK edge, so the output updates almost immediately. With LOADMODE = 1, the copy waits for an ePWM sync event, EPWM1SYNCPER through EPWMnSYNCPER, selected by DACCTL SYNCSEL. Syncing to the PWM period means the analog output changes at a predictable moment instead of in the middle of a cycle.</a:t>
            </a:r>
          </a:p>
          <a:p>
            <a:pPr marL="0" lvl="0" indent="0" algn="l" rtl="0">
              <a:lnSpc>
                <a:spcPct val="100000"/>
              </a:lnSpc>
              <a:spcBef>
                <a:spcPts val="0"/>
              </a:spcBef>
              <a:spcAft>
                <a:spcPts val="600"/>
              </a:spcAft>
              <a:buSzPts val="1400"/>
              <a:buNone/>
            </a:pPr>
            <a:r>
              <a:rPr lang="en-US" dirty="0"/>
              <a:t>DACVALA drives the 12-bit DAC. Its reference voltage, DACREF, is selected by DACCTL DACREFSEL: input 0 is VDAC, input 1 is VREFHI. The output follows the equation on the slide: DACOUT = DACVALA * DACREF / 4096, read as "DACOUT equals DACVALA times DACREF, divided by 4096." For example, with DACREF = 3.0 V and DACVALA = 2048, DACOUT = 1.5 V.</a:t>
            </a:r>
          </a:p>
          <a:p>
            <a:pPr marL="0" lvl="0" indent="0" algn="l" rtl="0">
              <a:lnSpc>
                <a:spcPct val="100000"/>
              </a:lnSpc>
              <a:spcBef>
                <a:spcPts val="0"/>
              </a:spcBef>
              <a:spcAft>
                <a:spcPts val="600"/>
              </a:spcAft>
              <a:buSzPts val="1400"/>
              <a:buNone/>
            </a:pPr>
            <a:r>
              <a:rPr lang="en-US" dirty="0"/>
              <a:t>The DAC output then passes through a buffer amplifier powered by VDDA and VSSA, so it can drive a load without the voltage sagging. At the DACOUT pin, a pull-down resistor, R_PD, to VSSA holds the pin at a defined low level instead of letting it float.</a:t>
            </a:r>
          </a:p>
          <a:p>
            <a:pPr marL="0" lvl="0" indent="0" algn="l" rtl="0">
              <a:lnSpc>
                <a:spcPct val="100000"/>
              </a:lnSpc>
              <a:spcBef>
                <a:spcPts val="0"/>
              </a:spcBef>
              <a:spcAft>
                <a:spcPts val="600"/>
              </a:spcAft>
              <a:buSzPts val="1400"/>
              <a:buNone/>
            </a:pPr>
            <a:r>
              <a:rPr lang="en-US" dirty="0"/>
              <a:t>A common mistake: with LOADMODE = 1, writing DACVALS does not change the output until the selected PWM sync arrives.</a:t>
            </a:r>
          </a:p>
          <a:p>
            <a:pPr marL="0" lvl="0" indent="0" algn="l" rtl="0">
              <a:lnSpc>
                <a:spcPct val="100000"/>
              </a:lnSpc>
              <a:spcBef>
                <a:spcPts val="0"/>
              </a:spcBef>
              <a:spcAft>
                <a:spcPts val="600"/>
              </a:spcAft>
              <a:buSzPts val="1400"/>
              <a:buNone/>
            </a:pPr>
            <a:r>
              <a:rPr lang="en-US" dirty="0"/>
              <a:t>The next slide summarizes these features.</a:t>
            </a:r>
          </a:p>
        </p:txBody>
      </p:sp>
      <p:sp>
        <p:nvSpPr>
          <p:cNvPr id="116" name="Google Shape;116;p29:notes">
            <a:extLst>
              <a:ext uri="{FF2B5EF4-FFF2-40B4-BE49-F238E27FC236}">
                <a16:creationId xmlns:a16="http://schemas.microsoft.com/office/drawing/2014/main" id="{2673B166-BDFB-6D40-2A07-200FB4CB98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5736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24BFE36-921A-787F-36A2-E5783E2A5CB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268DE94-6B6E-E146-F5A8-D8F2298871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summarizes the features of each buffered DAC on the F28379D. A bulleted list says each DAC has a 12-bit programmable internal DAC, a selectable reference voltage source (internal VDAC or external VREFHI), a pull-down resistor on the output, and the ability to synchronize with EPWMSYNCPER. Below the list, the slide explains that MCU DACs include an op-amp buffer at the output, notes that EPWMSYNCPER comes from the ePWM Time-Base submodule, and states that there are three DACs: DACA, DACB and DACC.</a:t>
            </a:r>
          </a:p>
          <a:p>
            <a:pPr marL="0" lvl="0" indent="0" algn="l" rtl="0">
              <a:lnSpc>
                <a:spcPct val="100000"/>
              </a:lnSpc>
              <a:spcBef>
                <a:spcPts val="0"/>
              </a:spcBef>
              <a:spcAft>
                <a:spcPts val="600"/>
              </a:spcAft>
              <a:buSzPts val="1400"/>
              <a:buNone/>
            </a:pPr>
            <a:r>
              <a:rPr lang="en-US" dirty="0"/>
              <a:t>These features map directly onto the block diagram from the previous slide. Twelve bits means 2^12 = 4096 output levels. The output is roughly Vout = DACVAL * Vref / 4096. For example, with a 3.0 V reference, each step is about 0.73 mV.</a:t>
            </a:r>
          </a:p>
          <a:p>
            <a:pPr marL="0" lvl="0" indent="0" algn="l" rtl="0">
              <a:lnSpc>
                <a:spcPct val="100000"/>
              </a:lnSpc>
              <a:spcBef>
                <a:spcPts val="0"/>
              </a:spcBef>
              <a:spcAft>
                <a:spcPts val="600"/>
              </a:spcAft>
              <a:buSzPts val="1400"/>
              <a:buNone/>
            </a:pPr>
            <a:r>
              <a:rPr lang="en-US" dirty="0"/>
              <a:t>The reference select is the DACREFSEL bit, so the reference you choose sets the full-scale voltage.</a:t>
            </a:r>
          </a:p>
          <a:p>
            <a:pPr marL="0" lvl="0" indent="0" algn="l" rtl="0">
              <a:lnSpc>
                <a:spcPct val="100000"/>
              </a:lnSpc>
              <a:spcBef>
                <a:spcPts val="0"/>
              </a:spcBef>
              <a:spcAft>
                <a:spcPts val="600"/>
              </a:spcAft>
              <a:buSzPts val="1400"/>
              <a:buNone/>
            </a:pPr>
            <a:r>
              <a:rPr lang="en-US" dirty="0"/>
              <a:t>The op-amp buffer gives the output a low impedance. Without it, the R-2R ladder's output would sag as soon as a load draws current. Keep in mind that the buffer still supplies only small currents. It can drive a motor driver's input or an amplifier, but never a motor or speaker coil directly.</a:t>
            </a:r>
          </a:p>
          <a:p>
            <a:pPr marL="0" lvl="0" indent="0" algn="l" rtl="0">
              <a:lnSpc>
                <a:spcPct val="100000"/>
              </a:lnSpc>
              <a:spcBef>
                <a:spcPts val="0"/>
              </a:spcBef>
              <a:spcAft>
                <a:spcPts val="600"/>
              </a:spcAft>
              <a:buSzPts val="1400"/>
              <a:buNone/>
            </a:pPr>
            <a:r>
              <a:rPr lang="en-US" dirty="0"/>
              <a:t>The pull-down resistor holds the pin at a known 0 V when the output is disabled, instead of letting it float.</a:t>
            </a:r>
          </a:p>
          <a:p>
            <a:pPr marL="0" lvl="0" indent="0" algn="l" rtl="0">
              <a:lnSpc>
                <a:spcPct val="100000"/>
              </a:lnSpc>
              <a:spcBef>
                <a:spcPts val="0"/>
              </a:spcBef>
              <a:spcAft>
                <a:spcPts val="600"/>
              </a:spcAft>
              <a:buSzPts val="1400"/>
              <a:buNone/>
            </a:pPr>
            <a:r>
              <a:rPr lang="en-US" dirty="0"/>
              <a:t>Synchronization means the shadow value DACVALS is copied to the active register DACVALA on a PWM period event instead of on the next clock. This lines DAC updates up with your PWM timing.</a:t>
            </a:r>
          </a:p>
          <a:p>
            <a:pPr marL="0" lvl="0" indent="0" algn="l" rtl="0">
              <a:lnSpc>
                <a:spcPct val="100000"/>
              </a:lnSpc>
              <a:spcBef>
                <a:spcPts val="0"/>
              </a:spcBef>
              <a:spcAft>
                <a:spcPts val="600"/>
              </a:spcAft>
              <a:buSzPts val="1400"/>
              <a:buNone/>
            </a:pPr>
            <a:r>
              <a:rPr lang="en-US" dirty="0"/>
              <a:t>Quick check: if you write 2048 to the DAC, what fraction of the reference appears at the pin? About half.</a:t>
            </a:r>
          </a:p>
          <a:p>
            <a:pPr marL="0" lvl="0" indent="0" algn="l" rtl="0">
              <a:lnSpc>
                <a:spcPct val="100000"/>
              </a:lnSpc>
              <a:spcBef>
                <a:spcPts val="0"/>
              </a:spcBef>
              <a:spcAft>
                <a:spcPts val="600"/>
              </a:spcAft>
              <a:buSzPts val="1400"/>
              <a:buNone/>
            </a:pPr>
            <a:r>
              <a:rPr lang="en-US" dirty="0"/>
              <a:t>The next slide shows where EPWMSYNCPER is generated.</a:t>
            </a:r>
          </a:p>
        </p:txBody>
      </p:sp>
      <p:sp>
        <p:nvSpPr>
          <p:cNvPr id="116" name="Google Shape;116;p29:notes">
            <a:extLst>
              <a:ext uri="{FF2B5EF4-FFF2-40B4-BE49-F238E27FC236}">
                <a16:creationId xmlns:a16="http://schemas.microsoft.com/office/drawing/2014/main" id="{117441D0-9AE7-FA0B-2840-D46B614709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69850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B33667E-D22D-A9E5-5051-DCDF762F54B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A42024C-4201-CF5A-3061-0A214F0B9F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marked "for later reference." It reproduces Figure 15-5 from the TI technical reference manual, the Time-Base Submodule Signals and Registers of the ePWM. It is here because the previous slide said the buffered DAC can synchronize its updates to EPWMSYNCPER, and this diagram shows where that signal comes from. We study the ePWM in detail in a later lecture.</a:t>
            </a:r>
          </a:p>
          <a:p>
            <a:pPr marL="0" lvl="0" indent="0" algn="l" rtl="0">
              <a:lnSpc>
                <a:spcPct val="100000"/>
              </a:lnSpc>
              <a:spcBef>
                <a:spcPts val="0"/>
              </a:spcBef>
              <a:spcAft>
                <a:spcPts val="600"/>
              </a:spcAft>
              <a:buSzPts val="1400"/>
              <a:buNone/>
            </a:pPr>
            <a:r>
              <a:rPr lang="en-US" dirty="0"/>
              <a:t>Start at the bottom left of the diagram. SYSCLK passes through the EPWMCLK prescaler, set by ClkCfgRegs.PERCLKDIVSEL[EPWMCLKDIV]. It then passes through a second clock prescaler, set by TBCTL[HSPCLKDIV] and TBCTL[CLKDIV], to produce TBCLK.</a:t>
            </a:r>
          </a:p>
          <a:p>
            <a:pPr marL="0" lvl="0" indent="0" algn="l" rtl="0">
              <a:lnSpc>
                <a:spcPct val="100000"/>
              </a:lnSpc>
              <a:spcBef>
                <a:spcPts val="0"/>
              </a:spcBef>
              <a:spcAft>
                <a:spcPts val="600"/>
              </a:spcAft>
              <a:buSzPts val="1400"/>
              <a:buNone/>
            </a:pPr>
            <a:r>
              <a:rPr lang="en-US" dirty="0"/>
              <a:t>TBCLK drives the 16-bit up/down counter TBCTR, whose counting mode is set by TBCTL[CTRMODE]. At the top, the period register TBPRD has a shadow copy and an active copy, and TBCTL[PRDLD] chooses how the active copy is loaded. A comparator checks the counter against TBPRD and produces the event CTR = PRD, which can reset the counter.</a:t>
            </a:r>
          </a:p>
          <a:p>
            <a:pPr marL="0" lvl="0" indent="0" algn="l" rtl="0">
              <a:lnSpc>
                <a:spcPct val="100000"/>
              </a:lnSpc>
              <a:spcBef>
                <a:spcPts val="0"/>
              </a:spcBef>
              <a:spcAft>
                <a:spcPts val="600"/>
              </a:spcAft>
              <a:buSzPts val="1400"/>
              <a:buNone/>
            </a:pPr>
            <a:r>
              <a:rPr lang="en-US" dirty="0"/>
              <a:t>When the switch TBCTL[PHSEN] is enabled, a sync event loads the phase register TBPHS into the counter. That sync event is an OR of several sources: the input EPWMxSYNCI, the software sync TBCTL[SWFSYNC], or the digital compare events DCAEVT1.sync and DCBEVT1.sync.</a:t>
            </a:r>
          </a:p>
          <a:p>
            <a:pPr marL="0" lvl="0" indent="0" algn="l" rtl="0">
              <a:lnSpc>
                <a:spcPct val="100000"/>
              </a:lnSpc>
              <a:spcBef>
                <a:spcPts val="0"/>
              </a:spcBef>
              <a:spcAft>
                <a:spcPts val="600"/>
              </a:spcAft>
              <a:buSzPts val="1400"/>
              <a:buNone/>
            </a:pPr>
            <a:r>
              <a:rPr lang="en-US" dirty="0"/>
              <a:t>On the right, multiplexers choose which counter event becomes each output. TBCTL[SYNCOSEL] and TBCTL2[SYNCOSELX] select EPWMxSYNCO from options such as CTR = ZERO, CTR = CMPB, CMPC or CMPD. HRPCTL selects EPWMxSYNCPER from CTR = PRD, CTR = ZERO, or CMPC and CMPD while counting up or down.</a:t>
            </a:r>
          </a:p>
          <a:p>
            <a:pPr marL="0" lvl="0" indent="0" algn="l" rtl="0">
              <a:lnSpc>
                <a:spcPct val="100000"/>
              </a:lnSpc>
              <a:spcBef>
                <a:spcPts val="0"/>
              </a:spcBef>
              <a:spcAft>
                <a:spcPts val="600"/>
              </a:spcAft>
              <a:buSzPts val="1400"/>
              <a:buNone/>
            </a:pPr>
            <a:r>
              <a:rPr lang="en-US" dirty="0"/>
              <a:t>You do not need this for basic DAC use. With LOADMODE = 0 the DAC simply updates on the next SYSCLK, which is the setup you see on the next slide.</a:t>
            </a:r>
          </a:p>
        </p:txBody>
      </p:sp>
      <p:sp>
        <p:nvSpPr>
          <p:cNvPr id="116" name="Google Shape;116;p29:notes">
            <a:extLst>
              <a:ext uri="{FF2B5EF4-FFF2-40B4-BE49-F238E27FC236}">
                <a16:creationId xmlns:a16="http://schemas.microsoft.com/office/drawing/2014/main" id="{C14AF33B-6B77-F85E-C343-12409F6259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7255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0CEE4E0-E729-ADCB-DDF5-CF16331BD0C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3BF918E-F6BC-6FB8-C735-34FA1A2E96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the actual code for using DAC A, in two parts. Under "Setup" is a block of C that runs once at startup. Under "Setting" is a single line you run whenever you want a new output voltage.</a:t>
            </a:r>
          </a:p>
          <a:p>
            <a:pPr marL="0" lvl="0" indent="0" algn="l" rtl="0">
              <a:lnSpc>
                <a:spcPct val="100000"/>
              </a:lnSpc>
              <a:spcBef>
                <a:spcPts val="0"/>
              </a:spcBef>
              <a:spcAft>
                <a:spcPts val="600"/>
              </a:spcAft>
              <a:buSzPts val="1400"/>
              <a:buNone/>
            </a:pPr>
            <a:r>
              <a:rPr lang="en-US" dirty="0"/>
              <a:t>The setup block begins with EALLOW and ends with EDIS. Many configuration registers on the F28379D are write-protected. EALLOW unlocks them and EDIS locks them again, so a stray pointer cannot reconfigure a peripheral. Between those two lines are four statements:</a:t>
            </a:r>
          </a:p>
          <a:p>
            <a:pPr marL="0" lvl="0" indent="0" algn="l" rtl="0">
              <a:lnSpc>
                <a:spcPct val="100000"/>
              </a:lnSpc>
              <a:spcBef>
                <a:spcPts val="0"/>
              </a:spcBef>
              <a:spcAft>
                <a:spcPts val="600"/>
              </a:spcAft>
              <a:buSzPts val="1400"/>
              <a:buNone/>
            </a:pPr>
            <a:r>
              <a:rPr lang="en-US" dirty="0"/>
              <a:t>1. DacaRegs.DACCTL.bit.DACREFSEL = 0 chooses the reference voltage. Per the comment, 0 selects the internal reference and 1 selects an external one.</a:t>
            </a:r>
          </a:p>
          <a:p>
            <a:pPr marL="0" lvl="0" indent="0" algn="l" rtl="0">
              <a:lnSpc>
                <a:spcPct val="100000"/>
              </a:lnSpc>
              <a:spcBef>
                <a:spcPts val="0"/>
              </a:spcBef>
              <a:spcAft>
                <a:spcPts val="600"/>
              </a:spcAft>
              <a:buSzPts val="1400"/>
              <a:buNone/>
            </a:pPr>
            <a:r>
              <a:rPr lang="en-US" dirty="0"/>
              <a:t>2. DacaRegs.DACOUTEN.bit.DACOUTEN = 1 turns on the output buffer, the op-amp from the previous slides, so the voltage actually reaches the pin.</a:t>
            </a:r>
          </a:p>
          <a:p>
            <a:pPr marL="0" lvl="0" indent="0" algn="l" rtl="0">
              <a:lnSpc>
                <a:spcPct val="100000"/>
              </a:lnSpc>
              <a:spcBef>
                <a:spcPts val="0"/>
              </a:spcBef>
              <a:spcAft>
                <a:spcPts val="600"/>
              </a:spcAft>
              <a:buSzPts val="1400"/>
              <a:buNone/>
            </a:pPr>
            <a:r>
              <a:rPr lang="en-US" dirty="0"/>
              <a:t>3. DacaRegs.DACVALS.all = 0 clears the output so it starts at zero volts.</a:t>
            </a:r>
          </a:p>
          <a:p>
            <a:pPr marL="0" lvl="0" indent="0" algn="l" rtl="0">
              <a:lnSpc>
                <a:spcPct val="100000"/>
              </a:lnSpc>
              <a:spcBef>
                <a:spcPts val="0"/>
              </a:spcBef>
              <a:spcAft>
                <a:spcPts val="600"/>
              </a:spcAft>
              <a:buSzPts val="1400"/>
              <a:buNone/>
            </a:pPr>
            <a:r>
              <a:rPr lang="en-US" dirty="0"/>
              <a:t>4. DELAY_US(10) waits 10 microseconds for the buffered DAC to power up before you use it.</a:t>
            </a:r>
          </a:p>
          <a:p>
            <a:pPr marL="0" lvl="0" indent="0" algn="l" rtl="0">
              <a:lnSpc>
                <a:spcPct val="100000"/>
              </a:lnSpc>
              <a:spcBef>
                <a:spcPts val="0"/>
              </a:spcBef>
              <a:spcAft>
                <a:spcPts val="600"/>
              </a:spcAft>
              <a:buSzPts val="1400"/>
              <a:buNone/>
            </a:pPr>
            <a:r>
              <a:rPr lang="en-US" dirty="0"/>
              <a:t>Setting the output is one line: DacaRegs.DACVALS.all = val. Only the lowest 12 bits of val are kept. That means the useful range is 0 to 4095, and the output voltage is roughly Vout = (val / 4096) * Vref.</a:t>
            </a:r>
          </a:p>
          <a:p>
            <a:pPr marL="0" lvl="0" indent="0" algn="l" rtl="0">
              <a:lnSpc>
                <a:spcPct val="100000"/>
              </a:lnSpc>
              <a:spcBef>
                <a:spcPts val="0"/>
              </a:spcBef>
              <a:spcAft>
                <a:spcPts val="600"/>
              </a:spcAft>
              <a:buSzPts val="1400"/>
              <a:buNone/>
            </a:pPr>
            <a:r>
              <a:rPr lang="en-US" dirty="0"/>
              <a:t>A common mistake is writing a value larger than 4095 and expecting the DAC to saturate. Instead, the extra bits are dropped and the output wraps to a low value. Clamp val to the range 0 to 4095 first.</a:t>
            </a:r>
          </a:p>
          <a:p>
            <a:pPr marL="0" lvl="0" indent="0" algn="l" rtl="0">
              <a:lnSpc>
                <a:spcPct val="100000"/>
              </a:lnSpc>
              <a:spcBef>
                <a:spcPts val="0"/>
              </a:spcBef>
              <a:spcAft>
                <a:spcPts val="600"/>
              </a:spcAft>
              <a:buSzPts val="1400"/>
              <a:buNone/>
            </a:pPr>
            <a:r>
              <a:rPr lang="en-US" dirty="0"/>
              <a:t>Quick check: with a 3.0 V reference, what val gives about 1.5 V? (About 2048.)</a:t>
            </a:r>
          </a:p>
          <a:p>
            <a:pPr marL="0" lvl="0" indent="0" algn="l" rtl="0">
              <a:lnSpc>
                <a:spcPct val="100000"/>
              </a:lnSpc>
              <a:spcBef>
                <a:spcPts val="0"/>
              </a:spcBef>
              <a:spcAft>
                <a:spcPts val="600"/>
              </a:spcAft>
              <a:buSzPts val="1400"/>
              <a:buNone/>
            </a:pPr>
            <a:r>
              <a:rPr lang="en-US" dirty="0"/>
              <a:t>Next, you go the other direction, turning an analog voltage back into a number with the ADC.</a:t>
            </a:r>
          </a:p>
        </p:txBody>
      </p:sp>
      <p:sp>
        <p:nvSpPr>
          <p:cNvPr id="116" name="Google Shape;116;p29:notes">
            <a:extLst>
              <a:ext uri="{FF2B5EF4-FFF2-40B4-BE49-F238E27FC236}">
                <a16:creationId xmlns:a16="http://schemas.microsoft.com/office/drawing/2014/main" id="{FBB99FF6-DFB0-09DA-4895-3A69E86D8E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5704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91907B6-BAF1-014B-5BDE-3007A3B1373D}"/>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82685E68-CB7E-1651-E0C0-BDAE3C251CE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"ADC" with the subtitle "(Analog-to-Digital Converter)" on the orange Grainger Engineering background with faint hand-drawn equations and sketches.</a:t>
            </a:r>
          </a:p>
          <a:p>
            <a:pPr marL="0" lvl="0" indent="0" algn="l" rtl="0">
              <a:spcBef>
                <a:spcPts val="0"/>
              </a:spcBef>
              <a:spcAft>
                <a:spcPts val="600"/>
              </a:spcAft>
              <a:buNone/>
            </a:pPr>
            <a:r>
              <a:rPr lang="en-US" dirty="0"/>
              <a:t>You have just seen how the DAC turns a 12-bit number into a voltage. Now you go the other direction: the ADC measures a continuous voltage, such as a sensor output, and turns it into a number your code can use. Next, you see the three steps every conversion follows: sample, hold, and quantize.</a:t>
            </a:r>
          </a:p>
        </p:txBody>
      </p:sp>
      <p:sp>
        <p:nvSpPr>
          <p:cNvPr id="102" name="Google Shape;102;p28:notes">
            <a:extLst>
              <a:ext uri="{FF2B5EF4-FFF2-40B4-BE49-F238E27FC236}">
                <a16:creationId xmlns:a16="http://schemas.microsoft.com/office/drawing/2014/main" id="{4A1F2A62-D603-2C65-28B5-08B095EC24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4055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75F944E-35B0-F324-E84E-524C252ACB0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0582620-4B30-B709-7443-7C28D7C1A22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the analog-to-digital converter, the mirror image of the DAC you just set up. Where the DAC turns a number into a voltage, the ADC converts a continuous voltage into a discrete digital number. The slide lists a three-step process and shows Figure 11-3 from the TI manual, the single-ended input model.</a:t>
            </a:r>
          </a:p>
          <a:p>
            <a:pPr marL="0" lvl="0" indent="0" algn="l" rtl="0">
              <a:lnSpc>
                <a:spcPct val="100000"/>
              </a:lnSpc>
              <a:spcBef>
                <a:spcPts val="0"/>
              </a:spcBef>
              <a:spcAft>
                <a:spcPts val="600"/>
              </a:spcAft>
              <a:buSzPts val="1400"/>
              <a:buNone/>
            </a:pPr>
            <a:r>
              <a:rPr lang="en-US" dirty="0"/>
              <a:t>The figure shows an AC signal source in series with its source resistance, R sub s, wired to the ADC input pin ADCINx. The source's return goes to the VREFLO pin, which is grounded. Inside the ADC block, a parasitic capacitance C sub p sits across the input. A sampling switch with on-resistance R sub on then connects the input to a small hold capacitor, C sub h.</a:t>
            </a:r>
          </a:p>
          <a:p>
            <a:pPr marL="0" lvl="0" indent="0" algn="l" rtl="0">
              <a:lnSpc>
                <a:spcPct val="100000"/>
              </a:lnSpc>
              <a:spcBef>
                <a:spcPts val="0"/>
              </a:spcBef>
              <a:spcAft>
                <a:spcPts val="600"/>
              </a:spcAft>
              <a:buSzPts val="1400"/>
              <a:buNone/>
            </a:pPr>
            <a:r>
              <a:rPr lang="en-US" dirty="0"/>
              <a:t>In the first step, sample, the switch closes and C sub h charges until it matches the input voltage. In the second step, hold, the switch opens and traps that charge, so the value does not change while it is being measured. In the third step, quantize, the converter compares the stored voltage against a reference and produces a number. On this chip the reference is the span from VREFLO to VREFHI.</a:t>
            </a:r>
          </a:p>
          <a:p>
            <a:pPr marL="0" lvl="0" indent="0" algn="l" rtl="0">
              <a:lnSpc>
                <a:spcPct val="100000"/>
              </a:lnSpc>
              <a:spcBef>
                <a:spcPts val="0"/>
              </a:spcBef>
              <a:spcAft>
                <a:spcPts val="600"/>
              </a:spcAft>
              <a:buSzPts val="1400"/>
              <a:buNone/>
            </a:pPr>
            <a:r>
              <a:rPr lang="en-US" dirty="0"/>
              <a:t>The figure is really an RC circuit. The capacitor charges through R sub s plus R sub on, so it needs time to settle. If your sensor has a large source resistance, or you sample too quickly, C sub h never reaches the true voltage and your readings come out low. Keep that in mind: it is the reason for the acquisition window setting you will see in the SOC slides later.</a:t>
            </a:r>
          </a:p>
          <a:p>
            <a:pPr marL="0" lvl="0" indent="0" algn="l" rtl="0">
              <a:lnSpc>
                <a:spcPct val="100000"/>
              </a:lnSpc>
              <a:spcBef>
                <a:spcPts val="0"/>
              </a:spcBef>
              <a:spcAft>
                <a:spcPts val="600"/>
              </a:spcAft>
              <a:buSzPts val="1400"/>
              <a:buNone/>
            </a:pPr>
            <a:r>
              <a:rPr lang="en-US" dirty="0"/>
              <a:t>Quick check: what happens to a reading if you double R sub s but keep the same acquisition time? Next, we look at the features of the F28379D's ADCs.</a:t>
            </a:r>
          </a:p>
        </p:txBody>
      </p:sp>
      <p:sp>
        <p:nvSpPr>
          <p:cNvPr id="116" name="Google Shape;116;p29:notes">
            <a:extLst>
              <a:ext uri="{FF2B5EF4-FFF2-40B4-BE49-F238E27FC236}">
                <a16:creationId xmlns:a16="http://schemas.microsoft.com/office/drawing/2014/main" id="{36FEA4B9-222A-4C2E-D383-480192C0C6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534225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E42DDEC-8C1A-99AC-C870-4662B24F57D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922DC48-3593-D2CD-E29E-B7310BE485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text list titled "ADC" that summarizes the features each analog-to-digital converter on the F28379D provides. The previous slide covered how one conversion works: sample, hold, quantize. Now you see what the hardware gives you to manage many conversions.</a:t>
            </a:r>
          </a:p>
          <a:p>
            <a:pPr marL="0" lvl="0" indent="0" algn="l" rtl="0">
              <a:lnSpc>
                <a:spcPct val="100000"/>
              </a:lnSpc>
              <a:spcBef>
                <a:spcPts val="0"/>
              </a:spcBef>
              <a:spcAft>
                <a:spcPts val="600"/>
              </a:spcAft>
              <a:buSzPts val="1400"/>
              <a:buNone/>
            </a:pPr>
            <a:r>
              <a:rPr lang="en-US" dirty="0"/>
              <a:t>First, resolution is selectable at 12 or 16 bits. A 12-bit result runs from 0 to 4095 counts, and a 16-bit result runs from 0 to 65535, so 16 bits divides the same voltage range into finer steps.</a:t>
            </a:r>
          </a:p>
          <a:p>
            <a:pPr marL="0" lvl="0" indent="0" algn="l" rtl="0">
              <a:lnSpc>
                <a:spcPct val="100000"/>
              </a:lnSpc>
              <a:spcBef>
                <a:spcPts val="0"/>
              </a:spcBef>
              <a:spcAft>
                <a:spcPts val="600"/>
              </a:spcAft>
              <a:buSzPts val="1400"/>
              <a:buNone/>
            </a:pPr>
            <a:r>
              <a:rPr lang="en-US" dirty="0"/>
              <a:t>Second, the reference is ratiometric and external, set by the VREFHI and VREFLO pins. Ratiometric means the result is a fraction of the reference span. In 12-bit single-ended mode that is result = 4095*(Vin - VREFLO)/(VREFHI - VREFLO). If the reference drifts, your readings drift with it.</a:t>
            </a:r>
          </a:p>
          <a:p>
            <a:pPr marL="0" lvl="0" indent="0" algn="l" rtl="0">
              <a:lnSpc>
                <a:spcPct val="100000"/>
              </a:lnSpc>
              <a:spcBef>
                <a:spcPts val="0"/>
              </a:spcBef>
              <a:spcAft>
                <a:spcPts val="600"/>
              </a:spcAft>
              <a:buSzPts val="1400"/>
              <a:buNone/>
            </a:pPr>
            <a:r>
              <a:rPr lang="en-US" dirty="0"/>
              <a:t>Resolution and input mode are tied together. Differential conversions, which measure the difference between two pins, work only in 16-bit mode. Single-ended conversions, which measure one pin against VREFLO, work only in 12-bit mode. A common mistake is expecting a 16-bit single-ended reading. That combination is not available.</a:t>
            </a:r>
          </a:p>
          <a:p>
            <a:pPr marL="0" lvl="0" indent="0" algn="l" rtl="0">
              <a:lnSpc>
                <a:spcPct val="100000"/>
              </a:lnSpc>
              <a:spcBef>
                <a:spcPts val="0"/>
              </a:spcBef>
              <a:spcAft>
                <a:spcPts val="600"/>
              </a:spcAft>
              <a:buSzPts val="1400"/>
              <a:buNone/>
            </a:pPr>
            <a:r>
              <a:rPr lang="en-US" dirty="0"/>
              <a:t>The input multiplexer selects one of up to 16 single-ended channels or 8 differential pairs. The converter samples one channel at a time and switches between them.</a:t>
            </a:r>
          </a:p>
          <a:p>
            <a:pPr marL="0" lvl="0" indent="0" algn="l" rtl="0">
              <a:lnSpc>
                <a:spcPct val="100000"/>
              </a:lnSpc>
              <a:spcBef>
                <a:spcPts val="0"/>
              </a:spcBef>
              <a:spcAft>
                <a:spcPts val="600"/>
              </a:spcAft>
              <a:buSzPts val="1400"/>
              <a:buNone/>
            </a:pPr>
            <a:r>
              <a:rPr lang="en-US" dirty="0"/>
              <a:t>Finally, each ADC has 16 configurable SOCs, or start-of-conversion slots, and 16 individually addressable result registers, one per SOC. The SOCs get their own section later in this lecture.</a:t>
            </a:r>
          </a:p>
          <a:p>
            <a:pPr marL="0" lvl="0" indent="0" algn="l" rtl="0">
              <a:lnSpc>
                <a:spcPct val="100000"/>
              </a:lnSpc>
              <a:spcBef>
                <a:spcPts val="0"/>
              </a:spcBef>
              <a:spcAft>
                <a:spcPts val="600"/>
              </a:spcAft>
              <a:buSzPts val="1400"/>
              <a:buNone/>
            </a:pPr>
            <a:r>
              <a:rPr lang="en-US" dirty="0"/>
              <a:t>Next, you see what can trigger these conversions.</a:t>
            </a:r>
          </a:p>
        </p:txBody>
      </p:sp>
      <p:sp>
        <p:nvSpPr>
          <p:cNvPr id="116" name="Google Shape;116;p29:notes">
            <a:extLst>
              <a:ext uri="{FF2B5EF4-FFF2-40B4-BE49-F238E27FC236}">
                <a16:creationId xmlns:a16="http://schemas.microsoft.com/office/drawing/2014/main" id="{9FDBD370-811B-562D-7E96-93332CCBC2F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4713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033BCE8-44A6-F291-788A-BF29B3D3718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88889E3-26B5-DA42-3725-F9DCC721294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continues the ADC feature list from the previous slide. That slide covered resolution, reference, and channels. This one covers how a conversion gets started and what the hardware can do with the result. The slide is a bulleted list with four main items, two of which have sub-lists.</a:t>
            </a:r>
          </a:p>
          <a:p>
            <a:pPr marL="0" lvl="0" indent="0" algn="l" rtl="0">
              <a:lnSpc>
                <a:spcPct val="100000"/>
              </a:lnSpc>
              <a:spcBef>
                <a:spcPts val="0"/>
              </a:spcBef>
              <a:spcAft>
                <a:spcPts val="600"/>
              </a:spcAft>
              <a:buSzPts val="1400"/>
              <a:buNone/>
            </a:pPr>
            <a:r>
              <a:rPr lang="en-US" dirty="0"/>
              <a:t>The first item is multiple trigger sources. A trigger is the event that tells the ADC to begin sampling. The listed sources are:</a:t>
            </a:r>
          </a:p>
          <a:p>
            <a:pPr marL="0" lvl="0" indent="0" algn="l" rtl="0">
              <a:lnSpc>
                <a:spcPct val="100000"/>
              </a:lnSpc>
              <a:spcBef>
                <a:spcPts val="0"/>
              </a:spcBef>
              <a:spcAft>
                <a:spcPts val="600"/>
              </a:spcAft>
              <a:buSzPts val="1400"/>
              <a:buNone/>
            </a:pPr>
            <a:r>
              <a:rPr lang="en-US" dirty="0"/>
              <a:t>1. S/W, meaning software: your code writes a register and the conversion starts immediately.</a:t>
            </a:r>
          </a:p>
          <a:p>
            <a:pPr marL="0" lvl="0" indent="0" algn="l" rtl="0">
              <a:lnSpc>
                <a:spcPct val="100000"/>
              </a:lnSpc>
              <a:spcBef>
                <a:spcPts val="0"/>
              </a:spcBef>
              <a:spcAft>
                <a:spcPts val="600"/>
              </a:spcAft>
              <a:buSzPts val="1400"/>
              <a:buNone/>
            </a:pPr>
            <a:r>
              <a:rPr lang="en-US" dirty="0"/>
              <a:t>2. Any ePWM module, through its ADCSOC A or ADCSOC B output.</a:t>
            </a:r>
          </a:p>
          <a:p>
            <a:pPr marL="0" lvl="0" indent="0" algn="l" rtl="0">
              <a:lnSpc>
                <a:spcPct val="100000"/>
              </a:lnSpc>
              <a:spcBef>
                <a:spcPts val="0"/>
              </a:spcBef>
              <a:spcAft>
                <a:spcPts val="600"/>
              </a:spcAft>
              <a:buSzPts val="1400"/>
              <a:buNone/>
            </a:pPr>
            <a:r>
              <a:rPr lang="en-US" dirty="0"/>
              <a:t>3. The external GPIO interrupt XINT2.</a:t>
            </a:r>
          </a:p>
          <a:p>
            <a:pPr marL="0" lvl="0" indent="0" algn="l" rtl="0">
              <a:lnSpc>
                <a:spcPct val="100000"/>
              </a:lnSpc>
              <a:spcBef>
                <a:spcPts val="0"/>
              </a:spcBef>
              <a:spcAft>
                <a:spcPts val="600"/>
              </a:spcAft>
              <a:buSzPts val="1400"/>
              <a:buNone/>
            </a:pPr>
            <a:r>
              <a:rPr lang="en-US" dirty="0"/>
              <a:t>4. CPU Timers 0, 1 and 2, from each C28x core present on the chip.</a:t>
            </a:r>
          </a:p>
          <a:p>
            <a:pPr marL="0" lvl="0" indent="0" algn="l" rtl="0">
              <a:lnSpc>
                <a:spcPct val="100000"/>
              </a:lnSpc>
              <a:spcBef>
                <a:spcPts val="0"/>
              </a:spcBef>
              <a:spcAft>
                <a:spcPts val="600"/>
              </a:spcAft>
              <a:buSzPts val="1400"/>
              <a:buNone/>
            </a:pPr>
            <a:r>
              <a:rPr lang="en-US" dirty="0"/>
              <a:t>5. ADCINT1 or ADCINT2, so one finished conversion can kick off the next.</a:t>
            </a:r>
          </a:p>
          <a:p>
            <a:pPr marL="0" lvl="0" indent="0" algn="l" rtl="0">
              <a:lnSpc>
                <a:spcPct val="100000"/>
              </a:lnSpc>
              <a:spcBef>
                <a:spcPts val="0"/>
              </a:spcBef>
              <a:spcAft>
                <a:spcPts val="600"/>
              </a:spcAft>
              <a:buSzPts val="1400"/>
              <a:buNone/>
            </a:pPr>
            <a:r>
              <a:rPr lang="en-US" dirty="0"/>
              <a:t>The second item is four flexible PIE interrupts. Each ADC can raise up to four interrupts, ADCINT1 to ADCINT4, through the Peripheral Interrupt Expansion (PIE) block. That lets the CPU know when results are ready.</a:t>
            </a:r>
          </a:p>
          <a:p>
            <a:pPr marL="0" lvl="0" indent="0" algn="l" rtl="0">
              <a:lnSpc>
                <a:spcPct val="100000"/>
              </a:lnSpc>
              <a:spcBef>
                <a:spcPts val="0"/>
              </a:spcBef>
              <a:spcAft>
                <a:spcPts val="600"/>
              </a:spcAft>
              <a:buSzPts val="1400"/>
              <a:buNone/>
            </a:pPr>
            <a:r>
              <a:rPr lang="en-US" dirty="0"/>
              <a:t>The third item is burst mode. In burst mode, a single trigger launches a whole group of conversions instead of just one.</a:t>
            </a:r>
          </a:p>
          <a:p>
            <a:pPr marL="0" lvl="0" indent="0" algn="l" rtl="0">
              <a:lnSpc>
                <a:spcPct val="100000"/>
              </a:lnSpc>
              <a:spcBef>
                <a:spcPts val="0"/>
              </a:spcBef>
              <a:spcAft>
                <a:spcPts val="600"/>
              </a:spcAft>
              <a:buSzPts val="1400"/>
              <a:buNone/>
            </a:pPr>
            <a:r>
              <a:rPr lang="en-US" dirty="0"/>
              <a:t>The fourth item is four post-processing blocks. These do simple math on results in hardware, without CPU time. Each block offers:</a:t>
            </a:r>
          </a:p>
          <a:p>
            <a:pPr marL="0" lvl="0" indent="0" algn="l" rtl="0">
              <a:lnSpc>
                <a:spcPct val="100000"/>
              </a:lnSpc>
              <a:spcBef>
                <a:spcPts val="0"/>
              </a:spcBef>
              <a:spcAft>
                <a:spcPts val="600"/>
              </a:spcAft>
              <a:buSzPts val="1400"/>
              <a:buNone/>
            </a:pPr>
            <a:r>
              <a:rPr lang="en-US" dirty="0"/>
              <a:t>1. Saturating offset calibration: it subtracts an offset and clamps the result instead of letting it wrap around.</a:t>
            </a:r>
          </a:p>
          <a:p>
            <a:pPr marL="0" lvl="0" indent="0" algn="l" rtl="0">
              <a:lnSpc>
                <a:spcPct val="100000"/>
              </a:lnSpc>
              <a:spcBef>
                <a:spcPts val="0"/>
              </a:spcBef>
              <a:spcAft>
                <a:spcPts val="600"/>
              </a:spcAft>
              <a:buSzPts val="1400"/>
              <a:buNone/>
            </a:pPr>
            <a:r>
              <a:rPr lang="en-US" dirty="0"/>
              <a:t>2. Error from setpoint calculation: it subtracts a reference value.</a:t>
            </a:r>
          </a:p>
          <a:p>
            <a:pPr marL="0" lvl="0" indent="0" algn="l" rtl="0">
              <a:lnSpc>
                <a:spcPct val="100000"/>
              </a:lnSpc>
              <a:spcBef>
                <a:spcPts val="0"/>
              </a:spcBef>
              <a:spcAft>
                <a:spcPts val="600"/>
              </a:spcAft>
              <a:buSzPts val="1400"/>
              <a:buNone/>
            </a:pPr>
            <a:r>
              <a:rPr lang="en-US" dirty="0"/>
              <a:t>3. High, low, and zero-crossing compare: these can raise an interrupt or even trip an ePWM, which is useful for overcurrent protection.</a:t>
            </a:r>
          </a:p>
          <a:p>
            <a:pPr marL="0" lvl="0" indent="0" algn="l" rtl="0">
              <a:lnSpc>
                <a:spcPct val="100000"/>
              </a:lnSpc>
              <a:spcBef>
                <a:spcPts val="0"/>
              </a:spcBef>
              <a:spcAft>
                <a:spcPts val="600"/>
              </a:spcAft>
              <a:buSzPts val="1400"/>
              <a:buNone/>
            </a:pPr>
            <a:r>
              <a:rPr lang="en-US" dirty="0"/>
              <a:t>4. Trigger-to-sample delay capture: it records how long the sample waited after its trigger.</a:t>
            </a:r>
          </a:p>
          <a:p>
            <a:pPr marL="0" lvl="0" indent="0" algn="l" rtl="0">
              <a:lnSpc>
                <a:spcPct val="100000"/>
              </a:lnSpc>
              <a:spcBef>
                <a:spcPts val="0"/>
              </a:spcBef>
              <a:spcAft>
                <a:spcPts val="600"/>
              </a:spcAft>
              <a:buSzPts val="1400"/>
              <a:buNone/>
            </a:pPr>
            <a:r>
              <a:rPr lang="en-US" dirty="0"/>
              <a:t>Why does the trigger matter so much? Digital filters and controllers assume samples are evenly spaced in time. Triggering from an ePWM or a CPU timer gives an exact, fixed sample rate. Triggering from software inside a loop gives jitter. In lab you will trigger the ADC from an ePWM, as the single-conversion example later in this lecture shows.</a:t>
            </a:r>
          </a:p>
          <a:p>
            <a:pPr marL="0" lvl="0" indent="0" algn="l" rtl="0">
              <a:lnSpc>
                <a:spcPct val="100000"/>
              </a:lnSpc>
              <a:spcBef>
                <a:spcPts val="0"/>
              </a:spcBef>
              <a:spcAft>
                <a:spcPts val="600"/>
              </a:spcAft>
              <a:buSzPts val="1400"/>
              <a:buNone/>
            </a:pPr>
            <a:r>
              <a:rPr lang="en-US" dirty="0"/>
              <a:t>Quick check: if you want 1 kHz sampling, which trigger source would you choose, and why not software?</a:t>
            </a:r>
          </a:p>
        </p:txBody>
      </p:sp>
      <p:sp>
        <p:nvSpPr>
          <p:cNvPr id="116" name="Google Shape;116;p29:notes">
            <a:extLst>
              <a:ext uri="{FF2B5EF4-FFF2-40B4-BE49-F238E27FC236}">
                <a16:creationId xmlns:a16="http://schemas.microsoft.com/office/drawing/2014/main" id="{F6879233-1484-B707-7EEA-C6515BA1CF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4620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2CF778B-8B57-4CCA-B03B-F5D56438014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DA25426-4750-2330-E310-479A359BEB6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maps the Red Board's analog pins. A warning at the top says not every channel is pinned out from every ADC, so check the datasheet for your device to see which channels are available. Below it is a table titled "ADC and DAC LaunchPad Pins."</a:t>
            </a:r>
          </a:p>
          <a:p>
            <a:pPr marL="0" lvl="0" indent="0" algn="l" rtl="0">
              <a:lnSpc>
                <a:spcPct val="100000"/>
              </a:lnSpc>
              <a:spcBef>
                <a:spcPts val="0"/>
              </a:spcBef>
              <a:spcAft>
                <a:spcPts val="600"/>
              </a:spcAft>
              <a:buSzPts val="1400"/>
              <a:buNone/>
            </a:pPr>
            <a:r>
              <a:rPr lang="en-US" dirty="0"/>
              <a:t>The left column is header J3. Pin 23 (J3.3) is ADCIN14. Pin 24 is ADCINC3, pin 25 is ADCINB3, and pin 26 is ADCINA3, which is joystick Y. Pin 27 is ADCINC2, pin 28 is ADCINB2, and pin 29 is ADCINA2, which is joystick X. Pin 30 is ADCINA0, shared with DAC A.</a:t>
            </a:r>
          </a:p>
          <a:p>
            <a:pPr marL="0" lvl="0" indent="0" algn="l" rtl="0">
              <a:lnSpc>
                <a:spcPct val="100000"/>
              </a:lnSpc>
              <a:spcBef>
                <a:spcPts val="0"/>
              </a:spcBef>
              <a:spcAft>
                <a:spcPts val="600"/>
              </a:spcAft>
              <a:buSzPts val="1400"/>
              <a:buNone/>
            </a:pPr>
            <a:r>
              <a:rPr lang="en-US" dirty="0"/>
              <a:t>The column continues with header J7. Pin 63 is ADCIN15. Pin 64 is ADCINC5, pin 65 is ADCINB5, pin 66 is ADCINA5, and pin 67 is ADCINC4. Pin 68 is ADCINB4, which is the microphone. Pin 69 is ADCINA4, and pin 70 is ADCINA1, shared with DAC B.</a:t>
            </a:r>
          </a:p>
          <a:p>
            <a:pPr marL="0" lvl="0" indent="0" algn="l" rtl="0">
              <a:lnSpc>
                <a:spcPct val="100000"/>
              </a:lnSpc>
              <a:spcBef>
                <a:spcPts val="0"/>
              </a:spcBef>
              <a:spcAft>
                <a:spcPts val="600"/>
              </a:spcAft>
              <a:buSzPts val="1400"/>
              <a:buNone/>
            </a:pPr>
            <a:r>
              <a:rPr lang="en-US" dirty="0"/>
              <a:t>Most of these pins are also comparator inputs, named CMPINxP or CMPINxN. On the right, header J21 pins 1, 3, 5 and 7 carry ADCIND0 through ADCIND3. ADCIND4 and ADCIND5 go to solder BNC connectors.</a:t>
            </a:r>
          </a:p>
          <a:p>
            <a:pPr marL="0" lvl="0" indent="0" algn="l" rtl="0">
              <a:lnSpc>
                <a:spcPct val="100000"/>
              </a:lnSpc>
              <a:spcBef>
                <a:spcPts val="0"/>
              </a:spcBef>
              <a:spcAft>
                <a:spcPts val="600"/>
              </a:spcAft>
              <a:buSzPts val="1400"/>
              <a:buNone/>
            </a:pPr>
            <a:r>
              <a:rPr lang="en-US" dirty="0"/>
              <a:t>Read a channel name like this: "ADCINB4" means ADC module B, input 4. Each of the four ADCs (A, B, C and D) has its own multiplexer, so you must configure the correct module, not just the correct number. ADCIN14 and ADCIN15 have no letter because they are shared inputs that the F2837xD routes to all of the ADC modules.</a:t>
            </a:r>
          </a:p>
          <a:p>
            <a:pPr marL="0" lvl="0" indent="0" algn="l" rtl="0">
              <a:lnSpc>
                <a:spcPct val="100000"/>
              </a:lnSpc>
              <a:spcBef>
                <a:spcPts val="0"/>
              </a:spcBef>
              <a:spcAft>
                <a:spcPts val="600"/>
              </a:spcAft>
              <a:buSzPts val="1400"/>
              <a:buNone/>
            </a:pPr>
            <a:r>
              <a:rPr lang="en-US" dirty="0"/>
              <a:t>Notice the DAC A and DAC B outputs sit on ADCINA0 and ADCINA1. You can therefore loop a DAC output back into the ADC to test the conversions you set up. Also notice that channels come in neighbouring pairs, such as A2 and A3. That pairing matters on the next slide, where we look at differential mode.</a:t>
            </a:r>
          </a:p>
          <a:p>
            <a:pPr marL="0" lvl="0" indent="0" algn="l" rtl="0">
              <a:lnSpc>
                <a:spcPct val="100000"/>
              </a:lnSpc>
              <a:spcBef>
                <a:spcPts val="0"/>
              </a:spcBef>
              <a:spcAft>
                <a:spcPts val="600"/>
              </a:spcAft>
              <a:buSzPts val="1400"/>
              <a:buNone/>
            </a:pPr>
            <a:r>
              <a:rPr lang="en-US" dirty="0"/>
              <a:t>Quick check: which ADC module and channel would you configure to read the microphone?</a:t>
            </a:r>
          </a:p>
        </p:txBody>
      </p:sp>
      <p:sp>
        <p:nvSpPr>
          <p:cNvPr id="116" name="Google Shape;116;p29:notes">
            <a:extLst>
              <a:ext uri="{FF2B5EF4-FFF2-40B4-BE49-F238E27FC236}">
                <a16:creationId xmlns:a16="http://schemas.microsoft.com/office/drawing/2014/main" id="{2306564B-3C55-FF60-73D0-4D2F844B8C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52253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A44B34A-1487-CD1A-D5B4-616580CD019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5033BC6-BDC4-ED71-AF22-4CD8F8EC09D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introduces the two signal modes of the F28379D ADC: single-ended and differential. It has two bullets of definitions, a bullet on why differential helps, and two circuit figures from the TI reference manual.</a:t>
            </a:r>
          </a:p>
          <a:p>
            <a:pPr marL="0" lvl="0" indent="0" algn="l" rtl="0">
              <a:lnSpc>
                <a:spcPct val="100000"/>
              </a:lnSpc>
              <a:spcBef>
                <a:spcPts val="0"/>
              </a:spcBef>
              <a:spcAft>
                <a:spcPts val="600"/>
              </a:spcAft>
              <a:buSzPts val="1400"/>
              <a:buNone/>
            </a:pPr>
            <a:r>
              <a:rPr lang="en-US" dirty="0"/>
              <a:t>The left figure, "Single-Ended Input Model," shows an AC source with series source resistance R_s feeding pin ADCINx. The source's return goes to pin VREFLO, which is grounded. Inside the ADC, a parasitic capacitance C_p sits across the input. A sampling switch with on-resistance R_on then connects the input to a hold capacitor C_h, which charges to the input voltage while the switch is closed. The converted value is measured relative to VREFLO.</a:t>
            </a:r>
          </a:p>
          <a:p>
            <a:pPr marL="0" lvl="0" indent="0" algn="l" rtl="0">
              <a:lnSpc>
                <a:spcPct val="100000"/>
              </a:lnSpc>
              <a:spcBef>
                <a:spcPts val="0"/>
              </a:spcBef>
              <a:spcAft>
                <a:spcPts val="600"/>
              </a:spcAft>
              <a:buSzPts val="1400"/>
              <a:buNone/>
            </a:pPr>
            <a:r>
              <a:rPr lang="en-US" dirty="0"/>
              <a:t>The right figure, "Differential Input Model," shows the AC source driving two pins, ADCINxP and ADCINxN, each through its own R_s. Each line has its own C_p to VSSA, the analog ground. Each line then passes through its own switch and R_on to opposite ends of a single hold capacitor C_h. C_h therefore stores the difference, V_in = ADCINxP − ADCINxN, read as "positive input minus negative input."</a:t>
            </a:r>
          </a:p>
          <a:p>
            <a:pPr marL="0" lvl="0" indent="0" algn="l" rtl="0">
              <a:lnSpc>
                <a:spcPct val="100000"/>
              </a:lnSpc>
              <a:spcBef>
                <a:spcPts val="0"/>
              </a:spcBef>
              <a:spcAft>
                <a:spcPts val="600"/>
              </a:spcAft>
              <a:buSzPts val="1400"/>
              <a:buNone/>
            </a:pPr>
            <a:r>
              <a:rPr lang="en-US" dirty="0"/>
              <a:t>The key idea is common-mode rejection. Noise that couples equally onto both wires, such as ground bounce or interference picked up along a cable, appears in both terms and largely subtracts out. With that noise removed, it becomes worthwhile to resolve more bits, which is why the 16-bit mode is tied to differential inputs.</a:t>
            </a:r>
          </a:p>
          <a:p>
            <a:pPr marL="0" lvl="0" indent="0" algn="l" rtl="0">
              <a:lnSpc>
                <a:spcPct val="100000"/>
              </a:lnSpc>
              <a:spcBef>
                <a:spcPts val="0"/>
              </a:spcBef>
              <a:spcAft>
                <a:spcPts val="600"/>
              </a:spcAft>
              <a:buSzPts val="1400"/>
              <a:buNone/>
            </a:pPr>
            <a:r>
              <a:rPr lang="en-US" dirty="0"/>
              <a:t>A common mistake is assuming you can run a single-ended sensor in 16-bit mode. On this part, 16-bit mode is differential only, and 12-bit mode is single-ended only. Signals like the joystick and microphone from the previous pin table are single-ended inputs.</a:t>
            </a:r>
          </a:p>
          <a:p>
            <a:pPr marL="0" lvl="0" indent="0" algn="l" rtl="0">
              <a:lnSpc>
                <a:spcPct val="100000"/>
              </a:lnSpc>
              <a:spcBef>
                <a:spcPts val="0"/>
              </a:spcBef>
              <a:spcAft>
                <a:spcPts val="600"/>
              </a:spcAft>
              <a:buSzPts val="1400"/>
              <a:buNone/>
            </a:pPr>
            <a:r>
              <a:rPr lang="en-US" dirty="0"/>
              <a:t>The next slide gives the exact conversion formulas for each mode.</a:t>
            </a:r>
          </a:p>
        </p:txBody>
      </p:sp>
      <p:sp>
        <p:nvSpPr>
          <p:cNvPr id="116" name="Google Shape;116;p29:notes">
            <a:extLst>
              <a:ext uri="{FF2B5EF4-FFF2-40B4-BE49-F238E27FC236}">
                <a16:creationId xmlns:a16="http://schemas.microsoft.com/office/drawing/2014/main" id="{63B2BC01-0B52-2B55-B3F5-F0DA8E2278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18762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C6D3CE3-3C2E-3309-D987-BED8F45B708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C1049AD-EFFF-0F28-10EB-4E85FD5B6D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gives the formulas that turn an input voltage into the number the ADC stores in its result register. It shows two tables from the TI technical reference manual.</a:t>
            </a:r>
          </a:p>
          <a:p>
            <a:pPr marL="0" lvl="0" indent="0" algn="l" rtl="0">
              <a:lnSpc>
                <a:spcPct val="100000"/>
              </a:lnSpc>
              <a:spcBef>
                <a:spcPts val="0"/>
              </a:spcBef>
              <a:spcAft>
                <a:spcPts val="600"/>
              </a:spcAft>
              <a:buSzPts val="1400"/>
              <a:buNone/>
            </a:pPr>
            <a:r>
              <a:rPr lang="en-US" dirty="0"/>
              <a:t>Table 11-2, "Analog to 12-bit Digital Formulas," covers single-ended mode; differential is listed as an invalid mode at 12 bits. If ADCIN is at or below VREFLO, ADCRESULT = 0. If ADCIN is at or above VREFHI, ADCRESULT = 4095. In between, ADCRESULT = 4096*(ADCIN - VREFLO)/(VREFHI - VREFLO): four thousand ninety-six times the input above the low reference, divided by the reference span.</a:t>
            </a:r>
          </a:p>
          <a:p>
            <a:pPr marL="0" lvl="0" indent="0" algn="l" rtl="0">
              <a:lnSpc>
                <a:spcPct val="100000"/>
              </a:lnSpc>
              <a:spcBef>
                <a:spcPts val="0"/>
              </a:spcBef>
              <a:spcAft>
                <a:spcPts val="600"/>
              </a:spcAft>
              <a:buSzPts val="1400"/>
              <a:buNone/>
            </a:pPr>
            <a:r>
              <a:rPr lang="en-US" dirty="0"/>
              <a:t>Table 11-3, "Analog to 16-bit Digital Formulas," covers differential mode only; single-ended is invalid at 16 bits. If ADCINP - ADCINN is at or below negative VREFHI, the result is 0. If it is at or above VREFHI, the result is 65535. In between, ADCRESULT = 65536*(ADCINP - ADCINN + VREFHI)/(2*VREFHI). Adding VREFHI shifts the signed difference so it starts at zero, and the span is 2*VREFHI wide. A zero difference therefore lands at mid-scale, 32768.</a:t>
            </a:r>
          </a:p>
          <a:p>
            <a:pPr marL="0" lvl="0" indent="0" algn="l" rtl="0">
              <a:lnSpc>
                <a:spcPct val="100000"/>
              </a:lnSpc>
              <a:spcBef>
                <a:spcPts val="0"/>
              </a:spcBef>
              <a:spcAft>
                <a:spcPts val="600"/>
              </a:spcAft>
              <a:buSzPts val="1400"/>
              <a:buNone/>
            </a:pPr>
            <a:r>
              <a:rPr lang="en-US" dirty="0"/>
              <a:t>Here is a worked example, assuming VREFLO = 0 V and VREFHI = 3.0 V. A 1.5 V input gives 4096*1.5/3.0 = 2048. Each count is 3.0/4096, about 0.73 mV. To go back to volts in your code, multiply the result by 3.0/4096.0.</a:t>
            </a:r>
          </a:p>
          <a:p>
            <a:pPr marL="0" lvl="0" indent="0" algn="l" rtl="0">
              <a:lnSpc>
                <a:spcPct val="100000"/>
              </a:lnSpc>
              <a:spcBef>
                <a:spcPts val="0"/>
              </a:spcBef>
              <a:spcAft>
                <a:spcPts val="600"/>
              </a:spcAft>
              <a:buSzPts val="1400"/>
              <a:buNone/>
            </a:pPr>
            <a:r>
              <a:rPr lang="en-US" dirty="0"/>
              <a:t>Two common mistakes come up here. First, in C the expression 3/4096 uses integer division and evaluates to 0, so write the constants as floats. Second, voltages beyond the reference limits clip at 0 or full scale; they do not wrap around.</a:t>
            </a:r>
          </a:p>
          <a:p>
            <a:pPr marL="0" lvl="0" indent="0" algn="l" rtl="0">
              <a:lnSpc>
                <a:spcPct val="100000"/>
              </a:lnSpc>
              <a:spcBef>
                <a:spcPts val="0"/>
              </a:spcBef>
              <a:spcAft>
                <a:spcPts val="600"/>
              </a:spcAft>
              <a:buSzPts val="1400"/>
              <a:buNone/>
            </a:pPr>
            <a:r>
              <a:rPr lang="en-US" dirty="0"/>
              <a:t>So far these formulas only say what number comes out. Next we look at how the hardware actually finds that number, using successive approximation.</a:t>
            </a:r>
          </a:p>
        </p:txBody>
      </p:sp>
      <p:sp>
        <p:nvSpPr>
          <p:cNvPr id="116" name="Google Shape;116;p29:notes">
            <a:extLst>
              <a:ext uri="{FF2B5EF4-FFF2-40B4-BE49-F238E27FC236}">
                <a16:creationId xmlns:a16="http://schemas.microsoft.com/office/drawing/2014/main" id="{FA4F0E05-AB3F-5CB6-3412-06B730B0B9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70744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B27C2BF-D0C7-CAD0-EC8F-4B3D5F9B6F5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9CB5EC1-80FA-6724-B7D8-4A8BDF9C5E5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explains how the F28379D's ADC turns a continuous voltage into a number. It uses a successive approximation register, or SAR, which works like a binary search on the input voltage.</a:t>
            </a:r>
          </a:p>
          <a:p>
            <a:pPr marL="0" lvl="0" indent="0" algn="l" rtl="0">
              <a:lnSpc>
                <a:spcPct val="100000"/>
              </a:lnSpc>
              <a:spcBef>
                <a:spcPts val="0"/>
              </a:spcBef>
              <a:spcAft>
                <a:spcPts val="600"/>
              </a:spcAft>
              <a:buSzPts val="1400"/>
              <a:buNone/>
            </a:pPr>
            <a:r>
              <a:rPr lang="en-US" dirty="0"/>
              <a:t>The slide lists four steps that repeat for each bit i, counting down from the most significant bit, N-1, to bit 0. First, the trial step: the SAR logic tentatively sets bit b_i to 1 and all lower bits to 0. Second, the internal DAC outputs a trial voltage, V_trial = V_accumulated + (V_ref / 2^(N-1-i)) times one half. That is the voltage already kept plus the weight of the current bit, V_ref / 2^(N-i). As the slide's note says, this tests the halfway point of the remaining search interval. Third, an analog comparator checks whether V_in &gt;= V_trial. Fourth, the decision: if true, the comparator outputs 1, b_i stays 1, and the trial voltage becomes the new V_accumulated. If false, b_i is cleared to 0 and that trial voltage is discarded.</a:t>
            </a:r>
          </a:p>
          <a:p>
            <a:pPr marL="0" lvl="0" indent="0" algn="l" rtl="0">
              <a:lnSpc>
                <a:spcPct val="100000"/>
              </a:lnSpc>
              <a:spcBef>
                <a:spcPts val="0"/>
              </a:spcBef>
              <a:spcAft>
                <a:spcPts val="600"/>
              </a:spcAft>
              <a:buSzPts val="1400"/>
              <a:buNone/>
            </a:pPr>
            <a:r>
              <a:rPr lang="en-US" dirty="0"/>
              <a:t>The slide notes that the search converges logarithmically. After step i, the error is bounded by V_ref / 2^(N-i). An N-bit result therefore takes only N comparisons: 12 in 12-bit mode, 16 in 16-bit mode.</a:t>
            </a:r>
          </a:p>
          <a:p>
            <a:pPr marL="0" lvl="0" indent="0" algn="l" rtl="0">
              <a:lnSpc>
                <a:spcPct val="100000"/>
              </a:lnSpc>
              <a:spcBef>
                <a:spcPts val="0"/>
              </a:spcBef>
              <a:spcAft>
                <a:spcPts val="600"/>
              </a:spcAft>
              <a:buSzPts val="1400"/>
              <a:buNone/>
            </a:pPr>
            <a:r>
              <a:rPr lang="en-US" dirty="0"/>
              <a:t>Here is a quick example with N = 4, V_ref = 3.2 V and V_in = 2.1 V:</a:t>
            </a:r>
          </a:p>
          <a:p>
            <a:pPr marL="0" lvl="0" indent="0" algn="l" rtl="0">
              <a:lnSpc>
                <a:spcPct val="100000"/>
              </a:lnSpc>
              <a:spcBef>
                <a:spcPts val="0"/>
              </a:spcBef>
              <a:spcAft>
                <a:spcPts val="600"/>
              </a:spcAft>
              <a:buSzPts val="1400"/>
              <a:buNone/>
            </a:pPr>
            <a:r>
              <a:rPr lang="en-US" dirty="0"/>
              <a:t>1. Bit 3 tests 1.6 V. The input is above it, so the bit is kept.</a:t>
            </a:r>
          </a:p>
          <a:p>
            <a:pPr marL="0" lvl="0" indent="0" algn="l" rtl="0">
              <a:lnSpc>
                <a:spcPct val="100000"/>
              </a:lnSpc>
              <a:spcBef>
                <a:spcPts val="0"/>
              </a:spcBef>
              <a:spcAft>
                <a:spcPts val="600"/>
              </a:spcAft>
              <a:buSzPts val="1400"/>
              <a:buNone/>
            </a:pPr>
            <a:r>
              <a:rPr lang="en-US" dirty="0"/>
              <a:t>2. Bit 2 tests 2.4 V. The input is below it, so the bit is cleared.</a:t>
            </a:r>
          </a:p>
          <a:p>
            <a:pPr marL="0" lvl="0" indent="0" algn="l" rtl="0">
              <a:lnSpc>
                <a:spcPct val="100000"/>
              </a:lnSpc>
              <a:spcBef>
                <a:spcPts val="0"/>
              </a:spcBef>
              <a:spcAft>
                <a:spcPts val="600"/>
              </a:spcAft>
              <a:buSzPts val="1400"/>
              <a:buNone/>
            </a:pPr>
            <a:r>
              <a:rPr lang="en-US" dirty="0"/>
              <a:t>3. Bit 1 tests 2.0 V. The bit is kept.</a:t>
            </a:r>
          </a:p>
          <a:p>
            <a:pPr marL="0" lvl="0" indent="0" algn="l" rtl="0">
              <a:lnSpc>
                <a:spcPct val="100000"/>
              </a:lnSpc>
              <a:spcBef>
                <a:spcPts val="0"/>
              </a:spcBef>
              <a:spcAft>
                <a:spcPts val="600"/>
              </a:spcAft>
              <a:buSzPts val="1400"/>
              <a:buNone/>
            </a:pPr>
            <a:r>
              <a:rPr lang="en-US" dirty="0"/>
              <a:t>4. Bit 0 tests 2.2 V. The bit is cleared.</a:t>
            </a:r>
          </a:p>
          <a:p>
            <a:pPr marL="0" lvl="0" indent="0" algn="l" rtl="0">
              <a:lnSpc>
                <a:spcPct val="100000"/>
              </a:lnSpc>
              <a:spcBef>
                <a:spcPts val="0"/>
              </a:spcBef>
              <a:spcAft>
                <a:spcPts val="600"/>
              </a:spcAft>
              <a:buSzPts val="1400"/>
              <a:buNone/>
            </a:pPr>
            <a:r>
              <a:rPr lang="en-US" dirty="0"/>
              <a:t>The result is 1010, which is 10, representing 2.0 V. The error is within 0.2 V.</a:t>
            </a:r>
          </a:p>
          <a:p>
            <a:pPr marL="0" lvl="0" indent="0" algn="l" rtl="0">
              <a:lnSpc>
                <a:spcPct val="100000"/>
              </a:lnSpc>
              <a:spcBef>
                <a:spcPts val="0"/>
              </a:spcBef>
              <a:spcAft>
                <a:spcPts val="600"/>
              </a:spcAft>
              <a:buSzPts val="1400"/>
              <a:buNone/>
            </a:pPr>
            <a:r>
              <a:rPr lang="en-US" dirty="0"/>
              <a:t>Check yourself: how many comparisons does a 16-bit SAR need? The next slide animates this same search on a block diagram.</a:t>
            </a:r>
          </a:p>
        </p:txBody>
      </p:sp>
      <p:sp>
        <p:nvSpPr>
          <p:cNvPr id="116" name="Google Shape;116;p29:notes">
            <a:extLst>
              <a:ext uri="{FF2B5EF4-FFF2-40B4-BE49-F238E27FC236}">
                <a16:creationId xmlns:a16="http://schemas.microsoft.com/office/drawing/2014/main" id="{DA614309-B54A-722D-059E-1F403E2F46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02928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69B7B7-52DC-D2DA-F968-1B5BAD1BBC6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BD5E3A4-78A6-98A6-FCA0-7267CFFCA41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a single frame of an animated diagram from the Wikipedia article on successive-approximation ADCs (https://en.wikipedia.org/wiki/Successive-approximation_ADC). It turns the binary-search algorithm from the previous slide into hardware, using a 4-bit example.</a:t>
            </a:r>
          </a:p>
          <a:p>
            <a:pPr marL="0" lvl="0" indent="0" algn="l" rtl="0">
              <a:lnSpc>
                <a:spcPct val="100000"/>
              </a:lnSpc>
              <a:spcBef>
                <a:spcPts val="0"/>
              </a:spcBef>
              <a:spcAft>
                <a:spcPts val="600"/>
              </a:spcAft>
              <a:buSzPts val="1400"/>
              <a:buNone/>
            </a:pPr>
            <a:r>
              <a:rPr lang="en-US" dirty="0"/>
              <a:t>The block diagram has a control block driven by a clock, labeled clk. Control sets four DAC bits, numbered 3 down to 0. The DAC output goes to the minus input of a comparator, and the input voltage V_in goes to the plus input. In this frame, V_in is 0 volts. The comparator output feeds back into the control block. Below the diagram is a voltage-versus-time plot that is still empty except for V_in drawn at 0 volts; in the animation, the DAC trial voltage steps toward V_in one clock at a time.</a:t>
            </a:r>
          </a:p>
          <a:p>
            <a:pPr marL="0" lvl="0" indent="0" algn="l" rtl="0">
              <a:lnSpc>
                <a:spcPct val="100000"/>
              </a:lnSpc>
              <a:spcBef>
                <a:spcPts val="0"/>
              </a:spcBef>
              <a:spcAft>
                <a:spcPts val="600"/>
              </a:spcAft>
              <a:buSzPts val="1400"/>
              <a:buNone/>
            </a:pPr>
            <a:r>
              <a:rPr lang="en-US" dirty="0"/>
              <a:t>A table on the right lists the weight of each bit for a 5 V reference: 5 V times 1/2 is 2.5 V, 1/4 is 1.25 V, 1/8 is 0.625 V, and 1/16 is 0.3125 V. Continuing to 5 V times 1/1024 gives 0.0049 V, which is the step size of a 10-bit converter. Each extra bit halves the step size.</a:t>
            </a:r>
          </a:p>
          <a:p>
            <a:pPr marL="0" lvl="0" indent="0" algn="l" rtl="0">
              <a:lnSpc>
                <a:spcPct val="100000"/>
              </a:lnSpc>
              <a:spcBef>
                <a:spcPts val="0"/>
              </a:spcBef>
              <a:spcAft>
                <a:spcPts val="600"/>
              </a:spcAft>
              <a:buSzPts val="1400"/>
              <a:buNone/>
            </a:pPr>
            <a:r>
              <a:rPr lang="en-US" dirty="0"/>
              <a:t>Here is a worked example with V_in = 3.2 V and four bits:</a:t>
            </a:r>
          </a:p>
          <a:p>
            <a:pPr marL="0" lvl="0" indent="0" algn="l" rtl="0">
              <a:lnSpc>
                <a:spcPct val="100000"/>
              </a:lnSpc>
              <a:spcBef>
                <a:spcPts val="0"/>
              </a:spcBef>
              <a:spcAft>
                <a:spcPts val="600"/>
              </a:spcAft>
              <a:buSzPts val="1400"/>
              <a:buNone/>
            </a:pPr>
            <a:r>
              <a:rPr lang="en-US" dirty="0"/>
              <a:t>Bit 3 tries 2.5 V. Since 3.2 &gt; 2.5, the bit is kept.</a:t>
            </a:r>
          </a:p>
          <a:p>
            <a:pPr marL="0" lvl="0" indent="0" algn="l" rtl="0">
              <a:lnSpc>
                <a:spcPct val="100000"/>
              </a:lnSpc>
              <a:spcBef>
                <a:spcPts val="0"/>
              </a:spcBef>
              <a:spcAft>
                <a:spcPts val="600"/>
              </a:spcAft>
              <a:buSzPts val="1400"/>
              <a:buNone/>
            </a:pPr>
            <a:r>
              <a:rPr lang="en-US" dirty="0"/>
              <a:t>Bit 2 tries 2.5 + 1.25 = 3.75 V. That is too high, so the bit is cleared.</a:t>
            </a:r>
          </a:p>
          <a:p>
            <a:pPr marL="0" lvl="0" indent="0" algn="l" rtl="0">
              <a:lnSpc>
                <a:spcPct val="100000"/>
              </a:lnSpc>
              <a:spcBef>
                <a:spcPts val="0"/>
              </a:spcBef>
              <a:spcAft>
                <a:spcPts val="600"/>
              </a:spcAft>
              <a:buSzPts val="1400"/>
              <a:buNone/>
            </a:pPr>
            <a:r>
              <a:rPr lang="en-US" dirty="0"/>
              <a:t>Bit 1 tries 2.5 + 0.625 = 3.125 V. The bit is kept.</a:t>
            </a:r>
          </a:p>
          <a:p>
            <a:pPr marL="0" lvl="0" indent="0" algn="l" rtl="0">
              <a:lnSpc>
                <a:spcPct val="100000"/>
              </a:lnSpc>
              <a:spcBef>
                <a:spcPts val="0"/>
              </a:spcBef>
              <a:spcAft>
                <a:spcPts val="600"/>
              </a:spcAft>
              <a:buSzPts val="1400"/>
              <a:buNone/>
            </a:pPr>
            <a:r>
              <a:rPr lang="en-US" dirty="0"/>
              <a:t>Bit 0 tries 3.125 + 0.3125 = 3.4375 V. The bit is cleared.</a:t>
            </a:r>
          </a:p>
          <a:p>
            <a:pPr marL="0" lvl="0" indent="0" algn="l" rtl="0">
              <a:lnSpc>
                <a:spcPct val="100000"/>
              </a:lnSpc>
              <a:spcBef>
                <a:spcPts val="0"/>
              </a:spcBef>
              <a:spcAft>
                <a:spcPts val="600"/>
              </a:spcAft>
              <a:buSzPts val="1400"/>
              <a:buNone/>
            </a:pPr>
            <a:r>
              <a:rPr lang="en-US" dirty="0"/>
              <a:t>The result is binary 1010, which is 10 counts, or 3.125 V. The error is 0.075 V, which is less than one step of 0.3125 V. An N-bit result takes exactly N comparisons.</a:t>
            </a:r>
          </a:p>
          <a:p>
            <a:pPr marL="0" lvl="0" indent="0" algn="l" rtl="0">
              <a:lnSpc>
                <a:spcPct val="100000"/>
              </a:lnSpc>
              <a:spcBef>
                <a:spcPts val="0"/>
              </a:spcBef>
              <a:spcAft>
                <a:spcPts val="600"/>
              </a:spcAft>
              <a:buSzPts val="1400"/>
              <a:buNone/>
            </a:pPr>
            <a:r>
              <a:rPr lang="en-US" dirty="0"/>
              <a:t>On the F28379D in 12-bit mode, the step size is VREFHI/4096. If VREFHI is 3 V, that is about 0.73 mV.</a:t>
            </a:r>
          </a:p>
          <a:p>
            <a:pPr marL="0" lvl="0" indent="0" algn="l" rtl="0">
              <a:lnSpc>
                <a:spcPct val="100000"/>
              </a:lnSpc>
              <a:spcBef>
                <a:spcPts val="0"/>
              </a:spcBef>
              <a:spcAft>
                <a:spcPts val="600"/>
              </a:spcAft>
              <a:buSzPts val="1400"/>
              <a:buNone/>
            </a:pPr>
            <a:r>
              <a:rPr lang="en-US" dirty="0"/>
              <a:t>Quick check: if you add one bit of resolution, how many extra clock cycles does the conversion need? (Answer: one more comparison.)</a:t>
            </a:r>
          </a:p>
          <a:p>
            <a:pPr marL="0" lvl="0" indent="0" algn="l" rtl="0">
              <a:lnSpc>
                <a:spcPct val="100000"/>
              </a:lnSpc>
              <a:spcBef>
                <a:spcPts val="0"/>
              </a:spcBef>
              <a:spcAft>
                <a:spcPts val="600"/>
              </a:spcAft>
              <a:buSzPts val="1400"/>
              <a:buNone/>
            </a:pPr>
            <a:r>
              <a:rPr lang="en-US" dirty="0"/>
              <a:t>Next, we look at how you tell the ADC when to start a conversion and which pin to convert, using Start-of-Conversion configurations, or SOCs.</a:t>
            </a:r>
          </a:p>
        </p:txBody>
      </p:sp>
      <p:sp>
        <p:nvSpPr>
          <p:cNvPr id="116" name="Google Shape;116;p29:notes">
            <a:extLst>
              <a:ext uri="{FF2B5EF4-FFF2-40B4-BE49-F238E27FC236}">
                <a16:creationId xmlns:a16="http://schemas.microsoft.com/office/drawing/2014/main" id="{47832250-7A07-D54B-C041-520DFDACE3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594005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25EB443-F40D-04C5-4625-E8BEF492C274}"/>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5B9EA337-B3F1-17B8-2F2E-305FB14AD95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section title slide reads "SOC" with the subtitle "(Start-of-Conversion)" on the orange Illinois background with faint hand-drawn equation sketches.</a:t>
            </a:r>
          </a:p>
          <a:p>
            <a:pPr marL="0" lvl="0" indent="0" algn="l" rtl="0">
              <a:spcBef>
                <a:spcPts val="0"/>
              </a:spcBef>
              <a:spcAft>
                <a:spcPts val="600"/>
              </a:spcAft>
              <a:buNone/>
            </a:pPr>
            <a:r>
              <a:rPr lang="en-US" dirty="0"/>
              <a:t>You have just seen how the SAR converter finds one digital value by binary search. That covers how a single conversion happens. This section covers how you tell the F28379D's ADC when to convert, which pin to sample, and for how long. On this chip you configure all of that through SOCs, which the next slides introduce.</a:t>
            </a:r>
          </a:p>
        </p:txBody>
      </p:sp>
      <p:sp>
        <p:nvSpPr>
          <p:cNvPr id="102" name="Google Shape;102;p28:notes">
            <a:extLst>
              <a:ext uri="{FF2B5EF4-FFF2-40B4-BE49-F238E27FC236}">
                <a16:creationId xmlns:a16="http://schemas.microsoft.com/office/drawing/2014/main" id="{A7245D43-0B29-5082-6815-4A474A98DB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91754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377CB72-345F-C844-80BF-BFB0696C9F5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C2D405C-7E84-1EC7-AC0A-0F4CF9AAA82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titled "SOC - Intro," explains the start-of-conversion idea behind the ADC on our TMS320F28379D. It contrasts two approaches. On a simple microcontroller like an Arduino, you just say "read the analog value from pin A0 now." More advanced controllers use SOCs instead.</a:t>
            </a:r>
          </a:p>
          <a:p>
            <a:pPr marL="0" lvl="0" indent="0" algn="l" rtl="0">
              <a:lnSpc>
                <a:spcPct val="100000"/>
              </a:lnSpc>
              <a:spcBef>
                <a:spcPts val="0"/>
              </a:spcBef>
              <a:spcAft>
                <a:spcPts val="600"/>
              </a:spcAft>
              <a:buSzPts val="1400"/>
              <a:buNone/>
            </a:pPr>
            <a:r>
              <a:rPr lang="en-US" dirty="0"/>
              <a:t>An SOC is a configuration set that defines what happens during a conversion, not just when it happens. You do not configure the ADC directly. You configure SOC0, SOC1, and so on, and each SOC is a small recipe the ADC follows.</a:t>
            </a:r>
          </a:p>
          <a:p>
            <a:pPr marL="0" lvl="0" indent="0" algn="l" rtl="0">
              <a:lnSpc>
                <a:spcPct val="100000"/>
              </a:lnSpc>
              <a:spcBef>
                <a:spcPts val="0"/>
              </a:spcBef>
              <a:spcAft>
                <a:spcPts val="600"/>
              </a:spcAft>
              <a:buSzPts val="1400"/>
              <a:buNone/>
            </a:pPr>
            <a:r>
              <a:rPr lang="en-US" dirty="0"/>
              <a:t>The slide lists three things each SOC defines:</a:t>
            </a:r>
          </a:p>
          <a:p>
            <a:pPr marL="0" lvl="0" indent="0" algn="l" rtl="0">
              <a:lnSpc>
                <a:spcPct val="100000"/>
              </a:lnSpc>
              <a:spcBef>
                <a:spcPts val="0"/>
              </a:spcBef>
              <a:spcAft>
                <a:spcPts val="600"/>
              </a:spcAft>
              <a:buSzPts val="1400"/>
              <a:buNone/>
            </a:pPr>
            <a:r>
              <a:rPr lang="en-US" dirty="0"/>
              <a:t>First, the trigger source: what causes the sample. The slide's "What causes the same?" means "sample." Options are a CPU timer, software, an ePWM, or a GPIO pin.</a:t>
            </a:r>
          </a:p>
          <a:p>
            <a:pPr marL="0" lvl="0" indent="0" algn="l" rtl="0">
              <a:lnSpc>
                <a:spcPct val="100000"/>
              </a:lnSpc>
              <a:spcBef>
                <a:spcPts val="0"/>
              </a:spcBef>
              <a:spcAft>
                <a:spcPts val="600"/>
              </a:spcAft>
              <a:buSzPts val="1400"/>
              <a:buNone/>
            </a:pPr>
            <a:r>
              <a:rPr lang="en-US" dirty="0"/>
              <a:t>Second, the channel: which input pin to sample, for example ADCINA4.</a:t>
            </a:r>
          </a:p>
          <a:p>
            <a:pPr marL="0" lvl="0" indent="0" algn="l" rtl="0">
              <a:lnSpc>
                <a:spcPct val="100000"/>
              </a:lnSpc>
              <a:spcBef>
                <a:spcPts val="0"/>
              </a:spcBef>
              <a:spcAft>
                <a:spcPts val="600"/>
              </a:spcAft>
              <a:buSzPts val="1400"/>
              <a:buNone/>
            </a:pPr>
            <a:r>
              <a:rPr lang="en-US" dirty="0"/>
              <a:t>Third, the acquisition window, set by the ACQPS field: how long the sample-and-hold switch connects the pin to the internal sampling capacitor before the SAR conversion from the previous slides begins. On this chip the window lasts ACQPS + 1 system clock cycles.</a:t>
            </a:r>
          </a:p>
          <a:p>
            <a:pPr marL="0" lvl="0" indent="0" algn="l" rtl="0">
              <a:lnSpc>
                <a:spcPct val="100000"/>
              </a:lnSpc>
              <a:spcBef>
                <a:spcPts val="0"/>
              </a:spcBef>
              <a:spcAft>
                <a:spcPts val="600"/>
              </a:spcAft>
              <a:buSzPts val="1400"/>
              <a:buNone/>
            </a:pPr>
            <a:r>
              <a:rPr lang="en-US" dirty="0"/>
              <a:t>Why bother with this structure? Once an SOC is set up, the hardware samples the right pin at exactly the right moment with no CPU involvement. For example, you can sample motor current in sync with your PWM.</a:t>
            </a:r>
          </a:p>
          <a:p>
            <a:pPr marL="0" lvl="0" indent="0" algn="l" rtl="0">
              <a:lnSpc>
                <a:spcPct val="100000"/>
              </a:lnSpc>
              <a:spcBef>
                <a:spcPts val="0"/>
              </a:spcBef>
              <a:spcAft>
                <a:spcPts val="600"/>
              </a:spcAft>
              <a:buSzPts val="1400"/>
              <a:buNone/>
            </a:pPr>
            <a:r>
              <a:rPr lang="en-US" dirty="0"/>
              <a:t>A common mistake is setting ACQPS too short. The capacitor does not fully charge, especially from a high-impedance sensor, and your readings come out wrong or drift.</a:t>
            </a:r>
          </a:p>
          <a:p>
            <a:pPr marL="0" lvl="0" indent="0" algn="l" rtl="0">
              <a:lnSpc>
                <a:spcPct val="100000"/>
              </a:lnSpc>
              <a:spcBef>
                <a:spcPts val="0"/>
              </a:spcBef>
              <a:spcAft>
                <a:spcPts val="600"/>
              </a:spcAft>
              <a:buSzPts val="1400"/>
              <a:buNone/>
            </a:pPr>
            <a:r>
              <a:rPr lang="en-US" dirty="0"/>
              <a:t>Next, we look at the trigger sources in detail, and at what happens when several SOCs fire at once.</a:t>
            </a:r>
          </a:p>
        </p:txBody>
      </p:sp>
      <p:sp>
        <p:nvSpPr>
          <p:cNvPr id="116" name="Google Shape;116;p29:notes">
            <a:extLst>
              <a:ext uri="{FF2B5EF4-FFF2-40B4-BE49-F238E27FC236}">
                <a16:creationId xmlns:a16="http://schemas.microsoft.com/office/drawing/2014/main" id="{47429B4D-D7D0-8746-749D-6C94A18503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65480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ABE3A49-48BE-84F7-AC68-776314AD204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5D1E1C6-966E-EE50-3205-1D90221FD32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builds on the idea from the last one that you configure SOCs rather than the ADC itself, and focuses on the first field of every SOC: its trigger source. The slide has text only, no figure.</a:t>
            </a:r>
          </a:p>
          <a:p>
            <a:pPr marL="0" lvl="0" indent="0" algn="l" rtl="0">
              <a:lnSpc>
                <a:spcPct val="100000"/>
              </a:lnSpc>
              <a:spcBef>
                <a:spcPts val="0"/>
              </a:spcBef>
              <a:spcAft>
                <a:spcPts val="600"/>
              </a:spcAft>
              <a:buSzPts val="1400"/>
              <a:buNone/>
            </a:pPr>
            <a:r>
              <a:rPr lang="en-US" dirty="0"/>
              <a:t>The key phrase is that the ADC is an event-based machine. It does not convert on its own schedule. It waits for an event, such as an ePWM signal, a CPU timer, a software write or a GPIO edge, and that event starts the conversion defined by a particular SOC.</a:t>
            </a:r>
          </a:p>
          <a:p>
            <a:pPr marL="0" lvl="0" indent="0" algn="l" rtl="0">
              <a:lnSpc>
                <a:spcPct val="100000"/>
              </a:lnSpc>
              <a:spcBef>
                <a:spcPts val="0"/>
              </a:spcBef>
              <a:spcAft>
                <a:spcPts val="600"/>
              </a:spcAft>
              <a:buSzPts val="1400"/>
              <a:buNone/>
            </a:pPr>
            <a:r>
              <a:rPr lang="en-US" dirty="0"/>
              <a:t>The slide's example pairs two triggers with two jobs. One SOC triggers on ePWM1 to sample motor currents, so each sample stays synchronized with the PWM switching. Another SOC triggers on CPU Timer 2 for slow temperature monitoring. The slide labels both of these SOC1. The second one should be a different SOC, for example SOC2, because each SOC has exactly one trigger source. Separate SOCs are what let one ADC serve two independent timing needs.</a:t>
            </a:r>
          </a:p>
          <a:p>
            <a:pPr marL="0" lvl="0" indent="0" algn="l" rtl="0">
              <a:lnSpc>
                <a:spcPct val="100000"/>
              </a:lnSpc>
              <a:spcBef>
                <a:spcPts val="0"/>
              </a:spcBef>
              <a:spcAft>
                <a:spcPts val="600"/>
              </a:spcAft>
              <a:buSzPts val="1400"/>
              <a:buNone/>
            </a:pPr>
            <a:r>
              <a:rPr lang="en-US" dirty="0"/>
              <a:t>What happens if several triggers arrive at the same moment? The ADC converts one channel at a time, so an arbiter decides the order. By default it uses round robin, a rotating order in which the SOC after the most recently converted one goes first, so no SOC is starved. You can also give some SOCs strict high priority. These always jump the queue, which is useful for critical safety loops like overcurrent protection.</a:t>
            </a:r>
          </a:p>
          <a:p>
            <a:pPr marL="0" lvl="0" indent="0" algn="l" rtl="0">
              <a:lnSpc>
                <a:spcPct val="100000"/>
              </a:lnSpc>
              <a:spcBef>
                <a:spcPts val="0"/>
              </a:spcBef>
              <a:spcAft>
                <a:spcPts val="600"/>
              </a:spcAft>
              <a:buSzPts val="1400"/>
              <a:buNone/>
            </a:pPr>
            <a:r>
              <a:rPr lang="en-US" dirty="0"/>
              <a:t>Quick check: if your current-sense SOC must never wait behind a temperature reading, which mechanism do you use? Strict priority. The next slide shows TI's figure of exactly how the priority and round-robin pointer work.</a:t>
            </a:r>
          </a:p>
        </p:txBody>
      </p:sp>
      <p:sp>
        <p:nvSpPr>
          <p:cNvPr id="116" name="Google Shape;116;p29:notes">
            <a:extLst>
              <a:ext uri="{FF2B5EF4-FFF2-40B4-BE49-F238E27FC236}">
                <a16:creationId xmlns:a16="http://schemas.microsoft.com/office/drawing/2014/main" id="{C1E98D73-78E3-D6DB-DB3A-98AF8F04FA2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16565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0F56825-FF90-97D5-58DC-D6EAFEF2ED0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9F201D5-5238-C99E-0B86-53C05580B28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reproduces TI's Figure 11-6, "High Priority Example," which works through the round-robin and priority scheme from the previous slide. The setting is SOCPRIORITY = 4, so SOC0 through SOC3 are fixed high-priority SOCs, drawn as a column of circles on the left of each panel. SOC4 through SOC15 sit on a clockwise wheel around a yellow circle labeled RRPOINTER, the round-robin pointer. A teal circle marks the SOC being serviced in each step.</a:t>
            </a:r>
          </a:p>
          <a:p>
            <a:pPr marL="0" lvl="0" indent="0" algn="l" rtl="0">
              <a:lnSpc>
                <a:spcPct val="100000"/>
              </a:lnSpc>
              <a:spcBef>
                <a:spcPts val="0"/>
              </a:spcBef>
              <a:spcAft>
                <a:spcPts val="600"/>
              </a:spcAft>
              <a:buSzPts val="1400"/>
              <a:buNone/>
            </a:pPr>
            <a:r>
              <a:rPr lang="en-US" dirty="0"/>
              <a:t>Panel A shows the state after reset. RRPOINTER defaults to 16, which means no round-robin SOC has converted yet, so SOC4 is first on the wheel. SOC7 receives a trigger, and because nothing else is pending, it converts immediately.</a:t>
            </a:r>
          </a:p>
          <a:p>
            <a:pPr marL="0" lvl="0" indent="0" algn="l" rtl="0">
              <a:lnSpc>
                <a:spcPct val="100000"/>
              </a:lnSpc>
              <a:spcBef>
                <a:spcPts val="0"/>
              </a:spcBef>
              <a:spcAft>
                <a:spcPts val="600"/>
              </a:spcAft>
              <a:buSzPts val="1400"/>
              <a:buNone/>
            </a:pPr>
            <a:r>
              <a:rPr lang="en-US" dirty="0"/>
              <a:t>Panel B shows that RRPOINTER now holds 7, the last round-robin SOC converted. SOC8 is therefore first in line, and SOC7 has dropped to the back of the wheel. This rotation keeps one channel from hogging the ADC.</a:t>
            </a:r>
          </a:p>
          <a:p>
            <a:pPr marL="0" lvl="0" indent="0" algn="l" rtl="0">
              <a:lnSpc>
                <a:spcPct val="100000"/>
              </a:lnSpc>
              <a:spcBef>
                <a:spcPts val="0"/>
              </a:spcBef>
              <a:spcAft>
                <a:spcPts val="600"/>
              </a:spcAft>
              <a:buSzPts val="1400"/>
              <a:buNone/>
            </a:pPr>
            <a:r>
              <a:rPr lang="en-US" dirty="0"/>
              <a:t>Panel C shows SOC2 and SOC12 triggering at the same time. SOC2 is high priority, so it interrupts the wheel and converts first. SOC12 stays pending.</a:t>
            </a:r>
          </a:p>
          <a:p>
            <a:pPr marL="0" lvl="0" indent="0" algn="l" rtl="0">
              <a:lnSpc>
                <a:spcPct val="100000"/>
              </a:lnSpc>
              <a:spcBef>
                <a:spcPts val="0"/>
              </a:spcBef>
              <a:spcAft>
                <a:spcPts val="600"/>
              </a:spcAft>
              <a:buSzPts val="1400"/>
              <a:buNone/>
            </a:pPr>
            <a:r>
              <a:rPr lang="en-US" dirty="0"/>
              <a:t>Panel D shows SOC12 converting next. RRPOINTER is still 7, because high-priority conversions never move the pointer.</a:t>
            </a:r>
          </a:p>
          <a:p>
            <a:pPr marL="0" lvl="0" indent="0" algn="l" rtl="0">
              <a:lnSpc>
                <a:spcPct val="100000"/>
              </a:lnSpc>
              <a:spcBef>
                <a:spcPts val="0"/>
              </a:spcBef>
              <a:spcAft>
                <a:spcPts val="600"/>
              </a:spcAft>
              <a:buSzPts val="1400"/>
              <a:buNone/>
            </a:pPr>
            <a:r>
              <a:rPr lang="en-US" dirty="0"/>
              <a:t>Panel E shows RRPOINTER updated to 12, so SOC13 is now first.</a:t>
            </a:r>
          </a:p>
          <a:p>
            <a:pPr marL="0" lvl="0" indent="0" algn="l" rtl="0">
              <a:lnSpc>
                <a:spcPct val="100000"/>
              </a:lnSpc>
              <a:spcBef>
                <a:spcPts val="0"/>
              </a:spcBef>
              <a:spcAft>
                <a:spcPts val="600"/>
              </a:spcAft>
              <a:buSzPts val="1400"/>
              <a:buNone/>
            </a:pPr>
            <a:r>
              <a:rPr lang="en-US" dirty="0"/>
              <a:t>A common mistake is assuming SOCs always convert in numerical order. Only the high-priority SOCs are ranked strictly. The wheel's order depends on what converted last.</a:t>
            </a:r>
          </a:p>
          <a:p>
            <a:pPr marL="0" lvl="0" indent="0" algn="l" rtl="0">
              <a:lnSpc>
                <a:spcPct val="100000"/>
              </a:lnSpc>
              <a:spcBef>
                <a:spcPts val="0"/>
              </a:spcBef>
              <a:spcAft>
                <a:spcPts val="600"/>
              </a:spcAft>
              <a:buSzPts val="1400"/>
              <a:buNone/>
            </a:pPr>
            <a:r>
              <a:rPr lang="en-US" dirty="0"/>
              <a:t>Quick check: if SOC5 and SOC9 trigger together now, which converts first? (SOC5, because counting clockwise from SOC13, SOC5 comes before SOC9.)</a:t>
            </a:r>
          </a:p>
          <a:p>
            <a:pPr marL="0" lvl="0" indent="0" algn="l" rtl="0">
              <a:lnSpc>
                <a:spcPct val="100000"/>
              </a:lnSpc>
              <a:spcBef>
                <a:spcPts val="0"/>
              </a:spcBef>
              <a:spcAft>
                <a:spcPts val="600"/>
              </a:spcAft>
              <a:buSzPts val="1400"/>
              <a:buNone/>
            </a:pPr>
            <a:r>
              <a:rPr lang="en-US" dirty="0"/>
              <a:t>Next, we look at how long each SOC samples its channel: the acquisition window.</a:t>
            </a:r>
          </a:p>
        </p:txBody>
      </p:sp>
      <p:sp>
        <p:nvSpPr>
          <p:cNvPr id="116" name="Google Shape;116;p29:notes">
            <a:extLst>
              <a:ext uri="{FF2B5EF4-FFF2-40B4-BE49-F238E27FC236}">
                <a16:creationId xmlns:a16="http://schemas.microsoft.com/office/drawing/2014/main" id="{11B42490-B41B-EAE8-DBCB-79995A3956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17777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410C5FF-8161-693B-FDD1-CE98ED1C830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2385E75-D4B5-70AC-BB91-AEDF16E82E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is titled "SOC – Acquisition Window." The text says the ADC's internal sampling capacitor, C_h (C sub h, the hold capacitor), needs time to charge, and that a high source impedance, meaning a weak signal, makes it take longer. The register field that sets this time is shown in code font: AdcxRegs.ADCSOCxCTL.bit.ACQPS, where x is the ADC module (A through D) and the SOC number. ACQPS is a 9-bit field, so it can be set from 0 to 511. The slide gives the equation: Acquisition Window = (ACQPS + 1) × (SYSCLK cycle time), which reads as the acquisition window equals ACQPS plus one, times the system clock period. It stresses that this time is based on SYSCLK, not the ADC clock ADCCLK. The last line says that if the window is too short, the capacitor won't fully charge, and you read the previous channel's "ghost" voltage, which is cross-talk.</a:t>
            </a:r>
          </a:p>
          <a:p>
            <a:pPr marL="0" lvl="0" indent="0" algn="l" rtl="0">
              <a:lnSpc>
                <a:spcPct val="100000"/>
              </a:lnSpc>
              <a:spcBef>
                <a:spcPts val="0"/>
              </a:spcBef>
              <a:spcAft>
                <a:spcPts val="600"/>
              </a:spcAft>
              <a:buSzPts val="1400"/>
              <a:buNone/>
            </a:pPr>
            <a:r>
              <a:rPr lang="en-US" dirty="0"/>
              <a:t>The previous slides covered when an SOC fires and which one goes first. This slide covers what happens next. During acquisition the input switch connects your signal to C_h, and the capacitor charges through the source resistance much like an RC circuit. A larger source resistance gives a slower charge, so a high-impedance source needs a longer window. The capacitor also still holds the voltage from the last channel it sampled. A short window therefore leaves part of that old voltage in your reading.</a:t>
            </a:r>
          </a:p>
          <a:p>
            <a:pPr marL="0" lvl="0" indent="0" algn="l" rtl="0">
              <a:lnSpc>
                <a:spcPct val="100000"/>
              </a:lnSpc>
              <a:spcBef>
                <a:spcPts val="0"/>
              </a:spcBef>
              <a:spcAft>
                <a:spcPts val="600"/>
              </a:spcAft>
              <a:buSzPts val="1400"/>
              <a:buNone/>
            </a:pPr>
            <a:r>
              <a:rPr lang="en-US" dirty="0"/>
              <a:t>On the Red Board, SYSCLK is 200 MHz, so one cycle is 5 ns. ACQPS = 19 gives 20 × 5 ns = 100 ns, which is the value you see on the next code slide. The maximum, ACQPS = 511, gives 512 × 5 ns = 2.56 µs. The datasheet also sets a minimum window, which is longer in 16-bit mode than in 12-bit mode, so check it before you pick a value.</a:t>
            </a:r>
          </a:p>
          <a:p>
            <a:pPr marL="0" lvl="0" indent="0" algn="l" rtl="0">
              <a:lnSpc>
                <a:spcPct val="100000"/>
              </a:lnSpc>
              <a:spcBef>
                <a:spcPts val="0"/>
              </a:spcBef>
              <a:spcAft>
                <a:spcPts val="600"/>
              </a:spcAft>
              <a:buSzPts val="1400"/>
              <a:buNone/>
            </a:pPr>
            <a:r>
              <a:rPr lang="en-US" dirty="0"/>
              <a:t>A common mistake is computing the window with ADCCLK. Quick check: what ACQPS gives a 1 µs window? The answer is 199, because 200 × 5 ns = 1 µs.</a:t>
            </a:r>
          </a:p>
        </p:txBody>
      </p:sp>
      <p:sp>
        <p:nvSpPr>
          <p:cNvPr id="116" name="Google Shape;116;p29:notes">
            <a:extLst>
              <a:ext uri="{FF2B5EF4-FFF2-40B4-BE49-F238E27FC236}">
                <a16:creationId xmlns:a16="http://schemas.microsoft.com/office/drawing/2014/main" id="{B53A7B88-727C-82DF-5382-79518B1BB0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95496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99291AE-B072-B316-90B5-FA07258AC21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834F16C-C9F6-4678-08BB-300F5A711C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covers how the ADC tells the CPU that results are ready. It has two short statements and a two-item list. First: you don't need an interrupt for every sample. The parenthetical after "sample" appears to have lost a symbol or image, so read it simply as "every individual sample." Second: you can set an interrupt to fire only after a sequence completes, for example after SOC3. Under the bold heading "Early vs Late Interrupts," the list reads: Early, fire the interrupt at the end of acquisition; Late, fire it at the end of conversion.</a:t>
            </a:r>
          </a:p>
          <a:p>
            <a:pPr marL="0" lvl="0" indent="0" algn="l" rtl="0">
              <a:lnSpc>
                <a:spcPct val="100000"/>
              </a:lnSpc>
              <a:spcBef>
                <a:spcPts val="0"/>
              </a:spcBef>
              <a:spcAft>
                <a:spcPts val="600"/>
              </a:spcAft>
              <a:buSzPts val="1400"/>
              <a:buNone/>
            </a:pPr>
            <a:r>
              <a:rPr lang="en-US" dirty="0"/>
              <a:t>Here is how the sequence interrupt works. Suppose SOC0 through SOC3 all trigger from the same ePWM event. You don't want four interrupts. Instead, set INT1SEL to 3 so that ADCINT1 is tied to SOC3. When it fires, all four results are waiting in the ADCRESULT0 to ADCRESULT3 registers, and one interrupt service routine reads them all. In the code two slides ahead, the comment says it plainly: set INT1SEL to the last SOC that is converted.</a:t>
            </a:r>
          </a:p>
          <a:p>
            <a:pPr marL="0" lvl="0" indent="0" algn="l" rtl="0">
              <a:lnSpc>
                <a:spcPct val="100000"/>
              </a:lnSpc>
              <a:spcBef>
                <a:spcPts val="0"/>
              </a:spcBef>
              <a:spcAft>
                <a:spcPts val="600"/>
              </a:spcAft>
              <a:buSzPts val="1400"/>
              <a:buNone/>
            </a:pPr>
            <a:r>
              <a:rPr lang="en-US" dirty="0"/>
              <a:t>Early versus late is chosen by the INTPULSEPOS bit in ADCCTL1, where 0 means early and 1 means late. An early pulse arrives right after the acquisition window you just learned about, while the SAR conversion is still running. It gives your ISR a head start, but the new result is not in the register yet. A late pulse arrives once the result is valid.</a:t>
            </a:r>
          </a:p>
          <a:p>
            <a:pPr marL="0" lvl="0" indent="0" algn="l" rtl="0">
              <a:lnSpc>
                <a:spcPct val="100000"/>
              </a:lnSpc>
              <a:spcBef>
                <a:spcPts val="0"/>
              </a:spcBef>
              <a:spcAft>
                <a:spcPts val="600"/>
              </a:spcAft>
              <a:buSzPts val="1400"/>
              <a:buNone/>
            </a:pPr>
            <a:r>
              <a:rPr lang="en-US" dirty="0"/>
              <a:t>Common mistake: you select early, read the result immediately, and get the previous sample. In this course, use late, which is why the upcoming code sets INTPULSEPOS = 1. Also remember to clear the ADCINT1 flag in your ISR so the next interrupt can fire.</a:t>
            </a:r>
          </a:p>
          <a:p>
            <a:pPr marL="0" lvl="0" indent="0" algn="l" rtl="0">
              <a:lnSpc>
                <a:spcPct val="100000"/>
              </a:lnSpc>
              <a:spcBef>
                <a:spcPts val="0"/>
              </a:spcBef>
              <a:spcAft>
                <a:spcPts val="600"/>
              </a:spcAft>
              <a:buSzPts val="1400"/>
              <a:buNone/>
            </a:pPr>
            <a:r>
              <a:rPr lang="en-US" dirty="0"/>
              <a:t>Quick check: with SOC0 to SOC3 and late interrupts, how many ISR calls happen per trigger? The answer is one.</a:t>
            </a:r>
          </a:p>
        </p:txBody>
      </p:sp>
      <p:sp>
        <p:nvSpPr>
          <p:cNvPr id="116" name="Google Shape;116;p29:notes">
            <a:extLst>
              <a:ext uri="{FF2B5EF4-FFF2-40B4-BE49-F238E27FC236}">
                <a16:creationId xmlns:a16="http://schemas.microsoft.com/office/drawing/2014/main" id="{5D39FCC6-0950-A218-CC5A-F6FEABFAF4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21274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C28E83F-4C55-6267-55FD-6188C2935A4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8AA0B0C-10C3-1C13-C9DD-073E33817F1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The slide shows three lines of C code that configure one start-of-conversion slot, SOC5, on ADC A. Each line writes one bit field of the register AdcaRegs.ADCSOC5CTL and has a comment explaining it. The first line sets CHSEL = 1, so SOC5 converts input pin ADCINA1. The second sets ACQPS = 19, so SOC5 samples for 20 SYSCLK cycles. The third sets TRIGSEL = 10, so SOC5 starts converting when ePWM3 sends its SOCB signal.</a:t>
            </a:r>
          </a:p>
          <a:p>
            <a:pPr marL="0" lvl="0" indent="0" algn="l" rtl="0">
              <a:lnSpc>
                <a:spcPct val="100000"/>
              </a:lnSpc>
              <a:spcBef>
                <a:spcPts val="0"/>
              </a:spcBef>
              <a:spcAft>
                <a:spcPts val="600"/>
              </a:spcAft>
              <a:buSzPts val="1400"/>
              <a:buNone/>
            </a:pPr>
            <a:r>
              <a:rPr lang="en-US" dirty="0"/>
              <a:t>This slide puts the last few slides into practice. Every SOC needs three answers: which channel, how long to sample, and what starts it. CHSEL answers the first. ACQPS is the acquisition window from the previous slides. The window is ACQPS + 1 SYSCLK cycles, so the value 19 gives 20 cycles. With the 200 MHz system clock, each cycle is 5 ns, so the window is 100 ns. TRIGSEL answers the third question by choosing ePWM3 SOCB from the trigger source table.</a:t>
            </a:r>
          </a:p>
          <a:p>
            <a:pPr marL="0" lvl="0" indent="0" algn="l" rtl="0">
              <a:lnSpc>
                <a:spcPct val="100000"/>
              </a:lnSpc>
              <a:spcBef>
                <a:spcPts val="0"/>
              </a:spcBef>
              <a:spcAft>
                <a:spcPts val="600"/>
              </a:spcAft>
              <a:buSzPts val="1400"/>
              <a:buNone/>
            </a:pPr>
            <a:r>
              <a:rPr lang="en-US" dirty="0"/>
              <a:t>Using an ePWM as the trigger matters because the samples then arrive at an exact, fixed rate set by the timer, not whenever your code happens to run. Fixed-rate sampling is what your digital filters and controllers assume.</a:t>
            </a:r>
          </a:p>
          <a:p>
            <a:pPr marL="0" lvl="0" indent="0" algn="l" rtl="0">
              <a:lnSpc>
                <a:spcPct val="100000"/>
              </a:lnSpc>
              <a:spcBef>
                <a:spcPts val="0"/>
              </a:spcBef>
              <a:spcAft>
                <a:spcPts val="600"/>
              </a:spcAft>
              <a:buSzPts val="1400"/>
              <a:buNone/>
            </a:pPr>
            <a:r>
              <a:rPr lang="en-US" dirty="0"/>
              <a:t>Two common mistakes:</a:t>
            </a:r>
          </a:p>
          <a:p>
            <a:pPr marL="0" lvl="0" indent="0" algn="l" rtl="0">
              <a:lnSpc>
                <a:spcPct val="100000"/>
              </a:lnSpc>
              <a:spcBef>
                <a:spcPts val="0"/>
              </a:spcBef>
              <a:spcAft>
                <a:spcPts val="600"/>
              </a:spcAft>
              <a:buSzPts val="1400"/>
              <a:buNone/>
            </a:pPr>
            <a:r>
              <a:rPr lang="en-US" dirty="0"/>
              <a:t>First, these registers are protected, so the writes must sit between EALLOW and EDIS.</a:t>
            </a:r>
          </a:p>
          <a:p>
            <a:pPr marL="0" lvl="0" indent="0" algn="l" rtl="0">
              <a:lnSpc>
                <a:spcPct val="100000"/>
              </a:lnSpc>
              <a:spcBef>
                <a:spcPts val="0"/>
              </a:spcBef>
              <a:spcAft>
                <a:spcPts val="600"/>
              </a:spcAft>
              <a:buSzPts val="1400"/>
              <a:buNone/>
            </a:pPr>
            <a:r>
              <a:rPr lang="en-US" dirty="0"/>
              <a:t>Second, setting TRIGSEL alone does nothing. ePWM3 must also be configured to actually generate the SOCB event; otherwise the ADC never starts.</a:t>
            </a:r>
          </a:p>
          <a:p>
            <a:pPr marL="0" lvl="0" indent="0" algn="l" rtl="0">
              <a:lnSpc>
                <a:spcPct val="100000"/>
              </a:lnSpc>
              <a:spcBef>
                <a:spcPts val="0"/>
              </a:spcBef>
              <a:spcAft>
                <a:spcPts val="600"/>
              </a:spcAft>
              <a:buSzPts val="1400"/>
              <a:buNone/>
            </a:pPr>
            <a:r>
              <a:rPr lang="en-US" dirty="0"/>
              <a:t>Quick check: what ACQPS value gives a 500 ns window? (Answer: 99, which is the value used on the next slide's larger example.)</a:t>
            </a:r>
          </a:p>
        </p:txBody>
      </p:sp>
      <p:sp>
        <p:nvSpPr>
          <p:cNvPr id="116" name="Google Shape;116;p29:notes">
            <a:extLst>
              <a:ext uri="{FF2B5EF4-FFF2-40B4-BE49-F238E27FC236}">
                <a16:creationId xmlns:a16="http://schemas.microsoft.com/office/drawing/2014/main" id="{793BFF3A-1594-BC31-82FC-19ABA1EC9E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778377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E45ED8E-0A33-9521-31D4-3A4F1FD5F82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515AA73-18F3-7558-20C1-C36A195CE0F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600"/>
              </a:spcAft>
              <a:buSzPts val="1400"/>
              <a:buNone/>
            </a:pPr>
            <a:r>
              <a:rPr lang="en-US" dirty="0"/>
              <a:t>This slide shows a complete configuration block for ADCB, taken from an FFT example. Unlike the three-line snippet on the previous slide, it shows the full ADC setup sequence, and every line has a comment explaining it.</a:t>
            </a:r>
          </a:p>
          <a:p>
            <a:pPr marL="0" lvl="0" indent="0" algn="l" rtl="0">
              <a:lnSpc>
                <a:spcPct val="100000"/>
              </a:lnSpc>
              <a:spcBef>
                <a:spcPts val="0"/>
              </a:spcBef>
              <a:spcAft>
                <a:spcPts val="600"/>
              </a:spcAft>
              <a:buSzPts val="1400"/>
              <a:buNone/>
            </a:pPr>
            <a:r>
              <a:rPr lang="en-US" dirty="0"/>
              <a:t>The code starts with EALLOW, because the ADC control registers are protected and cannot be written otherwise, and it ends with EDIS to re-protect them. Between those two lines, the code runs these steps in order:</a:t>
            </a:r>
          </a:p>
          <a:p>
            <a:pPr marL="0" lvl="0" indent="0" algn="l" rtl="0">
              <a:lnSpc>
                <a:spcPct val="100000"/>
              </a:lnSpc>
              <a:spcBef>
                <a:spcPts val="0"/>
              </a:spcBef>
              <a:spcAft>
                <a:spcPts val="600"/>
              </a:spcAft>
              <a:buSzPts val="1400"/>
              <a:buNone/>
            </a:pPr>
            <a:r>
              <a:rPr lang="en-US" dirty="0"/>
              <a:t>PRESCALE = 6 divides the clock by 4, so the ADC clock is 200 MHz / 4 = 50 MHz.</a:t>
            </a:r>
          </a:p>
          <a:p>
            <a:pPr marL="0" lvl="0" indent="0" algn="l" rtl="0">
              <a:lnSpc>
                <a:spcPct val="100000"/>
              </a:lnSpc>
              <a:spcBef>
                <a:spcPts val="0"/>
              </a:spcBef>
              <a:spcAft>
                <a:spcPts val="600"/>
              </a:spcAft>
              <a:buSzPts val="1400"/>
              <a:buNone/>
            </a:pPr>
            <a:r>
              <a:rPr lang="en-US" dirty="0"/>
              <a:t>AdcSetMode selects 12-bit resolution in single-ended mode and loads the factory calibration for that mode.</a:t>
            </a:r>
          </a:p>
          <a:p>
            <a:pPr marL="0" lvl="0" indent="0" algn="l" rtl="0">
              <a:lnSpc>
                <a:spcPct val="100000"/>
              </a:lnSpc>
              <a:spcBef>
                <a:spcPts val="0"/>
              </a:spcBef>
              <a:spcAft>
                <a:spcPts val="600"/>
              </a:spcAft>
              <a:buSzPts val="1400"/>
              <a:buNone/>
            </a:pPr>
            <a:r>
              <a:rPr lang="en-US" dirty="0"/>
              <a:t>INTPULSEPOS = 1 selects late interrupts, so the interrupt fires at the end of conversion, as covered on the interrupts slide.</a:t>
            </a:r>
          </a:p>
          <a:p>
            <a:pPr marL="0" lvl="0" indent="0" algn="l" rtl="0">
              <a:lnSpc>
                <a:spcPct val="100000"/>
              </a:lnSpc>
              <a:spcBef>
                <a:spcPts val="0"/>
              </a:spcBef>
              <a:spcAft>
                <a:spcPts val="600"/>
              </a:spcAft>
              <a:buSzPts val="1400"/>
              <a:buNone/>
            </a:pPr>
            <a:r>
              <a:rPr lang="en-US" dirty="0"/>
              <a:t>ADCPWDNZ = 1 powers up the ADC.</a:t>
            </a:r>
          </a:p>
          <a:p>
            <a:pPr marL="0" lvl="0" indent="0" algn="l" rtl="0">
              <a:lnSpc>
                <a:spcPct val="100000"/>
              </a:lnSpc>
              <a:spcBef>
                <a:spcPts val="0"/>
              </a:spcBef>
              <a:spcAft>
                <a:spcPts val="600"/>
              </a:spcAft>
              <a:buSzPts val="1400"/>
              <a:buNone/>
            </a:pPr>
            <a:r>
              <a:rPr lang="en-US" dirty="0"/>
              <a:t>DELAY_US(1000) waits 1 ms so the ADC can finish powering up.</a:t>
            </a:r>
          </a:p>
          <a:p>
            <a:pPr marL="0" lvl="0" indent="0" algn="l" rtl="0">
              <a:lnSpc>
                <a:spcPct val="100000"/>
              </a:lnSpc>
              <a:spcBef>
                <a:spcPts val="0"/>
              </a:spcBef>
              <a:spcAft>
                <a:spcPts val="600"/>
              </a:spcAft>
              <a:buSzPts val="1400"/>
              <a:buNone/>
            </a:pPr>
            <a:r>
              <a:rPr lang="en-US" dirty="0"/>
              <a:t>Watch the comments here. "Set pulse positions to late" belongs to the INTPULSEPOS line, and "power up the ADCs" belongs to the ADCPWDNZ line below it.</a:t>
            </a:r>
          </a:p>
          <a:p>
            <a:pPr marL="0" lvl="0" indent="0" algn="l" rtl="0">
              <a:lnSpc>
                <a:spcPct val="100000"/>
              </a:lnSpc>
              <a:spcBef>
                <a:spcPts val="0"/>
              </a:spcBef>
              <a:spcAft>
                <a:spcPts val="600"/>
              </a:spcAft>
              <a:buSzPts val="1400"/>
              <a:buNone/>
            </a:pPr>
            <a:r>
              <a:rPr lang="en-US" dirty="0"/>
              <a:t>Next, the code configures SOC0:</a:t>
            </a:r>
          </a:p>
          <a:p>
            <a:pPr marL="0" lvl="0" indent="0" algn="l" rtl="0">
              <a:lnSpc>
                <a:spcPct val="100000"/>
              </a:lnSpc>
              <a:spcBef>
                <a:spcPts val="0"/>
              </a:spcBef>
              <a:spcAft>
                <a:spcPts val="600"/>
              </a:spcAft>
              <a:buSzPts val="1400"/>
              <a:buNone/>
            </a:pPr>
            <a:r>
              <a:rPr lang="en-US" dirty="0"/>
              <a:t>CHSEL = 4 converts channel ADCINB4. The comment reminds you this can be any channel you choose.</a:t>
            </a:r>
          </a:p>
          <a:p>
            <a:pPr marL="0" lvl="0" indent="0" algn="l" rtl="0">
              <a:lnSpc>
                <a:spcPct val="100000"/>
              </a:lnSpc>
              <a:spcBef>
                <a:spcPts val="0"/>
              </a:spcBef>
              <a:spcAft>
                <a:spcPts val="600"/>
              </a:spcAft>
              <a:buSzPts val="1400"/>
              <a:buNone/>
            </a:pPr>
            <a:r>
              <a:rPr lang="en-US" dirty="0"/>
              <a:t>ACQPS = 99 gives an acquisition window of ACQPS + 1 = 100 SYSCLK cycles. At 5 ns per cycle, that is 500 ns.</a:t>
            </a:r>
          </a:p>
          <a:p>
            <a:pPr marL="0" lvl="0" indent="0" algn="l" rtl="0">
              <a:lnSpc>
                <a:spcPct val="100000"/>
              </a:lnSpc>
              <a:spcBef>
                <a:spcPts val="0"/>
              </a:spcBef>
              <a:spcAft>
                <a:spcPts val="600"/>
              </a:spcAft>
              <a:buSzPts val="1400"/>
              <a:buNone/>
            </a:pPr>
            <a:r>
              <a:rPr lang="en-US" dirty="0"/>
              <a:t>TRIGSEL = 0x11 (decimal 17) starts the conversion on ePWM7 SOCA, so ePWM7 sets the sample rate for the FFT.</a:t>
            </a:r>
          </a:p>
          <a:p>
            <a:pPr marL="0" lvl="0" indent="0" algn="l" rtl="0">
              <a:lnSpc>
                <a:spcPct val="100000"/>
              </a:lnSpc>
              <a:spcBef>
                <a:spcPts val="0"/>
              </a:spcBef>
              <a:spcAft>
                <a:spcPts val="600"/>
              </a:spcAft>
              <a:buSzPts val="1400"/>
              <a:buNone/>
            </a:pPr>
            <a:r>
              <a:rPr lang="en-US" dirty="0"/>
              <a:t>Finally, the code sets up the interrupt:</a:t>
            </a:r>
          </a:p>
          <a:p>
            <a:pPr marL="0" lvl="0" indent="0" algn="l" rtl="0">
              <a:lnSpc>
                <a:spcPct val="100000"/>
              </a:lnSpc>
              <a:spcBef>
                <a:spcPts val="0"/>
              </a:spcBef>
              <a:spcAft>
                <a:spcPts val="600"/>
              </a:spcAft>
              <a:buSzPts val="1400"/>
              <a:buNone/>
            </a:pPr>
            <a:r>
              <a:rPr lang="en-US" dirty="0"/>
              <a:t>INT1SEL = 0 makes the end of SOC0 set the ADCB1 flag.</a:t>
            </a:r>
          </a:p>
          <a:p>
            <a:pPr marL="0" lvl="0" indent="0" algn="l" rtl="0">
              <a:lnSpc>
                <a:spcPct val="100000"/>
              </a:lnSpc>
              <a:spcBef>
                <a:spcPts val="0"/>
              </a:spcBef>
              <a:spcAft>
                <a:spcPts val="600"/>
              </a:spcAft>
              <a:buSzPts val="1400"/>
              <a:buNone/>
            </a:pPr>
            <a:r>
              <a:rPr lang="en-US" dirty="0"/>
              <a:t>INT1E = 1 enables that flag.</a:t>
            </a:r>
          </a:p>
          <a:p>
            <a:pPr marL="0" lvl="0" indent="0" algn="l" rtl="0">
              <a:lnSpc>
                <a:spcPct val="100000"/>
              </a:lnSpc>
              <a:spcBef>
                <a:spcPts val="0"/>
              </a:spcBef>
              <a:spcAft>
                <a:spcPts val="600"/>
              </a:spcAft>
              <a:buSzPts val="1400"/>
              <a:buNone/>
            </a:pPr>
            <a:r>
              <a:rPr lang="en-US" dirty="0"/>
              <a:t>ADCINTFLGCLR clears any stale flag.</a:t>
            </a:r>
          </a:p>
          <a:p>
            <a:pPr marL="0" lvl="0" indent="0" algn="l" rtl="0">
              <a:lnSpc>
                <a:spcPct val="100000"/>
              </a:lnSpc>
              <a:spcBef>
                <a:spcPts val="0"/>
              </a:spcBef>
              <a:spcAft>
                <a:spcPts val="600"/>
              </a:spcAft>
              <a:buSzPts val="1400"/>
              <a:buNone/>
            </a:pPr>
            <a:r>
              <a:rPr lang="en-US" dirty="0"/>
              <a:t>INT1CONT = 1 makes the interrupt pulse on every conversion, even if your interrupt service routine missed clearing the flag.</a:t>
            </a:r>
          </a:p>
          <a:p>
            <a:pPr marL="0" lvl="0" indent="0" algn="l" rtl="0">
              <a:lnSpc>
                <a:spcPct val="100000"/>
              </a:lnSpc>
              <a:spcBef>
                <a:spcPts val="0"/>
              </a:spcBef>
              <a:spcAft>
                <a:spcPts val="600"/>
              </a:spcAft>
              <a:buSzPts val="1400"/>
              <a:buNone/>
            </a:pPr>
            <a:r>
              <a:rPr lang="en-US" dirty="0"/>
              <a:t>A common mistake in the lab is forgetting to clear ADCINT1 inside your ISR. Quick check: what would you change to sample ADCINB2 with a 1 µs acquisition window?</a:t>
            </a:r>
          </a:p>
        </p:txBody>
      </p:sp>
      <p:sp>
        <p:nvSpPr>
          <p:cNvPr id="116" name="Google Shape;116;p29:notes">
            <a:extLst>
              <a:ext uri="{FF2B5EF4-FFF2-40B4-BE49-F238E27FC236}">
                <a16:creationId xmlns:a16="http://schemas.microsoft.com/office/drawing/2014/main" id="{D228F420-97AD-D0C2-E1EE-93200896FC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54245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slide shows the word "Questions?" in large white letters on a dark blue background. Faint hand-drawn engineering sketches fill the background, the orange Illinois "I" logo sits in the top right corner, and the footer reads "Systems Engineering" and "Grainger Engineering."</a:t>
            </a:r>
          </a:p>
          <a:p>
            <a:pPr marL="0" lvl="0" indent="0" algn="l" rtl="0">
              <a:spcBef>
                <a:spcPts val="0"/>
              </a:spcBef>
              <a:spcAft>
                <a:spcPts val="600"/>
              </a:spcAft>
              <a:buNone/>
            </a:pPr>
            <a:r>
              <a:rPr lang="en-US" dirty="0"/>
              <a:t>This is the time to ask about anything from today: R-2R DACs, SAR conversion, start-of-conversion triggers, acquisition windows, or the ePWM-triggered ADC and FFT code. As a quick check, can you explain why ACQPS = 99 gives a 500 ns sample window?</a:t>
            </a: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rmAutofit/>
          </a:bodyPr>
          <a:lstStyle/>
          <a:p>
            <a:pPr marL="0" lvl="0" indent="0" algn="l" rtl="0">
              <a:spcBef>
                <a:spcPts val="0"/>
              </a:spcBef>
              <a:spcAft>
                <a:spcPts val="600"/>
              </a:spcAft>
              <a:buNone/>
            </a:pPr>
            <a:r>
              <a:rPr lang="en-US" dirty="0"/>
              <a:t>This closing slide is the Grainger College of Engineering title card: an orange background with the University of Illinois block I logo and the words "The Grainger College of Engineering, University of Illinois Urbana-Champaign." Faint hand-drawn equations, a cube, a sphere and chemical structures fill the background as decoration.</a:t>
            </a:r>
          </a:p>
          <a:p>
            <a:pPr marL="0" lvl="0" indent="0" algn="l" rtl="0">
              <a:spcBef>
                <a:spcPts val="0"/>
              </a:spcBef>
              <a:spcAft>
                <a:spcPts val="600"/>
              </a:spcAft>
              <a:buNone/>
            </a:pPr>
            <a:r>
              <a:rPr lang="en-US" dirty="0"/>
              <a:t>This ends Lecture 5. You have covered DACs, ADCs and SAR conversion, and how start-of-conversion triggers, acquisition windows and interrupts let the ePWM timer drive ADC sampling on the Red Board.</a:t>
            </a: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arius-juston.github.io/SE-423---Class-Material/Homeworks/HW2.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arius-juston.github.io/SE-423---Class-Material/Homeworks/LabVIEW1.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en.wikipedia.org/wiki/Resistor_ladder"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0.sv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8.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22.sv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4.sv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hyperlink" Target="https://en.wikipedia.org/wiki/Successive-approximation_ADC" TargetMode="External"/><Relationship Id="rId4" Type="http://schemas.openxmlformats.org/officeDocument/2006/relationships/image" Target="../media/image25.gif"/></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5: DAC &amp; ADC</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Wednesday, February 4</a:t>
            </a:r>
            <a:r>
              <a:rPr lang="en-US" sz="1800" b="0" i="0" u="none" strike="noStrike" cap="none" baseline="30000" dirty="0">
                <a:solidFill>
                  <a:schemeClr val="lt1"/>
                </a:solidFill>
                <a:latin typeface="Atkinson Hyperlegible Next"/>
                <a:ea typeface="Arial"/>
                <a:cs typeface="Arial"/>
                <a:sym typeface="Arial"/>
              </a:rPr>
              <a:t>th</a:t>
            </a:r>
            <a:r>
              <a:rPr lang="en-US" sz="1800" b="0" i="0" u="none" strike="noStrike" cap="none" dirty="0">
                <a:solidFill>
                  <a:schemeClr val="lt1"/>
                </a:solidFill>
                <a:latin typeface="Atkinson Hyperlegible Next"/>
                <a:ea typeface="Arial"/>
                <a:cs typeface="Arial"/>
                <a:sym typeface="Aria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81D3E48-EB5B-86EE-C4D9-54116487B2D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BCC2F8C-3A4A-AD98-3682-D9499379E41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D83B27"/>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 </a:t>
            </a:r>
            <a:r>
              <a:rPr lang="en-US" sz="1800" dirty="0">
                <a:latin typeface="Atkinson Hyperlegible Next"/>
                <a:ea typeface="Arial"/>
                <a:cs typeface="Arial"/>
                <a:sym typeface="Arial"/>
              </a:rPr>
              <a:t>Starting Lab 2 this week. This is also a 1-week lab!</a:t>
            </a:r>
            <a:endParaRPr lang="en-US" sz="1800"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D83B27"/>
                </a:solidFill>
                <a:latin typeface="Atkinson Hyperlegible Next"/>
                <a:ea typeface="Arial"/>
                <a:cs typeface="Arial"/>
                <a:sym typeface="Arial"/>
              </a:rPr>
              <a:t>Homeworks</a:t>
            </a:r>
            <a:r>
              <a:rPr lang="en-US" sz="1800" b="1" dirty="0">
                <a:solidFill>
                  <a:srgbClr val="D83B27"/>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2</a:t>
            </a:r>
            <a:r>
              <a:rPr lang="en-US" sz="1800" dirty="0">
                <a:latin typeface="Atkinson Hyperlegible Next"/>
                <a:ea typeface="Arial"/>
                <a:cs typeface="Arial"/>
                <a:sym typeface="Arial"/>
              </a:rPr>
              <a:t> Ex 1 &amp; 2 are due </a:t>
            </a:r>
            <a:r>
              <a:rPr lang="en-US" sz="1800" b="1" dirty="0">
                <a:latin typeface="Atkinson Hyperlegible Next"/>
                <a:ea typeface="Arial"/>
                <a:cs typeface="Arial"/>
                <a:sym typeface="Arial"/>
              </a:rPr>
              <a:t>February 17, 5PM (The end of office hours)</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2</a:t>
            </a:r>
            <a:r>
              <a:rPr lang="en-US" sz="1800" dirty="0">
                <a:latin typeface="Atkinson Hyperlegible Next"/>
                <a:ea typeface="Arial"/>
                <a:cs typeface="Arial"/>
                <a:sym typeface="Arial"/>
              </a:rPr>
              <a:t> Ex 3 &amp; 4 are due </a:t>
            </a:r>
            <a:r>
              <a:rPr lang="en-US" sz="1800" b="1" dirty="0">
                <a:latin typeface="Atkinson Hyperlegible Next"/>
                <a:ea typeface="Arial"/>
                <a:cs typeface="Arial"/>
                <a:sym typeface="Arial"/>
              </a:rPr>
              <a:t>February 24,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homework 2 are due </a:t>
            </a:r>
            <a:r>
              <a:rPr lang="en-US" sz="1800" b="1" dirty="0">
                <a:latin typeface="Atkinson Hyperlegible Next"/>
                <a:ea typeface="Arial"/>
                <a:cs typeface="Arial"/>
                <a:sym typeface="Arial"/>
              </a:rPr>
              <a:t>February 17, 9AM</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LabVIEW (This week):</a:t>
            </a:r>
          </a:p>
          <a:p>
            <a:pPr marL="285750" indent="-285750">
              <a:lnSpc>
                <a:spcPct val="100000"/>
              </a:lnSpc>
              <a:spcBef>
                <a:spcPts val="0"/>
              </a:spcBef>
              <a:buSzPts val="3000"/>
            </a:pPr>
            <a:r>
              <a:rPr lang="en-US" sz="1800" dirty="0">
                <a:latin typeface="Atkinson Hyperlegible Next"/>
                <a:ea typeface="Arial"/>
                <a:cs typeface="Arial"/>
                <a:sym typeface="Arial"/>
              </a:rPr>
              <a:t>All check-offs for </a:t>
            </a:r>
            <a:r>
              <a:rPr lang="en-US" sz="1800" dirty="0">
                <a:latin typeface="Atkinson Hyperlegible Next"/>
                <a:ea typeface="Arial"/>
                <a:cs typeface="Arial"/>
                <a:sym typeface="Arial"/>
                <a:hlinkClick r:id="rId4"/>
              </a:rPr>
              <a:t>LabVIEW 1</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February 5, 5PM</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D83B27"/>
                </a:solidFill>
                <a:latin typeface="Atkinson Hyperlegible Next"/>
                <a:ea typeface="Arial"/>
                <a:cs typeface="Arial"/>
                <a:sym typeface="Arial"/>
              </a:rPr>
              <a:t>LabVIEW will be quickly checked-off at the beginning / end of your lab session.</a:t>
            </a:r>
            <a:endParaRPr lang="en-US" sz="18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9848B8C-9075-59EA-79FA-AF5B8BFAF8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AE21486-AEEC-E367-96A5-81B49AD32D6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8CCE647-4D9B-354D-A2E9-718CA28CD750}"/>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AC87A64-580A-4863-38B3-4D1504C83F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649EAB-2DB3-2DA4-9AD9-5D94AEE695E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41F8E2C-2780-2776-E8ED-542B082247F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D628D6E-10A9-03E9-659C-F8F2D0023C6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BEB3CD3-0F72-FD08-8FA5-00AD37965F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95841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191205FD-583D-A6BD-0B39-2B8B1E9232E5}"/>
            </a:ext>
          </a:extLst>
        </p:cNvPr>
        <p:cNvGrpSpPr/>
        <p:nvPr/>
      </p:nvGrpSpPr>
      <p:grpSpPr>
        <a:xfrm>
          <a:off x="0" y="0"/>
          <a:ext cx="0" cy="0"/>
          <a:chOff x="0" y="0"/>
          <a:chExt cx="0" cy="0"/>
        </a:xfrm>
      </p:grpSpPr>
      <p:sp>
        <p:nvSpPr>
          <p:cNvPr id="89" name="Google Shape;89;p27">
            <a:extLst>
              <a:ext uri="{FF2B5EF4-FFF2-40B4-BE49-F238E27FC236}">
                <a16:creationId xmlns:a16="http://schemas.microsoft.com/office/drawing/2014/main" id="{6294EE79-7F57-38BB-6DF0-8B77B1F871BE}"/>
              </a:ext>
            </a:extLst>
          </p:cNvPr>
          <p:cNvSpPr/>
          <p:nvPr>
            <p:ph type="title"/>
          </p:nvPr>
        </p:nvSpPr>
        <p:spPr>
          <a:xfrm>
            <a:off x="2206906" y="2226377"/>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 (1/2)</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38F8608C-96FE-0215-AB4D-A3A87DB08788}"/>
              </a:ext>
            </a:extLst>
          </p:cNvPr>
          <p:cNvSpPr txBox="1"/>
          <p:nvPr/>
        </p:nvSpPr>
        <p:spPr>
          <a:xfrm>
            <a:off x="1441528" y="3967567"/>
            <a:ext cx="9308941" cy="523180"/>
          </a:xfrm>
          <a:prstGeom prst="rect">
            <a:avLst/>
          </a:prstGeom>
          <a:noFill/>
          <a:ln>
            <a:noFill/>
          </a:ln>
        </p:spPr>
        <p:txBody>
          <a:bodyPr spcFirstLastPara="1" wrap="square" lIns="91425" tIns="45700" rIns="91425" bIns="45700" anchor="t" anchorCtr="0">
            <a:spAutoFit/>
          </a:bodyPr>
          <a:lstStyle/>
          <a:p>
            <a:pPr lvl="0" algn="ctr">
              <a:buSzPts val="2800"/>
            </a:pPr>
            <a:r>
              <a:rPr lang="en-US" sz="2800" dirty="0">
                <a:solidFill>
                  <a:schemeClr val="lt1"/>
                </a:solidFill>
              </a:rPr>
              <a:t>Homework, Lab, LabVIEW, quiz questions?</a:t>
            </a:r>
          </a:p>
        </p:txBody>
      </p:sp>
      <p:grpSp>
        <p:nvGrpSpPr>
          <p:cNvPr id="91" name="Google Shape;91;p27">
            <a:extLst>
              <a:ext uri="{FF2B5EF4-FFF2-40B4-BE49-F238E27FC236}">
                <a16:creationId xmlns:a16="http://schemas.microsoft.com/office/drawing/2014/main" id="{033E91A4-F750-A05B-C389-FC5624BF1B1B}"/>
              </a:ext>
            </a:extLst>
          </p:cNvPr>
          <p:cNvGrpSpPr/>
          <p:nvPr/>
        </p:nvGrpSpPr>
        <p:grpSpPr>
          <a:xfrm>
            <a:off x="3943790" y="3412276"/>
            <a:ext cx="3861740" cy="322845"/>
            <a:chOff x="3943790" y="2676939"/>
            <a:chExt cx="3861740" cy="322845"/>
          </a:xfrm>
        </p:grpSpPr>
        <p:cxnSp>
          <p:nvCxnSpPr>
            <p:cNvPr id="92" name="Google Shape;92;p27">
              <a:extLst>
                <a:ext uri="{FF2B5EF4-FFF2-40B4-BE49-F238E27FC236}">
                  <a16:creationId xmlns:a16="http://schemas.microsoft.com/office/drawing/2014/main" id="{A36871FD-33D7-2582-E5F8-3EA27AFE9FE0}"/>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FB6E1460-12A3-CF99-FE4B-3D7A93BA06F1}"/>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770C30AB-1FAA-7D7F-7303-E21D93D3CE8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E5E4EBB2-FED2-47FE-763A-10EE38E9D89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5298DFAA-86E6-BEC7-9533-B929EEE334E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212C5C0B-78F3-7857-3831-3E4D26D20833}"/>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1DA79E61-488F-300C-6688-DBA4AF1F398E}"/>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5DD02B9C-8EB7-446F-756F-4680EB67E897}"/>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3569163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9"/>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1800" dirty="0">
                <a:latin typeface="Atkinson Hyperlegible Next"/>
                <a:cs typeface="Arial"/>
                <a:sym typeface="Arial"/>
              </a:rPr>
              <a:t>In the real world we have continuous signals:</a:t>
            </a:r>
          </a:p>
          <a:p>
            <a:pPr marL="0" lvl="0" indent="0" algn="l" rtl="0">
              <a:lnSpc>
                <a:spcPct val="100000"/>
              </a:lnSpc>
              <a:spcBef>
                <a:spcPts val="0"/>
              </a:spcBef>
              <a:spcAft>
                <a:spcPts val="0"/>
              </a:spcAft>
              <a:buSzPts val="2000"/>
              <a:buNone/>
            </a:pPr>
            <a:endParaRPr lang="en-US" sz="1800" dirty="0">
              <a:latin typeface="Atkinson Hyperlegible Next"/>
              <a:cs typeface="Arial"/>
              <a:sym typeface="Arial"/>
            </a:endParaRPr>
          </a:p>
          <a:p>
            <a:pPr marL="285750" indent="-285750">
              <a:lnSpc>
                <a:spcPct val="100000"/>
              </a:lnSpc>
              <a:spcBef>
                <a:spcPts val="0"/>
              </a:spcBef>
              <a:buSzPts val="2000"/>
            </a:pPr>
            <a:r>
              <a:rPr lang="en-US" sz="1800" dirty="0">
                <a:latin typeface="Atkinson Hyperlegible Next"/>
                <a:cs typeface="Arial"/>
                <a:sym typeface="Arial"/>
              </a:rPr>
              <a:t>Temperature</a:t>
            </a:r>
          </a:p>
          <a:p>
            <a:pPr marL="285750" indent="-285750">
              <a:lnSpc>
                <a:spcPct val="100000"/>
              </a:lnSpc>
              <a:spcBef>
                <a:spcPts val="0"/>
              </a:spcBef>
              <a:buSzPts val="2000"/>
            </a:pPr>
            <a:r>
              <a:rPr lang="en-US" sz="1800" dirty="0">
                <a:latin typeface="Atkinson Hyperlegible Next"/>
                <a:cs typeface="Arial"/>
                <a:sym typeface="Arial"/>
              </a:rPr>
              <a:t>Sound</a:t>
            </a:r>
          </a:p>
          <a:p>
            <a:pPr marL="285750" indent="-285750">
              <a:lnSpc>
                <a:spcPct val="100000"/>
              </a:lnSpc>
              <a:spcBef>
                <a:spcPts val="0"/>
              </a:spcBef>
              <a:buSzPts val="2000"/>
            </a:pPr>
            <a:r>
              <a:rPr lang="en-US" sz="1800" dirty="0">
                <a:latin typeface="Atkinson Hyperlegible Next"/>
                <a:cs typeface="Arial"/>
                <a:sym typeface="Arial"/>
              </a:rPr>
              <a:t>Velocity</a:t>
            </a:r>
          </a:p>
          <a:p>
            <a:pPr marL="285750" indent="-285750">
              <a:lnSpc>
                <a:spcPct val="100000"/>
              </a:lnSpc>
              <a:spcBef>
                <a:spcPts val="0"/>
              </a:spcBef>
              <a:buSzPts val="2000"/>
            </a:pPr>
            <a:r>
              <a:rPr lang="en-US" sz="1800" dirty="0">
                <a:latin typeface="Atkinson Hyperlegible Next"/>
                <a:cs typeface="Arial"/>
                <a:sym typeface="Arial"/>
              </a:rPr>
              <a:t>Pressure</a:t>
            </a:r>
          </a:p>
          <a:p>
            <a:pPr marL="285750" indent="-285750">
              <a:lnSpc>
                <a:spcPct val="100000"/>
              </a:lnSpc>
              <a:spcBef>
                <a:spcPts val="0"/>
              </a:spcBef>
              <a:buSzPts val="2000"/>
            </a:pPr>
            <a:r>
              <a:rPr lang="en-US" sz="1800" dirty="0">
                <a:latin typeface="Atkinson Hyperlegible Next"/>
                <a:cs typeface="Arial"/>
                <a:sym typeface="Arial"/>
              </a:rPr>
              <a:t>Luminosity</a:t>
            </a:r>
          </a:p>
          <a:p>
            <a:pPr marL="285750" indent="-285750">
              <a:lnSpc>
                <a:spcPct val="100000"/>
              </a:lnSpc>
              <a:spcBef>
                <a:spcPts val="0"/>
              </a:spcBef>
              <a:buSzPts val="2000"/>
            </a:pPr>
            <a:endParaRPr lang="en-US" sz="1800" dirty="0">
              <a:latin typeface="+mj-lt"/>
              <a:cs typeface="Arial"/>
              <a:sym typeface="Arial"/>
            </a:endParaRPr>
          </a:p>
          <a:p>
            <a:pPr marL="0" indent="0">
              <a:lnSpc>
                <a:spcPct val="100000"/>
              </a:lnSpc>
              <a:spcBef>
                <a:spcPts val="0"/>
              </a:spcBef>
              <a:buSzPts val="2000"/>
              <a:buNone/>
            </a:pPr>
            <a:r>
              <a:rPr lang="en-US" sz="1800" dirty="0">
                <a:latin typeface="+mj-lt"/>
              </a:rPr>
              <a:t>Again, we have the CPU only able to process discrete binary values (0 or 1).</a:t>
            </a:r>
          </a:p>
          <a:p>
            <a:pPr marL="0" indent="0">
              <a:lnSpc>
                <a:spcPct val="100000"/>
              </a:lnSpc>
              <a:spcBef>
                <a:spcPts val="0"/>
              </a:spcBef>
              <a:buSzPts val="2000"/>
              <a:buNone/>
            </a:pPr>
            <a:endParaRPr lang="en-US" sz="1800" dirty="0">
              <a:latin typeface="+mj-lt"/>
            </a:endParaRPr>
          </a:p>
          <a:p>
            <a:pPr marL="0" indent="0">
              <a:lnSpc>
                <a:spcPct val="100000"/>
              </a:lnSpc>
              <a:spcBef>
                <a:spcPts val="0"/>
              </a:spcBef>
              <a:buSzPts val="2000"/>
              <a:buNone/>
            </a:pPr>
            <a:r>
              <a:rPr lang="en-US" sz="1800" b="1" dirty="0">
                <a:latin typeface="+mj-lt"/>
              </a:rPr>
              <a:t>ADC (Analog-to-Digital Converter): </a:t>
            </a:r>
          </a:p>
          <a:p>
            <a:pPr marL="285750" indent="-285750">
              <a:lnSpc>
                <a:spcPct val="100000"/>
              </a:lnSpc>
              <a:spcBef>
                <a:spcPts val="0"/>
              </a:spcBef>
              <a:buSzPts val="2000"/>
            </a:pPr>
            <a:r>
              <a:rPr lang="en-US" sz="1800" dirty="0">
                <a:latin typeface="+mj-lt"/>
              </a:rPr>
              <a:t>"The Eyes/Ears." Converts physical signals into numbers the CPU can process.</a:t>
            </a:r>
          </a:p>
          <a:p>
            <a:pPr marL="0" indent="0">
              <a:lnSpc>
                <a:spcPct val="100000"/>
              </a:lnSpc>
              <a:spcBef>
                <a:spcPts val="0"/>
              </a:spcBef>
              <a:buSzPts val="2000"/>
              <a:buNone/>
            </a:pPr>
            <a:endParaRPr lang="en-US" sz="1800" dirty="0">
              <a:latin typeface="+mj-lt"/>
            </a:endParaRPr>
          </a:p>
          <a:p>
            <a:pPr marL="0" indent="0">
              <a:lnSpc>
                <a:spcPct val="100000"/>
              </a:lnSpc>
              <a:spcBef>
                <a:spcPts val="0"/>
              </a:spcBef>
              <a:buSzPts val="2000"/>
              <a:buNone/>
            </a:pPr>
            <a:r>
              <a:rPr lang="en-US" sz="1800" b="1" dirty="0">
                <a:latin typeface="+mj-lt"/>
              </a:rPr>
              <a:t>DAC (Digital-to-Analog Converter): </a:t>
            </a:r>
          </a:p>
          <a:p>
            <a:pPr marL="285750" indent="-285750">
              <a:lnSpc>
                <a:spcPct val="100000"/>
              </a:lnSpc>
              <a:spcBef>
                <a:spcPts val="0"/>
              </a:spcBef>
              <a:buSzPts val="2000"/>
            </a:pPr>
            <a:r>
              <a:rPr lang="en-US" sz="1800" dirty="0">
                <a:latin typeface="+mj-lt"/>
              </a:rPr>
              <a:t>"The Hands/Voice." Converts processed numbers back into voltages to drive motors, speakers, etc.</a:t>
            </a:r>
          </a:p>
        </p:txBody>
      </p:sp>
      <p:sp>
        <p:nvSpPr>
          <p:cNvPr id="119" name="Google Shape;119;p29"/>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Introduction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p:cNvGrpSpPr/>
          <p:nvPr/>
        </p:nvGrpSpPr>
        <p:grpSpPr>
          <a:xfrm>
            <a:off x="4066674" y="6601537"/>
            <a:ext cx="5233412" cy="70446"/>
            <a:chOff x="4033424" y="6601537"/>
            <a:chExt cx="5233412" cy="70446"/>
          </a:xfrm>
        </p:grpSpPr>
        <p:cxnSp>
          <p:nvCxnSpPr>
            <p:cNvPr id="125" name="Google Shape;125;p29"/>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8">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2948490"/>
            <a:ext cx="9601200" cy="133878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DAC</a:t>
            </a:r>
            <a:endParaRPr i="0" b="0" sz="1400" dirty="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rgbClr val="15264B"/>
              </a:solidFill>
              <a:latin typeface="Atkinson Hyperlegible Next"/>
              <a:ea typeface="Arial"/>
              <a:cs typeface="Arial"/>
              <a:sym typeface="Arial"/>
            </a:endParaRPr>
          </a:p>
          <a:p>
            <a:pPr marL="0" marR="0" lvl="0" indent="0" algn="ctr" rtl="0">
              <a:lnSpc>
                <a:spcPct val="100000"/>
              </a:lnSpc>
              <a:spcBef>
                <a:spcPts val="0"/>
              </a:spcBef>
              <a:spcAft>
                <a:spcPts val="0"/>
              </a:spcAft>
              <a:buNone/>
            </a:pPr>
            <a:r>
              <a:rPr lang="en-US" sz="1800" b="0" i="0" u="none" strike="noStrike" cap="none" dirty="0">
                <a:solidFill>
                  <a:srgbClr val="15264B"/>
                </a:solidFill>
                <a:latin typeface="Atkinson Hyperlegible Next"/>
                <a:ea typeface="Arial"/>
                <a:cs typeface="Arial"/>
                <a:sym typeface="Arial"/>
              </a:rPr>
              <a:t>(Digital-to-Analog Converter)</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1595F42-45CF-1A67-E00F-6AB79CECCE2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389FDB5E-3E15-C7F0-C55C-8922ED8D283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1800" dirty="0">
                    <a:latin typeface="+mj-lt"/>
                  </a:rPr>
                  <a:t>A device that convert binary input number into a proportional analog voltage symbol.</a:t>
                </a:r>
              </a:p>
              <a:p>
                <a:pPr marL="0" lvl="0" indent="0" algn="l" rtl="0">
                  <a:lnSpc>
                    <a:spcPct val="100000"/>
                  </a:lnSpc>
                  <a:spcBef>
                    <a:spcPts val="0"/>
                  </a:spcBef>
                  <a:spcAft>
                    <a:spcPts val="0"/>
                  </a:spcAft>
                  <a:buSzPts val="2000"/>
                  <a:buNone/>
                </a:pPr>
                <a:endParaRPr lang="en-US" sz="1800" dirty="0">
                  <a:latin typeface="+mj-lt"/>
                </a:endParaRPr>
              </a:p>
              <a:p>
                <a:pPr marL="0" lvl="0" indent="0" algn="l" rtl="0">
                  <a:lnSpc>
                    <a:spcPct val="100000"/>
                  </a:lnSpc>
                  <a:spcBef>
                    <a:spcPts val="0"/>
                  </a:spcBef>
                  <a:spcAft>
                    <a:spcPts val="0"/>
                  </a:spcAft>
                  <a:buSzPts val="2000"/>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m:rPr>
                              <m:sty m:val="p"/>
                            </m:rPr>
                            <a:rPr lang="en-US" sz="1800" b="0" i="1" smtClean="0">
                              <a:latin typeface="Cambria Math" panose="02040503050406030204" pitchFamily="18" charset="0"/>
                            </a:rPr>
                            <m:t>V</m:t>
                          </m:r>
                        </m:e>
                        <m:sub>
                          <m:r>
                            <m:rPr>
                              <m:sty m:val="p"/>
                            </m:rPr>
                            <a:rPr lang="en-US" sz="1800" b="0" i="1" smtClean="0">
                              <a:latin typeface="Cambria Math" panose="02040503050406030204" pitchFamily="18" charset="0"/>
                            </a:rPr>
                            <m:t>out</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V</m:t>
                          </m:r>
                        </m:e>
                        <m:sub>
                          <m:r>
                            <m:rPr>
                              <m:sty m:val="p"/>
                            </m:rPr>
                            <a:rPr lang="en-US" sz="1800" b="0" i="1" smtClean="0">
                              <a:latin typeface="Cambria Math" panose="02040503050406030204" pitchFamily="18" charset="0"/>
                            </a:rPr>
                            <m:t>ref</m:t>
                          </m:r>
                        </m:sub>
                      </m:sSub>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r>
                            <m:rPr>
                              <m:sty m:val="p"/>
                            </m:rPr>
                            <a:rPr lang="en-US" sz="1800" b="0" i="1" smtClean="0">
                              <a:latin typeface="Cambria Math" panose="02040503050406030204" pitchFamily="18" charset="0"/>
                              <a:ea typeface="Cambria Math" panose="02040503050406030204" pitchFamily="18" charset="0"/>
                            </a:rPr>
                            <m:t>X</m:t>
                          </m:r>
                        </m:num>
                        <m:den>
                          <m:sSup>
                            <m:sSupPr>
                              <m:ctrlPr>
                                <a:rPr lang="en-US" sz="1800" b="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2</m:t>
                              </m:r>
                            </m:e>
                            <m:sup>
                              <m:r>
                                <m:rPr>
                                  <m:sty m:val="p"/>
                                </m:rPr>
                                <a:rPr lang="en-US" sz="1800" b="0" i="1" smtClean="0">
                                  <a:latin typeface="Cambria Math" panose="02040503050406030204" pitchFamily="18" charset="0"/>
                                  <a:ea typeface="Cambria Math" panose="02040503050406030204" pitchFamily="18" charset="0"/>
                                </a:rPr>
                                <m:t>N</m:t>
                              </m:r>
                            </m:sup>
                          </m:sSup>
                        </m:den>
                      </m:f>
                    </m:oMath>
                  </m:oMathPara>
                </a14:m>
                <a:endParaRPr lang="en-US" sz="1800" dirty="0">
                  <a:latin typeface="+mj-lt"/>
                </a:endParaRPr>
              </a:p>
              <a:p>
                <a:pPr marL="0" lvl="0" indent="0" algn="l" rtl="0">
                  <a:lnSpc>
                    <a:spcPct val="100000"/>
                  </a:lnSpc>
                  <a:spcBef>
                    <a:spcPts val="0"/>
                  </a:spcBef>
                  <a:spcAft>
                    <a:spcPts val="0"/>
                  </a:spcAft>
                  <a:buSzPts val="2000"/>
                  <a:buNone/>
                </a:pPr>
                <a:endParaRPr lang="en-US" sz="1800" dirty="0">
                  <a:latin typeface="+mj-lt"/>
                </a:endParaRPr>
              </a:p>
              <a:p>
                <a:pPr marL="0" lvl="0" indent="0">
                  <a:lnSpc>
                    <a:spcPct val="100000"/>
                  </a:lnSpc>
                  <a:spcBef>
                    <a:spcPts val="0"/>
                  </a:spcBef>
                  <a:buSzPts val="2000"/>
                  <a:buNone/>
                </a:pPr>
                <a:r>
                  <a:rPr lang="en-US" sz="1800" dirty="0">
                    <a:latin typeface="+mj-lt"/>
                  </a:rPr>
                  <a:t>Where </a:t>
                </a:r>
                <a14:m>
                  <m:oMath xmlns:m="http://schemas.openxmlformats.org/officeDocument/2006/math">
                    <m:r>
                      <m:rPr>
                        <m:sty m:val="p"/>
                      </m:rPr>
                      <a:rPr lang="en-US" sz="1800" i="1">
                        <a:latin typeface="Cambria Math" panose="02040503050406030204" pitchFamily="18" charset="0"/>
                        <a:ea typeface="Cambria Math" panose="02040503050406030204" pitchFamily="18" charset="0"/>
                      </a:rPr>
                      <m:t>N</m:t>
                    </m:r>
                  </m:oMath>
                </a14:m>
                <a:r>
                  <a:rPr lang="en-US" sz="1800" dirty="0">
                    <a:latin typeface="+mj-lt"/>
                  </a:rPr>
                  <a:t> represents the resolution, the larger </a:t>
                </a:r>
                <a14:m>
                  <m:oMath xmlns:m="http://schemas.openxmlformats.org/officeDocument/2006/math">
                    <m:r>
                      <m:rPr>
                        <m:sty m:val="p"/>
                      </m:rPr>
                      <a:rPr lang="en-US" sz="1800" i="1">
                        <a:latin typeface="Cambria Math" panose="02040503050406030204" pitchFamily="18" charset="0"/>
                        <a:ea typeface="Cambria Math" panose="02040503050406030204" pitchFamily="18" charset="0"/>
                      </a:rPr>
                      <m:t>N</m:t>
                    </m:r>
                  </m:oMath>
                </a14:m>
                <a:r>
                  <a:rPr lang="en-US" sz="1800" dirty="0">
                    <a:latin typeface="+mj-lt"/>
                  </a:rPr>
                  <a:t>, the more possible subdivision values you can have (the more you have the more expensive it is!)</a:t>
                </a: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dirty="0">
                    <a:latin typeface="+mj-lt"/>
                  </a:rPr>
                  <a:t>Where </a:t>
                </a:r>
                <a14:m>
                  <m:oMath xmlns:m="http://schemas.openxmlformats.org/officeDocument/2006/math">
                    <m:r>
                      <m:rPr>
                        <m:sty m:val="p"/>
                      </m:rPr>
                      <a:rPr lang="en-US" sz="1800" i="1">
                        <a:latin typeface="Cambria Math" panose="02040503050406030204" pitchFamily="18" charset="0"/>
                        <a:ea typeface="Cambria Math" panose="02040503050406030204" pitchFamily="18" charset="0"/>
                      </a:rPr>
                      <m:t>X</m:t>
                    </m:r>
                  </m:oMath>
                </a14:m>
                <a:r>
                  <a:rPr lang="en-US" sz="1800" dirty="0">
                    <a:latin typeface="+mj-lt"/>
                  </a:rPr>
                  <a:t> is the reference value you input to be converted.</a:t>
                </a: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dirty="0">
                    <a:latin typeface="+mj-lt"/>
                  </a:rPr>
                  <a:t>Specifically for our microcontroller we have,</a:t>
                </a: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14:m>
                  <m:oMathPara xmlns:m="http://schemas.openxmlformats.org/officeDocument/2006/math">
                    <m:oMathParaPr>
                      <m:jc m:val="centerGroup"/>
                    </m:oMathParaPr>
                    <m:oMath xmlns:m="http://schemas.openxmlformats.org/officeDocument/2006/math">
                      <m:r>
                        <m:rPr>
                          <m:sty m:val="p"/>
                        </m:rPr>
                        <a:rPr lang="en-US" sz="1800" b="0" i="1" smtClean="0">
                          <a:latin typeface="Cambria Math" panose="02040503050406030204" pitchFamily="18" charset="0"/>
                        </a:rPr>
                        <m:t>DACOUT</m:t>
                      </m:r>
                      <m:r>
                        <a:rPr lang="en-US" sz="1800" i="1">
                          <a:latin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m:rPr>
                              <m:sty m:val="p"/>
                            </m:rPr>
                            <a:rPr lang="en-US" sz="1800" b="0" i="1" smtClean="0">
                              <a:latin typeface="Cambria Math" panose="02040503050406030204" pitchFamily="18" charset="0"/>
                              <a:ea typeface="Cambria Math" panose="02040503050406030204" pitchFamily="18" charset="0"/>
                            </a:rPr>
                            <m:t>DACVALA</m:t>
                          </m:r>
                          <m:r>
                            <a:rPr lang="en-US" sz="1800" b="0" i="1" smtClean="0">
                              <a:latin typeface="Cambria Math" panose="02040503050406030204" pitchFamily="18" charset="0"/>
                              <a:ea typeface="Cambria Math" panose="02040503050406030204" pitchFamily="18" charset="0"/>
                            </a:rPr>
                            <m:t>×</m:t>
                          </m:r>
                          <m:r>
                            <m:rPr>
                              <m:sty m:val="p"/>
                            </m:rPr>
                            <a:rPr lang="en-US" sz="1800" b="0" i="1" smtClean="0">
                              <a:latin typeface="Cambria Math" panose="02040503050406030204" pitchFamily="18" charset="0"/>
                              <a:ea typeface="Cambria Math" panose="02040503050406030204" pitchFamily="18" charset="0"/>
                            </a:rPr>
                            <m:t>DACREF</m:t>
                          </m:r>
                        </m:num>
                        <m:den>
                          <m:r>
                            <a:rPr lang="en-US" sz="1800" b="0" i="1" smtClean="0">
                              <a:latin typeface="Cambria Math" panose="02040503050406030204" pitchFamily="18" charset="0"/>
                              <a:ea typeface="Cambria Math" panose="02040503050406030204" pitchFamily="18" charset="0"/>
                            </a:rPr>
                            <m:t>4096</m:t>
                          </m:r>
                        </m:den>
                      </m:f>
                    </m:oMath>
                  </m:oMathPara>
                </a14:m>
                <a:endParaRPr lang="en-US" sz="1800" dirty="0">
                  <a:latin typeface="+mj-lt"/>
                </a:endParaRP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dirty="0">
                    <a:latin typeface="+mj-lt"/>
                  </a:rPr>
                  <a:t>How many bits of resolution do we have? </a:t>
                </a:r>
                <a:r>
                  <a:rPr lang="en-US" sz="1800" b="1" dirty="0">
                    <a:latin typeface="+mj-lt"/>
                  </a:rPr>
                  <a:t>12</a:t>
                </a:r>
              </a:p>
            </p:txBody>
          </p:sp>
        </mc:Choice>
        <mc:Fallback xmlns="">
          <p:sp>
            <p:nvSpPr>
              <p:cNvPr id="118" name="Google Shape;118;p29">
                <a:extLst>
                  <a:ext uri="{FF2B5EF4-FFF2-40B4-BE49-F238E27FC236}">
                    <a16:creationId xmlns:a16="http://schemas.microsoft.com/office/drawing/2014/main" id="{389FDB5E-3E15-C7F0-C55C-8922ED8D283C}"/>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491"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BC61FC6-35BB-A02D-0CE2-01D04C4EF63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91A473D-E3C5-9BD8-605B-8D44A046AA7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DAC (1/3)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11DF2C5-BAAE-4EB1-C4BE-471E93DC5B1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46D49EF-31E9-B780-98F0-D784947DD5E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6ED2865-9246-2196-4B99-E59082D3D94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F2B19FE-59CA-F3DA-3077-2AFBEA38EE6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A879F49-B678-7A78-4D4E-7B55B302AFB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B3BC861-B892-4FD3-1D60-A7F89F2C12C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97566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859E1E9-9F25-1432-2363-10C958D5F4A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7DD940A-7605-B25B-B6EF-10A2E475720B}"/>
              </a:ext>
            </a:extLst>
          </p:cNvPr>
          <p:cNvSpPr txBox="1">
            <a:spLocks noGrp="1"/>
          </p:cNvSpPr>
          <p:nvPr>
            <p:ph type="body" idx="1"/>
          </p:nvPr>
        </p:nvSpPr>
        <p:spPr>
          <a:xfrm>
            <a:off x="376809" y="1334279"/>
            <a:ext cx="11177401" cy="570824"/>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None/>
            </a:pPr>
            <a:r>
              <a:rPr lang="en-US" sz="1800" dirty="0">
                <a:latin typeface="+mj-lt"/>
              </a:rPr>
              <a:t>A voltage mode resistor R-2R resistor ladder network.</a:t>
            </a:r>
          </a:p>
        </p:txBody>
      </p:sp>
      <p:sp>
        <p:nvSpPr>
          <p:cNvPr id="119" name="Google Shape;119;p29">
            <a:extLst>
              <a:ext uri="{FF2B5EF4-FFF2-40B4-BE49-F238E27FC236}">
                <a16:creationId xmlns:a16="http://schemas.microsoft.com/office/drawing/2014/main" id="{536CF10F-2C01-B38F-9412-BB01ABBD9A2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EE0C3E6-2A38-051A-9021-1C9833B38ED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DAC – R-2R resistor ladder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72056BB-2A90-3AA5-D716-A27FF708DDD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02077F7-FB02-44A3-AF6C-F7A1C4AB3DB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2EC8EF8-2A56-983F-7F6E-006604D1325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590EA51-3FD9-416D-B8C1-A2B3E9E1339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694F0FC-811E-2E2E-BEA6-1186F205E80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CB8DACB-8C28-9821-7298-77EC188CD02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TextBox 1">
            <a:extLst>
              <a:ext uri="{FF2B5EF4-FFF2-40B4-BE49-F238E27FC236}">
                <a16:creationId xmlns:a16="http://schemas.microsoft.com/office/drawing/2014/main" id="{5FC0932C-8934-236D-6A99-50DC629F1736}"/>
              </a:ext>
            </a:extLst>
          </p:cNvPr>
          <p:cNvSpPr txBox="1"/>
          <p:nvPr/>
        </p:nvSpPr>
        <p:spPr>
          <a:xfrm>
            <a:off x="9620043" y="2475927"/>
            <a:ext cx="2473415" cy="738664"/>
          </a:xfrm>
          <a:prstGeom prst="rect">
            <a:avLst/>
          </a:prstGeom>
          <a:noFill/>
        </p:spPr>
        <p:txBody>
          <a:bodyPr wrap="square" rtlCol="0">
            <a:spAutoFit/>
          </a:bodyPr>
          <a:lstStyle/>
          <a:p>
            <a:r>
              <a:rPr lang="en-US" dirty="0"/>
              <a:t>If the image is still here, I did not have time to make an animation</a:t>
            </a:r>
          </a:p>
        </p:txBody>
      </p:sp>
      <p:pic>
        <p:nvPicPr>
          <p:cNvPr id="15" name="Graphic 14" descr="Circuit: R-2R ladder DAC. A horizontal chain of nodes is joined by series resistors R. The leftmost node connects to ground through a 2R resistor. Each node also connects upward through its own 2R resistor to a digital bit input, a sub 0 at the grounded end through a sub n minus 1 at the right end, with dots marking the repeated middle stages. The rightmost node, fed by a sub n minus 1, is the output V sub out.">
            <a:extLst>
              <a:ext uri="{FF2B5EF4-FFF2-40B4-BE49-F238E27FC236}">
                <a16:creationId xmlns:a16="http://schemas.microsoft.com/office/drawing/2014/main" id="{08D8DC2D-0B7C-BECC-3B08-23FDA0F2108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74929" y="2258842"/>
            <a:ext cx="8581159" cy="2340316"/>
          </a:xfrm>
          <a:prstGeom prst="rect">
            <a:avLst/>
          </a:prstGeom>
        </p:spPr>
      </p:pic>
      <mc:AlternateContent xmlns:mc="http://schemas.openxmlformats.org/markup-compatibility/2006">
        <mc:Choice xmlns:a14="http://schemas.microsoft.com/office/drawing/2010/main" Requires="a14">
          <p:sp>
            <p:nvSpPr>
              <p:cNvPr id="16" name="Google Shape;118;p29">
                <a:extLst>
                  <a:ext uri="{FF2B5EF4-FFF2-40B4-BE49-F238E27FC236}">
                    <a16:creationId xmlns:a16="http://schemas.microsoft.com/office/drawing/2014/main" id="{7D59BECE-22B8-ED4D-43D8-7D6477E0E25E}"/>
                  </a:ext>
                </a:extLst>
              </p:cNvPr>
              <p:cNvSpPr txBox="1">
                <a:spLocks/>
              </p:cNvSpPr>
              <p:nvPr/>
            </p:nvSpPr>
            <p:spPr>
              <a:xfrm>
                <a:off x="376809" y="4952897"/>
                <a:ext cx="11177401" cy="138547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pPr marL="0" indent="0">
                  <a:lnSpc>
                    <a:spcPct val="100000"/>
                  </a:lnSpc>
                  <a:spcBef>
                    <a:spcPts val="0"/>
                  </a:spcBef>
                  <a:buSzPts val="2000"/>
                  <a:buNone/>
                </a:pPr>
                <a:r>
                  <a:rPr lang="en-US" sz="1800" dirty="0">
                    <a:latin typeface="+mj-lt"/>
                  </a:rPr>
                  <a:t>It produces an analog output voltage from the digital integer </a:t>
                </a:r>
                <a14:m>
                  <m:oMath xmlns:m="http://schemas.openxmlformats.org/officeDocument/2006/math">
                    <m:r>
                      <m:rPr>
                        <m:sty m:val="p"/>
                      </m:rPr>
                      <a:rPr lang="en-US" sz="1800" i="1">
                        <a:latin typeface="Cambria Math" panose="02040503050406030204" pitchFamily="18" charset="0"/>
                        <a:ea typeface="Cambria Math" panose="02040503050406030204" pitchFamily="18" charset="0"/>
                      </a:rPr>
                      <m:t>X</m:t>
                    </m:r>
                  </m:oMath>
                </a14:m>
                <a:r>
                  <a:rPr lang="en-US" sz="1800" dirty="0">
                    <a:latin typeface="+mj-lt"/>
                  </a:rPr>
                  <a:t> composed of </a:t>
                </a:r>
                <a14:m>
                  <m:oMath xmlns:m="http://schemas.openxmlformats.org/officeDocument/2006/math">
                    <m:r>
                      <m:rPr>
                        <m:sty m:val="p"/>
                      </m:rPr>
                      <a:rPr lang="en-US" sz="1800" b="0" i="0" smtClean="0">
                        <a:latin typeface="Cambria Math" panose="02040503050406030204" pitchFamily="18" charset="0"/>
                        <a:ea typeface="Cambria Math" panose="02040503050406030204" pitchFamily="18" charset="0"/>
                      </a:rPr>
                      <m:t>n</m:t>
                    </m:r>
                  </m:oMath>
                </a14:m>
                <a:r>
                  <a:rPr lang="en-US" sz="1800" dirty="0">
                    <a:latin typeface="+mj-lt"/>
                  </a:rPr>
                  <a:t>  bits: </a:t>
                </a:r>
                <a14:m>
                  <m:oMath xmlns:m="http://schemas.openxmlformats.org/officeDocument/2006/math">
                    <m:sSub>
                      <m:sSubPr>
                        <m:ctrlPr>
                          <a:rPr lang="en-US" sz="1800" i="1" smtClean="0">
                            <a:latin typeface="Cambria Math" panose="02040503050406030204" pitchFamily="18" charset="0"/>
                            <a:ea typeface="Cambria Math" panose="02040503050406030204" pitchFamily="18" charset="0"/>
                          </a:rPr>
                        </m:ctrlPr>
                      </m:sSubPr>
                      <m:e>
                        <m:r>
                          <m:rPr>
                            <m:sty m:val="p"/>
                          </m:rPr>
                          <a:rPr lang="en-US" sz="1800" b="0" i="1" smtClean="0">
                            <a:latin typeface="Cambria Math" panose="02040503050406030204" pitchFamily="18" charset="0"/>
                            <a:ea typeface="Cambria Math" panose="02040503050406030204" pitchFamily="18" charset="0"/>
                          </a:rPr>
                          <m:t>a</m:t>
                        </m:r>
                      </m:e>
                      <m:sub>
                        <m:r>
                          <m:rPr>
                            <m:sty m:val="p"/>
                          </m:rPr>
                          <a:rPr lang="en-US" sz="1800" b="0" i="1" smtClean="0">
                            <a:latin typeface="Cambria Math" panose="02040503050406030204" pitchFamily="18" charset="0"/>
                            <a:ea typeface="Cambria Math" panose="02040503050406030204" pitchFamily="18" charset="0"/>
                          </a:rPr>
                          <m:t>n</m:t>
                        </m:r>
                        <m:r>
                          <a:rPr lang="en-US" sz="1800" b="0" i="1" smtClean="0">
                            <a:latin typeface="Cambria Math" panose="02040503050406030204" pitchFamily="18" charset="0"/>
                            <a:ea typeface="Cambria Math" panose="02040503050406030204" pitchFamily="18" charset="0"/>
                          </a:rPr>
                          <m:t>−1</m:t>
                        </m:r>
                      </m:sub>
                    </m:sSub>
                  </m:oMath>
                </a14:m>
                <a:r>
                  <a:rPr lang="en-US" sz="1800" dirty="0">
                    <a:latin typeface="+mj-lt"/>
                  </a:rPr>
                  <a:t> (most significant bit, MSB) through bit</a:t>
                </a:r>
                <a:r>
                  <a:rPr lang="en-US" sz="1800" dirty="0">
                    <a:ea typeface="Cambria Math" panose="02040503050406030204" pitchFamily="18" charset="0"/>
                  </a:rPr>
                  <a:t> </a:t>
                </a:r>
                <a14:m>
                  <m:oMath xmlns:m="http://schemas.openxmlformats.org/officeDocument/2006/math">
                    <m:sSub>
                      <m:sSubPr>
                        <m:ctrlPr>
                          <a:rPr lang="en-US" sz="1800" i="1">
                            <a:latin typeface="Cambria Math" panose="02040503050406030204" pitchFamily="18" charset="0"/>
                            <a:ea typeface="Cambria Math" panose="02040503050406030204" pitchFamily="18" charset="0"/>
                          </a:rPr>
                        </m:ctrlPr>
                      </m:sSubPr>
                      <m:e>
                        <m:r>
                          <m:rPr>
                            <m:sty m:val="p"/>
                          </m:rPr>
                          <a:rPr lang="en-US" sz="1800" i="1">
                            <a:latin typeface="Cambria Math" panose="02040503050406030204" pitchFamily="18" charset="0"/>
                            <a:ea typeface="Cambria Math" panose="02040503050406030204" pitchFamily="18" charset="0"/>
                          </a:rPr>
                          <m:t>a</m:t>
                        </m:r>
                      </m:e>
                      <m:sub>
                        <m:r>
                          <a:rPr lang="en-US" sz="1800" b="0" i="1" smtClean="0">
                            <a:latin typeface="Cambria Math" panose="02040503050406030204" pitchFamily="18" charset="0"/>
                            <a:ea typeface="Cambria Math" panose="02040503050406030204" pitchFamily="18" charset="0"/>
                          </a:rPr>
                          <m:t>0</m:t>
                        </m:r>
                      </m:sub>
                    </m:sSub>
                  </m:oMath>
                </a14:m>
                <a:r>
                  <a:rPr lang="en-US" sz="1800" dirty="0"/>
                  <a:t> (least significant bit, LSB). </a:t>
                </a:r>
                <a:endParaRPr lang="en-US" sz="1800" dirty="0">
                  <a:latin typeface="+mj-lt"/>
                </a:endParaRPr>
              </a:p>
            </p:txBody>
          </p:sp>
        </mc:Choice>
        <mc:Fallback>
          <p:sp>
            <p:nvSpPr>
              <p:cNvPr id="16" name="Google Shape;118;p29">
                <a:extLst>
                  <a:ext uri="{FF2B5EF4-FFF2-40B4-BE49-F238E27FC236}">
                    <a16:creationId xmlns:a16="http://schemas.microsoft.com/office/drawing/2014/main" id="{7D59BECE-22B8-ED4D-43D8-7D6477E0E25E}"/>
                  </a:ext>
                </a:extLst>
              </p:cNvPr>
              <p:cNvSpPr txBox="1">
                <a:spLocks noRot="1" noChangeAspect="1" noMove="1" noResize="1" noEditPoints="1" noAdjustHandles="1" noChangeArrowheads="1" noChangeShapeType="1" noTextEdit="1"/>
              </p:cNvSpPr>
              <p:nvPr/>
            </p:nvSpPr>
            <p:spPr>
              <a:xfrm>
                <a:off x="376809" y="4952897"/>
                <a:ext cx="11177401" cy="1385470"/>
              </a:xfrm>
              <a:prstGeom prst="rect">
                <a:avLst/>
              </a:prstGeom>
              <a:blipFill>
                <a:blip r:embed="rId6"/>
                <a:stretch>
                  <a:fillRect l="-491" t="-2193" r="-273"/>
                </a:stretch>
              </a:blipFill>
              <a:ln>
                <a:no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7695A5D0-F303-D1B9-CB4A-8CB979AB4F9D}"/>
              </a:ext>
            </a:extLst>
          </p:cNvPr>
          <p:cNvSpPr txBox="1"/>
          <p:nvPr/>
        </p:nvSpPr>
        <p:spPr>
          <a:xfrm>
            <a:off x="4362479" y="4596075"/>
            <a:ext cx="2938688" cy="261610"/>
          </a:xfrm>
          <a:prstGeom prst="rect">
            <a:avLst/>
          </a:prstGeom>
          <a:noFill/>
        </p:spPr>
        <p:txBody>
          <a:bodyPr wrap="square" rtlCol="0">
            <a:spAutoFit/>
          </a:bodyPr>
          <a:lstStyle/>
          <a:p>
            <a:pPr algn="ctr"/>
            <a:r>
              <a:rPr lang="en-US" sz="1100" dirty="0">
                <a:hlinkClick r:id="rId7"/>
              </a:rPr>
              <a:t>https://en.wikipedia.org/wiki/Resistor_ladder</a:t>
            </a:r>
            <a:r>
              <a:rPr lang="en-US" sz="1100" dirty="0"/>
              <a:t> </a:t>
            </a:r>
          </a:p>
        </p:txBody>
      </p:sp>
    </p:spTree>
    <p:extLst>
      <p:ext uri="{BB962C8B-B14F-4D97-AF65-F5344CB8AC3E}">
        <p14:creationId xmlns:p14="http://schemas.microsoft.com/office/powerpoint/2010/main" val="1996547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353FF0B-1478-6147-E75E-3C59243C7827}"/>
            </a:ext>
          </a:extLst>
        </p:cNvPr>
        <p:cNvGrpSpPr/>
        <p:nvPr/>
      </p:nvGrpSpPr>
      <p:grpSpPr>
        <a:xfrm>
          <a:off x="0" y="0"/>
          <a:ext cx="0" cy="0"/>
          <a:chOff x="0" y="0"/>
          <a:chExt cx="0" cy="0"/>
        </a:xfrm>
      </p:grpSpPr>
      <p:cxnSp>
        <p:nvCxnSpPr>
          <p:cNvPr id="19" name="Straight Arrow Connector 18">
            <a:extLst>
              <a:ext uri="{FF2B5EF4-FFF2-40B4-BE49-F238E27FC236}">
                <a16:creationId xmlns:a16="http://schemas.microsoft.com/office/drawing/2014/main" id="{FEDBB04D-EC9E-5442-E262-837611644121}"/>
              </a:ext>
            </a:extLst>
          </p:cNvPr>
          <p:cNvCxnSpPr>
            <a:cxnSpLocks/>
          </p:cNvCxnSpPr>
          <p:nvPr/>
        </p:nvCxnSpPr>
        <p:spPr>
          <a:xfrm flipH="1">
            <a:off x="2882900" y="2578100"/>
            <a:ext cx="4838700" cy="119898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9" name="Google Shape;119;p29">
            <a:extLst>
              <a:ext uri="{FF2B5EF4-FFF2-40B4-BE49-F238E27FC236}">
                <a16:creationId xmlns:a16="http://schemas.microsoft.com/office/drawing/2014/main" id="{78E50D29-B3DD-1C3B-9908-2BB214AF979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CCC0988-5162-1219-EE07-B602784B35D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DAC – Buffered</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6600723-8C3B-DA9E-C32D-C0CB9E4C3F8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AD40549-A2B2-A6AC-C60F-B531153C4B8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29AF264-CF76-5A66-1940-7BB2C1274A7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9654AC6-EF41-4056-E67E-BA7CB3CB227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6D32ED3-3642-BE9D-9541-83C215D4522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E137DA2-1F1C-506F-A4ED-73ADB763AA1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6" name="Graphic 5" descr="Block diagram of the buffered 12-bit DAC module. The value written to shadow register DACVALS is copied into active register DACVALA either on the next SYSCLK (LOADMODE 0) or on an ePWM sync event chosen by SYNCSEL from EPWM1 through EPWMn (LOADMODE 1). DACVALA drives the 12-bit DAC, whose reference is selected by DACREFSEL as VDAC or VREFHI. The DAC output passes through a buffer amplifier, powered from VDDA and VSSA, to the DACOUT pin, which has a pull-down resistor R sub PD to VSSA.">
            <a:extLst>
              <a:ext uri="{FF2B5EF4-FFF2-40B4-BE49-F238E27FC236}">
                <a16:creationId xmlns:a16="http://schemas.microsoft.com/office/drawing/2014/main" id="{2E58F4D6-84A8-6EE1-349B-9E1138B5173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87953" y="1281615"/>
            <a:ext cx="8416093" cy="4990939"/>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3C3DA4E-4881-8F92-3E65-D6920A74543C}"/>
                  </a:ext>
                </a:extLst>
              </p:cNvPr>
              <p:cNvSpPr txBox="1"/>
              <p:nvPr/>
            </p:nvSpPr>
            <p:spPr>
              <a:xfrm>
                <a:off x="7537004" y="2385951"/>
                <a:ext cx="3035300" cy="4970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i="1">
                              <a:latin typeface="Cambria Math" panose="02040503050406030204" pitchFamily="18" charset="0"/>
                              <a:ea typeface="Cambria Math" panose="02040503050406030204" pitchFamily="18" charset="0"/>
                            </a:rPr>
                          </m:ctrlPr>
                        </m:fPr>
                        <m:num>
                          <m:r>
                            <m:rPr>
                              <m:sty m:val="p"/>
                            </m:rPr>
                            <a:rPr lang="en-US" sz="1400" b="0" i="1" smtClean="0">
                              <a:latin typeface="Cambria Math" panose="02040503050406030204" pitchFamily="18" charset="0"/>
                              <a:ea typeface="Cambria Math" panose="02040503050406030204" pitchFamily="18" charset="0"/>
                            </a:rPr>
                            <m:t>DACVALA</m:t>
                          </m:r>
                          <m:r>
                            <a:rPr lang="en-US" sz="1400" b="0" i="1" smtClean="0">
                              <a:latin typeface="Cambria Math" panose="02040503050406030204" pitchFamily="18" charset="0"/>
                              <a:ea typeface="Cambria Math" panose="02040503050406030204" pitchFamily="18" charset="0"/>
                            </a:rPr>
                            <m:t>×</m:t>
                          </m:r>
                          <m:r>
                            <m:rPr>
                              <m:sty m:val="p"/>
                            </m:rPr>
                            <a:rPr lang="en-US" sz="1400" b="0" i="1" smtClean="0">
                              <a:latin typeface="Cambria Math" panose="02040503050406030204" pitchFamily="18" charset="0"/>
                              <a:ea typeface="Cambria Math" panose="02040503050406030204" pitchFamily="18" charset="0"/>
                            </a:rPr>
                            <m:t>DACREF</m:t>
                          </m:r>
                        </m:num>
                        <m:den>
                          <m:r>
                            <a:rPr lang="en-US" sz="1400" b="0" i="1" smtClean="0">
                              <a:latin typeface="Cambria Math" panose="02040503050406030204" pitchFamily="18" charset="0"/>
                              <a:ea typeface="Cambria Math" panose="02040503050406030204" pitchFamily="18" charset="0"/>
                            </a:rPr>
                            <m:t>4096</m:t>
                          </m:r>
                        </m:den>
                      </m:f>
                      <m:r>
                        <a:rPr lang="en-US" sz="1400" b="0" i="1" smtClean="0">
                          <a:latin typeface="Cambria Math" panose="02040503050406030204" pitchFamily="18" charset="0"/>
                          <a:ea typeface="Cambria Math" panose="02040503050406030204" pitchFamily="18" charset="0"/>
                        </a:rPr>
                        <m:t>=</m:t>
                      </m:r>
                      <m:r>
                        <m:rPr>
                          <m:sty m:val="p"/>
                        </m:rPr>
                        <a:rPr lang="en-US" i="1">
                          <a:latin typeface="Cambria Math" panose="02040503050406030204" pitchFamily="18" charset="0"/>
                        </a:rPr>
                        <m:t>DACOUT</m:t>
                      </m:r>
                    </m:oMath>
                  </m:oMathPara>
                </a14:m>
                <a:endParaRPr lang="en-US" dirty="0"/>
              </a:p>
            </p:txBody>
          </p:sp>
        </mc:Choice>
        <mc:Fallback xmlns="">
          <p:sp>
            <p:nvSpPr>
              <p:cNvPr id="8" name="TextBox 7">
                <a:extLst>
                  <a:ext uri="{FF2B5EF4-FFF2-40B4-BE49-F238E27FC236}">
                    <a16:creationId xmlns:a16="http://schemas.microsoft.com/office/drawing/2014/main" id="{E3C3DA4E-4881-8F92-3E65-D6920A74543C}"/>
                  </a:ext>
                </a:extLst>
              </p:cNvPr>
              <p:cNvSpPr txBox="1">
                <a:spLocks noRot="1" noChangeAspect="1" noMove="1" noResize="1" noEditPoints="1" noAdjustHandles="1" noChangeArrowheads="1" noChangeShapeType="1" noTextEdit="1"/>
              </p:cNvSpPr>
              <p:nvPr/>
            </p:nvSpPr>
            <p:spPr>
              <a:xfrm>
                <a:off x="7537004" y="2385951"/>
                <a:ext cx="3035300" cy="497059"/>
              </a:xfrm>
              <a:prstGeom prst="rect">
                <a:avLst/>
              </a:prstGeom>
              <a:blipFill>
                <a:blip r:embed="rId6"/>
                <a:stretch>
                  <a:fillRect b="-1220"/>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2D47CCAA-9BDC-39CD-F4B6-CBC5FE3CE0FD}"/>
              </a:ext>
            </a:extLst>
          </p:cNvPr>
          <p:cNvCxnSpPr>
            <a:cxnSpLocks/>
            <a:stCxn id="8" idx="0"/>
          </p:cNvCxnSpPr>
          <p:nvPr/>
        </p:nvCxnSpPr>
        <p:spPr>
          <a:xfrm flipH="1" flipV="1">
            <a:off x="7442200" y="2227256"/>
            <a:ext cx="1612454" cy="1586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D6BA910-33E6-2997-E2C9-A3C9EAE13D3C}"/>
              </a:ext>
            </a:extLst>
          </p:cNvPr>
          <p:cNvCxnSpPr>
            <a:cxnSpLocks/>
          </p:cNvCxnSpPr>
          <p:nvPr/>
        </p:nvCxnSpPr>
        <p:spPr>
          <a:xfrm flipH="1">
            <a:off x="7613650" y="2883010"/>
            <a:ext cx="860426" cy="92969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6000ECF-2B36-9ED8-2C33-D743EBF45C00}"/>
              </a:ext>
            </a:extLst>
          </p:cNvPr>
          <p:cNvCxnSpPr>
            <a:cxnSpLocks/>
          </p:cNvCxnSpPr>
          <p:nvPr/>
        </p:nvCxnSpPr>
        <p:spPr>
          <a:xfrm>
            <a:off x="9925050" y="2793175"/>
            <a:ext cx="0" cy="10739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3A8819C-B998-C31C-08E4-DEB3FE7C96DE}"/>
              </a:ext>
            </a:extLst>
          </p:cNvPr>
          <p:cNvSpPr txBox="1"/>
          <p:nvPr/>
        </p:nvSpPr>
        <p:spPr>
          <a:xfrm>
            <a:off x="9229640" y="5422496"/>
            <a:ext cx="1593849" cy="307777"/>
          </a:xfrm>
          <a:prstGeom prst="rect">
            <a:avLst/>
          </a:prstGeom>
          <a:noFill/>
        </p:spPr>
        <p:txBody>
          <a:bodyPr wrap="square" rtlCol="0">
            <a:spAutoFit/>
          </a:bodyPr>
          <a:lstStyle/>
          <a:p>
            <a:r>
              <a:rPr lang="en-US" dirty="0"/>
              <a:t>Pull-down resistor</a:t>
            </a:r>
          </a:p>
        </p:txBody>
      </p:sp>
      <p:cxnSp>
        <p:nvCxnSpPr>
          <p:cNvPr id="36" name="Straight Arrow Connector 35">
            <a:extLst>
              <a:ext uri="{FF2B5EF4-FFF2-40B4-BE49-F238E27FC236}">
                <a16:creationId xmlns:a16="http://schemas.microsoft.com/office/drawing/2014/main" id="{CD00E2A5-B5D2-AC15-5497-21F673CFB0BF}"/>
              </a:ext>
            </a:extLst>
          </p:cNvPr>
          <p:cNvCxnSpPr>
            <a:cxnSpLocks/>
            <a:stCxn id="35" idx="0"/>
          </p:cNvCxnSpPr>
          <p:nvPr/>
        </p:nvCxnSpPr>
        <p:spPr>
          <a:xfrm flipH="1" flipV="1">
            <a:off x="9817100" y="4838700"/>
            <a:ext cx="209465" cy="58379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4247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D766013-DDBF-11E5-25B2-07415A51F81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67E21E9C-1422-16CE-33F2-4E0A98100B6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1800" dirty="0">
                    <a:latin typeface="+mj-lt"/>
                  </a:rPr>
                  <a:t>Each buffered DAC has the following features: </a:t>
                </a:r>
              </a:p>
              <a:p>
                <a:pPr marL="285750" indent="-285750">
                  <a:lnSpc>
                    <a:spcPct val="100000"/>
                  </a:lnSpc>
                  <a:spcBef>
                    <a:spcPts val="0"/>
                  </a:spcBef>
                  <a:buSzPts val="2000"/>
                </a:pPr>
                <a:r>
                  <a:rPr lang="en-US" sz="1800" dirty="0">
                    <a:latin typeface="+mj-lt"/>
                  </a:rPr>
                  <a:t>12-bit programmable internal DAC </a:t>
                </a:r>
              </a:p>
              <a:p>
                <a:pPr marL="285750" indent="-285750">
                  <a:lnSpc>
                    <a:spcPct val="100000"/>
                  </a:lnSpc>
                  <a:spcBef>
                    <a:spcPts val="0"/>
                  </a:spcBef>
                  <a:buSzPts val="2000"/>
                </a:pPr>
                <a:r>
                  <a:rPr lang="en-US" sz="1800" dirty="0">
                    <a:latin typeface="+mj-lt"/>
                  </a:rPr>
                  <a:t>Selectable reference voltage source </a:t>
                </a:r>
              </a:p>
              <a:p>
                <a:pPr marL="742950" lvl="1" indent="-285750">
                  <a:lnSpc>
                    <a:spcPct val="100000"/>
                  </a:lnSpc>
                  <a:spcBef>
                    <a:spcPts val="0"/>
                  </a:spcBef>
                  <a:buSzPts val="2000"/>
                </a:pPr>
                <a:r>
                  <a:rPr lang="en-US" sz="1400" dirty="0">
                    <a:latin typeface="+mj-lt"/>
                  </a:rPr>
                  <a:t>Internal </a:t>
                </a:r>
                <a14:m>
                  <m:oMath xmlns:m="http://schemas.openxmlformats.org/officeDocument/2006/math">
                    <m:r>
                      <m:rPr>
                        <m:sty m:val="p"/>
                      </m:rPr>
                      <a:rPr lang="en-US" sz="1400" b="0" i="1" smtClean="0">
                        <a:latin typeface="Cambria Math" panose="02040503050406030204" pitchFamily="18" charset="0"/>
                      </a:rPr>
                      <m:t>VDAC</m:t>
                    </m:r>
                  </m:oMath>
                </a14:m>
                <a:endParaRPr lang="en-US" sz="1400" dirty="0">
                  <a:latin typeface="+mj-lt"/>
                </a:endParaRPr>
              </a:p>
              <a:p>
                <a:pPr marL="742950" lvl="1" indent="-285750">
                  <a:lnSpc>
                    <a:spcPct val="100000"/>
                  </a:lnSpc>
                  <a:spcBef>
                    <a:spcPts val="0"/>
                  </a:spcBef>
                  <a:buSzPts val="2000"/>
                </a:pPr>
                <a:r>
                  <a:rPr lang="en-US" sz="1400" dirty="0">
                    <a:latin typeface="+mj-lt"/>
                  </a:rPr>
                  <a:t>External </a:t>
                </a:r>
                <a14:m>
                  <m:oMath xmlns:m="http://schemas.openxmlformats.org/officeDocument/2006/math">
                    <m:r>
                      <m:rPr>
                        <m:sty m:val="p"/>
                      </m:rPr>
                      <a:rPr lang="en-US" sz="1400" b="0" i="1" smtClean="0">
                        <a:latin typeface="Cambria Math" panose="02040503050406030204" pitchFamily="18" charset="0"/>
                      </a:rPr>
                      <m:t>VREFHI</m:t>
                    </m:r>
                  </m:oMath>
                </a14:m>
                <a:endParaRPr lang="en-US" sz="1400" dirty="0">
                  <a:latin typeface="+mj-lt"/>
                </a:endParaRPr>
              </a:p>
              <a:p>
                <a:pPr marL="285750" indent="-285750">
                  <a:lnSpc>
                    <a:spcPct val="100000"/>
                  </a:lnSpc>
                  <a:spcBef>
                    <a:spcPts val="0"/>
                  </a:spcBef>
                  <a:buSzPts val="2000"/>
                </a:pPr>
                <a:r>
                  <a:rPr lang="en-US" sz="1800" dirty="0">
                    <a:latin typeface="+mj-lt"/>
                  </a:rPr>
                  <a:t>Pull-down resistor on output</a:t>
                </a:r>
              </a:p>
              <a:p>
                <a:pPr marL="285750" indent="-285750">
                  <a:lnSpc>
                    <a:spcPct val="100000"/>
                  </a:lnSpc>
                  <a:spcBef>
                    <a:spcPts val="0"/>
                  </a:spcBef>
                  <a:buSzPts val="2000"/>
                </a:pPr>
                <a:r>
                  <a:rPr lang="en-US" sz="1800" dirty="0">
                    <a:latin typeface="+mj-lt"/>
                  </a:rPr>
                  <a:t>Ability to synchronize with EPWMSYNCPER</a:t>
                </a:r>
              </a:p>
              <a:p>
                <a:pPr marL="285750" indent="-285750">
                  <a:lnSpc>
                    <a:spcPct val="100000"/>
                  </a:lnSpc>
                  <a:spcBef>
                    <a:spcPts val="0"/>
                  </a:spcBef>
                  <a:buSzPts val="2000"/>
                </a:pPr>
                <a:endParaRPr lang="en-US" sz="1800" dirty="0">
                  <a:latin typeface="+mj-lt"/>
                </a:endParaRPr>
              </a:p>
              <a:p>
                <a:pPr marL="0" indent="0">
                  <a:lnSpc>
                    <a:spcPct val="100000"/>
                  </a:lnSpc>
                  <a:spcBef>
                    <a:spcPts val="0"/>
                  </a:spcBef>
                  <a:buSzPts val="2000"/>
                  <a:buNone/>
                </a:pPr>
                <a:r>
                  <a:rPr lang="en-US" sz="1800" dirty="0">
                    <a:latin typeface="+mj-lt"/>
                  </a:rPr>
                  <a:t>MCU DACs include an operational amplifier (Op-Amp) buffer at the output to drive loads (speakers, motor drivers) without dropping voltage due to impedance loading.</a:t>
                </a:r>
              </a:p>
              <a:p>
                <a:pPr mar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dirty="0">
                    <a:latin typeface="+mj-lt"/>
                  </a:rPr>
                  <a:t>EPWMSYNCPER comes from the Time-Base submodule of the EPWM. (For a detailed description of how this signal is generated, refer to the Time-Base submodule chapter of the EPWM).</a:t>
                </a:r>
              </a:p>
              <a:p>
                <a:pPr marL="0" lvl="0" indent="0">
                  <a:lnSpc>
                    <a:spcPct val="100000"/>
                  </a:lnSpc>
                  <a:spcBef>
                    <a:spcPts val="0"/>
                  </a:spcBef>
                  <a:buSzPts val="2000"/>
                  <a:buNone/>
                </a:pPr>
                <a:endParaRPr lang="en-US" sz="1800" b="1" dirty="0">
                  <a:latin typeface="+mj-lt"/>
                </a:endParaRPr>
              </a:p>
              <a:p>
                <a:pPr marL="0" lvl="0" indent="0">
                  <a:lnSpc>
                    <a:spcPct val="100000"/>
                  </a:lnSpc>
                  <a:spcBef>
                    <a:spcPts val="0"/>
                  </a:spcBef>
                  <a:buSzPts val="2000"/>
                  <a:buNone/>
                </a:pPr>
                <a:r>
                  <a:rPr lang="en-US" sz="1800" dirty="0">
                    <a:latin typeface="+mj-lt"/>
                  </a:rPr>
                  <a:t>There are </a:t>
                </a:r>
                <a:r>
                  <a:rPr lang="en-US" sz="1800" b="1" dirty="0">
                    <a:latin typeface="+mj-lt"/>
                  </a:rPr>
                  <a:t>3</a:t>
                </a:r>
                <a:r>
                  <a:rPr lang="en-US" sz="1800" dirty="0">
                    <a:latin typeface="+mj-lt"/>
                  </a:rPr>
                  <a:t> DAC, DACA, DACB, DACC</a:t>
                </a:r>
              </a:p>
            </p:txBody>
          </p:sp>
        </mc:Choice>
        <mc:Fallback xmlns="">
          <p:sp>
            <p:nvSpPr>
              <p:cNvPr id="118" name="Google Shape;118;p29">
                <a:extLst>
                  <a:ext uri="{FF2B5EF4-FFF2-40B4-BE49-F238E27FC236}">
                    <a16:creationId xmlns:a16="http://schemas.microsoft.com/office/drawing/2014/main" id="{67E21E9C-1422-16CE-33F2-4E0A98100B61}"/>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491" t="-75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443AF27-2703-B654-22B8-8A38B8D5F75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80E1E02-0620-839A-8E46-B58B3A86E1A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DAC (2/3)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9F56185-8930-A2AD-7C33-DE210BE93AB3}"/>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7F3F5E1-A1FA-9616-1F79-56B9B9BB88D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3617300-D224-C2A3-D86F-A279746394B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053A1E7-259C-F1F1-3374-87C7238F5E5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2F26A44-9C13-41C1-64FA-67A87643A9E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8D12E56-F7A2-6573-3B0C-B680D7000E2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5484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2AF19FA-9430-25A1-9AEC-F821D7E5A87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17CE058-AC9F-D045-7E81-F1727C624C9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BA43B2B-77A7-3BFB-F76A-3C1F9119C65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DAC – For later reference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FF3B666-012E-2ED8-39EE-BBCB3B1E518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C623D92-51D0-C6FA-6AF1-54272956BC8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A267661-AF47-8675-3DD3-7471044379A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9CEBBF8-BF64-C8C6-122E-B2BA5398206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095F767-EA49-CDF4-1B6E-757F0EC1479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83140D5-84CF-265E-B1AB-A2E65BE95E9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Block diagram: TI ePWM time-base submodule (Figure 15-5). SYSCLK passes through the EPWMCLK prescaler and TBCTL clock prescaler (HSPCLKDIV, CLKDIV) to produce TBCLK, which drives the 16-bit up/down counter TBCTR, with mode set by TBCTL CTRMODE. A comparator against the shadowed period register TBPRD generates CTR equals PRD and resets the counter. When PHSEN is enabled, a sync input loads the phase register TBPHS into the counter. Multiplexers select which counter events drive the sync outputs EPWMxSYNCO and EPWMxSYNCPER.">
            <a:extLst>
              <a:ext uri="{FF2B5EF4-FFF2-40B4-BE49-F238E27FC236}">
                <a16:creationId xmlns:a16="http://schemas.microsoft.com/office/drawing/2014/main" id="{B6A0F4FE-9541-2923-1AEE-CAE88CF0099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8544" y="1070373"/>
            <a:ext cx="6634912" cy="5251462"/>
          </a:xfrm>
          <a:prstGeom prst="rect">
            <a:avLst/>
          </a:prstGeom>
        </p:spPr>
      </p:pic>
    </p:spTree>
    <p:extLst>
      <p:ext uri="{BB962C8B-B14F-4D97-AF65-F5344CB8AC3E}">
        <p14:creationId xmlns:p14="http://schemas.microsoft.com/office/powerpoint/2010/main" val="3404129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BF40392-B6FB-3FC9-2C2B-8A38E710BBF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F9A1969-49A0-1550-8A6D-3911206CF65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lgn="l">
              <a:buNone/>
            </a:pPr>
            <a:r>
              <a:rPr lang="en-US" sz="1800" b="1" dirty="0">
                <a:solidFill>
                  <a:srgbClr val="000000"/>
                </a:solidFill>
                <a:latin typeface="+mj-lt"/>
              </a:rPr>
              <a:t>Setup</a:t>
            </a:r>
          </a:p>
          <a:p>
            <a:pPr marL="114300" indent="0" algn="l">
              <a:buNone/>
            </a:pPr>
            <a:r>
              <a:rPr lang="en-US" sz="1800" dirty="0">
                <a:solidFill>
                  <a:srgbClr val="000000"/>
                </a:solidFill>
                <a:latin typeface="Consolas" panose="020B0609020204030204" pitchFamily="49" charset="0"/>
              </a:rPr>
              <a:t>EALLOW;</a:t>
            </a:r>
            <a:endParaRPr lang="en-US" sz="1800" dirty="0">
              <a:latin typeface="Consolas" panose="020B0609020204030204" pitchFamily="49" charset="0"/>
            </a:endParaRPr>
          </a:p>
          <a:p>
            <a:pPr marL="114300" indent="0">
              <a:buNone/>
            </a:pPr>
            <a:r>
              <a:rPr lang="es-ES" sz="1800" dirty="0" err="1">
                <a:solidFill>
                  <a:srgbClr val="000000"/>
                </a:solidFill>
                <a:latin typeface="Consolas" panose="020B0609020204030204" pitchFamily="49" charset="0"/>
              </a:rPr>
              <a:t>DacaRegs.</a:t>
            </a:r>
            <a:r>
              <a:rPr lang="es-ES" sz="1800" dirty="0" err="1">
                <a:solidFill>
                  <a:srgbClr val="0000C0"/>
                </a:solidFill>
                <a:latin typeface="Consolas" panose="020B0609020204030204" pitchFamily="49" charset="0"/>
              </a:rPr>
              <a:t>DACCTL</a:t>
            </a:r>
            <a:r>
              <a:rPr lang="es-ES" sz="1800" dirty="0" err="1">
                <a:solidFill>
                  <a:srgbClr val="000000"/>
                </a:solidFill>
                <a:latin typeface="Consolas" panose="020B0609020204030204" pitchFamily="49" charset="0"/>
              </a:rPr>
              <a:t>.</a:t>
            </a:r>
            <a:r>
              <a:rPr lang="es-ES" sz="1800" dirty="0" err="1">
                <a:solidFill>
                  <a:srgbClr val="0000C0"/>
                </a:solidFill>
                <a:latin typeface="Consolas" panose="020B0609020204030204" pitchFamily="49" charset="0"/>
              </a:rPr>
              <a:t>bit</a:t>
            </a:r>
            <a:r>
              <a:rPr lang="es-ES" sz="1800" dirty="0" err="1">
                <a:solidFill>
                  <a:srgbClr val="000000"/>
                </a:solidFill>
                <a:latin typeface="Consolas" panose="020B0609020204030204" pitchFamily="49" charset="0"/>
              </a:rPr>
              <a:t>.</a:t>
            </a:r>
            <a:r>
              <a:rPr lang="es-ES" sz="1800" dirty="0" err="1">
                <a:solidFill>
                  <a:srgbClr val="0000C0"/>
                </a:solidFill>
                <a:latin typeface="Consolas" panose="020B0609020204030204" pitchFamily="49" charset="0"/>
              </a:rPr>
              <a:t>DACREFSEL</a:t>
            </a:r>
            <a:r>
              <a:rPr lang="es-ES" sz="1800" dirty="0">
                <a:solidFill>
                  <a:srgbClr val="000000"/>
                </a:solidFill>
                <a:latin typeface="Consolas" panose="020B0609020204030204" pitchFamily="49" charset="0"/>
              </a:rPr>
              <a:t> = 0;  </a:t>
            </a:r>
            <a:r>
              <a:rPr lang="en-US" sz="1800" dirty="0">
                <a:solidFill>
                  <a:srgbClr val="3F7F5F"/>
                </a:solidFill>
                <a:latin typeface="Consolas" panose="020B0609020204030204" pitchFamily="49" charset="0"/>
              </a:rPr>
              <a:t>// 0 from internal reference, 1 for external</a:t>
            </a:r>
            <a:endParaRPr lang="es-ES" sz="1800" dirty="0">
              <a:solidFill>
                <a:srgbClr val="000000"/>
              </a:solidFill>
              <a:latin typeface="Consolas" panose="020B0609020204030204" pitchFamily="49" charset="0"/>
            </a:endParaRPr>
          </a:p>
          <a:p>
            <a:pPr marL="114300" indent="0">
              <a:buNone/>
            </a:pPr>
            <a:r>
              <a:rPr lang="en-US" sz="1800" dirty="0" err="1">
                <a:solidFill>
                  <a:srgbClr val="000000"/>
                </a:solidFill>
                <a:latin typeface="Consolas" panose="020B0609020204030204" pitchFamily="49" charset="0"/>
              </a:rPr>
              <a:t>DacaRegs.</a:t>
            </a:r>
            <a:r>
              <a:rPr lang="en-US" sz="1800" dirty="0" err="1">
                <a:solidFill>
                  <a:srgbClr val="0000C0"/>
                </a:solidFill>
                <a:latin typeface="Consolas" panose="020B0609020204030204" pitchFamily="49" charset="0"/>
              </a:rPr>
              <a:t>DACOUTEN</a:t>
            </a:r>
            <a:r>
              <a:rPr lang="en-US" sz="1800" dirty="0" err="1">
                <a:solidFill>
                  <a:srgbClr val="000000"/>
                </a:solidFill>
                <a:latin typeface="Consolas" panose="020B0609020204030204" pitchFamily="49" charset="0"/>
              </a:rPr>
              <a:t>.</a:t>
            </a:r>
            <a:r>
              <a:rPr lang="en-US" sz="1800" dirty="0" err="1">
                <a:solidFill>
                  <a:srgbClr val="0000C0"/>
                </a:solidFill>
                <a:latin typeface="Consolas" panose="020B0609020204030204" pitchFamily="49" charset="0"/>
              </a:rPr>
              <a:t>bit</a:t>
            </a:r>
            <a:r>
              <a:rPr lang="en-US" sz="1800" dirty="0" err="1">
                <a:solidFill>
                  <a:srgbClr val="000000"/>
                </a:solidFill>
                <a:latin typeface="Consolas" panose="020B0609020204030204" pitchFamily="49" charset="0"/>
              </a:rPr>
              <a:t>.</a:t>
            </a:r>
            <a:r>
              <a:rPr lang="en-US" sz="1800" dirty="0" err="1">
                <a:solidFill>
                  <a:srgbClr val="0000C0"/>
                </a:solidFill>
                <a:latin typeface="Consolas" panose="020B0609020204030204" pitchFamily="49" charset="0"/>
              </a:rPr>
              <a:t>DACOUTEN</a:t>
            </a:r>
            <a:r>
              <a:rPr lang="en-US" sz="1800" dirty="0">
                <a:solidFill>
                  <a:srgbClr val="000000"/>
                </a:solidFill>
                <a:latin typeface="Consolas" panose="020B0609020204030204" pitchFamily="49" charset="0"/>
              </a:rPr>
              <a:t> = 1; </a:t>
            </a:r>
            <a:r>
              <a:rPr lang="en-US" sz="1800" dirty="0">
                <a:solidFill>
                  <a:srgbClr val="3F7F5F"/>
                </a:solidFill>
                <a:latin typeface="Consolas" panose="020B0609020204030204" pitchFamily="49" charset="0"/>
              </a:rPr>
              <a:t>// DAC output enabled? (DAC-OUT-EN)</a:t>
            </a:r>
            <a:endParaRPr lang="en-US" sz="1800" dirty="0">
              <a:solidFill>
                <a:srgbClr val="000000"/>
              </a:solidFill>
              <a:latin typeface="Consolas" panose="020B0609020204030204" pitchFamily="49" charset="0"/>
            </a:endParaRPr>
          </a:p>
          <a:p>
            <a:pPr marL="114300" indent="0">
              <a:buNone/>
            </a:pPr>
            <a:r>
              <a:rPr lang="en-US" sz="1800" dirty="0" err="1">
                <a:solidFill>
                  <a:srgbClr val="000000"/>
                </a:solidFill>
                <a:latin typeface="Consolas" panose="020B0609020204030204" pitchFamily="49" charset="0"/>
              </a:rPr>
              <a:t>DacaRegs.</a:t>
            </a:r>
            <a:r>
              <a:rPr lang="en-US" sz="1800" dirty="0" err="1">
                <a:solidFill>
                  <a:srgbClr val="0000C0"/>
                </a:solidFill>
                <a:latin typeface="Consolas" panose="020B0609020204030204" pitchFamily="49" charset="0"/>
              </a:rPr>
              <a:t>DACVALS</a:t>
            </a:r>
            <a:r>
              <a:rPr lang="en-US" sz="1800" dirty="0" err="1">
                <a:solidFill>
                  <a:srgbClr val="000000"/>
                </a:solidFill>
                <a:latin typeface="Consolas" panose="020B0609020204030204" pitchFamily="49" charset="0"/>
              </a:rPr>
              <a:t>.</a:t>
            </a:r>
            <a:r>
              <a:rPr lang="en-US" sz="1800" dirty="0" err="1">
                <a:solidFill>
                  <a:srgbClr val="0000C0"/>
                </a:solidFill>
                <a:latin typeface="Consolas" panose="020B0609020204030204" pitchFamily="49" charset="0"/>
              </a:rPr>
              <a:t>all</a:t>
            </a:r>
            <a:r>
              <a:rPr lang="en-US" sz="1800" dirty="0">
                <a:solidFill>
                  <a:srgbClr val="000000"/>
                </a:solidFill>
                <a:latin typeface="Consolas" panose="020B0609020204030204" pitchFamily="49" charset="0"/>
              </a:rPr>
              <a:t> = 0;           </a:t>
            </a:r>
            <a:r>
              <a:rPr lang="en-US" sz="1800" dirty="0">
                <a:solidFill>
                  <a:srgbClr val="3F7F5F"/>
                </a:solidFill>
                <a:latin typeface="Consolas" panose="020B0609020204030204" pitchFamily="49" charset="0"/>
              </a:rPr>
              <a:t>// Clears current output value</a:t>
            </a:r>
            <a:endParaRPr lang="en-US" sz="1800" dirty="0">
              <a:solidFill>
                <a:srgbClr val="000000"/>
              </a:solidFill>
              <a:latin typeface="Consolas" panose="020B0609020204030204" pitchFamily="49" charset="0"/>
            </a:endParaRPr>
          </a:p>
          <a:p>
            <a:pPr marL="114300" indent="0" algn="l">
              <a:buNone/>
            </a:pPr>
            <a:r>
              <a:rPr lang="en-US" sz="1800" dirty="0">
                <a:solidFill>
                  <a:srgbClr val="000000"/>
                </a:solidFill>
                <a:latin typeface="Consolas" panose="020B0609020204030204" pitchFamily="49" charset="0"/>
              </a:rPr>
              <a:t>DELAY_US(10);                       </a:t>
            </a:r>
            <a:r>
              <a:rPr lang="en-US" sz="1800" dirty="0">
                <a:solidFill>
                  <a:srgbClr val="3F7F5F"/>
                </a:solidFill>
                <a:latin typeface="Consolas" panose="020B0609020204030204" pitchFamily="49" charset="0"/>
              </a:rPr>
              <a:t>// Delay for buffered DAC to power up</a:t>
            </a:r>
          </a:p>
          <a:p>
            <a:pPr marL="114300" indent="0" algn="l">
              <a:buNone/>
            </a:pPr>
            <a:r>
              <a:rPr lang="en-US" sz="1800" dirty="0">
                <a:solidFill>
                  <a:srgbClr val="000000"/>
                </a:solidFill>
                <a:latin typeface="Consolas" panose="020B0609020204030204" pitchFamily="49" charset="0"/>
              </a:rPr>
              <a:t>EDIS;</a:t>
            </a:r>
          </a:p>
          <a:p>
            <a:pPr marL="114300" indent="0" algn="l">
              <a:buNone/>
            </a:pPr>
            <a:endParaRPr lang="en-US" sz="1800" b="1" dirty="0">
              <a:solidFill>
                <a:srgbClr val="000000"/>
              </a:solidFill>
              <a:latin typeface="Consolas" panose="020B0609020204030204" pitchFamily="49" charset="0"/>
            </a:endParaRPr>
          </a:p>
          <a:p>
            <a:pPr marL="114300" indent="0" algn="l">
              <a:buNone/>
            </a:pPr>
            <a:r>
              <a:rPr lang="en-US" sz="1800" b="1" dirty="0">
                <a:solidFill>
                  <a:srgbClr val="000000"/>
                </a:solidFill>
                <a:latin typeface="+mj-lt"/>
              </a:rPr>
              <a:t>Setting</a:t>
            </a:r>
          </a:p>
          <a:p>
            <a:pPr marL="114300" indent="0">
              <a:buNone/>
            </a:pPr>
            <a:r>
              <a:rPr lang="es-ES" sz="1800" dirty="0" err="1">
                <a:solidFill>
                  <a:srgbClr val="000000"/>
                </a:solidFill>
                <a:latin typeface="Consolas" panose="020B0609020204030204" pitchFamily="49" charset="0"/>
              </a:rPr>
              <a:t>DacaRegs</a:t>
            </a:r>
            <a:r>
              <a:rPr lang="en-US" sz="1800" dirty="0">
                <a:solidFill>
                  <a:srgbClr val="0000C0"/>
                </a:solidFill>
                <a:latin typeface="Consolas" panose="020B0609020204030204" pitchFamily="49" charset="0"/>
              </a:rPr>
              <a:t>.</a:t>
            </a:r>
            <a:r>
              <a:rPr lang="en-US" sz="1800" dirty="0" err="1">
                <a:solidFill>
                  <a:srgbClr val="0000C0"/>
                </a:solidFill>
                <a:latin typeface="Consolas" panose="020B0609020204030204" pitchFamily="49" charset="0"/>
              </a:rPr>
              <a:t>DACVALS</a:t>
            </a:r>
            <a:r>
              <a:rPr lang="en-US" sz="1800" dirty="0" err="1">
                <a:solidFill>
                  <a:srgbClr val="000000"/>
                </a:solidFill>
                <a:latin typeface="Consolas" panose="020B0609020204030204" pitchFamily="49" charset="0"/>
              </a:rPr>
              <a:t>.</a:t>
            </a:r>
            <a:r>
              <a:rPr lang="en-US" sz="1800" dirty="0" err="1">
                <a:solidFill>
                  <a:srgbClr val="0000C0"/>
                </a:solidFill>
                <a:latin typeface="Consolas" panose="020B0609020204030204" pitchFamily="49" charset="0"/>
              </a:rPr>
              <a:t>all</a:t>
            </a:r>
            <a:r>
              <a:rPr lang="en-US" sz="1800" dirty="0">
                <a:solidFill>
                  <a:srgbClr val="000000"/>
                </a:solidFill>
                <a:latin typeface="Consolas" panose="020B0609020204030204" pitchFamily="49" charset="0"/>
              </a:rPr>
              <a:t> = </a:t>
            </a:r>
            <a:r>
              <a:rPr lang="en-US" sz="1800" dirty="0" err="1">
                <a:solidFill>
                  <a:srgbClr val="000000"/>
                </a:solidFill>
                <a:latin typeface="Consolas" panose="020B0609020204030204" pitchFamily="49" charset="0"/>
              </a:rPr>
              <a:t>val</a:t>
            </a:r>
            <a:r>
              <a:rPr lang="en-US" sz="1800" dirty="0">
                <a:solidFill>
                  <a:srgbClr val="000000"/>
                </a:solidFill>
                <a:latin typeface="Consolas" panose="020B0609020204030204" pitchFamily="49" charset="0"/>
              </a:rPr>
              <a:t>;         </a:t>
            </a:r>
            <a:r>
              <a:rPr lang="en-US" sz="1800" dirty="0">
                <a:solidFill>
                  <a:srgbClr val="3F7F5F"/>
                </a:solidFill>
                <a:latin typeface="Consolas" panose="020B0609020204030204" pitchFamily="49" charset="0"/>
              </a:rPr>
              <a:t>// Sets DAC output (only keeps to first 12 bits)</a:t>
            </a:r>
          </a:p>
          <a:p>
            <a:pPr marL="114300" indent="0">
              <a:buNone/>
            </a:pPr>
            <a:endParaRPr lang="en-US" sz="1800" dirty="0">
              <a:latin typeface="+mj-lt"/>
            </a:endParaRPr>
          </a:p>
        </p:txBody>
      </p:sp>
      <p:sp>
        <p:nvSpPr>
          <p:cNvPr id="119" name="Google Shape;119;p29">
            <a:extLst>
              <a:ext uri="{FF2B5EF4-FFF2-40B4-BE49-F238E27FC236}">
                <a16:creationId xmlns:a16="http://schemas.microsoft.com/office/drawing/2014/main" id="{C7ADA479-DA38-2B09-4B9D-52BE6EF60D8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67271B2-371B-DDF4-5BA8-422AF59F605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DAC (3/3)</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5F78EDA-9CC3-2C76-B131-7E8F367A07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444A390-B0CF-1B84-6E6F-90D88E375C5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7E0FDA5-4A3E-CDD9-100A-399CFAFBE05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8CC85BC-DEA8-6A83-3D98-1098E38AF0E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E1A2621-1626-2CBA-AB72-1CC9AB05426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45F6663-D8E3-C288-0860-C8FFD4A6835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442885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23691993-CC32-C8A2-4123-30CF2BD560AF}"/>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F6303210-DA23-92D3-1591-74CF9B96253E}"/>
              </a:ext>
            </a:extLst>
          </p:cNvPr>
          <p:cNvSpPr/>
          <p:nvPr>
            <p:ph type="title"/>
          </p:nvPr>
        </p:nvSpPr>
        <p:spPr>
          <a:xfrm>
            <a:off x="1295400" y="2948490"/>
            <a:ext cx="9601200" cy="133878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ADC</a:t>
            </a:r>
            <a:endParaRPr i="0" b="0" sz="1400" dirty="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rgbClr val="15264B"/>
              </a:solidFill>
              <a:latin typeface="Atkinson Hyperlegible Next"/>
              <a:ea typeface="Arial"/>
              <a:cs typeface="Arial"/>
              <a:sym typeface="Arial"/>
            </a:endParaRPr>
          </a:p>
          <a:p>
            <a:pPr lvl="0" algn="ctr">
              <a:lnSpc>
                <a:spcPct val="100000"/>
              </a:lnSpc>
              <a:spcBef>
                <a:spcPts val="0"/>
              </a:spcBef>
              <a:spcAft>
                <a:spcPts val="0"/>
              </a:spcAft>
            </a:pPr>
            <a:r>
              <a:rPr lang="en-US" sz="1800" b="0" i="0" u="none" strike="noStrike" cap="none" dirty="0">
                <a:solidFill>
                  <a:srgbClr val="15264B"/>
                </a:solidFill>
                <a:latin typeface="Atkinson Hyperlegible Next"/>
                <a:ea typeface="Arial"/>
                <a:cs typeface="Arial"/>
                <a:sym typeface="Arial"/>
              </a:rPr>
              <a:t>(</a:t>
            </a:r>
            <a:r>
              <a:rPr i="0" b="0" lang="en-US" sz="1800" dirty="0">
                <a:solidFill>
                  <a:srgbClr val="15264B"/>
                </a:solidFill>
              </a:rPr>
              <a:t>Analog-to-</a:t>
            </a:r>
            <a:r>
              <a:rPr lang="en-US" sz="1800" b="0" i="0" u="none" strike="noStrike" cap="none" dirty="0">
                <a:solidFill>
                  <a:srgbClr val="15264B"/>
                </a:solidFill>
                <a:latin typeface="Atkinson Hyperlegible Next"/>
                <a:ea typeface="Arial"/>
                <a:cs typeface="Arial"/>
                <a:sym typeface="Arial"/>
              </a:rPr>
              <a:t>Digital Converter)</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CFA8D1E9-A9DB-F809-C236-CCF784B2D42F}"/>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5B58E666-1362-4963-4C82-96B8C7B56D43}"/>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B640B8E2-AA14-E61C-89FC-A7C2E3326973}"/>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FACA6DD3-4C0A-2F55-F958-AC97DAB0972B}"/>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C63EB9EC-3D60-379E-C179-EFA5E145F9B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869A7BAB-43ED-B7F0-55CF-3419DC78FA49}"/>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280CC68C-F96F-39C0-21A3-3CE40A4FA771}"/>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BCE3F39C-02BC-4A11-BAAC-84186EE88F8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FB5F58A6-7D57-2A64-4E85-85BC6EDB163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9021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87E2AE7-F1CC-7AFC-8B43-32C605BD11A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53A26C0-2EEB-263A-6986-E35E309604F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1800" dirty="0">
                <a:latin typeface="+mj-lt"/>
              </a:rPr>
              <a:t>Converts continuous voltage into discrete digital numbers.</a:t>
            </a: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dirty="0">
                <a:latin typeface="+mj-lt"/>
              </a:rPr>
              <a:t>3 step process:</a:t>
            </a:r>
          </a:p>
          <a:p>
            <a:pPr marL="0" lvl="0" indent="0">
              <a:lnSpc>
                <a:spcPct val="100000"/>
              </a:lnSpc>
              <a:spcBef>
                <a:spcPts val="0"/>
              </a:spcBef>
              <a:buSzPts val="2000"/>
              <a:buNone/>
            </a:pPr>
            <a:endParaRPr lang="en-US" sz="1800" dirty="0">
              <a:latin typeface="+mj-lt"/>
            </a:endParaRPr>
          </a:p>
          <a:p>
            <a:pPr marL="285750" indent="-285750">
              <a:lnSpc>
                <a:spcPct val="100000"/>
              </a:lnSpc>
              <a:spcBef>
                <a:spcPts val="0"/>
              </a:spcBef>
              <a:buSzPts val="2000"/>
            </a:pPr>
            <a:r>
              <a:rPr lang="en-US" sz="1800" b="1" dirty="0">
                <a:latin typeface="+mj-lt"/>
              </a:rPr>
              <a:t>Sample</a:t>
            </a:r>
            <a:r>
              <a:rPr lang="en-US" sz="1800" dirty="0">
                <a:latin typeface="+mj-lt"/>
              </a:rPr>
              <a:t>: A switch closes, charging a tiny internal capacitor to match the input voltage</a:t>
            </a:r>
          </a:p>
          <a:p>
            <a:pPr marL="285750" indent="-285750">
              <a:lnSpc>
                <a:spcPct val="100000"/>
              </a:lnSpc>
              <a:spcBef>
                <a:spcPts val="0"/>
              </a:spcBef>
              <a:buSzPts val="2000"/>
            </a:pPr>
            <a:r>
              <a:rPr lang="en-US" sz="1800" b="1" dirty="0">
                <a:latin typeface="+mj-lt"/>
              </a:rPr>
              <a:t>Holding</a:t>
            </a:r>
            <a:r>
              <a:rPr lang="en-US" sz="1800" dirty="0">
                <a:latin typeface="+mj-lt"/>
              </a:rPr>
              <a:t>: The switch open, trapping the charge on the capacitor so it does not change during measurement</a:t>
            </a:r>
          </a:p>
          <a:p>
            <a:pPr marL="285750" indent="-285750">
              <a:lnSpc>
                <a:spcPct val="100000"/>
              </a:lnSpc>
              <a:spcBef>
                <a:spcPts val="0"/>
              </a:spcBef>
              <a:buSzPts val="2000"/>
            </a:pPr>
            <a:r>
              <a:rPr lang="en-US" sz="1800" b="1" dirty="0">
                <a:latin typeface="+mj-lt"/>
              </a:rPr>
              <a:t>Quantizing</a:t>
            </a:r>
            <a:r>
              <a:rPr lang="en-US" sz="1800" dirty="0">
                <a:latin typeface="+mj-lt"/>
              </a:rPr>
              <a:t>: The ADC circuitry measures the stored charge against a reference</a:t>
            </a:r>
          </a:p>
          <a:p>
            <a:pPr marL="742950" lvl="1" indent="-285750">
              <a:lnSpc>
                <a:spcPct val="100000"/>
              </a:lnSpc>
              <a:spcBef>
                <a:spcPts val="0"/>
              </a:spcBef>
              <a:buSzPts val="2000"/>
            </a:pPr>
            <a:endParaRPr lang="en-US" sz="1400" dirty="0">
              <a:latin typeface="+mj-lt"/>
            </a:endParaRPr>
          </a:p>
        </p:txBody>
      </p:sp>
      <p:sp>
        <p:nvSpPr>
          <p:cNvPr id="119" name="Google Shape;119;p29">
            <a:extLst>
              <a:ext uri="{FF2B5EF4-FFF2-40B4-BE49-F238E27FC236}">
                <a16:creationId xmlns:a16="http://schemas.microsoft.com/office/drawing/2014/main" id="{73022D0C-83F4-2040-6A25-864023C801B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098E749-7303-01E4-3030-33DF8DC5F42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ADC (1/4)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3C23E93-84D9-1668-B1DF-C559B34095F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DA24977-5689-5873-4742-74CCEE5EDB4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76EEAE3-C96D-5C07-A057-CE040994C9F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A9C37FD-68E0-935E-79DE-6C0E126D37A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DCCD162-43FF-92E3-212C-7867C0E4A50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415962A-4DC2-248B-ABF7-65492EF8E48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Circuit: single-ended ADC input model. An AC source with series source resistance R sub s connects to pin ADCINx; its return goes to pin VREFLO, which is grounded. Inside the ADC, parasitic capacitance C sub p sits across the input. A sampling switch, then on-resistance R sub on, connects the input to hold capacitor C sub h, which charges to the input voltage while the switch is closed.">
            <a:extLst>
              <a:ext uri="{FF2B5EF4-FFF2-40B4-BE49-F238E27FC236}">
                <a16:creationId xmlns:a16="http://schemas.microsoft.com/office/drawing/2014/main" id="{D7819B87-1A56-4347-DD8B-BB705D1160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38746" y="3911284"/>
            <a:ext cx="6853526" cy="2410551"/>
          </a:xfrm>
          <a:prstGeom prst="rect">
            <a:avLst/>
          </a:prstGeom>
        </p:spPr>
      </p:pic>
    </p:spTree>
    <p:extLst>
      <p:ext uri="{BB962C8B-B14F-4D97-AF65-F5344CB8AC3E}">
        <p14:creationId xmlns:p14="http://schemas.microsoft.com/office/powerpoint/2010/main" val="2782618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AD40B1F-71DA-FF94-1D49-9642D10A107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F656C56-AA87-8933-171E-740E33C38EB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2400" dirty="0">
                <a:latin typeface="+mj-lt"/>
              </a:rPr>
              <a:t>Each ADC has the following features:</a:t>
            </a:r>
          </a:p>
          <a:p>
            <a:pPr marL="0" lvl="0" indent="0">
              <a:lnSpc>
                <a:spcPct val="100000"/>
              </a:lnSpc>
              <a:spcBef>
                <a:spcPts val="0"/>
              </a:spcBef>
              <a:buSzPts val="2000"/>
              <a:buNone/>
            </a:pPr>
            <a:endParaRPr lang="en-US" sz="2400" dirty="0">
              <a:latin typeface="+mj-lt"/>
            </a:endParaRPr>
          </a:p>
          <a:p>
            <a:pPr marL="285750" indent="-285750">
              <a:lnSpc>
                <a:spcPct val="100000"/>
              </a:lnSpc>
              <a:spcBef>
                <a:spcPts val="0"/>
              </a:spcBef>
              <a:buSzPts val="2000"/>
            </a:pPr>
            <a:r>
              <a:rPr lang="en-US" sz="2400" dirty="0">
                <a:latin typeface="+mj-lt"/>
              </a:rPr>
              <a:t>Selectable resolution of 12 bits or 16 bits ( for the precision you want)</a:t>
            </a:r>
          </a:p>
          <a:p>
            <a:pPr marL="285750" indent="-285750">
              <a:lnSpc>
                <a:spcPct val="100000"/>
              </a:lnSpc>
              <a:spcBef>
                <a:spcPts val="0"/>
              </a:spcBef>
              <a:buSzPts val="2000"/>
            </a:pPr>
            <a:r>
              <a:rPr lang="en-US" sz="2400" dirty="0" err="1">
                <a:latin typeface="+mj-lt"/>
              </a:rPr>
              <a:t>Ratiometric</a:t>
            </a:r>
            <a:r>
              <a:rPr lang="en-US" sz="2400" dirty="0">
                <a:latin typeface="+mj-lt"/>
              </a:rPr>
              <a:t> external reference set by VREFHI and VREFLO pins</a:t>
            </a:r>
          </a:p>
          <a:p>
            <a:pPr marL="285750" indent="-285750">
              <a:lnSpc>
                <a:spcPct val="100000"/>
              </a:lnSpc>
              <a:spcBef>
                <a:spcPts val="0"/>
              </a:spcBef>
              <a:buSzPts val="2000"/>
            </a:pPr>
            <a:r>
              <a:rPr lang="en-US" sz="2400" dirty="0">
                <a:latin typeface="+mj-lt"/>
              </a:rPr>
              <a:t>Differential signal conversions (16-bit mode only)</a:t>
            </a:r>
          </a:p>
          <a:p>
            <a:pPr marL="285750" indent="-285750">
              <a:lnSpc>
                <a:spcPct val="100000"/>
              </a:lnSpc>
              <a:spcBef>
                <a:spcPts val="0"/>
              </a:spcBef>
              <a:buSzPts val="2000"/>
            </a:pPr>
            <a:r>
              <a:rPr lang="en-US" sz="2400" dirty="0">
                <a:latin typeface="+mj-lt"/>
              </a:rPr>
              <a:t>Single-ended signal conversions (12-bit mode only)</a:t>
            </a:r>
          </a:p>
          <a:p>
            <a:pPr marL="285750" indent="-285750">
              <a:lnSpc>
                <a:spcPct val="100000"/>
              </a:lnSpc>
              <a:spcBef>
                <a:spcPts val="0"/>
              </a:spcBef>
              <a:buSzPts val="2000"/>
            </a:pPr>
            <a:r>
              <a:rPr lang="en-US" sz="2400" dirty="0">
                <a:latin typeface="+mj-lt"/>
              </a:rPr>
              <a:t>Input multiplexer with up to 16 channels (single-ended) or 8 channels (differential)</a:t>
            </a:r>
          </a:p>
          <a:p>
            <a:pPr marL="285750" indent="-285750">
              <a:lnSpc>
                <a:spcPct val="100000"/>
              </a:lnSpc>
              <a:spcBef>
                <a:spcPts val="0"/>
              </a:spcBef>
              <a:buSzPts val="2000"/>
            </a:pPr>
            <a:r>
              <a:rPr lang="en-US" sz="2400" dirty="0">
                <a:latin typeface="+mj-lt"/>
              </a:rPr>
              <a:t>16 configurable SOCs ( we will go through what this is a bit later)</a:t>
            </a:r>
          </a:p>
          <a:p>
            <a:pPr marL="285750" indent="-285750">
              <a:lnSpc>
                <a:spcPct val="100000"/>
              </a:lnSpc>
              <a:spcBef>
                <a:spcPts val="0"/>
              </a:spcBef>
              <a:buSzPts val="2000"/>
            </a:pPr>
            <a:r>
              <a:rPr lang="en-US" sz="2400" dirty="0">
                <a:latin typeface="+mj-lt"/>
              </a:rPr>
              <a:t>16 individually addressable result registers</a:t>
            </a:r>
          </a:p>
          <a:p>
            <a:pPr marL="285750" indent="-285750">
              <a:lnSpc>
                <a:spcPct val="100000"/>
              </a:lnSpc>
              <a:spcBef>
                <a:spcPts val="0"/>
              </a:spcBef>
              <a:buSzPts val="2000"/>
            </a:pPr>
            <a:endParaRPr lang="en-US" sz="2400" dirty="0">
              <a:latin typeface="+mj-lt"/>
            </a:endParaRPr>
          </a:p>
        </p:txBody>
      </p:sp>
      <p:sp>
        <p:nvSpPr>
          <p:cNvPr id="119" name="Google Shape;119;p29">
            <a:extLst>
              <a:ext uri="{FF2B5EF4-FFF2-40B4-BE49-F238E27FC236}">
                <a16:creationId xmlns:a16="http://schemas.microsoft.com/office/drawing/2014/main" id="{0C1C0C30-B0E3-00B1-8C84-25CCCA8DDBF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F1D3749-70E4-9FCD-DFFB-2E817D38B8A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ADC (2/4)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D8EA6D0-1F27-C388-C98D-2F5C5E749CB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6D403F6-D953-4BC3-E14D-38773A37F33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428D94E-5231-3332-E1C1-8EBEBC176A9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8DC6FEA-D387-BB50-0066-A7D0B6AFB6E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8A56D8B-BC45-A191-EEF0-5DB3B5A996C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BFFCCD1-4ECC-B551-663F-3BA4EE68522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684347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DCDA3CB-4FD3-90FC-7558-5887EBAC453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A3A4CC1-D1F3-4434-8D76-EAEA27C6DF01}"/>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2400" dirty="0">
                <a:latin typeface="+mj-lt"/>
              </a:rPr>
              <a:t>Each ADC has the following features:</a:t>
            </a:r>
          </a:p>
          <a:p>
            <a:pPr marL="0" lvl="0" indent="0">
              <a:lnSpc>
                <a:spcPct val="100000"/>
              </a:lnSpc>
              <a:spcBef>
                <a:spcPts val="0"/>
              </a:spcBef>
              <a:buSzPts val="2000"/>
              <a:buNone/>
            </a:pPr>
            <a:endParaRPr lang="en-US" sz="2400" dirty="0">
              <a:latin typeface="+mj-lt"/>
            </a:endParaRPr>
          </a:p>
          <a:p>
            <a:pPr marL="285750" indent="-285750">
              <a:lnSpc>
                <a:spcPct val="100000"/>
              </a:lnSpc>
              <a:spcBef>
                <a:spcPts val="0"/>
              </a:spcBef>
              <a:buSzPts val="2000"/>
            </a:pPr>
            <a:r>
              <a:rPr lang="en-US" sz="2400" dirty="0">
                <a:latin typeface="+mj-lt"/>
              </a:rPr>
              <a:t>Multiple trigger sources</a:t>
            </a:r>
          </a:p>
          <a:p>
            <a:pPr marL="742950" lvl="1" indent="-285750">
              <a:lnSpc>
                <a:spcPct val="100000"/>
              </a:lnSpc>
              <a:spcBef>
                <a:spcPts val="0"/>
              </a:spcBef>
              <a:buSzPts val="2000"/>
            </a:pPr>
            <a:r>
              <a:rPr lang="en-US" sz="1800" dirty="0">
                <a:latin typeface="+mj-lt"/>
              </a:rPr>
              <a:t>S/W - software immediate start</a:t>
            </a:r>
          </a:p>
          <a:p>
            <a:pPr marL="742950" lvl="1" indent="-285750">
              <a:lnSpc>
                <a:spcPct val="100000"/>
              </a:lnSpc>
              <a:spcBef>
                <a:spcPts val="0"/>
              </a:spcBef>
              <a:buSzPts val="2000"/>
            </a:pPr>
            <a:r>
              <a:rPr lang="en-US" sz="1800" dirty="0">
                <a:latin typeface="+mj-lt"/>
              </a:rPr>
              <a:t>All </a:t>
            </a:r>
            <a:r>
              <a:rPr lang="en-US" sz="1800" dirty="0" err="1">
                <a:latin typeface="+mj-lt"/>
              </a:rPr>
              <a:t>ePWMs</a:t>
            </a:r>
            <a:r>
              <a:rPr lang="en-US" sz="1800" dirty="0">
                <a:latin typeface="+mj-lt"/>
              </a:rPr>
              <a:t> - ADCSOC A or B</a:t>
            </a:r>
          </a:p>
          <a:p>
            <a:pPr marL="742950" lvl="1" indent="-285750">
              <a:lnSpc>
                <a:spcPct val="100000"/>
              </a:lnSpc>
              <a:spcBef>
                <a:spcPts val="0"/>
              </a:spcBef>
              <a:buSzPts val="2000"/>
            </a:pPr>
            <a:r>
              <a:rPr lang="en-US" sz="1800" dirty="0">
                <a:latin typeface="+mj-lt"/>
              </a:rPr>
              <a:t>GPIO XINT2</a:t>
            </a:r>
          </a:p>
          <a:p>
            <a:pPr marL="742950" lvl="1" indent="-285750">
              <a:lnSpc>
                <a:spcPct val="100000"/>
              </a:lnSpc>
              <a:spcBef>
                <a:spcPts val="0"/>
              </a:spcBef>
              <a:buSzPts val="2000"/>
            </a:pPr>
            <a:r>
              <a:rPr lang="en-US" sz="1800" dirty="0">
                <a:latin typeface="+mj-lt"/>
              </a:rPr>
              <a:t>CPU Timers 0/1/2 (from each C28x core present)</a:t>
            </a:r>
          </a:p>
          <a:p>
            <a:pPr marL="742950" lvl="1" indent="-285750">
              <a:lnSpc>
                <a:spcPct val="100000"/>
              </a:lnSpc>
              <a:spcBef>
                <a:spcPts val="0"/>
              </a:spcBef>
              <a:buSzPts val="2000"/>
            </a:pPr>
            <a:r>
              <a:rPr lang="en-US" sz="1800" dirty="0">
                <a:latin typeface="+mj-lt"/>
              </a:rPr>
              <a:t>ADCINT1/2</a:t>
            </a:r>
          </a:p>
          <a:p>
            <a:pPr marL="285750" indent="-285750">
              <a:lnSpc>
                <a:spcPct val="100000"/>
              </a:lnSpc>
              <a:spcBef>
                <a:spcPts val="0"/>
              </a:spcBef>
              <a:buSzPts val="2000"/>
            </a:pPr>
            <a:r>
              <a:rPr lang="en-US" sz="2400" dirty="0">
                <a:latin typeface="+mj-lt"/>
              </a:rPr>
              <a:t>Four flexible PIE interrupts</a:t>
            </a:r>
          </a:p>
          <a:p>
            <a:pPr marL="285750" indent="-285750">
              <a:lnSpc>
                <a:spcPct val="100000"/>
              </a:lnSpc>
              <a:spcBef>
                <a:spcPts val="0"/>
              </a:spcBef>
              <a:buSzPts val="2000"/>
            </a:pPr>
            <a:r>
              <a:rPr lang="en-US" sz="2400" dirty="0">
                <a:latin typeface="+mj-lt"/>
              </a:rPr>
              <a:t>Burst mode</a:t>
            </a:r>
          </a:p>
          <a:p>
            <a:pPr marL="285750" indent="-285750">
              <a:lnSpc>
                <a:spcPct val="100000"/>
              </a:lnSpc>
              <a:spcBef>
                <a:spcPts val="0"/>
              </a:spcBef>
              <a:buSzPts val="2000"/>
            </a:pPr>
            <a:r>
              <a:rPr lang="en-US" sz="2400" dirty="0">
                <a:latin typeface="+mj-lt"/>
              </a:rPr>
              <a:t>Four post-processing blocks, each with:</a:t>
            </a:r>
          </a:p>
          <a:p>
            <a:pPr marL="742950" lvl="1" indent="-285750">
              <a:lnSpc>
                <a:spcPct val="100000"/>
              </a:lnSpc>
              <a:spcBef>
                <a:spcPts val="0"/>
              </a:spcBef>
              <a:buSzPts val="2000"/>
            </a:pPr>
            <a:r>
              <a:rPr lang="en-US" sz="1800" dirty="0">
                <a:latin typeface="+mj-lt"/>
              </a:rPr>
              <a:t>Saturating offset calibration</a:t>
            </a:r>
          </a:p>
          <a:p>
            <a:pPr marL="742950" lvl="1" indent="-285750">
              <a:lnSpc>
                <a:spcPct val="100000"/>
              </a:lnSpc>
              <a:spcBef>
                <a:spcPts val="0"/>
              </a:spcBef>
              <a:buSzPts val="2000"/>
            </a:pPr>
            <a:r>
              <a:rPr lang="en-US" sz="1800" dirty="0">
                <a:latin typeface="+mj-lt"/>
              </a:rPr>
              <a:t>Error from setpoint calculation</a:t>
            </a:r>
          </a:p>
          <a:p>
            <a:pPr marL="742950" lvl="1" indent="-285750">
              <a:lnSpc>
                <a:spcPct val="100000"/>
              </a:lnSpc>
              <a:spcBef>
                <a:spcPts val="0"/>
              </a:spcBef>
              <a:buSzPts val="2000"/>
            </a:pPr>
            <a:r>
              <a:rPr lang="en-US" sz="1800" dirty="0">
                <a:latin typeface="+mj-lt"/>
              </a:rPr>
              <a:t>High, low, and zero-crossing compare, with interrupt and </a:t>
            </a:r>
            <a:r>
              <a:rPr lang="en-US" sz="1800" dirty="0" err="1">
                <a:latin typeface="+mj-lt"/>
              </a:rPr>
              <a:t>ePWM</a:t>
            </a:r>
            <a:r>
              <a:rPr lang="en-US" sz="1800" dirty="0">
                <a:latin typeface="+mj-lt"/>
              </a:rPr>
              <a:t> trip capability</a:t>
            </a:r>
          </a:p>
          <a:p>
            <a:pPr marL="742950" lvl="1" indent="-285750">
              <a:lnSpc>
                <a:spcPct val="100000"/>
              </a:lnSpc>
              <a:spcBef>
                <a:spcPts val="0"/>
              </a:spcBef>
              <a:buSzPts val="2000"/>
            </a:pPr>
            <a:r>
              <a:rPr lang="en-US" sz="1800" dirty="0">
                <a:latin typeface="+mj-lt"/>
              </a:rPr>
              <a:t>Trigger-to-sample delay capture</a:t>
            </a:r>
            <a:endParaRPr lang="en-US" dirty="0">
              <a:latin typeface="+mj-lt"/>
            </a:endParaRPr>
          </a:p>
        </p:txBody>
      </p:sp>
      <p:sp>
        <p:nvSpPr>
          <p:cNvPr id="119" name="Google Shape;119;p29">
            <a:extLst>
              <a:ext uri="{FF2B5EF4-FFF2-40B4-BE49-F238E27FC236}">
                <a16:creationId xmlns:a16="http://schemas.microsoft.com/office/drawing/2014/main" id="{25C30584-10A8-3589-E847-18EB2D9E019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690EFC7-A043-E7C6-C6AC-36ACB21045C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ADC (3/4)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FC776EC-D1AB-47A8-C9B5-3174F6F9659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343AA89-00FD-BF41-745D-02A16DF50B8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369CA34-BB27-9DC9-E62F-B45FC833816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1BD02AD-3F7B-1E75-A73D-9337866348E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FC390A8-D061-7F45-9FB4-2EF3F6D56F4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C4B73CB-0357-E009-3A7F-7C49829F626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4237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4B27591-7322-6DAF-4511-836E602B5D2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2215FC0-99D0-154D-4DFB-E63FE6D1D56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1800" dirty="0">
                <a:latin typeface="+mj-lt"/>
              </a:rPr>
              <a:t>Not every channel may be pinned out from all ADCs. Check the datasheet for your device to</a:t>
            </a:r>
          </a:p>
          <a:p>
            <a:pPr marL="0" lvl="0" indent="0">
              <a:lnSpc>
                <a:spcPct val="100000"/>
              </a:lnSpc>
              <a:spcBef>
                <a:spcPts val="0"/>
              </a:spcBef>
              <a:buSzPts val="2000"/>
              <a:buNone/>
            </a:pPr>
            <a:r>
              <a:rPr lang="en-US" sz="1800" dirty="0">
                <a:latin typeface="+mj-lt"/>
              </a:rPr>
              <a:t>determine which channels are available!</a:t>
            </a:r>
          </a:p>
          <a:p>
            <a:pPr marL="0" lvl="0" indent="0">
              <a:lnSpc>
                <a:spcPct val="100000"/>
              </a:lnSpc>
              <a:spcBef>
                <a:spcPts val="0"/>
              </a:spcBef>
              <a:buSzPts val="2000"/>
              <a:buNone/>
            </a:pPr>
            <a:endParaRPr lang="en-US" sz="1800" dirty="0">
              <a:latin typeface="+mj-lt"/>
            </a:endParaRPr>
          </a:p>
        </p:txBody>
      </p:sp>
      <p:sp>
        <p:nvSpPr>
          <p:cNvPr id="119" name="Google Shape;119;p29">
            <a:extLst>
              <a:ext uri="{FF2B5EF4-FFF2-40B4-BE49-F238E27FC236}">
                <a16:creationId xmlns:a16="http://schemas.microsoft.com/office/drawing/2014/main" id="{EA631326-7329-FFC7-2127-3EC063F7173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B217EE2-DDCA-C407-0B01-9CDE3D67325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ADC (4/4)</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FCD7C4D-11D2-856A-0483-8A74C8492C6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B69EDFB-1EF9-80E3-23E7-938BBF66CB0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42EBDFC-69F8-E81D-6E2A-76DCB33E6C7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1B3B7AD-E775-A223-B676-C266D85DE96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201EB4F-3839-EDD1-8931-A7A7CB0DE22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BD561FD-07AC-2DDA-10A3-059CCF323EC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able of LaunchPad ADC and DAC pins: header pins 23 to 30 (J3.3 to J3.10) and 63 to 70 (J7.3 to J7.10) carry ADC channels A0 to A5, B2 to B5, C2 to C5, IN14 and IN15, most shared with comparator inputs. DAC A shares pin 30 (ADCINA0) and DAC B shares pin 70 (ADCINA1). Joystick Y uses ADCINA3, joystick X uses ADCINA2, and the microphone uses ADCINB4. ADCIND0 to D3 are on J21 pins 1, 3, 5 and 7; ADCIND4 and D5 go to solder BNC connectors.">
            <a:extLst>
              <a:ext uri="{FF2B5EF4-FFF2-40B4-BE49-F238E27FC236}">
                <a16:creationId xmlns:a16="http://schemas.microsoft.com/office/drawing/2014/main" id="{2135A234-4CD2-54C5-4972-B0CDC73F3F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08886" y="2242146"/>
            <a:ext cx="9174227" cy="4241674"/>
          </a:xfrm>
          <a:prstGeom prst="rect">
            <a:avLst/>
          </a:prstGeom>
        </p:spPr>
      </p:pic>
    </p:spTree>
    <p:extLst>
      <p:ext uri="{BB962C8B-B14F-4D97-AF65-F5344CB8AC3E}">
        <p14:creationId xmlns:p14="http://schemas.microsoft.com/office/powerpoint/2010/main" val="3788237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A1AB5B8-E263-11D5-7844-7F041432B27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240A599-6D03-0960-7613-04CD9D89C4A9}"/>
              </a:ext>
            </a:extLst>
          </p:cNvPr>
          <p:cNvSpPr txBox="1">
            <a:spLocks noGrp="1"/>
          </p:cNvSpPr>
          <p:nvPr>
            <p:ph type="body" idx="1"/>
          </p:nvPr>
        </p:nvSpPr>
        <p:spPr>
          <a:xfrm>
            <a:off x="376809" y="1334279"/>
            <a:ext cx="11177401" cy="2500337"/>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1800" dirty="0">
                <a:latin typeface="+mj-lt"/>
              </a:rPr>
              <a:t>The ADC supports two signal modes: </a:t>
            </a:r>
            <a:r>
              <a:rPr lang="en-US" sz="1800" b="1" dirty="0">
                <a:latin typeface="+mj-lt"/>
              </a:rPr>
              <a:t>single-ended</a:t>
            </a:r>
            <a:r>
              <a:rPr lang="en-US" sz="1800" dirty="0">
                <a:latin typeface="+mj-lt"/>
              </a:rPr>
              <a:t> and </a:t>
            </a:r>
            <a:r>
              <a:rPr lang="en-US" sz="1800" b="1" dirty="0">
                <a:latin typeface="+mj-lt"/>
              </a:rPr>
              <a:t>differential</a:t>
            </a:r>
            <a:r>
              <a:rPr lang="en-US" sz="1800" dirty="0">
                <a:latin typeface="+mj-lt"/>
              </a:rPr>
              <a:t>.</a:t>
            </a:r>
          </a:p>
          <a:p>
            <a:pPr marL="285750" indent="-285750">
              <a:lnSpc>
                <a:spcPct val="100000"/>
              </a:lnSpc>
              <a:spcBef>
                <a:spcPts val="0"/>
              </a:spcBef>
              <a:buSzPts val="2000"/>
            </a:pPr>
            <a:r>
              <a:rPr lang="en-US" sz="1800" dirty="0">
                <a:latin typeface="+mj-lt"/>
              </a:rPr>
              <a:t>In </a:t>
            </a:r>
            <a:r>
              <a:rPr lang="en-US" sz="1800" b="1" dirty="0">
                <a:latin typeface="+mj-lt"/>
              </a:rPr>
              <a:t>single-ended</a:t>
            </a:r>
            <a:r>
              <a:rPr lang="en-US" sz="1800" dirty="0">
                <a:latin typeface="+mj-lt"/>
              </a:rPr>
              <a:t> mode, the input voltage to the converter is sampled through a single pin (</a:t>
            </a:r>
            <a:r>
              <a:rPr lang="en-US" sz="1800" dirty="0" err="1">
                <a:latin typeface="+mj-lt"/>
              </a:rPr>
              <a:t>ADCINx</a:t>
            </a:r>
            <a:r>
              <a:rPr lang="en-US" sz="1800" dirty="0">
                <a:latin typeface="+mj-lt"/>
              </a:rPr>
              <a:t>), referenced to VREFLO.</a:t>
            </a:r>
          </a:p>
          <a:p>
            <a:pPr marL="285750" indent="-285750">
              <a:lnSpc>
                <a:spcPct val="100000"/>
              </a:lnSpc>
              <a:spcBef>
                <a:spcPts val="0"/>
              </a:spcBef>
              <a:buSzPts val="2000"/>
            </a:pPr>
            <a:r>
              <a:rPr lang="en-US" sz="1800" dirty="0">
                <a:latin typeface="+mj-lt"/>
              </a:rPr>
              <a:t>In </a:t>
            </a:r>
            <a:r>
              <a:rPr lang="en-US" sz="1800" b="1" dirty="0">
                <a:latin typeface="+mj-lt"/>
              </a:rPr>
              <a:t>differential</a:t>
            </a:r>
            <a:r>
              <a:rPr lang="en-US" sz="1800" dirty="0">
                <a:latin typeface="+mj-lt"/>
              </a:rPr>
              <a:t> signaling mode, the input voltage to the converter is sampled through a pair of input pins, one of which is the positive input (</a:t>
            </a:r>
            <a:r>
              <a:rPr lang="en-US" sz="1800" dirty="0" err="1">
                <a:latin typeface="+mj-lt"/>
              </a:rPr>
              <a:t>ADCINxP</a:t>
            </a:r>
            <a:r>
              <a:rPr lang="en-US" sz="1800" dirty="0">
                <a:latin typeface="+mj-lt"/>
              </a:rPr>
              <a:t>) and the other is the negative input (</a:t>
            </a:r>
            <a:r>
              <a:rPr lang="en-US" sz="1800" dirty="0" err="1">
                <a:latin typeface="+mj-lt"/>
              </a:rPr>
              <a:t>ADCINxN</a:t>
            </a:r>
            <a:r>
              <a:rPr lang="en-US" sz="1800" dirty="0">
                <a:latin typeface="+mj-lt"/>
              </a:rPr>
              <a:t>). The actual input voltage is the difference between the two (</a:t>
            </a:r>
            <a:r>
              <a:rPr lang="en-US" sz="1800" dirty="0" err="1">
                <a:latin typeface="+mj-lt"/>
              </a:rPr>
              <a:t>ADCINxP</a:t>
            </a:r>
            <a:r>
              <a:rPr lang="en-US" sz="1800" dirty="0">
                <a:latin typeface="+mj-lt"/>
              </a:rPr>
              <a:t> – </a:t>
            </a:r>
            <a:r>
              <a:rPr lang="en-US" sz="1800" dirty="0" err="1">
                <a:latin typeface="+mj-lt"/>
              </a:rPr>
              <a:t>ADCINxN</a:t>
            </a:r>
            <a:r>
              <a:rPr lang="en-US" sz="1800" dirty="0">
                <a:latin typeface="+mj-lt"/>
              </a:rPr>
              <a:t>).</a:t>
            </a:r>
          </a:p>
          <a:p>
            <a:pPr marL="285750" indent="-285750">
              <a:lnSpc>
                <a:spcPct val="100000"/>
              </a:lnSpc>
              <a:spcBef>
                <a:spcPts val="0"/>
              </a:spcBef>
              <a:buSzPts val="2000"/>
            </a:pPr>
            <a:r>
              <a:rPr lang="en-US" sz="1800" b="1" dirty="0">
                <a:latin typeface="+mj-lt"/>
              </a:rPr>
              <a:t>Differential</a:t>
            </a:r>
            <a:r>
              <a:rPr lang="en-US" sz="1800" dirty="0">
                <a:latin typeface="+mj-lt"/>
              </a:rPr>
              <a:t> signaling mode is advantageous because noise encountered on both inputs will be largely cancelled. Allowing for higher 16-bit precision.</a:t>
            </a:r>
          </a:p>
        </p:txBody>
      </p:sp>
      <p:sp>
        <p:nvSpPr>
          <p:cNvPr id="119" name="Google Shape;119;p29">
            <a:extLst>
              <a:ext uri="{FF2B5EF4-FFF2-40B4-BE49-F238E27FC236}">
                <a16:creationId xmlns:a16="http://schemas.microsoft.com/office/drawing/2014/main" id="{7384EE42-B8CE-0089-DD3A-32EA5628AAC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D94DAFB-3AB5-0A03-37EB-F86DCB90DB2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ADC - Differential</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2995C99-CAD7-C961-6587-CF8BFB87D39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C0F5DBC-27F0-E68C-FB9C-B33E44E0EF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3177532-6C57-51B8-8E53-03BF0B02A42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12854DC-B356-63AD-5CA3-8E64261D727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7550FFC-B4C1-F160-D9BC-D4FB9BC5E52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499C818-37DE-C313-4AE2-26CAB704E2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Circuit: differential ADC input model. An AC source drives pins ADCINxP and ADCINxN, each through its own source resistance R sub s. Inside the ADC, each input line has a parasitic capacitor C sub p to VSSA (analog ground). Each line then passes through a sampling switch and on-resistance R sub on to opposite ends of a single hold capacitor C sub h. C sub h therefore samples the difference between the two inputs.">
            <a:extLst>
              <a:ext uri="{FF2B5EF4-FFF2-40B4-BE49-F238E27FC236}">
                <a16:creationId xmlns:a16="http://schemas.microsoft.com/office/drawing/2014/main" id="{FFBD0417-A150-8D58-FF5E-C83E5EDFC2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93699" y="4032963"/>
            <a:ext cx="5360511" cy="1946712"/>
          </a:xfrm>
          <a:prstGeom prst="rect">
            <a:avLst/>
          </a:prstGeom>
        </p:spPr>
      </p:pic>
      <p:pic>
        <p:nvPicPr>
          <p:cNvPr id="4" name="Graphic 3" descr="Circuit: single-ended ADC input model. An AC source with series source resistance R sub s connects to pin ADCINx; its return goes to pin VREFLO, which is grounded. Inside the ADC, parasitic capacitance C sub p sits across the input. A sampling switch, then on-resistance R sub on, connects the input to hold capacitor C sub h, which charges to the input voltage while the switch is closed.">
            <a:extLst>
              <a:ext uri="{FF2B5EF4-FFF2-40B4-BE49-F238E27FC236}">
                <a16:creationId xmlns:a16="http://schemas.microsoft.com/office/drawing/2014/main" id="{7F107DCA-C2A6-7213-8C2F-190B929C168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6807" y="4032963"/>
            <a:ext cx="5360511" cy="1885421"/>
          </a:xfrm>
          <a:prstGeom prst="rect">
            <a:avLst/>
          </a:prstGeom>
        </p:spPr>
      </p:pic>
    </p:spTree>
    <p:extLst>
      <p:ext uri="{BB962C8B-B14F-4D97-AF65-F5344CB8AC3E}">
        <p14:creationId xmlns:p14="http://schemas.microsoft.com/office/powerpoint/2010/main" val="429468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DA376AD-F3F9-C13D-3BE5-3B6FB9AF041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67A1A782-4F79-4D70-19F1-77B1E2FA70D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B8BC412-7484-FB59-928D-126FB601172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ADC - Calculate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7A79F6F-5EA8-AC42-EA45-5C1A09BAA5D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FDC1E91-E884-469C-F595-59F86729C48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C150228-46F8-09C1-E9C2-B8C46A83426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57A21C1-BB7A-48EC-9E27-91DB0E8197A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314F6DA-392B-D62C-DE9C-A14D82BB50A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34A0E27-C621-2076-CEDF-BD47A94EC93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Two tables of ADC conversion formulas. 12-bit mode, single-ended only (differential invalid): ADCRESULT is 0 when ADCIN is at or below VREFLO, 4095 when at or above VREFHI, otherwise 4096 times (ADCIN minus VREFLO) over (VREFHI minus VREFLO). 16-bit mode, differential only (single-ended invalid): ADCRESULT is 0 when ADCINP minus ADCINN is at or below negative VREFHI, 65535 when at or above VREFHI, otherwise 65536 times (ADCINP minus ADCINN plus VREFHI) over 2 VREFHI.">
            <a:extLst>
              <a:ext uri="{FF2B5EF4-FFF2-40B4-BE49-F238E27FC236}">
                <a16:creationId xmlns:a16="http://schemas.microsoft.com/office/drawing/2014/main" id="{63401C51-F28F-0E9D-CAE6-B6188F1D6EE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1860" y="1457387"/>
            <a:ext cx="10239925" cy="4593053"/>
          </a:xfrm>
          <a:prstGeom prst="rect">
            <a:avLst/>
          </a:prstGeom>
        </p:spPr>
      </p:pic>
    </p:spTree>
    <p:extLst>
      <p:ext uri="{BB962C8B-B14F-4D97-AF65-F5344CB8AC3E}">
        <p14:creationId xmlns:p14="http://schemas.microsoft.com/office/powerpoint/2010/main" val="823459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07AD91E-3C34-49F7-F2D6-52011C20806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F22141B-CCFF-034C-BD52-E4C3C6678CE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2000"/>
                  <a:buNone/>
                </a:pPr>
                <a:r>
                  <a:rPr lang="en-US" sz="1800" dirty="0">
                    <a:latin typeface="+mj-lt"/>
                  </a:rPr>
                  <a:t>F28379D uses SAR. It works like a "binary search”. Convert continuous to digital.</a:t>
                </a:r>
              </a:p>
              <a:p>
                <a:pPr marL="285750" indent="-285750">
                  <a:lnSpc>
                    <a:spcPct val="100000"/>
                  </a:lnSpc>
                  <a:spcBef>
                    <a:spcPts val="0"/>
                  </a:spcBef>
                  <a:buSzPts val="2000"/>
                </a:pPr>
                <a:endParaRPr lang="en-US" sz="1800" dirty="0">
                  <a:latin typeface="+mj-lt"/>
                </a:endParaRPr>
              </a:p>
              <a:p>
                <a:pPr marL="0" indent="0">
                  <a:lnSpc>
                    <a:spcPct val="100000"/>
                  </a:lnSpc>
                  <a:spcBef>
                    <a:spcPts val="0"/>
                  </a:spcBef>
                  <a:buSzPts val="2000"/>
                  <a:buNone/>
                </a:pPr>
                <a:r>
                  <a:rPr lang="en-US" sz="1800" dirty="0">
                    <a:latin typeface="+mj-lt"/>
                  </a:rPr>
                  <a:t>For iteration </a:t>
                </a:r>
                <a14:m>
                  <m:oMath xmlns:m="http://schemas.openxmlformats.org/officeDocument/2006/math">
                    <m:r>
                      <m:rPr>
                        <m:sty m:val="p"/>
                      </m:rPr>
                      <a:rPr lang="en-US" sz="1800" b="0" i="1" smtClean="0">
                        <a:latin typeface="Cambria Math" panose="02040503050406030204" pitchFamily="18" charset="0"/>
                      </a:rPr>
                      <m:t>i</m:t>
                    </m:r>
                  </m:oMath>
                </a14:m>
                <a:r>
                  <a:rPr lang="en-US" sz="1800" dirty="0">
                    <a:latin typeface="+mj-lt"/>
                  </a:rPr>
                  <a:t> (where </a:t>
                </a:r>
                <a14:m>
                  <m:oMath xmlns:m="http://schemas.openxmlformats.org/officeDocument/2006/math">
                    <m:r>
                      <m:rPr>
                        <m:sty m:val="p"/>
                      </m:rPr>
                      <a:rPr lang="en-US" sz="1800" i="1">
                        <a:latin typeface="Cambria Math" panose="02040503050406030204" pitchFamily="18" charset="0"/>
                      </a:rPr>
                      <m:t>i</m:t>
                    </m:r>
                  </m:oMath>
                </a14:m>
                <a:r>
                  <a:rPr lang="en-US" sz="1800" dirty="0"/>
                  <a:t> </a:t>
                </a:r>
                <a:r>
                  <a:rPr lang="en-US" sz="1800" dirty="0">
                    <a:latin typeface="+mj-lt"/>
                  </a:rPr>
                  <a:t>goes from </a:t>
                </a:r>
                <a14:m>
                  <m:oMath xmlns:m="http://schemas.openxmlformats.org/officeDocument/2006/math">
                    <m:r>
                      <m:rPr>
                        <m:sty m:val="p"/>
                      </m:rPr>
                      <a:rPr lang="en-US" sz="1800" b="0" i="1" smtClean="0">
                        <a:latin typeface="Cambria Math" panose="02040503050406030204" pitchFamily="18" charset="0"/>
                      </a:rPr>
                      <m:t>N</m:t>
                    </m:r>
                    <m:r>
                      <a:rPr lang="en-US" sz="1800" b="0" i="1" smtClean="0">
                        <a:latin typeface="Cambria Math" panose="02040503050406030204" pitchFamily="18" charset="0"/>
                      </a:rPr>
                      <m:t>−1</m:t>
                    </m:r>
                  </m:oMath>
                </a14:m>
                <a:r>
                  <a:rPr lang="en-US" sz="1800" dirty="0">
                    <a:latin typeface="+mj-lt"/>
                  </a:rPr>
                  <a:t> down to </a:t>
                </a:r>
                <a14:m>
                  <m:oMath xmlns:m="http://schemas.openxmlformats.org/officeDocument/2006/math">
                    <m:r>
                      <a:rPr lang="en-US" sz="1800" b="0" i="1" smtClean="0">
                        <a:latin typeface="Cambria Math" panose="02040503050406030204" pitchFamily="18" charset="0"/>
                      </a:rPr>
                      <m:t>0</m:t>
                    </m:r>
                  </m:oMath>
                </a14:m>
                <a:r>
                  <a:rPr lang="en-US" sz="1800" dirty="0"/>
                  <a:t> </a:t>
                </a:r>
                <a:r>
                  <a:rPr lang="en-US" sz="1800" dirty="0">
                    <a:latin typeface="+mj-lt"/>
                  </a:rPr>
                  <a:t>):</a:t>
                </a:r>
              </a:p>
              <a:p>
                <a:pPr marL="0" indent="0">
                  <a:lnSpc>
                    <a:spcPct val="100000"/>
                  </a:lnSpc>
                  <a:spcBef>
                    <a:spcPts val="0"/>
                  </a:spcBef>
                  <a:buSzPts val="2000"/>
                  <a:buNone/>
                </a:pPr>
                <a:endParaRPr lang="en-US" sz="1800" dirty="0">
                  <a:latin typeface="+mj-lt"/>
                </a:endParaRPr>
              </a:p>
              <a:p>
                <a:pPr marL="342900">
                  <a:lnSpc>
                    <a:spcPct val="100000"/>
                  </a:lnSpc>
                  <a:spcBef>
                    <a:spcPts val="0"/>
                  </a:spcBef>
                  <a:buSzPts val="2000"/>
                  <a:buFont typeface="+mj-lt"/>
                  <a:buAutoNum type="arabicPeriod"/>
                </a:pPr>
                <a:r>
                  <a:rPr lang="en-US" sz="1800" b="1" dirty="0">
                    <a:latin typeface="+mj-lt"/>
                  </a:rPr>
                  <a:t>Trial Step</a:t>
                </a:r>
                <a:r>
                  <a:rPr lang="en-US" sz="1800" dirty="0">
                    <a:latin typeface="+mj-lt"/>
                  </a:rPr>
                  <a:t>: The SAR logic sets the current bit </a:t>
                </a:r>
                <a14:m>
                  <m:oMath xmlns:m="http://schemas.openxmlformats.org/officeDocument/2006/math">
                    <m:sSub>
                      <m:sSubPr>
                        <m:ctrlPr>
                          <a:rPr lang="en-US" sz="1800" i="1" smtClean="0">
                            <a:latin typeface="Cambria Math" panose="02040503050406030204" pitchFamily="18" charset="0"/>
                          </a:rPr>
                        </m:ctrlPr>
                      </m:sSubPr>
                      <m:e>
                        <m:r>
                          <m:rPr>
                            <m:sty m:val="p"/>
                          </m:rPr>
                          <a:rPr lang="en-US" sz="1800" b="0" i="1" smtClean="0">
                            <a:latin typeface="Cambria Math" panose="02040503050406030204" pitchFamily="18" charset="0"/>
                          </a:rPr>
                          <m:t>b</m:t>
                        </m:r>
                      </m:e>
                      <m:sub>
                        <m:r>
                          <m:rPr>
                            <m:sty m:val="p"/>
                          </m:rPr>
                          <a:rPr lang="en-US" sz="1800" b="0" i="1" smtClean="0">
                            <a:latin typeface="Cambria Math" panose="02040503050406030204" pitchFamily="18" charset="0"/>
                          </a:rPr>
                          <m:t>i</m:t>
                        </m:r>
                      </m:sub>
                    </m:sSub>
                  </m:oMath>
                </a14:m>
                <a:r>
                  <a:rPr lang="en-US" sz="1800" dirty="0"/>
                  <a:t> </a:t>
                </a:r>
                <a:r>
                  <a:rPr lang="en-US" sz="1800" dirty="0">
                    <a:latin typeface="+mj-lt"/>
                  </a:rPr>
                  <a:t>to 1 (tentatively) and all lower bits to 0.</a:t>
                </a:r>
              </a:p>
              <a:p>
                <a:pPr marL="342900">
                  <a:lnSpc>
                    <a:spcPct val="100000"/>
                  </a:lnSpc>
                  <a:spcBef>
                    <a:spcPts val="0"/>
                  </a:spcBef>
                  <a:buSzPts val="2000"/>
                  <a:buFont typeface="+mj-lt"/>
                  <a:buAutoNum type="arabicPeriod"/>
                </a:pPr>
                <a:r>
                  <a:rPr lang="en-US" sz="1800" b="1" dirty="0">
                    <a:latin typeface="+mj-lt"/>
                  </a:rPr>
                  <a:t>DAC Output</a:t>
                </a:r>
                <a:r>
                  <a:rPr lang="en-US" sz="1800" dirty="0">
                    <a:latin typeface="+mj-lt"/>
                  </a:rPr>
                  <a:t>: The internal DAC generates a trial voltage: </a:t>
                </a:r>
                <a14:m>
                  <m:oMath xmlns:m="http://schemas.openxmlformats.org/officeDocument/2006/math">
                    <m:sSub>
                      <m:sSubPr>
                        <m:ctrlPr>
                          <a:rPr lang="en-US" sz="1800" i="1" smtClean="0">
                            <a:latin typeface="Cambria Math" panose="02040503050406030204" pitchFamily="18" charset="0"/>
                          </a:rPr>
                        </m:ctrlPr>
                      </m:sSubPr>
                      <m:e>
                        <m:r>
                          <m:rPr>
                            <m:sty m:val="p"/>
                          </m:rPr>
                          <a:rPr lang="en-US" sz="1800" b="0" i="1" smtClean="0">
                            <a:latin typeface="Cambria Math" panose="02040503050406030204" pitchFamily="18" charset="0"/>
                          </a:rPr>
                          <m:t>V</m:t>
                        </m:r>
                      </m:e>
                      <m:sub>
                        <m:r>
                          <m:rPr>
                            <m:sty m:val="p"/>
                          </m:rPr>
                          <a:rPr lang="en-US" sz="1800" b="0" i="1" smtClean="0">
                            <a:latin typeface="Cambria Math" panose="02040503050406030204" pitchFamily="18" charset="0"/>
                          </a:rPr>
                          <m:t>trial</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V</m:t>
                        </m:r>
                      </m:e>
                      <m:sub>
                        <m:r>
                          <m:rPr>
                            <m:sty m:val="p"/>
                          </m:rPr>
                          <a:rPr lang="en-US" sz="1800" b="0" i="1" smtClean="0">
                            <a:latin typeface="Cambria Math" panose="02040503050406030204" pitchFamily="18" charset="0"/>
                          </a:rPr>
                          <m:t>accumulated</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V</m:t>
                            </m:r>
                          </m:e>
                          <m:sub>
                            <m:r>
                              <m:rPr>
                                <m:sty m:val="p"/>
                              </m:rPr>
                              <a:rPr lang="en-US" sz="1800" b="0" i="1" smtClean="0">
                                <a:latin typeface="Cambria Math" panose="02040503050406030204" pitchFamily="18" charset="0"/>
                              </a:rPr>
                              <m:t>ref</m:t>
                            </m:r>
                          </m:sub>
                        </m:sSub>
                      </m:num>
                      <m:den>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2</m:t>
                            </m:r>
                          </m:e>
                          <m:sup>
                            <m:r>
                              <m:rPr>
                                <m:sty m:val="p"/>
                              </m:rPr>
                              <a:rPr lang="en-US" sz="1800" b="0" i="1" smtClean="0">
                                <a:latin typeface="Cambria Math" panose="02040503050406030204" pitchFamily="18" charset="0"/>
                              </a:rPr>
                              <m:t>N</m:t>
                            </m:r>
                            <m:r>
                              <a:rPr lang="en-US" sz="1800" b="0" i="1" smtClean="0">
                                <a:latin typeface="Cambria Math" panose="02040503050406030204" pitchFamily="18" charset="0"/>
                              </a:rPr>
                              <m:t>−1−</m:t>
                            </m:r>
                            <m:r>
                              <m:rPr>
                                <m:sty m:val="p"/>
                              </m:rPr>
                              <a:rPr lang="en-US" sz="1800" b="0" i="1" smtClean="0">
                                <a:latin typeface="Cambria Math" panose="02040503050406030204" pitchFamily="18" charset="0"/>
                              </a:rPr>
                              <m:t>i</m:t>
                            </m:r>
                          </m:sup>
                        </m:sSup>
                      </m:den>
                    </m:f>
                    <m:r>
                      <a:rPr lang="en-US" sz="1800" b="0" i="1" smtClean="0">
                        <a:latin typeface="Cambria Math" panose="02040503050406030204" pitchFamily="18" charset="0"/>
                        <a:ea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sSub>
                          <m:sSubPr>
                            <m:ctrlPr>
                              <a:rPr lang="en-US" sz="1800" b="0" i="1" smtClean="0">
                                <a:latin typeface="Cambria Math" panose="02040503050406030204" pitchFamily="18" charset="0"/>
                                <a:ea typeface="Cambria Math" panose="02040503050406030204" pitchFamily="18" charset="0"/>
                              </a:rPr>
                            </m:ctrlPr>
                          </m:sSubPr>
                          <m:e>
                            <m:r>
                              <m:rPr>
                                <m:sty m:val="p"/>
                              </m:rPr>
                              <a:rPr lang="en-US" sz="1800" b="0" i="1" smtClean="0">
                                <a:latin typeface="Cambria Math" panose="02040503050406030204" pitchFamily="18" charset="0"/>
                                <a:ea typeface="Cambria Math" panose="02040503050406030204" pitchFamily="18" charset="0"/>
                              </a:rPr>
                              <m:t>V</m:t>
                            </m:r>
                          </m:e>
                          <m:sub>
                            <m:r>
                              <m:rPr>
                                <m:sty m:val="p"/>
                              </m:rPr>
                              <a:rPr lang="en-US" sz="1800" b="0" i="1" smtClean="0">
                                <a:latin typeface="Cambria Math" panose="02040503050406030204" pitchFamily="18" charset="0"/>
                                <a:ea typeface="Cambria Math" panose="02040503050406030204" pitchFamily="18" charset="0"/>
                              </a:rPr>
                              <m:t>ref</m:t>
                            </m:r>
                          </m:sub>
                        </m:sSub>
                      </m:num>
                      <m:den>
                        <m:r>
                          <a:rPr lang="en-US" sz="1800" b="0" i="1" smtClean="0">
                            <a:latin typeface="Cambria Math" panose="02040503050406030204" pitchFamily="18" charset="0"/>
                            <a:ea typeface="Cambria Math" panose="02040503050406030204" pitchFamily="18" charset="0"/>
                          </a:rPr>
                          <m:t>2</m:t>
                        </m:r>
                      </m:den>
                    </m:f>
                  </m:oMath>
                </a14:m>
                <a:r>
                  <a:rPr lang="en-US" sz="1800" dirty="0">
                    <a:latin typeface="+mj-lt"/>
                  </a:rPr>
                  <a:t> </a:t>
                </a:r>
                <a:r>
                  <a:rPr lang="en-US" sz="1800" i="1" dirty="0">
                    <a:latin typeface="+mj-lt"/>
                  </a:rPr>
                  <a:t>(Note: This simplifies to testing the half-way point of the remaining search interval).</a:t>
                </a:r>
              </a:p>
              <a:p>
                <a:pPr marL="342900">
                  <a:lnSpc>
                    <a:spcPct val="100000"/>
                  </a:lnSpc>
                  <a:spcBef>
                    <a:spcPts val="0"/>
                  </a:spcBef>
                  <a:buSzPts val="2000"/>
                  <a:buFont typeface="+mj-lt"/>
                  <a:buAutoNum type="arabicPeriod"/>
                </a:pPr>
                <a:r>
                  <a:rPr lang="en-US" sz="1800" b="1" dirty="0">
                    <a:latin typeface="+mj-lt"/>
                  </a:rPr>
                  <a:t>Comparison</a:t>
                </a:r>
                <a:r>
                  <a:rPr lang="en-US" sz="1800" dirty="0">
                    <a:latin typeface="+mj-lt"/>
                  </a:rPr>
                  <a:t>: The analog comparator checks the condition: </a:t>
                </a:r>
                <a14:m>
                  <m:oMath xmlns:m="http://schemas.openxmlformats.org/officeDocument/2006/math">
                    <m:sSub>
                      <m:sSubPr>
                        <m:ctrlPr>
                          <a:rPr lang="en-US" sz="1800" i="1" smtClean="0">
                            <a:latin typeface="Cambria Math" panose="02040503050406030204" pitchFamily="18" charset="0"/>
                          </a:rPr>
                        </m:ctrlPr>
                      </m:sSubPr>
                      <m:e>
                        <m:r>
                          <m:rPr>
                            <m:sty m:val="p"/>
                          </m:rPr>
                          <a:rPr lang="en-US" sz="1800" b="0" i="1" smtClean="0">
                            <a:latin typeface="Cambria Math" panose="02040503050406030204" pitchFamily="18" charset="0"/>
                          </a:rPr>
                          <m:t>V</m:t>
                        </m:r>
                      </m:e>
                      <m:sub>
                        <m:r>
                          <m:rPr>
                            <m:sty m:val="p"/>
                          </m:rPr>
                          <a:rPr lang="en-US" sz="1800" b="0" i="1" smtClean="0">
                            <a:latin typeface="Cambria Math" panose="02040503050406030204" pitchFamily="18" charset="0"/>
                          </a:rPr>
                          <m:t>in</m:t>
                        </m:r>
                      </m:sub>
                    </m:sSub>
                    <m:r>
                      <a:rPr lang="en-US" sz="1800" i="1">
                        <a:latin typeface="Cambria Math" panose="02040503050406030204" pitchFamily="18" charset="0"/>
                        <a:ea typeface="Cambria Math" panose="02040503050406030204" pitchFamily="18" charset="0"/>
                      </a:rPr>
                      <m:t>≥</m:t>
                    </m:r>
                    <m:sSub>
                      <m:sSubPr>
                        <m:ctrlPr>
                          <a:rPr lang="en-US" sz="1800" i="1" smtClean="0">
                            <a:latin typeface="Cambria Math" panose="02040503050406030204" pitchFamily="18" charset="0"/>
                            <a:ea typeface="Cambria Math" panose="02040503050406030204" pitchFamily="18" charset="0"/>
                          </a:rPr>
                        </m:ctrlPr>
                      </m:sSubPr>
                      <m:e>
                        <m:r>
                          <m:rPr>
                            <m:sty m:val="p"/>
                          </m:rPr>
                          <a:rPr lang="en-US" sz="1800" b="0" i="1" smtClean="0">
                            <a:latin typeface="Cambria Math" panose="02040503050406030204" pitchFamily="18" charset="0"/>
                            <a:ea typeface="Cambria Math" panose="02040503050406030204" pitchFamily="18" charset="0"/>
                          </a:rPr>
                          <m:t>V</m:t>
                        </m:r>
                      </m:e>
                      <m:sub>
                        <m:r>
                          <m:rPr>
                            <m:sty m:val="p"/>
                          </m:rPr>
                          <a:rPr lang="en-US" sz="1800" b="0" i="1" smtClean="0">
                            <a:latin typeface="Cambria Math" panose="02040503050406030204" pitchFamily="18" charset="0"/>
                            <a:ea typeface="Cambria Math" panose="02040503050406030204" pitchFamily="18" charset="0"/>
                          </a:rPr>
                          <m:t>trial</m:t>
                        </m:r>
                      </m:sub>
                    </m:sSub>
                  </m:oMath>
                </a14:m>
                <a:endParaRPr lang="en-US" sz="1800" dirty="0">
                  <a:latin typeface="+mj-lt"/>
                </a:endParaRPr>
              </a:p>
              <a:p>
                <a:pPr marL="342900">
                  <a:lnSpc>
                    <a:spcPct val="100000"/>
                  </a:lnSpc>
                  <a:spcBef>
                    <a:spcPts val="0"/>
                  </a:spcBef>
                  <a:buSzPts val="2000"/>
                  <a:buFont typeface="+mj-lt"/>
                  <a:buAutoNum type="arabicPeriod"/>
                </a:pPr>
                <a:r>
                  <a:rPr lang="en-US" sz="1800" b="1" dirty="0">
                    <a:latin typeface="+mj-lt"/>
                  </a:rPr>
                  <a:t>Decision</a:t>
                </a:r>
                <a:r>
                  <a:rPr lang="en-US" sz="1800" dirty="0">
                    <a:latin typeface="+mj-lt"/>
                  </a:rPr>
                  <a:t>:</a:t>
                </a:r>
              </a:p>
              <a:p>
                <a:pPr marL="285750" indent="-285750">
                  <a:lnSpc>
                    <a:spcPct val="100000"/>
                  </a:lnSpc>
                  <a:spcBef>
                    <a:spcPts val="0"/>
                  </a:spcBef>
                  <a:buSzPts val="2000"/>
                </a:pPr>
                <a:r>
                  <a:rPr lang="en-US" sz="1800" dirty="0">
                    <a:latin typeface="+mj-lt"/>
                  </a:rPr>
                  <a:t>If </a:t>
                </a:r>
                <a:r>
                  <a:rPr lang="en-US" sz="1800" b="1" dirty="0">
                    <a:latin typeface="+mj-lt"/>
                  </a:rPr>
                  <a:t>True</a:t>
                </a:r>
                <a:r>
                  <a:rPr lang="en-US" sz="1800" dirty="0">
                    <a:latin typeface="+mj-lt"/>
                  </a:rPr>
                  <a:t>: The comparator outputs '1'. The bit </a:t>
                </a:r>
                <a14:m>
                  <m:oMath xmlns:m="http://schemas.openxmlformats.org/officeDocument/2006/math">
                    <m:sSub>
                      <m:sSubPr>
                        <m:ctrlPr>
                          <a:rPr lang="en-US" sz="1800" i="1">
                            <a:latin typeface="Cambria Math" panose="02040503050406030204" pitchFamily="18" charset="0"/>
                          </a:rPr>
                        </m:ctrlPr>
                      </m:sSubPr>
                      <m:e>
                        <m:r>
                          <m:rPr>
                            <m:sty m:val="p"/>
                          </m:rPr>
                          <a:rPr lang="en-US" sz="1800" i="1">
                            <a:latin typeface="Cambria Math" panose="02040503050406030204" pitchFamily="18" charset="0"/>
                          </a:rPr>
                          <m:t>b</m:t>
                        </m:r>
                      </m:e>
                      <m:sub>
                        <m:r>
                          <m:rPr>
                            <m:sty m:val="p"/>
                          </m:rPr>
                          <a:rPr lang="en-US" sz="1800" i="1">
                            <a:latin typeface="Cambria Math" panose="02040503050406030204" pitchFamily="18" charset="0"/>
                          </a:rPr>
                          <m:t>i</m:t>
                        </m:r>
                      </m:sub>
                    </m:sSub>
                  </m:oMath>
                </a14:m>
                <a:r>
                  <a:rPr lang="en-US" sz="1800" dirty="0"/>
                  <a:t> </a:t>
                </a:r>
                <a:r>
                  <a:rPr lang="en-US" sz="1800" dirty="0">
                    <a:latin typeface="+mj-lt"/>
                  </a:rPr>
                  <a:t>remains 1. The trial voltage is kept as part of </a:t>
                </a:r>
                <a14:m>
                  <m:oMath xmlns:m="http://schemas.openxmlformats.org/officeDocument/2006/math">
                    <m:sSub>
                      <m:sSubPr>
                        <m:ctrlPr>
                          <a:rPr lang="en-US" sz="1800" i="1">
                            <a:latin typeface="Cambria Math" panose="02040503050406030204" pitchFamily="18" charset="0"/>
                          </a:rPr>
                        </m:ctrlPr>
                      </m:sSubPr>
                      <m:e>
                        <m:r>
                          <m:rPr>
                            <m:sty m:val="p"/>
                          </m:rPr>
                          <a:rPr lang="en-US" sz="1800" i="1">
                            <a:latin typeface="Cambria Math" panose="02040503050406030204" pitchFamily="18" charset="0"/>
                          </a:rPr>
                          <m:t>V</m:t>
                        </m:r>
                      </m:e>
                      <m:sub>
                        <m:r>
                          <m:rPr>
                            <m:sty m:val="p"/>
                          </m:rPr>
                          <a:rPr lang="en-US" sz="1800" i="1">
                            <a:latin typeface="Cambria Math" panose="02040503050406030204" pitchFamily="18" charset="0"/>
                          </a:rPr>
                          <m:t>accumulated</m:t>
                        </m:r>
                      </m:sub>
                    </m:sSub>
                  </m:oMath>
                </a14:m>
                <a:endParaRPr lang="en-US" sz="1800" dirty="0">
                  <a:latin typeface="+mj-lt"/>
                </a:endParaRPr>
              </a:p>
              <a:p>
                <a:pPr marL="285750" indent="-285750">
                  <a:lnSpc>
                    <a:spcPct val="100000"/>
                  </a:lnSpc>
                  <a:spcBef>
                    <a:spcPts val="0"/>
                  </a:spcBef>
                  <a:buSzPts val="2000"/>
                </a:pPr>
                <a:r>
                  <a:rPr lang="en-US" sz="1800" dirty="0">
                    <a:latin typeface="+mj-lt"/>
                  </a:rPr>
                  <a:t>If </a:t>
                </a:r>
                <a:r>
                  <a:rPr lang="en-US" sz="1800" b="1" dirty="0">
                    <a:latin typeface="+mj-lt"/>
                  </a:rPr>
                  <a:t>False</a:t>
                </a:r>
                <a:r>
                  <a:rPr lang="en-US" sz="1800" dirty="0">
                    <a:latin typeface="+mj-lt"/>
                  </a:rPr>
                  <a:t>: The comparator outputs '0'. The bit </a:t>
                </a:r>
                <a14:m>
                  <m:oMath xmlns:m="http://schemas.openxmlformats.org/officeDocument/2006/math">
                    <m:sSub>
                      <m:sSubPr>
                        <m:ctrlPr>
                          <a:rPr lang="en-US" sz="1800" i="1">
                            <a:latin typeface="Cambria Math" panose="02040503050406030204" pitchFamily="18" charset="0"/>
                          </a:rPr>
                        </m:ctrlPr>
                      </m:sSubPr>
                      <m:e>
                        <m:r>
                          <m:rPr>
                            <m:sty m:val="p"/>
                          </m:rPr>
                          <a:rPr lang="en-US" sz="1800" i="1">
                            <a:latin typeface="Cambria Math" panose="02040503050406030204" pitchFamily="18" charset="0"/>
                          </a:rPr>
                          <m:t>b</m:t>
                        </m:r>
                      </m:e>
                      <m:sub>
                        <m:r>
                          <m:rPr>
                            <m:sty m:val="p"/>
                          </m:rPr>
                          <a:rPr lang="en-US" sz="1800" i="1">
                            <a:latin typeface="Cambria Math" panose="02040503050406030204" pitchFamily="18" charset="0"/>
                          </a:rPr>
                          <m:t>i</m:t>
                        </m:r>
                      </m:sub>
                    </m:sSub>
                  </m:oMath>
                </a14:m>
                <a:r>
                  <a:rPr lang="en-US" sz="1800" dirty="0"/>
                  <a:t> </a:t>
                </a:r>
                <a:r>
                  <a:rPr lang="en-US" sz="1800" dirty="0">
                    <a:latin typeface="+mj-lt"/>
                  </a:rPr>
                  <a:t>is cleared to 0. The trial voltage is discarded.</a:t>
                </a:r>
              </a:p>
              <a:p>
                <a:pPr marL="0" indent="0">
                  <a:lnSpc>
                    <a:spcPct val="100000"/>
                  </a:lnSpc>
                  <a:spcBef>
                    <a:spcPts val="0"/>
                  </a:spcBef>
                  <a:buSzPts val="2000"/>
                  <a:buNone/>
                </a:pPr>
                <a:endParaRPr lang="en-US" sz="1800" dirty="0">
                  <a:latin typeface="+mj-lt"/>
                </a:endParaRPr>
              </a:p>
              <a:p>
                <a:pPr marL="0" indent="0">
                  <a:lnSpc>
                    <a:spcPct val="100000"/>
                  </a:lnSpc>
                  <a:spcBef>
                    <a:spcPts val="0"/>
                  </a:spcBef>
                  <a:buSzPts val="2000"/>
                  <a:buNone/>
                </a:pPr>
                <a:r>
                  <a:rPr lang="en-US" sz="1800" dirty="0">
                    <a:latin typeface="+mj-lt"/>
                  </a:rPr>
                  <a:t>This process converges logarithmically (because it is binary search). The error at step </a:t>
                </a:r>
                <a14:m>
                  <m:oMath xmlns:m="http://schemas.openxmlformats.org/officeDocument/2006/math">
                    <m:r>
                      <m:rPr>
                        <m:sty m:val="p"/>
                      </m:rPr>
                      <a:rPr lang="en-US" sz="1800" i="1" smtClean="0">
                        <a:latin typeface="Cambria Math" panose="02040503050406030204" pitchFamily="18" charset="0"/>
                      </a:rPr>
                      <m:t>i</m:t>
                    </m:r>
                  </m:oMath>
                </a14:m>
                <a:r>
                  <a:rPr lang="en-US" sz="1800" dirty="0">
                    <a:latin typeface="+mj-lt"/>
                  </a:rPr>
                  <a:t> is strictly bounded by</a:t>
                </a:r>
              </a:p>
              <a:p>
                <a:pPr marL="0" indent="0">
                  <a:lnSpc>
                    <a:spcPct val="100000"/>
                  </a:lnSpc>
                  <a:spcBef>
                    <a:spcPts val="0"/>
                  </a:spcBef>
                  <a:buSzPts val="2000"/>
                  <a:buNone/>
                </a:pPr>
                <a14:m>
                  <m:oMathPara xmlns:m="http://schemas.openxmlformats.org/officeDocument/2006/math">
                    <m:oMathParaPr>
                      <m:jc m:val="centerGroup"/>
                    </m:oMathParaPr>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m:rPr>
                                  <m:sty m:val="p"/>
                                </m:rPr>
                                <a:rPr lang="en-US" sz="1800" i="1">
                                  <a:latin typeface="Cambria Math" panose="02040503050406030204" pitchFamily="18" charset="0"/>
                                </a:rPr>
                                <m:t>V</m:t>
                              </m:r>
                            </m:e>
                            <m:sub>
                              <m:r>
                                <m:rPr>
                                  <m:sty m:val="p"/>
                                </m:rPr>
                                <a:rPr lang="en-US" sz="1800" i="1">
                                  <a:latin typeface="Cambria Math" panose="02040503050406030204" pitchFamily="18" charset="0"/>
                                </a:rPr>
                                <m:t>ref</m:t>
                              </m:r>
                            </m:sub>
                          </m:sSub>
                        </m:num>
                        <m:den>
                          <m:sSup>
                            <m:sSupPr>
                              <m:ctrlPr>
                                <a:rPr lang="en-US" sz="1800" i="1">
                                  <a:latin typeface="Cambria Math" panose="02040503050406030204" pitchFamily="18" charset="0"/>
                                </a:rPr>
                              </m:ctrlPr>
                            </m:sSupPr>
                            <m:e>
                              <m:r>
                                <a:rPr lang="en-US" sz="1800" i="1">
                                  <a:latin typeface="Cambria Math" panose="02040503050406030204" pitchFamily="18" charset="0"/>
                                </a:rPr>
                                <m:t>2</m:t>
                              </m:r>
                            </m:e>
                            <m:sup>
                              <m:r>
                                <m:rPr>
                                  <m:sty m:val="p"/>
                                </m:rPr>
                                <a:rPr lang="en-US" sz="1800" i="1">
                                  <a:latin typeface="Cambria Math" panose="02040503050406030204" pitchFamily="18" charset="0"/>
                                </a:rPr>
                                <m:t>N</m:t>
                              </m:r>
                              <m:r>
                                <a:rPr lang="en-US" sz="1800" i="1">
                                  <a:latin typeface="Cambria Math" panose="02040503050406030204" pitchFamily="18" charset="0"/>
                                </a:rPr>
                                <m:t>−</m:t>
                              </m:r>
                              <m:r>
                                <m:rPr>
                                  <m:sty m:val="p"/>
                                </m:rPr>
                                <a:rPr lang="en-US" sz="1800" b="0" i="1" smtClean="0">
                                  <a:latin typeface="Cambria Math" panose="02040503050406030204" pitchFamily="18" charset="0"/>
                                </a:rPr>
                                <m:t>i</m:t>
                              </m:r>
                            </m:sup>
                          </m:sSup>
                        </m:den>
                      </m:f>
                    </m:oMath>
                  </m:oMathPara>
                </a14:m>
                <a:endParaRPr lang="en-US" sz="1800" dirty="0">
                  <a:latin typeface="+mj-lt"/>
                </a:endParaRPr>
              </a:p>
            </p:txBody>
          </p:sp>
        </mc:Choice>
        <mc:Fallback xmlns="">
          <p:sp>
            <p:nvSpPr>
              <p:cNvPr id="118" name="Google Shape;118;p29">
                <a:extLst>
                  <a:ext uri="{FF2B5EF4-FFF2-40B4-BE49-F238E27FC236}">
                    <a16:creationId xmlns:a16="http://schemas.microsoft.com/office/drawing/2014/main" id="{1F22141B-CCFF-034C-BD52-E4C3C6678CE4}"/>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491" t="-759" r="-38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BEF44DA-C535-1025-1E31-084B5A5009E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B55C3FD-2336-1923-5CC9-CDB21E1C568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ADC – SAR (Successive Approximation Register)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BAF6027-AA5A-9E5D-DCC4-B8A39AC8072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0B71C5B-ED9E-B1A6-1557-6C640067ADE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FF67282-354A-429C-E343-5DBF0F071D3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999601A-58E8-D5A8-D61D-A1DF4F42B00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7ADF4CB-405F-10BA-F19F-18279376675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6351B99-E703-CD1C-33F3-ACDED9B9693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215501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495A470-47E7-12E2-E6C8-E821D15695D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29EA2A0-201B-61C8-DA4C-98755F31BFB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D1EBF95-5F55-E664-1A8B-05689BB91E2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ADC – SAR (Successive Approximation Register)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AB46E8B-2064-8C04-099C-7835E943770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9CADD25-871C-452B-2453-504DFEAFC17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D1A532C-6B13-E613-9C4A-986C7B2438A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334E26F-F0B3-D249-95DF-2EC80FE6174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D37E43A-5794-E26F-33EA-E07F7738CE7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CFBE993-8C7E-3A62-1DA7-950853D8827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Picture 6" descr="Block diagram of a 4-bit successive-approximation ADC: a clocked control block sets DAC bits 3 to 0; the DAC output feeds the comparator's minus input, V in (here 0 volts) feeds the plus input, and the comparator output feeds back to control. Below, an empty voltage-versus-time plot shows only V in at 0 volts. A table lists the step size for each bit: 5 V times one half is 2.5 V, one quarter 1.25 V, one eighth 0.625 V, one sixteenth 0.3125 V, down to one over 1024, 0.0049 V.">
            <a:extLst>
              <a:ext uri="{FF2B5EF4-FFF2-40B4-BE49-F238E27FC236}">
                <a16:creationId xmlns:a16="http://schemas.microsoft.com/office/drawing/2014/main" id="{AB2E0165-C1E4-5D08-6847-3A62DFCC6B89}"/>
              </a:ext>
            </a:extLst>
          </p:cNvPr>
          <p:cNvPicPr>
            <a:picLocks noChangeAspect="1"/>
          </p:cNvPicPr>
          <p:nvPr/>
        </p:nvPicPr>
        <p:blipFill>
          <a:blip r:embed="rId4"/>
          <a:stretch>
            <a:fillRect/>
          </a:stretch>
        </p:blipFill>
        <p:spPr>
          <a:xfrm>
            <a:off x="2563749" y="906290"/>
            <a:ext cx="7064503" cy="5579681"/>
          </a:xfrm>
          <a:prstGeom prst="rect">
            <a:avLst/>
          </a:prstGeom>
        </p:spPr>
      </p:pic>
      <p:sp>
        <p:nvSpPr>
          <p:cNvPr id="2" name="TextBox 1">
            <a:extLst>
              <a:ext uri="{FF2B5EF4-FFF2-40B4-BE49-F238E27FC236}">
                <a16:creationId xmlns:a16="http://schemas.microsoft.com/office/drawing/2014/main" id="{1689A4A0-A242-B83D-D714-7144DD95FE6C}"/>
              </a:ext>
            </a:extLst>
          </p:cNvPr>
          <p:cNvSpPr txBox="1"/>
          <p:nvPr/>
        </p:nvSpPr>
        <p:spPr>
          <a:xfrm>
            <a:off x="4101443" y="6393235"/>
            <a:ext cx="3989114" cy="261610"/>
          </a:xfrm>
          <a:prstGeom prst="rect">
            <a:avLst/>
          </a:prstGeom>
          <a:noFill/>
        </p:spPr>
        <p:txBody>
          <a:bodyPr wrap="square" rtlCol="0">
            <a:spAutoFit/>
          </a:bodyPr>
          <a:lstStyle/>
          <a:p>
            <a:pPr algn="ctr"/>
            <a:r>
              <a:rPr lang="en-US" sz="1100" dirty="0">
                <a:hlinkClick r:id="rId5"/>
              </a:rPr>
              <a:t>https://en.wikipedia.org/wiki/Successive-approximation_ADC</a:t>
            </a:r>
            <a:r>
              <a:rPr lang="en-US" sz="1100" dirty="0"/>
              <a:t> </a:t>
            </a:r>
          </a:p>
        </p:txBody>
      </p:sp>
    </p:spTree>
    <p:extLst>
      <p:ext uri="{BB962C8B-B14F-4D97-AF65-F5344CB8AC3E}">
        <p14:creationId xmlns:p14="http://schemas.microsoft.com/office/powerpoint/2010/main" val="1788949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7DED420E-CFE9-41C7-70F2-CA5E9D09F92F}"/>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40687A0B-085F-32D8-EEB2-4DBA8280D9F4}"/>
              </a:ext>
            </a:extLst>
          </p:cNvPr>
          <p:cNvSpPr/>
          <p:nvPr>
            <p:ph type="title"/>
          </p:nvPr>
        </p:nvSpPr>
        <p:spPr>
          <a:xfrm>
            <a:off x="1295400" y="2948490"/>
            <a:ext cx="9601200" cy="1338788"/>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SOC</a:t>
            </a:r>
            <a:endParaRPr i="0" b="0" sz="1400" dirty="0">
              <a:solidFill>
                <a:srgbClr val="000000"/>
              </a:solidFil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rgbClr val="15264B"/>
              </a:solidFill>
              <a:latin typeface="Atkinson Hyperlegible Next"/>
              <a:ea typeface="Arial"/>
              <a:cs typeface="Arial"/>
              <a:sym typeface="Arial"/>
            </a:endParaRPr>
          </a:p>
          <a:p>
            <a:pPr lvl="0" algn="ctr">
              <a:lnSpc>
                <a:spcPct val="100000"/>
              </a:lnSpc>
              <a:spcBef>
                <a:spcPts val="0"/>
              </a:spcBef>
              <a:spcAft>
                <a:spcPts val="0"/>
              </a:spcAft>
            </a:pPr>
            <a:r>
              <a:rPr lang="en-US" sz="1800" b="0" i="0" u="none" strike="noStrike" cap="none" dirty="0">
                <a:solidFill>
                  <a:srgbClr val="15264B"/>
                </a:solidFill>
                <a:latin typeface="Atkinson Hyperlegible Next"/>
                <a:ea typeface="Arial"/>
                <a:cs typeface="Arial"/>
                <a:sym typeface="Arial"/>
              </a:rPr>
              <a:t>(</a:t>
            </a:r>
            <a:r>
              <a:rPr i="0" b="0" lang="en-US" sz="1800" dirty="0">
                <a:solidFill>
                  <a:srgbClr val="15264B"/>
                </a:solidFill>
              </a:rPr>
              <a:t>Start-of-Conversion</a:t>
            </a:r>
            <a:r>
              <a:rPr lang="en-US" sz="1800" b="0" i="0" u="none" strike="noStrike" cap="none" dirty="0">
                <a:solidFill>
                  <a:srgbClr val="15264B"/>
                </a:solidFill>
                <a:latin typeface="Atkinson Hyperlegible Next"/>
                <a:ea typeface="Arial"/>
                <a:cs typeface="Arial"/>
                <a:sym typeface="Arial"/>
              </a:rPr>
              <a:t>)</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60FD4B8B-5BDA-4D60-1F74-CB696EDC02F9}"/>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937BF98E-749E-1DD1-3550-64D8DAD56516}"/>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7A9DE242-CB5B-8BA7-DA31-E398C6CBBA1D}"/>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9E122F30-A0C4-B471-C26E-A26B6120F54B}"/>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8A16F689-8438-6FE6-5933-37D22FFAC7C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975701BA-3373-6370-3C64-56F6B2F62FDD}"/>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561865F7-79EC-FC59-67FB-65C9FF63FD86}"/>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C8FDE619-7548-2324-8C1A-78BD5337D04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4407D761-C337-EC7F-05F5-5C563795B84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80577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CF33050-837F-0353-5DC8-44AE106F842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BB153E3-513E-3D6E-60C3-5B3F4657706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1800" dirty="0">
                <a:latin typeface="+mj-lt"/>
              </a:rPr>
              <a:t>In simple microcontrollers (like Arduino), you usually just say “Read analog value from pin A0 now!”. In more advanced controllers we use </a:t>
            </a:r>
            <a:r>
              <a:rPr lang="en-US" sz="1800" b="1" dirty="0">
                <a:latin typeface="+mj-lt"/>
              </a:rPr>
              <a:t>SOCs</a:t>
            </a:r>
          </a:p>
          <a:p>
            <a:pPr marL="0" lvl="0" indent="0">
              <a:lnSpc>
                <a:spcPct val="100000"/>
              </a:lnSpc>
              <a:spcBef>
                <a:spcPts val="0"/>
              </a:spcBef>
              <a:buSzPts val="2000"/>
              <a:buNone/>
            </a:pPr>
            <a:endParaRPr lang="en-US" sz="1800" b="1" dirty="0">
              <a:latin typeface="+mj-lt"/>
            </a:endParaRPr>
          </a:p>
          <a:p>
            <a:pPr marL="0" lvl="0" indent="0">
              <a:lnSpc>
                <a:spcPct val="100000"/>
              </a:lnSpc>
              <a:spcBef>
                <a:spcPts val="0"/>
              </a:spcBef>
              <a:buSzPts val="2000"/>
              <a:buNone/>
            </a:pPr>
            <a:r>
              <a:rPr lang="en-US" sz="1800" dirty="0">
                <a:latin typeface="+mj-lt"/>
              </a:rPr>
              <a:t>SOCs is a configuration set that defines </a:t>
            </a:r>
            <a:r>
              <a:rPr lang="en-US" sz="1800" i="1" dirty="0">
                <a:latin typeface="+mj-lt"/>
              </a:rPr>
              <a:t>what </a:t>
            </a:r>
            <a:r>
              <a:rPr lang="en-US" sz="1800" dirty="0">
                <a:latin typeface="+mj-lt"/>
              </a:rPr>
              <a:t>happens, not just </a:t>
            </a:r>
            <a:r>
              <a:rPr lang="en-US" sz="1800" i="1" dirty="0">
                <a:latin typeface="+mj-lt"/>
              </a:rPr>
              <a:t>when:</a:t>
            </a:r>
          </a:p>
          <a:p>
            <a:pPr marL="0" lvl="0" indent="0">
              <a:lnSpc>
                <a:spcPct val="100000"/>
              </a:lnSpc>
              <a:spcBef>
                <a:spcPts val="0"/>
              </a:spcBef>
              <a:buSzPts val="2000"/>
              <a:buNone/>
            </a:pPr>
            <a:endParaRPr lang="en-US" sz="1800" i="1" dirty="0">
              <a:latin typeface="+mj-lt"/>
            </a:endParaRPr>
          </a:p>
          <a:p>
            <a:pPr marL="0" lvl="0" indent="0">
              <a:lnSpc>
                <a:spcPct val="100000"/>
              </a:lnSpc>
              <a:spcBef>
                <a:spcPts val="0"/>
              </a:spcBef>
              <a:buSzPts val="2000"/>
              <a:buNone/>
            </a:pPr>
            <a:r>
              <a:rPr lang="en-US" sz="1800" dirty="0">
                <a:latin typeface="+mj-lt"/>
              </a:rPr>
              <a:t>You do not configure the ADC directly, you configure “SOC0” “SOC1”, </a:t>
            </a:r>
            <a:r>
              <a:rPr lang="en-US" sz="1800" dirty="0" err="1">
                <a:latin typeface="+mj-lt"/>
              </a:rPr>
              <a:t>etc</a:t>
            </a:r>
            <a:r>
              <a:rPr lang="en-US" sz="1800" dirty="0">
                <a:latin typeface="+mj-lt"/>
              </a:rPr>
              <a:t>…</a:t>
            </a: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dirty="0">
                <a:latin typeface="+mj-lt"/>
              </a:rPr>
              <a:t>Each SOC defines:</a:t>
            </a:r>
          </a:p>
          <a:p>
            <a:pPr marL="0" lvl="0" indent="0">
              <a:lnSpc>
                <a:spcPct val="100000"/>
              </a:lnSpc>
              <a:spcBef>
                <a:spcPts val="0"/>
              </a:spcBef>
              <a:buSzPts val="2000"/>
              <a:buNone/>
            </a:pPr>
            <a:endParaRPr lang="en-US" sz="1800" dirty="0">
              <a:latin typeface="+mj-lt"/>
            </a:endParaRPr>
          </a:p>
          <a:p>
            <a:pPr marL="285750" indent="-285750">
              <a:lnSpc>
                <a:spcPct val="100000"/>
              </a:lnSpc>
              <a:spcBef>
                <a:spcPts val="0"/>
              </a:spcBef>
              <a:buSzPts val="2000"/>
            </a:pPr>
            <a:r>
              <a:rPr lang="en-US" sz="1800" b="1" dirty="0">
                <a:latin typeface="+mj-lt"/>
              </a:rPr>
              <a:t>Trigger Source</a:t>
            </a:r>
            <a:r>
              <a:rPr lang="en-US" sz="1800" dirty="0">
                <a:latin typeface="+mj-lt"/>
              </a:rPr>
              <a:t>: What causes the same? (Timer, Software, </a:t>
            </a:r>
            <a:r>
              <a:rPr lang="en-US" sz="1800" dirty="0" err="1">
                <a:latin typeface="+mj-lt"/>
              </a:rPr>
              <a:t>ePWM</a:t>
            </a:r>
            <a:r>
              <a:rPr lang="en-US" sz="1800" dirty="0">
                <a:latin typeface="+mj-lt"/>
              </a:rPr>
              <a:t>, GPIO).</a:t>
            </a:r>
          </a:p>
          <a:p>
            <a:pPr marL="285750" indent="-285750">
              <a:lnSpc>
                <a:spcPct val="100000"/>
              </a:lnSpc>
              <a:spcBef>
                <a:spcPts val="0"/>
              </a:spcBef>
              <a:buSzPts val="2000"/>
            </a:pPr>
            <a:r>
              <a:rPr lang="en-US" sz="1800" b="1" dirty="0">
                <a:latin typeface="+mj-lt"/>
              </a:rPr>
              <a:t>Channel: </a:t>
            </a:r>
            <a:r>
              <a:rPr lang="en-US" sz="1800" dirty="0">
                <a:latin typeface="+mj-lt"/>
              </a:rPr>
              <a:t>Which pin to sample? (e.g. ADCINA4).</a:t>
            </a:r>
          </a:p>
          <a:p>
            <a:pPr marL="285750" indent="-285750">
              <a:lnSpc>
                <a:spcPct val="100000"/>
              </a:lnSpc>
              <a:spcBef>
                <a:spcPts val="0"/>
              </a:spcBef>
              <a:buSzPts val="2000"/>
            </a:pPr>
            <a:r>
              <a:rPr lang="en-US" sz="1800" b="1" dirty="0">
                <a:latin typeface="+mj-lt"/>
              </a:rPr>
              <a:t>Acquisition Window (ACQPS): </a:t>
            </a:r>
            <a:r>
              <a:rPr lang="en-US" sz="1800" dirty="0">
                <a:latin typeface="+mj-lt"/>
              </a:rPr>
              <a:t>How long to hold the “sample” switch open?</a:t>
            </a:r>
            <a:endParaRPr lang="en-US" sz="1800" b="1" dirty="0">
              <a:latin typeface="+mj-lt"/>
            </a:endParaRPr>
          </a:p>
          <a:p>
            <a:pPr marL="0" lvl="0" indent="0">
              <a:lnSpc>
                <a:spcPct val="100000"/>
              </a:lnSpc>
              <a:spcBef>
                <a:spcPts val="0"/>
              </a:spcBef>
              <a:buSzPts val="2000"/>
              <a:buNone/>
            </a:pPr>
            <a:endParaRPr lang="en-US" sz="1800" dirty="0">
              <a:latin typeface="+mj-lt"/>
            </a:endParaRPr>
          </a:p>
        </p:txBody>
      </p:sp>
      <p:sp>
        <p:nvSpPr>
          <p:cNvPr id="119" name="Google Shape;119;p29">
            <a:extLst>
              <a:ext uri="{FF2B5EF4-FFF2-40B4-BE49-F238E27FC236}">
                <a16:creationId xmlns:a16="http://schemas.microsoft.com/office/drawing/2014/main" id="{FCB3BC4D-4275-AC2B-9B45-29DBEE62D5A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291CBD8-AC86-533B-450E-9738E57E9A6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SOC - Intro</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36F6DE9-3778-6A0C-FFB9-A3DDA14716C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760293C-10CB-95B6-84F8-34753AAA859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17A3473-4693-9F6D-3FAD-017E64B97BE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7A8074F-6729-E811-AE3E-C98E2A7D527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E0AD784-026F-AE1E-CE59-8C4746EDA7B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80950DD-1B0F-AB3C-B19B-4B4FA57DC8D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827273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A72AE47-290F-3156-00AF-C8F7B4AB61B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36A02A5-F835-5AA1-83A4-A99BCA8F27C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1800" dirty="0">
                <a:latin typeface="+mj-lt"/>
              </a:rPr>
              <a:t>The ADC is an event-based machine.</a:t>
            </a: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dirty="0">
                <a:latin typeface="+mj-lt"/>
              </a:rPr>
              <a:t>For example, you can set SOC1 to trigger on </a:t>
            </a:r>
            <a:r>
              <a:rPr lang="en-US" sz="1800" b="1" dirty="0">
                <a:latin typeface="+mj-lt"/>
              </a:rPr>
              <a:t>ePWM1</a:t>
            </a:r>
            <a:r>
              <a:rPr lang="en-US" sz="1800" dirty="0">
                <a:latin typeface="+mj-lt"/>
              </a:rPr>
              <a:t> (for motor currents) and SOC1 to trigger on </a:t>
            </a:r>
            <a:r>
              <a:rPr lang="en-US" sz="1800" b="1" dirty="0">
                <a:latin typeface="+mj-lt"/>
              </a:rPr>
              <a:t>CPU Timer 2 </a:t>
            </a:r>
            <a:r>
              <a:rPr lang="en-US" sz="1800" dirty="0">
                <a:latin typeface="+mj-lt"/>
              </a:rPr>
              <a:t>( for temperature monitoring)</a:t>
            </a: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dirty="0">
                <a:latin typeface="+mj-lt"/>
              </a:rPr>
              <a:t>What to do if multiple triggers arrive at once? We use a </a:t>
            </a:r>
            <a:r>
              <a:rPr lang="en-US" sz="1800" b="1" dirty="0">
                <a:latin typeface="+mj-lt"/>
              </a:rPr>
              <a:t>Round Robin</a:t>
            </a:r>
            <a:r>
              <a:rPr lang="en-US" sz="1800" dirty="0">
                <a:latin typeface="+mj-lt"/>
              </a:rPr>
              <a:t>, to decide which SOC converts first.</a:t>
            </a:r>
          </a:p>
          <a:p>
            <a:pPr marL="0" lvl="0" indent="0">
              <a:lnSpc>
                <a:spcPct val="100000"/>
              </a:lnSpc>
              <a:spcBef>
                <a:spcPts val="0"/>
              </a:spcBef>
              <a:buSzPts val="2000"/>
              <a:buNone/>
            </a:pPr>
            <a:r>
              <a:rPr lang="en-US" sz="1800" dirty="0">
                <a:latin typeface="+mj-lt"/>
              </a:rPr>
              <a:t>You can assign SOCs to have strict priority over others (critical safety loops)</a:t>
            </a:r>
          </a:p>
        </p:txBody>
      </p:sp>
      <p:sp>
        <p:nvSpPr>
          <p:cNvPr id="119" name="Google Shape;119;p29">
            <a:extLst>
              <a:ext uri="{FF2B5EF4-FFF2-40B4-BE49-F238E27FC236}">
                <a16:creationId xmlns:a16="http://schemas.microsoft.com/office/drawing/2014/main" id="{2B477B66-FC3E-B9BD-8B82-ECF1B153A0E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E85B2E6-D06F-F14E-907E-16CEAA95881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SOC – Trigger Sources (1/2)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8231CE3-C413-0227-DF6E-FDA353429D0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E196062-81B4-8933-F2E3-E657C1A8837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A3E8CCF-B558-C234-A913-2D0748B7EA9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860F51-D45E-30BE-0079-C2C0E2CEACE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F4AD08D-93EA-CDC3-92EB-BE020EC90F1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C052DEB-7A9F-A263-F6A5-AFCBF6D9269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31141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3E76D0A-B51E-F4E4-7B2F-168E6D8ECE5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9204114-962A-DD4E-724B-A4E0429093A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193850F-39C7-17A6-C508-47BDF4B7539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SOC – Trigger Sources (2/2)</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48863F7-0033-FBB7-96CD-924DCC839E7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7BD74B7-4C3E-5319-C996-9DBF3985163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3A73752-08B6-303E-15FF-37CF5C583DD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62BE0B3-0BE5-28D2-070F-44581E98140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0FB6917-3763-D708-8647-8F6692BD4D5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3CD3FDF-7C97-8E2A-A3F2-97F9A47D5CC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descr="Five-panel TI figure &quot;High Priority Example&quot; with SOCPRIORITY equals 4: SOC0 to SOC3 are fixed high priority, SOC4 to SOC15 form a clockwise round-robin wheel around RRPOINTER. A: after reset, pointer defaults to 16, so SOC4 is first; SOC7 triggers and converts. B: pointer moves to 7, so SOC8 is first. C: SOC2 and SOC12 trigger together; high-priority SOC2 converts first while SOC12 waits. D: pointer stays at 7 while SOC12 converts. E: pointer moves to 12, so SOC13 is first.">
            <a:extLst>
              <a:ext uri="{FF2B5EF4-FFF2-40B4-BE49-F238E27FC236}">
                <a16:creationId xmlns:a16="http://schemas.microsoft.com/office/drawing/2014/main" id="{BC7B23A1-7B33-9631-08E4-8494D1AAD6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89587" y="913768"/>
            <a:ext cx="4380461" cy="5687770"/>
          </a:xfrm>
          <a:prstGeom prst="rect">
            <a:avLst/>
          </a:prstGeom>
        </p:spPr>
      </p:pic>
    </p:spTree>
    <p:extLst>
      <p:ext uri="{BB962C8B-B14F-4D97-AF65-F5344CB8AC3E}">
        <p14:creationId xmlns:p14="http://schemas.microsoft.com/office/powerpoint/2010/main" val="2055427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BA6B744-51B5-C944-B4A3-DBB76164E29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82DC2894-E22E-90BC-F924-976ADBABCB3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1800" dirty="0">
                    <a:latin typeface="+mj-lt"/>
                  </a:rPr>
                  <a:t>The internal capacitor </a:t>
                </a:r>
                <a14:m>
                  <m:oMath xmlns:m="http://schemas.openxmlformats.org/officeDocument/2006/math">
                    <m:sSub>
                      <m:sSubPr>
                        <m:ctrlPr>
                          <a:rPr lang="en-US" sz="1800" i="1" smtClean="0">
                            <a:latin typeface="Cambria Math" panose="02040503050406030204" pitchFamily="18" charset="0"/>
                          </a:rPr>
                        </m:ctrlPr>
                      </m:sSubPr>
                      <m:e>
                        <m:r>
                          <m:rPr>
                            <m:sty m:val="p"/>
                          </m:rPr>
                          <a:rPr lang="en-US" sz="1800" b="0" i="1" smtClean="0">
                            <a:latin typeface="Cambria Math" panose="02040503050406030204" pitchFamily="18" charset="0"/>
                          </a:rPr>
                          <m:t>C</m:t>
                        </m:r>
                      </m:e>
                      <m:sub>
                        <m:r>
                          <m:rPr>
                            <m:sty m:val="p"/>
                          </m:rPr>
                          <a:rPr lang="en-US" sz="1800" b="0" i="1" smtClean="0">
                            <a:latin typeface="Cambria Math" panose="02040503050406030204" pitchFamily="18" charset="0"/>
                          </a:rPr>
                          <m:t>h</m:t>
                        </m:r>
                      </m:sub>
                    </m:sSub>
                  </m:oMath>
                </a14:m>
                <a:r>
                  <a:rPr lang="en-US" sz="1800" dirty="0">
                    <a:latin typeface="+mj-lt"/>
                  </a:rPr>
                  <a:t> needs time to charge. If the source impedance is high (weak signal), it takes longer</a:t>
                </a:r>
              </a:p>
              <a:p>
                <a:pPr marL="0" lvl="0" indent="0">
                  <a:lnSpc>
                    <a:spcPct val="100000"/>
                  </a:lnSpc>
                  <a:spcBef>
                    <a:spcPts val="0"/>
                  </a:spcBef>
                  <a:buSzPts val="2000"/>
                  <a:buNone/>
                </a:pPr>
                <a:endParaRPr lang="en-US" sz="1800" dirty="0">
                  <a:latin typeface="+mj-lt"/>
                </a:endParaRPr>
              </a:p>
              <a:p>
                <a:pPr marL="0" lvl="0" indent="0" algn="ctr">
                  <a:lnSpc>
                    <a:spcPct val="100000"/>
                  </a:lnSpc>
                  <a:spcBef>
                    <a:spcPts val="0"/>
                  </a:spcBef>
                  <a:buSzPts val="2000"/>
                  <a:buNone/>
                </a:pPr>
                <a:r>
                  <a:rPr lang="en-US" sz="1800" dirty="0" err="1">
                    <a:solidFill>
                      <a:srgbClr val="000000"/>
                    </a:solidFill>
                    <a:latin typeface="Consolas" panose="020B0609020204030204" pitchFamily="49" charset="0"/>
                  </a:rPr>
                  <a:t>AdcxRegs.</a:t>
                </a:r>
                <a:r>
                  <a:rPr lang="en-US" sz="1800" dirty="0" err="1">
                    <a:solidFill>
                      <a:srgbClr val="0000C0"/>
                    </a:solidFill>
                    <a:latin typeface="Consolas" panose="020B0609020204030204" pitchFamily="49" charset="0"/>
                  </a:rPr>
                  <a:t>ADCSOCxCTL</a:t>
                </a:r>
                <a:r>
                  <a:rPr lang="en-US" sz="1800" dirty="0" err="1">
                    <a:solidFill>
                      <a:srgbClr val="000000"/>
                    </a:solidFill>
                    <a:latin typeface="Consolas" panose="020B0609020204030204" pitchFamily="49" charset="0"/>
                  </a:rPr>
                  <a:t>.</a:t>
                </a:r>
                <a:r>
                  <a:rPr lang="en-US" sz="1800" dirty="0" err="1">
                    <a:solidFill>
                      <a:srgbClr val="0000C0"/>
                    </a:solidFill>
                    <a:latin typeface="Consolas" panose="020B0609020204030204" pitchFamily="49" charset="0"/>
                  </a:rPr>
                  <a:t>bit</a:t>
                </a:r>
                <a:r>
                  <a:rPr lang="en-US" sz="1800" dirty="0" err="1">
                    <a:solidFill>
                      <a:srgbClr val="000000"/>
                    </a:solidFill>
                    <a:latin typeface="Consolas" panose="020B0609020204030204" pitchFamily="49" charset="0"/>
                  </a:rPr>
                  <a:t>.</a:t>
                </a:r>
                <a:r>
                  <a:rPr lang="en-US" sz="1800" dirty="0" err="1">
                    <a:solidFill>
                      <a:srgbClr val="0000C0"/>
                    </a:solidFill>
                    <a:latin typeface="Consolas" panose="020B0609020204030204" pitchFamily="49" charset="0"/>
                  </a:rPr>
                  <a:t>ACQPS</a:t>
                </a:r>
                <a:endParaRPr lang="en-US" sz="1800" dirty="0">
                  <a:solidFill>
                    <a:srgbClr val="0000C0"/>
                  </a:solidFill>
                  <a:latin typeface="Consolas" panose="020B0609020204030204" pitchFamily="49" charset="0"/>
                </a:endParaRPr>
              </a:p>
              <a:p>
                <a:pPr marL="0" lvl="0" indent="0" algn="ctr">
                  <a:lnSpc>
                    <a:spcPct val="100000"/>
                  </a:lnSpc>
                  <a:spcBef>
                    <a:spcPts val="0"/>
                  </a:spcBef>
                  <a:buSzPts val="2000"/>
                  <a:buNone/>
                </a:pPr>
                <a:endParaRPr lang="en-US" sz="1800" dirty="0">
                  <a:solidFill>
                    <a:srgbClr val="0000C0"/>
                  </a:solidFill>
                  <a:latin typeface="Consolas" panose="020B0609020204030204" pitchFamily="49" charset="0"/>
                </a:endParaRPr>
              </a:p>
              <a:p>
                <a:pPr marL="0" lvl="0" indent="0">
                  <a:lnSpc>
                    <a:spcPct val="100000"/>
                  </a:lnSpc>
                  <a:spcBef>
                    <a:spcPts val="0"/>
                  </a:spcBef>
                  <a:buSzPts val="2000"/>
                  <a:buNone/>
                </a:pPr>
                <a:r>
                  <a:rPr lang="en-US" sz="1800" dirty="0">
                    <a:solidFill>
                      <a:schemeClr val="tx1"/>
                    </a:solidFill>
                    <a:latin typeface="+mj-lt"/>
                  </a:rPr>
                  <a:t>ACQPS is a 9-bit register that can be set to a value between 0 and 511, resulting in an acquisition window duration of:</a:t>
                </a:r>
              </a:p>
              <a:p>
                <a:pPr marL="0" lvl="0" indent="0">
                  <a:lnSpc>
                    <a:spcPct val="100000"/>
                  </a:lnSpc>
                  <a:spcBef>
                    <a:spcPts val="0"/>
                  </a:spcBef>
                  <a:buSzPts val="2000"/>
                  <a:buNone/>
                </a:pPr>
                <a:endParaRPr lang="en-US" sz="1800" dirty="0">
                  <a:latin typeface="+mj-lt"/>
                </a:endParaRPr>
              </a:p>
              <a:p>
                <a:pPr marL="0" lvl="0" indent="0" algn="ctr">
                  <a:lnSpc>
                    <a:spcPct val="100000"/>
                  </a:lnSpc>
                  <a:spcBef>
                    <a:spcPts val="0"/>
                  </a:spcBef>
                  <a:buSzPts val="2000"/>
                  <a:buNone/>
                </a:pPr>
                <a:r>
                  <a:rPr lang="en-US" sz="1800" dirty="0">
                    <a:latin typeface="+mj-lt"/>
                  </a:rPr>
                  <a:t>Acquisition Window = </a:t>
                </a:r>
                <a14:m>
                  <m:oMath xmlns:m="http://schemas.openxmlformats.org/officeDocument/2006/math">
                    <m:r>
                      <a:rPr lang="en-US" sz="1800" b="0" i="0" smtClean="0">
                        <a:latin typeface="Cambria Math" panose="02040503050406030204" pitchFamily="18" charset="0"/>
                      </a:rPr>
                      <m:t>(</m:t>
                    </m:r>
                    <m:r>
                      <m:rPr>
                        <m:sty m:val="p"/>
                      </m:rPr>
                      <a:rPr lang="en-US" sz="1800" b="0" i="1" smtClean="0">
                        <a:latin typeface="Cambria Math" panose="02040503050406030204" pitchFamily="18" charset="0"/>
                      </a:rPr>
                      <m:t>ACQPS</m:t>
                    </m:r>
                    <m:r>
                      <a:rPr lang="en-US" sz="1800" b="0" i="1" smtClean="0">
                        <a:latin typeface="Cambria Math" panose="02040503050406030204" pitchFamily="18" charset="0"/>
                      </a:rPr>
                      <m:t> + 1)×(</m:t>
                    </m:r>
                    <m:r>
                      <m:rPr>
                        <m:sty m:val="p"/>
                      </m:rPr>
                      <a:rPr lang="en-US" sz="1800" b="0" i="1" smtClean="0">
                        <a:latin typeface="Cambria Math" panose="02040503050406030204" pitchFamily="18" charset="0"/>
                        <a:ea typeface="Cambria Math" panose="02040503050406030204" pitchFamily="18" charset="0"/>
                      </a:rPr>
                      <m:t>System</m:t>
                    </m:r>
                    <m:r>
                      <a:rPr lang="en-US" sz="1800" b="0" i="1" smtClean="0">
                        <a:latin typeface="Cambria Math" panose="02040503050406030204" pitchFamily="18" charset="0"/>
                        <a:ea typeface="Cambria Math" panose="02040503050406030204" pitchFamily="18" charset="0"/>
                      </a:rPr>
                      <m:t> </m:t>
                    </m:r>
                    <m:r>
                      <m:rPr>
                        <m:sty m:val="p"/>
                      </m:rPr>
                      <a:rPr lang="en-US" sz="1800" b="0" i="1" smtClean="0">
                        <a:latin typeface="Cambria Math" panose="02040503050406030204" pitchFamily="18" charset="0"/>
                        <a:ea typeface="Cambria Math" panose="02040503050406030204" pitchFamily="18" charset="0"/>
                      </a:rPr>
                      <m:t>Clock</m:t>
                    </m:r>
                    <m:r>
                      <a:rPr lang="en-US" sz="1800" b="0" i="1" smtClean="0">
                        <a:latin typeface="Cambria Math" panose="02040503050406030204" pitchFamily="18" charset="0"/>
                        <a:ea typeface="Cambria Math" panose="02040503050406030204" pitchFamily="18" charset="0"/>
                      </a:rPr>
                      <m:t> (</m:t>
                    </m:r>
                    <m:r>
                      <m:rPr>
                        <m:sty m:val="p"/>
                      </m:rPr>
                      <a:rPr lang="en-US" sz="1800" b="0" i="1" smtClean="0">
                        <a:latin typeface="Cambria Math" panose="02040503050406030204" pitchFamily="18" charset="0"/>
                        <a:ea typeface="Cambria Math" panose="02040503050406030204" pitchFamily="18" charset="0"/>
                      </a:rPr>
                      <m:t>SYSCLK</m:t>
                    </m:r>
                    <m:r>
                      <a:rPr lang="en-US" sz="1800" b="0" i="1" smtClean="0">
                        <a:latin typeface="Cambria Math" panose="02040503050406030204" pitchFamily="18" charset="0"/>
                        <a:ea typeface="Cambria Math" panose="02040503050406030204" pitchFamily="18" charset="0"/>
                      </a:rPr>
                      <m:t>) </m:t>
                    </m:r>
                    <m:r>
                      <m:rPr>
                        <m:sty m:val="p"/>
                      </m:rPr>
                      <a:rPr lang="en-US" sz="1800" b="0" i="1" smtClean="0">
                        <a:latin typeface="Cambria Math" panose="02040503050406030204" pitchFamily="18" charset="0"/>
                        <a:ea typeface="Cambria Math" panose="02040503050406030204" pitchFamily="18" charset="0"/>
                      </a:rPr>
                      <m:t>cycle</m:t>
                    </m:r>
                    <m:r>
                      <a:rPr lang="en-US" sz="1800" b="0" i="1" smtClean="0">
                        <a:latin typeface="Cambria Math" panose="02040503050406030204" pitchFamily="18" charset="0"/>
                        <a:ea typeface="Cambria Math" panose="02040503050406030204" pitchFamily="18" charset="0"/>
                      </a:rPr>
                      <m:t> </m:t>
                    </m:r>
                    <m:r>
                      <m:rPr>
                        <m:sty m:val="p"/>
                      </m:rPr>
                      <a:rPr lang="en-US" sz="1800" b="0" i="1" smtClean="0">
                        <a:latin typeface="Cambria Math" panose="02040503050406030204" pitchFamily="18" charset="0"/>
                        <a:ea typeface="Cambria Math" panose="02040503050406030204" pitchFamily="18" charset="0"/>
                      </a:rPr>
                      <m:t>time</m:t>
                    </m:r>
                    <m:r>
                      <a:rPr lang="en-US" sz="1800" b="0" i="1" smtClean="0">
                        <a:latin typeface="Cambria Math" panose="02040503050406030204" pitchFamily="18" charset="0"/>
                        <a:ea typeface="Cambria Math" panose="02040503050406030204" pitchFamily="18" charset="0"/>
                      </a:rPr>
                      <m:t>)</m:t>
                    </m:r>
                  </m:oMath>
                </a14:m>
                <a:r>
                  <a:rPr lang="en-US" sz="1800" dirty="0">
                    <a:latin typeface="+mj-lt"/>
                  </a:rPr>
                  <a:t>.</a:t>
                </a:r>
              </a:p>
              <a:p>
                <a:pPr marL="0" lvl="0" indent="0" algn="ctr">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dirty="0">
                    <a:latin typeface="+mj-lt"/>
                  </a:rPr>
                  <a:t>The acquisition window duration is based on the System Clock (SYSCLK), not the ADC clock (ADCCLK)!</a:t>
                </a: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dirty="0">
                    <a:latin typeface="+mj-lt"/>
                  </a:rPr>
                  <a:t>Why it matters: If you make this too short, the capacitor won't fully charge, and you will read the previous channel's "ghost" voltage (cross-talk).</a:t>
                </a:r>
              </a:p>
            </p:txBody>
          </p:sp>
        </mc:Choice>
        <mc:Fallback xmlns="">
          <p:sp>
            <p:nvSpPr>
              <p:cNvPr id="118" name="Google Shape;118;p29">
                <a:extLst>
                  <a:ext uri="{FF2B5EF4-FFF2-40B4-BE49-F238E27FC236}">
                    <a16:creationId xmlns:a16="http://schemas.microsoft.com/office/drawing/2014/main" id="{82DC2894-E22E-90BC-F924-976ADBABCB3C}"/>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491" t="-759" r="-109"/>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E206D236-694C-450A-588F-C0743601A11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4ABFD74-F44A-237B-0AEA-520D9A9B048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SOC – Acquisition Window</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3EA2FC1-E9A1-6FCD-4738-727C78AA92B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7081AFC-EF1F-0574-FE5E-A7EC15152F7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EB84976-10A7-4ADD-AA4F-9C70673ED6B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02704A0-3C76-A8F8-F352-5B948AE3F1D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EE239FC-A5D8-B0FA-E4EC-392ABC72E42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04C4E6A-F04A-0625-0AD6-7AE7E59E079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2114370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7111FCA-31C3-7500-8BFC-980E6B422DF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73F64A1-C7AC-18C3-3CAA-EA5993AE01E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2000"/>
              <a:buNone/>
            </a:pPr>
            <a:r>
              <a:rPr lang="en-US" sz="1800" dirty="0">
                <a:latin typeface="+mj-lt"/>
              </a:rPr>
              <a:t>You don’t need an interrupt for </a:t>
            </a:r>
            <a:r>
              <a:rPr lang="en-US" sz="1800" i="1" dirty="0">
                <a:latin typeface="+mj-lt"/>
              </a:rPr>
              <a:t>every </a:t>
            </a:r>
            <a:r>
              <a:rPr lang="en-US" sz="1800" dirty="0">
                <a:latin typeface="+mj-lt"/>
              </a:rPr>
              <a:t>sample ( bit ).</a:t>
            </a: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dirty="0">
                <a:latin typeface="+mj-lt"/>
              </a:rPr>
              <a:t>You can set an interrupt to fire only after a </a:t>
            </a:r>
            <a:r>
              <a:rPr lang="en-US" sz="1800" i="1" dirty="0">
                <a:latin typeface="+mj-lt"/>
              </a:rPr>
              <a:t>sequence </a:t>
            </a:r>
            <a:r>
              <a:rPr lang="en-US" sz="1800" dirty="0">
                <a:latin typeface="+mj-lt"/>
              </a:rPr>
              <a:t>(e.g. After SOC3 completes)</a:t>
            </a:r>
          </a:p>
          <a:p>
            <a:pPr marL="0" lvl="0" indent="0">
              <a:lnSpc>
                <a:spcPct val="100000"/>
              </a:lnSpc>
              <a:spcBef>
                <a:spcPts val="0"/>
              </a:spcBef>
              <a:buSzPts val="2000"/>
              <a:buNone/>
            </a:pPr>
            <a:endParaRPr lang="en-US" sz="1800" dirty="0">
              <a:latin typeface="+mj-lt"/>
            </a:endParaRPr>
          </a:p>
          <a:p>
            <a:pPr marL="0" lvl="0" indent="0">
              <a:lnSpc>
                <a:spcPct val="100000"/>
              </a:lnSpc>
              <a:spcBef>
                <a:spcPts val="0"/>
              </a:spcBef>
              <a:buSzPts val="2000"/>
              <a:buNone/>
            </a:pPr>
            <a:r>
              <a:rPr lang="en-US" sz="1800" b="1" dirty="0">
                <a:latin typeface="+mj-lt"/>
              </a:rPr>
              <a:t>Early vs Late Interrupts</a:t>
            </a:r>
            <a:r>
              <a:rPr lang="en-US" sz="1800" dirty="0">
                <a:latin typeface="+mj-lt"/>
              </a:rPr>
              <a:t>:</a:t>
            </a:r>
          </a:p>
          <a:p>
            <a:pPr marL="0" lvl="0" indent="0">
              <a:lnSpc>
                <a:spcPct val="100000"/>
              </a:lnSpc>
              <a:spcBef>
                <a:spcPts val="0"/>
              </a:spcBef>
              <a:buSzPts val="2000"/>
              <a:buNone/>
            </a:pPr>
            <a:endParaRPr lang="en-US" sz="1800" dirty="0">
              <a:latin typeface="+mj-lt"/>
            </a:endParaRPr>
          </a:p>
          <a:p>
            <a:pPr marL="285750" indent="-285750">
              <a:lnSpc>
                <a:spcPct val="100000"/>
              </a:lnSpc>
              <a:spcBef>
                <a:spcPts val="0"/>
              </a:spcBef>
              <a:buSzPts val="2000"/>
            </a:pPr>
            <a:r>
              <a:rPr lang="en-US" sz="1800" b="1" dirty="0">
                <a:latin typeface="+mj-lt"/>
              </a:rPr>
              <a:t>Early</a:t>
            </a:r>
            <a:r>
              <a:rPr lang="en-US" sz="1800" dirty="0">
                <a:latin typeface="+mj-lt"/>
              </a:rPr>
              <a:t>: First the interrupt at the end of acquisition </a:t>
            </a:r>
          </a:p>
          <a:p>
            <a:pPr marL="285750" indent="-285750">
              <a:lnSpc>
                <a:spcPct val="100000"/>
              </a:lnSpc>
              <a:spcBef>
                <a:spcPts val="0"/>
              </a:spcBef>
              <a:buSzPts val="2000"/>
            </a:pPr>
            <a:r>
              <a:rPr lang="en-US" sz="1800" b="1" dirty="0">
                <a:latin typeface="+mj-lt"/>
              </a:rPr>
              <a:t>Late</a:t>
            </a:r>
            <a:r>
              <a:rPr lang="en-US" sz="1800" dirty="0">
                <a:latin typeface="+mj-lt"/>
              </a:rPr>
              <a:t>: At the end of conversion</a:t>
            </a:r>
          </a:p>
        </p:txBody>
      </p:sp>
      <p:sp>
        <p:nvSpPr>
          <p:cNvPr id="119" name="Google Shape;119;p29">
            <a:extLst>
              <a:ext uri="{FF2B5EF4-FFF2-40B4-BE49-F238E27FC236}">
                <a16:creationId xmlns:a16="http://schemas.microsoft.com/office/drawing/2014/main" id="{363F89CD-DB3C-E410-2C37-B467453BFC0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5E14760-2C08-EE3B-4E79-D22FE640470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SOC – Interrupts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18E6CEA-9CFB-AB60-7240-479A591895C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5E986E8-03EE-B876-5E9C-57EFE434EBA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097A35F-3A4A-BA88-DF66-A910325AAFD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8E116B3-9C5F-CF51-B58A-F09433EDD0F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4BE85FF-540B-E130-6E81-B85576801A9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B5EBCBE-EBE3-9608-D97B-A78F269F568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88996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F705884-0621-310A-848E-6BA1B7FC10B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FC1B80D-3FD3-EEDD-838B-44D984EB87B6}"/>
              </a:ext>
            </a:extLst>
          </p:cNvPr>
          <p:cNvSpPr txBox="1">
            <a:spLocks noGrp="1"/>
          </p:cNvSpPr>
          <p:nvPr>
            <p:ph type="body" idx="1"/>
          </p:nvPr>
        </p:nvSpPr>
        <p:spPr>
          <a:xfrm>
            <a:off x="380108" y="1103487"/>
            <a:ext cx="11177401" cy="5305328"/>
          </a:xfrm>
          <a:prstGeom prst="rect">
            <a:avLst/>
          </a:prstGeom>
          <a:noFill/>
          <a:ln>
            <a:noFill/>
          </a:ln>
        </p:spPr>
        <p:txBody>
          <a:bodyPr spcFirstLastPara="1" wrap="square" lIns="91425" tIns="45700" rIns="91425" bIns="45700" anchor="ctr" anchorCtr="0">
            <a:noAutofit/>
          </a:bodyPr>
          <a:lstStyle/>
          <a:p>
            <a:pPr marL="114300" indent="0" algn="l">
              <a:buNone/>
            </a:pPr>
            <a:r>
              <a:rPr lang="en-US" sz="1400" dirty="0">
                <a:solidFill>
                  <a:srgbClr val="000000"/>
                </a:solidFill>
                <a:latin typeface="Consolas" panose="020B0609020204030204" pitchFamily="49" charset="0"/>
              </a:rPr>
              <a:t>AdcaRegs.</a:t>
            </a:r>
            <a:r>
              <a:rPr lang="en-US" sz="1400" dirty="0">
                <a:solidFill>
                  <a:srgbClr val="0000C0"/>
                </a:solidFill>
                <a:latin typeface="Consolas" panose="020B0609020204030204" pitchFamily="49" charset="0"/>
              </a:rPr>
              <a:t>ADCSOC5CTL</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CHSEL</a:t>
            </a:r>
            <a:r>
              <a:rPr lang="en-US" sz="1400" dirty="0">
                <a:solidFill>
                  <a:srgbClr val="000000"/>
                </a:solidFill>
                <a:latin typeface="Consolas" panose="020B0609020204030204" pitchFamily="49" charset="0"/>
              </a:rPr>
              <a:t> = 1;    </a:t>
            </a:r>
            <a:r>
              <a:rPr lang="en-US" sz="1400" dirty="0">
                <a:solidFill>
                  <a:srgbClr val="3F7F5F"/>
                </a:solidFill>
                <a:latin typeface="Consolas" panose="020B0609020204030204" pitchFamily="49" charset="0"/>
              </a:rPr>
              <a:t>//SOC5 will convert ADCINA1</a:t>
            </a:r>
          </a:p>
          <a:p>
            <a:pPr marL="114300" indent="0" algn="l">
              <a:buNone/>
            </a:pPr>
            <a:r>
              <a:rPr lang="en-US" sz="1400" dirty="0">
                <a:solidFill>
                  <a:srgbClr val="000000"/>
                </a:solidFill>
                <a:latin typeface="Consolas" panose="020B0609020204030204" pitchFamily="49" charset="0"/>
              </a:rPr>
              <a:t>AdcaRegs.</a:t>
            </a:r>
            <a:r>
              <a:rPr lang="en-US" sz="1400" dirty="0">
                <a:solidFill>
                  <a:srgbClr val="0000C0"/>
                </a:solidFill>
                <a:latin typeface="Consolas" panose="020B0609020204030204" pitchFamily="49" charset="0"/>
              </a:rPr>
              <a:t>ADCSOC5CTL</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ACQPS</a:t>
            </a:r>
            <a:r>
              <a:rPr lang="en-US" sz="1400" dirty="0">
                <a:solidFill>
                  <a:srgbClr val="000000"/>
                </a:solidFill>
                <a:latin typeface="Consolas" panose="020B0609020204030204" pitchFamily="49" charset="0"/>
              </a:rPr>
              <a:t> = 19;   </a:t>
            </a:r>
            <a:r>
              <a:rPr lang="en-US" sz="1400" dirty="0">
                <a:solidFill>
                  <a:srgbClr val="3F7F5F"/>
                </a:solidFill>
                <a:latin typeface="Consolas" panose="020B0609020204030204" pitchFamily="49" charset="0"/>
              </a:rPr>
              <a:t>//SOC5 will use sample duration of 20 SYSCLK cycles</a:t>
            </a:r>
          </a:p>
          <a:p>
            <a:pPr marL="114300" indent="0" algn="l">
              <a:buNone/>
            </a:pPr>
            <a:r>
              <a:rPr lang="en-US" sz="1400" dirty="0">
                <a:solidFill>
                  <a:srgbClr val="000000"/>
                </a:solidFill>
                <a:latin typeface="Consolas" panose="020B0609020204030204" pitchFamily="49" charset="0"/>
              </a:rPr>
              <a:t>AdcaRegs.</a:t>
            </a:r>
            <a:r>
              <a:rPr lang="en-US" sz="1400" dirty="0">
                <a:solidFill>
                  <a:srgbClr val="0000C0"/>
                </a:solidFill>
                <a:latin typeface="Consolas" panose="020B0609020204030204" pitchFamily="49" charset="0"/>
              </a:rPr>
              <a:t>ADCSOC5CTL</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TRIGSEL</a:t>
            </a:r>
            <a:r>
              <a:rPr lang="en-US" sz="1400" dirty="0">
                <a:solidFill>
                  <a:srgbClr val="000000"/>
                </a:solidFill>
                <a:latin typeface="Consolas" panose="020B0609020204030204" pitchFamily="49" charset="0"/>
              </a:rPr>
              <a:t> = 10; </a:t>
            </a:r>
            <a:r>
              <a:rPr lang="en-US" sz="1400" dirty="0">
                <a:solidFill>
                  <a:srgbClr val="3F7F5F"/>
                </a:solidFill>
                <a:latin typeface="Consolas" panose="020B0609020204030204" pitchFamily="49" charset="0"/>
              </a:rPr>
              <a:t>//SOC5 will begin conversion on ePWM3 SOCB</a:t>
            </a:r>
            <a:endParaRPr lang="en-US" sz="1400" dirty="0">
              <a:latin typeface="+mj-lt"/>
            </a:endParaRPr>
          </a:p>
        </p:txBody>
      </p:sp>
      <p:sp>
        <p:nvSpPr>
          <p:cNvPr id="119" name="Google Shape;119;p29">
            <a:extLst>
              <a:ext uri="{FF2B5EF4-FFF2-40B4-BE49-F238E27FC236}">
                <a16:creationId xmlns:a16="http://schemas.microsoft.com/office/drawing/2014/main" id="{4EABA1FD-D6AE-ABEA-1E2D-94B7C8710DE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5CECF82-D855-6A8D-EBD4-637FA048C1C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ADC – Single Conversion from </a:t>
            </a:r>
            <a:r>
              <a:rPr lang="en-US" sz="2400" b="0" i="0" u="none" strike="noStrike" cap="none" dirty="0" err="1">
                <a:solidFill>
                  <a:schemeClr val="lt1"/>
                </a:solidFill>
                <a:latin typeface="Atkinson Hyperlegible Next"/>
                <a:ea typeface="Arial"/>
                <a:cs typeface="Arial"/>
                <a:sym typeface="Arial"/>
              </a:rPr>
              <a:t>ePWM</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70373B8-9CEB-E8BA-126F-C9667E55CC8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646FBEF-F69E-A3A1-5CDA-66230B315FE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64B92AB-FEF9-097C-EF9E-1FA4926F335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AD96AC1-E742-CA1E-77C6-CCC6441449C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6CC87B2-6161-82BC-E6BB-65FAB9C18A9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6DBA5E2-40C5-538F-B85A-2B6CA09095A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4799531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4BC084-EA3B-405F-CF0B-6A237766F5C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CBD0FE4-E5CB-7604-8E08-42EBBE8D328E}"/>
              </a:ext>
            </a:extLst>
          </p:cNvPr>
          <p:cNvSpPr txBox="1">
            <a:spLocks noGrp="1"/>
          </p:cNvSpPr>
          <p:nvPr>
            <p:ph type="body" idx="1"/>
          </p:nvPr>
        </p:nvSpPr>
        <p:spPr>
          <a:xfrm>
            <a:off x="380108" y="1103487"/>
            <a:ext cx="11177401" cy="5305328"/>
          </a:xfrm>
          <a:prstGeom prst="rect">
            <a:avLst/>
          </a:prstGeom>
          <a:noFill/>
          <a:ln>
            <a:noFill/>
          </a:ln>
        </p:spPr>
        <p:txBody>
          <a:bodyPr spcFirstLastPara="1" wrap="square" lIns="91425" tIns="45700" rIns="91425" bIns="45700" anchor="t" anchorCtr="0">
            <a:noAutofit/>
          </a:bodyPr>
          <a:lstStyle/>
          <a:p>
            <a:pPr marL="114300" indent="0">
              <a:buNone/>
            </a:pPr>
            <a:r>
              <a:rPr lang="en-US" sz="1400" dirty="0">
                <a:solidFill>
                  <a:srgbClr val="000000"/>
                </a:solidFill>
                <a:latin typeface="Consolas" panose="020B0609020204030204" pitchFamily="49" charset="0"/>
              </a:rPr>
              <a:t>EALLOW;                                    </a:t>
            </a:r>
            <a:r>
              <a:rPr lang="en-US" sz="1400" dirty="0">
                <a:solidFill>
                  <a:srgbClr val="3F7F5F"/>
                </a:solidFill>
                <a:latin typeface="Consolas" panose="020B0609020204030204" pitchFamily="49" charset="0"/>
              </a:rPr>
              <a:t>//write configurations for all ADCs ADCB</a:t>
            </a:r>
            <a:endParaRPr lang="en-US" sz="1400" dirty="0">
              <a:solidFill>
                <a:srgbClr val="000000"/>
              </a:solidFill>
              <a:latin typeface="Consolas" panose="020B0609020204030204" pitchFamily="49" charset="0"/>
            </a:endParaRPr>
          </a:p>
          <a:p>
            <a:pPr marL="114300" indent="0" algn="l">
              <a:buNone/>
            </a:pPr>
            <a:r>
              <a:rPr lang="en-US" sz="1400" dirty="0">
                <a:solidFill>
                  <a:srgbClr val="000000"/>
                </a:solidFill>
                <a:latin typeface="Consolas" panose="020B0609020204030204" pitchFamily="49" charset="0"/>
              </a:rPr>
              <a:t>AdcbRegs.</a:t>
            </a:r>
            <a:r>
              <a:rPr lang="en-US" sz="1400" dirty="0">
                <a:solidFill>
                  <a:srgbClr val="0000C0"/>
                </a:solidFill>
                <a:latin typeface="Consolas" panose="020B0609020204030204" pitchFamily="49" charset="0"/>
              </a:rPr>
              <a:t>ADCCTL2</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PRESCALE</a:t>
            </a:r>
            <a:r>
              <a:rPr lang="en-US" sz="1400" dirty="0">
                <a:solidFill>
                  <a:srgbClr val="000000"/>
                </a:solidFill>
                <a:latin typeface="Consolas" panose="020B0609020204030204" pitchFamily="49" charset="0"/>
              </a:rPr>
              <a:t> = 6;         </a:t>
            </a:r>
            <a:r>
              <a:rPr lang="en-US" sz="1400" dirty="0">
                <a:solidFill>
                  <a:srgbClr val="3F7F5F"/>
                </a:solidFill>
                <a:latin typeface="Consolas" panose="020B0609020204030204" pitchFamily="49" charset="0"/>
              </a:rPr>
              <a:t>//set ADCCLK divider to /4</a:t>
            </a:r>
          </a:p>
          <a:p>
            <a:pPr marL="114300" indent="0" algn="l">
              <a:buNone/>
            </a:pPr>
            <a:r>
              <a:rPr lang="en-US" sz="1400" dirty="0" err="1">
                <a:solidFill>
                  <a:srgbClr val="642880"/>
                </a:solidFill>
                <a:latin typeface="Consolas" panose="020B0609020204030204" pitchFamily="49" charset="0"/>
              </a:rPr>
              <a:t>AdcSetMode</a:t>
            </a:r>
            <a:r>
              <a:rPr lang="en-US" sz="1400" dirty="0">
                <a:solidFill>
                  <a:srgbClr val="000000"/>
                </a:solidFill>
                <a:latin typeface="Consolas" panose="020B0609020204030204" pitchFamily="49" charset="0"/>
              </a:rPr>
              <a:t>(ADC_ADCB, </a:t>
            </a:r>
            <a:r>
              <a:rPr lang="en-US" sz="1400" i="1" dirty="0">
                <a:solidFill>
                  <a:srgbClr val="0000C0"/>
                </a:solidFill>
                <a:latin typeface="Consolas" panose="020B0609020204030204" pitchFamily="49" charset="0"/>
              </a:rPr>
              <a:t>ADC_RESOLUTION_12BIT</a:t>
            </a:r>
            <a:r>
              <a:rPr lang="en-US" sz="1400" i="1" dirty="0">
                <a:solidFill>
                  <a:srgbClr val="000000"/>
                </a:solidFill>
                <a:latin typeface="Consolas" panose="020B0609020204030204" pitchFamily="49" charset="0"/>
              </a:rPr>
              <a:t>, ADC_SIGNALMODE_SINGLE); </a:t>
            </a:r>
            <a:r>
              <a:rPr lang="en-US" sz="1400" i="1" dirty="0">
                <a:solidFill>
                  <a:srgbClr val="3F7F5F"/>
                </a:solidFill>
                <a:latin typeface="Consolas" panose="020B0609020204030204" pitchFamily="49" charset="0"/>
              </a:rPr>
              <a:t>//read calibration settings</a:t>
            </a:r>
          </a:p>
          <a:p>
            <a:pPr marL="114300" indent="0" algn="l">
              <a:buNone/>
            </a:pPr>
            <a:r>
              <a:rPr lang="en-US" sz="1400" dirty="0">
                <a:solidFill>
                  <a:srgbClr val="3F7F5F"/>
                </a:solidFill>
                <a:latin typeface="Consolas" panose="020B0609020204030204" pitchFamily="49" charset="0"/>
              </a:rPr>
              <a:t>//Set pulse positions to late</a:t>
            </a:r>
          </a:p>
          <a:p>
            <a:pPr marL="114300" indent="0" algn="l">
              <a:buNone/>
            </a:pPr>
            <a:r>
              <a:rPr lang="en-US" sz="1400" dirty="0">
                <a:solidFill>
                  <a:srgbClr val="000000"/>
                </a:solidFill>
                <a:latin typeface="Consolas" panose="020B0609020204030204" pitchFamily="49" charset="0"/>
              </a:rPr>
              <a:t>AdcbRegs.</a:t>
            </a:r>
            <a:r>
              <a:rPr lang="en-US" sz="1400" dirty="0">
                <a:solidFill>
                  <a:srgbClr val="0000C0"/>
                </a:solidFill>
                <a:latin typeface="Consolas" panose="020B0609020204030204" pitchFamily="49" charset="0"/>
              </a:rPr>
              <a:t>ADCCTL1</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INTPULSEPOS</a:t>
            </a:r>
            <a:r>
              <a:rPr lang="en-US" sz="1400" dirty="0">
                <a:solidFill>
                  <a:srgbClr val="000000"/>
                </a:solidFill>
                <a:latin typeface="Consolas" panose="020B0609020204030204" pitchFamily="49" charset="0"/>
              </a:rPr>
              <a:t> = 1;      </a:t>
            </a:r>
            <a:r>
              <a:rPr lang="en-US" sz="1400" dirty="0">
                <a:solidFill>
                  <a:srgbClr val="3F7F5F"/>
                </a:solidFill>
                <a:latin typeface="Consolas" panose="020B0609020204030204" pitchFamily="49" charset="0"/>
              </a:rPr>
              <a:t>//power up the ADCs</a:t>
            </a:r>
          </a:p>
          <a:p>
            <a:pPr marL="114300" indent="0" algn="l">
              <a:buNone/>
            </a:pPr>
            <a:r>
              <a:rPr lang="en-US" sz="1400" dirty="0">
                <a:solidFill>
                  <a:srgbClr val="000000"/>
                </a:solidFill>
                <a:latin typeface="Consolas" panose="020B0609020204030204" pitchFamily="49" charset="0"/>
              </a:rPr>
              <a:t>AdcbRegs.</a:t>
            </a:r>
            <a:r>
              <a:rPr lang="en-US" sz="1400" dirty="0">
                <a:solidFill>
                  <a:srgbClr val="0000C0"/>
                </a:solidFill>
                <a:latin typeface="Consolas" panose="020B0609020204030204" pitchFamily="49" charset="0"/>
              </a:rPr>
              <a:t>ADCCTL1</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ADCPWDNZ</a:t>
            </a:r>
            <a:r>
              <a:rPr lang="en-US" sz="1400" dirty="0">
                <a:solidFill>
                  <a:srgbClr val="000000"/>
                </a:solidFill>
                <a:latin typeface="Consolas" panose="020B0609020204030204" pitchFamily="49" charset="0"/>
              </a:rPr>
              <a:t> = 1;</a:t>
            </a:r>
            <a:endParaRPr lang="en-US" sz="1400" dirty="0">
              <a:solidFill>
                <a:srgbClr val="3F7F5F"/>
              </a:solidFill>
              <a:latin typeface="Consolas" panose="020B0609020204030204" pitchFamily="49" charset="0"/>
            </a:endParaRPr>
          </a:p>
          <a:p>
            <a:pPr marL="114300" indent="0">
              <a:buNone/>
            </a:pPr>
            <a:r>
              <a:rPr lang="en-US" sz="1400" dirty="0">
                <a:solidFill>
                  <a:srgbClr val="000000"/>
                </a:solidFill>
                <a:latin typeface="Consolas" panose="020B0609020204030204" pitchFamily="49" charset="0"/>
              </a:rPr>
              <a:t>DELAY_US(1000);                            </a:t>
            </a:r>
            <a:r>
              <a:rPr lang="en-US" sz="1400" dirty="0">
                <a:solidFill>
                  <a:srgbClr val="3F7F5F"/>
                </a:solidFill>
                <a:latin typeface="Consolas" panose="020B0609020204030204" pitchFamily="49" charset="0"/>
              </a:rPr>
              <a:t>//delay for 1ms to allow ADC time to power up</a:t>
            </a:r>
            <a:endParaRPr lang="en-US" sz="1400" dirty="0">
              <a:solidFill>
                <a:srgbClr val="000000"/>
              </a:solidFill>
              <a:latin typeface="Consolas" panose="020B0609020204030204" pitchFamily="49" charset="0"/>
            </a:endParaRPr>
          </a:p>
          <a:p>
            <a:pPr marL="114300" indent="0">
              <a:buNone/>
            </a:pPr>
            <a:endParaRPr lang="en-US" sz="1400" dirty="0">
              <a:solidFill>
                <a:srgbClr val="3F7F5F"/>
              </a:solidFill>
              <a:latin typeface="Consolas" panose="020B0609020204030204" pitchFamily="49" charset="0"/>
            </a:endParaRPr>
          </a:p>
          <a:p>
            <a:pPr marL="114300" indent="0" algn="l">
              <a:buNone/>
            </a:pPr>
            <a:r>
              <a:rPr lang="en-US" sz="1400" dirty="0">
                <a:solidFill>
                  <a:srgbClr val="000000"/>
                </a:solidFill>
                <a:latin typeface="Consolas" panose="020B0609020204030204" pitchFamily="49" charset="0"/>
              </a:rPr>
              <a:t>AdcbRegs.</a:t>
            </a:r>
            <a:r>
              <a:rPr lang="en-US" sz="1400" dirty="0">
                <a:solidFill>
                  <a:srgbClr val="0000C0"/>
                </a:solidFill>
                <a:latin typeface="Consolas" panose="020B0609020204030204" pitchFamily="49" charset="0"/>
              </a:rPr>
              <a:t>ADCSOC0CTL</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CHSEL</a:t>
            </a:r>
            <a:r>
              <a:rPr lang="en-US" sz="1400" dirty="0">
                <a:solidFill>
                  <a:srgbClr val="000000"/>
                </a:solidFill>
                <a:latin typeface="Consolas" panose="020B0609020204030204" pitchFamily="49" charset="0"/>
              </a:rPr>
              <a:t> = 4;         </a:t>
            </a:r>
            <a:r>
              <a:rPr lang="en-US" sz="1400" dirty="0">
                <a:solidFill>
                  <a:srgbClr val="3F7F5F"/>
                </a:solidFill>
                <a:latin typeface="Consolas" panose="020B0609020204030204" pitchFamily="49" charset="0"/>
              </a:rPr>
              <a:t>//SOC0 will convert Channel you choose Does not have to be B0</a:t>
            </a:r>
          </a:p>
          <a:p>
            <a:pPr marL="114300" indent="0" algn="l">
              <a:buNone/>
            </a:pPr>
            <a:r>
              <a:rPr lang="en-US" sz="1400" dirty="0">
                <a:solidFill>
                  <a:srgbClr val="000000"/>
                </a:solidFill>
                <a:latin typeface="Consolas" panose="020B0609020204030204" pitchFamily="49" charset="0"/>
              </a:rPr>
              <a:t>AdcbRegs.</a:t>
            </a:r>
            <a:r>
              <a:rPr lang="en-US" sz="1400" dirty="0">
                <a:solidFill>
                  <a:srgbClr val="0000C0"/>
                </a:solidFill>
                <a:latin typeface="Consolas" panose="020B0609020204030204" pitchFamily="49" charset="0"/>
              </a:rPr>
              <a:t>ADCSOC0CTL</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ACQPS</a:t>
            </a:r>
            <a:r>
              <a:rPr lang="en-US" sz="1400" dirty="0">
                <a:solidFill>
                  <a:srgbClr val="000000"/>
                </a:solidFill>
                <a:latin typeface="Consolas" panose="020B0609020204030204" pitchFamily="49" charset="0"/>
              </a:rPr>
              <a:t> = 99;        </a:t>
            </a:r>
            <a:r>
              <a:rPr lang="en-US" sz="1400" dirty="0">
                <a:solidFill>
                  <a:srgbClr val="3F7F5F"/>
                </a:solidFill>
                <a:latin typeface="Consolas" panose="020B0609020204030204" pitchFamily="49" charset="0"/>
              </a:rPr>
              <a:t>//sample window is </a:t>
            </a:r>
            <a:r>
              <a:rPr lang="en-US" sz="1400" dirty="0" err="1">
                <a:solidFill>
                  <a:srgbClr val="3F7F5F"/>
                </a:solidFill>
                <a:latin typeface="Consolas" panose="020B0609020204030204" pitchFamily="49" charset="0"/>
              </a:rPr>
              <a:t>acqps</a:t>
            </a:r>
            <a:r>
              <a:rPr lang="en-US" sz="1400" dirty="0">
                <a:solidFill>
                  <a:srgbClr val="3F7F5F"/>
                </a:solidFill>
                <a:latin typeface="Consolas" panose="020B0609020204030204" pitchFamily="49" charset="0"/>
              </a:rPr>
              <a:t> + 1 SYSCLK cycles = 500ns</a:t>
            </a:r>
          </a:p>
          <a:p>
            <a:pPr marL="114300" indent="0" algn="l">
              <a:buNone/>
            </a:pPr>
            <a:r>
              <a:rPr lang="en-US" sz="1400" dirty="0">
                <a:solidFill>
                  <a:srgbClr val="000000"/>
                </a:solidFill>
                <a:latin typeface="Consolas" panose="020B0609020204030204" pitchFamily="49" charset="0"/>
              </a:rPr>
              <a:t>AdcbRegs.</a:t>
            </a:r>
            <a:r>
              <a:rPr lang="en-US" sz="1400" dirty="0">
                <a:solidFill>
                  <a:srgbClr val="0000C0"/>
                </a:solidFill>
                <a:latin typeface="Consolas" panose="020B0609020204030204" pitchFamily="49" charset="0"/>
              </a:rPr>
              <a:t>ADCSOC0CTL</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TRIGSEL</a:t>
            </a:r>
            <a:r>
              <a:rPr lang="en-US" sz="1400" dirty="0">
                <a:solidFill>
                  <a:srgbClr val="000000"/>
                </a:solidFill>
                <a:latin typeface="Consolas" panose="020B0609020204030204" pitchFamily="49" charset="0"/>
              </a:rPr>
              <a:t> = 0x11;    </a:t>
            </a:r>
            <a:r>
              <a:rPr lang="en-US" sz="1400" dirty="0">
                <a:solidFill>
                  <a:srgbClr val="3F7F5F"/>
                </a:solidFill>
                <a:latin typeface="Consolas" panose="020B0609020204030204" pitchFamily="49" charset="0"/>
              </a:rPr>
              <a:t>// EPWM7 ADCSOCA or another trigger you choose will trigger SOC0</a:t>
            </a:r>
          </a:p>
          <a:p>
            <a:pPr marL="114300" indent="0" algn="l">
              <a:buNone/>
            </a:pPr>
            <a:r>
              <a:rPr lang="en-US" sz="1400" dirty="0">
                <a:solidFill>
                  <a:srgbClr val="000000"/>
                </a:solidFill>
                <a:latin typeface="Consolas" panose="020B0609020204030204" pitchFamily="49" charset="0"/>
              </a:rPr>
              <a:t>AdcbRegs.</a:t>
            </a:r>
            <a:r>
              <a:rPr lang="en-US" sz="1400" dirty="0">
                <a:solidFill>
                  <a:srgbClr val="0000C0"/>
                </a:solidFill>
                <a:latin typeface="Consolas" panose="020B0609020204030204" pitchFamily="49" charset="0"/>
              </a:rPr>
              <a:t>ADCINTSEL1N2</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INT1SEL</a:t>
            </a:r>
            <a:r>
              <a:rPr lang="en-US" sz="1400" dirty="0">
                <a:solidFill>
                  <a:srgbClr val="000000"/>
                </a:solidFill>
                <a:latin typeface="Consolas" panose="020B0609020204030204" pitchFamily="49" charset="0"/>
              </a:rPr>
              <a:t> = 0;     </a:t>
            </a:r>
            <a:r>
              <a:rPr lang="en-US" sz="1400" dirty="0">
                <a:solidFill>
                  <a:srgbClr val="3F7F5F"/>
                </a:solidFill>
                <a:latin typeface="Consolas" panose="020B0609020204030204" pitchFamily="49" charset="0"/>
              </a:rPr>
              <a:t>//set to last SOC that is converted and it will set INT1 flag ADCB1</a:t>
            </a:r>
          </a:p>
          <a:p>
            <a:pPr marL="114300" indent="0" algn="l">
              <a:buNone/>
            </a:pPr>
            <a:r>
              <a:rPr lang="en-US" sz="1400" dirty="0">
                <a:solidFill>
                  <a:srgbClr val="000000"/>
                </a:solidFill>
                <a:latin typeface="Consolas" panose="020B0609020204030204" pitchFamily="49" charset="0"/>
              </a:rPr>
              <a:t>AdcbRegs.</a:t>
            </a:r>
            <a:r>
              <a:rPr lang="en-US" sz="1400" dirty="0">
                <a:solidFill>
                  <a:srgbClr val="0000C0"/>
                </a:solidFill>
                <a:latin typeface="Consolas" panose="020B0609020204030204" pitchFamily="49" charset="0"/>
              </a:rPr>
              <a:t>ADCINTSEL1N2</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INT1E</a:t>
            </a:r>
            <a:r>
              <a:rPr lang="en-US" sz="1400" dirty="0">
                <a:solidFill>
                  <a:srgbClr val="000000"/>
                </a:solidFill>
                <a:latin typeface="Consolas" panose="020B0609020204030204" pitchFamily="49" charset="0"/>
              </a:rPr>
              <a:t> = 1;       </a:t>
            </a:r>
            <a:r>
              <a:rPr lang="en-US" sz="1400" dirty="0">
                <a:solidFill>
                  <a:srgbClr val="3F7F5F"/>
                </a:solidFill>
                <a:latin typeface="Consolas" panose="020B0609020204030204" pitchFamily="49" charset="0"/>
              </a:rPr>
              <a:t>//enable INT1 flag, originally = 1 (need to set to 1 for non-DMA)</a:t>
            </a:r>
          </a:p>
          <a:p>
            <a:pPr marL="114300" indent="0" algn="l">
              <a:buNone/>
            </a:pPr>
            <a:r>
              <a:rPr lang="en-US" sz="1400" dirty="0">
                <a:solidFill>
                  <a:srgbClr val="000000"/>
                </a:solidFill>
                <a:latin typeface="Consolas" panose="020B0609020204030204" pitchFamily="49" charset="0"/>
              </a:rPr>
              <a:t>AdcbRegs.</a:t>
            </a:r>
            <a:r>
              <a:rPr lang="en-US" sz="1400" dirty="0">
                <a:solidFill>
                  <a:srgbClr val="0000C0"/>
                </a:solidFill>
                <a:latin typeface="Consolas" panose="020B0609020204030204" pitchFamily="49" charset="0"/>
              </a:rPr>
              <a:t>ADCINTFLGCLR</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ADCINT1</a:t>
            </a:r>
            <a:r>
              <a:rPr lang="en-US" sz="1400" dirty="0">
                <a:solidFill>
                  <a:srgbClr val="000000"/>
                </a:solidFill>
                <a:latin typeface="Consolas" panose="020B0609020204030204" pitchFamily="49" charset="0"/>
              </a:rPr>
              <a:t> = 1;     </a:t>
            </a:r>
            <a:r>
              <a:rPr lang="en-US" sz="1400" dirty="0">
                <a:solidFill>
                  <a:srgbClr val="3F7F5F"/>
                </a:solidFill>
                <a:latin typeface="Consolas" panose="020B0609020204030204" pitchFamily="49" charset="0"/>
              </a:rPr>
              <a:t>//make sure INT1 flag is cleared</a:t>
            </a:r>
          </a:p>
          <a:p>
            <a:pPr marL="114300" indent="0" algn="l">
              <a:buNone/>
            </a:pPr>
            <a:r>
              <a:rPr lang="en-US" sz="1400" dirty="0">
                <a:solidFill>
                  <a:srgbClr val="000000"/>
                </a:solidFill>
                <a:latin typeface="Consolas" panose="020B0609020204030204" pitchFamily="49" charset="0"/>
              </a:rPr>
              <a:t>AdcbRegs.</a:t>
            </a:r>
            <a:r>
              <a:rPr lang="en-US" sz="1400" dirty="0">
                <a:solidFill>
                  <a:srgbClr val="0000C0"/>
                </a:solidFill>
                <a:latin typeface="Consolas" panose="020B0609020204030204" pitchFamily="49" charset="0"/>
              </a:rPr>
              <a:t>ADCINTSEL1N2</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bit</a:t>
            </a:r>
            <a:r>
              <a:rPr lang="en-US" sz="1400" dirty="0">
                <a:solidFill>
                  <a:srgbClr val="000000"/>
                </a:solidFill>
                <a:latin typeface="Consolas" panose="020B0609020204030204" pitchFamily="49" charset="0"/>
              </a:rPr>
              <a:t>.</a:t>
            </a:r>
            <a:r>
              <a:rPr lang="en-US" sz="1400" dirty="0">
                <a:solidFill>
                  <a:srgbClr val="0000C0"/>
                </a:solidFill>
                <a:latin typeface="Consolas" panose="020B0609020204030204" pitchFamily="49" charset="0"/>
              </a:rPr>
              <a:t>INT1CONT</a:t>
            </a:r>
            <a:r>
              <a:rPr lang="en-US" sz="1400" dirty="0">
                <a:solidFill>
                  <a:srgbClr val="000000"/>
                </a:solidFill>
                <a:latin typeface="Consolas" panose="020B0609020204030204" pitchFamily="49" charset="0"/>
              </a:rPr>
              <a:t> = 1;    </a:t>
            </a:r>
            <a:r>
              <a:rPr lang="en-US" sz="1400" dirty="0">
                <a:solidFill>
                  <a:srgbClr val="3F7F5F"/>
                </a:solidFill>
                <a:latin typeface="Consolas" panose="020B0609020204030204" pitchFamily="49" charset="0"/>
              </a:rPr>
              <a:t>// Interrupt pulses regardless of flag state</a:t>
            </a:r>
          </a:p>
          <a:p>
            <a:pPr marL="114300" indent="0" algn="l">
              <a:buNone/>
            </a:pPr>
            <a:r>
              <a:rPr lang="en-US" sz="1400" dirty="0">
                <a:solidFill>
                  <a:srgbClr val="000000"/>
                </a:solidFill>
                <a:latin typeface="Consolas" panose="020B0609020204030204" pitchFamily="49" charset="0"/>
              </a:rPr>
              <a:t>EDIS;</a:t>
            </a:r>
            <a:endParaRPr lang="en-US" sz="1400" dirty="0">
              <a:latin typeface="+mj-lt"/>
            </a:endParaRPr>
          </a:p>
        </p:txBody>
      </p:sp>
      <p:sp>
        <p:nvSpPr>
          <p:cNvPr id="119" name="Google Shape;119;p29">
            <a:extLst>
              <a:ext uri="{FF2B5EF4-FFF2-40B4-BE49-F238E27FC236}">
                <a16:creationId xmlns:a16="http://schemas.microsoft.com/office/drawing/2014/main" id="{E40917B3-DC40-97B8-022C-DE895B0BE6A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43E713D-BD7E-485D-D76C-2E07F8B9996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ADC – FFT Code (much more complicated example)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02748D5-BFA1-A7D4-7678-E8903B68D1B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751D587-303D-3503-F384-28DC87F1334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9F51B78-5055-4923-C0F3-E2A7D564BB2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F0BA4DC-14CA-1194-7A7C-9531E7166B7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765D45E-63A2-964C-3AB5-B1995639208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B7431A2-21CA-D59F-1F7C-2F221CB12B2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7793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 (2/2)</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 5</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532</TotalTime>
  <Words>1987</Words>
  <Application>Microsoft Office PowerPoint</Application>
  <PresentationFormat>Widescreen</PresentationFormat>
  <Paragraphs>277</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116</cp:revision>
  <dcterms:created xsi:type="dcterms:W3CDTF">2019-01-14T22:06:33Z</dcterms:created>
  <dcterms:modified xsi:type="dcterms:W3CDTF">2026-02-08T03:10:42Z</dcterms:modified>
  <dc:title>SE 423 Lecture 5: DAC &amp; ADC</dc:title>
</cp:coreProperties>
</file>