
<file path=[Content_Types].xml><?xml version="1.0" encoding="utf-8"?>
<Types xmlns="http://schemas.openxmlformats.org/package/2006/content-types"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310" r:id="rId3"/>
    <p:sldId id="311" r:id="rId4"/>
    <p:sldId id="259" r:id="rId5"/>
    <p:sldId id="258" r:id="rId6"/>
    <p:sldId id="312" r:id="rId7"/>
    <p:sldId id="313" r:id="rId8"/>
    <p:sldId id="314" r:id="rId9"/>
    <p:sldId id="316" r:id="rId10"/>
    <p:sldId id="317" r:id="rId11"/>
    <p:sldId id="318" r:id="rId12"/>
    <p:sldId id="319" r:id="rId13"/>
    <p:sldId id="320" r:id="rId14"/>
    <p:sldId id="321" r:id="rId15"/>
    <p:sldId id="322" r:id="rId16"/>
    <p:sldId id="323" r:id="rId17"/>
    <p:sldId id="324" r:id="rId18"/>
    <p:sldId id="327" r:id="rId19"/>
    <p:sldId id="334" r:id="rId20"/>
    <p:sldId id="335" r:id="rId21"/>
    <p:sldId id="328" r:id="rId22"/>
    <p:sldId id="329" r:id="rId23"/>
    <p:sldId id="330" r:id="rId24"/>
    <p:sldId id="331" r:id="rId25"/>
    <p:sldId id="332" r:id="rId26"/>
    <p:sldId id="333" r:id="rId27"/>
    <p:sldId id="325" r:id="rId28"/>
    <p:sldId id="326" r:id="rId29"/>
    <p:sldId id="271" r:id="rId30"/>
    <p:sldId id="270" r:id="rId3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3" roundtripDataSignature="AMtx7mjKkk5wOoQj6sDPPETbbKgHU96D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9933" autoAdjust="0"/>
  </p:normalViewPr>
  <p:slideViewPr>
    <p:cSldViewPr snapToGrid="0">
      <p:cViewPr varScale="1">
        <p:scale>
          <a:sx n="127" d="100"/>
          <a:sy n="127" d="100"/>
        </p:scale>
        <p:origin x="840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11560CD-FFDE-70C6-6183-A453F3E98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57E4E91-ED9F-DE16-BEB6-F07455961A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63A7F12-DA54-6672-271A-7F884E56D7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999434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6BB021B-4C2E-58B0-7B17-0FB83D960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0C0472AC-2E57-40C3-3F46-8CE40D413A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DA0F0361-466B-375A-18E7-2198E1CD8C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541081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EAFA202-7A7B-7DD0-F218-5A8589053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A2D013F-453D-57A9-383A-C45AA77FDF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8385503-D8E0-89D2-7BC7-02CC7C9FAE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462029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0E32622-5A88-89D8-C8F1-7EEF6ADC8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AA0EC07-2446-17ED-D674-CD7E2E62DD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464E5B4-5024-AD55-0C86-BCBB1CC6B1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807455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A5D7C26-16C5-F3CB-2617-294E58539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8D89B72-D17B-2C54-3234-15FFC9BAC1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673B166-BDFB-6D40-2A07-200FB4CB98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6573675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24BFE36-921A-787F-36A2-E5783E2A5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268DE94-6B6E-E146-F5A8-D8F2298871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117441D0-9AE7-FA0B-2840-D46B614709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6985036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B33667E-D22D-A9E5-5051-DCDF762F5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A42024C-4201-CF5A-3061-0A214F0B9F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14AF33B-6B77-F85E-C343-12409F6259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972558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0CEE4E0-E729-ADCB-DDF5-CF16331BD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3BF918E-F6BC-6FB8-C735-34FA1A2E96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BB99FF6-DFB0-09DA-4895-3A69E86D8E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62570403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91907B6-BAF1-014B-5BDE-3007A3B13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82685E68-CB7E-1651-E0C0-BDAE3C251C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4A1F2A62-D603-2C65-28B5-08B095EC24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2405546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75F944E-35B0-F324-E84E-524C252AC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0582620-4B30-B709-7443-7C28D7C1A2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6FEA4B9-222A-4C2E-D383-480192C0C6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534225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E42DDEC-8C1A-99AC-C870-4662B24F5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922DC48-3593-D2CD-E29E-B7310BE485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FDBD370-811B-562D-7E96-93332CCBC2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4471309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033BCE8-44A6-F291-788A-BF29B3D37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88889E3-26B5-DA42-3725-F9DCC72129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6879233-1484-B707-7EEA-C6515BA1CF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7462085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2CF778B-8B57-4CCA-B03B-F5D564380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DA25426-4750-2330-E310-479A359BEB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306564B-3C55-FF60-73D0-4D2F844B8C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68522534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A44B34A-1487-CD1A-D5B4-616580CD0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5033BC6-BDC4-ED71-AF22-4CD8F8EC09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3B2BC01-0B52-2B55-B3F5-F0DA8E2278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8187621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C6D3CE3-3C2E-3309-D987-BED8F45B7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C1049AD-EFFF-0F28-10EB-4E85FD5B6D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A4F0E05-AB3F-5CB6-3412-06B730B0B9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1707449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B27C2BF-D0C7-CAD0-EC8F-4B3D5F9B6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9CB5EC1-80FA-6724-B7D8-4A8BDF9C5E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A614309-B54A-722D-059E-1F403E2F46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0292892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F69B7B7-52DC-D2DA-F968-1B5BAD1BB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BD5E3A4-78A6-98A6-FCA0-7267CFFCA4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7832250-7A07-D54B-C041-520DFDACE3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5940054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A25EB443-F40D-04C5-4625-E8BEF492C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5B9EA337-B3F1-17B8-2F2E-305FB14AD9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A7245D43-0B29-5082-6815-4A474A98DB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2917545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377CB72-345F-C844-80BF-BFB0696C9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C2D405C-7E84-1EC7-AC0A-0F4CF9AAA8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7429B4D-D7D0-8746-749D-6C94A18503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19654804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ABE3A49-48BE-84F7-AC68-776314AD2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5D1E1C6-966E-EE50-3205-1D90221FD3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1E98D73-78E3-D6DB-DB3A-98AF8F04FA2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0165657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0F56825-FF90-97D5-58DC-D6EAFEF2E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9F201D5-5238-C99E-0B86-53C05580B2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11B42490-B41B-EAE8-DBCB-79995A3956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93177771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410C5FF-8161-693B-FDD1-CE98ED1C8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2385E75-D4B5-70AC-BB91-AEDF16E82E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53A7B88-727C-82DF-5382-79518B1BB0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954969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99291AE-B072-B316-90B5-FA07258AC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834F16C-C9F6-4678-08BB-300F5A711C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D39FCC6-0950-A218-CC5A-F6FEABFAF4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9212744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C28E83F-4C55-6267-55FD-6188C2935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8AA0B0C-10C3-1C13-C9DD-073E33817F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93BFF3A-1594-BC31-82FC-19ABA1EC9E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7783779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E45ED8E-0A33-9521-31D4-3A4F1FD5F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515AA73-18F3-7558-20C1-C36A195CE0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228F420-97AD-D0C2-E1EE-93200896FC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2542459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ED6D95D0-49C4-BE65-6DB0-A8408AD9A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>
            <a:extLst>
              <a:ext uri="{FF2B5EF4-FFF2-40B4-BE49-F238E27FC236}">
                <a16:creationId xmlns:a16="http://schemas.microsoft.com/office/drawing/2014/main" id="{D5BF9D20-A937-E031-5ACD-4B566F245A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37:notes">
            <a:extLst>
              <a:ext uri="{FF2B5EF4-FFF2-40B4-BE49-F238E27FC236}">
                <a16:creationId xmlns:a16="http://schemas.microsoft.com/office/drawing/2014/main" id="{1666A96F-D523-1F0C-00D5-14D5F35E2C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882365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marius-juston.github.io/SE-423---Class-Material/Homeworks/HW2.pdf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hyperlink" Target="https://marius-juston.github.io/SE-423---Class-Material/Homeworks/LabVIEW1.pdf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hyperlink" Target="https://en.wikipedia.org/wiki/Resistor_ladder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sv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svg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8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22.svg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Successive-approximation_ADC" TargetMode="External"/><Relationship Id="rId4" Type="http://schemas.openxmlformats.org/officeDocument/2006/relationships/image" Target="../media/image25.gi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svg"/><Relationship Id="rId4" Type="http://schemas.openxmlformats.org/officeDocument/2006/relationships/image" Target="../media/image2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6"/>
          <p:cNvSpPr txBox="1"/>
          <p:nvPr/>
        </p:nvSpPr>
        <p:spPr>
          <a:xfrm>
            <a:off x="1134035" y="2553964"/>
            <a:ext cx="9924000" cy="272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spcBef>
                <a:spcPts val="600"/>
              </a:spcBef>
              <a:buSzPts val="4500"/>
            </a:pPr>
            <a:r>
              <a:rPr lang="en-US" sz="4500" b="1" dirty="0">
                <a:solidFill>
                  <a:schemeClr val="lt1"/>
                </a:solidFill>
              </a:rPr>
              <a:t>SE 423: Introduction to Mechatronics</a:t>
            </a:r>
            <a:endParaRPr lang="en-US" sz="4500"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chemeClr val="lt1"/>
                </a:solidFill>
              </a:rPr>
              <a:t>Lecture 5: DAC &amp; ADC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Marius Juston</a:t>
            </a:r>
            <a:endParaRPr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6"/>
          <p:cNvSpPr txBox="1"/>
          <p:nvPr/>
        </p:nvSpPr>
        <p:spPr>
          <a:xfrm>
            <a:off x="3922059" y="5413888"/>
            <a:ext cx="43478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Wednesday, February 4</a:t>
            </a:r>
            <a:r>
              <a:rPr lang="en-US" sz="1800" b="0" i="0" u="none" strike="noStrike" cap="none" baseline="300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</a:t>
            </a: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2026</a:t>
            </a: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41007" y="1004743"/>
            <a:ext cx="2909982" cy="7546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81D3E48-EB5B-86EE-C4D9-54116487B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BCC2F8C-3A4A-AD98-3682-D9499379E4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Office Hours:</a:t>
            </a:r>
            <a:endParaRPr lang="en-US" sz="26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Monday: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4-6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11-1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Lakshmi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1-3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Samuel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2-5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Dan &amp; Marius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Starting Lab 2 this week. This is also a 1-week lab!</a:t>
            </a:r>
            <a:endParaRPr lang="en-US" sz="1800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 err="1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Homeworks</a:t>
            </a: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homework 2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Ex 1 &amp; 2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17, 5PM (The end of office hours)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homework 2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Ex 3 &amp; 4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24, 5PM (The end of office hours)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Answers and code submissions for homework 2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17, 9AM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LabVIEW (This week):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All 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4"/>
              </a:rPr>
              <a:t>LabVIEW 1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are 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5, 5PM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LabVIEW will be quickly checked-off at the beginning / end of your lab session.</a:t>
            </a: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9848B8C-9075-59EA-79FA-AF5B8BFAF8D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AE21486-AEEC-E367-96A5-81B49AD32D6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Reminders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8CCE647-4D9B-354D-A2E9-718CA28CD750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AC87A64-580A-4863-38B3-4D1504C83F5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3649EAB-2DB3-2DA4-9AD9-5D94AEE695E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41F8E2C-2780-2776-E8ED-542B082247F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D628D6E-10A9-03E9-659C-F8F2D0023C6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BEB3CD3-0F72-FD08-8FA5-00AD37965F2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95841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191205FD-583D-A6BD-0B39-2B8B1E923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>
            <a:extLst>
              <a:ext uri="{FF2B5EF4-FFF2-40B4-BE49-F238E27FC236}">
                <a16:creationId xmlns:a16="http://schemas.microsoft.com/office/drawing/2014/main" id="{6294EE79-7F57-38BB-6DF0-8B77B1F871BE}"/>
              </a:ext>
            </a:extLst>
          </p:cNvPr>
          <p:cNvSpPr txBox="1"/>
          <p:nvPr/>
        </p:nvSpPr>
        <p:spPr>
          <a:xfrm>
            <a:off x="2206906" y="2226377"/>
            <a:ext cx="7778187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Questions?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27">
            <a:extLst>
              <a:ext uri="{FF2B5EF4-FFF2-40B4-BE49-F238E27FC236}">
                <a16:creationId xmlns:a16="http://schemas.microsoft.com/office/drawing/2014/main" id="{38F8608C-96FE-0215-AB4D-A3A87DB08788}"/>
              </a:ext>
            </a:extLst>
          </p:cNvPr>
          <p:cNvSpPr txBox="1"/>
          <p:nvPr/>
        </p:nvSpPr>
        <p:spPr>
          <a:xfrm>
            <a:off x="1441528" y="3967567"/>
            <a:ext cx="9308941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buSzPts val="2800"/>
            </a:pPr>
            <a:r>
              <a:rPr lang="en-US" sz="2800" dirty="0">
                <a:solidFill>
                  <a:schemeClr val="lt1"/>
                </a:solidFill>
              </a:rPr>
              <a:t>Homework, Lab, LabVIEW, quiz questions?</a:t>
            </a:r>
          </a:p>
        </p:txBody>
      </p:sp>
      <p:grpSp>
        <p:nvGrpSpPr>
          <p:cNvPr id="91" name="Google Shape;91;p27">
            <a:extLst>
              <a:ext uri="{FF2B5EF4-FFF2-40B4-BE49-F238E27FC236}">
                <a16:creationId xmlns:a16="http://schemas.microsoft.com/office/drawing/2014/main" id="{033E91A4-F750-A05B-C389-FC5624BF1B1B}"/>
              </a:ext>
            </a:extLst>
          </p:cNvPr>
          <p:cNvGrpSpPr/>
          <p:nvPr/>
        </p:nvGrpSpPr>
        <p:grpSpPr>
          <a:xfrm>
            <a:off x="3943790" y="3412276"/>
            <a:ext cx="3861740" cy="322845"/>
            <a:chOff x="3943790" y="2676939"/>
            <a:chExt cx="3861740" cy="322845"/>
          </a:xfrm>
        </p:grpSpPr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A36871FD-33D7-2582-E5F8-3EA27AFE9FE0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FB6E1460-12A3-CF99-FE4B-3D7A93BA06F1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770C30AB-1FAA-7D7F-7303-E21D93D3CE8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E5E4EBB2-FED2-47FE-763A-10EE38E9D89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5298DFAA-86E6-BEC7-9533-B929EEE334E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212C5C0B-78F3-7857-3831-3E4D26D2083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1DA79E61-488F-300C-6688-DBA4AF1F398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5DD02B9C-8EB7-446F-756F-4680EB67E89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691633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/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US" sz="1800" dirty="0">
                <a:latin typeface="Arial"/>
                <a:cs typeface="Arial"/>
                <a:sym typeface="Arial"/>
              </a:rPr>
              <a:t>In the real world we have continuous signals: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latin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Arial"/>
                <a:cs typeface="Arial"/>
                <a:sym typeface="Arial"/>
              </a:rPr>
              <a:t>Temperature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Arial"/>
                <a:cs typeface="Arial"/>
                <a:sym typeface="Arial"/>
              </a:rPr>
              <a:t>Sound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Arial"/>
                <a:cs typeface="Arial"/>
                <a:sym typeface="Arial"/>
              </a:rPr>
              <a:t>Velocity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Arial"/>
                <a:cs typeface="Arial"/>
                <a:sym typeface="Arial"/>
              </a:rPr>
              <a:t>Pressure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Arial"/>
                <a:cs typeface="Arial"/>
                <a:sym typeface="Arial"/>
              </a:rPr>
              <a:t>Luminosity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Again, we have the CPU only able to process discrete binary values (0 or 1).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b="1" dirty="0">
                <a:latin typeface="+mj-lt"/>
              </a:rPr>
              <a:t>ADC (Analog-to-Digital Converter):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"The Eyes/Ears." Converts physical signals into numbers the CPU can process.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b="1" dirty="0">
                <a:latin typeface="+mj-lt"/>
              </a:rPr>
              <a:t>DAC (Digital-to-Analog Converter):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"The Hands/Voice." Converts processed numbers back into voltages to drive motors, speakers, etc.</a:t>
            </a:r>
          </a:p>
        </p:txBody>
      </p:sp>
      <p:sp>
        <p:nvSpPr>
          <p:cNvPr id="119" name="Google Shape;119;p29"/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/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Introduction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/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/>
          <p:cNvSpPr txBox="1"/>
          <p:nvPr/>
        </p:nvSpPr>
        <p:spPr>
          <a:xfrm>
            <a:off x="1295400" y="2948490"/>
            <a:ext cx="9601200" cy="133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DAC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1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(Digital-to-Analog Converter)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/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/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1595F42-45CF-1A67-E00F-6AB79CECC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89FDB5E-3E15-C7F0-C55C-8922ED8D283C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SzPts val="2000"/>
                  <a:buNone/>
                </a:pPr>
                <a:r>
                  <a:rPr lang="en-US" sz="1800" dirty="0">
                    <a:latin typeface="+mj-lt"/>
                  </a:rPr>
                  <a:t>A device that convert binary input number into a proportional analog voltage symbol.</a:t>
                </a:r>
              </a:p>
              <a:p>
                <a:pPr marL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SzPts val="2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ref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X</m:t>
                          </m:r>
                        </m:num>
                        <m:den>
                          <m:sSup>
                            <m:sSup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N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1800" dirty="0">
                  <a:latin typeface="+mj-lt"/>
                </a:endParaRPr>
              </a:p>
              <a:p>
                <a:pPr marL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Where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lang="en-US" sz="1800" dirty="0">
                    <a:latin typeface="+mj-lt"/>
                  </a:rPr>
                  <a:t> represents the resolution, the larger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lang="en-US" sz="1800" dirty="0">
                    <a:latin typeface="+mj-lt"/>
                  </a:rPr>
                  <a:t>, the more possible subdivision values you can have (the more you have the more expensive it is!)</a:t>
                </a: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Where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lang="en-US" sz="1800" dirty="0">
                    <a:latin typeface="+mj-lt"/>
                  </a:rPr>
                  <a:t> is the reference value you input to be converted.</a:t>
                </a: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Specifically for our microcontroller we have,</a:t>
                </a: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800" b="0" i="1" smtClean="0">
                          <a:latin typeface="Cambria Math" panose="02040503050406030204" pitchFamily="18" charset="0"/>
                        </a:rPr>
                        <m:t>DACOUT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DACVALA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m:rPr>
                              <m:sty m:val="p"/>
                            </m:r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DACREF</m:t>
                          </m:r>
                        </m:num>
                        <m:den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4096</m:t>
                          </m:r>
                        </m:den>
                      </m:f>
                    </m:oMath>
                  </m:oMathPara>
                </a14:m>
                <a:endParaRPr lang="en-US" sz="1800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How many bits of resolution do we have? </a:t>
                </a:r>
                <a:r>
                  <a:rPr lang="en-US" sz="1800" b="1" dirty="0">
                    <a:latin typeface="+mj-lt"/>
                  </a:rPr>
                  <a:t>12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89FDB5E-3E15-C7F0-C55C-8922ED8D283C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491" t="-75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BC61FC6-35BB-A02D-0CE2-01D04C4EF63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91A473D-E3C5-9BD8-605B-8D44A046AA7E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DAC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11DF2C5-BAAE-4EB1-C4BE-471E93DC5B1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46D49EF-31E9-B780-98F0-D784947DD5E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6ED2865-9246-2196-4B99-E59082D3D94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F2B19FE-59CA-F3DA-3077-2AFBEA38EE6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A879F49-B678-7A78-4D4E-7B55B302AFB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B3BC861-B892-4FD3-1D60-A7F89F2C12C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97566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859E1E9-9F25-1432-2363-10C958D5F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7DD940A-7605-B25B-B6EF-10A2E47572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5708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US" sz="1800" dirty="0">
                <a:latin typeface="+mj-lt"/>
              </a:rPr>
              <a:t>A voltage mode resistor R-2R resistor ladder network.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36CF10F-2C01-B38F-9412-BB01ABBD9A2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EE0C3E6-2A38-051A-9021-1C9833B38ED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DAC – R-2R resistor ladder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72056BB-2A90-3AA5-D716-A27FF708DDD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02077F7-FB02-44A3-AF6C-F7A1C4AB3DB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2EC8EF8-2A56-983F-7F6E-006604D1325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590EA51-3FD9-416D-B8C1-A2B3E9E1339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694F0FC-811E-2E2E-BEA6-1186F205E80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CB8DACB-8C28-9821-7298-77EC188CD02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FC0932C-8934-236D-6A99-50DC629F1736}"/>
              </a:ext>
            </a:extLst>
          </p:cNvPr>
          <p:cNvSpPr txBox="1"/>
          <p:nvPr/>
        </p:nvSpPr>
        <p:spPr>
          <a:xfrm>
            <a:off x="9620043" y="2475927"/>
            <a:ext cx="247341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the image is still here, I did not have time to make an animation</a:t>
            </a:r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08D8DC2D-0B7C-BECC-3B08-23FDA0F2108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74929" y="2258842"/>
            <a:ext cx="8581159" cy="234031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6" name="Google Shape;118;p29">
                <a:extLst>
                  <a:ext uri="{FF2B5EF4-FFF2-40B4-BE49-F238E27FC236}">
                    <a16:creationId xmlns:a16="http://schemas.microsoft.com/office/drawing/2014/main" id="{7D59BECE-22B8-ED4D-43D8-7D6477E0E25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76809" y="4952897"/>
                <a:ext cx="11177401" cy="13854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42900" algn="l" rtl="0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2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1pPr>
                <a:lvl2pPr marL="914400" marR="0" lvl="1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24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2pPr>
                <a:lvl3pPr marL="1371600" marR="0" lvl="2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20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3pPr>
                <a:lvl4pPr marL="1828800" marR="0" lvl="3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4pPr>
                <a:lvl5pPr marL="2286000" marR="0" lvl="4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5pPr>
                <a:lvl6pPr marL="2743200" marR="0" lvl="5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marL="3200400" marR="0" lvl="6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marL="3657600" marR="0" lvl="7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marL="4114800" marR="0" lvl="8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It produces an analog output voltage from the digital integer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lang="en-US" sz="1800" dirty="0">
                    <a:latin typeface="+mj-lt"/>
                  </a:rPr>
                  <a:t> composed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lang="en-US" sz="1800" dirty="0">
                    <a:latin typeface="+mj-lt"/>
                  </a:rPr>
                  <a:t>  bits: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n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sz="1800" dirty="0">
                    <a:latin typeface="+mj-lt"/>
                  </a:rPr>
                  <a:t> (most significant bit, MSB) through bit</a:t>
                </a:r>
                <a:r>
                  <a:rPr lang="en-US" sz="18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800" dirty="0"/>
                  <a:t> (least significant bit, LSB). </a:t>
                </a:r>
                <a:endParaRPr lang="en-US" sz="1800" dirty="0">
                  <a:latin typeface="+mj-lt"/>
                </a:endParaRPr>
              </a:p>
            </p:txBody>
          </p:sp>
        </mc:Choice>
        <mc:Fallback>
          <p:sp>
            <p:nvSpPr>
              <p:cNvPr id="16" name="Google Shape;118;p29">
                <a:extLst>
                  <a:ext uri="{FF2B5EF4-FFF2-40B4-BE49-F238E27FC236}">
                    <a16:creationId xmlns:a16="http://schemas.microsoft.com/office/drawing/2014/main" id="{7D59BECE-22B8-ED4D-43D8-7D6477E0E2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809" y="4952897"/>
                <a:ext cx="11177401" cy="1385470"/>
              </a:xfrm>
              <a:prstGeom prst="rect">
                <a:avLst/>
              </a:prstGeom>
              <a:blipFill>
                <a:blip r:embed="rId6"/>
                <a:stretch>
                  <a:fillRect l="-491" t="-2193" r="-27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7695A5D0-F303-D1B9-CB4A-8CB979AB4F9D}"/>
              </a:ext>
            </a:extLst>
          </p:cNvPr>
          <p:cNvSpPr txBox="1"/>
          <p:nvPr/>
        </p:nvSpPr>
        <p:spPr>
          <a:xfrm>
            <a:off x="4362479" y="4596075"/>
            <a:ext cx="29386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hlinkClick r:id="rId7"/>
              </a:rPr>
              <a:t>https://en.wikipedia.org/wiki/Resistor_ladder</a:t>
            </a:r>
            <a:r>
              <a:rPr lang="en-US" sz="11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965478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5353FF0B-1478-6147-E75E-3C59243C7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EDBB04D-EC9E-5442-E262-837611644121}"/>
              </a:ext>
            </a:extLst>
          </p:cNvPr>
          <p:cNvCxnSpPr>
            <a:cxnSpLocks/>
          </p:cNvCxnSpPr>
          <p:nvPr/>
        </p:nvCxnSpPr>
        <p:spPr>
          <a:xfrm flipH="1">
            <a:off x="2882900" y="2578100"/>
            <a:ext cx="4838700" cy="119898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8E50D29-B3DD-1C3B-9908-2BB214AF979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CCC0988-5162-1219-EE07-B602784B35D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DAC – Buffered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6600723-8C3B-DA9E-C32D-C0CB9E4C3F8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AD40549-A2B2-A6AC-C60F-B531153C4B8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29AF264-CF76-5A66-1940-7BB2C1274A7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9654AC6-EF41-4056-E67E-BA7CB3CB227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6D32ED3-3642-BE9D-9541-83C215D4522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E137DA2-1F1C-506F-A4ED-73ADB763AA1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" name="Graphic 5">
            <a:extLst>
              <a:ext uri="{FF2B5EF4-FFF2-40B4-BE49-F238E27FC236}">
                <a16:creationId xmlns:a16="http://schemas.microsoft.com/office/drawing/2014/main" id="{2E58F4D6-84A8-6EE1-349B-9E1138B5173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87953" y="1281615"/>
            <a:ext cx="8416093" cy="499093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3C3DA4E-4881-8F92-3E65-D6920A74543C}"/>
                  </a:ext>
                </a:extLst>
              </p:cNvPr>
              <p:cNvSpPr txBox="1"/>
              <p:nvPr/>
            </p:nvSpPr>
            <p:spPr>
              <a:xfrm>
                <a:off x="7537004" y="2385951"/>
                <a:ext cx="3035300" cy="4970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DACVALA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m:rPr>
                              <m:sty m:val="p"/>
                            </m:rP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DACREF</m:t>
                          </m:r>
                        </m:num>
                        <m:den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4096</m:t>
                          </m:r>
                        </m:den>
                      </m:f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</a:rPr>
                        <m:t>DACOUT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3C3DA4E-4881-8F92-3E65-D6920A7454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7004" y="2385951"/>
                <a:ext cx="3035300" cy="497059"/>
              </a:xfrm>
              <a:prstGeom prst="rect">
                <a:avLst/>
              </a:prstGeom>
              <a:blipFill>
                <a:blip r:embed="rId6"/>
                <a:stretch>
                  <a:fillRect b="-12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D47CCAA-9BDC-39CD-F4B6-CBC5FE3CE0FD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7442200" y="2227256"/>
            <a:ext cx="1612454" cy="15869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D6BA910-33E6-2997-E2C9-A3C9EAE13D3C}"/>
              </a:ext>
            </a:extLst>
          </p:cNvPr>
          <p:cNvCxnSpPr>
            <a:cxnSpLocks/>
          </p:cNvCxnSpPr>
          <p:nvPr/>
        </p:nvCxnSpPr>
        <p:spPr>
          <a:xfrm flipH="1">
            <a:off x="7613650" y="2883010"/>
            <a:ext cx="860426" cy="92969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6000ECF-2B36-9ED8-2C33-D743EBF45C00}"/>
              </a:ext>
            </a:extLst>
          </p:cNvPr>
          <p:cNvCxnSpPr>
            <a:cxnSpLocks/>
          </p:cNvCxnSpPr>
          <p:nvPr/>
        </p:nvCxnSpPr>
        <p:spPr>
          <a:xfrm>
            <a:off x="9925050" y="2793175"/>
            <a:ext cx="0" cy="107397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3A8819C-B998-C31C-08E4-DEB3FE7C96DE}"/>
              </a:ext>
            </a:extLst>
          </p:cNvPr>
          <p:cNvSpPr txBox="1"/>
          <p:nvPr/>
        </p:nvSpPr>
        <p:spPr>
          <a:xfrm>
            <a:off x="9229640" y="5422496"/>
            <a:ext cx="1593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Pull-down resistor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D00E2A5-B5D2-AC15-5497-21F673CFB0BF}"/>
              </a:ext>
            </a:extLst>
          </p:cNvPr>
          <p:cNvCxnSpPr>
            <a:cxnSpLocks/>
            <a:stCxn id="35" idx="0"/>
          </p:cNvCxnSpPr>
          <p:nvPr/>
        </p:nvCxnSpPr>
        <p:spPr>
          <a:xfrm flipH="1" flipV="1">
            <a:off x="9817100" y="4838700"/>
            <a:ext cx="209465" cy="58379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4247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D766013-DDBF-11E5-25B2-07415A51F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67E21E9C-1422-16CE-33F2-4E0A98100B61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Each buffered DAC has the following features: 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2000"/>
                </a:pPr>
                <a:r>
                  <a:rPr lang="en-US" sz="1800" dirty="0">
                    <a:latin typeface="+mj-lt"/>
                  </a:rPr>
                  <a:t>12-bit programmable internal DAC 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2000"/>
                </a:pPr>
                <a:r>
                  <a:rPr lang="en-US" sz="1800" dirty="0">
                    <a:latin typeface="+mj-lt"/>
                  </a:rPr>
                  <a:t>Selectable reference voltage source </a:t>
                </a:r>
              </a:p>
              <a:p>
                <a:pPr marL="742950" lvl="1" indent="-285750">
                  <a:lnSpc>
                    <a:spcPct val="100000"/>
                  </a:lnSpc>
                  <a:spcBef>
                    <a:spcPts val="0"/>
                  </a:spcBef>
                  <a:buSzPts val="2000"/>
                </a:pPr>
                <a:r>
                  <a:rPr lang="en-US" sz="1400" dirty="0">
                    <a:latin typeface="+mj-lt"/>
                  </a:rPr>
                  <a:t>Internal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 b="0" i="1" smtClean="0">
                        <a:latin typeface="Cambria Math" panose="02040503050406030204" pitchFamily="18" charset="0"/>
                      </a:rPr>
                      <m:t>VDAC</m:t>
                    </m:r>
                  </m:oMath>
                </a14:m>
                <a:endParaRPr lang="en-US" sz="1400" dirty="0">
                  <a:latin typeface="+mj-lt"/>
                </a:endParaRPr>
              </a:p>
              <a:p>
                <a:pPr marL="742950" lvl="1" indent="-285750">
                  <a:lnSpc>
                    <a:spcPct val="100000"/>
                  </a:lnSpc>
                  <a:spcBef>
                    <a:spcPts val="0"/>
                  </a:spcBef>
                  <a:buSzPts val="2000"/>
                </a:pPr>
                <a:r>
                  <a:rPr lang="en-US" sz="1400" dirty="0">
                    <a:latin typeface="+mj-lt"/>
                  </a:rPr>
                  <a:t>External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 b="0" i="1" smtClean="0">
                        <a:latin typeface="Cambria Math" panose="02040503050406030204" pitchFamily="18" charset="0"/>
                      </a:rPr>
                      <m:t>VREFHI</m:t>
                    </m:r>
                  </m:oMath>
                </a14:m>
                <a:endParaRPr lang="en-US" sz="1400" dirty="0">
                  <a:latin typeface="+mj-lt"/>
                </a:endParaRP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2000"/>
                </a:pPr>
                <a:r>
                  <a:rPr lang="en-US" sz="1800" dirty="0">
                    <a:latin typeface="+mj-lt"/>
                  </a:rPr>
                  <a:t>Pull-down resistor on output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2000"/>
                </a:pPr>
                <a:r>
                  <a:rPr lang="en-US" sz="1800" dirty="0">
                    <a:latin typeface="+mj-lt"/>
                  </a:rPr>
                  <a:t>Ability to synchronize with EPWMSYNCPER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2000"/>
                </a:pPr>
                <a:endParaRPr lang="en-US" sz="1800" dirty="0">
                  <a:latin typeface="+mj-lt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MCU DACs include an operational amplifier (Op-Amp) buffer at the output to drive loads (speakers, motor drivers) without dropping voltage due to impedance loading.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EPWMSYNCPER comes from the Time-Base submodule of the EPWM. (For a detailed description of how this signal is generated, refer to the Time-Base submodule chapter of the EPWM).</a:t>
                </a: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b="1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There are </a:t>
                </a:r>
                <a:r>
                  <a:rPr lang="en-US" sz="1800" b="1" dirty="0">
                    <a:latin typeface="+mj-lt"/>
                  </a:rPr>
                  <a:t>3</a:t>
                </a:r>
                <a:r>
                  <a:rPr lang="en-US" sz="1800" dirty="0">
                    <a:latin typeface="+mj-lt"/>
                  </a:rPr>
                  <a:t> DAC, DACA, DACB, DACC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67E21E9C-1422-16CE-33F2-4E0A98100B6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491" t="-75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443AF27-2703-B654-22B8-8A38B8D5F75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80E1E02-0620-839A-8E46-B58B3A86E1A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DAC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9F56185-8930-A2AD-7C33-DE210BE93AB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7F3F5E1-A1FA-9616-1F79-56B9B9BB88D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3617300-D224-C2A3-D86F-A279746394B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053A1E7-259C-F1F1-3374-87C7238F5E5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2F26A44-9C13-41C1-64FA-67A87643A9E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8D12E56-F7A2-6573-3B0C-B680D7000E2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4847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2AF19FA-9430-25A1-9AEC-F821D7E5A8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17CE058-AC9F-D045-7E81-F1727C624C9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BA43B2B-77A7-3BFB-F76A-3C1F9119C658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DAC – For later reference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FF3B666-012E-2ED8-39EE-BBCB3B1E518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C623D92-51D0-C6FA-6AF1-54272956BC8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A267661-AF47-8675-3DD3-7471044379A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9CEBBF8-BF64-C8C6-122E-B2BA5398206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095F767-EA49-CDF4-1B6E-757F0EC1479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83140D5-84CF-265E-B1AB-A2E65BE95E9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B6A0F4FE-9541-2923-1AEE-CAE88CF009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78544" y="1070373"/>
            <a:ext cx="6634912" cy="5251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41297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BF40392-B6FB-3FC9-2C2B-8A38E710B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6F9A1969-49A0-1550-8A6D-3911206CF6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 algn="l">
              <a:buNone/>
            </a:pPr>
            <a:r>
              <a:rPr lang="en-US" sz="1800" b="1" dirty="0">
                <a:solidFill>
                  <a:srgbClr val="000000"/>
                </a:solidFill>
                <a:latin typeface="+mj-lt"/>
              </a:rPr>
              <a:t>Setup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EALLOW;</a:t>
            </a:r>
            <a:endParaRPr lang="en-US" sz="1800" dirty="0"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s-E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DacaRegs.</a:t>
            </a:r>
            <a:r>
              <a:rPr lang="es-E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DACCTL</a:t>
            </a:r>
            <a:r>
              <a:rPr lang="es-E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s-E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s-E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s-E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DACREFSEL</a:t>
            </a:r>
            <a:r>
              <a:rPr lang="es-E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0;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0 from internal reference, 1 for external</a:t>
            </a:r>
            <a:endParaRPr lang="es-E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DacaRegs.</a:t>
            </a:r>
            <a:r>
              <a:rPr lang="en-U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DACOUTEN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DACOUTEN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DAC output enabled? (DAC-OUT-EN)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DacaRegs.</a:t>
            </a:r>
            <a:r>
              <a:rPr lang="en-U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DACVALS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all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0;         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Clears current output value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DELAY_US(10);                     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Delay for buffered DAC to power up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EDIS;</a:t>
            </a:r>
          </a:p>
          <a:p>
            <a:pPr marL="114300" indent="0" algn="l">
              <a:buNone/>
            </a:pPr>
            <a:endParaRPr lang="en-US" sz="18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 algn="l">
              <a:buNone/>
            </a:pPr>
            <a:r>
              <a:rPr lang="en-US" sz="1800" b="1" dirty="0">
                <a:solidFill>
                  <a:srgbClr val="000000"/>
                </a:solidFill>
                <a:latin typeface="+mj-lt"/>
              </a:rPr>
              <a:t>Setting</a:t>
            </a:r>
          </a:p>
          <a:p>
            <a:pPr marL="114300" indent="0">
              <a:buNone/>
            </a:pPr>
            <a:r>
              <a:rPr lang="es-E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DacaRegs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DACVALS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all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val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;       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Sets DAC output (only keeps to first 12 bits)</a:t>
            </a:r>
          </a:p>
          <a:p>
            <a:pPr marL="114300" indent="0">
              <a:buNone/>
            </a:pPr>
            <a:endParaRPr lang="en-US" sz="1800" dirty="0">
              <a:latin typeface="+mj-lt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C7ADA479-DA38-2B09-4B9D-52BE6EF60D8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67271B2-371B-DDF4-5BA8-422AF59F605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DAC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5F78EDA-9CC3-2C76-B131-7E8F367A075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444A390-B0CF-1B84-6E6F-90D88E375C5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7E0FDA5-4A3E-CDD9-100A-399CFAFBE05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8CC85BC-DEA8-6A83-3D98-1098E38AF0E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E1A2621-1626-2CBA-AB72-1CC9AB05426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45F6663-D8E3-C288-0860-C8FFD4A6835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428851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23691993-CC32-C8A2-4123-30CF2BD560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F6303210-DA23-92D3-1591-74CF9B96253E}"/>
              </a:ext>
            </a:extLst>
          </p:cNvPr>
          <p:cNvSpPr txBox="1"/>
          <p:nvPr/>
        </p:nvSpPr>
        <p:spPr>
          <a:xfrm>
            <a:off x="1295400" y="2948490"/>
            <a:ext cx="9601200" cy="133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ADC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1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 algn="ctr"/>
            <a:r>
              <a:rPr lang="en-US" sz="1800" b="0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(</a:t>
            </a:r>
            <a:r>
              <a:rPr lang="en-US" sz="1800" dirty="0">
                <a:solidFill>
                  <a:srgbClr val="15264B"/>
                </a:solidFill>
              </a:rPr>
              <a:t>Analog-to-</a:t>
            </a:r>
            <a:r>
              <a:rPr lang="en-US" sz="1800" b="0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Digital Converter)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CFA8D1E9-A9DB-F809-C236-CCF784B2D42F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5B58E666-1362-4963-4C82-96B8C7B56D43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B640B8E2-AA14-E61C-89FC-A7C2E3326973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FACA6DD3-4C0A-2F55-F958-AC97DAB0972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C63EB9EC-3D60-379E-C179-EFA5E145F9B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869A7BAB-43ED-B7F0-55CF-3419DC78FA49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280CC68C-F96F-39C0-21A3-3CE40A4FA77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BCE3F39C-02BC-4A11-BAAC-84186EE88F8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FB5F58A6-7D57-2A64-4E85-85BC6EDB163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90212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87E2AE7-F1CC-7AFC-8B43-32C605BD1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53A26C0-2EEB-263A-6986-E35E309604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Converts continuous voltage into discrete digital numbers.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3 step process: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b="1" dirty="0">
                <a:latin typeface="+mj-lt"/>
              </a:rPr>
              <a:t>Sample</a:t>
            </a:r>
            <a:r>
              <a:rPr lang="en-US" sz="1800" dirty="0">
                <a:latin typeface="+mj-lt"/>
              </a:rPr>
              <a:t>: A switch closes, charging a tiny internal capacitor to match the input voltage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b="1" dirty="0">
                <a:latin typeface="+mj-lt"/>
              </a:rPr>
              <a:t>Holding</a:t>
            </a:r>
            <a:r>
              <a:rPr lang="en-US" sz="1800" dirty="0">
                <a:latin typeface="+mj-lt"/>
              </a:rPr>
              <a:t>: The switch open, trapping the charge on the capacitor so it does not change during measurement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b="1" dirty="0">
                <a:latin typeface="+mj-lt"/>
              </a:rPr>
              <a:t>Quantizing</a:t>
            </a:r>
            <a:r>
              <a:rPr lang="en-US" sz="1800" dirty="0">
                <a:latin typeface="+mj-lt"/>
              </a:rPr>
              <a:t>: The ADC circuitry measures the stored charge against a reference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2000"/>
            </a:pPr>
            <a:endParaRPr lang="en-US" sz="1400" dirty="0">
              <a:latin typeface="+mj-lt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3022D0C-83F4-2040-6A25-864023C801B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098E749-7303-01E4-3030-33DF8DC5F42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ADC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3C23E93-84D9-1668-B1DF-C559B34095F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DA24977-5689-5873-4742-74CCEE5EDB4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76EEAE3-C96D-5C07-A057-CE040994C9F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A9C37FD-68E0-935E-79DE-6C0E126D37A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DCCD162-43FF-92E3-212C-7867C0E4A50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415962A-4DC2-248B-ABF7-65492EF8E48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D7819B87-1A56-4347-DD8B-BB705D1160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38746" y="3911284"/>
            <a:ext cx="6853526" cy="2410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26186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AD40B1F-71DA-FF94-1D49-9642D10A1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0F656C56-AA87-8933-171E-740E33C38E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2400" dirty="0">
                <a:latin typeface="+mj-lt"/>
              </a:rPr>
              <a:t>Each ADC has the following features: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2400" dirty="0">
              <a:latin typeface="+mj-lt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>
                <a:latin typeface="+mj-lt"/>
              </a:rPr>
              <a:t>Selectable resolution of 12 bits or 16 bits ( for the precision you want)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 err="1">
                <a:latin typeface="+mj-lt"/>
              </a:rPr>
              <a:t>Ratiometric</a:t>
            </a:r>
            <a:r>
              <a:rPr lang="en-US" sz="2400" dirty="0">
                <a:latin typeface="+mj-lt"/>
              </a:rPr>
              <a:t> external reference set by VREFHI and VREFLO pins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>
                <a:latin typeface="+mj-lt"/>
              </a:rPr>
              <a:t>Differential signal conversions (16-bit mode only)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>
                <a:latin typeface="+mj-lt"/>
              </a:rPr>
              <a:t>Single-ended signal conversions (12-bit mode only)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>
                <a:latin typeface="+mj-lt"/>
              </a:rPr>
              <a:t>Input multiplexer with up to 16 channels (single-ended) or 8 channels (differential)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>
                <a:latin typeface="+mj-lt"/>
              </a:rPr>
              <a:t>16 configurable SOCs ( we will go through what this is a bit later)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>
                <a:latin typeface="+mj-lt"/>
              </a:rPr>
              <a:t>16 individually addressable result registers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endParaRPr lang="en-US" sz="2400" dirty="0">
              <a:latin typeface="+mj-lt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C1C0C30-B0E3-00B1-8C84-25CCCA8DDBF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F1D3749-70E4-9FCD-DFFB-2E817D38B8A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ADC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D8EA6D0-1F27-C388-C98D-2F5C5E749CB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6D403F6-D953-4BC3-E14D-38773A37F33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428D94E-5231-3332-E1C1-8EBEBC176A9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8DC6FEA-D387-BB50-0066-A7D0B6AFB6E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8A56D8B-BC45-A191-EEF0-5DB3B5A996C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BFFCCD1-4ECC-B551-663F-3BA4EE68522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843478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DCDA3CB-4FD3-90FC-7558-5887EBAC4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EA3A4CC1-D1F3-4434-8D76-EAEA27C6DF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2400" dirty="0">
                <a:latin typeface="+mj-lt"/>
              </a:rPr>
              <a:t>Each ADC has the following features: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2400" dirty="0">
              <a:latin typeface="+mj-lt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>
                <a:latin typeface="+mj-lt"/>
              </a:rPr>
              <a:t>Multiple trigger sources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S/W - software immediate start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All </a:t>
            </a:r>
            <a:r>
              <a:rPr lang="en-US" sz="1800" dirty="0" err="1">
                <a:latin typeface="+mj-lt"/>
              </a:rPr>
              <a:t>ePWMs</a:t>
            </a:r>
            <a:r>
              <a:rPr lang="en-US" sz="1800" dirty="0">
                <a:latin typeface="+mj-lt"/>
              </a:rPr>
              <a:t> - ADCSOC A or B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GPIO XINT2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CPU Timers 0/1/2 (from each C28x core present)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ADCINT1/2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>
                <a:latin typeface="+mj-lt"/>
              </a:rPr>
              <a:t>Four flexible PIE interrupts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>
                <a:latin typeface="+mj-lt"/>
              </a:rPr>
              <a:t>Burst mode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>
                <a:latin typeface="+mj-lt"/>
              </a:rPr>
              <a:t>Four post-processing blocks, each with: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Saturating offset calibration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Error from setpoint calculation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High, low, and zero-crossing compare, with interrupt and </a:t>
            </a:r>
            <a:r>
              <a:rPr lang="en-US" sz="1800" dirty="0" err="1">
                <a:latin typeface="+mj-lt"/>
              </a:rPr>
              <a:t>ePWM</a:t>
            </a:r>
            <a:r>
              <a:rPr lang="en-US" sz="1800" dirty="0">
                <a:latin typeface="+mj-lt"/>
              </a:rPr>
              <a:t> trip capability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Trigger-to-sample delay capture</a:t>
            </a:r>
            <a:endParaRPr lang="en-US" dirty="0">
              <a:latin typeface="+mj-lt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5C30584-10A8-3589-E847-18EB2D9E019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690EFC7-A043-E7C6-C6AC-36ACB21045C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ADC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FC776EC-D1AB-47A8-C9B5-3174F6F9659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343AA89-00FD-BF41-745D-02A16DF50B8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369CA34-BB27-9DC9-E62F-B45FC833816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1BD02AD-3F7B-1E75-A73D-9337866348E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FC390A8-D061-7F45-9FB4-2EF3F6D56F4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C4B73CB-0357-E009-3A7F-7C49829F626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42374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4B27591-7322-6DAF-4511-836E602B5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2215FC0-99D0-154D-4DFB-E63FE6D1D5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Not every channel may be pinned out from all ADCs. Check the datasheet for your device to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determine which channels are available!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A631326-7329-FFC7-2127-3EC063F7173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B217EE2-DDCA-C407-0B01-9CDE3D67325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ADC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FCD7C4D-11D2-856A-0483-8A74C8492C6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B69EDFB-1EF9-80E3-23E7-938BBF66CB0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42EBDFC-69F8-E81D-6E2A-76DCB33E6C7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1B3B7AD-E775-A223-B676-C266D85DE96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201EB4F-3839-EDD1-8931-A7A7CB0DE22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BD561FD-07AC-2DDA-10A3-059CCF323EC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2135A234-4CD2-54C5-4972-B0CDC73F3F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08886" y="2242146"/>
            <a:ext cx="9174227" cy="4241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2372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A1AB5B8-E263-11D5-7844-7F041432B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E240A599-6D03-0960-7613-04CD9D89C4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2500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The ADC supports two signal modes: </a:t>
            </a:r>
            <a:r>
              <a:rPr lang="en-US" sz="1800" b="1" dirty="0">
                <a:latin typeface="+mj-lt"/>
              </a:rPr>
              <a:t>single-ended</a:t>
            </a:r>
            <a:r>
              <a:rPr lang="en-US" sz="1800" dirty="0">
                <a:latin typeface="+mj-lt"/>
              </a:rPr>
              <a:t> and </a:t>
            </a:r>
            <a:r>
              <a:rPr lang="en-US" sz="1800" b="1" dirty="0">
                <a:latin typeface="+mj-lt"/>
              </a:rPr>
              <a:t>differential</a:t>
            </a:r>
            <a:r>
              <a:rPr lang="en-US" sz="1800" dirty="0">
                <a:latin typeface="+mj-lt"/>
              </a:rPr>
              <a:t>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In </a:t>
            </a:r>
            <a:r>
              <a:rPr lang="en-US" sz="1800" b="1" dirty="0">
                <a:latin typeface="+mj-lt"/>
              </a:rPr>
              <a:t>single-ended</a:t>
            </a:r>
            <a:r>
              <a:rPr lang="en-US" sz="1800" dirty="0">
                <a:latin typeface="+mj-lt"/>
              </a:rPr>
              <a:t> mode, the input voltage to the converter is sampled through a single pin (</a:t>
            </a:r>
            <a:r>
              <a:rPr lang="en-US" sz="1800" dirty="0" err="1">
                <a:latin typeface="+mj-lt"/>
              </a:rPr>
              <a:t>ADCINx</a:t>
            </a:r>
            <a:r>
              <a:rPr lang="en-US" sz="1800" dirty="0">
                <a:latin typeface="+mj-lt"/>
              </a:rPr>
              <a:t>), referenced to VREFLO.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In </a:t>
            </a:r>
            <a:r>
              <a:rPr lang="en-US" sz="1800" b="1" dirty="0">
                <a:latin typeface="+mj-lt"/>
              </a:rPr>
              <a:t>differential</a:t>
            </a:r>
            <a:r>
              <a:rPr lang="en-US" sz="1800" dirty="0">
                <a:latin typeface="+mj-lt"/>
              </a:rPr>
              <a:t> signaling mode, the input voltage to the converter is sampled through a pair of input pins, one of which is the positive input (</a:t>
            </a:r>
            <a:r>
              <a:rPr lang="en-US" sz="1800" dirty="0" err="1">
                <a:latin typeface="+mj-lt"/>
              </a:rPr>
              <a:t>ADCINxP</a:t>
            </a:r>
            <a:r>
              <a:rPr lang="en-US" sz="1800" dirty="0">
                <a:latin typeface="+mj-lt"/>
              </a:rPr>
              <a:t>) and the other is the negative input (</a:t>
            </a:r>
            <a:r>
              <a:rPr lang="en-US" sz="1800" dirty="0" err="1">
                <a:latin typeface="+mj-lt"/>
              </a:rPr>
              <a:t>ADCINxN</a:t>
            </a:r>
            <a:r>
              <a:rPr lang="en-US" sz="1800" dirty="0">
                <a:latin typeface="+mj-lt"/>
              </a:rPr>
              <a:t>). The actual input voltage is the difference between the two (</a:t>
            </a:r>
            <a:r>
              <a:rPr lang="en-US" sz="1800" dirty="0" err="1">
                <a:latin typeface="+mj-lt"/>
              </a:rPr>
              <a:t>ADCINxP</a:t>
            </a:r>
            <a:r>
              <a:rPr lang="en-US" sz="1800" dirty="0">
                <a:latin typeface="+mj-lt"/>
              </a:rPr>
              <a:t> – </a:t>
            </a:r>
            <a:r>
              <a:rPr lang="en-US" sz="1800" dirty="0" err="1">
                <a:latin typeface="+mj-lt"/>
              </a:rPr>
              <a:t>ADCINxN</a:t>
            </a:r>
            <a:r>
              <a:rPr lang="en-US" sz="1800" dirty="0">
                <a:latin typeface="+mj-lt"/>
              </a:rPr>
              <a:t>).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b="1" dirty="0">
                <a:latin typeface="+mj-lt"/>
              </a:rPr>
              <a:t>Differential</a:t>
            </a:r>
            <a:r>
              <a:rPr lang="en-US" sz="1800" dirty="0">
                <a:latin typeface="+mj-lt"/>
              </a:rPr>
              <a:t> signaling mode is advantageous because noise encountered on both inputs will be largely cancelled. Allowing for higher 16-bit precision.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384EE42-B8CE-0089-DD3A-32EA5628AAC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D94DAFB-3AB5-0A03-37EB-F86DCB90DB2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ADC - Differential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2995C99-CAD7-C961-6587-CF8BFB87D39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C0F5DBC-27F0-E68C-FB9C-B33E44E0EF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3177532-6C57-51B8-8E53-03BF0B02A42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12854DC-B356-63AD-5CA3-8E64261D727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7550FFC-B4C1-F160-D9BC-D4FB9BC5E52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499C818-37DE-C313-4AE2-26CAB704E29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FFBD0417-A150-8D58-FF5E-C83E5EDFC2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93699" y="4032963"/>
            <a:ext cx="5360511" cy="1946712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7F107DCA-C2A6-7213-8C2F-190B929C168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76807" y="4032963"/>
            <a:ext cx="5360511" cy="1885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4687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DA376AD-F3F9-C13D-3BE5-3B6FB9AF0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7A1A782-4F79-4D70-19F1-77B1E2FA70DC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B8BC412-7484-FB59-928D-126FB601172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ADC - Calculate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7A79F6F-5EA8-AC42-EA45-5C1A09BAA5D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FDC1E91-E884-469C-F595-59F86729C48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C150228-46F8-09C1-E9C2-B8C46A83426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57A21C1-BB7A-48EC-9E27-91DB0E8197A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314F6DA-392B-D62C-DE9C-A14D82BB50A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34A0E27-C621-2076-CEDF-BD47A94EC93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63401C51-F28F-0E9D-CAE6-B6188F1D6EE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1860" y="1457387"/>
            <a:ext cx="10239925" cy="4593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34590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07AD91E-3C34-49F7-F2D6-52011C208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1F22141B-CCFF-034C-BD52-E4C3C6678CE4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F28379D uses SAR. It works like a "binary search”. Convert continuous to digital.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2000"/>
                </a:pPr>
                <a:endParaRPr lang="en-US" sz="1800" dirty="0">
                  <a:latin typeface="+mj-lt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For iteration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1" smtClean="0">
                        <a:latin typeface="Cambria Math" panose="02040503050406030204" pitchFamily="18" charset="0"/>
                      </a:rPr>
                      <m:t>i</m:t>
                    </m:r>
                  </m:oMath>
                </a14:m>
                <a:r>
                  <a:rPr lang="en-US" sz="1800" dirty="0">
                    <a:latin typeface="+mj-lt"/>
                  </a:rPr>
                  <a:t> (where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i="1">
                        <a:latin typeface="Cambria Math" panose="02040503050406030204" pitchFamily="18" charset="0"/>
                      </a:rPr>
                      <m:t>i</m:t>
                    </m:r>
                  </m:oMath>
                </a14:m>
                <a:r>
                  <a:rPr lang="en-US" sz="1800" dirty="0"/>
                  <a:t> </a:t>
                </a:r>
                <a:r>
                  <a:rPr lang="en-US" sz="1800" dirty="0">
                    <a:latin typeface="+mj-lt"/>
                  </a:rPr>
                  <a:t>goes 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1" smtClean="0"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1800" dirty="0">
                    <a:latin typeface="+mj-lt"/>
                  </a:rPr>
                  <a:t> down to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800" dirty="0"/>
                  <a:t> </a:t>
                </a:r>
                <a:r>
                  <a:rPr lang="en-US" sz="1800" dirty="0">
                    <a:latin typeface="+mj-lt"/>
                  </a:rPr>
                  <a:t>):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2000"/>
                  <a:buFont typeface="+mj-lt"/>
                  <a:buAutoNum type="arabicPeriod"/>
                </a:pPr>
                <a:r>
                  <a:rPr lang="en-US" sz="1800" b="1" dirty="0">
                    <a:latin typeface="+mj-lt"/>
                  </a:rPr>
                  <a:t>Trial Step</a:t>
                </a:r>
                <a:r>
                  <a:rPr lang="en-US" sz="1800" dirty="0">
                    <a:latin typeface="+mj-lt"/>
                  </a:rPr>
                  <a:t>: The SAR logic sets the current bit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sz="1800" dirty="0"/>
                  <a:t> </a:t>
                </a:r>
                <a:r>
                  <a:rPr lang="en-US" sz="1800" dirty="0">
                    <a:latin typeface="+mj-lt"/>
                  </a:rPr>
                  <a:t>to 1 (tentatively) and all lower bits to 0.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2000"/>
                  <a:buFont typeface="+mj-lt"/>
                  <a:buAutoNum type="arabicPeriod"/>
                </a:pPr>
                <a:r>
                  <a:rPr lang="en-US" sz="1800" b="1" dirty="0">
                    <a:latin typeface="+mj-lt"/>
                  </a:rPr>
                  <a:t>DAC Output</a:t>
                </a:r>
                <a:r>
                  <a:rPr lang="en-US" sz="1800" dirty="0">
                    <a:latin typeface="+mj-lt"/>
                  </a:rPr>
                  <a:t>: The internal DAC generates a trial voltage: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trial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accumulated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ref</m:t>
                            </m:r>
                          </m:sub>
                        </m:sSub>
                      </m:num>
                      <m:den>
                        <m:sSup>
                          <m:sSup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−1−</m:t>
                            </m:r>
                            <m:r>
                              <m:rPr>
                                <m:sty m:val="p"/>
                              </m:r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p>
                        </m:sSup>
                      </m:den>
                    </m:f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ref</m:t>
                            </m:r>
                          </m:sub>
                        </m:sSub>
                      </m:num>
                      <m:den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1800" dirty="0">
                    <a:latin typeface="+mj-lt"/>
                  </a:rPr>
                  <a:t> </a:t>
                </a:r>
                <a:r>
                  <a:rPr lang="en-US" sz="1800" i="1" dirty="0">
                    <a:latin typeface="+mj-lt"/>
                  </a:rPr>
                  <a:t>(Note: This simplifies to testing the half-way point of the remaining search interval).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2000"/>
                  <a:buFont typeface="+mj-lt"/>
                  <a:buAutoNum type="arabicPeriod"/>
                </a:pPr>
                <a:r>
                  <a:rPr lang="en-US" sz="1800" b="1" dirty="0">
                    <a:latin typeface="+mj-lt"/>
                  </a:rPr>
                  <a:t>Comparison</a:t>
                </a:r>
                <a:r>
                  <a:rPr lang="en-US" sz="1800" dirty="0">
                    <a:latin typeface="+mj-lt"/>
                  </a:rPr>
                  <a:t>: The analog comparator checks the condition: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in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trial</m:t>
                        </m:r>
                      </m:sub>
                    </m:sSub>
                  </m:oMath>
                </a14:m>
                <a:endParaRPr lang="en-US" sz="1800" dirty="0">
                  <a:latin typeface="+mj-lt"/>
                </a:endParaRP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2000"/>
                  <a:buFont typeface="+mj-lt"/>
                  <a:buAutoNum type="arabicPeriod"/>
                </a:pPr>
                <a:r>
                  <a:rPr lang="en-US" sz="1800" b="1" dirty="0">
                    <a:latin typeface="+mj-lt"/>
                  </a:rPr>
                  <a:t>Decision</a:t>
                </a:r>
                <a:r>
                  <a:rPr lang="en-US" sz="1800" dirty="0">
                    <a:latin typeface="+mj-lt"/>
                  </a:rPr>
                  <a:t>: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2000"/>
                </a:pPr>
                <a:r>
                  <a:rPr lang="en-US" sz="1800" dirty="0">
                    <a:latin typeface="+mj-lt"/>
                  </a:rPr>
                  <a:t>If </a:t>
                </a:r>
                <a:r>
                  <a:rPr lang="en-US" sz="1800" b="1" dirty="0">
                    <a:latin typeface="+mj-lt"/>
                  </a:rPr>
                  <a:t>True</a:t>
                </a:r>
                <a:r>
                  <a:rPr lang="en-US" sz="1800" dirty="0">
                    <a:latin typeface="+mj-lt"/>
                  </a:rPr>
                  <a:t>: The comparator outputs '1'. The bit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1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i="1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sz="1800" dirty="0"/>
                  <a:t> </a:t>
                </a:r>
                <a:r>
                  <a:rPr lang="en-US" sz="1800" dirty="0">
                    <a:latin typeface="+mj-lt"/>
                  </a:rPr>
                  <a:t>remains 1. The trial voltage is kept as part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1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i="1">
                            <a:latin typeface="Cambria Math" panose="02040503050406030204" pitchFamily="18" charset="0"/>
                          </a:rPr>
                          <m:t>accumulated</m:t>
                        </m:r>
                      </m:sub>
                    </m:sSub>
                  </m:oMath>
                </a14:m>
                <a:endParaRPr lang="en-US" sz="1800" dirty="0">
                  <a:latin typeface="+mj-lt"/>
                </a:endParaRP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2000"/>
                </a:pPr>
                <a:r>
                  <a:rPr lang="en-US" sz="1800" dirty="0">
                    <a:latin typeface="+mj-lt"/>
                  </a:rPr>
                  <a:t>If </a:t>
                </a:r>
                <a:r>
                  <a:rPr lang="en-US" sz="1800" b="1" dirty="0">
                    <a:latin typeface="+mj-lt"/>
                  </a:rPr>
                  <a:t>False</a:t>
                </a:r>
                <a:r>
                  <a:rPr lang="en-US" sz="1800" dirty="0">
                    <a:latin typeface="+mj-lt"/>
                  </a:rPr>
                  <a:t>: The comparator outputs '0'. The bit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1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i="1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sz="1800" dirty="0"/>
                  <a:t> </a:t>
                </a:r>
                <a:r>
                  <a:rPr lang="en-US" sz="1800" dirty="0">
                    <a:latin typeface="+mj-lt"/>
                  </a:rPr>
                  <a:t>is cleared to 0. The trial voltage is discarded.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This process converges logarithmically (because it is binary search). The error at step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i="1" smtClean="0">
                        <a:latin typeface="Cambria Math" panose="02040503050406030204" pitchFamily="18" charset="0"/>
                      </a:rPr>
                      <m:t>i</m:t>
                    </m:r>
                  </m:oMath>
                </a14:m>
                <a:r>
                  <a:rPr lang="en-US" sz="1800" dirty="0">
                    <a:latin typeface="+mj-lt"/>
                  </a:rPr>
                  <a:t> is strictly bounded by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800" i="1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800" i="1">
                                  <a:latin typeface="Cambria Math" panose="02040503050406030204" pitchFamily="18" charset="0"/>
                                </a:rPr>
                                <m:t>ref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180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m:rPr>
                                  <m:sty m:val="p"/>
                                </m:r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1800" dirty="0">
                  <a:latin typeface="+mj-lt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1F22141B-CCFF-034C-BD52-E4C3C6678CE4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491" t="-759" r="-38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BEF44DA-C535-1025-1E31-084B5A5009E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B55C3FD-2336-1923-5CC9-CDB21E1C568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ADC – SAR (Successive Approximation Register)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BAF6027-AA5A-9E5D-DCC4-B8A39AC8072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0B71C5B-ED9E-B1A6-1557-6C640067ADE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FF67282-354A-429C-E343-5DBF0F071D3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999601A-58E8-D5A8-D61D-A1DF4F42B00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7ADF4CB-405F-10BA-F19F-18279376675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6351B99-E703-CD1C-33F3-ACDED9B9693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155016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495A470-47E7-12E2-E6C8-E821D1569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29EA2A0-201B-61C8-DA4C-98755F31BFB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D1EBF95-5F55-E664-1A8B-05689BB91E2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ADC – SAR (Successive Approximation Register)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AB46E8B-2064-8C04-099C-7835E943770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9CADD25-871C-452B-2453-504DFEAFC17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D1A532C-6B13-E613-9C4A-986C7B2438A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334E26F-F0B3-D249-95DF-2EC80FE6174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D37E43A-5794-E26F-33EA-E07F7738CE7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CFBE993-8C7E-3A62-1DA7-950853D8827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AB2E0165-C1E4-5D08-6847-3A62DFCC6B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3749" y="906290"/>
            <a:ext cx="7064503" cy="557968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689A4A0-A242-B83D-D714-7144DD95FE6C}"/>
              </a:ext>
            </a:extLst>
          </p:cNvPr>
          <p:cNvSpPr txBox="1"/>
          <p:nvPr/>
        </p:nvSpPr>
        <p:spPr>
          <a:xfrm>
            <a:off x="4101443" y="6393235"/>
            <a:ext cx="39891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hlinkClick r:id="rId5"/>
              </a:rPr>
              <a:t>https://en.wikipedia.org/wiki/Successive-approximation_ADC</a:t>
            </a:r>
            <a:r>
              <a:rPr lang="en-US" sz="11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889494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7DED420E-CFE9-41C7-70F2-CA5E9D09F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40687A0B-085F-32D8-EEB2-4DBA8280D9F4}"/>
              </a:ext>
            </a:extLst>
          </p:cNvPr>
          <p:cNvSpPr txBox="1"/>
          <p:nvPr/>
        </p:nvSpPr>
        <p:spPr>
          <a:xfrm>
            <a:off x="1295400" y="2948490"/>
            <a:ext cx="9601200" cy="133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SOC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1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 algn="ctr"/>
            <a:r>
              <a:rPr lang="en-US" sz="1800" b="0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(</a:t>
            </a:r>
            <a:r>
              <a:rPr lang="en-US" sz="1800" dirty="0">
                <a:solidFill>
                  <a:srgbClr val="15264B"/>
                </a:solidFill>
              </a:rPr>
              <a:t>Start-of-Conversion</a:t>
            </a:r>
            <a:r>
              <a:rPr lang="en-US" sz="1800" b="0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60FD4B8B-5BDA-4D60-1F74-CB696EDC02F9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937BF98E-749E-1DD1-3550-64D8DAD56516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7A9DE242-CB5B-8BA7-DA31-E398C6CBBA1D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9E122F30-A0C4-B471-C26E-A26B6120F54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8A16F689-8438-6FE6-5933-37D22FFAC7C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975701BA-3373-6370-3C64-56F6B2F62FDD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561865F7-79EC-FC59-67FB-65C9FF63FD8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C8FDE619-7548-2324-8C1A-78BD5337D0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4407D761-C337-EC7F-05F5-5C563795B84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05771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CF33050-837F-0353-5DC8-44AE106F84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DBB153E3-513E-3D6E-60C3-5B3F465770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In simple microcontrollers (like Arduino), you usually just say “Read analog value from pin A0 now!”. In more advanced controllers we use </a:t>
            </a:r>
            <a:r>
              <a:rPr lang="en-US" sz="1800" b="1" dirty="0">
                <a:latin typeface="+mj-lt"/>
              </a:rPr>
              <a:t>SOCs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b="1" dirty="0">
              <a:latin typeface="+mj-lt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SOCs is a configuration set that defines </a:t>
            </a:r>
            <a:r>
              <a:rPr lang="en-US" sz="1800" i="1" dirty="0">
                <a:latin typeface="+mj-lt"/>
              </a:rPr>
              <a:t>what </a:t>
            </a:r>
            <a:r>
              <a:rPr lang="en-US" sz="1800" dirty="0">
                <a:latin typeface="+mj-lt"/>
              </a:rPr>
              <a:t>happens, not just </a:t>
            </a:r>
            <a:r>
              <a:rPr lang="en-US" sz="1800" i="1" dirty="0">
                <a:latin typeface="+mj-lt"/>
              </a:rPr>
              <a:t>when: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i="1" dirty="0">
              <a:latin typeface="+mj-lt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You do not configure the ADC directly, you configure “SOC0” “SOC1”, </a:t>
            </a:r>
            <a:r>
              <a:rPr lang="en-US" sz="1800" dirty="0" err="1">
                <a:latin typeface="+mj-lt"/>
              </a:rPr>
              <a:t>etc</a:t>
            </a:r>
            <a:r>
              <a:rPr lang="en-US" sz="1800" dirty="0">
                <a:latin typeface="+mj-lt"/>
              </a:rPr>
              <a:t>…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Each SOC defines: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b="1" dirty="0">
                <a:latin typeface="+mj-lt"/>
              </a:rPr>
              <a:t>Trigger Source</a:t>
            </a:r>
            <a:r>
              <a:rPr lang="en-US" sz="1800" dirty="0">
                <a:latin typeface="+mj-lt"/>
              </a:rPr>
              <a:t>: What causes the same? (Timer, Software, </a:t>
            </a:r>
            <a:r>
              <a:rPr lang="en-US" sz="1800" dirty="0" err="1">
                <a:latin typeface="+mj-lt"/>
              </a:rPr>
              <a:t>ePWM</a:t>
            </a:r>
            <a:r>
              <a:rPr lang="en-US" sz="1800" dirty="0">
                <a:latin typeface="+mj-lt"/>
              </a:rPr>
              <a:t>, GPIO).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b="1" dirty="0">
                <a:latin typeface="+mj-lt"/>
              </a:rPr>
              <a:t>Channel: </a:t>
            </a:r>
            <a:r>
              <a:rPr lang="en-US" sz="1800" dirty="0">
                <a:latin typeface="+mj-lt"/>
              </a:rPr>
              <a:t>Which pin to sample? (e.g. ADCINA4).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b="1" dirty="0">
                <a:latin typeface="+mj-lt"/>
              </a:rPr>
              <a:t>Acquisition Window (ACQPS): </a:t>
            </a:r>
            <a:r>
              <a:rPr lang="en-US" sz="1800" dirty="0">
                <a:latin typeface="+mj-lt"/>
              </a:rPr>
              <a:t>How long to hold the “sample” switch open?</a:t>
            </a:r>
            <a:endParaRPr lang="en-US" sz="1800" b="1" dirty="0">
              <a:latin typeface="+mj-lt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CB3BC4D-4275-AC2B-9B45-29DBEE62D5A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291CBD8-AC86-533B-450E-9738E57E9A6E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SOC - Intro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36F6DE9-3778-6A0C-FFB9-A3DDA14716C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760293C-10CB-95B6-84F8-34753AAA859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17A3473-4693-9F6D-3FAD-017E64B97BE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7A8074F-6729-E811-AE3E-C98E2A7D527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E0AD784-026F-AE1E-CE59-8C4746EDA7B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80950DD-1B0F-AB3C-B19B-4B4FA57DC8D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272737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A72AE47-290F-3156-00AF-C8F7B4AB6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236A02A5-F835-5AA1-83A4-A99BCA8F27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The ADC is an event-based machine.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For example, you can set SOC1 to trigger on </a:t>
            </a:r>
            <a:r>
              <a:rPr lang="en-US" sz="1800" b="1" dirty="0">
                <a:latin typeface="+mj-lt"/>
              </a:rPr>
              <a:t>ePWM1</a:t>
            </a:r>
            <a:r>
              <a:rPr lang="en-US" sz="1800" dirty="0">
                <a:latin typeface="+mj-lt"/>
              </a:rPr>
              <a:t> (for motor currents) and SOC1 to trigger on </a:t>
            </a:r>
            <a:r>
              <a:rPr lang="en-US" sz="1800" b="1" dirty="0">
                <a:latin typeface="+mj-lt"/>
              </a:rPr>
              <a:t>CPU Timer 2 </a:t>
            </a:r>
            <a:r>
              <a:rPr lang="en-US" sz="1800" dirty="0">
                <a:latin typeface="+mj-lt"/>
              </a:rPr>
              <a:t>( for temperature monitoring)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What to do if multiple triggers arrive at once? We use a </a:t>
            </a:r>
            <a:r>
              <a:rPr lang="en-US" sz="1800" b="1" dirty="0">
                <a:latin typeface="+mj-lt"/>
              </a:rPr>
              <a:t>Round Robin</a:t>
            </a:r>
            <a:r>
              <a:rPr lang="en-US" sz="1800" dirty="0">
                <a:latin typeface="+mj-lt"/>
              </a:rPr>
              <a:t>, to decide which SOC converts first.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You can assign SOCs to have strict priority over others (critical safety loops)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B477B66-FC3E-B9BD-8B82-ECF1B153A0E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E85B2E6-D06F-F14E-907E-16CEAA95881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SOC – Trigger Sources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8231CE3-C413-0227-DF6E-FDA353429D0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E196062-81B4-8933-F2E3-E657C1A8837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A3E8CCF-B558-C234-A913-2D0748B7EA9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6860F51-D45E-30BE-0079-C2C0E2CEACE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F4AD08D-93EA-CDC3-92EB-BE020EC90F1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C052DEB-7A9F-A263-F6A5-AFCBF6D9269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311411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3E76D0A-B51E-F4E4-7B2F-168E6D8EC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9204114-962A-DD4E-724B-A4E0429093A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193850F-39C7-17A6-C508-47BDF4B7539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SOC – Trigger Sources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48863F7-0033-FBB7-96CD-924DCC839E7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7BD74B7-4C3E-5319-C996-9DBF3985163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3A73752-08B6-303E-15FF-37CF5C583DD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62BE0B3-0BE5-28D2-070F-44581E98140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0FB6917-3763-D708-8647-8F6692BD4D5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3CD3FDF-7C97-8E2A-A3F2-97F9A47D5CC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BC7B23A1-7B33-9631-08E4-8494D1AAD64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89587" y="913768"/>
            <a:ext cx="4380461" cy="5687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54276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BA6B744-51B5-C944-B4A3-DBB76164E2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2DC2894-E22E-90BC-F924-976ADBABCB3C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The internal capacitor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800" dirty="0">
                    <a:latin typeface="+mj-lt"/>
                  </a:rPr>
                  <a:t> needs time to charge. If the source impedance is high (weak signal), it takes longer</a:t>
                </a: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 algn="ctr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 err="1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AdcxRegs.</a:t>
                </a:r>
                <a:r>
                  <a:rPr lang="en-US" sz="1800" dirty="0" err="1">
                    <a:solidFill>
                      <a:srgbClr val="0000C0"/>
                    </a:solidFill>
                    <a:latin typeface="Consolas" panose="020B0609020204030204" pitchFamily="49" charset="0"/>
                  </a:rPr>
                  <a:t>ADCSOCxCTL</a:t>
                </a:r>
                <a:r>
                  <a:rPr lang="en-US" sz="1800" dirty="0" err="1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.</a:t>
                </a:r>
                <a:r>
                  <a:rPr lang="en-US" sz="1800" dirty="0" err="1">
                    <a:solidFill>
                      <a:srgbClr val="0000C0"/>
                    </a:solidFill>
                    <a:latin typeface="Consolas" panose="020B0609020204030204" pitchFamily="49" charset="0"/>
                  </a:rPr>
                  <a:t>bit</a:t>
                </a:r>
                <a:r>
                  <a:rPr lang="en-US" sz="1800" dirty="0" err="1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.</a:t>
                </a:r>
                <a:r>
                  <a:rPr lang="en-US" sz="1800" dirty="0" err="1">
                    <a:solidFill>
                      <a:srgbClr val="0000C0"/>
                    </a:solidFill>
                    <a:latin typeface="Consolas" panose="020B0609020204030204" pitchFamily="49" charset="0"/>
                  </a:rPr>
                  <a:t>ACQPS</a:t>
                </a:r>
                <a:endParaRPr lang="en-US" sz="1800" dirty="0">
                  <a:solidFill>
                    <a:srgbClr val="0000C0"/>
                  </a:solidFill>
                  <a:latin typeface="Consolas" panose="020B0609020204030204" pitchFamily="49" charset="0"/>
                </a:endParaRPr>
              </a:p>
              <a:p>
                <a:pPr marL="0" lvl="0" indent="0" algn="ctr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solidFill>
                    <a:srgbClr val="0000C0"/>
                  </a:solidFill>
                  <a:latin typeface="Consolas" panose="020B0609020204030204" pitchFamily="49" charset="0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+mj-lt"/>
                  </a:rPr>
                  <a:t>ACQPS is a 9-bit register that can be set to a value between 0 and 511, resulting in an acquisition window duration of:</a:t>
                </a: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 algn="ctr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Acquisition Window = </a:t>
                </a:r>
                <a14:m>
                  <m:oMath xmlns:m="http://schemas.openxmlformats.org/officeDocument/2006/math">
                    <m:r>
                      <a:rPr lang="en-US" sz="1800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1800" b="0" i="1" smtClean="0">
                        <a:latin typeface="Cambria Math" panose="02040503050406030204" pitchFamily="18" charset="0"/>
                      </a:rPr>
                      <m:t>ACQPS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 + 1)×(</m:t>
                    </m:r>
                    <m:r>
                      <m:rPr>
                        <m:sty m:val="p"/>
                      </m:rP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System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Clock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(</m:t>
                    </m:r>
                    <m:r>
                      <m:rPr>
                        <m:sty m:val="p"/>
                      </m:rP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SYSCLK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 </m:t>
                    </m:r>
                    <m:r>
                      <m:rPr>
                        <m:sty m:val="p"/>
                      </m:rP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cycle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time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800" dirty="0">
                    <a:latin typeface="+mj-lt"/>
                  </a:rPr>
                  <a:t>.</a:t>
                </a:r>
              </a:p>
              <a:p>
                <a:pPr marL="0" lvl="0" indent="0" algn="ctr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The acquisition window duration is based on the System Clock (SYSCLK), not the ADC clock (ADCCLK)!</a:t>
                </a: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Why it matters: If you make this too short, the capacitor won't fully charge, and you will read the previous channel's "ghost" voltage (cross-talk).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2DC2894-E22E-90BC-F924-976ADBABCB3C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491" t="-759" r="-10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206D236-694C-450A-588F-C0743601A11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4ABFD74-F44A-237B-0AEA-520D9A9B048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SOC – Acquisition Window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3EA2FC1-E9A1-6FCD-4738-727C78AA92B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7081AFC-EF1F-0574-FE5E-A7EC15152F7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EB84976-10A7-4ADD-AA4F-9C70673ED6B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02704A0-3C76-A8F8-F352-5B948AE3F1D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EE239FC-A5D8-B0FA-E4EC-392ABC72E42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04C4E6A-F04A-0625-0AD6-7AE7E59E079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1143707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7111FCA-31C3-7500-8BFC-980E6B422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473F64A1-C7AC-18C3-3CAA-EA5993AE01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You don’t need an interrupt for </a:t>
            </a:r>
            <a:r>
              <a:rPr lang="en-US" sz="1800" i="1" dirty="0">
                <a:latin typeface="+mj-lt"/>
              </a:rPr>
              <a:t>every </a:t>
            </a:r>
            <a:r>
              <a:rPr lang="en-US" sz="1800" dirty="0">
                <a:latin typeface="+mj-lt"/>
              </a:rPr>
              <a:t>sample ( bit ).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You can set an interrupt to fire only after a </a:t>
            </a:r>
            <a:r>
              <a:rPr lang="en-US" sz="1800" i="1" dirty="0">
                <a:latin typeface="+mj-lt"/>
              </a:rPr>
              <a:t>sequence </a:t>
            </a:r>
            <a:r>
              <a:rPr lang="en-US" sz="1800" dirty="0">
                <a:latin typeface="+mj-lt"/>
              </a:rPr>
              <a:t>(e.g. After SOC3 completes)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b="1" dirty="0">
                <a:latin typeface="+mj-lt"/>
              </a:rPr>
              <a:t>Early vs Late Interrupts</a:t>
            </a:r>
            <a:r>
              <a:rPr lang="en-US" sz="1800" dirty="0">
                <a:latin typeface="+mj-lt"/>
              </a:rPr>
              <a:t>: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b="1" dirty="0">
                <a:latin typeface="+mj-lt"/>
              </a:rPr>
              <a:t>Early</a:t>
            </a:r>
            <a:r>
              <a:rPr lang="en-US" sz="1800" dirty="0">
                <a:latin typeface="+mj-lt"/>
              </a:rPr>
              <a:t>: First the interrupt at the end of acquisition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b="1" dirty="0">
                <a:latin typeface="+mj-lt"/>
              </a:rPr>
              <a:t>Late</a:t>
            </a:r>
            <a:r>
              <a:rPr lang="en-US" sz="1800" dirty="0">
                <a:latin typeface="+mj-lt"/>
              </a:rPr>
              <a:t>: At the end of conversion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63F89CD-DB3C-E410-2C37-B467453BFC0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5E14760-2C08-EE3B-4E79-D22FE640470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SOC – Interrupts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18E6CEA-9CFB-AB60-7240-479A591895C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5E986E8-03EE-B876-5E9C-57EFE434EBA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097A35F-3A4A-BA88-DF66-A910325AAFD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8E116B3-9C5F-CF51-B58A-F09433EDD0F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4BE85FF-540B-E130-6E81-B85576801A9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B5EBCBE-EBE3-9608-D97B-A78F269F568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889968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F705884-0621-310A-848E-6BA1B7FC1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8FC1B80D-3FD3-EEDD-838B-44D984EB87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80108" y="1103487"/>
            <a:ext cx="11177401" cy="5305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AdcaRegs.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ADCSOC5CTL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CHSEL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1;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//SOC5 will convert ADCINA1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AdcaRegs.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ADCSOC5CTL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ACQPS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19;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//SOC5 will use sample duration of 20 SYSCLK cycles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AdcaRegs.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ADCSOC5CTL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TRIGSEL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10;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//SOC5 will begin conversion on ePWM3 SOCB</a:t>
            </a:r>
            <a:endParaRPr lang="en-US" sz="1400" dirty="0">
              <a:latin typeface="+mj-lt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EABA1FD-D6AE-ABEA-1E2D-94B7C8710DE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5CECF82-D855-6A8D-EBD4-637FA048C1C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ADC – Single Conversion from </a:t>
            </a:r>
            <a:r>
              <a:rPr lang="en-US" sz="2400" b="0" i="0" u="none" strike="noStrike" cap="none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ePWM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70373B8-9CEB-E8BA-126F-C9667E55CC8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646FBEF-F69E-A3A1-5CDA-66230B315FE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64B92AB-FEF9-097C-EF9E-1FA4926F335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AD96AC1-E742-CA1E-77C6-CCC6441449C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6CC87B2-6161-82BC-E6BB-65FAB9C18A9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6DBA5E2-40C5-538F-B85A-2B6CA09095A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799531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74BC084-EA3B-405F-CF0B-6A237766F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CBD0FE4-E5CB-7604-8E08-42EBBE8D32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80108" y="1103487"/>
            <a:ext cx="11177401" cy="5305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EALLOW;                                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//write configurations for all ADCs ADCB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AdcbRegs.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ADCCTL2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PRESCALE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6;     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//set ADCCLK divider to /4</a:t>
            </a:r>
          </a:p>
          <a:p>
            <a:pPr marL="114300" indent="0" algn="l">
              <a:buNone/>
            </a:pPr>
            <a:r>
              <a:rPr lang="en-US" sz="1400" dirty="0" err="1">
                <a:solidFill>
                  <a:srgbClr val="642880"/>
                </a:solidFill>
                <a:latin typeface="Consolas" panose="020B0609020204030204" pitchFamily="49" charset="0"/>
              </a:rPr>
              <a:t>AdcSetMode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(ADC_ADCB, </a:t>
            </a:r>
            <a:r>
              <a:rPr lang="en-US" sz="1400" i="1" dirty="0">
                <a:solidFill>
                  <a:srgbClr val="0000C0"/>
                </a:solidFill>
                <a:latin typeface="Consolas" panose="020B0609020204030204" pitchFamily="49" charset="0"/>
              </a:rPr>
              <a:t>ADC_RESOLUTION_12BIT</a:t>
            </a:r>
            <a:r>
              <a:rPr lang="en-US" sz="1400" i="1" dirty="0">
                <a:solidFill>
                  <a:srgbClr val="000000"/>
                </a:solidFill>
                <a:latin typeface="Consolas" panose="020B0609020204030204" pitchFamily="49" charset="0"/>
              </a:rPr>
              <a:t>, ADC_SIGNALMODE_SINGLE); </a:t>
            </a:r>
            <a:r>
              <a:rPr lang="en-US" sz="1400" i="1" dirty="0">
                <a:solidFill>
                  <a:srgbClr val="3F7F5F"/>
                </a:solidFill>
                <a:latin typeface="Consolas" panose="020B0609020204030204" pitchFamily="49" charset="0"/>
              </a:rPr>
              <a:t>//read calibration settings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//Set pulse positions to late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AdcbRegs.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ADCCTL1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INTPULSEPOS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1;  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//power up the ADCs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AdcbRegs.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ADCCTL1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ADCPWDNZ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1;</a:t>
            </a:r>
            <a:endParaRPr lang="en-US" sz="1400" dirty="0">
              <a:solidFill>
                <a:srgbClr val="3F7F5F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DELAY_US(1000);                        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//delay for 1ms to allow ADC time to power up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endParaRPr lang="en-US" sz="1400" dirty="0">
              <a:solidFill>
                <a:srgbClr val="3F7F5F"/>
              </a:solidFill>
              <a:latin typeface="Consolas" panose="020B0609020204030204" pitchFamily="49" charset="0"/>
            </a:endParaRP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AdcbRegs.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ADCSOC0CTL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CHSEL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4;     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//SOC0 will convert Channel you choose Does not have to be B0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AdcbRegs.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ADCSOC0CTL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ACQPS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99;    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//sample window is </a:t>
            </a:r>
            <a:r>
              <a:rPr lang="en-US" sz="1400" dirty="0" err="1">
                <a:solidFill>
                  <a:srgbClr val="3F7F5F"/>
                </a:solidFill>
                <a:latin typeface="Consolas" panose="020B0609020204030204" pitchFamily="49" charset="0"/>
              </a:rPr>
              <a:t>acqps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 + 1 SYSCLK cycles = 500ns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AdcbRegs.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ADCSOC0CTL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TRIGSEL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0x11;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 EPWM7 ADCSOCA or another trigger you choose will trigger SOC0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AdcbRegs.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ADCINTSEL1N2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INT1SEL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0; 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//set to last SOC that is converted and it will set INT1 flag ADCB1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AdcbRegs.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ADCINTSEL1N2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INT1E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1;   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//enable INT1 flag, originally = 1 (need to set to 1 for non-DMA)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AdcbRegs.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ADCINTFLGCLR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ADCINT1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1; 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//make sure INT1 flag is cleared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AdcbRegs.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ADCINTSEL1N2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INT1CONT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1;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 Interrupt pulses regardless of flag state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EDIS;</a:t>
            </a:r>
            <a:endParaRPr lang="en-US" sz="1400" dirty="0">
              <a:latin typeface="+mj-lt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40917B3-DC40-97B8-022C-DE895B0BE6A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43E713D-BD7E-485D-D76C-2E07F8B9996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ADC – FFT Code (much more complicated example)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02748D5-BFA1-A7D4-7678-E8903B68D1B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751D587-303D-3503-F384-28DC87F1334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9F51B78-5055-4923-C0F3-E2A7D564BB2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F0BA4DC-14CA-1194-7A7C-9531E7166B7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765D45E-63A2-964C-3AB5-B1995639208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B7431A2-21CA-D59F-1F7C-2F221CB12B2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79332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>
          <a:extLst>
            <a:ext uri="{FF2B5EF4-FFF2-40B4-BE49-F238E27FC236}">
              <a16:creationId xmlns:a16="http://schemas.microsoft.com/office/drawing/2014/main" id="{FA145421-BB40-88A0-CFFD-DC4D9CAC5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>
            <a:extLst>
              <a:ext uri="{FF2B5EF4-FFF2-40B4-BE49-F238E27FC236}">
                <a16:creationId xmlns:a16="http://schemas.microsoft.com/office/drawing/2014/main" id="{B5B2745B-F5C6-8FBF-1FAE-FE621EFA88F0}"/>
              </a:ext>
            </a:extLst>
          </p:cNvPr>
          <p:cNvSpPr txBox="1"/>
          <p:nvPr/>
        </p:nvSpPr>
        <p:spPr>
          <a:xfrm>
            <a:off x="2275515" y="2823928"/>
            <a:ext cx="7640969" cy="1210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/>
            <a:r>
              <a:rPr lang="en-US" sz="6600" b="1" dirty="0">
                <a:solidFill>
                  <a:schemeClr val="lt1"/>
                </a:solidFill>
              </a:rPr>
              <a:t>Questions</a:t>
            </a:r>
            <a:r>
              <a:rPr lang="en-US" sz="5400" b="1" dirty="0">
                <a:solidFill>
                  <a:schemeClr val="lt1"/>
                </a:solidFill>
              </a:rPr>
              <a:t>?</a:t>
            </a:r>
          </a:p>
        </p:txBody>
      </p:sp>
      <p:pic>
        <p:nvPicPr>
          <p:cNvPr id="265" name="Google Shape;265;p37">
            <a:extLst>
              <a:ext uri="{FF2B5EF4-FFF2-40B4-BE49-F238E27FC236}">
                <a16:creationId xmlns:a16="http://schemas.microsoft.com/office/drawing/2014/main" id="{EDC8C897-5AB2-076F-5135-9B30ACCBD22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>
            <a:extLst>
              <a:ext uri="{FF2B5EF4-FFF2-40B4-BE49-F238E27FC236}">
                <a16:creationId xmlns:a16="http://schemas.microsoft.com/office/drawing/2014/main" id="{CF8648FC-7240-4BBB-9E09-C030BD1A80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>
            <a:extLst>
              <a:ext uri="{FF2B5EF4-FFF2-40B4-BE49-F238E27FC236}">
                <a16:creationId xmlns:a16="http://schemas.microsoft.com/office/drawing/2014/main" id="{6A5B7064-0FC6-E501-D020-2C92B5A6057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>
            <a:extLst>
              <a:ext uri="{FF2B5EF4-FFF2-40B4-BE49-F238E27FC236}">
                <a16:creationId xmlns:a16="http://schemas.microsoft.com/office/drawing/2014/main" id="{69F24B96-E9CD-EB54-C22A-3DD90799A7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>
              <a:extLst>
                <a:ext uri="{FF2B5EF4-FFF2-40B4-BE49-F238E27FC236}">
                  <a16:creationId xmlns:a16="http://schemas.microsoft.com/office/drawing/2014/main" id="{BDF89024-C4A2-8F3A-DA57-A772C13680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>
              <a:extLst>
                <a:ext uri="{FF2B5EF4-FFF2-40B4-BE49-F238E27FC236}">
                  <a16:creationId xmlns:a16="http://schemas.microsoft.com/office/drawing/2014/main" id="{B3758997-614E-F4D9-9F4D-D716DCC856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59897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59350" y="2791508"/>
            <a:ext cx="5414193" cy="1274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532</TotalTime>
  <Words>1987</Words>
  <Application>Microsoft Office PowerPoint</Application>
  <PresentationFormat>Widescreen</PresentationFormat>
  <Paragraphs>277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Arial</vt:lpstr>
      <vt:lpstr>Calibri</vt:lpstr>
      <vt:lpstr>Cambria Math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Nielsen, Joshua</dc:creator>
  <cp:lastModifiedBy>Juston, Marius F</cp:lastModifiedBy>
  <cp:revision>116</cp:revision>
  <dcterms:created xsi:type="dcterms:W3CDTF">2019-01-14T22:06:33Z</dcterms:created>
  <dcterms:modified xsi:type="dcterms:W3CDTF">2026-02-08T03:10:42Z</dcterms:modified>
</cp:coreProperties>
</file>