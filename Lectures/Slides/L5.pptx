
<file path=[Content_Types].xml><?xml version="1.0" encoding="utf-8"?>
<Types xmlns="http://schemas.openxmlformats.org/package/2006/content-types">
  <Default Extension="gif" ContentType="image/gif"/>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32"/>
  </p:notesMasterIdLst>
  <p:sldIdLst>
    <p:sldId id="256" r:id="rId2"/>
    <p:sldId id="310" r:id="rId3"/>
    <p:sldId id="311" r:id="rId4"/>
    <p:sldId id="259" r:id="rId5"/>
    <p:sldId id="258" r:id="rId6"/>
    <p:sldId id="312" r:id="rId7"/>
    <p:sldId id="313" r:id="rId8"/>
    <p:sldId id="314" r:id="rId9"/>
    <p:sldId id="316" r:id="rId10"/>
    <p:sldId id="317" r:id="rId11"/>
    <p:sldId id="318" r:id="rId12"/>
    <p:sldId id="319" r:id="rId13"/>
    <p:sldId id="320" r:id="rId14"/>
    <p:sldId id="321" r:id="rId15"/>
    <p:sldId id="322" r:id="rId16"/>
    <p:sldId id="323" r:id="rId17"/>
    <p:sldId id="324" r:id="rId18"/>
    <p:sldId id="327" r:id="rId19"/>
    <p:sldId id="334" r:id="rId20"/>
    <p:sldId id="335" r:id="rId21"/>
    <p:sldId id="328" r:id="rId22"/>
    <p:sldId id="329" r:id="rId23"/>
    <p:sldId id="330" r:id="rId24"/>
    <p:sldId id="331" r:id="rId25"/>
    <p:sldId id="332" r:id="rId26"/>
    <p:sldId id="333" r:id="rId27"/>
    <p:sldId id="325" r:id="rId28"/>
    <p:sldId id="326" r:id="rId29"/>
    <p:sldId id="271" r:id="rId30"/>
    <p:sldId id="270" r:id="rId31"/>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defaultTextStyle>
  <p:extLst>
    <p:ext uri="{EFAFB233-063F-42B5-8137-9DF3F51BA10A}">
      <p15:sldGuideLst xmlns:p15="http://schemas.microsoft.com/office/powerpoint/2012/main"/>
    </p:ext>
    <p: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33" roundtripDataSignature="AMtx7mjKkk5wOoQj6sDPPETbbKgHU96Dz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79933" autoAdjust="0"/>
  </p:normalViewPr>
  <p:slideViewPr>
    <p:cSldViewPr snapToGrid="0">
      <p:cViewPr varScale="1">
        <p:scale>
          <a:sx n="127" d="100"/>
          <a:sy n="127" d="100"/>
        </p:scale>
        <p:origin x="840" y="12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customschemas.google.com/relationships/presentationmetadata" Target="metadata"/><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notesMaster" Target="notesMasters/notesMaster1.xml"/><Relationship Id="rId37"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Atkinson Hyperlegible Next"/>
                <a:ea typeface="Calibri"/>
                <a:cs typeface="Calibri"/>
                <a:sym typeface="Calibri"/>
              </a:rPr>
              <a:t>‹#›</a:t>
            </a:fld>
            <a:endParaRPr sz="1200" b="0" i="0" u="none" strike="noStrike" cap="none">
              <a:solidFill>
                <a:schemeClr val="dk1"/>
              </a:solidFill>
              <a:latin typeface="Atkinson Hyperlegible Next"/>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
        <p:cNvGrpSpPr/>
        <p:nvPr/>
      </p:nvGrpSpPr>
      <p:grpSpPr>
        <a:xfrm>
          <a:off x="0" y="0"/>
          <a:ext cx="0" cy="0"/>
          <a:chOff x="0" y="0"/>
          <a:chExt cx="0" cy="0"/>
        </a:xfrm>
      </p:grpSpPr>
      <p:sp>
        <p:nvSpPr>
          <p:cNvPr id="79" name="Google Shape;79;p2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0" name="Google Shape;80;p2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11560CD-FFDE-70C6-6183-A453F3E9816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57E4E91-ED9F-DE16-BEB6-F07455961AC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063A7F12-DA54-6672-271A-7F884E56D74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9994344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46BB021B-4C2E-58B0-7B17-0FB83D9600F0}"/>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0C0472AC-2E57-40C3-3F46-8CE40D413A5C}"/>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DA0F0361-466B-375A-18E7-2198E1CD8C3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5410813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p:cNvGrpSpPr/>
        <p:nvPr/>
      </p:nvGrpSpPr>
      <p:grpSpPr>
        <a:xfrm>
          <a:off x="0" y="0"/>
          <a:ext cx="0" cy="0"/>
          <a:chOff x="0" y="0"/>
          <a:chExt cx="0" cy="0"/>
        </a:xfrm>
      </p:grpSpPr>
      <p:sp>
        <p:nvSpPr>
          <p:cNvPr id="115" name="Google Shape;115;p29: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p:cNvGrpSpPr/>
        <p:nvPr/>
      </p:nvGrpSpPr>
      <p:grpSpPr>
        <a:xfrm>
          <a:off x="0" y="0"/>
          <a:ext cx="0" cy="0"/>
          <a:chOff x="0" y="0"/>
          <a:chExt cx="0" cy="0"/>
        </a:xfrm>
      </p:grpSpPr>
      <p:sp>
        <p:nvSpPr>
          <p:cNvPr id="101" name="Google Shape;101;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EAFA202-7A7B-7DD0-F218-5A858905380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A2D013F-453D-57A9-383A-C45AA77FDF6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8385503-D8E0-89D2-7BC7-02CC7C9FAEF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34620296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0E32622-5A88-89D8-C8F1-7EEF6ADC89A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AA0EC07-2446-17ED-D674-CD7E2E62DD2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464E5B4-5024-AD55-0C86-BCBB1CC6B14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8074554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A5D7C26-16C5-F3CB-2617-294E585397F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8D89B72-D17B-2C54-3234-15FFC9BAC1F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673B166-BDFB-6D40-2A07-200FB4CB98B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6573675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24BFE36-921A-787F-36A2-E5783E2A5CB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268DE94-6B6E-E146-F5A8-D8F2298871D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17441D0-9AE7-FA0B-2840-D46B614709B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86985036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B33667E-D22D-A9E5-5051-DCDF762F54B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A42024C-4201-CF5A-3061-0A214F0B9FE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14AF33B-6B77-F85E-C343-12409F62596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9725589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0CEE4E0-E729-ADCB-DDF5-CF16331BD0C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3BF918E-F6BC-6FB8-C735-34FA1A2E961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BB99FF6-DFB0-09DA-4895-3A69E86D8E4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62570403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B91907B6-BAF1-014B-5BDE-3007A3B1373D}"/>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82685E68-CB7E-1651-E0C0-BDAE3C251CE8}"/>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4A1F2A62-D603-2C65-28B5-08B095EC24A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52405546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75F944E-35B0-F324-E84E-524C252ACB0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0582620-4B30-B709-7443-7C28D7C1A22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6FEA4B9-222A-4C2E-D383-480192C0C6D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65342254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E42DDEC-8C1A-99AC-C870-4662B24F57D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922DC48-3593-D2CD-E29E-B7310BE485D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FDBD370-811B-562D-7E96-93332CCBC2F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4471309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033BCE8-44A6-F291-788A-BF29B3D3718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88889E3-26B5-DA42-3725-F9DCC721294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6879233-1484-B707-7EEA-C6515BA1CFA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67462085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2CF778B-8B57-4CCA-B03B-F5D56438014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DA25426-4750-2330-E310-479A359BEB6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306564B-3C55-FF60-73D0-4D2F844B8CA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68522534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A44B34A-1487-CD1A-D5B4-616580CD019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5033BC6-BDC4-ED71-AF22-4CD8F8EC09D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3B2BC01-0B52-2B55-B3F5-F0DA8E2278D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38187621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C6D3CE3-3C2E-3309-D987-BED8F45B708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C1049AD-EFFF-0F28-10EB-4E85FD5B6D1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A4F0E05-AB3F-5CB6-3412-06B730B0B90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61707449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B27C2BF-D0C7-CAD0-EC8F-4B3D5F9B6F5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9CB5EC1-80FA-6724-B7D8-4A8BDF9C5E5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A614309-B54A-722D-059E-1F403E2F46C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70292892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F69B7B7-52DC-D2DA-F968-1B5BAD1BBC6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BD5E3A4-78A6-98A6-FCA0-7267CFFCA41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7832250-7A07-D54B-C041-520DFDACE3B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55940054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A25EB443-F40D-04C5-4625-E8BEF492C274}"/>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5B9EA337-B3F1-17B8-2F2E-305FB14AD95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A7245D43-0B29-5082-6815-4A474A98DB6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72917545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377CB72-345F-C844-80BF-BFB0696C9F5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C2D405C-7E84-1EC7-AC0A-0F4CF9AAA82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7429B4D-D7D0-8746-749D-6C94A18503C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19654804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ABE3A49-48BE-84F7-AC68-776314AD204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5D1E1C6-966E-EE50-3205-1D90221FD32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1E98D73-78E3-D6DB-DB3A-98AF8F04FA2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40165657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0F56825-FF90-97D5-58DC-D6EAFEF2ED0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9F201D5-5238-C99E-0B86-53C05580B28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1B42490-B41B-EAE8-DBCB-79995A39569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931777718"/>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410C5FF-8161-693B-FDD1-CE98ED1C830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2385E75-D4B5-70AC-BB91-AEDF16E82E0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53A7B88-727C-82DF-5382-79518B1BB0B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9549699"/>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99291AE-B072-B316-90B5-FA07258AC21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834F16C-C9F6-4678-08BB-300F5A711CC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D39FCC6-0950-A218-CC5A-F6FEABFAF4F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92127442"/>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C28E83F-4C55-6267-55FD-6188C2935A4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8AA0B0C-10C3-1C13-C9DD-073E33817F1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93BFF3A-1594-BC31-82FC-19ABA1EC9E7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577837792"/>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E45ED8E-0A33-9521-31D4-3A4F1FD5F82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515AA73-18F3-7558-20C1-C36A195CE0F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228F420-97AD-D0C2-E1EE-93200896FC3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625424593"/>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a:extLst>
            <a:ext uri="{FF2B5EF4-FFF2-40B4-BE49-F238E27FC236}">
              <a16:creationId xmlns:a16="http://schemas.microsoft.com/office/drawing/2014/main" id="{ED6D95D0-49C4-BE65-6DB0-A8408AD9A1A2}"/>
            </a:ext>
          </a:extLst>
        </p:cNvPr>
        <p:cNvGrpSpPr/>
        <p:nvPr/>
      </p:nvGrpSpPr>
      <p:grpSpPr>
        <a:xfrm>
          <a:off x="0" y="0"/>
          <a:ext cx="0" cy="0"/>
          <a:chOff x="0" y="0"/>
          <a:chExt cx="0" cy="0"/>
        </a:xfrm>
      </p:grpSpPr>
      <p:sp>
        <p:nvSpPr>
          <p:cNvPr id="261" name="Google Shape;261;p37:notes">
            <a:extLst>
              <a:ext uri="{FF2B5EF4-FFF2-40B4-BE49-F238E27FC236}">
                <a16:creationId xmlns:a16="http://schemas.microsoft.com/office/drawing/2014/main" id="{D5BF9D20-A937-E031-5ACD-4B566F245A5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2" name="Google Shape;262;p37:notes">
            <a:extLst>
              <a:ext uri="{FF2B5EF4-FFF2-40B4-BE49-F238E27FC236}">
                <a16:creationId xmlns:a16="http://schemas.microsoft.com/office/drawing/2014/main" id="{1666A96F-D523-1F0C-00D5-14D5F35E2C2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882365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p3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3" name="Google Shape;273;p3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5"/>
        <p:cNvGrpSpPr/>
        <p:nvPr/>
      </p:nvGrpSpPr>
      <p:grpSpPr>
        <a:xfrm>
          <a:off x="0" y="0"/>
          <a:ext cx="0" cy="0"/>
          <a:chOff x="0" y="0"/>
          <a:chExt cx="0" cy="0"/>
        </a:xfrm>
      </p:grpSpPr>
      <p:sp>
        <p:nvSpPr>
          <p:cNvPr id="16" name="Google Shape;16;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8" name="Google Shape;18;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9"/>
        <p:cNvGrpSpPr/>
        <p:nvPr/>
      </p:nvGrpSpPr>
      <p:grpSpPr>
        <a:xfrm>
          <a:off x="0" y="0"/>
          <a:ext cx="0" cy="0"/>
          <a:chOff x="0" y="0"/>
          <a:chExt cx="0" cy="0"/>
        </a:xfrm>
      </p:grpSpPr>
      <p:sp>
        <p:nvSpPr>
          <p:cNvPr id="20" name="Google Shape;20;p1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 name="Google Shape;21;p1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2" name="Google Shape;22;p1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1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4" name="Google Shape;24;p1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5"/>
        <p:cNvGrpSpPr/>
        <p:nvPr/>
      </p:nvGrpSpPr>
      <p:grpSpPr>
        <a:xfrm>
          <a:off x="0" y="0"/>
          <a:ext cx="0" cy="0"/>
          <a:chOff x="0" y="0"/>
          <a:chExt cx="0" cy="0"/>
        </a:xfrm>
      </p:grpSpPr>
      <p:sp>
        <p:nvSpPr>
          <p:cNvPr id="26" name="Google Shape;26;p17"/>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7" name="Google Shape;27;p17"/>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8" name="Google Shape;28;p1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1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0" name="Google Shape;30;p1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1"/>
        <p:cNvGrpSpPr/>
        <p:nvPr/>
      </p:nvGrpSpPr>
      <p:grpSpPr>
        <a:xfrm>
          <a:off x="0" y="0"/>
          <a:ext cx="0" cy="0"/>
          <a:chOff x="0" y="0"/>
          <a:chExt cx="0" cy="0"/>
        </a:xfrm>
      </p:grpSpPr>
      <p:sp>
        <p:nvSpPr>
          <p:cNvPr id="32" name="Google Shape;32;p1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3" name="Google Shape;33;p18"/>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4" name="Google Shape;34;p18"/>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5" name="Google Shape;35;p1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6" name="Google Shape;36;p1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7" name="Google Shape;37;p1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8"/>
        <p:cNvGrpSpPr/>
        <p:nvPr/>
      </p:nvGrpSpPr>
      <p:grpSpPr>
        <a:xfrm>
          <a:off x="0" y="0"/>
          <a:ext cx="0" cy="0"/>
          <a:chOff x="0" y="0"/>
          <a:chExt cx="0" cy="0"/>
        </a:xfrm>
      </p:grpSpPr>
      <p:sp>
        <p:nvSpPr>
          <p:cNvPr id="39" name="Google Shape;39;p19"/>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0" name="Google Shape;40;p19"/>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19"/>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19"/>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3" name="Google Shape;43;p19"/>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1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5" name="Google Shape;45;p1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6" name="Google Shape;46;p1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7"/>
        <p:cNvGrpSpPr/>
        <p:nvPr/>
      </p:nvGrpSpPr>
      <p:grpSpPr>
        <a:xfrm>
          <a:off x="0" y="0"/>
          <a:ext cx="0" cy="0"/>
          <a:chOff x="0" y="0"/>
          <a:chExt cx="0" cy="0"/>
        </a:xfrm>
      </p:grpSpPr>
      <p:sp>
        <p:nvSpPr>
          <p:cNvPr id="48" name="Google Shape;48;p2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9" name="Google Shape;49;p2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0" name="Google Shape;50;p2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2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2"/>
        <p:cNvGrpSpPr/>
        <p:nvPr/>
      </p:nvGrpSpPr>
      <p:grpSpPr>
        <a:xfrm>
          <a:off x="0" y="0"/>
          <a:ext cx="0" cy="0"/>
          <a:chOff x="0" y="0"/>
          <a:chExt cx="0" cy="0"/>
        </a:xfrm>
      </p:grpSpPr>
      <p:sp>
        <p:nvSpPr>
          <p:cNvPr id="53" name="Google Shape;53;p22"/>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4" name="Google Shape;54;p22"/>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5" name="Google Shape;55;p22"/>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6" name="Google Shape;56;p2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2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8" name="Google Shape;58;p2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59"/>
        <p:cNvGrpSpPr/>
        <p:nvPr/>
      </p:nvGrpSpPr>
      <p:grpSpPr>
        <a:xfrm>
          <a:off x="0" y="0"/>
          <a:ext cx="0" cy="0"/>
          <a:chOff x="0" y="0"/>
          <a:chExt cx="0" cy="0"/>
        </a:xfrm>
      </p:grpSpPr>
      <p:sp>
        <p:nvSpPr>
          <p:cNvPr id="60" name="Google Shape;60;p23"/>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1" name="Google Shape;61;p23"/>
          <p:cNvSpPr>
            <a:spLocks noGrp="1"/>
          </p:cNvSpPr>
          <p:nvPr>
            <p:ph type="pic" idx="2"/>
          </p:nvPr>
        </p:nvSpPr>
        <p:spPr>
          <a:xfrm>
            <a:off x="5183188" y="987425"/>
            <a:ext cx="6172200" cy="4873625"/>
          </a:xfrm>
          <a:prstGeom prst="rect">
            <a:avLst/>
          </a:prstGeom>
          <a:noFill/>
          <a:ln>
            <a:noFill/>
          </a:ln>
        </p:spPr>
      </p:sp>
      <p:sp>
        <p:nvSpPr>
          <p:cNvPr id="62" name="Google Shape;62;p23"/>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3" name="Google Shape;63;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5" name="Google Shape;65;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6"/>
        <p:cNvGrpSpPr/>
        <p:nvPr/>
      </p:nvGrpSpPr>
      <p:grpSpPr>
        <a:xfrm>
          <a:off x="0" y="0"/>
          <a:ext cx="0" cy="0"/>
          <a:chOff x="0" y="0"/>
          <a:chExt cx="0" cy="0"/>
        </a:xfrm>
      </p:grpSpPr>
      <p:sp>
        <p:nvSpPr>
          <p:cNvPr id="67" name="Google Shape;67;p2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8" name="Google Shape;68;p24"/>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9" name="Google Shape;69;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2"/>
        <p:cNvGrpSpPr/>
        <p:nvPr/>
      </p:nvGrpSpPr>
      <p:grpSpPr>
        <a:xfrm>
          <a:off x="0" y="0"/>
          <a:ext cx="0" cy="0"/>
          <a:chOff x="0" y="0"/>
          <a:chExt cx="0" cy="0"/>
        </a:xfrm>
      </p:grpSpPr>
      <p:sp>
        <p:nvSpPr>
          <p:cNvPr id="73" name="Google Shape;73;p25"/>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25"/>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9pPr>
          </a:lstStyle>
          <a:p>
            <a:endParaRPr/>
          </a:p>
        </p:txBody>
      </p:sp>
      <p:sp>
        <p:nvSpPr>
          <p:cNvPr id="11" name="Google Shape;11;p14"/>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Atkinson Hyperlegible Next"/>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Atkinson Hyperlegible Next"/>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tkinson Hyperlegible Next"/>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9pPr>
          </a:lstStyle>
          <a:p>
            <a:endParaRPr/>
          </a:p>
        </p:txBody>
      </p:sp>
      <p:sp>
        <p:nvSpPr>
          <p:cNvPr id="12" name="Google Shape;12;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3" name="Google Shape;13;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4" name="Google Shape;14;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hyperlink" Target="https://marius-juston.github.io/SE-423---Class-Material/Homeworks/HW2.pdf" TargetMode="External"/><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hyperlink" Target="https://marius-juston.github.io/SE-423---Class-Material/Homeworks/LabVIEW1.pdf" TargetMode="External"/></Relationships>
</file>

<file path=ppt/slides/_rels/slide3.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hyperlink" Target="https://en.wikipedia.org/wiki/Resistor_ladder" TargetMode="External"/><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image" Target="../media/image10.png"/><Relationship Id="rId5" Type="http://schemas.openxmlformats.org/officeDocument/2006/relationships/image" Target="../media/image9.svg"/><Relationship Id="rId4" Type="http://schemas.openxmlformats.org/officeDocument/2006/relationships/image" Target="../media/image8.png"/></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13.png"/><Relationship Id="rId5" Type="http://schemas.openxmlformats.org/officeDocument/2006/relationships/image" Target="../media/image12.svg"/><Relationship Id="rId4" Type="http://schemas.openxmlformats.org/officeDocument/2006/relationships/image" Target="../media/image11.png"/></Relationships>
</file>

<file path=ppt/slides/_rels/slide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2.xml"/><Relationship Id="rId5" Type="http://schemas.openxmlformats.org/officeDocument/2006/relationships/image" Target="../media/image16.svg"/><Relationship Id="rId4" Type="http://schemas.openxmlformats.org/officeDocument/2006/relationships/image" Target="../media/image15.png"/></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2.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2.xml"/><Relationship Id="rId5" Type="http://schemas.openxmlformats.org/officeDocument/2006/relationships/image" Target="../media/image18.svg"/><Relationship Id="rId4" Type="http://schemas.openxmlformats.org/officeDocument/2006/relationships/image" Target="../media/image17.png"/></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6.xml"/><Relationship Id="rId1" Type="http://schemas.openxmlformats.org/officeDocument/2006/relationships/slideLayout" Target="../slideLayouts/slideLayout2.xml"/><Relationship Id="rId5" Type="http://schemas.openxmlformats.org/officeDocument/2006/relationships/image" Target="../media/image20.svg"/><Relationship Id="rId4" Type="http://schemas.openxmlformats.org/officeDocument/2006/relationships/image" Target="../media/image19.png"/></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18.svg"/><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image" Target="../media/image17.png"/><Relationship Id="rId5" Type="http://schemas.openxmlformats.org/officeDocument/2006/relationships/image" Target="../media/image22.svg"/><Relationship Id="rId4" Type="http://schemas.openxmlformats.org/officeDocument/2006/relationships/image" Target="../media/image21.png"/></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8.xml"/><Relationship Id="rId1" Type="http://schemas.openxmlformats.org/officeDocument/2006/relationships/slideLayout" Target="../slideLayouts/slideLayout2.xml"/><Relationship Id="rId5" Type="http://schemas.openxmlformats.org/officeDocument/2006/relationships/image" Target="../media/image24.svg"/><Relationship Id="rId4" Type="http://schemas.openxmlformats.org/officeDocument/2006/relationships/image" Target="../media/image23.png"/></Relationships>
</file>

<file path=ppt/slides/_rels/slide19.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0.xml"/><Relationship Id="rId1" Type="http://schemas.openxmlformats.org/officeDocument/2006/relationships/slideLayout" Target="../slideLayouts/slideLayout2.xml"/><Relationship Id="rId5" Type="http://schemas.openxmlformats.org/officeDocument/2006/relationships/hyperlink" Target="https://en.wikipedia.org/wiki/Successive-approximation_ADC" TargetMode="External"/><Relationship Id="rId4" Type="http://schemas.openxmlformats.org/officeDocument/2006/relationships/image" Target="../media/image25.gif"/></Relationships>
</file>

<file path=ppt/slides/_rels/slide21.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21.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2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4.xml"/><Relationship Id="rId1" Type="http://schemas.openxmlformats.org/officeDocument/2006/relationships/slideLayout" Target="../slideLayouts/slideLayout2.xml"/><Relationship Id="rId5" Type="http://schemas.openxmlformats.org/officeDocument/2006/relationships/image" Target="../media/image27.svg"/><Relationship Id="rId4" Type="http://schemas.openxmlformats.org/officeDocument/2006/relationships/image" Target="../media/image26.png"/></Relationships>
</file>

<file path=ppt/slides/_rels/slide25.xml.rels><?xml version="1.0" encoding="UTF-8" standalone="yes"?>
<Relationships xmlns="http://schemas.openxmlformats.org/package/2006/relationships"><Relationship Id="rId3" Type="http://schemas.openxmlformats.org/officeDocument/2006/relationships/image" Target="../media/image270.png"/><Relationship Id="rId2" Type="http://schemas.openxmlformats.org/officeDocument/2006/relationships/notesSlide" Target="../notesSlides/notesSlide25.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29.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30.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30.xml"/><Relationship Id="rId1" Type="http://schemas.openxmlformats.org/officeDocument/2006/relationships/slideLayout" Target="../slideLayouts/slideLayout1.xml"/><Relationship Id="rId4" Type="http://schemas.openxmlformats.org/officeDocument/2006/relationships/image" Target="../media/image28.pn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1"/>
        <p:cNvGrpSpPr/>
        <p:nvPr/>
      </p:nvGrpSpPr>
      <p:grpSpPr>
        <a:xfrm>
          <a:off x="0" y="0"/>
          <a:ext cx="0" cy="0"/>
          <a:chOff x="0" y="0"/>
          <a:chExt cx="0" cy="0"/>
        </a:xfrm>
      </p:grpSpPr>
      <p:sp>
        <p:nvSpPr>
          <p:cNvPr id="82" name="Google Shape;82;p26"/>
          <p:cNvSpPr/>
          <p:nvPr>
            <p:ph type="title"/>
          </p:nvPr>
        </p:nvSpPr>
        <p:spPr>
          <a:xfrm>
            <a:off x="1134035" y="2553964"/>
            <a:ext cx="9924000" cy="2723782"/>
          </a:xfrm>
          <a:prstGeom prst="rect">
            <a:avLst/>
          </a:prstGeom>
          <a:noFill/>
          <a:ln>
            <a:noFill/>
          </a:ln>
        </p:spPr>
        <p:txBody>
          <a:bodyPr spcFirstLastPara="1" wrap="square" lIns="91425" tIns="45700" rIns="91425" bIns="45700" anchor="t" anchorCtr="0">
            <a:spAutoFit/>
          </a:bodyPr>
          <a:lstStyle/>
          <a:p>
            <a:pPr lvl="0" algn="ctr">
              <a:lnSpc>
                <a:spcPct val="100000"/>
              </a:lnSpc>
              <a:spcBef>
                <a:spcPts val="600"/>
              </a:spcBef>
              <a:spcAft>
                <a:spcPts val="0"/>
              </a:spcAft>
              <a:buSzPts val="4500"/>
            </a:pPr>
            <a:r>
              <a:rPr i="0" lang="en-US" sz="4500" b="1" dirty="0">
                <a:solidFill>
                  <a:schemeClr val="lt1"/>
                </a:solidFill>
              </a:rPr>
              <a:t>SE 423: Introduction to Mechatronics</a:t>
            </a:r>
            <a:endParaRPr i="0" b="0" lang="en-US" sz="4500" dirty="0">
              <a:solidFill>
                <a:srgbClr val="000000"/>
              </a:solidFill>
            </a:endParaRPr>
          </a:p>
          <a:p>
            <a:pPr marL="0" marR="0" lvl="0" indent="0" algn="ctr" rtl="0">
              <a:lnSpc>
                <a:spcPct val="100000"/>
              </a:lnSpc>
              <a:spcBef>
                <a:spcPts val="600"/>
              </a:spcBef>
              <a:spcAft>
                <a:spcPts val="0"/>
              </a:spcAft>
              <a:buNone/>
            </a:pPr>
            <a:r>
              <a:rPr i="0" b="0" lang="en-US" sz="2500" dirty="0">
                <a:solidFill>
                  <a:schemeClr val="lt1"/>
                </a:solidFill>
              </a:rPr>
              <a:t>Lecture 5: DAC &amp; ADC</a:t>
            </a:r>
            <a:endParaRPr i="0" b="0" sz="1400" dirty="0">
              <a:solidFill>
                <a:srgbClr val="000000"/>
              </a:solidFill>
            </a:endParaRPr>
          </a:p>
          <a:p>
            <a:pPr marL="0" marR="0" lvl="0" indent="0" algn="ctr" rtl="0">
              <a:lnSpc>
                <a:spcPct val="100000"/>
              </a:lnSpc>
              <a:spcBef>
                <a:spcPts val="600"/>
              </a:spcBef>
              <a:spcAft>
                <a:spcPts val="0"/>
              </a:spcAft>
              <a:buNone/>
            </a:pPr>
            <a:endParaRPr sz="1800" b="0" i="0" u="none" strike="noStrike" cap="none" dirty="0">
              <a:solidFill>
                <a:schemeClr val="lt1"/>
              </a:solidFill>
              <a:latin typeface="Atkinson Hyperlegible Next"/>
              <a:ea typeface="Arial"/>
              <a:cs typeface="Arial"/>
              <a:sym typeface="Arial"/>
            </a:endParaRPr>
          </a:p>
          <a:p>
            <a:pPr marL="0" marR="0" lvl="0" indent="0" algn="ctr" rtl="0">
              <a:lnSpc>
                <a:spcPct val="100000"/>
              </a:lnSpc>
              <a:spcBef>
                <a:spcPts val="600"/>
              </a:spcBef>
              <a:spcAft>
                <a:spcPts val="0"/>
              </a:spcAft>
              <a:buNone/>
            </a:pPr>
            <a:r>
              <a:rPr lang="en-US" sz="1800" b="0" i="0" u="none" strike="noStrike" cap="none" dirty="0">
                <a:solidFill>
                  <a:schemeClr val="lt1"/>
                </a:solidFill>
                <a:latin typeface="Atkinson Hyperlegible Next"/>
                <a:ea typeface="Arial"/>
                <a:cs typeface="Arial"/>
                <a:sym typeface="Arial"/>
              </a:rPr>
              <a:t>Marius Juston</a:t>
            </a:r>
            <a:endParaRPr sz="1800" b="0" i="0" u="none" strike="noStrike" cap="none" dirty="0">
              <a:solidFill>
                <a:srgbClr val="000000"/>
              </a:solidFill>
              <a:latin typeface="Atkinson Hyperlegible Next"/>
              <a:ea typeface="Arial"/>
              <a:cs typeface="Arial"/>
              <a:sym typeface="Arial"/>
            </a:endParaRPr>
          </a:p>
        </p:txBody>
      </p:sp>
      <p:sp>
        <p:nvSpPr>
          <p:cNvPr id="83" name="Google Shape;83;p26"/>
          <p:cNvSpPr txBox="1"/>
          <p:nvPr/>
        </p:nvSpPr>
        <p:spPr>
          <a:xfrm>
            <a:off x="3922059" y="5413888"/>
            <a:ext cx="4347882" cy="369291"/>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dirty="0">
                <a:solidFill>
                  <a:schemeClr val="lt1"/>
                </a:solidFill>
                <a:latin typeface="Atkinson Hyperlegible Next"/>
                <a:ea typeface="Arial"/>
                <a:cs typeface="Arial"/>
                <a:sym typeface="Arial"/>
              </a:rPr>
              <a:t>Wednesday, February 4</a:t>
            </a:r>
            <a:r>
              <a:rPr lang="en-US" sz="1800" b="0" i="0" u="none" strike="noStrike" cap="none" baseline="30000" dirty="0">
                <a:solidFill>
                  <a:schemeClr val="lt1"/>
                </a:solidFill>
                <a:latin typeface="Atkinson Hyperlegible Next"/>
                <a:ea typeface="Arial"/>
                <a:cs typeface="Arial"/>
                <a:sym typeface="Arial"/>
              </a:rPr>
              <a:t>th</a:t>
            </a:r>
            <a:r>
              <a:rPr lang="en-US" sz="1800" b="0" i="0" u="none" strike="noStrike" cap="none" dirty="0">
                <a:solidFill>
                  <a:schemeClr val="lt1"/>
                </a:solidFill>
                <a:latin typeface="Atkinson Hyperlegible Next"/>
                <a:ea typeface="Arial"/>
                <a:cs typeface="Arial"/>
                <a:sym typeface="Arial"/>
              </a:rPr>
              <a:t> 2026</a:t>
            </a:r>
            <a:endParaRPr sz="1800" b="0" i="0" u="none" strike="noStrike" cap="none" dirty="0">
              <a:solidFill>
                <a:schemeClr val="lt1"/>
              </a:solidFill>
              <a:latin typeface="Atkinson Hyperlegible Next"/>
              <a:ea typeface="Arial"/>
              <a:cs typeface="Arial"/>
              <a:sym typeface="Arial"/>
            </a:endParaRPr>
          </a:p>
        </p:txBody>
      </p:sp>
      <p:pic>
        <p:nvPicPr>
          <p:cNvPr id="84" name="Google Shape;84;p26">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4641007" y="1004743"/>
            <a:ext cx="2909982" cy="754664"/>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81D3E48-EB5B-86EE-C4D9-54116487B2D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BCC2F8C-3A4A-AD98-3682-D9499379E41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b="1" dirty="0">
                <a:solidFill>
                  <a:srgbClr val="E84B36"/>
                </a:solidFill>
                <a:latin typeface="Atkinson Hyperlegible Next"/>
                <a:ea typeface="Arial"/>
                <a:cs typeface="Arial"/>
                <a:sym typeface="Arial"/>
              </a:rPr>
              <a:t>Office Hours:</a:t>
            </a:r>
            <a:endParaRPr lang="en-US" sz="2600" b="1" dirty="0">
              <a:solidFill>
                <a:srgbClr val="E84B36"/>
              </a:solidFill>
              <a:latin typeface="Atkinson Hyperlegible Next"/>
              <a:ea typeface="Arial"/>
              <a:cs typeface="Arial"/>
              <a:sym typeface="Arial"/>
            </a:endParaRP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Monday: </a:t>
            </a:r>
            <a:r>
              <a:rPr lang="en-US" sz="1800" dirty="0">
                <a:solidFill>
                  <a:schemeClr val="dk1"/>
                </a:solidFill>
                <a:latin typeface="Atkinson Hyperlegible Next"/>
                <a:ea typeface="Arial"/>
                <a:cs typeface="Arial"/>
                <a:sym typeface="Arial"/>
              </a:rPr>
              <a:t>4-6 PM</a:t>
            </a:r>
            <a:r>
              <a:rPr lang="en-US" sz="1800" b="1" dirty="0">
                <a:solidFill>
                  <a:schemeClr val="dk1"/>
                </a:solidFill>
                <a:latin typeface="Atkinson Hyperlegible Next"/>
                <a:ea typeface="Arial"/>
                <a:cs typeface="Arial"/>
                <a:sym typeface="Arial"/>
              </a:rPr>
              <a:t>, </a:t>
            </a:r>
            <a:r>
              <a:rPr lang="en-US" sz="1800" dirty="0">
                <a:solidFill>
                  <a:schemeClr val="dk1"/>
                </a:solidFill>
                <a:latin typeface="Atkinson Hyperlegible Next"/>
                <a:ea typeface="Arial"/>
                <a:cs typeface="Arial"/>
                <a:sym typeface="Arial"/>
              </a:rPr>
              <a:t>Neel</a:t>
            </a:r>
          </a:p>
          <a:p>
            <a:pPr marL="285750" indent="-285750">
              <a:lnSpc>
                <a:spcPct val="100000"/>
              </a:lnSpc>
              <a:spcBef>
                <a:spcPts val="0"/>
              </a:spcBef>
              <a:buSzPts val="3000"/>
            </a:pPr>
            <a:r>
              <a:rPr lang="en-US" sz="1800" b="1" dirty="0">
                <a:latin typeface="Atkinson Hyperlegible Next"/>
                <a:ea typeface="Arial"/>
                <a:cs typeface="Arial"/>
                <a:sym typeface="Arial"/>
              </a:rPr>
              <a:t>Tuesday: </a:t>
            </a:r>
            <a:r>
              <a:rPr lang="en-US" sz="1800" dirty="0">
                <a:latin typeface="Atkinson Hyperlegible Next"/>
                <a:ea typeface="Arial"/>
                <a:cs typeface="Arial"/>
                <a:sym typeface="Arial"/>
              </a:rPr>
              <a:t>11-1 PM</a:t>
            </a:r>
            <a:r>
              <a:rPr lang="en-US" sz="1800" b="1" dirty="0">
                <a:latin typeface="Atkinson Hyperlegible Next"/>
                <a:ea typeface="Arial"/>
                <a:cs typeface="Arial"/>
                <a:sym typeface="Arial"/>
              </a:rPr>
              <a:t>, </a:t>
            </a:r>
            <a:r>
              <a:rPr lang="en-US" sz="1800" dirty="0">
                <a:latin typeface="Atkinson Hyperlegible Next"/>
                <a:ea typeface="Arial"/>
                <a:cs typeface="Arial"/>
                <a:sym typeface="Arial"/>
              </a:rPr>
              <a:t>Lakshmi</a:t>
            </a: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Tuesday: </a:t>
            </a:r>
            <a:r>
              <a:rPr lang="en-US" sz="1800" dirty="0">
                <a:latin typeface="Atkinson Hyperlegible Next"/>
                <a:ea typeface="Arial"/>
                <a:cs typeface="Arial"/>
                <a:sym typeface="Arial"/>
              </a:rPr>
              <a:t>1-3 PM</a:t>
            </a:r>
            <a:r>
              <a:rPr lang="en-US" sz="1800" b="1" dirty="0">
                <a:latin typeface="Atkinson Hyperlegible Next"/>
                <a:ea typeface="Arial"/>
                <a:cs typeface="Arial"/>
                <a:sym typeface="Arial"/>
              </a:rPr>
              <a:t>, </a:t>
            </a:r>
            <a:r>
              <a:rPr lang="en-US" sz="1800" dirty="0">
                <a:latin typeface="Atkinson Hyperlegible Next"/>
                <a:ea typeface="Arial"/>
                <a:cs typeface="Arial"/>
                <a:sym typeface="Arial"/>
              </a:rPr>
              <a:t>Samuel</a:t>
            </a: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Tuesday: </a:t>
            </a:r>
            <a:r>
              <a:rPr lang="en-US" sz="1800" dirty="0">
                <a:solidFill>
                  <a:schemeClr val="dk1"/>
                </a:solidFill>
                <a:latin typeface="Atkinson Hyperlegible Next"/>
                <a:ea typeface="Arial"/>
                <a:cs typeface="Arial"/>
                <a:sym typeface="Arial"/>
              </a:rPr>
              <a:t>2-5 PM</a:t>
            </a:r>
            <a:r>
              <a:rPr lang="en-US" sz="1800" b="1" dirty="0">
                <a:solidFill>
                  <a:schemeClr val="dk1"/>
                </a:solidFill>
                <a:latin typeface="Atkinson Hyperlegible Next"/>
                <a:ea typeface="Arial"/>
                <a:cs typeface="Arial"/>
                <a:sym typeface="Arial"/>
              </a:rPr>
              <a:t>, </a:t>
            </a:r>
            <a:r>
              <a:rPr lang="en-US" sz="1800" dirty="0">
                <a:solidFill>
                  <a:schemeClr val="dk1"/>
                </a:solidFill>
                <a:latin typeface="Atkinson Hyperlegible Next"/>
                <a:ea typeface="Arial"/>
                <a:cs typeface="Arial"/>
                <a:sym typeface="Arial"/>
              </a:rPr>
              <a:t>Dan &amp; Marius</a:t>
            </a:r>
          </a:p>
          <a:p>
            <a:pPr marL="285750" indent="-285750">
              <a:lnSpc>
                <a:spcPct val="100000"/>
              </a:lnSpc>
              <a:spcBef>
                <a:spcPts val="0"/>
              </a:spcBef>
              <a:buSzPts val="3000"/>
            </a:pPr>
            <a:endParaRPr lang="en-US" sz="1800" b="1" dirty="0">
              <a:latin typeface="Atkinson Hyperlegible Next"/>
              <a:ea typeface="Arial"/>
              <a:cs typeface="Arial"/>
              <a:sym typeface="Arial"/>
            </a:endParaRPr>
          </a:p>
          <a:p>
            <a:pPr marL="0" indent="0">
              <a:lnSpc>
                <a:spcPct val="100000"/>
              </a:lnSpc>
              <a:spcBef>
                <a:spcPts val="0"/>
              </a:spcBef>
              <a:buSzPts val="3000"/>
              <a:buNone/>
            </a:pPr>
            <a:r>
              <a:rPr lang="en-US" sz="1800" b="1" dirty="0">
                <a:solidFill>
                  <a:srgbClr val="E84B36"/>
                </a:solidFill>
                <a:latin typeface="Atkinson Hyperlegible Next"/>
                <a:ea typeface="Arial"/>
                <a:cs typeface="Arial"/>
                <a:sym typeface="Arial"/>
              </a:rPr>
              <a:t>Lab: </a:t>
            </a:r>
            <a:r>
              <a:rPr lang="en-US" sz="1800" dirty="0">
                <a:latin typeface="Atkinson Hyperlegible Next"/>
                <a:ea typeface="Arial"/>
                <a:cs typeface="Arial"/>
                <a:sym typeface="Arial"/>
              </a:rPr>
              <a:t>Starting Lab 2 this week. This is also a 1-week lab!</a:t>
            </a:r>
            <a:endParaRPr lang="en-US" sz="1800" dirty="0">
              <a:solidFill>
                <a:srgbClr val="E84B36"/>
              </a:solidFill>
              <a:latin typeface="Atkinson Hyperlegible Next"/>
              <a:ea typeface="Arial"/>
              <a:cs typeface="Arial"/>
              <a:sym typeface="Arial"/>
            </a:endParaRPr>
          </a:p>
          <a:p>
            <a:pPr marL="0" indent="0">
              <a:lnSpc>
                <a:spcPct val="100000"/>
              </a:lnSpc>
              <a:spcBef>
                <a:spcPts val="0"/>
              </a:spcBef>
              <a:buSzPts val="3000"/>
              <a:buNone/>
            </a:pPr>
            <a:endParaRPr lang="en-US" sz="1800" b="1" dirty="0">
              <a:solidFill>
                <a:srgbClr val="E84B36"/>
              </a:solidFill>
              <a:latin typeface="Atkinson Hyperlegible Next"/>
              <a:ea typeface="Arial"/>
              <a:cs typeface="Arial"/>
              <a:sym typeface="Arial"/>
            </a:endParaRPr>
          </a:p>
          <a:p>
            <a:pPr marL="0" indent="0">
              <a:lnSpc>
                <a:spcPct val="100000"/>
              </a:lnSpc>
              <a:spcBef>
                <a:spcPts val="0"/>
              </a:spcBef>
              <a:buSzPts val="3000"/>
              <a:buNone/>
            </a:pPr>
            <a:r>
              <a:rPr lang="en-US" sz="1800" b="1" dirty="0" err="1">
                <a:solidFill>
                  <a:srgbClr val="E84B36"/>
                </a:solidFill>
                <a:latin typeface="Atkinson Hyperlegible Next"/>
                <a:ea typeface="Arial"/>
                <a:cs typeface="Arial"/>
                <a:sym typeface="Arial"/>
              </a:rPr>
              <a:t>Homeworks</a:t>
            </a:r>
            <a:r>
              <a:rPr lang="en-US" sz="1800" b="1" dirty="0">
                <a:solidFill>
                  <a:srgbClr val="E84B36"/>
                </a:solidFill>
                <a:latin typeface="Atkinson Hyperlegible Next"/>
                <a:ea typeface="Arial"/>
                <a:cs typeface="Arial"/>
                <a:sym typeface="Arial"/>
              </a:rPr>
              <a:t>:</a:t>
            </a:r>
          </a:p>
          <a:p>
            <a:pPr marL="285750" indent="-285750">
              <a:lnSpc>
                <a:spcPct val="100000"/>
              </a:lnSpc>
              <a:spcBef>
                <a:spcPts val="0"/>
              </a:spcBef>
              <a:buSzPts val="3000"/>
            </a:pPr>
            <a:r>
              <a:rPr lang="en-US" sz="1800" dirty="0">
                <a:latin typeface="Atkinson Hyperlegible Next"/>
                <a:ea typeface="Arial"/>
                <a:cs typeface="Arial"/>
                <a:sym typeface="Arial"/>
              </a:rPr>
              <a:t>Check-offs for </a:t>
            </a:r>
            <a:r>
              <a:rPr lang="en-US" sz="1800" dirty="0">
                <a:latin typeface="Atkinson Hyperlegible Next"/>
                <a:ea typeface="Arial"/>
                <a:cs typeface="Arial"/>
                <a:sym typeface="Arial"/>
                <a:hlinkClick r:id="rId3"/>
              </a:rPr>
              <a:t>homework 2</a:t>
            </a:r>
            <a:r>
              <a:rPr lang="en-US" sz="1800" dirty="0">
                <a:latin typeface="Atkinson Hyperlegible Next"/>
                <a:ea typeface="Arial"/>
                <a:cs typeface="Arial"/>
                <a:sym typeface="Arial"/>
              </a:rPr>
              <a:t> Ex 1 &amp; 2 are due </a:t>
            </a:r>
            <a:r>
              <a:rPr lang="en-US" sz="1800" b="1" dirty="0">
                <a:latin typeface="Atkinson Hyperlegible Next"/>
                <a:ea typeface="Arial"/>
                <a:cs typeface="Arial"/>
                <a:sym typeface="Arial"/>
              </a:rPr>
              <a:t>February 17, 5PM (The end of office hours)</a:t>
            </a:r>
          </a:p>
          <a:p>
            <a:pPr marL="285750" indent="-285750">
              <a:lnSpc>
                <a:spcPct val="100000"/>
              </a:lnSpc>
              <a:spcBef>
                <a:spcPts val="0"/>
              </a:spcBef>
              <a:buSzPts val="3000"/>
            </a:pPr>
            <a:r>
              <a:rPr lang="en-US" sz="1800" dirty="0">
                <a:latin typeface="Atkinson Hyperlegible Next"/>
                <a:ea typeface="Arial"/>
                <a:cs typeface="Arial"/>
                <a:sym typeface="Arial"/>
              </a:rPr>
              <a:t>Check-offs for </a:t>
            </a:r>
            <a:r>
              <a:rPr lang="en-US" sz="1800" dirty="0">
                <a:latin typeface="Atkinson Hyperlegible Next"/>
                <a:ea typeface="Arial"/>
                <a:cs typeface="Arial"/>
                <a:sym typeface="Arial"/>
                <a:hlinkClick r:id="rId3"/>
              </a:rPr>
              <a:t>homework 2</a:t>
            </a:r>
            <a:r>
              <a:rPr lang="en-US" sz="1800" dirty="0">
                <a:latin typeface="Atkinson Hyperlegible Next"/>
                <a:ea typeface="Arial"/>
                <a:cs typeface="Arial"/>
                <a:sym typeface="Arial"/>
              </a:rPr>
              <a:t> Ex 3 &amp; 4 are due </a:t>
            </a:r>
            <a:r>
              <a:rPr lang="en-US" sz="1800" b="1" dirty="0">
                <a:latin typeface="Atkinson Hyperlegible Next"/>
                <a:ea typeface="Arial"/>
                <a:cs typeface="Arial"/>
                <a:sym typeface="Arial"/>
              </a:rPr>
              <a:t>February 24, 5PM (The end of office hours)</a:t>
            </a:r>
            <a:endParaRPr lang="en-US" sz="1800" dirty="0">
              <a:latin typeface="Atkinson Hyperlegible Next"/>
              <a:ea typeface="Arial"/>
              <a:cs typeface="Arial"/>
              <a:sym typeface="Arial"/>
            </a:endParaRPr>
          </a:p>
          <a:p>
            <a:pPr marL="285750" indent="-285750">
              <a:lnSpc>
                <a:spcPct val="100000"/>
              </a:lnSpc>
              <a:spcBef>
                <a:spcPts val="0"/>
              </a:spcBef>
              <a:buSzPts val="3000"/>
            </a:pPr>
            <a:r>
              <a:rPr lang="en-US" sz="1800" dirty="0">
                <a:latin typeface="Atkinson Hyperlegible Next"/>
                <a:ea typeface="Arial"/>
                <a:cs typeface="Arial"/>
                <a:sym typeface="Arial"/>
              </a:rPr>
              <a:t>Answers and code submissions for homework 2 are due </a:t>
            </a:r>
            <a:r>
              <a:rPr lang="en-US" sz="1800" b="1" dirty="0">
                <a:latin typeface="Atkinson Hyperlegible Next"/>
                <a:ea typeface="Arial"/>
                <a:cs typeface="Arial"/>
                <a:sym typeface="Arial"/>
              </a:rPr>
              <a:t>February 17, 9AM</a:t>
            </a:r>
          </a:p>
          <a:p>
            <a:pPr marL="285750" indent="-285750">
              <a:lnSpc>
                <a:spcPct val="100000"/>
              </a:lnSpc>
              <a:spcBef>
                <a:spcPts val="0"/>
              </a:spcBef>
              <a:buSzPts val="3000"/>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b="1" dirty="0">
                <a:solidFill>
                  <a:srgbClr val="E84B36"/>
                </a:solidFill>
                <a:latin typeface="Atkinson Hyperlegible Next"/>
                <a:ea typeface="Arial"/>
                <a:cs typeface="Arial"/>
                <a:sym typeface="Arial"/>
              </a:rPr>
              <a:t>LabVIEW (This week):</a:t>
            </a:r>
          </a:p>
          <a:p>
            <a:pPr marL="285750" indent="-285750">
              <a:lnSpc>
                <a:spcPct val="100000"/>
              </a:lnSpc>
              <a:spcBef>
                <a:spcPts val="0"/>
              </a:spcBef>
              <a:buSzPts val="3000"/>
            </a:pPr>
            <a:r>
              <a:rPr lang="en-US" sz="1800" dirty="0">
                <a:latin typeface="Atkinson Hyperlegible Next"/>
                <a:ea typeface="Arial"/>
                <a:cs typeface="Arial"/>
                <a:sym typeface="Arial"/>
              </a:rPr>
              <a:t>All check-offs for </a:t>
            </a:r>
            <a:r>
              <a:rPr lang="en-US" sz="1800" dirty="0">
                <a:latin typeface="Atkinson Hyperlegible Next"/>
                <a:ea typeface="Arial"/>
                <a:cs typeface="Arial"/>
                <a:sym typeface="Arial"/>
                <a:hlinkClick r:id="rId4"/>
              </a:rPr>
              <a:t>LabVIEW 1</a:t>
            </a:r>
            <a:r>
              <a:rPr lang="en-US" sz="1800" dirty="0">
                <a:latin typeface="Atkinson Hyperlegible Next"/>
                <a:ea typeface="Arial"/>
                <a:cs typeface="Arial"/>
                <a:sym typeface="Arial"/>
              </a:rPr>
              <a:t> are  due </a:t>
            </a:r>
            <a:r>
              <a:rPr lang="en-US" sz="1800" b="1" dirty="0">
                <a:latin typeface="Atkinson Hyperlegible Next"/>
                <a:ea typeface="Arial"/>
                <a:cs typeface="Arial"/>
                <a:sym typeface="Arial"/>
              </a:rPr>
              <a:t>February 5, 5PM</a:t>
            </a:r>
          </a:p>
          <a:p>
            <a:pPr marL="285750" indent="-285750">
              <a:lnSpc>
                <a:spcPct val="100000"/>
              </a:lnSpc>
              <a:spcBef>
                <a:spcPts val="0"/>
              </a:spcBef>
              <a:buSzPts val="3000"/>
            </a:pPr>
            <a:endParaRPr lang="en-US" sz="1800" b="1" dirty="0">
              <a:latin typeface="Atkinson Hyperlegible Next"/>
              <a:ea typeface="Arial"/>
              <a:cs typeface="Arial"/>
              <a:sym typeface="Arial"/>
            </a:endParaRPr>
          </a:p>
          <a:p>
            <a:pPr marL="0" indent="0">
              <a:lnSpc>
                <a:spcPct val="100000"/>
              </a:lnSpc>
              <a:spcBef>
                <a:spcPts val="0"/>
              </a:spcBef>
              <a:buSzPts val="3000"/>
              <a:buNone/>
            </a:pPr>
            <a:r>
              <a:rPr lang="en-US" sz="1800" b="1" dirty="0">
                <a:solidFill>
                  <a:srgbClr val="E84B36"/>
                </a:solidFill>
                <a:latin typeface="Atkinson Hyperlegible Next"/>
                <a:ea typeface="Arial"/>
                <a:cs typeface="Arial"/>
                <a:sym typeface="Arial"/>
              </a:rPr>
              <a:t>LabVIEW will be quickly checked-off at the beginning / end of your lab session.</a:t>
            </a:r>
            <a:endParaRPr lang="en-US" sz="1800" b="1"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19848B8C-9075-59EA-79FA-AF5B8BFAF8D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AE21486-AEEC-E367-96A5-81B49AD32D6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Reminders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8CCE647-4D9B-354D-A2E9-718CA28CD750}"/>
              </a:ext>
            </a:extLst>
          </p:cNvPr>
          <p:cNvPicPr preferRelativeResize="0"/>
          <p:nvPr/>
        </p:nvPicPr>
        <p:blipFill rotWithShape="1">
          <a:blip r:embed="rId5">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AC87A64-580A-4863-38B3-4D1504C83F5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3649EAB-2DB3-2DA4-9AD9-5D94AEE695E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41F8E2C-2780-2776-E8ED-542B082247F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D628D6E-10A9-03E9-659C-F8F2D0023C6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BEB3CD3-0F72-FD08-8FA5-00AD37965F2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79584103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191205FD-583D-A6BD-0B39-2B8B1E9232E5}"/>
            </a:ext>
          </a:extLst>
        </p:cNvPr>
        <p:cNvGrpSpPr/>
        <p:nvPr/>
      </p:nvGrpSpPr>
      <p:grpSpPr>
        <a:xfrm>
          <a:off x="0" y="0"/>
          <a:ext cx="0" cy="0"/>
          <a:chOff x="0" y="0"/>
          <a:chExt cx="0" cy="0"/>
        </a:xfrm>
      </p:grpSpPr>
      <p:sp>
        <p:nvSpPr>
          <p:cNvPr id="89" name="Google Shape;89;p27">
            <a:extLst>
              <a:ext uri="{FF2B5EF4-FFF2-40B4-BE49-F238E27FC236}">
                <a16:creationId xmlns:a16="http://schemas.microsoft.com/office/drawing/2014/main" id="{6294EE79-7F57-38BB-6DF0-8B77B1F871BE}"/>
              </a:ext>
            </a:extLst>
          </p:cNvPr>
          <p:cNvSpPr/>
          <p:nvPr>
            <p:ph type="title"/>
          </p:nvPr>
        </p:nvSpPr>
        <p:spPr>
          <a:xfrm>
            <a:off x="2206906" y="2226377"/>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tkinson Hyperlegible Next"/>
                <a:ea typeface="Arial"/>
                <a:cs typeface="Arial"/>
                <a:sym typeface="Arial"/>
              </a:rPr>
              <a:t>Questions?</a:t>
            </a:r>
            <a:endParaRPr sz="1400" b="0" i="0" u="none" strike="noStrike" cap="none" dirty="0">
              <a:solidFill>
                <a:srgbClr val="000000"/>
              </a:solidFill>
              <a:latin typeface="Atkinson Hyperlegible Next"/>
              <a:ea typeface="Arial"/>
              <a:cs typeface="Arial"/>
              <a:sym typeface="Arial"/>
            </a:endParaRPr>
          </a:p>
        </p:txBody>
      </p:sp>
      <p:sp>
        <p:nvSpPr>
          <p:cNvPr id="90" name="Google Shape;90;p27">
            <a:extLst>
              <a:ext uri="{FF2B5EF4-FFF2-40B4-BE49-F238E27FC236}">
                <a16:creationId xmlns:a16="http://schemas.microsoft.com/office/drawing/2014/main" id="{38F8608C-96FE-0215-AB4D-A3A87DB08788}"/>
              </a:ext>
            </a:extLst>
          </p:cNvPr>
          <p:cNvSpPr txBox="1"/>
          <p:nvPr/>
        </p:nvSpPr>
        <p:spPr>
          <a:xfrm>
            <a:off x="1441528" y="3967567"/>
            <a:ext cx="9308941" cy="523180"/>
          </a:xfrm>
          <a:prstGeom prst="rect">
            <a:avLst/>
          </a:prstGeom>
          <a:noFill/>
          <a:ln>
            <a:noFill/>
          </a:ln>
        </p:spPr>
        <p:txBody>
          <a:bodyPr spcFirstLastPara="1" wrap="square" lIns="91425" tIns="45700" rIns="91425" bIns="45700" anchor="t" anchorCtr="0">
            <a:spAutoFit/>
          </a:bodyPr>
          <a:lstStyle/>
          <a:p>
            <a:pPr lvl="0" algn="ctr">
              <a:buSzPts val="2800"/>
            </a:pPr>
            <a:r>
              <a:rPr lang="en-US" sz="2800" dirty="0">
                <a:solidFill>
                  <a:schemeClr val="lt1"/>
                </a:solidFill>
              </a:rPr>
              <a:t>Homework, Lab, LabVIEW, quiz questions?</a:t>
            </a:r>
          </a:p>
        </p:txBody>
      </p:sp>
      <p:grpSp>
        <p:nvGrpSpPr>
          <p:cNvPr id="91" name="Google Shape;91;p27">
            <a:extLst>
              <a:ext uri="{FF2B5EF4-FFF2-40B4-BE49-F238E27FC236}">
                <a16:creationId xmlns:a16="http://schemas.microsoft.com/office/drawing/2014/main" id="{033E91A4-F750-A05B-C389-FC5624BF1B1B}"/>
              </a:ext>
            </a:extLst>
          </p:cNvPr>
          <p:cNvGrpSpPr/>
          <p:nvPr/>
        </p:nvGrpSpPr>
        <p:grpSpPr>
          <a:xfrm>
            <a:off x="3943790" y="3412276"/>
            <a:ext cx="3861740" cy="322845"/>
            <a:chOff x="3943790" y="2676939"/>
            <a:chExt cx="3861740" cy="322845"/>
          </a:xfrm>
        </p:grpSpPr>
        <p:cxnSp>
          <p:nvCxnSpPr>
            <p:cNvPr id="92" name="Google Shape;92;p27">
              <a:extLst>
                <a:ext uri="{FF2B5EF4-FFF2-40B4-BE49-F238E27FC236}">
                  <a16:creationId xmlns:a16="http://schemas.microsoft.com/office/drawing/2014/main" id="{A36871FD-33D7-2582-E5F8-3EA27AFE9FE0}"/>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FB6E1460-12A3-CF99-FE4B-3D7A93BA06F1}"/>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C183D7F6-B498-43B3-948B-1728B52AA6E4}">
                <adec:decorative xmlns:adec="http://schemas.microsoft.com/office/drawing/2017/decorative" val="1"/>
              </a:ext>
              <a:ext uri="{FF2B5EF4-FFF2-40B4-BE49-F238E27FC236}">
                <a16:creationId xmlns:a16="http://schemas.microsoft.com/office/drawing/2014/main" id="{770C30AB-1FAA-7D7F-7303-E21D93D3CE85}"/>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E5E4EBB2-FED2-47FE-763A-10EE38E9D89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5298DFAA-86E6-BEC7-9533-B929EEE334E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212C5C0B-78F3-7857-3831-3E4D26D20833}"/>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1DA79E61-488F-300C-6688-DBA4AF1F398E}"/>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5DD02B9C-8EB7-446F-756F-4680EB67E897}"/>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356916338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17"/>
        <p:cNvGrpSpPr/>
        <p:nvPr/>
      </p:nvGrpSpPr>
      <p:grpSpPr>
        <a:xfrm>
          <a:off x="0" y="0"/>
          <a:ext cx="0" cy="0"/>
          <a:chOff x="0" y="0"/>
          <a:chExt cx="0" cy="0"/>
        </a:xfrm>
      </p:grpSpPr>
      <p:sp>
        <p:nvSpPr>
          <p:cNvPr id="118" name="Google Shape;118;p29"/>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2000"/>
              <a:buNone/>
            </a:pPr>
            <a:r>
              <a:rPr lang="en-US" sz="1800" dirty="0">
                <a:latin typeface="Atkinson Hyperlegible Next"/>
                <a:cs typeface="Arial"/>
                <a:sym typeface="Arial"/>
              </a:rPr>
              <a:t>In the real world we have continuous signals:</a:t>
            </a:r>
          </a:p>
          <a:p>
            <a:pPr marL="0" lvl="0" indent="0" algn="l" rtl="0">
              <a:lnSpc>
                <a:spcPct val="100000"/>
              </a:lnSpc>
              <a:spcBef>
                <a:spcPts val="0"/>
              </a:spcBef>
              <a:spcAft>
                <a:spcPts val="0"/>
              </a:spcAft>
              <a:buSzPts val="2000"/>
              <a:buNone/>
            </a:pPr>
            <a:endParaRPr lang="en-US" sz="1800" dirty="0">
              <a:latin typeface="Atkinson Hyperlegible Next"/>
              <a:cs typeface="Arial"/>
              <a:sym typeface="Arial"/>
            </a:endParaRPr>
          </a:p>
          <a:p>
            <a:pPr marL="285750" indent="-285750">
              <a:lnSpc>
                <a:spcPct val="100000"/>
              </a:lnSpc>
              <a:spcBef>
                <a:spcPts val="0"/>
              </a:spcBef>
              <a:buSzPts val="2000"/>
            </a:pPr>
            <a:r>
              <a:rPr lang="en-US" sz="1800" dirty="0">
                <a:latin typeface="Atkinson Hyperlegible Next"/>
                <a:cs typeface="Arial"/>
                <a:sym typeface="Arial"/>
              </a:rPr>
              <a:t>Temperature</a:t>
            </a:r>
          </a:p>
          <a:p>
            <a:pPr marL="285750" indent="-285750">
              <a:lnSpc>
                <a:spcPct val="100000"/>
              </a:lnSpc>
              <a:spcBef>
                <a:spcPts val="0"/>
              </a:spcBef>
              <a:buSzPts val="2000"/>
            </a:pPr>
            <a:r>
              <a:rPr lang="en-US" sz="1800" dirty="0">
                <a:latin typeface="Atkinson Hyperlegible Next"/>
                <a:cs typeface="Arial"/>
                <a:sym typeface="Arial"/>
              </a:rPr>
              <a:t>Sound</a:t>
            </a:r>
          </a:p>
          <a:p>
            <a:pPr marL="285750" indent="-285750">
              <a:lnSpc>
                <a:spcPct val="100000"/>
              </a:lnSpc>
              <a:spcBef>
                <a:spcPts val="0"/>
              </a:spcBef>
              <a:buSzPts val="2000"/>
            </a:pPr>
            <a:r>
              <a:rPr lang="en-US" sz="1800" dirty="0">
                <a:latin typeface="Atkinson Hyperlegible Next"/>
                <a:cs typeface="Arial"/>
                <a:sym typeface="Arial"/>
              </a:rPr>
              <a:t>Velocity</a:t>
            </a:r>
          </a:p>
          <a:p>
            <a:pPr marL="285750" indent="-285750">
              <a:lnSpc>
                <a:spcPct val="100000"/>
              </a:lnSpc>
              <a:spcBef>
                <a:spcPts val="0"/>
              </a:spcBef>
              <a:buSzPts val="2000"/>
            </a:pPr>
            <a:r>
              <a:rPr lang="en-US" sz="1800" dirty="0">
                <a:latin typeface="Atkinson Hyperlegible Next"/>
                <a:cs typeface="Arial"/>
                <a:sym typeface="Arial"/>
              </a:rPr>
              <a:t>Pressure</a:t>
            </a:r>
          </a:p>
          <a:p>
            <a:pPr marL="285750" indent="-285750">
              <a:lnSpc>
                <a:spcPct val="100000"/>
              </a:lnSpc>
              <a:spcBef>
                <a:spcPts val="0"/>
              </a:spcBef>
              <a:buSzPts val="2000"/>
            </a:pPr>
            <a:r>
              <a:rPr lang="en-US" sz="1800" dirty="0">
                <a:latin typeface="Atkinson Hyperlegible Next"/>
                <a:cs typeface="Arial"/>
                <a:sym typeface="Arial"/>
              </a:rPr>
              <a:t>Luminosity</a:t>
            </a:r>
          </a:p>
          <a:p>
            <a:pPr marL="285750" indent="-285750">
              <a:lnSpc>
                <a:spcPct val="100000"/>
              </a:lnSpc>
              <a:spcBef>
                <a:spcPts val="0"/>
              </a:spcBef>
              <a:buSzPts val="2000"/>
            </a:pPr>
            <a:endParaRPr lang="en-US" sz="1800" dirty="0">
              <a:latin typeface="+mj-lt"/>
              <a:cs typeface="Arial"/>
              <a:sym typeface="Arial"/>
            </a:endParaRPr>
          </a:p>
          <a:p>
            <a:pPr marL="0" indent="0">
              <a:lnSpc>
                <a:spcPct val="100000"/>
              </a:lnSpc>
              <a:spcBef>
                <a:spcPts val="0"/>
              </a:spcBef>
              <a:buSzPts val="2000"/>
              <a:buNone/>
            </a:pPr>
            <a:r>
              <a:rPr lang="en-US" sz="1800" dirty="0">
                <a:latin typeface="+mj-lt"/>
              </a:rPr>
              <a:t>Again, we have the CPU only able to process discrete binary values (0 or 1).</a:t>
            </a:r>
          </a:p>
          <a:p>
            <a:pPr marL="0" indent="0">
              <a:lnSpc>
                <a:spcPct val="100000"/>
              </a:lnSpc>
              <a:spcBef>
                <a:spcPts val="0"/>
              </a:spcBef>
              <a:buSzPts val="2000"/>
              <a:buNone/>
            </a:pPr>
            <a:endParaRPr lang="en-US" sz="1800" dirty="0">
              <a:latin typeface="+mj-lt"/>
            </a:endParaRPr>
          </a:p>
          <a:p>
            <a:pPr marL="0" indent="0">
              <a:lnSpc>
                <a:spcPct val="100000"/>
              </a:lnSpc>
              <a:spcBef>
                <a:spcPts val="0"/>
              </a:spcBef>
              <a:buSzPts val="2000"/>
              <a:buNone/>
            </a:pPr>
            <a:r>
              <a:rPr lang="en-US" sz="1800" b="1" dirty="0">
                <a:latin typeface="+mj-lt"/>
              </a:rPr>
              <a:t>ADC (Analog-to-Digital Converter): </a:t>
            </a:r>
          </a:p>
          <a:p>
            <a:pPr marL="285750" indent="-285750">
              <a:lnSpc>
                <a:spcPct val="100000"/>
              </a:lnSpc>
              <a:spcBef>
                <a:spcPts val="0"/>
              </a:spcBef>
              <a:buSzPts val="2000"/>
            </a:pPr>
            <a:r>
              <a:rPr lang="en-US" sz="1800" dirty="0">
                <a:latin typeface="+mj-lt"/>
              </a:rPr>
              <a:t>"The Eyes/Ears." Converts physical signals into numbers the CPU can process.</a:t>
            </a:r>
          </a:p>
          <a:p>
            <a:pPr marL="0" indent="0">
              <a:lnSpc>
                <a:spcPct val="100000"/>
              </a:lnSpc>
              <a:spcBef>
                <a:spcPts val="0"/>
              </a:spcBef>
              <a:buSzPts val="2000"/>
              <a:buNone/>
            </a:pPr>
            <a:endParaRPr lang="en-US" sz="1800" dirty="0">
              <a:latin typeface="+mj-lt"/>
            </a:endParaRPr>
          </a:p>
          <a:p>
            <a:pPr marL="0" indent="0">
              <a:lnSpc>
                <a:spcPct val="100000"/>
              </a:lnSpc>
              <a:spcBef>
                <a:spcPts val="0"/>
              </a:spcBef>
              <a:buSzPts val="2000"/>
              <a:buNone/>
            </a:pPr>
            <a:r>
              <a:rPr lang="en-US" sz="1800" b="1" dirty="0">
                <a:latin typeface="+mj-lt"/>
              </a:rPr>
              <a:t>DAC (Digital-to-Analog Converter): </a:t>
            </a:r>
          </a:p>
          <a:p>
            <a:pPr marL="285750" indent="-285750">
              <a:lnSpc>
                <a:spcPct val="100000"/>
              </a:lnSpc>
              <a:spcBef>
                <a:spcPts val="0"/>
              </a:spcBef>
              <a:buSzPts val="2000"/>
            </a:pPr>
            <a:r>
              <a:rPr lang="en-US" sz="1800" dirty="0">
                <a:latin typeface="+mj-lt"/>
              </a:rPr>
              <a:t>"The Hands/Voice." Converts processed numbers back into voltages to drive motors, speakers, etc.</a:t>
            </a:r>
          </a:p>
        </p:txBody>
      </p:sp>
      <p:sp>
        <p:nvSpPr>
          <p:cNvPr id="119" name="Google Shape;119;p29"/>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Introduction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p:cNvGrpSpPr/>
          <p:nvPr/>
        </p:nvGrpSpPr>
        <p:grpSpPr>
          <a:xfrm>
            <a:off x="4066674" y="6601537"/>
            <a:ext cx="5233412" cy="70446"/>
            <a:chOff x="4033424" y="6601537"/>
            <a:chExt cx="5233412" cy="70446"/>
          </a:xfrm>
        </p:grpSpPr>
        <p:cxnSp>
          <p:nvCxnSpPr>
            <p:cNvPr id="125" name="Google Shape;125;p29"/>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3" end="3"/>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18">
                                            <p:txEl>
                                              <p:pRg st="5" end="5"/>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118">
                                            <p:txEl>
                                              <p:pRg st="13" end="13"/>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18">
                                            <p:txEl>
                                              <p:pRg st="14" end="1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p:cNvGrpSpPr/>
        <p:nvPr/>
      </p:nvGrpSpPr>
      <p:grpSpPr>
        <a:xfrm>
          <a:off x="0" y="0"/>
          <a:ext cx="0" cy="0"/>
          <a:chOff x="0" y="0"/>
          <a:chExt cx="0" cy="0"/>
        </a:xfrm>
      </p:grpSpPr>
      <p:sp>
        <p:nvSpPr>
          <p:cNvPr id="104" name="Google Shape;104;p28"/>
          <p:cNvSpPr/>
          <p:nvPr>
            <p:ph type="title"/>
          </p:nvPr>
        </p:nvSpPr>
        <p:spPr>
          <a:xfrm>
            <a:off x="1295400" y="2948490"/>
            <a:ext cx="9601200" cy="1338788"/>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DAC</a:t>
            </a:r>
            <a:endParaRPr i="0" b="0" sz="1400" dirty="0">
              <a:solidFill>
                <a:srgbClr val="000000"/>
              </a:solidFill>
            </a:endParaRPr>
          </a:p>
          <a:p>
            <a:pPr marL="0" marR="0" lvl="0" indent="0" algn="ctr" rtl="0">
              <a:lnSpc>
                <a:spcPct val="100000"/>
              </a:lnSpc>
              <a:spcBef>
                <a:spcPts val="0"/>
              </a:spcBef>
              <a:spcAft>
                <a:spcPts val="0"/>
              </a:spcAft>
              <a:buClr>
                <a:srgbClr val="000000"/>
              </a:buClr>
              <a:buSzPts val="1800"/>
              <a:buFont typeface="Arial"/>
              <a:buNone/>
            </a:pPr>
            <a:endParaRPr sz="1800" b="1" i="0" u="none" strike="noStrike" cap="none" dirty="0">
              <a:solidFill>
                <a:srgbClr val="15264B"/>
              </a:solidFill>
              <a:latin typeface="Atkinson Hyperlegible Next"/>
              <a:ea typeface="Arial"/>
              <a:cs typeface="Arial"/>
              <a:sym typeface="Arial"/>
            </a:endParaRPr>
          </a:p>
          <a:p>
            <a:pPr marL="0" marR="0" lvl="0" indent="0" algn="ctr" rtl="0">
              <a:lnSpc>
                <a:spcPct val="100000"/>
              </a:lnSpc>
              <a:spcBef>
                <a:spcPts val="0"/>
              </a:spcBef>
              <a:spcAft>
                <a:spcPts val="0"/>
              </a:spcAft>
              <a:buNone/>
            </a:pPr>
            <a:r>
              <a:rPr lang="en-US" sz="1800" b="0" i="0" u="none" strike="noStrike" cap="none" dirty="0">
                <a:solidFill>
                  <a:srgbClr val="15264B"/>
                </a:solidFill>
                <a:latin typeface="Atkinson Hyperlegible Next"/>
                <a:ea typeface="Arial"/>
                <a:cs typeface="Arial"/>
                <a:sym typeface="Arial"/>
              </a:rPr>
              <a:t>(Digital-to-Analog Converter)</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p:cNvGrpSpPr/>
          <p:nvPr/>
        </p:nvGrpSpPr>
        <p:grpSpPr>
          <a:xfrm>
            <a:off x="3943790" y="2676939"/>
            <a:ext cx="3861740" cy="322845"/>
            <a:chOff x="3943790" y="2676939"/>
            <a:chExt cx="3861740" cy="322845"/>
          </a:xfrm>
        </p:grpSpPr>
        <p:cxnSp>
          <p:nvCxnSpPr>
            <p:cNvPr id="106" name="Google Shape;106;p28"/>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p:cNvGrpSpPr/>
          <p:nvPr/>
        </p:nvGrpSpPr>
        <p:grpSpPr>
          <a:xfrm>
            <a:off x="4066674" y="6601537"/>
            <a:ext cx="5233412" cy="70446"/>
            <a:chOff x="4033424" y="6601537"/>
            <a:chExt cx="5233412" cy="70446"/>
          </a:xfrm>
        </p:grpSpPr>
        <p:cxnSp>
          <p:nvCxnSpPr>
            <p:cNvPr id="112" name="Google Shape;112;p28"/>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1595F42-45CF-1A67-E00F-6AB79CECCE2B}"/>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389FDB5E-3E15-C7F0-C55C-8922ED8D283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2000"/>
                  <a:buNone/>
                </a:pPr>
                <a:r>
                  <a:rPr lang="en-US" sz="1800" dirty="0">
                    <a:latin typeface="+mj-lt"/>
                  </a:rPr>
                  <a:t>A device that convert binary input number into a proportional analog voltage symbol.</a:t>
                </a:r>
              </a:p>
              <a:p>
                <a:pPr marL="0" lvl="0" indent="0" algn="l" rtl="0">
                  <a:lnSpc>
                    <a:spcPct val="100000"/>
                  </a:lnSpc>
                  <a:spcBef>
                    <a:spcPts val="0"/>
                  </a:spcBef>
                  <a:spcAft>
                    <a:spcPts val="0"/>
                  </a:spcAft>
                  <a:buSzPts val="2000"/>
                  <a:buNone/>
                </a:pPr>
                <a:endParaRPr lang="en-US" sz="1800" dirty="0">
                  <a:latin typeface="+mj-lt"/>
                </a:endParaRPr>
              </a:p>
              <a:p>
                <a:pPr marL="0" lvl="0" indent="0" algn="l" rtl="0">
                  <a:lnSpc>
                    <a:spcPct val="100000"/>
                  </a:lnSpc>
                  <a:spcBef>
                    <a:spcPts val="0"/>
                  </a:spcBef>
                  <a:spcAft>
                    <a:spcPts val="0"/>
                  </a:spcAft>
                  <a:buSzPts val="2000"/>
                  <a:buNone/>
                </a:pPr>
                <a14:m>
                  <m:oMathPara xmlns:m="http://schemas.openxmlformats.org/officeDocument/2006/math">
                    <m:oMathParaPr>
                      <m:jc m:val="centerGroup"/>
                    </m:oMathParaPr>
                    <m:oMath xmlns:m="http://schemas.openxmlformats.org/officeDocument/2006/math">
                      <m:sSub>
                        <m:sSubPr>
                          <m:ctrlPr>
                            <a:rPr lang="en-US" sz="1800" i="1" smtClean="0">
                              <a:latin typeface="Cambria Math" panose="02040503050406030204" pitchFamily="18" charset="0"/>
                            </a:rPr>
                          </m:ctrlPr>
                        </m:sSubPr>
                        <m:e>
                          <m:r>
                            <m:rPr>
                              <m:sty m:val="p"/>
                            </m:rPr>
                            <a:rPr lang="en-US" sz="1800" b="0" i="1" smtClean="0">
                              <a:latin typeface="Cambria Math" panose="02040503050406030204" pitchFamily="18" charset="0"/>
                            </a:rPr>
                            <m:t>V</m:t>
                          </m:r>
                        </m:e>
                        <m:sub>
                          <m:r>
                            <m:rPr>
                              <m:sty m:val="p"/>
                            </m:rPr>
                            <a:rPr lang="en-US" sz="1800" b="0" i="1" smtClean="0">
                              <a:latin typeface="Cambria Math" panose="02040503050406030204" pitchFamily="18" charset="0"/>
                            </a:rPr>
                            <m:t>out</m:t>
                          </m:r>
                        </m:sub>
                      </m:sSub>
                      <m:r>
                        <a:rPr lang="en-US" sz="1800" b="0" i="1" smtClean="0">
                          <a:latin typeface="Cambria Math" panose="02040503050406030204" pitchFamily="18" charset="0"/>
                        </a:rPr>
                        <m:t>=</m:t>
                      </m:r>
                      <m:sSub>
                        <m:sSubPr>
                          <m:ctrlPr>
                            <a:rPr lang="en-US" sz="1800" b="0" i="1" smtClean="0">
                              <a:latin typeface="Cambria Math" panose="02040503050406030204" pitchFamily="18" charset="0"/>
                            </a:rPr>
                          </m:ctrlPr>
                        </m:sSubPr>
                        <m:e>
                          <m:r>
                            <m:rPr>
                              <m:sty m:val="p"/>
                            </m:rPr>
                            <a:rPr lang="en-US" sz="1800" b="0" i="1" smtClean="0">
                              <a:latin typeface="Cambria Math" panose="02040503050406030204" pitchFamily="18" charset="0"/>
                            </a:rPr>
                            <m:t>V</m:t>
                          </m:r>
                        </m:e>
                        <m:sub>
                          <m:r>
                            <m:rPr>
                              <m:sty m:val="p"/>
                            </m:rPr>
                            <a:rPr lang="en-US" sz="1800" b="0" i="1" smtClean="0">
                              <a:latin typeface="Cambria Math" panose="02040503050406030204" pitchFamily="18" charset="0"/>
                            </a:rPr>
                            <m:t>ref</m:t>
                          </m:r>
                        </m:sub>
                      </m:sSub>
                      <m:r>
                        <a:rPr lang="en-US" sz="1800" b="0" i="1" smtClean="0">
                          <a:latin typeface="Cambria Math" panose="02040503050406030204" pitchFamily="18" charset="0"/>
                          <a:ea typeface="Cambria Math" panose="02040503050406030204" pitchFamily="18" charset="0"/>
                        </a:rPr>
                        <m:t>×</m:t>
                      </m:r>
                      <m:f>
                        <m:fPr>
                          <m:ctrlPr>
                            <a:rPr lang="en-US" sz="1800" b="0" i="1" smtClean="0">
                              <a:latin typeface="Cambria Math" panose="02040503050406030204" pitchFamily="18" charset="0"/>
                              <a:ea typeface="Cambria Math" panose="02040503050406030204" pitchFamily="18" charset="0"/>
                            </a:rPr>
                          </m:ctrlPr>
                        </m:fPr>
                        <m:num>
                          <m:r>
                            <m:rPr>
                              <m:sty m:val="p"/>
                            </m:rPr>
                            <a:rPr lang="en-US" sz="1800" b="0" i="1" smtClean="0">
                              <a:latin typeface="Cambria Math" panose="02040503050406030204" pitchFamily="18" charset="0"/>
                              <a:ea typeface="Cambria Math" panose="02040503050406030204" pitchFamily="18" charset="0"/>
                            </a:rPr>
                            <m:t>X</m:t>
                          </m:r>
                        </m:num>
                        <m:den>
                          <m:sSup>
                            <m:sSupPr>
                              <m:ctrlPr>
                                <a:rPr lang="en-US" sz="1800" b="0" i="1" smtClean="0">
                                  <a:latin typeface="Cambria Math" panose="02040503050406030204" pitchFamily="18" charset="0"/>
                                  <a:ea typeface="Cambria Math" panose="02040503050406030204" pitchFamily="18" charset="0"/>
                                </a:rPr>
                              </m:ctrlPr>
                            </m:sSupPr>
                            <m:e>
                              <m:r>
                                <a:rPr lang="en-US" sz="1800" b="0" i="1" smtClean="0">
                                  <a:latin typeface="Cambria Math" panose="02040503050406030204" pitchFamily="18" charset="0"/>
                                  <a:ea typeface="Cambria Math" panose="02040503050406030204" pitchFamily="18" charset="0"/>
                                </a:rPr>
                                <m:t>2</m:t>
                              </m:r>
                            </m:e>
                            <m:sup>
                              <m:r>
                                <m:rPr>
                                  <m:sty m:val="p"/>
                                </m:rPr>
                                <a:rPr lang="en-US" sz="1800" b="0" i="1" smtClean="0">
                                  <a:latin typeface="Cambria Math" panose="02040503050406030204" pitchFamily="18" charset="0"/>
                                  <a:ea typeface="Cambria Math" panose="02040503050406030204" pitchFamily="18" charset="0"/>
                                </a:rPr>
                                <m:t>N</m:t>
                              </m:r>
                            </m:sup>
                          </m:sSup>
                        </m:den>
                      </m:f>
                    </m:oMath>
                  </m:oMathPara>
                </a14:m>
                <a:endParaRPr lang="en-US" sz="1800" dirty="0">
                  <a:latin typeface="+mj-lt"/>
                </a:endParaRPr>
              </a:p>
              <a:p>
                <a:pPr marL="0" lvl="0" indent="0" algn="l" rtl="0">
                  <a:lnSpc>
                    <a:spcPct val="100000"/>
                  </a:lnSpc>
                  <a:spcBef>
                    <a:spcPts val="0"/>
                  </a:spcBef>
                  <a:spcAft>
                    <a:spcPts val="0"/>
                  </a:spcAft>
                  <a:buSzPts val="2000"/>
                  <a:buNone/>
                </a:pPr>
                <a:endParaRPr lang="en-US" sz="1800" dirty="0">
                  <a:latin typeface="+mj-lt"/>
                </a:endParaRPr>
              </a:p>
              <a:p>
                <a:pPr marL="0" lvl="0" indent="0">
                  <a:lnSpc>
                    <a:spcPct val="100000"/>
                  </a:lnSpc>
                  <a:spcBef>
                    <a:spcPts val="0"/>
                  </a:spcBef>
                  <a:buSzPts val="2000"/>
                  <a:buNone/>
                </a:pPr>
                <a:r>
                  <a:rPr lang="en-US" sz="1800" dirty="0">
                    <a:latin typeface="+mj-lt"/>
                  </a:rPr>
                  <a:t>Where </a:t>
                </a:r>
                <a14:m>
                  <m:oMath xmlns:m="http://schemas.openxmlformats.org/officeDocument/2006/math">
                    <m:r>
                      <m:rPr>
                        <m:sty m:val="p"/>
                      </m:rPr>
                      <a:rPr lang="en-US" sz="1800" i="1">
                        <a:latin typeface="Cambria Math" panose="02040503050406030204" pitchFamily="18" charset="0"/>
                        <a:ea typeface="Cambria Math" panose="02040503050406030204" pitchFamily="18" charset="0"/>
                      </a:rPr>
                      <m:t>N</m:t>
                    </m:r>
                  </m:oMath>
                </a14:m>
                <a:r>
                  <a:rPr lang="en-US" sz="1800" dirty="0">
                    <a:latin typeface="+mj-lt"/>
                  </a:rPr>
                  <a:t> represents the resolution, the larger </a:t>
                </a:r>
                <a14:m>
                  <m:oMath xmlns:m="http://schemas.openxmlformats.org/officeDocument/2006/math">
                    <m:r>
                      <m:rPr>
                        <m:sty m:val="p"/>
                      </m:rPr>
                      <a:rPr lang="en-US" sz="1800" i="1">
                        <a:latin typeface="Cambria Math" panose="02040503050406030204" pitchFamily="18" charset="0"/>
                        <a:ea typeface="Cambria Math" panose="02040503050406030204" pitchFamily="18" charset="0"/>
                      </a:rPr>
                      <m:t>N</m:t>
                    </m:r>
                  </m:oMath>
                </a14:m>
                <a:r>
                  <a:rPr lang="en-US" sz="1800" dirty="0">
                    <a:latin typeface="+mj-lt"/>
                  </a:rPr>
                  <a:t>, the more possible subdivision values you can have (the more you have the more expensive it is!)</a:t>
                </a:r>
              </a:p>
              <a:p>
                <a:pPr marL="0" lvl="0" indent="0">
                  <a:lnSpc>
                    <a:spcPct val="100000"/>
                  </a:lnSpc>
                  <a:spcBef>
                    <a:spcPts val="0"/>
                  </a:spcBef>
                  <a:buSzPts val="2000"/>
                  <a:buNone/>
                </a:pPr>
                <a:endParaRPr lang="en-US" sz="1800" dirty="0">
                  <a:latin typeface="+mj-lt"/>
                </a:endParaRPr>
              </a:p>
              <a:p>
                <a:pPr marL="0" lvl="0" indent="0">
                  <a:lnSpc>
                    <a:spcPct val="100000"/>
                  </a:lnSpc>
                  <a:spcBef>
                    <a:spcPts val="0"/>
                  </a:spcBef>
                  <a:buSzPts val="2000"/>
                  <a:buNone/>
                </a:pPr>
                <a:r>
                  <a:rPr lang="en-US" sz="1800" dirty="0">
                    <a:latin typeface="+mj-lt"/>
                  </a:rPr>
                  <a:t>Where </a:t>
                </a:r>
                <a14:m>
                  <m:oMath xmlns:m="http://schemas.openxmlformats.org/officeDocument/2006/math">
                    <m:r>
                      <m:rPr>
                        <m:sty m:val="p"/>
                      </m:rPr>
                      <a:rPr lang="en-US" sz="1800" i="1">
                        <a:latin typeface="Cambria Math" panose="02040503050406030204" pitchFamily="18" charset="0"/>
                        <a:ea typeface="Cambria Math" panose="02040503050406030204" pitchFamily="18" charset="0"/>
                      </a:rPr>
                      <m:t>X</m:t>
                    </m:r>
                  </m:oMath>
                </a14:m>
                <a:r>
                  <a:rPr lang="en-US" sz="1800" dirty="0">
                    <a:latin typeface="+mj-lt"/>
                  </a:rPr>
                  <a:t> is the reference value you input to be converted.</a:t>
                </a:r>
              </a:p>
              <a:p>
                <a:pPr marL="0" lvl="0" indent="0">
                  <a:lnSpc>
                    <a:spcPct val="100000"/>
                  </a:lnSpc>
                  <a:spcBef>
                    <a:spcPts val="0"/>
                  </a:spcBef>
                  <a:buSzPts val="2000"/>
                  <a:buNone/>
                </a:pPr>
                <a:endParaRPr lang="en-US" sz="1800" dirty="0">
                  <a:latin typeface="+mj-lt"/>
                </a:endParaRPr>
              </a:p>
              <a:p>
                <a:pPr marL="0" lvl="0" indent="0">
                  <a:lnSpc>
                    <a:spcPct val="100000"/>
                  </a:lnSpc>
                  <a:spcBef>
                    <a:spcPts val="0"/>
                  </a:spcBef>
                  <a:buSzPts val="2000"/>
                  <a:buNone/>
                </a:pPr>
                <a:r>
                  <a:rPr lang="en-US" sz="1800" dirty="0">
                    <a:latin typeface="+mj-lt"/>
                  </a:rPr>
                  <a:t>Specifically for our microcontroller we have,</a:t>
                </a:r>
              </a:p>
              <a:p>
                <a:pPr marL="0" lvl="0" indent="0">
                  <a:lnSpc>
                    <a:spcPct val="100000"/>
                  </a:lnSpc>
                  <a:spcBef>
                    <a:spcPts val="0"/>
                  </a:spcBef>
                  <a:buSzPts val="2000"/>
                  <a:buNone/>
                </a:pPr>
                <a:endParaRPr lang="en-US" sz="1800" dirty="0">
                  <a:latin typeface="+mj-lt"/>
                </a:endParaRPr>
              </a:p>
              <a:p>
                <a:pPr marL="0" lvl="0" indent="0">
                  <a:lnSpc>
                    <a:spcPct val="100000"/>
                  </a:lnSpc>
                  <a:spcBef>
                    <a:spcPts val="0"/>
                  </a:spcBef>
                  <a:buSzPts val="2000"/>
                  <a:buNone/>
                </a:pPr>
                <a:endParaRPr lang="en-US" sz="1800" dirty="0">
                  <a:latin typeface="+mj-lt"/>
                </a:endParaRPr>
              </a:p>
              <a:p>
                <a:pPr marL="0" lvl="0" indent="0">
                  <a:lnSpc>
                    <a:spcPct val="100000"/>
                  </a:lnSpc>
                  <a:spcBef>
                    <a:spcPts val="0"/>
                  </a:spcBef>
                  <a:buSzPts val="2000"/>
                  <a:buNone/>
                </a:pPr>
                <a14:m>
                  <m:oMathPara xmlns:m="http://schemas.openxmlformats.org/officeDocument/2006/math">
                    <m:oMathParaPr>
                      <m:jc m:val="centerGroup"/>
                    </m:oMathParaPr>
                    <m:oMath xmlns:m="http://schemas.openxmlformats.org/officeDocument/2006/math">
                      <m:r>
                        <m:rPr>
                          <m:sty m:val="p"/>
                        </m:rPr>
                        <a:rPr lang="en-US" sz="1800" b="0" i="1" smtClean="0">
                          <a:latin typeface="Cambria Math" panose="02040503050406030204" pitchFamily="18" charset="0"/>
                        </a:rPr>
                        <m:t>DACOUT</m:t>
                      </m:r>
                      <m:r>
                        <a:rPr lang="en-US" sz="1800" i="1">
                          <a:latin typeface="Cambria Math" panose="02040503050406030204" pitchFamily="18" charset="0"/>
                        </a:rPr>
                        <m:t>=</m:t>
                      </m:r>
                      <m:f>
                        <m:fPr>
                          <m:ctrlPr>
                            <a:rPr lang="en-US" sz="1800" i="1">
                              <a:latin typeface="Cambria Math" panose="02040503050406030204" pitchFamily="18" charset="0"/>
                              <a:ea typeface="Cambria Math" panose="02040503050406030204" pitchFamily="18" charset="0"/>
                            </a:rPr>
                          </m:ctrlPr>
                        </m:fPr>
                        <m:num>
                          <m:r>
                            <m:rPr>
                              <m:sty m:val="p"/>
                            </m:rPr>
                            <a:rPr lang="en-US" sz="1800" b="0" i="1" smtClean="0">
                              <a:latin typeface="Cambria Math" panose="02040503050406030204" pitchFamily="18" charset="0"/>
                              <a:ea typeface="Cambria Math" panose="02040503050406030204" pitchFamily="18" charset="0"/>
                            </a:rPr>
                            <m:t>DACVALA</m:t>
                          </m:r>
                          <m:r>
                            <a:rPr lang="en-US" sz="1800" b="0" i="1" smtClean="0">
                              <a:latin typeface="Cambria Math" panose="02040503050406030204" pitchFamily="18" charset="0"/>
                              <a:ea typeface="Cambria Math" panose="02040503050406030204" pitchFamily="18" charset="0"/>
                            </a:rPr>
                            <m:t>×</m:t>
                          </m:r>
                          <m:r>
                            <m:rPr>
                              <m:sty m:val="p"/>
                            </m:rPr>
                            <a:rPr lang="en-US" sz="1800" b="0" i="1" smtClean="0">
                              <a:latin typeface="Cambria Math" panose="02040503050406030204" pitchFamily="18" charset="0"/>
                              <a:ea typeface="Cambria Math" panose="02040503050406030204" pitchFamily="18" charset="0"/>
                            </a:rPr>
                            <m:t>DACREF</m:t>
                          </m:r>
                        </m:num>
                        <m:den>
                          <m:r>
                            <a:rPr lang="en-US" sz="1800" b="0" i="1" smtClean="0">
                              <a:latin typeface="Cambria Math" panose="02040503050406030204" pitchFamily="18" charset="0"/>
                              <a:ea typeface="Cambria Math" panose="02040503050406030204" pitchFamily="18" charset="0"/>
                            </a:rPr>
                            <m:t>4096</m:t>
                          </m:r>
                        </m:den>
                      </m:f>
                    </m:oMath>
                  </m:oMathPara>
                </a14:m>
                <a:endParaRPr lang="en-US" sz="1800" dirty="0">
                  <a:latin typeface="+mj-lt"/>
                </a:endParaRPr>
              </a:p>
              <a:p>
                <a:pPr marL="0" lvl="0" indent="0">
                  <a:lnSpc>
                    <a:spcPct val="100000"/>
                  </a:lnSpc>
                  <a:spcBef>
                    <a:spcPts val="0"/>
                  </a:spcBef>
                  <a:buSzPts val="2000"/>
                  <a:buNone/>
                </a:pPr>
                <a:endParaRPr lang="en-US" sz="1800" dirty="0">
                  <a:latin typeface="+mj-lt"/>
                </a:endParaRPr>
              </a:p>
              <a:p>
                <a:pPr marL="0" lvl="0" indent="0">
                  <a:lnSpc>
                    <a:spcPct val="100000"/>
                  </a:lnSpc>
                  <a:spcBef>
                    <a:spcPts val="0"/>
                  </a:spcBef>
                  <a:buSzPts val="2000"/>
                  <a:buNone/>
                </a:pPr>
                <a:r>
                  <a:rPr lang="en-US" sz="1800" dirty="0">
                    <a:latin typeface="+mj-lt"/>
                  </a:rPr>
                  <a:t>How many bits of resolution do we have? </a:t>
                </a:r>
                <a:r>
                  <a:rPr lang="en-US" sz="1800" b="1" dirty="0">
                    <a:latin typeface="+mj-lt"/>
                  </a:rPr>
                  <a:t>12</a:t>
                </a:r>
              </a:p>
            </p:txBody>
          </p:sp>
        </mc:Choice>
        <mc:Fallback xmlns="">
          <p:sp>
            <p:nvSpPr>
              <p:cNvPr id="118" name="Google Shape;118;p29">
                <a:extLst>
                  <a:ext uri="{FF2B5EF4-FFF2-40B4-BE49-F238E27FC236}">
                    <a16:creationId xmlns:a16="http://schemas.microsoft.com/office/drawing/2014/main" id="{389FDB5E-3E15-C7F0-C55C-8922ED8D283C}"/>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491"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5BC61FC6-35BB-A02D-0CE2-01D04C4EF63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91A473D-E3C5-9BD8-605B-8D44A046AA7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DAC</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11DF2C5-BAAE-4EB1-C4BE-471E93DC5B10}"/>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46D49EF-31E9-B780-98F0-D784947DD5E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6ED2865-9246-2196-4B99-E59082D3D94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F2B19FE-59CA-F3DA-3077-2AFBEA38EE6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A879F49-B678-7A78-4D4E-7B55B302AFB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B3BC861-B892-4FD3-1D60-A7F89F2C12C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7975665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13" end="1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859E1E9-9F25-1432-2363-10C958D5F4A8}"/>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7DD940A-7605-B25B-B6EF-10A2E475720B}"/>
              </a:ext>
            </a:extLst>
          </p:cNvPr>
          <p:cNvSpPr txBox="1">
            <a:spLocks noGrp="1"/>
          </p:cNvSpPr>
          <p:nvPr>
            <p:ph type="body" idx="1"/>
          </p:nvPr>
        </p:nvSpPr>
        <p:spPr>
          <a:xfrm>
            <a:off x="376809" y="1334279"/>
            <a:ext cx="11177401" cy="570824"/>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2000"/>
              <a:buNone/>
            </a:pPr>
            <a:r>
              <a:rPr lang="en-US" sz="1800" dirty="0">
                <a:latin typeface="+mj-lt"/>
              </a:rPr>
              <a:t>A voltage mode resistor R-2R resistor ladder network.</a:t>
            </a:r>
          </a:p>
        </p:txBody>
      </p:sp>
      <p:sp>
        <p:nvSpPr>
          <p:cNvPr id="119" name="Google Shape;119;p29">
            <a:extLst>
              <a:ext uri="{FF2B5EF4-FFF2-40B4-BE49-F238E27FC236}">
                <a16:creationId xmlns:a16="http://schemas.microsoft.com/office/drawing/2014/main" id="{536CF10F-2C01-B38F-9412-BB01ABBD9A2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EE0C3E6-2A38-051A-9021-1C9833B38ED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DAC – R-2R resistor ladder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72056BB-2A90-3AA5-D716-A27FF708DDD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02077F7-FB02-44A3-AF6C-F7A1C4AB3DB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2EC8EF8-2A56-983F-7F6E-006604D1325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590EA51-3FD9-416D-B8C1-A2B3E9E1339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694F0FC-811E-2E2E-BEA6-1186F205E80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CB8DACB-8C28-9821-7298-77EC188CD02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2" name="TextBox 1">
            <a:extLst>
              <a:ext uri="{FF2B5EF4-FFF2-40B4-BE49-F238E27FC236}">
                <a16:creationId xmlns:a16="http://schemas.microsoft.com/office/drawing/2014/main" id="{5FC0932C-8934-236D-6A99-50DC629F1736}"/>
              </a:ext>
            </a:extLst>
          </p:cNvPr>
          <p:cNvSpPr txBox="1"/>
          <p:nvPr/>
        </p:nvSpPr>
        <p:spPr>
          <a:xfrm>
            <a:off x="9620043" y="2475927"/>
            <a:ext cx="2473415" cy="738664"/>
          </a:xfrm>
          <a:prstGeom prst="rect">
            <a:avLst/>
          </a:prstGeom>
          <a:noFill/>
        </p:spPr>
        <p:txBody>
          <a:bodyPr wrap="square" rtlCol="0">
            <a:spAutoFit/>
          </a:bodyPr>
          <a:lstStyle/>
          <a:p>
            <a:r>
              <a:rPr lang="en-US" dirty="0"/>
              <a:t>If the image is still here, I did not have time to make an animation</a:t>
            </a:r>
          </a:p>
        </p:txBody>
      </p:sp>
      <p:pic>
        <p:nvPicPr>
          <p:cNvPr id="15" name="Graphic 14" descr="Circuit: R-2R ladder DAC. A horizontal chain of nodes is joined by series resistors R. The leftmost node connects to ground through a 2R resistor. Each node also connects upward through its own 2R resistor to a digital bit input, a sub 0 at the grounded end through a sub n minus 1 at the right end, with dots marking the repeated middle stages. The rightmost node, fed by a sub n minus 1, is the output V sub out.">
            <a:extLst>
              <a:ext uri="{FF2B5EF4-FFF2-40B4-BE49-F238E27FC236}">
                <a16:creationId xmlns:a16="http://schemas.microsoft.com/office/drawing/2014/main" id="{08D8DC2D-0B7C-BECC-3B08-23FDA0F21088}"/>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674929" y="2258842"/>
            <a:ext cx="8581159" cy="2340316"/>
          </a:xfrm>
          <a:prstGeom prst="rect">
            <a:avLst/>
          </a:prstGeom>
        </p:spPr>
      </p:pic>
      <mc:AlternateContent xmlns:mc="http://schemas.openxmlformats.org/markup-compatibility/2006">
        <mc:Choice xmlns:a14="http://schemas.microsoft.com/office/drawing/2010/main" Requires="a14">
          <p:sp>
            <p:nvSpPr>
              <p:cNvPr id="16" name="Google Shape;118;p29">
                <a:extLst>
                  <a:ext uri="{FF2B5EF4-FFF2-40B4-BE49-F238E27FC236}">
                    <a16:creationId xmlns:a16="http://schemas.microsoft.com/office/drawing/2014/main" id="{7D59BECE-22B8-ED4D-43D8-7D6477E0E25E}"/>
                  </a:ext>
                </a:extLst>
              </p:cNvPr>
              <p:cNvSpPr txBox="1">
                <a:spLocks/>
              </p:cNvSpPr>
              <p:nvPr/>
            </p:nvSpPr>
            <p:spPr>
              <a:xfrm>
                <a:off x="376809" y="4952897"/>
                <a:ext cx="11177401" cy="1385470"/>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342900" algn="l" rtl="0">
                  <a:lnSpc>
                    <a:spcPct val="90000"/>
                  </a:lnSpc>
                  <a:spcBef>
                    <a:spcPts val="1000"/>
                  </a:spcBef>
                  <a:spcAft>
                    <a:spcPts val="0"/>
                  </a:spcAft>
                  <a:buClr>
                    <a:schemeClr val="dk1"/>
                  </a:buClr>
                  <a:buSzPts val="1800"/>
                  <a:buFont typeface="Arial"/>
                  <a:buChar char="•"/>
                  <a:defRPr sz="2800" b="0" i="0" u="none" strike="noStrike" cap="none">
                    <a:solidFill>
                      <a:schemeClr val="dk1"/>
                    </a:solidFill>
                    <a:latin typeface="Atkinson Hyperlegible Next"/>
                    <a:ea typeface="Calibri"/>
                    <a:cs typeface="Calibri"/>
                    <a:sym typeface="Calibri"/>
                  </a:defRPr>
                </a:lvl1pPr>
                <a:lvl2pPr marL="914400" marR="0" lvl="1" indent="-342900"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Atkinson Hyperlegible Next"/>
                    <a:ea typeface="Calibri"/>
                    <a:cs typeface="Calibri"/>
                    <a:sym typeface="Calibri"/>
                  </a:defRPr>
                </a:lvl2pPr>
                <a:lvl3pPr marL="1371600" marR="0" lvl="2" indent="-342900" algn="l" rtl="0">
                  <a:lnSpc>
                    <a:spcPct val="90000"/>
                  </a:lnSpc>
                  <a:spcBef>
                    <a:spcPts val="500"/>
                  </a:spcBef>
                  <a:spcAft>
                    <a:spcPts val="0"/>
                  </a:spcAft>
                  <a:buClr>
                    <a:schemeClr val="dk1"/>
                  </a:buClr>
                  <a:buSzPts val="1800"/>
                  <a:buFont typeface="Arial"/>
                  <a:buChar char="•"/>
                  <a:defRPr sz="2000" b="0" i="0" u="none" strike="noStrike" cap="none">
                    <a:solidFill>
                      <a:schemeClr val="dk1"/>
                    </a:solidFill>
                    <a:latin typeface="Atkinson Hyperlegible Next"/>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9pPr>
              </a:lstStyle>
              <a:p>
                <a:pPr marL="0" indent="0">
                  <a:lnSpc>
                    <a:spcPct val="100000"/>
                  </a:lnSpc>
                  <a:spcBef>
                    <a:spcPts val="0"/>
                  </a:spcBef>
                  <a:buSzPts val="2000"/>
                  <a:buNone/>
                </a:pPr>
                <a:r>
                  <a:rPr lang="en-US" sz="1800" dirty="0">
                    <a:latin typeface="+mj-lt"/>
                  </a:rPr>
                  <a:t>It produces an analog output voltage from the digital integer </a:t>
                </a:r>
                <a14:m>
                  <m:oMath xmlns:m="http://schemas.openxmlformats.org/officeDocument/2006/math">
                    <m:r>
                      <m:rPr>
                        <m:sty m:val="p"/>
                      </m:rPr>
                      <a:rPr lang="en-US" sz="1800" i="1">
                        <a:latin typeface="Cambria Math" panose="02040503050406030204" pitchFamily="18" charset="0"/>
                        <a:ea typeface="Cambria Math" panose="02040503050406030204" pitchFamily="18" charset="0"/>
                      </a:rPr>
                      <m:t>X</m:t>
                    </m:r>
                  </m:oMath>
                </a14:m>
                <a:r>
                  <a:rPr lang="en-US" sz="1800" dirty="0">
                    <a:latin typeface="+mj-lt"/>
                  </a:rPr>
                  <a:t> composed of </a:t>
                </a:r>
                <a14:m>
                  <m:oMath xmlns:m="http://schemas.openxmlformats.org/officeDocument/2006/math">
                    <m:r>
                      <m:rPr>
                        <m:sty m:val="p"/>
                      </m:rPr>
                      <a:rPr lang="en-US" sz="1800" b="0" i="0" smtClean="0">
                        <a:latin typeface="Cambria Math" panose="02040503050406030204" pitchFamily="18" charset="0"/>
                        <a:ea typeface="Cambria Math" panose="02040503050406030204" pitchFamily="18" charset="0"/>
                      </a:rPr>
                      <m:t>n</m:t>
                    </m:r>
                  </m:oMath>
                </a14:m>
                <a:r>
                  <a:rPr lang="en-US" sz="1800" dirty="0">
                    <a:latin typeface="+mj-lt"/>
                  </a:rPr>
                  <a:t>  bits: </a:t>
                </a:r>
                <a14:m>
                  <m:oMath xmlns:m="http://schemas.openxmlformats.org/officeDocument/2006/math">
                    <m:sSub>
                      <m:sSubPr>
                        <m:ctrlPr>
                          <a:rPr lang="en-US" sz="1800" i="1" smtClean="0">
                            <a:latin typeface="Cambria Math" panose="02040503050406030204" pitchFamily="18" charset="0"/>
                            <a:ea typeface="Cambria Math" panose="02040503050406030204" pitchFamily="18" charset="0"/>
                          </a:rPr>
                        </m:ctrlPr>
                      </m:sSubPr>
                      <m:e>
                        <m:r>
                          <m:rPr>
                            <m:sty m:val="p"/>
                          </m:rPr>
                          <a:rPr lang="en-US" sz="1800" b="0" i="1" smtClean="0">
                            <a:latin typeface="Cambria Math" panose="02040503050406030204" pitchFamily="18" charset="0"/>
                            <a:ea typeface="Cambria Math" panose="02040503050406030204" pitchFamily="18" charset="0"/>
                          </a:rPr>
                          <m:t>a</m:t>
                        </m:r>
                      </m:e>
                      <m:sub>
                        <m:r>
                          <m:rPr>
                            <m:sty m:val="p"/>
                          </m:rPr>
                          <a:rPr lang="en-US" sz="1800" b="0" i="1" smtClean="0">
                            <a:latin typeface="Cambria Math" panose="02040503050406030204" pitchFamily="18" charset="0"/>
                            <a:ea typeface="Cambria Math" panose="02040503050406030204" pitchFamily="18" charset="0"/>
                          </a:rPr>
                          <m:t>n</m:t>
                        </m:r>
                        <m:r>
                          <a:rPr lang="en-US" sz="1800" b="0" i="1" smtClean="0">
                            <a:latin typeface="Cambria Math" panose="02040503050406030204" pitchFamily="18" charset="0"/>
                            <a:ea typeface="Cambria Math" panose="02040503050406030204" pitchFamily="18" charset="0"/>
                          </a:rPr>
                          <m:t>−1</m:t>
                        </m:r>
                      </m:sub>
                    </m:sSub>
                  </m:oMath>
                </a14:m>
                <a:r>
                  <a:rPr lang="en-US" sz="1800" dirty="0">
                    <a:latin typeface="+mj-lt"/>
                  </a:rPr>
                  <a:t> (most significant bit, MSB) through bit</a:t>
                </a:r>
                <a:r>
                  <a:rPr lang="en-US" sz="1800" dirty="0">
                    <a:ea typeface="Cambria Math" panose="02040503050406030204" pitchFamily="18" charset="0"/>
                  </a:rPr>
                  <a:t> </a:t>
                </a:r>
                <a14:m>
                  <m:oMath xmlns:m="http://schemas.openxmlformats.org/officeDocument/2006/math">
                    <m:sSub>
                      <m:sSubPr>
                        <m:ctrlPr>
                          <a:rPr lang="en-US" sz="1800" i="1">
                            <a:latin typeface="Cambria Math" panose="02040503050406030204" pitchFamily="18" charset="0"/>
                            <a:ea typeface="Cambria Math" panose="02040503050406030204" pitchFamily="18" charset="0"/>
                          </a:rPr>
                        </m:ctrlPr>
                      </m:sSubPr>
                      <m:e>
                        <m:r>
                          <m:rPr>
                            <m:sty m:val="p"/>
                          </m:rPr>
                          <a:rPr lang="en-US" sz="1800" i="1">
                            <a:latin typeface="Cambria Math" panose="02040503050406030204" pitchFamily="18" charset="0"/>
                            <a:ea typeface="Cambria Math" panose="02040503050406030204" pitchFamily="18" charset="0"/>
                          </a:rPr>
                          <m:t>a</m:t>
                        </m:r>
                      </m:e>
                      <m:sub>
                        <m:r>
                          <a:rPr lang="en-US" sz="1800" b="0" i="1" smtClean="0">
                            <a:latin typeface="Cambria Math" panose="02040503050406030204" pitchFamily="18" charset="0"/>
                            <a:ea typeface="Cambria Math" panose="02040503050406030204" pitchFamily="18" charset="0"/>
                          </a:rPr>
                          <m:t>0</m:t>
                        </m:r>
                      </m:sub>
                    </m:sSub>
                  </m:oMath>
                </a14:m>
                <a:r>
                  <a:rPr lang="en-US" sz="1800" dirty="0"/>
                  <a:t> (least significant bit, LSB). </a:t>
                </a:r>
                <a:endParaRPr lang="en-US" sz="1800" dirty="0">
                  <a:latin typeface="+mj-lt"/>
                </a:endParaRPr>
              </a:p>
            </p:txBody>
          </p:sp>
        </mc:Choice>
        <mc:Fallback>
          <p:sp>
            <p:nvSpPr>
              <p:cNvPr id="16" name="Google Shape;118;p29">
                <a:extLst>
                  <a:ext uri="{FF2B5EF4-FFF2-40B4-BE49-F238E27FC236}">
                    <a16:creationId xmlns:a16="http://schemas.microsoft.com/office/drawing/2014/main" id="{7D59BECE-22B8-ED4D-43D8-7D6477E0E25E}"/>
                  </a:ext>
                </a:extLst>
              </p:cNvPr>
              <p:cNvSpPr txBox="1">
                <a:spLocks noRot="1" noChangeAspect="1" noMove="1" noResize="1" noEditPoints="1" noAdjustHandles="1" noChangeArrowheads="1" noChangeShapeType="1" noTextEdit="1"/>
              </p:cNvSpPr>
              <p:nvPr/>
            </p:nvSpPr>
            <p:spPr>
              <a:xfrm>
                <a:off x="376809" y="4952897"/>
                <a:ext cx="11177401" cy="1385470"/>
              </a:xfrm>
              <a:prstGeom prst="rect">
                <a:avLst/>
              </a:prstGeom>
              <a:blipFill>
                <a:blip r:embed="rId6"/>
                <a:stretch>
                  <a:fillRect l="-491" t="-2193" r="-273"/>
                </a:stretch>
              </a:blipFill>
              <a:ln>
                <a:noFill/>
              </a:ln>
            </p:spPr>
            <p:txBody>
              <a:bodyPr/>
              <a:lstStyle/>
              <a:p>
                <a:r>
                  <a:rPr lang="en-US">
                    <a:noFill/>
                  </a:rPr>
                  <a:t> </a:t>
                </a:r>
              </a:p>
            </p:txBody>
          </p:sp>
        </mc:Fallback>
      </mc:AlternateContent>
      <p:sp>
        <p:nvSpPr>
          <p:cNvPr id="3" name="TextBox 2">
            <a:extLst>
              <a:ext uri="{FF2B5EF4-FFF2-40B4-BE49-F238E27FC236}">
                <a16:creationId xmlns:a16="http://schemas.microsoft.com/office/drawing/2014/main" id="{7695A5D0-F303-D1B9-CB4A-8CB979AB4F9D}"/>
              </a:ext>
            </a:extLst>
          </p:cNvPr>
          <p:cNvSpPr txBox="1"/>
          <p:nvPr/>
        </p:nvSpPr>
        <p:spPr>
          <a:xfrm>
            <a:off x="4362479" y="4596075"/>
            <a:ext cx="2938688" cy="261610"/>
          </a:xfrm>
          <a:prstGeom prst="rect">
            <a:avLst/>
          </a:prstGeom>
          <a:noFill/>
        </p:spPr>
        <p:txBody>
          <a:bodyPr wrap="square" rtlCol="0">
            <a:spAutoFit/>
          </a:bodyPr>
          <a:lstStyle/>
          <a:p>
            <a:pPr algn="ctr"/>
            <a:r>
              <a:rPr lang="en-US" sz="1100" dirty="0">
                <a:hlinkClick r:id="rId7"/>
              </a:rPr>
              <a:t>https://en.wikipedia.org/wiki/Resistor_ladder</a:t>
            </a:r>
            <a:r>
              <a:rPr lang="en-US" sz="1100" dirty="0"/>
              <a:t> </a:t>
            </a:r>
          </a:p>
        </p:txBody>
      </p:sp>
    </p:spTree>
    <p:extLst>
      <p:ext uri="{BB962C8B-B14F-4D97-AF65-F5344CB8AC3E}">
        <p14:creationId xmlns:p14="http://schemas.microsoft.com/office/powerpoint/2010/main" val="199654781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353FF0B-1478-6147-E75E-3C59243C7827}"/>
            </a:ext>
          </a:extLst>
        </p:cNvPr>
        <p:cNvGrpSpPr/>
        <p:nvPr/>
      </p:nvGrpSpPr>
      <p:grpSpPr>
        <a:xfrm>
          <a:off x="0" y="0"/>
          <a:ext cx="0" cy="0"/>
          <a:chOff x="0" y="0"/>
          <a:chExt cx="0" cy="0"/>
        </a:xfrm>
      </p:grpSpPr>
      <p:cxnSp>
        <p:nvCxnSpPr>
          <p:cNvPr id="19" name="Straight Arrow Connector 18">
            <a:extLst>
              <a:ext uri="{FF2B5EF4-FFF2-40B4-BE49-F238E27FC236}">
                <a16:creationId xmlns:a16="http://schemas.microsoft.com/office/drawing/2014/main" id="{FEDBB04D-EC9E-5442-E262-837611644121}"/>
              </a:ext>
            </a:extLst>
          </p:cNvPr>
          <p:cNvCxnSpPr>
            <a:cxnSpLocks/>
          </p:cNvCxnSpPr>
          <p:nvPr/>
        </p:nvCxnSpPr>
        <p:spPr>
          <a:xfrm flipH="1">
            <a:off x="2882900" y="2578100"/>
            <a:ext cx="4838700" cy="1198984"/>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119" name="Google Shape;119;p29">
            <a:extLst>
              <a:ext uri="{FF2B5EF4-FFF2-40B4-BE49-F238E27FC236}">
                <a16:creationId xmlns:a16="http://schemas.microsoft.com/office/drawing/2014/main" id="{78E50D29-B3DD-1C3B-9908-2BB214AF979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CCC0988-5162-1219-EE07-B602784B35D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DAC – Buffered</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6600723-8C3B-DA9E-C32D-C0CB9E4C3F8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AD40549-A2B2-A6AC-C60F-B531153C4B8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29AF264-CF76-5A66-1940-7BB2C1274A7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9654AC6-EF41-4056-E67E-BA7CB3CB227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6D32ED3-3642-BE9D-9541-83C215D4522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E137DA2-1F1C-506F-A4ED-73ADB763AA1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6" name="Graphic 5" descr="Block diagram of the buffered 12-bit DAC module. The value written to shadow register DACVALS is copied into active register DACVALA either on the next SYSCLK (LOADMODE 0) or on an ePWM sync event chosen by SYNCSEL from EPWM1 through EPWMn (LOADMODE 1). DACVALA drives the 12-bit DAC, whose reference is selected by DACREFSEL as VDAC or VREFHI. The DAC output passes through a buffer amplifier, powered from VDDA and VSSA, to the DACOUT pin, which has a pull-down resistor R sub PD to VSSA.">
            <a:extLst>
              <a:ext uri="{FF2B5EF4-FFF2-40B4-BE49-F238E27FC236}">
                <a16:creationId xmlns:a16="http://schemas.microsoft.com/office/drawing/2014/main" id="{2E58F4D6-84A8-6EE1-349B-9E1138B5173B}"/>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887953" y="1281615"/>
            <a:ext cx="8416093" cy="4990939"/>
          </a:xfrm>
          <a:prstGeom prst="rect">
            <a:avLst/>
          </a:prstGeom>
        </p:spPr>
      </p:pic>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E3C3DA4E-4881-8F92-3E65-D6920A74543C}"/>
                  </a:ext>
                </a:extLst>
              </p:cNvPr>
              <p:cNvSpPr txBox="1"/>
              <p:nvPr/>
            </p:nvSpPr>
            <p:spPr>
              <a:xfrm>
                <a:off x="7537004" y="2385951"/>
                <a:ext cx="3035300" cy="49705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f>
                        <m:fPr>
                          <m:ctrlPr>
                            <a:rPr lang="en-US" sz="1400" i="1">
                              <a:latin typeface="Cambria Math" panose="02040503050406030204" pitchFamily="18" charset="0"/>
                              <a:ea typeface="Cambria Math" panose="02040503050406030204" pitchFamily="18" charset="0"/>
                            </a:rPr>
                          </m:ctrlPr>
                        </m:fPr>
                        <m:num>
                          <m:r>
                            <m:rPr>
                              <m:sty m:val="p"/>
                            </m:rPr>
                            <a:rPr lang="en-US" sz="1400" b="0" i="1" smtClean="0">
                              <a:latin typeface="Cambria Math" panose="02040503050406030204" pitchFamily="18" charset="0"/>
                              <a:ea typeface="Cambria Math" panose="02040503050406030204" pitchFamily="18" charset="0"/>
                            </a:rPr>
                            <m:t>DACVALA</m:t>
                          </m:r>
                          <m:r>
                            <a:rPr lang="en-US" sz="1400" b="0" i="1" smtClean="0">
                              <a:latin typeface="Cambria Math" panose="02040503050406030204" pitchFamily="18" charset="0"/>
                              <a:ea typeface="Cambria Math" panose="02040503050406030204" pitchFamily="18" charset="0"/>
                            </a:rPr>
                            <m:t>×</m:t>
                          </m:r>
                          <m:r>
                            <m:rPr>
                              <m:sty m:val="p"/>
                            </m:rPr>
                            <a:rPr lang="en-US" sz="1400" b="0" i="1" smtClean="0">
                              <a:latin typeface="Cambria Math" panose="02040503050406030204" pitchFamily="18" charset="0"/>
                              <a:ea typeface="Cambria Math" panose="02040503050406030204" pitchFamily="18" charset="0"/>
                            </a:rPr>
                            <m:t>DACREF</m:t>
                          </m:r>
                        </m:num>
                        <m:den>
                          <m:r>
                            <a:rPr lang="en-US" sz="1400" b="0" i="1" smtClean="0">
                              <a:latin typeface="Cambria Math" panose="02040503050406030204" pitchFamily="18" charset="0"/>
                              <a:ea typeface="Cambria Math" panose="02040503050406030204" pitchFamily="18" charset="0"/>
                            </a:rPr>
                            <m:t>4096</m:t>
                          </m:r>
                        </m:den>
                      </m:f>
                      <m:r>
                        <a:rPr lang="en-US" sz="1400" b="0" i="1" smtClean="0">
                          <a:latin typeface="Cambria Math" panose="02040503050406030204" pitchFamily="18" charset="0"/>
                          <a:ea typeface="Cambria Math" panose="02040503050406030204" pitchFamily="18" charset="0"/>
                        </a:rPr>
                        <m:t>=</m:t>
                      </m:r>
                      <m:r>
                        <m:rPr>
                          <m:sty m:val="p"/>
                        </m:rPr>
                        <a:rPr lang="en-US" i="1">
                          <a:latin typeface="Cambria Math" panose="02040503050406030204" pitchFamily="18" charset="0"/>
                        </a:rPr>
                        <m:t>DACOUT</m:t>
                      </m:r>
                    </m:oMath>
                  </m:oMathPara>
                </a14:m>
                <a:endParaRPr lang="en-US" dirty="0"/>
              </a:p>
            </p:txBody>
          </p:sp>
        </mc:Choice>
        <mc:Fallback xmlns="">
          <p:sp>
            <p:nvSpPr>
              <p:cNvPr id="8" name="TextBox 7">
                <a:extLst>
                  <a:ext uri="{FF2B5EF4-FFF2-40B4-BE49-F238E27FC236}">
                    <a16:creationId xmlns:a16="http://schemas.microsoft.com/office/drawing/2014/main" id="{E3C3DA4E-4881-8F92-3E65-D6920A74543C}"/>
                  </a:ext>
                </a:extLst>
              </p:cNvPr>
              <p:cNvSpPr txBox="1">
                <a:spLocks noRot="1" noChangeAspect="1" noMove="1" noResize="1" noEditPoints="1" noAdjustHandles="1" noChangeArrowheads="1" noChangeShapeType="1" noTextEdit="1"/>
              </p:cNvSpPr>
              <p:nvPr/>
            </p:nvSpPr>
            <p:spPr>
              <a:xfrm>
                <a:off x="7537004" y="2385951"/>
                <a:ext cx="3035300" cy="497059"/>
              </a:xfrm>
              <a:prstGeom prst="rect">
                <a:avLst/>
              </a:prstGeom>
              <a:blipFill>
                <a:blip r:embed="rId6"/>
                <a:stretch>
                  <a:fillRect b="-1220"/>
                </a:stretch>
              </a:blipFill>
            </p:spPr>
            <p:txBody>
              <a:bodyPr/>
              <a:lstStyle/>
              <a:p>
                <a:r>
                  <a:rPr lang="en-US">
                    <a:noFill/>
                  </a:rPr>
                  <a:t> </a:t>
                </a:r>
              </a:p>
            </p:txBody>
          </p:sp>
        </mc:Fallback>
      </mc:AlternateContent>
      <p:cxnSp>
        <p:nvCxnSpPr>
          <p:cNvPr id="10" name="Straight Arrow Connector 9">
            <a:extLst>
              <a:ext uri="{FF2B5EF4-FFF2-40B4-BE49-F238E27FC236}">
                <a16:creationId xmlns:a16="http://schemas.microsoft.com/office/drawing/2014/main" id="{2D47CCAA-9BDC-39CD-F4B6-CBC5FE3CE0FD}"/>
              </a:ext>
            </a:extLst>
          </p:cNvPr>
          <p:cNvCxnSpPr>
            <a:cxnSpLocks/>
            <a:stCxn id="8" idx="0"/>
          </p:cNvCxnSpPr>
          <p:nvPr/>
        </p:nvCxnSpPr>
        <p:spPr>
          <a:xfrm flipH="1" flipV="1">
            <a:off x="7442200" y="2227256"/>
            <a:ext cx="1612454" cy="158695"/>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DD6BA910-33E6-2997-E2C9-A3C9EAE13D3C}"/>
              </a:ext>
            </a:extLst>
          </p:cNvPr>
          <p:cNvCxnSpPr>
            <a:cxnSpLocks/>
          </p:cNvCxnSpPr>
          <p:nvPr/>
        </p:nvCxnSpPr>
        <p:spPr>
          <a:xfrm flipH="1">
            <a:off x="7613650" y="2883010"/>
            <a:ext cx="860426" cy="929693"/>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B6000ECF-2B36-9ED8-2C33-D743EBF45C00}"/>
              </a:ext>
            </a:extLst>
          </p:cNvPr>
          <p:cNvCxnSpPr>
            <a:cxnSpLocks/>
          </p:cNvCxnSpPr>
          <p:nvPr/>
        </p:nvCxnSpPr>
        <p:spPr>
          <a:xfrm>
            <a:off x="9925050" y="2793175"/>
            <a:ext cx="0" cy="1073975"/>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35" name="TextBox 34">
            <a:extLst>
              <a:ext uri="{FF2B5EF4-FFF2-40B4-BE49-F238E27FC236}">
                <a16:creationId xmlns:a16="http://schemas.microsoft.com/office/drawing/2014/main" id="{13A8819C-B998-C31C-08E4-DEB3FE7C96DE}"/>
              </a:ext>
            </a:extLst>
          </p:cNvPr>
          <p:cNvSpPr txBox="1"/>
          <p:nvPr/>
        </p:nvSpPr>
        <p:spPr>
          <a:xfrm>
            <a:off x="9229640" y="5422496"/>
            <a:ext cx="1593849" cy="307777"/>
          </a:xfrm>
          <a:prstGeom prst="rect">
            <a:avLst/>
          </a:prstGeom>
          <a:noFill/>
        </p:spPr>
        <p:txBody>
          <a:bodyPr wrap="square" rtlCol="0">
            <a:spAutoFit/>
          </a:bodyPr>
          <a:lstStyle/>
          <a:p>
            <a:r>
              <a:rPr lang="en-US" dirty="0"/>
              <a:t>Pull-down resistor</a:t>
            </a:r>
          </a:p>
        </p:txBody>
      </p:sp>
      <p:cxnSp>
        <p:nvCxnSpPr>
          <p:cNvPr id="36" name="Straight Arrow Connector 35">
            <a:extLst>
              <a:ext uri="{FF2B5EF4-FFF2-40B4-BE49-F238E27FC236}">
                <a16:creationId xmlns:a16="http://schemas.microsoft.com/office/drawing/2014/main" id="{CD00E2A5-B5D2-AC15-5497-21F673CFB0BF}"/>
              </a:ext>
            </a:extLst>
          </p:cNvPr>
          <p:cNvCxnSpPr>
            <a:cxnSpLocks/>
            <a:stCxn id="35" idx="0"/>
          </p:cNvCxnSpPr>
          <p:nvPr/>
        </p:nvCxnSpPr>
        <p:spPr>
          <a:xfrm flipH="1" flipV="1">
            <a:off x="9817100" y="4838700"/>
            <a:ext cx="209465" cy="583796"/>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442475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D766013-DDBF-11E5-25B2-07415A51F811}"/>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67E21E9C-1422-16CE-33F2-4E0A98100B6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2000"/>
                  <a:buNone/>
                </a:pPr>
                <a:r>
                  <a:rPr lang="en-US" sz="1800" dirty="0">
                    <a:latin typeface="+mj-lt"/>
                  </a:rPr>
                  <a:t>Each buffered DAC has the following features: </a:t>
                </a:r>
              </a:p>
              <a:p>
                <a:pPr marL="285750" indent="-285750">
                  <a:lnSpc>
                    <a:spcPct val="100000"/>
                  </a:lnSpc>
                  <a:spcBef>
                    <a:spcPts val="0"/>
                  </a:spcBef>
                  <a:buSzPts val="2000"/>
                </a:pPr>
                <a:r>
                  <a:rPr lang="en-US" sz="1800" dirty="0">
                    <a:latin typeface="+mj-lt"/>
                  </a:rPr>
                  <a:t>12-bit programmable internal DAC </a:t>
                </a:r>
              </a:p>
              <a:p>
                <a:pPr marL="285750" indent="-285750">
                  <a:lnSpc>
                    <a:spcPct val="100000"/>
                  </a:lnSpc>
                  <a:spcBef>
                    <a:spcPts val="0"/>
                  </a:spcBef>
                  <a:buSzPts val="2000"/>
                </a:pPr>
                <a:r>
                  <a:rPr lang="en-US" sz="1800" dirty="0">
                    <a:latin typeface="+mj-lt"/>
                  </a:rPr>
                  <a:t>Selectable reference voltage source </a:t>
                </a:r>
              </a:p>
              <a:p>
                <a:pPr marL="742950" lvl="1" indent="-285750">
                  <a:lnSpc>
                    <a:spcPct val="100000"/>
                  </a:lnSpc>
                  <a:spcBef>
                    <a:spcPts val="0"/>
                  </a:spcBef>
                  <a:buSzPts val="2000"/>
                </a:pPr>
                <a:r>
                  <a:rPr lang="en-US" sz="1400" dirty="0">
                    <a:latin typeface="+mj-lt"/>
                  </a:rPr>
                  <a:t>Internal </a:t>
                </a:r>
                <a14:m>
                  <m:oMath xmlns:m="http://schemas.openxmlformats.org/officeDocument/2006/math">
                    <m:r>
                      <m:rPr>
                        <m:sty m:val="p"/>
                      </m:rPr>
                      <a:rPr lang="en-US" sz="1400" b="0" i="1" smtClean="0">
                        <a:latin typeface="Cambria Math" panose="02040503050406030204" pitchFamily="18" charset="0"/>
                      </a:rPr>
                      <m:t>VDAC</m:t>
                    </m:r>
                  </m:oMath>
                </a14:m>
                <a:endParaRPr lang="en-US" sz="1400" dirty="0">
                  <a:latin typeface="+mj-lt"/>
                </a:endParaRPr>
              </a:p>
              <a:p>
                <a:pPr marL="742950" lvl="1" indent="-285750">
                  <a:lnSpc>
                    <a:spcPct val="100000"/>
                  </a:lnSpc>
                  <a:spcBef>
                    <a:spcPts val="0"/>
                  </a:spcBef>
                  <a:buSzPts val="2000"/>
                </a:pPr>
                <a:r>
                  <a:rPr lang="en-US" sz="1400" dirty="0">
                    <a:latin typeface="+mj-lt"/>
                  </a:rPr>
                  <a:t>External </a:t>
                </a:r>
                <a14:m>
                  <m:oMath xmlns:m="http://schemas.openxmlformats.org/officeDocument/2006/math">
                    <m:r>
                      <m:rPr>
                        <m:sty m:val="p"/>
                      </m:rPr>
                      <a:rPr lang="en-US" sz="1400" b="0" i="1" smtClean="0">
                        <a:latin typeface="Cambria Math" panose="02040503050406030204" pitchFamily="18" charset="0"/>
                      </a:rPr>
                      <m:t>VREFHI</m:t>
                    </m:r>
                  </m:oMath>
                </a14:m>
                <a:endParaRPr lang="en-US" sz="1400" dirty="0">
                  <a:latin typeface="+mj-lt"/>
                </a:endParaRPr>
              </a:p>
              <a:p>
                <a:pPr marL="285750" indent="-285750">
                  <a:lnSpc>
                    <a:spcPct val="100000"/>
                  </a:lnSpc>
                  <a:spcBef>
                    <a:spcPts val="0"/>
                  </a:spcBef>
                  <a:buSzPts val="2000"/>
                </a:pPr>
                <a:r>
                  <a:rPr lang="en-US" sz="1800" dirty="0">
                    <a:latin typeface="+mj-lt"/>
                  </a:rPr>
                  <a:t>Pull-down resistor on output</a:t>
                </a:r>
              </a:p>
              <a:p>
                <a:pPr marL="285750" indent="-285750">
                  <a:lnSpc>
                    <a:spcPct val="100000"/>
                  </a:lnSpc>
                  <a:spcBef>
                    <a:spcPts val="0"/>
                  </a:spcBef>
                  <a:buSzPts val="2000"/>
                </a:pPr>
                <a:r>
                  <a:rPr lang="en-US" sz="1800" dirty="0">
                    <a:latin typeface="+mj-lt"/>
                  </a:rPr>
                  <a:t>Ability to synchronize with EPWMSYNCPER</a:t>
                </a:r>
              </a:p>
              <a:p>
                <a:pPr marL="285750" indent="-285750">
                  <a:lnSpc>
                    <a:spcPct val="100000"/>
                  </a:lnSpc>
                  <a:spcBef>
                    <a:spcPts val="0"/>
                  </a:spcBef>
                  <a:buSzPts val="2000"/>
                </a:pPr>
                <a:endParaRPr lang="en-US" sz="1800" dirty="0">
                  <a:latin typeface="+mj-lt"/>
                </a:endParaRPr>
              </a:p>
              <a:p>
                <a:pPr marL="0" indent="0">
                  <a:lnSpc>
                    <a:spcPct val="100000"/>
                  </a:lnSpc>
                  <a:spcBef>
                    <a:spcPts val="0"/>
                  </a:spcBef>
                  <a:buSzPts val="2000"/>
                  <a:buNone/>
                </a:pPr>
                <a:r>
                  <a:rPr lang="en-US" sz="1800" dirty="0">
                    <a:latin typeface="+mj-lt"/>
                  </a:rPr>
                  <a:t>MCU DACs include an operational amplifier (Op-Amp) buffer at the output to drive loads (speakers, motor drivers) without dropping voltage due to impedance loading.</a:t>
                </a:r>
              </a:p>
              <a:p>
                <a:pPr marL="0" indent="0">
                  <a:lnSpc>
                    <a:spcPct val="100000"/>
                  </a:lnSpc>
                  <a:spcBef>
                    <a:spcPts val="0"/>
                  </a:spcBef>
                  <a:buSzPts val="2000"/>
                  <a:buNone/>
                </a:pPr>
                <a:endParaRPr lang="en-US" sz="1800" dirty="0">
                  <a:latin typeface="+mj-lt"/>
                </a:endParaRPr>
              </a:p>
              <a:p>
                <a:pPr marL="0" lvl="0" indent="0">
                  <a:lnSpc>
                    <a:spcPct val="100000"/>
                  </a:lnSpc>
                  <a:spcBef>
                    <a:spcPts val="0"/>
                  </a:spcBef>
                  <a:buSzPts val="2000"/>
                  <a:buNone/>
                </a:pPr>
                <a:r>
                  <a:rPr lang="en-US" sz="1800" dirty="0">
                    <a:latin typeface="+mj-lt"/>
                  </a:rPr>
                  <a:t>EPWMSYNCPER comes from the Time-Base submodule of the EPWM. (For a detailed description of how this signal is generated, refer to the Time-Base submodule chapter of the EPWM).</a:t>
                </a:r>
              </a:p>
              <a:p>
                <a:pPr marL="0" lvl="0" indent="0">
                  <a:lnSpc>
                    <a:spcPct val="100000"/>
                  </a:lnSpc>
                  <a:spcBef>
                    <a:spcPts val="0"/>
                  </a:spcBef>
                  <a:buSzPts val="2000"/>
                  <a:buNone/>
                </a:pPr>
                <a:endParaRPr lang="en-US" sz="1800" b="1" dirty="0">
                  <a:latin typeface="+mj-lt"/>
                </a:endParaRPr>
              </a:p>
              <a:p>
                <a:pPr marL="0" lvl="0" indent="0">
                  <a:lnSpc>
                    <a:spcPct val="100000"/>
                  </a:lnSpc>
                  <a:spcBef>
                    <a:spcPts val="0"/>
                  </a:spcBef>
                  <a:buSzPts val="2000"/>
                  <a:buNone/>
                </a:pPr>
                <a:r>
                  <a:rPr lang="en-US" sz="1800" dirty="0">
                    <a:latin typeface="+mj-lt"/>
                  </a:rPr>
                  <a:t>There are </a:t>
                </a:r>
                <a:r>
                  <a:rPr lang="en-US" sz="1800" b="1" dirty="0">
                    <a:latin typeface="+mj-lt"/>
                  </a:rPr>
                  <a:t>3</a:t>
                </a:r>
                <a:r>
                  <a:rPr lang="en-US" sz="1800" dirty="0">
                    <a:latin typeface="+mj-lt"/>
                  </a:rPr>
                  <a:t> DAC, DACA, DACB, DACC</a:t>
                </a:r>
              </a:p>
            </p:txBody>
          </p:sp>
        </mc:Choice>
        <mc:Fallback xmlns="">
          <p:sp>
            <p:nvSpPr>
              <p:cNvPr id="118" name="Google Shape;118;p29">
                <a:extLst>
                  <a:ext uri="{FF2B5EF4-FFF2-40B4-BE49-F238E27FC236}">
                    <a16:creationId xmlns:a16="http://schemas.microsoft.com/office/drawing/2014/main" id="{67E21E9C-1422-16CE-33F2-4E0A98100B61}"/>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491"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9443AF27-2703-B654-22B8-8A38B8D5F75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80E1E02-0620-839A-8E46-B58B3A86E1A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DAC</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9F56185-8930-A2AD-7C33-DE210BE93AB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7F3F5E1-A1FA-9616-1F79-56B9B9BB88D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3617300-D224-C2A3-D86F-A279746394B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053A1E7-259C-F1F1-3374-87C7238F5E5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2F26A44-9C13-41C1-64FA-67A87643A9E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8D12E56-F7A2-6573-3B0C-B680D7000E2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548477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2AF19FA-9430-25A1-9AEC-F821D7E5A878}"/>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517CE058-AC9F-D045-7E81-F1727C624C9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BA43B2B-77A7-3BFB-F76A-3C1F9119C65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DAC – For later reference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EFF3B666-012E-2ED8-39EE-BBCB3B1E518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C623D92-51D0-C6FA-6AF1-54272956BC8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A267661-AF47-8675-3DD3-7471044379A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9CEBBF8-BF64-C8C6-122E-B2BA5398206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095F767-EA49-CDF4-1B6E-757F0EC1479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83140D5-84CF-265E-B1AB-A2E65BE95E9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Block diagram: TI ePWM time-base submodule (Figure 15-5). SYSCLK passes through the EPWMCLK prescaler and TBCTL clock prescaler (HSPCLKDIV, CLKDIV) to produce TBCLK, which drives the 16-bit up/down counter TBCTR, with mode set by TBCTL CTRMODE. A comparator against the shadowed period register TBPRD generates CTR equals PRD and resets the counter. When PHSEN is enabled, a sync input loads the phase register TBPHS into the counter. Multiplexers select which counter events drive the sync outputs EPWMxSYNCO and EPWMxSYNCPER.">
            <a:extLst>
              <a:ext uri="{FF2B5EF4-FFF2-40B4-BE49-F238E27FC236}">
                <a16:creationId xmlns:a16="http://schemas.microsoft.com/office/drawing/2014/main" id="{B6A0F4FE-9541-2923-1AEE-CAE88CF0099B}"/>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778544" y="1070373"/>
            <a:ext cx="6634912" cy="5251462"/>
          </a:xfrm>
          <a:prstGeom prst="rect">
            <a:avLst/>
          </a:prstGeom>
        </p:spPr>
      </p:pic>
    </p:spTree>
    <p:extLst>
      <p:ext uri="{BB962C8B-B14F-4D97-AF65-F5344CB8AC3E}">
        <p14:creationId xmlns:p14="http://schemas.microsoft.com/office/powerpoint/2010/main" val="340412975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BF40392-B6FB-3FC9-2C2B-8A38E710BBF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F9A1969-49A0-1550-8A6D-3911206CF65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lgn="l">
              <a:buNone/>
            </a:pPr>
            <a:r>
              <a:rPr lang="en-US" sz="1800" b="1" dirty="0">
                <a:solidFill>
                  <a:srgbClr val="000000"/>
                </a:solidFill>
                <a:latin typeface="+mj-lt"/>
              </a:rPr>
              <a:t>Setup</a:t>
            </a:r>
          </a:p>
          <a:p>
            <a:pPr marL="114300" indent="0" algn="l">
              <a:buNone/>
            </a:pPr>
            <a:r>
              <a:rPr lang="en-US" sz="1800" dirty="0">
                <a:solidFill>
                  <a:srgbClr val="000000"/>
                </a:solidFill>
                <a:latin typeface="Consolas" panose="020B0609020204030204" pitchFamily="49" charset="0"/>
              </a:rPr>
              <a:t>EALLOW;</a:t>
            </a:r>
            <a:endParaRPr lang="en-US" sz="1800" dirty="0">
              <a:latin typeface="Consolas" panose="020B0609020204030204" pitchFamily="49" charset="0"/>
            </a:endParaRPr>
          </a:p>
          <a:p>
            <a:pPr marL="114300" indent="0">
              <a:buNone/>
            </a:pPr>
            <a:r>
              <a:rPr lang="es-ES" sz="1800" dirty="0" err="1">
                <a:solidFill>
                  <a:srgbClr val="000000"/>
                </a:solidFill>
                <a:latin typeface="Consolas" panose="020B0609020204030204" pitchFamily="49" charset="0"/>
              </a:rPr>
              <a:t>DacaRegs.</a:t>
            </a:r>
            <a:r>
              <a:rPr lang="es-ES" sz="1800" dirty="0" err="1">
                <a:solidFill>
                  <a:srgbClr val="0000C0"/>
                </a:solidFill>
                <a:latin typeface="Consolas" panose="020B0609020204030204" pitchFamily="49" charset="0"/>
              </a:rPr>
              <a:t>DACCTL</a:t>
            </a:r>
            <a:r>
              <a:rPr lang="es-ES" sz="1800" dirty="0" err="1">
                <a:solidFill>
                  <a:srgbClr val="000000"/>
                </a:solidFill>
                <a:latin typeface="Consolas" panose="020B0609020204030204" pitchFamily="49" charset="0"/>
              </a:rPr>
              <a:t>.</a:t>
            </a:r>
            <a:r>
              <a:rPr lang="es-ES" sz="1800" dirty="0" err="1">
                <a:solidFill>
                  <a:srgbClr val="0000C0"/>
                </a:solidFill>
                <a:latin typeface="Consolas" panose="020B0609020204030204" pitchFamily="49" charset="0"/>
              </a:rPr>
              <a:t>bit</a:t>
            </a:r>
            <a:r>
              <a:rPr lang="es-ES" sz="1800" dirty="0" err="1">
                <a:solidFill>
                  <a:srgbClr val="000000"/>
                </a:solidFill>
                <a:latin typeface="Consolas" panose="020B0609020204030204" pitchFamily="49" charset="0"/>
              </a:rPr>
              <a:t>.</a:t>
            </a:r>
            <a:r>
              <a:rPr lang="es-ES" sz="1800" dirty="0" err="1">
                <a:solidFill>
                  <a:srgbClr val="0000C0"/>
                </a:solidFill>
                <a:latin typeface="Consolas" panose="020B0609020204030204" pitchFamily="49" charset="0"/>
              </a:rPr>
              <a:t>DACREFSEL</a:t>
            </a:r>
            <a:r>
              <a:rPr lang="es-ES" sz="1800" dirty="0">
                <a:solidFill>
                  <a:srgbClr val="000000"/>
                </a:solidFill>
                <a:latin typeface="Consolas" panose="020B0609020204030204" pitchFamily="49" charset="0"/>
              </a:rPr>
              <a:t> = 0;  </a:t>
            </a:r>
            <a:r>
              <a:rPr lang="en-US" sz="1800" dirty="0">
                <a:solidFill>
                  <a:srgbClr val="3F7F5F"/>
                </a:solidFill>
                <a:latin typeface="Consolas" panose="020B0609020204030204" pitchFamily="49" charset="0"/>
              </a:rPr>
              <a:t>// 0 from internal reference, 1 for external</a:t>
            </a:r>
            <a:endParaRPr lang="es-ES" sz="1800" dirty="0">
              <a:solidFill>
                <a:srgbClr val="000000"/>
              </a:solidFill>
              <a:latin typeface="Consolas" panose="020B0609020204030204" pitchFamily="49" charset="0"/>
            </a:endParaRPr>
          </a:p>
          <a:p>
            <a:pPr marL="114300" indent="0">
              <a:buNone/>
            </a:pPr>
            <a:r>
              <a:rPr lang="en-US" sz="1800" dirty="0" err="1">
                <a:solidFill>
                  <a:srgbClr val="000000"/>
                </a:solidFill>
                <a:latin typeface="Consolas" panose="020B0609020204030204" pitchFamily="49" charset="0"/>
              </a:rPr>
              <a:t>DacaRegs.</a:t>
            </a:r>
            <a:r>
              <a:rPr lang="en-US" sz="1800" dirty="0" err="1">
                <a:solidFill>
                  <a:srgbClr val="0000C0"/>
                </a:solidFill>
                <a:latin typeface="Consolas" panose="020B0609020204030204" pitchFamily="49" charset="0"/>
              </a:rPr>
              <a:t>DACOUTEN</a:t>
            </a:r>
            <a:r>
              <a:rPr lang="en-US" sz="1800" dirty="0" err="1">
                <a:solidFill>
                  <a:srgbClr val="000000"/>
                </a:solidFill>
                <a:latin typeface="Consolas" panose="020B0609020204030204" pitchFamily="49" charset="0"/>
              </a:rPr>
              <a:t>.</a:t>
            </a:r>
            <a:r>
              <a:rPr lang="en-US" sz="1800" dirty="0" err="1">
                <a:solidFill>
                  <a:srgbClr val="0000C0"/>
                </a:solidFill>
                <a:latin typeface="Consolas" panose="020B0609020204030204" pitchFamily="49" charset="0"/>
              </a:rPr>
              <a:t>bit</a:t>
            </a:r>
            <a:r>
              <a:rPr lang="en-US" sz="1800" dirty="0" err="1">
                <a:solidFill>
                  <a:srgbClr val="000000"/>
                </a:solidFill>
                <a:latin typeface="Consolas" panose="020B0609020204030204" pitchFamily="49" charset="0"/>
              </a:rPr>
              <a:t>.</a:t>
            </a:r>
            <a:r>
              <a:rPr lang="en-US" sz="1800" dirty="0" err="1">
                <a:solidFill>
                  <a:srgbClr val="0000C0"/>
                </a:solidFill>
                <a:latin typeface="Consolas" panose="020B0609020204030204" pitchFamily="49" charset="0"/>
              </a:rPr>
              <a:t>DACOUTEN</a:t>
            </a:r>
            <a:r>
              <a:rPr lang="en-US" sz="1800" dirty="0">
                <a:solidFill>
                  <a:srgbClr val="000000"/>
                </a:solidFill>
                <a:latin typeface="Consolas" panose="020B0609020204030204" pitchFamily="49" charset="0"/>
              </a:rPr>
              <a:t> = 1; </a:t>
            </a:r>
            <a:r>
              <a:rPr lang="en-US" sz="1800" dirty="0">
                <a:solidFill>
                  <a:srgbClr val="3F7F5F"/>
                </a:solidFill>
                <a:latin typeface="Consolas" panose="020B0609020204030204" pitchFamily="49" charset="0"/>
              </a:rPr>
              <a:t>// DAC output enabled? (DAC-OUT-EN)</a:t>
            </a:r>
            <a:endParaRPr lang="en-US" sz="1800" dirty="0">
              <a:solidFill>
                <a:srgbClr val="000000"/>
              </a:solidFill>
              <a:latin typeface="Consolas" panose="020B0609020204030204" pitchFamily="49" charset="0"/>
            </a:endParaRPr>
          </a:p>
          <a:p>
            <a:pPr marL="114300" indent="0">
              <a:buNone/>
            </a:pPr>
            <a:r>
              <a:rPr lang="en-US" sz="1800" dirty="0" err="1">
                <a:solidFill>
                  <a:srgbClr val="000000"/>
                </a:solidFill>
                <a:latin typeface="Consolas" panose="020B0609020204030204" pitchFamily="49" charset="0"/>
              </a:rPr>
              <a:t>DacaRegs.</a:t>
            </a:r>
            <a:r>
              <a:rPr lang="en-US" sz="1800" dirty="0" err="1">
                <a:solidFill>
                  <a:srgbClr val="0000C0"/>
                </a:solidFill>
                <a:latin typeface="Consolas" panose="020B0609020204030204" pitchFamily="49" charset="0"/>
              </a:rPr>
              <a:t>DACVALS</a:t>
            </a:r>
            <a:r>
              <a:rPr lang="en-US" sz="1800" dirty="0" err="1">
                <a:solidFill>
                  <a:srgbClr val="000000"/>
                </a:solidFill>
                <a:latin typeface="Consolas" panose="020B0609020204030204" pitchFamily="49" charset="0"/>
              </a:rPr>
              <a:t>.</a:t>
            </a:r>
            <a:r>
              <a:rPr lang="en-US" sz="1800" dirty="0" err="1">
                <a:solidFill>
                  <a:srgbClr val="0000C0"/>
                </a:solidFill>
                <a:latin typeface="Consolas" panose="020B0609020204030204" pitchFamily="49" charset="0"/>
              </a:rPr>
              <a:t>all</a:t>
            </a:r>
            <a:r>
              <a:rPr lang="en-US" sz="1800" dirty="0">
                <a:solidFill>
                  <a:srgbClr val="000000"/>
                </a:solidFill>
                <a:latin typeface="Consolas" panose="020B0609020204030204" pitchFamily="49" charset="0"/>
              </a:rPr>
              <a:t> = 0;           </a:t>
            </a:r>
            <a:r>
              <a:rPr lang="en-US" sz="1800" dirty="0">
                <a:solidFill>
                  <a:srgbClr val="3F7F5F"/>
                </a:solidFill>
                <a:latin typeface="Consolas" panose="020B0609020204030204" pitchFamily="49" charset="0"/>
              </a:rPr>
              <a:t>// Clears current output value</a:t>
            </a:r>
            <a:endParaRPr lang="en-US" sz="1800" dirty="0">
              <a:solidFill>
                <a:srgbClr val="000000"/>
              </a:solidFill>
              <a:latin typeface="Consolas" panose="020B0609020204030204" pitchFamily="49" charset="0"/>
            </a:endParaRPr>
          </a:p>
          <a:p>
            <a:pPr marL="114300" indent="0" algn="l">
              <a:buNone/>
            </a:pPr>
            <a:r>
              <a:rPr lang="en-US" sz="1800" dirty="0">
                <a:solidFill>
                  <a:srgbClr val="000000"/>
                </a:solidFill>
                <a:latin typeface="Consolas" panose="020B0609020204030204" pitchFamily="49" charset="0"/>
              </a:rPr>
              <a:t>DELAY_US(10);                       </a:t>
            </a:r>
            <a:r>
              <a:rPr lang="en-US" sz="1800" dirty="0">
                <a:solidFill>
                  <a:srgbClr val="3F7F5F"/>
                </a:solidFill>
                <a:latin typeface="Consolas" panose="020B0609020204030204" pitchFamily="49" charset="0"/>
              </a:rPr>
              <a:t>// Delay for buffered DAC to power up</a:t>
            </a:r>
          </a:p>
          <a:p>
            <a:pPr marL="114300" indent="0" algn="l">
              <a:buNone/>
            </a:pPr>
            <a:r>
              <a:rPr lang="en-US" sz="1800" dirty="0">
                <a:solidFill>
                  <a:srgbClr val="000000"/>
                </a:solidFill>
                <a:latin typeface="Consolas" panose="020B0609020204030204" pitchFamily="49" charset="0"/>
              </a:rPr>
              <a:t>EDIS;</a:t>
            </a:r>
          </a:p>
          <a:p>
            <a:pPr marL="114300" indent="0" algn="l">
              <a:buNone/>
            </a:pPr>
            <a:endParaRPr lang="en-US" sz="1800" b="1" dirty="0">
              <a:solidFill>
                <a:srgbClr val="000000"/>
              </a:solidFill>
              <a:latin typeface="Consolas" panose="020B0609020204030204" pitchFamily="49" charset="0"/>
            </a:endParaRPr>
          </a:p>
          <a:p>
            <a:pPr marL="114300" indent="0" algn="l">
              <a:buNone/>
            </a:pPr>
            <a:r>
              <a:rPr lang="en-US" sz="1800" b="1" dirty="0">
                <a:solidFill>
                  <a:srgbClr val="000000"/>
                </a:solidFill>
                <a:latin typeface="+mj-lt"/>
              </a:rPr>
              <a:t>Setting</a:t>
            </a:r>
          </a:p>
          <a:p>
            <a:pPr marL="114300" indent="0">
              <a:buNone/>
            </a:pPr>
            <a:r>
              <a:rPr lang="es-ES" sz="1800" dirty="0" err="1">
                <a:solidFill>
                  <a:srgbClr val="000000"/>
                </a:solidFill>
                <a:latin typeface="Consolas" panose="020B0609020204030204" pitchFamily="49" charset="0"/>
              </a:rPr>
              <a:t>DacaRegs</a:t>
            </a:r>
            <a:r>
              <a:rPr lang="en-US" sz="1800" dirty="0">
                <a:solidFill>
                  <a:srgbClr val="0000C0"/>
                </a:solidFill>
                <a:latin typeface="Consolas" panose="020B0609020204030204" pitchFamily="49" charset="0"/>
              </a:rPr>
              <a:t>.</a:t>
            </a:r>
            <a:r>
              <a:rPr lang="en-US" sz="1800" dirty="0" err="1">
                <a:solidFill>
                  <a:srgbClr val="0000C0"/>
                </a:solidFill>
                <a:latin typeface="Consolas" panose="020B0609020204030204" pitchFamily="49" charset="0"/>
              </a:rPr>
              <a:t>DACVALS</a:t>
            </a:r>
            <a:r>
              <a:rPr lang="en-US" sz="1800" dirty="0" err="1">
                <a:solidFill>
                  <a:srgbClr val="000000"/>
                </a:solidFill>
                <a:latin typeface="Consolas" panose="020B0609020204030204" pitchFamily="49" charset="0"/>
              </a:rPr>
              <a:t>.</a:t>
            </a:r>
            <a:r>
              <a:rPr lang="en-US" sz="1800" dirty="0" err="1">
                <a:solidFill>
                  <a:srgbClr val="0000C0"/>
                </a:solidFill>
                <a:latin typeface="Consolas" panose="020B0609020204030204" pitchFamily="49" charset="0"/>
              </a:rPr>
              <a:t>all</a:t>
            </a:r>
            <a:r>
              <a:rPr lang="en-US" sz="1800" dirty="0">
                <a:solidFill>
                  <a:srgbClr val="000000"/>
                </a:solidFill>
                <a:latin typeface="Consolas" panose="020B0609020204030204" pitchFamily="49" charset="0"/>
              </a:rPr>
              <a:t> = </a:t>
            </a:r>
            <a:r>
              <a:rPr lang="en-US" sz="1800" dirty="0" err="1">
                <a:solidFill>
                  <a:srgbClr val="000000"/>
                </a:solidFill>
                <a:latin typeface="Consolas" panose="020B0609020204030204" pitchFamily="49" charset="0"/>
              </a:rPr>
              <a:t>val</a:t>
            </a:r>
            <a:r>
              <a:rPr lang="en-US" sz="1800" dirty="0">
                <a:solidFill>
                  <a:srgbClr val="000000"/>
                </a:solidFill>
                <a:latin typeface="Consolas" panose="020B0609020204030204" pitchFamily="49" charset="0"/>
              </a:rPr>
              <a:t>;         </a:t>
            </a:r>
            <a:r>
              <a:rPr lang="en-US" sz="1800" dirty="0">
                <a:solidFill>
                  <a:srgbClr val="3F7F5F"/>
                </a:solidFill>
                <a:latin typeface="Consolas" panose="020B0609020204030204" pitchFamily="49" charset="0"/>
              </a:rPr>
              <a:t>// Sets DAC output (only keeps to first 12 bits)</a:t>
            </a:r>
          </a:p>
          <a:p>
            <a:pPr marL="114300" indent="0">
              <a:buNone/>
            </a:pPr>
            <a:endParaRPr lang="en-US" sz="1800" dirty="0">
              <a:latin typeface="+mj-lt"/>
            </a:endParaRPr>
          </a:p>
        </p:txBody>
      </p:sp>
      <p:sp>
        <p:nvSpPr>
          <p:cNvPr id="119" name="Google Shape;119;p29">
            <a:extLst>
              <a:ext uri="{FF2B5EF4-FFF2-40B4-BE49-F238E27FC236}">
                <a16:creationId xmlns:a16="http://schemas.microsoft.com/office/drawing/2014/main" id="{C7ADA479-DA38-2B09-4B9D-52BE6EF60D8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67271B2-371B-DDF4-5BA8-422AF59F605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DAC</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5F78EDA-9CC3-2C76-B131-7E8F367A075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444A390-B0CF-1B84-6E6F-90D88E375C5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7E0FDA5-4A3E-CDD9-100A-399CFAFBE05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8CC85BC-DEA8-6A83-3D98-1098E38AF0E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E1A2621-1626-2CBA-AB72-1CC9AB05426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45F6663-D8E3-C288-0860-C8FFD4A6835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44288518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23691993-CC32-C8A2-4123-30CF2BD560AF}"/>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F6303210-DA23-92D3-1591-74CF9B96253E}"/>
              </a:ext>
            </a:extLst>
          </p:cNvPr>
          <p:cNvSpPr/>
          <p:nvPr>
            <p:ph type="title"/>
          </p:nvPr>
        </p:nvSpPr>
        <p:spPr>
          <a:xfrm>
            <a:off x="1295400" y="2948490"/>
            <a:ext cx="9601200" cy="1338788"/>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ADC</a:t>
            </a:r>
            <a:endParaRPr i="0" b="0" sz="1400" dirty="0">
              <a:solidFill>
                <a:srgbClr val="000000"/>
              </a:solidFill>
            </a:endParaRPr>
          </a:p>
          <a:p>
            <a:pPr marL="0" marR="0" lvl="0" indent="0" algn="ctr" rtl="0">
              <a:lnSpc>
                <a:spcPct val="100000"/>
              </a:lnSpc>
              <a:spcBef>
                <a:spcPts val="0"/>
              </a:spcBef>
              <a:spcAft>
                <a:spcPts val="0"/>
              </a:spcAft>
              <a:buClr>
                <a:srgbClr val="000000"/>
              </a:buClr>
              <a:buSzPts val="1800"/>
              <a:buFont typeface="Arial"/>
              <a:buNone/>
            </a:pPr>
            <a:endParaRPr sz="1800" b="1" i="0" u="none" strike="noStrike" cap="none" dirty="0">
              <a:solidFill>
                <a:srgbClr val="15264B"/>
              </a:solidFill>
              <a:latin typeface="Atkinson Hyperlegible Next"/>
              <a:ea typeface="Arial"/>
              <a:cs typeface="Arial"/>
              <a:sym typeface="Arial"/>
            </a:endParaRPr>
          </a:p>
          <a:p>
            <a:pPr lvl="0" algn="ctr">
              <a:lnSpc>
                <a:spcPct val="100000"/>
              </a:lnSpc>
              <a:spcBef>
                <a:spcPts val="0"/>
              </a:spcBef>
              <a:spcAft>
                <a:spcPts val="0"/>
              </a:spcAft>
            </a:pPr>
            <a:r>
              <a:rPr lang="en-US" sz="1800" b="0" i="0" u="none" strike="noStrike" cap="none" dirty="0">
                <a:solidFill>
                  <a:srgbClr val="15264B"/>
                </a:solidFill>
                <a:latin typeface="Atkinson Hyperlegible Next"/>
                <a:ea typeface="Arial"/>
                <a:cs typeface="Arial"/>
                <a:sym typeface="Arial"/>
              </a:rPr>
              <a:t>(</a:t>
            </a:r>
            <a:r>
              <a:rPr i="0" b="0" lang="en-US" sz="1800" dirty="0">
                <a:solidFill>
                  <a:srgbClr val="15264B"/>
                </a:solidFill>
              </a:rPr>
              <a:t>Analog-to-</a:t>
            </a:r>
            <a:r>
              <a:rPr lang="en-US" sz="1800" b="0" i="0" u="none" strike="noStrike" cap="none" dirty="0">
                <a:solidFill>
                  <a:srgbClr val="15264B"/>
                </a:solidFill>
                <a:latin typeface="Atkinson Hyperlegible Next"/>
                <a:ea typeface="Arial"/>
                <a:cs typeface="Arial"/>
                <a:sym typeface="Arial"/>
              </a:rPr>
              <a:t>Digital Converter)</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CFA8D1E9-A9DB-F809-C236-CCF784B2D42F}"/>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5B58E666-1362-4963-4C82-96B8C7B56D43}"/>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B640B8E2-AA14-E61C-89FC-A7C2E3326973}"/>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FACA6DD3-4C0A-2F55-F958-AC97DAB0972B}"/>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C63EB9EC-3D60-379E-C179-EFA5E145F9B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869A7BAB-43ED-B7F0-55CF-3419DC78FA49}"/>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280CC68C-F96F-39C0-21A3-3CE40A4FA771}"/>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BCE3F39C-02BC-4A11-BAAC-84186EE88F8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FB5F58A6-7D57-2A64-4E85-85BC6EDB163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2902126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87E2AE7-F1CC-7AFC-8B43-32C605BD11A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C53A26C0-2EEB-263A-6986-E35E309604F3}"/>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2000"/>
              <a:buNone/>
            </a:pPr>
            <a:r>
              <a:rPr lang="en-US" sz="1800" dirty="0">
                <a:latin typeface="+mj-lt"/>
              </a:rPr>
              <a:t>Converts continuous voltage into discrete digital numbers.</a:t>
            </a:r>
          </a:p>
          <a:p>
            <a:pPr marL="0" lvl="0" indent="0">
              <a:lnSpc>
                <a:spcPct val="100000"/>
              </a:lnSpc>
              <a:spcBef>
                <a:spcPts val="0"/>
              </a:spcBef>
              <a:buSzPts val="2000"/>
              <a:buNone/>
            </a:pPr>
            <a:endParaRPr lang="en-US" sz="1800" dirty="0">
              <a:latin typeface="+mj-lt"/>
            </a:endParaRPr>
          </a:p>
          <a:p>
            <a:pPr marL="0" lvl="0" indent="0">
              <a:lnSpc>
                <a:spcPct val="100000"/>
              </a:lnSpc>
              <a:spcBef>
                <a:spcPts val="0"/>
              </a:spcBef>
              <a:buSzPts val="2000"/>
              <a:buNone/>
            </a:pPr>
            <a:r>
              <a:rPr lang="en-US" sz="1800" dirty="0">
                <a:latin typeface="+mj-lt"/>
              </a:rPr>
              <a:t>3 step process:</a:t>
            </a:r>
          </a:p>
          <a:p>
            <a:pPr marL="0" lvl="0" indent="0">
              <a:lnSpc>
                <a:spcPct val="100000"/>
              </a:lnSpc>
              <a:spcBef>
                <a:spcPts val="0"/>
              </a:spcBef>
              <a:buSzPts val="2000"/>
              <a:buNone/>
            </a:pPr>
            <a:endParaRPr lang="en-US" sz="1800" dirty="0">
              <a:latin typeface="+mj-lt"/>
            </a:endParaRPr>
          </a:p>
          <a:p>
            <a:pPr marL="285750" indent="-285750">
              <a:lnSpc>
                <a:spcPct val="100000"/>
              </a:lnSpc>
              <a:spcBef>
                <a:spcPts val="0"/>
              </a:spcBef>
              <a:buSzPts val="2000"/>
            </a:pPr>
            <a:r>
              <a:rPr lang="en-US" sz="1800" b="1" dirty="0">
                <a:latin typeface="+mj-lt"/>
              </a:rPr>
              <a:t>Sample</a:t>
            </a:r>
            <a:r>
              <a:rPr lang="en-US" sz="1800" dirty="0">
                <a:latin typeface="+mj-lt"/>
              </a:rPr>
              <a:t>: A switch closes, charging a tiny internal capacitor to match the input voltage</a:t>
            </a:r>
          </a:p>
          <a:p>
            <a:pPr marL="285750" indent="-285750">
              <a:lnSpc>
                <a:spcPct val="100000"/>
              </a:lnSpc>
              <a:spcBef>
                <a:spcPts val="0"/>
              </a:spcBef>
              <a:buSzPts val="2000"/>
            </a:pPr>
            <a:r>
              <a:rPr lang="en-US" sz="1800" b="1" dirty="0">
                <a:latin typeface="+mj-lt"/>
              </a:rPr>
              <a:t>Holding</a:t>
            </a:r>
            <a:r>
              <a:rPr lang="en-US" sz="1800" dirty="0">
                <a:latin typeface="+mj-lt"/>
              </a:rPr>
              <a:t>: The switch open, trapping the charge on the capacitor so it does not change during measurement</a:t>
            </a:r>
          </a:p>
          <a:p>
            <a:pPr marL="285750" indent="-285750">
              <a:lnSpc>
                <a:spcPct val="100000"/>
              </a:lnSpc>
              <a:spcBef>
                <a:spcPts val="0"/>
              </a:spcBef>
              <a:buSzPts val="2000"/>
            </a:pPr>
            <a:r>
              <a:rPr lang="en-US" sz="1800" b="1" dirty="0">
                <a:latin typeface="+mj-lt"/>
              </a:rPr>
              <a:t>Quantizing</a:t>
            </a:r>
            <a:r>
              <a:rPr lang="en-US" sz="1800" dirty="0">
                <a:latin typeface="+mj-lt"/>
              </a:rPr>
              <a:t>: The ADC circuitry measures the stored charge against a reference</a:t>
            </a:r>
          </a:p>
          <a:p>
            <a:pPr marL="742950" lvl="1" indent="-285750">
              <a:lnSpc>
                <a:spcPct val="100000"/>
              </a:lnSpc>
              <a:spcBef>
                <a:spcPts val="0"/>
              </a:spcBef>
              <a:buSzPts val="2000"/>
            </a:pPr>
            <a:endParaRPr lang="en-US" sz="1400" dirty="0">
              <a:latin typeface="+mj-lt"/>
            </a:endParaRPr>
          </a:p>
        </p:txBody>
      </p:sp>
      <p:sp>
        <p:nvSpPr>
          <p:cNvPr id="119" name="Google Shape;119;p29">
            <a:extLst>
              <a:ext uri="{FF2B5EF4-FFF2-40B4-BE49-F238E27FC236}">
                <a16:creationId xmlns:a16="http://schemas.microsoft.com/office/drawing/2014/main" id="{73022D0C-83F4-2040-6A25-864023C801B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098E749-7303-01E4-3030-33DF8DC5F42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ADC</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3C23E93-84D9-1668-B1DF-C559B34095F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DA24977-5689-5873-4742-74CCEE5EDB4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76EEAE3-C96D-5C07-A057-CE040994C9F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A9C37FD-68E0-935E-79DE-6C0E126D37A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DCCD162-43FF-92E3-212C-7867C0E4A50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415962A-4DC2-248B-ABF7-65492EF8E48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Circuit: single-ended ADC input model. An AC source with series source resistance R sub s connects to pin ADCINx; its return goes to pin VREFLO, which is grounded. Inside the ADC, parasitic capacitance C sub p sits across the input. A sampling switch, then on-resistance R sub on, connects the input to hold capacitor C sub h, which charges to the input voltage while the switch is closed.">
            <a:extLst>
              <a:ext uri="{FF2B5EF4-FFF2-40B4-BE49-F238E27FC236}">
                <a16:creationId xmlns:a16="http://schemas.microsoft.com/office/drawing/2014/main" id="{D7819B87-1A56-4347-DD8B-BB705D11609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538746" y="3911284"/>
            <a:ext cx="6853526" cy="2410551"/>
          </a:xfrm>
          <a:prstGeom prst="rect">
            <a:avLst/>
          </a:prstGeom>
        </p:spPr>
      </p:pic>
    </p:spTree>
    <p:extLst>
      <p:ext uri="{BB962C8B-B14F-4D97-AF65-F5344CB8AC3E}">
        <p14:creationId xmlns:p14="http://schemas.microsoft.com/office/powerpoint/2010/main" val="278261860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AD40B1F-71DA-FF94-1D49-9642D10A107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F656C56-AA87-8933-171E-740E33C38EB7}"/>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2000"/>
              <a:buNone/>
            </a:pPr>
            <a:r>
              <a:rPr lang="en-US" sz="2400" dirty="0">
                <a:latin typeface="+mj-lt"/>
              </a:rPr>
              <a:t>Each ADC has the following features:</a:t>
            </a:r>
          </a:p>
          <a:p>
            <a:pPr marL="0" lvl="0" indent="0">
              <a:lnSpc>
                <a:spcPct val="100000"/>
              </a:lnSpc>
              <a:spcBef>
                <a:spcPts val="0"/>
              </a:spcBef>
              <a:buSzPts val="2000"/>
              <a:buNone/>
            </a:pPr>
            <a:endParaRPr lang="en-US" sz="2400" dirty="0">
              <a:latin typeface="+mj-lt"/>
            </a:endParaRPr>
          </a:p>
          <a:p>
            <a:pPr marL="285750" indent="-285750">
              <a:lnSpc>
                <a:spcPct val="100000"/>
              </a:lnSpc>
              <a:spcBef>
                <a:spcPts val="0"/>
              </a:spcBef>
              <a:buSzPts val="2000"/>
            </a:pPr>
            <a:r>
              <a:rPr lang="en-US" sz="2400" dirty="0">
                <a:latin typeface="+mj-lt"/>
              </a:rPr>
              <a:t>Selectable resolution of 12 bits or 16 bits ( for the precision you want)</a:t>
            </a:r>
          </a:p>
          <a:p>
            <a:pPr marL="285750" indent="-285750">
              <a:lnSpc>
                <a:spcPct val="100000"/>
              </a:lnSpc>
              <a:spcBef>
                <a:spcPts val="0"/>
              </a:spcBef>
              <a:buSzPts val="2000"/>
            </a:pPr>
            <a:r>
              <a:rPr lang="en-US" sz="2400" dirty="0" err="1">
                <a:latin typeface="+mj-lt"/>
              </a:rPr>
              <a:t>Ratiometric</a:t>
            </a:r>
            <a:r>
              <a:rPr lang="en-US" sz="2400" dirty="0">
                <a:latin typeface="+mj-lt"/>
              </a:rPr>
              <a:t> external reference set by VREFHI and VREFLO pins</a:t>
            </a:r>
          </a:p>
          <a:p>
            <a:pPr marL="285750" indent="-285750">
              <a:lnSpc>
                <a:spcPct val="100000"/>
              </a:lnSpc>
              <a:spcBef>
                <a:spcPts val="0"/>
              </a:spcBef>
              <a:buSzPts val="2000"/>
            </a:pPr>
            <a:r>
              <a:rPr lang="en-US" sz="2400" dirty="0">
                <a:latin typeface="+mj-lt"/>
              </a:rPr>
              <a:t>Differential signal conversions (16-bit mode only)</a:t>
            </a:r>
          </a:p>
          <a:p>
            <a:pPr marL="285750" indent="-285750">
              <a:lnSpc>
                <a:spcPct val="100000"/>
              </a:lnSpc>
              <a:spcBef>
                <a:spcPts val="0"/>
              </a:spcBef>
              <a:buSzPts val="2000"/>
            </a:pPr>
            <a:r>
              <a:rPr lang="en-US" sz="2400" dirty="0">
                <a:latin typeface="+mj-lt"/>
              </a:rPr>
              <a:t>Single-ended signal conversions (12-bit mode only)</a:t>
            </a:r>
          </a:p>
          <a:p>
            <a:pPr marL="285750" indent="-285750">
              <a:lnSpc>
                <a:spcPct val="100000"/>
              </a:lnSpc>
              <a:spcBef>
                <a:spcPts val="0"/>
              </a:spcBef>
              <a:buSzPts val="2000"/>
            </a:pPr>
            <a:r>
              <a:rPr lang="en-US" sz="2400" dirty="0">
                <a:latin typeface="+mj-lt"/>
              </a:rPr>
              <a:t>Input multiplexer with up to 16 channels (single-ended) or 8 channels (differential)</a:t>
            </a:r>
          </a:p>
          <a:p>
            <a:pPr marL="285750" indent="-285750">
              <a:lnSpc>
                <a:spcPct val="100000"/>
              </a:lnSpc>
              <a:spcBef>
                <a:spcPts val="0"/>
              </a:spcBef>
              <a:buSzPts val="2000"/>
            </a:pPr>
            <a:r>
              <a:rPr lang="en-US" sz="2400" dirty="0">
                <a:latin typeface="+mj-lt"/>
              </a:rPr>
              <a:t>16 configurable SOCs ( we will go through what this is a bit later)</a:t>
            </a:r>
          </a:p>
          <a:p>
            <a:pPr marL="285750" indent="-285750">
              <a:lnSpc>
                <a:spcPct val="100000"/>
              </a:lnSpc>
              <a:spcBef>
                <a:spcPts val="0"/>
              </a:spcBef>
              <a:buSzPts val="2000"/>
            </a:pPr>
            <a:r>
              <a:rPr lang="en-US" sz="2400" dirty="0">
                <a:latin typeface="+mj-lt"/>
              </a:rPr>
              <a:t>16 individually addressable result registers</a:t>
            </a:r>
          </a:p>
          <a:p>
            <a:pPr marL="285750" indent="-285750">
              <a:lnSpc>
                <a:spcPct val="100000"/>
              </a:lnSpc>
              <a:spcBef>
                <a:spcPts val="0"/>
              </a:spcBef>
              <a:buSzPts val="2000"/>
            </a:pPr>
            <a:endParaRPr lang="en-US" sz="2400" dirty="0">
              <a:latin typeface="+mj-lt"/>
            </a:endParaRPr>
          </a:p>
        </p:txBody>
      </p:sp>
      <p:sp>
        <p:nvSpPr>
          <p:cNvPr id="119" name="Google Shape;119;p29">
            <a:extLst>
              <a:ext uri="{FF2B5EF4-FFF2-40B4-BE49-F238E27FC236}">
                <a16:creationId xmlns:a16="http://schemas.microsoft.com/office/drawing/2014/main" id="{0C1C0C30-B0E3-00B1-8C84-25CCCA8DDBF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F1D3749-70E4-9FCD-DFFB-2E817D38B8A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ADC</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D8EA6D0-1F27-C388-C98D-2F5C5E749CB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6D403F6-D953-4BC3-E14D-38773A37F33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428D94E-5231-3332-E1C1-8EBEBC176A9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8DC6FEA-D387-BB50-0066-A7D0B6AFB6E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8A56D8B-BC45-A191-EEF0-5DB3B5A996C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BFFCCD1-4ECC-B551-663F-3BA4EE68522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68434787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DCDA3CB-4FD3-90FC-7558-5887EBAC453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A3A4CC1-D1F3-4434-8D76-EAEA27C6DF0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2000"/>
              <a:buNone/>
            </a:pPr>
            <a:r>
              <a:rPr lang="en-US" sz="2400" dirty="0">
                <a:latin typeface="+mj-lt"/>
              </a:rPr>
              <a:t>Each ADC has the following features:</a:t>
            </a:r>
          </a:p>
          <a:p>
            <a:pPr marL="0" lvl="0" indent="0">
              <a:lnSpc>
                <a:spcPct val="100000"/>
              </a:lnSpc>
              <a:spcBef>
                <a:spcPts val="0"/>
              </a:spcBef>
              <a:buSzPts val="2000"/>
              <a:buNone/>
            </a:pPr>
            <a:endParaRPr lang="en-US" sz="2400" dirty="0">
              <a:latin typeface="+mj-lt"/>
            </a:endParaRPr>
          </a:p>
          <a:p>
            <a:pPr marL="285750" indent="-285750">
              <a:lnSpc>
                <a:spcPct val="100000"/>
              </a:lnSpc>
              <a:spcBef>
                <a:spcPts val="0"/>
              </a:spcBef>
              <a:buSzPts val="2000"/>
            </a:pPr>
            <a:r>
              <a:rPr lang="en-US" sz="2400" dirty="0">
                <a:latin typeface="+mj-lt"/>
              </a:rPr>
              <a:t>Multiple trigger sources</a:t>
            </a:r>
          </a:p>
          <a:p>
            <a:pPr marL="742950" lvl="1" indent="-285750">
              <a:lnSpc>
                <a:spcPct val="100000"/>
              </a:lnSpc>
              <a:spcBef>
                <a:spcPts val="0"/>
              </a:spcBef>
              <a:buSzPts val="2000"/>
            </a:pPr>
            <a:r>
              <a:rPr lang="en-US" sz="1800" dirty="0">
                <a:latin typeface="+mj-lt"/>
              </a:rPr>
              <a:t>S/W - software immediate start</a:t>
            </a:r>
          </a:p>
          <a:p>
            <a:pPr marL="742950" lvl="1" indent="-285750">
              <a:lnSpc>
                <a:spcPct val="100000"/>
              </a:lnSpc>
              <a:spcBef>
                <a:spcPts val="0"/>
              </a:spcBef>
              <a:buSzPts val="2000"/>
            </a:pPr>
            <a:r>
              <a:rPr lang="en-US" sz="1800" dirty="0">
                <a:latin typeface="+mj-lt"/>
              </a:rPr>
              <a:t>All </a:t>
            </a:r>
            <a:r>
              <a:rPr lang="en-US" sz="1800" dirty="0" err="1">
                <a:latin typeface="+mj-lt"/>
              </a:rPr>
              <a:t>ePWMs</a:t>
            </a:r>
            <a:r>
              <a:rPr lang="en-US" sz="1800" dirty="0">
                <a:latin typeface="+mj-lt"/>
              </a:rPr>
              <a:t> - ADCSOC A or B</a:t>
            </a:r>
          </a:p>
          <a:p>
            <a:pPr marL="742950" lvl="1" indent="-285750">
              <a:lnSpc>
                <a:spcPct val="100000"/>
              </a:lnSpc>
              <a:spcBef>
                <a:spcPts val="0"/>
              </a:spcBef>
              <a:buSzPts val="2000"/>
            </a:pPr>
            <a:r>
              <a:rPr lang="en-US" sz="1800" dirty="0">
                <a:latin typeface="+mj-lt"/>
              </a:rPr>
              <a:t>GPIO XINT2</a:t>
            </a:r>
          </a:p>
          <a:p>
            <a:pPr marL="742950" lvl="1" indent="-285750">
              <a:lnSpc>
                <a:spcPct val="100000"/>
              </a:lnSpc>
              <a:spcBef>
                <a:spcPts val="0"/>
              </a:spcBef>
              <a:buSzPts val="2000"/>
            </a:pPr>
            <a:r>
              <a:rPr lang="en-US" sz="1800" dirty="0">
                <a:latin typeface="+mj-lt"/>
              </a:rPr>
              <a:t>CPU Timers 0/1/2 (from each C28x core present)</a:t>
            </a:r>
          </a:p>
          <a:p>
            <a:pPr marL="742950" lvl="1" indent="-285750">
              <a:lnSpc>
                <a:spcPct val="100000"/>
              </a:lnSpc>
              <a:spcBef>
                <a:spcPts val="0"/>
              </a:spcBef>
              <a:buSzPts val="2000"/>
            </a:pPr>
            <a:r>
              <a:rPr lang="en-US" sz="1800" dirty="0">
                <a:latin typeface="+mj-lt"/>
              </a:rPr>
              <a:t>ADCINT1/2</a:t>
            </a:r>
          </a:p>
          <a:p>
            <a:pPr marL="285750" indent="-285750">
              <a:lnSpc>
                <a:spcPct val="100000"/>
              </a:lnSpc>
              <a:spcBef>
                <a:spcPts val="0"/>
              </a:spcBef>
              <a:buSzPts val="2000"/>
            </a:pPr>
            <a:r>
              <a:rPr lang="en-US" sz="2400" dirty="0">
                <a:latin typeface="+mj-lt"/>
              </a:rPr>
              <a:t>Four flexible PIE interrupts</a:t>
            </a:r>
          </a:p>
          <a:p>
            <a:pPr marL="285750" indent="-285750">
              <a:lnSpc>
                <a:spcPct val="100000"/>
              </a:lnSpc>
              <a:spcBef>
                <a:spcPts val="0"/>
              </a:spcBef>
              <a:buSzPts val="2000"/>
            </a:pPr>
            <a:r>
              <a:rPr lang="en-US" sz="2400" dirty="0">
                <a:latin typeface="+mj-lt"/>
              </a:rPr>
              <a:t>Burst mode</a:t>
            </a:r>
          </a:p>
          <a:p>
            <a:pPr marL="285750" indent="-285750">
              <a:lnSpc>
                <a:spcPct val="100000"/>
              </a:lnSpc>
              <a:spcBef>
                <a:spcPts val="0"/>
              </a:spcBef>
              <a:buSzPts val="2000"/>
            </a:pPr>
            <a:r>
              <a:rPr lang="en-US" sz="2400" dirty="0">
                <a:latin typeface="+mj-lt"/>
              </a:rPr>
              <a:t>Four post-processing blocks, each with:</a:t>
            </a:r>
          </a:p>
          <a:p>
            <a:pPr marL="742950" lvl="1" indent="-285750">
              <a:lnSpc>
                <a:spcPct val="100000"/>
              </a:lnSpc>
              <a:spcBef>
                <a:spcPts val="0"/>
              </a:spcBef>
              <a:buSzPts val="2000"/>
            </a:pPr>
            <a:r>
              <a:rPr lang="en-US" sz="1800" dirty="0">
                <a:latin typeface="+mj-lt"/>
              </a:rPr>
              <a:t>Saturating offset calibration</a:t>
            </a:r>
          </a:p>
          <a:p>
            <a:pPr marL="742950" lvl="1" indent="-285750">
              <a:lnSpc>
                <a:spcPct val="100000"/>
              </a:lnSpc>
              <a:spcBef>
                <a:spcPts val="0"/>
              </a:spcBef>
              <a:buSzPts val="2000"/>
            </a:pPr>
            <a:r>
              <a:rPr lang="en-US" sz="1800" dirty="0">
                <a:latin typeface="+mj-lt"/>
              </a:rPr>
              <a:t>Error from setpoint calculation</a:t>
            </a:r>
          </a:p>
          <a:p>
            <a:pPr marL="742950" lvl="1" indent="-285750">
              <a:lnSpc>
                <a:spcPct val="100000"/>
              </a:lnSpc>
              <a:spcBef>
                <a:spcPts val="0"/>
              </a:spcBef>
              <a:buSzPts val="2000"/>
            </a:pPr>
            <a:r>
              <a:rPr lang="en-US" sz="1800" dirty="0">
                <a:latin typeface="+mj-lt"/>
              </a:rPr>
              <a:t>High, low, and zero-crossing compare, with interrupt and </a:t>
            </a:r>
            <a:r>
              <a:rPr lang="en-US" sz="1800" dirty="0" err="1">
                <a:latin typeface="+mj-lt"/>
              </a:rPr>
              <a:t>ePWM</a:t>
            </a:r>
            <a:r>
              <a:rPr lang="en-US" sz="1800" dirty="0">
                <a:latin typeface="+mj-lt"/>
              </a:rPr>
              <a:t> trip capability</a:t>
            </a:r>
          </a:p>
          <a:p>
            <a:pPr marL="742950" lvl="1" indent="-285750">
              <a:lnSpc>
                <a:spcPct val="100000"/>
              </a:lnSpc>
              <a:spcBef>
                <a:spcPts val="0"/>
              </a:spcBef>
              <a:buSzPts val="2000"/>
            </a:pPr>
            <a:r>
              <a:rPr lang="en-US" sz="1800" dirty="0">
                <a:latin typeface="+mj-lt"/>
              </a:rPr>
              <a:t>Trigger-to-sample delay capture</a:t>
            </a:r>
            <a:endParaRPr lang="en-US" dirty="0">
              <a:latin typeface="+mj-lt"/>
            </a:endParaRPr>
          </a:p>
        </p:txBody>
      </p:sp>
      <p:sp>
        <p:nvSpPr>
          <p:cNvPr id="119" name="Google Shape;119;p29">
            <a:extLst>
              <a:ext uri="{FF2B5EF4-FFF2-40B4-BE49-F238E27FC236}">
                <a16:creationId xmlns:a16="http://schemas.microsoft.com/office/drawing/2014/main" id="{25C30584-10A8-3589-E847-18EB2D9E019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690EFC7-A043-E7C6-C6AC-36ACB21045C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ADC</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FC776EC-D1AB-47A8-C9B5-3174F6F9659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343AA89-00FD-BF41-745D-02A16DF50B8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369CA34-BB27-9DC9-E62F-B45FC833816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1BD02AD-3F7B-1E75-A73D-9337866348E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FC390A8-D061-7F45-9FB4-2EF3F6D56F4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C4B73CB-0357-E009-3A7F-7C49829F626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9423749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4B27591-7322-6DAF-4511-836E602B5D23}"/>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2215FC0-99D0-154D-4DFB-E63FE6D1D565}"/>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2000"/>
              <a:buNone/>
            </a:pPr>
            <a:r>
              <a:rPr lang="en-US" sz="1800" dirty="0">
                <a:latin typeface="+mj-lt"/>
              </a:rPr>
              <a:t>Not every channel may be pinned out from all ADCs. Check the datasheet for your device to</a:t>
            </a:r>
          </a:p>
          <a:p>
            <a:pPr marL="0" lvl="0" indent="0">
              <a:lnSpc>
                <a:spcPct val="100000"/>
              </a:lnSpc>
              <a:spcBef>
                <a:spcPts val="0"/>
              </a:spcBef>
              <a:buSzPts val="2000"/>
              <a:buNone/>
            </a:pPr>
            <a:r>
              <a:rPr lang="en-US" sz="1800" dirty="0">
                <a:latin typeface="+mj-lt"/>
              </a:rPr>
              <a:t>determine which channels are available!</a:t>
            </a:r>
          </a:p>
          <a:p>
            <a:pPr marL="0" lvl="0" indent="0">
              <a:lnSpc>
                <a:spcPct val="100000"/>
              </a:lnSpc>
              <a:spcBef>
                <a:spcPts val="0"/>
              </a:spcBef>
              <a:buSzPts val="2000"/>
              <a:buNone/>
            </a:pPr>
            <a:endParaRPr lang="en-US" sz="1800" dirty="0">
              <a:latin typeface="+mj-lt"/>
            </a:endParaRPr>
          </a:p>
        </p:txBody>
      </p:sp>
      <p:sp>
        <p:nvSpPr>
          <p:cNvPr id="119" name="Google Shape;119;p29">
            <a:extLst>
              <a:ext uri="{FF2B5EF4-FFF2-40B4-BE49-F238E27FC236}">
                <a16:creationId xmlns:a16="http://schemas.microsoft.com/office/drawing/2014/main" id="{EA631326-7329-FFC7-2127-3EC063F7173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B217EE2-DDCA-C407-0B01-9CDE3D67325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ADC</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FCD7C4D-11D2-856A-0483-8A74C8492C6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B69EDFB-1EF9-80E3-23E7-938BBF66CB0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42EBDFC-69F8-E81D-6E2A-76DCB33E6C7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1B3B7AD-E775-A223-B676-C266D85DE96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201EB4F-3839-EDD1-8931-A7A7CB0DE22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BD561FD-07AC-2DDA-10A3-059CCF323EC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Table of LaunchPad ADC and DAC pins: header pins 23 to 30 (J3.3 to J3.10) and 63 to 70 (J7.3 to J7.10) carry ADC channels A0 to A5, B2 to B5, C2 to C5, IN14 and IN15, most shared with comparator inputs. DAC A shares pin 30 (ADCINA0) and DAC B shares pin 70 (ADCINA1). Joystick Y uses ADCINA3, joystick X uses ADCINA2, and the microphone uses ADCINB4. ADCIND0 to D3 are on J21 pins 1, 3, 5 and 7; ADCIND4 and D5 go to solder BNC connectors.">
            <a:extLst>
              <a:ext uri="{FF2B5EF4-FFF2-40B4-BE49-F238E27FC236}">
                <a16:creationId xmlns:a16="http://schemas.microsoft.com/office/drawing/2014/main" id="{2135A234-4CD2-54C5-4972-B0CDC73F3FA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508886" y="2242146"/>
            <a:ext cx="9174227" cy="4241674"/>
          </a:xfrm>
          <a:prstGeom prst="rect">
            <a:avLst/>
          </a:prstGeom>
        </p:spPr>
      </p:pic>
    </p:spTree>
    <p:extLst>
      <p:ext uri="{BB962C8B-B14F-4D97-AF65-F5344CB8AC3E}">
        <p14:creationId xmlns:p14="http://schemas.microsoft.com/office/powerpoint/2010/main" val="378823727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A1AB5B8-E263-11D5-7844-7F041432B27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240A599-6D03-0960-7613-04CD9D89C4A9}"/>
              </a:ext>
            </a:extLst>
          </p:cNvPr>
          <p:cNvSpPr txBox="1">
            <a:spLocks noGrp="1"/>
          </p:cNvSpPr>
          <p:nvPr>
            <p:ph type="body" idx="1"/>
          </p:nvPr>
        </p:nvSpPr>
        <p:spPr>
          <a:xfrm>
            <a:off x="376809" y="1334279"/>
            <a:ext cx="11177401" cy="2500337"/>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2000"/>
              <a:buNone/>
            </a:pPr>
            <a:r>
              <a:rPr lang="en-US" sz="1800" dirty="0">
                <a:latin typeface="+mj-lt"/>
              </a:rPr>
              <a:t>The ADC supports two signal modes: </a:t>
            </a:r>
            <a:r>
              <a:rPr lang="en-US" sz="1800" b="1" dirty="0">
                <a:latin typeface="+mj-lt"/>
              </a:rPr>
              <a:t>single-ended</a:t>
            </a:r>
            <a:r>
              <a:rPr lang="en-US" sz="1800" dirty="0">
                <a:latin typeface="+mj-lt"/>
              </a:rPr>
              <a:t> and </a:t>
            </a:r>
            <a:r>
              <a:rPr lang="en-US" sz="1800" b="1" dirty="0">
                <a:latin typeface="+mj-lt"/>
              </a:rPr>
              <a:t>differential</a:t>
            </a:r>
            <a:r>
              <a:rPr lang="en-US" sz="1800" dirty="0">
                <a:latin typeface="+mj-lt"/>
              </a:rPr>
              <a:t>.</a:t>
            </a:r>
          </a:p>
          <a:p>
            <a:pPr marL="285750" indent="-285750">
              <a:lnSpc>
                <a:spcPct val="100000"/>
              </a:lnSpc>
              <a:spcBef>
                <a:spcPts val="0"/>
              </a:spcBef>
              <a:buSzPts val="2000"/>
            </a:pPr>
            <a:r>
              <a:rPr lang="en-US" sz="1800" dirty="0">
                <a:latin typeface="+mj-lt"/>
              </a:rPr>
              <a:t>In </a:t>
            </a:r>
            <a:r>
              <a:rPr lang="en-US" sz="1800" b="1" dirty="0">
                <a:latin typeface="+mj-lt"/>
              </a:rPr>
              <a:t>single-ended</a:t>
            </a:r>
            <a:r>
              <a:rPr lang="en-US" sz="1800" dirty="0">
                <a:latin typeface="+mj-lt"/>
              </a:rPr>
              <a:t> mode, the input voltage to the converter is sampled through a single pin (</a:t>
            </a:r>
            <a:r>
              <a:rPr lang="en-US" sz="1800" dirty="0" err="1">
                <a:latin typeface="+mj-lt"/>
              </a:rPr>
              <a:t>ADCINx</a:t>
            </a:r>
            <a:r>
              <a:rPr lang="en-US" sz="1800" dirty="0">
                <a:latin typeface="+mj-lt"/>
              </a:rPr>
              <a:t>), referenced to VREFLO.</a:t>
            </a:r>
          </a:p>
          <a:p>
            <a:pPr marL="285750" indent="-285750">
              <a:lnSpc>
                <a:spcPct val="100000"/>
              </a:lnSpc>
              <a:spcBef>
                <a:spcPts val="0"/>
              </a:spcBef>
              <a:buSzPts val="2000"/>
            </a:pPr>
            <a:r>
              <a:rPr lang="en-US" sz="1800" dirty="0">
                <a:latin typeface="+mj-lt"/>
              </a:rPr>
              <a:t>In </a:t>
            </a:r>
            <a:r>
              <a:rPr lang="en-US" sz="1800" b="1" dirty="0">
                <a:latin typeface="+mj-lt"/>
              </a:rPr>
              <a:t>differential</a:t>
            </a:r>
            <a:r>
              <a:rPr lang="en-US" sz="1800" dirty="0">
                <a:latin typeface="+mj-lt"/>
              </a:rPr>
              <a:t> signaling mode, the input voltage to the converter is sampled through a pair of input pins, one of which is the positive input (</a:t>
            </a:r>
            <a:r>
              <a:rPr lang="en-US" sz="1800" dirty="0" err="1">
                <a:latin typeface="+mj-lt"/>
              </a:rPr>
              <a:t>ADCINxP</a:t>
            </a:r>
            <a:r>
              <a:rPr lang="en-US" sz="1800" dirty="0">
                <a:latin typeface="+mj-lt"/>
              </a:rPr>
              <a:t>) and the other is the negative input (</a:t>
            </a:r>
            <a:r>
              <a:rPr lang="en-US" sz="1800" dirty="0" err="1">
                <a:latin typeface="+mj-lt"/>
              </a:rPr>
              <a:t>ADCINxN</a:t>
            </a:r>
            <a:r>
              <a:rPr lang="en-US" sz="1800" dirty="0">
                <a:latin typeface="+mj-lt"/>
              </a:rPr>
              <a:t>). The actual input voltage is the difference between the two (</a:t>
            </a:r>
            <a:r>
              <a:rPr lang="en-US" sz="1800" dirty="0" err="1">
                <a:latin typeface="+mj-lt"/>
              </a:rPr>
              <a:t>ADCINxP</a:t>
            </a:r>
            <a:r>
              <a:rPr lang="en-US" sz="1800" dirty="0">
                <a:latin typeface="+mj-lt"/>
              </a:rPr>
              <a:t> – </a:t>
            </a:r>
            <a:r>
              <a:rPr lang="en-US" sz="1800" dirty="0" err="1">
                <a:latin typeface="+mj-lt"/>
              </a:rPr>
              <a:t>ADCINxN</a:t>
            </a:r>
            <a:r>
              <a:rPr lang="en-US" sz="1800" dirty="0">
                <a:latin typeface="+mj-lt"/>
              </a:rPr>
              <a:t>).</a:t>
            </a:r>
          </a:p>
          <a:p>
            <a:pPr marL="285750" indent="-285750">
              <a:lnSpc>
                <a:spcPct val="100000"/>
              </a:lnSpc>
              <a:spcBef>
                <a:spcPts val="0"/>
              </a:spcBef>
              <a:buSzPts val="2000"/>
            </a:pPr>
            <a:r>
              <a:rPr lang="en-US" sz="1800" b="1" dirty="0">
                <a:latin typeface="+mj-lt"/>
              </a:rPr>
              <a:t>Differential</a:t>
            </a:r>
            <a:r>
              <a:rPr lang="en-US" sz="1800" dirty="0">
                <a:latin typeface="+mj-lt"/>
              </a:rPr>
              <a:t> signaling mode is advantageous because noise encountered on both inputs will be largely cancelled. Allowing for higher 16-bit precision.</a:t>
            </a:r>
          </a:p>
        </p:txBody>
      </p:sp>
      <p:sp>
        <p:nvSpPr>
          <p:cNvPr id="119" name="Google Shape;119;p29">
            <a:extLst>
              <a:ext uri="{FF2B5EF4-FFF2-40B4-BE49-F238E27FC236}">
                <a16:creationId xmlns:a16="http://schemas.microsoft.com/office/drawing/2014/main" id="{7384EE42-B8CE-0089-DD3A-32EA5628AAC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D94DAFB-3AB5-0A03-37EB-F86DCB90DB2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ADC - Differential</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2995C99-CAD7-C961-6587-CF8BFB87D39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C0F5DBC-27F0-E68C-FB9C-B33E44E0EF5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3177532-6C57-51B8-8E53-03BF0B02A42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12854DC-B356-63AD-5CA3-8E64261D727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7550FFC-B4C1-F160-D9BC-D4FB9BC5E52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499C818-37DE-C313-4AE2-26CAB704E29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Circuit: differential ADC input model. An AC source drives pins ADCINxP and ADCINxN, each through its own source resistance R sub s. Inside the ADC, each input line has a parasitic capacitor C sub p to VSSA (analog ground). Each line then passes through a sampling switch and on-resistance R sub on to opposite ends of a single hold capacitor C sub h. C sub h therefore samples the difference between the two inputs.">
            <a:extLst>
              <a:ext uri="{FF2B5EF4-FFF2-40B4-BE49-F238E27FC236}">
                <a16:creationId xmlns:a16="http://schemas.microsoft.com/office/drawing/2014/main" id="{FFBD0417-A150-8D58-FF5E-C83E5EDFC2E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193699" y="4032963"/>
            <a:ext cx="5360511" cy="1946712"/>
          </a:xfrm>
          <a:prstGeom prst="rect">
            <a:avLst/>
          </a:prstGeom>
        </p:spPr>
      </p:pic>
      <p:pic>
        <p:nvPicPr>
          <p:cNvPr id="4" name="Graphic 3" descr="Circuit: single-ended ADC input model. An AC source with series source resistance R sub s connects to pin ADCINx; its return goes to pin VREFLO, which is grounded. Inside the ADC, parasitic capacitance C sub p sits across the input. A sampling switch, then on-resistance R sub on, connects the input to hold capacitor C sub h, which charges to the input voltage while the switch is closed.">
            <a:extLst>
              <a:ext uri="{FF2B5EF4-FFF2-40B4-BE49-F238E27FC236}">
                <a16:creationId xmlns:a16="http://schemas.microsoft.com/office/drawing/2014/main" id="{7F107DCA-C2A6-7213-8C2F-190B929C168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76807" y="4032963"/>
            <a:ext cx="5360511" cy="1885421"/>
          </a:xfrm>
          <a:prstGeom prst="rect">
            <a:avLst/>
          </a:prstGeom>
        </p:spPr>
      </p:pic>
    </p:spTree>
    <p:extLst>
      <p:ext uri="{BB962C8B-B14F-4D97-AF65-F5344CB8AC3E}">
        <p14:creationId xmlns:p14="http://schemas.microsoft.com/office/powerpoint/2010/main" val="42946875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DA376AD-F3F9-C13D-3BE5-3B6FB9AF0411}"/>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67A1A782-4F79-4D70-19F1-77B1E2FA70D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B8BC412-7484-FB59-928D-126FB601172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ADC - Calculate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17A79F6F-5EA8-AC42-EA45-5C1A09BAA5D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FDC1E91-E884-469C-F595-59F86729C48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C150228-46F8-09C1-E9C2-B8C46A83426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57A21C1-BB7A-48EC-9E27-91DB0E8197A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314F6DA-392B-D62C-DE9C-A14D82BB50A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34A0E27-C621-2076-CEDF-BD47A94EC93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7" name="Graphic 6" descr="Two tables of ADC conversion formulas. 12-bit mode, single-ended only (differential invalid): ADCRESULT is 0 when ADCIN is at or below VREFLO, 4095 when at or above VREFHI, otherwise 4096 times (ADCIN minus VREFLO) over (VREFHI minus VREFLO). 16-bit mode, differential only (single-ended invalid): ADCRESULT is 0 when ADCINP minus ADCINN is at or below negative VREFHI, 65535 when at or above VREFHI, otherwise 65536 times (ADCINP minus ADCINN plus VREFHI) over 2 VREFHI.">
            <a:extLst>
              <a:ext uri="{FF2B5EF4-FFF2-40B4-BE49-F238E27FC236}">
                <a16:creationId xmlns:a16="http://schemas.microsoft.com/office/drawing/2014/main" id="{63401C51-F28F-0E9D-CAE6-B6188F1D6EEF}"/>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711860" y="1457387"/>
            <a:ext cx="10239925" cy="4593053"/>
          </a:xfrm>
          <a:prstGeom prst="rect">
            <a:avLst/>
          </a:prstGeom>
        </p:spPr>
      </p:pic>
    </p:spTree>
    <p:extLst>
      <p:ext uri="{BB962C8B-B14F-4D97-AF65-F5344CB8AC3E}">
        <p14:creationId xmlns:p14="http://schemas.microsoft.com/office/powerpoint/2010/main" val="82345908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07AD91E-3C34-49F7-F2D6-52011C208069}"/>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1F22141B-CCFF-034C-BD52-E4C3C6678CE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2000"/>
                  <a:buNone/>
                </a:pPr>
                <a:r>
                  <a:rPr lang="en-US" sz="1800" dirty="0">
                    <a:latin typeface="+mj-lt"/>
                  </a:rPr>
                  <a:t>F28379D uses SAR. It works like a "binary search”. Convert continuous to digital.</a:t>
                </a:r>
              </a:p>
              <a:p>
                <a:pPr marL="285750" indent="-285750">
                  <a:lnSpc>
                    <a:spcPct val="100000"/>
                  </a:lnSpc>
                  <a:spcBef>
                    <a:spcPts val="0"/>
                  </a:spcBef>
                  <a:buSzPts val="2000"/>
                </a:pPr>
                <a:endParaRPr lang="en-US" sz="1800" dirty="0">
                  <a:latin typeface="+mj-lt"/>
                </a:endParaRPr>
              </a:p>
              <a:p>
                <a:pPr marL="0" indent="0">
                  <a:lnSpc>
                    <a:spcPct val="100000"/>
                  </a:lnSpc>
                  <a:spcBef>
                    <a:spcPts val="0"/>
                  </a:spcBef>
                  <a:buSzPts val="2000"/>
                  <a:buNone/>
                </a:pPr>
                <a:r>
                  <a:rPr lang="en-US" sz="1800" dirty="0">
                    <a:latin typeface="+mj-lt"/>
                  </a:rPr>
                  <a:t>For iteration </a:t>
                </a:r>
                <a14:m>
                  <m:oMath xmlns:m="http://schemas.openxmlformats.org/officeDocument/2006/math">
                    <m:r>
                      <m:rPr>
                        <m:sty m:val="p"/>
                      </m:rPr>
                      <a:rPr lang="en-US" sz="1800" b="0" i="1" smtClean="0">
                        <a:latin typeface="Cambria Math" panose="02040503050406030204" pitchFamily="18" charset="0"/>
                      </a:rPr>
                      <m:t>i</m:t>
                    </m:r>
                  </m:oMath>
                </a14:m>
                <a:r>
                  <a:rPr lang="en-US" sz="1800" dirty="0">
                    <a:latin typeface="+mj-lt"/>
                  </a:rPr>
                  <a:t> (where </a:t>
                </a:r>
                <a14:m>
                  <m:oMath xmlns:m="http://schemas.openxmlformats.org/officeDocument/2006/math">
                    <m:r>
                      <m:rPr>
                        <m:sty m:val="p"/>
                      </m:rPr>
                      <a:rPr lang="en-US" sz="1800" i="1">
                        <a:latin typeface="Cambria Math" panose="02040503050406030204" pitchFamily="18" charset="0"/>
                      </a:rPr>
                      <m:t>i</m:t>
                    </m:r>
                  </m:oMath>
                </a14:m>
                <a:r>
                  <a:rPr lang="en-US" sz="1800" dirty="0"/>
                  <a:t> </a:t>
                </a:r>
                <a:r>
                  <a:rPr lang="en-US" sz="1800" dirty="0">
                    <a:latin typeface="+mj-lt"/>
                  </a:rPr>
                  <a:t>goes from </a:t>
                </a:r>
                <a14:m>
                  <m:oMath xmlns:m="http://schemas.openxmlformats.org/officeDocument/2006/math">
                    <m:r>
                      <m:rPr>
                        <m:sty m:val="p"/>
                      </m:rPr>
                      <a:rPr lang="en-US" sz="1800" b="0" i="1" smtClean="0">
                        <a:latin typeface="Cambria Math" panose="02040503050406030204" pitchFamily="18" charset="0"/>
                      </a:rPr>
                      <m:t>N</m:t>
                    </m:r>
                    <m:r>
                      <a:rPr lang="en-US" sz="1800" b="0" i="1" smtClean="0">
                        <a:latin typeface="Cambria Math" panose="02040503050406030204" pitchFamily="18" charset="0"/>
                      </a:rPr>
                      <m:t>−1</m:t>
                    </m:r>
                  </m:oMath>
                </a14:m>
                <a:r>
                  <a:rPr lang="en-US" sz="1800" dirty="0">
                    <a:latin typeface="+mj-lt"/>
                  </a:rPr>
                  <a:t> down to </a:t>
                </a:r>
                <a14:m>
                  <m:oMath xmlns:m="http://schemas.openxmlformats.org/officeDocument/2006/math">
                    <m:r>
                      <a:rPr lang="en-US" sz="1800" b="0" i="1" smtClean="0">
                        <a:latin typeface="Cambria Math" panose="02040503050406030204" pitchFamily="18" charset="0"/>
                      </a:rPr>
                      <m:t>0</m:t>
                    </m:r>
                  </m:oMath>
                </a14:m>
                <a:r>
                  <a:rPr lang="en-US" sz="1800" dirty="0"/>
                  <a:t> </a:t>
                </a:r>
                <a:r>
                  <a:rPr lang="en-US" sz="1800" dirty="0">
                    <a:latin typeface="+mj-lt"/>
                  </a:rPr>
                  <a:t>):</a:t>
                </a:r>
              </a:p>
              <a:p>
                <a:pPr marL="0" indent="0">
                  <a:lnSpc>
                    <a:spcPct val="100000"/>
                  </a:lnSpc>
                  <a:spcBef>
                    <a:spcPts val="0"/>
                  </a:spcBef>
                  <a:buSzPts val="2000"/>
                  <a:buNone/>
                </a:pPr>
                <a:endParaRPr lang="en-US" sz="1800" dirty="0">
                  <a:latin typeface="+mj-lt"/>
                </a:endParaRPr>
              </a:p>
              <a:p>
                <a:pPr marL="342900">
                  <a:lnSpc>
                    <a:spcPct val="100000"/>
                  </a:lnSpc>
                  <a:spcBef>
                    <a:spcPts val="0"/>
                  </a:spcBef>
                  <a:buSzPts val="2000"/>
                  <a:buFont typeface="+mj-lt"/>
                  <a:buAutoNum type="arabicPeriod"/>
                </a:pPr>
                <a:r>
                  <a:rPr lang="en-US" sz="1800" b="1" dirty="0">
                    <a:latin typeface="+mj-lt"/>
                  </a:rPr>
                  <a:t>Trial Step</a:t>
                </a:r>
                <a:r>
                  <a:rPr lang="en-US" sz="1800" dirty="0">
                    <a:latin typeface="+mj-lt"/>
                  </a:rPr>
                  <a:t>: The SAR logic sets the current bit </a:t>
                </a:r>
                <a14:m>
                  <m:oMath xmlns:m="http://schemas.openxmlformats.org/officeDocument/2006/math">
                    <m:sSub>
                      <m:sSubPr>
                        <m:ctrlPr>
                          <a:rPr lang="en-US" sz="1800" i="1" smtClean="0">
                            <a:latin typeface="Cambria Math" panose="02040503050406030204" pitchFamily="18" charset="0"/>
                          </a:rPr>
                        </m:ctrlPr>
                      </m:sSubPr>
                      <m:e>
                        <m:r>
                          <m:rPr>
                            <m:sty m:val="p"/>
                          </m:rPr>
                          <a:rPr lang="en-US" sz="1800" b="0" i="1" smtClean="0">
                            <a:latin typeface="Cambria Math" panose="02040503050406030204" pitchFamily="18" charset="0"/>
                          </a:rPr>
                          <m:t>b</m:t>
                        </m:r>
                      </m:e>
                      <m:sub>
                        <m:r>
                          <m:rPr>
                            <m:sty m:val="p"/>
                          </m:rPr>
                          <a:rPr lang="en-US" sz="1800" b="0" i="1" smtClean="0">
                            <a:latin typeface="Cambria Math" panose="02040503050406030204" pitchFamily="18" charset="0"/>
                          </a:rPr>
                          <m:t>i</m:t>
                        </m:r>
                      </m:sub>
                    </m:sSub>
                  </m:oMath>
                </a14:m>
                <a:r>
                  <a:rPr lang="en-US" sz="1800" dirty="0"/>
                  <a:t> </a:t>
                </a:r>
                <a:r>
                  <a:rPr lang="en-US" sz="1800" dirty="0">
                    <a:latin typeface="+mj-lt"/>
                  </a:rPr>
                  <a:t>to 1 (tentatively) and all lower bits to 0.</a:t>
                </a:r>
              </a:p>
              <a:p>
                <a:pPr marL="342900">
                  <a:lnSpc>
                    <a:spcPct val="100000"/>
                  </a:lnSpc>
                  <a:spcBef>
                    <a:spcPts val="0"/>
                  </a:spcBef>
                  <a:buSzPts val="2000"/>
                  <a:buFont typeface="+mj-lt"/>
                  <a:buAutoNum type="arabicPeriod"/>
                </a:pPr>
                <a:r>
                  <a:rPr lang="en-US" sz="1800" b="1" dirty="0">
                    <a:latin typeface="+mj-lt"/>
                  </a:rPr>
                  <a:t>DAC Output</a:t>
                </a:r>
                <a:r>
                  <a:rPr lang="en-US" sz="1800" dirty="0">
                    <a:latin typeface="+mj-lt"/>
                  </a:rPr>
                  <a:t>: The internal DAC generates a trial voltage: </a:t>
                </a:r>
                <a14:m>
                  <m:oMath xmlns:m="http://schemas.openxmlformats.org/officeDocument/2006/math">
                    <m:sSub>
                      <m:sSubPr>
                        <m:ctrlPr>
                          <a:rPr lang="en-US" sz="1800" i="1" smtClean="0">
                            <a:latin typeface="Cambria Math" panose="02040503050406030204" pitchFamily="18" charset="0"/>
                          </a:rPr>
                        </m:ctrlPr>
                      </m:sSubPr>
                      <m:e>
                        <m:r>
                          <m:rPr>
                            <m:sty m:val="p"/>
                          </m:rPr>
                          <a:rPr lang="en-US" sz="1800" b="0" i="1" smtClean="0">
                            <a:latin typeface="Cambria Math" panose="02040503050406030204" pitchFamily="18" charset="0"/>
                          </a:rPr>
                          <m:t>V</m:t>
                        </m:r>
                      </m:e>
                      <m:sub>
                        <m:r>
                          <m:rPr>
                            <m:sty m:val="p"/>
                          </m:rPr>
                          <a:rPr lang="en-US" sz="1800" b="0" i="1" smtClean="0">
                            <a:latin typeface="Cambria Math" panose="02040503050406030204" pitchFamily="18" charset="0"/>
                          </a:rPr>
                          <m:t>trial</m:t>
                        </m:r>
                      </m:sub>
                    </m:sSub>
                    <m:r>
                      <a:rPr lang="en-US" sz="1800" b="0" i="1" smtClean="0">
                        <a:latin typeface="Cambria Math" panose="02040503050406030204" pitchFamily="18" charset="0"/>
                      </a:rPr>
                      <m:t>=</m:t>
                    </m:r>
                    <m:sSub>
                      <m:sSubPr>
                        <m:ctrlPr>
                          <a:rPr lang="en-US" sz="1800" b="0" i="1" smtClean="0">
                            <a:latin typeface="Cambria Math" panose="02040503050406030204" pitchFamily="18" charset="0"/>
                          </a:rPr>
                        </m:ctrlPr>
                      </m:sSubPr>
                      <m:e>
                        <m:r>
                          <m:rPr>
                            <m:sty m:val="p"/>
                          </m:rPr>
                          <a:rPr lang="en-US" sz="1800" b="0" i="1" smtClean="0">
                            <a:latin typeface="Cambria Math" panose="02040503050406030204" pitchFamily="18" charset="0"/>
                          </a:rPr>
                          <m:t>V</m:t>
                        </m:r>
                      </m:e>
                      <m:sub>
                        <m:r>
                          <m:rPr>
                            <m:sty m:val="p"/>
                          </m:rPr>
                          <a:rPr lang="en-US" sz="1800" b="0" i="1" smtClean="0">
                            <a:latin typeface="Cambria Math" panose="02040503050406030204" pitchFamily="18" charset="0"/>
                          </a:rPr>
                          <m:t>accumulated</m:t>
                        </m:r>
                      </m:sub>
                    </m:sSub>
                    <m:r>
                      <a:rPr lang="en-US" sz="1800" b="0" i="1" smtClean="0">
                        <a:latin typeface="Cambria Math" panose="02040503050406030204" pitchFamily="18" charset="0"/>
                      </a:rPr>
                      <m:t>+</m:t>
                    </m:r>
                    <m:f>
                      <m:fPr>
                        <m:ctrlPr>
                          <a:rPr lang="en-US" sz="1800" b="0" i="1" smtClean="0">
                            <a:latin typeface="Cambria Math" panose="02040503050406030204" pitchFamily="18" charset="0"/>
                          </a:rPr>
                        </m:ctrlPr>
                      </m:fPr>
                      <m:num>
                        <m:sSub>
                          <m:sSubPr>
                            <m:ctrlPr>
                              <a:rPr lang="en-US" sz="1800" b="0" i="1" smtClean="0">
                                <a:latin typeface="Cambria Math" panose="02040503050406030204" pitchFamily="18" charset="0"/>
                              </a:rPr>
                            </m:ctrlPr>
                          </m:sSubPr>
                          <m:e>
                            <m:r>
                              <m:rPr>
                                <m:sty m:val="p"/>
                              </m:rPr>
                              <a:rPr lang="en-US" sz="1800" b="0" i="1" smtClean="0">
                                <a:latin typeface="Cambria Math" panose="02040503050406030204" pitchFamily="18" charset="0"/>
                              </a:rPr>
                              <m:t>V</m:t>
                            </m:r>
                          </m:e>
                          <m:sub>
                            <m:r>
                              <m:rPr>
                                <m:sty m:val="p"/>
                              </m:rPr>
                              <a:rPr lang="en-US" sz="1800" b="0" i="1" smtClean="0">
                                <a:latin typeface="Cambria Math" panose="02040503050406030204" pitchFamily="18" charset="0"/>
                              </a:rPr>
                              <m:t>ref</m:t>
                            </m:r>
                          </m:sub>
                        </m:sSub>
                      </m:num>
                      <m:den>
                        <m:sSup>
                          <m:sSupPr>
                            <m:ctrlPr>
                              <a:rPr lang="en-US" sz="1800" b="0" i="1" smtClean="0">
                                <a:latin typeface="Cambria Math" panose="02040503050406030204" pitchFamily="18" charset="0"/>
                              </a:rPr>
                            </m:ctrlPr>
                          </m:sSupPr>
                          <m:e>
                            <m:r>
                              <a:rPr lang="en-US" sz="1800" b="0" i="1" smtClean="0">
                                <a:latin typeface="Cambria Math" panose="02040503050406030204" pitchFamily="18" charset="0"/>
                              </a:rPr>
                              <m:t>2</m:t>
                            </m:r>
                          </m:e>
                          <m:sup>
                            <m:r>
                              <m:rPr>
                                <m:sty m:val="p"/>
                              </m:rPr>
                              <a:rPr lang="en-US" sz="1800" b="0" i="1" smtClean="0">
                                <a:latin typeface="Cambria Math" panose="02040503050406030204" pitchFamily="18" charset="0"/>
                              </a:rPr>
                              <m:t>N</m:t>
                            </m:r>
                            <m:r>
                              <a:rPr lang="en-US" sz="1800" b="0" i="1" smtClean="0">
                                <a:latin typeface="Cambria Math" panose="02040503050406030204" pitchFamily="18" charset="0"/>
                              </a:rPr>
                              <m:t>−1−</m:t>
                            </m:r>
                            <m:r>
                              <m:rPr>
                                <m:sty m:val="p"/>
                              </m:rPr>
                              <a:rPr lang="en-US" sz="1800" b="0" i="1" smtClean="0">
                                <a:latin typeface="Cambria Math" panose="02040503050406030204" pitchFamily="18" charset="0"/>
                              </a:rPr>
                              <m:t>i</m:t>
                            </m:r>
                          </m:sup>
                        </m:sSup>
                      </m:den>
                    </m:f>
                    <m:r>
                      <a:rPr lang="en-US" sz="1800" b="0" i="1" smtClean="0">
                        <a:latin typeface="Cambria Math" panose="02040503050406030204" pitchFamily="18" charset="0"/>
                        <a:ea typeface="Cambria Math" panose="02040503050406030204" pitchFamily="18" charset="0"/>
                      </a:rPr>
                      <m:t>×</m:t>
                    </m:r>
                    <m:f>
                      <m:fPr>
                        <m:ctrlPr>
                          <a:rPr lang="en-US" sz="1800" b="0" i="1" smtClean="0">
                            <a:latin typeface="Cambria Math" panose="02040503050406030204" pitchFamily="18" charset="0"/>
                            <a:ea typeface="Cambria Math" panose="02040503050406030204" pitchFamily="18" charset="0"/>
                          </a:rPr>
                        </m:ctrlPr>
                      </m:fPr>
                      <m:num>
                        <m:sSub>
                          <m:sSubPr>
                            <m:ctrlPr>
                              <a:rPr lang="en-US" sz="1800" b="0" i="1" smtClean="0">
                                <a:latin typeface="Cambria Math" panose="02040503050406030204" pitchFamily="18" charset="0"/>
                                <a:ea typeface="Cambria Math" panose="02040503050406030204" pitchFamily="18" charset="0"/>
                              </a:rPr>
                            </m:ctrlPr>
                          </m:sSubPr>
                          <m:e>
                            <m:r>
                              <m:rPr>
                                <m:sty m:val="p"/>
                              </m:rPr>
                              <a:rPr lang="en-US" sz="1800" b="0" i="1" smtClean="0">
                                <a:latin typeface="Cambria Math" panose="02040503050406030204" pitchFamily="18" charset="0"/>
                                <a:ea typeface="Cambria Math" panose="02040503050406030204" pitchFamily="18" charset="0"/>
                              </a:rPr>
                              <m:t>V</m:t>
                            </m:r>
                          </m:e>
                          <m:sub>
                            <m:r>
                              <m:rPr>
                                <m:sty m:val="p"/>
                              </m:rPr>
                              <a:rPr lang="en-US" sz="1800" b="0" i="1" smtClean="0">
                                <a:latin typeface="Cambria Math" panose="02040503050406030204" pitchFamily="18" charset="0"/>
                                <a:ea typeface="Cambria Math" panose="02040503050406030204" pitchFamily="18" charset="0"/>
                              </a:rPr>
                              <m:t>ref</m:t>
                            </m:r>
                          </m:sub>
                        </m:sSub>
                      </m:num>
                      <m:den>
                        <m:r>
                          <a:rPr lang="en-US" sz="1800" b="0" i="1" smtClean="0">
                            <a:latin typeface="Cambria Math" panose="02040503050406030204" pitchFamily="18" charset="0"/>
                            <a:ea typeface="Cambria Math" panose="02040503050406030204" pitchFamily="18" charset="0"/>
                          </a:rPr>
                          <m:t>2</m:t>
                        </m:r>
                      </m:den>
                    </m:f>
                  </m:oMath>
                </a14:m>
                <a:r>
                  <a:rPr lang="en-US" sz="1800" dirty="0">
                    <a:latin typeface="+mj-lt"/>
                  </a:rPr>
                  <a:t> </a:t>
                </a:r>
                <a:r>
                  <a:rPr lang="en-US" sz="1800" i="1" dirty="0">
                    <a:latin typeface="+mj-lt"/>
                  </a:rPr>
                  <a:t>(Note: This simplifies to testing the half-way point of the remaining search interval).</a:t>
                </a:r>
              </a:p>
              <a:p>
                <a:pPr marL="342900">
                  <a:lnSpc>
                    <a:spcPct val="100000"/>
                  </a:lnSpc>
                  <a:spcBef>
                    <a:spcPts val="0"/>
                  </a:spcBef>
                  <a:buSzPts val="2000"/>
                  <a:buFont typeface="+mj-lt"/>
                  <a:buAutoNum type="arabicPeriod"/>
                </a:pPr>
                <a:r>
                  <a:rPr lang="en-US" sz="1800" b="1" dirty="0">
                    <a:latin typeface="+mj-lt"/>
                  </a:rPr>
                  <a:t>Comparison</a:t>
                </a:r>
                <a:r>
                  <a:rPr lang="en-US" sz="1800" dirty="0">
                    <a:latin typeface="+mj-lt"/>
                  </a:rPr>
                  <a:t>: The analog comparator checks the condition: </a:t>
                </a:r>
                <a14:m>
                  <m:oMath xmlns:m="http://schemas.openxmlformats.org/officeDocument/2006/math">
                    <m:sSub>
                      <m:sSubPr>
                        <m:ctrlPr>
                          <a:rPr lang="en-US" sz="1800" i="1" smtClean="0">
                            <a:latin typeface="Cambria Math" panose="02040503050406030204" pitchFamily="18" charset="0"/>
                          </a:rPr>
                        </m:ctrlPr>
                      </m:sSubPr>
                      <m:e>
                        <m:r>
                          <m:rPr>
                            <m:sty m:val="p"/>
                          </m:rPr>
                          <a:rPr lang="en-US" sz="1800" b="0" i="1" smtClean="0">
                            <a:latin typeface="Cambria Math" panose="02040503050406030204" pitchFamily="18" charset="0"/>
                          </a:rPr>
                          <m:t>V</m:t>
                        </m:r>
                      </m:e>
                      <m:sub>
                        <m:r>
                          <m:rPr>
                            <m:sty m:val="p"/>
                          </m:rPr>
                          <a:rPr lang="en-US" sz="1800" b="0" i="1" smtClean="0">
                            <a:latin typeface="Cambria Math" panose="02040503050406030204" pitchFamily="18" charset="0"/>
                          </a:rPr>
                          <m:t>in</m:t>
                        </m:r>
                      </m:sub>
                    </m:sSub>
                    <m:r>
                      <a:rPr lang="en-US" sz="1800" i="1">
                        <a:latin typeface="Cambria Math" panose="02040503050406030204" pitchFamily="18" charset="0"/>
                        <a:ea typeface="Cambria Math" panose="02040503050406030204" pitchFamily="18" charset="0"/>
                      </a:rPr>
                      <m:t>≥</m:t>
                    </m:r>
                    <m:sSub>
                      <m:sSubPr>
                        <m:ctrlPr>
                          <a:rPr lang="en-US" sz="1800" i="1" smtClean="0">
                            <a:latin typeface="Cambria Math" panose="02040503050406030204" pitchFamily="18" charset="0"/>
                            <a:ea typeface="Cambria Math" panose="02040503050406030204" pitchFamily="18" charset="0"/>
                          </a:rPr>
                        </m:ctrlPr>
                      </m:sSubPr>
                      <m:e>
                        <m:r>
                          <m:rPr>
                            <m:sty m:val="p"/>
                          </m:rPr>
                          <a:rPr lang="en-US" sz="1800" b="0" i="1" smtClean="0">
                            <a:latin typeface="Cambria Math" panose="02040503050406030204" pitchFamily="18" charset="0"/>
                            <a:ea typeface="Cambria Math" panose="02040503050406030204" pitchFamily="18" charset="0"/>
                          </a:rPr>
                          <m:t>V</m:t>
                        </m:r>
                      </m:e>
                      <m:sub>
                        <m:r>
                          <m:rPr>
                            <m:sty m:val="p"/>
                          </m:rPr>
                          <a:rPr lang="en-US" sz="1800" b="0" i="1" smtClean="0">
                            <a:latin typeface="Cambria Math" panose="02040503050406030204" pitchFamily="18" charset="0"/>
                            <a:ea typeface="Cambria Math" panose="02040503050406030204" pitchFamily="18" charset="0"/>
                          </a:rPr>
                          <m:t>trial</m:t>
                        </m:r>
                      </m:sub>
                    </m:sSub>
                  </m:oMath>
                </a14:m>
                <a:endParaRPr lang="en-US" sz="1800" dirty="0">
                  <a:latin typeface="+mj-lt"/>
                </a:endParaRPr>
              </a:p>
              <a:p>
                <a:pPr marL="342900">
                  <a:lnSpc>
                    <a:spcPct val="100000"/>
                  </a:lnSpc>
                  <a:spcBef>
                    <a:spcPts val="0"/>
                  </a:spcBef>
                  <a:buSzPts val="2000"/>
                  <a:buFont typeface="+mj-lt"/>
                  <a:buAutoNum type="arabicPeriod"/>
                </a:pPr>
                <a:r>
                  <a:rPr lang="en-US" sz="1800" b="1" dirty="0">
                    <a:latin typeface="+mj-lt"/>
                  </a:rPr>
                  <a:t>Decision</a:t>
                </a:r>
                <a:r>
                  <a:rPr lang="en-US" sz="1800" dirty="0">
                    <a:latin typeface="+mj-lt"/>
                  </a:rPr>
                  <a:t>:</a:t>
                </a:r>
              </a:p>
              <a:p>
                <a:pPr marL="285750" indent="-285750">
                  <a:lnSpc>
                    <a:spcPct val="100000"/>
                  </a:lnSpc>
                  <a:spcBef>
                    <a:spcPts val="0"/>
                  </a:spcBef>
                  <a:buSzPts val="2000"/>
                </a:pPr>
                <a:r>
                  <a:rPr lang="en-US" sz="1800" dirty="0">
                    <a:latin typeface="+mj-lt"/>
                  </a:rPr>
                  <a:t>If </a:t>
                </a:r>
                <a:r>
                  <a:rPr lang="en-US" sz="1800" b="1" dirty="0">
                    <a:latin typeface="+mj-lt"/>
                  </a:rPr>
                  <a:t>True</a:t>
                </a:r>
                <a:r>
                  <a:rPr lang="en-US" sz="1800" dirty="0">
                    <a:latin typeface="+mj-lt"/>
                  </a:rPr>
                  <a:t>: The comparator outputs '1'. The bit </a:t>
                </a:r>
                <a14:m>
                  <m:oMath xmlns:m="http://schemas.openxmlformats.org/officeDocument/2006/math">
                    <m:sSub>
                      <m:sSubPr>
                        <m:ctrlPr>
                          <a:rPr lang="en-US" sz="1800" i="1">
                            <a:latin typeface="Cambria Math" panose="02040503050406030204" pitchFamily="18" charset="0"/>
                          </a:rPr>
                        </m:ctrlPr>
                      </m:sSubPr>
                      <m:e>
                        <m:r>
                          <m:rPr>
                            <m:sty m:val="p"/>
                          </m:rPr>
                          <a:rPr lang="en-US" sz="1800" i="1">
                            <a:latin typeface="Cambria Math" panose="02040503050406030204" pitchFamily="18" charset="0"/>
                          </a:rPr>
                          <m:t>b</m:t>
                        </m:r>
                      </m:e>
                      <m:sub>
                        <m:r>
                          <m:rPr>
                            <m:sty m:val="p"/>
                          </m:rPr>
                          <a:rPr lang="en-US" sz="1800" i="1">
                            <a:latin typeface="Cambria Math" panose="02040503050406030204" pitchFamily="18" charset="0"/>
                          </a:rPr>
                          <m:t>i</m:t>
                        </m:r>
                      </m:sub>
                    </m:sSub>
                  </m:oMath>
                </a14:m>
                <a:r>
                  <a:rPr lang="en-US" sz="1800" dirty="0"/>
                  <a:t> </a:t>
                </a:r>
                <a:r>
                  <a:rPr lang="en-US" sz="1800" dirty="0">
                    <a:latin typeface="+mj-lt"/>
                  </a:rPr>
                  <a:t>remains 1. The trial voltage is kept as part of </a:t>
                </a:r>
                <a14:m>
                  <m:oMath xmlns:m="http://schemas.openxmlformats.org/officeDocument/2006/math">
                    <m:sSub>
                      <m:sSubPr>
                        <m:ctrlPr>
                          <a:rPr lang="en-US" sz="1800" i="1">
                            <a:latin typeface="Cambria Math" panose="02040503050406030204" pitchFamily="18" charset="0"/>
                          </a:rPr>
                        </m:ctrlPr>
                      </m:sSubPr>
                      <m:e>
                        <m:r>
                          <m:rPr>
                            <m:sty m:val="p"/>
                          </m:rPr>
                          <a:rPr lang="en-US" sz="1800" i="1">
                            <a:latin typeface="Cambria Math" panose="02040503050406030204" pitchFamily="18" charset="0"/>
                          </a:rPr>
                          <m:t>V</m:t>
                        </m:r>
                      </m:e>
                      <m:sub>
                        <m:r>
                          <m:rPr>
                            <m:sty m:val="p"/>
                          </m:rPr>
                          <a:rPr lang="en-US" sz="1800" i="1">
                            <a:latin typeface="Cambria Math" panose="02040503050406030204" pitchFamily="18" charset="0"/>
                          </a:rPr>
                          <m:t>accumulated</m:t>
                        </m:r>
                      </m:sub>
                    </m:sSub>
                  </m:oMath>
                </a14:m>
                <a:endParaRPr lang="en-US" sz="1800" dirty="0">
                  <a:latin typeface="+mj-lt"/>
                </a:endParaRPr>
              </a:p>
              <a:p>
                <a:pPr marL="285750" indent="-285750">
                  <a:lnSpc>
                    <a:spcPct val="100000"/>
                  </a:lnSpc>
                  <a:spcBef>
                    <a:spcPts val="0"/>
                  </a:spcBef>
                  <a:buSzPts val="2000"/>
                </a:pPr>
                <a:r>
                  <a:rPr lang="en-US" sz="1800" dirty="0">
                    <a:latin typeface="+mj-lt"/>
                  </a:rPr>
                  <a:t>If </a:t>
                </a:r>
                <a:r>
                  <a:rPr lang="en-US" sz="1800" b="1" dirty="0">
                    <a:latin typeface="+mj-lt"/>
                  </a:rPr>
                  <a:t>False</a:t>
                </a:r>
                <a:r>
                  <a:rPr lang="en-US" sz="1800" dirty="0">
                    <a:latin typeface="+mj-lt"/>
                  </a:rPr>
                  <a:t>: The comparator outputs '0'. The bit </a:t>
                </a:r>
                <a14:m>
                  <m:oMath xmlns:m="http://schemas.openxmlformats.org/officeDocument/2006/math">
                    <m:sSub>
                      <m:sSubPr>
                        <m:ctrlPr>
                          <a:rPr lang="en-US" sz="1800" i="1">
                            <a:latin typeface="Cambria Math" panose="02040503050406030204" pitchFamily="18" charset="0"/>
                          </a:rPr>
                        </m:ctrlPr>
                      </m:sSubPr>
                      <m:e>
                        <m:r>
                          <m:rPr>
                            <m:sty m:val="p"/>
                          </m:rPr>
                          <a:rPr lang="en-US" sz="1800" i="1">
                            <a:latin typeface="Cambria Math" panose="02040503050406030204" pitchFamily="18" charset="0"/>
                          </a:rPr>
                          <m:t>b</m:t>
                        </m:r>
                      </m:e>
                      <m:sub>
                        <m:r>
                          <m:rPr>
                            <m:sty m:val="p"/>
                          </m:rPr>
                          <a:rPr lang="en-US" sz="1800" i="1">
                            <a:latin typeface="Cambria Math" panose="02040503050406030204" pitchFamily="18" charset="0"/>
                          </a:rPr>
                          <m:t>i</m:t>
                        </m:r>
                      </m:sub>
                    </m:sSub>
                  </m:oMath>
                </a14:m>
                <a:r>
                  <a:rPr lang="en-US" sz="1800" dirty="0"/>
                  <a:t> </a:t>
                </a:r>
                <a:r>
                  <a:rPr lang="en-US" sz="1800" dirty="0">
                    <a:latin typeface="+mj-lt"/>
                  </a:rPr>
                  <a:t>is cleared to 0. The trial voltage is discarded.</a:t>
                </a:r>
              </a:p>
              <a:p>
                <a:pPr marL="0" indent="0">
                  <a:lnSpc>
                    <a:spcPct val="100000"/>
                  </a:lnSpc>
                  <a:spcBef>
                    <a:spcPts val="0"/>
                  </a:spcBef>
                  <a:buSzPts val="2000"/>
                  <a:buNone/>
                </a:pPr>
                <a:endParaRPr lang="en-US" sz="1800" dirty="0">
                  <a:latin typeface="+mj-lt"/>
                </a:endParaRPr>
              </a:p>
              <a:p>
                <a:pPr marL="0" indent="0">
                  <a:lnSpc>
                    <a:spcPct val="100000"/>
                  </a:lnSpc>
                  <a:spcBef>
                    <a:spcPts val="0"/>
                  </a:spcBef>
                  <a:buSzPts val="2000"/>
                  <a:buNone/>
                </a:pPr>
                <a:r>
                  <a:rPr lang="en-US" sz="1800" dirty="0">
                    <a:latin typeface="+mj-lt"/>
                  </a:rPr>
                  <a:t>This process converges logarithmically (because it is binary search). The error at step </a:t>
                </a:r>
                <a14:m>
                  <m:oMath xmlns:m="http://schemas.openxmlformats.org/officeDocument/2006/math">
                    <m:r>
                      <m:rPr>
                        <m:sty m:val="p"/>
                      </m:rPr>
                      <a:rPr lang="en-US" sz="1800" i="1" smtClean="0">
                        <a:latin typeface="Cambria Math" panose="02040503050406030204" pitchFamily="18" charset="0"/>
                      </a:rPr>
                      <m:t>i</m:t>
                    </m:r>
                  </m:oMath>
                </a14:m>
                <a:r>
                  <a:rPr lang="en-US" sz="1800" dirty="0">
                    <a:latin typeface="+mj-lt"/>
                  </a:rPr>
                  <a:t> is strictly bounded by</a:t>
                </a:r>
              </a:p>
              <a:p>
                <a:pPr marL="0" indent="0">
                  <a:lnSpc>
                    <a:spcPct val="100000"/>
                  </a:lnSpc>
                  <a:spcBef>
                    <a:spcPts val="0"/>
                  </a:spcBef>
                  <a:buSzPts val="2000"/>
                  <a:buNone/>
                </a:pPr>
                <a14:m>
                  <m:oMathPara xmlns:m="http://schemas.openxmlformats.org/officeDocument/2006/math">
                    <m:oMathParaPr>
                      <m:jc m:val="centerGroup"/>
                    </m:oMathParaPr>
                    <m:oMath xmlns:m="http://schemas.openxmlformats.org/officeDocument/2006/math">
                      <m:f>
                        <m:fPr>
                          <m:ctrlPr>
                            <a:rPr lang="en-US" sz="1800" i="1">
                              <a:latin typeface="Cambria Math" panose="02040503050406030204" pitchFamily="18" charset="0"/>
                            </a:rPr>
                          </m:ctrlPr>
                        </m:fPr>
                        <m:num>
                          <m:sSub>
                            <m:sSubPr>
                              <m:ctrlPr>
                                <a:rPr lang="en-US" sz="1800" i="1">
                                  <a:latin typeface="Cambria Math" panose="02040503050406030204" pitchFamily="18" charset="0"/>
                                </a:rPr>
                              </m:ctrlPr>
                            </m:sSubPr>
                            <m:e>
                              <m:r>
                                <m:rPr>
                                  <m:sty m:val="p"/>
                                </m:rPr>
                                <a:rPr lang="en-US" sz="1800" i="1">
                                  <a:latin typeface="Cambria Math" panose="02040503050406030204" pitchFamily="18" charset="0"/>
                                </a:rPr>
                                <m:t>V</m:t>
                              </m:r>
                            </m:e>
                            <m:sub>
                              <m:r>
                                <m:rPr>
                                  <m:sty m:val="p"/>
                                </m:rPr>
                                <a:rPr lang="en-US" sz="1800" i="1">
                                  <a:latin typeface="Cambria Math" panose="02040503050406030204" pitchFamily="18" charset="0"/>
                                </a:rPr>
                                <m:t>ref</m:t>
                              </m:r>
                            </m:sub>
                          </m:sSub>
                        </m:num>
                        <m:den>
                          <m:sSup>
                            <m:sSupPr>
                              <m:ctrlPr>
                                <a:rPr lang="en-US" sz="1800" i="1">
                                  <a:latin typeface="Cambria Math" panose="02040503050406030204" pitchFamily="18" charset="0"/>
                                </a:rPr>
                              </m:ctrlPr>
                            </m:sSupPr>
                            <m:e>
                              <m:r>
                                <a:rPr lang="en-US" sz="1800" i="1">
                                  <a:latin typeface="Cambria Math" panose="02040503050406030204" pitchFamily="18" charset="0"/>
                                </a:rPr>
                                <m:t>2</m:t>
                              </m:r>
                            </m:e>
                            <m:sup>
                              <m:r>
                                <m:rPr>
                                  <m:sty m:val="p"/>
                                </m:rPr>
                                <a:rPr lang="en-US" sz="1800" i="1">
                                  <a:latin typeface="Cambria Math" panose="02040503050406030204" pitchFamily="18" charset="0"/>
                                </a:rPr>
                                <m:t>N</m:t>
                              </m:r>
                              <m:r>
                                <a:rPr lang="en-US" sz="1800" i="1">
                                  <a:latin typeface="Cambria Math" panose="02040503050406030204" pitchFamily="18" charset="0"/>
                                </a:rPr>
                                <m:t>−</m:t>
                              </m:r>
                              <m:r>
                                <m:rPr>
                                  <m:sty m:val="p"/>
                                </m:rPr>
                                <a:rPr lang="en-US" sz="1800" b="0" i="1" smtClean="0">
                                  <a:latin typeface="Cambria Math" panose="02040503050406030204" pitchFamily="18" charset="0"/>
                                </a:rPr>
                                <m:t>i</m:t>
                              </m:r>
                            </m:sup>
                          </m:sSup>
                        </m:den>
                      </m:f>
                    </m:oMath>
                  </m:oMathPara>
                </a14:m>
                <a:endParaRPr lang="en-US" sz="1800" dirty="0">
                  <a:latin typeface="+mj-lt"/>
                </a:endParaRPr>
              </a:p>
            </p:txBody>
          </p:sp>
        </mc:Choice>
        <mc:Fallback xmlns="">
          <p:sp>
            <p:nvSpPr>
              <p:cNvPr id="118" name="Google Shape;118;p29">
                <a:extLst>
                  <a:ext uri="{FF2B5EF4-FFF2-40B4-BE49-F238E27FC236}">
                    <a16:creationId xmlns:a16="http://schemas.microsoft.com/office/drawing/2014/main" id="{1F22141B-CCFF-034C-BD52-E4C3C6678CE4}"/>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491" t="-759" r="-38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EBEF44DA-C535-1025-1E31-084B5A5009E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B55C3FD-2336-1923-5CC9-CDB21E1C568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ADC – SAR (Successive Approximation Register)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BAF6027-AA5A-9E5D-DCC4-B8A39AC8072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0B71C5B-ED9E-B1A6-1557-6C640067ADE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FF67282-354A-429C-E343-5DBF0F071D3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999601A-58E8-D5A8-D61D-A1DF4F42B00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7ADF4CB-405F-10BA-F19F-18279376675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6351B99-E703-CD1C-33F3-ACDED9B9693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21550162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495A470-47E7-12E2-E6C8-E821D15695D8}"/>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D29EA2A0-201B-61C8-DA4C-98755F31BFB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D1EBF95-5F55-E664-1A8B-05689BB91E2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ADC – SAR (Successive Approximation Register)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AB46E8B-2064-8C04-099C-7835E943770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9CADD25-871C-452B-2453-504DFEAFC17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D1A532C-6B13-E613-9C4A-986C7B2438A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334E26F-F0B3-D249-95DF-2EC80FE6174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D37E43A-5794-E26F-33EA-E07F7738CE7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CFBE993-8C7E-3A62-1DA7-950853D8827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7" name="Picture 6" descr="Block diagram of a 4-bit successive-approximation ADC: a clocked control block sets DAC bits 3 to 0; the DAC output feeds the comparator's minus input, V in (here 0 volts) feeds the plus input, and the comparator output feeds back to control. Below, an empty voltage-versus-time plot shows only V in at 0 volts. A table lists the step size for each bit: 5 V times one half is 2.5 V, one quarter 1.25 V, one eighth 0.625 V, one sixteenth 0.3125 V, down to one over 1024, 0.0049 V.">
            <a:extLst>
              <a:ext uri="{FF2B5EF4-FFF2-40B4-BE49-F238E27FC236}">
                <a16:creationId xmlns:a16="http://schemas.microsoft.com/office/drawing/2014/main" id="{AB2E0165-C1E4-5D08-6847-3A62DFCC6B89}"/>
              </a:ext>
            </a:extLst>
          </p:cNvPr>
          <p:cNvPicPr>
            <a:picLocks noChangeAspect="1"/>
          </p:cNvPicPr>
          <p:nvPr/>
        </p:nvPicPr>
        <p:blipFill>
          <a:blip r:embed="rId4"/>
          <a:stretch>
            <a:fillRect/>
          </a:stretch>
        </p:blipFill>
        <p:spPr>
          <a:xfrm>
            <a:off x="2563749" y="906290"/>
            <a:ext cx="7064503" cy="5579681"/>
          </a:xfrm>
          <a:prstGeom prst="rect">
            <a:avLst/>
          </a:prstGeom>
        </p:spPr>
      </p:pic>
      <p:sp>
        <p:nvSpPr>
          <p:cNvPr id="2" name="TextBox 1">
            <a:extLst>
              <a:ext uri="{FF2B5EF4-FFF2-40B4-BE49-F238E27FC236}">
                <a16:creationId xmlns:a16="http://schemas.microsoft.com/office/drawing/2014/main" id="{1689A4A0-A242-B83D-D714-7144DD95FE6C}"/>
              </a:ext>
            </a:extLst>
          </p:cNvPr>
          <p:cNvSpPr txBox="1"/>
          <p:nvPr/>
        </p:nvSpPr>
        <p:spPr>
          <a:xfrm>
            <a:off x="4101443" y="6393235"/>
            <a:ext cx="3989114" cy="261610"/>
          </a:xfrm>
          <a:prstGeom prst="rect">
            <a:avLst/>
          </a:prstGeom>
          <a:noFill/>
        </p:spPr>
        <p:txBody>
          <a:bodyPr wrap="square" rtlCol="0">
            <a:spAutoFit/>
          </a:bodyPr>
          <a:lstStyle/>
          <a:p>
            <a:pPr algn="ctr"/>
            <a:r>
              <a:rPr lang="en-US" sz="1100" dirty="0">
                <a:hlinkClick r:id="rId5"/>
              </a:rPr>
              <a:t>https://en.wikipedia.org/wiki/Successive-approximation_ADC</a:t>
            </a:r>
            <a:r>
              <a:rPr lang="en-US" sz="1100" dirty="0"/>
              <a:t> </a:t>
            </a:r>
          </a:p>
        </p:txBody>
      </p:sp>
    </p:spTree>
    <p:extLst>
      <p:ext uri="{BB962C8B-B14F-4D97-AF65-F5344CB8AC3E}">
        <p14:creationId xmlns:p14="http://schemas.microsoft.com/office/powerpoint/2010/main" val="178894949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7DED420E-CFE9-41C7-70F2-CA5E9D09F92F}"/>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40687A0B-085F-32D8-EEB2-4DBA8280D9F4}"/>
              </a:ext>
            </a:extLst>
          </p:cNvPr>
          <p:cNvSpPr/>
          <p:nvPr>
            <p:ph type="title"/>
          </p:nvPr>
        </p:nvSpPr>
        <p:spPr>
          <a:xfrm>
            <a:off x="1295400" y="2948490"/>
            <a:ext cx="9601200" cy="1338788"/>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SOC</a:t>
            </a:r>
            <a:endParaRPr i="0" b="0" sz="1400" dirty="0">
              <a:solidFill>
                <a:srgbClr val="000000"/>
              </a:solidFill>
            </a:endParaRPr>
          </a:p>
          <a:p>
            <a:pPr marL="0" marR="0" lvl="0" indent="0" algn="ctr" rtl="0">
              <a:lnSpc>
                <a:spcPct val="100000"/>
              </a:lnSpc>
              <a:spcBef>
                <a:spcPts val="0"/>
              </a:spcBef>
              <a:spcAft>
                <a:spcPts val="0"/>
              </a:spcAft>
              <a:buClr>
                <a:srgbClr val="000000"/>
              </a:buClr>
              <a:buSzPts val="1800"/>
              <a:buFont typeface="Arial"/>
              <a:buNone/>
            </a:pPr>
            <a:endParaRPr sz="1800" b="1" i="0" u="none" strike="noStrike" cap="none" dirty="0">
              <a:solidFill>
                <a:srgbClr val="15264B"/>
              </a:solidFill>
              <a:latin typeface="Atkinson Hyperlegible Next"/>
              <a:ea typeface="Arial"/>
              <a:cs typeface="Arial"/>
              <a:sym typeface="Arial"/>
            </a:endParaRPr>
          </a:p>
          <a:p>
            <a:pPr lvl="0" algn="ctr">
              <a:lnSpc>
                <a:spcPct val="100000"/>
              </a:lnSpc>
              <a:spcBef>
                <a:spcPts val="0"/>
              </a:spcBef>
              <a:spcAft>
                <a:spcPts val="0"/>
              </a:spcAft>
            </a:pPr>
            <a:r>
              <a:rPr lang="en-US" sz="1800" b="0" i="0" u="none" strike="noStrike" cap="none" dirty="0">
                <a:solidFill>
                  <a:srgbClr val="15264B"/>
                </a:solidFill>
                <a:latin typeface="Atkinson Hyperlegible Next"/>
                <a:ea typeface="Arial"/>
                <a:cs typeface="Arial"/>
                <a:sym typeface="Arial"/>
              </a:rPr>
              <a:t>(</a:t>
            </a:r>
            <a:r>
              <a:rPr i="0" b="0" lang="en-US" sz="1800" dirty="0">
                <a:solidFill>
                  <a:srgbClr val="15264B"/>
                </a:solidFill>
              </a:rPr>
              <a:t>Start-of-Conversion</a:t>
            </a:r>
            <a:r>
              <a:rPr lang="en-US" sz="1800" b="0" i="0" u="none" strike="noStrike" cap="none" dirty="0">
                <a:solidFill>
                  <a:srgbClr val="15264B"/>
                </a:solidFill>
                <a:latin typeface="Atkinson Hyperlegible Next"/>
                <a:ea typeface="Arial"/>
                <a:cs typeface="Arial"/>
                <a:sym typeface="Arial"/>
              </a:rPr>
              <a:t>)</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60FD4B8B-5BDA-4D60-1F74-CB696EDC02F9}"/>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937BF98E-749E-1DD1-3550-64D8DAD56516}"/>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7A9DE242-CB5B-8BA7-DA31-E398C6CBBA1D}"/>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9E122F30-A0C4-B471-C26E-A26B6120F54B}"/>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8A16F689-8438-6FE6-5933-37D22FFAC7C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975701BA-3373-6370-3C64-56F6B2F62FDD}"/>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561865F7-79EC-FC59-67FB-65C9FF63FD86}"/>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C8FDE619-7548-2324-8C1A-78BD5337D04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4407D761-C337-EC7F-05F5-5C563795B84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8057714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CF33050-837F-0353-5DC8-44AE106F8422}"/>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BB153E3-513E-3D6E-60C3-5B3F4657706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2000"/>
              <a:buNone/>
            </a:pPr>
            <a:r>
              <a:rPr lang="en-US" sz="1800" dirty="0">
                <a:latin typeface="+mj-lt"/>
              </a:rPr>
              <a:t>In simple microcontrollers (like Arduino), you usually just say “Read analog value from pin A0 now!”. In more advanced controllers we use </a:t>
            </a:r>
            <a:r>
              <a:rPr lang="en-US" sz="1800" b="1" dirty="0">
                <a:latin typeface="+mj-lt"/>
              </a:rPr>
              <a:t>SOCs</a:t>
            </a:r>
          </a:p>
          <a:p>
            <a:pPr marL="0" lvl="0" indent="0">
              <a:lnSpc>
                <a:spcPct val="100000"/>
              </a:lnSpc>
              <a:spcBef>
                <a:spcPts val="0"/>
              </a:spcBef>
              <a:buSzPts val="2000"/>
              <a:buNone/>
            </a:pPr>
            <a:endParaRPr lang="en-US" sz="1800" b="1" dirty="0">
              <a:latin typeface="+mj-lt"/>
            </a:endParaRPr>
          </a:p>
          <a:p>
            <a:pPr marL="0" lvl="0" indent="0">
              <a:lnSpc>
                <a:spcPct val="100000"/>
              </a:lnSpc>
              <a:spcBef>
                <a:spcPts val="0"/>
              </a:spcBef>
              <a:buSzPts val="2000"/>
              <a:buNone/>
            </a:pPr>
            <a:r>
              <a:rPr lang="en-US" sz="1800" dirty="0">
                <a:latin typeface="+mj-lt"/>
              </a:rPr>
              <a:t>SOCs is a configuration set that defines </a:t>
            </a:r>
            <a:r>
              <a:rPr lang="en-US" sz="1800" i="1" dirty="0">
                <a:latin typeface="+mj-lt"/>
              </a:rPr>
              <a:t>what </a:t>
            </a:r>
            <a:r>
              <a:rPr lang="en-US" sz="1800" dirty="0">
                <a:latin typeface="+mj-lt"/>
              </a:rPr>
              <a:t>happens, not just </a:t>
            </a:r>
            <a:r>
              <a:rPr lang="en-US" sz="1800" i="1" dirty="0">
                <a:latin typeface="+mj-lt"/>
              </a:rPr>
              <a:t>when:</a:t>
            </a:r>
          </a:p>
          <a:p>
            <a:pPr marL="0" lvl="0" indent="0">
              <a:lnSpc>
                <a:spcPct val="100000"/>
              </a:lnSpc>
              <a:spcBef>
                <a:spcPts val="0"/>
              </a:spcBef>
              <a:buSzPts val="2000"/>
              <a:buNone/>
            </a:pPr>
            <a:endParaRPr lang="en-US" sz="1800" i="1" dirty="0">
              <a:latin typeface="+mj-lt"/>
            </a:endParaRPr>
          </a:p>
          <a:p>
            <a:pPr marL="0" lvl="0" indent="0">
              <a:lnSpc>
                <a:spcPct val="100000"/>
              </a:lnSpc>
              <a:spcBef>
                <a:spcPts val="0"/>
              </a:spcBef>
              <a:buSzPts val="2000"/>
              <a:buNone/>
            </a:pPr>
            <a:r>
              <a:rPr lang="en-US" sz="1800" dirty="0">
                <a:latin typeface="+mj-lt"/>
              </a:rPr>
              <a:t>You do not configure the ADC directly, you configure “SOC0” “SOC1”, </a:t>
            </a:r>
            <a:r>
              <a:rPr lang="en-US" sz="1800" dirty="0" err="1">
                <a:latin typeface="+mj-lt"/>
              </a:rPr>
              <a:t>etc</a:t>
            </a:r>
            <a:r>
              <a:rPr lang="en-US" sz="1800" dirty="0">
                <a:latin typeface="+mj-lt"/>
              </a:rPr>
              <a:t>…</a:t>
            </a:r>
          </a:p>
          <a:p>
            <a:pPr marL="0" lvl="0" indent="0">
              <a:lnSpc>
                <a:spcPct val="100000"/>
              </a:lnSpc>
              <a:spcBef>
                <a:spcPts val="0"/>
              </a:spcBef>
              <a:buSzPts val="2000"/>
              <a:buNone/>
            </a:pPr>
            <a:endParaRPr lang="en-US" sz="1800" dirty="0">
              <a:latin typeface="+mj-lt"/>
            </a:endParaRPr>
          </a:p>
          <a:p>
            <a:pPr marL="0" lvl="0" indent="0">
              <a:lnSpc>
                <a:spcPct val="100000"/>
              </a:lnSpc>
              <a:spcBef>
                <a:spcPts val="0"/>
              </a:spcBef>
              <a:buSzPts val="2000"/>
              <a:buNone/>
            </a:pPr>
            <a:r>
              <a:rPr lang="en-US" sz="1800" dirty="0">
                <a:latin typeface="+mj-lt"/>
              </a:rPr>
              <a:t>Each SOC defines:</a:t>
            </a:r>
          </a:p>
          <a:p>
            <a:pPr marL="0" lvl="0" indent="0">
              <a:lnSpc>
                <a:spcPct val="100000"/>
              </a:lnSpc>
              <a:spcBef>
                <a:spcPts val="0"/>
              </a:spcBef>
              <a:buSzPts val="2000"/>
              <a:buNone/>
            </a:pPr>
            <a:endParaRPr lang="en-US" sz="1800" dirty="0">
              <a:latin typeface="+mj-lt"/>
            </a:endParaRPr>
          </a:p>
          <a:p>
            <a:pPr marL="285750" indent="-285750">
              <a:lnSpc>
                <a:spcPct val="100000"/>
              </a:lnSpc>
              <a:spcBef>
                <a:spcPts val="0"/>
              </a:spcBef>
              <a:buSzPts val="2000"/>
            </a:pPr>
            <a:r>
              <a:rPr lang="en-US" sz="1800" b="1" dirty="0">
                <a:latin typeface="+mj-lt"/>
              </a:rPr>
              <a:t>Trigger Source</a:t>
            </a:r>
            <a:r>
              <a:rPr lang="en-US" sz="1800" dirty="0">
                <a:latin typeface="+mj-lt"/>
              </a:rPr>
              <a:t>: What causes the same? (Timer, Software, </a:t>
            </a:r>
            <a:r>
              <a:rPr lang="en-US" sz="1800" dirty="0" err="1">
                <a:latin typeface="+mj-lt"/>
              </a:rPr>
              <a:t>ePWM</a:t>
            </a:r>
            <a:r>
              <a:rPr lang="en-US" sz="1800" dirty="0">
                <a:latin typeface="+mj-lt"/>
              </a:rPr>
              <a:t>, GPIO).</a:t>
            </a:r>
          </a:p>
          <a:p>
            <a:pPr marL="285750" indent="-285750">
              <a:lnSpc>
                <a:spcPct val="100000"/>
              </a:lnSpc>
              <a:spcBef>
                <a:spcPts val="0"/>
              </a:spcBef>
              <a:buSzPts val="2000"/>
            </a:pPr>
            <a:r>
              <a:rPr lang="en-US" sz="1800" b="1" dirty="0">
                <a:latin typeface="+mj-lt"/>
              </a:rPr>
              <a:t>Channel: </a:t>
            </a:r>
            <a:r>
              <a:rPr lang="en-US" sz="1800" dirty="0">
                <a:latin typeface="+mj-lt"/>
              </a:rPr>
              <a:t>Which pin to sample? (e.g. ADCINA4).</a:t>
            </a:r>
          </a:p>
          <a:p>
            <a:pPr marL="285750" indent="-285750">
              <a:lnSpc>
                <a:spcPct val="100000"/>
              </a:lnSpc>
              <a:spcBef>
                <a:spcPts val="0"/>
              </a:spcBef>
              <a:buSzPts val="2000"/>
            </a:pPr>
            <a:r>
              <a:rPr lang="en-US" sz="1800" b="1" dirty="0">
                <a:latin typeface="+mj-lt"/>
              </a:rPr>
              <a:t>Acquisition Window (ACQPS): </a:t>
            </a:r>
            <a:r>
              <a:rPr lang="en-US" sz="1800" dirty="0">
                <a:latin typeface="+mj-lt"/>
              </a:rPr>
              <a:t>How long to hold the “sample” switch open?</a:t>
            </a:r>
            <a:endParaRPr lang="en-US" sz="1800" b="1" dirty="0">
              <a:latin typeface="+mj-lt"/>
            </a:endParaRPr>
          </a:p>
          <a:p>
            <a:pPr marL="0" lvl="0" indent="0">
              <a:lnSpc>
                <a:spcPct val="100000"/>
              </a:lnSpc>
              <a:spcBef>
                <a:spcPts val="0"/>
              </a:spcBef>
              <a:buSzPts val="2000"/>
              <a:buNone/>
            </a:pPr>
            <a:endParaRPr lang="en-US" sz="1800" dirty="0">
              <a:latin typeface="+mj-lt"/>
            </a:endParaRPr>
          </a:p>
        </p:txBody>
      </p:sp>
      <p:sp>
        <p:nvSpPr>
          <p:cNvPr id="119" name="Google Shape;119;p29">
            <a:extLst>
              <a:ext uri="{FF2B5EF4-FFF2-40B4-BE49-F238E27FC236}">
                <a16:creationId xmlns:a16="http://schemas.microsoft.com/office/drawing/2014/main" id="{FCB3BC4D-4275-AC2B-9B45-29DBEE62D5A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291CBD8-AC86-533B-450E-9738E57E9A6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SOC - Intro</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36F6DE9-3778-6A0C-FFB9-A3DDA14716C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760293C-10CB-95B6-84F8-34753AAA859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17A3473-4693-9F6D-3FAD-017E64B97BE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7A8074F-6729-E811-AE3E-C98E2A7D527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E0AD784-026F-AE1E-CE59-8C4746EDA7B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80950DD-1B0F-AB3C-B19B-4B4FA57DC8D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82727379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A72AE47-290F-3156-00AF-C8F7B4AB61B8}"/>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236A02A5-F835-5AA1-83A4-A99BCA8F27C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2000"/>
              <a:buNone/>
            </a:pPr>
            <a:r>
              <a:rPr lang="en-US" sz="1800" dirty="0">
                <a:latin typeface="+mj-lt"/>
              </a:rPr>
              <a:t>The ADC is an event-based machine.</a:t>
            </a:r>
          </a:p>
          <a:p>
            <a:pPr marL="0" lvl="0" indent="0">
              <a:lnSpc>
                <a:spcPct val="100000"/>
              </a:lnSpc>
              <a:spcBef>
                <a:spcPts val="0"/>
              </a:spcBef>
              <a:buSzPts val="2000"/>
              <a:buNone/>
            </a:pPr>
            <a:endParaRPr lang="en-US" sz="1800" dirty="0">
              <a:latin typeface="+mj-lt"/>
            </a:endParaRPr>
          </a:p>
          <a:p>
            <a:pPr marL="0" lvl="0" indent="0">
              <a:lnSpc>
                <a:spcPct val="100000"/>
              </a:lnSpc>
              <a:spcBef>
                <a:spcPts val="0"/>
              </a:spcBef>
              <a:buSzPts val="2000"/>
              <a:buNone/>
            </a:pPr>
            <a:r>
              <a:rPr lang="en-US" sz="1800" dirty="0">
                <a:latin typeface="+mj-lt"/>
              </a:rPr>
              <a:t>For example, you can set SOC1 to trigger on </a:t>
            </a:r>
            <a:r>
              <a:rPr lang="en-US" sz="1800" b="1" dirty="0">
                <a:latin typeface="+mj-lt"/>
              </a:rPr>
              <a:t>ePWM1</a:t>
            </a:r>
            <a:r>
              <a:rPr lang="en-US" sz="1800" dirty="0">
                <a:latin typeface="+mj-lt"/>
              </a:rPr>
              <a:t> (for motor currents) and SOC1 to trigger on </a:t>
            </a:r>
            <a:r>
              <a:rPr lang="en-US" sz="1800" b="1" dirty="0">
                <a:latin typeface="+mj-lt"/>
              </a:rPr>
              <a:t>CPU Timer 2 </a:t>
            </a:r>
            <a:r>
              <a:rPr lang="en-US" sz="1800" dirty="0">
                <a:latin typeface="+mj-lt"/>
              </a:rPr>
              <a:t>( for temperature monitoring)</a:t>
            </a:r>
          </a:p>
          <a:p>
            <a:pPr marL="0" lvl="0" indent="0">
              <a:lnSpc>
                <a:spcPct val="100000"/>
              </a:lnSpc>
              <a:spcBef>
                <a:spcPts val="0"/>
              </a:spcBef>
              <a:buSzPts val="2000"/>
              <a:buNone/>
            </a:pPr>
            <a:endParaRPr lang="en-US" sz="1800" dirty="0">
              <a:latin typeface="+mj-lt"/>
            </a:endParaRPr>
          </a:p>
          <a:p>
            <a:pPr marL="0" lvl="0" indent="0">
              <a:lnSpc>
                <a:spcPct val="100000"/>
              </a:lnSpc>
              <a:spcBef>
                <a:spcPts val="0"/>
              </a:spcBef>
              <a:buSzPts val="2000"/>
              <a:buNone/>
            </a:pPr>
            <a:r>
              <a:rPr lang="en-US" sz="1800" dirty="0">
                <a:latin typeface="+mj-lt"/>
              </a:rPr>
              <a:t>What to do if multiple triggers arrive at once? We use a </a:t>
            </a:r>
            <a:r>
              <a:rPr lang="en-US" sz="1800" b="1" dirty="0">
                <a:latin typeface="+mj-lt"/>
              </a:rPr>
              <a:t>Round Robin</a:t>
            </a:r>
            <a:r>
              <a:rPr lang="en-US" sz="1800" dirty="0">
                <a:latin typeface="+mj-lt"/>
              </a:rPr>
              <a:t>, to decide which SOC converts first.</a:t>
            </a:r>
          </a:p>
          <a:p>
            <a:pPr marL="0" lvl="0" indent="0">
              <a:lnSpc>
                <a:spcPct val="100000"/>
              </a:lnSpc>
              <a:spcBef>
                <a:spcPts val="0"/>
              </a:spcBef>
              <a:buSzPts val="2000"/>
              <a:buNone/>
            </a:pPr>
            <a:r>
              <a:rPr lang="en-US" sz="1800" dirty="0">
                <a:latin typeface="+mj-lt"/>
              </a:rPr>
              <a:t>You can assign SOCs to have strict priority over others (critical safety loops)</a:t>
            </a:r>
          </a:p>
        </p:txBody>
      </p:sp>
      <p:sp>
        <p:nvSpPr>
          <p:cNvPr id="119" name="Google Shape;119;p29">
            <a:extLst>
              <a:ext uri="{FF2B5EF4-FFF2-40B4-BE49-F238E27FC236}">
                <a16:creationId xmlns:a16="http://schemas.microsoft.com/office/drawing/2014/main" id="{2B477B66-FC3E-B9BD-8B82-ECF1B153A0E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E85B2E6-D06F-F14E-907E-16CEAA958814}"/>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SOC – Trigger Sources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8231CE3-C413-0227-DF6E-FDA353429D0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E196062-81B4-8933-F2E3-E657C1A8837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A3E8CCF-B558-C234-A913-2D0748B7EA9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6860F51-D45E-30BE-0079-C2C0E2CEACE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F4AD08D-93EA-CDC3-92EB-BE020EC90F1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C052DEB-7A9F-A263-F6A5-AFCBF6D9269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53114110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3E76D0A-B51E-F4E4-7B2F-168E6D8ECE59}"/>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E9204114-962A-DD4E-724B-A4E0429093A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193850F-39C7-17A6-C508-47BDF4B7539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SOC – Trigger Sources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E48863F7-0033-FBB7-96CD-924DCC839E7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7BD74B7-4C3E-5319-C996-9DBF3985163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3A73752-08B6-303E-15FF-37CF5C583DD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62BE0B3-0BE5-28D2-070F-44581E98140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0FB6917-3763-D708-8647-8F6692BD4D5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3CD3FDF-7C97-8E2A-A3F2-97F9A47D5CC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Five-panel TI figure &quot;High Priority Example&quot; with SOCPRIORITY equals 4: SOC0 to SOC3 are fixed high priority, SOC4 to SOC15 form a clockwise round-robin wheel around RRPOINTER. A: after reset, pointer defaults to 16, so SOC4 is first; SOC7 triggers and converts. B: pointer moves to 7, so SOC8 is first. C: SOC2 and SOC12 trigger together; high-priority SOC2 converts first while SOC12 waits. D: pointer stays at 7 while SOC12 converts. E: pointer moves to 12, so SOC13 is first.">
            <a:extLst>
              <a:ext uri="{FF2B5EF4-FFF2-40B4-BE49-F238E27FC236}">
                <a16:creationId xmlns:a16="http://schemas.microsoft.com/office/drawing/2014/main" id="{BC7B23A1-7B33-9631-08E4-8494D1AAD64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589587" y="913768"/>
            <a:ext cx="4380461" cy="5687770"/>
          </a:xfrm>
          <a:prstGeom prst="rect">
            <a:avLst/>
          </a:prstGeom>
        </p:spPr>
      </p:pic>
    </p:spTree>
    <p:extLst>
      <p:ext uri="{BB962C8B-B14F-4D97-AF65-F5344CB8AC3E}">
        <p14:creationId xmlns:p14="http://schemas.microsoft.com/office/powerpoint/2010/main" val="205542769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BA6B744-51B5-C944-B4A3-DBB76164E291}"/>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82DC2894-E22E-90BC-F924-976ADBABCB3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2000"/>
                  <a:buNone/>
                </a:pPr>
                <a:r>
                  <a:rPr lang="en-US" sz="1800" dirty="0">
                    <a:latin typeface="+mj-lt"/>
                  </a:rPr>
                  <a:t>The internal capacitor </a:t>
                </a:r>
                <a14:m>
                  <m:oMath xmlns:m="http://schemas.openxmlformats.org/officeDocument/2006/math">
                    <m:sSub>
                      <m:sSubPr>
                        <m:ctrlPr>
                          <a:rPr lang="en-US" sz="1800" i="1" smtClean="0">
                            <a:latin typeface="Cambria Math" panose="02040503050406030204" pitchFamily="18" charset="0"/>
                          </a:rPr>
                        </m:ctrlPr>
                      </m:sSubPr>
                      <m:e>
                        <m:r>
                          <m:rPr>
                            <m:sty m:val="p"/>
                          </m:rPr>
                          <a:rPr lang="en-US" sz="1800" b="0" i="1" smtClean="0">
                            <a:latin typeface="Cambria Math" panose="02040503050406030204" pitchFamily="18" charset="0"/>
                          </a:rPr>
                          <m:t>C</m:t>
                        </m:r>
                      </m:e>
                      <m:sub>
                        <m:r>
                          <m:rPr>
                            <m:sty m:val="p"/>
                          </m:rPr>
                          <a:rPr lang="en-US" sz="1800" b="0" i="1" smtClean="0">
                            <a:latin typeface="Cambria Math" panose="02040503050406030204" pitchFamily="18" charset="0"/>
                          </a:rPr>
                          <m:t>h</m:t>
                        </m:r>
                      </m:sub>
                    </m:sSub>
                  </m:oMath>
                </a14:m>
                <a:r>
                  <a:rPr lang="en-US" sz="1800" dirty="0">
                    <a:latin typeface="+mj-lt"/>
                  </a:rPr>
                  <a:t> needs time to charge. If the source impedance is high (weak signal), it takes longer</a:t>
                </a:r>
              </a:p>
              <a:p>
                <a:pPr marL="0" lvl="0" indent="0">
                  <a:lnSpc>
                    <a:spcPct val="100000"/>
                  </a:lnSpc>
                  <a:spcBef>
                    <a:spcPts val="0"/>
                  </a:spcBef>
                  <a:buSzPts val="2000"/>
                  <a:buNone/>
                </a:pPr>
                <a:endParaRPr lang="en-US" sz="1800" dirty="0">
                  <a:latin typeface="+mj-lt"/>
                </a:endParaRPr>
              </a:p>
              <a:p>
                <a:pPr marL="0" lvl="0" indent="0" algn="ctr">
                  <a:lnSpc>
                    <a:spcPct val="100000"/>
                  </a:lnSpc>
                  <a:spcBef>
                    <a:spcPts val="0"/>
                  </a:spcBef>
                  <a:buSzPts val="2000"/>
                  <a:buNone/>
                </a:pPr>
                <a:r>
                  <a:rPr lang="en-US" sz="1800" dirty="0" err="1">
                    <a:solidFill>
                      <a:srgbClr val="000000"/>
                    </a:solidFill>
                    <a:latin typeface="Consolas" panose="020B0609020204030204" pitchFamily="49" charset="0"/>
                  </a:rPr>
                  <a:t>AdcxRegs.</a:t>
                </a:r>
                <a:r>
                  <a:rPr lang="en-US" sz="1800" dirty="0" err="1">
                    <a:solidFill>
                      <a:srgbClr val="0000C0"/>
                    </a:solidFill>
                    <a:latin typeface="Consolas" panose="020B0609020204030204" pitchFamily="49" charset="0"/>
                  </a:rPr>
                  <a:t>ADCSOCxCTL</a:t>
                </a:r>
                <a:r>
                  <a:rPr lang="en-US" sz="1800" dirty="0" err="1">
                    <a:solidFill>
                      <a:srgbClr val="000000"/>
                    </a:solidFill>
                    <a:latin typeface="Consolas" panose="020B0609020204030204" pitchFamily="49" charset="0"/>
                  </a:rPr>
                  <a:t>.</a:t>
                </a:r>
                <a:r>
                  <a:rPr lang="en-US" sz="1800" dirty="0" err="1">
                    <a:solidFill>
                      <a:srgbClr val="0000C0"/>
                    </a:solidFill>
                    <a:latin typeface="Consolas" panose="020B0609020204030204" pitchFamily="49" charset="0"/>
                  </a:rPr>
                  <a:t>bit</a:t>
                </a:r>
                <a:r>
                  <a:rPr lang="en-US" sz="1800" dirty="0" err="1">
                    <a:solidFill>
                      <a:srgbClr val="000000"/>
                    </a:solidFill>
                    <a:latin typeface="Consolas" panose="020B0609020204030204" pitchFamily="49" charset="0"/>
                  </a:rPr>
                  <a:t>.</a:t>
                </a:r>
                <a:r>
                  <a:rPr lang="en-US" sz="1800" dirty="0" err="1">
                    <a:solidFill>
                      <a:srgbClr val="0000C0"/>
                    </a:solidFill>
                    <a:latin typeface="Consolas" panose="020B0609020204030204" pitchFamily="49" charset="0"/>
                  </a:rPr>
                  <a:t>ACQPS</a:t>
                </a:r>
                <a:endParaRPr lang="en-US" sz="1800" dirty="0">
                  <a:solidFill>
                    <a:srgbClr val="0000C0"/>
                  </a:solidFill>
                  <a:latin typeface="Consolas" panose="020B0609020204030204" pitchFamily="49" charset="0"/>
                </a:endParaRPr>
              </a:p>
              <a:p>
                <a:pPr marL="0" lvl="0" indent="0" algn="ctr">
                  <a:lnSpc>
                    <a:spcPct val="100000"/>
                  </a:lnSpc>
                  <a:spcBef>
                    <a:spcPts val="0"/>
                  </a:spcBef>
                  <a:buSzPts val="2000"/>
                  <a:buNone/>
                </a:pPr>
                <a:endParaRPr lang="en-US" sz="1800" dirty="0">
                  <a:solidFill>
                    <a:srgbClr val="0000C0"/>
                  </a:solidFill>
                  <a:latin typeface="Consolas" panose="020B0609020204030204" pitchFamily="49" charset="0"/>
                </a:endParaRPr>
              </a:p>
              <a:p>
                <a:pPr marL="0" lvl="0" indent="0">
                  <a:lnSpc>
                    <a:spcPct val="100000"/>
                  </a:lnSpc>
                  <a:spcBef>
                    <a:spcPts val="0"/>
                  </a:spcBef>
                  <a:buSzPts val="2000"/>
                  <a:buNone/>
                </a:pPr>
                <a:r>
                  <a:rPr lang="en-US" sz="1800" dirty="0">
                    <a:solidFill>
                      <a:schemeClr val="tx1"/>
                    </a:solidFill>
                    <a:latin typeface="+mj-lt"/>
                  </a:rPr>
                  <a:t>ACQPS is a 9-bit register that can be set to a value between 0 and 511, resulting in an acquisition window duration of:</a:t>
                </a:r>
              </a:p>
              <a:p>
                <a:pPr marL="0" lvl="0" indent="0">
                  <a:lnSpc>
                    <a:spcPct val="100000"/>
                  </a:lnSpc>
                  <a:spcBef>
                    <a:spcPts val="0"/>
                  </a:spcBef>
                  <a:buSzPts val="2000"/>
                  <a:buNone/>
                </a:pPr>
                <a:endParaRPr lang="en-US" sz="1800" dirty="0">
                  <a:latin typeface="+mj-lt"/>
                </a:endParaRPr>
              </a:p>
              <a:p>
                <a:pPr marL="0" lvl="0" indent="0" algn="ctr">
                  <a:lnSpc>
                    <a:spcPct val="100000"/>
                  </a:lnSpc>
                  <a:spcBef>
                    <a:spcPts val="0"/>
                  </a:spcBef>
                  <a:buSzPts val="2000"/>
                  <a:buNone/>
                </a:pPr>
                <a:r>
                  <a:rPr lang="en-US" sz="1800" dirty="0">
                    <a:latin typeface="+mj-lt"/>
                  </a:rPr>
                  <a:t>Acquisition Window = </a:t>
                </a:r>
                <a14:m>
                  <m:oMath xmlns:m="http://schemas.openxmlformats.org/officeDocument/2006/math">
                    <m:r>
                      <a:rPr lang="en-US" sz="1800" b="0" i="0" smtClean="0">
                        <a:latin typeface="Cambria Math" panose="02040503050406030204" pitchFamily="18" charset="0"/>
                      </a:rPr>
                      <m:t>(</m:t>
                    </m:r>
                    <m:r>
                      <m:rPr>
                        <m:sty m:val="p"/>
                      </m:rPr>
                      <a:rPr lang="en-US" sz="1800" b="0" i="1" smtClean="0">
                        <a:latin typeface="Cambria Math" panose="02040503050406030204" pitchFamily="18" charset="0"/>
                      </a:rPr>
                      <m:t>ACQPS</m:t>
                    </m:r>
                    <m:r>
                      <a:rPr lang="en-US" sz="1800" b="0" i="1" smtClean="0">
                        <a:latin typeface="Cambria Math" panose="02040503050406030204" pitchFamily="18" charset="0"/>
                      </a:rPr>
                      <m:t> + 1)×(</m:t>
                    </m:r>
                    <m:r>
                      <m:rPr>
                        <m:sty m:val="p"/>
                      </m:rPr>
                      <a:rPr lang="en-US" sz="1800" b="0" i="1" smtClean="0">
                        <a:latin typeface="Cambria Math" panose="02040503050406030204" pitchFamily="18" charset="0"/>
                        <a:ea typeface="Cambria Math" panose="02040503050406030204" pitchFamily="18" charset="0"/>
                      </a:rPr>
                      <m:t>System</m:t>
                    </m:r>
                    <m:r>
                      <a:rPr lang="en-US" sz="1800" b="0" i="1" smtClean="0">
                        <a:latin typeface="Cambria Math" panose="02040503050406030204" pitchFamily="18" charset="0"/>
                        <a:ea typeface="Cambria Math" panose="02040503050406030204" pitchFamily="18" charset="0"/>
                      </a:rPr>
                      <m:t> </m:t>
                    </m:r>
                    <m:r>
                      <m:rPr>
                        <m:sty m:val="p"/>
                      </m:rPr>
                      <a:rPr lang="en-US" sz="1800" b="0" i="1" smtClean="0">
                        <a:latin typeface="Cambria Math" panose="02040503050406030204" pitchFamily="18" charset="0"/>
                        <a:ea typeface="Cambria Math" panose="02040503050406030204" pitchFamily="18" charset="0"/>
                      </a:rPr>
                      <m:t>Clock</m:t>
                    </m:r>
                    <m:r>
                      <a:rPr lang="en-US" sz="1800" b="0" i="1" smtClean="0">
                        <a:latin typeface="Cambria Math" panose="02040503050406030204" pitchFamily="18" charset="0"/>
                        <a:ea typeface="Cambria Math" panose="02040503050406030204" pitchFamily="18" charset="0"/>
                      </a:rPr>
                      <m:t> (</m:t>
                    </m:r>
                    <m:r>
                      <m:rPr>
                        <m:sty m:val="p"/>
                      </m:rPr>
                      <a:rPr lang="en-US" sz="1800" b="0" i="1" smtClean="0">
                        <a:latin typeface="Cambria Math" panose="02040503050406030204" pitchFamily="18" charset="0"/>
                        <a:ea typeface="Cambria Math" panose="02040503050406030204" pitchFamily="18" charset="0"/>
                      </a:rPr>
                      <m:t>SYSCLK</m:t>
                    </m:r>
                    <m:r>
                      <a:rPr lang="en-US" sz="1800" b="0" i="1" smtClean="0">
                        <a:latin typeface="Cambria Math" panose="02040503050406030204" pitchFamily="18" charset="0"/>
                        <a:ea typeface="Cambria Math" panose="02040503050406030204" pitchFamily="18" charset="0"/>
                      </a:rPr>
                      <m:t>) </m:t>
                    </m:r>
                    <m:r>
                      <m:rPr>
                        <m:sty m:val="p"/>
                      </m:rPr>
                      <a:rPr lang="en-US" sz="1800" b="0" i="1" smtClean="0">
                        <a:latin typeface="Cambria Math" panose="02040503050406030204" pitchFamily="18" charset="0"/>
                        <a:ea typeface="Cambria Math" panose="02040503050406030204" pitchFamily="18" charset="0"/>
                      </a:rPr>
                      <m:t>cycle</m:t>
                    </m:r>
                    <m:r>
                      <a:rPr lang="en-US" sz="1800" b="0" i="1" smtClean="0">
                        <a:latin typeface="Cambria Math" panose="02040503050406030204" pitchFamily="18" charset="0"/>
                        <a:ea typeface="Cambria Math" panose="02040503050406030204" pitchFamily="18" charset="0"/>
                      </a:rPr>
                      <m:t> </m:t>
                    </m:r>
                    <m:r>
                      <m:rPr>
                        <m:sty m:val="p"/>
                      </m:rPr>
                      <a:rPr lang="en-US" sz="1800" b="0" i="1" smtClean="0">
                        <a:latin typeface="Cambria Math" panose="02040503050406030204" pitchFamily="18" charset="0"/>
                        <a:ea typeface="Cambria Math" panose="02040503050406030204" pitchFamily="18" charset="0"/>
                      </a:rPr>
                      <m:t>time</m:t>
                    </m:r>
                    <m:r>
                      <a:rPr lang="en-US" sz="1800" b="0" i="1" smtClean="0">
                        <a:latin typeface="Cambria Math" panose="02040503050406030204" pitchFamily="18" charset="0"/>
                        <a:ea typeface="Cambria Math" panose="02040503050406030204" pitchFamily="18" charset="0"/>
                      </a:rPr>
                      <m:t>)</m:t>
                    </m:r>
                  </m:oMath>
                </a14:m>
                <a:r>
                  <a:rPr lang="en-US" sz="1800" dirty="0">
                    <a:latin typeface="+mj-lt"/>
                  </a:rPr>
                  <a:t>.</a:t>
                </a:r>
              </a:p>
              <a:p>
                <a:pPr marL="0" lvl="0" indent="0" algn="ctr">
                  <a:lnSpc>
                    <a:spcPct val="100000"/>
                  </a:lnSpc>
                  <a:spcBef>
                    <a:spcPts val="0"/>
                  </a:spcBef>
                  <a:buSzPts val="2000"/>
                  <a:buNone/>
                </a:pPr>
                <a:endParaRPr lang="en-US" sz="1800" dirty="0">
                  <a:latin typeface="+mj-lt"/>
                </a:endParaRPr>
              </a:p>
              <a:p>
                <a:pPr marL="0" lvl="0" indent="0">
                  <a:lnSpc>
                    <a:spcPct val="100000"/>
                  </a:lnSpc>
                  <a:spcBef>
                    <a:spcPts val="0"/>
                  </a:spcBef>
                  <a:buSzPts val="2000"/>
                  <a:buNone/>
                </a:pPr>
                <a:r>
                  <a:rPr lang="en-US" sz="1800" dirty="0">
                    <a:latin typeface="+mj-lt"/>
                  </a:rPr>
                  <a:t>The acquisition window duration is based on the System Clock (SYSCLK), not the ADC clock (ADCCLK)!</a:t>
                </a:r>
              </a:p>
              <a:p>
                <a:pPr marL="0" lvl="0" indent="0">
                  <a:lnSpc>
                    <a:spcPct val="100000"/>
                  </a:lnSpc>
                  <a:spcBef>
                    <a:spcPts val="0"/>
                  </a:spcBef>
                  <a:buSzPts val="2000"/>
                  <a:buNone/>
                </a:pPr>
                <a:endParaRPr lang="en-US" sz="1800" dirty="0">
                  <a:latin typeface="+mj-lt"/>
                </a:endParaRPr>
              </a:p>
              <a:p>
                <a:pPr marL="0" lvl="0" indent="0">
                  <a:lnSpc>
                    <a:spcPct val="100000"/>
                  </a:lnSpc>
                  <a:spcBef>
                    <a:spcPts val="0"/>
                  </a:spcBef>
                  <a:buSzPts val="2000"/>
                  <a:buNone/>
                </a:pPr>
                <a:r>
                  <a:rPr lang="en-US" sz="1800" dirty="0">
                    <a:latin typeface="+mj-lt"/>
                  </a:rPr>
                  <a:t>Why it matters: If you make this too short, the capacitor won't fully charge, and you will read the previous channel's "ghost" voltage (cross-talk).</a:t>
                </a:r>
              </a:p>
            </p:txBody>
          </p:sp>
        </mc:Choice>
        <mc:Fallback xmlns="">
          <p:sp>
            <p:nvSpPr>
              <p:cNvPr id="118" name="Google Shape;118;p29">
                <a:extLst>
                  <a:ext uri="{FF2B5EF4-FFF2-40B4-BE49-F238E27FC236}">
                    <a16:creationId xmlns:a16="http://schemas.microsoft.com/office/drawing/2014/main" id="{82DC2894-E22E-90BC-F924-976ADBABCB3C}"/>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491" t="-759" r="-10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E206D236-694C-450A-588F-C0743601A11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4ABFD74-F44A-237B-0AEA-520D9A9B048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SOC – Acquisition Window</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3EA2FC1-E9A1-6FCD-4738-727C78AA92BB}"/>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7081AFC-EF1F-0574-FE5E-A7EC15152F7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EB84976-10A7-4ADD-AA4F-9C70673ED6B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02704A0-3C76-A8F8-F352-5B948AE3F1D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EE239FC-A5D8-B0FA-E4EC-392ABC72E42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04C4E6A-F04A-0625-0AD6-7AE7E59E079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21143707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7111FCA-31C3-7500-8BFC-980E6B422DF2}"/>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473F64A1-C7AC-18C3-3CAA-EA5993AE01E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2000"/>
              <a:buNone/>
            </a:pPr>
            <a:r>
              <a:rPr lang="en-US" sz="1800" dirty="0">
                <a:latin typeface="+mj-lt"/>
              </a:rPr>
              <a:t>You don’t need an interrupt for </a:t>
            </a:r>
            <a:r>
              <a:rPr lang="en-US" sz="1800" i="1" dirty="0">
                <a:latin typeface="+mj-lt"/>
              </a:rPr>
              <a:t>every </a:t>
            </a:r>
            <a:r>
              <a:rPr lang="en-US" sz="1800" dirty="0">
                <a:latin typeface="+mj-lt"/>
              </a:rPr>
              <a:t>sample ( bit ).</a:t>
            </a:r>
          </a:p>
          <a:p>
            <a:pPr marL="0" lvl="0" indent="0">
              <a:lnSpc>
                <a:spcPct val="100000"/>
              </a:lnSpc>
              <a:spcBef>
                <a:spcPts val="0"/>
              </a:spcBef>
              <a:buSzPts val="2000"/>
              <a:buNone/>
            </a:pPr>
            <a:endParaRPr lang="en-US" sz="1800" dirty="0">
              <a:latin typeface="+mj-lt"/>
            </a:endParaRPr>
          </a:p>
          <a:p>
            <a:pPr marL="0" lvl="0" indent="0">
              <a:lnSpc>
                <a:spcPct val="100000"/>
              </a:lnSpc>
              <a:spcBef>
                <a:spcPts val="0"/>
              </a:spcBef>
              <a:buSzPts val="2000"/>
              <a:buNone/>
            </a:pPr>
            <a:r>
              <a:rPr lang="en-US" sz="1800" dirty="0">
                <a:latin typeface="+mj-lt"/>
              </a:rPr>
              <a:t>You can set an interrupt to fire only after a </a:t>
            </a:r>
            <a:r>
              <a:rPr lang="en-US" sz="1800" i="1" dirty="0">
                <a:latin typeface="+mj-lt"/>
              </a:rPr>
              <a:t>sequence </a:t>
            </a:r>
            <a:r>
              <a:rPr lang="en-US" sz="1800" dirty="0">
                <a:latin typeface="+mj-lt"/>
              </a:rPr>
              <a:t>(e.g. After SOC3 completes)</a:t>
            </a:r>
          </a:p>
          <a:p>
            <a:pPr marL="0" lvl="0" indent="0">
              <a:lnSpc>
                <a:spcPct val="100000"/>
              </a:lnSpc>
              <a:spcBef>
                <a:spcPts val="0"/>
              </a:spcBef>
              <a:buSzPts val="2000"/>
              <a:buNone/>
            </a:pPr>
            <a:endParaRPr lang="en-US" sz="1800" dirty="0">
              <a:latin typeface="+mj-lt"/>
            </a:endParaRPr>
          </a:p>
          <a:p>
            <a:pPr marL="0" lvl="0" indent="0">
              <a:lnSpc>
                <a:spcPct val="100000"/>
              </a:lnSpc>
              <a:spcBef>
                <a:spcPts val="0"/>
              </a:spcBef>
              <a:buSzPts val="2000"/>
              <a:buNone/>
            </a:pPr>
            <a:r>
              <a:rPr lang="en-US" sz="1800" b="1" dirty="0">
                <a:latin typeface="+mj-lt"/>
              </a:rPr>
              <a:t>Early vs Late Interrupts</a:t>
            </a:r>
            <a:r>
              <a:rPr lang="en-US" sz="1800" dirty="0">
                <a:latin typeface="+mj-lt"/>
              </a:rPr>
              <a:t>:</a:t>
            </a:r>
          </a:p>
          <a:p>
            <a:pPr marL="0" lvl="0" indent="0">
              <a:lnSpc>
                <a:spcPct val="100000"/>
              </a:lnSpc>
              <a:spcBef>
                <a:spcPts val="0"/>
              </a:spcBef>
              <a:buSzPts val="2000"/>
              <a:buNone/>
            </a:pPr>
            <a:endParaRPr lang="en-US" sz="1800" dirty="0">
              <a:latin typeface="+mj-lt"/>
            </a:endParaRPr>
          </a:p>
          <a:p>
            <a:pPr marL="285750" indent="-285750">
              <a:lnSpc>
                <a:spcPct val="100000"/>
              </a:lnSpc>
              <a:spcBef>
                <a:spcPts val="0"/>
              </a:spcBef>
              <a:buSzPts val="2000"/>
            </a:pPr>
            <a:r>
              <a:rPr lang="en-US" sz="1800" b="1" dirty="0">
                <a:latin typeface="+mj-lt"/>
              </a:rPr>
              <a:t>Early</a:t>
            </a:r>
            <a:r>
              <a:rPr lang="en-US" sz="1800" dirty="0">
                <a:latin typeface="+mj-lt"/>
              </a:rPr>
              <a:t>: First the interrupt at the end of acquisition </a:t>
            </a:r>
          </a:p>
          <a:p>
            <a:pPr marL="285750" indent="-285750">
              <a:lnSpc>
                <a:spcPct val="100000"/>
              </a:lnSpc>
              <a:spcBef>
                <a:spcPts val="0"/>
              </a:spcBef>
              <a:buSzPts val="2000"/>
            </a:pPr>
            <a:r>
              <a:rPr lang="en-US" sz="1800" b="1" dirty="0">
                <a:latin typeface="+mj-lt"/>
              </a:rPr>
              <a:t>Late</a:t>
            </a:r>
            <a:r>
              <a:rPr lang="en-US" sz="1800" dirty="0">
                <a:latin typeface="+mj-lt"/>
              </a:rPr>
              <a:t>: At the end of conversion</a:t>
            </a:r>
          </a:p>
        </p:txBody>
      </p:sp>
      <p:sp>
        <p:nvSpPr>
          <p:cNvPr id="119" name="Google Shape;119;p29">
            <a:extLst>
              <a:ext uri="{FF2B5EF4-FFF2-40B4-BE49-F238E27FC236}">
                <a16:creationId xmlns:a16="http://schemas.microsoft.com/office/drawing/2014/main" id="{363F89CD-DB3C-E410-2C37-B467453BFC0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5E14760-2C08-EE3B-4E79-D22FE640470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SOC – Interrupts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18E6CEA-9CFB-AB60-7240-479A591895C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5E986E8-03EE-B876-5E9C-57EFE434EBA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097A35F-3A4A-BA88-DF66-A910325AAFD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8E116B3-9C5F-CF51-B58A-F09433EDD0F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4BE85FF-540B-E130-6E81-B85576801A9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B5EBCBE-EBE3-9608-D97B-A78F269F568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68899680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F705884-0621-310A-848E-6BA1B7FC10B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8FC1B80D-3FD3-EEDD-838B-44D984EB87B6}"/>
              </a:ext>
            </a:extLst>
          </p:cNvPr>
          <p:cNvSpPr txBox="1">
            <a:spLocks noGrp="1"/>
          </p:cNvSpPr>
          <p:nvPr>
            <p:ph type="body" idx="1"/>
          </p:nvPr>
        </p:nvSpPr>
        <p:spPr>
          <a:xfrm>
            <a:off x="380108" y="1103487"/>
            <a:ext cx="11177401" cy="5305328"/>
          </a:xfrm>
          <a:prstGeom prst="rect">
            <a:avLst/>
          </a:prstGeom>
          <a:noFill/>
          <a:ln>
            <a:noFill/>
          </a:ln>
        </p:spPr>
        <p:txBody>
          <a:bodyPr spcFirstLastPara="1" wrap="square" lIns="91425" tIns="45700" rIns="91425" bIns="45700" anchor="ctr" anchorCtr="0">
            <a:noAutofit/>
          </a:bodyPr>
          <a:lstStyle/>
          <a:p>
            <a:pPr marL="114300" indent="0" algn="l">
              <a:buNone/>
            </a:pPr>
            <a:r>
              <a:rPr lang="en-US" sz="1400" dirty="0">
                <a:solidFill>
                  <a:srgbClr val="000000"/>
                </a:solidFill>
                <a:latin typeface="Consolas" panose="020B0609020204030204" pitchFamily="49" charset="0"/>
              </a:rPr>
              <a:t>AdcaRegs.</a:t>
            </a:r>
            <a:r>
              <a:rPr lang="en-US" sz="1400" dirty="0">
                <a:solidFill>
                  <a:srgbClr val="0000C0"/>
                </a:solidFill>
                <a:latin typeface="Consolas" panose="020B0609020204030204" pitchFamily="49" charset="0"/>
              </a:rPr>
              <a:t>ADCSOC5CTL</a:t>
            </a:r>
            <a:r>
              <a:rPr lang="en-US" sz="1400" dirty="0">
                <a:solidFill>
                  <a:srgbClr val="000000"/>
                </a:solidFill>
                <a:latin typeface="Consolas" panose="020B0609020204030204" pitchFamily="49" charset="0"/>
              </a:rPr>
              <a:t>.</a:t>
            </a:r>
            <a:r>
              <a:rPr lang="en-US" sz="1400" dirty="0">
                <a:solidFill>
                  <a:srgbClr val="0000C0"/>
                </a:solidFill>
                <a:latin typeface="Consolas" panose="020B0609020204030204" pitchFamily="49" charset="0"/>
              </a:rPr>
              <a:t>bit</a:t>
            </a:r>
            <a:r>
              <a:rPr lang="en-US" sz="1400" dirty="0">
                <a:solidFill>
                  <a:srgbClr val="000000"/>
                </a:solidFill>
                <a:latin typeface="Consolas" panose="020B0609020204030204" pitchFamily="49" charset="0"/>
              </a:rPr>
              <a:t>.</a:t>
            </a:r>
            <a:r>
              <a:rPr lang="en-US" sz="1400" dirty="0">
                <a:solidFill>
                  <a:srgbClr val="0000C0"/>
                </a:solidFill>
                <a:latin typeface="Consolas" panose="020B0609020204030204" pitchFamily="49" charset="0"/>
              </a:rPr>
              <a:t>CHSEL</a:t>
            </a:r>
            <a:r>
              <a:rPr lang="en-US" sz="1400" dirty="0">
                <a:solidFill>
                  <a:srgbClr val="000000"/>
                </a:solidFill>
                <a:latin typeface="Consolas" panose="020B0609020204030204" pitchFamily="49" charset="0"/>
              </a:rPr>
              <a:t> = 1;    </a:t>
            </a:r>
            <a:r>
              <a:rPr lang="en-US" sz="1400" dirty="0">
                <a:solidFill>
                  <a:srgbClr val="3F7F5F"/>
                </a:solidFill>
                <a:latin typeface="Consolas" panose="020B0609020204030204" pitchFamily="49" charset="0"/>
              </a:rPr>
              <a:t>//SOC5 will convert ADCINA1</a:t>
            </a:r>
          </a:p>
          <a:p>
            <a:pPr marL="114300" indent="0" algn="l">
              <a:buNone/>
            </a:pPr>
            <a:r>
              <a:rPr lang="en-US" sz="1400" dirty="0">
                <a:solidFill>
                  <a:srgbClr val="000000"/>
                </a:solidFill>
                <a:latin typeface="Consolas" panose="020B0609020204030204" pitchFamily="49" charset="0"/>
              </a:rPr>
              <a:t>AdcaRegs.</a:t>
            </a:r>
            <a:r>
              <a:rPr lang="en-US" sz="1400" dirty="0">
                <a:solidFill>
                  <a:srgbClr val="0000C0"/>
                </a:solidFill>
                <a:latin typeface="Consolas" panose="020B0609020204030204" pitchFamily="49" charset="0"/>
              </a:rPr>
              <a:t>ADCSOC5CTL</a:t>
            </a:r>
            <a:r>
              <a:rPr lang="en-US" sz="1400" dirty="0">
                <a:solidFill>
                  <a:srgbClr val="000000"/>
                </a:solidFill>
                <a:latin typeface="Consolas" panose="020B0609020204030204" pitchFamily="49" charset="0"/>
              </a:rPr>
              <a:t>.</a:t>
            </a:r>
            <a:r>
              <a:rPr lang="en-US" sz="1400" dirty="0">
                <a:solidFill>
                  <a:srgbClr val="0000C0"/>
                </a:solidFill>
                <a:latin typeface="Consolas" panose="020B0609020204030204" pitchFamily="49" charset="0"/>
              </a:rPr>
              <a:t>bit</a:t>
            </a:r>
            <a:r>
              <a:rPr lang="en-US" sz="1400" dirty="0">
                <a:solidFill>
                  <a:srgbClr val="000000"/>
                </a:solidFill>
                <a:latin typeface="Consolas" panose="020B0609020204030204" pitchFamily="49" charset="0"/>
              </a:rPr>
              <a:t>.</a:t>
            </a:r>
            <a:r>
              <a:rPr lang="en-US" sz="1400" dirty="0">
                <a:solidFill>
                  <a:srgbClr val="0000C0"/>
                </a:solidFill>
                <a:latin typeface="Consolas" panose="020B0609020204030204" pitchFamily="49" charset="0"/>
              </a:rPr>
              <a:t>ACQPS</a:t>
            </a:r>
            <a:r>
              <a:rPr lang="en-US" sz="1400" dirty="0">
                <a:solidFill>
                  <a:srgbClr val="000000"/>
                </a:solidFill>
                <a:latin typeface="Consolas" panose="020B0609020204030204" pitchFamily="49" charset="0"/>
              </a:rPr>
              <a:t> = 19;   </a:t>
            </a:r>
            <a:r>
              <a:rPr lang="en-US" sz="1400" dirty="0">
                <a:solidFill>
                  <a:srgbClr val="3F7F5F"/>
                </a:solidFill>
                <a:latin typeface="Consolas" panose="020B0609020204030204" pitchFamily="49" charset="0"/>
              </a:rPr>
              <a:t>//SOC5 will use sample duration of 20 SYSCLK cycles</a:t>
            </a:r>
          </a:p>
          <a:p>
            <a:pPr marL="114300" indent="0" algn="l">
              <a:buNone/>
            </a:pPr>
            <a:r>
              <a:rPr lang="en-US" sz="1400" dirty="0">
                <a:solidFill>
                  <a:srgbClr val="000000"/>
                </a:solidFill>
                <a:latin typeface="Consolas" panose="020B0609020204030204" pitchFamily="49" charset="0"/>
              </a:rPr>
              <a:t>AdcaRegs.</a:t>
            </a:r>
            <a:r>
              <a:rPr lang="en-US" sz="1400" dirty="0">
                <a:solidFill>
                  <a:srgbClr val="0000C0"/>
                </a:solidFill>
                <a:latin typeface="Consolas" panose="020B0609020204030204" pitchFamily="49" charset="0"/>
              </a:rPr>
              <a:t>ADCSOC5CTL</a:t>
            </a:r>
            <a:r>
              <a:rPr lang="en-US" sz="1400" dirty="0">
                <a:solidFill>
                  <a:srgbClr val="000000"/>
                </a:solidFill>
                <a:latin typeface="Consolas" panose="020B0609020204030204" pitchFamily="49" charset="0"/>
              </a:rPr>
              <a:t>.</a:t>
            </a:r>
            <a:r>
              <a:rPr lang="en-US" sz="1400" dirty="0">
                <a:solidFill>
                  <a:srgbClr val="0000C0"/>
                </a:solidFill>
                <a:latin typeface="Consolas" panose="020B0609020204030204" pitchFamily="49" charset="0"/>
              </a:rPr>
              <a:t>bit</a:t>
            </a:r>
            <a:r>
              <a:rPr lang="en-US" sz="1400" dirty="0">
                <a:solidFill>
                  <a:srgbClr val="000000"/>
                </a:solidFill>
                <a:latin typeface="Consolas" panose="020B0609020204030204" pitchFamily="49" charset="0"/>
              </a:rPr>
              <a:t>.</a:t>
            </a:r>
            <a:r>
              <a:rPr lang="en-US" sz="1400" dirty="0">
                <a:solidFill>
                  <a:srgbClr val="0000C0"/>
                </a:solidFill>
                <a:latin typeface="Consolas" panose="020B0609020204030204" pitchFamily="49" charset="0"/>
              </a:rPr>
              <a:t>TRIGSEL</a:t>
            </a:r>
            <a:r>
              <a:rPr lang="en-US" sz="1400" dirty="0">
                <a:solidFill>
                  <a:srgbClr val="000000"/>
                </a:solidFill>
                <a:latin typeface="Consolas" panose="020B0609020204030204" pitchFamily="49" charset="0"/>
              </a:rPr>
              <a:t> = 10; </a:t>
            </a:r>
            <a:r>
              <a:rPr lang="en-US" sz="1400" dirty="0">
                <a:solidFill>
                  <a:srgbClr val="3F7F5F"/>
                </a:solidFill>
                <a:latin typeface="Consolas" panose="020B0609020204030204" pitchFamily="49" charset="0"/>
              </a:rPr>
              <a:t>//SOC5 will begin conversion on ePWM3 SOCB</a:t>
            </a:r>
            <a:endParaRPr lang="en-US" sz="1400" dirty="0">
              <a:latin typeface="+mj-lt"/>
            </a:endParaRPr>
          </a:p>
        </p:txBody>
      </p:sp>
      <p:sp>
        <p:nvSpPr>
          <p:cNvPr id="119" name="Google Shape;119;p29">
            <a:extLst>
              <a:ext uri="{FF2B5EF4-FFF2-40B4-BE49-F238E27FC236}">
                <a16:creationId xmlns:a16="http://schemas.microsoft.com/office/drawing/2014/main" id="{4EABA1FD-D6AE-ABEA-1E2D-94B7C8710DE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5CECF82-D855-6A8D-EBD4-637FA048C1C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ADC – Single Conversion from </a:t>
            </a:r>
            <a:r>
              <a:rPr lang="en-US" sz="2400" b="0" i="0" u="none" strike="noStrike" cap="none" dirty="0" err="1">
                <a:solidFill>
                  <a:schemeClr val="lt1"/>
                </a:solidFill>
                <a:latin typeface="Atkinson Hyperlegible Next"/>
                <a:ea typeface="Arial"/>
                <a:cs typeface="Arial"/>
                <a:sym typeface="Arial"/>
              </a:rPr>
              <a:t>ePWM</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70373B8-9CEB-E8BA-126F-C9667E55CC8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646FBEF-F69E-A3A1-5CDA-66230B315FE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64B92AB-FEF9-097C-EF9E-1FA4926F335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AD96AC1-E742-CA1E-77C6-CCC6441449C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6CC87B2-6161-82BC-E6BB-65FAB9C18A9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6DBA5E2-40C5-538F-B85A-2B6CA09095A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47995316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74BC084-EA3B-405F-CF0B-6A237766F5C7}"/>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CCBD0FE4-E5CB-7604-8E08-42EBBE8D328E}"/>
              </a:ext>
            </a:extLst>
          </p:cNvPr>
          <p:cNvSpPr txBox="1">
            <a:spLocks noGrp="1"/>
          </p:cNvSpPr>
          <p:nvPr>
            <p:ph type="body" idx="1"/>
          </p:nvPr>
        </p:nvSpPr>
        <p:spPr>
          <a:xfrm>
            <a:off x="380108" y="1103487"/>
            <a:ext cx="11177401" cy="5305328"/>
          </a:xfrm>
          <a:prstGeom prst="rect">
            <a:avLst/>
          </a:prstGeom>
          <a:noFill/>
          <a:ln>
            <a:noFill/>
          </a:ln>
        </p:spPr>
        <p:txBody>
          <a:bodyPr spcFirstLastPara="1" wrap="square" lIns="91425" tIns="45700" rIns="91425" bIns="45700" anchor="t" anchorCtr="0">
            <a:noAutofit/>
          </a:bodyPr>
          <a:lstStyle/>
          <a:p>
            <a:pPr marL="114300" indent="0">
              <a:buNone/>
            </a:pPr>
            <a:r>
              <a:rPr lang="en-US" sz="1400" dirty="0">
                <a:solidFill>
                  <a:srgbClr val="000000"/>
                </a:solidFill>
                <a:latin typeface="Consolas" panose="020B0609020204030204" pitchFamily="49" charset="0"/>
              </a:rPr>
              <a:t>EALLOW;                                    </a:t>
            </a:r>
            <a:r>
              <a:rPr lang="en-US" sz="1400" dirty="0">
                <a:solidFill>
                  <a:srgbClr val="3F7F5F"/>
                </a:solidFill>
                <a:latin typeface="Consolas" panose="020B0609020204030204" pitchFamily="49" charset="0"/>
              </a:rPr>
              <a:t>//write configurations for all ADCs ADCB</a:t>
            </a:r>
            <a:endParaRPr lang="en-US" sz="1400" dirty="0">
              <a:solidFill>
                <a:srgbClr val="000000"/>
              </a:solidFill>
              <a:latin typeface="Consolas" panose="020B0609020204030204" pitchFamily="49" charset="0"/>
            </a:endParaRPr>
          </a:p>
          <a:p>
            <a:pPr marL="114300" indent="0" algn="l">
              <a:buNone/>
            </a:pPr>
            <a:r>
              <a:rPr lang="en-US" sz="1400" dirty="0">
                <a:solidFill>
                  <a:srgbClr val="000000"/>
                </a:solidFill>
                <a:latin typeface="Consolas" panose="020B0609020204030204" pitchFamily="49" charset="0"/>
              </a:rPr>
              <a:t>AdcbRegs.</a:t>
            </a:r>
            <a:r>
              <a:rPr lang="en-US" sz="1400" dirty="0">
                <a:solidFill>
                  <a:srgbClr val="0000C0"/>
                </a:solidFill>
                <a:latin typeface="Consolas" panose="020B0609020204030204" pitchFamily="49" charset="0"/>
              </a:rPr>
              <a:t>ADCCTL2</a:t>
            </a:r>
            <a:r>
              <a:rPr lang="en-US" sz="1400" dirty="0">
                <a:solidFill>
                  <a:srgbClr val="000000"/>
                </a:solidFill>
                <a:latin typeface="Consolas" panose="020B0609020204030204" pitchFamily="49" charset="0"/>
              </a:rPr>
              <a:t>.</a:t>
            </a:r>
            <a:r>
              <a:rPr lang="en-US" sz="1400" dirty="0">
                <a:solidFill>
                  <a:srgbClr val="0000C0"/>
                </a:solidFill>
                <a:latin typeface="Consolas" panose="020B0609020204030204" pitchFamily="49" charset="0"/>
              </a:rPr>
              <a:t>bit</a:t>
            </a:r>
            <a:r>
              <a:rPr lang="en-US" sz="1400" dirty="0">
                <a:solidFill>
                  <a:srgbClr val="000000"/>
                </a:solidFill>
                <a:latin typeface="Consolas" panose="020B0609020204030204" pitchFamily="49" charset="0"/>
              </a:rPr>
              <a:t>.</a:t>
            </a:r>
            <a:r>
              <a:rPr lang="en-US" sz="1400" dirty="0">
                <a:solidFill>
                  <a:srgbClr val="0000C0"/>
                </a:solidFill>
                <a:latin typeface="Consolas" panose="020B0609020204030204" pitchFamily="49" charset="0"/>
              </a:rPr>
              <a:t>PRESCALE</a:t>
            </a:r>
            <a:r>
              <a:rPr lang="en-US" sz="1400" dirty="0">
                <a:solidFill>
                  <a:srgbClr val="000000"/>
                </a:solidFill>
                <a:latin typeface="Consolas" panose="020B0609020204030204" pitchFamily="49" charset="0"/>
              </a:rPr>
              <a:t> = 6;         </a:t>
            </a:r>
            <a:r>
              <a:rPr lang="en-US" sz="1400" dirty="0">
                <a:solidFill>
                  <a:srgbClr val="3F7F5F"/>
                </a:solidFill>
                <a:latin typeface="Consolas" panose="020B0609020204030204" pitchFamily="49" charset="0"/>
              </a:rPr>
              <a:t>//set ADCCLK divider to /4</a:t>
            </a:r>
          </a:p>
          <a:p>
            <a:pPr marL="114300" indent="0" algn="l">
              <a:buNone/>
            </a:pPr>
            <a:r>
              <a:rPr lang="en-US" sz="1400" dirty="0" err="1">
                <a:solidFill>
                  <a:srgbClr val="642880"/>
                </a:solidFill>
                <a:latin typeface="Consolas" panose="020B0609020204030204" pitchFamily="49" charset="0"/>
              </a:rPr>
              <a:t>AdcSetMode</a:t>
            </a:r>
            <a:r>
              <a:rPr lang="en-US" sz="1400" dirty="0">
                <a:solidFill>
                  <a:srgbClr val="000000"/>
                </a:solidFill>
                <a:latin typeface="Consolas" panose="020B0609020204030204" pitchFamily="49" charset="0"/>
              </a:rPr>
              <a:t>(ADC_ADCB, </a:t>
            </a:r>
            <a:r>
              <a:rPr lang="en-US" sz="1400" i="1" dirty="0">
                <a:solidFill>
                  <a:srgbClr val="0000C0"/>
                </a:solidFill>
                <a:latin typeface="Consolas" panose="020B0609020204030204" pitchFamily="49" charset="0"/>
              </a:rPr>
              <a:t>ADC_RESOLUTION_12BIT</a:t>
            </a:r>
            <a:r>
              <a:rPr lang="en-US" sz="1400" i="1" dirty="0">
                <a:solidFill>
                  <a:srgbClr val="000000"/>
                </a:solidFill>
                <a:latin typeface="Consolas" panose="020B0609020204030204" pitchFamily="49" charset="0"/>
              </a:rPr>
              <a:t>, ADC_SIGNALMODE_SINGLE); </a:t>
            </a:r>
            <a:r>
              <a:rPr lang="en-US" sz="1400" i="1" dirty="0">
                <a:solidFill>
                  <a:srgbClr val="3F7F5F"/>
                </a:solidFill>
                <a:latin typeface="Consolas" panose="020B0609020204030204" pitchFamily="49" charset="0"/>
              </a:rPr>
              <a:t>//read calibration settings</a:t>
            </a:r>
          </a:p>
          <a:p>
            <a:pPr marL="114300" indent="0" algn="l">
              <a:buNone/>
            </a:pPr>
            <a:r>
              <a:rPr lang="en-US" sz="1400" dirty="0">
                <a:solidFill>
                  <a:srgbClr val="3F7F5F"/>
                </a:solidFill>
                <a:latin typeface="Consolas" panose="020B0609020204030204" pitchFamily="49" charset="0"/>
              </a:rPr>
              <a:t>//Set pulse positions to late</a:t>
            </a:r>
          </a:p>
          <a:p>
            <a:pPr marL="114300" indent="0" algn="l">
              <a:buNone/>
            </a:pPr>
            <a:r>
              <a:rPr lang="en-US" sz="1400" dirty="0">
                <a:solidFill>
                  <a:srgbClr val="000000"/>
                </a:solidFill>
                <a:latin typeface="Consolas" panose="020B0609020204030204" pitchFamily="49" charset="0"/>
              </a:rPr>
              <a:t>AdcbRegs.</a:t>
            </a:r>
            <a:r>
              <a:rPr lang="en-US" sz="1400" dirty="0">
                <a:solidFill>
                  <a:srgbClr val="0000C0"/>
                </a:solidFill>
                <a:latin typeface="Consolas" panose="020B0609020204030204" pitchFamily="49" charset="0"/>
              </a:rPr>
              <a:t>ADCCTL1</a:t>
            </a:r>
            <a:r>
              <a:rPr lang="en-US" sz="1400" dirty="0">
                <a:solidFill>
                  <a:srgbClr val="000000"/>
                </a:solidFill>
                <a:latin typeface="Consolas" panose="020B0609020204030204" pitchFamily="49" charset="0"/>
              </a:rPr>
              <a:t>.</a:t>
            </a:r>
            <a:r>
              <a:rPr lang="en-US" sz="1400" dirty="0">
                <a:solidFill>
                  <a:srgbClr val="0000C0"/>
                </a:solidFill>
                <a:latin typeface="Consolas" panose="020B0609020204030204" pitchFamily="49" charset="0"/>
              </a:rPr>
              <a:t>bit</a:t>
            </a:r>
            <a:r>
              <a:rPr lang="en-US" sz="1400" dirty="0">
                <a:solidFill>
                  <a:srgbClr val="000000"/>
                </a:solidFill>
                <a:latin typeface="Consolas" panose="020B0609020204030204" pitchFamily="49" charset="0"/>
              </a:rPr>
              <a:t>.</a:t>
            </a:r>
            <a:r>
              <a:rPr lang="en-US" sz="1400" dirty="0">
                <a:solidFill>
                  <a:srgbClr val="0000C0"/>
                </a:solidFill>
                <a:latin typeface="Consolas" panose="020B0609020204030204" pitchFamily="49" charset="0"/>
              </a:rPr>
              <a:t>INTPULSEPOS</a:t>
            </a:r>
            <a:r>
              <a:rPr lang="en-US" sz="1400" dirty="0">
                <a:solidFill>
                  <a:srgbClr val="000000"/>
                </a:solidFill>
                <a:latin typeface="Consolas" panose="020B0609020204030204" pitchFamily="49" charset="0"/>
              </a:rPr>
              <a:t> = 1;      </a:t>
            </a:r>
            <a:r>
              <a:rPr lang="en-US" sz="1400" dirty="0">
                <a:solidFill>
                  <a:srgbClr val="3F7F5F"/>
                </a:solidFill>
                <a:latin typeface="Consolas" panose="020B0609020204030204" pitchFamily="49" charset="0"/>
              </a:rPr>
              <a:t>//power up the ADCs</a:t>
            </a:r>
          </a:p>
          <a:p>
            <a:pPr marL="114300" indent="0" algn="l">
              <a:buNone/>
            </a:pPr>
            <a:r>
              <a:rPr lang="en-US" sz="1400" dirty="0">
                <a:solidFill>
                  <a:srgbClr val="000000"/>
                </a:solidFill>
                <a:latin typeface="Consolas" panose="020B0609020204030204" pitchFamily="49" charset="0"/>
              </a:rPr>
              <a:t>AdcbRegs.</a:t>
            </a:r>
            <a:r>
              <a:rPr lang="en-US" sz="1400" dirty="0">
                <a:solidFill>
                  <a:srgbClr val="0000C0"/>
                </a:solidFill>
                <a:latin typeface="Consolas" panose="020B0609020204030204" pitchFamily="49" charset="0"/>
              </a:rPr>
              <a:t>ADCCTL1</a:t>
            </a:r>
            <a:r>
              <a:rPr lang="en-US" sz="1400" dirty="0">
                <a:solidFill>
                  <a:srgbClr val="000000"/>
                </a:solidFill>
                <a:latin typeface="Consolas" panose="020B0609020204030204" pitchFamily="49" charset="0"/>
              </a:rPr>
              <a:t>.</a:t>
            </a:r>
            <a:r>
              <a:rPr lang="en-US" sz="1400" dirty="0">
                <a:solidFill>
                  <a:srgbClr val="0000C0"/>
                </a:solidFill>
                <a:latin typeface="Consolas" panose="020B0609020204030204" pitchFamily="49" charset="0"/>
              </a:rPr>
              <a:t>bit</a:t>
            </a:r>
            <a:r>
              <a:rPr lang="en-US" sz="1400" dirty="0">
                <a:solidFill>
                  <a:srgbClr val="000000"/>
                </a:solidFill>
                <a:latin typeface="Consolas" panose="020B0609020204030204" pitchFamily="49" charset="0"/>
              </a:rPr>
              <a:t>.</a:t>
            </a:r>
            <a:r>
              <a:rPr lang="en-US" sz="1400" dirty="0">
                <a:solidFill>
                  <a:srgbClr val="0000C0"/>
                </a:solidFill>
                <a:latin typeface="Consolas" panose="020B0609020204030204" pitchFamily="49" charset="0"/>
              </a:rPr>
              <a:t>ADCPWDNZ</a:t>
            </a:r>
            <a:r>
              <a:rPr lang="en-US" sz="1400" dirty="0">
                <a:solidFill>
                  <a:srgbClr val="000000"/>
                </a:solidFill>
                <a:latin typeface="Consolas" panose="020B0609020204030204" pitchFamily="49" charset="0"/>
              </a:rPr>
              <a:t> = 1;</a:t>
            </a:r>
            <a:endParaRPr lang="en-US" sz="1400" dirty="0">
              <a:solidFill>
                <a:srgbClr val="3F7F5F"/>
              </a:solidFill>
              <a:latin typeface="Consolas" panose="020B0609020204030204" pitchFamily="49" charset="0"/>
            </a:endParaRPr>
          </a:p>
          <a:p>
            <a:pPr marL="114300" indent="0">
              <a:buNone/>
            </a:pPr>
            <a:r>
              <a:rPr lang="en-US" sz="1400" dirty="0">
                <a:solidFill>
                  <a:srgbClr val="000000"/>
                </a:solidFill>
                <a:latin typeface="Consolas" panose="020B0609020204030204" pitchFamily="49" charset="0"/>
              </a:rPr>
              <a:t>DELAY_US(1000);                            </a:t>
            </a:r>
            <a:r>
              <a:rPr lang="en-US" sz="1400" dirty="0">
                <a:solidFill>
                  <a:srgbClr val="3F7F5F"/>
                </a:solidFill>
                <a:latin typeface="Consolas" panose="020B0609020204030204" pitchFamily="49" charset="0"/>
              </a:rPr>
              <a:t>//delay for 1ms to allow ADC time to power up</a:t>
            </a:r>
            <a:endParaRPr lang="en-US" sz="1400" dirty="0">
              <a:solidFill>
                <a:srgbClr val="000000"/>
              </a:solidFill>
              <a:latin typeface="Consolas" panose="020B0609020204030204" pitchFamily="49" charset="0"/>
            </a:endParaRPr>
          </a:p>
          <a:p>
            <a:pPr marL="114300" indent="0">
              <a:buNone/>
            </a:pPr>
            <a:endParaRPr lang="en-US" sz="1400" dirty="0">
              <a:solidFill>
                <a:srgbClr val="3F7F5F"/>
              </a:solidFill>
              <a:latin typeface="Consolas" panose="020B0609020204030204" pitchFamily="49" charset="0"/>
            </a:endParaRPr>
          </a:p>
          <a:p>
            <a:pPr marL="114300" indent="0" algn="l">
              <a:buNone/>
            </a:pPr>
            <a:r>
              <a:rPr lang="en-US" sz="1400" dirty="0">
                <a:solidFill>
                  <a:srgbClr val="000000"/>
                </a:solidFill>
                <a:latin typeface="Consolas" panose="020B0609020204030204" pitchFamily="49" charset="0"/>
              </a:rPr>
              <a:t>AdcbRegs.</a:t>
            </a:r>
            <a:r>
              <a:rPr lang="en-US" sz="1400" dirty="0">
                <a:solidFill>
                  <a:srgbClr val="0000C0"/>
                </a:solidFill>
                <a:latin typeface="Consolas" panose="020B0609020204030204" pitchFamily="49" charset="0"/>
              </a:rPr>
              <a:t>ADCSOC0CTL</a:t>
            </a:r>
            <a:r>
              <a:rPr lang="en-US" sz="1400" dirty="0">
                <a:solidFill>
                  <a:srgbClr val="000000"/>
                </a:solidFill>
                <a:latin typeface="Consolas" panose="020B0609020204030204" pitchFamily="49" charset="0"/>
              </a:rPr>
              <a:t>.</a:t>
            </a:r>
            <a:r>
              <a:rPr lang="en-US" sz="1400" dirty="0">
                <a:solidFill>
                  <a:srgbClr val="0000C0"/>
                </a:solidFill>
                <a:latin typeface="Consolas" panose="020B0609020204030204" pitchFamily="49" charset="0"/>
              </a:rPr>
              <a:t>bit</a:t>
            </a:r>
            <a:r>
              <a:rPr lang="en-US" sz="1400" dirty="0">
                <a:solidFill>
                  <a:srgbClr val="000000"/>
                </a:solidFill>
                <a:latin typeface="Consolas" panose="020B0609020204030204" pitchFamily="49" charset="0"/>
              </a:rPr>
              <a:t>.</a:t>
            </a:r>
            <a:r>
              <a:rPr lang="en-US" sz="1400" dirty="0">
                <a:solidFill>
                  <a:srgbClr val="0000C0"/>
                </a:solidFill>
                <a:latin typeface="Consolas" panose="020B0609020204030204" pitchFamily="49" charset="0"/>
              </a:rPr>
              <a:t>CHSEL</a:t>
            </a:r>
            <a:r>
              <a:rPr lang="en-US" sz="1400" dirty="0">
                <a:solidFill>
                  <a:srgbClr val="000000"/>
                </a:solidFill>
                <a:latin typeface="Consolas" panose="020B0609020204030204" pitchFamily="49" charset="0"/>
              </a:rPr>
              <a:t> = 4;         </a:t>
            </a:r>
            <a:r>
              <a:rPr lang="en-US" sz="1400" dirty="0">
                <a:solidFill>
                  <a:srgbClr val="3F7F5F"/>
                </a:solidFill>
                <a:latin typeface="Consolas" panose="020B0609020204030204" pitchFamily="49" charset="0"/>
              </a:rPr>
              <a:t>//SOC0 will convert Channel you choose Does not have to be B0</a:t>
            </a:r>
          </a:p>
          <a:p>
            <a:pPr marL="114300" indent="0" algn="l">
              <a:buNone/>
            </a:pPr>
            <a:r>
              <a:rPr lang="en-US" sz="1400" dirty="0">
                <a:solidFill>
                  <a:srgbClr val="000000"/>
                </a:solidFill>
                <a:latin typeface="Consolas" panose="020B0609020204030204" pitchFamily="49" charset="0"/>
              </a:rPr>
              <a:t>AdcbRegs.</a:t>
            </a:r>
            <a:r>
              <a:rPr lang="en-US" sz="1400" dirty="0">
                <a:solidFill>
                  <a:srgbClr val="0000C0"/>
                </a:solidFill>
                <a:latin typeface="Consolas" panose="020B0609020204030204" pitchFamily="49" charset="0"/>
              </a:rPr>
              <a:t>ADCSOC0CTL</a:t>
            </a:r>
            <a:r>
              <a:rPr lang="en-US" sz="1400" dirty="0">
                <a:solidFill>
                  <a:srgbClr val="000000"/>
                </a:solidFill>
                <a:latin typeface="Consolas" panose="020B0609020204030204" pitchFamily="49" charset="0"/>
              </a:rPr>
              <a:t>.</a:t>
            </a:r>
            <a:r>
              <a:rPr lang="en-US" sz="1400" dirty="0">
                <a:solidFill>
                  <a:srgbClr val="0000C0"/>
                </a:solidFill>
                <a:latin typeface="Consolas" panose="020B0609020204030204" pitchFamily="49" charset="0"/>
              </a:rPr>
              <a:t>bit</a:t>
            </a:r>
            <a:r>
              <a:rPr lang="en-US" sz="1400" dirty="0">
                <a:solidFill>
                  <a:srgbClr val="000000"/>
                </a:solidFill>
                <a:latin typeface="Consolas" panose="020B0609020204030204" pitchFamily="49" charset="0"/>
              </a:rPr>
              <a:t>.</a:t>
            </a:r>
            <a:r>
              <a:rPr lang="en-US" sz="1400" dirty="0">
                <a:solidFill>
                  <a:srgbClr val="0000C0"/>
                </a:solidFill>
                <a:latin typeface="Consolas" panose="020B0609020204030204" pitchFamily="49" charset="0"/>
              </a:rPr>
              <a:t>ACQPS</a:t>
            </a:r>
            <a:r>
              <a:rPr lang="en-US" sz="1400" dirty="0">
                <a:solidFill>
                  <a:srgbClr val="000000"/>
                </a:solidFill>
                <a:latin typeface="Consolas" panose="020B0609020204030204" pitchFamily="49" charset="0"/>
              </a:rPr>
              <a:t> = 99;        </a:t>
            </a:r>
            <a:r>
              <a:rPr lang="en-US" sz="1400" dirty="0">
                <a:solidFill>
                  <a:srgbClr val="3F7F5F"/>
                </a:solidFill>
                <a:latin typeface="Consolas" panose="020B0609020204030204" pitchFamily="49" charset="0"/>
              </a:rPr>
              <a:t>//sample window is </a:t>
            </a:r>
            <a:r>
              <a:rPr lang="en-US" sz="1400" dirty="0" err="1">
                <a:solidFill>
                  <a:srgbClr val="3F7F5F"/>
                </a:solidFill>
                <a:latin typeface="Consolas" panose="020B0609020204030204" pitchFamily="49" charset="0"/>
              </a:rPr>
              <a:t>acqps</a:t>
            </a:r>
            <a:r>
              <a:rPr lang="en-US" sz="1400" dirty="0">
                <a:solidFill>
                  <a:srgbClr val="3F7F5F"/>
                </a:solidFill>
                <a:latin typeface="Consolas" panose="020B0609020204030204" pitchFamily="49" charset="0"/>
              </a:rPr>
              <a:t> + 1 SYSCLK cycles = 500ns</a:t>
            </a:r>
          </a:p>
          <a:p>
            <a:pPr marL="114300" indent="0" algn="l">
              <a:buNone/>
            </a:pPr>
            <a:r>
              <a:rPr lang="en-US" sz="1400" dirty="0">
                <a:solidFill>
                  <a:srgbClr val="000000"/>
                </a:solidFill>
                <a:latin typeface="Consolas" panose="020B0609020204030204" pitchFamily="49" charset="0"/>
              </a:rPr>
              <a:t>AdcbRegs.</a:t>
            </a:r>
            <a:r>
              <a:rPr lang="en-US" sz="1400" dirty="0">
                <a:solidFill>
                  <a:srgbClr val="0000C0"/>
                </a:solidFill>
                <a:latin typeface="Consolas" panose="020B0609020204030204" pitchFamily="49" charset="0"/>
              </a:rPr>
              <a:t>ADCSOC0CTL</a:t>
            </a:r>
            <a:r>
              <a:rPr lang="en-US" sz="1400" dirty="0">
                <a:solidFill>
                  <a:srgbClr val="000000"/>
                </a:solidFill>
                <a:latin typeface="Consolas" panose="020B0609020204030204" pitchFamily="49" charset="0"/>
              </a:rPr>
              <a:t>.</a:t>
            </a:r>
            <a:r>
              <a:rPr lang="en-US" sz="1400" dirty="0">
                <a:solidFill>
                  <a:srgbClr val="0000C0"/>
                </a:solidFill>
                <a:latin typeface="Consolas" panose="020B0609020204030204" pitchFamily="49" charset="0"/>
              </a:rPr>
              <a:t>bit</a:t>
            </a:r>
            <a:r>
              <a:rPr lang="en-US" sz="1400" dirty="0">
                <a:solidFill>
                  <a:srgbClr val="000000"/>
                </a:solidFill>
                <a:latin typeface="Consolas" panose="020B0609020204030204" pitchFamily="49" charset="0"/>
              </a:rPr>
              <a:t>.</a:t>
            </a:r>
            <a:r>
              <a:rPr lang="en-US" sz="1400" dirty="0">
                <a:solidFill>
                  <a:srgbClr val="0000C0"/>
                </a:solidFill>
                <a:latin typeface="Consolas" panose="020B0609020204030204" pitchFamily="49" charset="0"/>
              </a:rPr>
              <a:t>TRIGSEL</a:t>
            </a:r>
            <a:r>
              <a:rPr lang="en-US" sz="1400" dirty="0">
                <a:solidFill>
                  <a:srgbClr val="000000"/>
                </a:solidFill>
                <a:latin typeface="Consolas" panose="020B0609020204030204" pitchFamily="49" charset="0"/>
              </a:rPr>
              <a:t> = 0x11;    </a:t>
            </a:r>
            <a:r>
              <a:rPr lang="en-US" sz="1400" dirty="0">
                <a:solidFill>
                  <a:srgbClr val="3F7F5F"/>
                </a:solidFill>
                <a:latin typeface="Consolas" panose="020B0609020204030204" pitchFamily="49" charset="0"/>
              </a:rPr>
              <a:t>// EPWM7 ADCSOCA or another trigger you choose will trigger SOC0</a:t>
            </a:r>
          </a:p>
          <a:p>
            <a:pPr marL="114300" indent="0" algn="l">
              <a:buNone/>
            </a:pPr>
            <a:r>
              <a:rPr lang="en-US" sz="1400" dirty="0">
                <a:solidFill>
                  <a:srgbClr val="000000"/>
                </a:solidFill>
                <a:latin typeface="Consolas" panose="020B0609020204030204" pitchFamily="49" charset="0"/>
              </a:rPr>
              <a:t>AdcbRegs.</a:t>
            </a:r>
            <a:r>
              <a:rPr lang="en-US" sz="1400" dirty="0">
                <a:solidFill>
                  <a:srgbClr val="0000C0"/>
                </a:solidFill>
                <a:latin typeface="Consolas" panose="020B0609020204030204" pitchFamily="49" charset="0"/>
              </a:rPr>
              <a:t>ADCINTSEL1N2</a:t>
            </a:r>
            <a:r>
              <a:rPr lang="en-US" sz="1400" dirty="0">
                <a:solidFill>
                  <a:srgbClr val="000000"/>
                </a:solidFill>
                <a:latin typeface="Consolas" panose="020B0609020204030204" pitchFamily="49" charset="0"/>
              </a:rPr>
              <a:t>.</a:t>
            </a:r>
            <a:r>
              <a:rPr lang="en-US" sz="1400" dirty="0">
                <a:solidFill>
                  <a:srgbClr val="0000C0"/>
                </a:solidFill>
                <a:latin typeface="Consolas" panose="020B0609020204030204" pitchFamily="49" charset="0"/>
              </a:rPr>
              <a:t>bit</a:t>
            </a:r>
            <a:r>
              <a:rPr lang="en-US" sz="1400" dirty="0">
                <a:solidFill>
                  <a:srgbClr val="000000"/>
                </a:solidFill>
                <a:latin typeface="Consolas" panose="020B0609020204030204" pitchFamily="49" charset="0"/>
              </a:rPr>
              <a:t>.</a:t>
            </a:r>
            <a:r>
              <a:rPr lang="en-US" sz="1400" dirty="0">
                <a:solidFill>
                  <a:srgbClr val="0000C0"/>
                </a:solidFill>
                <a:latin typeface="Consolas" panose="020B0609020204030204" pitchFamily="49" charset="0"/>
              </a:rPr>
              <a:t>INT1SEL</a:t>
            </a:r>
            <a:r>
              <a:rPr lang="en-US" sz="1400" dirty="0">
                <a:solidFill>
                  <a:srgbClr val="000000"/>
                </a:solidFill>
                <a:latin typeface="Consolas" panose="020B0609020204030204" pitchFamily="49" charset="0"/>
              </a:rPr>
              <a:t> = 0;     </a:t>
            </a:r>
            <a:r>
              <a:rPr lang="en-US" sz="1400" dirty="0">
                <a:solidFill>
                  <a:srgbClr val="3F7F5F"/>
                </a:solidFill>
                <a:latin typeface="Consolas" panose="020B0609020204030204" pitchFamily="49" charset="0"/>
              </a:rPr>
              <a:t>//set to last SOC that is converted and it will set INT1 flag ADCB1</a:t>
            </a:r>
          </a:p>
          <a:p>
            <a:pPr marL="114300" indent="0" algn="l">
              <a:buNone/>
            </a:pPr>
            <a:r>
              <a:rPr lang="en-US" sz="1400" dirty="0">
                <a:solidFill>
                  <a:srgbClr val="000000"/>
                </a:solidFill>
                <a:latin typeface="Consolas" panose="020B0609020204030204" pitchFamily="49" charset="0"/>
              </a:rPr>
              <a:t>AdcbRegs.</a:t>
            </a:r>
            <a:r>
              <a:rPr lang="en-US" sz="1400" dirty="0">
                <a:solidFill>
                  <a:srgbClr val="0000C0"/>
                </a:solidFill>
                <a:latin typeface="Consolas" panose="020B0609020204030204" pitchFamily="49" charset="0"/>
              </a:rPr>
              <a:t>ADCINTSEL1N2</a:t>
            </a:r>
            <a:r>
              <a:rPr lang="en-US" sz="1400" dirty="0">
                <a:solidFill>
                  <a:srgbClr val="000000"/>
                </a:solidFill>
                <a:latin typeface="Consolas" panose="020B0609020204030204" pitchFamily="49" charset="0"/>
              </a:rPr>
              <a:t>.</a:t>
            </a:r>
            <a:r>
              <a:rPr lang="en-US" sz="1400" dirty="0">
                <a:solidFill>
                  <a:srgbClr val="0000C0"/>
                </a:solidFill>
                <a:latin typeface="Consolas" panose="020B0609020204030204" pitchFamily="49" charset="0"/>
              </a:rPr>
              <a:t>bit</a:t>
            </a:r>
            <a:r>
              <a:rPr lang="en-US" sz="1400" dirty="0">
                <a:solidFill>
                  <a:srgbClr val="000000"/>
                </a:solidFill>
                <a:latin typeface="Consolas" panose="020B0609020204030204" pitchFamily="49" charset="0"/>
              </a:rPr>
              <a:t>.</a:t>
            </a:r>
            <a:r>
              <a:rPr lang="en-US" sz="1400" dirty="0">
                <a:solidFill>
                  <a:srgbClr val="0000C0"/>
                </a:solidFill>
                <a:latin typeface="Consolas" panose="020B0609020204030204" pitchFamily="49" charset="0"/>
              </a:rPr>
              <a:t>INT1E</a:t>
            </a:r>
            <a:r>
              <a:rPr lang="en-US" sz="1400" dirty="0">
                <a:solidFill>
                  <a:srgbClr val="000000"/>
                </a:solidFill>
                <a:latin typeface="Consolas" panose="020B0609020204030204" pitchFamily="49" charset="0"/>
              </a:rPr>
              <a:t> = 1;       </a:t>
            </a:r>
            <a:r>
              <a:rPr lang="en-US" sz="1400" dirty="0">
                <a:solidFill>
                  <a:srgbClr val="3F7F5F"/>
                </a:solidFill>
                <a:latin typeface="Consolas" panose="020B0609020204030204" pitchFamily="49" charset="0"/>
              </a:rPr>
              <a:t>//enable INT1 flag, originally = 1 (need to set to 1 for non-DMA)</a:t>
            </a:r>
          </a:p>
          <a:p>
            <a:pPr marL="114300" indent="0" algn="l">
              <a:buNone/>
            </a:pPr>
            <a:r>
              <a:rPr lang="en-US" sz="1400" dirty="0">
                <a:solidFill>
                  <a:srgbClr val="000000"/>
                </a:solidFill>
                <a:latin typeface="Consolas" panose="020B0609020204030204" pitchFamily="49" charset="0"/>
              </a:rPr>
              <a:t>AdcbRegs.</a:t>
            </a:r>
            <a:r>
              <a:rPr lang="en-US" sz="1400" dirty="0">
                <a:solidFill>
                  <a:srgbClr val="0000C0"/>
                </a:solidFill>
                <a:latin typeface="Consolas" panose="020B0609020204030204" pitchFamily="49" charset="0"/>
              </a:rPr>
              <a:t>ADCINTFLGCLR</a:t>
            </a:r>
            <a:r>
              <a:rPr lang="en-US" sz="1400" dirty="0">
                <a:solidFill>
                  <a:srgbClr val="000000"/>
                </a:solidFill>
                <a:latin typeface="Consolas" panose="020B0609020204030204" pitchFamily="49" charset="0"/>
              </a:rPr>
              <a:t>.</a:t>
            </a:r>
            <a:r>
              <a:rPr lang="en-US" sz="1400" dirty="0">
                <a:solidFill>
                  <a:srgbClr val="0000C0"/>
                </a:solidFill>
                <a:latin typeface="Consolas" panose="020B0609020204030204" pitchFamily="49" charset="0"/>
              </a:rPr>
              <a:t>bit</a:t>
            </a:r>
            <a:r>
              <a:rPr lang="en-US" sz="1400" dirty="0">
                <a:solidFill>
                  <a:srgbClr val="000000"/>
                </a:solidFill>
                <a:latin typeface="Consolas" panose="020B0609020204030204" pitchFamily="49" charset="0"/>
              </a:rPr>
              <a:t>.</a:t>
            </a:r>
            <a:r>
              <a:rPr lang="en-US" sz="1400" dirty="0">
                <a:solidFill>
                  <a:srgbClr val="0000C0"/>
                </a:solidFill>
                <a:latin typeface="Consolas" panose="020B0609020204030204" pitchFamily="49" charset="0"/>
              </a:rPr>
              <a:t>ADCINT1</a:t>
            </a:r>
            <a:r>
              <a:rPr lang="en-US" sz="1400" dirty="0">
                <a:solidFill>
                  <a:srgbClr val="000000"/>
                </a:solidFill>
                <a:latin typeface="Consolas" panose="020B0609020204030204" pitchFamily="49" charset="0"/>
              </a:rPr>
              <a:t> = 1;     </a:t>
            </a:r>
            <a:r>
              <a:rPr lang="en-US" sz="1400" dirty="0">
                <a:solidFill>
                  <a:srgbClr val="3F7F5F"/>
                </a:solidFill>
                <a:latin typeface="Consolas" panose="020B0609020204030204" pitchFamily="49" charset="0"/>
              </a:rPr>
              <a:t>//make sure INT1 flag is cleared</a:t>
            </a:r>
          </a:p>
          <a:p>
            <a:pPr marL="114300" indent="0" algn="l">
              <a:buNone/>
            </a:pPr>
            <a:r>
              <a:rPr lang="en-US" sz="1400" dirty="0">
                <a:solidFill>
                  <a:srgbClr val="000000"/>
                </a:solidFill>
                <a:latin typeface="Consolas" panose="020B0609020204030204" pitchFamily="49" charset="0"/>
              </a:rPr>
              <a:t>AdcbRegs.</a:t>
            </a:r>
            <a:r>
              <a:rPr lang="en-US" sz="1400" dirty="0">
                <a:solidFill>
                  <a:srgbClr val="0000C0"/>
                </a:solidFill>
                <a:latin typeface="Consolas" panose="020B0609020204030204" pitchFamily="49" charset="0"/>
              </a:rPr>
              <a:t>ADCINTSEL1N2</a:t>
            </a:r>
            <a:r>
              <a:rPr lang="en-US" sz="1400" dirty="0">
                <a:solidFill>
                  <a:srgbClr val="000000"/>
                </a:solidFill>
                <a:latin typeface="Consolas" panose="020B0609020204030204" pitchFamily="49" charset="0"/>
              </a:rPr>
              <a:t>.</a:t>
            </a:r>
            <a:r>
              <a:rPr lang="en-US" sz="1400" dirty="0">
                <a:solidFill>
                  <a:srgbClr val="0000C0"/>
                </a:solidFill>
                <a:latin typeface="Consolas" panose="020B0609020204030204" pitchFamily="49" charset="0"/>
              </a:rPr>
              <a:t>bit</a:t>
            </a:r>
            <a:r>
              <a:rPr lang="en-US" sz="1400" dirty="0">
                <a:solidFill>
                  <a:srgbClr val="000000"/>
                </a:solidFill>
                <a:latin typeface="Consolas" panose="020B0609020204030204" pitchFamily="49" charset="0"/>
              </a:rPr>
              <a:t>.</a:t>
            </a:r>
            <a:r>
              <a:rPr lang="en-US" sz="1400" dirty="0">
                <a:solidFill>
                  <a:srgbClr val="0000C0"/>
                </a:solidFill>
                <a:latin typeface="Consolas" panose="020B0609020204030204" pitchFamily="49" charset="0"/>
              </a:rPr>
              <a:t>INT1CONT</a:t>
            </a:r>
            <a:r>
              <a:rPr lang="en-US" sz="1400" dirty="0">
                <a:solidFill>
                  <a:srgbClr val="000000"/>
                </a:solidFill>
                <a:latin typeface="Consolas" panose="020B0609020204030204" pitchFamily="49" charset="0"/>
              </a:rPr>
              <a:t> = 1;    </a:t>
            </a:r>
            <a:r>
              <a:rPr lang="en-US" sz="1400" dirty="0">
                <a:solidFill>
                  <a:srgbClr val="3F7F5F"/>
                </a:solidFill>
                <a:latin typeface="Consolas" panose="020B0609020204030204" pitchFamily="49" charset="0"/>
              </a:rPr>
              <a:t>// Interrupt pulses regardless of flag state</a:t>
            </a:r>
          </a:p>
          <a:p>
            <a:pPr marL="114300" indent="0" algn="l">
              <a:buNone/>
            </a:pPr>
            <a:r>
              <a:rPr lang="en-US" sz="1400" dirty="0">
                <a:solidFill>
                  <a:srgbClr val="000000"/>
                </a:solidFill>
                <a:latin typeface="Consolas" panose="020B0609020204030204" pitchFamily="49" charset="0"/>
              </a:rPr>
              <a:t>EDIS;</a:t>
            </a:r>
            <a:endParaRPr lang="en-US" sz="1400" dirty="0">
              <a:latin typeface="+mj-lt"/>
            </a:endParaRPr>
          </a:p>
        </p:txBody>
      </p:sp>
      <p:sp>
        <p:nvSpPr>
          <p:cNvPr id="119" name="Google Shape;119;p29">
            <a:extLst>
              <a:ext uri="{FF2B5EF4-FFF2-40B4-BE49-F238E27FC236}">
                <a16:creationId xmlns:a16="http://schemas.microsoft.com/office/drawing/2014/main" id="{E40917B3-DC40-97B8-022C-DE895B0BE6A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43E713D-BD7E-485D-D76C-2E07F8B9996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ADC – FFT Code (much more complicated example)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02748D5-BFA1-A7D4-7678-E8903B68D1B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751D587-303D-3503-F384-28DC87F1334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9F51B78-5055-4923-C0F3-E2A7D564BB2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F0BA4DC-14CA-1194-7A7C-9531E7166B7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765D45E-63A2-964C-3AB5-B1995639208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B7431A2-21CA-D59F-1F7C-2F221CB12B2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6779332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a:extLst>
            <a:ext uri="{FF2B5EF4-FFF2-40B4-BE49-F238E27FC236}">
              <a16:creationId xmlns:a16="http://schemas.microsoft.com/office/drawing/2014/main" id="{FA145421-BB40-88A0-CFFD-DC4D9CAC5BB5}"/>
            </a:ext>
          </a:extLst>
        </p:cNvPr>
        <p:cNvGrpSpPr/>
        <p:nvPr/>
      </p:nvGrpSpPr>
      <p:grpSpPr>
        <a:xfrm>
          <a:off x="0" y="0"/>
          <a:ext cx="0" cy="0"/>
          <a:chOff x="0" y="0"/>
          <a:chExt cx="0" cy="0"/>
        </a:xfrm>
      </p:grpSpPr>
      <p:sp>
        <p:nvSpPr>
          <p:cNvPr id="264" name="Google Shape;264;p37">
            <a:extLst>
              <a:ext uri="{FF2B5EF4-FFF2-40B4-BE49-F238E27FC236}">
                <a16:creationId xmlns:a16="http://schemas.microsoft.com/office/drawing/2014/main" id="{B5B2745B-F5C6-8FBF-1FAE-FE621EFA88F0}"/>
              </a:ext>
            </a:extLst>
          </p:cNvPr>
          <p:cNvSpPr/>
          <p:nvPr>
            <p:ph type="title"/>
          </p:nvPr>
        </p:nvSpPr>
        <p:spPr>
          <a:xfrm>
            <a:off x="2275515" y="2823928"/>
            <a:ext cx="7640969" cy="1210143"/>
          </a:xfrm>
          <a:prstGeom prst="rect">
            <a:avLst/>
          </a:prstGeom>
          <a:noFill/>
          <a:ln>
            <a:noFill/>
          </a:ln>
        </p:spPr>
        <p:txBody>
          <a:bodyPr spcFirstLastPara="1" wrap="square" lIns="91425" tIns="45700" rIns="91425" bIns="45700" anchor="t" anchorCtr="0">
            <a:noAutofit/>
          </a:bodyPr>
          <a:lstStyle/>
          <a:p>
            <a:pPr lvl="0" algn="ctr">
              <a:lnSpc>
                <a:spcPct val="100000"/>
              </a:lnSpc>
              <a:spcBef>
                <a:spcPts val="0"/>
              </a:spcBef>
              <a:spcAft>
                <a:spcPts val="0"/>
              </a:spcAft>
            </a:pPr>
            <a:r>
              <a:rPr i="0" lang="en-US" sz="6600" b="1" dirty="0">
                <a:solidFill>
                  <a:schemeClr val="lt1"/>
                </a:solidFill>
              </a:rPr>
              <a:t>Questions</a:t>
            </a:r>
            <a:r>
              <a:rPr i="0" lang="en-US" sz="5400" b="1" dirty="0">
                <a:solidFill>
                  <a:schemeClr val="lt1"/>
                </a:solidFill>
              </a:rPr>
              <a:t>?</a:t>
            </a:r>
          </a:p>
        </p:txBody>
      </p:sp>
      <p:pic>
        <p:nvPicPr>
          <p:cNvPr id="265" name="Google Shape;265;p37">
            <a:extLst>
              <a:ext uri="{C183D7F6-B498-43B3-948B-1728B52AA6E4}">
                <adec:decorative xmlns:adec="http://schemas.microsoft.com/office/drawing/2017/decorative" val="1"/>
              </a:ext>
              <a:ext uri="{FF2B5EF4-FFF2-40B4-BE49-F238E27FC236}">
                <a16:creationId xmlns:a16="http://schemas.microsoft.com/office/drawing/2014/main" id="{EDC8C897-5AB2-076F-5135-9B30ACCBD2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a:extLst>
              <a:ext uri="{FF2B5EF4-FFF2-40B4-BE49-F238E27FC236}">
                <a16:creationId xmlns:a16="http://schemas.microsoft.com/office/drawing/2014/main" id="{CF8648FC-7240-4BBB-9E09-C030BD1A805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267" name="Google Shape;267;p37">
            <a:extLst>
              <a:ext uri="{FF2B5EF4-FFF2-40B4-BE49-F238E27FC236}">
                <a16:creationId xmlns:a16="http://schemas.microsoft.com/office/drawing/2014/main" id="{6A5B7064-0FC6-E501-D020-2C92B5A6057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a:extLst>
              <a:ext uri="{FF2B5EF4-FFF2-40B4-BE49-F238E27FC236}">
                <a16:creationId xmlns:a16="http://schemas.microsoft.com/office/drawing/2014/main" id="{69F24B96-E9CD-EB54-C22A-3DD90799A7A7}"/>
              </a:ext>
            </a:extLst>
          </p:cNvPr>
          <p:cNvGrpSpPr/>
          <p:nvPr/>
        </p:nvGrpSpPr>
        <p:grpSpPr>
          <a:xfrm>
            <a:off x="4066674" y="6601537"/>
            <a:ext cx="5233412" cy="70446"/>
            <a:chOff x="4033424" y="6601537"/>
            <a:chExt cx="5233412" cy="70446"/>
          </a:xfrm>
        </p:grpSpPr>
        <p:cxnSp>
          <p:nvCxnSpPr>
            <p:cNvPr id="269" name="Google Shape;269;p37">
              <a:extLst>
                <a:ext uri="{FF2B5EF4-FFF2-40B4-BE49-F238E27FC236}">
                  <a16:creationId xmlns:a16="http://schemas.microsoft.com/office/drawing/2014/main" id="{BDF89024-C4A2-8F3A-DA57-A772C1368044}"/>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a:extLst>
                <a:ext uri="{FF2B5EF4-FFF2-40B4-BE49-F238E27FC236}">
                  <a16:creationId xmlns:a16="http://schemas.microsoft.com/office/drawing/2014/main" id="{B3758997-614E-F4D9-9F4D-D716DCC856B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231598978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74"/>
        <p:cNvGrpSpPr/>
        <p:nvPr/>
      </p:nvGrpSpPr>
      <p:grpSpPr>
        <a:xfrm>
          <a:off x="0" y="0"/>
          <a:ext cx="0" cy="0"/>
          <a:chOff x="0" y="0"/>
          <a:chExt cx="0" cy="0"/>
        </a:xfrm>
      </p:grpSpPr>
      <p:sp>
        <p:nvSpPr>
          <p:cNvPr id="276" name="Title 276"/>
          <p:cNvSpPr>
            <a:spLocks noGrp="1"/>
          </p:cNvSpPr>
          <p:nvPr>
            <p:ph type="title"/>
          </p:nvPr>
        </p:nvSpPr>
        <p:spPr>
          <a:xfrm>
            <a:off x="0" y="-914400"/>
            <a:ext cx="12192000" cy="685800"/>
          </a:xfrm>
        </p:spPr>
        <p:txBody>
          <a:bodyPr/>
          <a:lstStyle/>
          <a:p>
            <a:r>
              <a:rPr lang="en-US" dirty="0"/>
              <a:t>End of Lecture 5</a:t>
            </a:r>
          </a:p>
        </p:txBody>
      </p:sp>
      <p:pic>
        <p:nvPicPr>
          <p:cNvPr id="275" name="Google Shape;275;p38">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2259350" y="2791508"/>
            <a:ext cx="5414193" cy="1274984"/>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532</TotalTime>
  <Words>1987</Words>
  <Application>Microsoft Office PowerPoint</Application>
  <PresentationFormat>Widescreen</PresentationFormat>
  <Paragraphs>277</Paragraphs>
  <Slides>30</Slides>
  <Notes>30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30</vt:i4>
      </vt:variant>
    </vt:vector>
  </HeadingPairs>
  <TitlesOfParts>
    <vt:vector size="35" baseType="lpstr">
      <vt:lpstr>Arial</vt:lpstr>
      <vt:lpstr>Calibri</vt:lpstr>
      <vt:lpstr>Cambria Math</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Nielsen, Joshua</dc:creator>
  <cp:lastModifiedBy>Juston, Marius F</cp:lastModifiedBy>
  <cp:revision>116</cp:revision>
  <dcterms:created xsi:type="dcterms:W3CDTF">2019-01-14T22:06:33Z</dcterms:created>
  <dcterms:modified xsi:type="dcterms:W3CDTF">2026-02-08T03:10:42Z</dcterms:modified>
</cp:coreProperties>
</file>