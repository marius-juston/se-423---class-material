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417" r:id="rId3"/>
    <p:sldId id="413" r:id="rId4"/>
    <p:sldId id="272" r:id="rId5"/>
    <p:sldId id="258" r:id="rId6"/>
    <p:sldId id="418" r:id="rId7"/>
    <p:sldId id="420" r:id="rId8"/>
    <p:sldId id="421" r:id="rId9"/>
    <p:sldId id="419" r:id="rId10"/>
    <p:sldId id="422" r:id="rId11"/>
    <p:sldId id="423" r:id="rId12"/>
    <p:sldId id="424" r:id="rId13"/>
    <p:sldId id="426" r:id="rId14"/>
    <p:sldId id="427" r:id="rId15"/>
    <p:sldId id="428" r:id="rId16"/>
    <p:sldId id="429" r:id="rId17"/>
    <p:sldId id="430" r:id="rId18"/>
    <p:sldId id="433" r:id="rId19"/>
    <p:sldId id="431" r:id="rId20"/>
    <p:sldId id="432" r:id="rId21"/>
    <p:sldId id="437" r:id="rId22"/>
    <p:sldId id="434" r:id="rId23"/>
    <p:sldId id="438" r:id="rId24"/>
    <p:sldId id="436" r:id="rId25"/>
    <p:sldId id="435" r:id="rId26"/>
    <p:sldId id="439" r:id="rId27"/>
    <p:sldId id="441" r:id="rId28"/>
    <p:sldId id="440" r:id="rId29"/>
    <p:sldId id="442" r:id="rId30"/>
    <p:sldId id="443" r:id="rId31"/>
    <p:sldId id="444" r:id="rId32"/>
    <p:sldId id="446" r:id="rId33"/>
    <p:sldId id="445" r:id="rId34"/>
    <p:sldId id="259" r:id="rId35"/>
    <p:sldId id="260" r:id="rId36"/>
    <p:sldId id="261" r:id="rId37"/>
    <p:sldId id="262" r:id="rId38"/>
    <p:sldId id="263" r:id="rId39"/>
    <p:sldId id="264" r:id="rId40"/>
    <p:sldId id="265" r:id="rId41"/>
    <p:sldId id="266" r:id="rId42"/>
    <p:sldId id="267" r:id="rId43"/>
    <p:sldId id="268" r:id="rId44"/>
    <p:sldId id="269" r:id="rId45"/>
    <p:sldId id="257" r:id="rId46"/>
    <p:sldId id="271" r:id="rId47"/>
    <p:sldId id="270"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9" d="100"/>
          <a:sy n="149" d="100"/>
        </p:scale>
        <p:origin x="13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6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F43FB0-C57F-79C7-9535-B678C75384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E7C0687-8CCB-6A90-1185-11BBF3C424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82EDADD-0D8D-9E80-F663-EC5293C2AA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8934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F675412-624A-2292-0EA3-35B791CA3EC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FAC35A-CD72-905F-CD22-D1B98D7C86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8624941-50C6-5653-FE5C-62215CF9E6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9339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9F28052-259D-19FA-2CA0-17516D528E4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747D357-2DDF-60E5-8997-E2BF559D628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5A4BFE2-5F2F-0C43-4FB8-A1AA92F315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154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022EE5-ED73-60D1-8E8C-287AA96F98A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0B0831D-EF87-97F8-12D9-B860728A04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8FCB816-D465-4317-B99B-FD37B68972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1705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95399DD-24C8-598F-6736-48F7C154F4C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20EF1A-59AD-7BD3-4604-22E17A045F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3628EA8-B362-580C-114C-A022756DC1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0739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2666E3-9E47-7889-5DA2-B1DCFFC9543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30A621E-607C-F890-2501-9B7548653F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395A60D-B771-03B6-792B-53561ADADC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6274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72ECCD-901D-7E01-FF70-257E90AC3B0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DBC3F37-D7C0-0C18-A837-789F9F3613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17A2361-ED4C-0C8A-4B00-293428070B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4232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9B2D1C3-6FAC-433B-723E-EDD0565DE6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1FE019F-2EA4-F292-11A9-F691BE82CF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357238E-48D8-8B11-1A80-75313392FD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0355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8AC25C5-4B3F-23D3-5273-834D2AA438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20DD442-A65B-9B06-F2E1-8CA407428E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D3A73C6-858B-63AF-9C5D-40812E714B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497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DDF58C2-2857-582F-A6D9-7CE922EA394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8F1C968-FE29-CC2F-AECF-04C4B333A8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D257D4C-FA1B-5175-D621-9EC7251876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786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B3E9E29-AE04-7204-A230-595D2E0F162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D8B4480-BCD8-D12A-6F6A-EB503BCE46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7457E85-909C-D4A3-CF3E-E032ECF63B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3262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50E863C-E80B-1E16-8A3D-EDCAC468C9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C6982E0-5E66-1739-D460-A1F95380AD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3355E3A-C069-9247-8871-41E01CE097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6261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F3569D-724E-F4C2-BA96-3AE32552D8C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975974-90E9-BA49-72CB-F49E1AE2967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6964EC8-5C3E-58AC-AA56-2A5767B6E4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61369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AD55C96-1DDC-0E30-98AE-606757DFE68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4D37E43-9039-839B-9BDF-9B6B46FD40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8B5C46D-081D-8B31-833D-73BD917CBE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9014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BBBBD9D-F9B8-284B-FE49-D13DA42B00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8BD5357-9591-7FC3-25E7-6E8C630AA6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18E06C3-BF75-9718-B2BF-B6464C9C24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7510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9527FEC-C783-DED8-A5E8-4D8F5C59A75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1670EDE-0768-EF79-4092-73A0F0275C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6BCDE13-5D30-A1FD-9D63-773641118E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0452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6094CC-7C34-0AA1-8A06-367D536561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E524A76-7906-492D-48F7-69A0892155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7CD4433-39F2-8084-4B01-3C6FF82E42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0455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A3ACA8-4C90-C943-F9FE-F305E992D04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E3B9709-6D2B-B1DE-59EF-9BC71247EE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F79C658-C2E0-03E4-F305-08177F8CBD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7409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5B1C08-D4DD-01FE-1F1B-853D1C4942E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F39E895-D24A-B323-9900-9081889E7E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373F8DD-0402-7360-BB92-DDE9292BC4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6773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E4C403-CE59-DF9D-AEF0-9F2199D73C5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5FEB82-972C-600A-3215-F69A6BC671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FCBECDD-AE8F-F181-E341-1FF0779454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012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38A32FD-5C84-269D-5D87-5E114134C90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84CD4D-C414-FFFB-5E71-DEB24AC6E8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495E875-3CC0-3265-7075-A25F1A06DC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4445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65C5588-5D28-6383-DFAA-1709D6DC453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89D522C-D34C-5EB5-6F67-DCAB77E1AE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1E80DA0-7559-E667-2930-EF7EB8A28D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2465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7FAB225-9778-D149-C3A2-9067326B947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1373416-652B-23EB-8E45-C7A97036A5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CB83496-4E1C-9903-6F82-5EF22260B7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9621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04A5E11-BE8A-9852-891E-ECF8700E222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6DD7635-C429-3862-020C-6AC630FC7A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FC3361F-AB9B-1A1A-72C2-A796CA828C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3052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16D3B32-3163-A67F-CAEE-B44956EEACC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A196CC-2EDE-26F7-86C3-3A8B7D15A1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59BEF17-DC32-6169-9DB7-638AB10C62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8554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D5BB0A-97B6-D527-F23E-E82F3E2DE54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C229AF1-A1C8-D695-BF54-CD34240E36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73C7060-110B-C812-40C4-66307624FB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46537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1C5415-BEF5-B9F8-4D93-1160F401A20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C7B08A5-FE6E-FFB7-BD30-703CCCB535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07D2B0C-073C-7C6B-21CC-0614AFC1D6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54827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4.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en.wikipedia.org/wiki/Normal_distribution" TargetMode="External"/><Relationship Id="rId5" Type="http://schemas.openxmlformats.org/officeDocument/2006/relationships/image" Target="../media/image8.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Sum_of_normally_distributed_random_variable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spcBef>
                <a:spcPts val="600"/>
              </a:spcBef>
              <a:buSzPts val="4500"/>
            </a:pPr>
            <a:r>
              <a:rPr lang="en-US" sz="4500" b="1" dirty="0">
                <a:solidFill>
                  <a:schemeClr val="lt1"/>
                </a:solidFill>
              </a:rPr>
              <a:t>SE 423: Introduction to Mechatronics</a:t>
            </a:r>
            <a:endParaRPr lang="en-US" sz="4500" dirty="0"/>
          </a:p>
          <a:p>
            <a:pPr marL="0" marR="0" lvl="0" indent="0" algn="ctr" rtl="0">
              <a:lnSpc>
                <a:spcPct val="100000"/>
              </a:lnSpc>
              <a:spcBef>
                <a:spcPts val="600"/>
              </a:spcBef>
              <a:spcAft>
                <a:spcPts val="0"/>
              </a:spcAft>
              <a:buNone/>
            </a:pPr>
            <a:r>
              <a:rPr lang="en-US" sz="2500" dirty="0">
                <a:solidFill>
                  <a:schemeClr val="lt1"/>
                </a:solidFill>
              </a:rPr>
              <a:t>Lecture 20: Sensor Fusion and Kalman Filters</a:t>
            </a:r>
            <a:endParaRPr dirty="0"/>
          </a:p>
          <a:p>
            <a:pPr marL="0" marR="0" lvl="0" indent="0" algn="ctr" rtl="0">
              <a:lnSpc>
                <a:spcPct val="100000"/>
              </a:lnSpc>
              <a:spcBef>
                <a:spcPts val="600"/>
              </a:spcBef>
              <a:spcAft>
                <a:spcPts val="0"/>
              </a:spcAft>
              <a:buNone/>
            </a:pPr>
            <a:endParaRPr sz="1800" b="0" i="0" u="none" strike="noStrike" cap="none" dirty="0">
              <a:solidFill>
                <a:schemeClr val="lt1"/>
              </a:solidFill>
              <a:latin typeface="Arial"/>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rial"/>
                <a:ea typeface="Arial"/>
                <a:cs typeface="Arial"/>
                <a:sym typeface="Arial"/>
              </a:rPr>
              <a:t>Marius Juston</a:t>
            </a:r>
            <a:endParaRPr sz="1800" b="0" i="0" u="none" strike="noStrike" cap="none" dirty="0">
              <a:solidFill>
                <a:srgbClr val="000000"/>
              </a:solidFill>
              <a:latin typeface="Arial"/>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rial"/>
                <a:ea typeface="Arial"/>
                <a:cs typeface="Arial"/>
                <a:sym typeface="Arial"/>
              </a:rPr>
              <a:t>Monday, April 6</a:t>
            </a:r>
            <a:r>
              <a:rPr lang="en-US" sz="1800" b="0" i="0" u="none" strike="noStrike" cap="none" baseline="30000" dirty="0">
                <a:solidFill>
                  <a:schemeClr val="lt1"/>
                </a:solidFill>
                <a:latin typeface="Arial"/>
                <a:ea typeface="Arial"/>
                <a:cs typeface="Arial"/>
                <a:sym typeface="Arial"/>
              </a:rPr>
              <a:t>th</a:t>
            </a:r>
            <a:r>
              <a:rPr lang="en-US" sz="1800" b="0" i="0" u="none" strike="noStrike" cap="none" dirty="0">
                <a:solidFill>
                  <a:schemeClr val="lt1"/>
                </a:solidFill>
                <a:latin typeface="Arial"/>
                <a:ea typeface="Arial"/>
                <a:cs typeface="Arial"/>
                <a:sym typeface="Arial"/>
              </a:rPr>
              <a:t>, 2026</a:t>
            </a:r>
            <a:endParaRPr sz="1800" b="0" i="0" u="none" strike="noStrike" cap="none" dirty="0">
              <a:solidFill>
                <a:schemeClr val="lt1"/>
              </a:solidFill>
              <a:latin typeface="Arial"/>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rial"/>
              <a:ea typeface="Arial"/>
              <a:cs typeface="Arial"/>
              <a:sym typeface="Arial"/>
            </a:endParaRPr>
          </a:p>
          <a:p>
            <a:pPr marL="285750" indent="-285750">
              <a:lnSpc>
                <a:spcPct val="100000"/>
              </a:lnSpc>
              <a:spcBef>
                <a:spcPts val="0"/>
              </a:spcBef>
              <a:buSzPts val="3000"/>
            </a:pPr>
            <a:r>
              <a:rPr lang="en-US" sz="2400" dirty="0">
                <a:solidFill>
                  <a:schemeClr val="dk1"/>
                </a:solidFill>
                <a:latin typeface="Arial"/>
                <a:ea typeface="Arial"/>
                <a:cs typeface="Arial"/>
                <a:sym typeface="Arial"/>
              </a:rPr>
              <a:t>What assumptions were made during path planning / trajectory planning?</a:t>
            </a:r>
          </a:p>
          <a:p>
            <a:pPr marL="285750" indent="-285750">
              <a:lnSpc>
                <a:spcPct val="100000"/>
              </a:lnSpc>
              <a:spcBef>
                <a:spcPts val="0"/>
              </a:spcBef>
              <a:buSzPts val="3000"/>
            </a:pPr>
            <a:r>
              <a:rPr lang="en-US" sz="2400" dirty="0">
                <a:latin typeface="Arial"/>
                <a:ea typeface="Arial"/>
                <a:cs typeface="Arial"/>
                <a:sym typeface="Arial"/>
              </a:rPr>
              <a:t>What sensors on the robot help determine it’s the location in the world?</a:t>
            </a:r>
          </a:p>
          <a:p>
            <a:pPr marL="285750" indent="-285750">
              <a:lnSpc>
                <a:spcPct val="100000"/>
              </a:lnSpc>
              <a:spcBef>
                <a:spcPts val="0"/>
              </a:spcBef>
              <a:buSzPts val="3000"/>
            </a:pPr>
            <a:r>
              <a:rPr lang="en-US" sz="2400" dirty="0">
                <a:solidFill>
                  <a:schemeClr val="dk1"/>
                </a:solidFill>
                <a:latin typeface="Arial"/>
                <a:ea typeface="Arial"/>
                <a:cs typeface="Arial"/>
                <a:sym typeface="Arial"/>
              </a:rPr>
              <a:t>When could the odometr</a:t>
            </a:r>
            <a:r>
              <a:rPr lang="en-US" sz="2400" dirty="0">
                <a:latin typeface="Arial"/>
                <a:ea typeface="Arial"/>
                <a:cs typeface="Arial"/>
                <a:sym typeface="Arial"/>
              </a:rPr>
              <a:t>y and the IMU give different values? Which one should you trust?</a:t>
            </a:r>
          </a:p>
          <a:p>
            <a:pPr marL="285750" indent="-285750">
              <a:lnSpc>
                <a:spcPct val="100000"/>
              </a:lnSpc>
              <a:spcBef>
                <a:spcPts val="0"/>
              </a:spcBef>
              <a:buSzPts val="3000"/>
            </a:pPr>
            <a:r>
              <a:rPr lang="en-US" sz="2400" dirty="0">
                <a:solidFill>
                  <a:schemeClr val="dk1"/>
                </a:solidFill>
                <a:latin typeface="Arial"/>
                <a:ea typeface="Arial"/>
                <a:cs typeface="Arial"/>
                <a:sym typeface="Arial"/>
              </a:rPr>
              <a:t>If your IMU says you accelerated forward, but LiDAR scan matching says you didn’t move, what should the system believe?</a:t>
            </a:r>
          </a:p>
          <a:p>
            <a:pPr marL="285750" indent="-285750">
              <a:lnSpc>
                <a:spcPct val="100000"/>
              </a:lnSpc>
              <a:spcBef>
                <a:spcPts val="0"/>
              </a:spcBef>
              <a:buSzPts val="3000"/>
            </a:pPr>
            <a:endParaRPr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Review – 5-minute partner discussion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rial"/>
                <a:ea typeface="Arial"/>
                <a:cs typeface="Arial"/>
                <a:sym typeface="Arial"/>
              </a:rPr>
              <a:t>Office Hours:</a:t>
            </a:r>
            <a:endParaRPr lang="en-US" sz="2600" b="1" dirty="0">
              <a:solidFill>
                <a:srgbClr val="E84B36"/>
              </a:solidFill>
              <a:latin typeface="Arial"/>
              <a:ea typeface="Arial"/>
              <a:cs typeface="Arial"/>
              <a:sym typeface="Arial"/>
            </a:endParaRPr>
          </a:p>
          <a:p>
            <a:pPr marL="285750" indent="-285750">
              <a:lnSpc>
                <a:spcPct val="100000"/>
              </a:lnSpc>
              <a:spcBef>
                <a:spcPts val="0"/>
              </a:spcBef>
              <a:buSzPts val="3000"/>
            </a:pPr>
            <a:r>
              <a:rPr lang="en-US" sz="1800" b="1" dirty="0">
                <a:solidFill>
                  <a:schemeClr val="dk1"/>
                </a:solidFill>
                <a:latin typeface="Arial"/>
                <a:ea typeface="Arial"/>
                <a:cs typeface="Arial"/>
                <a:sym typeface="Arial"/>
              </a:rPr>
              <a:t>Monday: </a:t>
            </a:r>
            <a:r>
              <a:rPr lang="en-US" sz="1800" dirty="0">
                <a:solidFill>
                  <a:schemeClr val="dk1"/>
                </a:solidFill>
                <a:latin typeface="Arial"/>
                <a:ea typeface="Arial"/>
                <a:cs typeface="Arial"/>
                <a:sym typeface="Arial"/>
              </a:rPr>
              <a:t>4-6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Neel</a:t>
            </a:r>
          </a:p>
          <a:p>
            <a:pPr marL="285750" indent="-285750">
              <a:lnSpc>
                <a:spcPct val="100000"/>
              </a:lnSpc>
              <a:spcBef>
                <a:spcPts val="0"/>
              </a:spcBef>
              <a:buSzPts val="3000"/>
            </a:pPr>
            <a:r>
              <a:rPr lang="en-US" sz="1800" b="1" dirty="0">
                <a:latin typeface="Arial"/>
                <a:ea typeface="Arial"/>
                <a:cs typeface="Arial"/>
                <a:sym typeface="Arial"/>
              </a:rPr>
              <a:t>Tuesday: </a:t>
            </a:r>
            <a:r>
              <a:rPr lang="en-US" sz="1800" dirty="0">
                <a:latin typeface="Arial"/>
                <a:ea typeface="Arial"/>
                <a:cs typeface="Arial"/>
                <a:sym typeface="Arial"/>
              </a:rPr>
              <a:t>11-1 PM</a:t>
            </a:r>
            <a:r>
              <a:rPr lang="en-US" sz="1800" b="1" dirty="0">
                <a:latin typeface="Arial"/>
                <a:ea typeface="Arial"/>
                <a:cs typeface="Arial"/>
                <a:sym typeface="Arial"/>
              </a:rPr>
              <a:t>, </a:t>
            </a:r>
            <a:r>
              <a:rPr lang="en-US" sz="1800" dirty="0">
                <a:latin typeface="Arial"/>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latin typeface="Arial"/>
                <a:ea typeface="Arial"/>
                <a:cs typeface="Arial"/>
                <a:sym typeface="Arial"/>
              </a:rPr>
              <a:t>1-3 PM</a:t>
            </a:r>
            <a:r>
              <a:rPr lang="en-US" sz="1800" b="1" dirty="0">
                <a:latin typeface="Arial"/>
                <a:ea typeface="Arial"/>
                <a:cs typeface="Arial"/>
                <a:sym typeface="Arial"/>
              </a:rPr>
              <a:t>, </a:t>
            </a:r>
            <a:r>
              <a:rPr lang="en-US" sz="1800" dirty="0">
                <a:latin typeface="Arial"/>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solidFill>
                  <a:schemeClr val="dk1"/>
                </a:solidFill>
                <a:latin typeface="Arial"/>
                <a:ea typeface="Arial"/>
                <a:cs typeface="Arial"/>
                <a:sym typeface="Arial"/>
              </a:rPr>
              <a:t>2-5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Dan &amp; Marius</a:t>
            </a:r>
          </a:p>
          <a:p>
            <a:pPr marL="285750" indent="-285750">
              <a:lnSpc>
                <a:spcPct val="100000"/>
              </a:lnSpc>
              <a:spcBef>
                <a:spcPts val="0"/>
              </a:spcBef>
              <a:buSzPts val="3000"/>
            </a:pPr>
            <a:endParaRPr lang="en-US" sz="1800" b="1"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Lab: </a:t>
            </a:r>
            <a:r>
              <a:rPr lang="en-US" sz="1800" dirty="0">
                <a:latin typeface="Arial"/>
                <a:ea typeface="Arial"/>
                <a:cs typeface="Arial"/>
                <a:sym typeface="Arial"/>
              </a:rPr>
              <a:t>Finishing Lab 6 this week. This a 3-week lab!</a:t>
            </a:r>
          </a:p>
          <a:p>
            <a:pPr marL="285750" indent="-285750">
              <a:lnSpc>
                <a:spcPct val="100000"/>
              </a:lnSpc>
              <a:spcBef>
                <a:spcPts val="0"/>
              </a:spcBef>
              <a:buSzPts val="3000"/>
            </a:pPr>
            <a:r>
              <a:rPr lang="en-US" sz="1800" dirty="0">
                <a:solidFill>
                  <a:schemeClr val="tx1"/>
                </a:solidFill>
                <a:latin typeface="Arial"/>
                <a:ea typeface="Arial"/>
                <a:cs typeface="Arial"/>
                <a:sym typeface="Arial"/>
              </a:rPr>
              <a:t>Don’t forget to have the Lab LabVIEW application implemented before lab.</a:t>
            </a:r>
          </a:p>
          <a:p>
            <a:pPr marL="0" indent="0">
              <a:lnSpc>
                <a:spcPct val="100000"/>
              </a:lnSpc>
              <a:spcBef>
                <a:spcPts val="0"/>
              </a:spcBef>
              <a:buSzPts val="3000"/>
              <a:buNone/>
            </a:pPr>
            <a:endParaRPr lang="en-US" sz="1800" b="1" dirty="0">
              <a:solidFill>
                <a:srgbClr val="E84B36"/>
              </a:solidFill>
              <a:latin typeface="Arial"/>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rial"/>
                <a:ea typeface="Arial"/>
                <a:cs typeface="Arial"/>
                <a:sym typeface="Arial"/>
              </a:rPr>
              <a:t>Homeworks</a:t>
            </a:r>
            <a:r>
              <a:rPr lang="en-US" sz="1800" b="1" dirty="0">
                <a:solidFill>
                  <a:srgbClr val="E84B36"/>
                </a:solidFill>
                <a:latin typeface="Arial"/>
                <a:ea typeface="Arial"/>
                <a:cs typeface="Arial"/>
                <a:sym typeface="Arial"/>
              </a:rPr>
              <a:t>:</a:t>
            </a:r>
          </a:p>
          <a:p>
            <a:pPr marL="285750" indent="-285750">
              <a:lnSpc>
                <a:spcPct val="100000"/>
              </a:lnSpc>
              <a:spcBef>
                <a:spcPts val="0"/>
              </a:spcBef>
              <a:buSzPts val="3000"/>
            </a:pPr>
            <a:r>
              <a:rPr lang="en-US" sz="1800" dirty="0">
                <a:latin typeface="Arial"/>
                <a:ea typeface="Arial"/>
                <a:cs typeface="Arial"/>
                <a:sym typeface="Arial"/>
              </a:rPr>
              <a:t>Check-offs for </a:t>
            </a:r>
            <a:r>
              <a:rPr lang="en-US" sz="1800" dirty="0">
                <a:latin typeface="Arial"/>
                <a:ea typeface="Arial"/>
                <a:cs typeface="Arial"/>
                <a:sym typeface="Arial"/>
                <a:hlinkClick r:id="rId3"/>
              </a:rPr>
              <a:t>homework 4</a:t>
            </a:r>
            <a:r>
              <a:rPr lang="en-US" sz="1800" dirty="0">
                <a:latin typeface="Arial"/>
                <a:ea typeface="Arial"/>
                <a:cs typeface="Arial"/>
                <a:sym typeface="Arial"/>
              </a:rPr>
              <a:t> Ex 4 are due </a:t>
            </a:r>
            <a:r>
              <a:rPr lang="en-US" sz="1800" b="1" dirty="0">
                <a:latin typeface="Arial"/>
                <a:ea typeface="Arial"/>
                <a:cs typeface="Arial"/>
                <a:sym typeface="Arial"/>
              </a:rPr>
              <a:t>April 7, 5PM (The end of office hours)</a:t>
            </a:r>
          </a:p>
          <a:p>
            <a:pPr marL="285750" indent="-285750">
              <a:lnSpc>
                <a:spcPct val="100000"/>
              </a:lnSpc>
              <a:spcBef>
                <a:spcPts val="0"/>
              </a:spcBef>
              <a:buSzPts val="3000"/>
            </a:pPr>
            <a:r>
              <a:rPr lang="en-US" sz="1800" dirty="0">
                <a:latin typeface="Arial"/>
                <a:ea typeface="Arial"/>
                <a:cs typeface="Arial"/>
                <a:sym typeface="Arial"/>
              </a:rPr>
              <a:t>Remainder of </a:t>
            </a:r>
            <a:r>
              <a:rPr lang="en-US" sz="1800" dirty="0">
                <a:latin typeface="Arial"/>
                <a:ea typeface="Arial"/>
                <a:cs typeface="Arial"/>
                <a:sym typeface="Arial"/>
                <a:hlinkClick r:id="rId3"/>
              </a:rPr>
              <a:t>homework 4</a:t>
            </a:r>
            <a:r>
              <a:rPr lang="en-US" sz="1800" dirty="0">
                <a:latin typeface="Arial"/>
                <a:ea typeface="Arial"/>
                <a:cs typeface="Arial"/>
                <a:sym typeface="Arial"/>
              </a:rPr>
              <a:t> due on </a:t>
            </a:r>
            <a:r>
              <a:rPr lang="en-US" sz="1800" dirty="0" err="1">
                <a:latin typeface="Arial"/>
                <a:ea typeface="Arial"/>
                <a:cs typeface="Arial"/>
                <a:sym typeface="Arial"/>
              </a:rPr>
              <a:t>Gradescope</a:t>
            </a:r>
            <a:r>
              <a:rPr lang="en-US" sz="1800" dirty="0">
                <a:latin typeface="Arial"/>
                <a:ea typeface="Arial"/>
                <a:cs typeface="Arial"/>
                <a:sym typeface="Arial"/>
              </a:rPr>
              <a:t> on </a:t>
            </a:r>
            <a:r>
              <a:rPr lang="en-US" sz="1800" b="1" dirty="0">
                <a:latin typeface="Arial"/>
                <a:ea typeface="Arial"/>
                <a:cs typeface="Arial"/>
                <a:sym typeface="Arial"/>
              </a:rPr>
              <a:t>April 8, 9AM</a:t>
            </a:r>
          </a:p>
          <a:p>
            <a:pPr marL="285750" indent="-285750">
              <a:lnSpc>
                <a:spcPct val="100000"/>
              </a:lnSpc>
              <a:spcBef>
                <a:spcPts val="0"/>
              </a:spcBef>
              <a:buSzPts val="3000"/>
            </a:pPr>
            <a:r>
              <a:rPr lang="en-US" sz="1800" dirty="0">
                <a:latin typeface="Arial"/>
                <a:ea typeface="Arial"/>
                <a:cs typeface="Arial"/>
                <a:sym typeface="Arial"/>
              </a:rPr>
              <a:t>Next homework is primarily the </a:t>
            </a:r>
            <a:r>
              <a:rPr lang="en-US" sz="1800" b="1" dirty="0">
                <a:latin typeface="Arial"/>
                <a:ea typeface="Arial"/>
                <a:cs typeface="Arial"/>
                <a:sym typeface="Arial"/>
              </a:rPr>
              <a:t>personal project </a:t>
            </a:r>
            <a:r>
              <a:rPr lang="en-US" sz="1800" dirty="0">
                <a:latin typeface="Arial"/>
                <a:ea typeface="Arial"/>
                <a:cs typeface="Arial"/>
                <a:sym typeface="Arial"/>
              </a:rPr>
              <a:t>due on </a:t>
            </a:r>
            <a:r>
              <a:rPr lang="en-US" sz="1800" b="1" dirty="0">
                <a:latin typeface="Arial"/>
                <a:ea typeface="Arial"/>
                <a:cs typeface="Arial"/>
                <a:sym typeface="Arial"/>
              </a:rPr>
              <a:t>April 22, 9AM</a:t>
            </a:r>
            <a:r>
              <a:rPr lang="en-US" sz="1800" dirty="0">
                <a:latin typeface="Arial"/>
                <a:ea typeface="Arial"/>
                <a:cs typeface="Arial"/>
                <a:sym typeface="Arial"/>
              </a:rPr>
              <a:t>.</a:t>
            </a:r>
          </a:p>
          <a:p>
            <a:pPr marL="742950" lvl="1" indent="-285750">
              <a:lnSpc>
                <a:spcPct val="100000"/>
              </a:lnSpc>
              <a:spcBef>
                <a:spcPts val="0"/>
              </a:spcBef>
              <a:buSzPts val="3000"/>
            </a:pPr>
            <a:r>
              <a:rPr lang="en-US" sz="1800" dirty="0">
                <a:latin typeface="Arial"/>
                <a:ea typeface="Arial"/>
                <a:cs typeface="Arial"/>
                <a:sym typeface="Arial"/>
              </a:rPr>
              <a:t>I would highly recommend you thinking now and maybe even starting it now if you have a good idea already!</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Reminders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Questions?</a:t>
              </a:r>
              <a:endParaRPr sz="1400" b="0" i="0" u="none" strike="noStrike" cap="none" dirty="0">
                <a:solidFill>
                  <a:srgbClr val="000000"/>
                </a:solidFill>
                <a:latin typeface="Arial"/>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rial"/>
                  <a:ea typeface="Arial"/>
                  <a:cs typeface="Arial"/>
                  <a:sym typeface="Arial"/>
                </a:rPr>
                <a:t>Homework, Lab, LabVIEW?</a:t>
              </a:r>
              <a:endParaRPr sz="1800" b="0" i="0" u="none" strike="noStrike" cap="none" dirty="0">
                <a:solidFill>
                  <a:schemeClr val="lt1"/>
                </a:solidFill>
                <a:latin typeface="Arial"/>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Sensor Fusion</a:t>
            </a:r>
            <a:endParaRPr sz="1800" b="0" i="0" u="none" strike="noStrike" cap="none" dirty="0">
              <a:solidFill>
                <a:srgbClr val="15264B"/>
              </a:solidFill>
              <a:latin typeface="Arial"/>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Last lectures, we covered algorithms like A*, </a:t>
            </a:r>
            <a:r>
              <a:rPr lang="en-US" sz="2400" dirty="0" err="1">
                <a:latin typeface="Arial"/>
                <a:ea typeface="Arial"/>
                <a:cs typeface="Arial"/>
                <a:sym typeface="Arial"/>
              </a:rPr>
              <a:t>Dijkstras</a:t>
            </a:r>
            <a:r>
              <a:rPr lang="en-US" sz="2400" dirty="0">
                <a:latin typeface="Arial"/>
                <a:ea typeface="Arial"/>
                <a:cs typeface="Arial"/>
                <a:sym typeface="Arial"/>
              </a:rPr>
              <a:t>, Hybrid A* for path planning.</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We learned to compute an optimal, collision-free trajectory from Point A to Point B.</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However, path planning operates in a perfect, simulated world!</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The </a:t>
            </a:r>
            <a:r>
              <a:rPr lang="en-US" sz="2400" b="1" dirty="0">
                <a:latin typeface="Arial"/>
                <a:ea typeface="Arial"/>
                <a:cs typeface="Arial"/>
                <a:sym typeface="Arial"/>
              </a:rPr>
              <a:t>fundamental assumption</a:t>
            </a:r>
            <a:r>
              <a:rPr lang="en-US" sz="2400" dirty="0">
                <a:latin typeface="Arial"/>
                <a:ea typeface="Arial"/>
                <a:cs typeface="Arial"/>
                <a:sym typeface="Arial"/>
              </a:rPr>
              <a:t> we made about the robot to execute these plans were:</a:t>
            </a:r>
          </a:p>
          <a:p>
            <a:pPr marL="0" indent="0">
              <a:lnSpc>
                <a:spcPct val="100000"/>
              </a:lnSpc>
              <a:spcBef>
                <a:spcPts val="0"/>
              </a:spcBef>
              <a:buSzPts val="3000"/>
              <a:buNone/>
            </a:pPr>
            <a:endParaRPr lang="en-US" sz="2400" b="1" dirty="0">
              <a:solidFill>
                <a:schemeClr val="dk1"/>
              </a:solidFill>
              <a:latin typeface="Arial"/>
              <a:ea typeface="Arial"/>
              <a:cs typeface="Arial"/>
              <a:sym typeface="Arial"/>
            </a:endParaRPr>
          </a:p>
          <a:p>
            <a:pPr marL="0" indent="0" algn="ctr">
              <a:lnSpc>
                <a:spcPct val="100000"/>
              </a:lnSpc>
              <a:spcBef>
                <a:spcPts val="0"/>
              </a:spcBef>
              <a:buSzPts val="3000"/>
              <a:buNone/>
            </a:pPr>
            <a:r>
              <a:rPr lang="en-US" sz="2400" dirty="0">
                <a:latin typeface="Arial"/>
                <a:ea typeface="Arial"/>
                <a:cs typeface="Arial"/>
                <a:sym typeface="Arial"/>
              </a:rPr>
              <a:t>Perfect localization and actuation!</a:t>
            </a: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330AC21-503A-97DC-BCF1-95DD820616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5007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6E76D8C-4FEF-9932-596F-DA3707FA025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D7FF229-9E61-BC16-0C96-DAE1664C259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rial"/>
                <a:ea typeface="Arial"/>
                <a:cs typeface="Arial"/>
                <a:sym typeface="Arial"/>
              </a:rPr>
              <a:t>In the real world, motors don't spin exactly as commanded due to friction and voltage drops.</a:t>
            </a: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r>
              <a:rPr lang="en-US" sz="1800" dirty="0">
                <a:latin typeface="Arial"/>
                <a:ea typeface="Arial"/>
                <a:cs typeface="Arial"/>
                <a:sym typeface="Arial"/>
              </a:rPr>
              <a:t>Sensors have electrical noise, mechanical imperfections, and environmental interference.</a:t>
            </a: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r>
              <a:rPr lang="en-US" sz="1800" dirty="0">
                <a:latin typeface="Arial"/>
                <a:ea typeface="Arial"/>
                <a:cs typeface="Arial"/>
                <a:sym typeface="Arial"/>
              </a:rPr>
              <a:t>What can cause the LiDAR to fail?</a:t>
            </a:r>
          </a:p>
          <a:p>
            <a:pPr marL="342900">
              <a:lnSpc>
                <a:spcPct val="100000"/>
              </a:lnSpc>
              <a:spcBef>
                <a:spcPts val="0"/>
              </a:spcBef>
              <a:buSzPts val="3000"/>
            </a:pPr>
            <a:r>
              <a:rPr lang="en-US" sz="1800" dirty="0">
                <a:latin typeface="Arial"/>
                <a:ea typeface="Arial"/>
                <a:cs typeface="Arial"/>
                <a:sym typeface="Arial"/>
              </a:rPr>
              <a:t>Reflective / absorptive surfaces: glass, mirrors, black materials</a:t>
            </a:r>
          </a:p>
          <a:p>
            <a:pPr marL="342900">
              <a:lnSpc>
                <a:spcPct val="100000"/>
              </a:lnSpc>
              <a:spcBef>
                <a:spcPts val="0"/>
              </a:spcBef>
              <a:buSzPts val="3000"/>
            </a:pPr>
            <a:r>
              <a:rPr lang="en-US" sz="1800" dirty="0">
                <a:latin typeface="Arial"/>
                <a:ea typeface="Arial"/>
                <a:cs typeface="Arial"/>
                <a:sym typeface="Arial"/>
              </a:rPr>
              <a:t>Fog, rain, dust, snow</a:t>
            </a:r>
          </a:p>
          <a:p>
            <a:pPr marL="342900">
              <a:lnSpc>
                <a:spcPct val="100000"/>
              </a:lnSpc>
              <a:spcBef>
                <a:spcPts val="0"/>
              </a:spcBef>
              <a:buSzPts val="3000"/>
            </a:pPr>
            <a:r>
              <a:rPr lang="en-US" sz="1800" dirty="0">
                <a:latin typeface="Arial"/>
                <a:ea typeface="Arial"/>
                <a:cs typeface="Arial"/>
                <a:sym typeface="Arial"/>
              </a:rPr>
              <a:t>Fast motion relative to scan frequency</a:t>
            </a:r>
          </a:p>
          <a:p>
            <a:pPr marL="342900">
              <a:lnSpc>
                <a:spcPct val="100000"/>
              </a:lnSpc>
              <a:spcBef>
                <a:spcPts val="0"/>
              </a:spcBef>
              <a:buSzPts val="3000"/>
            </a:pPr>
            <a:endParaRPr lang="en-US" sz="1800" dirty="0">
              <a:latin typeface="Arial"/>
              <a:ea typeface="Arial"/>
              <a:cs typeface="Arial"/>
              <a:sym typeface="Arial"/>
            </a:endParaRPr>
          </a:p>
          <a:p>
            <a:pPr marL="0" indent="0">
              <a:lnSpc>
                <a:spcPct val="100000"/>
              </a:lnSpc>
              <a:spcBef>
                <a:spcPts val="0"/>
              </a:spcBef>
              <a:buSzPts val="3000"/>
              <a:buNone/>
            </a:pPr>
            <a:r>
              <a:rPr lang="en-US" sz="1800" dirty="0">
                <a:latin typeface="Arial"/>
                <a:ea typeface="Arial"/>
                <a:cs typeface="Arial"/>
                <a:sym typeface="Arial"/>
              </a:rPr>
              <a:t>What can cause the odometry to fail?</a:t>
            </a:r>
          </a:p>
          <a:p>
            <a:pPr marL="342900">
              <a:lnSpc>
                <a:spcPct val="100000"/>
              </a:lnSpc>
              <a:spcBef>
                <a:spcPts val="0"/>
              </a:spcBef>
              <a:buSzPts val="3000"/>
            </a:pPr>
            <a:r>
              <a:rPr lang="en-US" sz="1800" dirty="0">
                <a:latin typeface="Arial"/>
                <a:ea typeface="Arial"/>
                <a:cs typeface="Arial"/>
                <a:sym typeface="Arial"/>
              </a:rPr>
              <a:t>Slippery terrain for wheel slip</a:t>
            </a:r>
          </a:p>
          <a:p>
            <a:pPr marL="0" indent="0">
              <a:lnSpc>
                <a:spcPct val="100000"/>
              </a:lnSpc>
              <a:spcBef>
                <a:spcPts val="0"/>
              </a:spcBef>
              <a:buSzPts val="3000"/>
              <a:buNone/>
            </a:pPr>
            <a:endParaRPr lang="en-US" sz="1800" dirty="0">
              <a:latin typeface="Arial"/>
              <a:ea typeface="Arial"/>
              <a:cs typeface="Arial"/>
              <a:sym typeface="Arial"/>
            </a:endParaRPr>
          </a:p>
          <a:p>
            <a:pPr marL="0" indent="0">
              <a:lnSpc>
                <a:spcPct val="100000"/>
              </a:lnSpc>
              <a:spcBef>
                <a:spcPts val="0"/>
              </a:spcBef>
              <a:buSzPts val="3000"/>
              <a:buNone/>
            </a:pPr>
            <a:r>
              <a:rPr lang="en-US" sz="1800" dirty="0">
                <a:latin typeface="Arial"/>
                <a:ea typeface="Arial"/>
                <a:cs typeface="Arial"/>
                <a:sym typeface="Arial"/>
              </a:rPr>
              <a:t>When can cause the IMU fail?</a:t>
            </a:r>
          </a:p>
          <a:p>
            <a:pPr marL="342900">
              <a:lnSpc>
                <a:spcPct val="100000"/>
              </a:lnSpc>
              <a:spcBef>
                <a:spcPts val="0"/>
              </a:spcBef>
              <a:buSzPts val="3000"/>
            </a:pPr>
            <a:r>
              <a:rPr lang="en-US" sz="1800" dirty="0">
                <a:latin typeface="Arial"/>
                <a:ea typeface="Arial"/>
                <a:cs typeface="Arial"/>
                <a:sym typeface="Arial"/>
              </a:rPr>
              <a:t>IMU drift</a:t>
            </a:r>
          </a:p>
          <a:p>
            <a:pPr marL="342900">
              <a:lnSpc>
                <a:spcPct val="100000"/>
              </a:lnSpc>
              <a:spcBef>
                <a:spcPts val="0"/>
              </a:spcBef>
              <a:buSzPts val="3000"/>
            </a:pPr>
            <a:r>
              <a:rPr lang="en-US" sz="1800" dirty="0">
                <a:latin typeface="Arial"/>
                <a:ea typeface="Arial"/>
                <a:cs typeface="Arial"/>
                <a:sym typeface="Arial"/>
              </a:rPr>
              <a:t>Saturating the sensors</a:t>
            </a:r>
          </a:p>
          <a:p>
            <a:pPr marL="342900">
              <a:lnSpc>
                <a:spcPct val="100000"/>
              </a:lnSpc>
              <a:spcBef>
                <a:spcPts val="0"/>
              </a:spcBef>
              <a:buSzPts val="3000"/>
            </a:pPr>
            <a:endParaRPr lang="en-US" sz="1800" dirty="0">
              <a:latin typeface="Arial"/>
              <a:ea typeface="Arial"/>
              <a:cs typeface="Arial"/>
              <a:sym typeface="Arial"/>
            </a:endParaRPr>
          </a:p>
          <a:p>
            <a:pPr marL="0" indent="0">
              <a:lnSpc>
                <a:spcPct val="100000"/>
              </a:lnSpc>
              <a:spcBef>
                <a:spcPts val="0"/>
              </a:spcBef>
              <a:buSzPts val="3000"/>
              <a:buNone/>
            </a:pPr>
            <a:r>
              <a:rPr lang="en-US" sz="1800" dirty="0">
                <a:latin typeface="Arial"/>
                <a:ea typeface="Arial"/>
                <a:cs typeface="Arial"/>
                <a:sym typeface="Arial"/>
              </a:rPr>
              <a:t>If we blindly execute our path plan open-loop, the robot will quickly crash.</a:t>
            </a:r>
            <a:endParaRPr lang="en-US" sz="18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3D5AEB9E-BACA-D86A-7336-706642B1BE8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6163C82-7E4D-858D-6AE2-7BC25E50823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F9333E97-C9BB-7F74-ABD9-BD767FF2CA5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CC51F9-A938-D53D-35C3-6A8E5C729EB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01C3C39-EE3C-BFEB-339E-C759637A80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68CAD8B-0F9E-88BB-8D76-2E45001681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720C4DA-E6F4-64FC-88BF-B0F903D717F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07F47A-CC92-2F64-D6CF-F566D4A9DF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82673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8">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D9E420E-A29E-2817-C4F8-5AFDFD4F90B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ECC75FC-DE33-119F-3EF5-99886F6338D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We need </a:t>
            </a:r>
            <a:r>
              <a:rPr lang="en-US" sz="2400" b="1" dirty="0">
                <a:latin typeface="Arial"/>
                <a:ea typeface="Arial"/>
                <a:cs typeface="Arial"/>
                <a:sym typeface="Arial"/>
              </a:rPr>
              <a:t>Localization</a:t>
            </a:r>
            <a:r>
              <a:rPr lang="en-US" sz="2400" dirty="0">
                <a:latin typeface="Arial"/>
                <a:ea typeface="Arial"/>
                <a:cs typeface="Arial"/>
                <a:sym typeface="Arial"/>
              </a:rPr>
              <a:t>: determining the robot's state (position, velocity, orientation) in the real world.</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To solve the localization problem, SE 423 robots use multiple sensors.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b="1" dirty="0">
                <a:solidFill>
                  <a:schemeClr val="dk1"/>
                </a:solidFill>
                <a:latin typeface="Arial"/>
                <a:ea typeface="Arial"/>
                <a:cs typeface="Arial"/>
                <a:sym typeface="Arial"/>
              </a:rPr>
              <a:t>Proprioceptive </a:t>
            </a:r>
            <a:r>
              <a:rPr lang="en-US" sz="2400" dirty="0">
                <a:solidFill>
                  <a:schemeClr val="dk1"/>
                </a:solidFill>
                <a:latin typeface="Arial"/>
                <a:ea typeface="Arial"/>
                <a:cs typeface="Arial"/>
                <a:sym typeface="Arial"/>
              </a:rPr>
              <a:t>sensors measure internal states: Wheel Encoders (Odometry) and IMUs.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b="1" dirty="0">
                <a:solidFill>
                  <a:schemeClr val="dk1"/>
                </a:solidFill>
                <a:latin typeface="Arial"/>
                <a:ea typeface="Arial"/>
                <a:cs typeface="Arial"/>
                <a:sym typeface="Arial"/>
              </a:rPr>
              <a:t>Exteroceptive </a:t>
            </a:r>
            <a:r>
              <a:rPr lang="en-US" sz="2400" dirty="0">
                <a:solidFill>
                  <a:schemeClr val="dk1"/>
                </a:solidFill>
                <a:latin typeface="Arial"/>
                <a:ea typeface="Arial"/>
                <a:cs typeface="Arial"/>
                <a:sym typeface="Arial"/>
              </a:rPr>
              <a:t>sensors measure the external environment: LiDAR.</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No single sensor is perfect; they all lie to us in different ways.</a:t>
            </a:r>
          </a:p>
        </p:txBody>
      </p:sp>
      <p:sp>
        <p:nvSpPr>
          <p:cNvPr id="119" name="Google Shape;119;p29">
            <a:extLst>
              <a:ext uri="{FF2B5EF4-FFF2-40B4-BE49-F238E27FC236}">
                <a16:creationId xmlns:a16="http://schemas.microsoft.com/office/drawing/2014/main" id="{641B44FC-1A1C-F42A-3BDA-976BB5859D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0A2BC2F-9B03-5B8E-A1C6-72010869DE7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44238C5-9AB9-13BD-5FA9-06FAA119A72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885C52C-A9C9-7BB9-45B7-B21B10DD79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8CD9A88-2E48-9F2F-07C0-A68012E64C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382DF34-9E76-F12D-6585-0866D9EDDCF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45908F1-2070-3919-F15E-D11B97EA018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A3A0F2-02A3-2B72-DDF9-1C212F06621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66370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D668A1F-A262-40BB-0420-8D46AB2FE82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BFC7474-F78F-74BF-555A-F8C0E3E1CE2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latin typeface="Arial"/>
                <a:ea typeface="Arial"/>
                <a:cs typeface="Arial"/>
                <a:sym typeface="Arial"/>
              </a:rPr>
              <a:t>Wheel encoders </a:t>
            </a:r>
            <a:r>
              <a:rPr lang="en-US" sz="2400" dirty="0">
                <a:latin typeface="Arial"/>
                <a:ea typeface="Arial"/>
                <a:cs typeface="Arial"/>
                <a:sym typeface="Arial"/>
              </a:rPr>
              <a:t>count the rotations of the robot's wheels. By knowing wheel radius and track width, we calculate forward kinematics to estimate position. It provides </a:t>
            </a:r>
            <a:r>
              <a:rPr lang="en-US" sz="2400" b="1" dirty="0">
                <a:latin typeface="Arial"/>
                <a:ea typeface="Arial"/>
                <a:cs typeface="Arial"/>
                <a:sym typeface="Arial"/>
              </a:rPr>
              <a:t>high-frequency</a:t>
            </a:r>
            <a:r>
              <a:rPr lang="en-US" sz="2400" dirty="0">
                <a:latin typeface="Arial"/>
                <a:ea typeface="Arial"/>
                <a:cs typeface="Arial"/>
                <a:sym typeface="Arial"/>
              </a:rPr>
              <a:t>, smooth data for short-term movement.</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Similarly, </a:t>
            </a:r>
            <a:r>
              <a:rPr lang="en-US" sz="2400" b="1" dirty="0">
                <a:latin typeface="Arial"/>
                <a:ea typeface="Arial"/>
                <a:cs typeface="Arial"/>
                <a:sym typeface="Arial"/>
              </a:rPr>
              <a:t>IMUs</a:t>
            </a:r>
            <a:r>
              <a:rPr lang="en-US" sz="2400" dirty="0">
                <a:latin typeface="Arial"/>
                <a:ea typeface="Arial"/>
                <a:cs typeface="Arial"/>
                <a:sym typeface="Arial"/>
              </a:rPr>
              <a:t> generate </a:t>
            </a:r>
            <a:r>
              <a:rPr lang="en-US" sz="2400" b="1" dirty="0">
                <a:latin typeface="Arial"/>
                <a:ea typeface="Arial"/>
                <a:cs typeface="Arial"/>
                <a:sym typeface="Arial"/>
              </a:rPr>
              <a:t>high-frequency</a:t>
            </a:r>
            <a:r>
              <a:rPr lang="en-US" sz="2400" dirty="0">
                <a:latin typeface="Arial"/>
                <a:ea typeface="Arial"/>
                <a:cs typeface="Arial"/>
                <a:sym typeface="Arial"/>
              </a:rPr>
              <a:t>, smooth data for short-term movement based on the integration of acceleration.</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b="1" dirty="0">
                <a:solidFill>
                  <a:schemeClr val="dk1"/>
                </a:solidFill>
                <a:latin typeface="Arial"/>
                <a:ea typeface="Arial"/>
                <a:cs typeface="Arial"/>
                <a:sym typeface="Arial"/>
              </a:rPr>
              <a:t>LiDAR</a:t>
            </a:r>
            <a:r>
              <a:rPr lang="en-US" sz="2400" dirty="0">
                <a:solidFill>
                  <a:schemeClr val="dk1"/>
                </a:solidFill>
                <a:latin typeface="Arial"/>
                <a:ea typeface="Arial"/>
                <a:cs typeface="Arial"/>
                <a:sym typeface="Arial"/>
              </a:rPr>
              <a:t>, unlike odometry and IMUs, LiDAR gives us </a:t>
            </a:r>
            <a:r>
              <a:rPr lang="en-US" sz="2400" b="1" dirty="0">
                <a:solidFill>
                  <a:schemeClr val="dk1"/>
                </a:solidFill>
                <a:latin typeface="Arial"/>
                <a:ea typeface="Arial"/>
                <a:cs typeface="Arial"/>
                <a:sym typeface="Arial"/>
              </a:rPr>
              <a:t>absolute </a:t>
            </a:r>
            <a:r>
              <a:rPr lang="en-US" sz="2400" dirty="0">
                <a:solidFill>
                  <a:schemeClr val="dk1"/>
                </a:solidFill>
                <a:latin typeface="Arial"/>
                <a:ea typeface="Arial"/>
                <a:cs typeface="Arial"/>
                <a:sym typeface="Arial"/>
              </a:rPr>
              <a:t>measurements relative to the environment.; however, </a:t>
            </a:r>
            <a:r>
              <a:rPr lang="en-US" sz="2400" dirty="0">
                <a:latin typeface="Arial"/>
                <a:ea typeface="Arial"/>
                <a:cs typeface="Arial"/>
                <a:sym typeface="Arial"/>
              </a:rPr>
              <a:t>due to the additional data, the sensor runs at </a:t>
            </a:r>
            <a:r>
              <a:rPr lang="en-US" sz="2400" dirty="0">
                <a:solidFill>
                  <a:schemeClr val="dk1"/>
                </a:solidFill>
                <a:latin typeface="Arial"/>
                <a:ea typeface="Arial"/>
                <a:cs typeface="Arial"/>
                <a:sym typeface="Arial"/>
              </a:rPr>
              <a:t>a lower frequency (e.g., 10Hz) compared to an IMU (e.g., 500Hz).</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If we are in a perfectly square, featureless hallway, can LiDAR tell us our position along the hallway? What about the IMU / odometry?</a:t>
            </a:r>
          </a:p>
        </p:txBody>
      </p:sp>
      <p:sp>
        <p:nvSpPr>
          <p:cNvPr id="119" name="Google Shape;119;p29">
            <a:extLst>
              <a:ext uri="{FF2B5EF4-FFF2-40B4-BE49-F238E27FC236}">
                <a16:creationId xmlns:a16="http://schemas.microsoft.com/office/drawing/2014/main" id="{7FBAB7B5-FA9E-81F7-05F1-7BBA5839624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AA71CBAF-9573-1ACA-A469-078FA69C640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949EE72-ADCD-CE29-7521-247C63D739D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3B4B1FF-9281-2A9E-BA3B-3F21D3648C3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A98BCDB-FFB9-C0BB-A723-476D5308625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9BD75A-118C-F176-A446-6AF89C48B10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DC7EDCC-4247-6400-91FB-A6E044C1F2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EA8263E-3123-AD11-D840-181B157750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31497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491F9D0-123C-69D8-267E-88B75912236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9A7C04-1DBB-5710-0570-A22E87C68FA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We have </a:t>
            </a:r>
            <a:r>
              <a:rPr lang="en-US" sz="2400" b="1" dirty="0">
                <a:latin typeface="Arial"/>
                <a:ea typeface="Arial"/>
                <a:cs typeface="Arial"/>
                <a:sym typeface="Arial"/>
              </a:rPr>
              <a:t>fast, smooth </a:t>
            </a:r>
            <a:r>
              <a:rPr lang="en-US" sz="2400" dirty="0">
                <a:latin typeface="Arial"/>
                <a:ea typeface="Arial"/>
                <a:cs typeface="Arial"/>
                <a:sym typeface="Arial"/>
              </a:rPr>
              <a:t>sensors that drift (IMU, Odometry).</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We have </a:t>
            </a:r>
            <a:r>
              <a:rPr lang="en-US" sz="2400" b="1" dirty="0">
                <a:latin typeface="Arial"/>
                <a:ea typeface="Arial"/>
                <a:cs typeface="Arial"/>
                <a:sym typeface="Arial"/>
              </a:rPr>
              <a:t>slow</a:t>
            </a:r>
            <a:r>
              <a:rPr lang="en-US" sz="2400" dirty="0">
                <a:latin typeface="Arial"/>
                <a:ea typeface="Arial"/>
                <a:cs typeface="Arial"/>
                <a:sym typeface="Arial"/>
              </a:rPr>
              <a:t>, computationally heavy sensors that don't drift (LiDAR).</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How do we combine them? </a:t>
            </a:r>
          </a:p>
          <a:p>
            <a:pPr marL="0" indent="0">
              <a:lnSpc>
                <a:spcPct val="100000"/>
              </a:lnSpc>
              <a:spcBef>
                <a:spcPts val="0"/>
              </a:spcBef>
              <a:buSzPts val="3000"/>
              <a:buNone/>
            </a:pPr>
            <a:endParaRPr lang="en-US" sz="2400" dirty="0">
              <a:latin typeface="Arial"/>
              <a:ea typeface="Arial"/>
              <a:cs typeface="Arial"/>
              <a:sym typeface="Arial"/>
            </a:endParaRPr>
          </a:p>
          <a:p>
            <a:pPr marL="0" indent="0" algn="ctr">
              <a:lnSpc>
                <a:spcPct val="100000"/>
              </a:lnSpc>
              <a:spcBef>
                <a:spcPts val="0"/>
              </a:spcBef>
              <a:buSzPts val="3000"/>
              <a:buNone/>
            </a:pPr>
            <a:r>
              <a:rPr lang="en-US" sz="2400" dirty="0">
                <a:latin typeface="Arial"/>
                <a:ea typeface="Arial"/>
                <a:cs typeface="Arial"/>
                <a:sym typeface="Arial"/>
              </a:rPr>
              <a:t>Simple averaging doesn't work because their reliability changes over time.</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If 2 sensors given measurements give different values which, should you trust?</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What if your sensors give you the confidence of their measurements? I.e. the LiDAR is 75% sure of its position and the IMU / Odometry are, in total, 25% sure of their positions?</a:t>
            </a: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A60278E2-13A4-ECCD-9125-BF56E97905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BE1A9D2-D303-9880-1EAB-A6AE71E76AE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1B8DA6B-4A3E-6061-7885-7E5BA602F78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150536D-03E5-D9B1-7E72-7D3ABD555E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BA6B9F1-37FB-33B1-73DC-9AA2ABC8F3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21C6813-4205-D682-2114-C774FAA4B09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A46402A-32B4-5BA2-923F-90393288EC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74073B-BFFD-DB1B-504A-7E22C0917E4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28781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4A799B5-DC18-E502-D5AA-286ED309129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BEC38D5-AA70-41ED-7129-42F27315F61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We have </a:t>
            </a:r>
            <a:r>
              <a:rPr lang="en-US" sz="2400" b="1" dirty="0">
                <a:latin typeface="Arial"/>
                <a:ea typeface="Arial"/>
                <a:cs typeface="Arial"/>
                <a:sym typeface="Arial"/>
              </a:rPr>
              <a:t>fast, smooth </a:t>
            </a:r>
            <a:r>
              <a:rPr lang="en-US" sz="2400" dirty="0">
                <a:latin typeface="Arial"/>
                <a:ea typeface="Arial"/>
                <a:cs typeface="Arial"/>
                <a:sym typeface="Arial"/>
              </a:rPr>
              <a:t>sensors that drift (IMU, Odometry).</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We have </a:t>
            </a:r>
            <a:r>
              <a:rPr lang="en-US" sz="2400" b="1" dirty="0">
                <a:latin typeface="Arial"/>
                <a:ea typeface="Arial"/>
                <a:cs typeface="Arial"/>
                <a:sym typeface="Arial"/>
              </a:rPr>
              <a:t>slow</a:t>
            </a:r>
            <a:r>
              <a:rPr lang="en-US" sz="2400" dirty="0">
                <a:latin typeface="Arial"/>
                <a:ea typeface="Arial"/>
                <a:cs typeface="Arial"/>
                <a:sym typeface="Arial"/>
              </a:rPr>
              <a:t>, computationally heavy sensors that don't drift (LiDAR).</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How do we combine them? </a:t>
            </a:r>
          </a:p>
          <a:p>
            <a:pPr marL="0" indent="0">
              <a:lnSpc>
                <a:spcPct val="100000"/>
              </a:lnSpc>
              <a:spcBef>
                <a:spcPts val="0"/>
              </a:spcBef>
              <a:buSzPts val="3000"/>
              <a:buNone/>
            </a:pPr>
            <a:endParaRPr lang="en-US" sz="2400" dirty="0">
              <a:latin typeface="Arial"/>
              <a:ea typeface="Arial"/>
              <a:cs typeface="Arial"/>
              <a:sym typeface="Arial"/>
            </a:endParaRPr>
          </a:p>
          <a:p>
            <a:pPr marL="0" indent="0" algn="ctr">
              <a:lnSpc>
                <a:spcPct val="100000"/>
              </a:lnSpc>
              <a:spcBef>
                <a:spcPts val="0"/>
              </a:spcBef>
              <a:buSzPts val="3000"/>
              <a:buNone/>
            </a:pPr>
            <a:r>
              <a:rPr lang="en-US" sz="2400" dirty="0">
                <a:latin typeface="Arial"/>
                <a:ea typeface="Arial"/>
                <a:cs typeface="Arial"/>
                <a:sym typeface="Arial"/>
              </a:rPr>
              <a:t>Simple averaging doesn't work because their reliability changes over time.</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If 2 sensors given measurements give different values which, should you trust?</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What if your sensors give you the confidence of their measurements? I.e. the LiDAR is 75% sure of its position and the IMU / Odometry are, in total, 25% sure of their positions?</a:t>
            </a: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DC6A185A-2226-A3DE-6BF6-3C4115FBBFD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3DDD3BE-C661-12B2-ADF4-726199E5DBF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9500225-901A-2D99-4727-EF59F276BE9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5D547E8-D999-814F-07C0-67AF8EF4474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F05ED8-23B7-4C16-BF26-00A8394F726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6D27376-0037-942F-3922-44963D965CC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1C29769-5A37-ED79-DDB9-3171385FB53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BD872BC-20DC-BF0A-BB38-78A50636C5C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42811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F1F894-E15D-FB0E-D29F-052BEDE8F33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74B849CB-6C64-3BF0-C0D4-3CAB65ECD4F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Instead of saying robot is </a:t>
                </a:r>
                <a:r>
                  <a:rPr lang="en-US" sz="2400" dirty="0">
                    <a:latin typeface="Arial"/>
                    <a:ea typeface="Arial"/>
                    <a:cs typeface="Arial"/>
                    <a:sym typeface="Arial"/>
                  </a:rPr>
                  <a:t>exactly at “X = 5”, we want to say “We are 90% sure that the robot is near X=5”.</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We represent our state as a probability distribution.</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We use the Gaussian (Normal) Distribution, defined by a mean (</a:t>
                </a:r>
                <a14:m>
                  <m:oMath xmlns:m="http://schemas.openxmlformats.org/officeDocument/2006/math">
                    <m:r>
                      <m:rPr>
                        <m:sty m:val="p"/>
                      </m:rPr>
                      <a:rPr lang="en-US" sz="2400" b="0" i="1" smtClean="0">
                        <a:latin typeface="Cambria Math" panose="02040503050406030204" pitchFamily="18" charset="0"/>
                        <a:ea typeface="Arial"/>
                        <a:cs typeface="Arial"/>
                        <a:sym typeface="Arial"/>
                      </a:rPr>
                      <m:t>μ</m:t>
                    </m:r>
                  </m:oMath>
                </a14:m>
                <a:r>
                  <a:rPr lang="en-US" sz="2400" dirty="0">
                    <a:solidFill>
                      <a:schemeClr val="dk1"/>
                    </a:solidFill>
                    <a:latin typeface="Arial"/>
                    <a:ea typeface="Arial"/>
                    <a:cs typeface="Arial"/>
                    <a:sym typeface="Arial"/>
                  </a:rPr>
                  <a:t>) and variance (</a:t>
                </a:r>
                <a14:m>
                  <m:oMath xmlns:m="http://schemas.openxmlformats.org/officeDocument/2006/math">
                    <m:sSup>
                      <m:sSupPr>
                        <m:ctrlPr>
                          <a:rPr lang="en-US" sz="2400" b="0" i="1" smtClean="0">
                            <a:solidFill>
                              <a:schemeClr val="dk1"/>
                            </a:solidFill>
                            <a:latin typeface="Cambria Math" panose="02040503050406030204" pitchFamily="18" charset="0"/>
                            <a:ea typeface="Arial"/>
                            <a:cs typeface="Arial"/>
                            <a:sym typeface="Arial"/>
                          </a:rPr>
                        </m:ctrlPr>
                      </m:sSupPr>
                      <m:e>
                        <m:r>
                          <a:rPr lang="en-US" sz="2400" b="0" i="1" smtClean="0">
                            <a:solidFill>
                              <a:schemeClr val="dk1"/>
                            </a:solidFill>
                            <a:latin typeface="Cambria Math" panose="02040503050406030204" pitchFamily="18" charset="0"/>
                            <a:ea typeface="Arial"/>
                            <a:cs typeface="Arial"/>
                            <a:sym typeface="Arial"/>
                          </a:rPr>
                          <m:t>𝜎</m:t>
                        </m:r>
                      </m:e>
                      <m:sup>
                        <m:r>
                          <a:rPr lang="en-US" sz="2400" b="0" i="1" smtClean="0">
                            <a:solidFill>
                              <a:schemeClr val="dk1"/>
                            </a:solidFill>
                            <a:latin typeface="Cambria Math" panose="02040503050406030204" pitchFamily="18" charset="0"/>
                            <a:ea typeface="Arial"/>
                            <a:cs typeface="Arial"/>
                            <a:sym typeface="Arial"/>
                          </a:rPr>
                          <m:t>2</m:t>
                        </m:r>
                      </m:sup>
                    </m:sSup>
                  </m:oMath>
                </a14:m>
                <a:r>
                  <a:rPr lang="en-US" sz="2400" dirty="0">
                    <a:solidFill>
                      <a:schemeClr val="dk1"/>
                    </a:solidFill>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p:sp>
            <p:nvSpPr>
              <p:cNvPr id="118" name="Google Shape;118;p29">
                <a:extLst>
                  <a:ext uri="{FF2B5EF4-FFF2-40B4-BE49-F238E27FC236}">
                    <a16:creationId xmlns:a16="http://schemas.microsoft.com/office/drawing/2014/main" id="{74B849CB-6C64-3BF0-C0D4-3CAB65ECD4F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BBE5622-5B4F-2C92-EC24-51D1EC1AECC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205E767-726C-CE73-41AA-5F4EFDCE53B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64F1F63-0DDC-06F0-A670-6F9C70213DE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44039E-071E-EF13-060A-B19D18C38D1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34A25EE-2089-FA01-C229-0E0F8FC494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13AEA70-CAD1-C85B-4672-D627AD6641E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70EF1AB-74EE-FA3E-6B0C-42D0AC2DAB4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DC7E859-3358-75F9-FF92-673795ADEA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898DA8B1-06EE-F383-1742-DF52DE9381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13998" y="3548943"/>
            <a:ext cx="5835650" cy="2917825"/>
          </a:xfrm>
          <a:prstGeom prst="rect">
            <a:avLst/>
          </a:prstGeom>
        </p:spPr>
      </p:pic>
      <p:sp>
        <p:nvSpPr>
          <p:cNvPr id="5" name="TextBox 4">
            <a:extLst>
              <a:ext uri="{FF2B5EF4-FFF2-40B4-BE49-F238E27FC236}">
                <a16:creationId xmlns:a16="http://schemas.microsoft.com/office/drawing/2014/main" id="{3291B65C-D484-7EF3-5C21-CCADE55E7A9E}"/>
              </a:ext>
            </a:extLst>
          </p:cNvPr>
          <p:cNvSpPr txBox="1"/>
          <p:nvPr/>
        </p:nvSpPr>
        <p:spPr>
          <a:xfrm>
            <a:off x="4495484" y="6328059"/>
            <a:ext cx="2940050" cy="246221"/>
          </a:xfrm>
          <a:prstGeom prst="rect">
            <a:avLst/>
          </a:prstGeom>
          <a:noFill/>
        </p:spPr>
        <p:txBody>
          <a:bodyPr wrap="square">
            <a:spAutoFit/>
          </a:bodyPr>
          <a:lstStyle/>
          <a:p>
            <a:pPr algn="ctr"/>
            <a:r>
              <a:rPr lang="en-US" sz="1000" dirty="0">
                <a:hlinkClick r:id="rId6"/>
              </a:rPr>
              <a:t>https://en.wikipedia.org/wiki/Normal_distribution</a:t>
            </a:r>
            <a:r>
              <a:rPr lang="en-US" sz="1000" dirty="0"/>
              <a:t> </a:t>
            </a:r>
          </a:p>
        </p:txBody>
      </p:sp>
    </p:spTree>
    <p:extLst>
      <p:ext uri="{BB962C8B-B14F-4D97-AF65-F5344CB8AC3E}">
        <p14:creationId xmlns:p14="http://schemas.microsoft.com/office/powerpoint/2010/main" val="2798787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0F7EB40-14FB-7621-B579-298C7123075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BC9A827F-3835-FF0A-D899-55C40F8C9C1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Why Gaussians?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The </a:t>
                </a:r>
                <a:r>
                  <a:rPr lang="en-US" sz="2400" b="1" dirty="0">
                    <a:solidFill>
                      <a:schemeClr val="dk1"/>
                    </a:solidFill>
                    <a:latin typeface="Arial"/>
                    <a:ea typeface="Arial"/>
                    <a:cs typeface="Arial"/>
                    <a:sym typeface="Arial"/>
                  </a:rPr>
                  <a:t>mean</a:t>
                </a:r>
                <a:r>
                  <a:rPr lang="en-US" sz="2400" dirty="0">
                    <a:solidFill>
                      <a:schemeClr val="dk1"/>
                    </a:solidFill>
                    <a:latin typeface="Arial"/>
                    <a:ea typeface="Arial"/>
                    <a:cs typeface="Arial"/>
                    <a:sym typeface="Arial"/>
                  </a:rPr>
                  <a:t> (</a:t>
                </a:r>
                <a14:m>
                  <m:oMath xmlns:m="http://schemas.openxmlformats.org/officeDocument/2006/math">
                    <m:r>
                      <m:rPr>
                        <m:sty m:val="p"/>
                      </m:rPr>
                      <a:rPr lang="en-US" sz="2400" i="1">
                        <a:latin typeface="Cambria Math" panose="02040503050406030204" pitchFamily="18" charset="0"/>
                        <a:ea typeface="Arial"/>
                        <a:cs typeface="Arial"/>
                        <a:sym typeface="Arial"/>
                      </a:rPr>
                      <m:t>μ</m:t>
                    </m:r>
                  </m:oMath>
                </a14:m>
                <a:r>
                  <a:rPr lang="en-US" sz="2400" dirty="0">
                    <a:solidFill>
                      <a:schemeClr val="dk1"/>
                    </a:solidFill>
                    <a:latin typeface="Arial"/>
                    <a:ea typeface="Arial"/>
                    <a:cs typeface="Arial"/>
                    <a:sym typeface="Arial"/>
                  </a:rPr>
                  <a:t>) represents our best guess of the robot's state. </a:t>
                </a:r>
              </a:p>
              <a:p>
                <a:pPr marL="0" indent="0">
                  <a:lnSpc>
                    <a:spcPct val="100000"/>
                  </a:lnSpc>
                  <a:spcBef>
                    <a:spcPts val="0"/>
                  </a:spcBef>
                  <a:buSzPts val="3000"/>
                  <a:buNone/>
                </a:pPr>
                <a:r>
                  <a:rPr lang="en-US" sz="2400" dirty="0">
                    <a:solidFill>
                      <a:schemeClr val="dk1"/>
                    </a:solidFill>
                    <a:latin typeface="Arial"/>
                    <a:ea typeface="Arial"/>
                    <a:cs typeface="Arial"/>
                    <a:sym typeface="Arial"/>
                  </a:rPr>
                  <a:t>The </a:t>
                </a:r>
                <a:r>
                  <a:rPr lang="en-US" sz="2400" b="1" dirty="0">
                    <a:solidFill>
                      <a:schemeClr val="dk1"/>
                    </a:solidFill>
                    <a:latin typeface="Arial"/>
                    <a:ea typeface="Arial"/>
                    <a:cs typeface="Arial"/>
                    <a:sym typeface="Arial"/>
                  </a:rPr>
                  <a:t>variance</a:t>
                </a:r>
                <a:r>
                  <a:rPr lang="en-US" sz="2400" dirty="0">
                    <a:solidFill>
                      <a:schemeClr val="dk1"/>
                    </a:solidFill>
                    <a:latin typeface="Arial"/>
                    <a:ea typeface="Arial"/>
                    <a:cs typeface="Arial"/>
                    <a:sym typeface="Arial"/>
                  </a:rPr>
                  <a:t> (</a:t>
                </a:r>
                <a14:m>
                  <m:oMath xmlns:m="http://schemas.openxmlformats.org/officeDocument/2006/math">
                    <m:sSup>
                      <m:sSupPr>
                        <m:ctrlPr>
                          <a:rPr lang="en-US" sz="2400" i="1">
                            <a:latin typeface="Cambria Math" panose="02040503050406030204" pitchFamily="18" charset="0"/>
                            <a:ea typeface="Arial"/>
                            <a:cs typeface="Arial"/>
                            <a:sym typeface="Arial"/>
                          </a:rPr>
                        </m:ctrlPr>
                      </m:sSupPr>
                      <m:e>
                        <m:r>
                          <a:rPr lang="en-US" sz="2400" i="1">
                            <a:latin typeface="Cambria Math" panose="02040503050406030204" pitchFamily="18" charset="0"/>
                            <a:ea typeface="Arial"/>
                            <a:cs typeface="Arial"/>
                            <a:sym typeface="Arial"/>
                          </a:rPr>
                          <m:t>𝜎</m:t>
                        </m:r>
                      </m:e>
                      <m:sup>
                        <m:r>
                          <a:rPr lang="en-US" sz="2400" i="1">
                            <a:latin typeface="Cambria Math" panose="02040503050406030204" pitchFamily="18" charset="0"/>
                            <a:ea typeface="Arial"/>
                            <a:cs typeface="Arial"/>
                            <a:sym typeface="Arial"/>
                          </a:rPr>
                          <m:t>2</m:t>
                        </m:r>
                      </m:sup>
                    </m:sSup>
                  </m:oMath>
                </a14:m>
                <a:r>
                  <a:rPr lang="en-US" sz="2400" dirty="0">
                    <a:solidFill>
                      <a:schemeClr val="dk1"/>
                    </a:solidFill>
                    <a:latin typeface="Arial"/>
                    <a:ea typeface="Arial"/>
                    <a:cs typeface="Arial"/>
                    <a:sym typeface="Arial"/>
                  </a:rPr>
                  <a:t>) represents our uncertainty; a wide curve means we are lost, a narrow curve means we are confident.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Gaussians are mathematically convenient: multiplying two Gaussians results in a new Gaussian!</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In addition, a lot of math can be derived in closed form when using Gaussians (most other more complex probability distributions do not allow for this)</a:t>
                </a:r>
              </a:p>
            </p:txBody>
          </p:sp>
        </mc:Choice>
        <mc:Fallback>
          <p:sp>
            <p:nvSpPr>
              <p:cNvPr id="118" name="Google Shape;118;p29">
                <a:extLst>
                  <a:ext uri="{FF2B5EF4-FFF2-40B4-BE49-F238E27FC236}">
                    <a16:creationId xmlns:a16="http://schemas.microsoft.com/office/drawing/2014/main" id="{BC9A827F-3835-FF0A-D899-55C40F8C9C1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7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59A792D-73AA-B827-13FC-82701B03B1E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73DD6FA-6E47-BDE9-FD34-02C8EC10AE4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FC45940-0BC9-49D1-F097-623A891A49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6A13348-9FFF-12D7-F48B-7A58B6B81F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4D9C4B5-8D20-B681-A69F-6BF56E57698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0519B6F-AE0F-73AC-A787-D1813F87C4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F772B7-755D-910D-082F-5CF34A2F72C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48F8A90-5FD3-0FC3-835D-21AB8AF0D0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83760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AE3407-DC15-E96F-1536-4061F8034D6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26828DE-7025-F60D-D286-1D176287E47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Which sensor would you trust more?</a:t>
            </a:r>
          </a:p>
        </p:txBody>
      </p:sp>
      <p:sp>
        <p:nvSpPr>
          <p:cNvPr id="119" name="Google Shape;119;p29">
            <a:extLst>
              <a:ext uri="{FF2B5EF4-FFF2-40B4-BE49-F238E27FC236}">
                <a16:creationId xmlns:a16="http://schemas.microsoft.com/office/drawing/2014/main" id="{08436E42-519C-8FBA-60FE-3DC889204B5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8FF8032-C12B-C2CB-444A-A0512EF8328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4ED8C47-DA2D-F9CA-BE64-9F6804D81D0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0DA912-5B67-3134-80D5-C63002A3582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10BCBFC-CF2D-E3CC-B865-799FC9C43B5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6B07321-EC64-5CC4-5484-A51AAA84939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C28203-BC0F-B2C9-7FB0-DA9FBF6EDA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DB71EEC-11F9-42E4-1533-A111DB64FF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1BCCD553-6D42-489E-24ED-5153F66EF2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76517" y="1767070"/>
            <a:ext cx="6438966" cy="4834468"/>
          </a:xfrm>
          <a:prstGeom prst="rect">
            <a:avLst/>
          </a:prstGeom>
        </p:spPr>
      </p:pic>
    </p:spTree>
    <p:extLst>
      <p:ext uri="{BB962C8B-B14F-4D97-AF65-F5344CB8AC3E}">
        <p14:creationId xmlns:p14="http://schemas.microsoft.com/office/powerpoint/2010/main" val="318188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A65329B-39F2-867F-0A04-9B098071B11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E3A8761-5B83-328D-A126-38F076CC624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The Kalman Filter is an optimal estimator for </a:t>
            </a:r>
            <a:r>
              <a:rPr lang="en-US" sz="2400" b="1" dirty="0">
                <a:solidFill>
                  <a:schemeClr val="dk1"/>
                </a:solidFill>
                <a:latin typeface="Arial"/>
                <a:ea typeface="Arial"/>
                <a:cs typeface="Arial"/>
                <a:sym typeface="Arial"/>
              </a:rPr>
              <a:t>linear </a:t>
            </a:r>
            <a:r>
              <a:rPr lang="en-US" sz="2400" dirty="0">
                <a:solidFill>
                  <a:schemeClr val="dk1"/>
                </a:solidFill>
                <a:latin typeface="Arial"/>
                <a:ea typeface="Arial"/>
                <a:cs typeface="Arial"/>
                <a:sym typeface="Arial"/>
              </a:rPr>
              <a:t>systems subject to </a:t>
            </a:r>
            <a:r>
              <a:rPr lang="en-US" sz="2400" b="1" dirty="0">
                <a:solidFill>
                  <a:schemeClr val="dk1"/>
                </a:solidFill>
                <a:latin typeface="Arial"/>
                <a:ea typeface="Arial"/>
                <a:cs typeface="Arial"/>
                <a:sym typeface="Arial"/>
              </a:rPr>
              <a:t>Gaussian </a:t>
            </a:r>
            <a:r>
              <a:rPr lang="en-US" sz="2400" dirty="0">
                <a:solidFill>
                  <a:schemeClr val="dk1"/>
                </a:solidFill>
                <a:latin typeface="Arial"/>
                <a:ea typeface="Arial"/>
                <a:cs typeface="Arial"/>
                <a:sym typeface="Arial"/>
              </a:rPr>
              <a:t>noise.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When would the Kalman Filter not be appropriate?</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gn="ctr">
              <a:lnSpc>
                <a:spcPct val="100000"/>
              </a:lnSpc>
              <a:spcBef>
                <a:spcPts val="0"/>
              </a:spcBef>
              <a:buSzPts val="3000"/>
              <a:buNone/>
            </a:pPr>
            <a:r>
              <a:rPr lang="en-US" sz="2400" dirty="0">
                <a:solidFill>
                  <a:schemeClr val="dk1"/>
                </a:solidFill>
                <a:latin typeface="Arial"/>
                <a:ea typeface="Arial"/>
                <a:cs typeface="Arial"/>
                <a:sym typeface="Arial"/>
              </a:rPr>
              <a:t>If your sensor or system if non-linear and / or does not follow a Gaussian noise distribution! Always understand how your sensors / system acts and the underlying assumptions for algorithms!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It operates in a continuous, two-step loop: </a:t>
            </a:r>
            <a:r>
              <a:rPr lang="en-US" sz="2400" b="1" dirty="0">
                <a:solidFill>
                  <a:schemeClr val="dk1"/>
                </a:solidFill>
                <a:latin typeface="Arial"/>
                <a:ea typeface="Arial"/>
                <a:cs typeface="Arial"/>
                <a:sym typeface="Arial"/>
              </a:rPr>
              <a:t>Predict</a:t>
            </a:r>
            <a:r>
              <a:rPr lang="en-US" sz="2400" dirty="0">
                <a:solidFill>
                  <a:schemeClr val="dk1"/>
                </a:solidFill>
                <a:latin typeface="Arial"/>
                <a:ea typeface="Arial"/>
                <a:cs typeface="Arial"/>
                <a:sym typeface="Arial"/>
              </a:rPr>
              <a:t> and </a:t>
            </a:r>
            <a:r>
              <a:rPr lang="en-US" sz="2400" b="1" dirty="0">
                <a:solidFill>
                  <a:schemeClr val="dk1"/>
                </a:solidFill>
                <a:latin typeface="Arial"/>
                <a:ea typeface="Arial"/>
                <a:cs typeface="Arial"/>
                <a:sym typeface="Arial"/>
              </a:rPr>
              <a:t>Update</a:t>
            </a:r>
            <a:r>
              <a:rPr lang="en-US" sz="2400" dirty="0">
                <a:solidFill>
                  <a:schemeClr val="dk1"/>
                </a:solidFill>
                <a:latin typeface="Arial"/>
                <a:ea typeface="Arial"/>
                <a:cs typeface="Arial"/>
                <a:sym typeface="Arial"/>
              </a:rPr>
              <a:t>.</a:t>
            </a:r>
          </a:p>
        </p:txBody>
      </p:sp>
      <p:sp>
        <p:nvSpPr>
          <p:cNvPr id="119" name="Google Shape;119;p29">
            <a:extLst>
              <a:ext uri="{FF2B5EF4-FFF2-40B4-BE49-F238E27FC236}">
                <a16:creationId xmlns:a16="http://schemas.microsoft.com/office/drawing/2014/main" id="{7E472022-BB26-A280-4E9F-ADDC70DFC27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F55D5F8-A3B7-2695-9B43-9B5EF757196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138AAD8-4295-2D1C-F3D6-D375B9C194D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9C38A00-8B26-B25A-8993-54C2AC7CA59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439B2F-9A64-BA63-289D-75BB0FCDE03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20DD1A-D2C9-3CCD-6A14-738983F101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D72C88-2EDB-1CE2-4E4B-8AB91424BA4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65A9CAD-537B-BC1C-8FC1-4CDB9AFDE7D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246074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868176-5818-6A02-B09B-2DA78D460F2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13740F5-3D2A-7756-7F9D-9154445BCCF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97510A0-882A-A843-6A2E-5C1F47BCA9C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F66113E-A496-FC67-CF7A-CC5B8699649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D2A2C0C-2528-01A0-C67C-5964FE538B3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19B5FE1-C72D-285C-066A-3F0003D15C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335AA4E-ACB6-3FB0-E090-AF433EA275F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A73F5B8-C3E4-1798-6308-D23F5E9624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45BE8C7-FAFA-4449-7A05-9A1E0E1A5F2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8BA59FD0-35B2-89C5-FDBD-04FCD45DED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157" y="868221"/>
            <a:ext cx="11173686" cy="5655816"/>
          </a:xfrm>
          <a:prstGeom prst="rect">
            <a:avLst/>
          </a:prstGeom>
        </p:spPr>
      </p:pic>
      <p:sp>
        <p:nvSpPr>
          <p:cNvPr id="6" name="Rectangle 5">
            <a:extLst>
              <a:ext uri="{FF2B5EF4-FFF2-40B4-BE49-F238E27FC236}">
                <a16:creationId xmlns:a16="http://schemas.microsoft.com/office/drawing/2014/main" id="{D3174F6D-4417-D7E2-1109-F5593B2CC584}"/>
              </a:ext>
            </a:extLst>
          </p:cNvPr>
          <p:cNvSpPr/>
          <p:nvPr/>
        </p:nvSpPr>
        <p:spPr>
          <a:xfrm>
            <a:off x="1009650" y="958850"/>
            <a:ext cx="2197100" cy="17208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B22CC04-9718-F1F7-241C-FA54E61578EF}"/>
              </a:ext>
            </a:extLst>
          </p:cNvPr>
          <p:cNvSpPr/>
          <p:nvPr/>
        </p:nvSpPr>
        <p:spPr>
          <a:xfrm>
            <a:off x="6096000" y="906290"/>
            <a:ext cx="2089150" cy="10368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4522EFA-256E-7135-3175-8369BF5F8BED}"/>
              </a:ext>
            </a:extLst>
          </p:cNvPr>
          <p:cNvSpPr/>
          <p:nvPr/>
        </p:nvSpPr>
        <p:spPr>
          <a:xfrm>
            <a:off x="5905500" y="3814590"/>
            <a:ext cx="2435225" cy="10368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0AEBF65-49DB-D222-8A49-60B639CE487A}"/>
              </a:ext>
            </a:extLst>
          </p:cNvPr>
          <p:cNvSpPr/>
          <p:nvPr/>
        </p:nvSpPr>
        <p:spPr>
          <a:xfrm>
            <a:off x="3660775" y="5201217"/>
            <a:ext cx="2162175" cy="7885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069F143-771D-627B-EAAC-70033AECD387}"/>
              </a:ext>
            </a:extLst>
          </p:cNvPr>
          <p:cNvCxnSpPr>
            <a:stCxn id="9" idx="0"/>
            <a:endCxn id="6" idx="2"/>
          </p:cNvCxnSpPr>
          <p:nvPr/>
        </p:nvCxnSpPr>
        <p:spPr>
          <a:xfrm flipH="1" flipV="1">
            <a:off x="2108200" y="2679700"/>
            <a:ext cx="2633663" cy="25215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12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2"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animBg="1"/>
      <p:bldP spid="7" grpId="1" animBg="1"/>
      <p:bldP spid="8" grpId="0" animBg="1"/>
      <p:bldP spid="8" grpId="1" animBg="1"/>
      <p:bldP spid="9" grpId="0" animBg="1"/>
      <p:bldP spid="9"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DDB4493-D9D8-6AD3-51AC-CF4793D5AC4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554BD8F-ADA5-EA1B-8DE0-AD93BC21168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solidFill>
                  <a:schemeClr val="dk1"/>
                </a:solidFill>
                <a:latin typeface="Arial"/>
                <a:ea typeface="Arial"/>
                <a:cs typeface="Arial"/>
                <a:sym typeface="Arial"/>
              </a:rPr>
              <a:t>Step 1</a:t>
            </a:r>
            <a:r>
              <a:rPr lang="en-US" sz="2400" dirty="0">
                <a:solidFill>
                  <a:schemeClr val="dk1"/>
                </a:solidFill>
                <a:latin typeface="Arial"/>
                <a:ea typeface="Arial"/>
                <a:cs typeface="Arial"/>
                <a:sym typeface="Arial"/>
              </a:rPr>
              <a:t>: The robot </a:t>
            </a:r>
            <a:r>
              <a:rPr lang="en-US" sz="2400" b="1" dirty="0">
                <a:solidFill>
                  <a:schemeClr val="dk1"/>
                </a:solidFill>
                <a:latin typeface="Arial"/>
                <a:ea typeface="Arial"/>
                <a:cs typeface="Arial"/>
                <a:sym typeface="Arial"/>
              </a:rPr>
              <a:t>moves</a:t>
            </a:r>
            <a:r>
              <a:rPr lang="en-US" sz="2400" dirty="0">
                <a:solidFill>
                  <a:schemeClr val="dk1"/>
                </a:solidFill>
                <a:latin typeface="Arial"/>
                <a:ea typeface="Arial"/>
                <a:cs typeface="Arial"/>
                <a:sym typeface="Arial"/>
              </a:rPr>
              <a:t>. We use our fast, noisy sensors (Odometry/IMU) to </a:t>
            </a:r>
            <a:r>
              <a:rPr lang="en-US" sz="2400" b="1" dirty="0">
                <a:solidFill>
                  <a:schemeClr val="dk1"/>
                </a:solidFill>
                <a:latin typeface="Arial"/>
                <a:ea typeface="Arial"/>
                <a:cs typeface="Arial"/>
                <a:sym typeface="Arial"/>
              </a:rPr>
              <a:t>Predict</a:t>
            </a:r>
            <a:r>
              <a:rPr lang="en-US" sz="2400" dirty="0">
                <a:solidFill>
                  <a:schemeClr val="dk1"/>
                </a:solidFill>
                <a:latin typeface="Arial"/>
                <a:ea typeface="Arial"/>
                <a:cs typeface="Arial"/>
                <a:sym typeface="Arial"/>
              </a:rPr>
              <a:t> where we are. Our uncertainty grows.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b="1" dirty="0">
                <a:solidFill>
                  <a:schemeClr val="dk1"/>
                </a:solidFill>
                <a:latin typeface="Arial"/>
                <a:ea typeface="Arial"/>
                <a:cs typeface="Arial"/>
                <a:sym typeface="Arial"/>
              </a:rPr>
              <a:t>Step 2:</a:t>
            </a:r>
            <a:r>
              <a:rPr lang="en-US" sz="2400" dirty="0">
                <a:solidFill>
                  <a:schemeClr val="dk1"/>
                </a:solidFill>
                <a:latin typeface="Arial"/>
                <a:ea typeface="Arial"/>
                <a:cs typeface="Arial"/>
                <a:sym typeface="Arial"/>
              </a:rPr>
              <a:t> The robot </a:t>
            </a:r>
            <a:r>
              <a:rPr lang="en-US" sz="2400" b="1" dirty="0">
                <a:solidFill>
                  <a:schemeClr val="dk1"/>
                </a:solidFill>
                <a:latin typeface="Arial"/>
                <a:ea typeface="Arial"/>
                <a:cs typeface="Arial"/>
                <a:sym typeface="Arial"/>
              </a:rPr>
              <a:t>looks</a:t>
            </a:r>
            <a:r>
              <a:rPr lang="en-US" sz="2400" dirty="0">
                <a:solidFill>
                  <a:schemeClr val="dk1"/>
                </a:solidFill>
                <a:latin typeface="Arial"/>
                <a:ea typeface="Arial"/>
                <a:cs typeface="Arial"/>
                <a:sym typeface="Arial"/>
              </a:rPr>
              <a:t>. We take a measurement with our absolute sensor (LiDAR) to </a:t>
            </a:r>
            <a:r>
              <a:rPr lang="en-US" sz="2400" b="1" dirty="0">
                <a:solidFill>
                  <a:schemeClr val="dk1"/>
                </a:solidFill>
                <a:latin typeface="Arial"/>
                <a:ea typeface="Arial"/>
                <a:cs typeface="Arial"/>
                <a:sym typeface="Arial"/>
              </a:rPr>
              <a:t>Update</a:t>
            </a:r>
            <a:r>
              <a:rPr lang="en-US" sz="2400" dirty="0">
                <a:solidFill>
                  <a:schemeClr val="dk1"/>
                </a:solidFill>
                <a:latin typeface="Arial"/>
                <a:ea typeface="Arial"/>
                <a:cs typeface="Arial"/>
                <a:sym typeface="Arial"/>
              </a:rPr>
              <a:t> our belief. Our uncertainty shrinks.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Rinse and repeat thousands of times a second.</a:t>
            </a:r>
          </a:p>
        </p:txBody>
      </p:sp>
      <p:sp>
        <p:nvSpPr>
          <p:cNvPr id="119" name="Google Shape;119;p29">
            <a:extLst>
              <a:ext uri="{FF2B5EF4-FFF2-40B4-BE49-F238E27FC236}">
                <a16:creationId xmlns:a16="http://schemas.microsoft.com/office/drawing/2014/main" id="{E376E3B1-134B-A92F-832F-A20DC6C9145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D32CD28-BE88-F845-00A1-5A4DEFB900D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4D7FA8B-A4B3-75D3-6F82-1164570B7BE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24B13C-C0B8-E382-99CF-E9BF4D08D14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5A7BEDE-BC74-822A-748C-B76164B3D9E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52E0AD5-15AB-90FD-F7D0-D607498CDDE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6428992-8FDC-0D6C-C78D-E8468CE9F14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B674D67-627C-B72C-E09C-8CB5FD92C49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52340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31B2B4F-5738-FDF9-FD39-4A8C8376F6A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FAD5EF0-059F-3536-5885-8D1B1A9E352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851F5CC-E10E-7B51-D4B3-ABA254B8A34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943C047-CDC9-33EE-16AA-58930CC374C9}"/>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0CDE8AC-E7C3-6C8D-2C85-8D631400D9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825EE23-8497-A8AF-D688-63C2861D70A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5017000-93DD-562B-15F8-4ADD83DE22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01F4652-1E6B-F4F1-9BAC-BC043FFFD6B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2EEB2C-584D-7969-94DF-3D6304C00FB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kalman_1d_publication_quality">
            <a:hlinkClick r:id="" action="ppaction://media"/>
            <a:extLst>
              <a:ext uri="{FF2B5EF4-FFF2-40B4-BE49-F238E27FC236}">
                <a16:creationId xmlns:a16="http://schemas.microsoft.com/office/drawing/2014/main" id="{2F7F4B1C-22CC-1CC9-EFFA-09BF652E552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88314" y="876107"/>
            <a:ext cx="6815371" cy="5679476"/>
          </a:xfrm>
          <a:prstGeom prst="rect">
            <a:avLst/>
          </a:prstGeom>
        </p:spPr>
      </p:pic>
    </p:spTree>
    <p:extLst>
      <p:ext uri="{BB962C8B-B14F-4D97-AF65-F5344CB8AC3E}">
        <p14:creationId xmlns:p14="http://schemas.microsoft.com/office/powerpoint/2010/main" val="355191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7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6AB8B77-7D8F-9C2F-DFA1-D1BA48EDBF1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A444E61C-02F9-C990-1E7E-5501AB07947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We use a physical model of the robot (kinematics) and our control inputs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𝑢</m:t>
                    </m:r>
                  </m:oMath>
                </a14:m>
                <a:r>
                  <a:rPr lang="en-US" sz="2400" dirty="0">
                    <a:solidFill>
                      <a:schemeClr val="dk1"/>
                    </a:solidFill>
                    <a:latin typeface="Arial"/>
                    <a:ea typeface="Arial"/>
                    <a:cs typeface="Arial"/>
                    <a:sym typeface="Arial"/>
                  </a:rPr>
                  <a:t>) to guess the new state.</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Because we know our model and our encoders are imperfect, we actively increase our uncertainty covariance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𝑃</m:t>
                    </m:r>
                  </m:oMath>
                </a14:m>
                <a:r>
                  <a:rPr lang="en-US" sz="2400" dirty="0">
                    <a:solidFill>
                      <a:schemeClr val="dk1"/>
                    </a:solidFill>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This represents "flying blind" between reference measurements.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If we close our eyes and take 5 steps, are we more or less certain of our position than before we moved?</a:t>
                </a:r>
              </a:p>
            </p:txBody>
          </p:sp>
        </mc:Choice>
        <mc:Fallback>
          <p:sp>
            <p:nvSpPr>
              <p:cNvPr id="118" name="Google Shape;118;p29">
                <a:extLst>
                  <a:ext uri="{FF2B5EF4-FFF2-40B4-BE49-F238E27FC236}">
                    <a16:creationId xmlns:a16="http://schemas.microsoft.com/office/drawing/2014/main" id="{A444E61C-02F9-C990-1E7E-5501AB07947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43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D73FE52-A7A5-6FEE-F734-1255D05DD22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B7DCF16-91BF-8467-BCB4-09388966110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12BA770-93EC-2352-E466-015C3CF3F90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1F65073-39B2-ECE9-F4FA-BA5E729448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C72B3C-712E-A7DF-D83D-60BFF3F5838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FFD3AC2-7FCB-B17D-56B3-26BEB48A41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53B4413-E482-2CE4-07FD-B76E82585A2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FF61FD4-F396-E179-3A2D-056FB83E6C7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580347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8A07BB-12B5-8BEC-2F0E-E8D94158DC6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07BC29F1-3770-84E0-6794-1E7E81F94CF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Before we look at massive matrices, let's look at a robot on a 1-Dimensional train track.</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Its state is just one number: its position on the track, </a:t>
                </a:r>
                <a14:m>
                  <m:oMath xmlns:m="http://schemas.openxmlformats.org/officeDocument/2006/math">
                    <m:r>
                      <m:rPr>
                        <m:sty m:val="p"/>
                      </m:rPr>
                      <a:rPr lang="en-US" sz="2400" b="0" i="1" smtClean="0">
                        <a:latin typeface="Cambria Math" panose="02040503050406030204" pitchFamily="18" charset="0"/>
                        <a:ea typeface="Arial"/>
                        <a:cs typeface="Arial"/>
                        <a:sym typeface="Arial"/>
                      </a:rPr>
                      <m:t>μ</m:t>
                    </m:r>
                  </m:oMath>
                </a14:m>
                <a:r>
                  <a:rPr lang="en-US" sz="2400" dirty="0">
                    <a:latin typeface="Arial"/>
                    <a:ea typeface="Arial"/>
                    <a:cs typeface="Arial"/>
                    <a:sym typeface="Arial"/>
                  </a:rPr>
                  <a:t>. Its uncertainty is also just one number: the variance, </a:t>
                </a:r>
                <a14:m>
                  <m:oMath xmlns:m="http://schemas.openxmlformats.org/officeDocument/2006/math">
                    <m:sSup>
                      <m:sSupPr>
                        <m:ctrlPr>
                          <a:rPr lang="en-US" sz="2400" i="1">
                            <a:latin typeface="Cambria Math" panose="02040503050406030204" pitchFamily="18" charset="0"/>
                            <a:ea typeface="Arial"/>
                            <a:cs typeface="Arial"/>
                            <a:sym typeface="Arial"/>
                          </a:rPr>
                        </m:ctrlPr>
                      </m:sSupPr>
                      <m:e>
                        <m:r>
                          <a:rPr lang="en-US" sz="2400" i="1">
                            <a:latin typeface="Cambria Math" panose="02040503050406030204" pitchFamily="18" charset="0"/>
                            <a:ea typeface="Arial"/>
                            <a:cs typeface="Arial"/>
                            <a:sym typeface="Arial"/>
                          </a:rPr>
                          <m:t>𝜎</m:t>
                        </m:r>
                      </m:e>
                      <m:sup>
                        <m:r>
                          <a:rPr lang="en-US" sz="2400" i="1">
                            <a:latin typeface="Cambria Math" panose="02040503050406030204" pitchFamily="18" charset="0"/>
                            <a:ea typeface="Arial"/>
                            <a:cs typeface="Arial"/>
                            <a:sym typeface="Arial"/>
                          </a:rPr>
                          <m:t>2</m:t>
                        </m:r>
                      </m:sup>
                    </m:sSup>
                    <m:r>
                      <a:rPr lang="en-US" sz="2400" i="1">
                        <a:latin typeface="Cambria Math" panose="02040503050406030204" pitchFamily="18" charset="0"/>
                        <a:ea typeface="Arial"/>
                        <a:cs typeface="Arial"/>
                        <a:sym typeface="Arial"/>
                      </a:rPr>
                      <m:t> </m:t>
                    </m:r>
                  </m:oMath>
                </a14:m>
                <a:r>
                  <a:rPr lang="en-US" sz="2400" dirty="0">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Together, they form a 1D Gaussian (Bell Curve) representing our "belief".</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p:sp>
            <p:nvSpPr>
              <p:cNvPr id="118" name="Google Shape;118;p29">
                <a:extLst>
                  <a:ext uri="{FF2B5EF4-FFF2-40B4-BE49-F238E27FC236}">
                    <a16:creationId xmlns:a16="http://schemas.microsoft.com/office/drawing/2014/main" id="{07BC29F1-3770-84E0-6794-1E7E81F94CF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81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71553DE-1FC9-A108-70AA-CE4F3210477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909B984-032F-143B-8486-3672CA3DFE3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38DD75A-722A-42C3-B592-8087EF86197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070733E-2711-9ECD-183E-A720C5E0031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974EFA8-5AA6-7F56-A5EB-09691014550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83DCC83-1B18-29FF-9B56-6219EB0E0F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3B0A41D-F920-0600-5286-811D11480BC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92DCF1F-D150-CBC3-BA0E-26CE575C06A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664980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EBEB7A0-9C14-A99B-9284-2702102476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ADEE7DE-F787-2BF2-817E-CF565E6C3D7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47BEB2D-D533-4BAB-A122-758A7FAD7AE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CFED6B8-22A3-E25E-6CFD-512B7C36D01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8CF868A-512A-0A57-2D65-B294682C3F8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302325-1FD4-7B7B-9C68-5CD28072399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FCE4BEA-CF12-4F1F-D2F7-AEF804C7A22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4021BCC-D959-5D13-B3E3-E511995B193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31B2141-4BEB-7520-1011-8ADA48C6DFA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F36F80FA-8AB9-CA0B-87D2-56033447C5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2321" y="982504"/>
            <a:ext cx="10855188" cy="5427594"/>
          </a:xfrm>
          <a:prstGeom prst="rect">
            <a:avLst/>
          </a:prstGeom>
        </p:spPr>
      </p:pic>
    </p:spTree>
    <p:extLst>
      <p:ext uri="{BB962C8B-B14F-4D97-AF65-F5344CB8AC3E}">
        <p14:creationId xmlns:p14="http://schemas.microsoft.com/office/powerpoint/2010/main" val="2216817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3D3F0FC-7A2B-0DD8-DB53-01441FCCE76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87F7B560-5CB2-A935-3A3D-3A997F6BF2A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The robot commands its motors to move forward by distance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𝑢</m:t>
                    </m:r>
                  </m:oMath>
                </a14:m>
                <a:r>
                  <a:rPr lang="en-US" sz="2400" dirty="0">
                    <a:solidFill>
                      <a:schemeClr val="dk1"/>
                    </a:solidFill>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Our new predicted mean simply shifts: </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solidFill>
                                <a:schemeClr val="dk1"/>
                              </a:solidFill>
                              <a:latin typeface="Cambria Math" panose="02040503050406030204" pitchFamily="18" charset="0"/>
                              <a:ea typeface="Arial"/>
                              <a:cs typeface="Arial"/>
                              <a:sym typeface="Arial"/>
                            </a:rPr>
                          </m:ctrlPr>
                        </m:sSubPr>
                        <m:e>
                          <m:r>
                            <a:rPr lang="en-US" sz="2400" i="1" dirty="0" smtClean="0">
                              <a:solidFill>
                                <a:schemeClr val="dk1"/>
                              </a:solidFill>
                              <a:latin typeface="Cambria Math" panose="02040503050406030204" pitchFamily="18" charset="0"/>
                              <a:ea typeface="Arial"/>
                              <a:cs typeface="Arial"/>
                              <a:sym typeface="Arial"/>
                            </a:rPr>
                            <m:t>𝜇</m:t>
                          </m:r>
                        </m:e>
                        <m:sub>
                          <m:r>
                            <a:rPr lang="en-US" sz="2400" i="1" dirty="0" smtClean="0">
                              <a:solidFill>
                                <a:schemeClr val="dk1"/>
                              </a:solidFill>
                              <a:latin typeface="Cambria Math" panose="02040503050406030204" pitchFamily="18" charset="0"/>
                              <a:ea typeface="Arial"/>
                              <a:cs typeface="Arial"/>
                              <a:sym typeface="Arial"/>
                            </a:rPr>
                            <m:t>𝑝𝑟𝑒𝑑</m:t>
                          </m:r>
                        </m:sub>
                      </m:sSub>
                      <m:r>
                        <a:rPr lang="en-US" sz="2400" i="1" dirty="0" smtClean="0">
                          <a:solidFill>
                            <a:schemeClr val="dk1"/>
                          </a:solidFill>
                          <a:latin typeface="Cambria Math" panose="02040503050406030204" pitchFamily="18" charset="0"/>
                          <a:ea typeface="Arial"/>
                          <a:cs typeface="Arial"/>
                          <a:sym typeface="Arial"/>
                        </a:rPr>
                        <m:t>=</m:t>
                      </m:r>
                      <m:sSub>
                        <m:sSubPr>
                          <m:ctrlPr>
                            <a:rPr lang="en-US" sz="2400" i="1" dirty="0" smtClean="0">
                              <a:solidFill>
                                <a:schemeClr val="dk1"/>
                              </a:solidFill>
                              <a:latin typeface="Cambria Math" panose="02040503050406030204" pitchFamily="18" charset="0"/>
                              <a:ea typeface="Arial"/>
                              <a:cs typeface="Arial"/>
                              <a:sym typeface="Arial"/>
                            </a:rPr>
                          </m:ctrlPr>
                        </m:sSubPr>
                        <m:e>
                          <m:r>
                            <a:rPr lang="en-US" sz="2400" i="1" dirty="0" smtClean="0">
                              <a:solidFill>
                                <a:schemeClr val="dk1"/>
                              </a:solidFill>
                              <a:latin typeface="Cambria Math" panose="02040503050406030204" pitchFamily="18" charset="0"/>
                              <a:ea typeface="Arial"/>
                              <a:cs typeface="Arial"/>
                              <a:sym typeface="Arial"/>
                            </a:rPr>
                            <m:t>𝜇</m:t>
                          </m:r>
                        </m:e>
                        <m:sub>
                          <m:r>
                            <a:rPr lang="en-US" sz="2400" i="1" dirty="0" smtClean="0">
                              <a:solidFill>
                                <a:schemeClr val="dk1"/>
                              </a:solidFill>
                              <a:latin typeface="Cambria Math" panose="02040503050406030204" pitchFamily="18" charset="0"/>
                              <a:ea typeface="Arial"/>
                              <a:cs typeface="Arial"/>
                              <a:sym typeface="Arial"/>
                            </a:rPr>
                            <m:t>𝑜𝑙𝑑</m:t>
                          </m:r>
                        </m:sub>
                      </m:sSub>
                      <m:r>
                        <a:rPr lang="en-US" sz="2400" i="1" dirty="0" smtClean="0">
                          <a:solidFill>
                            <a:schemeClr val="dk1"/>
                          </a:solidFill>
                          <a:latin typeface="Cambria Math" panose="02040503050406030204" pitchFamily="18" charset="0"/>
                          <a:ea typeface="Arial"/>
                          <a:cs typeface="Arial"/>
                          <a:sym typeface="Arial"/>
                        </a:rPr>
                        <m:t>+</m:t>
                      </m:r>
                      <m:r>
                        <a:rPr lang="en-US" sz="2400" i="1" dirty="0" smtClean="0">
                          <a:solidFill>
                            <a:schemeClr val="dk1"/>
                          </a:solidFill>
                          <a:latin typeface="Cambria Math" panose="02040503050406030204" pitchFamily="18" charset="0"/>
                          <a:ea typeface="Arial"/>
                          <a:cs typeface="Arial"/>
                          <a:sym typeface="Arial"/>
                        </a:rPr>
                        <m:t>𝑢</m:t>
                      </m:r>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But moving adds process noise (</a:t>
                </a:r>
                <a14:m>
                  <m:oMath xmlns:m="http://schemas.openxmlformats.org/officeDocument/2006/math">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𝑚𝑜𝑣𝑒</m:t>
                        </m:r>
                      </m:sub>
                      <m:sup>
                        <m:r>
                          <a:rPr lang="en-US" sz="2400" i="1" dirty="0" smtClean="0">
                            <a:solidFill>
                              <a:schemeClr val="dk1"/>
                            </a:solidFill>
                            <a:latin typeface="Cambria Math" panose="02040503050406030204" pitchFamily="18" charset="0"/>
                            <a:ea typeface="Arial"/>
                            <a:cs typeface="Arial"/>
                            <a:sym typeface="Arial"/>
                          </a:rPr>
                          <m:t>2</m:t>
                        </m:r>
                      </m:sup>
                    </m:sSubSup>
                  </m:oMath>
                </a14:m>
                <a:r>
                  <a:rPr lang="en-US" sz="2400" dirty="0">
                    <a:solidFill>
                      <a:schemeClr val="dk1"/>
                    </a:solidFill>
                    <a:latin typeface="Arial"/>
                    <a:ea typeface="Arial"/>
                    <a:cs typeface="Arial"/>
                    <a:sym typeface="Arial"/>
                  </a:rPr>
                  <a:t>).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Our uncertainty grows.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𝑝𝑟𝑒𝑑</m:t>
                          </m:r>
                        </m:sub>
                        <m:sup>
                          <m:r>
                            <a:rPr lang="en-US" sz="2400" i="1" dirty="0" smtClean="0">
                              <a:solidFill>
                                <a:schemeClr val="dk1"/>
                              </a:solidFill>
                              <a:latin typeface="Cambria Math" panose="02040503050406030204" pitchFamily="18" charset="0"/>
                              <a:ea typeface="Arial"/>
                              <a:cs typeface="Arial"/>
                              <a:sym typeface="Arial"/>
                            </a:rPr>
                            <m:t>2</m:t>
                          </m:r>
                        </m:sup>
                      </m:sSubSup>
                      <m:r>
                        <a:rPr lang="en-US" sz="2400" i="1" dirty="0" smtClean="0">
                          <a:solidFill>
                            <a:schemeClr val="dk1"/>
                          </a:solidFill>
                          <a:latin typeface="Cambria Math" panose="02040503050406030204" pitchFamily="18" charset="0"/>
                          <a:ea typeface="Arial"/>
                          <a:cs typeface="Arial"/>
                          <a:sym typeface="Arial"/>
                        </a:rPr>
                        <m:t>=</m:t>
                      </m:r>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𝑜𝑙𝑑</m:t>
                          </m:r>
                        </m:sub>
                        <m:sup>
                          <m:r>
                            <a:rPr lang="en-US" sz="2400" i="1" dirty="0" smtClean="0">
                              <a:solidFill>
                                <a:schemeClr val="dk1"/>
                              </a:solidFill>
                              <a:latin typeface="Cambria Math" panose="02040503050406030204" pitchFamily="18" charset="0"/>
                              <a:ea typeface="Arial"/>
                              <a:cs typeface="Arial"/>
                              <a:sym typeface="Arial"/>
                            </a:rPr>
                            <m:t>2</m:t>
                          </m:r>
                        </m:sup>
                      </m:sSubSup>
                      <m:r>
                        <a:rPr lang="en-US" sz="2400" i="1" dirty="0" smtClean="0">
                          <a:solidFill>
                            <a:schemeClr val="dk1"/>
                          </a:solidFill>
                          <a:latin typeface="Cambria Math" panose="02040503050406030204" pitchFamily="18" charset="0"/>
                          <a:ea typeface="Arial"/>
                          <a:cs typeface="Arial"/>
                          <a:sym typeface="Arial"/>
                        </a:rPr>
                        <m:t>+</m:t>
                      </m:r>
                      <m:sSubSup>
                        <m:sSubSupPr>
                          <m:ctrlPr>
                            <a:rPr lang="en-US" sz="2400" i="1" dirty="0" smtClean="0">
                              <a:solidFill>
                                <a:schemeClr val="dk1"/>
                              </a:solidFill>
                              <a:latin typeface="Cambria Math" panose="02040503050406030204" pitchFamily="18" charset="0"/>
                              <a:ea typeface="Arial"/>
                              <a:cs typeface="Arial"/>
                              <a:sym typeface="Arial"/>
                            </a:rPr>
                          </m:ctrlPr>
                        </m:sSubSupPr>
                        <m:e>
                          <m:r>
                            <a:rPr lang="en-US" sz="2400" i="1" dirty="0" smtClean="0">
                              <a:solidFill>
                                <a:schemeClr val="dk1"/>
                              </a:solidFill>
                              <a:latin typeface="Cambria Math" panose="02040503050406030204" pitchFamily="18" charset="0"/>
                              <a:ea typeface="Arial"/>
                              <a:cs typeface="Arial"/>
                              <a:sym typeface="Arial"/>
                            </a:rPr>
                            <m:t>𝜎</m:t>
                          </m:r>
                        </m:e>
                        <m:sub>
                          <m:r>
                            <a:rPr lang="en-US" sz="2400" i="1" dirty="0" smtClean="0">
                              <a:solidFill>
                                <a:schemeClr val="dk1"/>
                              </a:solidFill>
                              <a:latin typeface="Cambria Math" panose="02040503050406030204" pitchFamily="18" charset="0"/>
                              <a:ea typeface="Arial"/>
                              <a:cs typeface="Arial"/>
                              <a:sym typeface="Arial"/>
                            </a:rPr>
                            <m:t>𝑚𝑜𝑣𝑒</m:t>
                          </m:r>
                        </m:sub>
                        <m:sup>
                          <m:r>
                            <a:rPr lang="en-US" sz="2400" i="1" dirty="0" smtClean="0">
                              <a:solidFill>
                                <a:schemeClr val="dk1"/>
                              </a:solidFill>
                              <a:latin typeface="Cambria Math" panose="02040503050406030204" pitchFamily="18" charset="0"/>
                              <a:ea typeface="Arial"/>
                              <a:cs typeface="Arial"/>
                              <a:sym typeface="Arial"/>
                            </a:rPr>
                            <m:t>2</m:t>
                          </m:r>
                        </m:sup>
                      </m:sSubSup>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p:sp>
            <p:nvSpPr>
              <p:cNvPr id="118" name="Google Shape;118;p29">
                <a:extLst>
                  <a:ext uri="{FF2B5EF4-FFF2-40B4-BE49-F238E27FC236}">
                    <a16:creationId xmlns:a16="http://schemas.microsoft.com/office/drawing/2014/main" id="{87F7B560-5CB2-A935-3A3D-3A997F6BF2A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68E1554-8107-F257-CA0F-17B68BA099C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1B21338-72E2-D33F-10A5-18DA957FCF6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4277B434-106E-59F3-C7C8-5A6260022D1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2734453-4DD0-54A4-CA8C-56A904E7CB9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42B63A-ED3E-6D46-10A1-0C8D45D5DD7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7A2EDD6-2B9C-0A51-9BA2-278B4582ECD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6CECA21-4760-0C19-5F59-D2C13CBF30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929AFF5-62CE-11D2-2B88-EC9E84A0678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53166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CC46DD4-F0E9-00D1-9DE8-8AC37EB847D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E34F803-63E6-9716-FE5B-13F0C9E1000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05FE115-D2FF-CEA9-0592-C9BFE02234F4}"/>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CF98374-1E79-0217-EB38-764EAEBC691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A71898-D5D9-E0E7-E6D3-1CF6F27854C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12D5EC-6E0F-A584-3A61-BA11033E584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E407C28-2849-08A0-6C8E-ABB8ED8C64B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30F84C1-D990-E94C-FF99-63B9665F28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945626C-483F-21D9-BCF6-BE1A8B29063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ABCE8D01-A433-765C-31F8-999610B4C62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02321" y="982504"/>
            <a:ext cx="10855188" cy="5427594"/>
          </a:xfrm>
          <a:prstGeom prst="rect">
            <a:avLst/>
          </a:prstGeom>
        </p:spPr>
      </p:pic>
    </p:spTree>
    <p:extLst>
      <p:ext uri="{BB962C8B-B14F-4D97-AF65-F5344CB8AC3E}">
        <p14:creationId xmlns:p14="http://schemas.microsoft.com/office/powerpoint/2010/main" val="1839712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E3F0C36-C162-5986-87D6-D1B65829BC5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CA25EF48-A626-2479-79A7-B9D0A76129D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This prediction updates the covariance and the means as such because we are assuming </a:t>
                </a:r>
                <a:r>
                  <a:rPr lang="en-US" sz="2400" b="1" dirty="0">
                    <a:latin typeface="Arial"/>
                    <a:ea typeface="Arial"/>
                    <a:cs typeface="Arial"/>
                    <a:sym typeface="Arial"/>
                  </a:rPr>
                  <a:t>Gaussian </a:t>
                </a:r>
                <a:r>
                  <a:rPr lang="en-US" sz="2400" dirty="0">
                    <a:latin typeface="Arial"/>
                    <a:ea typeface="Arial"/>
                    <a:cs typeface="Arial"/>
                    <a:sym typeface="Arial"/>
                  </a:rPr>
                  <a:t>random variables.</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Let X and Y be independent random variables that are normally distributed, then their sum is also normally distributed. i.e., if</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𝑋</m:t>
                      </m:r>
                      <m:r>
                        <a:rPr lang="en-US" sz="2400" b="0" i="1" smtClean="0">
                          <a:solidFill>
                            <a:schemeClr val="dk1"/>
                          </a:solidFill>
                          <a:latin typeface="Cambria Math" panose="02040503050406030204" pitchFamily="18" charset="0"/>
                          <a:ea typeface="Arial"/>
                          <a:cs typeface="Arial"/>
                          <a:sym typeface="Arial"/>
                        </a:rPr>
                        <m:t>∼</m:t>
                      </m:r>
                      <m:r>
                        <a:rPr lang="en-US" sz="2400" b="0" i="1" smtClean="0">
                          <a:solidFill>
                            <a:schemeClr val="dk1"/>
                          </a:solidFill>
                          <a:latin typeface="Cambria Math" panose="02040503050406030204" pitchFamily="18" charset="0"/>
                          <a:ea typeface="Arial"/>
                          <a:cs typeface="Arial"/>
                          <a:sym typeface="Arial"/>
                        </a:rPr>
                        <m:t>𝑁</m:t>
                      </m:r>
                      <m:d>
                        <m:dPr>
                          <m:ctrlPr>
                            <a:rPr lang="en-US" sz="2400" b="0" i="1" smtClean="0">
                              <a:solidFill>
                                <a:schemeClr val="dk1"/>
                              </a:solidFill>
                              <a:latin typeface="Cambria Math" panose="02040503050406030204" pitchFamily="18" charset="0"/>
                              <a:ea typeface="Arial"/>
                              <a:cs typeface="Arial"/>
                              <a:sym typeface="Arial"/>
                            </a:rPr>
                          </m:ctrlPr>
                        </m:dPr>
                        <m:e>
                          <m:sSub>
                            <m:sSubPr>
                              <m:ctrlPr>
                                <a:rPr lang="en-US" sz="2400" b="0" i="1" smtClean="0">
                                  <a:solidFill>
                                    <a:schemeClr val="dk1"/>
                                  </a:solidFill>
                                  <a:latin typeface="Cambria Math" panose="02040503050406030204" pitchFamily="18" charset="0"/>
                                  <a:ea typeface="Arial"/>
                                  <a:cs typeface="Arial"/>
                                  <a:sym typeface="Arial"/>
                                </a:rPr>
                              </m:ctrlPr>
                            </m:sSubPr>
                            <m:e>
                              <m:r>
                                <a:rPr lang="en-US" sz="2400" b="0" i="1" smtClean="0">
                                  <a:solidFill>
                                    <a:schemeClr val="dk1"/>
                                  </a:solidFill>
                                  <a:latin typeface="Cambria Math" panose="02040503050406030204" pitchFamily="18" charset="0"/>
                                  <a:ea typeface="Arial"/>
                                  <a:cs typeface="Arial"/>
                                  <a:sym typeface="Arial"/>
                                </a:rPr>
                                <m:t>𝜇</m:t>
                              </m:r>
                            </m:e>
                            <m:sub>
                              <m:r>
                                <a:rPr lang="en-US" sz="2400" b="0" i="1" smtClean="0">
                                  <a:solidFill>
                                    <a:schemeClr val="dk1"/>
                                  </a:solidFill>
                                  <a:latin typeface="Cambria Math" panose="02040503050406030204" pitchFamily="18" charset="0"/>
                                  <a:ea typeface="Arial"/>
                                  <a:cs typeface="Arial"/>
                                  <a:sym typeface="Arial"/>
                                </a:rPr>
                                <m:t>𝑋</m:t>
                              </m:r>
                            </m:sub>
                          </m:sSub>
                          <m:r>
                            <a:rPr lang="en-US" sz="2400" b="0" i="1" smtClean="0">
                              <a:solidFill>
                                <a:schemeClr val="dk1"/>
                              </a:solidFill>
                              <a:latin typeface="Cambria Math" panose="02040503050406030204" pitchFamily="18" charset="0"/>
                              <a:ea typeface="Arial"/>
                              <a:cs typeface="Arial"/>
                              <a:sym typeface="Arial"/>
                            </a:rPr>
                            <m:t>,</m:t>
                          </m:r>
                          <m:sSubSup>
                            <m:sSubSupPr>
                              <m:ctrlPr>
                                <a:rPr lang="en-US" sz="2400" b="0" i="1" smtClean="0">
                                  <a:solidFill>
                                    <a:schemeClr val="dk1"/>
                                  </a:solidFill>
                                  <a:latin typeface="Cambria Math" panose="02040503050406030204" pitchFamily="18" charset="0"/>
                                  <a:ea typeface="Arial"/>
                                  <a:cs typeface="Arial"/>
                                  <a:sym typeface="Arial"/>
                                </a:rPr>
                              </m:ctrlPr>
                            </m:sSubSupPr>
                            <m:e>
                              <m:r>
                                <a:rPr lang="en-US" sz="2400" b="0" i="1" smtClean="0">
                                  <a:solidFill>
                                    <a:schemeClr val="dk1"/>
                                  </a:solidFill>
                                  <a:latin typeface="Cambria Math" panose="02040503050406030204" pitchFamily="18" charset="0"/>
                                  <a:ea typeface="Arial"/>
                                  <a:cs typeface="Arial"/>
                                  <a:sym typeface="Arial"/>
                                </a:rPr>
                                <m:t>𝜎</m:t>
                              </m:r>
                            </m:e>
                            <m:sub>
                              <m:r>
                                <a:rPr lang="en-US" sz="2400" b="0" i="1" smtClean="0">
                                  <a:solidFill>
                                    <a:schemeClr val="dk1"/>
                                  </a:solidFill>
                                  <a:latin typeface="Cambria Math" panose="02040503050406030204" pitchFamily="18" charset="0"/>
                                  <a:ea typeface="Arial"/>
                                  <a:cs typeface="Arial"/>
                                  <a:sym typeface="Arial"/>
                                </a:rPr>
                                <m:t>𝑋</m:t>
                              </m:r>
                            </m:sub>
                            <m:sup>
                              <m:r>
                                <a:rPr lang="en-US" sz="2400" b="0" i="1" smtClean="0">
                                  <a:solidFill>
                                    <a:schemeClr val="dk1"/>
                                  </a:solidFill>
                                  <a:latin typeface="Cambria Math" panose="02040503050406030204" pitchFamily="18" charset="0"/>
                                  <a:ea typeface="Arial"/>
                                  <a:cs typeface="Arial"/>
                                  <a:sym typeface="Arial"/>
                                </a:rPr>
                                <m:t>2</m:t>
                              </m:r>
                            </m:sup>
                          </m:sSubSup>
                        </m:e>
                      </m:d>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m:t>
                      </m:r>
                      <m:r>
                        <a:rPr lang="en-US" sz="2400" i="1">
                          <a:latin typeface="Cambria Math" panose="02040503050406030204" pitchFamily="18" charset="0"/>
                          <a:ea typeface="Arial"/>
                          <a:cs typeface="Arial"/>
                          <a:sym typeface="Arial"/>
                        </a:rPr>
                        <m:t>𝑁</m:t>
                      </m:r>
                      <m:d>
                        <m:dPr>
                          <m:ctrlPr>
                            <a:rPr lang="en-US" sz="2400" i="1">
                              <a:latin typeface="Cambria Math" panose="02040503050406030204" pitchFamily="18" charset="0"/>
                              <a:ea typeface="Arial"/>
                              <a:cs typeface="Arial"/>
                              <a:sym typeface="Arial"/>
                            </a:rPr>
                          </m:ctrlPr>
                        </m:dPr>
                        <m:e>
                          <m:sSub>
                            <m:sSubPr>
                              <m:ctrlPr>
                                <a:rPr lang="en-US" sz="2400" i="1">
                                  <a:latin typeface="Cambria Math" panose="02040503050406030204" pitchFamily="18" charset="0"/>
                                  <a:ea typeface="Arial"/>
                                  <a:cs typeface="Arial"/>
                                  <a:sym typeface="Arial"/>
                                </a:rPr>
                              </m:ctrlPr>
                            </m:sSubPr>
                            <m:e>
                              <m:r>
                                <a:rPr lang="en-US" sz="2400" i="1">
                                  <a:latin typeface="Cambria Math" panose="02040503050406030204" pitchFamily="18" charset="0"/>
                                  <a:ea typeface="Arial"/>
                                  <a:cs typeface="Arial"/>
                                  <a:sym typeface="Arial"/>
                                </a:rPr>
                                <m:t>𝜇</m:t>
                              </m:r>
                            </m:e>
                            <m:sub>
                              <m:r>
                                <m:rPr>
                                  <m:sty m:val="p"/>
                                </m:rPr>
                                <a:rPr lang="en-US" sz="2400" b="0" i="1" smtClean="0">
                                  <a:latin typeface="Cambria Math" panose="02040503050406030204" pitchFamily="18" charset="0"/>
                                  <a:ea typeface="Arial"/>
                                  <a:cs typeface="Arial"/>
                                  <a:sym typeface="Arial"/>
                                </a:rPr>
                                <m:t>Y</m:t>
                              </m:r>
                            </m:sub>
                          </m:sSub>
                          <m:r>
                            <a:rPr lang="en-US" sz="2400" i="1">
                              <a:latin typeface="Cambria Math" panose="02040503050406030204" pitchFamily="18" charset="0"/>
                              <a:ea typeface="Arial"/>
                              <a:cs typeface="Arial"/>
                              <a:sym typeface="Arial"/>
                            </a:rPr>
                            <m:t>,</m:t>
                          </m:r>
                          <m:sSubSup>
                            <m:sSubSupPr>
                              <m:ctrlPr>
                                <a:rPr lang="en-US" sz="2400" i="1">
                                  <a:latin typeface="Cambria Math" panose="02040503050406030204" pitchFamily="18" charset="0"/>
                                  <a:ea typeface="Arial"/>
                                  <a:cs typeface="Arial"/>
                                  <a:sym typeface="Arial"/>
                                </a:rPr>
                              </m:ctrlPr>
                            </m:sSubSupPr>
                            <m:e>
                              <m:r>
                                <a:rPr lang="en-US" sz="2400" i="1">
                                  <a:latin typeface="Cambria Math" panose="02040503050406030204" pitchFamily="18" charset="0"/>
                                  <a:ea typeface="Arial"/>
                                  <a:cs typeface="Arial"/>
                                  <a:sym typeface="Arial"/>
                                </a:rPr>
                                <m:t>𝜎</m:t>
                              </m:r>
                            </m:e>
                            <m:sub>
                              <m:r>
                                <m:rPr>
                                  <m:sty m:val="p"/>
                                </m:rPr>
                                <a:rPr lang="en-US" sz="2400" b="0" i="1" smtClean="0">
                                  <a:latin typeface="Cambria Math" panose="02040503050406030204" pitchFamily="18" charset="0"/>
                                  <a:ea typeface="Arial"/>
                                  <a:cs typeface="Arial"/>
                                  <a:sym typeface="Arial"/>
                                </a:rPr>
                                <m:t>Y</m:t>
                              </m:r>
                            </m:sub>
                            <m:sup>
                              <m:r>
                                <a:rPr lang="en-US" sz="2400" i="1">
                                  <a:latin typeface="Cambria Math" panose="02040503050406030204" pitchFamily="18" charset="0"/>
                                  <a:ea typeface="Arial"/>
                                  <a:cs typeface="Arial"/>
                                  <a:sym typeface="Arial"/>
                                </a:rPr>
                                <m:t>2</m:t>
                              </m:r>
                            </m:sup>
                          </m:sSubSup>
                        </m:e>
                      </m:d>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Z</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 </m:t>
                      </m:r>
                      <m:r>
                        <m:rPr>
                          <m:sty m:val="p"/>
                        </m:rPr>
                        <a:rPr lang="en-US" sz="2400" b="0" i="1" smtClean="0">
                          <a:solidFill>
                            <a:schemeClr val="dk1"/>
                          </a:solidFill>
                          <a:latin typeface="Cambria Math" panose="02040503050406030204" pitchFamily="18" charset="0"/>
                          <a:ea typeface="Arial"/>
                          <a:cs typeface="Arial"/>
                          <a:sym typeface="Arial"/>
                        </a:rPr>
                        <m:t>Y</m:t>
                      </m:r>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Then,</a:t>
                </a:r>
                <a:endParaRPr lang="en-US" sz="24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ea typeface="Arial"/>
                          <a:cs typeface="Arial"/>
                          <a:sym typeface="Arial"/>
                        </a:rPr>
                        <m:t>Z</m:t>
                      </m:r>
                      <m:r>
                        <a:rPr lang="en-US" sz="2400" i="1">
                          <a:latin typeface="Cambria Math" panose="02040503050406030204" pitchFamily="18" charset="0"/>
                          <a:ea typeface="Arial"/>
                          <a:cs typeface="Arial"/>
                          <a:sym typeface="Arial"/>
                        </a:rPr>
                        <m:t>∼</m:t>
                      </m:r>
                      <m:r>
                        <a:rPr lang="en-US" sz="2400" i="1">
                          <a:latin typeface="Cambria Math" panose="02040503050406030204" pitchFamily="18" charset="0"/>
                          <a:ea typeface="Arial"/>
                          <a:cs typeface="Arial"/>
                          <a:sym typeface="Arial"/>
                        </a:rPr>
                        <m:t>𝑁</m:t>
                      </m:r>
                      <m:d>
                        <m:dPr>
                          <m:ctrlPr>
                            <a:rPr lang="en-US" sz="2400" i="1">
                              <a:latin typeface="Cambria Math" panose="02040503050406030204" pitchFamily="18" charset="0"/>
                              <a:ea typeface="Arial"/>
                              <a:cs typeface="Arial"/>
                              <a:sym typeface="Arial"/>
                            </a:rPr>
                          </m:ctrlPr>
                        </m:dPr>
                        <m:e>
                          <m:sSub>
                            <m:sSubPr>
                              <m:ctrlPr>
                                <a:rPr lang="en-US" sz="2400" i="1">
                                  <a:latin typeface="Cambria Math" panose="02040503050406030204" pitchFamily="18" charset="0"/>
                                  <a:ea typeface="Arial"/>
                                  <a:cs typeface="Arial"/>
                                  <a:sym typeface="Arial"/>
                                </a:rPr>
                              </m:ctrlPr>
                            </m:sSubPr>
                            <m:e>
                              <m:r>
                                <a:rPr lang="en-US" sz="2400" i="1">
                                  <a:latin typeface="Cambria Math" panose="02040503050406030204" pitchFamily="18" charset="0"/>
                                  <a:ea typeface="Arial"/>
                                  <a:cs typeface="Arial"/>
                                  <a:sym typeface="Arial"/>
                                </a:rPr>
                                <m:t>𝜇</m:t>
                              </m:r>
                            </m:e>
                            <m:sub>
                              <m:r>
                                <a:rPr lang="en-US" sz="2400" i="1">
                                  <a:latin typeface="Cambria Math" panose="02040503050406030204" pitchFamily="18" charset="0"/>
                                  <a:ea typeface="Arial"/>
                                  <a:cs typeface="Arial"/>
                                  <a:sym typeface="Arial"/>
                                </a:rPr>
                                <m:t>𝑋</m:t>
                              </m:r>
                            </m:sub>
                          </m:sSub>
                          <m:r>
                            <a:rPr lang="en-US" sz="2400" b="0" i="1" smtClean="0">
                              <a:latin typeface="Cambria Math" panose="02040503050406030204" pitchFamily="18" charset="0"/>
                              <a:ea typeface="Arial"/>
                              <a:cs typeface="Arial"/>
                              <a:sym typeface="Arial"/>
                            </a:rPr>
                            <m:t>+</m:t>
                          </m:r>
                          <m:sSub>
                            <m:sSubPr>
                              <m:ctrlPr>
                                <a:rPr lang="en-US" sz="2400" i="1">
                                  <a:latin typeface="Cambria Math" panose="02040503050406030204" pitchFamily="18" charset="0"/>
                                  <a:ea typeface="Arial"/>
                                  <a:cs typeface="Arial"/>
                                  <a:sym typeface="Arial"/>
                                </a:rPr>
                              </m:ctrlPr>
                            </m:sSubPr>
                            <m:e>
                              <m:r>
                                <a:rPr lang="en-US" sz="2400" i="1">
                                  <a:latin typeface="Cambria Math" panose="02040503050406030204" pitchFamily="18" charset="0"/>
                                  <a:ea typeface="Arial"/>
                                  <a:cs typeface="Arial"/>
                                  <a:sym typeface="Arial"/>
                                </a:rPr>
                                <m:t>𝜇</m:t>
                              </m:r>
                            </m:e>
                            <m:sub>
                              <m:r>
                                <m:rPr>
                                  <m:sty m:val="p"/>
                                </m:rPr>
                                <a:rPr lang="en-US" sz="2400" i="1">
                                  <a:latin typeface="Cambria Math" panose="02040503050406030204" pitchFamily="18" charset="0"/>
                                  <a:ea typeface="Arial"/>
                                  <a:cs typeface="Arial"/>
                                  <a:sym typeface="Arial"/>
                                </a:rPr>
                                <m:t>Y</m:t>
                              </m:r>
                            </m:sub>
                          </m:sSub>
                          <m:r>
                            <a:rPr lang="en-US" sz="2400" i="1">
                              <a:latin typeface="Cambria Math" panose="02040503050406030204" pitchFamily="18" charset="0"/>
                              <a:ea typeface="Arial"/>
                              <a:cs typeface="Arial"/>
                              <a:sym typeface="Arial"/>
                            </a:rPr>
                            <m:t>,</m:t>
                          </m:r>
                          <m:sSubSup>
                            <m:sSubSupPr>
                              <m:ctrlPr>
                                <a:rPr lang="en-US" sz="2400" i="1">
                                  <a:latin typeface="Cambria Math" panose="02040503050406030204" pitchFamily="18" charset="0"/>
                                  <a:ea typeface="Arial"/>
                                  <a:cs typeface="Arial"/>
                                  <a:sym typeface="Arial"/>
                                </a:rPr>
                              </m:ctrlPr>
                            </m:sSubSupPr>
                            <m:e>
                              <m:r>
                                <a:rPr lang="en-US" sz="2400" i="1">
                                  <a:latin typeface="Cambria Math" panose="02040503050406030204" pitchFamily="18" charset="0"/>
                                  <a:ea typeface="Arial"/>
                                  <a:cs typeface="Arial"/>
                                  <a:sym typeface="Arial"/>
                                </a:rPr>
                                <m:t>𝜎</m:t>
                              </m:r>
                            </m:e>
                            <m:sub>
                              <m:r>
                                <a:rPr lang="en-US" sz="2400" i="1">
                                  <a:latin typeface="Cambria Math" panose="02040503050406030204" pitchFamily="18" charset="0"/>
                                  <a:ea typeface="Arial"/>
                                  <a:cs typeface="Arial"/>
                                  <a:sym typeface="Arial"/>
                                </a:rPr>
                                <m:t>𝑋</m:t>
                              </m:r>
                            </m:sub>
                            <m:sup>
                              <m:r>
                                <a:rPr lang="en-US" sz="2400" i="1">
                                  <a:latin typeface="Cambria Math" panose="02040503050406030204" pitchFamily="18" charset="0"/>
                                  <a:ea typeface="Arial"/>
                                  <a:cs typeface="Arial"/>
                                  <a:sym typeface="Arial"/>
                                </a:rPr>
                                <m:t>2</m:t>
                              </m:r>
                            </m:sup>
                          </m:sSubSup>
                          <m:r>
                            <a:rPr lang="en-US" sz="2400" b="0" i="1" smtClean="0">
                              <a:latin typeface="Cambria Math" panose="02040503050406030204" pitchFamily="18" charset="0"/>
                              <a:ea typeface="Arial"/>
                              <a:cs typeface="Arial"/>
                              <a:sym typeface="Arial"/>
                            </a:rPr>
                            <m:t>+</m:t>
                          </m:r>
                          <m:sSubSup>
                            <m:sSubSupPr>
                              <m:ctrlPr>
                                <a:rPr lang="en-US" sz="2400" i="1">
                                  <a:latin typeface="Cambria Math" panose="02040503050406030204" pitchFamily="18" charset="0"/>
                                  <a:ea typeface="Arial"/>
                                  <a:cs typeface="Arial"/>
                                  <a:sym typeface="Arial"/>
                                </a:rPr>
                              </m:ctrlPr>
                            </m:sSubSupPr>
                            <m:e>
                              <m:r>
                                <a:rPr lang="en-US" sz="2400" i="1">
                                  <a:latin typeface="Cambria Math" panose="02040503050406030204" pitchFamily="18" charset="0"/>
                                  <a:ea typeface="Arial"/>
                                  <a:cs typeface="Arial"/>
                                  <a:sym typeface="Arial"/>
                                </a:rPr>
                                <m:t>𝜎</m:t>
                              </m:r>
                            </m:e>
                            <m:sub>
                              <m:r>
                                <m:rPr>
                                  <m:sty m:val="p"/>
                                </m:rPr>
                                <a:rPr lang="en-US" sz="2400" i="1">
                                  <a:latin typeface="Cambria Math" panose="02040503050406030204" pitchFamily="18" charset="0"/>
                                  <a:ea typeface="Arial"/>
                                  <a:cs typeface="Arial"/>
                                  <a:sym typeface="Arial"/>
                                </a:rPr>
                                <m:t>Y</m:t>
                              </m:r>
                            </m:sub>
                            <m:sup>
                              <m:r>
                                <a:rPr lang="en-US" sz="2400" i="1">
                                  <a:latin typeface="Cambria Math" panose="02040503050406030204" pitchFamily="18" charset="0"/>
                                  <a:ea typeface="Arial"/>
                                  <a:cs typeface="Arial"/>
                                  <a:sym typeface="Arial"/>
                                </a:rPr>
                                <m:t>2</m:t>
                              </m:r>
                            </m:sup>
                          </m:sSubSup>
                        </m:e>
                      </m:d>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For how to derive it you can look </a:t>
                </a:r>
                <a:r>
                  <a:rPr lang="en-US" sz="2400" dirty="0">
                    <a:latin typeface="Arial"/>
                    <a:ea typeface="Arial"/>
                    <a:cs typeface="Arial"/>
                    <a:sym typeface="Arial"/>
                    <a:hlinkClick r:id="rId3"/>
                  </a:rPr>
                  <a:t>here (from Wikipedia)</a:t>
                </a:r>
                <a:endParaRPr lang="en-US" sz="2400" dirty="0">
                  <a:latin typeface="Arial"/>
                  <a:ea typeface="Arial"/>
                  <a:cs typeface="Arial"/>
                  <a:sym typeface="Arial"/>
                </a:endParaRPr>
              </a:p>
            </p:txBody>
          </p:sp>
        </mc:Choice>
        <mc:Fallback>
          <p:sp>
            <p:nvSpPr>
              <p:cNvPr id="118" name="Google Shape;118;p29">
                <a:extLst>
                  <a:ext uri="{FF2B5EF4-FFF2-40B4-BE49-F238E27FC236}">
                    <a16:creationId xmlns:a16="http://schemas.microsoft.com/office/drawing/2014/main" id="{CA25EF48-A626-2479-79A7-B9D0A76129D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4"/>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C631F36-F78C-757F-C1AC-5348001429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74A0024-FE46-52C7-8BCE-E45E2DF66AE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7631BA9-D174-6F92-B57A-F72156AEF28E}"/>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233507-DD4E-09E4-8B19-F3F68F287C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2F46915-D4D0-20B4-EA15-BF71A35D658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FD619B1-5C2B-042D-B7CC-21B3DCD381E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0A89019-4475-CF78-5C5A-9F557006AD7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86A4B80-EAA7-9252-6199-762F8EA1ADD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005819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74BA4E5-9F0F-9A96-BDA3-71D0F40F71F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D1717540-90E8-76EB-0874-AD7238E42CE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Now, our absolute sensor (like a 1D LiDAR) </a:t>
                </a:r>
                <a:r>
                  <a:rPr lang="en-US" sz="2400" b="1" dirty="0">
                    <a:latin typeface="Arial"/>
                    <a:ea typeface="Arial"/>
                    <a:cs typeface="Arial"/>
                    <a:sym typeface="Arial"/>
                  </a:rPr>
                  <a:t>takes a measurement</a:t>
                </a:r>
                <a:r>
                  <a:rPr lang="en-US" sz="2400" dirty="0">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It says the robot is at position </a:t>
                </a:r>
                <a14:m>
                  <m:oMath xmlns:m="http://schemas.openxmlformats.org/officeDocument/2006/math">
                    <m:r>
                      <a:rPr lang="en-US" sz="2400" i="1" dirty="0" smtClean="0">
                        <a:latin typeface="Cambria Math" panose="02040503050406030204" pitchFamily="18" charset="0"/>
                        <a:ea typeface="Arial"/>
                        <a:cs typeface="Arial"/>
                        <a:sym typeface="Arial"/>
                      </a:rPr>
                      <m:t>𝑧</m:t>
                    </m:r>
                  </m:oMath>
                </a14:m>
                <a:r>
                  <a:rPr lang="en-US" sz="2400" dirty="0">
                    <a:latin typeface="Arial"/>
                    <a:ea typeface="Arial"/>
                    <a:cs typeface="Arial"/>
                    <a:sym typeface="Arial"/>
                  </a:rPr>
                  <a:t>, with a sensor noise variance of </a:t>
                </a:r>
                <a14:m>
                  <m:oMath xmlns:m="http://schemas.openxmlformats.org/officeDocument/2006/math">
                    <m:sSubSup>
                      <m:sSubSupPr>
                        <m:ctrlPr>
                          <a:rPr lang="en-US" sz="2400" i="1" dirty="0" smtClean="0">
                            <a:latin typeface="Cambria Math" panose="02040503050406030204" pitchFamily="18" charset="0"/>
                            <a:ea typeface="Arial"/>
                            <a:cs typeface="Arial"/>
                            <a:sym typeface="Arial"/>
                          </a:rPr>
                        </m:ctrlPr>
                      </m:sSubSupPr>
                      <m:e>
                        <m:r>
                          <a:rPr lang="en-US" sz="2400" i="1" dirty="0" smtClean="0">
                            <a:latin typeface="Cambria Math" panose="02040503050406030204" pitchFamily="18" charset="0"/>
                            <a:ea typeface="Arial"/>
                            <a:cs typeface="Arial"/>
                            <a:sym typeface="Arial"/>
                          </a:rPr>
                          <m:t>𝜎</m:t>
                        </m:r>
                      </m:e>
                      <m:sub>
                        <m:r>
                          <a:rPr lang="en-US" sz="2400" i="1" dirty="0" smtClean="0">
                            <a:latin typeface="Cambria Math" panose="02040503050406030204" pitchFamily="18" charset="0"/>
                            <a:ea typeface="Arial"/>
                            <a:cs typeface="Arial"/>
                            <a:sym typeface="Arial"/>
                          </a:rPr>
                          <m:t>𝑠𝑒𝑛𝑠𝑜𝑟</m:t>
                        </m:r>
                      </m:sub>
                      <m:sup>
                        <m:r>
                          <a:rPr lang="en-US" sz="2400" i="1" dirty="0" smtClean="0">
                            <a:latin typeface="Cambria Math" panose="02040503050406030204" pitchFamily="18" charset="0"/>
                            <a:ea typeface="Arial"/>
                            <a:cs typeface="Arial"/>
                            <a:sym typeface="Arial"/>
                          </a:rPr>
                          <m:t>2</m:t>
                        </m:r>
                      </m:sup>
                    </m:sSubSup>
                  </m:oMath>
                </a14:m>
                <a:r>
                  <a:rPr lang="en-US" sz="2400" dirty="0">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We now have </a:t>
                </a:r>
                <a:r>
                  <a:rPr lang="en-US" sz="2400" b="1" dirty="0">
                    <a:latin typeface="Arial"/>
                    <a:ea typeface="Arial"/>
                    <a:cs typeface="Arial"/>
                    <a:sym typeface="Arial"/>
                  </a:rPr>
                  <a:t>two</a:t>
                </a:r>
                <a:r>
                  <a:rPr lang="en-US" sz="2400" dirty="0">
                    <a:latin typeface="Arial"/>
                    <a:ea typeface="Arial"/>
                    <a:cs typeface="Arial"/>
                    <a:sym typeface="Arial"/>
                  </a:rPr>
                  <a:t> Gaussian curves: our flattened </a:t>
                </a:r>
                <a:r>
                  <a:rPr lang="en-US" sz="2400" b="1" dirty="0">
                    <a:latin typeface="Arial"/>
                    <a:ea typeface="Arial"/>
                    <a:cs typeface="Arial"/>
                    <a:sym typeface="Arial"/>
                  </a:rPr>
                  <a:t>prediction</a:t>
                </a:r>
                <a:r>
                  <a:rPr lang="en-US" sz="2400" dirty="0">
                    <a:latin typeface="Arial"/>
                    <a:ea typeface="Arial"/>
                    <a:cs typeface="Arial"/>
                    <a:sym typeface="Arial"/>
                  </a:rPr>
                  <a:t> curve, and the new </a:t>
                </a:r>
                <a:r>
                  <a:rPr lang="en-US" sz="2400" b="1" dirty="0">
                    <a:latin typeface="Arial"/>
                    <a:ea typeface="Arial"/>
                    <a:cs typeface="Arial"/>
                    <a:sym typeface="Arial"/>
                  </a:rPr>
                  <a:t>sensor</a:t>
                </a:r>
                <a:r>
                  <a:rPr lang="en-US" sz="2400" dirty="0">
                    <a:latin typeface="Arial"/>
                    <a:ea typeface="Arial"/>
                    <a:cs typeface="Arial"/>
                    <a:sym typeface="Arial"/>
                  </a:rPr>
                  <a:t> curve. </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How do we combine these two conflicting opinions into one single truth?</a:t>
                </a:r>
              </a:p>
            </p:txBody>
          </p:sp>
        </mc:Choice>
        <mc:Fallback>
          <p:sp>
            <p:nvSpPr>
              <p:cNvPr id="118" name="Google Shape;118;p29">
                <a:extLst>
                  <a:ext uri="{FF2B5EF4-FFF2-40B4-BE49-F238E27FC236}">
                    <a16:creationId xmlns:a16="http://schemas.microsoft.com/office/drawing/2014/main" id="{D1717540-90E8-76EB-0874-AD7238E42CE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7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B389A5F-DDEA-D4FB-5C72-809C560730A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F28F7A9-7BE0-C541-B732-FA8D7F180F7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BD93A15-F017-8647-ADDA-B94836B7C7C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4CE0E9F-80C7-E742-AD1E-0E862F37548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121A9CB-89CE-3748-D3A0-7BFD6CA54DA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72C7A10-2D1D-BB01-4755-44EE5C7E8E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32C9B73-71F9-CADA-86BF-1672C407AE3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1BD8AB2-8849-7911-19E7-ACE33DE0C1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661969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BC2D05-6E4A-839C-D75F-276EC3DF0E1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46AA350-1B4E-77A8-1016-25D64DD4A0A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566AD620-B882-938B-3FF5-330530767F6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E1E9622-ACC3-403C-C00A-7507A9EE19E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85B086A-912F-86EB-F78E-8F5EA17AC7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1017A1E-A54D-1E8A-0AE7-D75969F6642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91C21D-8D99-3DFE-7E8B-4CF01F727B5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E2EA7E2-F515-7D6C-9BAE-BB3B533073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5A279F-E552-03A6-9719-2B54A8AC641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BF02FE44-DD7C-2BF2-7311-06C963C661F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02321" y="982504"/>
            <a:ext cx="10855188" cy="5427594"/>
          </a:xfrm>
          <a:prstGeom prst="rect">
            <a:avLst/>
          </a:prstGeom>
        </p:spPr>
      </p:pic>
    </p:spTree>
    <p:extLst>
      <p:ext uri="{BB962C8B-B14F-4D97-AF65-F5344CB8AC3E}">
        <p14:creationId xmlns:p14="http://schemas.microsoft.com/office/powerpoint/2010/main" val="4030000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6411D8D-9382-4533-2668-A5DA8264E03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6FCB5A3-559A-9BE7-2A07-E8D4BC2B572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In probability, to fuse two independent estimates, we </a:t>
            </a:r>
            <a:r>
              <a:rPr lang="en-US" sz="2400" b="1" dirty="0">
                <a:latin typeface="Arial"/>
                <a:ea typeface="Arial"/>
                <a:cs typeface="Arial"/>
                <a:sym typeface="Arial"/>
              </a:rPr>
              <a:t>multiply their distributions </a:t>
            </a:r>
            <a:r>
              <a:rPr lang="en-US" sz="2400" dirty="0">
                <a:latin typeface="Arial"/>
                <a:ea typeface="Arial"/>
                <a:cs typeface="Arial"/>
                <a:sym typeface="Arial"/>
              </a:rPr>
              <a:t>together.</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The </a:t>
            </a:r>
            <a:r>
              <a:rPr lang="en-US" sz="2400" b="1" dirty="0">
                <a:latin typeface="Arial"/>
                <a:ea typeface="Arial"/>
                <a:cs typeface="Arial"/>
                <a:sym typeface="Arial"/>
              </a:rPr>
              <a:t>magical property </a:t>
            </a:r>
            <a:r>
              <a:rPr lang="en-US" sz="2400" dirty="0">
                <a:latin typeface="Arial"/>
                <a:ea typeface="Arial"/>
                <a:cs typeface="Arial"/>
                <a:sym typeface="Arial"/>
              </a:rPr>
              <a:t>of Gaussians: Multiplying two Gaussians </a:t>
            </a:r>
            <a:r>
              <a:rPr lang="en-US" sz="2400" b="1" dirty="0">
                <a:latin typeface="Arial"/>
                <a:ea typeface="Arial"/>
                <a:cs typeface="Arial"/>
                <a:sym typeface="Arial"/>
              </a:rPr>
              <a:t>always</a:t>
            </a:r>
            <a:r>
              <a:rPr lang="en-US" sz="2400" dirty="0">
                <a:latin typeface="Arial"/>
                <a:ea typeface="Arial"/>
                <a:cs typeface="Arial"/>
                <a:sym typeface="Arial"/>
              </a:rPr>
              <a:t> produces a new </a:t>
            </a:r>
            <a:r>
              <a:rPr lang="en-US" sz="2400" b="1" dirty="0">
                <a:latin typeface="Arial"/>
                <a:ea typeface="Arial"/>
                <a:cs typeface="Arial"/>
                <a:sym typeface="Arial"/>
              </a:rPr>
              <a:t>Gaussian</a:t>
            </a:r>
            <a:r>
              <a:rPr lang="en-US" sz="2400" dirty="0">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Because the new curve represents the overlapping area of agreement, it is always taller and narrower than both original curves.</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Fusing data </a:t>
            </a:r>
            <a:r>
              <a:rPr lang="en-US" sz="2400" b="1" dirty="0">
                <a:latin typeface="Arial"/>
                <a:ea typeface="Arial"/>
                <a:cs typeface="Arial"/>
                <a:sym typeface="Arial"/>
              </a:rPr>
              <a:t>reduces</a:t>
            </a:r>
            <a:r>
              <a:rPr lang="en-US" sz="2400" dirty="0">
                <a:latin typeface="Arial"/>
                <a:ea typeface="Arial"/>
                <a:cs typeface="Arial"/>
                <a:sym typeface="Arial"/>
              </a:rPr>
              <a:t> uncertainty!</a:t>
            </a: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A09CE65A-43FB-1C3F-DFF4-2B3EC93E19A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0027510-26EC-0DE5-6059-60AA11D1561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A80E73D-CC32-C367-291A-5A4D9CBD810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4F0A1C-AC21-6003-DC0C-94CE2474621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D7195FA-2F8D-2084-4C68-1C64BA4036C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95B1338-A756-EA86-02FA-7455B9B2470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6E65568-EAF0-88AF-69F4-C83A9F7789D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57CFC5-14DE-9E58-4677-5B0C9D0745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63446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83E5ED3-D160-09E8-9563-3285D327042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568C3C2-1F8C-EB2C-73A8-6C194BCEDB5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01E60B4-5694-9B3E-7FFA-168184A0D63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B8F665D-933A-FF46-9E21-A8EEC2F629A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6EF40B8-2E7F-81C1-F574-6A9541D3B8F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930D312-0777-8A9B-06BF-0697CB0E7B4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4F521A9-0F0E-4695-2DA0-57878F41FA5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8F6DC97-169D-1278-9FAA-9C0D36EFE0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D3F7635-8046-F458-BA19-E643EF89A7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DE7AA5F7-52D4-DFA6-6A7F-55939E48489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02321" y="982504"/>
            <a:ext cx="10855188" cy="5427594"/>
          </a:xfrm>
          <a:prstGeom prst="rect">
            <a:avLst/>
          </a:prstGeom>
        </p:spPr>
      </p:pic>
    </p:spTree>
    <p:extLst>
      <p:ext uri="{BB962C8B-B14F-4D97-AF65-F5344CB8AC3E}">
        <p14:creationId xmlns:p14="http://schemas.microsoft.com/office/powerpoint/2010/main" val="2740705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E7F8C3A-06ED-81E9-F50E-0B296E5DAA1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FCCBBD64-5DE5-3319-EFFB-00B5AD6C368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solidFill>
                      <a:schemeClr val="dk1"/>
                    </a:solidFill>
                    <a:latin typeface="Arial"/>
                    <a:ea typeface="Arial"/>
                    <a:cs typeface="Arial"/>
                    <a:sym typeface="Arial"/>
                  </a:rPr>
                  <a:t>The math behind that multiplication gives us the 1D </a:t>
                </a:r>
                <a:r>
                  <a:rPr lang="en-US" sz="2300" b="1" dirty="0">
                    <a:solidFill>
                      <a:schemeClr val="dk1"/>
                    </a:solidFill>
                    <a:latin typeface="Arial"/>
                    <a:ea typeface="Arial"/>
                    <a:cs typeface="Arial"/>
                    <a:sym typeface="Arial"/>
                  </a:rPr>
                  <a:t>Kalman Gain </a:t>
                </a:r>
                <a:r>
                  <a:rPr lang="en-US" sz="2300" dirty="0">
                    <a:solidFill>
                      <a:schemeClr val="dk1"/>
                    </a:solidFill>
                    <a:latin typeface="Arial"/>
                    <a:ea typeface="Arial"/>
                    <a:cs typeface="Arial"/>
                    <a:sym typeface="Arial"/>
                  </a:rPr>
                  <a:t>(</a:t>
                </a:r>
                <a14:m>
                  <m:oMath xmlns:m="http://schemas.openxmlformats.org/officeDocument/2006/math">
                    <m:r>
                      <a:rPr lang="en-US" sz="2300" i="1" dirty="0">
                        <a:latin typeface="Cambria Math" panose="02040503050406030204" pitchFamily="18" charset="0"/>
                        <a:ea typeface="Arial"/>
                        <a:cs typeface="Arial"/>
                        <a:sym typeface="Arial"/>
                      </a:rPr>
                      <m:t>𝐾</m:t>
                    </m:r>
                  </m:oMath>
                </a14:m>
                <a:r>
                  <a:rPr lang="en-US" sz="2300" dirty="0">
                    <a:solidFill>
                      <a:schemeClr val="dk1"/>
                    </a:solidFill>
                    <a:latin typeface="Arial"/>
                    <a:ea typeface="Arial"/>
                    <a:cs typeface="Arial"/>
                    <a:sym typeface="Arial"/>
                  </a:rPr>
                  <a:t>):</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00" i="1" dirty="0" smtClean="0">
                          <a:solidFill>
                            <a:schemeClr val="dk1"/>
                          </a:solidFill>
                          <a:latin typeface="Cambria Math" panose="02040503050406030204" pitchFamily="18" charset="0"/>
                          <a:ea typeface="Arial"/>
                          <a:cs typeface="Arial"/>
                          <a:sym typeface="Arial"/>
                        </a:rPr>
                        <m:t>𝐾</m:t>
                      </m:r>
                      <m:r>
                        <a:rPr lang="en-US" sz="2300" i="1" dirty="0" smtClean="0">
                          <a:solidFill>
                            <a:schemeClr val="dk1"/>
                          </a:solidFill>
                          <a:latin typeface="Cambria Math" panose="02040503050406030204" pitchFamily="18" charset="0"/>
                          <a:ea typeface="Arial"/>
                          <a:cs typeface="Arial"/>
                          <a:sym typeface="Arial"/>
                        </a:rPr>
                        <m:t>=</m:t>
                      </m:r>
                      <m:f>
                        <m:fPr>
                          <m:ctrlPr>
                            <a:rPr lang="en-US" sz="2300" i="1" dirty="0" smtClean="0">
                              <a:solidFill>
                                <a:schemeClr val="dk1"/>
                              </a:solidFill>
                              <a:latin typeface="Cambria Math" panose="02040503050406030204" pitchFamily="18" charset="0"/>
                              <a:ea typeface="Arial"/>
                              <a:cs typeface="Arial"/>
                              <a:sym typeface="Arial"/>
                            </a:rPr>
                          </m:ctrlPr>
                        </m:fPr>
                        <m:num>
                          <m:sSubSup>
                            <m:sSubSupPr>
                              <m:ctrlPr>
                                <a:rPr lang="en-US" sz="2300" i="1" dirty="0" smtClean="0">
                                  <a:solidFill>
                                    <a:schemeClr val="dk1"/>
                                  </a:solidFill>
                                  <a:latin typeface="Cambria Math" panose="02040503050406030204" pitchFamily="18" charset="0"/>
                                  <a:ea typeface="Arial"/>
                                  <a:cs typeface="Arial"/>
                                  <a:sym typeface="Arial"/>
                                </a:rPr>
                              </m:ctrlPr>
                            </m:sSubSupPr>
                            <m:e>
                              <m:r>
                                <a:rPr lang="en-US" sz="2300" i="1" dirty="0" smtClean="0">
                                  <a:solidFill>
                                    <a:schemeClr val="dk1"/>
                                  </a:solidFill>
                                  <a:latin typeface="Cambria Math" panose="02040503050406030204" pitchFamily="18" charset="0"/>
                                  <a:ea typeface="Arial"/>
                                  <a:cs typeface="Arial"/>
                                  <a:sym typeface="Arial"/>
                                </a:rPr>
                                <m:t>𝜎</m:t>
                              </m:r>
                            </m:e>
                            <m:sub>
                              <m:r>
                                <a:rPr lang="en-US" sz="2300" i="1" dirty="0" smtClean="0">
                                  <a:solidFill>
                                    <a:schemeClr val="dk1"/>
                                  </a:solidFill>
                                  <a:latin typeface="Cambria Math" panose="02040503050406030204" pitchFamily="18" charset="0"/>
                                  <a:ea typeface="Arial"/>
                                  <a:cs typeface="Arial"/>
                                  <a:sym typeface="Arial"/>
                                </a:rPr>
                                <m:t>𝑝𝑟𝑒𝑑</m:t>
                              </m:r>
                            </m:sub>
                            <m:sup>
                              <m:r>
                                <a:rPr lang="en-US" sz="2300" i="1" dirty="0" smtClean="0">
                                  <a:solidFill>
                                    <a:schemeClr val="dk1"/>
                                  </a:solidFill>
                                  <a:latin typeface="Cambria Math" panose="02040503050406030204" pitchFamily="18" charset="0"/>
                                  <a:ea typeface="Arial"/>
                                  <a:cs typeface="Arial"/>
                                  <a:sym typeface="Arial"/>
                                </a:rPr>
                                <m:t>2</m:t>
                              </m:r>
                            </m:sup>
                          </m:sSubSup>
                        </m:num>
                        <m:den>
                          <m:sSubSup>
                            <m:sSubSupPr>
                              <m:ctrlPr>
                                <a:rPr lang="en-US" sz="2300" i="1" dirty="0" smtClean="0">
                                  <a:solidFill>
                                    <a:schemeClr val="dk1"/>
                                  </a:solidFill>
                                  <a:latin typeface="Cambria Math" panose="02040503050406030204" pitchFamily="18" charset="0"/>
                                  <a:ea typeface="Arial"/>
                                  <a:cs typeface="Arial"/>
                                  <a:sym typeface="Arial"/>
                                </a:rPr>
                              </m:ctrlPr>
                            </m:sSubSupPr>
                            <m:e>
                              <m:r>
                                <a:rPr lang="en-US" sz="2300" i="1" dirty="0" smtClean="0">
                                  <a:solidFill>
                                    <a:schemeClr val="dk1"/>
                                  </a:solidFill>
                                  <a:latin typeface="Cambria Math" panose="02040503050406030204" pitchFamily="18" charset="0"/>
                                  <a:ea typeface="Arial"/>
                                  <a:cs typeface="Arial"/>
                                  <a:sym typeface="Arial"/>
                                </a:rPr>
                                <m:t>𝜎</m:t>
                              </m:r>
                            </m:e>
                            <m:sub>
                              <m:r>
                                <a:rPr lang="en-US" sz="2300" i="1" dirty="0" smtClean="0">
                                  <a:solidFill>
                                    <a:schemeClr val="dk1"/>
                                  </a:solidFill>
                                  <a:latin typeface="Cambria Math" panose="02040503050406030204" pitchFamily="18" charset="0"/>
                                  <a:ea typeface="Arial"/>
                                  <a:cs typeface="Arial"/>
                                  <a:sym typeface="Arial"/>
                                </a:rPr>
                                <m:t>𝑝𝑟𝑒𝑑</m:t>
                              </m:r>
                            </m:sub>
                            <m:sup>
                              <m:r>
                                <a:rPr lang="en-US" sz="2300" i="1" dirty="0" smtClean="0">
                                  <a:solidFill>
                                    <a:schemeClr val="dk1"/>
                                  </a:solidFill>
                                  <a:latin typeface="Cambria Math" panose="02040503050406030204" pitchFamily="18" charset="0"/>
                                  <a:ea typeface="Arial"/>
                                  <a:cs typeface="Arial"/>
                                  <a:sym typeface="Arial"/>
                                </a:rPr>
                                <m:t>2</m:t>
                              </m:r>
                            </m:sup>
                          </m:sSubSup>
                          <m:r>
                            <a:rPr lang="en-US" sz="2300" i="1" dirty="0" smtClean="0">
                              <a:solidFill>
                                <a:schemeClr val="dk1"/>
                              </a:solidFill>
                              <a:latin typeface="Cambria Math" panose="02040503050406030204" pitchFamily="18" charset="0"/>
                              <a:ea typeface="Arial"/>
                              <a:cs typeface="Arial"/>
                              <a:sym typeface="Arial"/>
                            </a:rPr>
                            <m:t>+</m:t>
                          </m:r>
                          <m:sSubSup>
                            <m:sSubSupPr>
                              <m:ctrlPr>
                                <a:rPr lang="en-US" sz="2300" i="1" dirty="0" smtClean="0">
                                  <a:solidFill>
                                    <a:schemeClr val="dk1"/>
                                  </a:solidFill>
                                  <a:latin typeface="Cambria Math" panose="02040503050406030204" pitchFamily="18" charset="0"/>
                                  <a:ea typeface="Arial"/>
                                  <a:cs typeface="Arial"/>
                                  <a:sym typeface="Arial"/>
                                </a:rPr>
                              </m:ctrlPr>
                            </m:sSubSupPr>
                            <m:e>
                              <m:r>
                                <a:rPr lang="en-US" sz="2300" i="1" dirty="0" smtClean="0">
                                  <a:solidFill>
                                    <a:schemeClr val="dk1"/>
                                  </a:solidFill>
                                  <a:latin typeface="Cambria Math" panose="02040503050406030204" pitchFamily="18" charset="0"/>
                                  <a:ea typeface="Arial"/>
                                  <a:cs typeface="Arial"/>
                                  <a:sym typeface="Arial"/>
                                </a:rPr>
                                <m:t>𝜎</m:t>
                              </m:r>
                            </m:e>
                            <m:sub>
                              <m:r>
                                <a:rPr lang="en-US" sz="2300" i="1" dirty="0" smtClean="0">
                                  <a:solidFill>
                                    <a:schemeClr val="dk1"/>
                                  </a:solidFill>
                                  <a:latin typeface="Cambria Math" panose="02040503050406030204" pitchFamily="18" charset="0"/>
                                  <a:ea typeface="Arial"/>
                                  <a:cs typeface="Arial"/>
                                  <a:sym typeface="Arial"/>
                                </a:rPr>
                                <m:t>𝑠𝑒𝑛𝑠𝑜𝑟</m:t>
                              </m:r>
                            </m:sub>
                            <m:sup>
                              <m:r>
                                <a:rPr lang="en-US" sz="2300" i="1" dirty="0" smtClean="0">
                                  <a:solidFill>
                                    <a:schemeClr val="dk1"/>
                                  </a:solidFill>
                                  <a:latin typeface="Cambria Math" panose="02040503050406030204" pitchFamily="18" charset="0"/>
                                  <a:ea typeface="Arial"/>
                                  <a:cs typeface="Arial"/>
                                  <a:sym typeface="Arial"/>
                                </a:rPr>
                                <m:t>2</m:t>
                              </m:r>
                            </m:sup>
                          </m:sSubSup>
                        </m:den>
                      </m:f>
                    </m:oMath>
                  </m:oMathPara>
                </a14:m>
                <a:endParaRPr lang="en-US" sz="230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endParaRPr lang="en-US" sz="230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14:m>
                  <m:oMath xmlns:m="http://schemas.openxmlformats.org/officeDocument/2006/math">
                    <m:r>
                      <a:rPr lang="en-US" sz="2300" i="1" dirty="0" smtClean="0">
                        <a:solidFill>
                          <a:schemeClr val="dk1"/>
                        </a:solidFill>
                        <a:latin typeface="Cambria Math" panose="02040503050406030204" pitchFamily="18" charset="0"/>
                        <a:ea typeface="Arial"/>
                        <a:cs typeface="Arial"/>
                        <a:sym typeface="Arial"/>
                      </a:rPr>
                      <m:t>𝐾</m:t>
                    </m:r>
                  </m:oMath>
                </a14:m>
                <a:r>
                  <a:rPr lang="en-US" sz="2300" dirty="0">
                    <a:solidFill>
                      <a:schemeClr val="dk1"/>
                    </a:solidFill>
                    <a:latin typeface="Arial"/>
                    <a:ea typeface="Arial"/>
                    <a:cs typeface="Arial"/>
                    <a:sym typeface="Arial"/>
                  </a:rPr>
                  <a:t> is just a ratio! It's the ratio of our prediction uncertainty to the total system uncertainty. It always falls between 0 and 1.</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solidFill>
                      <a:schemeClr val="dk1"/>
                    </a:solidFill>
                    <a:latin typeface="Arial"/>
                    <a:ea typeface="Arial"/>
                    <a:cs typeface="Arial"/>
                    <a:sym typeface="Arial"/>
                  </a:rPr>
                  <a:t>We update our position using this ratio:</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solidFill>
                                <a:schemeClr val="dk1"/>
                              </a:solidFill>
                              <a:latin typeface="Cambria Math" panose="02040503050406030204" pitchFamily="18" charset="0"/>
                              <a:ea typeface="Arial"/>
                              <a:cs typeface="Arial"/>
                              <a:sym typeface="Arial"/>
                            </a:rPr>
                          </m:ctrlPr>
                        </m:sSubPr>
                        <m:e>
                          <m:r>
                            <a:rPr lang="en-US" sz="2300" i="1" dirty="0" smtClean="0">
                              <a:solidFill>
                                <a:schemeClr val="dk1"/>
                              </a:solidFill>
                              <a:latin typeface="Cambria Math" panose="02040503050406030204" pitchFamily="18" charset="0"/>
                              <a:ea typeface="Arial"/>
                              <a:cs typeface="Arial"/>
                              <a:sym typeface="Arial"/>
                            </a:rPr>
                            <m:t>𝜇</m:t>
                          </m:r>
                        </m:e>
                        <m:sub>
                          <m:r>
                            <a:rPr lang="en-US" sz="2300" i="1" dirty="0" smtClean="0">
                              <a:solidFill>
                                <a:schemeClr val="dk1"/>
                              </a:solidFill>
                              <a:latin typeface="Cambria Math" panose="02040503050406030204" pitchFamily="18" charset="0"/>
                              <a:ea typeface="Arial"/>
                              <a:cs typeface="Arial"/>
                              <a:sym typeface="Arial"/>
                            </a:rPr>
                            <m:t>𝑛𝑒𝑤</m:t>
                          </m:r>
                        </m:sub>
                      </m:sSub>
                      <m:r>
                        <a:rPr lang="en-US" sz="2300" i="1" dirty="0" smtClean="0">
                          <a:solidFill>
                            <a:schemeClr val="dk1"/>
                          </a:solidFill>
                          <a:latin typeface="Cambria Math" panose="02040503050406030204" pitchFamily="18" charset="0"/>
                          <a:ea typeface="Arial"/>
                          <a:cs typeface="Arial"/>
                          <a:sym typeface="Arial"/>
                        </a:rPr>
                        <m:t>=</m:t>
                      </m:r>
                      <m:sSub>
                        <m:sSubPr>
                          <m:ctrlPr>
                            <a:rPr lang="en-US" sz="2300" i="1" dirty="0" smtClean="0">
                              <a:solidFill>
                                <a:schemeClr val="dk1"/>
                              </a:solidFill>
                              <a:latin typeface="Cambria Math" panose="02040503050406030204" pitchFamily="18" charset="0"/>
                              <a:ea typeface="Arial"/>
                              <a:cs typeface="Arial"/>
                              <a:sym typeface="Arial"/>
                            </a:rPr>
                          </m:ctrlPr>
                        </m:sSubPr>
                        <m:e>
                          <m:r>
                            <a:rPr lang="en-US" sz="2300" i="1" dirty="0" smtClean="0">
                              <a:solidFill>
                                <a:schemeClr val="dk1"/>
                              </a:solidFill>
                              <a:latin typeface="Cambria Math" panose="02040503050406030204" pitchFamily="18" charset="0"/>
                              <a:ea typeface="Arial"/>
                              <a:cs typeface="Arial"/>
                              <a:sym typeface="Arial"/>
                            </a:rPr>
                            <m:t>𝜇</m:t>
                          </m:r>
                        </m:e>
                        <m:sub>
                          <m:r>
                            <a:rPr lang="en-US" sz="2300" i="1" dirty="0" smtClean="0">
                              <a:solidFill>
                                <a:schemeClr val="dk1"/>
                              </a:solidFill>
                              <a:latin typeface="Cambria Math" panose="02040503050406030204" pitchFamily="18" charset="0"/>
                              <a:ea typeface="Arial"/>
                              <a:cs typeface="Arial"/>
                              <a:sym typeface="Arial"/>
                            </a:rPr>
                            <m:t>𝑝𝑟𝑒𝑑</m:t>
                          </m:r>
                        </m:sub>
                      </m:sSub>
                      <m:r>
                        <a:rPr lang="en-US" sz="2300" i="1" dirty="0" smtClean="0">
                          <a:solidFill>
                            <a:schemeClr val="dk1"/>
                          </a:solidFill>
                          <a:latin typeface="Cambria Math" panose="02040503050406030204" pitchFamily="18" charset="0"/>
                          <a:ea typeface="Arial"/>
                          <a:cs typeface="Arial"/>
                          <a:sym typeface="Arial"/>
                        </a:rPr>
                        <m:t>+</m:t>
                      </m:r>
                      <m:r>
                        <a:rPr lang="en-US" sz="2300" i="1" dirty="0" smtClean="0">
                          <a:solidFill>
                            <a:schemeClr val="dk1"/>
                          </a:solidFill>
                          <a:latin typeface="Cambria Math" panose="02040503050406030204" pitchFamily="18" charset="0"/>
                          <a:ea typeface="Arial"/>
                          <a:cs typeface="Arial"/>
                          <a:sym typeface="Arial"/>
                        </a:rPr>
                        <m:t>𝐾</m:t>
                      </m:r>
                      <m:d>
                        <m:dPr>
                          <m:ctrlPr>
                            <a:rPr lang="en-US" sz="2300" i="1" dirty="0" smtClean="0">
                              <a:solidFill>
                                <a:schemeClr val="dk1"/>
                              </a:solidFill>
                              <a:latin typeface="Cambria Math" panose="02040503050406030204" pitchFamily="18" charset="0"/>
                              <a:ea typeface="Arial"/>
                              <a:cs typeface="Arial"/>
                              <a:sym typeface="Arial"/>
                            </a:rPr>
                          </m:ctrlPr>
                        </m:dPr>
                        <m:e>
                          <m:r>
                            <a:rPr lang="en-US" sz="2300" i="1" dirty="0" smtClean="0">
                              <a:solidFill>
                                <a:schemeClr val="dk1"/>
                              </a:solidFill>
                              <a:latin typeface="Cambria Math" panose="02040503050406030204" pitchFamily="18" charset="0"/>
                              <a:ea typeface="Arial"/>
                              <a:cs typeface="Arial"/>
                              <a:sym typeface="Arial"/>
                            </a:rPr>
                            <m:t>𝑧</m:t>
                          </m:r>
                          <m:r>
                            <a:rPr lang="en-US" sz="2300" i="1" dirty="0" smtClean="0">
                              <a:solidFill>
                                <a:schemeClr val="dk1"/>
                              </a:solidFill>
                              <a:latin typeface="Cambria Math" panose="02040503050406030204" pitchFamily="18" charset="0"/>
                              <a:ea typeface="Arial"/>
                              <a:cs typeface="Arial"/>
                              <a:sym typeface="Arial"/>
                            </a:rPr>
                            <m:t>−</m:t>
                          </m:r>
                          <m:sSub>
                            <m:sSubPr>
                              <m:ctrlPr>
                                <a:rPr lang="en-US" sz="2300" i="1" dirty="0" smtClean="0">
                                  <a:solidFill>
                                    <a:schemeClr val="dk1"/>
                                  </a:solidFill>
                                  <a:latin typeface="Cambria Math" panose="02040503050406030204" pitchFamily="18" charset="0"/>
                                  <a:ea typeface="Arial"/>
                                  <a:cs typeface="Arial"/>
                                  <a:sym typeface="Arial"/>
                                </a:rPr>
                              </m:ctrlPr>
                            </m:sSubPr>
                            <m:e>
                              <m:r>
                                <a:rPr lang="en-US" sz="2300" i="1" dirty="0" smtClean="0">
                                  <a:solidFill>
                                    <a:schemeClr val="dk1"/>
                                  </a:solidFill>
                                  <a:latin typeface="Cambria Math" panose="02040503050406030204" pitchFamily="18" charset="0"/>
                                  <a:ea typeface="Arial"/>
                                  <a:cs typeface="Arial"/>
                                  <a:sym typeface="Arial"/>
                                </a:rPr>
                                <m:t>𝜇</m:t>
                              </m:r>
                            </m:e>
                            <m:sub>
                              <m:r>
                                <a:rPr lang="en-US" sz="2300" i="1" dirty="0" smtClean="0">
                                  <a:solidFill>
                                    <a:schemeClr val="dk1"/>
                                  </a:solidFill>
                                  <a:latin typeface="Cambria Math" panose="02040503050406030204" pitchFamily="18" charset="0"/>
                                  <a:ea typeface="Arial"/>
                                  <a:cs typeface="Arial"/>
                                  <a:sym typeface="Arial"/>
                                </a:rPr>
                                <m:t>𝑝𝑟𝑒𝑑</m:t>
                              </m:r>
                            </m:sub>
                          </m:sSub>
                        </m:e>
                      </m:d>
                    </m:oMath>
                  </m:oMathPara>
                </a14:m>
                <a:endParaRPr lang="en-US" sz="2300" dirty="0">
                  <a:solidFill>
                    <a:schemeClr val="dk1"/>
                  </a:solidFill>
                  <a:latin typeface="Arial"/>
                  <a:ea typeface="Arial"/>
                  <a:cs typeface="Arial"/>
                  <a:sym typeface="Arial"/>
                </a:endParaRP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All it really says is “how much of the measurement should we incorporate”?</a:t>
                </a:r>
              </a:p>
            </p:txBody>
          </p:sp>
        </mc:Choice>
        <mc:Fallback>
          <p:sp>
            <p:nvSpPr>
              <p:cNvPr id="118" name="Google Shape;118;p29">
                <a:extLst>
                  <a:ext uri="{FF2B5EF4-FFF2-40B4-BE49-F238E27FC236}">
                    <a16:creationId xmlns:a16="http://schemas.microsoft.com/office/drawing/2014/main" id="{FCCBBD64-5DE5-3319-EFFB-00B5AD6C368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426198B-48F2-DBCF-8ADC-27C9B15ED6F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DAD612D-E7B0-AEB4-8812-5A201F6864AB}"/>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ABA8F1F-1CDF-2469-E334-67184D9835D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29FF714-8212-1644-54D8-2E0B2F32E3B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E29C982-F4C8-F9FB-AB4A-36EFC8A346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1830561-F7A0-25BC-90E5-74639DD54E9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6F1B609-BCB4-8415-9969-D8EE64E4552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4F9F58-9660-3CB5-D29E-8D99CA01601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37248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DB73DC2-58D2-91F4-F2CF-B9E7021BB72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B2BA07C7-B861-5421-7C0F-90DC1DC47C5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rial"/>
                    <a:ea typeface="Arial"/>
                    <a:cs typeface="Arial"/>
                    <a:sym typeface="Arial"/>
                  </a:rPr>
                  <a:t>That’s all the Kalman filter is!</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What is the current limitation of the formulation?</a:t>
                </a:r>
              </a:p>
              <a:p>
                <a:pPr marL="0" indent="0">
                  <a:lnSpc>
                    <a:spcPct val="100000"/>
                  </a:lnSpc>
                  <a:spcBef>
                    <a:spcPts val="0"/>
                  </a:spcBef>
                  <a:buSzPts val="3000"/>
                  <a:buNone/>
                </a:pPr>
                <a:endParaRPr lang="en-US" sz="2300" dirty="0">
                  <a:latin typeface="Arial"/>
                  <a:ea typeface="Arial"/>
                  <a:cs typeface="Arial"/>
                  <a:sym typeface="Arial"/>
                </a:endParaRPr>
              </a:p>
              <a:p>
                <a:pPr marL="0" indent="0" algn="ctr">
                  <a:lnSpc>
                    <a:spcPct val="100000"/>
                  </a:lnSpc>
                  <a:spcBef>
                    <a:spcPts val="0"/>
                  </a:spcBef>
                  <a:buSzPts val="3000"/>
                  <a:buNone/>
                </a:pPr>
                <a:r>
                  <a:rPr lang="en-US" sz="2300" dirty="0">
                    <a:latin typeface="Arial"/>
                    <a:ea typeface="Arial"/>
                    <a:cs typeface="Arial"/>
                    <a:sym typeface="Arial"/>
                  </a:rPr>
                  <a:t>We are only looking at a problem with 1 state, can this be generalized to be N-dimensional?</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For our differentiable robot, we live in a 2D plane with an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rial"/>
                    <a:ea typeface="Arial"/>
                    <a:cs typeface="Arial"/>
                    <a:sym typeface="Arial"/>
                  </a:rPr>
                  <a:t>, </a:t>
                </a:r>
                <a14:m>
                  <m:oMath xmlns:m="http://schemas.openxmlformats.org/officeDocument/2006/math">
                    <m:r>
                      <m:rPr>
                        <m:sty m:val="p"/>
                      </m:rPr>
                      <a:rPr lang="en-US" sz="2300" b="0" i="1" smtClean="0">
                        <a:latin typeface="Cambria Math" panose="02040503050406030204" pitchFamily="18" charset="0"/>
                        <a:ea typeface="Arial"/>
                        <a:cs typeface="Arial"/>
                        <a:sym typeface="Arial"/>
                      </a:rPr>
                      <m:t>Y</m:t>
                    </m:r>
                  </m:oMath>
                </a14:m>
                <a:r>
                  <a:rPr lang="en-US" sz="2300" dirty="0">
                    <a:latin typeface="Arial"/>
                    <a:ea typeface="Arial"/>
                    <a:cs typeface="Arial"/>
                    <a:sym typeface="Arial"/>
                  </a:rPr>
                  <a:t>, and heading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rial"/>
                    <a:ea typeface="Arial"/>
                    <a:cs typeface="Arial"/>
                    <a:sym typeface="Arial"/>
                  </a:rPr>
                  <a:t>. </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We can no longer use a single scalar number </a:t>
                </a:r>
                <a14:m>
                  <m:oMath xmlns:m="http://schemas.openxmlformats.org/officeDocument/2006/math">
                    <m:r>
                      <a:rPr lang="en-US" sz="2300" i="1" dirty="0" smtClean="0">
                        <a:latin typeface="Cambria Math" panose="02040503050406030204" pitchFamily="18" charset="0"/>
                        <a:ea typeface="Arial"/>
                        <a:cs typeface="Arial"/>
                        <a:sym typeface="Arial"/>
                      </a:rPr>
                      <m:t>𝜇</m:t>
                    </m:r>
                  </m:oMath>
                </a14:m>
                <a:r>
                  <a:rPr lang="en-US" sz="2300" dirty="0">
                    <a:latin typeface="Arial"/>
                    <a:ea typeface="Arial"/>
                    <a:cs typeface="Arial"/>
                    <a:sym typeface="Arial"/>
                  </a:rPr>
                  <a:t> for position. We must use a </a:t>
                </a:r>
                <a:r>
                  <a:rPr lang="en-US" sz="2300" b="1" dirty="0">
                    <a:latin typeface="Arial"/>
                    <a:ea typeface="Arial"/>
                    <a:cs typeface="Arial"/>
                    <a:sym typeface="Arial"/>
                  </a:rPr>
                  <a:t>State Vector</a:t>
                </a:r>
                <a:r>
                  <a:rPr lang="en-US" sz="2300" dirty="0">
                    <a:latin typeface="Arial"/>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𝑥</m:t>
                    </m:r>
                    <m:r>
                      <a:rPr lang="en-US" sz="2300" i="1" dirty="0" smtClean="0">
                        <a:latin typeface="Cambria Math" panose="02040503050406030204" pitchFamily="18" charset="0"/>
                        <a:ea typeface="Arial"/>
                        <a:cs typeface="Arial"/>
                        <a:sym typeface="Arial"/>
                      </a:rPr>
                      <m:t>=</m:t>
                    </m:r>
                    <m:sSup>
                      <m:sSupPr>
                        <m:ctrlPr>
                          <a:rPr lang="en-US" sz="2300" i="1" dirty="0" smtClean="0">
                            <a:latin typeface="Cambria Math" panose="02040503050406030204" pitchFamily="18" charset="0"/>
                            <a:ea typeface="Arial"/>
                            <a:cs typeface="Arial"/>
                            <a:sym typeface="Arial"/>
                          </a:rPr>
                        </m:ctrlPr>
                      </m:sSupPr>
                      <m:e>
                        <m:d>
                          <m:dPr>
                            <m:begChr m:val="["/>
                            <m:endChr m:val="]"/>
                            <m:ctrlPr>
                              <a:rPr lang="en-US" sz="2300" i="1" dirty="0" smtClean="0">
                                <a:latin typeface="Cambria Math" panose="02040503050406030204" pitchFamily="18" charset="0"/>
                                <a:ea typeface="Arial"/>
                                <a:cs typeface="Arial"/>
                                <a:sym typeface="Arial"/>
                              </a:rPr>
                            </m:ctrlPr>
                          </m:dPr>
                          <m:e>
                            <m:r>
                              <a:rPr lang="en-US" sz="2300" i="1" dirty="0" smtClean="0">
                                <a:latin typeface="Cambria Math" panose="02040503050406030204" pitchFamily="18" charset="0"/>
                                <a:ea typeface="Arial"/>
                                <a:cs typeface="Arial"/>
                                <a:sym typeface="Arial"/>
                              </a:rPr>
                              <m:t>𝑋</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𝑌</m:t>
                            </m:r>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𝜃</m:t>
                            </m:r>
                          </m:e>
                        </m:d>
                      </m:e>
                      <m:sup>
                        <m:r>
                          <a:rPr lang="en-US" sz="2300" i="1" dirty="0" err="1" smtClean="0">
                            <a:latin typeface="Cambria Math" panose="02040503050406030204" pitchFamily="18" charset="0"/>
                            <a:ea typeface="Arial"/>
                            <a:cs typeface="Arial"/>
                            <a:sym typeface="Arial"/>
                          </a:rPr>
                          <m:t>𝑇</m:t>
                        </m:r>
                      </m:sup>
                    </m:sSup>
                  </m:oMath>
                </a14:m>
                <a:r>
                  <a:rPr lang="en-US" sz="2300" dirty="0">
                    <a:latin typeface="Arial"/>
                    <a:ea typeface="Arial"/>
                    <a:cs typeface="Arial"/>
                    <a:sym typeface="Arial"/>
                  </a:rPr>
                  <a:t>.</a:t>
                </a:r>
              </a:p>
              <a:p>
                <a:pPr marL="0" indent="0">
                  <a:lnSpc>
                    <a:spcPct val="100000"/>
                  </a:lnSpc>
                  <a:spcBef>
                    <a:spcPts val="0"/>
                  </a:spcBef>
                  <a:buSzPts val="3000"/>
                  <a:buNone/>
                </a:pPr>
                <a:r>
                  <a:rPr lang="en-US" sz="2300" dirty="0">
                    <a:latin typeface="Arial"/>
                    <a:ea typeface="Arial"/>
                    <a:cs typeface="Arial"/>
                    <a:sym typeface="Arial"/>
                  </a:rPr>
                  <a:t>We can no longer use a single scalar variance </a:t>
                </a:r>
                <a14:m>
                  <m:oMath xmlns:m="http://schemas.openxmlformats.org/officeDocument/2006/math">
                    <m:sSup>
                      <m:sSupPr>
                        <m:ctrlPr>
                          <a:rPr lang="en-US" sz="2300" i="1" dirty="0" smtClean="0">
                            <a:latin typeface="Cambria Math" panose="02040503050406030204" pitchFamily="18" charset="0"/>
                            <a:ea typeface="Arial"/>
                            <a:cs typeface="Arial"/>
                            <a:sym typeface="Arial"/>
                          </a:rPr>
                        </m:ctrlPr>
                      </m:sSupPr>
                      <m:e>
                        <m:r>
                          <a:rPr lang="en-US" sz="2300" i="1" dirty="0" smtClean="0">
                            <a:latin typeface="Cambria Math" panose="02040503050406030204" pitchFamily="18" charset="0"/>
                            <a:ea typeface="Arial"/>
                            <a:cs typeface="Arial"/>
                            <a:sym typeface="Arial"/>
                          </a:rPr>
                          <m:t>𝜎</m:t>
                        </m:r>
                      </m:e>
                      <m:sup>
                        <m:r>
                          <a:rPr lang="en-US" sz="2300" i="1" dirty="0" smtClean="0">
                            <a:latin typeface="Cambria Math" panose="02040503050406030204" pitchFamily="18" charset="0"/>
                            <a:ea typeface="Arial"/>
                            <a:cs typeface="Arial"/>
                            <a:sym typeface="Arial"/>
                          </a:rPr>
                          <m:t>2</m:t>
                        </m:r>
                      </m:sup>
                    </m:sSup>
                  </m:oMath>
                </a14:m>
                <a:r>
                  <a:rPr lang="en-US" sz="2300" dirty="0">
                    <a:latin typeface="Arial"/>
                    <a:ea typeface="Arial"/>
                    <a:cs typeface="Arial"/>
                    <a:sym typeface="Arial"/>
                  </a:rPr>
                  <a:t>. We must use a </a:t>
                </a:r>
                <a:r>
                  <a:rPr lang="en-US" sz="2300" b="1" dirty="0">
                    <a:latin typeface="Arial"/>
                    <a:ea typeface="Arial"/>
                    <a:cs typeface="Arial"/>
                    <a:sym typeface="Arial"/>
                  </a:rPr>
                  <a:t>Covariance Matrix</a:t>
                </a:r>
                <a:r>
                  <a:rPr lang="en-US" sz="2300" dirty="0">
                    <a:latin typeface="Arial"/>
                    <a:ea typeface="Arial"/>
                    <a:cs typeface="Arial"/>
                    <a:sym typeface="Arial"/>
                  </a:rPr>
                  <a:t>,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rial"/>
                    <a:ea typeface="Arial"/>
                    <a:cs typeface="Arial"/>
                    <a:sym typeface="Arial"/>
                  </a:rPr>
                  <a:t>.</a:t>
                </a:r>
              </a:p>
            </p:txBody>
          </p:sp>
        </mc:Choice>
        <mc:Fallback>
          <p:sp>
            <p:nvSpPr>
              <p:cNvPr id="118" name="Google Shape;118;p29">
                <a:extLst>
                  <a:ext uri="{FF2B5EF4-FFF2-40B4-BE49-F238E27FC236}">
                    <a16:creationId xmlns:a16="http://schemas.microsoft.com/office/drawing/2014/main" id="{B2BA07C7-B861-5421-7C0F-90DC1DC47C5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96777F2-6C77-51D1-C8B9-64F1920EBD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06715D4-8B00-B85D-2167-91DA621CEF8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492175EB-3F6C-D62D-25BA-5217911047D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D85456-00B2-46B1-8819-CBBE0ACF49B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D03A0D-5C42-625F-8B21-357E15F06AC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1898B86-ADAC-9156-40E1-55BCCF20AC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7629CEF-B88B-5097-7BCE-AE0738D50FB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64DB92F-2773-0CA3-01CC-99F2DD8E3EE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25279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85EBFB3-1EF9-8EC5-867F-1BFD8C69224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140E74E3-A999-C8C0-8BEE-C1133A20002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rial"/>
                    <a:ea typeface="Arial"/>
                    <a:cs typeface="Arial"/>
                    <a:sym typeface="Arial"/>
                  </a:rPr>
                  <a:t>The </a:t>
                </a:r>
                <a:r>
                  <a:rPr lang="en-US" sz="2300" b="1" dirty="0">
                    <a:latin typeface="Arial"/>
                    <a:ea typeface="Arial"/>
                    <a:cs typeface="Arial"/>
                    <a:sym typeface="Arial"/>
                  </a:rPr>
                  <a:t>Covariance Matrix </a:t>
                </a:r>
                <a14:m>
                  <m:oMath xmlns:m="http://schemas.openxmlformats.org/officeDocument/2006/math">
                    <m:r>
                      <a:rPr lang="en-US" sz="2300" i="1" dirty="0" smtClean="0">
                        <a:latin typeface="Cambria Math" panose="02040503050406030204" pitchFamily="18" charset="0"/>
                        <a:ea typeface="Arial"/>
                        <a:cs typeface="Arial"/>
                        <a:sym typeface="Arial"/>
                      </a:rPr>
                      <m:t>𝑃</m:t>
                    </m:r>
                  </m:oMath>
                </a14:m>
                <a:r>
                  <a:rPr lang="en-US" sz="2300" dirty="0">
                    <a:latin typeface="Arial"/>
                    <a:ea typeface="Arial"/>
                    <a:cs typeface="Arial"/>
                    <a:sym typeface="Arial"/>
                  </a:rPr>
                  <a:t> represents multi-dimensional uncertainty as an ellipse, not a 1D curve.</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The diagonal elements are the individual variances (e.g., how unsure are we about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rial"/>
                    <a:ea typeface="Arial"/>
                    <a:cs typeface="Arial"/>
                    <a:sym typeface="Arial"/>
                  </a:rPr>
                  <a:t> independent of everything else?).</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The off-diagonal elements are the critical addition: </a:t>
                </a:r>
                <a:r>
                  <a:rPr lang="en-US" sz="2300" b="1" dirty="0">
                    <a:latin typeface="Arial"/>
                    <a:ea typeface="Arial"/>
                    <a:cs typeface="Arial"/>
                    <a:sym typeface="Arial"/>
                  </a:rPr>
                  <a:t>Correlations</a:t>
                </a:r>
                <a:r>
                  <a:rPr lang="en-US" sz="2300" dirty="0">
                    <a:latin typeface="Arial"/>
                    <a:ea typeface="Arial"/>
                    <a:cs typeface="Arial"/>
                    <a:sym typeface="Arial"/>
                  </a:rPr>
                  <a:t>.</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If our robot only drives forward, and we are uncertain about our heading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rial"/>
                    <a:ea typeface="Arial"/>
                    <a:cs typeface="Arial"/>
                    <a:sym typeface="Arial"/>
                  </a:rPr>
                  <a:t>, will that create an uncertainty in </a:t>
                </a:r>
                <a14:m>
                  <m:oMath xmlns:m="http://schemas.openxmlformats.org/officeDocument/2006/math">
                    <m:r>
                      <a:rPr lang="en-US" sz="2300" i="1" dirty="0" smtClean="0">
                        <a:latin typeface="Cambria Math" panose="02040503050406030204" pitchFamily="18" charset="0"/>
                        <a:ea typeface="Arial"/>
                        <a:cs typeface="Arial"/>
                        <a:sym typeface="Arial"/>
                      </a:rPr>
                      <m:t>𝑌</m:t>
                    </m:r>
                  </m:oMath>
                </a14:m>
                <a:r>
                  <a:rPr lang="en-US" sz="2300" dirty="0">
                    <a:latin typeface="Arial"/>
                    <a:ea typeface="Arial"/>
                    <a:cs typeface="Arial"/>
                    <a:sym typeface="Arial"/>
                  </a:rPr>
                  <a:t> as we travel? </a:t>
                </a:r>
              </a:p>
              <a:p>
                <a:pPr marL="0" indent="0">
                  <a:lnSpc>
                    <a:spcPct val="100000"/>
                  </a:lnSpc>
                  <a:spcBef>
                    <a:spcPts val="0"/>
                  </a:spcBef>
                  <a:buSzPts val="3000"/>
                  <a:buNone/>
                </a:pPr>
                <a:endParaRPr lang="en-US" sz="2300" dirty="0">
                  <a:latin typeface="Arial"/>
                  <a:ea typeface="Arial"/>
                  <a:cs typeface="Arial"/>
                  <a:sym typeface="Arial"/>
                </a:endParaRPr>
              </a:p>
              <a:p>
                <a:pPr marL="0" indent="0" algn="ctr">
                  <a:lnSpc>
                    <a:spcPct val="100000"/>
                  </a:lnSpc>
                  <a:spcBef>
                    <a:spcPts val="0"/>
                  </a:spcBef>
                  <a:buSzPts val="3000"/>
                  <a:buNone/>
                </a:pPr>
                <a:r>
                  <a:rPr lang="en-US" sz="2300" dirty="0">
                    <a:latin typeface="Arial"/>
                    <a:ea typeface="Arial"/>
                    <a:cs typeface="Arial"/>
                    <a:sym typeface="Arial"/>
                  </a:rPr>
                  <a:t>Yes, errors in </a:t>
                </a:r>
                <a14:m>
                  <m:oMath xmlns:m="http://schemas.openxmlformats.org/officeDocument/2006/math">
                    <m:r>
                      <a:rPr lang="en-US" sz="2300" i="1" dirty="0" smtClean="0">
                        <a:latin typeface="Cambria Math" panose="02040503050406030204" pitchFamily="18" charset="0"/>
                        <a:ea typeface="Arial"/>
                        <a:cs typeface="Arial"/>
                        <a:sym typeface="Arial"/>
                      </a:rPr>
                      <m:t>𝜃</m:t>
                    </m:r>
                  </m:oMath>
                </a14:m>
                <a:r>
                  <a:rPr lang="en-US" sz="2300" dirty="0">
                    <a:latin typeface="Arial"/>
                    <a:ea typeface="Arial"/>
                    <a:cs typeface="Arial"/>
                    <a:sym typeface="Arial"/>
                  </a:rPr>
                  <a:t> are highly correlated with errors in </a:t>
                </a:r>
                <a14:m>
                  <m:oMath xmlns:m="http://schemas.openxmlformats.org/officeDocument/2006/math">
                    <m:r>
                      <a:rPr lang="en-US" sz="2300" i="1" dirty="0" smtClean="0">
                        <a:latin typeface="Cambria Math" panose="02040503050406030204" pitchFamily="18" charset="0"/>
                        <a:ea typeface="Arial"/>
                        <a:cs typeface="Arial"/>
                        <a:sym typeface="Arial"/>
                      </a:rPr>
                      <m:t>𝑋</m:t>
                    </m:r>
                  </m:oMath>
                </a14:m>
                <a:r>
                  <a:rPr lang="en-US" sz="2300" dirty="0">
                    <a:latin typeface="Arial"/>
                    <a:ea typeface="Arial"/>
                    <a:cs typeface="Arial"/>
                    <a:sym typeface="Arial"/>
                  </a:rPr>
                  <a:t> and </a:t>
                </a:r>
                <a14:m>
                  <m:oMath xmlns:m="http://schemas.openxmlformats.org/officeDocument/2006/math">
                    <m:r>
                      <a:rPr lang="en-US" sz="2300" i="1" dirty="0" smtClean="0">
                        <a:latin typeface="Cambria Math" panose="02040503050406030204" pitchFamily="18" charset="0"/>
                        <a:ea typeface="Arial"/>
                        <a:cs typeface="Arial"/>
                        <a:sym typeface="Arial"/>
                      </a:rPr>
                      <m:t>𝑌</m:t>
                    </m:r>
                  </m:oMath>
                </a14:m>
                <a:r>
                  <a:rPr lang="en-US" sz="2300" dirty="0">
                    <a:latin typeface="Arial"/>
                    <a:ea typeface="Arial"/>
                    <a:cs typeface="Arial"/>
                    <a:sym typeface="Arial"/>
                  </a:rPr>
                  <a:t>.</a:t>
                </a:r>
              </a:p>
            </p:txBody>
          </p:sp>
        </mc:Choice>
        <mc:Fallback>
          <p:sp>
            <p:nvSpPr>
              <p:cNvPr id="118" name="Google Shape;118;p29">
                <a:extLst>
                  <a:ext uri="{FF2B5EF4-FFF2-40B4-BE49-F238E27FC236}">
                    <a16:creationId xmlns:a16="http://schemas.microsoft.com/office/drawing/2014/main" id="{140E74E3-A999-C8C0-8BEE-C1133A20002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011" r="-10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8CE9117-7D7E-73E9-FCB2-D173B899D60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D2E25B4-9C80-65C9-0132-0BC3107A42C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268C4F9-6EEA-954F-1101-5550EE46989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98213B-00FB-430A-FDF5-638419BC8E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693843-1AC4-F863-C72F-63E16D3071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80E8B05-3179-DEEC-574A-3A98802C08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50F6C8-41A2-4DAF-A588-1B86396E546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6273D03-808C-03FB-F450-60DB1E081EE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68594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5747B13-4078-2579-5CF3-192A99C6A73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7A99B7E-3621-627E-2235-8438A3DDF0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9405DF6-419E-CCD5-D645-2A4BF021AEF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6368A7C-58D1-ACE8-0D0E-28CC016916F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F984D39-5F9A-3DFA-E2FD-4F34C8A1DA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C4320B4-4EF9-3A5F-1697-3CA8CA71BF0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EBF7F5C-2AFF-FAEE-F225-E00853602DD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C9D257-AFD4-BDF2-8B45-B783A65F0B8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BA2575C-A1C0-F20B-2B6C-2F29DC269E2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7EA5D460-2371-5DDC-7B12-80A2B905D8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0638" y="556313"/>
            <a:ext cx="6430725" cy="6430725"/>
          </a:xfrm>
          <a:prstGeom prst="rect">
            <a:avLst/>
          </a:prstGeom>
        </p:spPr>
      </p:pic>
    </p:spTree>
    <p:extLst>
      <p:ext uri="{BB962C8B-B14F-4D97-AF65-F5344CB8AC3E}">
        <p14:creationId xmlns:p14="http://schemas.microsoft.com/office/powerpoint/2010/main" val="3557161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8E72C3-8BEE-CEC8-6058-7BC82650921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C14F4595-D47E-8E37-5E1F-F3B3D60B2EA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rial"/>
                    <a:ea typeface="Arial"/>
                    <a:cs typeface="Arial"/>
                    <a:sym typeface="Arial"/>
                  </a:rPr>
                  <a:t>Let's translate our 1D prediction (</a:t>
                </a:r>
                <a14:m>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𝑝𝑟𝑒𝑑</m:t>
                        </m:r>
                      </m:sub>
                    </m:sSub>
                    <m:r>
                      <a:rPr lang="en-US" sz="2300" i="1" dirty="0" smtClean="0">
                        <a:latin typeface="Cambria Math" panose="02040503050406030204" pitchFamily="18" charset="0"/>
                        <a:ea typeface="Arial"/>
                        <a:cs typeface="Arial"/>
                        <a:sym typeface="Arial"/>
                      </a:rPr>
                      <m:t>=</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𝜇</m:t>
                        </m:r>
                      </m:e>
                      <m:sub>
                        <m:r>
                          <a:rPr lang="en-US" sz="2300" i="1" dirty="0" smtClean="0">
                            <a:latin typeface="Cambria Math" panose="02040503050406030204" pitchFamily="18" charset="0"/>
                            <a:ea typeface="Arial"/>
                            <a:cs typeface="Arial"/>
                            <a:sym typeface="Arial"/>
                          </a:rPr>
                          <m:t>𝑜𝑙𝑑</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𝑢</m:t>
                    </m:r>
                  </m:oMath>
                </a14:m>
                <a:r>
                  <a:rPr lang="en-US" sz="2300" dirty="0">
                    <a:latin typeface="Arial"/>
                    <a:ea typeface="Arial"/>
                    <a:cs typeface="Arial"/>
                    <a:sym typeface="Arial"/>
                  </a:rPr>
                  <a:t>) to N-Dimensions:</a:t>
                </a: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m:rPr>
                              <m:sty m:val="p"/>
                            </m:rPr>
                            <a:rPr lang="en-US" sz="2300" b="0" i="1" dirty="0" smtClean="0">
                              <a:latin typeface="Cambria Math" panose="02040503050406030204" pitchFamily="18" charset="0"/>
                              <a:ea typeface="Arial"/>
                              <a:cs typeface="Arial"/>
                              <a:sym typeface="Arial"/>
                            </a:rPr>
                            <m:t>k</m:t>
                          </m:r>
                          <m:r>
                            <a:rPr lang="en-US" sz="2300" b="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𝐹</m:t>
                      </m:r>
                      <m:sSub>
                        <m:sSubPr>
                          <m:ctrlPr>
                            <a:rPr lang="en-US" sz="2300" i="1" dirty="0" smtClean="0">
                              <a:latin typeface="Cambria Math" panose="02040503050406030204" pitchFamily="18" charset="0"/>
                              <a:ea typeface="Arial"/>
                              <a:cs typeface="Arial"/>
                              <a:sym typeface="Arial"/>
                            </a:rPr>
                          </m:ctrlPr>
                        </m:sSubPr>
                        <m:e>
                          <m:r>
                            <a:rPr lang="en-US" sz="2300" i="1" dirty="0" smtClean="0">
                              <a:latin typeface="Cambria Math" panose="02040503050406030204" pitchFamily="18" charset="0"/>
                              <a:ea typeface="Arial"/>
                              <a:cs typeface="Arial"/>
                              <a:sym typeface="Arial"/>
                            </a:rPr>
                            <m:t>𝑥</m:t>
                          </m:r>
                        </m:e>
                        <m:sub>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r>
                            <a:rPr lang="en-US" sz="2300" i="1" dirty="0" smtClean="0">
                              <a:latin typeface="Cambria Math" panose="02040503050406030204" pitchFamily="18" charset="0"/>
                              <a:ea typeface="Arial"/>
                              <a:cs typeface="Arial"/>
                              <a:sym typeface="Arial"/>
                            </a:rPr>
                            <m:t>𝑘</m:t>
                          </m:r>
                          <m:r>
                            <a:rPr lang="en-US" sz="2300" i="1" dirty="0" smtClean="0">
                              <a:latin typeface="Cambria Math" panose="02040503050406030204" pitchFamily="18" charset="0"/>
                              <a:ea typeface="Arial"/>
                              <a:cs typeface="Arial"/>
                              <a:sym typeface="Arial"/>
                            </a:rPr>
                            <m:t>−1</m:t>
                          </m:r>
                        </m:sub>
                      </m:sSub>
                      <m:r>
                        <a:rPr lang="en-US" sz="2300" i="1" dirty="0" smtClean="0">
                          <a:latin typeface="Cambria Math" panose="02040503050406030204" pitchFamily="18" charset="0"/>
                          <a:ea typeface="Arial"/>
                          <a:cs typeface="Arial"/>
                          <a:sym typeface="Arial"/>
                        </a:rPr>
                        <m:t>+</m:t>
                      </m:r>
                      <m:r>
                        <a:rPr lang="en-US" sz="2300" i="1" dirty="0" smtClean="0">
                          <a:latin typeface="Cambria Math" panose="02040503050406030204" pitchFamily="18" charset="0"/>
                          <a:ea typeface="Arial"/>
                          <a:cs typeface="Arial"/>
                          <a:sym typeface="Arial"/>
                        </a:rPr>
                        <m:t>𝐵</m:t>
                      </m:r>
                      <m:sSub>
                        <m:sSubPr>
                          <m:ctrlPr>
                            <a:rPr lang="en-US" sz="2300" i="1" dirty="0" err="1" smtClean="0">
                              <a:latin typeface="Cambria Math" panose="02040503050406030204" pitchFamily="18" charset="0"/>
                              <a:ea typeface="Arial"/>
                              <a:cs typeface="Arial"/>
                              <a:sym typeface="Arial"/>
                            </a:rPr>
                          </m:ctrlPr>
                        </m:sSubPr>
                        <m:e>
                          <m:r>
                            <a:rPr lang="en-US" sz="2300" i="1" dirty="0" err="1" smtClean="0">
                              <a:latin typeface="Cambria Math" panose="02040503050406030204" pitchFamily="18" charset="0"/>
                              <a:ea typeface="Arial"/>
                              <a:cs typeface="Arial"/>
                              <a:sym typeface="Arial"/>
                            </a:rPr>
                            <m:t>𝑢</m:t>
                          </m:r>
                        </m:e>
                        <m:sub>
                          <m:r>
                            <a:rPr lang="en-US" sz="2300" i="1" dirty="0" err="1" smtClean="0">
                              <a:latin typeface="Cambria Math" panose="02040503050406030204" pitchFamily="18" charset="0"/>
                              <a:ea typeface="Arial"/>
                              <a:cs typeface="Arial"/>
                              <a:sym typeface="Arial"/>
                            </a:rPr>
                            <m:t>𝑘</m:t>
                          </m:r>
                        </m:sub>
                      </m:sSub>
                    </m:oMath>
                  </m:oMathPara>
                </a14:m>
                <a:endParaRPr lang="en-US" sz="2300" dirty="0">
                  <a:latin typeface="Arial"/>
                  <a:ea typeface="Arial"/>
                  <a:cs typeface="Arial"/>
                  <a:sym typeface="Arial"/>
                </a:endParaRPr>
              </a:p>
              <a:p>
                <a:pPr marL="0" indent="0">
                  <a:lnSpc>
                    <a:spcPct val="100000"/>
                  </a:lnSpc>
                  <a:spcBef>
                    <a:spcPts val="0"/>
                  </a:spcBef>
                  <a:buSzPts val="3000"/>
                  <a:buNone/>
                </a:pPr>
                <a:endParaRPr lang="en-US" sz="2300" dirty="0">
                  <a:latin typeface="Arial"/>
                  <a:ea typeface="Arial"/>
                  <a:cs typeface="Arial"/>
                  <a:sym typeface="Arial"/>
                </a:endParaRPr>
              </a:p>
              <a:p>
                <a:pPr marL="0" indent="0">
                  <a:lnSpc>
                    <a:spcPct val="100000"/>
                  </a:lnSpc>
                  <a:spcBef>
                    <a:spcPts val="0"/>
                  </a:spcBef>
                  <a:buSzPts val="3000"/>
                  <a:buNone/>
                </a:pPr>
                <a:r>
                  <a:rPr lang="en-US" sz="2300" dirty="0">
                    <a:latin typeface="Arial"/>
                    <a:ea typeface="Arial"/>
                    <a:cs typeface="Arial"/>
                    <a:sym typeface="Arial"/>
                  </a:rPr>
                  <a:t>$F$ is our state transition matrix (how physics updates the state).</a:t>
                </a:r>
              </a:p>
            </p:txBody>
          </p:sp>
        </mc:Choice>
        <mc:Fallback>
          <p:sp>
            <p:nvSpPr>
              <p:cNvPr id="118" name="Google Shape;118;p29">
                <a:extLst>
                  <a:ext uri="{FF2B5EF4-FFF2-40B4-BE49-F238E27FC236}">
                    <a16:creationId xmlns:a16="http://schemas.microsoft.com/office/drawing/2014/main" id="{C14F4595-D47E-8E37-5E1F-F3B3D60B2EA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18" t="-113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0036BC4-3069-A517-9085-A6B0835EFC9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7E81DB4-AABF-ABD8-7008-DCB0C1BCE45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Sensor Fusion – Predict Step</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A1F5C47-8016-E787-4409-DD855A1AEFE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2EE9FB8-DBB9-F93F-7175-1EAB0A5EBE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FCFEEC2-0152-918E-1329-173D4AD4621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C87EC6B-71AE-3ACE-3B89-69A4B7F43B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40CD8F-032C-C367-6351-C8CD108322A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E28E6B9-E7DC-4370-2429-D59D886C3DE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4412403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latin typeface="Arial"/>
              <a:ea typeface="Arial"/>
              <a:cs typeface="Arial"/>
              <a:sym typeface="Aria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21" name="Google Shape;121;p29"/>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0"/>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32" name="Google Shape;132;p30"/>
          <p:cNvSpPr txBox="1"/>
          <p:nvPr/>
        </p:nvSpPr>
        <p:spPr>
          <a:xfrm>
            <a:off x="376810"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rial"/>
              <a:ea typeface="Arial"/>
              <a:cs typeface="Arial"/>
              <a:sym typeface="Arial"/>
            </a:endParaRPr>
          </a:p>
        </p:txBody>
      </p:sp>
      <p:sp>
        <p:nvSpPr>
          <p:cNvPr id="133" name="Google Shape;133;p30"/>
          <p:cNvSpPr txBox="1"/>
          <p:nvPr/>
        </p:nvSpPr>
        <p:spPr>
          <a:xfrm>
            <a:off x="6158774"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rial"/>
              <a:ea typeface="Arial"/>
              <a:cs typeface="Arial"/>
              <a:sym typeface="Arial"/>
            </a:endParaRPr>
          </a:p>
        </p:txBody>
      </p:sp>
      <p:sp>
        <p:nvSpPr>
          <p:cNvPr id="134" name="Google Shape;134;p30"/>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35" name="Google Shape;135;p30"/>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36" name="Google Shape;136;p30"/>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37" name="Google Shape;137;p30"/>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38" name="Google Shape;138;p30"/>
          <p:cNvGrpSpPr/>
          <p:nvPr/>
        </p:nvGrpSpPr>
        <p:grpSpPr>
          <a:xfrm>
            <a:off x="4066674" y="6601537"/>
            <a:ext cx="5233412" cy="70446"/>
            <a:chOff x="4033424" y="6601537"/>
            <a:chExt cx="5233412" cy="70446"/>
          </a:xfrm>
        </p:grpSpPr>
        <p:cxnSp>
          <p:nvCxnSpPr>
            <p:cNvPr id="139" name="Google Shape;139;p30"/>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40" name="Google Shape;140;p30"/>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1"/>
          <p:cNvSpPr/>
          <p:nvPr/>
        </p:nvSpPr>
        <p:spPr>
          <a:xfrm>
            <a:off x="47556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 name="Google Shape;146;p31"/>
          <p:cNvSpPr txBox="1"/>
          <p:nvPr/>
        </p:nvSpPr>
        <p:spPr>
          <a:xfrm>
            <a:off x="149411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47" name="Google Shape;147;p31"/>
          <p:cNvSpPr/>
          <p:nvPr/>
        </p:nvSpPr>
        <p:spPr>
          <a:xfrm>
            <a:off x="47556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8" name="Google Shape;148;p31"/>
          <p:cNvSpPr txBox="1"/>
          <p:nvPr/>
        </p:nvSpPr>
        <p:spPr>
          <a:xfrm>
            <a:off x="149411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49" name="Google Shape;149;p31"/>
          <p:cNvSpPr txBox="1"/>
          <p:nvPr/>
        </p:nvSpPr>
        <p:spPr>
          <a:xfrm>
            <a:off x="5122548" y="1334279"/>
            <a:ext cx="6686464"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50" name="Google Shape;150;p31"/>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51" name="Google Shape;151;p31"/>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52" name="Google Shape;152;p31"/>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53" name="Google Shape;153;p31"/>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54" name="Google Shape;154;p31"/>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55" name="Google Shape;155;p31"/>
          <p:cNvGrpSpPr/>
          <p:nvPr/>
        </p:nvGrpSpPr>
        <p:grpSpPr>
          <a:xfrm>
            <a:off x="4066674" y="6601537"/>
            <a:ext cx="5233412" cy="70446"/>
            <a:chOff x="4033424" y="6601537"/>
            <a:chExt cx="5233412" cy="70446"/>
          </a:xfrm>
        </p:grpSpPr>
        <p:cxnSp>
          <p:nvCxnSpPr>
            <p:cNvPr id="156" name="Google Shape;156;p31"/>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57" name="Google Shape;157;p31"/>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747545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3" name="Google Shape;163;p7"/>
          <p:cNvSpPr txBox="1"/>
          <p:nvPr/>
        </p:nvSpPr>
        <p:spPr>
          <a:xfrm>
            <a:off x="849400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64" name="Google Shape;164;p7"/>
          <p:cNvSpPr/>
          <p:nvPr/>
        </p:nvSpPr>
        <p:spPr>
          <a:xfrm>
            <a:off x="747545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7"/>
          <p:cNvSpPr txBox="1"/>
          <p:nvPr/>
        </p:nvSpPr>
        <p:spPr>
          <a:xfrm>
            <a:off x="849400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66" name="Google Shape;166;p7"/>
          <p:cNvSpPr txBox="1">
            <a:spLocks noGrp="1"/>
          </p:cNvSpPr>
          <p:nvPr>
            <p:ph type="body" idx="1"/>
          </p:nvPr>
        </p:nvSpPr>
        <p:spPr>
          <a:xfrm>
            <a:off x="376810" y="1334279"/>
            <a:ext cx="6686464"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67" name="Google Shape;167;p7"/>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68" name="Google Shape;168;p7"/>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69" name="Google Shape;169;p7"/>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70" name="Google Shape;170;p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71" name="Google Shape;171;p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72" name="Google Shape;172;p7"/>
          <p:cNvGrpSpPr/>
          <p:nvPr/>
        </p:nvGrpSpPr>
        <p:grpSpPr>
          <a:xfrm>
            <a:off x="4066674" y="6601537"/>
            <a:ext cx="5233412" cy="70446"/>
            <a:chOff x="4033424" y="6601537"/>
            <a:chExt cx="5233412" cy="70446"/>
          </a:xfrm>
        </p:grpSpPr>
        <p:cxnSp>
          <p:nvCxnSpPr>
            <p:cNvPr id="173" name="Google Shape;173;p7"/>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74" name="Google Shape;174;p7"/>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p:nvPr/>
        </p:nvSpPr>
        <p:spPr>
          <a:xfrm>
            <a:off x="43119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0" name="Google Shape;180;p32"/>
          <p:cNvSpPr txBox="1"/>
          <p:nvPr/>
        </p:nvSpPr>
        <p:spPr>
          <a:xfrm>
            <a:off x="146927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81" name="Google Shape;181;p32"/>
          <p:cNvSpPr txBox="1"/>
          <p:nvPr/>
        </p:nvSpPr>
        <p:spPr>
          <a:xfrm>
            <a:off x="5131837"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82" name="Google Shape;182;p32"/>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83" name="Google Shape;183;p32"/>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84" name="Google Shape;184;p32"/>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85" name="Google Shape;185;p32"/>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86" name="Google Shape;186;p32"/>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87" name="Google Shape;187;p32"/>
          <p:cNvGrpSpPr/>
          <p:nvPr/>
        </p:nvGrpSpPr>
        <p:grpSpPr>
          <a:xfrm>
            <a:off x="4066674" y="6601537"/>
            <a:ext cx="5233412" cy="70446"/>
            <a:chOff x="4033424" y="6601537"/>
            <a:chExt cx="5233412" cy="70446"/>
          </a:xfrm>
        </p:grpSpPr>
        <p:cxnSp>
          <p:nvCxnSpPr>
            <p:cNvPr id="188" name="Google Shape;188;p32"/>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89" name="Google Shape;189;p32"/>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p:nvPr/>
        </p:nvSpPr>
        <p:spPr>
          <a:xfrm>
            <a:off x="745235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 name="Google Shape;195;p33"/>
          <p:cNvSpPr txBox="1"/>
          <p:nvPr/>
        </p:nvSpPr>
        <p:spPr>
          <a:xfrm>
            <a:off x="849043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96" name="Google Shape;196;p33"/>
          <p:cNvSpPr txBox="1"/>
          <p:nvPr/>
        </p:nvSpPr>
        <p:spPr>
          <a:xfrm>
            <a:off x="376808"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97" name="Google Shape;197;p33"/>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8" name="Google Shape;198;p33"/>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99" name="Google Shape;199;p33"/>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00" name="Google Shape;200;p33"/>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01" name="Google Shape;201;p33"/>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02" name="Google Shape;202;p33"/>
          <p:cNvGrpSpPr/>
          <p:nvPr/>
        </p:nvGrpSpPr>
        <p:grpSpPr>
          <a:xfrm>
            <a:off x="4066674" y="6601537"/>
            <a:ext cx="5233412" cy="70446"/>
            <a:chOff x="4033424" y="6601537"/>
            <a:chExt cx="5233412" cy="70446"/>
          </a:xfrm>
        </p:grpSpPr>
        <p:cxnSp>
          <p:nvCxnSpPr>
            <p:cNvPr id="203" name="Google Shape;203;p33"/>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04" name="Google Shape;204;p33"/>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2266934" y="1458134"/>
            <a:ext cx="7658130" cy="368842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0" name="Google Shape;210;p8"/>
          <p:cNvSpPr txBox="1"/>
          <p:nvPr/>
        </p:nvSpPr>
        <p:spPr>
          <a:xfrm>
            <a:off x="4548417" y="3123892"/>
            <a:ext cx="3095164"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CHART / GRAPH</a:t>
            </a:r>
            <a:endParaRPr sz="1400" b="0" i="0" u="none" strike="noStrike" cap="none">
              <a:solidFill>
                <a:srgbClr val="000000"/>
              </a:solidFill>
              <a:latin typeface="Arial"/>
              <a:ea typeface="Arial"/>
              <a:cs typeface="Arial"/>
              <a:sym typeface="Arial"/>
            </a:endParaRPr>
          </a:p>
        </p:txBody>
      </p:sp>
      <p:sp>
        <p:nvSpPr>
          <p:cNvPr id="211" name="Google Shape;211;p8"/>
          <p:cNvSpPr txBox="1"/>
          <p:nvPr/>
        </p:nvSpPr>
        <p:spPr>
          <a:xfrm>
            <a:off x="583914" y="5464730"/>
            <a:ext cx="11024170" cy="6541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1600" b="0" i="0" u="none" strike="noStrike" cap="none">
                <a:solidFill>
                  <a:schemeClr val="dk1"/>
                </a:solidFill>
                <a:latin typeface="Arial"/>
                <a:ea typeface="Arial"/>
                <a:cs typeface="Arial"/>
                <a:sym typeface="Arial"/>
              </a:rPr>
              <a:t>(Short commentary or relevant information about the contents of the chart/graph.)</a:t>
            </a:r>
            <a:endParaRPr sz="1600" b="0" i="0" u="none" strike="noStrike" cap="none">
              <a:solidFill>
                <a:srgbClr val="000000"/>
              </a:solidFill>
              <a:latin typeface="Arial"/>
              <a:ea typeface="Arial"/>
              <a:cs typeface="Arial"/>
              <a:sym typeface="Arial"/>
            </a:endParaRPr>
          </a:p>
        </p:txBody>
      </p:sp>
      <p:sp>
        <p:nvSpPr>
          <p:cNvPr id="212" name="Google Shape;212;p8"/>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13" name="Google Shape;213;p8"/>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214" name="Google Shape;214;p8"/>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15" name="Google Shape;215;p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16" name="Google Shape;216;p8"/>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17" name="Google Shape;217;p8"/>
          <p:cNvGrpSpPr/>
          <p:nvPr/>
        </p:nvGrpSpPr>
        <p:grpSpPr>
          <a:xfrm>
            <a:off x="4066674" y="6601537"/>
            <a:ext cx="5233412" cy="70446"/>
            <a:chOff x="4033424" y="6601537"/>
            <a:chExt cx="5233412" cy="70446"/>
          </a:xfrm>
        </p:grpSpPr>
        <p:cxnSp>
          <p:nvCxnSpPr>
            <p:cNvPr id="218" name="Google Shape;218;p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19" name="Google Shape;219;p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p:nvPr/>
        </p:nvSpPr>
        <p:spPr>
          <a:xfrm>
            <a:off x="1" y="0"/>
            <a:ext cx="12191998" cy="461738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5" name="Google Shape;225;p34"/>
          <p:cNvSpPr txBox="1"/>
          <p:nvPr/>
        </p:nvSpPr>
        <p:spPr>
          <a:xfrm>
            <a:off x="3513296" y="2308693"/>
            <a:ext cx="5140526"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(Send to back so Block I is not covered.)</a:t>
            </a:r>
            <a:endParaRPr sz="1400" b="0" i="0" u="none" strike="noStrike" cap="none">
              <a:solidFill>
                <a:srgbClr val="000000"/>
              </a:solidFill>
              <a:latin typeface="Arial"/>
              <a:ea typeface="Arial"/>
              <a:cs typeface="Arial"/>
              <a:sym typeface="Arial"/>
            </a:endParaRPr>
          </a:p>
        </p:txBody>
      </p:sp>
      <p:sp>
        <p:nvSpPr>
          <p:cNvPr id="226" name="Google Shape;226;p34"/>
          <p:cNvSpPr txBox="1"/>
          <p:nvPr/>
        </p:nvSpPr>
        <p:spPr>
          <a:xfrm>
            <a:off x="376810" y="5050453"/>
            <a:ext cx="11177400" cy="9534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rial"/>
                <a:ea typeface="Arial"/>
                <a:cs typeface="Arial"/>
                <a:sym typeface="Arial"/>
              </a:rPr>
              <a:t>(Text here relevant to the photo for a larger call out on a given idea or message.) </a:t>
            </a:r>
            <a:endParaRPr/>
          </a:p>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rial"/>
                <a:ea typeface="Arial"/>
                <a:cs typeface="Arial"/>
                <a:sym typeface="Arial"/>
              </a:rPr>
              <a:t>(Keep this text simple and short on one or two lines.)</a:t>
            </a:r>
            <a:endParaRPr sz="2200" b="0" i="0" u="none" strike="noStrike" cap="none">
              <a:solidFill>
                <a:srgbClr val="000000"/>
              </a:solidFill>
              <a:latin typeface="Arial"/>
              <a:ea typeface="Arial"/>
              <a:cs typeface="Arial"/>
              <a:sym typeface="Arial"/>
            </a:endParaRPr>
          </a:p>
        </p:txBody>
      </p:sp>
      <p:pic>
        <p:nvPicPr>
          <p:cNvPr id="227" name="Google Shape;227;p34"/>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28" name="Google Shape;228;p34"/>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29" name="Google Shape;229;p34"/>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30" name="Google Shape;230;p34"/>
          <p:cNvGrpSpPr/>
          <p:nvPr/>
        </p:nvGrpSpPr>
        <p:grpSpPr>
          <a:xfrm>
            <a:off x="4066674" y="6601537"/>
            <a:ext cx="5233412" cy="70446"/>
            <a:chOff x="4033424" y="6601537"/>
            <a:chExt cx="5233412" cy="70446"/>
          </a:xfrm>
        </p:grpSpPr>
        <p:cxnSp>
          <p:nvCxnSpPr>
            <p:cNvPr id="231" name="Google Shape;231;p34"/>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32" name="Google Shape;232;p34"/>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Shape 236"/>
        <p:cNvGrpSpPr/>
        <p:nvPr/>
      </p:nvGrpSpPr>
      <p:grpSpPr>
        <a:xfrm>
          <a:off x="0" y="0"/>
          <a:ext cx="0" cy="0"/>
          <a:chOff x="0" y="0"/>
          <a:chExt cx="0" cy="0"/>
        </a:xfrm>
      </p:grpSpPr>
      <p:sp>
        <p:nvSpPr>
          <p:cNvPr id="237" name="Google Shape;237;p35"/>
          <p:cNvSpPr txBox="1"/>
          <p:nvPr/>
        </p:nvSpPr>
        <p:spPr>
          <a:xfrm>
            <a:off x="5131837" y="1010620"/>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Lorem ipsum dolor sit amet consectetur adipiscing elit</a:t>
            </a:r>
            <a:endParaRPr sz="26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chemeClr val="lt1"/>
                </a:solidFill>
                <a:latin typeface="Arial"/>
                <a:ea typeface="Arial"/>
                <a:cs typeface="Arial"/>
                <a:sym typeface="Arial"/>
              </a:rPr>
              <a:t>Lorem ipsum dolor sit amet consectetur adipiscing</a:t>
            </a:r>
            <a:endParaRPr sz="20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rial"/>
              <a:ea typeface="Arial"/>
              <a:cs typeface="Arial"/>
              <a:sym typeface="Arial"/>
            </a:endParaRPr>
          </a:p>
        </p:txBody>
      </p:sp>
      <p:sp>
        <p:nvSpPr>
          <p:cNvPr id="238" name="Google Shape;238;p35"/>
          <p:cNvSpPr/>
          <p:nvPr/>
        </p:nvSpPr>
        <p:spPr>
          <a:xfrm>
            <a:off x="420782" y="344953"/>
            <a:ext cx="4109890" cy="595424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9" name="Google Shape;239;p35"/>
          <p:cNvSpPr txBox="1"/>
          <p:nvPr/>
        </p:nvSpPr>
        <p:spPr>
          <a:xfrm>
            <a:off x="1335481" y="323650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a:t>
            </a:r>
            <a:endParaRPr sz="1400" b="0" i="0" u="none" strike="noStrike" cap="none">
              <a:solidFill>
                <a:srgbClr val="000000"/>
              </a:solidFill>
              <a:latin typeface="Arial"/>
              <a:ea typeface="Arial"/>
              <a:cs typeface="Arial"/>
              <a:sym typeface="Arial"/>
            </a:endParaRPr>
          </a:p>
        </p:txBody>
      </p:sp>
      <p:pic>
        <p:nvPicPr>
          <p:cNvPr id="240" name="Google Shape;240;p35"/>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41" name="Google Shape;241;p35"/>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42" name="Google Shape;242;p35"/>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43" name="Google Shape;243;p35"/>
          <p:cNvGrpSpPr/>
          <p:nvPr/>
        </p:nvGrpSpPr>
        <p:grpSpPr>
          <a:xfrm>
            <a:off x="4066674" y="6601537"/>
            <a:ext cx="5233412" cy="70446"/>
            <a:chOff x="4033424" y="6601537"/>
            <a:chExt cx="5233412" cy="70446"/>
          </a:xfrm>
        </p:grpSpPr>
        <p:cxnSp>
          <p:nvCxnSpPr>
            <p:cNvPr id="244" name="Google Shape;244;p35"/>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45" name="Google Shape;245;p35"/>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descr="Text, letter, whiteboard&#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1" name="Google Shape;251;p36"/>
          <p:cNvSpPr/>
          <p:nvPr/>
        </p:nvSpPr>
        <p:spPr>
          <a:xfrm>
            <a:off x="0" y="0"/>
            <a:ext cx="6096000" cy="68580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2" name="Google Shape;252;p36"/>
          <p:cNvSpPr txBox="1"/>
          <p:nvPr/>
        </p:nvSpPr>
        <p:spPr>
          <a:xfrm>
            <a:off x="591671" y="3581984"/>
            <a:ext cx="4867835" cy="19389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(Slide the blue box and the text left or right to fit over your background image. Use this text box for a call out or caption to the image.)</a:t>
            </a:r>
            <a:endParaRPr sz="2400" b="1" i="0" u="none" strike="noStrike" cap="none">
              <a:solidFill>
                <a:schemeClr val="lt1"/>
              </a:solidFill>
              <a:latin typeface="Arial"/>
              <a:ea typeface="Arial"/>
              <a:cs typeface="Arial"/>
              <a:sym typeface="Arial"/>
            </a:endParaRPr>
          </a:p>
        </p:txBody>
      </p:sp>
      <p:sp>
        <p:nvSpPr>
          <p:cNvPr id="253" name="Google Shape;253;p36"/>
          <p:cNvSpPr txBox="1"/>
          <p:nvPr/>
        </p:nvSpPr>
        <p:spPr>
          <a:xfrm>
            <a:off x="701965" y="1422585"/>
            <a:ext cx="4608944"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IMAGE</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(Use a photo for the entire slide like the example shown here. Send the photo to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the back so the Block I and footer text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is not covered.)</a:t>
            </a:r>
            <a:endParaRPr sz="1400" b="0" i="0" u="none" strike="noStrike" cap="none">
              <a:solidFill>
                <a:schemeClr val="lt1"/>
              </a:solidFill>
              <a:latin typeface="Arial"/>
              <a:ea typeface="Arial"/>
              <a:cs typeface="Arial"/>
              <a:sym typeface="Arial"/>
            </a:endParaRPr>
          </a:p>
        </p:txBody>
      </p:sp>
      <p:pic>
        <p:nvPicPr>
          <p:cNvPr id="254" name="Google Shape;254;p36"/>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55" name="Google Shape;255;p36"/>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56" name="Google Shape;256;p36"/>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57" name="Google Shape;257;p36"/>
          <p:cNvGrpSpPr/>
          <p:nvPr/>
        </p:nvGrpSpPr>
        <p:grpSpPr>
          <a:xfrm>
            <a:off x="4066674" y="6601537"/>
            <a:ext cx="5233412" cy="70446"/>
            <a:chOff x="4033424" y="6601537"/>
            <a:chExt cx="5233412" cy="70446"/>
          </a:xfrm>
        </p:grpSpPr>
        <p:cxnSp>
          <p:nvCxnSpPr>
            <p:cNvPr id="258" name="Google Shape;258;p36"/>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59" name="Google Shape;259;p36"/>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p:cNvGrpSpPr/>
        <p:nvPr/>
      </p:nvGrpSpPr>
      <p:grpSpPr>
        <a:xfrm>
          <a:off x="0" y="0"/>
          <a:ext cx="0" cy="0"/>
          <a:chOff x="0" y="0"/>
          <a:chExt cx="0" cy="0"/>
        </a:xfrm>
      </p:grpSpPr>
      <p:sp>
        <p:nvSpPr>
          <p:cNvPr id="264" name="Google Shape;264;p37"/>
          <p:cNvSpPr txBox="1"/>
          <p:nvPr/>
        </p:nvSpPr>
        <p:spPr>
          <a:xfrm>
            <a:off x="2275515" y="1778140"/>
            <a:ext cx="7640969" cy="43342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(Closing slide option. Suggestions for last slide)</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26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Summary</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Thank You</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Questions</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Contact Information</a:t>
            </a:r>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rial"/>
              <a:ea typeface="Arial"/>
              <a:cs typeface="Arial"/>
              <a:sym typeface="Arial"/>
            </a:endParaRPr>
          </a:p>
        </p:txBody>
      </p:sp>
      <p:pic>
        <p:nvPicPr>
          <p:cNvPr id="265" name="Google Shape;265;p3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p:cNvGrpSpPr/>
          <p:nvPr/>
        </p:nvGrpSpPr>
        <p:grpSpPr>
          <a:xfrm>
            <a:off x="4066674" y="6601537"/>
            <a:ext cx="5233412" cy="70446"/>
            <a:chOff x="4033424" y="6601537"/>
            <a:chExt cx="5233412" cy="70446"/>
          </a:xfrm>
        </p:grpSpPr>
        <p:cxnSp>
          <p:nvCxnSpPr>
            <p:cNvPr id="269" name="Google Shape;269;p3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27"/>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a:solidFill>
                  <a:schemeClr val="lt1"/>
                </a:solidFill>
                <a:latin typeface="Arial"/>
                <a:ea typeface="Arial"/>
                <a:cs typeface="Arial"/>
                <a:sym typeface="Arial"/>
              </a:rPr>
              <a:t>HEADING</a:t>
            </a:r>
            <a:endParaRPr sz="1400" b="0" i="0" u="none" strike="noStrike" cap="none">
              <a:solidFill>
                <a:srgbClr val="000000"/>
              </a:solidFill>
              <a:latin typeface="Arial"/>
              <a:ea typeface="Arial"/>
              <a:cs typeface="Arial"/>
              <a:sym typeface="Arial"/>
            </a:endParaRPr>
          </a:p>
        </p:txBody>
      </p:sp>
      <p:sp>
        <p:nvSpPr>
          <p:cNvPr id="90" name="Google Shape;90;p27"/>
          <p:cNvSpPr txBox="1"/>
          <p:nvPr/>
        </p:nvSpPr>
        <p:spPr>
          <a:xfrm>
            <a:off x="1441528" y="3232230"/>
            <a:ext cx="9308941" cy="20928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Lorem ipsum dolor sit amet, consectetur adipiscing elit. Nullam ut orci condimentum, commodo dui quis, faucibus mauris. Praesent nec sapien sed nunc sollicitudin.</a:t>
            </a:r>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 </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(Main section divider slide option one.)</a:t>
            </a:r>
            <a:endParaRPr sz="1800" b="0" i="0" u="none" strike="noStrike" cap="none">
              <a:solidFill>
                <a:schemeClr val="lt1"/>
              </a:solidFill>
              <a:latin typeface="Arial"/>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txBox="1"/>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r>
              <a:rPr lang="en-US" sz="6600" b="1" dirty="0">
                <a:solidFill>
                  <a:schemeClr val="lt1"/>
                </a:solidFill>
              </a:rPr>
              <a:t>Questions</a:t>
            </a:r>
            <a:r>
              <a:rPr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2972</Words>
  <Application>Microsoft Office PowerPoint</Application>
  <PresentationFormat>Widescreen</PresentationFormat>
  <Paragraphs>408</Paragraphs>
  <Slides>47</Slides>
  <Notes>47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Cambria Math</vt:lpstr>
      <vt:lpstr>Helvetica Neue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129</cp:revision>
  <dcterms:created xsi:type="dcterms:W3CDTF">2019-01-14T22:06:33Z</dcterms:created>
  <dcterms:modified xsi:type="dcterms:W3CDTF">2026-04-06T09:30:44Z</dcterms:modified>
</cp:coreProperties>
</file>