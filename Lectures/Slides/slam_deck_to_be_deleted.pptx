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6400800"/>
            <a:ext cx="18288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• ROBOT AUTONOMY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LiDAR SLAM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a Lost Robot — from photons to perfect cartography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Mechatronics • 2 hours • 115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start, where we end, and every mathematical stop in between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— A lost robot wakes up in total darkness. Why is this hard?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Localization: the math of "where am I?" (ICP → PL-ICP → GICP → NDT)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— Mapping: from raw laser dots to probabilistic occupancy grids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— The back-end: pose graphs, factor graphs, and loop closure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— The real world hits back: moving people, ghost obstacles, robust SLAM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lone robot standing at the edge of a dark warehouse, flashing a laser beam outward, the beam slowly sketching walls until a full map emerges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GPS-free autonomy is a hard chicken-and-egg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and compare the major scan-matching variants (P2P, PL, P2Plane, GICP, NDT)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pose graph and describe how Gauss-Newton / LM minimize its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 occupancy grid in the log-odds domain using the inverse sensor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at least three ways modern SLAM survives dynamic obstacles and false loops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5-item progress bar icon. Each item lights up in teal as a lecture chapter completes.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start: what's the scariest thing that can happen to a robot that loses track of where it is?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of Characters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in the SLAM play — and what each one is really good (and bad) 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odometry — fast, low-latency, but drifts like a boat without an anchor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LiDAR — high-resolution geometric truth, but only on its slice of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— the adrenaline: turns raw scans into short-term motion estimates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 — the memory: optimizes the entire history when loops close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— the deliverable: a clean, dynamic-aware model the planner can trust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Five-icon cast sheet: odometry wheel, spinning LiDAR, front-end gear, back-end brain, finished map. Arrows show data flow between them.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Waking Up in the Dark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autonomy without a map is the single hardest problem in mobile robotics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robot is powered on for the first time inside an unknown warehouse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memory is empty — no map, no prior, no GPS lock, nothing but sensor streams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must be answered every single millisecond to stay alive: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Where am I right now? (Localization)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What does the world around me look like? (Mapping)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are solved, the robot cannot plan a single safe centimeter of motion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confused robot icon at the center of a complex maze with a large "?" hovering above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woke up blindfolded in a strange building, what is the very first physical thing you would do?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GPS?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needs line-of-sight to 4+ orbiting satellites — buildings block this completely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 GPS accuracy is ~3-5 m — useless when aisles are 1.5 m wide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environments (mines, subways, basements) receive zero signal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RTK and UWB beacons work, but require expensive pre-installed infrastructure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gives a robot true independence — it relies only on what it brought with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comparison: outdoor drone with clean GPS lock vs. warehouse robot with GPS signal crossed out and a confused LiDAR beam lighting up walls instead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Download a CAD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drawings describe architectural intent — not what is actually in the room today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pallets, forklifts, people, and piled boxes drift daily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misplaced chair renders a pre-programmed path fatally unsafe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tolerances also mean walls are often off by 2-5 cm from the CAD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map that reflects reality now — not the architect's dream from 2014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panel: clean CAD blueprint on the left, messy real-world photo of the same warehouse on the right with boxes, forklifts, and humans scattered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SLAM Paradox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Localization and Mapping — the name hides a chicken-and-egg trap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an accurate map you need to know your exact location at every scan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your exact location you need an already-existing map to compare against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robotics solved these separately — SLAM insists on doing both at once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millisecond: estimate motion, predict where the world should be, refine both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 P( x₁:ₜ , m  |  z₁:ₜ , u₁:ₜ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likely trajectory x and map m given all observations z and controls 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microsecond iteration, which do you think the robot actually updates first — its pose estimate or the map?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SLAM at All?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vacuums must map the unknown living room the first time they're switched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AMRs re-learn the floor every shift — aisles change daily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use SLAM to reconcile HD maps with new construction, detours, and snow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rovers have no GPS and no human cartographer — everything is SLAM by necessity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Search-and-rescue drones enter collapsed buildings no person has ever mapped before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screen: left, a robot vacuum bouncing randomly off walls with no SLAM; right, the same robot methodically cleaning in a perfect lawnmower pattern because it knows where it has been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'Good' SLAM System?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— the pose estimate must arrive before the robot crashes into the wall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consistent — no double walls, bent corridors, or duplicate rooms in the final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noise, to moving people, to sensor dropouts, to wheel slip on tile floors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Memory-bounded — a $50 embedded CPU must hold a 10,000 m² facility's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— the map must stay valid for weeks as the environment slowly evolves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GRID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icons on a grid: stopwatch (real-time), ruler (consistent), shield (robust), microchip (memory), calendar (lifelong)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five requirements do you think was the hardest to solve historically? Why?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Waking 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Dance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and LiDAR — their flaws alone, their magic when fused together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Odometry: The Inner 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proprioceptive sense — fast, cheap, and fundamentally flawed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wheel encoders and IMU to report relative motion Δx = (Δx, Δy, Δθ)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50-200 Hz — much faster than LiDAR's typical 10-20 Hz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 — works in the dark, in smoke, underground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integration step injects error: wheel slip, encoder quantization, tire deformation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multiplicatively — this is called drift, and it never goes away on its own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view of a robot with wheels + IMU. A straight intended path slowly curves away from reality over several seconds, with a growing red error cone.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x_{t+1} = x_t + v·Δt·cos(θ) + 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ε adds permanently to the next estimate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LiDAR: The External Eye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exteroceptive sense — absolute geometric ground truth, with caveats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dense array of (range, angle) pairs — hundreds of points per scan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accuracy of ~1-3 cm at ranges under 10 m — far beyond odometry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accumulate drift — each scan is an independent measurement of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fails on glass, mirrors, black velvet, fog, and dynamic objects crossing the beam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single scan alone can't tell you whether YOU moved or the WORLD moved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LiDAR scan visualization — thin red lines radiating from a circular robot, hitting walls, boxes, and doorframes. Some beams fall into a black-covered sofa and vanish.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Must Fuse Odometry + LiDAR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covers the other's weakness — together they are nearly unbreakable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557784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ALONE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 (200 Hz)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Always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Smooth, low-latency motion estimate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Drifts forever with no recovery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Wheel slip destroys it instantly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awareness of the world outside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ALONE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Absolute, drift-free geometry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High spatial resolution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Sees the environment directly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Slow (10-20 Hz)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Ambiguous in featureless hallways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Fails silently on reflective surfaces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rule: use odometry as the fast initial guess, use LiDAR to correct its accumulated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Frames — Who Sees What From 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SLAM is a transformation between three frames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frame (W) — fixed origin, usually where the robot was first powered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Robot/base frame (B) — moves with the robot body, usually at the center of the axle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frame (S) — where the LiDAR is physically mounted, offset from the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raw point is born in S, must be transformed to B, then finally to 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extrinsic calibration error (S → B) pollutes every single downstream computation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 triads drawn: W at the corner, B at the robot center, S on top of the robot where the LiDAR sits. Arrows show the transformation chain W ← B ← 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p_W = T_WB · T_BS · p_S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transforms chain from sensor to world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Pose: A Robot's Entire Identity in 3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SLAM, the entire state of the robot is (x, y, θ)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— the position of the robot in the world frame (meters)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— the yaw, or heading, rotation about the vertical axis (radians)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SLAM algorithm optimizes some collection of these pose triples over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shorthand: treat the pose as a 2D rigid-body transform (SE(2) element)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= [x_t,  y_t,  θ_t]ᵀ          T_t = ⎡ cos θ  -sin θ   x ⎤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⎢ sin θ   cos θ   y ⎥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⎣  0       0      1 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pose expressed as a vector (for optimization) and as a matrix (for transforming points)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Beating Heart: The SLAM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50-100 ms, this entire loop executes on the robot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odometry → produce fast prior estimate of new 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LiDAR → capture current geometric snapshot of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Scan-match the snapshot against recent scans → refine the pose estimate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LiDAR correction with odometry prior → publish the best 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map using the newly confirmed pose — then wait for the next tick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5-node circular loop diagram (Odometry → LiDAR → Scan-match → Fuse → Map update → back to Odometry). Each node lights up as the loop ticks.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LiDAR is 10 Hz and the odometry is 200 Hz, how should we structure the code so neither sensor waits for the other?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Sensors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— aligning today's scan with yesterday's map, one millimeter at a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Formalizing the Localization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scan-match boils down to finding one rigid transformation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source point cloud P (today's scan) and a target Q (previous scan or map)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rotation R and translation t that best overlays P onto 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"Best" = minimizes a chosen error metric over all matched point pairs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know how the world moved relative to the robot, we know how the robot moved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 = (R*, t*)  =  argmin_{R, t}  Σᵢ  error(  R·pᵢ + t ,  qᵢ 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ICP family differs only in what 'error' means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115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Localization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in how many hypotheses they track and how they correct errors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Matching (ICP)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ONE best guess. Iteratively refines it by aligning the latest LiDAR scan to the map. Fast, deterministic, fragile at initialization.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14314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7738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7738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061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061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9258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(MCL)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HUNDREDS of weighted hypotheses in parallel. Probabilistic, handles kidnapping, but memory-heavy for large maps.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02245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6837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6837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49717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82497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98357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9717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graph of every past pose + constraints. Solves them all simultaneously. Today's gold standard for global consistency.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production systems (e.g., Cartographer) combine all three — ICP for the front-end, filters for relocalization, graphs for the back-end.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03504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family would you pick first for a robot that gets picked up and placed in a random room (the 'kidnapped robot' problem)?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115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Closest Point (ICP) — The Workhorse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1990s algorithm still powering modern robots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four steps until the transformation stops changing: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Data Association — pair each source point with its nearest target point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Transformation — solve for the R, t that best aligns the matched pairs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Apply — move the source cloud by that transformation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 Check — if the error dropped below threshold, stop. Otherwise loop.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 clouds (red source, blue target) misaligned. Frame-by-frame they rotate and slide toward each other until they perfectly overlay.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step 1 (data association), what happens if the initial guess is very wrong — say 90° off?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115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1: Point-to-Point ICP (the 'Vanilla')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member of the family — and the starting point for all improvements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source point pᵢ to its geometrically nearest target point qᵢ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straight-line Euclidean distance between each matched pair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squared distances and minimize over R, 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beautifully when the two clouds start near each other and have clear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apart in featureless or repetitive environments — more on that soon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clouds of dots with straight red lines connecting each source point to its nearest target point. The lines show the distances that are being minimized.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115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Point-to-Point ICP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exact minimization of squared distances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matched pair (pᵢ, qᵢ), the residual is the 3D (or 2D) vector from qᵢ to the transformed pᵢ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function is the sum of squared residual magnitudes — a least-squares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Crucially: this formula has a CLOSED-FORM solution via Singular Value Decomposition (SVD)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iterative non-linear solver needed for each inner step — just linear algebra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E(R, t)  =  Σᵢ  ‖ R·pᵢ + t  −  qᵢ ‖²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exactly with SVD on the cross-covariance matrix of the two clouds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equation quadratic (and therefore solvable exactly) despite containing rotations?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115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SVD Solves P2P ICP in Closed 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recipe you could implement tonight in 15 lines of 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the centroids p̄ and q̄ of both point clouds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the 2×2 cross-covariance matrix  H = Σᵢ (pᵢ − p̄)(qᵢ − q̄)ᵀ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Decompose  H = U · Σ · Vᵀ  using Singular Value Decomposition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Rotation:  R = V · Uᵀ     Translation:  t = q̄ − R·p̄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Done — no iteration inside this step. The outer ICP loop only re-runs for new associations.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block showing the 5 lines of NumPy: H=(P-Pmean).T@(Q-Qmean); U,S,Vt=np.linalg.svd(H); R=Vt.T@U.T; t=Qmean-R@Pmean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115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Cost: Data Association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nearest neighbor for every point is the real bottleneck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source points and M target points, naive nearest-neighbor search is O(N·M)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N=M=1000 points × 10 ICP iterations × 10 Hz, that is 100 million distance calcs / sec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preprocess the target cloud into a k-d tree — a binary space-partitioning 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nearest-neighbor lookup drops to O(log M) per query — a 1000× speedup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ICP implementation in ROS, PCL, and Open3D uses k-d trees internally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point cloud subdivided recursively into axis-aligned rectangular bins. A query point 'X' traverses only a few nodes of the tree to find its nearest neighbor.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Naive:  O(N·M)     →     k-d tree:  O(N · log 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10,000 points this is the difference between 10 ms and 10 seconds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115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Fatal Flaw of P2P: The Smooth Hallway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failure that every scan-matching engineer eventually meets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robot driving straight down a long, flat, featureless corridor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and right walls look geometrically identical at timestep t and timestep t+1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matches each source point to its nearest target point — but that's sideways, not forward!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concludes 'I haven't moved forward at all' and locks the map in place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problem: P2P cannot distinguish 'slide along a wall' from 'did not move'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driving forward down a hallway. The P2P algorithm's estimated pose remains frozen while the real robot drives away — points 'slide' along the wall with zero penalty.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physical feature could we add to the hallway to fix this without changing the algorithm?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115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2: Point-to-Line ICP (PL-ICP)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upgrade — respect the geometry of walls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 2D, the world is mostly made of line segments (walls, doors, edges of boxes)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matching a source point to a single target point, match it to the nearest target 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target line segment, compute the unit normal nᵢ (perpendicular to the wall)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component of the error PERPENDICULAR to the wall is penalized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can now slide freely along a smooth corridor without the algorithm resisting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panels side-by-side. Left: P2P matching pulls a point diagonally toward another point. Right: PL-ICP drops a perpendicular line from the source point to the target wall.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115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Point-to-Line ICP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product with a surface normal is the only change — but it changes everything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projection of (R·pᵢ + t − qᵢ) onto the surface normal nᵢ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parallel to the wall contributes ZERO error — the algorithm doesn't resist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high-frequency LiDAR, the angle between consecutive scans is tiny, so we linearize: sin θ ≈ θ, cos θ ≈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hard non-linear problem into ordinary linear least squares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E(R, t)  =  Σᵢ  [ ( R·pᵢ + t − qᵢ ) · nᵢ ]²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motion → zero error.  Perpendicular penetration → full penalty.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high-rate LiDAR (&gt;15 Hz) make the small-angle approximation sin θ ≈ θ safer?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115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3: Point-to-Plane ICP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analogue of PL-ICP — essential when you extend to 3D LiDAR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3D, a plane is the natural generalization of a line (floor, ceiling, wall surface)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 point qᵢ gets a surface-normal vector nᵢ computed from its local neighbors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projected onto nᵢ exactly as in PL-ICP — motion along the plane is free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in far fewer iterations than P2P in structured indoor environments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if the initial guess is too far off, the point-to-plane approximation becomes invalid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point hovering above a plane, with the perpendicular 'penalty' distance drawn in red and the tangential 'free' direction drawn in green.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E(R,t) = Σᵢ [ ( R·pᵢ + t − qᵢ ) · nᵢ ]²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form as PL-ICP — only the dimensionality changes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115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4: Generalized ICP (GICP)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BOTH clouds are noisy? We need uncertainty-aware matching.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assumes source points are perfect, P2Plane assumes target surfaces are perfect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both clouds carry uncertainty — laser range noise, quantization, timing jitter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GICP attaches a 2×2 (or 3×3) covariance matrix to every point in both clouds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on a flat wall has a 'pancake' covariance: certain perpendicular, uncertain along the wall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now done in probability space, not distance space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cloud where each dot is surrounded by a tiny grey ellipse representing its local covariance — elongated along walls, circular at corners.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115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Generalized ICP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distance — least squares, weighted by uncertainty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matched pair contributes an error vector dᵢ = R·pᵢ + t − qᵢ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 and target have covariances C_p and C_q — we combine them into a weighting matrix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form elegantly unifies P2P (isotropic noise) and P2Plane (degenerate planar noise)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tunable for the specific sensor and environment you have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E(R, t)  =  Σᵢ  dᵢᵀ ( C_{qᵢ} + R · C_{pᵢ} · Rᵀ )⁻¹ dᵢ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distance — penalizes motion more in well-known directions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115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5: Normal Distributions Transform (NDT)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radical departure — throw away points, keep distributions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spends most of its time on k-d tree nearest-neighbor lookups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 eliminates this entirely — no point-to-point matching ever happens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divide the target map into a regular 2D grid of voxels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for each voxel, compute a Gaussian (mean μ, covariance Σ) over its resident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matching becomes: find the transformation that MAXIMIZES the scan's probability under this field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of a discrete point cloud into a smooth continuous probability field — grey clouds thicken where points are denser.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115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NDT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dropped into a Gaussian field yields a probability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source point pᵢ, evaluate the Gaussian of the cell it falls into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log-probabilities (or negative probabilities) across all source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Newton's method to find the R, t that maximizes this score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no neighbor search. Disadvantage: heavily tuned by the voxel size you choose.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score(R, t)  =  −  Σᵢ  exp(  −½ ·  (R·pᵢ + t − μᵢ)ᵀ · Σᵢ⁻¹ · (R·pᵢ + t − μᵢ) 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negative likelihood = maximizing the match probability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set the NDT voxel size to be exactly the size of your robot, what geometric details will you lose?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115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 vs. ICP — When to Use Which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engines for different environments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557784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FAMILY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 point clouds (&lt; 5,000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when features are strong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good initial guess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dominates runtime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2D indoor SLAM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smooth, flat, featureless areas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dense 3D clouds (&gt; 50,000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cost landscape — larger basin of attraction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to a bad initial guess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k-d tree needed — very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outdoor autonomous vehicles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capped by voxel resolution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 (2D indoor) uses ICP-style. Autoware (3D outdoor) uses NDT. The sensor determines the algorithm.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115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Family Failure Modes — What Still Breaks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variants fail in specific, predictable situations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Featureless environments (long smooth tunnels, empty parking lots) — no geometric handle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environments (hallway intersections that all look identical) — perceptual aliasing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initial guess errors (&gt;30°) — any ICP will converge to a wrong local minimum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environments with moving objects — we devote Chapter 9 to this monster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Glass, mirrors, and retroreflectors — the LiDAR physically lies to the algorithm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2x2 grid of failure cases: empty tunnel, mirror-covered elevator, crowd of people, and a donut-shaped building with no asymmetry.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Localization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115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Embracing Uncertainty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filters and Monte Carlo localization — many guesses are better than 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115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Deterministic ICP Isn't Always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commits to a SINGLE best estimate — if that estimate is wrong, ICP can't tell you how wrong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 demand multiple simultaneous hypotheses (e.g., robot could be in either Aisle 3 OR Aisle 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'kidnapped robot' problem: lift the robot and drop it elsewhere — ICP collapses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algorithm that MAINTAINS AND UPDATES A FULL PROBABILITY DISTRIBUTION over the 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Monte Carlo Localization, affectionately known as the Particle Filter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shown as a single lone dot on a map, while a particle filter shows hundreds of dots scattered — both representing 'belief about pose' but very differently.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— Particle Filters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115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Localization — The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probability distribution over poses with thousands of samples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'particle' is a single hypothesized pose: (xᵢ, yᵢ, θᵢ) with weight wᵢ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500-5000 particles randomly across the known map at startup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tick: move every particle by the odometry estimate (plus noise)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weight each particle by how well its simulated LiDAR matches the real LiDAR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resample — particles with high weight duplicate, particles with low weight die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of thousands of dots (particles) scattered across a floor plan, slowly contracting into a tight ball at the robot's true location as it drives down a corridor.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— Particle Filters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115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Particle Filter Algorithm — Four Steps Per Tick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(Motion)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odometry motion model to every particle, adding process noise to reflect drift uncertainty.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203372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3367964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7964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844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355084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99484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(Measurement)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0844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particle, simulate what the LiDAR would see from that pose. Compute weight wᵢ as the likelihood of the real scan given the simulated 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2269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288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7288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016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63701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18808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0168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new particles from the old set, with probability proportional to weight. High-weight particles duplicate; low-weight particles vanish.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8842019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9006611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611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491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491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38131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491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(or mode) of the surviving particles is the current best pose estimate. The spread of the cloud is the uncertainty.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particle cloud shrinks to a single tight point, is that always a good thing? (Hint: particle deprivation)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— Particle Filters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115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a Particle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rule applied to a finite-sample approximation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particle's weight is proportional to the measurement likelihood at its hypothesized 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weighting, we normalize so all weights sum to 1 — they now encode a discrete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draws N new indices from this distribution using a 'roulette wheel' or low-variance sampler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we're approximating an intractable integral with a Monte Carlo sum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  ∝  P( z_t  |  xᵢ_t , m )    then    xᵢ_t  ~  {  xⱼ_t  with probability  wⱼ  }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by likelihood, then resample proportionally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filter if we sample only 10 particles in a 10,000 m² warehouse?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— Particle Filters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115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— Strengths and Scars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the right tool, and when it absolutely isn't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Handles the kidnapped-robot problem naturally (particles can be re-seeded anywhere)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Encodes multi-modal beliefs — 'I'm in either Aisle 3 or 5' is expressible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Requires no assumptions about Gaussian noise or linear motion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Computationally heavy — every particle does its own LiDAR simulation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Degenerates over time: surviving particles cluster and you lose diversity (particle deprivation)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well-suited to the mapping side of SLAM — we'll need graphs for that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3 methods across 4 axes: Accuracy, Multi-modality, Compute cost, Robustness. ICP, PF, and Graph-SLAM shown with different strength profiles.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— Particle Filters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115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World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grids, log-odds, ray-casting — how raw scans become a storable, updatable map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115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Where We Are — Now What?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is half the job. Mapping is the other half.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accurate pose x_t and a raw LiDAR scan z_t, we must DEPOSIT that scan into a persistent world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survive sensor noise (one bad beam shouldn't create a wall)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be updatable (new information should REFINE, not overwrite, old beliefs)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be compact (we cannot afford to keep every raw scan in RAM forever)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be queryable by the path planner — "is this cell safe to drive through?"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from 'Raw LiDAR scan' and 'Pose estimate' converging into a 'World Model' box, then branching out to Planner, Localization, and Visualization consumers.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115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Represent the World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formats for different trade-offs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world into square cells. Each cell holds a probability of being occupied. Standard for 2D indoor SLAM.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14314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7738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7738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061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061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9258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raw (x, y) boundary points themselves. Sparse, but requires a separate algorithm to determine free space.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02245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6837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6837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49717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82497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98357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9717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semantic landmarks: 'corner at (3.2, 1.7)'. Extremely compact, but needs reliable feature extraction.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focus on occupancy grids — they dominate production 2D LiDAR SLAM because they capture both free and occupied space explicitly.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115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 Maps (OGM) — The Standard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 the world into a regular 2D array of cells, each typically 2-10 cm wide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mᵢ holds a single number: the probability that the cell is occupied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P(mᵢ) = 0 → free. P(mᵢ) = 1 → wall. P(mᵢ) = 0.5 → unknown, never observed.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cells are independent by assumption (each updated separately — this is a simplification)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Visually: render the grid as grayscale — white free, black occupied, grey unknown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ROS-style occupancy grid: sharp black walls, white open floor, grey unexplored corners. Recognizable as a floor plan.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115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Compute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occupancy for every cell, given everything we've observed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map posterior is a joint distribution over all cells — astronomically large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independence assumption: each cell is conditionally independent given the trajectory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factor the posterior into a product of per-cell probabilities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can update each cell on its own — without this assumption, mapping would be intractable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m  |  x₁:ₜ, z₁:ₜ )  ≈  ∏ᵢ  P( mᵢ  |  x₁:ₜ, z₁:ₜ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assumption that makes real-time mapping possible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115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Computational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updates multiply probabilities — and computers hate that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scan multiplies the old cell probability by a new likelihood via Bayes' rule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50 scans: 0.6 × 0.55 × 0.6 × 0.55 × … → numbers smaller than 10⁻¹⁵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underflow: the CPU silently rounds these down to 0, erasing all information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is also slower than addition on every processor architecture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transform the math into a form that only uses additions and avoids underflow — log-odds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on a scale. Left: many repeated multiplications producing a tiny shrinking decimal. Right: the same information as a growing ordinary integer via log-odds.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115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Log-Odds Trick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substitution that rescues our entire map update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odds of occupancy as the ratio of probabilities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natural log of the odds — this is the log-odds value l(mᵢ)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= 0 means 50% (unknown). Positive means occupied. Negative means free.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is effectively (−∞, +∞) — no underflow ever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crucially — Bayes' update becomes simple ADDITION of log-odds increments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l(mᵢ)  =  log  [  P(mᵢ) / (1 − P(mᵢ))  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of probabilities → addition of log-odds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convert a log-odds value back to a probability when rendering the final grayscale map?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115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Update — Now as Simple Addition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'heart' of every occupancy-grid SLAM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log-odds = Old log-odds + sensor-model contribution − prior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sensor-model term is a small positive number (for hits) or small negative number (for passes)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values: +0.9 on hit, −0.4 per pass. A ghost obstacle slowly decays, a real wall hardens.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most-executed line of code in a running SLAM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l_t(mᵢ)  =  l_{t-1}(mᵢ)  +  l_{inv-sensor}( mᵢ, x_t, z_t )  −  l₀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additions — no floating-point multiplication in sight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115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Sensor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laser reading, what do we believe about the cells it passed through?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model asks: 'Given a map, what reading should the sensor produce?'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model asks the opposite: 'Given this reading, what does the map look like?'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every cell the laser beam PASSED THROUGH gets a free-space vote (negative log-odds)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the cell where the beam TERMINATED gets an occupied vote (positive log-odds)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cells BEHIND the termination point are unchanged — the laser cannot see through walls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laser beam from a robot crossing several cells. Each cell along the way gets labeled 'FREE'. The cell at the endpoint gets labeled 'HIT'. Cells past the endpoint labeled '?'.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115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Sensor Model — Visualized Along One Beam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profile of a single laser ranging measurement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range 0 to (d − ε): probability of occupancy is LOW (clearly free space)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reported range d ± ε: probability shoots HIGH (a surface was detected here)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reported range d + ε: probability reverts to 0.5 (unknown — beam cannot see)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width ε captures sensor range noise, typically 1-5 cm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these thresholds is a real-world engineering decision specific to your LiDAR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distance along beam. Y-axis: P(occupied). Curve: flat low at 0.1 along beam, sharp peak to 0.9 near d, flattening back to 0.5 past 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115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with Bresenham's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code know exactly which cells a beam crossed?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Bresenham's algorithm was invented in 1962 for drawing straight lines on pixelated CRT displays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pure-integer algorithm — no trigonometry, no floating-point in the inner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start (robot pose cell) and end (hit cell), it efficiently enumerates every cell between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enumerated cell gets the 'FREE space' log-odds update; the final cell gets 'HIT'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360 beams per scan × 10 Hz × thousands of cells per beam, speed matters enormously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from a robot at (2, 2) to a hit at (10, 5). Cells light up sequentially along the diagonal, showing how Bresenham steps: right, right, up, right, right, up, right, 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cell (x, y) along the beam:    l(x, y)  +=  l_free    (except endpoint:  l  +=  l_hit)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inner loop — runs millions of times per second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115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Map Update in Real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of how a cell's log-odds evolves over four observations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Initial: unobserved cell starts at log-odds = 0 (probability 0.5)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hits it twice: l = 0 + 0.9 + 0.9 = 1.8 → P ≈ 0.86 (becoming a wall)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laser slices through: l = 1.8 − 0.4 = 1.4 → P ≈ 0.80 (still wall, but weakening)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clean passes: l = 1.8 − 5 × 0.4 = −0.2 → P ≈ 0.45 (the 'ghost' has dissolved)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 = l_{t-1} + Δl,   where   Δl_hit = +0.9,   Δl_free = −0.4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additive dynamics of a probabilistic cell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115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Resolution Trade-off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cells = more detail, but RAM cost grows QUADRATICALLY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100 m × 100 m warehouse at 5 cm resolution: 4 million cells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 1 cm resolution: 100 million cells — 25× more memory and 25× more update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coarse (&gt; 10 cm): doorways and chair legs vanish into 'unknown'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fine (&lt; 2 cm): RAM explodes, scan-match speed collapses, and sensor noise dominates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rule of thumb: pick resolution ≈ the robot's smallest obstacle dimension /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chart. X-axis: cell size (cm). Y-axis: RAM (log scale). Second line showing 'detail quality' peaking around 3-5 cm then dropping as noise takes over.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 vacuum robot meant to fit under a 6 cm tall sofa. What's a reasonable grid resolution?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115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Keep the Raw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applications, point clouds beat grids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point-cloud map stores only the (x, y) boundary coordinates — no cell 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scales with the NUMBER OF OBSTACLES, not the area of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sparse environments (a warehouse with mostly empty aisles)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there is no explicit 'free space' — the planner must infer it by ray-casting on-the-fly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voxel downsampling to bound memory in feature-dense regions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warehouse rendered two ways: left as a dense grid, right as sparse dots at walls. The right takes 50× less memory.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115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 vs. Point Cloud — Choose Wisely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57784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Explicit free-space representation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Easy for the path planner to consume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Natural decay handles dynamic objects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Most ROS tooling expects this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RAM scales with area, not obstacle count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Fixed resolution limits detail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/ SUBMAP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Memory scales with obstacles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Can store continuous real coordinates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Great for outdoor or sparse indoor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Easy to stitch multiple submaps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 explicit free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Planner must ray-cast at query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 uses BOTH: local submaps are small occupancy grids, globally stitched like point cloud chunks.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Mapping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115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Drift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SLAM system eventually lies to you — and the answer that fixes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115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Near-Perfect Sensors Drift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match injects a tiny error — maybe 0.5 mm, maybe 0.01° — unavoidable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error is ADDED to the next pose estimate — not averaged against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10,000 matches, errors compound: 0.5 mm × 10,000 = 5 metres of position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drift is even worse — 0.01° × 10,000 = 100° of cumulative heading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carefully optimized local pose is wonderful, but our GLOBAL trajectory is a disaster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intending to drive a perfect 4-corner square. Its actual traced path spirals outward, never returning to the start — classic drift signature.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ε_total  =  Σᵢ εᵢ       →       grows unboundedly with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accuracy does NOT imply global consistency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— Drift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115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Drift Looks Like on a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tell-tale 'spiral' signature engineers dread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failure: robot maps a big circular corridor, returns to the start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at the end overlaps the map from the start — but the geometry doesn't match 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walls appear DOUBLED — the same physical wall drawn at two slightly different positions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 bend, right angles become slight curves, the whole map subtly warps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locally correct EVERYWHERE but globally wrong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hallway map with the END of the traversal visibly offset from the START — clear double walls where the two ends were supposed to meet.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— Drift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115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Answer: Loop Closure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you've been here before — then use that to fix everything behind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robot can DETECT that it has returned to a previously-mapped location…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 immediately knows EXACTLY how much total drift accumulated over the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can then distribute that error correction backward through every pose in the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important trick in modern SLAM — without it, long missions are impossible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of Chapter 7 is devoted to the math that makes this redistribution possible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drifting map building up error over 2 minutes — then the robot re-sees a landmark and the entire map SNAPS into a geometrically consistent loop in a single frame.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recognize that you've returned to the same place without any external sensors like GPS?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— Drift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115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graphs, factor graphs, and the non-linear optimization that straightens drift into truth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115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SLAM: Front-End vs. Back-End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jobs, two distinct rhythms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557784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sensor rate (10-100 Hz)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LiDAR + odometry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relative transforms between consecutive poses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ICP variants, RANSAC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produce the best SHORT-TERM motion estimate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'now'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slower (1-5 Hz) or asynchronously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stream of relative transforms + loop detections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globally optimized trajectory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Gauss-Newton, Levenberg-Marquardt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redistribute accumulated error GLOBALLY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'history'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115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 Graph — A New Mental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point clouds for a moment. Think of SLAM as a physical spring network.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the robot's poses at specific timestamps — one per keyframe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constraints between two poses — 'these two nodes should be 1 m apart'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is a 'spring' with a natural length (the measurement) and a stiffness (the confidence)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closure is a new edge that suddenly pulls two distant nodes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graph is 'relaxed' to minimum energy, all edge tensions are balanced — and that's the optimal trajectory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pose graph: 10 nodes in a ring, connected by black edges (odometry), with one red dashed edge across the middle representing a loop closure constraint.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115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Node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xᵢ stores the absolute pose of the robot at time tᵢ: (xᵢ, yᵢ, θᵢ)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NOT created every sensor tick — only at 'keyframes' (e.g., after 30 cm of motion)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Keyframing bounds the graph size, keeping optimization real-time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30-minute mission produces 500-2000 nodes — tractable for modern CPUs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can also anchor a SUBMAP (coming in Chapter 8), making the graph a skeleton of the world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visualization: a dot labeled 'x₅', showing its stored pose (2.3, 1.1, 0.7 rad), plus a thumbnail of the submap pinned to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115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zᵢⱼ connects node xᵢ to node xⱼ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the EXPECTED relative pose: 'from node i's frame, node j should be here'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come from two sources: odometry (between consecutive nodes) and loop-closure matches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also carries an INFORMATION MATRIX — the spring stiffness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information = stiff spring (trustworthy edge). Low information = loose spring (noisy edge).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connected by an edge. Expected delta drawn as arrow. Information matrix shown as a 3x3 grid of numbers — large on diagonal.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115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Matrix — Measuring Trust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of the covariance — how sure are we about this edge?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trust an edge perfectly in X and Y but not in θ, information is high on X/Y and low on 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diagonalizes readily — a 3x3 matrix for 2D, 6x6 for 3D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matrix: all constraints equally stiff (the 'I have no idea about uncertainty' baseline)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optimization, each edge's contribution is weighted by its information — noisy edges contribute less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 =  Σ⁻¹        (information = inverse covariance)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Σ (uncertain) → low Ω (soft spring). Low Σ (certain) → high Ω (rigid spring).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robot drives over an oil spill and slips, what should happen to its next odometry edge's information matrix?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115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Pose Graphs to Factor Graphs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expressive modern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graphs connect poses to poses — but reality has more than just poses to track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graphs have TWO types of nodes: VARIABLES (poses, landmarks, biases) and FACTORS (measurements)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reading — LiDAR match, odometry, GPS, IMU — becomes a factor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can fuse many heterogeneous sensors in one unified mathematical graph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GTSAM and Ceres libraries are built around this abstraction — and it's the industry standard today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graph: circle nodes (variables: poses and a GPS beacon) connected to small square nodes (factors: odometry, LiDAR match, GPS prior).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115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Cost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all spring energies — minimize the total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contributes an error vector eᵢⱼ — how wrong this edge's prediction is, given the current node positions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'strain energy' is the sum of all edge errors, weighted by their information matrices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find the set of node poses X = {x₁, …, xₙ} that MINIMIZES this total strain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nonlinear least-squares problem — we cannot solve it in one step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 =  Σ_{(i,j) ∈ C}   eᵢⱼ(xᵢ, xⱼ)ᵀ · Ωᵢⱼ · eᵢⱼ(xᵢ, xⱼ)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 energy — minimized when all edges are simultaneously satisfied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115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Error Vector?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discrepancy between what the edge predicts and what the current layout says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absolute poses xᵢ and xⱼ, the IMPLIED relative pose is xᵢ⁻¹ ⊗ xⱼ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PREDICTED a specific relative pose, zᵢⱼ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the 'difference' between predicted and implied, expressed as a small pose correction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graph has zero error everywhere — every prediction matches every implied pose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eᵢⱼ(xᵢ, xⱼ)  =  log(  zᵢⱼ⁻¹ ⊗ (xᵢ⁻¹ ⊗ xⱼ) 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map turns a pose difference into a minimal-parameter error vector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115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Is Non-Linear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make everything harder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depends on θ through sin() and cos() — instantly non-linear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closed-form solution like the SVD we used for vanilla ICP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solve iteratively: guess an initial X, linearize around it, step, repeat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refines the guess — eventually the error stops dropping meaningfully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tool for this: the Gauss-Newton algorithm, and its more robust cousin Levenberg-Marquardt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surface representing the cost function F(X). A red ball rolls down the surface in a zigzag path toward the global minimum at the bottom.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115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Linearize with Taylor Expansion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Locally, the error is approximately linear — exploit this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our current guess X is close to the true optimum X*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the correction as a small perturbation Δx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Taylor expansion of the error function: ignore terms O(‖Δx‖²)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the non-linear problem into a sequence of linear problems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eᵢⱼ( X ⊕ Δx )  ≈  eᵢⱼ(X)  +  Jᵢⱼ · Δx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Jᵢⱼ is the Jacobian — partial derivatives of the error with respect to all poses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consequence follows if our initial guess X is already very far from the optimum?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115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Jacobian — Local Rate of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encoding how every pose nudges every error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Jacobian Jᵢⱼ has as many rows as the error dimension (3 for 2D poses)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 many columns as the total number of optimization variables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entries are ZERO — an edge only touches two poses, so only those columns are non-zero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sparsity is what makes graph SLAM scale to thousands of nodes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autodiff libraries (Ceres, GTSAM) compute Jacobians automatically — no manual derivation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3000×3000 Jacobian matrix visualized — mostly white (zero), with dark dots clustered in just a few columns per row.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115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Gauss-Newton Normal Equations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linearized error into F(X), take the derivative, set to zero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the Taylor approximation and minimizing yields a linear system in Δx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 matrix aggregates the 'stiffness' of every edge at the current guess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 vector aggregates the 'pulling force' of every edge at the current guess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once, apply Δx to all poses, re-linearize, repeat until convergence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· Δx  =  − b       where       H = Σ JᵀΩJ        b = Σ JᵀΩ·e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every graph-SLAM solver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115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Gauss-Newton's Cautious Cousin: Levenberg-Marquardt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made non-linear least squares practical in the 1960s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Gauss-Newton is fast near the optimum but unstable far from it — H can be near-singular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L-M adds a damping factor λ to the diagonal of H: (H + λI)·Δx = −b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λ → behaves like slow, safe gradient descent (small, conservative steps)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λ → behaves like fast Gauss-Newton (full-size, ambitious steps)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is adaptively tuned at runtime: shrunk on successful steps, grown after failures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surface with a robot icon descending. When far from optimum (steep, unpredictable terrain) it takes tiny safe steps; near the bottom it takes huge confident leaps.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H + λ · I ) · Δx  =  −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symbol λ is what separates working SLAM from diverging SLAM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115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 Matrix Is Enormous — But Mostly Zeros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is the reason we can actually solve this in real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10,000-pose graph in 2D, H is a 30,000 × 30,000 matrix — 900 million entries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inversion would take minutes and gigabytes — completely infeasible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each edge only touches 2 nodes — so 99.9% of H is zero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solvers exploit this structure: they only store non-zeros and skip zero rows/columns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decomposition of a sparse H runs in milliseconds, not minutes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matrix drawn as white grid with a very thin band of dots along the diagonal plus a single off-diagonal cross for the loop closure edge.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115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Decomposition — The Sparse Solver's Friend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symmetry to halve the computational cost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always symmetric and positive-definite (by construction of JᵀΩJ with positive-definite Ω)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decomposes H = L · Lᵀ where L is lower triangular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Lᵀx = y is then just a substitution — O(N) if N non-zeros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reordering heuristics (AMD, METIS), this is the workhorse of modern SLAM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what's running inside Google Ceres, g2o, and GTSAM right now on millions of robots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sparse symmetric H matrix factored into L · Lᵀ — L shown as a triangular 'staircase' of non-zeros.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115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Loop Closure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robot RECOGNIZE a place it has been before?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periodically compares the current scan against ALL historical keyframe scans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matches are ranked by scan-match score (after an initial coarse filter)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is promoted to a loop closure only when its score exceeds a strict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false positives, some systems also require geometric consistency across nearby frames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confirmed, a new edge is added connecting current pose back to the matched historical pose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returning to an intersection it has visited before. The current scan is compared with historical scans; one match is highlighted in green.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115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'Snap' — The Moment Drift Dies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loop closure edge forces the entire history to re-optimize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loop closure edge carries a HUGE initial error (equal to the accumulated drift)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L-M solver sees this massive residual and is compelled to reduce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minimize total energy, it distributes the correction proportionally across every pose in the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the entire trajectory 'snaps' into global consistency in a handful of iterations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walls collapse into single walls, curved corridors straighten, the map becomes useful again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warped, spiraling map being shown live. A loop closure edge appears as a red dashed line — and in one frame, the entire map elastically straightens into a perfect rectangle.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distribute the correction across ALL poses in the loop instead of just fixing the current one?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/ 115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Distributing Error Is the Right Thing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argument for why L-M's global redistribution is correct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dump all the correction into a single pose, every intermediate pose now has an inconsistent neighbourhood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accuracy suffers to restore global accuracy — that's a bad trade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distributing proportionally, each intermediate pose moves by a small amount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relationships (each short-range edge) remain nearly satisfied — we preserve local 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L-M minimizes the sum of squared errors: it naturally spreads the blame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argmin_X  Σ eᵀΩe      →      each eᵢⱼ pays a little, no eᵢⱼ pays a lot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solutions inherently spread the fix across all constraints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— Graph SLAM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115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Submaps, stitched maps, and TSDFs — how SLAM handles a million square metres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115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Fatal Flaw of One Global Grid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loop closure arrives, our carefully-built grid is wrong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we've assumed a single large 2D array holding every cell of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when the graph optimizer snaps the trajectory, ALL prior raycasts become misaligned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deposited cell was computed assuming the OLD drifted pose — now those poses have moved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'un-bake' already-written cells without replaying every scan — way too expensive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single-global-grid architecture is fundamentally incompatible with loop closure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grid in a distorted 'S' shape with double walls. The underlying pose graph has been straightened (shown in light green) but the grid is still smeared.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— Submaps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115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Submaps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world into many small, independent grids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environment into tiles — typical submap size: 10 m × 10 m at 5 cm resolution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robot moves, it BUILDS the local submap (small grid, few scans)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robot crosses the edge of the current submap, it FREEZES it and starts a new 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submap is independent — no information is shared across boundaries during construction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each submap is ANCHORED TO A NODE in the pose graph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colorful square submaps tiled together loosely. Each submap has a pose graph node (dot) at its center, and all nodes are connected by the pose graph edges.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— Submaps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115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Submaps Survive Loop Closure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elegant reason engineers love this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submap is a RIGID object pinned to one pose node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pose graph optimizer moves that node, the ENTIRE submap moves with it — translation + rotation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raycasts need to be re-baked. No cells re-computed. The submap is just teleported as-is.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map is implicitly re-assembled on the fly at render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submap_global  =  T_node · submap_local       (one transform, done)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Google Cartographer can map entire buildings in real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— Submaps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/ 115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the Global Map on Demand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map never really exists — we conjure it when asked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(or planner) requests the current global map…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system fetches every submap + its anchored pose from the optimized graph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each submap into the world frame using the current node 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overlapping cells by taking maximum occupancy (or averaging probabilities)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fresh, geometrically-consistent global map, rebuilt in milliseconds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small colored submap tiles scattered in space. On a 'render' command, they each slide into their correct position and fuse into a clean floor plan.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computational trade-off of generating the global map on the fly vs. maintaining one persistent grid?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— Submaps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115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Grids: Truncated Signed Distance Fields (TSDF)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 of choice for 3D and dense reconstruction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storing occupancy probability, store the SIGNED DISTANCE to the nearest surface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values outside the wall, zero on the wall, negative inside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'Truncated' means we only store values within a few cells of the surface (saves memory)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sub-voxel accuracy — the exact surface is where the field crosses zero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3D SLAM systems like KinectFusion, Voxblox, and modern dense reconstruction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of a wall with colored voxels: +0.3, +0.2, +0.1 (just outside), 0.0 (surface), −0.1, −0.2 (inside). A thin colored band encodes depth to surface.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— Submaps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115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World Hits Back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people, forklifts, and ghosts — everything we've built so far assumed the world stood still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115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The Static World Assumption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Chapters 3-8 quietly assumed obstacles never move. Now they 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ICP compares this scan to last scan — and ASSUMES both saw the same static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occupancy grids 'harden' observed cells over time — and ASSUME walls don't move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 edges are weighted by confidence — and ASSUME the measurement model is consistent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reality: people, forklifts, animals, doors, and pallets move constantly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algorithm is polluted unless we filter dynamic data out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pristine empty office floor plan side-by-side with a realistic photo of the same space — cluttered with walking humans, parked forklifts, and a moving cart.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115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Obstacles — When Maps Remember Things That Left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'dirty map' signature of naive SLAM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walks past the LiDAR during mapping. Their legs get baked into the occupancy grid.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later they're gone — but the map still shows a 'wall' where they stood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planner now refuses to drive through this phantom obstacle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avoids doorways, circles fake pillars, and generally becomes useless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dynamic handling, every lobby, hallway, or warehouse aisle becomes a graveyard of ghosts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occupancy grid with a trail of dark footprint-shaped blobs following the path of a walking human — each blob a 'ghost' of where the person momentarily stood.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planner sees a ghost obstacle blocking a doorway, what will the robot physically do?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/ 115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Dynamic Objects Break Scan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doesn't just produce bad maps — it produces bad poses, too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tries to align ALL source points with ALL target points — including the moving 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10% of the scan is a person walking toward the robot, ICP tries to align those too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minimizes overall error — and finds a 'compromise' transform that's wrong for EVERYONE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concludes it moved slightly, when really only the person moved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 estimate is corrupted → it propagates into the graph → loop closures misfire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trajectory arrow on a floor plan that suddenly jitters sideways whenever a truck drives past the robot's LiDAR field of view.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115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1: Probabilistic Decay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occupancy grid forget naturally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log-odds formulation already handles this — if we tune it correctly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ghost cell is still 'occupied' but a new laser passes through it, the cell receives FREE votes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each free vote, its log-odds drop — eventually crossing zero back into the 'free' half-plane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dynamic-object detection needed — the Bayesian math naturally erases stale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CHEAPEST form of dynamic handling, and every OGM system gets it for free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of log-odds values. A bright 'occupied' blob slowly cools to grey as the robot drives past and the cell receives new 'free' votes on each tick.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115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Math in Log-Odds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showing how a ghost disappears over 4 ticks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a cell becomes occupied: l = +2.0 (about 88% probability)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walks away. A new laser passes freely through: l = 2.0 − 0.5 = 1.5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tick, another free pass: l = 1.5 − 0.5 = 1.0 (≈ 73%)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~5 free passes: l drops below 0 → the cell officially becomes 'free' again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l_{t+1} = l_t + Δl_free         (Δl_free ≈ −0.5 for typical tuning)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subtraction per tick — but the speed depends on how often the cell is re-observed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/ 115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Slow-Decay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decay isn't fast enough for safety-critical robots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decay only works if the robot REVISITS the ghost cell enough times to re-observe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driving down a corridor never comes back — the ghost stays forever in that corridor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time depends on LiDAR rate, free-vote strength, and the robot's motion pattern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5-20 re-observations before a ghost dissolves completely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dynamic environments, we need an ACTIVE filter BEFORE the scan ever touches the map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corridor with a ghost still present 30 seconds after a person walked through — because the robot has already left that area and no new observations erase the cells.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/ 115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2: Outlier Rejection with RANSAC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identify the static majority of 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= RANdom SAmple Consensus — the workhorse outlier filter in computer vision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in most scenes, &gt;80% of laser points hit static walls. People are the minority.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find the transformation that the LARGEST subset of points agrees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people will never agree with the static walls on any single transformation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points get flagged as 'outliers' and excluded from the ICP solve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cloud with 90% walls (green) and 10% legs (red). Ransac draws a transformation that fits only the green points; red points are rejected.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/ 115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— Four Steps Inside Every Iteration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pick a tiny minimal subset of point correspondences — just 2 pairs for 2D rigid motion.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203372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3367964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7964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844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355084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99484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0844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transformation that perfectly aligns just that minimal subset. Fast — closed form.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2269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288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7288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016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63701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18808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0168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transformation to ALL points. Count how many agree within a distance threshold — the 'inliers'.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8842019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9006611" y="1828800"/>
            <a:ext cx="2636444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611" y="1828800"/>
            <a:ext cx="263644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491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491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38131" y="20574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491" y="2697480"/>
            <a:ext cx="2270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hundreds of times. The iteration with the largest inlier count wins — re-solve using only those inliers.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RANSAC if the scene is majority-dynamic — say, a crowded subway car?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115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Variant: Trimmed ICP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 cousin of RANSAC that's cheaper and often as effective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ICP, but after each iteration, SORT the point-pair errors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top K% largest errors — typical K = 10-30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'inliers' contribute to the next SVD step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object points tend to have disproportionately large errors — they're first to be trimmed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cheaper than RANSAC's random sampling — a single sort per iteration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residual errors per point pair, sorted descending. The top 20% bars turn red and get deleted; the ICP re-fits using only the remaining green ones.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/ 115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3: Robust Cost Functions (M-Estimators)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penalty itself, so outliers contribute less to the optimization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penalty: e² — doubling the error quadruples the penalty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have massive errors — so they dominate the optimization and pull the solution their 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replace e² with a bounded function that grows slowly (or plateaus) for large 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an outlier cannot 'shout over' the chorus of good data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M-ESTIMATOR family — Huber, Cauchy, Tukey, Geman-McClure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curves on one plot, y = ρ(e): quadratic parabola (least squares), Huber (quadratic then linear), Cauchy (plateaus), Tukey (drops to zero).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115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Huber Loss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for small errors, linear for large — best of both worlds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δ: behaves like ordinary least-squares (smooth, differentiable)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 δ: grows only linearly — outliers stop dominating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good statistical properties for inliers while capping outlier influence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in Ceres Solver's robust loss library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ρ_Huber(e)  =  ½·e²            if |e| ≤ 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δ·|e| − ½·δ²    if |e| &gt; 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 δ — roughly 'how big of an error do you consider normal?'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/ 115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Cauchy Loss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more aggressive — the penalty PLATEAUS for outliers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 much larger than c, ρ(e) asymptotically approaches a constant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outlier of 10σ and 1000σ contribute essentially the same penalty — both huge but bounded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Catastrophically-wrong loop closures can no longer destroy the whole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back-end graph optimization where false positive loops are a known risk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ρ_Cauchy(e)  =  (c² / 2) · log( 1  +  (e / c)²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 c — the 'scale' at which errors become suspicious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false loop closure injects a 50-metre error, what does Cauchy loss do to its contribution to the final solution?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115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Robust Losses in Graph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robust kernel in, keep everything else the same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global cost was: F(X) = Σ eᵀΩe — pure least squares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with: F(X) = Σ ρ( eᵀΩe ) using Huber, Cauchy, or similar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solver's linearization still works — just replace J with √(ρ'(e²)) · J (Iteratively Reweighted Least Squares)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Ceres, g2o, GTSAM all support robust kernels as a simple configuration option — no re-derivation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48495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1605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206240"/>
            <a:ext cx="9174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 =  Σ  ρ(  eᵢⱼᵀ · Ωᵢⱼ · eᵢⱼ  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174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change that makes a back-end robust to bad front-end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115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4: Active Object Tracking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reject movement — anticipate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LiDAR points by proximity — two dots close together likely belong to the same object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cluster across scans — a pair of legs moves as a connected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Kalman Filter (or similar) to each tracked object to predict its next position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scan arrives, SUBTRACT the predicted-dynamic points BEFORE feeding it to SLAM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SLAM front-end receives a cleaned scan with all moving entities already removed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screen: raw LiDAR showing walls + moving legs, vs. cleaned LiDAR where moving legs have been surgically removed and only walls remain.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/ 115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5: Semantic SLAM — The Modern Frontier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neural network what each point represents before mapping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deep neural network classifies each LiDAR cluster in real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'wall', 'person', 'vehicle', 'chair', 'door', 'forklift' — typically 10-20 classes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in the map-update layer: NEVER write 'person' or 'vehicle' voxels to the persistent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entities are tracked for obstacle avoidance, but never ossify into the world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cutting edge — robots with this architecture work beautifully in crowded environments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LiDAR point cloud color-coded by AI: green walls, red humans, blue chairs, amber doorways. Only green points are deposited into the persistent occupancy grid.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downsides of relying on an AI classifier inside the SLAM inner loop?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Dynamic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/ 115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Failure Modes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algorithms lie — and how engineers catch them before the map is destroyed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/ 115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Aliasing: Two Places That Look Identical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cause of catastrophic SLAM failure in real buildings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aisle 3 looks geometrically identical to aisle 7 — same shelving, same pillar spacing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floors built from repeated modular sections fool scan-matchers the same 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confidently reports 'I've been here before!' — and it's wrong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sees only geometry. It cannot read aisle numbers, signage, or paint color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spaces (hospital corridors, parking garages) are perceptual-aliasing hell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side-by-side scans from aisles 3 and 7 of a warehouse — pixel-identical geometry. The front-end shouts 'MATCH!' but the robot is actually 40 meters away from where it thinks it 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human avoid aliasing in a symmetric building? What extra sensor or signal could we give the robot?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— Robustness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/ 115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Loop Closures: Catastrophic Map Destruction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edge can fold an entire building in half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loop closure adds a massive, high-confidence edge that ties two DIFFERENT places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dutifully minimizes the error — by folding the intermediate trajectory into a knot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hallways bend impossibly, walls overlap, the map is unusable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optimization is extremely sensitive: one outlier with Ω=I dominates thousands of good edges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drift, this damage is NOT gradual — one bad iteration and the map is gone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Before/after: a perfect pose graph on the left, and on the right the same graph has collapsed into a twisted knot because a single red 'false loop' edge forced the whole trajectory to satisfy an impossible constraint.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bad edge (e=40):  1600·Ω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good edges (e=0.01): 0.1·Ω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penalty — outliers dominate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— Robustness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115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Graph: Defense in Depth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that together keep bad loop closures out of the optimizer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Pre-Verification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sending a candidate loop to the back-end, run a SECOND geometric check. Require agreement across multiple scan-matching methods. If PL-ICP and NDT disagree → reject.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14314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7738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7738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061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061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9258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Switchable 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scalar switch sᵢⱼ ∈ [0,1] to each loop edge. The optimizer can learn to DISABLE suspicious edges by driving s → 0, while a prior keeps trusted edges at s = 1.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02245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6837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6837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49717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82497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98357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Dynamic Covariance Scaling (DCS)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9717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edge's residual is huge, automatically inflate its covariance (deflate its information matrix Ω). The optimizer quietly stops trusting it instead of folding the map to match 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frameworks (Ceres, GTSAM, g2o) ship all three of these — you turn them on via flags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transform SLAM from 'fragile to one bad match' into 'recovers gracefully from outliers'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035040"/>
            <a:ext cx="11094415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to pick ONE of these three layers for a low-power embedded robot, which would you choose and why?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— Robustness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115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05295" y="548640"/>
            <a:ext cx="5029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the Real World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blackboard mathematics to ROS nodes running on a real robot — what engineers actually ship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115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Mapping: When the World Changes Permanently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was rearranged last weekend. Now what?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in real facilities run for MONTHS — the environment genuinely changes over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is moved, a wall is added, shelving is rearranged. The old map is wrong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dual-memory architecture — a SHORT-TERM map for recent changes + a LONG-TERM stable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stability is tracked over days/weeks — cells that flip often are 'transient' and stay in short-term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that stay stable for weeks get promoted into the long-term structural map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memory: top layer is 'short-term / dynamic' (updated every scan), bottom layer is 'long-term / structural' (only updated after days of consistent observation). Promotion arrows flow upward; demotion arrows flow downward when stable voxels suddenly start changing.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robot was offline for a week and the warehouse was completely rearranged, which layer should it trust when it wakes up?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/ 115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Workhorses: Gmapping, Hector, Cartographer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SLAM frameworks you'll actually encounter in 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557784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GMAPPING (2007)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Rao-Blackwellized Particle Filter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wheel odometry — uses it as the motion prior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 carries its OWN occupancy grid 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simple, well-understood, great for small rooms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no real loop closure, particle impoverishment on large maps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small research robots, teaching, &lt;50m² environments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(2011) / CARTOGRAPHER (2016)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HECTOR: scan-matching only, NO odometry required — great for drones and handheld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weakness: fails catastrophically in featureless hallways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CARTOGRAPHER: full graph-based, submap architecture, Ceres Solver back-end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CARTOGRAPHER: branch-and-bound loop closure search across all submaps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CARTOGRAPHER: handles odometry + LiDAR fusion + large warehouses + loop closure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Cartographer is the current industry default for 2D LiDAR SLAM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small static room → Gmapping. Drone or no odometry → Hector. Anything real-world at scale → Cartographer.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/ 115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 Toolbox: g2o, GTSAM, Ceres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implement Levenberg-Marquardt yourself — these libraries do it for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Graph Optimization. C++ library specialized for pose graphs and bundle adjustment. Widely used in ROS, ORB-SLAM, and academic SLAM. Fast, lean, batch-oriented.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14314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7738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7738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061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061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9258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 Smoothing And Mapping. Uses FACTOR graphs (more expressive than pose graphs). Ships with iSAM2 — incremental optimization that only re-solves the parts of the graph that changed.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02245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6837" y="1828800"/>
            <a:ext cx="3576218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6837" y="1828800"/>
            <a:ext cx="357621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49717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82497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98357" y="20574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Ceres Solver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9717" y="2697480"/>
            <a:ext cx="32104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general-purpose non-linear least squares library. Not SLAM-specific, but extremely flexible. Powers Google Cartographer's back-end. Best choice when you need custom residuals.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solve H·Δx = -b with sparse Cholesky, wrap Levenberg-Marquardt, and support robust kernels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often comes down to: team familiarity, existing codebase, and whether you need incremental (GTSAM) or batch (g2o, Ceres)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/ 115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Cartographer: The Architecture, End-to-End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Google's 2D SLAM system assembles every piece we've discussed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SLAM: scan-to-submap matching via Ceres — the high-frequency 'where am I now'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Submaps: small local grids (typically few meters across) frozen once the robot leaves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SLAM: all submap origins + robot poses form a factor graph optimized by Ceres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closure: branch-and-bound searches ALL past submaps for scan matches — very fast and rigorous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kernels (Huber) applied on the global optimizer to survive false positives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 block diagram: /scan and /odom feed the Local SLAM block → builds submaps → submap origins enter the global factor graph → branch-and-bound loop detector injects closure edges → Ceres optimizes → rendered global map published to /map.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09160"/>
            <a:ext cx="42062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4709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Cartographer = (everything in Ch.3-9) + (branch-and-bound loop search) + (Ceres + Huber)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5486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exactly the mathematical stack we've built — productionized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/ 115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 Topology: What Actually Runs On Your Robot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topics, and the tf tree — how SLAM plugs into a real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/scan (sensor_msgs/LaserScan) and /odom (nav_msgs/Odometry) — published by your sensor drivers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SLAM node subscribes to both, runs the full pipeline, and publishes /map (nav_msgs/OccupancyGrid)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output: the tf tree — it publishes the transform map → odom → base_link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→ odom transform is WHERE SLAM'S DRIFT CORRECTION LIVES — every loop closure shifts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planners (move_base, Nav2) subscribe to /map and query tf to know the robot's pose in the map frame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computation graph: LiDAR driver → /scan → slam_node ← /odom ← wheel encoder driver. slam_node publishes /map and broadcasts tf: map→odom→base_link→laser. move_base subscribes to /map and /tf to plan paths.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SLAM publish the map→odom transform instead of map→base_link directly? What would break if it tried to publish map→base_link?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115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Advice for the Mechatronics Engineer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parameters that actually matter when you deploy SLAM on real hardware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resolution: start at 5 cm for indoor, 10 cm for large warehouse. Smaller = more RAM + more CPU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covariance: MEASURE IT on your actual robot — don't copy numbers from a tutorial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update clamping: cap l(mᵢ) at ±5 or ±10 so dynamic cells can actually decay back 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score threshold: too low → false positives ruin map; too high → you miss real loops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Submap size: small = more submaps = slower global optimization; large = stale data inside submap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sensible Cartographer YAML parameter file with the 5-6 knobs most engineers end up tweaking highlighted: resolution, max_range, odom_weight, loop_closure_translation_weight, and submap_num_range_data.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robot's odometry is extremely noisy after wheel replacement. Which one parameter do you change FIRST?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— Deployment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/ 115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2D LiDAR SLAM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we've built, in the order data actually flows through a real robot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72579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2072579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1158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17068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provides a fast, noisy motion prior. 2D LiDAR provides a geometric slice of the world. Both streams are timestamped and synchronized.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2639507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04099" y="1828800"/>
            <a:ext cx="2072579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804099" y="1828800"/>
            <a:ext cx="2072579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2986979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98697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35619" y="2057400"/>
            <a:ext cx="1158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86979" y="2697480"/>
            <a:ext cx="17068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RANSAC, trimmed ICP, or semantic classification strips moving objects out of the raw scan BEFORE SLAM sees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94966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59558" y="1828800"/>
            <a:ext cx="2072579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59558" y="1828800"/>
            <a:ext cx="2072579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5242438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524243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91078" y="2057400"/>
            <a:ext cx="1158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Scan-Match (FE)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2438" y="2697480"/>
            <a:ext cx="17068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PL-ICP, GICP, or NDT aligns the clean scan to the local submap. Output: a relative pose + its information matrix.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150425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017" y="1828800"/>
            <a:ext cx="2072579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017" y="1828800"/>
            <a:ext cx="2072579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7897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789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46537" y="2057400"/>
            <a:ext cx="1158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Graph (BE)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7897" y="2697480"/>
            <a:ext cx="17068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become nodes, scan matches become edges. Loop closure adds long-range edges. Levenberg-Marquardt + Huber loss optimizes globally.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rot="5400000">
            <a:off x="9405884" y="3310128"/>
            <a:ext cx="146304" cy="146304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33" name="Shape 31"/>
          <p:cNvSpPr/>
          <p:nvPr/>
        </p:nvSpPr>
        <p:spPr>
          <a:xfrm>
            <a:off x="9570476" y="1828800"/>
            <a:ext cx="2072579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9570476" y="1828800"/>
            <a:ext cx="2072579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33"/>
          <p:cNvSpPr/>
          <p:nvPr/>
        </p:nvSpPr>
        <p:spPr>
          <a:xfrm>
            <a:off x="9753356" y="205740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6" name="Text 34"/>
          <p:cNvSpPr/>
          <p:nvPr/>
        </p:nvSpPr>
        <p:spPr>
          <a:xfrm>
            <a:off x="97533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301996" y="2057400"/>
            <a:ext cx="1158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Render Map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53356" y="2697480"/>
            <a:ext cx="17068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poses shift their attached submaps. Log-odds grids are overlaid on demand to produce the final occupancy map published to /map.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block here is something you can now explain, derive, and reason about mathematically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Ch.12 — Conclusion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/ 115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Thoughts &amp; Further Reading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after this lecture — and the questions still open in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is not a solved problem — lifelong autonomy in dynamic, changing worlds is active research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scan matching (deep-learned descriptors) is rapidly replacing hand-crafted ICP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SLAM: how do 10 robots share one consistent map in real time? Open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in your journey: 3D LiDAR SLAM (LOAM, LeGO-LOAM), then visual-inertial SLAM (ORB-SLAM3)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reading: Thrun's "Probabilistic Robotics"; Cadena et al. 2016 survey; Cartographer paper (Hess 2016)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06240" cy="3108960"/>
          </a:xfrm>
          <a:prstGeom prst="rect">
            <a:avLst/>
          </a:prstGeom>
          <a:solidFill>
            <a:srgbClr val="F1F5F9"/>
          </a:solidFill>
          <a:ln w="15875">
            <a:solidFill>
              <a:srgbClr val="0891B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triumphant robot standing at the center of a beautifully rendered, clean occupancy grid map — exactly the journey from Slide 1's 'lost robot in the dark' to a fully localized, mapped agent.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2472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990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— what is the one part of this pipeline you want to go deeper on next week?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Ch.12 — Conclusion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/ 115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LiDAR SLAM: The Complete Journey</dc:title>
  <dc:subject>PptxGenJS Presentation</dc:subject>
  <dc:creator>Mechatronics Course</dc:creator>
  <cp:lastModifiedBy>Mechatronics Course</cp:lastModifiedBy>
  <cp:revision>1</cp:revision>
  <dcterms:created xsi:type="dcterms:W3CDTF">2026-04-20T04:20:30Z</dcterms:created>
  <dcterms:modified xsi:type="dcterms:W3CDTF">2026-04-20T04:20:30Z</dcterms:modified>
</cp:coreProperties>
</file>