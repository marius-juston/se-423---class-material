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1" r:id="rId4"/>
    <p:sldId id="274" r:id="rId5"/>
    <p:sldId id="275" r:id="rId6"/>
    <p:sldId id="276" r:id="rId7"/>
    <p:sldId id="258" r:id="rId8"/>
    <p:sldId id="277" r:id="rId9"/>
    <p:sldId id="272" r:id="rId10"/>
    <p:sldId id="278" r:id="rId11"/>
    <p:sldId id="279" r:id="rId12"/>
    <p:sldId id="280" r:id="rId13"/>
    <p:sldId id="281" r:id="rId14"/>
    <p:sldId id="289" r:id="rId15"/>
    <p:sldId id="288" r:id="rId16"/>
    <p:sldId id="282" r:id="rId17"/>
    <p:sldId id="283" r:id="rId18"/>
    <p:sldId id="285" r:id="rId19"/>
    <p:sldId id="286" r:id="rId20"/>
    <p:sldId id="287" r:id="rId21"/>
    <p:sldId id="290" r:id="rId22"/>
    <p:sldId id="291" r:id="rId23"/>
    <p:sldId id="292" r:id="rId24"/>
    <p:sldId id="295" r:id="rId25"/>
    <p:sldId id="296" r:id="rId26"/>
    <p:sldId id="293" r:id="rId27"/>
    <p:sldId id="294" r:id="rId28"/>
    <p:sldId id="269" r:id="rId29"/>
    <p:sldId id="270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jKkk5wOoQj6sDPPETbbKgHU96D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740" autoAdjust="0"/>
  </p:normalViewPr>
  <p:slideViewPr>
    <p:cSldViewPr snapToGrid="0">
      <p:cViewPr varScale="1">
        <p:scale>
          <a:sx n="123" d="100"/>
          <a:sy n="123" d="100"/>
        </p:scale>
        <p:origin x="16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tkinson Hyperlegible Next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Well I hope that most of your classes have been </a:t>
            </a:r>
            <a:r>
              <a:rPr lang="en-US" dirty="0" err="1"/>
              <a:t>cancled</a:t>
            </a:r>
            <a:r>
              <a:rPr lang="en-US" dirty="0"/>
              <a:t> or are on Zoom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Did all of you get my Canvas email or do I need to it through email? Or announcements?</a:t>
            </a:r>
            <a:endParaRPr dirty="0"/>
          </a:p>
        </p:txBody>
      </p:sp>
      <p:sp>
        <p:nvSpPr>
          <p:cNvPr id="80" name="Google Shape;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Office</a:t>
            </a:r>
            <a:endParaRPr dirty="0"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11560CD-FFDE-70C6-6183-A453F3E9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E57E4E91-ED9F-DE16-BEB6-F07455961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063A7F12-DA54-6672-271A-7F884E56D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994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9F8C6CA-881C-831D-A68C-FC172238B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42E868FB-C2CC-0118-8490-F144740BF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8C441899-808F-CE82-1C7A-518EB0060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3940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9DEDADA-5225-64E9-5957-E6FF531C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>
            <a:extLst>
              <a:ext uri="{FF2B5EF4-FFF2-40B4-BE49-F238E27FC236}">
                <a16:creationId xmlns:a16="http://schemas.microsoft.com/office/drawing/2014/main" id="{B0BF354B-0C63-6FD5-49BB-33D722553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Office</a:t>
            </a:r>
            <a:endParaRPr dirty="0"/>
          </a:p>
        </p:txBody>
      </p:sp>
      <p:sp>
        <p:nvSpPr>
          <p:cNvPr id="87" name="Google Shape;87;p27:notes">
            <a:extLst>
              <a:ext uri="{FF2B5EF4-FFF2-40B4-BE49-F238E27FC236}">
                <a16:creationId xmlns:a16="http://schemas.microsoft.com/office/drawing/2014/main" id="{E1221BEA-B11F-4D08-B7C9-8423E2740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47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2A0246F-0340-08E7-4D04-E2FBC069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1207A6BB-DBA7-3EB9-E887-D86A8E501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F2B107F5-18B0-AF04-42E2-7B012C2E4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78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D0F328BB-3062-BEAF-9BC9-E942CCBA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448D0EEE-2A41-EE1A-0E7B-AC6220641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A34408D0-82C1-683F-B1BB-9831CA3E9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6275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0ABBF50-D5B8-2A36-4BAF-6A768B0D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BD005934-3152-262D-A0E2-BB7CC8D73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5E98563B-6280-6309-9568-9A9B5647C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9007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B033A47F-9B51-9DA3-AE26-0AA5862D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CF46D099-5AFF-C207-0BDC-8A3C0DEDF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9C03A73D-DD03-981A-6693-F8A04A1C9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8516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74002A6B-EB3B-2A06-FAEC-A513648D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DCFAE1C1-55CA-47F2-FF7E-7F248239D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B71781BD-E566-D770-EDE8-9B942F785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5174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FEB3224-6EB4-EEE0-76DB-9A52492C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47561A0E-1BE5-4F61-BE5B-8CBA6801C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D097315A-647C-E042-AC77-19E49FDB0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3632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7EBBE47C-1410-32AE-729F-5B98D783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1F69EBCF-4BA4-B717-E614-7BEA4583E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27A7160F-67A9-C867-66CA-AD70B7906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7119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794DC85B-66B2-7866-DF76-9CE4CC30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AA61A4E4-2CAE-F878-F6B3-20A53101E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B048AB98-5666-C342-A3FC-843A2F4005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0557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9B708F8-F9B3-A837-B9C4-DCCC5028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00452604-A62A-ED78-B359-E8A75AF74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6B7B2FF8-2C4F-5CB1-3239-E7CBC2F03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6729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EEF92A-11BD-547F-79EF-F86417EB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:notes">
            <a:extLst>
              <a:ext uri="{FF2B5EF4-FFF2-40B4-BE49-F238E27FC236}">
                <a16:creationId xmlns:a16="http://schemas.microsoft.com/office/drawing/2014/main" id="{D25C9E05-4B9F-0482-DCA1-B0B8B43B6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8:notes">
            <a:extLst>
              <a:ext uri="{FF2B5EF4-FFF2-40B4-BE49-F238E27FC236}">
                <a16:creationId xmlns:a16="http://schemas.microsoft.com/office/drawing/2014/main" id="{13E967EC-FB0F-76F4-41CE-28BE02EEB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45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024E206-363E-2299-0F09-D6B63492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7EA92925-55FF-E76F-15C2-FC28F0C5E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26A6F3AA-3CC5-A3F3-676B-A7B12D0F0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1996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D034BFA0-409F-8E5C-E177-49C39027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41E3EBC8-3303-D860-6253-0D12D7571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0744C7E3-F152-5E42-1DFF-E9F5E8BFD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7804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567EDA8-189A-FF31-EEA4-BFDEFB75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F2574A4B-9DFB-F15E-6A3F-93ED4780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72933390-70FC-29A4-5F57-4643D9DD6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819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0F2006E7-F7A3-4600-5DF7-132BC6D5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5C408A8B-FDB8-10D9-B6AB-930AAE13B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BE92A5C7-FBBB-282D-4177-16D9146F0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442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45A87DC-1043-F839-5736-AAAB23CA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:notes">
            <a:extLst>
              <a:ext uri="{FF2B5EF4-FFF2-40B4-BE49-F238E27FC236}">
                <a16:creationId xmlns:a16="http://schemas.microsoft.com/office/drawing/2014/main" id="{5377813C-5A87-2AB6-9674-BA6B74863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8:notes">
            <a:extLst>
              <a:ext uri="{FF2B5EF4-FFF2-40B4-BE49-F238E27FC236}">
                <a16:creationId xmlns:a16="http://schemas.microsoft.com/office/drawing/2014/main" id="{06E4E8F5-A940-EB06-7D89-C15348C45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9576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C3C8E97F-C54B-48AE-D971-3484584C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14170352-F1D7-9831-693B-D0DE6316C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A7FE9A8A-3B96-16ED-CD9A-EC675FDE4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518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6868A8AE-3822-5138-D4AB-80720FAC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9188A369-6B99-117F-1BAE-0A0CD3BE4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SYSCLKOUT</a:t>
            </a:r>
            <a:r>
              <a:rPr lang="en-US" dirty="0"/>
              <a:t> is the system clock (e.g., 200 MHz).</a:t>
            </a:r>
          </a:p>
          <a:p>
            <a:r>
              <a:rPr lang="en-US" b="1" dirty="0"/>
              <a:t>TCR.4</a:t>
            </a:r>
            <a:r>
              <a:rPr lang="en-US" dirty="0"/>
              <a:t> is the </a:t>
            </a:r>
            <a:r>
              <a:rPr lang="en-US" i="1" dirty="0"/>
              <a:t>Timer Control Register bit</a:t>
            </a:r>
            <a:r>
              <a:rPr lang="en-US" dirty="0"/>
              <a:t> that enables or disables counting.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The timer only receives clock pulses when software sets the START bit. This is why timers do </a:t>
            </a:r>
            <a:r>
              <a:rPr lang="en-US" i="1" dirty="0"/>
              <a:t>nothing</a:t>
            </a:r>
            <a:r>
              <a:rPr lang="en-US" dirty="0"/>
              <a:t> until you explicitly enable them in software.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r>
              <a:rPr lang="en-US" b="1" dirty="0"/>
              <a:t>16-bit Divide-Down (TDDRH:TDDR)</a:t>
            </a:r>
          </a:p>
          <a:p>
            <a:r>
              <a:rPr lang="en-US" dirty="0"/>
              <a:t>This block divides the incoming clock frequency.</a:t>
            </a:r>
          </a:p>
          <a:p>
            <a:r>
              <a:rPr lang="en-US" dirty="0"/>
              <a:t>This allows the timer to operate at manageable speeds</a:t>
            </a:r>
          </a:p>
          <a:p>
            <a:endParaRPr lang="en-US" dirty="0"/>
          </a:p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16-bit </a:t>
            </a:r>
            <a:r>
              <a:rPr lang="en-US" b="1" dirty="0" err="1"/>
              <a:t>Prescale</a:t>
            </a:r>
            <a:r>
              <a:rPr lang="en-US" b="1" dirty="0"/>
              <a:t> Counter (PSCH:PSC)</a:t>
            </a:r>
          </a:p>
          <a:p>
            <a:r>
              <a:rPr lang="en-US" dirty="0"/>
              <a:t>This is an additional counter that:</a:t>
            </a:r>
          </a:p>
          <a:p>
            <a:r>
              <a:rPr lang="en-US" dirty="0"/>
              <a:t>Counts down</a:t>
            </a:r>
          </a:p>
          <a:p>
            <a:r>
              <a:rPr lang="en-US" dirty="0"/>
              <a:t>Generates a </a:t>
            </a:r>
            <a:r>
              <a:rPr lang="en-US" b="1" dirty="0"/>
              <a:t>borrow</a:t>
            </a:r>
            <a:r>
              <a:rPr lang="en-US" dirty="0"/>
              <a:t> when it underflows</a:t>
            </a:r>
          </a:p>
          <a:p>
            <a:r>
              <a:rPr lang="en-US" dirty="0"/>
              <a:t>That borrow is what advances the main 32-bit timer.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The </a:t>
            </a:r>
            <a:r>
              <a:rPr lang="en-US" dirty="0" err="1"/>
              <a:t>prescaler</a:t>
            </a:r>
            <a:r>
              <a:rPr lang="en-US" dirty="0"/>
              <a:t> slows time down before it reaches the main timer counter.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sv-SE" b="1" dirty="0"/>
              <a:t>32-bit Period Register (PRDH:PRD)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This is the value the timer reloads </a:t>
            </a:r>
            <a:r>
              <a:rPr lang="en-US" b="1" dirty="0"/>
              <a:t>from</a:t>
            </a:r>
            <a:r>
              <a:rPr lang="en-US" dirty="0"/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r>
              <a:rPr lang="en-US" b="1" dirty="0"/>
              <a:t>32-bit Counter (TIMH:TIM)</a:t>
            </a:r>
          </a:p>
          <a:p>
            <a:r>
              <a:rPr lang="en-US" dirty="0"/>
              <a:t>This is the </a:t>
            </a:r>
            <a:r>
              <a:rPr lang="en-US" b="1" dirty="0"/>
              <a:t>actual counter</a:t>
            </a:r>
            <a:r>
              <a:rPr lang="en-US" dirty="0"/>
              <a:t>:</a:t>
            </a:r>
          </a:p>
          <a:p>
            <a:r>
              <a:rPr lang="en-US" dirty="0"/>
              <a:t>Decrements every </a:t>
            </a:r>
            <a:r>
              <a:rPr lang="en-US" dirty="0" err="1"/>
              <a:t>prescaled</a:t>
            </a:r>
            <a:r>
              <a:rPr lang="en-US" dirty="0"/>
              <a:t> clock tick</a:t>
            </a:r>
          </a:p>
          <a:p>
            <a:r>
              <a:rPr lang="en-US" dirty="0"/>
              <a:t>When it reaches zero:</a:t>
            </a:r>
          </a:p>
          <a:p>
            <a:pPr lvl="0"/>
            <a:r>
              <a:rPr lang="en-US" dirty="0"/>
              <a:t>A borrow occurs</a:t>
            </a:r>
          </a:p>
          <a:p>
            <a:pPr lvl="0"/>
            <a:r>
              <a:rPr lang="en-US" dirty="0"/>
              <a:t>An interrupt is generated</a:t>
            </a:r>
          </a:p>
          <a:p>
            <a:pPr lvl="0"/>
            <a:r>
              <a:rPr lang="en-US" dirty="0"/>
              <a:t>The counter reloads from PRD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75C88DC5-6882-AE62-38F7-1B560EA42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3272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9E9BD42-6D44-07E7-0C57-E63AF0D9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9417AE7C-EC41-47D9-AFB5-4EC85F943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SYSCLKOUT</a:t>
            </a:r>
            <a:r>
              <a:rPr lang="en-US" dirty="0"/>
              <a:t> is the system clock (e.g., 200 MHz).</a:t>
            </a:r>
          </a:p>
          <a:p>
            <a:r>
              <a:rPr lang="en-US" b="1" dirty="0"/>
              <a:t>TCR.4</a:t>
            </a:r>
            <a:r>
              <a:rPr lang="en-US" dirty="0"/>
              <a:t> is the </a:t>
            </a:r>
            <a:r>
              <a:rPr lang="en-US" i="1" dirty="0"/>
              <a:t>Timer Control Register bit</a:t>
            </a:r>
            <a:r>
              <a:rPr lang="en-US" dirty="0"/>
              <a:t> that enables or disables counting.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The timer only receives clock pulses when software sets the START bit. This is why timers do </a:t>
            </a:r>
            <a:r>
              <a:rPr lang="en-US" i="1" dirty="0"/>
              <a:t>nothing</a:t>
            </a:r>
            <a:r>
              <a:rPr lang="en-US" dirty="0"/>
              <a:t> until you explicitly enable them in software.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r>
              <a:rPr lang="en-US" b="1" dirty="0"/>
              <a:t>16-bit Divide-Down (TDDRH:TDDR)</a:t>
            </a:r>
          </a:p>
          <a:p>
            <a:r>
              <a:rPr lang="en-US" dirty="0"/>
              <a:t>This block divides the incoming clock frequency.</a:t>
            </a:r>
          </a:p>
          <a:p>
            <a:r>
              <a:rPr lang="en-US" dirty="0"/>
              <a:t>This allows the timer to operate at manageable speeds</a:t>
            </a:r>
          </a:p>
          <a:p>
            <a:endParaRPr lang="en-US" dirty="0"/>
          </a:p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16-bit </a:t>
            </a:r>
            <a:r>
              <a:rPr lang="en-US" b="1" dirty="0" err="1"/>
              <a:t>Prescale</a:t>
            </a:r>
            <a:r>
              <a:rPr lang="en-US" b="1" dirty="0"/>
              <a:t> Counter (PSCH:PSC)</a:t>
            </a:r>
          </a:p>
          <a:p>
            <a:r>
              <a:rPr lang="en-US" dirty="0"/>
              <a:t>This is an additional counter that:</a:t>
            </a:r>
          </a:p>
          <a:p>
            <a:r>
              <a:rPr lang="en-US" dirty="0"/>
              <a:t>Counts down</a:t>
            </a:r>
          </a:p>
          <a:p>
            <a:r>
              <a:rPr lang="en-US" dirty="0"/>
              <a:t>Generates a </a:t>
            </a:r>
            <a:r>
              <a:rPr lang="en-US" b="1" dirty="0"/>
              <a:t>borrow</a:t>
            </a:r>
            <a:r>
              <a:rPr lang="en-US" dirty="0"/>
              <a:t> when it underflows</a:t>
            </a:r>
          </a:p>
          <a:p>
            <a:r>
              <a:rPr lang="en-US" dirty="0"/>
              <a:t>That borrow is what advances the main 32-bit timer.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The </a:t>
            </a:r>
            <a:r>
              <a:rPr lang="en-US" dirty="0" err="1"/>
              <a:t>prescaler</a:t>
            </a:r>
            <a:r>
              <a:rPr lang="en-US" dirty="0"/>
              <a:t> slows time down before it reaches the main timer counter.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sv-SE" b="1" dirty="0"/>
              <a:t>32-bit Period Register (PRDH:PRD)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This is the value the timer reloads </a:t>
            </a:r>
            <a:r>
              <a:rPr lang="en-US" b="1" dirty="0"/>
              <a:t>from</a:t>
            </a:r>
            <a:r>
              <a:rPr lang="en-US" dirty="0"/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r>
              <a:rPr lang="en-US" b="1" dirty="0"/>
              <a:t>32-bit Counter (TIMH:TIM)</a:t>
            </a:r>
          </a:p>
          <a:p>
            <a:r>
              <a:rPr lang="en-US" dirty="0"/>
              <a:t>This is the </a:t>
            </a:r>
            <a:r>
              <a:rPr lang="en-US" b="1" dirty="0"/>
              <a:t>actual counter</a:t>
            </a:r>
            <a:r>
              <a:rPr lang="en-US" dirty="0"/>
              <a:t>:</a:t>
            </a:r>
          </a:p>
          <a:p>
            <a:r>
              <a:rPr lang="en-US" dirty="0"/>
              <a:t>Decrements every </a:t>
            </a:r>
            <a:r>
              <a:rPr lang="en-US" dirty="0" err="1"/>
              <a:t>prescaled</a:t>
            </a:r>
            <a:r>
              <a:rPr lang="en-US" dirty="0"/>
              <a:t> clock tick</a:t>
            </a:r>
          </a:p>
          <a:p>
            <a:r>
              <a:rPr lang="en-US" dirty="0"/>
              <a:t>When it reaches zero:</a:t>
            </a:r>
          </a:p>
          <a:p>
            <a:pPr lvl="0"/>
            <a:r>
              <a:rPr lang="en-US" dirty="0"/>
              <a:t>A borrow occurs</a:t>
            </a:r>
          </a:p>
          <a:p>
            <a:pPr lvl="0"/>
            <a:r>
              <a:rPr lang="en-US" dirty="0"/>
              <a:t>An interrupt is generated</a:t>
            </a:r>
          </a:p>
          <a:p>
            <a:pPr lvl="0"/>
            <a:r>
              <a:rPr lang="en-US" dirty="0"/>
              <a:t>The counter reloads from PRD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184AD7E4-B967-5FAE-4A9E-3DDC0B993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2888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69857DE6-DF8B-D8B6-B80A-D4FFA47E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DA53D2C1-BC7D-1078-FBB3-A74320998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90808667-3B3A-7BDA-EA07-6665024B1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7347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38C5D6C7-5422-60D4-9BF9-2EAA80BE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DDC76DDE-0BD6-A46A-932A-9C7A9A743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Timer 0</a:t>
            </a:r>
          </a:p>
          <a:p>
            <a:r>
              <a:rPr lang="en-US" dirty="0"/>
              <a:t>TINT0</a:t>
            </a:r>
          </a:p>
          <a:p>
            <a:r>
              <a:rPr lang="en-US" dirty="0"/>
              <a:t>INT1–INT12 via PIE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r>
              <a:rPr lang="en-US" dirty="0"/>
              <a:t>Timer 1</a:t>
            </a:r>
          </a:p>
          <a:p>
            <a:r>
              <a:rPr lang="en-US" dirty="0"/>
              <a:t>TINT1</a:t>
            </a:r>
          </a:p>
          <a:p>
            <a:r>
              <a:rPr lang="en-US" dirty="0"/>
              <a:t>INT13 (direct)</a:t>
            </a:r>
          </a:p>
          <a:p>
            <a:endParaRPr lang="en-US" dirty="0"/>
          </a:p>
          <a:p>
            <a:r>
              <a:rPr lang="en-US" dirty="0"/>
              <a:t>Timer 2</a:t>
            </a:r>
          </a:p>
          <a:p>
            <a:r>
              <a:rPr lang="en-US" dirty="0"/>
              <a:t>TINT2</a:t>
            </a:r>
          </a:p>
          <a:p>
            <a:r>
              <a:rPr lang="en-US" dirty="0"/>
              <a:t>INT14 (direct)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Peripheral Interrupt Expansion (PIE)</a:t>
            </a:r>
            <a:r>
              <a:rPr lang="en-US" dirty="0"/>
              <a:t> is an interrupt router.</a:t>
            </a:r>
          </a:p>
          <a:p>
            <a:r>
              <a:rPr lang="en-US" dirty="0"/>
              <a:t>It:</a:t>
            </a:r>
          </a:p>
          <a:p>
            <a:r>
              <a:rPr lang="en-US" dirty="0"/>
              <a:t>Takes many peripheral interrupts</a:t>
            </a:r>
          </a:p>
          <a:p>
            <a:r>
              <a:rPr lang="en-US" dirty="0"/>
              <a:t>Maps them to CPU interrupt vectors</a:t>
            </a:r>
          </a:p>
          <a:p>
            <a:r>
              <a:rPr lang="en-US" dirty="0"/>
              <a:t>Timer 0 is routed through the PIE because:</a:t>
            </a:r>
          </a:p>
          <a:p>
            <a:r>
              <a:rPr lang="en-US" dirty="0"/>
              <a:t>It is commonly used for application-level tasks</a:t>
            </a:r>
          </a:p>
          <a:p>
            <a:r>
              <a:rPr lang="en-US" dirty="0"/>
              <a:t>It supports prioritization and masking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Software Consequence</a:t>
            </a:r>
          </a:p>
          <a:p>
            <a:r>
              <a:rPr lang="en-US" dirty="0"/>
              <a:t>To use Timer 0:</a:t>
            </a:r>
          </a:p>
          <a:p>
            <a:r>
              <a:rPr lang="en-US" dirty="0"/>
              <a:t>Enable the timer interrupt</a:t>
            </a:r>
          </a:p>
          <a:p>
            <a:r>
              <a:rPr lang="en-US" dirty="0"/>
              <a:t>Enable the PIE group</a:t>
            </a:r>
          </a:p>
          <a:p>
            <a:r>
              <a:rPr lang="en-US" dirty="0"/>
              <a:t>Enable the CPU interrupt</a:t>
            </a:r>
          </a:p>
          <a:p>
            <a:r>
              <a:rPr lang="en-US" dirty="0"/>
              <a:t>Acknowledge the PIE inside the ISR</a:t>
            </a:r>
          </a:p>
          <a:p>
            <a:r>
              <a:rPr lang="en-US" dirty="0"/>
              <a:t>This makes Timer 0 ideal for:</a:t>
            </a:r>
          </a:p>
          <a:p>
            <a:r>
              <a:rPr lang="en-US" dirty="0"/>
              <a:t>Control loops</a:t>
            </a:r>
          </a:p>
          <a:p>
            <a:r>
              <a:rPr lang="en-US" dirty="0"/>
              <a:t>Scheduling</a:t>
            </a:r>
          </a:p>
          <a:p>
            <a:r>
              <a:rPr lang="en-US" dirty="0"/>
              <a:t>RTOS ticks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Timers 1 and 2 Bypass the PIE</a:t>
            </a:r>
          </a:p>
          <a:p>
            <a:r>
              <a:rPr lang="en-US" dirty="0"/>
              <a:t>Timer 1 → </a:t>
            </a:r>
            <a:r>
              <a:rPr lang="en-US" b="1" dirty="0"/>
              <a:t>INT13</a:t>
            </a:r>
            <a:br>
              <a:rPr lang="en-US" dirty="0"/>
            </a:br>
            <a:r>
              <a:rPr lang="en-US" dirty="0"/>
              <a:t>Timer 2 → </a:t>
            </a:r>
            <a:r>
              <a:rPr lang="en-US" b="1" dirty="0"/>
              <a:t>INT14</a:t>
            </a:r>
            <a:endParaRPr lang="en-US" dirty="0"/>
          </a:p>
          <a:p>
            <a:r>
              <a:rPr lang="en-US" dirty="0"/>
              <a:t>These are </a:t>
            </a:r>
            <a:r>
              <a:rPr lang="en-US" b="1" dirty="0"/>
              <a:t>dedicated CPU interrupts</a:t>
            </a:r>
            <a:r>
              <a:rPr lang="en-US" dirty="0"/>
              <a:t>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They are intended for:</a:t>
            </a:r>
          </a:p>
          <a:p>
            <a:r>
              <a:rPr lang="en-US" dirty="0"/>
              <a:t>High-priority system tasks</a:t>
            </a:r>
          </a:p>
          <a:p>
            <a:r>
              <a:rPr lang="en-US" dirty="0"/>
              <a:t>Real-time services</a:t>
            </a:r>
          </a:p>
          <a:p>
            <a:r>
              <a:rPr lang="en-US" dirty="0"/>
              <a:t>Deterministic timing</a:t>
            </a:r>
          </a:p>
          <a:p>
            <a:r>
              <a:rPr lang="en-US" dirty="0"/>
              <a:t>They:</a:t>
            </a:r>
          </a:p>
          <a:p>
            <a:r>
              <a:rPr lang="en-US" dirty="0"/>
              <a:t>Have lower latency</a:t>
            </a:r>
          </a:p>
          <a:p>
            <a:r>
              <a:rPr lang="en-US" dirty="0"/>
              <a:t>Are simpler to configure</a:t>
            </a:r>
          </a:p>
          <a:p>
            <a:r>
              <a:rPr lang="en-US" dirty="0"/>
              <a:t>Are harder to misuse accidentally</a:t>
            </a:r>
          </a:p>
          <a:p>
            <a:endParaRPr lang="en-US" dirty="0"/>
          </a:p>
          <a:p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42FD8C5D-9C20-C91C-AC9B-D65DAB800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25120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6315C7C-5E78-525A-60EE-FEA456DC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:notes">
            <a:extLst>
              <a:ext uri="{FF2B5EF4-FFF2-40B4-BE49-F238E27FC236}">
                <a16:creationId xmlns:a16="http://schemas.microsoft.com/office/drawing/2014/main" id="{162C6A1C-81CD-6A4A-0EC7-D4DF6592E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9:notes">
            <a:extLst>
              <a:ext uri="{FF2B5EF4-FFF2-40B4-BE49-F238E27FC236}">
                <a16:creationId xmlns:a16="http://schemas.microsoft.com/office/drawing/2014/main" id="{E9E55876-018B-F3F8-A378-6190163DC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43991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tkinson Hyperlegible Next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tkinson Hyperlegible Next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us-juston.github.io/SE-423---Class-Material/Labs/Lab1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marius-juston.github.io/SE-423---Class-Material/Homeworks/LabVIEW1.pdf" TargetMode="External"/><Relationship Id="rId4" Type="http://schemas.openxmlformats.org/officeDocument/2006/relationships/hyperlink" Target="https://marius-juston.github.io/SE-423---Class-Material/Homeworks/HW1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ster.io/jay118/se-423-astar-ball-collection-and-drop-off-project-3daa28?f=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ecsl.ece.illinois.edu/se423/tms320f28379D_TechRefi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ecsl.ece.illinois.edu/se423/tms320f28379D_TechRefi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ecsl.ece.illinois.edu/se423/hw/PinMuxTableF28379DLaunchPad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B0ehpoGNZU?feature=oembed" TargetMode="External"/><Relationship Id="rId6" Type="http://schemas.openxmlformats.org/officeDocument/2006/relationships/hyperlink" Target="https://youtu.be/AB0ehpoGNZU?si=qzp9HoeXxZYwsuXb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/>
          <p:nvPr/>
        </p:nvSpPr>
        <p:spPr>
          <a:xfrm>
            <a:off x="1134035" y="2553964"/>
            <a:ext cx="9924000" cy="272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SE 423: Introduction to Mechatronics</a:t>
            </a:r>
            <a:endParaRPr sz="4500" b="0" i="0" u="none" strike="noStrike" cap="none" dirty="0">
              <a:solidFill>
                <a:srgbClr val="000000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1"/>
                </a:solidFill>
              </a:rPr>
              <a:t>Lecture 2: Peripherals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Marius Juston</a:t>
            </a:r>
            <a:endParaRPr sz="1800" b="0" i="0" u="none" strike="noStrike" cap="none" dirty="0">
              <a:solidFill>
                <a:srgbClr val="000000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6"/>
          <p:cNvSpPr txBox="1"/>
          <p:nvPr/>
        </p:nvSpPr>
        <p:spPr>
          <a:xfrm>
            <a:off x="3922059" y="5413888"/>
            <a:ext cx="434788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Monday,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January 26</a:t>
            </a:r>
            <a:r>
              <a:rPr lang="en-US" sz="1800" b="0" i="0" u="none" strike="noStrike" cap="none" baseline="3000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th</a:t>
            </a:r>
            <a:r>
              <a:rPr lang="en-US" sz="18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,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2026</a:t>
            </a:r>
            <a:endParaRPr sz="18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1007" y="1004743"/>
            <a:ext cx="2909982" cy="75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EDD2ED-7EA0-C726-B86C-DAF6A1B58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38" y="2474829"/>
            <a:ext cx="3994099" cy="330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/>
          <p:nvPr/>
        </p:nvSpPr>
        <p:spPr>
          <a:xfrm>
            <a:off x="2206906" y="2208590"/>
            <a:ext cx="777818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Questions?</a:t>
            </a:r>
            <a:endParaRPr sz="1400" b="0" i="0" u="none" strike="noStrike" cap="none" dirty="0">
              <a:solidFill>
                <a:srgbClr val="000000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7"/>
          <p:cNvSpPr txBox="1"/>
          <p:nvPr/>
        </p:nvSpPr>
        <p:spPr>
          <a:xfrm>
            <a:off x="1441528" y="3949780"/>
            <a:ext cx="930894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How was the first lab? Enjoyed it?</a:t>
            </a:r>
          </a:p>
        </p:txBody>
      </p:sp>
      <p:grpSp>
        <p:nvGrpSpPr>
          <p:cNvPr id="91" name="Google Shape;91;p27"/>
          <p:cNvGrpSpPr/>
          <p:nvPr/>
        </p:nvGrpSpPr>
        <p:grpSpPr>
          <a:xfrm>
            <a:off x="3943790" y="3394489"/>
            <a:ext cx="3861740" cy="322845"/>
            <a:chOff x="3943790" y="2676939"/>
            <a:chExt cx="3861740" cy="322845"/>
          </a:xfrm>
        </p:grpSpPr>
        <p:cxnSp>
          <p:nvCxnSpPr>
            <p:cNvPr id="92" name="Google Shape;92;p27"/>
            <p:cNvCxnSpPr/>
            <p:nvPr/>
          </p:nvCxnSpPr>
          <p:spPr>
            <a:xfrm>
              <a:off x="4426226" y="2676939"/>
              <a:ext cx="3379304" cy="0"/>
            </a:xfrm>
            <a:prstGeom prst="straightConnector1">
              <a:avLst/>
            </a:prstGeom>
            <a:noFill/>
            <a:ln w="19050" cap="flat" cmpd="sng">
              <a:solidFill>
                <a:srgbClr val="E84B3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27"/>
            <p:cNvCxnSpPr/>
            <p:nvPr/>
          </p:nvCxnSpPr>
          <p:spPr>
            <a:xfrm rot="10800000" flipH="1">
              <a:off x="3943790" y="2676939"/>
              <a:ext cx="482436" cy="322845"/>
            </a:xfrm>
            <a:prstGeom prst="straightConnector1">
              <a:avLst/>
            </a:prstGeom>
            <a:noFill/>
            <a:ln w="19050" cap="flat" cmpd="sng">
              <a:solidFill>
                <a:srgbClr val="E84B3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94" name="Google Shape;9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7"/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96" name="Google Shape;96;p27"/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</a:rPr>
              <a:t>SYSTEMS ENGINEERING </a:t>
            </a:r>
            <a:endParaRPr dirty="0"/>
          </a:p>
        </p:txBody>
      </p:sp>
      <p:grpSp>
        <p:nvGrpSpPr>
          <p:cNvPr id="97" name="Google Shape;97;p27"/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98" name="Google Shape;98;p27"/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9" name="Google Shape;99;p27"/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781D3E48-EB5B-86EE-C4D9-54116487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3BCC2F8C-3A4A-AD98-3682-D9499379E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6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Times: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26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Monday: </a:t>
            </a: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4-6 PM</a:t>
            </a: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, </a:t>
            </a: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Samuel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Tuesday: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11-1 PM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,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Lakshmi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Tuesday: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1-3 PM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,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Neel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Tuesday: </a:t>
            </a: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2-5 PM</a:t>
            </a: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, </a:t>
            </a: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Dan &amp; Marius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b="1" dirty="0">
              <a:solidFill>
                <a:schemeClr val="dk1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There to help with setting up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CodeComposer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( not necessary but helpful for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homeworks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), finishing the solder, getting checked off for the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homeworks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, labs or LabVIEW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Close to deadlines it will be busy so be sure to come in early!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sz="1800" dirty="0">
              <a:solidFill>
                <a:schemeClr val="dk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19848B8C-9075-59EA-79FA-AF5B8BFAF8D4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6AE21486-AEEC-E367-96A5-81B49AD32D6A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Office Hours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28CCE647-4D9B-354D-A2E9-718CA28CD7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FAC87A64-580A-4863-38B3-4D1504C83F5F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23649EAB-2DB3-2DA4-9AD9-5D94AEE695E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D41F8E2C-2780-2776-E8ED-542B082247FE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1D628D6E-10A9-03E9-659C-F8F2D0023C66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7BEB3CD3-0F72-FD08-8FA5-00AD37965F20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84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752EC0B-8783-91E6-CCD2-B7B06FAF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97BDBD34-A31A-FF8F-814D-CEA3F5CE0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Lab: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Starting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3"/>
              </a:rPr>
              <a:t>Lab 1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this week, will be using C so be sure to be prepared!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Do Exercise 1 of Homework 1 to get started in C.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400" dirty="0">
                <a:latin typeface="Atkinson Hyperlegible Next"/>
                <a:ea typeface="Arial"/>
                <a:cs typeface="Arial"/>
                <a:sym typeface="Arial"/>
              </a:rPr>
              <a:t>You cannot use </a:t>
            </a:r>
            <a:r>
              <a:rPr lang="en-US" sz="1400" dirty="0" err="1">
                <a:latin typeface="Atkinson Hyperlegible Next"/>
                <a:ea typeface="Arial"/>
                <a:cs typeface="Arial"/>
                <a:sym typeface="Arial"/>
              </a:rPr>
              <a:t>CodeComposer</a:t>
            </a:r>
            <a:r>
              <a:rPr lang="en-US" sz="1400" dirty="0">
                <a:latin typeface="Atkinson Hyperlegible Next"/>
                <a:ea typeface="Arial"/>
                <a:cs typeface="Arial"/>
                <a:sym typeface="Arial"/>
              </a:rPr>
              <a:t> for that. You can just use an online C compile.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Lab 1 is a 1-week lab, some are longer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 err="1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Homeworks</a:t>
            </a:r>
            <a:r>
              <a:rPr lang="en-US" sz="18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All check-offs for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4"/>
              </a:rPr>
              <a:t>homework 1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are due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February 3, 5PM</a:t>
            </a:r>
            <a:endParaRPr lang="en-US" sz="14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400" dirty="0">
                <a:latin typeface="Atkinson Hyperlegible Next"/>
                <a:ea typeface="Arial"/>
                <a:cs typeface="Arial"/>
                <a:sym typeface="Arial"/>
              </a:rPr>
              <a:t>Questions 2, 3, 5, 7, 8, 9 and 10 need to be checked-off by instructors / TAs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Answers and code submissions for homework 1 are due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February 4, 9AM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No late acceptations, since these are individual!</a:t>
            </a:r>
            <a:endParaRPr lang="en-US" sz="1800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Soldering is Exercise 2 of Homework 1.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LabVIEW: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All check-offs for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5"/>
              </a:rPr>
              <a:t>LabVIEW 1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are  due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February 5, 5PM</a:t>
            </a: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AD59AEA4-FA31-7DE5-ECA1-47FDE291DADA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2EF4682E-AB31-E1D3-8C63-83FBD01EEE50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Due Dates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82D4F2AE-AF34-641F-D726-1F09D72D4F1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0BF2177D-7368-A283-161A-0AB4D52E95AD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C1E702B2-7A21-65E7-17C4-E10079AAA2D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18DFBE1C-F9BB-2D43-E81C-914BF2A56235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E8B709CE-2A7C-0CCA-4EDF-FEC086E24F5A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1B462F17-FDB0-9C67-DE2D-DF014F11F97D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74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8C2441AC-B173-8D17-8C64-0E6EB4DE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>
            <a:extLst>
              <a:ext uri="{FF2B5EF4-FFF2-40B4-BE49-F238E27FC236}">
                <a16:creationId xmlns:a16="http://schemas.microsoft.com/office/drawing/2014/main" id="{28B44141-C670-8ABB-20E0-AAA6EFD29AB9}"/>
              </a:ext>
            </a:extLst>
          </p:cNvPr>
          <p:cNvSpPr txBox="1"/>
          <p:nvPr/>
        </p:nvSpPr>
        <p:spPr>
          <a:xfrm>
            <a:off x="2206906" y="1491040"/>
            <a:ext cx="777818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Semester Project</a:t>
            </a:r>
            <a:endParaRPr sz="1400" b="0" i="0" u="none" strike="noStrike" cap="none" dirty="0">
              <a:solidFill>
                <a:srgbClr val="000000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7">
            <a:extLst>
              <a:ext uri="{FF2B5EF4-FFF2-40B4-BE49-F238E27FC236}">
                <a16:creationId xmlns:a16="http://schemas.microsoft.com/office/drawing/2014/main" id="{C188BAE0-AF94-4F20-E8F5-C7A8238E2D56}"/>
              </a:ext>
            </a:extLst>
          </p:cNvPr>
          <p:cNvSpPr txBox="1"/>
          <p:nvPr/>
        </p:nvSpPr>
        <p:spPr>
          <a:xfrm>
            <a:off x="1441528" y="3232230"/>
            <a:ext cx="9308941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n-US" sz="2800" dirty="0">
                <a:solidFill>
                  <a:schemeClr val="lt1"/>
                </a:solidFill>
              </a:rPr>
              <a:t>Thursday May 14</a:t>
            </a:r>
            <a:r>
              <a:rPr lang="en-US" sz="2800" baseline="30000" dirty="0">
                <a:solidFill>
                  <a:schemeClr val="lt1"/>
                </a:solidFill>
              </a:rPr>
              <a:t>th</a:t>
            </a:r>
            <a:r>
              <a:rPr lang="en-US" sz="2800" dirty="0">
                <a:solidFill>
                  <a:schemeClr val="lt1"/>
                </a:solidFill>
              </a:rPr>
              <a:t>, 11AM – 2PM</a:t>
            </a:r>
          </a:p>
          <a:p>
            <a:pPr lvl="0" algn="ctr">
              <a:buSzPts val="2800"/>
            </a:pPr>
            <a:r>
              <a:rPr lang="en-US" sz="2800" b="1" dirty="0">
                <a:solidFill>
                  <a:schemeClr val="lt1"/>
                </a:solidFill>
              </a:rPr>
              <a:t>Last day of Finals!!! </a:t>
            </a:r>
          </a:p>
          <a:p>
            <a:pPr lvl="0" algn="ctr">
              <a:buSzPts val="2800"/>
            </a:pPr>
            <a:r>
              <a:rPr lang="en-US" sz="2800" dirty="0">
                <a:solidFill>
                  <a:schemeClr val="lt1"/>
                </a:solidFill>
              </a:rPr>
              <a:t>( yes, I know that’s annoying)</a:t>
            </a:r>
          </a:p>
          <a:p>
            <a:pPr lvl="0" algn="ctr">
              <a:buSzPts val="2800"/>
            </a:pPr>
            <a:endParaRPr lang="en-US" sz="2800" b="1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lvl="0" algn="ctr">
              <a:buSzPts val="2800"/>
            </a:pPr>
            <a:r>
              <a:rPr lang="en-US" sz="2800" b="1" dirty="0">
                <a:solidFill>
                  <a:schemeClr val="lt1"/>
                </a:solidFill>
              </a:rPr>
              <a:t>Attendance is </a:t>
            </a:r>
            <a:r>
              <a:rPr lang="en-US" sz="2800" b="1" dirty="0">
                <a:solidFill>
                  <a:srgbClr val="E84B36"/>
                </a:solidFill>
              </a:rPr>
              <a:t>mandatory</a:t>
            </a:r>
            <a:r>
              <a:rPr lang="en-US" sz="2800" b="1" dirty="0">
                <a:solidFill>
                  <a:schemeClr val="lt1"/>
                </a:solidFill>
              </a:rPr>
              <a:t>!!</a:t>
            </a:r>
            <a:endParaRPr lang="en-US" sz="2800" b="1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27">
            <a:extLst>
              <a:ext uri="{FF2B5EF4-FFF2-40B4-BE49-F238E27FC236}">
                <a16:creationId xmlns:a16="http://schemas.microsoft.com/office/drawing/2014/main" id="{2BDD255B-0619-DA09-C865-8E5E11CABDA0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92" name="Google Shape;92;p27">
              <a:extLst>
                <a:ext uri="{FF2B5EF4-FFF2-40B4-BE49-F238E27FC236}">
                  <a16:creationId xmlns:a16="http://schemas.microsoft.com/office/drawing/2014/main" id="{EFB24328-6928-5D39-E355-377755EDF1AF}"/>
                </a:ext>
              </a:extLst>
            </p:cNvPr>
            <p:cNvCxnSpPr/>
            <p:nvPr/>
          </p:nvCxnSpPr>
          <p:spPr>
            <a:xfrm>
              <a:off x="4426226" y="2676939"/>
              <a:ext cx="3379304" cy="0"/>
            </a:xfrm>
            <a:prstGeom prst="straightConnector1">
              <a:avLst/>
            </a:prstGeom>
            <a:noFill/>
            <a:ln w="19050" cap="flat" cmpd="sng">
              <a:solidFill>
                <a:srgbClr val="E84B3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27">
              <a:extLst>
                <a:ext uri="{FF2B5EF4-FFF2-40B4-BE49-F238E27FC236}">
                  <a16:creationId xmlns:a16="http://schemas.microsoft.com/office/drawing/2014/main" id="{E3BAAD31-BC0F-4A60-8AA1-56D755E30FD5}"/>
                </a:ext>
              </a:extLst>
            </p:cNvPr>
            <p:cNvCxnSpPr/>
            <p:nvPr/>
          </p:nvCxnSpPr>
          <p:spPr>
            <a:xfrm rot="10800000" flipH="1">
              <a:off x="3943790" y="2676939"/>
              <a:ext cx="482436" cy="322845"/>
            </a:xfrm>
            <a:prstGeom prst="straightConnector1">
              <a:avLst/>
            </a:prstGeom>
            <a:noFill/>
            <a:ln w="19050" cap="flat" cmpd="sng">
              <a:solidFill>
                <a:srgbClr val="E84B3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94" name="Google Shape;94;p27">
            <a:extLst>
              <a:ext uri="{FF2B5EF4-FFF2-40B4-BE49-F238E27FC236}">
                <a16:creationId xmlns:a16="http://schemas.microsoft.com/office/drawing/2014/main" id="{442EC04A-B6B9-3EC3-CAA1-53A267F1FE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7">
            <a:extLst>
              <a:ext uri="{FF2B5EF4-FFF2-40B4-BE49-F238E27FC236}">
                <a16:creationId xmlns:a16="http://schemas.microsoft.com/office/drawing/2014/main" id="{CCB5533F-A0D3-93F5-8101-D1A909B532B2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96" name="Google Shape;96;p27">
            <a:extLst>
              <a:ext uri="{FF2B5EF4-FFF2-40B4-BE49-F238E27FC236}">
                <a16:creationId xmlns:a16="http://schemas.microsoft.com/office/drawing/2014/main" id="{5FA3D936-A09D-5A2D-BD3F-3B4A185E17A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</a:rPr>
              <a:t>SYSTEMS ENGINEERING </a:t>
            </a:r>
            <a:endParaRPr dirty="0"/>
          </a:p>
        </p:txBody>
      </p:sp>
      <p:grpSp>
        <p:nvGrpSpPr>
          <p:cNvPr id="97" name="Google Shape;97;p27">
            <a:extLst>
              <a:ext uri="{FF2B5EF4-FFF2-40B4-BE49-F238E27FC236}">
                <a16:creationId xmlns:a16="http://schemas.microsoft.com/office/drawing/2014/main" id="{A5895954-C3C5-744F-50CC-224A22A77670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98" name="Google Shape;98;p27">
              <a:extLst>
                <a:ext uri="{FF2B5EF4-FFF2-40B4-BE49-F238E27FC236}">
                  <a16:creationId xmlns:a16="http://schemas.microsoft.com/office/drawing/2014/main" id="{CF3E8396-30D7-4A21-4AEC-3C0062DF05A9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9" name="Google Shape;99;p27">
              <a:extLst>
                <a:ext uri="{FF2B5EF4-FFF2-40B4-BE49-F238E27FC236}">
                  <a16:creationId xmlns:a16="http://schemas.microsoft.com/office/drawing/2014/main" id="{09BD3E6C-4647-5B80-CA19-FB9C76DE3066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24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2829D7E9-EA1D-D258-7422-A853BFA6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8915131D-2264-84AA-B6C4-8A0256D03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Website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You will be creating a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3"/>
              </a:rPr>
              <a:t>Hackster.io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website to show what you have done by the end of the semester to showcase to everyone.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Show the video working,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Put code,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solidFill>
                  <a:srgbClr val="E84B36"/>
                </a:solidFill>
                <a:latin typeface="Atkinson Hyperlegible Next"/>
                <a:ea typeface="Arial"/>
                <a:cs typeface="Arial"/>
                <a:sym typeface="Arial"/>
              </a:rPr>
              <a:t>Show any other cool stuff you do!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You are posting this to be publicly visible, so put your best effort in doing this. You can show the work for interviews,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etc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…</a:t>
            </a:r>
            <a:endParaRPr lang="en-US" sz="1800" b="1" dirty="0">
              <a:solidFill>
                <a:srgbClr val="E84B36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BB8ADD5E-4587-91AA-E902-1B0E4A8E354A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F1286703-C61A-B2D1-585F-C10B261E8B9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Semester Project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D4447D33-31A5-FA96-111C-05B9D66690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E75751BA-8B9C-91BD-8C25-6C469DA0A635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315DC340-10EC-BD3A-74F5-B5230770C81F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92E46266-8579-84FA-6DE5-1CFA462B2EC3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2C89E83D-2B67-876F-D392-B6E929232AA3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7BFA36F5-6D8B-FB3A-824E-B3067E17F350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25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/>
        </p:nvSpPr>
        <p:spPr>
          <a:xfrm>
            <a:off x="1295400" y="3225489"/>
            <a:ext cx="96012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Registers</a:t>
            </a:r>
            <a:endParaRPr dirty="0"/>
          </a:p>
        </p:txBody>
      </p:sp>
      <p:grpSp>
        <p:nvGrpSpPr>
          <p:cNvPr id="105" name="Google Shape;105;p28"/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106" name="Google Shape;106;p28"/>
            <p:cNvCxnSpPr/>
            <p:nvPr/>
          </p:nvCxnSpPr>
          <p:spPr>
            <a:xfrm>
              <a:off x="4426226" y="2676939"/>
              <a:ext cx="3379304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28"/>
            <p:cNvCxnSpPr/>
            <p:nvPr/>
          </p:nvCxnSpPr>
          <p:spPr>
            <a:xfrm rot="10800000" flipH="1">
              <a:off x="3943790" y="2676939"/>
              <a:ext cx="482436" cy="322845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8" name="Google Shape;10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/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10" name="Google Shape;110;p28"/>
          <p:cNvSpPr txBox="1"/>
          <p:nvPr/>
        </p:nvSpPr>
        <p:spPr>
          <a:xfrm>
            <a:off x="376807" y="6524381"/>
            <a:ext cx="7991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</a:t>
            </a:r>
            <a:endParaRPr dirty="0"/>
          </a:p>
        </p:txBody>
      </p:sp>
      <p:grpSp>
        <p:nvGrpSpPr>
          <p:cNvPr id="111" name="Google Shape;111;p28"/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12" name="Google Shape;112;p28"/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113;p28"/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C9BEEF1A-8246-780D-B805-73B0266C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3B3D1F5B-F4CE-3A65-FC4B-C8CBA8198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The CPU only knows one thing: </a:t>
            </a: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memory addresses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b="1" dirty="0">
              <a:latin typeface="Atkinson Hyperlegible Next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cs typeface="Arial"/>
                <a:sym typeface="Arial"/>
              </a:rPr>
              <a:t>On the </a:t>
            </a:r>
            <a:r>
              <a:rPr lang="en-US" sz="1800" dirty="0"/>
              <a:t>TMS320F2837xD: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RAM has addresses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Flash has addresses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Peripherals also have addresses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/>
              <a:t>This is called Memory-Mapped I/O (</a:t>
            </a:r>
            <a:r>
              <a:rPr lang="en-US" sz="1800" b="1" dirty="0"/>
              <a:t>MMIO</a:t>
            </a:r>
            <a:r>
              <a:rPr lang="en-US" sz="1800" dirty="0"/>
              <a:t>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 peripheral is a hardware module whose control and status registers are mapped to fixed memory addresses, allowing the CPU to configure and control hardware by reading from and writing to memory.</a:t>
            </a: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F4A71BDA-AF55-C788-95F4-7D99FDA443D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3767473E-7200-1801-D48E-0407667B4E7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Memory-Mapped I/O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F8247348-FF7D-D515-1494-EF00C3BBBF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7B98A567-8333-5798-5A96-986D6AB0E8E1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77D4E743-6B2A-DBCA-05CA-15E8A3CDF86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4E68D5BC-52F3-5E41-9D28-A5329EF010B1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E2A7FD3E-06AA-8235-9B82-C4FE44AF4179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8E792E2D-C8AF-47FB-EDEE-A0035DB7218C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21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3A54B991-8E85-5A52-F99C-11B8C0B1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A5524367-278E-EA64-B4EE-239DCE369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Peripheral: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A </a:t>
            </a: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Peripheral</a:t>
            </a: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 is a hardware device with a specific address in memory that it writes data to and/or reads data from.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All peripherals can be described by an offset from the </a:t>
            </a:r>
            <a:r>
              <a:rPr lang="en-US" sz="1800" b="1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Peripheral Base Address.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On the </a:t>
            </a:r>
            <a:r>
              <a:rPr lang="en-US" sz="1800" dirty="0"/>
              <a:t>TMS320F2837xD, registers are typically </a:t>
            </a:r>
            <a:r>
              <a:rPr lang="en-US" sz="1800" b="1" dirty="0"/>
              <a:t>32-bits </a:t>
            </a:r>
            <a:r>
              <a:rPr lang="en-US" sz="1800" dirty="0"/>
              <a:t>or </a:t>
            </a:r>
            <a:r>
              <a:rPr lang="en-US" sz="1800" b="1" dirty="0"/>
              <a:t>16-bit</a:t>
            </a:r>
            <a:r>
              <a:rPr lang="en-US" sz="1800" dirty="0"/>
              <a:t> wide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/>
              <a:t>Each bit usually represents to: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A hardware switch (ON / OFF)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A configuration option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A hardware status flag ( Error code, OK 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4F71C68D-2089-CB5C-59AB-CF864A9E24C4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38014155-4DAB-98B2-4E07-B5E40E0C4BB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System and Peripheral Registers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A5BF5345-B5BF-16DF-10F0-8E870569DB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8C6D2008-58CF-E5C6-8BFA-8ABFE7BC72F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9A9BE1D3-C0D7-38B7-7C00-6210784ACDD5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F8ADFA8D-E8F0-AF61-A156-4365E6F5C133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EFE8ED05-543F-E0F7-BCA4-849511BC5E84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55630CA8-DBBC-0FAA-99D9-5B106C34696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49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9F4A3F0A-E78E-9730-D0BA-98BFA495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7D0E8B25-9CF7-F89B-84D7-9854597C8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/>
              <a:t>TI groups peripherals into address regions.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/>
              <a:t>For example: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GPIO register live in one address range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Timers in another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 err="1"/>
              <a:t>ePWM</a:t>
            </a:r>
            <a:r>
              <a:rPr lang="en-US" sz="1800" dirty="0"/>
              <a:t> in another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/>
              <a:t>ADC (Analog to Digital Converters ) in another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 err="1"/>
              <a:t>Etc</a:t>
            </a:r>
            <a:r>
              <a:rPr lang="en-US" sz="1800" dirty="0"/>
              <a:t>…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/>
              <a:t>Each register is located at: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/>
              <a:t>Peripheral Base Address + Register Offset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You do not need to calculate these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3"/>
              </a:rPr>
              <a:t>addresses manually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; TI provides C structures and header files that do this manually.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EPwm1Regs.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TBCTL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bit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CLKDIV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2735B1A7-A140-C0A0-76FF-8562328E315F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87A597A2-E454-B786-AFB9-579B6E809341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Peripheral Base Address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0FA08611-B304-CD35-D2C6-87BFF403FD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2CDAEB88-8BDF-CA9E-F1F9-04EE5C10A7C4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DAC30BEF-DCB2-EDB1-C765-2A06F1C7AB18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796EE376-804D-D15B-8027-B05926335F78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2097F45A-48B9-3B23-D9CF-AC6BFCA3CEF3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219C26A3-2124-2892-7251-E19506A90678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322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531F301-BBF7-DF92-6EBE-3E0587DE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4E62DBE1-FA05-0946-0A1D-E31DF5AF3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System registers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control the </a:t>
            </a:r>
            <a:r>
              <a:rPr lang="en-US" sz="1800" i="1" dirty="0">
                <a:latin typeface="Atkinson Hyperlegible Next"/>
                <a:ea typeface="Arial"/>
                <a:cs typeface="Arial"/>
                <a:sym typeface="Arial"/>
              </a:rPr>
              <a:t>behavior of the CPU itself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i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These registers affect the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entire chip.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These system registers are protected.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These can modify: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Clock configuration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Resets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Peripheral interrupts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Memory configuration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Timer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Full list is available in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  <a:hlinkClick r:id="rId3"/>
              </a:rPr>
              <a:t>Table 3-17 - System Control Base Address Table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CBDD7FD4-3FE9-19BA-F754-C7DB05760633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AC3279A8-52A8-01B3-C5F6-8E97FAF6F49F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System Peripheral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F68D369D-85E0-F5B0-1E38-6A002F63DE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CAAF780E-DDBE-210F-EBC3-9F8DCE31463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30F64F90-8511-F464-F05A-D27E77FA68F5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3C80295F-E227-0193-65CF-CF514DC84607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CEF0FC49-B78E-B368-881D-B7F199CEF9E0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B7D98819-0AF0-5C1F-E988-A94E1AAB7532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954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BA44DEFE-17C8-CB12-604A-CE91D6C4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BDF33995-67A6-C92D-4526-9A278F172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Some registers are protected to prevent accidental damage ( most / all system peripherals 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Thus, an additional layer of protection is allowed for accidental writes ( memory leaked code or otherwise 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EALLOW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: unlocks protected registers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EDIS: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locks them again</a:t>
            </a:r>
          </a:p>
          <a:p>
            <a:pPr marL="114300" indent="0" algn="l">
              <a:buNone/>
            </a:pPr>
            <a:endParaRPr lang="en-US" sz="1800" dirty="0">
              <a:latin typeface="Atkinson Hyperlegible Next"/>
              <a:cs typeface="Arial"/>
              <a:sym typeface="Arial"/>
            </a:endParaRP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EALLOW; 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This is needed to write to EALLOW protected registers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PieVectTable.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TIMER0_INT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&amp;cpu_timer0_isr;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PieVectTable.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TIMER1_INT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&amp;cpu_timer1_isr;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PieVectTable.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TIMER2_INT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&amp;cpu_timer2_isr;</a:t>
            </a:r>
            <a:endParaRPr lang="en-US" sz="1800" dirty="0">
              <a:latin typeface="Consolas" panose="020B0609020204030204" pitchFamily="49" charset="0"/>
            </a:endParaRP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PieVectTable.</a:t>
            </a:r>
            <a:r>
              <a:rPr lang="en-US" sz="1800" dirty="0" err="1">
                <a:solidFill>
                  <a:srgbClr val="0000C0"/>
                </a:solidFill>
                <a:latin typeface="Consolas" panose="020B0609020204030204" pitchFamily="49" charset="0"/>
              </a:rPr>
              <a:t>EMIF_ERROR_INT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&amp;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SWI_isr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EDIS;   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This is needed to disable write to EALLOW protected registers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4C503F74-3799-2E44-B39D-A1560202F8F0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3098A594-0216-9C9B-4CED-9D568D7F7FE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EALLOW / EDIS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B2ECC981-9977-ED6B-5D97-285443D5C0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68C30C89-FE20-8A40-8241-4A2747163296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2A5A68DC-47F0-9FA9-2E00-4043F3ACACEA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6E340323-31CC-BB85-CB4B-F52E3315EA25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B87E9565-CC74-46F1-E43E-C685288D7466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2DD5BC91-373A-229E-F874-B2906BBB4FD1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5961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4F6B2D5-2790-2B2A-EE21-1B9CD76F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2023406B-5D76-1289-48AD-E257A7B5C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Peripheral registers control individual hardware modules. Usually do not have any write protection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Examples: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GPIO (General Purpose Input-Output)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Timers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ADC (Analog-to-Digital Converter)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PWM (Pulse Width Modulation)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SPI (Serial Peripheral Interface)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Each peripheral has a Read (DAT), Write (SET), Clear (CLEAR) and Toggle (TOGGLE) register.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GpioDataRegs.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GPBDAT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bit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GPIO37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Do not use to set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GpioDataRegs.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GPBSET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bit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GPIO37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Sets GPIO37 to 1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GpioDataRegs.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GPBCLEAR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bit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GPIO37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Sets GPIO37 to 0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GpioDataRegs.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GPBTOGGLE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bit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C0"/>
                </a:solidFill>
                <a:latin typeface="Consolas" panose="020B0609020204030204" pitchFamily="49" charset="0"/>
              </a:rPr>
              <a:t>GPIO37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Sets GPIO37 to 0-&gt;1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0AEDED1B-5C8B-C160-2651-3A0A180B260E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79BBFFC7-9325-B47F-0D01-B17383893360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Peripheral Registers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52A6F078-9316-17CF-4FBB-DDD54C30ED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76A279C1-FA22-DE07-9360-A9F0E8C9A0A9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D4FE2136-3D5F-F855-B829-53B490A7D55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E4D6CCAB-0EAE-E661-F22B-859622804C64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7B2DFE9D-6060-ECCC-55AB-4C2BAFB23C81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5B58E183-4506-ED5C-B449-60BC6FC6D28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810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B20F0EF0-9C72-2574-550B-51A640D6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22CC2D72-48DF-7031-8F5D-879528208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There are problems that arise from writing directly to DAT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Writing to DAT requires,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342900">
              <a:lnSpc>
                <a:spcPct val="100000"/>
              </a:lnSpc>
              <a:spcBef>
                <a:spcPts val="0"/>
              </a:spcBef>
              <a:buSzPts val="3000"/>
              <a:buAutoNum type="arabicPeriod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Read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buSzPts val="3000"/>
              <a:buAutoNum type="arabicPeriod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Modify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buSzPts val="3000"/>
              <a:buAutoNum type="arabicPeriod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Write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buSzPts val="3000"/>
              <a:buAutoNum type="arabicPeriod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An interrupt ( code that runs on certain events ) can run between these steps and corrupt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SET / CLEAR registers avoid this by being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atomic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hardware operations.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Atomic operations guarantee that a variable will be locked during the operations and cannot be modified by anyone else during that time.</a:t>
            </a: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8936E051-310E-3991-1272-A29B50D7E422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9AE28FAC-3016-0DC7-47B2-7A1F7CF1F555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</a:rPr>
              <a:t>Using DAT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F41376A5-18FF-9EE2-2AD5-86886DEE67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EAAFE4DC-246E-0B7A-1155-2834F156A3CE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094D38B8-B1F2-F7F3-DD1F-960665E3648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5B5F70D6-8D81-C290-976A-3B9666E20E29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A60FE89C-F235-757E-FF80-D6E77047EA1D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F1ABBF27-0B75-AFF9-68BE-7AA2A40A1044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128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7B29A7ED-CD7B-066A-E85A-D2C7A461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8D669D54-ACA1-0C2B-8720-D54B2F122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Each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physical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pin can serve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  <a:hlinkClick r:id="rId3"/>
              </a:rPr>
              <a:t>multiple functions</a:t>
            </a: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GPIO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PWM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SPI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SCI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CAN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You must first select the function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642880"/>
                </a:solidFill>
                <a:latin typeface="Consolas" panose="020B0609020204030204" pitchFamily="49" charset="0"/>
              </a:rPr>
              <a:t>GPIO_SetupPinMux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(31, GPIO_MUX_CPU1, 0);</a:t>
            </a: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642880"/>
                </a:solidFill>
                <a:latin typeface="Consolas" panose="020B0609020204030204" pitchFamily="49" charset="0"/>
              </a:rPr>
              <a:t>GPIO_SetupPinOptions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(31, GPIO_OUTPUT, GPIO_PUSHPULL);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b="1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64FCB565-2A51-4FAB-F9CA-AA6C8868758C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C96F98EE-17CD-DAD4-D51B-0B9C2876FCA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Digital I/O (GPIO)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199AF3BA-929C-AE0B-08A8-01C74ECFB2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7A00601F-1A36-29A7-369C-0A27203E3466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A3D80D43-4E8F-D1F2-D6A7-DA1A3882903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9A76F1D6-C729-98D5-5B26-91653D52E513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BC892BCB-4425-0FED-DE90-990DFBA18F28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EA6AE1D4-767A-022A-A369-081CC884FB3E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49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A84038E-8D38-7C8F-6FC0-455DCB7F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>
            <a:extLst>
              <a:ext uri="{FF2B5EF4-FFF2-40B4-BE49-F238E27FC236}">
                <a16:creationId xmlns:a16="http://schemas.microsoft.com/office/drawing/2014/main" id="{02AEC150-34E9-FD6F-9BAD-7E0659470285}"/>
              </a:ext>
            </a:extLst>
          </p:cNvPr>
          <p:cNvSpPr txBox="1"/>
          <p:nvPr/>
        </p:nvSpPr>
        <p:spPr>
          <a:xfrm>
            <a:off x="1295400" y="3225489"/>
            <a:ext cx="96012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Bits</a:t>
            </a:r>
            <a:endParaRPr dirty="0"/>
          </a:p>
        </p:txBody>
      </p:sp>
      <p:grpSp>
        <p:nvGrpSpPr>
          <p:cNvPr id="105" name="Google Shape;105;p28">
            <a:extLst>
              <a:ext uri="{FF2B5EF4-FFF2-40B4-BE49-F238E27FC236}">
                <a16:creationId xmlns:a16="http://schemas.microsoft.com/office/drawing/2014/main" id="{11C85305-70EB-14CE-364A-0ADCA1866DED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106" name="Google Shape;106;p28">
              <a:extLst>
                <a:ext uri="{FF2B5EF4-FFF2-40B4-BE49-F238E27FC236}">
                  <a16:creationId xmlns:a16="http://schemas.microsoft.com/office/drawing/2014/main" id="{6C839739-8769-EAEF-9463-89E804E8E31E}"/>
                </a:ext>
              </a:extLst>
            </p:cNvPr>
            <p:cNvCxnSpPr/>
            <p:nvPr/>
          </p:nvCxnSpPr>
          <p:spPr>
            <a:xfrm>
              <a:off x="4426226" y="2676939"/>
              <a:ext cx="3379304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28">
              <a:extLst>
                <a:ext uri="{FF2B5EF4-FFF2-40B4-BE49-F238E27FC236}">
                  <a16:creationId xmlns:a16="http://schemas.microsoft.com/office/drawing/2014/main" id="{EB4FC774-FF75-C60A-20C4-F81634344E75}"/>
                </a:ext>
              </a:extLst>
            </p:cNvPr>
            <p:cNvCxnSpPr/>
            <p:nvPr/>
          </p:nvCxnSpPr>
          <p:spPr>
            <a:xfrm rot="10800000" flipH="1">
              <a:off x="3943790" y="2676939"/>
              <a:ext cx="482436" cy="322845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8" name="Google Shape;108;p28">
            <a:extLst>
              <a:ext uri="{FF2B5EF4-FFF2-40B4-BE49-F238E27FC236}">
                <a16:creationId xmlns:a16="http://schemas.microsoft.com/office/drawing/2014/main" id="{ECD9286F-6EB3-69F5-58DF-751E98ABD0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>
            <a:extLst>
              <a:ext uri="{FF2B5EF4-FFF2-40B4-BE49-F238E27FC236}">
                <a16:creationId xmlns:a16="http://schemas.microsoft.com/office/drawing/2014/main" id="{B569B4EB-2FD0-AD30-F50E-C241BA4DDEA3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10" name="Google Shape;110;p28">
            <a:extLst>
              <a:ext uri="{FF2B5EF4-FFF2-40B4-BE49-F238E27FC236}">
                <a16:creationId xmlns:a16="http://schemas.microsoft.com/office/drawing/2014/main" id="{6B3C5720-5765-357C-A3EB-EFBB78656436}"/>
              </a:ext>
            </a:extLst>
          </p:cNvPr>
          <p:cNvSpPr txBox="1"/>
          <p:nvPr/>
        </p:nvSpPr>
        <p:spPr>
          <a:xfrm>
            <a:off x="376807" y="6524381"/>
            <a:ext cx="7991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</a:t>
            </a:r>
            <a:endParaRPr dirty="0"/>
          </a:p>
        </p:txBody>
      </p:sp>
      <p:grpSp>
        <p:nvGrpSpPr>
          <p:cNvPr id="111" name="Google Shape;111;p28">
            <a:extLst>
              <a:ext uri="{FF2B5EF4-FFF2-40B4-BE49-F238E27FC236}">
                <a16:creationId xmlns:a16="http://schemas.microsoft.com/office/drawing/2014/main" id="{679B5572-BDBA-D4B3-4612-D3C744E8AA6F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12" name="Google Shape;112;p28">
              <a:extLst>
                <a:ext uri="{FF2B5EF4-FFF2-40B4-BE49-F238E27FC236}">
                  <a16:creationId xmlns:a16="http://schemas.microsoft.com/office/drawing/2014/main" id="{9A51ED6C-B8B5-7601-9873-F8E8B113733C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113;p28">
              <a:extLst>
                <a:ext uri="{FF2B5EF4-FFF2-40B4-BE49-F238E27FC236}">
                  <a16:creationId xmlns:a16="http://schemas.microsoft.com/office/drawing/2014/main" id="{FA69615E-6CAE-27C3-F85D-B218D9D6621D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229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98DE9268-7945-FFE5-97A7-B45A0361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1661B06A-1C2E-6A1E-3C8D-8B2746C02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214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The CPU only reads binary, 1s or 0s; however, for humans it is difficult to understand long string of numbers.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A 32-bit register could be represented as such with 32 bits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(unsigned 3,357,083,684):</a:t>
            </a:r>
            <a:endParaRPr lang="en-US" sz="1800" dirty="0">
              <a:solidFill>
                <a:schemeClr val="dk1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rgbClr val="005032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 = 0b110010000001100100000100000100100;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800" dirty="0">
                <a:solidFill>
                  <a:schemeClr val="dk1"/>
                </a:solidFill>
                <a:latin typeface="Atkinson Hyperlegible Next"/>
                <a:ea typeface="Arial"/>
                <a:cs typeface="Arial"/>
                <a:sym typeface="Arial"/>
              </a:rPr>
              <a:t>What is a potential problem?</a:t>
            </a: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0D648654-B8E7-6A7C-250D-7F8FA28ABC03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4C40AA82-D9BB-44C6-3DDA-87BE2D46BAB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Binary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2B63B481-F43D-6BB6-C538-88D354B70D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4C6201E1-4BDA-B7D2-65A7-13DC9AF14350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0EA1DB4E-6D4D-8DC9-AA3A-2D6B7E48AE07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5797A9CE-6B2C-2500-46AD-16AECA730A51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7FF838EA-2E3A-B71E-A2FA-2BABE0621D29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596DA638-7CF5-5C2A-F32C-FE089F744916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F1AF25-5F21-2287-8C45-C570B7ECC68C}"/>
              </a:ext>
            </a:extLst>
          </p:cNvPr>
          <p:cNvSpPr txBox="1"/>
          <p:nvPr/>
        </p:nvSpPr>
        <p:spPr>
          <a:xfrm>
            <a:off x="376807" y="4254500"/>
            <a:ext cx="11180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Prone to make mistakes if you need to manually type this out! For example, there are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33-bits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above, not 32!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tkinson Hyperlegible Next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Why not use Decimal system? Not as simple to convert from decimal to binary!</a:t>
            </a:r>
          </a:p>
        </p:txBody>
      </p:sp>
    </p:spTree>
    <p:extLst>
      <p:ext uri="{BB962C8B-B14F-4D97-AF65-F5344CB8AC3E}">
        <p14:creationId xmlns:p14="http://schemas.microsoft.com/office/powerpoint/2010/main" val="9477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9935D5C0-4C41-ED87-68EA-17ABC178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F2428BFA-1E18-359E-4492-E6DEADED6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1052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Instead of base 10, let’s explore base 16, i.e., hexadecimal base system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Very easy to convert binary to hex (0-9 then A-F):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974EAF3B-345F-0479-2706-C5F0561339D4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EBF0E4D0-E790-23C2-2C5D-D24797444929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Hexadecimal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8BF71259-9DE7-40F5-630A-E5129BC53E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41BB80D2-43E6-240C-FB51-71CBF8BC68E6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044F356B-6FEC-7187-AA59-9515521CB6FD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C60CB545-D058-A201-A7DE-B0CAB3EF6472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1476572C-1F90-D6F3-6426-1CC4D407A542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90FDA6F1-B24E-B555-7032-50C75058682A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A5808-068D-5FB9-19E9-65DFB027B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201903"/>
              </p:ext>
            </p:extLst>
          </p:nvPr>
        </p:nvGraphicFramePr>
        <p:xfrm>
          <a:off x="1720850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076460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454837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26562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Hexidecimal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417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02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90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44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600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BEE2F4C-2FDB-0B1E-F74F-1A67D3C37081}"/>
              </a:ext>
            </a:extLst>
          </p:cNvPr>
          <p:cNvSpPr txBox="1"/>
          <p:nvPr/>
        </p:nvSpPr>
        <p:spPr>
          <a:xfrm>
            <a:off x="376807" y="4597400"/>
            <a:ext cx="10910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very 4-bits = 1 hex value, makes things much easier to compress, much easier to look at!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5032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 = 0xC8190824;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5032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int16_t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x = 0x0824;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800" dirty="0"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800" dirty="0"/>
              <a:t>Windows Calculator set to programming mode can easily do the conversion!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463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74056B78-B910-A511-41E5-DB6A2578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1DA402EC-2306-AEDB-4671-C167E6DF7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94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Bit number starts at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Bit 0 → 2</a:t>
            </a:r>
            <a:r>
              <a:rPr lang="en-US" sz="1800" baseline="30000" dirty="0">
                <a:latin typeface="Atkinson Hyperlegible Next"/>
                <a:ea typeface="Arial"/>
                <a:cs typeface="Arial"/>
                <a:sym typeface="Arial"/>
              </a:rPr>
              <a:t>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Bit 1 → 2</a:t>
            </a:r>
            <a:r>
              <a:rPr lang="en-US" sz="1800" baseline="30000" dirty="0">
                <a:latin typeface="Atkinson Hyperlegible Next"/>
                <a:ea typeface="Arial"/>
                <a:cs typeface="Arial"/>
                <a:sym typeface="Arial"/>
              </a:rPr>
              <a:t>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Bit 5 → 2</a:t>
            </a:r>
            <a:r>
              <a:rPr lang="en-US" sz="1800" baseline="30000" dirty="0">
                <a:latin typeface="Atkinson Hyperlegible Next"/>
                <a:ea typeface="Arial"/>
                <a:cs typeface="Arial"/>
                <a:sym typeface="Arial"/>
              </a:rPr>
              <a:t>5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= 32 = 0x20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Creating a bit shifting: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Left shifting: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x &lt;&lt; n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, shifts bits in x to the left by n.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0b01 &lt;&lt; 1 = 0b10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Right shifting: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x &gt;&gt; n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, shifts bits in x to the right by n.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0b10 &gt;&gt; 1 = 0b01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Commonly used to create bit “masks”: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solidFill>
                  <a:srgbClr val="005032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bit5Mask = 1 &lt;&lt; 5;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0x20, sets only bit 5 to 1!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What are masks? What are they used for?</a:t>
            </a: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693A4AA0-51AE-E163-7FE7-4739E99772F4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556AF272-8944-188B-D036-8C03798A0C01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Bits, Bit Positions and Masks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FF25E2F6-45BA-674E-90E9-B88C0123EA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A5EB83C3-4FD0-688C-29E9-9B77646B9757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091CB886-30B5-E16B-7512-0FECF2C8185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8AD6C8AB-ABE1-F2D9-C049-FDE2FB2BBD7F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ABD3231A-0FE1-6F0A-EE9E-99664EA2DBDA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01546CA3-3362-FBB5-200A-AEB28D21F31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71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C1A38449-2004-E61B-C218-BE4EBA47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DFC668CE-8DFA-F2AA-A3DC-923F02B37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5173091" cy="2933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b="1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AND (&amp;) – Masking</a:t>
            </a:r>
          </a:p>
          <a:p>
            <a:pPr marL="114300" indent="0" algn="l"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cs typeface="Arial"/>
              <a:sym typeface="Arial"/>
            </a:endParaRPr>
          </a:p>
          <a:p>
            <a:pPr marL="114300" indent="0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(reg &amp; (1 &lt;&lt; 3)) {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Bit 3 is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  <a:ea typeface="Arial"/>
                <a:cs typeface="Arial"/>
                <a:sym typeface="Arial"/>
              </a:rPr>
              <a:t>}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5264B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5264B"/>
                </a:solidFill>
                <a:effectLst/>
                <a:uLnTx/>
                <a:uFillTx/>
                <a:latin typeface="Atkinson Hyperlegible Next"/>
                <a:ea typeface="Arial"/>
                <a:cs typeface="Arial"/>
                <a:sym typeface="Arial"/>
              </a:rPr>
              <a:t>OR    (|)  – Setting Bits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5264B"/>
              </a:solidFill>
              <a:effectLst/>
              <a:uLnTx/>
              <a:uFillTx/>
              <a:latin typeface="Atkinson Hyperlegible Next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reg |= (1 &lt;&lt; 3);</a:t>
            </a:r>
          </a:p>
          <a:p>
            <a:pPr marL="114300" indent="0" algn="l">
              <a:buNone/>
            </a:pP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  <a:p>
            <a:pPr marL="114300" indent="0" algn="l">
              <a:buNone/>
            </a:pP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  <a:ea typeface="Arial"/>
              <a:cs typeface="Arial"/>
              <a:sym typeface="Arial"/>
            </a:endParaRPr>
          </a:p>
          <a:p>
            <a:pPr marL="114300" indent="0" algn="l"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AF91230B-08CD-0D0C-39AF-E0ACCC0A41E4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2B54473D-21A5-A5D5-D97D-E711034807A0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</a:rPr>
              <a:t>Bitwise Operations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281BB5D4-2A0F-5D14-FF14-E9D5E53A71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2A7FD24E-CA58-4011-2DD0-1DDAEA2FAE69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61EF9A49-48D0-C667-07E1-C31D1B6E7E24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C14475F2-CF4E-32CE-BF08-6EF0332A8D21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6753C5C0-D2D3-C5AC-42C6-64CDE684B4C5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B7FD99DA-8DF4-9904-C8A3-D6D3C78FA78A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118;p29">
            <a:extLst>
              <a:ext uri="{FF2B5EF4-FFF2-40B4-BE49-F238E27FC236}">
                <a16:creationId xmlns:a16="http://schemas.microsoft.com/office/drawing/2014/main" id="{7C5046C5-1945-C6F3-E883-8DDDD61834C0}"/>
              </a:ext>
            </a:extLst>
          </p:cNvPr>
          <p:cNvSpPr txBox="1">
            <a:spLocks/>
          </p:cNvSpPr>
          <p:nvPr/>
        </p:nvSpPr>
        <p:spPr>
          <a:xfrm>
            <a:off x="6713540" y="1334279"/>
            <a:ext cx="5173091" cy="494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tkinson Hyperlegible Next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r>
              <a:rPr lang="en-US" sz="1800" b="1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NOT (~) – Clearing Bits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reg &amp;= ~(1 &lt;&lt; 3);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r>
              <a:rPr lang="en-US" sz="1800" b="1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XOR (^) – Toggling Bits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reg ^= (1 &lt;&lt; 3);</a:t>
            </a: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Font typeface="Arial"/>
              <a:buNone/>
            </a:pPr>
            <a:endParaRPr lang="en-US" sz="1800" b="1" dirty="0">
              <a:solidFill>
                <a:srgbClr val="15264B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E3DE62-4E85-1C4E-5AB7-A55EFC150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186720"/>
              </p:ext>
            </p:extLst>
          </p:nvPr>
        </p:nvGraphicFramePr>
        <p:xfrm>
          <a:off x="1925640" y="4448044"/>
          <a:ext cx="36242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852">
                  <a:extLst>
                    <a:ext uri="{9D8B030D-6E8A-4147-A177-3AD203B41FA5}">
                      <a16:colId xmlns:a16="http://schemas.microsoft.com/office/drawing/2014/main" val="346855582"/>
                    </a:ext>
                  </a:extLst>
                </a:gridCol>
                <a:gridCol w="724852">
                  <a:extLst>
                    <a:ext uri="{9D8B030D-6E8A-4147-A177-3AD203B41FA5}">
                      <a16:colId xmlns:a16="http://schemas.microsoft.com/office/drawing/2014/main" val="1592488445"/>
                    </a:ext>
                  </a:extLst>
                </a:gridCol>
                <a:gridCol w="724852">
                  <a:extLst>
                    <a:ext uri="{9D8B030D-6E8A-4147-A177-3AD203B41FA5}">
                      <a16:colId xmlns:a16="http://schemas.microsoft.com/office/drawing/2014/main" val="3403376714"/>
                    </a:ext>
                  </a:extLst>
                </a:gridCol>
                <a:gridCol w="724852">
                  <a:extLst>
                    <a:ext uri="{9D8B030D-6E8A-4147-A177-3AD203B41FA5}">
                      <a16:colId xmlns:a16="http://schemas.microsoft.com/office/drawing/2014/main" val="903622980"/>
                    </a:ext>
                  </a:extLst>
                </a:gridCol>
                <a:gridCol w="724852">
                  <a:extLst>
                    <a:ext uri="{9D8B030D-6E8A-4147-A177-3AD203B41FA5}">
                      <a16:colId xmlns:a16="http://schemas.microsoft.com/office/drawing/2014/main" val="4093562064"/>
                    </a:ext>
                  </a:extLst>
                </a:gridCol>
              </a:tblGrid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070923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78293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570205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747797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180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1C4B3-CD06-5B1D-BFDE-3CBBAD187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96159"/>
              </p:ext>
            </p:extLst>
          </p:nvPr>
        </p:nvGraphicFramePr>
        <p:xfrm>
          <a:off x="7660119" y="4752844"/>
          <a:ext cx="14160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025">
                  <a:extLst>
                    <a:ext uri="{9D8B030D-6E8A-4147-A177-3AD203B41FA5}">
                      <a16:colId xmlns:a16="http://schemas.microsoft.com/office/drawing/2014/main" val="346855582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3403376714"/>
                    </a:ext>
                  </a:extLst>
                </a:gridCol>
              </a:tblGrid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070923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78293"/>
                  </a:ext>
                </a:extLst>
              </a:tr>
              <a:tr h="29885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61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116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3E79D79B-BD25-AA21-47B4-E81C12A5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>
            <a:extLst>
              <a:ext uri="{FF2B5EF4-FFF2-40B4-BE49-F238E27FC236}">
                <a16:creationId xmlns:a16="http://schemas.microsoft.com/office/drawing/2014/main" id="{ECF22A56-36F3-2F36-80D2-E68D3C88ADDB}"/>
              </a:ext>
            </a:extLst>
          </p:cNvPr>
          <p:cNvSpPr txBox="1"/>
          <p:nvPr/>
        </p:nvSpPr>
        <p:spPr>
          <a:xfrm>
            <a:off x="1295400" y="3225489"/>
            <a:ext cx="96012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rgbClr val="15264B"/>
                </a:solidFill>
                <a:latin typeface="Atkinson Hyperlegible Next"/>
                <a:ea typeface="Arial"/>
                <a:cs typeface="Arial"/>
                <a:sym typeface="Arial"/>
              </a:rPr>
              <a:t>Timers</a:t>
            </a:r>
            <a:endParaRPr dirty="0"/>
          </a:p>
        </p:txBody>
      </p:sp>
      <p:grpSp>
        <p:nvGrpSpPr>
          <p:cNvPr id="105" name="Google Shape;105;p28">
            <a:extLst>
              <a:ext uri="{FF2B5EF4-FFF2-40B4-BE49-F238E27FC236}">
                <a16:creationId xmlns:a16="http://schemas.microsoft.com/office/drawing/2014/main" id="{ED152358-FB50-DD95-DD4A-B2A6E78964C6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106" name="Google Shape;106;p28">
              <a:extLst>
                <a:ext uri="{FF2B5EF4-FFF2-40B4-BE49-F238E27FC236}">
                  <a16:creationId xmlns:a16="http://schemas.microsoft.com/office/drawing/2014/main" id="{6B577B21-43F8-795D-1EC1-81C8834DD368}"/>
                </a:ext>
              </a:extLst>
            </p:cNvPr>
            <p:cNvCxnSpPr/>
            <p:nvPr/>
          </p:nvCxnSpPr>
          <p:spPr>
            <a:xfrm>
              <a:off x="4426226" y="2676939"/>
              <a:ext cx="3379304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28">
              <a:extLst>
                <a:ext uri="{FF2B5EF4-FFF2-40B4-BE49-F238E27FC236}">
                  <a16:creationId xmlns:a16="http://schemas.microsoft.com/office/drawing/2014/main" id="{9CCE0AC3-14DB-782A-523B-9244244AB129}"/>
                </a:ext>
              </a:extLst>
            </p:cNvPr>
            <p:cNvCxnSpPr/>
            <p:nvPr/>
          </p:nvCxnSpPr>
          <p:spPr>
            <a:xfrm rot="10800000" flipH="1">
              <a:off x="3943790" y="2676939"/>
              <a:ext cx="482436" cy="322845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8" name="Google Shape;108;p28">
            <a:extLst>
              <a:ext uri="{FF2B5EF4-FFF2-40B4-BE49-F238E27FC236}">
                <a16:creationId xmlns:a16="http://schemas.microsoft.com/office/drawing/2014/main" id="{C8CF2629-2730-A4EB-283A-97444685EA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>
            <a:extLst>
              <a:ext uri="{FF2B5EF4-FFF2-40B4-BE49-F238E27FC236}">
                <a16:creationId xmlns:a16="http://schemas.microsoft.com/office/drawing/2014/main" id="{A9A535D8-D20A-D52E-CE0C-307518C98C7F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10" name="Google Shape;110;p28">
            <a:extLst>
              <a:ext uri="{FF2B5EF4-FFF2-40B4-BE49-F238E27FC236}">
                <a16:creationId xmlns:a16="http://schemas.microsoft.com/office/drawing/2014/main" id="{A4E8A94F-7828-AB89-1D84-E4F975B0BDFF}"/>
              </a:ext>
            </a:extLst>
          </p:cNvPr>
          <p:cNvSpPr txBox="1"/>
          <p:nvPr/>
        </p:nvSpPr>
        <p:spPr>
          <a:xfrm>
            <a:off x="376807" y="6524381"/>
            <a:ext cx="7991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</a:t>
            </a:r>
            <a:endParaRPr dirty="0"/>
          </a:p>
        </p:txBody>
      </p:sp>
      <p:grpSp>
        <p:nvGrpSpPr>
          <p:cNvPr id="111" name="Google Shape;111;p28">
            <a:extLst>
              <a:ext uri="{FF2B5EF4-FFF2-40B4-BE49-F238E27FC236}">
                <a16:creationId xmlns:a16="http://schemas.microsoft.com/office/drawing/2014/main" id="{D8F21ABA-161F-3B32-B002-B1E5742FA173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12" name="Google Shape;112;p28">
              <a:extLst>
                <a:ext uri="{FF2B5EF4-FFF2-40B4-BE49-F238E27FC236}">
                  <a16:creationId xmlns:a16="http://schemas.microsoft.com/office/drawing/2014/main" id="{AA606F35-F79B-4318-6B7F-6FF4FEFD356D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113;p28">
              <a:extLst>
                <a:ext uri="{FF2B5EF4-FFF2-40B4-BE49-F238E27FC236}">
                  <a16:creationId xmlns:a16="http://schemas.microsoft.com/office/drawing/2014/main" id="{5995E2DE-F38D-FD9C-EE82-F60CBD7D1977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5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A4CA83B8-C177-16BC-A74B-4B751B8E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6F7CA2A7-D188-B086-D949-D81D019F0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94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Just like a clock that you have; however, in hardware it is EXTREMELY important.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timer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is a hardware counter that: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Counts clock cycles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Triggers an interrupt when it reaches a specified condition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 TMS320F2837xD has </a:t>
            </a:r>
            <a:r>
              <a:rPr lang="en-US" sz="1800" b="1" dirty="0">
                <a:latin typeface="Atkinson Hyperlegible Next"/>
                <a:ea typeface="Arial"/>
                <a:cs typeface="Arial"/>
                <a:sym typeface="Arial"/>
              </a:rPr>
              <a:t>3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32-bit CPU timers.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CPU-Timer0 and CPU-Timer1 can be used in user applications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CPU-Timer2 is reserved for real-time operating system uses ( if not being uses in an operating system that uses this timer, it can used in the application).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These clocks run off the system’s internal clock (SYSCLK) (CPU-Timer2, has additional options)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System’s internal clock runs at 200 MHz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15142FBA-6DEC-D842-33DC-729D877C91C2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FE727983-1768-CBE4-0DBC-D9B3EDEDDD9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6333CCFD-5566-247B-FBA2-4925B9AA6D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57412D56-C24F-6187-AC64-391C7B75F9E3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F695E876-350D-F5F3-72C1-E09DF7F59FD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F950DB7C-44AA-D61C-EA90-C7AD441830F6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6BE19E11-68A0-7D65-A8FF-1688A4DE764C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1E47E355-A3AD-3658-F4C1-6B87E79F9399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777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DB91D7D-A22B-2E01-EF3E-8AAADBCA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59513E68-F5B4-D4AA-7617-A64412922F3F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15A271FF-5C0A-6931-09C6-6E892192E4CA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6CD01B28-2810-7D4B-EF46-09359AE8F9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306E48CF-02C4-3786-C624-CAEB9610B6E5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03C91540-A329-CFE6-AD20-0CCFBB5C952B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C15780B7-AD26-AD57-99CF-8F2AE6F14DBD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0E6F5EFE-425A-57F5-B80B-2ED738F3EF2D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51BDFBF8-D2A1-B826-2D56-4A845EFF4758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0073D16F-1F5B-03A8-350C-E201DDF86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936" y="1403473"/>
            <a:ext cx="10931900" cy="45085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E7B09A-B3ED-A424-09DB-27F506A3B4A7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137618" y="1488344"/>
            <a:ext cx="451402" cy="1011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0B4787-1659-1F7B-FFBB-C958229C8F0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137618" y="1488344"/>
            <a:ext cx="2455462" cy="1088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0C3DC5-06BB-8795-9BF9-E418AF8CB8E4}"/>
              </a:ext>
            </a:extLst>
          </p:cNvPr>
          <p:cNvSpPr txBox="1"/>
          <p:nvPr/>
        </p:nvSpPr>
        <p:spPr>
          <a:xfrm>
            <a:off x="2872160" y="111901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4C39A-A5B3-4719-51D3-59EFDDFBA8E1}"/>
              </a:ext>
            </a:extLst>
          </p:cNvPr>
          <p:cNvSpPr txBox="1"/>
          <p:nvPr/>
        </p:nvSpPr>
        <p:spPr>
          <a:xfrm>
            <a:off x="3067085" y="318901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AND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C930C6-79A9-D8F5-9AC7-95B3C5F621F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403075" y="3558351"/>
            <a:ext cx="185945" cy="8993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649C05-FA19-F219-E8EB-07FCACFEA66A}"/>
              </a:ext>
            </a:extLst>
          </p:cNvPr>
          <p:cNvSpPr txBox="1"/>
          <p:nvPr/>
        </p:nvSpPr>
        <p:spPr>
          <a:xfrm>
            <a:off x="2200181" y="497971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NOT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251EBD-D8EE-BBA8-0EA8-8B98F08FE1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536171" y="4579094"/>
            <a:ext cx="466109" cy="4006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761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B81DCAA7-AB7C-4F44-1B99-1A44A911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FBDA2F02-61B0-A78D-2EC2-1BB08CE8B72E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0952731B-DFF7-5ADE-6A8A-0C38FE000FB5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54BA04C2-9408-8115-FD87-8AB89A69D2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7D1E0AF6-7FD1-06AC-1E3A-BDEBCCD55510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A4C3B273-FF26-605D-CB9E-260DDCD3C55F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1045F1F2-163B-3BD0-807B-599047DBCB0F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DF7AC88A-A30C-0B6D-270B-465BC160E48F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8D3CF8F2-09A0-9FA8-004C-20D992F4C9C9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Online Media 1" title="CPU Timer Animation">
            <a:hlinkClick r:id="" action="ppaction://media"/>
            <a:extLst>
              <a:ext uri="{FF2B5EF4-FFF2-40B4-BE49-F238E27FC236}">
                <a16:creationId xmlns:a16="http://schemas.microsoft.com/office/drawing/2014/main" id="{A553F8F7-7DD2-D53E-17D0-2EC475C190E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158582" y="1036296"/>
            <a:ext cx="9354909" cy="5285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E5136-2744-2DAF-4C66-6C9D54524520}"/>
              </a:ext>
            </a:extLst>
          </p:cNvPr>
          <p:cNvSpPr txBox="1"/>
          <p:nvPr/>
        </p:nvSpPr>
        <p:spPr>
          <a:xfrm>
            <a:off x="3799287" y="6335177"/>
            <a:ext cx="40650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linkClick r:id="rId6"/>
              </a:rPr>
              <a:t>https://youtu.be/AB0ehpoGNZU?si=qzp9HoeXxZYwsuXb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651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475A2408-CA67-6611-DC76-6D35EBFD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CA597ED4-1ABE-38A8-A789-503D51362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94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Why are there 2-counter blocks?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System clock: SYSCLKOUT = 200 MHz →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T</a:t>
            </a:r>
            <a:r>
              <a:rPr lang="en-US" sz="1800" baseline="-25000" dirty="0" err="1">
                <a:latin typeface="Atkinson Hyperlegible Next"/>
                <a:ea typeface="Arial"/>
                <a:cs typeface="Arial"/>
                <a:sym typeface="Arial"/>
              </a:rPr>
              <a:t>clk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= 2 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baseline="-250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Problem is that the clock is too fast for software: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At 200 MHz: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1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ms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requires: 200,000 clock ticks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10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ms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requires: 2,000,000 clock ticks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Split the job into 2 counters: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Prescaler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Counter (PSC, TDDR) – Controls speed, defines a unit of time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Main Timer Counter (TIM, PRD) – Controls duration, how much time should pass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One counter decides how </a:t>
            </a:r>
            <a:r>
              <a:rPr lang="en-US" sz="1800" i="1" dirty="0">
                <a:latin typeface="Atkinson Hyperlegible Next"/>
                <a:ea typeface="Arial"/>
                <a:cs typeface="Arial"/>
                <a:sym typeface="Arial"/>
              </a:rPr>
              <a:t>fast time flows 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and the other decides </a:t>
            </a:r>
            <a:r>
              <a:rPr lang="en-US" sz="1800" i="1" dirty="0">
                <a:latin typeface="Atkinson Hyperlegible Next"/>
                <a:ea typeface="Arial"/>
                <a:cs typeface="Arial"/>
                <a:sym typeface="Arial"/>
              </a:rPr>
              <a:t>how much time passes.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i="1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With a </a:t>
            </a:r>
            <a:r>
              <a:rPr lang="en-US" sz="1800" dirty="0" err="1">
                <a:latin typeface="Atkinson Hyperlegible Next"/>
                <a:ea typeface="Arial"/>
                <a:cs typeface="Arial"/>
                <a:sym typeface="Arial"/>
              </a:rPr>
              <a:t>prescaler</a:t>
            </a: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 set to TTDR=199 for example, you now have that a single tick for the main timer counter represents a clean 1 </a:t>
            </a:r>
            <a:r>
              <a:rPr lang="el-GR" sz="1800" dirty="0"/>
              <a:t>μ</a:t>
            </a:r>
            <a:r>
              <a:rPr lang="en-US" sz="1800" dirty="0"/>
              <a:t>s, thus, to ensure that your timer runs every 10 </a:t>
            </a:r>
            <a:r>
              <a:rPr lang="en-US" sz="1800" dirty="0" err="1"/>
              <a:t>ms</a:t>
            </a:r>
            <a:r>
              <a:rPr lang="en-US" sz="1800" dirty="0"/>
              <a:t> you can set PRD = 10,000! Much simpler! 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AAC30045-7CC0-39F9-973B-6A9ACB445D45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31CF0951-1B3E-B309-4F20-4E19E396BACC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94816700-3D02-C248-14E0-D7385ECBA3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4298E33C-250B-E218-DEC7-5D52D056BC70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C4E87641-7FC6-BF33-B11A-0D730B882F90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6DA1D7C8-BB2D-E37E-636E-05687647DBD0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F5443457-B9B5-8D6F-6CBB-732513501BBA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0FAC64C2-1ED3-D0D3-BDF8-D3D9711A180D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0115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4953FF48-2567-36DF-0E08-872F3456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55A3964E-F300-5874-C505-98DA49C7D1E2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B7C289BE-F442-1AFA-5A9F-F46ACDF9B8B1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1F492385-0078-432E-BA25-52EF8191B2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AC66DA96-0358-524C-453E-587CB945BB35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65A910AD-7E91-D4AA-5C35-5E6FF9168A0A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F30E51EB-A661-4A04-7D7C-2CF15D53CFAA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8EF036B1-9043-9AA4-FF3E-C616B36FA3A8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257288E5-6EC6-70D1-18E6-CC3127D03C5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2BCB83CC-7AC6-B0A5-00FA-C78A00ADE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540" y="1039363"/>
            <a:ext cx="10408920" cy="52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67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87016ADF-792F-CCA1-AA92-D17767A2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>
            <a:extLst>
              <a:ext uri="{FF2B5EF4-FFF2-40B4-BE49-F238E27FC236}">
                <a16:creationId xmlns:a16="http://schemas.microsoft.com/office/drawing/2014/main" id="{C5F006A6-8226-869F-CC6D-7DF09AF77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6809" y="1334279"/>
            <a:ext cx="11177401" cy="494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The timer controls: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Control loop sampling rate ( user defined controller 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Task scheduling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PWM updates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sz="1800" dirty="0">
                <a:latin typeface="Atkinson Hyperlegible Next"/>
                <a:ea typeface="Arial"/>
                <a:cs typeface="Arial"/>
                <a:sym typeface="Arial"/>
              </a:rPr>
              <a:t>Can control interrupt how often the software interrupts get called: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114300" indent="0" algn="l">
              <a:buNone/>
            </a:pP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Configure CPU-Timer 0, 1, and 2 to interrupt every given period:</a:t>
            </a:r>
          </a:p>
          <a:p>
            <a:pPr marL="114300" indent="0" algn="l">
              <a:buNone/>
            </a:pP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200MHz CPU Freq,                       Period (in 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uSeconds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)</a:t>
            </a: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642880"/>
                </a:solidFill>
                <a:latin typeface="Consolas" panose="020B0609020204030204" pitchFamily="49" charset="0"/>
              </a:rPr>
              <a:t>ConfigCpuTimer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(&amp;CpuTimer0, LAUNCHPAD_CPU_FREQUENCY, 10000);</a:t>
            </a: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642880"/>
                </a:solidFill>
                <a:latin typeface="Consolas" panose="020B0609020204030204" pitchFamily="49" charset="0"/>
              </a:rPr>
              <a:t>ConfigCpuTimer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(&amp;CpuTimer1, LAUNCHPAD_CPU_FREQUENCY, 20000);</a:t>
            </a:r>
          </a:p>
          <a:p>
            <a:pPr marL="114300" indent="0" algn="l">
              <a:buNone/>
            </a:pPr>
            <a:r>
              <a:rPr lang="en-US" sz="1800" dirty="0" err="1">
                <a:solidFill>
                  <a:srgbClr val="642880"/>
                </a:solidFill>
                <a:latin typeface="Consolas" panose="020B0609020204030204" pitchFamily="49" charset="0"/>
              </a:rPr>
              <a:t>ConfigCpuTimer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(&amp;CpuTimer2, LAUNCHPAD_CPU_FREQUENCY, 40000);</a:t>
            </a: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sz="1800" dirty="0">
              <a:latin typeface="Atkinson Hyperlegible Nex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>
            <a:extLst>
              <a:ext uri="{FF2B5EF4-FFF2-40B4-BE49-F238E27FC236}">
                <a16:creationId xmlns:a16="http://schemas.microsoft.com/office/drawing/2014/main" id="{7C13347D-81DD-2C1F-7B05-1EF26AA8E022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Atkinson Hyperlegible Nex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9">
            <a:extLst>
              <a:ext uri="{FF2B5EF4-FFF2-40B4-BE49-F238E27FC236}">
                <a16:creationId xmlns:a16="http://schemas.microsoft.com/office/drawing/2014/main" id="{06562AB7-600D-841A-B491-FB2AE150429B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What is a timer?</a:t>
            </a:r>
            <a:endParaRPr sz="2400" b="0" i="0" u="none" strike="noStrike" cap="none" dirty="0">
              <a:solidFill>
                <a:schemeClr val="lt1"/>
              </a:solidFill>
              <a:latin typeface="Atkinson Hyperlegible Next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9">
            <a:extLst>
              <a:ext uri="{FF2B5EF4-FFF2-40B4-BE49-F238E27FC236}">
                <a16:creationId xmlns:a16="http://schemas.microsoft.com/office/drawing/2014/main" id="{96E730D0-44C7-EC82-7138-C3802602FF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877CC407-3551-B507-97A4-8F6D91AC5803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3" name="Google Shape;123;p29">
            <a:extLst>
              <a:ext uri="{FF2B5EF4-FFF2-40B4-BE49-F238E27FC236}">
                <a16:creationId xmlns:a16="http://schemas.microsoft.com/office/drawing/2014/main" id="{F966AF9F-3916-2F50-2804-4F737D0587C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3294B"/>
                </a:solidFill>
              </a:rPr>
              <a:t>SYSTEMS ENGINEERING </a:t>
            </a:r>
            <a:endParaRPr dirty="0"/>
          </a:p>
        </p:txBody>
      </p:sp>
      <p:grpSp>
        <p:nvGrpSpPr>
          <p:cNvPr id="124" name="Google Shape;124;p29">
            <a:extLst>
              <a:ext uri="{FF2B5EF4-FFF2-40B4-BE49-F238E27FC236}">
                <a16:creationId xmlns:a16="http://schemas.microsoft.com/office/drawing/2014/main" id="{41A7FF96-5EBD-79A0-EA80-CD77D906CD26}"/>
              </a:ext>
            </a:extLst>
          </p:cNvPr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125" name="Google Shape;125;p29">
              <a:extLst>
                <a:ext uri="{FF2B5EF4-FFF2-40B4-BE49-F238E27FC236}">
                  <a16:creationId xmlns:a16="http://schemas.microsoft.com/office/drawing/2014/main" id="{DD274538-35A5-F814-1DC7-4B679DA92293}"/>
                </a:ext>
              </a:extLst>
            </p:cNvPr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rgbClr val="13294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29">
              <a:extLst>
                <a:ext uri="{FF2B5EF4-FFF2-40B4-BE49-F238E27FC236}">
                  <a16:creationId xmlns:a16="http://schemas.microsoft.com/office/drawing/2014/main" id="{82BD0738-AF42-4397-DA92-9C081ABA6AA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13294B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3109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/>
        </p:nvSpPr>
        <p:spPr>
          <a:xfrm>
            <a:off x="2275515" y="2416680"/>
            <a:ext cx="7640969" cy="202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8800" b="1" dirty="0">
                <a:solidFill>
                  <a:schemeClr val="lt1"/>
                </a:solidFill>
              </a:rPr>
              <a:t>Questions</a:t>
            </a:r>
            <a:r>
              <a:rPr lang="en-US" sz="7200" b="1" dirty="0">
                <a:solidFill>
                  <a:schemeClr val="lt1"/>
                </a:solidFill>
              </a:rPr>
              <a:t>?</a:t>
            </a:r>
          </a:p>
          <a:p>
            <a:pPr lvl="0" algn="ctr"/>
            <a:r>
              <a:rPr lang="en-US" sz="3200" b="1" dirty="0">
                <a:solidFill>
                  <a:schemeClr val="lt1"/>
                </a:solidFill>
              </a:rPr>
              <a:t>(Lecture Wednesday online or not?)</a:t>
            </a:r>
          </a:p>
        </p:txBody>
      </p:sp>
      <p:pic>
        <p:nvPicPr>
          <p:cNvPr id="265" name="Google Shape;26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7509" y="233819"/>
            <a:ext cx="271308" cy="3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7"/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</a:rPr>
              <a:t>SYSTEMS ENGINEERING </a:t>
            </a:r>
            <a:endParaRPr dirty="0"/>
          </a:p>
        </p:txBody>
      </p:sp>
      <p:grpSp>
        <p:nvGrpSpPr>
          <p:cNvPr id="268" name="Google Shape;268;p37"/>
          <p:cNvGrpSpPr/>
          <p:nvPr/>
        </p:nvGrpSpPr>
        <p:grpSpPr>
          <a:xfrm>
            <a:off x="4066674" y="6601537"/>
            <a:ext cx="5233412" cy="70446"/>
            <a:chOff x="4033424" y="6601537"/>
            <a:chExt cx="5233412" cy="70446"/>
          </a:xfrm>
        </p:grpSpPr>
        <p:cxnSp>
          <p:nvCxnSpPr>
            <p:cNvPr id="269" name="Google Shape;269;p37"/>
            <p:cNvCxnSpPr/>
            <p:nvPr/>
          </p:nvCxnSpPr>
          <p:spPr>
            <a:xfrm rot="10800000">
              <a:off x="4033424" y="6639606"/>
              <a:ext cx="5164651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0" name="Google Shape;270;p37"/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tkinson Hyperlegible Next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9350" y="2791508"/>
            <a:ext cx="5414193" cy="1274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tkinson Hyperlegible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tkinson Hyperlegible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tkinson Hyperlegible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tkinson Hyperlegible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2445</Words>
  <Application>Microsoft Office PowerPoint</Application>
  <PresentationFormat>Widescreen</PresentationFormat>
  <Paragraphs>512</Paragraphs>
  <Slides>29</Slides>
  <Notes>29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Nielsen, Joshua</dc:creator>
  <cp:lastModifiedBy>Juston, Marius F</cp:lastModifiedBy>
  <cp:revision>142</cp:revision>
  <dcterms:created xsi:type="dcterms:W3CDTF">2019-01-14T22:06:33Z</dcterms:created>
  <dcterms:modified xsi:type="dcterms:W3CDTF">2026-02-08T02:49:00Z</dcterms:modified>
</cp:coreProperties>
</file>