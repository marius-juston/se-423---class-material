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metadata" ContentType="application/binary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saveSubsetFonts="1" autoCompressPictures="0">
  <p:sldMasterIdLst>
    <p:sldMasterId id="2147483648" r:id="rId1"/>
  </p:sldMasterIdLst>
  <p:notesMasterIdLst>
    <p:notesMasterId r:id="rId31"/>
  </p:notesMasterIdLst>
  <p:sldIdLst>
    <p:sldId id="256" r:id="rId2"/>
    <p:sldId id="257" r:id="rId3"/>
    <p:sldId id="271" r:id="rId4"/>
    <p:sldId id="274" r:id="rId5"/>
    <p:sldId id="275" r:id="rId6"/>
    <p:sldId id="276" r:id="rId7"/>
    <p:sldId id="258" r:id="rId8"/>
    <p:sldId id="277" r:id="rId9"/>
    <p:sldId id="272" r:id="rId10"/>
    <p:sldId id="278" r:id="rId11"/>
    <p:sldId id="279" r:id="rId12"/>
    <p:sldId id="280" r:id="rId13"/>
    <p:sldId id="281" r:id="rId14"/>
    <p:sldId id="289" r:id="rId15"/>
    <p:sldId id="288" r:id="rId16"/>
    <p:sldId id="282" r:id="rId17"/>
    <p:sldId id="283" r:id="rId18"/>
    <p:sldId id="285" r:id="rId19"/>
    <p:sldId id="286" r:id="rId20"/>
    <p:sldId id="287" r:id="rId21"/>
    <p:sldId id="290" r:id="rId22"/>
    <p:sldId id="291" r:id="rId23"/>
    <p:sldId id="292" r:id="rId24"/>
    <p:sldId id="295" r:id="rId25"/>
    <p:sldId id="296" r:id="rId26"/>
    <p:sldId id="293" r:id="rId27"/>
    <p:sldId id="294" r:id="rId28"/>
    <p:sldId id="269" r:id="rId29"/>
    <p:sldId id="270" r:id="rId30"/>
  </p:sldIdLst>
  <p:sldSz cx="12192000" cy="6858000"/>
  <p:notesSz cx="6858000" cy="9144000"/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/>
    </p:ext>
    <p:ext uri="http://customooxmlschemas.google.com/">
      <go:slidesCustomData xmlns:go="http://customooxmlschemas.google.com/" xmlns:ahyp="http://schemas.microsoft.com/office/drawing/2018/hyperlinkcolor" xmlns:p15="http://schemas.microsoft.com/office/powerpoint/2012/main" xmlns:p14="http://schemas.microsoft.com/office/powerpoint/2010/main" xmlns:com="http://schemas.openxmlformats.org/drawingml/2006/compatibility" xmlns:pvml="urn:schemas-microsoft-com:office:powerpoint" xmlns:v="urn:schemas-microsoft-com:vml" xmlns:o="urn:schemas-microsoft-com:office:office" xmlns:dgm="http://schemas.openxmlformats.org/drawingml/2006/diagram" xmlns:c="http://schemas.openxmlformats.org/drawingml/2006/chart" xmlns:mv="urn:schemas-microsoft-com:mac:vml" xmlns:mc="http://schemas.openxmlformats.org/markup-compatibility/2006" xmlns="" r:id="rId32" roundtripDataSignature="AMtx7mjKkk5wOoQj6sDPPETbbKgHU96Dzg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77740" autoAdjust="0"/>
  </p:normalViewPr>
  <p:slideViewPr>
    <p:cSldViewPr snapToGrid="0">
      <p:cViewPr varScale="1">
        <p:scale>
          <a:sx n="84" d="100"/>
          <a:sy n="84" d="100"/>
        </p:scale>
        <p:origin x="1554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customschemas.google.com/relationships/presentationmetadata" Target="meta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heme" Target="theme/theme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>
            <a:spLocks noGrp="1"/>
          </p:cNvSpPr>
          <p:nvPr>
            <p:ph type="hdr" idx="2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4" name="Google Shape;4;n"/>
          <p:cNvSpPr txBox="1">
            <a:spLocks noGrp="1"/>
          </p:cNvSpPr>
          <p:nvPr>
            <p:ph type="dt" idx="10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R="0" lvl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5" name="Google Shape;5;n"/>
          <p:cNvSpPr>
            <a:spLocks noGrp="1" noRot="1" noChangeAspect="1"/>
          </p:cNvSpPr>
          <p:nvPr>
            <p:ph type="sldImg" idx="3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6" name="Google Shape;6;n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lvl1pPr marL="457200" marR="0" lvl="0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22860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7" name="Google Shape;7;n"/>
          <p:cNvSpPr txBox="1">
            <a:spLocks noGrp="1"/>
          </p:cNvSpPr>
          <p:nvPr>
            <p:ph type="ftr" idx="11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8" name="Google Shape;8;n"/>
          <p:cNvSpPr txBox="1">
            <a:spLocks noGrp="1"/>
          </p:cNvSpPr>
          <p:nvPr>
            <p:ph type="sldNum" idx="12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</a:pPr>
            <a:fld id="{00000000-1234-1234-1234-123412341234}" type="slidenum">
              <a:rPr lang="en-US" sz="12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sz="1200" b="0" i="0" u="none" strike="noStrike" cap="non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26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Well I hope that most of your classes have been </a:t>
            </a:r>
            <a:r>
              <a:rPr lang="en-US" dirty="0" err="1"/>
              <a:t>cancled</a:t>
            </a:r>
            <a:r>
              <a:rPr lang="en-US" dirty="0"/>
              <a:t> or are on Zoom</a:t>
            </a:r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lang="en-US" dirty="0"/>
          </a:p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Did all of you get my Canvas email or do I need to it through email? Or announcements?</a:t>
            </a:r>
            <a:endParaRPr dirty="0"/>
          </a:p>
        </p:txBody>
      </p:sp>
      <p:sp>
        <p:nvSpPr>
          <p:cNvPr id="80" name="Google Shape;80;p26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Office</a:t>
            </a:r>
            <a:endParaRPr dirty="0"/>
          </a:p>
        </p:txBody>
      </p:sp>
      <p:sp>
        <p:nvSpPr>
          <p:cNvPr id="87" name="Google Shape;87;p2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11560CD-FFDE-70C6-6183-A453F3E981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E57E4E91-ED9F-DE16-BEB6-F07455961AC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63A7F12-DA54-6672-271A-7F884E56D74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99943449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9F8C6CA-881C-831D-A68C-FC172238B4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2E868FB-C2CC-0118-8490-F144740BF9A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8C441899-808F-CE82-1C7A-518EB006097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30394077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85">
          <a:extLst>
            <a:ext uri="{FF2B5EF4-FFF2-40B4-BE49-F238E27FC236}">
              <a16:creationId xmlns:a16="http://schemas.microsoft.com/office/drawing/2014/main" id="{99DEDADA-5225-64E9-5957-E6FF531CB8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27:notes">
            <a:extLst>
              <a:ext uri="{FF2B5EF4-FFF2-40B4-BE49-F238E27FC236}">
                <a16:creationId xmlns:a16="http://schemas.microsoft.com/office/drawing/2014/main" id="{B0BF354B-0C63-6FD5-49BB-33D722553DE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r>
              <a:rPr lang="en-US" dirty="0"/>
              <a:t>Office</a:t>
            </a:r>
            <a:endParaRPr dirty="0"/>
          </a:p>
        </p:txBody>
      </p:sp>
      <p:sp>
        <p:nvSpPr>
          <p:cNvPr id="87" name="Google Shape;87;p27:notes">
            <a:extLst>
              <a:ext uri="{FF2B5EF4-FFF2-40B4-BE49-F238E27FC236}">
                <a16:creationId xmlns:a16="http://schemas.microsoft.com/office/drawing/2014/main" id="{E1221BEA-B11F-4D08-B7C9-8423E2740917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1486475382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2A0246F-0340-08E7-4D04-E2FBC06922A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207A6BB-DBA7-3EB9-E887-D86A8E5011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F2B107F5-18B0-AF04-42E2-7B012C2E4F4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57833455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0F328BB-3062-BEAF-9BC9-E942CCBAA4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48D0EEE-2A41-EE1A-0E7B-AC62206417A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34408D0-82C1-683F-B1BB-9831CA3E95F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406275529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0ABBF50-D5B8-2A36-4BAF-6A768B0D23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BD005934-3152-262D-A0E2-BB7CC8D73C8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5E98563B-6280-6309-9568-9A9B5647CBE1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89007933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B033A47F-9B51-9DA3-AE26-0AA5862DB68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CF46D099-5AFF-C207-0BDC-8A3C0DEDF25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C03A73D-DD03-981A-6693-F8A04A1C9AE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548516257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4002A6B-EB3B-2A06-FAEC-A513648D6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CFAE1C1-55CA-47F2-FF7E-7F248239DA9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71781BD-E566-D770-EDE8-9B942F78581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05174997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FEB3224-6EB4-EEE0-76DB-9A52492CB7A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7561A0E-1BE5-4F61-BE5B-8CBA6801C5D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D097315A-647C-E042-AC77-19E49FDB0CE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53632764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EBBE47C-1410-32AE-729F-5B98D7836A7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F69EBCF-4BA4-B717-E614-7BEA4583EAB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7A7160F-67A9-C867-66CA-AD70B790684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87119120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794DC85B-66B2-7866-DF76-9CE4CC3052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AA61A4E4-2CAE-F878-F6B3-20A53101E43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048AB98-5666-C342-A3FC-843A2F4005C2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00557205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19B708F8-F9B3-A837-B9C4-DCCC50285F2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00452604-A62A-ED78-B359-E8A75AF74D6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6B7B2FF8-2C4F-5CB1-3239-E7CBC2F03DFB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88672924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17EEF92A-11BD-547F-79EF-F86417EB9DE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D25C9E05-4B9F-0482-DCA1-B0B8B43B6BAB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13E967EC-FB0F-76F4-41CE-28BE02EEBC63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3563451079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024E206-363E-2299-0F09-D6B63492CCE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7EA92925-55FF-E76F-15C2-FC28F0C5EC4E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26A6F3AA-3CC5-A3F3-676B-A7B12D0F033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961996160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D034BFA0-409F-8E5C-E177-49C39027971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41E3EBC8-3303-D860-6253-0D12D7571F87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0744C7E3-F152-5E42-1DFF-E9F5E8BFD0A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497804574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5567EDA8-189A-FF31-EEA4-BFDEFB7542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F2574A4B-9DFB-F15E-6A3F-93ED47809320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2933390-70FC-29A4-5F57-4643D9DD6F3F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120819719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0F2006E7-F7A3-4600-5DF7-132BC6D5D3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5C408A8B-FDB8-10D9-B6AB-930AAE13B93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BE92A5C7-FBBB-282D-4177-16D9146F0B29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57442152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00">
          <a:extLst>
            <a:ext uri="{FF2B5EF4-FFF2-40B4-BE49-F238E27FC236}">
              <a16:creationId xmlns:a16="http://schemas.microsoft.com/office/drawing/2014/main" id="{245A87DC-1043-F839-5736-AAAB23CA05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8:notes">
            <a:extLst>
              <a:ext uri="{FF2B5EF4-FFF2-40B4-BE49-F238E27FC236}">
                <a16:creationId xmlns:a16="http://schemas.microsoft.com/office/drawing/2014/main" id="{5377813C-5A87-2AB6-9674-BA6B74863B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102" name="Google Shape;102;p28:notes">
            <a:extLst>
              <a:ext uri="{FF2B5EF4-FFF2-40B4-BE49-F238E27FC236}">
                <a16:creationId xmlns:a16="http://schemas.microsoft.com/office/drawing/2014/main" id="{06E4E8F5-A940-EB06-7D89-C15348C45498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  <p:extLst>
      <p:ext uri="{BB962C8B-B14F-4D97-AF65-F5344CB8AC3E}">
        <p14:creationId xmlns:p14="http://schemas.microsoft.com/office/powerpoint/2010/main" val="2254957679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C3C8E97F-C54B-48AE-D971-3484584C631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4170352-F1D7-9831-693B-D0DE6316CB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A7FE9A8A-3B96-16ED-CD9A-EC675FDE4F5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4001518452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868A8AE-3822-5138-D4AB-80720FACD54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188A369-6B99-117F-1BAE-0A0CD3BE4CA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b="1" dirty="0"/>
              <a:t>SYSCLKOUT</a:t>
            </a:r>
            <a:r>
              <a:rPr lang="en-US" dirty="0"/>
              <a:t> is the system clock (e.g., 200 MHz).</a:t>
            </a:r>
          </a:p>
          <a:p>
            <a:r>
              <a:rPr lang="en-US" b="1" dirty="0"/>
              <a:t>TCR.4</a:t>
            </a:r>
            <a:r>
              <a:rPr lang="en-US" dirty="0"/>
              <a:t> is the </a:t>
            </a:r>
            <a:r>
              <a:rPr lang="en-US" i="1" dirty="0"/>
              <a:t>Timer Control Register bit</a:t>
            </a:r>
            <a:r>
              <a:rPr lang="en-US" dirty="0"/>
              <a:t> that enables or disables counting.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The timer only receives clock pulses when software sets the START bit. This is why timers do </a:t>
            </a:r>
            <a:r>
              <a:rPr lang="en-US" i="1" dirty="0"/>
              <a:t>nothing</a:t>
            </a:r>
            <a:r>
              <a:rPr lang="en-US" dirty="0"/>
              <a:t> until you explicitly enable them in software.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r>
              <a:rPr lang="en-US" b="1" dirty="0"/>
              <a:t>16-bit Divide-Down (TDDRH:TDDR)</a:t>
            </a:r>
          </a:p>
          <a:p>
            <a:r>
              <a:rPr lang="en-US" dirty="0"/>
              <a:t>This block divides the incoming clock frequency.</a:t>
            </a:r>
          </a:p>
          <a:p>
            <a:r>
              <a:rPr lang="en-US" dirty="0"/>
              <a:t>This allows the timer to operate at manageable speeds</a:t>
            </a:r>
          </a:p>
          <a:p>
            <a:endParaRPr lang="en-US" dirty="0"/>
          </a:p>
          <a:p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b="1" dirty="0"/>
              <a:t>16-bit </a:t>
            </a:r>
            <a:r>
              <a:rPr lang="en-US" b="1" dirty="0" err="1"/>
              <a:t>Prescale</a:t>
            </a:r>
            <a:r>
              <a:rPr lang="en-US" b="1" dirty="0"/>
              <a:t> Counter (PSCH:PSC)</a:t>
            </a:r>
          </a:p>
          <a:p>
            <a:r>
              <a:rPr lang="en-US" dirty="0"/>
              <a:t>This is an additional counter that:</a:t>
            </a:r>
          </a:p>
          <a:p>
            <a:r>
              <a:rPr lang="en-US" dirty="0"/>
              <a:t>Counts down</a:t>
            </a:r>
          </a:p>
          <a:p>
            <a:r>
              <a:rPr lang="en-US" dirty="0"/>
              <a:t>Generates a </a:t>
            </a:r>
            <a:r>
              <a:rPr lang="en-US" b="1" dirty="0"/>
              <a:t>borrow</a:t>
            </a:r>
            <a:r>
              <a:rPr lang="en-US" dirty="0"/>
              <a:t> when it underflows</a:t>
            </a:r>
          </a:p>
          <a:p>
            <a:r>
              <a:rPr lang="en-US" dirty="0"/>
              <a:t>That borrow is what advances the main 32-bit timer.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The </a:t>
            </a:r>
            <a:r>
              <a:rPr lang="en-US" dirty="0" err="1"/>
              <a:t>prescaler</a:t>
            </a:r>
            <a:r>
              <a:rPr lang="en-US" dirty="0"/>
              <a:t> slows time down before it reaches the main timer counter.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sv-SE" b="1" dirty="0"/>
              <a:t>32-bit Period Register (PRDH:PRD)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This is the value the timer reloads </a:t>
            </a:r>
            <a:r>
              <a:rPr lang="en-US" b="1" dirty="0"/>
              <a:t>from</a:t>
            </a:r>
            <a:r>
              <a:rPr lang="en-US" dirty="0"/>
              <a:t>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r>
              <a:rPr lang="en-US" b="1" dirty="0"/>
              <a:t>32-bit Counter (TIMH:TIM)</a:t>
            </a:r>
          </a:p>
          <a:p>
            <a:r>
              <a:rPr lang="en-US" dirty="0"/>
              <a:t>This is the </a:t>
            </a:r>
            <a:r>
              <a:rPr lang="en-US" b="1" dirty="0"/>
              <a:t>actual counter</a:t>
            </a:r>
            <a:r>
              <a:rPr lang="en-US" dirty="0"/>
              <a:t>:</a:t>
            </a:r>
          </a:p>
          <a:p>
            <a:r>
              <a:rPr lang="en-US" dirty="0"/>
              <a:t>Decrements every </a:t>
            </a:r>
            <a:r>
              <a:rPr lang="en-US" dirty="0" err="1"/>
              <a:t>prescaled</a:t>
            </a:r>
            <a:r>
              <a:rPr lang="en-US" dirty="0"/>
              <a:t> clock tick</a:t>
            </a:r>
          </a:p>
          <a:p>
            <a:r>
              <a:rPr lang="en-US" dirty="0"/>
              <a:t>When it reaches zero:</a:t>
            </a:r>
          </a:p>
          <a:p>
            <a:pPr lvl="0"/>
            <a:r>
              <a:rPr lang="en-US" dirty="0"/>
              <a:t>A borrow occurs</a:t>
            </a:r>
          </a:p>
          <a:p>
            <a:pPr lvl="0"/>
            <a:r>
              <a:rPr lang="en-US" dirty="0"/>
              <a:t>An interrupt is generated</a:t>
            </a:r>
          </a:p>
          <a:p>
            <a:pPr lvl="0"/>
            <a:r>
              <a:rPr lang="en-US" dirty="0"/>
              <a:t>The counter reloads from PRD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75C88DC5-6882-AE62-38F7-1B560EA4202D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67327272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A9E9BD42-6D44-07E7-0C57-E63AF0D9993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9417AE7C-EC41-47D9-AFB5-4EC85F9436F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b="1" dirty="0"/>
              <a:t>SYSCLKOUT</a:t>
            </a:r>
            <a:r>
              <a:rPr lang="en-US" dirty="0"/>
              <a:t> is the system clock (e.g., 200 MHz).</a:t>
            </a:r>
          </a:p>
          <a:p>
            <a:r>
              <a:rPr lang="en-US" b="1" dirty="0"/>
              <a:t>TCR.4</a:t>
            </a:r>
            <a:r>
              <a:rPr lang="en-US" dirty="0"/>
              <a:t> is the </a:t>
            </a:r>
            <a:r>
              <a:rPr lang="en-US" i="1" dirty="0"/>
              <a:t>Timer Control Register bit</a:t>
            </a:r>
            <a:r>
              <a:rPr lang="en-US" dirty="0"/>
              <a:t> that enables or disables counting.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r>
              <a:rPr lang="en-US" dirty="0"/>
              <a:t>The timer only receives clock pulses when software sets the START bit. This is why timers do </a:t>
            </a:r>
            <a:r>
              <a:rPr lang="en-US" i="1" dirty="0"/>
              <a:t>nothing</a:t>
            </a:r>
            <a:r>
              <a:rPr lang="en-US" dirty="0"/>
              <a:t> until you explicitly enable them in software.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r>
              <a:rPr lang="en-US" b="1" dirty="0"/>
              <a:t>16-bit Divide-Down (TDDRH:TDDR)</a:t>
            </a:r>
          </a:p>
          <a:p>
            <a:r>
              <a:rPr lang="en-US" dirty="0"/>
              <a:t>This block divides the incoming clock frequency.</a:t>
            </a:r>
          </a:p>
          <a:p>
            <a:r>
              <a:rPr lang="en-US" dirty="0"/>
              <a:t>This allows the timer to operate at manageable speeds</a:t>
            </a:r>
          </a:p>
          <a:p>
            <a:endParaRPr lang="en-US" dirty="0"/>
          </a:p>
          <a:p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b="1" dirty="0"/>
              <a:t>16-bit </a:t>
            </a:r>
            <a:r>
              <a:rPr lang="en-US" b="1" dirty="0" err="1"/>
              <a:t>Prescale</a:t>
            </a:r>
            <a:r>
              <a:rPr lang="en-US" b="1" dirty="0"/>
              <a:t> Counter (PSCH:PSC)</a:t>
            </a:r>
          </a:p>
          <a:p>
            <a:r>
              <a:rPr lang="en-US" dirty="0"/>
              <a:t>This is an additional counter that:</a:t>
            </a:r>
          </a:p>
          <a:p>
            <a:r>
              <a:rPr lang="en-US" dirty="0"/>
              <a:t>Counts down</a:t>
            </a:r>
          </a:p>
          <a:p>
            <a:r>
              <a:rPr lang="en-US" dirty="0"/>
              <a:t>Generates a </a:t>
            </a:r>
            <a:r>
              <a:rPr lang="en-US" b="1" dirty="0"/>
              <a:t>borrow</a:t>
            </a:r>
            <a:r>
              <a:rPr lang="en-US" dirty="0"/>
              <a:t> when it underflows</a:t>
            </a:r>
          </a:p>
          <a:p>
            <a:r>
              <a:rPr lang="en-US" dirty="0"/>
              <a:t>That borrow is what advances the main 32-bit timer.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The </a:t>
            </a:r>
            <a:r>
              <a:rPr lang="en-US" dirty="0" err="1"/>
              <a:t>prescaler</a:t>
            </a:r>
            <a:r>
              <a:rPr lang="en-US" dirty="0"/>
              <a:t> slows time down before it reaches the main timer counter.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sv-SE" b="1" dirty="0"/>
              <a:t>32-bit Period Register (PRDH:PRD)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r>
              <a:rPr lang="en-US" dirty="0"/>
              <a:t>This is the value the timer reloads </a:t>
            </a:r>
            <a:r>
              <a:rPr lang="en-US" b="1" dirty="0"/>
              <a:t>from</a:t>
            </a:r>
            <a:r>
              <a:rPr lang="en-US" dirty="0"/>
              <a:t>.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r>
              <a:rPr lang="en-US" b="1" dirty="0"/>
              <a:t>32-bit Counter (TIMH:TIM)</a:t>
            </a:r>
          </a:p>
          <a:p>
            <a:r>
              <a:rPr lang="en-US" dirty="0"/>
              <a:t>This is the </a:t>
            </a:r>
            <a:r>
              <a:rPr lang="en-US" b="1" dirty="0"/>
              <a:t>actual counter</a:t>
            </a:r>
            <a:r>
              <a:rPr lang="en-US" dirty="0"/>
              <a:t>:</a:t>
            </a:r>
          </a:p>
          <a:p>
            <a:r>
              <a:rPr lang="en-US" dirty="0"/>
              <a:t>Decrements every </a:t>
            </a:r>
            <a:r>
              <a:rPr lang="en-US" dirty="0" err="1"/>
              <a:t>prescaled</a:t>
            </a:r>
            <a:r>
              <a:rPr lang="en-US" dirty="0"/>
              <a:t> clock tick</a:t>
            </a:r>
          </a:p>
          <a:p>
            <a:r>
              <a:rPr lang="en-US" dirty="0"/>
              <a:t>When it reaches zero:</a:t>
            </a:r>
          </a:p>
          <a:p>
            <a:pPr lvl="0"/>
            <a:r>
              <a:rPr lang="en-US" dirty="0"/>
              <a:t>A borrow occurs</a:t>
            </a:r>
          </a:p>
          <a:p>
            <a:pPr lvl="0"/>
            <a:r>
              <a:rPr lang="en-US" dirty="0"/>
              <a:t>An interrupt is generated</a:t>
            </a:r>
          </a:p>
          <a:p>
            <a:pPr lvl="0"/>
            <a:r>
              <a:rPr lang="en-US" dirty="0"/>
              <a:t>The counter reloads from PRD</a:t>
            </a:r>
          </a:p>
          <a:p>
            <a:pPr marL="457200" marR="0" lvl="0" indent="-22860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tabLst/>
              <a:defRPr/>
            </a:pP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184AD7E4-B967-5FAE-4A9E-3DDC0B99395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1252888875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69857DE6-DF8B-D8B6-B80A-D4FFA47EBC2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A53D2C1-BC7D-1078-FBB3-A7432099885C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90808667-3B3A-7BDA-EA07-6665024B16BA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2377347234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38C5D6C7-5422-60D4-9BF9-2EAA80BE19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DDC76DDE-0BD6-A46A-932A-9C7A9A74369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r>
              <a:rPr lang="en-US" dirty="0"/>
              <a:t>Timer 0</a:t>
            </a:r>
          </a:p>
          <a:p>
            <a:r>
              <a:rPr lang="en-US" dirty="0"/>
              <a:t>TINT0</a:t>
            </a:r>
          </a:p>
          <a:p>
            <a:r>
              <a:rPr lang="en-US" dirty="0"/>
              <a:t>INT1–INT12 via PIE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lang="en-US" dirty="0"/>
          </a:p>
          <a:p>
            <a:r>
              <a:rPr lang="en-US" dirty="0"/>
              <a:t>Timer 1</a:t>
            </a:r>
          </a:p>
          <a:p>
            <a:r>
              <a:rPr lang="en-US" dirty="0"/>
              <a:t>TINT1</a:t>
            </a:r>
          </a:p>
          <a:p>
            <a:r>
              <a:rPr lang="en-US" dirty="0"/>
              <a:t>INT13 (direct)</a:t>
            </a:r>
          </a:p>
          <a:p>
            <a:endParaRPr lang="en-US" dirty="0"/>
          </a:p>
          <a:p>
            <a:r>
              <a:rPr lang="en-US" dirty="0"/>
              <a:t>Timer 2</a:t>
            </a:r>
          </a:p>
          <a:p>
            <a:r>
              <a:rPr lang="en-US" dirty="0"/>
              <a:t>TINT2</a:t>
            </a:r>
          </a:p>
          <a:p>
            <a:r>
              <a:rPr lang="en-US" dirty="0"/>
              <a:t>INT14 (direct)</a:t>
            </a:r>
          </a:p>
          <a:p>
            <a:endParaRPr lang="en-US" dirty="0"/>
          </a:p>
          <a:p>
            <a:endParaRPr lang="en-US" dirty="0"/>
          </a:p>
          <a:p>
            <a:r>
              <a:rPr lang="en-US" dirty="0"/>
              <a:t>The </a:t>
            </a:r>
            <a:r>
              <a:rPr lang="en-US" b="1" dirty="0"/>
              <a:t>Peripheral Interrupt Expansion (PIE)</a:t>
            </a:r>
            <a:r>
              <a:rPr lang="en-US" dirty="0"/>
              <a:t> is an interrupt router.</a:t>
            </a:r>
          </a:p>
          <a:p>
            <a:r>
              <a:rPr lang="en-US" dirty="0"/>
              <a:t>It:</a:t>
            </a:r>
          </a:p>
          <a:p>
            <a:r>
              <a:rPr lang="en-US" dirty="0"/>
              <a:t>Takes many peripheral interrupts</a:t>
            </a:r>
          </a:p>
          <a:p>
            <a:r>
              <a:rPr lang="en-US" dirty="0"/>
              <a:t>Maps them to CPU interrupt vectors</a:t>
            </a:r>
          </a:p>
          <a:p>
            <a:r>
              <a:rPr lang="en-US" dirty="0"/>
              <a:t>Timer 0 is routed through the PIE because:</a:t>
            </a:r>
          </a:p>
          <a:p>
            <a:r>
              <a:rPr lang="en-US" dirty="0"/>
              <a:t>It is commonly used for application-level tasks</a:t>
            </a:r>
          </a:p>
          <a:p>
            <a:r>
              <a:rPr lang="en-US" dirty="0"/>
              <a:t>It supports prioritization and masking</a:t>
            </a:r>
          </a:p>
          <a:p>
            <a:endParaRPr lang="en-US" dirty="0"/>
          </a:p>
          <a:p>
            <a:endParaRPr lang="en-US" dirty="0"/>
          </a:p>
          <a:p>
            <a:endParaRPr lang="en-US" dirty="0"/>
          </a:p>
          <a:p>
            <a:r>
              <a:rPr lang="en-US" b="1" dirty="0"/>
              <a:t>Software Consequence</a:t>
            </a:r>
          </a:p>
          <a:p>
            <a:r>
              <a:rPr lang="en-US" dirty="0"/>
              <a:t>To use Timer 0:</a:t>
            </a:r>
          </a:p>
          <a:p>
            <a:r>
              <a:rPr lang="en-US" dirty="0"/>
              <a:t>Enable the timer interrupt</a:t>
            </a:r>
          </a:p>
          <a:p>
            <a:r>
              <a:rPr lang="en-US" dirty="0"/>
              <a:t>Enable the PIE group</a:t>
            </a:r>
          </a:p>
          <a:p>
            <a:r>
              <a:rPr lang="en-US" dirty="0"/>
              <a:t>Enable the CPU interrupt</a:t>
            </a:r>
          </a:p>
          <a:p>
            <a:r>
              <a:rPr lang="en-US" dirty="0"/>
              <a:t>Acknowledge the PIE inside the ISR</a:t>
            </a:r>
          </a:p>
          <a:p>
            <a:r>
              <a:rPr lang="en-US" dirty="0"/>
              <a:t>This makes Timer 0 ideal for:</a:t>
            </a:r>
          </a:p>
          <a:p>
            <a:r>
              <a:rPr lang="en-US" dirty="0"/>
              <a:t>Control loops</a:t>
            </a:r>
          </a:p>
          <a:p>
            <a:r>
              <a:rPr lang="en-US" dirty="0"/>
              <a:t>Scheduling</a:t>
            </a:r>
          </a:p>
          <a:p>
            <a:r>
              <a:rPr lang="en-US" dirty="0"/>
              <a:t>RTOS ticks</a:t>
            </a:r>
          </a:p>
          <a:p>
            <a:endParaRPr lang="en-US" dirty="0"/>
          </a:p>
          <a:p>
            <a:endParaRPr lang="en-US" dirty="0"/>
          </a:p>
          <a:p>
            <a:r>
              <a:rPr lang="en-US" b="1" dirty="0"/>
              <a:t>Timers 1 and 2 Bypass the PIE</a:t>
            </a:r>
          </a:p>
          <a:p>
            <a:r>
              <a:rPr lang="en-US" dirty="0"/>
              <a:t>Timer 1 → </a:t>
            </a:r>
            <a:r>
              <a:rPr lang="en-US" b="1" dirty="0"/>
              <a:t>INT13</a:t>
            </a:r>
            <a:br>
              <a:rPr lang="en-US" dirty="0"/>
            </a:br>
            <a:r>
              <a:rPr lang="en-US" dirty="0"/>
              <a:t>Timer 2 → </a:t>
            </a:r>
            <a:r>
              <a:rPr lang="en-US" b="1" dirty="0"/>
              <a:t>INT14</a:t>
            </a:r>
            <a:endParaRPr lang="en-US" dirty="0"/>
          </a:p>
          <a:p>
            <a:r>
              <a:rPr lang="en-US" dirty="0"/>
              <a:t>These are </a:t>
            </a:r>
            <a:r>
              <a:rPr lang="en-US" b="1" dirty="0"/>
              <a:t>dedicated CPU interrupts</a:t>
            </a:r>
            <a:r>
              <a:rPr lang="en-US" dirty="0"/>
              <a:t>.</a:t>
            </a:r>
          </a:p>
          <a:p>
            <a:r>
              <a:rPr lang="en-US" b="1" dirty="0"/>
              <a:t>Why?</a:t>
            </a:r>
          </a:p>
          <a:p>
            <a:r>
              <a:rPr lang="en-US" dirty="0"/>
              <a:t>They are intended for:</a:t>
            </a:r>
          </a:p>
          <a:p>
            <a:r>
              <a:rPr lang="en-US" dirty="0"/>
              <a:t>High-priority system tasks</a:t>
            </a:r>
          </a:p>
          <a:p>
            <a:r>
              <a:rPr lang="en-US" dirty="0"/>
              <a:t>Real-time services</a:t>
            </a:r>
          </a:p>
          <a:p>
            <a:r>
              <a:rPr lang="en-US" dirty="0"/>
              <a:t>Deterministic timing</a:t>
            </a:r>
          </a:p>
          <a:p>
            <a:r>
              <a:rPr lang="en-US" dirty="0"/>
              <a:t>They:</a:t>
            </a:r>
          </a:p>
          <a:p>
            <a:r>
              <a:rPr lang="en-US" dirty="0"/>
              <a:t>Have lower latency</a:t>
            </a:r>
          </a:p>
          <a:p>
            <a:r>
              <a:rPr lang="en-US" dirty="0"/>
              <a:t>Are simpler to configure</a:t>
            </a:r>
          </a:p>
          <a:p>
            <a:r>
              <a:rPr lang="en-US" dirty="0"/>
              <a:t>Are harder to misuse accidentally</a:t>
            </a:r>
          </a:p>
          <a:p>
            <a:endParaRPr lang="en-US" dirty="0"/>
          </a:p>
          <a:p>
            <a:endParaRPr lang="en-US" dirty="0"/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 dirty="0"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42FD8C5D-9C20-C91C-AC9B-D65DAB800F1C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632512027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114">
          <a:extLst>
            <a:ext uri="{FF2B5EF4-FFF2-40B4-BE49-F238E27FC236}">
              <a16:creationId xmlns:a16="http://schemas.microsoft.com/office/drawing/2014/main" id="{86315C7C-5E78-525A-60EE-FEA456DCF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29:notes">
            <a:extLst>
              <a:ext uri="{FF2B5EF4-FFF2-40B4-BE49-F238E27FC236}">
                <a16:creationId xmlns:a16="http://schemas.microsoft.com/office/drawing/2014/main" id="{162C6A1C-81CD-6A4A-0EC7-D4DF6592E8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</a:pPr>
            <a:endParaRPr/>
          </a:p>
        </p:txBody>
      </p:sp>
      <p:sp>
        <p:nvSpPr>
          <p:cNvPr id="116" name="Google Shape;116;p29:notes">
            <a:extLst>
              <a:ext uri="{FF2B5EF4-FFF2-40B4-BE49-F238E27FC236}">
                <a16:creationId xmlns:a16="http://schemas.microsoft.com/office/drawing/2014/main" id="{E9E55876-018B-F3F8-A378-6190163DC3DE}"/>
              </a:ext>
            </a:extLst>
          </p:cNvPr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12700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</p:spTree>
    <p:extLst>
      <p:ext uri="{BB962C8B-B14F-4D97-AF65-F5344CB8AC3E}">
        <p14:creationId xmlns:p14="http://schemas.microsoft.com/office/powerpoint/2010/main" val="388439911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1" name="Google Shape;261;p37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 dirty="0"/>
          </a:p>
        </p:txBody>
      </p:sp>
      <p:sp>
        <p:nvSpPr>
          <p:cNvPr id="262" name="Google Shape;262;p37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 showMasterSp="0" showMasterPhAnim="0">
  <p:cSld>
    <p:spTree>
      <p:nvGrpSpPr>
        <p:cNvPr id="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38:notes"/>
          <p:cNvSpPr txBox="1">
            <a:spLocks noGrp="1"/>
          </p:cNvSpPr>
          <p:nvPr>
            <p:ph type="body" idx="1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273" name="Google Shape;273;p38:notes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21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7" name="Google Shape;17;p21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21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Content" type="obj">
  <p:cSld name="OBJECT">
    <p:spTree>
      <p:nvGrpSpPr>
        <p:cNvPr id="1" name="Shape 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" name="Google Shape;20;p16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1" name="Google Shape;21;p16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22" name="Google Shape;22;p16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3" name="Google Shape;23;p16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4" name="Google Shape;24;p16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17"/>
          <p:cNvSpPr txBox="1"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Calibri"/>
              <a:buNone/>
              <a:defRPr sz="60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17"/>
          <p:cNvSpPr txBox="1"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 sz="2400">
                <a:solidFill>
                  <a:srgbClr val="888888"/>
                </a:solidFill>
              </a:defRPr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9pPr>
          </a:lstStyle>
          <a:p>
            <a:endParaRPr/>
          </a:p>
        </p:txBody>
      </p:sp>
      <p:sp>
        <p:nvSpPr>
          <p:cNvPr id="28" name="Google Shape;28;p17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29" name="Google Shape;29;p17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0" name="Google Shape;30;p17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wo Content" type="twoObj">
  <p:cSld name="TWO_OBJECTS">
    <p:spTree>
      <p:nvGrpSpPr>
        <p:cNvPr id="1" name="Shape 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Google Shape;32;p18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3" name="Google Shape;33;p18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4" name="Google Shape;34;p18"/>
          <p:cNvSpPr txBox="1">
            <a:spLocks noGrp="1"/>
          </p:cNvSpPr>
          <p:nvPr>
            <p:ph type="body" idx="2"/>
          </p:nvPr>
        </p:nvSpPr>
        <p:spPr>
          <a:xfrm>
            <a:off x="6172200" y="1825625"/>
            <a:ext cx="5181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35" name="Google Shape;35;p18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6" name="Google Shape;36;p18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37" name="Google Shape;37;p18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mparison" type="twoTxTwoObj">
  <p:cSld name="TWO_OBJECTS_WITH_TEXT">
    <p:spTree>
      <p:nvGrpSpPr>
        <p:cNvPr id="1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19"/>
          <p:cNvSpPr txBox="1"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0" name="Google Shape;40;p19"/>
          <p:cNvSpPr txBox="1"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1" name="Google Shape;41;p19"/>
          <p:cNvSpPr txBox="1">
            <a:spLocks noGrp="1"/>
          </p:cNvSpPr>
          <p:nvPr>
            <p:ph type="body" idx="2"/>
          </p:nvPr>
        </p:nvSpPr>
        <p:spPr>
          <a:xfrm>
            <a:off x="839788" y="2505075"/>
            <a:ext cx="5157787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2" name="Google Shape;42;p19"/>
          <p:cNvSpPr txBox="1"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sz="2400" b="1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sz="2000" b="1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sz="1800" b="1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 b="1"/>
            </a:lvl9pPr>
          </a:lstStyle>
          <a:p>
            <a:endParaRPr/>
          </a:p>
        </p:txBody>
      </p:sp>
      <p:sp>
        <p:nvSpPr>
          <p:cNvPr id="43" name="Google Shape;43;p19"/>
          <p:cNvSpPr txBox="1">
            <a:spLocks noGrp="1"/>
          </p:cNvSpPr>
          <p:nvPr>
            <p:ph type="body" idx="4"/>
          </p:nvPr>
        </p:nvSpPr>
        <p:spPr>
          <a:xfrm>
            <a:off x="6172200" y="2505075"/>
            <a:ext cx="5183188" cy="3684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44" name="Google Shape;44;p19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5" name="Google Shape;45;p19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6" name="Google Shape;46;p19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" name="Google Shape;48;p20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49" name="Google Shape;49;p20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0" name="Google Shape;50;p20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1" name="Google Shape;51;p20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ontent with Caption" type="objTx">
  <p:cSld name="OBJECT_WITH_CAPTION_TEXT">
    <p:spTree>
      <p:nvGrpSpPr>
        <p:cNvPr id="1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22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4" name="Google Shape;54;p22"/>
          <p:cNvSpPr txBox="1">
            <a:spLocks noGrp="1"/>
          </p:cNvSpPr>
          <p:nvPr>
            <p:ph type="body" idx="1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4318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marL="914400" lvl="1" indent="-4064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2pPr>
            <a:lvl3pPr marL="1371600" lvl="2" indent="-3810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marL="1828800" lvl="3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4pPr>
            <a:lvl5pPr marL="2286000" lvl="4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5pPr>
            <a:lvl6pPr marL="2743200" lvl="5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marL="3200400" lvl="6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marL="3657600" lvl="7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marL="4114800" lvl="8" indent="-355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>
            <a:endParaRPr/>
          </a:p>
        </p:txBody>
      </p:sp>
      <p:sp>
        <p:nvSpPr>
          <p:cNvPr id="55" name="Google Shape;55;p22"/>
          <p:cNvSpPr txBox="1"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56" name="Google Shape;56;p22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7" name="Google Shape;57;p22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58" name="Google Shape;58;p22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Picture with Caption" type="picTx">
  <p:cSld name="PICTURE_WITH_CAPTION_TEXT">
    <p:spTree>
      <p:nvGrpSpPr>
        <p:cNvPr id="1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23"/>
          <p:cNvSpPr txBox="1"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b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Calibri"/>
              <a:buNone/>
              <a:defRPr sz="32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1" name="Google Shape;61;p23"/>
          <p:cNvSpPr>
            <a:spLocks noGrp="1"/>
          </p:cNvSpPr>
          <p:nvPr>
            <p:ph type="pic" idx="2"/>
          </p:nvPr>
        </p:nvSpPr>
        <p:spPr>
          <a:xfrm>
            <a:off x="5183188" y="987425"/>
            <a:ext cx="6172200" cy="4873625"/>
          </a:xfrm>
          <a:prstGeom prst="rect">
            <a:avLst/>
          </a:prstGeom>
          <a:noFill/>
          <a:ln>
            <a:noFill/>
          </a:ln>
        </p:spPr>
      </p:sp>
      <p:sp>
        <p:nvSpPr>
          <p:cNvPr id="62" name="Google Shape;62;p23"/>
          <p:cNvSpPr txBox="1">
            <a:spLocks noGrp="1"/>
          </p:cNvSpPr>
          <p:nvPr>
            <p:ph type="body" idx="1"/>
          </p:nvPr>
        </p:nvSpPr>
        <p:spPr>
          <a:xfrm>
            <a:off x="839788" y="2057400"/>
            <a:ext cx="3932237" cy="381158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2286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sz="1600"/>
            </a:lvl1pPr>
            <a:lvl2pPr marL="914400" lvl="1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2pPr>
            <a:lvl3pPr marL="1371600" lvl="2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3pPr>
            <a:lvl4pPr marL="1828800" lvl="3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4pPr>
            <a:lvl5pPr marL="2286000" lvl="4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5pPr>
            <a:lvl6pPr marL="2743200" lvl="5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6pPr>
            <a:lvl7pPr marL="3200400" lvl="6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7pPr>
            <a:lvl8pPr marL="3657600" lvl="7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8pPr>
            <a:lvl9pPr marL="4114800" lvl="8" indent="-2286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9pPr>
          </a:lstStyle>
          <a:p>
            <a:endParaRPr/>
          </a:p>
        </p:txBody>
      </p:sp>
      <p:sp>
        <p:nvSpPr>
          <p:cNvPr id="63" name="Google Shape;63;p23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4" name="Google Shape;64;p23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5" name="Google Shape;65;p23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Vertical Text" type="vertTx">
  <p:cSld name="VERTICAL_TEXT">
    <p:spTree>
      <p:nvGrpSpPr>
        <p:cNvPr id="1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2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68" name="Google Shape;68;p24"/>
          <p:cNvSpPr txBox="1">
            <a:spLocks noGrp="1"/>
          </p:cNvSpPr>
          <p:nvPr>
            <p:ph type="body" idx="1"/>
          </p:nvPr>
        </p:nvSpPr>
        <p:spPr>
          <a:xfrm rot="5400000">
            <a:off x="3920331" y="-1256506"/>
            <a:ext cx="4351338" cy="10515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69" name="Google Shape;69;p2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0" name="Google Shape;70;p2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1" name="Google Shape;71;p2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Vertical Title and Text" type="vertTitleAndTx">
  <p:cSld name="VERTICAL_TITLE_AND_VERTICAL_TEXT">
    <p:spTree>
      <p:nvGrpSpPr>
        <p:cNvPr id="1" name="Shape 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" name="Google Shape;73;p25"/>
          <p:cNvSpPr txBox="1">
            <a:spLocks noGrp="1"/>
          </p:cNvSpPr>
          <p:nvPr>
            <p:ph type="title"/>
          </p:nvPr>
        </p:nvSpPr>
        <p:spPr>
          <a:xfrm rot="5400000">
            <a:off x="7133431" y="1956594"/>
            <a:ext cx="5811838" cy="2628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4" name="Google Shape;74;p25"/>
          <p:cNvSpPr txBox="1">
            <a:spLocks noGrp="1"/>
          </p:cNvSpPr>
          <p:nvPr>
            <p:ph type="body" idx="1"/>
          </p:nvPr>
        </p:nvSpPr>
        <p:spPr>
          <a:xfrm rot="5400000">
            <a:off x="1799431" y="-596106"/>
            <a:ext cx="5811838" cy="77343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lvl="0" indent="-342900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marL="914400" lvl="1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marL="1371600" lvl="2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marL="1828800" lvl="3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marL="2286000" lvl="4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marL="2743200" lvl="5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marL="3200400" lvl="6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marL="3657600" lvl="7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marL="4114800" lvl="8" indent="-342900" algn="l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>
            <a:endParaRPr/>
          </a:p>
        </p:txBody>
      </p:sp>
      <p:sp>
        <p:nvSpPr>
          <p:cNvPr id="75" name="Google Shape;75;p25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6" name="Google Shape;76;p25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>
            <a:endParaRPr/>
          </a:p>
        </p:txBody>
      </p:sp>
      <p:sp>
        <p:nvSpPr>
          <p:cNvPr id="77" name="Google Shape;77;p25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lt1"/>
        </a:solidFill>
        <a:effectLst/>
      </p:bgPr>
    </p:bg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4"/>
          <p:cNvSpPr txBox="1"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rmAutofit/>
          </a:bodyPr>
          <a:lstStyle>
            <a:lvl1pPr marR="0" lvl="0" algn="l" rtl="0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sz="4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endParaRPr/>
          </a:p>
        </p:txBody>
      </p:sp>
      <p:sp>
        <p:nvSpPr>
          <p:cNvPr id="11" name="Google Shape;11;p14"/>
          <p:cNvSpPr txBox="1"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rmAutofit/>
          </a:bodyPr>
          <a:lstStyle>
            <a:lvl1pPr marL="457200" marR="0" lvl="0" indent="-4064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810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556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2" name="Google Shape;12;p14"/>
          <p:cNvSpPr txBox="1">
            <a:spLocks noGrp="1"/>
          </p:cNvSpPr>
          <p:nvPr>
            <p:ph type="dt" idx="10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3" name="Google Shape;13;p14"/>
          <p:cNvSpPr txBox="1">
            <a:spLocks noGrp="1"/>
          </p:cNvSpPr>
          <p:nvPr>
            <p:ph type="ftr" idx="11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R="0" lvl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R="0" lvl="1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R="0" lvl="2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R="0" lvl="3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R="0" lvl="4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R="0" lvl="5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R="0" lvl="6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R="0" lvl="7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R="0" lvl="8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endParaRPr/>
          </a:p>
        </p:txBody>
      </p:sp>
      <p:sp>
        <p:nvSpPr>
          <p:cNvPr id="14" name="Google Shape;14;p14"/>
          <p:cNvSpPr txBox="1">
            <a:spLocks noGrp="1"/>
          </p:cNvSpPr>
          <p:nvPr>
            <p:ph type="sldNum" idx="12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>
            <a:lvl1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200"/>
              <a:buFont typeface="Arial"/>
              <a:buNone/>
              <a:defRPr sz="12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marius-juston.github.io/SE-423---Class-Material/Labs/Lab1.pdf" TargetMode="External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5.png"/><Relationship Id="rId5" Type="http://schemas.openxmlformats.org/officeDocument/2006/relationships/hyperlink" Target="https://marius-juston.github.io/SE-423---Class-Material/Homeworks/LabVIEW1.pdf" TargetMode="External"/><Relationship Id="rId4" Type="http://schemas.openxmlformats.org/officeDocument/2006/relationships/hyperlink" Target="https://marius-juston.github.io/SE-423---Class-Material/Homeworks/HW1.pdf" TargetMode="Externa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hackster.io/jay118/se-423-astar-ball-collection-and-drop-off-project-3daa28?f=1" TargetMode="External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hyperlink" Target="https://coecsl.ece.illinois.edu/se423/tms320f28379D_TechRefi.pdf" TargetMode="External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coecsl.ece.illinois.edu/se423/tms320f28379D_TechRefi.pdf" TargetMode="External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hyperlink" Target="https://coecsl.ece.illinois.edu/se423/hw/PinMuxTableF28379DLaunchPad.pdf" TargetMode="External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9.svg"/><Relationship Id="rId4" Type="http://schemas.openxmlformats.org/officeDocument/2006/relationships/image" Target="../media/image8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24.xml"/><Relationship Id="rId2" Type="http://schemas.openxmlformats.org/officeDocument/2006/relationships/slideLayout" Target="../slideLayouts/slideLayout2.xml"/><Relationship Id="rId1" Type="http://schemas.openxmlformats.org/officeDocument/2006/relationships/video" Target="https://www.youtube.com/embed/AB0ehpoGNZU?feature=oembed" TargetMode="External"/><Relationship Id="rId5" Type="http://schemas.openxmlformats.org/officeDocument/2006/relationships/image" Target="../media/image10.jpeg"/><Relationship Id="rId4" Type="http://schemas.openxmlformats.org/officeDocument/2006/relationships/image" Target="../media/image5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2.svg"/><Relationship Id="rId4" Type="http://schemas.openxmlformats.org/officeDocument/2006/relationships/image" Target="../media/image11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jp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5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jp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2" name="Google Shape;82;p26"/>
          <p:cNvSpPr txBox="1"/>
          <p:nvPr/>
        </p:nvSpPr>
        <p:spPr>
          <a:xfrm>
            <a:off x="1134035" y="2553964"/>
            <a:ext cx="9924000" cy="272378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 423: Introduction to Mechatronics</a:t>
            </a:r>
            <a:endParaRPr sz="45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2500" dirty="0">
                <a:solidFill>
                  <a:schemeClr val="lt1"/>
                </a:solidFill>
              </a:rPr>
              <a:t>Lecture 2: Peripherals</a:t>
            </a:r>
            <a:endParaRPr dirty="0"/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ctr" rtl="0">
              <a:lnSpc>
                <a:spcPct val="100000"/>
              </a:lnSpc>
              <a:spcBef>
                <a:spcPts val="600"/>
              </a:spcBef>
              <a:spcAft>
                <a:spcPts val="0"/>
              </a:spcAft>
              <a:buNone/>
            </a:pPr>
            <a:r>
              <a:rPr lang="en-US" sz="1800" dirty="0">
                <a:solidFill>
                  <a:schemeClr val="lt1"/>
                </a:solidFill>
              </a:rPr>
              <a:t>Marius Juston</a:t>
            </a:r>
            <a:endParaRPr sz="18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83" name="Google Shape;83;p26"/>
          <p:cNvSpPr txBox="1"/>
          <p:nvPr/>
        </p:nvSpPr>
        <p:spPr>
          <a:xfrm>
            <a:off x="3922059" y="5413888"/>
            <a:ext cx="4347882" cy="36929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Monday, </a:t>
            </a:r>
            <a:r>
              <a:rPr lang="en-US"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January 26</a:t>
            </a:r>
            <a:r>
              <a:rPr lang="en-US" sz="1800" b="0" i="0" u="none" strike="noStrike" cap="none" baseline="3000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th</a:t>
            </a:r>
            <a:r>
              <a:rPr lang="en-US" sz="18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2026</a:t>
            </a:r>
            <a:endParaRPr sz="18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84" name="Google Shape;84;p26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4641007" y="1004743"/>
            <a:ext cx="2909982" cy="754664"/>
          </a:xfrm>
          <a:prstGeom prst="rect">
            <a:avLst/>
          </a:prstGeom>
          <a:noFill/>
          <a:ln>
            <a:noFill/>
          </a:ln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3DEDD2ED-7EA0-C726-B86C-DAF6A1B5857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738" y="2474829"/>
            <a:ext cx="3994099" cy="330835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/>
          <p:cNvSpPr txBox="1"/>
          <p:nvPr/>
        </p:nvSpPr>
        <p:spPr>
          <a:xfrm>
            <a:off x="2206906" y="2208590"/>
            <a:ext cx="7778187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Questions?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27"/>
          <p:cNvSpPr txBox="1"/>
          <p:nvPr/>
        </p:nvSpPr>
        <p:spPr>
          <a:xfrm>
            <a:off x="1441528" y="3949780"/>
            <a:ext cx="9308941" cy="52318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800"/>
              <a:buFont typeface="Arial"/>
              <a:buNone/>
            </a:pPr>
            <a:r>
              <a:rPr lang="en-US" sz="28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How was the first lab? Enjoyed it?</a:t>
            </a:r>
          </a:p>
        </p:txBody>
      </p:sp>
      <p:grpSp>
        <p:nvGrpSpPr>
          <p:cNvPr id="91" name="Google Shape;91;p27"/>
          <p:cNvGrpSpPr/>
          <p:nvPr/>
        </p:nvGrpSpPr>
        <p:grpSpPr>
          <a:xfrm>
            <a:off x="3943790" y="3394489"/>
            <a:ext cx="3861740" cy="322845"/>
            <a:chOff x="3943790" y="2676939"/>
            <a:chExt cx="3861740" cy="322845"/>
          </a:xfrm>
        </p:grpSpPr>
        <p:cxnSp>
          <p:nvCxnSpPr>
            <p:cNvPr id="92" name="Google Shape;92;p27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/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81D3E48-EB5B-86EE-C4D9-54116487B2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BCC2F8C-3A4A-AD98-3682-D9499379E419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26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Times: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26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Monday: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4-6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Samuel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11-1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Lakshmi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1-3 PM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Neel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Tuesday: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2-5 PM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, 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Dan &amp; Marius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There to help with setting up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CodeComposer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( not necessary but helpful for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homeworks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), finishing the solder, getting checked off for the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homeworks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, labs or LabVIEW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Close to deadlines it will be busy so be sure to come in early!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9848B8C-9075-59EA-79FA-AF5B8BFAF8D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6AE21486-AEEC-E367-96A5-81B49AD32D6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Office Hours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8CCE647-4D9B-354D-A2E9-718CA28CD750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FAC87A64-580A-4863-38B3-4D1504C83F5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3649EAB-2DB3-2DA4-9AD9-5D94AEE695E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D41F8E2C-2780-2776-E8ED-542B082247FE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D628D6E-10A9-03E9-659C-F8F2D0023C6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BEB3CD3-0F72-FD08-8FA5-00AD37965F2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9584103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752EC0B-8783-91E6-CCD2-B7B06FAFF1C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97BDBD34-A31A-FF8F-814D-CEA3F5CE034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Starting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Lab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this week, will be using C so be sure to be prepared!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Do Exercise 1 of Homework 1 to get started in C.</a:t>
            </a: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400" dirty="0">
                <a:latin typeface="Arial"/>
                <a:ea typeface="Arial"/>
                <a:cs typeface="Arial"/>
                <a:sym typeface="Arial"/>
              </a:rPr>
              <a:t>You cannot use </a:t>
            </a:r>
            <a:r>
              <a:rPr lang="en-US" sz="1400" dirty="0" err="1">
                <a:latin typeface="Arial"/>
                <a:ea typeface="Arial"/>
                <a:cs typeface="Arial"/>
                <a:sym typeface="Arial"/>
              </a:rPr>
              <a:t>CodeComposer</a:t>
            </a:r>
            <a:r>
              <a:rPr lang="en-US" sz="1400" dirty="0">
                <a:latin typeface="Arial"/>
                <a:ea typeface="Arial"/>
                <a:cs typeface="Arial"/>
                <a:sym typeface="Arial"/>
              </a:rPr>
              <a:t> for that. You can just use an online C compile.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Lab 1 is a 1-week lab, some are longer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 err="1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Homeworks</a:t>
            </a: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4"/>
              </a:rPr>
              <a:t>homework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3, 5PM</a:t>
            </a:r>
            <a:endParaRPr lang="en-US" sz="1400" b="1" dirty="0">
              <a:latin typeface="Arial"/>
              <a:ea typeface="Arial"/>
              <a:cs typeface="Arial"/>
              <a:sym typeface="Arial"/>
            </a:endParaRPr>
          </a:p>
          <a:p>
            <a:pPr marL="742950" lvl="1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400" dirty="0">
                <a:latin typeface="Arial"/>
                <a:ea typeface="Arial"/>
                <a:cs typeface="Arial"/>
                <a:sym typeface="Arial"/>
              </a:rPr>
              <a:t>Questions 2, 3, 5, 7, 8, 9 and 10 need to be checked-off by instructors / TAs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Answers and code submissions for homework 1 are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4, 9AM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No late acceptations, since these are individual!</a:t>
            </a:r>
            <a:endParaRPr lang="en-US" sz="1800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Soldering is Exercise 2 of Homework 1.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LabVIEW: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All check-offs for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5"/>
              </a:rPr>
              <a:t>LabVIEW 1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are  due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February 5, 5PM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D59AEA4-FA31-7DE5-ECA1-47FDE291DAD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EF4682E-AB31-E1D3-8C63-83FBD01EEE5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Due Dates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2D4F2AE-AF34-641F-D726-1F09D72D4F1C}"/>
              </a:ext>
            </a:extLst>
          </p:cNvPr>
          <p:cNvPicPr preferRelativeResize="0"/>
          <p:nvPr/>
        </p:nvPicPr>
        <p:blipFill rotWithShape="1">
          <a:blip r:embed="rId6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0BF2177D-7368-A283-161A-0AB4D52E95AD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1E702B2-7A21-65E7-17C4-E10079AAA2D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8DFBE1C-F9BB-2D43-E81C-914BF2A5623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8B709CE-2A7C-0CCA-4EDF-FEC086E24F5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B462F17-FDB0-9C67-DE2D-DF014F11F97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474716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88">
          <a:extLst>
            <a:ext uri="{FF2B5EF4-FFF2-40B4-BE49-F238E27FC236}">
              <a16:creationId xmlns:a16="http://schemas.microsoft.com/office/drawing/2014/main" id="{8C2441AC-B173-8D17-8C64-0E6EB4DE3ED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9" name="Google Shape;89;p27">
            <a:extLst>
              <a:ext uri="{FF2B5EF4-FFF2-40B4-BE49-F238E27FC236}">
                <a16:creationId xmlns:a16="http://schemas.microsoft.com/office/drawing/2014/main" id="{28B44141-C670-8ABB-20E0-AAA6EFD29AB9}"/>
              </a:ext>
            </a:extLst>
          </p:cNvPr>
          <p:cNvSpPr txBox="1"/>
          <p:nvPr/>
        </p:nvSpPr>
        <p:spPr>
          <a:xfrm>
            <a:off x="2206906" y="1491040"/>
            <a:ext cx="7778187" cy="1015663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lang="en-US" sz="6000" b="1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Semester Project</a:t>
            </a:r>
            <a:endParaRPr sz="1400" b="0" i="0" u="none" strike="noStrike" cap="none" dirty="0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27">
            <a:extLst>
              <a:ext uri="{FF2B5EF4-FFF2-40B4-BE49-F238E27FC236}">
                <a16:creationId xmlns:a16="http://schemas.microsoft.com/office/drawing/2014/main" id="{C188BAE0-AF94-4F20-E8F5-C7A8238E2D56}"/>
              </a:ext>
            </a:extLst>
          </p:cNvPr>
          <p:cNvSpPr txBox="1"/>
          <p:nvPr/>
        </p:nvSpPr>
        <p:spPr>
          <a:xfrm>
            <a:off x="1441528" y="3232230"/>
            <a:ext cx="9308941" cy="224672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lvl="0" algn="ctr">
              <a:buSzPts val="2800"/>
            </a:pPr>
            <a:r>
              <a:rPr lang="en-US" sz="2800" dirty="0">
                <a:solidFill>
                  <a:schemeClr val="lt1"/>
                </a:solidFill>
              </a:rPr>
              <a:t>Thursday May 14</a:t>
            </a:r>
            <a:r>
              <a:rPr lang="en-US" sz="2800" baseline="30000" dirty="0">
                <a:solidFill>
                  <a:schemeClr val="lt1"/>
                </a:solidFill>
              </a:rPr>
              <a:t>th</a:t>
            </a:r>
            <a:r>
              <a:rPr lang="en-US" sz="2800" dirty="0">
                <a:solidFill>
                  <a:schemeClr val="lt1"/>
                </a:solidFill>
              </a:rPr>
              <a:t>, 11AM – 2PM</a:t>
            </a:r>
          </a:p>
          <a:p>
            <a:pPr lvl="0" algn="ctr">
              <a:buSzPts val="2800"/>
            </a:pPr>
            <a:r>
              <a:rPr lang="en-US" sz="2800" b="1" dirty="0">
                <a:solidFill>
                  <a:schemeClr val="lt1"/>
                </a:solidFill>
              </a:rPr>
              <a:t>Last day of Finals!!! </a:t>
            </a:r>
          </a:p>
          <a:p>
            <a:pPr lvl="0" algn="ctr">
              <a:buSzPts val="2800"/>
            </a:pPr>
            <a:r>
              <a:rPr lang="en-US" sz="2800" dirty="0">
                <a:solidFill>
                  <a:schemeClr val="lt1"/>
                </a:solidFill>
              </a:rPr>
              <a:t>( yes, I know that’s annoying)</a:t>
            </a:r>
          </a:p>
          <a:p>
            <a:pPr lvl="0" algn="ctr">
              <a:buSzPts val="2800"/>
            </a:pPr>
            <a:endParaRPr lang="en-US" sz="2800" b="1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  <a:p>
            <a:pPr lvl="0" algn="ctr">
              <a:buSzPts val="2800"/>
            </a:pPr>
            <a:r>
              <a:rPr lang="en-US" sz="2800" b="1" dirty="0">
                <a:solidFill>
                  <a:schemeClr val="lt1"/>
                </a:solidFill>
              </a:rPr>
              <a:t>Attendance is </a:t>
            </a:r>
            <a:r>
              <a:rPr lang="en-US" sz="2800" b="1" dirty="0">
                <a:solidFill>
                  <a:srgbClr val="E84B36"/>
                </a:solidFill>
              </a:rPr>
              <a:t>mandatory</a:t>
            </a:r>
            <a:r>
              <a:rPr lang="en-US" sz="2800" b="1" dirty="0">
                <a:solidFill>
                  <a:schemeClr val="lt1"/>
                </a:solidFill>
              </a:rPr>
              <a:t>!!</a:t>
            </a:r>
            <a:endParaRPr lang="en-US" sz="2800" b="1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pSp>
        <p:nvGrpSpPr>
          <p:cNvPr id="91" name="Google Shape;91;p27">
            <a:extLst>
              <a:ext uri="{FF2B5EF4-FFF2-40B4-BE49-F238E27FC236}">
                <a16:creationId xmlns:a16="http://schemas.microsoft.com/office/drawing/2014/main" id="{2BDD255B-0619-DA09-C865-8E5E11CABDA0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92" name="Google Shape;92;p27">
              <a:extLst>
                <a:ext uri="{FF2B5EF4-FFF2-40B4-BE49-F238E27FC236}">
                  <a16:creationId xmlns:a16="http://schemas.microsoft.com/office/drawing/2014/main" id="{EFB24328-6928-5D39-E355-377755EDF1AF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93" name="Google Shape;93;p27">
              <a:extLst>
                <a:ext uri="{FF2B5EF4-FFF2-40B4-BE49-F238E27FC236}">
                  <a16:creationId xmlns:a16="http://schemas.microsoft.com/office/drawing/2014/main" id="{E3BAAD31-BC0F-4A60-8AA1-56D755E30FD5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rgbClr val="E84B36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94" name="Google Shape;94;p27">
            <a:extLst>
              <a:ext uri="{FF2B5EF4-FFF2-40B4-BE49-F238E27FC236}">
                <a16:creationId xmlns:a16="http://schemas.microsoft.com/office/drawing/2014/main" id="{442EC04A-B6B9-3EC3-CAA1-53A267F1FE2A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95" name="Google Shape;95;p27">
            <a:extLst>
              <a:ext uri="{FF2B5EF4-FFF2-40B4-BE49-F238E27FC236}">
                <a16:creationId xmlns:a16="http://schemas.microsoft.com/office/drawing/2014/main" id="{CCB5533F-A0D3-93F5-8101-D1A909B532B2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96" name="Google Shape;96;p27">
            <a:extLst>
              <a:ext uri="{FF2B5EF4-FFF2-40B4-BE49-F238E27FC236}">
                <a16:creationId xmlns:a16="http://schemas.microsoft.com/office/drawing/2014/main" id="{5FA3D936-A09D-5A2D-BD3F-3B4A185E17A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97" name="Google Shape;97;p27">
            <a:extLst>
              <a:ext uri="{FF2B5EF4-FFF2-40B4-BE49-F238E27FC236}">
                <a16:creationId xmlns:a16="http://schemas.microsoft.com/office/drawing/2014/main" id="{A5895954-C3C5-744F-50CC-224A22A7767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98" name="Google Shape;98;p27">
              <a:extLst>
                <a:ext uri="{FF2B5EF4-FFF2-40B4-BE49-F238E27FC236}">
                  <a16:creationId xmlns:a16="http://schemas.microsoft.com/office/drawing/2014/main" id="{CF3E8396-30D7-4A21-4AEC-3C0062DF05A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99" name="Google Shape;99;p27">
              <a:extLst>
                <a:ext uri="{FF2B5EF4-FFF2-40B4-BE49-F238E27FC236}">
                  <a16:creationId xmlns:a16="http://schemas.microsoft.com/office/drawing/2014/main" id="{09BD3E6C-4647-5B80-CA19-FB9C76DE306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401241473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2829D7E9-EA1D-D258-7422-A853BFA601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8915131D-2264-84AA-B6C4-8A0256D0306D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Website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You will be creating a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Hackster.io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website to show what you have done by the end of the semester to showcase to everyone.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Show the video working,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Put code,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solidFill>
                  <a:srgbClr val="E84B36"/>
                </a:solidFill>
                <a:latin typeface="Arial"/>
                <a:ea typeface="Arial"/>
                <a:cs typeface="Arial"/>
                <a:sym typeface="Arial"/>
              </a:rPr>
              <a:t>Show any other cool stuff you do!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You are posting this to be publicly visible, so put your best effort in doing this. You can show the work for interviews,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etc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…</a:t>
            </a:r>
            <a:endParaRPr lang="en-US" sz="1800" b="1" dirty="0">
              <a:solidFill>
                <a:srgbClr val="E84B36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BB8ADD5E-4587-91AA-E902-1B0E4A8E354A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1286703-C61A-B2D1-585F-C10B261E8B9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Semester Project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D4447D33-31A5-FA96-111C-05B9D666909D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75751BA-8B9C-91BD-8C25-6C469DA0A63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15DC340-10EC-BD3A-74F5-B5230770C81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2E46266-8579-84FA-6DE5-1CFA462B2EC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C89E83D-2B67-876F-D392-B6E929232AA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7BFA36F5-6D8B-FB3A-824E-B3067E17F350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9625976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/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Registers</a:t>
            </a:r>
            <a:endParaRPr dirty="0"/>
          </a:p>
        </p:txBody>
      </p:sp>
      <p:grpSp>
        <p:nvGrpSpPr>
          <p:cNvPr id="105" name="Google Shape;105;p28"/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/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/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/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9BEEF1A-8246-780D-B805-73B0266CA6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3B3D1F5B-F4CE-3A65-FC4B-C8CBA8198B9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CPU only knows one thing: 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memory addresses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b="1" dirty="0">
              <a:latin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cs typeface="Arial"/>
                <a:sym typeface="Arial"/>
              </a:rPr>
              <a:t>On the </a:t>
            </a:r>
            <a:r>
              <a:rPr lang="en-US" sz="1800" dirty="0"/>
              <a:t>TMS320F2837xD: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RAM has addresses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Flash has addresses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Peripherals also have addresses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This is called Memory-Mapped I/O (</a:t>
            </a:r>
            <a:r>
              <a:rPr lang="en-US" sz="1800" b="1" dirty="0"/>
              <a:t>MMIO</a:t>
            </a:r>
            <a:r>
              <a:rPr lang="en-US" sz="1800" dirty="0"/>
              <a:t>)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 peripheral is a hardware module whose control and status registers are mapped to fixed memory addresses, allowing the CPU to configure and control hardware by reading from and writing to memory.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4A71BDA-AF55-C788-95F4-7D99FDA443DB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767473E-7200-1801-D48E-0407667B4E7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Memory-Mapped I/O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8247348-FF7D-D515-1494-EF00C3BBBFB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B98A567-8333-5798-5A96-986D6AB0E8E1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77D4E743-6B2A-DBCA-05CA-15E8A3CDF86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E68D5BC-52F3-5E41-9D28-A5329EF010B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2A7FD3E-06AA-8235-9B82-C4FE44AF417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E792E2D-C8AF-47FB-EDEE-A0035DB7218C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49221042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3A54B991-8E85-5A52-F99C-11B8C0B192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A5524367-278E-EA64-B4EE-239DCE369C73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Peripheral: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Peripheral</a:t>
            </a: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 is a hardware device with a specific address in memory that it writes data to and/or reads data from.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All peripherals can be described by an offset from the </a:t>
            </a:r>
            <a:r>
              <a:rPr lang="en-US" sz="1800" b="1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Peripheral Base Address.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On the </a:t>
            </a:r>
            <a:r>
              <a:rPr lang="en-US" sz="1800" dirty="0"/>
              <a:t>TMS320F2837xD, registers are typically </a:t>
            </a:r>
            <a:r>
              <a:rPr lang="en-US" sz="1800" b="1" dirty="0"/>
              <a:t>32-bits </a:t>
            </a:r>
            <a:r>
              <a:rPr lang="en-US" sz="1800" dirty="0"/>
              <a:t>or </a:t>
            </a:r>
            <a:r>
              <a:rPr lang="en-US" sz="1800" b="1" dirty="0"/>
              <a:t>16-bit</a:t>
            </a:r>
            <a:r>
              <a:rPr lang="en-US" sz="1800" dirty="0"/>
              <a:t> wide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/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Each bit usually represents to: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A hardware switch (ON / OFF)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A configuration option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A hardware status flag ( Error code, OK 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/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F71C68D-2089-CB5C-59AB-CF864A9E24C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8014155-4DAB-98B2-4E07-B5E40E0C4BB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System and Peripheral Registers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A5BF5345-B5BF-16DF-10F0-8E870569DB1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C6D2008-58CF-E5C6-8BFA-8ABFE7BC72F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9A9BE1D3-C0D7-38B7-7C00-6210784ACDD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8ADFA8D-E8F0-AF61-A156-4365E6F5C13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EFE8ED05-543F-E0F7-BCA4-849511BC5E84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5630CA8-DBBC-0FAA-99D9-5B106C34696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094956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F4A3F0A-E78E-9730-D0BA-98BFA49501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7D0E8B25-9CF7-F89B-84D7-9854597C8868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TI groups peripherals into address regions.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For example: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/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GPIO register live in one address range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Timers in another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 err="1"/>
              <a:t>ePWM</a:t>
            </a:r>
            <a:r>
              <a:rPr lang="en-US" sz="1800" dirty="0"/>
              <a:t> in another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/>
              <a:t>ADC (Analog to Digital Converters ) in another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 err="1"/>
              <a:t>Etc</a:t>
            </a:r>
            <a:r>
              <a:rPr lang="en-US" sz="1800" dirty="0"/>
              <a:t>…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/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/>
              <a:t>Each register is located at: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/>
          </a:p>
          <a:p>
            <a:pPr mar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/>
              <a:t>Peripheral Base Address + Register Offset</a:t>
            </a: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You do not need to calculate these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addresses manually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; TI provides C structures and header files that do this manually.</a:t>
            </a:r>
          </a:p>
          <a:p>
            <a:pPr marL="0" lvl="0" indent="0" algn="ctr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EPwm1Regs.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TBCTL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CLKDIV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2735B1A7-A140-C0A0-76FF-8562328E315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87A597A2-E454-B786-AFB9-579B6E80934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Peripheral Base Address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0FA08611-B304-CD35-D2C6-87BFF403FDD9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CDAEB88-8BDF-CA9E-F1F9-04EE5C10A7C4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AC30BEF-DCB2-EDB1-C765-2A06F1C7AB18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796EE376-804D-D15B-8027-B05926335F78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2097F45A-48B9-3B23-D9CF-AC6BFCA3CEF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19C26A3-2124-2892-7251-E19506A9067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10322736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0531F301-BBF7-DF92-6EBE-3E0587DE3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4E62DBE1-FA05-0946-0A1D-E31DF5AF30E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System registers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control the </a:t>
            </a:r>
            <a:r>
              <a:rPr lang="en-US" sz="1800" i="1" dirty="0">
                <a:latin typeface="Arial"/>
                <a:ea typeface="Arial"/>
                <a:cs typeface="Arial"/>
                <a:sym typeface="Arial"/>
              </a:rPr>
              <a:t>behavior of the CPU itself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i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These registers affect the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entire chip.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These system registers are protected.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These can modify: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Clock configuration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Resets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Peripheral interrupts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Memory configuration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Timer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Full list is available in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  <a:hlinkClick r:id="rId3"/>
              </a:rPr>
              <a:t>Table 3-17 - System Control Base Address Table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CBDD7FD4-3FE9-19BA-F754-C7DB0576063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AC3279A8-52A8-01B3-C5F6-8E97FAF6F49F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System Peripheral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68D369D-85E0-F5B0-1E38-6A002F63DE44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CAAF780E-DDBE-210F-EBC3-9F8DCE31463A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30F64F90-8511-F464-F05A-D27E77FA68F5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3C80295F-E227-0193-65CF-CF514DC84607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CEF0FC49-B78E-B368-881D-B7F199CEF9E0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7D98819-0AF0-5C1F-E988-A94E1AAB7532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353954688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A44DEFE-17C8-CB12-604A-CE91D6C4D22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BDF33995-67A6-C92D-4526-9A278F1724B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Some registers are protected to prevent accidental damage ( most / all system peripherals 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Thus, an additional layer of protection is allowed for accidental writes ( memory leaked code or otherwise ).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EALLOW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: unlocks protected registers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EDIS: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locks them again</a:t>
            </a:r>
          </a:p>
          <a:p>
            <a:pPr marL="114300" indent="0" algn="l">
              <a:buNone/>
            </a:pPr>
            <a:endParaRPr lang="en-US" sz="1800" dirty="0">
              <a:latin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EALLOW;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This is needed to write to EALLOW protected registers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PieVectTable.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TIMER0_INT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&amp;cpu_timer0_isr;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PieVectTable.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TIMER1_INT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&amp;cpu_timer1_isr;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PieVectTable.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TIMER2_INT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&amp;cpu_timer2_isr;</a:t>
            </a:r>
            <a:endParaRPr lang="en-US" sz="1800" dirty="0">
              <a:latin typeface="Consolas" panose="020B0609020204030204" pitchFamily="49" charset="0"/>
            </a:endParaRP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PieVectTable.</a:t>
            </a:r>
            <a:r>
              <a:rPr lang="en-US" sz="1800" dirty="0" err="1">
                <a:solidFill>
                  <a:srgbClr val="0000C0"/>
                </a:solidFill>
                <a:latin typeface="Consolas" panose="020B0609020204030204" pitchFamily="49" charset="0"/>
              </a:rPr>
              <a:t>EMIF_ERROR_INT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&amp;</a:t>
            </a:r>
            <a:r>
              <a:rPr lang="en-US" sz="1800" dirty="0" err="1">
                <a:solidFill>
                  <a:srgbClr val="000000"/>
                </a:solidFill>
                <a:latin typeface="Consolas" panose="020B0609020204030204" pitchFamily="49" charset="0"/>
              </a:rPr>
              <a:t>SWI_isr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;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EDIS;  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This is needed to disable write to EALLOW protected registers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4C503F74-3799-2E44-B39D-A1560202F8F0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098A594-0216-9C9B-4CED-9D568D7F7FE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EALLOW / EDIS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B2ECC981-9977-ED6B-5D97-285443D5C0E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68C30C89-FE20-8A40-8241-4A274716329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2A5A68DC-47F0-9FA9-2E00-4043F3ACACE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E340323-31CC-BB85-CB4B-F52E3315EA25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87E9565-CC74-46F1-E43E-C685288D7466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DD5BC91-373A-229E-F874-B2906BBB4FD1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5259613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F4F6B2D5-2790-2B2A-EE21-1B9CD76F33B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2023406B-5D76-1289-48AD-E257A7B5C37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Peripheral registers control individual hardware modules. Usually do not have any write protection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Examples: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GPIO (General Purpose Input-Output)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Timers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ADC (Analog-to-Digital Converter)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PWM (Pulse Width Modulation)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SPI (Serial Peripheral Interface)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Each peripheral has a Read (DAT), Write (SET), Clear (CLEAR) and Toggle (TOGGLE) register.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GPBDAT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Do not use to set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GPBSET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Sets GPIO37 to 1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GPBCLEAR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Sets GPIO37 to 0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GpioDataRegs.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GPBTOGGLE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bit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.</a:t>
            </a:r>
            <a:r>
              <a:rPr lang="en-US" sz="1800" dirty="0">
                <a:solidFill>
                  <a:srgbClr val="0000C0"/>
                </a:solidFill>
                <a:latin typeface="Consolas" panose="020B0609020204030204" pitchFamily="49" charset="0"/>
              </a:rPr>
              <a:t>GPIO37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= 1;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Sets GPIO37 to 0-&gt;1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AEDED1B-5C8B-C160-2651-3A0A180B260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79BBFFC7-9325-B47F-0D01-B1738389336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Peripheral Registers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2A6F078-9316-17CF-4FBB-DDD54C30ED7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6A279C1-FA22-DE07-9360-A9F0E8C9A0A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D4FE2136-3D5F-F855-B829-53B490A7D55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E4D6CCAB-0EAE-E661-F22B-859622804C64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B2DFE9D-6060-ECCC-55AB-4C2BAFB23C81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B58E183-4506-ED5C-B449-60BC6FC6D28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426381003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20F0EF0-9C72-2574-550B-51A640D69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22CC2D72-48DF-7031-8F5D-879528208FCF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There are problems that arise from writing directly to DAT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Writing to DAT requires,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  <a:buAutoNum type="arabicPeriod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Read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  <a:buAutoNum type="arabicPeriod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Modify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  <a:buAutoNum type="arabicPeriod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Write</a:t>
            </a:r>
          </a:p>
          <a:p>
            <a:pPr marL="342900">
              <a:lnSpc>
                <a:spcPct val="100000"/>
              </a:lnSpc>
              <a:spcBef>
                <a:spcPts val="0"/>
              </a:spcBef>
              <a:buSzPts val="3000"/>
              <a:buAutoNum type="arabicPeriod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An interrupt ( code that runs on certain events ) can run between these steps and corrupt data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SET / CLEAR registers avoid this by being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atomic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hardware operations.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Atomic operations guarantee that a variable will be locked during the operations and cannot be modified by anyone else during that time.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8936E051-310E-3991-1272-A29B50D7E42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9AE28FAC-3016-0DC7-47B2-7A1F7CF1F55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Using DAT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41376A5-18FF-9EE2-2AD5-86886DEE67F4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EAAFE4DC-246E-0B7A-1155-2834F156A3CE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94D38B8-B1F2-F7F3-DD1F-960665E3648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B5F70D6-8D81-C290-976A-3B9666E20E29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60FE89C-F235-757E-FF80-D6E77047EA1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F1ABBF27-0B75-AFF9-68BE-7AA2A40A1044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2412865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B29A7ED-CD7B-066A-E85A-D2C7A4615E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8D669D54-ACA1-0C2B-8720-D54B2F1229D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82110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Each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physical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pin can serve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  <a:hlinkClick r:id="rId3"/>
              </a:rPr>
              <a:t>multiple functions</a:t>
            </a: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GPIO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PWM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SPI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SCI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CAN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You must first select the function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GPIO_SetupPinMux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(31, GPIO_MUX_CPU1, 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GPIO_SetupPinOptions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(31, GPIO_OUTPUT, GPIO_PUSHPULL);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b="1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4FCB565-2A51-4FAB-F9CA-AA6C8868758C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C96F98EE-17CD-DAD4-D51B-0B9C2876FCA6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Digital I/O (GPIO)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99AF3BA-929C-AE0B-08A8-01C74ECFB2C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A00601F-1A36-29A7-369C-0A27203E346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3D80D43-4E8F-D1F2-D6A7-DA1A3882903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9A76F1D6-C729-98D5-5B26-91653D52E51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BC892BCB-4425-0FED-DE90-990DFBA18F2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EA6AE1D4-767A-022A-A369-081CC884FB3E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415498429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8A84038E-8D38-7C8F-6FC0-455DCB7FB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02AEC150-34E9-FD6F-9BAD-7E0659470285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Bits</a:t>
            </a:r>
            <a:endParaRPr dirty="0"/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11C85305-70EB-14CE-364A-0ADCA1866DED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6C839739-8769-EAEF-9463-89E804E8E31E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EB4FC774-FF75-C60A-20C4-F81634344E75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ECD9286F-6EB3-69F5-58DF-751E98ABD0C3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B569B4EB-2FD0-AD30-F50E-C241BA4DDEA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6B3C5720-5765-357C-A3EB-EFBB78656436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679B5572-BDBA-D4B3-4612-D3C744E8AA6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9A51ED6C-B8B5-7601-9873-F8E8B113733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FA69615E-6CAE-27C3-F85D-B218D9D6621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81922923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8DE9268-7945-FFE5-97A7-B45A0361D06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661B06A-1C2E-6A1E-3C8D-8B2746C028E2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21455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The CPU only reads binary, 1s or 0s; however, for humans it is difficult to understand long string of numbers.</a:t>
            </a: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A 32-bit register could be represented as such with 32 bits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(unsigned 3,357,083,684):</a:t>
            </a:r>
            <a:endParaRPr lang="en-US" sz="1800" dirty="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rgbClr val="005032"/>
                </a:solidFill>
                <a:latin typeface="Consolas" panose="020B0609020204030204" pitchFamily="49" charset="0"/>
              </a:rPr>
              <a:t>int32_t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x = 0b110010000001100100000100000100100;</a:t>
            </a:r>
          </a:p>
          <a:p>
            <a:pPr marL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endParaRPr lang="en-US" sz="1800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0" lvl="0" indent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US" sz="1800" dirty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What is a potential problem?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0D648654-B8E7-6A7C-250D-7F8FA28ABC03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4C40AA82-D9BB-44C6-3DDA-87BE2D46BAB4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Binary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B63B481-F43D-6BB6-C538-88D354B70D8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C6201E1-4BDA-B7D2-65A7-13DC9AF1435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EA1DB4E-6D4D-8DC9-AA3A-2D6B7E48AE07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5797A9CE-6B2C-2500-46AD-16AECA730A5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7FF838EA-2E3A-B71E-A2FA-2BABE0621D29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96DA638-7CF5-5C2A-F32C-FE089F744916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48F1AF25-5F21-2287-8C45-C570B7ECC68C}"/>
              </a:ext>
            </a:extLst>
          </p:cNvPr>
          <p:cNvSpPr txBox="1"/>
          <p:nvPr/>
        </p:nvSpPr>
        <p:spPr>
          <a:xfrm>
            <a:off x="376807" y="4254500"/>
            <a:ext cx="11180702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Prone to make mistakes if you need to manually type this out! For example, there are </a:t>
            </a: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33-bits 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above, not 32!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Why not use Decimal system? Not as simple to convert from decimal to binary!</a:t>
            </a:r>
          </a:p>
        </p:txBody>
      </p:sp>
    </p:spTree>
    <p:extLst>
      <p:ext uri="{BB962C8B-B14F-4D97-AF65-F5344CB8AC3E}">
        <p14:creationId xmlns:p14="http://schemas.microsoft.com/office/powerpoint/2010/main" val="94778393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</p:bld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9935D5C0-4C41-ED87-68EA-17ABC178F6F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F2428BFA-1E18-359E-4492-E6DEADED63B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1052055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Instead of base 10, let’s explore base 16, i.e., hexadecimal base system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Very easy to convert binary to hex (0-9 then A-F):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974EAF3B-345F-0479-2706-C5F0561339D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EBF0E4D0-E790-23C2-2C5D-D24797444929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Hexadecimal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8BF71259-9DE7-40F5-630A-E5129BC53E3F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1BB80D2-43E6-240C-FB51-71CBF8BC68E6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44F356B-6FEC-7187-AA59-9515521CB6FD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60CB545-D058-A201-A7DE-B0CAB3EF6472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1476572C-1F90-D6F3-6426-1CC4D407A542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90FDA6F1-B24E-B555-7032-50C75058682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312A5808-068D-5FB9-19E9-65DFB027BC6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18201903"/>
              </p:ext>
            </p:extLst>
          </p:nvPr>
        </p:nvGraphicFramePr>
        <p:xfrm>
          <a:off x="1720850" y="2501900"/>
          <a:ext cx="8127999" cy="1854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709333">
                  <a:extLst>
                    <a:ext uri="{9D8B030D-6E8A-4147-A177-3AD203B41FA5}">
                      <a16:colId xmlns:a16="http://schemas.microsoft.com/office/drawing/2014/main" val="120764605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445483742"/>
                    </a:ext>
                  </a:extLst>
                </a:gridCol>
                <a:gridCol w="2709333">
                  <a:extLst>
                    <a:ext uri="{9D8B030D-6E8A-4147-A177-3AD203B41FA5}">
                      <a16:colId xmlns:a16="http://schemas.microsoft.com/office/drawing/2014/main" val="2026562162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Binary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 err="1"/>
                        <a:t>Hexidecimal</a:t>
                      </a:r>
                      <a:endParaRPr lang="en-U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Decimal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94441757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0000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27502311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0001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98490059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1010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4804418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en-US" dirty="0"/>
                        <a:t>1111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F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15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1956006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2BEE2F4C-2FDB-0B1E-F74F-1A67D3C37081}"/>
              </a:ext>
            </a:extLst>
          </p:cNvPr>
          <p:cNvSpPr txBox="1"/>
          <p:nvPr/>
        </p:nvSpPr>
        <p:spPr>
          <a:xfrm>
            <a:off x="376807" y="4597400"/>
            <a:ext cx="10910029" cy="175432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800" dirty="0"/>
              <a:t>E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very 4-bits = 1 hex value, makes things much easier to compress, much easier to look at!</a:t>
            </a:r>
          </a:p>
          <a:p>
            <a:endParaRPr lang="en-US" sz="1800" dirty="0"/>
          </a:p>
          <a:p>
            <a:r>
              <a:rPr lang="en-US" sz="1800" dirty="0">
                <a:solidFill>
                  <a:srgbClr val="005032"/>
                </a:solidFill>
                <a:latin typeface="Consolas" panose="020B0609020204030204" pitchFamily="49" charset="0"/>
              </a:rPr>
              <a:t>int32_t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x = 0xC8190824;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5032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int16_t</a:t>
            </a: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cs typeface="Arial"/>
                <a:sym typeface="Arial"/>
              </a:rPr>
              <a:t> x = 0x0824;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Tx/>
              <a:buFont typeface="Arial"/>
              <a:buNone/>
              <a:tabLst/>
              <a:defRPr/>
            </a:pPr>
            <a:endParaRPr lang="en-US" sz="1800" dirty="0">
              <a:latin typeface="Consolas" panose="020B0609020204030204" pitchFamily="49" charset="0"/>
            </a:endParaRPr>
          </a:p>
          <a:p>
            <a:pPr lvl="0">
              <a:defRPr/>
            </a:pPr>
            <a:r>
              <a:rPr lang="en-US" sz="1800" dirty="0"/>
              <a:t>Windows Calculator set to programming mode can easily do the conversion!</a:t>
            </a:r>
            <a:endParaRPr kumimoji="0" lang="en-US" sz="1800" b="0" i="0" u="none" strike="noStrike" kern="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onsolas" panose="020B0609020204030204" pitchFamily="49" charset="0"/>
              <a:cs typeface="Arial"/>
              <a:sym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6946302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74056B78-B910-A511-41E5-DB6A25780D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1DA402EC-2306-AEDB-4671-C167E6DF739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Bit number starts at 0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Bit 0 → 2</a:t>
            </a:r>
            <a:r>
              <a:rPr lang="en-US" sz="1800" baseline="30000" dirty="0">
                <a:latin typeface="Arial"/>
                <a:ea typeface="Arial"/>
                <a:cs typeface="Arial"/>
                <a:sym typeface="Arial"/>
              </a:rPr>
              <a:t>0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Bit 1 → 2</a:t>
            </a:r>
            <a:r>
              <a:rPr lang="en-US" sz="1800" baseline="30000" dirty="0">
                <a:latin typeface="Arial"/>
                <a:ea typeface="Arial"/>
                <a:cs typeface="Arial"/>
                <a:sym typeface="Arial"/>
              </a:rPr>
              <a:t>1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Bit 5 → 2</a:t>
            </a:r>
            <a:r>
              <a:rPr lang="en-US" sz="1800" baseline="30000" dirty="0">
                <a:latin typeface="Arial"/>
                <a:ea typeface="Arial"/>
                <a:cs typeface="Arial"/>
                <a:sym typeface="Arial"/>
              </a:rPr>
              <a:t>5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= 32 = 0x20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Creating a bit shifting: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Left shifting: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x &lt;&lt; n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, shifts bits in x to the left by n.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0b01 &lt;&lt; 1 = 0b10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Right shifting: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x &gt;&gt; n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, shifts bits in x to the right by n. 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0b10 &gt;&gt; 1 = 0b01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Commonly used to create bit “masks”: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5032"/>
                </a:solidFill>
                <a:latin typeface="Consolas" panose="020B0609020204030204" pitchFamily="49" charset="0"/>
              </a:rPr>
              <a:t>int32_t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bit5Mask = 1 &lt;&lt; 5;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0x20, sets only bit 5 to 1!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What are masks? What are they used for?</a:t>
            </a: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693A4AA0-51AE-E163-7FE7-4739E99772F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556AF272-8944-188B-D036-8C03798A0C0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Bits, Bit Positions and Masks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FF25E2F6-45BA-674E-90E9-B88C0123EA6B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5EB83C3-4FD0-688C-29E9-9B77646B9757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91CB886-30B5-E16B-7512-0FECF2C8185E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8AD6C8AB-ABE1-F2D9-C049-FDE2FB2BBD7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ABD3231A-0FE1-6F0A-EE9E-99664EA2DBD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1546CA3-3362-FBB5-200A-AEB28D21F31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814717361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C1A38449-2004-E61B-C218-BE4EBA47131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DFC668CE-8DFA-F2AA-A3DC-923F02B3747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5173091" cy="2933021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b="1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AND (&amp;) – Masking</a:t>
            </a:r>
          </a:p>
          <a:p>
            <a:pPr marL="114300" indent="0" algn="l">
              <a:buNone/>
            </a:pPr>
            <a:endParaRPr lang="en-US" sz="1800" b="1" dirty="0">
              <a:solidFill>
                <a:srgbClr val="15264B"/>
              </a:solidFill>
              <a:latin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b="1" dirty="0">
                <a:solidFill>
                  <a:srgbClr val="7F0055"/>
                </a:solidFill>
                <a:latin typeface="Consolas" panose="020B0609020204030204" pitchFamily="49" charset="0"/>
              </a:rPr>
              <a:t>if</a:t>
            </a:r>
            <a:r>
              <a:rPr lang="en-US" sz="1800" b="1" dirty="0">
                <a:solidFill>
                  <a:srgbClr val="000000"/>
                </a:solidFill>
                <a:latin typeface="Consolas" panose="020B0609020204030204" pitchFamily="49" charset="0"/>
              </a:rPr>
              <a:t> (reg &amp; (1 &lt;&lt; 3)) {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    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Bit 3 is set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lang="en-US" sz="1800" b="1" dirty="0">
                <a:solidFill>
                  <a:srgbClr val="000000"/>
                </a:solidFill>
                <a:latin typeface="Consolas" panose="020B0609020204030204" pitchFamily="49" charset="0"/>
                <a:ea typeface="Arial"/>
                <a:cs typeface="Arial"/>
                <a:sym typeface="Arial"/>
              </a:rPr>
              <a:t>}</a:t>
            </a: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15264B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kumimoji="0" lang="en-US" sz="1800" b="1" i="0" u="none" strike="noStrike" kern="0" cap="none" spc="0" normalizeH="0" baseline="0" noProof="0" dirty="0">
                <a:ln>
                  <a:noFill/>
                </a:ln>
                <a:solidFill>
                  <a:srgbClr val="15264B"/>
                </a:solidFill>
                <a:effectLst/>
                <a:uLnTx/>
                <a:uFillTx/>
                <a:latin typeface="Arial"/>
                <a:ea typeface="Arial"/>
                <a:cs typeface="Arial"/>
                <a:sym typeface="Arial"/>
              </a:rPr>
              <a:t>OR    (|)  – Setting Bits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endParaRPr kumimoji="0" lang="en-US" sz="1800" b="1" i="0" u="none" strike="noStrike" kern="0" cap="none" spc="0" normalizeH="0" baseline="0" noProof="0" dirty="0">
              <a:ln>
                <a:noFill/>
              </a:ln>
              <a:solidFill>
                <a:srgbClr val="15264B"/>
              </a:solidFill>
              <a:effectLst/>
              <a:uLnTx/>
              <a:uFillTx/>
              <a:latin typeface="Arial"/>
              <a:ea typeface="Arial"/>
              <a:cs typeface="Arial"/>
              <a:sym typeface="Arial"/>
            </a:endParaRP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3000"/>
              <a:buFont typeface="Arial"/>
              <a:buNone/>
              <a:tabLst/>
              <a:defRPr/>
            </a:pPr>
            <a:r>
              <a:rPr kumimoji="0" lang="en-US" sz="1800" b="0" i="0" u="none" strike="noStrike" kern="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onsolas" panose="020B0609020204030204" pitchFamily="49" charset="0"/>
                <a:ea typeface="Calibri"/>
                <a:cs typeface="Calibri"/>
                <a:sym typeface="Calibri"/>
              </a:rPr>
              <a:t>reg |= (1 &lt;&lt; 3);</a:t>
            </a:r>
          </a:p>
          <a:p>
            <a:pPr marL="114300" indent="0" algn="l">
              <a:buNone/>
            </a:pPr>
            <a:endParaRPr lang="en-US" sz="1800" b="1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endParaRPr lang="en-US" sz="1800" b="1" dirty="0">
              <a:solidFill>
                <a:srgbClr val="000000"/>
              </a:solidFill>
              <a:latin typeface="Consolas" panose="020B0609020204030204" pitchFamily="49" charset="0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F91230B-08CD-0D0C-39AF-E0ACCC0A41E4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2B54473D-21A5-A5D5-D97D-E711034807A0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dirty="0">
                <a:solidFill>
                  <a:schemeClr val="lt1"/>
                </a:solidFill>
              </a:rPr>
              <a:t>Bitwise Operations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281BB5D4-2A0F-5D14-FF14-E9D5E53A7135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2A7FD24E-CA58-4011-2DD0-1DDAEA2FAE69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1EF9A49-48D0-C667-07E1-C31D1B6E7E24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14475F2-CF4E-32CE-BF08-6EF0332A8D21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753C5C0-D2D3-C5AC-42C6-64CDE684B4C5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B7FD99DA-8DF4-9904-C8A3-D6D3C78FA78A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2" name="Google Shape;118;p29">
            <a:extLst>
              <a:ext uri="{FF2B5EF4-FFF2-40B4-BE49-F238E27FC236}">
                <a16:creationId xmlns:a16="http://schemas.microsoft.com/office/drawing/2014/main" id="{7C5046C5-1945-C6F3-E883-8DDDD61834C0}"/>
              </a:ext>
            </a:extLst>
          </p:cNvPr>
          <p:cNvSpPr txBox="1">
            <a:spLocks/>
          </p:cNvSpPr>
          <p:nvPr/>
        </p:nvSpPr>
        <p:spPr>
          <a:xfrm>
            <a:off x="6713540" y="1334279"/>
            <a:ext cx="517309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>
            <a:defPPr marR="0" lvl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</a:defPPr>
            <a:lvl1pPr marL="457200" marR="0" lvl="0" indent="-342900" algn="l" rtl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914400" marR="0" lvl="1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4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1371600" marR="0" lvl="2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20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1828800" marR="0" lvl="3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2286000" marR="0" lvl="4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2743200" marR="0" lvl="5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3200400" marR="0" lvl="6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3657600" marR="0" lvl="7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4114800" marR="0" lvl="8" indent="-342900" algn="l" rtl="0">
              <a:lnSpc>
                <a:spcPct val="90000"/>
              </a:lnSpc>
              <a:spcBef>
                <a:spcPts val="50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Char char="•"/>
              <a:defRPr sz="1800" b="0" i="0" u="none" strike="noStrike" cap="non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r>
              <a:rPr lang="en-US" sz="1800" b="1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NOT (~) – Clearing Bits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reg &amp;= ~(1 &lt;&lt; 3);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r>
              <a:rPr lang="en-US" sz="1800" b="1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XOR (^) – Toggling Bits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reg ^= (1 &lt;&lt; 3);</a:t>
            </a: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Font typeface="Arial"/>
              <a:buNone/>
            </a:pPr>
            <a:endParaRPr lang="en-US" sz="1800" b="1" dirty="0">
              <a:solidFill>
                <a:srgbClr val="15264B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graphicFrame>
        <p:nvGraphicFramePr>
          <p:cNvPr id="3" name="Table 2">
            <a:extLst>
              <a:ext uri="{FF2B5EF4-FFF2-40B4-BE49-F238E27FC236}">
                <a16:creationId xmlns:a16="http://schemas.microsoft.com/office/drawing/2014/main" id="{1EE3DE62-4E85-1C4E-5AB7-A55EFC150E57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16186720"/>
              </p:ext>
            </p:extLst>
          </p:nvPr>
        </p:nvGraphicFramePr>
        <p:xfrm>
          <a:off x="1925640" y="4448044"/>
          <a:ext cx="3624260" cy="15240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24852">
                  <a:extLst>
                    <a:ext uri="{9D8B030D-6E8A-4147-A177-3AD203B41FA5}">
                      <a16:colId xmlns:a16="http://schemas.microsoft.com/office/drawing/2014/main" val="346855582"/>
                    </a:ext>
                  </a:extLst>
                </a:gridCol>
                <a:gridCol w="724852">
                  <a:extLst>
                    <a:ext uri="{9D8B030D-6E8A-4147-A177-3AD203B41FA5}">
                      <a16:colId xmlns:a16="http://schemas.microsoft.com/office/drawing/2014/main" val="1592488445"/>
                    </a:ext>
                  </a:extLst>
                </a:gridCol>
                <a:gridCol w="724852">
                  <a:extLst>
                    <a:ext uri="{9D8B030D-6E8A-4147-A177-3AD203B41FA5}">
                      <a16:colId xmlns:a16="http://schemas.microsoft.com/office/drawing/2014/main" val="3403376714"/>
                    </a:ext>
                  </a:extLst>
                </a:gridCol>
                <a:gridCol w="724852">
                  <a:extLst>
                    <a:ext uri="{9D8B030D-6E8A-4147-A177-3AD203B41FA5}">
                      <a16:colId xmlns:a16="http://schemas.microsoft.com/office/drawing/2014/main" val="903622980"/>
                    </a:ext>
                  </a:extLst>
                </a:gridCol>
                <a:gridCol w="724852">
                  <a:extLst>
                    <a:ext uri="{9D8B030D-6E8A-4147-A177-3AD203B41FA5}">
                      <a16:colId xmlns:a16="http://schemas.microsoft.com/office/drawing/2014/main" val="4093562064"/>
                    </a:ext>
                  </a:extLst>
                </a:gridCol>
              </a:tblGrid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REG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MASK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AND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OR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XOR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1070923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1078293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922570205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415747797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5618015"/>
                  </a:ext>
                </a:extLst>
              </a:tr>
            </a:tbl>
          </a:graphicData>
        </a:graphic>
      </p:graphicFrame>
      <p:graphicFrame>
        <p:nvGraphicFramePr>
          <p:cNvPr id="5" name="Table 4">
            <a:extLst>
              <a:ext uri="{FF2B5EF4-FFF2-40B4-BE49-F238E27FC236}">
                <a16:creationId xmlns:a16="http://schemas.microsoft.com/office/drawing/2014/main" id="{6BE1C4B3-CD06-5B1D-BFDE-3CBBAD18749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23596159"/>
              </p:ext>
            </p:extLst>
          </p:nvPr>
        </p:nvGraphicFramePr>
        <p:xfrm>
          <a:off x="7660119" y="4752844"/>
          <a:ext cx="1416050" cy="9144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708025">
                  <a:extLst>
                    <a:ext uri="{9D8B030D-6E8A-4147-A177-3AD203B41FA5}">
                      <a16:colId xmlns:a16="http://schemas.microsoft.com/office/drawing/2014/main" val="346855582"/>
                    </a:ext>
                  </a:extLst>
                </a:gridCol>
                <a:gridCol w="708025">
                  <a:extLst>
                    <a:ext uri="{9D8B030D-6E8A-4147-A177-3AD203B41FA5}">
                      <a16:colId xmlns:a16="http://schemas.microsoft.com/office/drawing/2014/main" val="3403376714"/>
                    </a:ext>
                  </a:extLst>
                </a:gridCol>
              </a:tblGrid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MASK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NOT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71070923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591078293"/>
                  </a:ext>
                </a:extLst>
              </a:tr>
              <a:tr h="298856">
                <a:tc>
                  <a:txBody>
                    <a:bodyPr/>
                    <a:lstStyle/>
                    <a:p>
                      <a:r>
                        <a:rPr lang="en-U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n-US" dirty="0"/>
                        <a:t>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30456180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045116204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103">
          <a:extLst>
            <a:ext uri="{FF2B5EF4-FFF2-40B4-BE49-F238E27FC236}">
              <a16:creationId xmlns:a16="http://schemas.microsoft.com/office/drawing/2014/main" id="{3E79D79B-BD25-AA21-47B4-E81C12A502D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28">
            <a:extLst>
              <a:ext uri="{FF2B5EF4-FFF2-40B4-BE49-F238E27FC236}">
                <a16:creationId xmlns:a16="http://schemas.microsoft.com/office/drawing/2014/main" id="{ECF22A56-36F3-2F36-80D2-E68D3C88ADDB}"/>
              </a:ext>
            </a:extLst>
          </p:cNvPr>
          <p:cNvSpPr txBox="1"/>
          <p:nvPr/>
        </p:nvSpPr>
        <p:spPr>
          <a:xfrm>
            <a:off x="1295400" y="3225489"/>
            <a:ext cx="9601200" cy="78479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4500"/>
              <a:buFont typeface="Arial"/>
              <a:buNone/>
            </a:pPr>
            <a:r>
              <a:rPr lang="en-US" sz="4500" b="1" i="0" u="none" strike="noStrike" cap="none" dirty="0">
                <a:solidFill>
                  <a:srgbClr val="15264B"/>
                </a:solidFill>
                <a:latin typeface="Arial"/>
                <a:ea typeface="Arial"/>
                <a:cs typeface="Arial"/>
                <a:sym typeface="Arial"/>
              </a:rPr>
              <a:t>Timers</a:t>
            </a:r>
            <a:endParaRPr dirty="0"/>
          </a:p>
        </p:txBody>
      </p:sp>
      <p:grpSp>
        <p:nvGrpSpPr>
          <p:cNvPr id="105" name="Google Shape;105;p28">
            <a:extLst>
              <a:ext uri="{FF2B5EF4-FFF2-40B4-BE49-F238E27FC236}">
                <a16:creationId xmlns:a16="http://schemas.microsoft.com/office/drawing/2014/main" id="{ED152358-FB50-DD95-DD4A-B2A6E78964C6}"/>
              </a:ext>
            </a:extLst>
          </p:cNvPr>
          <p:cNvGrpSpPr/>
          <p:nvPr/>
        </p:nvGrpSpPr>
        <p:grpSpPr>
          <a:xfrm>
            <a:off x="3943790" y="2676939"/>
            <a:ext cx="3861740" cy="322845"/>
            <a:chOff x="3943790" y="2676939"/>
            <a:chExt cx="3861740" cy="322845"/>
          </a:xfrm>
        </p:grpSpPr>
        <p:cxnSp>
          <p:nvCxnSpPr>
            <p:cNvPr id="106" name="Google Shape;106;p28">
              <a:extLst>
                <a:ext uri="{FF2B5EF4-FFF2-40B4-BE49-F238E27FC236}">
                  <a16:creationId xmlns:a16="http://schemas.microsoft.com/office/drawing/2014/main" id="{6B577B21-43F8-795D-1EC1-81C8834DD368}"/>
                </a:ext>
              </a:extLst>
            </p:cNvPr>
            <p:cNvCxnSpPr/>
            <p:nvPr/>
          </p:nvCxnSpPr>
          <p:spPr>
            <a:xfrm>
              <a:off x="4426226" y="2676939"/>
              <a:ext cx="3379304" cy="0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cxnSp>
          <p:nvCxnSpPr>
            <p:cNvPr id="107" name="Google Shape;107;p28">
              <a:extLst>
                <a:ext uri="{FF2B5EF4-FFF2-40B4-BE49-F238E27FC236}">
                  <a16:creationId xmlns:a16="http://schemas.microsoft.com/office/drawing/2014/main" id="{9CCE0AC3-14DB-782A-523B-9244244AB129}"/>
                </a:ext>
              </a:extLst>
            </p:cNvPr>
            <p:cNvCxnSpPr/>
            <p:nvPr/>
          </p:nvCxnSpPr>
          <p:spPr>
            <a:xfrm rot="10800000" flipH="1">
              <a:off x="3943790" y="2676939"/>
              <a:ext cx="482436" cy="322845"/>
            </a:xfrm>
            <a:prstGeom prst="straightConnector1">
              <a:avLst/>
            </a:prstGeom>
            <a:noFill/>
            <a:ln w="19050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</p:grpSp>
      <p:pic>
        <p:nvPicPr>
          <p:cNvPr id="108" name="Google Shape;108;p28">
            <a:extLst>
              <a:ext uri="{FF2B5EF4-FFF2-40B4-BE49-F238E27FC236}">
                <a16:creationId xmlns:a16="http://schemas.microsoft.com/office/drawing/2014/main" id="{C8CF2629-2730-A4EB-283A-97444685EAB0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1"/>
          </a:xfrm>
          <a:prstGeom prst="rect">
            <a:avLst/>
          </a:prstGeom>
          <a:noFill/>
          <a:ln>
            <a:noFill/>
          </a:ln>
        </p:spPr>
      </p:pic>
      <p:sp>
        <p:nvSpPr>
          <p:cNvPr id="109" name="Google Shape;109;p28">
            <a:extLst>
              <a:ext uri="{FF2B5EF4-FFF2-40B4-BE49-F238E27FC236}">
                <a16:creationId xmlns:a16="http://schemas.microsoft.com/office/drawing/2014/main" id="{A9A535D8-D20A-D52E-CE0C-307518C98C7F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10" name="Google Shape;110;p28">
            <a:extLst>
              <a:ext uri="{FF2B5EF4-FFF2-40B4-BE49-F238E27FC236}">
                <a16:creationId xmlns:a16="http://schemas.microsoft.com/office/drawing/2014/main" id="{A4E8A94F-7828-AB89-1D84-E4F975B0BDFF}"/>
              </a:ext>
            </a:extLst>
          </p:cNvPr>
          <p:cNvSpPr txBox="1"/>
          <p:nvPr/>
        </p:nvSpPr>
        <p:spPr>
          <a:xfrm>
            <a:off x="376807" y="6524381"/>
            <a:ext cx="7991400" cy="230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</a:t>
            </a:r>
            <a:endParaRPr dirty="0"/>
          </a:p>
        </p:txBody>
      </p:sp>
      <p:grpSp>
        <p:nvGrpSpPr>
          <p:cNvPr id="111" name="Google Shape;111;p28">
            <a:extLst>
              <a:ext uri="{FF2B5EF4-FFF2-40B4-BE49-F238E27FC236}">
                <a16:creationId xmlns:a16="http://schemas.microsoft.com/office/drawing/2014/main" id="{D8F21ABA-161F-3B32-B002-B1E5742FA173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12" name="Google Shape;112;p28">
              <a:extLst>
                <a:ext uri="{FF2B5EF4-FFF2-40B4-BE49-F238E27FC236}">
                  <a16:creationId xmlns:a16="http://schemas.microsoft.com/office/drawing/2014/main" id="{AA606F35-F79B-4318-6B7F-6FF4FEFD356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13" name="Google Shape;113;p28">
              <a:extLst>
                <a:ext uri="{FF2B5EF4-FFF2-40B4-BE49-F238E27FC236}">
                  <a16:creationId xmlns:a16="http://schemas.microsoft.com/office/drawing/2014/main" id="{5995E2DE-F38D-FD9C-EE82-F60CBD7D1977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195453585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A4CA83B8-C177-16BC-A74B-4B751B8EAAA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6F7CA2A7-D188-B086-D949-D81D019F0415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Just like a clock that you have; however, in hardware it is EXTREMELY important.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timer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is a hardware counter that: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Counts clock cycles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Triggers an interrupt when it reaches a specified condition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 TMS320F2837xD has </a:t>
            </a:r>
            <a:r>
              <a:rPr lang="en-US" sz="1800" b="1" dirty="0">
                <a:latin typeface="Arial"/>
                <a:ea typeface="Arial"/>
                <a:cs typeface="Arial"/>
                <a:sym typeface="Arial"/>
              </a:rPr>
              <a:t>3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32-bit CPU timers. 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CPU-Timer0 and CPU-Timer1 can be used in user applications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CPU-Timer2 is reserved for real-time operating system uses ( if not being uses in an operating system that uses this timer, it can used in the application).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These clocks run off the system’s internal clock (SYSCLK) (CPU-Timer2, has additional options)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System’s internal clock runs at 200 MHz 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15142FBA-6DEC-D842-33DC-729D877C91C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FE727983-1768-CBE4-0DBC-D9B3EDEDDD92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333CCFD-5566-247B-FBA2-4925B9AA6D88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57412D56-C24F-6187-AC64-391C7B75F9E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695E876-350D-F5F3-72C1-E09DF7F59FD9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950DB7C-44AA-D61C-EA90-C7AD441830F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6BE19E11-68A0-7D65-A8FF-1688A4DE764C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1E47E355-A3AD-3658-F4C1-6B87E79F939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6967774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EDB91D7D-A22B-2E01-EF3E-8AAADBCA2A6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9513E68-F5B4-D4AA-7617-A64412922F3F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15A271FF-5C0A-6931-09C6-6E892192E4CA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6CD01B28-2810-7D4B-EF46-09359AE8F9E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306E48CF-02C4-3786-C624-CAEB9610B6E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03C91540-A329-CFE6-AD20-0CCFBB5C952B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C15780B7-AD26-AD57-99CF-8F2AE6F14DBD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0E6F5EFE-425A-57F5-B80B-2ED738F3EF2D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51BDFBF8-D2A1-B826-2D56-4A845EFF4758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5" name="Graphic 4">
            <a:extLst>
              <a:ext uri="{FF2B5EF4-FFF2-40B4-BE49-F238E27FC236}">
                <a16:creationId xmlns:a16="http://schemas.microsoft.com/office/drawing/2014/main" id="{0073D16F-1F5B-03A8-350C-E201DDF86EF3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354936" y="1403473"/>
            <a:ext cx="10931900" cy="4508500"/>
          </a:xfrm>
          <a:prstGeom prst="rect">
            <a:avLst/>
          </a:prstGeom>
        </p:spPr>
      </p:pic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65E7B09A-B3ED-A424-09DB-27F506A3B4A7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3137618" y="1488344"/>
            <a:ext cx="451402" cy="1011111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3E0B4787-1659-1F7B-FFBB-C958229C8F0D}"/>
              </a:ext>
            </a:extLst>
          </p:cNvPr>
          <p:cNvCxnSpPr>
            <a:cxnSpLocks/>
            <a:stCxn id="12" idx="2"/>
          </p:cNvCxnSpPr>
          <p:nvPr/>
        </p:nvCxnSpPr>
        <p:spPr>
          <a:xfrm>
            <a:off x="3137618" y="1488344"/>
            <a:ext cx="2455462" cy="1088267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660C3DC5-06BB-8795-9BF9-E418AF8CB8E4}"/>
              </a:ext>
            </a:extLst>
          </p:cNvPr>
          <p:cNvSpPr txBox="1"/>
          <p:nvPr/>
        </p:nvSpPr>
        <p:spPr>
          <a:xfrm>
            <a:off x="2872160" y="1119012"/>
            <a:ext cx="53091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OR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0F34C39A-A5B3-4719-51D3-59EFDDFBA8E1}"/>
              </a:ext>
            </a:extLst>
          </p:cNvPr>
          <p:cNvSpPr txBox="1"/>
          <p:nvPr/>
        </p:nvSpPr>
        <p:spPr>
          <a:xfrm>
            <a:off x="3067085" y="3189019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AND</a:t>
            </a:r>
          </a:p>
        </p:txBody>
      </p:sp>
      <p:cxnSp>
        <p:nvCxnSpPr>
          <p:cNvPr id="14" name="Straight Arrow Connector 13">
            <a:extLst>
              <a:ext uri="{FF2B5EF4-FFF2-40B4-BE49-F238E27FC236}">
                <a16:creationId xmlns:a16="http://schemas.microsoft.com/office/drawing/2014/main" id="{4FC930C6-79A9-D8F5-9AC7-95B3C5F621F1}"/>
              </a:ext>
            </a:extLst>
          </p:cNvPr>
          <p:cNvCxnSpPr>
            <a:cxnSpLocks/>
            <a:stCxn id="13" idx="2"/>
          </p:cNvCxnSpPr>
          <p:nvPr/>
        </p:nvCxnSpPr>
        <p:spPr>
          <a:xfrm>
            <a:off x="3403075" y="3558351"/>
            <a:ext cx="185945" cy="899349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0" name="TextBox 19">
            <a:extLst>
              <a:ext uri="{FF2B5EF4-FFF2-40B4-BE49-F238E27FC236}">
                <a16:creationId xmlns:a16="http://schemas.microsoft.com/office/drawing/2014/main" id="{C6649C05-FA19-F219-E8EB-07FCACFEA66A}"/>
              </a:ext>
            </a:extLst>
          </p:cNvPr>
          <p:cNvSpPr txBox="1"/>
          <p:nvPr/>
        </p:nvSpPr>
        <p:spPr>
          <a:xfrm>
            <a:off x="2200181" y="4979719"/>
            <a:ext cx="671979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1800" dirty="0"/>
              <a:t>NOT</a:t>
            </a:r>
          </a:p>
        </p:txBody>
      </p:sp>
      <p:cxnSp>
        <p:nvCxnSpPr>
          <p:cNvPr id="21" name="Straight Arrow Connector 20">
            <a:extLst>
              <a:ext uri="{FF2B5EF4-FFF2-40B4-BE49-F238E27FC236}">
                <a16:creationId xmlns:a16="http://schemas.microsoft.com/office/drawing/2014/main" id="{7A251EBD-D8EE-BBA8-0EA8-8B98F08FE1BD}"/>
              </a:ext>
            </a:extLst>
          </p:cNvPr>
          <p:cNvCxnSpPr>
            <a:cxnSpLocks/>
            <a:stCxn id="20" idx="0"/>
          </p:cNvCxnSpPr>
          <p:nvPr/>
        </p:nvCxnSpPr>
        <p:spPr>
          <a:xfrm flipV="1">
            <a:off x="2536171" y="4579094"/>
            <a:ext cx="466109" cy="400625"/>
          </a:xfrm>
          <a:prstGeom prst="straightConnector1">
            <a:avLst/>
          </a:prstGeom>
          <a:ln w="38100"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69376178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B81DCAA7-AB7C-4F44-1B99-1A44A911816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FBDA2F02-61B0-A78D-2EC2-1BB08CE8B72E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952731B-DFF7-5ADE-6A8A-0C38FE000FB5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54BA04C2-9408-8115-FD87-8AB89A69D2E5}"/>
              </a:ext>
            </a:extLst>
          </p:cNvPr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7D1E0AF6-7FD1-06AC-1E3A-BDEBCCD5551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A4C3B273-FF26-605D-CB9E-260DDCD3C55F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1045F1F2-163B-3BD0-807B-599047DBCB0F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F7AC88A-A30C-0B6D-270B-465BC160E48F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D3CF8F2-09A0-9FA8-004C-20D992F4C9C9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2" name="Online Media 1" title="CPU Timer Animation">
            <a:hlinkClick r:id="" action="ppaction://media"/>
            <a:extLst>
              <a:ext uri="{FF2B5EF4-FFF2-40B4-BE49-F238E27FC236}">
                <a16:creationId xmlns:a16="http://schemas.microsoft.com/office/drawing/2014/main" id="{A553F8F7-7DD2-D53E-17D0-2EC475C190E7}"/>
              </a:ext>
            </a:extLst>
          </p:cNvPr>
          <p:cNvPicPr>
            <a:picLocks noRot="1" noChangeAspect="1"/>
          </p:cNvPicPr>
          <p:nvPr>
            <a:videoFile r:link="rId1"/>
          </p:nvPr>
        </p:nvPicPr>
        <p:blipFill>
          <a:blip r:embed="rId5"/>
          <a:stretch>
            <a:fillRect/>
          </a:stretch>
        </p:blipFill>
        <p:spPr>
          <a:xfrm>
            <a:off x="1158582" y="1036296"/>
            <a:ext cx="9354909" cy="528553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28651108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playFrom(0.0)">
                                      <p:cBhvr>
                                        <p:cTn id="6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  <p:video>
              <p:cMediaNode vol="80000">
                <p:cTn id="7" fill="hold" display="0">
                  <p:stCondLst>
                    <p:cond delay="indefinite"/>
                  </p:stCondLst>
                </p:cTn>
                <p:tgtEl>
                  <p:spTgt spid="2"/>
                </p:tgtEl>
              </p:cMediaNode>
            </p:video>
            <p:seq concurrent="1" nextAc="seek">
              <p:cTn id="8" restart="whenNotActive" fill="hold" evtFilter="cancelBubble" nodeType="interactiveSeq">
                <p:stCondLst>
                  <p:cond evt="onClick" delay="0">
                    <p:tgtEl>
                      <p:spTgt spid="2"/>
                    </p:tgtEl>
                  </p:cond>
                </p:stCondLst>
                <p:endSync evt="end" delay="0">
                  <p:rtn val="all"/>
                </p:endSync>
                <p:childTnLst>
                  <p:par>
                    <p:cTn id="9" fill="hold">
                      <p:stCondLst>
                        <p:cond delay="0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2" presetClass="mediacall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cmd type="call" cmd="togglePause">
                                      <p:cBhvr>
                                        <p:cTn id="12" dur="1" fill="hold"/>
                                        <p:tgtEl>
                                          <p:spTgt spid="2"/>
                                        </p:tgtEl>
                                      </p:cBhvr>
                                    </p:cmd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nextCondLst>
                <p:cond evt="onClick" delay="0">
                  <p:tgtEl>
                    <p:spTgt spid="2"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75A2408-CA67-6611-DC76-6D35EBFD34E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A597ED4-1ABE-38A8-A789-503D51362E61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Why are there 2-counter blocks?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System clock: SYSCLKOUT = 200 MHz →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T</a:t>
            </a:r>
            <a:r>
              <a:rPr lang="en-US" sz="1800" baseline="-25000" dirty="0" err="1">
                <a:latin typeface="Arial"/>
                <a:ea typeface="Arial"/>
                <a:cs typeface="Arial"/>
                <a:sym typeface="Arial"/>
              </a:rPr>
              <a:t>clk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= 2 ns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baseline="-250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Problem is that the clock is too fast for software: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At 200 MHz: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ms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requires: 200,000 clock ticks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10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ms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requires: 2,000,000 clock ticks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Split the job into 2 counters: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Prescaler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Counter (PSC, TDDR) – Controls speed, defines a unit of time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Main Timer Counter (TIM, PRD) – Controls duration, how much time should pass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One counter decides how </a:t>
            </a:r>
            <a:r>
              <a:rPr lang="en-US" sz="1800" i="1" dirty="0">
                <a:latin typeface="Arial"/>
                <a:ea typeface="Arial"/>
                <a:cs typeface="Arial"/>
                <a:sym typeface="Arial"/>
              </a:rPr>
              <a:t>fast time flows 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and the other decides </a:t>
            </a:r>
            <a:r>
              <a:rPr lang="en-US" sz="1800" i="1" dirty="0">
                <a:latin typeface="Arial"/>
                <a:ea typeface="Arial"/>
                <a:cs typeface="Arial"/>
                <a:sym typeface="Arial"/>
              </a:rPr>
              <a:t>how much time passes.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i="1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With a </a:t>
            </a:r>
            <a:r>
              <a:rPr lang="en-US" sz="1800" dirty="0" err="1">
                <a:latin typeface="Arial"/>
                <a:ea typeface="Arial"/>
                <a:cs typeface="Arial"/>
                <a:sym typeface="Arial"/>
              </a:rPr>
              <a:t>prescaler</a:t>
            </a: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 set to TTDR=199 for example, you now have that a single tick for the main timer counter represents a clean 1 </a:t>
            </a:r>
            <a:r>
              <a:rPr lang="el-GR" sz="1800" dirty="0"/>
              <a:t>μ</a:t>
            </a:r>
            <a:r>
              <a:rPr lang="en-US" sz="1800" dirty="0"/>
              <a:t>s, thus, to ensure that your timer runs every 10 </a:t>
            </a:r>
            <a:r>
              <a:rPr lang="en-US" sz="1800" dirty="0" err="1"/>
              <a:t>ms</a:t>
            </a:r>
            <a:r>
              <a:rPr lang="en-US" sz="1800" dirty="0"/>
              <a:t> you can set PRD = 10,000! Much simpler! 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AAC30045-7CC0-39F9-973B-6A9ACB445D45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31CF0951-1B3E-B309-4F20-4E19E396BACC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4816700-3D02-C248-14E0-D7385ECBA363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4298E33C-250B-E218-DEC7-5D52D056BC70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C4E87641-7FC6-BF33-B11A-0D730B882F90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6DA1D7C8-BB2D-E37E-636E-05687647DBD0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F5443457-B9B5-8D6F-6CBB-732513501BBA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0FAC64C2-1ED3-D0D3-BDF8-D3D9711A180D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020115831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4953FF48-2567-36DF-0E08-872F3456FE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55A3964E-F300-5874-C505-98DA49C7D1E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B7C289BE-F442-1AFA-5A9F-F46ACDF9B8B1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1F492385-0078-432E-BA25-52EF8191B289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AC66DA96-0358-524C-453E-587CB945BB35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65A910AD-7E91-D4AA-5C35-5E6FF9168A0A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F30E51EB-A661-4A04-7D7C-2CF15D53CFAA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8EF036B1-9043-9AA4-FF3E-C616B36FA3A8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257288E5-6EC6-70D1-18E6-CC3127D03C53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pic>
        <p:nvPicPr>
          <p:cNvPr id="6" name="Graphic 5">
            <a:extLst>
              <a:ext uri="{FF2B5EF4-FFF2-40B4-BE49-F238E27FC236}">
                <a16:creationId xmlns:a16="http://schemas.microsoft.com/office/drawing/2014/main" id="{2BCB83CC-7AC6-B0A5-00FA-C78A00ADEF21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891540" y="1039363"/>
            <a:ext cx="10408920" cy="52824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67667218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Shape 117">
          <a:extLst>
            <a:ext uri="{FF2B5EF4-FFF2-40B4-BE49-F238E27FC236}">
              <a16:creationId xmlns:a16="http://schemas.microsoft.com/office/drawing/2014/main" id="{87016ADF-792F-CCA1-AA92-D17767A2AD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29">
            <a:extLst>
              <a:ext uri="{FF2B5EF4-FFF2-40B4-BE49-F238E27FC236}">
                <a16:creationId xmlns:a16="http://schemas.microsoft.com/office/drawing/2014/main" id="{C5F006A6-8226-869F-CC6D-7DF09AF771C4}"/>
              </a:ext>
            </a:extLst>
          </p:cNvPr>
          <p:cNvSpPr txBox="1">
            <a:spLocks noGrp="1"/>
          </p:cNvSpPr>
          <p:nvPr>
            <p:ph type="body" idx="1"/>
          </p:nvPr>
        </p:nvSpPr>
        <p:spPr>
          <a:xfrm>
            <a:off x="376809" y="1334279"/>
            <a:ext cx="11177401" cy="4945509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The timer controls: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Control loop sampling rate ( user defined controller )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Task scheduling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PWM updates</a:t>
            </a: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285750" indent="-285750">
              <a:lnSpc>
                <a:spcPct val="100000"/>
              </a:lnSpc>
              <a:spcBef>
                <a:spcPts val="0"/>
              </a:spcBef>
              <a:buSzPts val="3000"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r>
              <a:rPr lang="en-US" sz="1800" dirty="0">
                <a:latin typeface="Arial"/>
                <a:ea typeface="Arial"/>
                <a:cs typeface="Arial"/>
                <a:sym typeface="Arial"/>
              </a:rPr>
              <a:t>Can control interrupt how often the software interrupts get called:</a:t>
            </a: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114300" indent="0" algn="l">
              <a:buNone/>
            </a:pP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Configure CPU-Timer 0, 1, and 2 to interrupt every given period:</a:t>
            </a:r>
          </a:p>
          <a:p>
            <a:pPr marL="114300" indent="0" algn="l">
              <a:buNone/>
            </a:pP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// 200MHz CPU Freq,                       Period (in </a:t>
            </a:r>
            <a:r>
              <a:rPr lang="en-US" sz="1800" dirty="0" err="1">
                <a:solidFill>
                  <a:srgbClr val="3F7F5F"/>
                </a:solidFill>
                <a:latin typeface="Consolas" panose="020B0609020204030204" pitchFamily="49" charset="0"/>
              </a:rPr>
              <a:t>uSeconds</a:t>
            </a:r>
            <a:r>
              <a:rPr lang="en-US" sz="1800" dirty="0">
                <a:solidFill>
                  <a:srgbClr val="3F7F5F"/>
                </a:solidFill>
                <a:latin typeface="Consolas" panose="020B0609020204030204" pitchFamily="49" charset="0"/>
              </a:rPr>
              <a:t>)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ConfigCpuTimer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(&amp;CpuTimer0, LAUNCHPAD_CPU_FREQUENCY, 10000);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ConfigCpuTimer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(&amp;CpuTimer1, LAUNCHPAD_CPU_FREQUENCY, 20000);</a:t>
            </a:r>
          </a:p>
          <a:p>
            <a:pPr marL="114300" indent="0" algn="l">
              <a:buNone/>
            </a:pPr>
            <a:r>
              <a:rPr lang="en-US" sz="1800" dirty="0" err="1">
                <a:solidFill>
                  <a:srgbClr val="642880"/>
                </a:solidFill>
                <a:latin typeface="Consolas" panose="020B0609020204030204" pitchFamily="49" charset="0"/>
              </a:rPr>
              <a:t>ConfigCpuTimer</a:t>
            </a:r>
            <a:r>
              <a:rPr lang="en-US" sz="1800" dirty="0">
                <a:solidFill>
                  <a:srgbClr val="000000"/>
                </a:solidFill>
                <a:latin typeface="Consolas" panose="020B0609020204030204" pitchFamily="49" charset="0"/>
              </a:rPr>
              <a:t>(&amp;CpuTimer2, LAUNCHPAD_CPU_FREQUENCY, 40000);</a:t>
            </a: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  <a:p>
            <a:pPr marL="0" indent="0">
              <a:lnSpc>
                <a:spcPct val="100000"/>
              </a:lnSpc>
              <a:spcBef>
                <a:spcPts val="0"/>
              </a:spcBef>
              <a:buSzPts val="3000"/>
              <a:buNone/>
            </a:pPr>
            <a:endParaRPr lang="en-US" sz="1800" dirty="0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9" name="Google Shape;119;p29">
            <a:extLst>
              <a:ext uri="{FF2B5EF4-FFF2-40B4-BE49-F238E27FC236}">
                <a16:creationId xmlns:a16="http://schemas.microsoft.com/office/drawing/2014/main" id="{7C13347D-81DD-2C1F-7B05-1EF26AA8E022}"/>
              </a:ext>
            </a:extLst>
          </p:cNvPr>
          <p:cNvSpPr/>
          <p:nvPr/>
        </p:nvSpPr>
        <p:spPr>
          <a:xfrm rot="10800000" flipH="1">
            <a:off x="0" y="0"/>
            <a:ext cx="12192000" cy="868220"/>
          </a:xfrm>
          <a:prstGeom prst="rect">
            <a:avLst/>
          </a:prstGeom>
          <a:solidFill>
            <a:srgbClr val="13294B"/>
          </a:solidFill>
          <a:ln>
            <a:noFill/>
          </a:ln>
        </p:spPr>
        <p:txBody>
          <a:bodyPr spcFirstLastPara="1" wrap="square" lIns="91425" tIns="45700" rIns="91425" bIns="45700" anchor="ctr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Font typeface="Calibri"/>
              <a:buNone/>
            </a:pPr>
            <a:endParaRPr sz="1800" b="0" i="0" u="none" strike="noStrike" cap="none">
              <a:solidFill>
                <a:srgbClr val="13294B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0" name="Google Shape;120;p29">
            <a:extLst>
              <a:ext uri="{FF2B5EF4-FFF2-40B4-BE49-F238E27FC236}">
                <a16:creationId xmlns:a16="http://schemas.microsoft.com/office/drawing/2014/main" id="{06562AB7-600D-841A-B491-FB2AE150429B}"/>
              </a:ext>
            </a:extLst>
          </p:cNvPr>
          <p:cNvSpPr txBox="1"/>
          <p:nvPr/>
        </p:nvSpPr>
        <p:spPr>
          <a:xfrm>
            <a:off x="376810" y="204051"/>
            <a:ext cx="10910026" cy="461624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lang="en-US" sz="2400" b="0" i="0" u="none" strike="noStrike" cap="none" dirty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What is a timer?</a:t>
            </a:r>
            <a:endParaRPr sz="2400" b="0" i="0" u="none" strike="noStrike" cap="none" dirty="0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id="121" name="Google Shape;121;p29">
            <a:extLst>
              <a:ext uri="{FF2B5EF4-FFF2-40B4-BE49-F238E27FC236}">
                <a16:creationId xmlns:a16="http://schemas.microsoft.com/office/drawing/2014/main" id="{96E730D0-44C7-EC82-7138-C3802602FF7E}"/>
              </a:ext>
            </a:extLst>
          </p:cNvPr>
          <p:cNvPicPr preferRelativeResize="0"/>
          <p:nvPr/>
        </p:nvPicPr>
        <p:blipFill rotWithShape="1">
          <a:blip r:embed="rId3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29">
            <a:extLst>
              <a:ext uri="{FF2B5EF4-FFF2-40B4-BE49-F238E27FC236}">
                <a16:creationId xmlns:a16="http://schemas.microsoft.com/office/drawing/2014/main" id="{877CC407-3551-B507-97A4-8F6D91AC5803}"/>
              </a:ext>
            </a:extLst>
          </p:cNvPr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123" name="Google Shape;123;p29">
            <a:extLst>
              <a:ext uri="{FF2B5EF4-FFF2-40B4-BE49-F238E27FC236}">
                <a16:creationId xmlns:a16="http://schemas.microsoft.com/office/drawing/2014/main" id="{F966AF9F-3916-2F50-2804-4F737D0587C1}"/>
              </a:ext>
            </a:extLst>
          </p:cNvPr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rgbClr val="13294B"/>
                </a:solidFill>
              </a:rPr>
              <a:t>SYSTEMS ENGINEERING </a:t>
            </a:r>
            <a:endParaRPr dirty="0"/>
          </a:p>
        </p:txBody>
      </p:sp>
      <p:grpSp>
        <p:nvGrpSpPr>
          <p:cNvPr id="124" name="Google Shape;124;p29">
            <a:extLst>
              <a:ext uri="{FF2B5EF4-FFF2-40B4-BE49-F238E27FC236}">
                <a16:creationId xmlns:a16="http://schemas.microsoft.com/office/drawing/2014/main" id="{41A7FF96-5EBD-79A0-EA80-CD77D906CD26}"/>
              </a:ext>
            </a:extLst>
          </p:cNvPr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125" name="Google Shape;125;p29">
              <a:extLst>
                <a:ext uri="{FF2B5EF4-FFF2-40B4-BE49-F238E27FC236}">
                  <a16:creationId xmlns:a16="http://schemas.microsoft.com/office/drawing/2014/main" id="{DD274538-35A5-F814-1DC7-4B679DA92293}"/>
                </a:ext>
              </a:extLst>
            </p:cNvPr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rgbClr val="13294B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126" name="Google Shape;126;p29">
              <a:extLst>
                <a:ext uri="{FF2B5EF4-FFF2-40B4-BE49-F238E27FC236}">
                  <a16:creationId xmlns:a16="http://schemas.microsoft.com/office/drawing/2014/main" id="{82BD0738-AF42-4397-DA92-9C081ABA6AAF}"/>
                </a:ext>
              </a:extLst>
            </p:cNvPr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rgbClr val="13294B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rgbClr val="13294B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83109436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37"/>
          <p:cNvSpPr txBox="1"/>
          <p:nvPr/>
        </p:nvSpPr>
        <p:spPr>
          <a:xfrm>
            <a:off x="2275515" y="2416680"/>
            <a:ext cx="7640969" cy="202464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noAutofit/>
          </a:bodyPr>
          <a:lstStyle/>
          <a:p>
            <a:pPr lvl="0" algn="ctr"/>
            <a:r>
              <a:rPr lang="en-US" sz="8800" b="1" dirty="0">
                <a:solidFill>
                  <a:schemeClr val="lt1"/>
                </a:solidFill>
              </a:rPr>
              <a:t>Questions</a:t>
            </a:r>
            <a:r>
              <a:rPr lang="en-US" sz="7200" b="1" dirty="0">
                <a:solidFill>
                  <a:schemeClr val="lt1"/>
                </a:solidFill>
              </a:rPr>
              <a:t>?</a:t>
            </a:r>
          </a:p>
          <a:p>
            <a:pPr lvl="0" algn="ctr"/>
            <a:r>
              <a:rPr lang="en-US" sz="3200" b="1" dirty="0">
                <a:solidFill>
                  <a:schemeClr val="lt1"/>
                </a:solidFill>
              </a:rPr>
              <a:t>(Lecture Wednesday online or not?)</a:t>
            </a:r>
          </a:p>
        </p:txBody>
      </p:sp>
      <p:pic>
        <p:nvPicPr>
          <p:cNvPr id="265" name="Google Shape;265;p37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11557509" y="233819"/>
            <a:ext cx="271308" cy="389810"/>
          </a:xfrm>
          <a:prstGeom prst="rect">
            <a:avLst/>
          </a:prstGeom>
          <a:noFill/>
          <a:ln>
            <a:noFill/>
          </a:ln>
        </p:spPr>
      </p:pic>
      <p:sp>
        <p:nvSpPr>
          <p:cNvPr id="266" name="Google Shape;266;p37"/>
          <p:cNvSpPr txBox="1"/>
          <p:nvPr/>
        </p:nvSpPr>
        <p:spPr>
          <a:xfrm>
            <a:off x="9335597" y="6524381"/>
            <a:ext cx="2473415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GRAINGER ENGINEERING</a:t>
            </a:r>
            <a:endParaRPr/>
          </a:p>
        </p:txBody>
      </p:sp>
      <p:sp>
        <p:nvSpPr>
          <p:cNvPr id="267" name="Google Shape;267;p37"/>
          <p:cNvSpPr txBox="1"/>
          <p:nvPr/>
        </p:nvSpPr>
        <p:spPr>
          <a:xfrm>
            <a:off x="376807" y="6524381"/>
            <a:ext cx="7991337" cy="230792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t" anchorCtr="0">
            <a:spAutoFit/>
          </a:bodyPr>
          <a:lstStyle/>
          <a:p>
            <a:pPr marL="0" marR="0" lvl="0" indent="0" algn="l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r>
              <a:rPr lang="en-US" sz="900" dirty="0">
                <a:solidFill>
                  <a:schemeClr val="lt1"/>
                </a:solidFill>
              </a:rPr>
              <a:t>SYSTEMS ENGINEERING </a:t>
            </a:r>
            <a:endParaRPr dirty="0"/>
          </a:p>
        </p:txBody>
      </p:sp>
      <p:grpSp>
        <p:nvGrpSpPr>
          <p:cNvPr id="268" name="Google Shape;268;p37"/>
          <p:cNvGrpSpPr/>
          <p:nvPr/>
        </p:nvGrpSpPr>
        <p:grpSpPr>
          <a:xfrm>
            <a:off x="4066674" y="6601537"/>
            <a:ext cx="5233412" cy="70446"/>
            <a:chOff x="4033424" y="6601537"/>
            <a:chExt cx="5233412" cy="70446"/>
          </a:xfrm>
        </p:grpSpPr>
        <p:cxnSp>
          <p:nvCxnSpPr>
            <p:cNvPr id="269" name="Google Shape;269;p37"/>
            <p:cNvCxnSpPr/>
            <p:nvPr/>
          </p:nvCxnSpPr>
          <p:spPr>
            <a:xfrm rot="10800000">
              <a:off x="4033424" y="6639606"/>
              <a:ext cx="5164651" cy="0"/>
            </a:xfrm>
            <a:prstGeom prst="straightConnector1">
              <a:avLst/>
            </a:prstGeom>
            <a:noFill/>
            <a:ln w="9525" cap="flat" cmpd="sng">
              <a:solidFill>
                <a:schemeClr val="lt1"/>
              </a:solidFill>
              <a:prstDash val="solid"/>
              <a:round/>
              <a:headEnd type="none" w="sm" len="sm"/>
              <a:tailEnd type="none" w="sm" len="sm"/>
            </a:ln>
          </p:spPr>
        </p:cxnSp>
        <p:sp>
          <p:nvSpPr>
            <p:cNvPr id="270" name="Google Shape;270;p37"/>
            <p:cNvSpPr/>
            <p:nvPr/>
          </p:nvSpPr>
          <p:spPr>
            <a:xfrm>
              <a:off x="9196390" y="6601537"/>
              <a:ext cx="70446" cy="70446"/>
            </a:xfrm>
            <a:prstGeom prst="ellipse">
              <a:avLst/>
            </a:prstGeom>
            <a:solidFill>
              <a:schemeClr val="lt1"/>
            </a:solidFill>
            <a:ln>
              <a:noFill/>
            </a:ln>
          </p:spPr>
          <p:txBody>
            <a:bodyPr spcFirstLastPara="1" wrap="square" lIns="91425" tIns="45700" rIns="91425" bIns="45700" anchor="ctr" anchorCtr="0">
              <a:noAutofit/>
            </a:bodyPr>
            <a:lstStyle/>
            <a:p>
              <a:pPr marL="0" marR="0" lvl="0" indent="0" algn="ctr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None/>
              </a:pPr>
              <a:endParaRPr sz="1400" b="0" i="0" u="none" strike="noStrike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blipFill>
          <a:blip r:embed="rId3">
            <a:alphaModFix/>
          </a:blip>
          <a:stretch>
            <a:fillRect/>
          </a:stretch>
        </a:blipFill>
        <a:effectLst/>
      </p:bgPr>
    </p:bg>
    <p:spTree>
      <p:nvGrpSpPr>
        <p:cNvPr id="1" name="Shape 2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75" name="Google Shape;275;p38"/>
          <p:cNvPicPr preferRelativeResize="0"/>
          <p:nvPr/>
        </p:nvPicPr>
        <p:blipFill rotWithShape="1">
          <a:blip r:embed="rId4">
            <a:alphaModFix/>
          </a:blip>
          <a:srcRect/>
          <a:stretch/>
        </p:blipFill>
        <p:spPr>
          <a:xfrm>
            <a:off x="2259350" y="2791508"/>
            <a:ext cx="5414193" cy="127498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1487</TotalTime>
  <Words>2434</Words>
  <Application>Microsoft Office PowerPoint</Application>
  <PresentationFormat>Widescreen</PresentationFormat>
  <Paragraphs>511</Paragraphs>
  <Slides>29</Slides>
  <Notes>29</Notes>
  <HiddenSlides>0</HiddenSlides>
  <MMClips>1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3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creator>Nielsen, Joshua</dc:creator>
  <cp:lastModifiedBy>Juston, Marius F</cp:lastModifiedBy>
  <cp:revision>141</cp:revision>
  <dcterms:created xsi:type="dcterms:W3CDTF">2019-01-14T22:06:33Z</dcterms:created>
  <dcterms:modified xsi:type="dcterms:W3CDTF">2026-01-30T20:41:44Z</dcterms:modified>
</cp:coreProperties>
</file>