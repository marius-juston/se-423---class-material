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1"/>
  </p:notesMasterIdLst>
  <p:sldIdLst>
    <p:sldId id="256" r:id="rId2"/>
    <p:sldId id="257" r:id="rId3"/>
    <p:sldId id="271" r:id="rId4"/>
    <p:sldId id="274" r:id="rId5"/>
    <p:sldId id="275" r:id="rId6"/>
    <p:sldId id="276" r:id="rId7"/>
    <p:sldId id="258" r:id="rId8"/>
    <p:sldId id="277" r:id="rId9"/>
    <p:sldId id="272" r:id="rId10"/>
    <p:sldId id="278" r:id="rId11"/>
    <p:sldId id="279" r:id="rId12"/>
    <p:sldId id="280" r:id="rId13"/>
    <p:sldId id="281" r:id="rId14"/>
    <p:sldId id="289" r:id="rId15"/>
    <p:sldId id="288" r:id="rId16"/>
    <p:sldId id="282" r:id="rId17"/>
    <p:sldId id="283" r:id="rId18"/>
    <p:sldId id="285" r:id="rId19"/>
    <p:sldId id="286" r:id="rId20"/>
    <p:sldId id="287" r:id="rId21"/>
    <p:sldId id="290" r:id="rId22"/>
    <p:sldId id="291" r:id="rId23"/>
    <p:sldId id="292" r:id="rId24"/>
    <p:sldId id="295" r:id="rId25"/>
    <p:sldId id="296" r:id="rId26"/>
    <p:sldId id="293" r:id="rId27"/>
    <p:sldId id="294" r:id="rId28"/>
    <p:sldId id="269" r:id="rId29"/>
    <p:sldId id="270"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7740" autoAdjust="0"/>
  </p:normalViewPr>
  <p:slideViewPr>
    <p:cSldViewPr snapToGrid="0">
      <p:cViewPr varScale="1">
        <p:scale>
          <a:sx n="123" d="100"/>
          <a:sy n="123" d="100"/>
        </p:scale>
        <p:origin x="169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2: Peripherals, presented by Marius Juston on Monday, January 26th, 2026. It shows the University of Illinois Urbana-Champaign logo and a cartoon of a person in a puffy coat, scarf and pom-pom hat frozen in a block of ice next to a small googly-eyed robot, also frozen, a nod to the frigid weather.</a:t>
            </a:r>
          </a:p>
          <a:p>
            <a:pPr marL="0" lvl="0" indent="0" algn="l" rtl="0">
              <a:spcBef>
                <a:spcPts val="0"/>
              </a:spcBef>
              <a:spcAft>
                <a:spcPts val="600"/>
              </a:spcAft>
              <a:buNone/>
            </a:pPr>
            <a:r>
              <a:rPr lang="en-US" dirty="0"/>
              <a:t>I hope most of your classes have been cancelled or moved to Zoom. Quick check: did all of you get my Canvas email, or should I send it by regular email or as an announcement?</a:t>
            </a:r>
          </a:p>
          <a:p>
            <a:pPr marL="0" lvl="0" indent="0" algn="l" rtl="0">
              <a:spcBef>
                <a:spcPts val="0"/>
              </a:spcBef>
              <a:spcAft>
                <a:spcPts val="600"/>
              </a:spcAft>
              <a:buNone/>
            </a:pPr>
            <a:r>
              <a:rPr lang="en-US" dirty="0"/>
              <a:t>Today you see how the Red Board talks to its peripherals: registers, memory-mapped I/O, GPIO, bit manipulation and timers.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large word "Questions?" with the line "How was the first lab? Enjoyed it?" beneath it. The dark blue background carries faint hand-drawn engineering sketches, purely decorative.</a:t>
            </a:r>
          </a:p>
          <a:p>
            <a:pPr marL="0" lvl="0" indent="0" algn="l" rtl="0">
              <a:spcBef>
                <a:spcPts val="0"/>
              </a:spcBef>
              <a:spcAft>
                <a:spcPts val="600"/>
              </a:spcAft>
              <a:buNone/>
            </a:pPr>
            <a:r>
              <a:rPr lang="en-US" dirty="0"/>
              <a:t>Before new material, this is your chance to ask about anything from Lecture 1 or to share how the first lab session went: what worked, what was confusing, what you enjoyed.</a:t>
            </a:r>
          </a:p>
          <a:p>
            <a:pPr marL="0" lvl="0" indent="0" algn="l" rtl="0">
              <a:spcBef>
                <a:spcPts val="0"/>
              </a:spcBef>
              <a:spcAft>
                <a:spcPts val="600"/>
              </a:spcAft>
              <a:buNone/>
            </a:pPr>
            <a:r>
              <a:rPr lang="en-US" dirty="0"/>
              <a:t>Next comes Office Hours, the best place to bring questions that need more time than class allows.</a:t>
            </a: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office hours under the heading "Times." On Monday, Samuel holds hours from 4 to 6 PM. On Tuesday there are three blocks: Lakshmi from 11 AM to 1 PM, Neel from 1 to 3 PM, and Dan and Marius together from 2 to 5 PM. Tuesday afternoon has overlapping coverage between 2 and 3 PM.</a:t>
            </a:r>
          </a:p>
          <a:p>
            <a:pPr marL="0" lvl="0" indent="0" algn="l" rtl="0">
              <a:lnSpc>
                <a:spcPct val="100000"/>
              </a:lnSpc>
              <a:spcBef>
                <a:spcPts val="0"/>
              </a:spcBef>
              <a:spcAft>
                <a:spcPts val="600"/>
              </a:spcAft>
              <a:buSzPts val="1400"/>
              <a:buNone/>
            </a:pPr>
            <a:r>
              <a:rPr lang="en-US" dirty="0"/>
              <a:t>Office hours are for setting up Code Composer Studio, finishing your soldering, and getting check-offs for homeworks, labs, or LabVIEW. Code Composer is not required for the homeworks, but having it working on your own machine helps. Soldering is Exercise 2 of Homework 1, so office hours are a good place to finish it.</a:t>
            </a:r>
          </a:p>
          <a:p>
            <a:pPr marL="0" lvl="0" indent="0" algn="l" rtl="0">
              <a:lnSpc>
                <a:spcPct val="100000"/>
              </a:lnSpc>
              <a:spcBef>
                <a:spcPts val="0"/>
              </a:spcBef>
              <a:spcAft>
                <a:spcPts val="600"/>
              </a:spcAft>
              <a:buSzPts val="1400"/>
              <a:buNone/>
            </a:pPr>
            <a:r>
              <a:rPr lang="en-US" dirty="0"/>
              <a:t>Check-offs need an instructor or TA, and the queue gets long right before a deadline. If you wait until the last session, you may not get seen. Come in early in the week.</a:t>
            </a:r>
          </a:p>
          <a:p>
            <a:pPr marL="0" lvl="0" indent="0" algn="l" rtl="0">
              <a:lnSpc>
                <a:spcPct val="100000"/>
              </a:lnSpc>
              <a:spcBef>
                <a:spcPts val="0"/>
              </a:spcBef>
              <a:spcAft>
                <a:spcPts val="600"/>
              </a:spcAft>
              <a:buSzPts val="1400"/>
              <a:buNone/>
            </a:pPr>
            <a:r>
              <a:rPr lang="en-US" dirty="0"/>
              <a:t>Next, the due dates show exactly which Homework 1 questions need check-offs and when they are due.</a:t>
            </a:r>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F8C6CA-881C-831D-A68C-FC172238B4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E868FB-C2CC-0118-8490-F144740BF9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upcoming due dates in three sections with red headings: Lab, Homeworks, and LabVIEW. "Lab 1," "homework 1," and "LabVIEW 1" are blue underlined links to the assignment documents, and the deadlines are in bold.</a:t>
            </a:r>
          </a:p>
          <a:p>
            <a:pPr marL="0" lvl="0" indent="0" algn="l" rtl="0">
              <a:lnSpc>
                <a:spcPct val="100000"/>
              </a:lnSpc>
              <a:spcBef>
                <a:spcPts val="0"/>
              </a:spcBef>
              <a:spcAft>
                <a:spcPts val="600"/>
              </a:spcAft>
              <a:buSzPts val="1400"/>
              <a:buNone/>
            </a:pPr>
            <a:r>
              <a:rPr lang="en-US" dirty="0"/>
              <a:t>Under Lab: you start Lab 1 this week, and it uses C, so come prepared. To get started in C, do Exercise 1 of Homework 1. You cannot use Code Composer for that exercise; an online C compiler is enough. Lab 1 is a one-week lab, and some later labs run longer.</a:t>
            </a:r>
          </a:p>
          <a:p>
            <a:pPr marL="0" lvl="0" indent="0" algn="l" rtl="0">
              <a:lnSpc>
                <a:spcPct val="100000"/>
              </a:lnSpc>
              <a:spcBef>
                <a:spcPts val="0"/>
              </a:spcBef>
              <a:spcAft>
                <a:spcPts val="600"/>
              </a:spcAft>
              <a:buSzPts val="1400"/>
              <a:buNone/>
            </a:pPr>
            <a:r>
              <a:rPr lang="en-US" dirty="0"/>
              <a:t>Under Homeworks: all check-offs for Homework 1 are due February 3 at 5 PM. Questions 2, 3, 5, 7, 8, 9 and 10 must be checked off in person by an instructor or TA. Answers and code submissions for Homework 1 are due February 4 at 9 AM. Late work is not accepted, because these assignments are individual. Soldering is Exercise 2 of Homework 1.</a:t>
            </a:r>
          </a:p>
          <a:p>
            <a:pPr marL="0" lvl="0" indent="0" algn="l" rtl="0">
              <a:lnSpc>
                <a:spcPct val="100000"/>
              </a:lnSpc>
              <a:spcBef>
                <a:spcPts val="0"/>
              </a:spcBef>
              <a:spcAft>
                <a:spcPts val="600"/>
              </a:spcAft>
              <a:buSzPts val="1400"/>
              <a:buNone/>
            </a:pPr>
            <a:r>
              <a:rPr lang="en-US" dirty="0"/>
              <a:t>Under LabVIEW: all check-offs for LabVIEW 1 are due February 5 at 5 PM.</a:t>
            </a:r>
          </a:p>
          <a:p>
            <a:pPr marL="0" lvl="0" indent="0" algn="l" rtl="0">
              <a:lnSpc>
                <a:spcPct val="100000"/>
              </a:lnSpc>
              <a:spcBef>
                <a:spcPts val="0"/>
              </a:spcBef>
              <a:spcAft>
                <a:spcPts val="600"/>
              </a:spcAft>
              <a:buSzPts val="1400"/>
              <a:buNone/>
            </a:pPr>
            <a:r>
              <a:rPr lang="en-US" dirty="0"/>
              <a:t>Note that the check-off deadline comes before the submission deadline. Use the office hours from the previous slide early, because they get crowded near deadlines.</a:t>
            </a:r>
          </a:p>
          <a:p>
            <a:pPr marL="0" lvl="0" indent="0" algn="l" rtl="0">
              <a:lnSpc>
                <a:spcPct val="100000"/>
              </a:lnSpc>
              <a:spcBef>
                <a:spcPts val="0"/>
              </a:spcBef>
              <a:spcAft>
                <a:spcPts val="600"/>
              </a:spcAft>
              <a:buSzPts val="1400"/>
              <a:buNone/>
            </a:pPr>
            <a:r>
              <a:rPr lang="en-US" dirty="0"/>
              <a:t>Next, we look further ahead to the semester project.</a:t>
            </a:r>
          </a:p>
        </p:txBody>
      </p:sp>
      <p:sp>
        <p:nvSpPr>
          <p:cNvPr id="116" name="Google Shape;116;p29:notes">
            <a:extLst>
              <a:ext uri="{FF2B5EF4-FFF2-40B4-BE49-F238E27FC236}">
                <a16:creationId xmlns:a16="http://schemas.microsoft.com/office/drawing/2014/main" id="{8C441899-808F-CE82-1C7A-518EB00609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3940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DEDADA-5225-64E9-5957-E6FF531CB85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B0BF354B-0C63-6FD5-49BB-33D722553D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titled Semester Project, gives the date and time of the project event: Thursday, May 14th, from 11 AM to 2 PM. That is the last day of finals, and the slide adds, "yes, I know that's annoying." In large text at the bottom, highlighted in red, it says attendance is mandatory.</a:t>
            </a:r>
          </a:p>
          <a:p>
            <a:pPr marL="0" lvl="0" indent="0" algn="l" rtl="0">
              <a:spcBef>
                <a:spcPts val="0"/>
              </a:spcBef>
              <a:spcAft>
                <a:spcPts val="600"/>
              </a:spcAft>
              <a:buNone/>
            </a:pPr>
            <a:r>
              <a:rPr lang="en-US" dirty="0"/>
              <a:t>Put this date in your calendar now, and plan any travel around it. If you have questions about it, bring them to office hours. Next, you see what you build for the project website.</a:t>
            </a:r>
          </a:p>
        </p:txBody>
      </p:sp>
      <p:sp>
        <p:nvSpPr>
          <p:cNvPr id="87" name="Google Shape;87;p27:notes">
            <a:extLst>
              <a:ext uri="{FF2B5EF4-FFF2-40B4-BE49-F238E27FC236}">
                <a16:creationId xmlns:a16="http://schemas.microsoft.com/office/drawing/2014/main" id="{E1221BEA-B11F-4D08-B7C9-8423E27409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86475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2A0246F-0340-08E7-4D04-E2FBC0692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207A6BB-DBA7-3EB9-E887-D86A8E501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the second semester project slide, titled "Website." On the previous slide you saw when the final project demonstration happens. This slide covers the other half of the project: documenting your work online.</a:t>
            </a:r>
          </a:p>
          <a:p>
            <a:pPr marL="0" lvl="0" indent="0" algn="l" rtl="0">
              <a:lnSpc>
                <a:spcPct val="100000"/>
              </a:lnSpc>
              <a:spcBef>
                <a:spcPts val="0"/>
              </a:spcBef>
              <a:spcAft>
                <a:spcPts val="600"/>
              </a:spcAft>
              <a:buSzPts val="1400"/>
              <a:buNone/>
            </a:pPr>
            <a:r>
              <a:rPr lang="en-US" dirty="0"/>
              <a:t>The slide says you will create a Hackster.io website that shows what you have done by the end of the semester. Hackster.io, linked on the slide, is a public site where engineers and hobbyists post hardware and embedded projects, usually with a write-up, photos, video, and source code. A bulleted list gives three things to include. First, a video of your project working. Second, your code. Third, highlighted in red: show any other cool stuff you do. The slide ends with a reminder that the page is publicly visible, so put your best effort into it, and that you can show it in interviews.</a:t>
            </a:r>
          </a:p>
          <a:p>
            <a:pPr marL="0" lvl="0" indent="0" algn="l" rtl="0">
              <a:lnSpc>
                <a:spcPct val="100000"/>
              </a:lnSpc>
              <a:spcBef>
                <a:spcPts val="0"/>
              </a:spcBef>
              <a:spcAft>
                <a:spcPts val="600"/>
              </a:spcAft>
              <a:buSzPts val="1400"/>
              <a:buNone/>
            </a:pPr>
            <a:r>
              <a:rPr lang="en-US" dirty="0"/>
              <a:t>That last point matters. A live demo is seen once by a few people. A well-made project page stays up and gives a recruiter concrete evidence of what you built. A common mistake is to leave the page until the very end and write it from memory. Instead, record short videos and save working versions of your code as you hit milestones during the semester. Then the page is mostly assembled when you need it.</a:t>
            </a:r>
          </a:p>
          <a:p>
            <a:pPr marL="0" lvl="0" indent="0" algn="l" rtl="0">
              <a:lnSpc>
                <a:spcPct val="100000"/>
              </a:lnSpc>
              <a:spcBef>
                <a:spcPts val="0"/>
              </a:spcBef>
              <a:spcAft>
                <a:spcPts val="600"/>
              </a:spcAft>
              <a:buSzPts val="1400"/>
              <a:buNone/>
            </a:pPr>
            <a:r>
              <a:rPr lang="en-US" dirty="0"/>
              <a:t>Before you can build anything worth showing, you need to understand how the Red Board's microcontroller talks to its hardware. That is where the lecture goes next: registers and memory-mapped I/O.</a:t>
            </a:r>
          </a:p>
        </p:txBody>
      </p:sp>
      <p:sp>
        <p:nvSpPr>
          <p:cNvPr id="116" name="Google Shape;116;p29:notes">
            <a:extLst>
              <a:ext uri="{FF2B5EF4-FFF2-40B4-BE49-F238E27FC236}">
                <a16:creationId xmlns:a16="http://schemas.microsoft.com/office/drawing/2014/main" id="{F2B107F5-18B0-AF04-42E2-7B012C2E4F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78334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"Registers" in large dark blue text on an orange background, with faint hand-drawn equations and sketches behind it and the Illinois logo in the corner.</a:t>
            </a:r>
          </a:p>
          <a:p>
            <a:pPr marL="0" lvl="0" indent="0" algn="l" rtl="0">
              <a:spcBef>
                <a:spcPts val="0"/>
              </a:spcBef>
              <a:spcAft>
                <a:spcPts val="600"/>
              </a:spcAft>
              <a:buNone/>
            </a:pPr>
            <a:r>
              <a:rPr lang="en-US" dirty="0"/>
              <a:t>With the course logistics and the semester project covered, you now move into the technical core of Lecture 2: how the TMS320F28379D's CPU controls its peripherals. Every peripheral, from GPIO to PWM to the ADC, is configured by reading and writing registers. The next slide explains why that works: on this chip, peripherals live at memory addresses, just like RAM and flash.</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F328BB-3062-BEAF-9BC9-E942CCBAA4C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8D0EEE-2A41-EE1A-0E7B-AC6220641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Memory-Mapped I/O. It is text only, with no figures. The opening line, in bold, says the CPU only knows one thing: memory addresses. A short list then notes that on the TMS320F2837xD, RAM has addresses, Flash has addresses, and peripherals also have addresses. This arrangement is called Memory-Mapped I/O, abbreviated MMIO. The slide ends with a definition: a peripheral is a hardware module whose control and status registers are mapped to fixed memory addresses, so the CPU configures and controls hardware simply by reading from and writing to memory.</a:t>
            </a:r>
          </a:p>
          <a:p>
            <a:pPr marL="0" lvl="0" indent="0" algn="l" rtl="0">
              <a:lnSpc>
                <a:spcPct val="100000"/>
              </a:lnSpc>
              <a:spcBef>
                <a:spcPts val="0"/>
              </a:spcBef>
              <a:spcAft>
                <a:spcPts val="600"/>
              </a:spcAft>
              <a:buSzPts val="1400"/>
              <a:buNone/>
            </a:pPr>
            <a:r>
              <a:rPr lang="en-US" dirty="0"/>
              <a:t>We just introduced registers, and this slide explains how the CPU reaches them. The processor has no special "talk to the PWM" instruction. Every load and store goes to an address. Some addresses land in RAM, where your variables live. Some land in Flash, where your program is stored. Others are wired to the control and status registers of the GPIO, timers, ePWM, ADC, and so on. Writing a number to one of those addresses can turn on a pin or start a timer. Reading from one tells you whether a conversion is finished.</a:t>
            </a:r>
          </a:p>
          <a:p>
            <a:pPr marL="0" lvl="0" indent="0" algn="l" rtl="0">
              <a:lnSpc>
                <a:spcPct val="100000"/>
              </a:lnSpc>
              <a:spcBef>
                <a:spcPts val="0"/>
              </a:spcBef>
              <a:spcAft>
                <a:spcPts val="600"/>
              </a:spcAft>
              <a:buSzPts val="1400"/>
              <a:buNone/>
            </a:pPr>
            <a:r>
              <a:rPr lang="en-US" dirty="0"/>
              <a:t>One common surprise is that a peripheral register does not behave like ordinary memory. Its value can change on its own, for example when a status flag is set by hardware. A write can also trigger an action. This is why TI's header files declare these registers volatile, so the compiler never skips or reorders those reads and writes.</a:t>
            </a:r>
          </a:p>
          <a:p>
            <a:pPr marL="0" lvl="0" indent="0" algn="l" rtl="0">
              <a:lnSpc>
                <a:spcPct val="100000"/>
              </a:lnSpc>
              <a:spcBef>
                <a:spcPts val="0"/>
              </a:spcBef>
              <a:spcAft>
                <a:spcPts val="600"/>
              </a:spcAft>
              <a:buSzPts val="1400"/>
              <a:buNone/>
            </a:pPr>
            <a:r>
              <a:rPr lang="en-US" dirty="0"/>
              <a:t>Next, we look at how these registers are organized into system and peripheral registers, each found at a base address plus an offset.</a:t>
            </a:r>
          </a:p>
        </p:txBody>
      </p:sp>
      <p:sp>
        <p:nvSpPr>
          <p:cNvPr id="116" name="Google Shape;116;p29:notes">
            <a:extLst>
              <a:ext uri="{FF2B5EF4-FFF2-40B4-BE49-F238E27FC236}">
                <a16:creationId xmlns:a16="http://schemas.microsoft.com/office/drawing/2014/main" id="{A34408D0-82C1-683F-B1BB-9831CA3E95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275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BBF50-D5B8-2A36-4BAF-6A768B0D2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005934-3152-262D-A0E2-BB7CC8D73C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"System and Peripheral Registers," is text only. It defines a peripheral as a hardware device with a specific address in memory that data is written to and read from. It states that every peripheral can be described by an offset from the Peripheral Base Address, that registers on the TMS320F2837xD are typically 32 or 16 bits wide, and that each bit usually represents one of three things: a hardware switch (on or off), a configuration option, or a hardware status flag such as an error code or an OK indication.</a:t>
            </a:r>
          </a:p>
          <a:p>
            <a:pPr marL="0" lvl="0" indent="0" algn="l" rtl="0">
              <a:lnSpc>
                <a:spcPct val="100000"/>
              </a:lnSpc>
              <a:spcBef>
                <a:spcPts val="0"/>
              </a:spcBef>
              <a:spcAft>
                <a:spcPts val="600"/>
              </a:spcAft>
              <a:buSzPts val="1400"/>
              <a:buNone/>
            </a:pPr>
            <a:r>
              <a:rPr lang="en-US" dirty="0"/>
              <a:t>This builds directly on the memory-mapped I/O idea from the previous slide. Because the CPU only understands addresses, a peripheral such as a timer, the ADC, or a GPIO port is controlled entirely through registers that sit at fixed locations. Writing to one of those locations configures or commands the hardware. Reading from one tells you what the hardware is doing.</a:t>
            </a:r>
          </a:p>
          <a:p>
            <a:pPr marL="0" lvl="0" indent="0" algn="l" rtl="0">
              <a:lnSpc>
                <a:spcPct val="100000"/>
              </a:lnSpc>
              <a:spcBef>
                <a:spcPts val="0"/>
              </a:spcBef>
              <a:spcAft>
                <a:spcPts val="600"/>
              </a:spcAft>
              <a:buSzPts val="1400"/>
              <a:buNone/>
            </a:pPr>
            <a:r>
              <a:rPr lang="en-US" dirty="0"/>
              <a:t>Inside a register, think of each bit, or small group of bits, as a labeled field. A switch bit might enable a peripheral's clock. A configuration field might select a clock divider or set a pin as input or output. A status flag is set by the hardware itself, for example to say a conversion finished or an error occurred, and your code reads it.</a:t>
            </a:r>
          </a:p>
          <a:p>
            <a:pPr marL="0" lvl="0" indent="0" algn="l" rtl="0">
              <a:lnSpc>
                <a:spcPct val="100000"/>
              </a:lnSpc>
              <a:spcBef>
                <a:spcPts val="0"/>
              </a:spcBef>
              <a:spcAft>
                <a:spcPts val="600"/>
              </a:spcAft>
              <a:buSzPts val="1400"/>
              <a:buNone/>
            </a:pPr>
            <a:r>
              <a:rPr lang="en-US" dirty="0"/>
              <a:t>A common mistake is to treat a register as a single number. Writing a whole new value to it can unintentionally change neighboring bits you meant to leave alone. That is why later in this lecture we cover bits, masks, and bitwise operations.</a:t>
            </a:r>
          </a:p>
          <a:p>
            <a:pPr marL="0" lvl="0" indent="0" algn="l" rtl="0">
              <a:lnSpc>
                <a:spcPct val="100000"/>
              </a:lnSpc>
              <a:spcBef>
                <a:spcPts val="0"/>
              </a:spcBef>
              <a:spcAft>
                <a:spcPts val="600"/>
              </a:spcAft>
              <a:buSzPts val="1400"/>
              <a:buNone/>
            </a:pPr>
            <a:r>
              <a:rPr lang="en-US" dirty="0"/>
              <a:t>Next, we look at how the Peripheral Base Address and the register offset combine to locate each register.</a:t>
            </a:r>
          </a:p>
        </p:txBody>
      </p:sp>
      <p:sp>
        <p:nvSpPr>
          <p:cNvPr id="116" name="Google Shape;116;p29:notes">
            <a:extLst>
              <a:ext uri="{FF2B5EF4-FFF2-40B4-BE49-F238E27FC236}">
                <a16:creationId xmlns:a16="http://schemas.microsoft.com/office/drawing/2014/main" id="{5E98563B-6280-6309-9568-9A9B5647CB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890079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33A47F-9B51-9DA3-AE26-0AA5862DB6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F46D099-5AFF-C207-0BDC-8A3C0DEDF2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practical question from the last one: if every peripheral lives at memory addresses, how is that memory organized? The slide says TI groups peripherals into address regions. The GPIO registers live in one address range, the timers in another, ePWM (enhanced pulse width modulation) in another, the ADCs (analog to digital converters) in another, and so on.</a:t>
            </a:r>
          </a:p>
          <a:p>
            <a:pPr marL="0" lvl="0" indent="0" algn="l" rtl="0">
              <a:lnSpc>
                <a:spcPct val="100000"/>
              </a:lnSpc>
              <a:spcBef>
                <a:spcPts val="0"/>
              </a:spcBef>
              <a:spcAft>
                <a:spcPts val="600"/>
              </a:spcAft>
              <a:buSzPts val="1400"/>
              <a:buNone/>
            </a:pPr>
            <a:r>
              <a:rPr lang="en-US" dirty="0"/>
              <a:t>The key rule, shown in bold and centered, is that each register is located at Peripheral Base Address + Register Offset. The base address is where a peripheral's block of registers starts. The offset is how far a particular register sits from that start. For example, ePWM1 and ePWM2 have identical register layouts at different base addresses, so the same offset selects the same register in either module.</a:t>
            </a:r>
          </a:p>
          <a:p>
            <a:pPr marL="0" lvl="0" indent="0" algn="l" rtl="0">
              <a:lnSpc>
                <a:spcPct val="100000"/>
              </a:lnSpc>
              <a:spcBef>
                <a:spcPts val="0"/>
              </a:spcBef>
              <a:spcAft>
                <a:spcPts val="600"/>
              </a:spcAft>
              <a:buSzPts val="1400"/>
              <a:buNone/>
            </a:pPr>
            <a:r>
              <a:rPr lang="en-US" dirty="0"/>
              <a:t>The slide then says you do not need to calculate these addresses by hand. The words "addresses manually" are a hyperlink to further reading. TI provides C structures and header files that do the calculation for you. At the bottom is one line of code: EPwm1Regs.TBCTL.bit.CLKDIV = 1;</a:t>
            </a:r>
          </a:p>
          <a:p>
            <a:pPr marL="0" lvl="0" indent="0" algn="l" rtl="0">
              <a:lnSpc>
                <a:spcPct val="100000"/>
              </a:lnSpc>
              <a:spcBef>
                <a:spcPts val="0"/>
              </a:spcBef>
              <a:spcAft>
                <a:spcPts val="600"/>
              </a:spcAft>
              <a:buSzPts val="1400"/>
              <a:buNone/>
            </a:pPr>
            <a:r>
              <a:rPr lang="en-US" dirty="0"/>
              <a:t>Read it left to right. EPwm1Regs is a structure placed at ePWM1's base address. TBCTL is the Time-Base Control register at its offset. ".bit" gives access to named bit fields. CLKDIV is the clock-divide field inside TBCTL. The compiler turns all of this into "write these bits at base plus offset," so you never type a raw address.</a:t>
            </a:r>
          </a:p>
          <a:p>
            <a:pPr marL="0" lvl="0" indent="0" algn="l" rtl="0">
              <a:lnSpc>
                <a:spcPct val="100000"/>
              </a:lnSpc>
              <a:spcBef>
                <a:spcPts val="0"/>
              </a:spcBef>
              <a:spcAft>
                <a:spcPts val="600"/>
              </a:spcAft>
              <a:buSzPts val="1400"/>
              <a:buNone/>
            </a:pPr>
            <a:r>
              <a:rPr lang="en-US" dirty="0"/>
              <a:t>A common mistake is assuming every register can be written this way at any time. The next slides cover system registers that are protected and need EALLOW before you can write to them.</a:t>
            </a:r>
          </a:p>
        </p:txBody>
      </p:sp>
      <p:sp>
        <p:nvSpPr>
          <p:cNvPr id="116" name="Google Shape;116;p29:notes">
            <a:extLst>
              <a:ext uri="{FF2B5EF4-FFF2-40B4-BE49-F238E27FC236}">
                <a16:creationId xmlns:a16="http://schemas.microsoft.com/office/drawing/2014/main" id="{9C03A73D-DD03-981A-6693-F8A04A1C9A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85162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002A6B-EB3B-2A06-FAEC-A513648D61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AE1C1-55CA-47F2-FF7E-7F248239DA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"System Peripheral," introduces the second kind of register from slide 9. The text says system registers control the behavior of the CPU itself, that they affect the entire chip, and that they are protected. They can modify five things: clock configuration, resets, peripheral interrupts, memory configuration, and the timer. The last line links to Table 3-17, the System Control Base Address Table, which has the full list.</a:t>
            </a:r>
          </a:p>
          <a:p>
            <a:pPr marL="0" lvl="0" indent="0" algn="l" rtl="0">
              <a:lnSpc>
                <a:spcPct val="100000"/>
              </a:lnSpc>
              <a:spcBef>
                <a:spcPts val="0"/>
              </a:spcBef>
              <a:spcAft>
                <a:spcPts val="600"/>
              </a:spcAft>
              <a:buSzPts val="1400"/>
              <a:buNone/>
            </a:pPr>
            <a:r>
              <a:rPr lang="en-US" dirty="0"/>
              <a:t>The key idea is scope. A peripheral register, like the ePWM register on slide 10, changes one module. A system register changes how the whole microcontroller runs. Clock configuration sets the system clock and which peripherals receive a clock at all. If a module's clock is off, writes to its registers do nothing. Resets include the watchdog, which restarts the chip if your code stops servicing it. Peripheral interrupts are routed through the PIE, the Peripheral Interrupt Expansion block. Its vector table tells the CPU which function to run for each interrupt. Memory configuration decides how RAM blocks are assigned. On this dual-core F28379D, that includes which RAM belongs to CPU1 and which to CPU2.</a:t>
            </a:r>
          </a:p>
          <a:p>
            <a:pPr marL="0" lvl="0" indent="0" algn="l" rtl="0">
              <a:lnSpc>
                <a:spcPct val="100000"/>
              </a:lnSpc>
              <a:spcBef>
                <a:spcPts val="0"/>
              </a:spcBef>
              <a:spcAft>
                <a:spcPts val="600"/>
              </a:spcAft>
              <a:buSzPts val="1400"/>
              <a:buNone/>
            </a:pPr>
            <a:r>
              <a:rPr lang="en-US" dirty="0"/>
              <a:t>A wrong write to these registers can stall the clock or send an interrupt to a garbage address. That is why they are protected, and the next slide shows how: the EALLOW and EDIS instructions.</a:t>
            </a:r>
          </a:p>
          <a:p>
            <a:pPr marL="0" lvl="0" indent="0" algn="l" rtl="0">
              <a:lnSpc>
                <a:spcPct val="100000"/>
              </a:lnSpc>
              <a:spcBef>
                <a:spcPts val="0"/>
              </a:spcBef>
              <a:spcAft>
                <a:spcPts val="600"/>
              </a:spcAft>
              <a:buSzPts val="1400"/>
              <a:buNone/>
            </a:pPr>
            <a:r>
              <a:rPr lang="en-US" dirty="0"/>
              <a:t>A common mistake is writing to a protected register without EALLOW. The write is silently ignored, so nothing errors and nothing changes.</a:t>
            </a:r>
          </a:p>
          <a:p>
            <a:pPr marL="0" lvl="0" indent="0" algn="l" rtl="0">
              <a:lnSpc>
                <a:spcPct val="100000"/>
              </a:lnSpc>
              <a:spcBef>
                <a:spcPts val="0"/>
              </a:spcBef>
              <a:spcAft>
                <a:spcPts val="600"/>
              </a:spcAft>
              <a:buSzPts val="1400"/>
              <a:buNone/>
            </a:pPr>
            <a:r>
              <a:rPr lang="en-US" dirty="0"/>
              <a:t>Use the Table 3-17 link when you need to find which system register controls a feature.</a:t>
            </a:r>
          </a:p>
        </p:txBody>
      </p:sp>
      <p:sp>
        <p:nvSpPr>
          <p:cNvPr id="116" name="Google Shape;116;p29:notes">
            <a:extLst>
              <a:ext uri="{FF2B5EF4-FFF2-40B4-BE49-F238E27FC236}">
                <a16:creationId xmlns:a16="http://schemas.microsoft.com/office/drawing/2014/main" id="{B71781BD-E566-D770-EDE8-9B942F7858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051749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EB3224-6EB4-EEE0-76DB-9A52492CB7A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61A0E-1BE5-4F61-BE5B-8CBA6801C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the protected system registers from the previous slide are actually written. The text says some registers, including most or all system peripherals, are protected to prevent accidental damage. This extra layer guards against accidental writes, for example from code that leaks memory or writes through a bad pointer. Two keywords control the protection. EALLOW unlocks protected registers, and EDIS locks them again.</a:t>
            </a:r>
          </a:p>
          <a:p>
            <a:pPr marL="0" lvl="0" indent="0" algn="l" rtl="0">
              <a:lnSpc>
                <a:spcPct val="100000"/>
              </a:lnSpc>
              <a:spcBef>
                <a:spcPts val="0"/>
              </a:spcBef>
              <a:spcAft>
                <a:spcPts val="600"/>
              </a:spcAft>
              <a:buSzPts val="1400"/>
              <a:buNone/>
            </a:pPr>
            <a:r>
              <a:rPr lang="en-US" dirty="0"/>
              <a:t>Below that is a code block. It starts with the line EALLOW; with the comment "This is needed to write to EALLOW protected registers." Four assignments follow. PieVectTable.TIMER0_INT = &amp;cpu_timer0_isr, and the same pattern for TIMER1_INT and TIMER2_INT with cpu_timer1_isr and cpu_timer2_isr. The last assignment is PieVectTable.EMIF_ERROR_INT = &amp;SWI_isr. The block ends with EDIS; and the comment "This is needed to disable write to EALLOW protected registers."</a:t>
            </a:r>
          </a:p>
          <a:p>
            <a:pPr marL="0" lvl="0" indent="0" algn="l" rtl="0">
              <a:lnSpc>
                <a:spcPct val="100000"/>
              </a:lnSpc>
              <a:spcBef>
                <a:spcPts val="0"/>
              </a:spcBef>
              <a:spcAft>
                <a:spcPts val="600"/>
              </a:spcAft>
              <a:buSzPts val="1400"/>
              <a:buNone/>
            </a:pPr>
            <a:r>
              <a:rPr lang="en-US" dirty="0"/>
              <a:t>The PIE vector table tells the CPU which function to run when each interrupt fires. Each line stores the address of an interrupt service routine (ISR), which is why the ampersand appears. Here, the otherwise unused EMIF error slot is borrowed to hold a software interrupt routine, SWI_isr. Changing this table could crash the whole chip, so it is protected.</a:t>
            </a:r>
          </a:p>
          <a:p>
            <a:pPr marL="0" lvl="0" indent="0" algn="l" rtl="0">
              <a:lnSpc>
                <a:spcPct val="100000"/>
              </a:lnSpc>
              <a:spcBef>
                <a:spcPts val="0"/>
              </a:spcBef>
              <a:spcAft>
                <a:spcPts val="600"/>
              </a:spcAft>
              <a:buSzPts val="1400"/>
              <a:buNone/>
            </a:pPr>
            <a:r>
              <a:rPr lang="en-US" dirty="0"/>
              <a:t>EALLOW and EDIS are single CPU instructions. They set and clear a protection bit in a CPU status register.</a:t>
            </a:r>
          </a:p>
          <a:p>
            <a:pPr marL="0" lvl="0" indent="0" algn="l" rtl="0">
              <a:lnSpc>
                <a:spcPct val="100000"/>
              </a:lnSpc>
              <a:spcBef>
                <a:spcPts val="0"/>
              </a:spcBef>
              <a:spcAft>
                <a:spcPts val="600"/>
              </a:spcAft>
              <a:buSzPts val="1400"/>
              <a:buNone/>
            </a:pPr>
            <a:r>
              <a:rPr lang="en-US" dirty="0"/>
              <a:t>A common mistake is forgetting EALLOW. Writes to protected registers are then silently ignored, and no error tells you why your setting never took effect. The opposite habit to build is calling EDIS right away, so the window where the registers are unlocked stays as small as possible.</a:t>
            </a:r>
          </a:p>
          <a:p>
            <a:pPr marL="0" lvl="0" indent="0" algn="l" rtl="0">
              <a:lnSpc>
                <a:spcPct val="100000"/>
              </a:lnSpc>
              <a:spcBef>
                <a:spcPts val="0"/>
              </a:spcBef>
              <a:spcAft>
                <a:spcPts val="600"/>
              </a:spcAft>
              <a:buSzPts val="1400"/>
              <a:buNone/>
            </a:pPr>
            <a:r>
              <a:rPr lang="en-US" dirty="0"/>
              <a:t>Next, you'll see that ordinary peripheral registers like GPIO usually need no such unlocking.</a:t>
            </a:r>
          </a:p>
        </p:txBody>
      </p:sp>
      <p:sp>
        <p:nvSpPr>
          <p:cNvPr id="116" name="Google Shape;116;p29:notes">
            <a:extLst>
              <a:ext uri="{FF2B5EF4-FFF2-40B4-BE49-F238E27FC236}">
                <a16:creationId xmlns:a16="http://schemas.microsoft.com/office/drawing/2014/main" id="{D097315A-647C-E042-AC77-19E49FDB0C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3632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BBE47C-1410-32AE-729F-5B98D7836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69EBCF-4BA4-B717-E614-7BEA4583EA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contrasts peripheral registers with the protected system registers from the last two slides. The text says peripheral registers control individual hardware modules and usually have no write protection, so you do not need EALLOW and EDIS to use them. The examples listed are GPIO (General Purpose Input-Output), Timers, ADC (Analog-to-Digital Converter), PWM (Pulse Width Modulation), and SPI (Serial Peripheral Interface).</a:t>
            </a:r>
          </a:p>
          <a:p>
            <a:pPr marL="0" lvl="0" indent="0" algn="l" rtl="0">
              <a:lnSpc>
                <a:spcPct val="100000"/>
              </a:lnSpc>
              <a:spcBef>
                <a:spcPts val="0"/>
              </a:spcBef>
              <a:spcAft>
                <a:spcPts val="600"/>
              </a:spcAft>
              <a:buSzPts val="1400"/>
              <a:buNone/>
            </a:pPr>
            <a:r>
              <a:rPr lang="en-US" dirty="0"/>
              <a:t>The slide then states that each peripheral has a Read register (DAT), a Write register (SET), a Clear register (CLEAR), and a Toggle register (TOGGLE). Four lines of C code show this for GPIO pin 37:</a:t>
            </a:r>
          </a:p>
          <a:p>
            <a:pPr marL="0" lvl="0" indent="0" algn="l" rtl="0">
              <a:lnSpc>
                <a:spcPct val="100000"/>
              </a:lnSpc>
              <a:spcBef>
                <a:spcPts val="0"/>
              </a:spcBef>
              <a:spcAft>
                <a:spcPts val="600"/>
              </a:spcAft>
              <a:buSzPts val="1400"/>
              <a:buNone/>
            </a:pPr>
            <a:r>
              <a:rPr lang="en-US" dirty="0"/>
              <a:t>GpioDataRegs.GPBDAT.bit.GPIO37, commented "Do not use to set."</a:t>
            </a:r>
          </a:p>
          <a:p>
            <a:pPr marL="0" lvl="0" indent="0" algn="l" rtl="0">
              <a:lnSpc>
                <a:spcPct val="100000"/>
              </a:lnSpc>
              <a:spcBef>
                <a:spcPts val="0"/>
              </a:spcBef>
              <a:spcAft>
                <a:spcPts val="600"/>
              </a:spcAft>
              <a:buSzPts val="1400"/>
              <a:buNone/>
            </a:pPr>
            <a:r>
              <a:rPr lang="en-US" dirty="0"/>
              <a:t>GpioDataRegs.GPBSET.bit.GPIO37 = 1, which sets GPIO37 to 1.</a:t>
            </a:r>
          </a:p>
          <a:p>
            <a:pPr marL="0" lvl="0" indent="0" algn="l" rtl="0">
              <a:lnSpc>
                <a:spcPct val="100000"/>
              </a:lnSpc>
              <a:spcBef>
                <a:spcPts val="0"/>
              </a:spcBef>
              <a:spcAft>
                <a:spcPts val="600"/>
              </a:spcAft>
              <a:buSzPts val="1400"/>
              <a:buNone/>
            </a:pPr>
            <a:r>
              <a:rPr lang="en-US" dirty="0"/>
              <a:t>GpioDataRegs.GPBCLEAR.bit.GPIO37 = 1, which sets GPIO37 to 0.</a:t>
            </a:r>
          </a:p>
          <a:p>
            <a:pPr marL="0" lvl="0" indent="0" algn="l" rtl="0">
              <a:lnSpc>
                <a:spcPct val="100000"/>
              </a:lnSpc>
              <a:spcBef>
                <a:spcPts val="0"/>
              </a:spcBef>
              <a:spcAft>
                <a:spcPts val="600"/>
              </a:spcAft>
              <a:buSzPts val="1400"/>
              <a:buNone/>
            </a:pPr>
            <a:r>
              <a:rPr lang="en-US" dirty="0"/>
              <a:t>GpioDataRegs.GPBTOGGLE.bit.GPIO37 = 1, which flips GPIO37, for example from 0 to 1.</a:t>
            </a:r>
          </a:p>
          <a:p>
            <a:pPr marL="0" lvl="0" indent="0" algn="l" rtl="0">
              <a:lnSpc>
                <a:spcPct val="100000"/>
              </a:lnSpc>
              <a:spcBef>
                <a:spcPts val="0"/>
              </a:spcBef>
              <a:spcAft>
                <a:spcPts val="600"/>
              </a:spcAft>
              <a:buSzPts val="1400"/>
              <a:buNone/>
            </a:pPr>
            <a:r>
              <a:rPr lang="en-US" dirty="0"/>
              <a:t>GPIO37 uses the "GPB" registers because pins are grouped into ports of 32. Port A covers GPIO0 to 31, and port B covers GPIO32 to 63.</a:t>
            </a:r>
          </a:p>
          <a:p>
            <a:pPr marL="0" lvl="0" indent="0" algn="l" rtl="0">
              <a:lnSpc>
                <a:spcPct val="100000"/>
              </a:lnSpc>
              <a:spcBef>
                <a:spcPts val="0"/>
              </a:spcBef>
              <a:spcAft>
                <a:spcPts val="600"/>
              </a:spcAft>
              <a:buSzPts val="1400"/>
              <a:buNone/>
            </a:pPr>
            <a:r>
              <a:rPr lang="en-US" dirty="0"/>
              <a:t>Notice that the CLEAR line writes a 1 to drive the pin to 0. In SET, CLEAR, and TOGGLE, writing 1 means "perform this action on this bit." Writing 0 does nothing, so the other pins are unaffected. Use DAT to read a pin's current state.</a:t>
            </a:r>
          </a:p>
          <a:p>
            <a:pPr marL="0" lvl="0" indent="0" algn="l" rtl="0">
              <a:lnSpc>
                <a:spcPct val="100000"/>
              </a:lnSpc>
              <a:spcBef>
                <a:spcPts val="0"/>
              </a:spcBef>
              <a:spcAft>
                <a:spcPts val="600"/>
              </a:spcAft>
              <a:buSzPts val="1400"/>
              <a:buNone/>
            </a:pPr>
            <a:r>
              <a:rPr lang="en-US" dirty="0"/>
              <a:t>Quick check: if GPIO37 is currently high and you write 1 to GPBTOGGLE.bit.GPIO37, what is the pin afterward? It goes low.</a:t>
            </a:r>
          </a:p>
          <a:p>
            <a:pPr marL="0" lvl="0" indent="0" algn="l" rtl="0">
              <a:lnSpc>
                <a:spcPct val="100000"/>
              </a:lnSpc>
              <a:spcBef>
                <a:spcPts val="0"/>
              </a:spcBef>
              <a:spcAft>
                <a:spcPts val="600"/>
              </a:spcAft>
              <a:buSzPts val="1400"/>
              <a:buNone/>
            </a:pPr>
            <a:r>
              <a:rPr lang="en-US" dirty="0"/>
              <a:t>Why not just write to DAT to set a pin? That is the topic of the next slide: writing DAT is a read-modify-write sequence that an interrupt can corrupt.</a:t>
            </a:r>
          </a:p>
        </p:txBody>
      </p:sp>
      <p:sp>
        <p:nvSpPr>
          <p:cNvPr id="116" name="Google Shape;116;p29:notes">
            <a:extLst>
              <a:ext uri="{FF2B5EF4-FFF2-40B4-BE49-F238E27FC236}">
                <a16:creationId xmlns:a16="http://schemas.microsoft.com/office/drawing/2014/main" id="{27A7160F-67A9-C867-66CA-AD70B79068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871191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94DC85B-66B2-7866-DF76-9CE4CC3052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61A4E4-2CAE-F878-F6B3-20A53101E4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"Using DAT." It states that writing directly to a DAT register causes problems, because a write to DAT takes three steps: 1, read; 2, modify; 3, write. An interrupt, meaning code that runs automatically when certain events happen, can run between these steps and corrupt data. SET and CLEAR registers avoid this because they are atomic hardware operations. The word "atomic" is in bold. The last line defines atomic operations: they guarantee that a variable is locked during the operation and cannot be modified by anyone else during that time.</a:t>
            </a:r>
          </a:p>
          <a:p>
            <a:pPr marL="0" lvl="0" indent="0" algn="l" rtl="0">
              <a:lnSpc>
                <a:spcPct val="100000"/>
              </a:lnSpc>
              <a:spcBef>
                <a:spcPts val="0"/>
              </a:spcBef>
              <a:spcAft>
                <a:spcPts val="600"/>
              </a:spcAft>
              <a:buSzPts val="1400"/>
              <a:buNone/>
            </a:pPr>
            <a:r>
              <a:rPr lang="en-US" dirty="0"/>
              <a:t>This explains the warning on the previous slide, where GPBDAT carried the comment "Do not use to set." Suppose you write GpioDataRegs.GPBDAT.bit.GPIO37 = 1. You only change one bit in the C code, but the CPU cannot change a single bit in memory. It reads the entire 32-bit GPBDAT register, ORs in bit 5 (GPIO37 is bit 5 of port B, since port B starts at GPIO32), and writes all 32 bits back. Now suppose a timer interrupt fires right after the read and sets GPIO40 to light an LED. When your main code resumes, it writes back its stale copy, which still has GPIO40 at 0. The LED change silently disappears. Bugs like this are intermittent and very hard to find.</a:t>
            </a:r>
          </a:p>
          <a:p>
            <a:pPr marL="0" lvl="0" indent="0" algn="l" rtl="0">
              <a:lnSpc>
                <a:spcPct val="100000"/>
              </a:lnSpc>
              <a:spcBef>
                <a:spcPts val="0"/>
              </a:spcBef>
              <a:spcAft>
                <a:spcPts val="600"/>
              </a:spcAft>
              <a:buSzPts val="1400"/>
              <a:buNone/>
            </a:pPr>
            <a:r>
              <a:rPr lang="en-US" dirty="0"/>
              <a:t>SET and CLEAR work differently. Writing a 1 to a bit changes only that pin, and writing a 0 does nothing, so the hardware never has to read the register first. The change happens in a single write that nothing can interrupt.</a:t>
            </a:r>
          </a:p>
          <a:p>
            <a:pPr marL="0" lvl="0" indent="0" algn="l" rtl="0">
              <a:lnSpc>
                <a:spcPct val="100000"/>
              </a:lnSpc>
              <a:spcBef>
                <a:spcPts val="0"/>
              </a:spcBef>
              <a:spcAft>
                <a:spcPts val="600"/>
              </a:spcAft>
              <a:buSzPts val="1400"/>
              <a:buNone/>
            </a:pPr>
            <a:r>
              <a:rPr lang="en-US" dirty="0"/>
              <a:t>Quick check: why is GPBTOGGLE also safe to use from both main code and an interrupt?</a:t>
            </a:r>
          </a:p>
          <a:p>
            <a:pPr marL="0" lvl="0" indent="0" algn="l" rtl="0">
              <a:lnSpc>
                <a:spcPct val="100000"/>
              </a:lnSpc>
              <a:spcBef>
                <a:spcPts val="0"/>
              </a:spcBef>
              <a:spcAft>
                <a:spcPts val="600"/>
              </a:spcAft>
              <a:buSzPts val="1400"/>
              <a:buNone/>
            </a:pPr>
            <a:r>
              <a:rPr lang="en-US" dirty="0"/>
              <a:t>Next, we look at how a pin is configured as a GPIO in the first place.</a:t>
            </a:r>
          </a:p>
        </p:txBody>
      </p:sp>
      <p:sp>
        <p:nvSpPr>
          <p:cNvPr id="116" name="Google Shape;116;p29:notes">
            <a:extLst>
              <a:ext uri="{FF2B5EF4-FFF2-40B4-BE49-F238E27FC236}">
                <a16:creationId xmlns:a16="http://schemas.microsoft.com/office/drawing/2014/main" id="{B048AB98-5666-C342-A3FC-843A2F4005C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0557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B708F8-F9B3-A837-B9C4-DCCC50285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452604-A62A-ED78-B359-E8A75AF74D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step that comes before you can toggle a pin: telling the chip what that pin is for. The title is "Digital I/O (GPIO)." The text says each physical pin can serve multiple functions; "multiple functions" is a clickable link to the pin multiplexing reference. Five functions are listed: GPIO, PWM, SPI, SCI and CAN. The slide then says "You must first select the function" and shows two lines of C code: GPIO_SetupPinMux(31, GPIO_MUX_CPU1, 0); and GPIO_SetupPinOptions(31, GPIO_OUTPUT, GPIO_PUSHPULL);</a:t>
            </a:r>
          </a:p>
          <a:p>
            <a:pPr marL="0" lvl="0" indent="0" algn="l" rtl="0">
              <a:lnSpc>
                <a:spcPct val="100000"/>
              </a:lnSpc>
              <a:spcBef>
                <a:spcPts val="0"/>
              </a:spcBef>
              <a:spcAft>
                <a:spcPts val="600"/>
              </a:spcAft>
              <a:buSzPts val="1400"/>
              <a:buNone/>
            </a:pPr>
            <a:r>
              <a:rPr lang="en-US" dirty="0"/>
              <a:t>The chip has far more internal peripherals than physical pins, so each pin connects to a multiplexer, or mux, a hardware switch that routes one of several signals to the pin. In the first call, 31 is the pin number, GPIO_MUX_CPU1 means CPU1 owns the pin, and the last argument, 0, is the mux index. Index 0 selects plain GPIO. Other index values route the pin to peripherals such as an ePWM output or an SPI line, and the pin mux table behind the link tells you which index gives which function.</a:t>
            </a:r>
          </a:p>
          <a:p>
            <a:pPr marL="0" lvl="0" indent="0" algn="l" rtl="0">
              <a:lnSpc>
                <a:spcPct val="100000"/>
              </a:lnSpc>
              <a:spcBef>
                <a:spcPts val="0"/>
              </a:spcBef>
              <a:spcAft>
                <a:spcPts val="600"/>
              </a:spcAft>
              <a:buSzPts val="1400"/>
              <a:buNone/>
            </a:pPr>
            <a:r>
              <a:rPr lang="en-US" dirty="0"/>
              <a:t>The second call configures the pin as an output and selects push-pull drive. Push-pull means the pin actively drives both high and low, as opposed to open-drain, which only pulls low.</a:t>
            </a:r>
          </a:p>
          <a:p>
            <a:pPr marL="0" lvl="0" indent="0" algn="l" rtl="0">
              <a:lnSpc>
                <a:spcPct val="100000"/>
              </a:lnSpc>
              <a:spcBef>
                <a:spcPts val="0"/>
              </a:spcBef>
              <a:spcAft>
                <a:spcPts val="600"/>
              </a:spcAft>
              <a:buSzPts val="1400"/>
              <a:buNone/>
            </a:pPr>
            <a:r>
              <a:rPr lang="en-US" dirty="0"/>
              <a:t>A common mistake is writing to GpioDataRegs.GPxSET for a pin you never configured. The pins start up as inputs, so nothing happens. Configure the pin first, then use the SET, CLEAR and TOGGLE registers from the last two slides.</a:t>
            </a:r>
          </a:p>
          <a:p>
            <a:pPr marL="0" lvl="0" indent="0" algn="l" rtl="0">
              <a:lnSpc>
                <a:spcPct val="100000"/>
              </a:lnSpc>
              <a:spcBef>
                <a:spcPts val="0"/>
              </a:spcBef>
              <a:spcAft>
                <a:spcPts val="600"/>
              </a:spcAft>
              <a:buSzPts val="1400"/>
              <a:buNone/>
            </a:pPr>
            <a:r>
              <a:rPr lang="en-US" dirty="0"/>
              <a:t>Next, we look closely at the bits inside these registers.</a:t>
            </a:r>
          </a:p>
        </p:txBody>
      </p:sp>
      <p:sp>
        <p:nvSpPr>
          <p:cNvPr id="116" name="Google Shape;116;p29:notes">
            <a:extLst>
              <a:ext uri="{FF2B5EF4-FFF2-40B4-BE49-F238E27FC236}">
                <a16:creationId xmlns:a16="http://schemas.microsoft.com/office/drawing/2014/main" id="{6B7B2FF8-2C4F-5CB1-3239-E7CBC2F03D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867292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7EEF92A-11BD-547F-79EF-F86417EB9DE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5C9E05-4B9F-0482-DCA1-B0B8B43B6BA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slide titled "Bits," shown in dark blue on the orange Illinois background with faint hand-drawn engineering sketches. The sketches are decorative only.</a:t>
            </a:r>
          </a:p>
          <a:p>
            <a:pPr marL="0" lvl="0" indent="0" algn="l" rtl="0">
              <a:spcBef>
                <a:spcPts val="0"/>
              </a:spcBef>
              <a:spcAft>
                <a:spcPts val="600"/>
              </a:spcAft>
              <a:buNone/>
            </a:pPr>
            <a:r>
              <a:rPr lang="en-US" dirty="0"/>
              <a:t>You just saw that configuring a GPIO pin, or writing its DAT, SET and CLEAR registers, means changing individual bits inside a register. This section builds the tools for that. First comes binary, then hexadecimal as a compact way to write it, then bit positions and masks, and finally the bitwise operations you will use in lab code.</a:t>
            </a:r>
          </a:p>
        </p:txBody>
      </p:sp>
      <p:sp>
        <p:nvSpPr>
          <p:cNvPr id="102" name="Google Shape;102;p28:notes">
            <a:extLst>
              <a:ext uri="{FF2B5EF4-FFF2-40B4-BE49-F238E27FC236}">
                <a16:creationId xmlns:a16="http://schemas.microsoft.com/office/drawing/2014/main" id="{13E967EC-FB0F-76F4-41CE-28BE02EEBC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634510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24E206-363E-2299-0F09-D6B63492CC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A92925-55FF-E76F-15C2-FC28F0C5EC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motivation for hexadecimal, which comes next. It makes three points. The CPU only works with binary, ones and zeros, but long strings of binary digits are hard for people to read. A 32-bit register can be written out as 32 bits; the slide's example is the unsigned value 3,357,083,684, written in C as int32_t x = 0b110010000001100100000100000100100, where the 0b prefix marks a binary literal. Then the slide asks: what is a potential problem?</a:t>
            </a:r>
          </a:p>
          <a:p>
            <a:pPr marL="0" lvl="0" indent="0" algn="l" rtl="0">
              <a:lnSpc>
                <a:spcPct val="100000"/>
              </a:lnSpc>
              <a:spcBef>
                <a:spcPts val="0"/>
              </a:spcBef>
              <a:spcAft>
                <a:spcPts val="600"/>
              </a:spcAft>
              <a:buSzPts val="1400"/>
              <a:buNone/>
            </a:pPr>
            <a:r>
              <a:rPr lang="en-US" dirty="0"/>
              <a:t>Pause and try counting the digits before the answer appears. The answer is that typing binary by hand is very error prone. The literal on the slide actually has 33 bits, not 32. An extra zero slipped into the lower bits, so the value the compiler sees is not the intended 3,357,083,684. Errors like this are easy to make when you write register values to configure GPIO pins or peripherals, and they are hard to spot.</a:t>
            </a:r>
          </a:p>
          <a:p>
            <a:pPr marL="0" lvl="0" indent="0" algn="l" rtl="0">
              <a:lnSpc>
                <a:spcPct val="100000"/>
              </a:lnSpc>
              <a:spcBef>
                <a:spcPts val="0"/>
              </a:spcBef>
              <a:spcAft>
                <a:spcPts val="600"/>
              </a:spcAft>
              <a:buSzPts val="1400"/>
              <a:buNone/>
            </a:pPr>
            <a:r>
              <a:rPr lang="en-US" dirty="0"/>
              <a:t>The slide then asks: why not just use decimal? Converting between decimal and binary takes real arithmetic, because powers of ten do not line up with bit boundaries. Looking at 3,357,083,684, you cannot tell which bits are set.</a:t>
            </a:r>
          </a:p>
          <a:p>
            <a:pPr marL="0" lvl="0" indent="0" algn="l" rtl="0">
              <a:lnSpc>
                <a:spcPct val="100000"/>
              </a:lnSpc>
              <a:spcBef>
                <a:spcPts val="0"/>
              </a:spcBef>
              <a:spcAft>
                <a:spcPts val="600"/>
              </a:spcAft>
              <a:buSzPts val="1400"/>
              <a:buNone/>
            </a:pPr>
            <a:r>
              <a:rPr lang="en-US" dirty="0"/>
              <a:t>A small detail: a value above about 2.1 billion does not fit in a signed int32_t. For an unsigned register value like this, uint32_t is the matching type.</a:t>
            </a:r>
          </a:p>
          <a:p>
            <a:pPr marL="0" lvl="0" indent="0" algn="l" rtl="0">
              <a:lnSpc>
                <a:spcPct val="100000"/>
              </a:lnSpc>
              <a:spcBef>
                <a:spcPts val="0"/>
              </a:spcBef>
              <a:spcAft>
                <a:spcPts val="600"/>
              </a:spcAft>
              <a:buSzPts val="1400"/>
              <a:buNone/>
            </a:pPr>
            <a:r>
              <a:rPr lang="en-US" dirty="0"/>
              <a:t>Next, hexadecimal fixes both problems, because each hex digit maps to exactly four bits.</a:t>
            </a:r>
          </a:p>
        </p:txBody>
      </p:sp>
      <p:sp>
        <p:nvSpPr>
          <p:cNvPr id="116" name="Google Shape;116;p29:notes">
            <a:extLst>
              <a:ext uri="{FF2B5EF4-FFF2-40B4-BE49-F238E27FC236}">
                <a16:creationId xmlns:a16="http://schemas.microsoft.com/office/drawing/2014/main" id="{26A6F3AA-3CC5-A3F3-676B-A7B12D0F03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9961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34BFA0-409F-8E5C-E177-49C3902797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1E3EBC8-3303-D860-6253-0D12D7571F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hexadecimal, or base 16, as the fix for the problem on the previous slide: long binary strings are hard to read and easy to mistype.</a:t>
            </a:r>
          </a:p>
          <a:p>
            <a:pPr marL="0" lvl="0" indent="0" algn="l" rtl="0">
              <a:lnSpc>
                <a:spcPct val="100000"/>
              </a:lnSpc>
              <a:spcBef>
                <a:spcPts val="0"/>
              </a:spcBef>
              <a:spcAft>
                <a:spcPts val="600"/>
              </a:spcAft>
              <a:buSzPts val="1400"/>
              <a:buNone/>
            </a:pPr>
            <a:r>
              <a:rPr lang="en-US" dirty="0"/>
              <a:t>The slide shows a three-column table with the headers Binary, Hexadecimal and Decimal. Its rows are: 0000 is hex 0, decimal 0. 0001 is hex 1, decimal 1. 1010 is hex A, decimal 10. 1111 is hex F, decimal 15. Hex digits run 0 through 9 and then A through F for the values 10 through 15. That gives exactly 16 symbols, which is every pattern four bits can make.</a:t>
            </a:r>
          </a:p>
          <a:p>
            <a:pPr marL="0" lvl="0" indent="0" algn="l" rtl="0">
              <a:lnSpc>
                <a:spcPct val="100000"/>
              </a:lnSpc>
              <a:spcBef>
                <a:spcPts val="0"/>
              </a:spcBef>
              <a:spcAft>
                <a:spcPts val="600"/>
              </a:spcAft>
              <a:buSzPts val="1400"/>
              <a:buNone/>
            </a:pPr>
            <a:r>
              <a:rPr lang="en-US" dirty="0"/>
              <a:t>The key idea is that every 4 bits map to exactly one hex digit. To convert, group the binary into nibbles (a nibble is 4 bits) starting from the right, then replace each nibble with its digit. Take the 32-bit value from the last slide: 1100 1000 0001 1001 0000 1000 0010 0100 becomes C 8 1 9 0 8 2 4, which is 0xC8190824, or 3,357,083,684 in decimal. The 0x prefix tells C the number is hex. A 32-bit register is always eight hex digits, so a missing or extra digit is easy to spot. That is how hex avoids the 33-bit typo from the previous slide.</a:t>
            </a:r>
          </a:p>
          <a:p>
            <a:pPr marL="0" lvl="0" indent="0" algn="l" rtl="0">
              <a:lnSpc>
                <a:spcPct val="100000"/>
              </a:lnSpc>
              <a:spcBef>
                <a:spcPts val="0"/>
              </a:spcBef>
              <a:spcAft>
                <a:spcPts val="600"/>
              </a:spcAft>
              <a:buSzPts val="1400"/>
              <a:buNone/>
            </a:pPr>
            <a:r>
              <a:rPr lang="en-US" dirty="0"/>
              <a:t>The second example, int16_t x = 0x0824, is the lower 16 bits of that same value: four hex digits, decimal 2084.</a:t>
            </a:r>
          </a:p>
          <a:p>
            <a:pPr marL="0" lvl="0" indent="0" algn="l" rtl="0">
              <a:lnSpc>
                <a:spcPct val="100000"/>
              </a:lnSpc>
              <a:spcBef>
                <a:spcPts val="0"/>
              </a:spcBef>
              <a:spcAft>
                <a:spcPts val="600"/>
              </a:spcAft>
              <a:buSzPts val="1400"/>
              <a:buNone/>
            </a:pPr>
            <a:r>
              <a:rPr lang="en-US" dirty="0"/>
              <a:t>A common mistake: 0xC8190824 is larger than the maximum int32_t, which is 2,147,483,647. When you store register values, you usually want an unsigned type such as uint32_t.</a:t>
            </a:r>
          </a:p>
          <a:p>
            <a:pPr marL="0" lvl="0" indent="0" algn="l" rtl="0">
              <a:lnSpc>
                <a:spcPct val="100000"/>
              </a:lnSpc>
              <a:spcBef>
                <a:spcPts val="0"/>
              </a:spcBef>
              <a:spcAft>
                <a:spcPts val="600"/>
              </a:spcAft>
              <a:buSzPts val="1400"/>
              <a:buNone/>
            </a:pPr>
            <a:r>
              <a:rPr lang="en-US" dirty="0"/>
              <a:t>To check your work, set the Windows Calculator to Programmer mode, which converts between binary, hex and decimal. Next, you use hex to build bit masks.</a:t>
            </a:r>
          </a:p>
        </p:txBody>
      </p:sp>
      <p:sp>
        <p:nvSpPr>
          <p:cNvPr id="116" name="Google Shape;116;p29:notes">
            <a:extLst>
              <a:ext uri="{FF2B5EF4-FFF2-40B4-BE49-F238E27FC236}">
                <a16:creationId xmlns:a16="http://schemas.microsoft.com/office/drawing/2014/main" id="{0744C7E3-F152-5E42-1DFF-E9F5E8BFD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978045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567EDA8-189A-FF31-EEA4-BFDEFB7542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574A4B-9DFB-F15E-6A3F-93ED478093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Now that you can read binary and hexadecimal, this slide shows how to point at one specific bit in a register and build a value that targets only that bit.</a:t>
            </a:r>
          </a:p>
          <a:p>
            <a:pPr marL="0" lvl="0" indent="0" algn="l" rtl="0">
              <a:lnSpc>
                <a:spcPct val="100000"/>
              </a:lnSpc>
              <a:spcBef>
                <a:spcPts val="0"/>
              </a:spcBef>
              <a:spcAft>
                <a:spcPts val="600"/>
              </a:spcAft>
              <a:buSzPts val="1400"/>
              <a:buNone/>
            </a:pPr>
            <a:r>
              <a:rPr lang="en-US" dirty="0"/>
              <a:t>The slide first states that bit numbering starts at 0, with the rightmost, least significant bit as bit 0. Each bit position n carries a weight of 2 to the power n. Bit 0 is 2^0, which equals 1. Bit 1 is 2^1, which equals 2. Bit 5 is 2^5, which equals 32, or 0x20 in hex. A common mistake is counting bits from 1, which puts you one position off and has you writing the wrong field in a register.</a:t>
            </a:r>
          </a:p>
          <a:p>
            <a:pPr marL="0" lvl="0" indent="0" algn="l" rtl="0">
              <a:lnSpc>
                <a:spcPct val="100000"/>
              </a:lnSpc>
              <a:spcBef>
                <a:spcPts val="0"/>
              </a:spcBef>
              <a:spcAft>
                <a:spcPts val="600"/>
              </a:spcAft>
              <a:buSzPts val="1400"/>
              <a:buNone/>
            </a:pPr>
            <a:r>
              <a:rPr lang="en-US" dirty="0"/>
              <a:t>Next come the shift operators. Left shift, written x &lt;&lt; n, moves every bit in x left by n places and fills in zeros, so 0b01 &lt;&lt; 1 = 0b10. Right shift, written x &gt;&gt; n, moves bits right by n, so 0b10 &gt;&gt; 1 = 0b01. Shifting left by n multiplies by 2^n, and shifting right by n divides by 2^n.</a:t>
            </a:r>
          </a:p>
          <a:p>
            <a:pPr marL="0" lvl="0" indent="0" algn="l" rtl="0">
              <a:lnSpc>
                <a:spcPct val="100000"/>
              </a:lnSpc>
              <a:spcBef>
                <a:spcPts val="0"/>
              </a:spcBef>
              <a:spcAft>
                <a:spcPts val="600"/>
              </a:spcAft>
              <a:buSzPts val="1400"/>
              <a:buNone/>
            </a:pPr>
            <a:r>
              <a:rPr lang="en-US" dirty="0"/>
              <a:t>The code line on the slide reads: int32_t bit5Mask = 1 &lt;&lt; 5; with the comment "0x20, sets only bit 5 to 1." This is a mask, a value with ones only in the bit positions you care about. The slide closes with the questions "What are masks? What are they used for?" The answer is that masks let you test, set, clear or toggle selected bits in a register without disturbing the others. That matters on the Red Board, where each bit in a GPIO data register controls a different pin.</a:t>
            </a:r>
          </a:p>
          <a:p>
            <a:pPr marL="0" lvl="0" indent="0" algn="l" rtl="0">
              <a:lnSpc>
                <a:spcPct val="100000"/>
              </a:lnSpc>
              <a:spcBef>
                <a:spcPts val="0"/>
              </a:spcBef>
              <a:spcAft>
                <a:spcPts val="600"/>
              </a:spcAft>
              <a:buSzPts val="1400"/>
              <a:buNone/>
            </a:pPr>
            <a:r>
              <a:rPr lang="en-US" dirty="0"/>
              <a:t>One caution for the F28379D: on the C28x, int is only 16 bits, so write 1UL &lt;&lt; 20 rather than 1 &lt;&lt; 20 for bits above 15.</a:t>
            </a:r>
          </a:p>
          <a:p>
            <a:pPr marL="0" lvl="0" indent="0" algn="l" rtl="0">
              <a:lnSpc>
                <a:spcPct val="100000"/>
              </a:lnSpc>
              <a:spcBef>
                <a:spcPts val="0"/>
              </a:spcBef>
              <a:spcAft>
                <a:spcPts val="600"/>
              </a:spcAft>
              <a:buSzPts val="1400"/>
              <a:buNone/>
            </a:pPr>
            <a:r>
              <a:rPr lang="en-US" dirty="0"/>
              <a:t>The next slide shows how AND, OR, NOT and XOR combine with these masks.</a:t>
            </a:r>
          </a:p>
        </p:txBody>
      </p:sp>
      <p:sp>
        <p:nvSpPr>
          <p:cNvPr id="116" name="Google Shape;116;p29:notes">
            <a:extLst>
              <a:ext uri="{FF2B5EF4-FFF2-40B4-BE49-F238E27FC236}">
                <a16:creationId xmlns:a16="http://schemas.microsoft.com/office/drawing/2014/main" id="{72933390-70FC-29A4-5F57-4643D9DD6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08197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2006E7-F7A3-4600-5DF7-132BC6D5D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408A8B-FDB8-10D9-B6AB-930AAE13B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last slide, "what are masks used for?" It shows four C bitwise operations, each applied to bit 3 of a variable called reg using the mask 1 &lt;&lt; 3, which is 0b1000 or 0x08.</a:t>
            </a:r>
          </a:p>
          <a:p>
            <a:pPr marL="0" lvl="0" indent="0" algn="l" rtl="0">
              <a:lnSpc>
                <a:spcPct val="100000"/>
              </a:lnSpc>
              <a:spcBef>
                <a:spcPts val="0"/>
              </a:spcBef>
              <a:spcAft>
                <a:spcPts val="600"/>
              </a:spcAft>
              <a:buSzPts val="1400"/>
              <a:buNone/>
            </a:pPr>
            <a:r>
              <a:rPr lang="en-US" dirty="0"/>
              <a:t>On the left, AND (&amp;) is used for masking, or testing a bit: if (reg &amp; (1 &lt;&lt; 3)) { // Bit 3 is set }. The result is nonzero only if bit 3 of reg is 1. Below that, OR (|) sets a bit: reg |= (1 &lt;&lt; 3) forces bit 3 to 1 and leaves the others alone. On the right, NOT (~) combined with AND clears a bit: reg &amp;= ~(1 &lt;&lt; 3). The NOT flips the mask to all ones except bit 3, so the AND forces bit 3 to 0 and keeps every other bit. Finally, XOR (^) toggles a bit: reg ^= (1 &lt;&lt; 3) flips bit 3.</a:t>
            </a:r>
          </a:p>
          <a:p>
            <a:pPr marL="0" lvl="0" indent="0" algn="l" rtl="0">
              <a:lnSpc>
                <a:spcPct val="100000"/>
              </a:lnSpc>
              <a:spcBef>
                <a:spcPts val="0"/>
              </a:spcBef>
              <a:spcAft>
                <a:spcPts val="600"/>
              </a:spcAft>
              <a:buSzPts val="1400"/>
              <a:buNone/>
            </a:pPr>
            <a:r>
              <a:rPr lang="en-US" dirty="0"/>
              <a:t>A truth table at the bottom left lists columns REG, MASK, AND, OR and XOR. For REG 0 and MASK 0, all results are 0. For 0 and 1: AND 0, OR 1, XOR 1. For 1 and 0: AND 0, OR 1, XOR 1. For 1 and 1: AND 1, OR 1, XOR 0. A smaller table on the right shows NOT: MASK 0 gives 1, and MASK 1 gives 0.</a:t>
            </a:r>
          </a:p>
          <a:p>
            <a:pPr marL="0" lvl="0" indent="0" algn="l" rtl="0">
              <a:lnSpc>
                <a:spcPct val="100000"/>
              </a:lnSpc>
              <a:spcBef>
                <a:spcPts val="0"/>
              </a:spcBef>
              <a:spcAft>
                <a:spcPts val="600"/>
              </a:spcAft>
              <a:buSzPts val="1400"/>
              <a:buNone/>
            </a:pPr>
            <a:r>
              <a:rPr lang="en-US" dirty="0"/>
              <a:t>The key pattern is that a mask selects the bits you touch. Where the mask is 0, OR and XOR leave reg unchanged. Where the mask is 1, AND leaves reg unchanged.</a:t>
            </a:r>
          </a:p>
          <a:p>
            <a:pPr marL="0" lvl="0" indent="0" algn="l" rtl="0">
              <a:lnSpc>
                <a:spcPct val="100000"/>
              </a:lnSpc>
              <a:spcBef>
                <a:spcPts val="0"/>
              </a:spcBef>
              <a:spcAft>
                <a:spcPts val="600"/>
              </a:spcAft>
              <a:buSzPts val="1400"/>
              <a:buNone/>
            </a:pPr>
            <a:r>
              <a:rPr lang="en-US" dirty="0"/>
              <a:t>Watch two common mistakes. First, &amp; and | are not the logical operators &amp;&amp; and ||. Second, ~ is not !, because !(1 &lt;&lt; 3) is just 0.</a:t>
            </a:r>
          </a:p>
          <a:p>
            <a:pPr marL="0" lvl="0" indent="0" algn="l" rtl="0">
              <a:lnSpc>
                <a:spcPct val="100000"/>
              </a:lnSpc>
              <a:spcBef>
                <a:spcPts val="0"/>
              </a:spcBef>
              <a:spcAft>
                <a:spcPts val="600"/>
              </a:spcAft>
              <a:buSzPts val="1400"/>
              <a:buNone/>
            </a:pPr>
            <a:r>
              <a:rPr lang="en-US" dirty="0"/>
              <a:t>You use exactly these operations on peripheral registers in lab, including GPIO, where single bits control individual pins. Next, you apply them to timer registers.</a:t>
            </a:r>
          </a:p>
        </p:txBody>
      </p:sp>
      <p:sp>
        <p:nvSpPr>
          <p:cNvPr id="116" name="Google Shape;116;p29:notes">
            <a:extLst>
              <a:ext uri="{FF2B5EF4-FFF2-40B4-BE49-F238E27FC236}">
                <a16:creationId xmlns:a16="http://schemas.microsoft.com/office/drawing/2014/main" id="{BE92A5C7-FBBB-282D-4177-16D9146F0B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4421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45A87DC-1043-F839-5736-AAAB23CA056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377813C-5A87-2AB6-9674-BA6B74863BE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"Timers" in dark blue on the orange Illinois background. Faint decorative sketches of equations and diagrams fill the background, the Illinois logo sits in the top right corner, and the footer reads Systems Engineering and Grainger Engineering.</a:t>
            </a:r>
          </a:p>
          <a:p>
            <a:pPr marL="0" lvl="0" indent="0" algn="l" rtl="0">
              <a:spcBef>
                <a:spcPts val="0"/>
              </a:spcBef>
              <a:spcAft>
                <a:spcPts val="600"/>
              </a:spcAft>
              <a:buNone/>
            </a:pPr>
            <a:r>
              <a:rPr lang="en-US" dirty="0"/>
              <a:t>You have just learned to set, clear and toggle register bits with masks. Now you put that to work on your first real peripheral, the CPU timers, which give your code precise, repeatable timing.</a:t>
            </a:r>
          </a:p>
        </p:txBody>
      </p:sp>
      <p:sp>
        <p:nvSpPr>
          <p:cNvPr id="102" name="Google Shape;102;p28:notes">
            <a:extLst>
              <a:ext uri="{FF2B5EF4-FFF2-40B4-BE49-F238E27FC236}">
                <a16:creationId xmlns:a16="http://schemas.microsoft.com/office/drawing/2014/main" id="{06E4E8F5-A940-EB06-7D89-C15348C454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49576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C8E97F-C54B-48AE-D971-3484584C63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170352-F1D7-9831-693B-D0DE6316CB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in its title with text only, no figures. It opens by comparing a timer to an ordinary clock and stresses that in hardware timers are extremely important. It then defines a timer as a hardware counter that does two things: it counts clock cycles, and it triggers an interrupt when it reaches a specified condition.</a:t>
            </a:r>
          </a:p>
          <a:p>
            <a:pPr marL="0" lvl="0" indent="0" algn="l" rtl="0">
              <a:lnSpc>
                <a:spcPct val="100000"/>
              </a:lnSpc>
              <a:spcBef>
                <a:spcPts val="0"/>
              </a:spcBef>
              <a:spcAft>
                <a:spcPts val="600"/>
              </a:spcAft>
              <a:buSzPts val="1400"/>
              <a:buNone/>
            </a:pPr>
            <a:r>
              <a:rPr lang="en-US" dirty="0"/>
              <a:t>The TMS320F2837xD on your Red Board has three 32-bit CPU timers. CPU-Timer0 and CPU-Timer1 are free for your applications. CPU-Timer2 is normally reserved for a real-time operating system, but if no operating system is using it, your application can use it too. All three run off the system's internal clock, SYSCLK, and CPU-Timer2 has additional clock source options. SYSCLK runs at 200 MHz.</a:t>
            </a:r>
          </a:p>
          <a:p>
            <a:pPr marL="0" lvl="0" indent="0" algn="l" rtl="0">
              <a:lnSpc>
                <a:spcPct val="100000"/>
              </a:lnSpc>
              <a:spcBef>
                <a:spcPts val="0"/>
              </a:spcBef>
              <a:spcAft>
                <a:spcPts val="600"/>
              </a:spcAft>
              <a:buSzPts val="1400"/>
              <a:buNone/>
            </a:pPr>
            <a:r>
              <a:rPr lang="en-US" dirty="0"/>
              <a:t>Why do timers matter so much? Feedback control needs to sample sensors and update outputs at a fixed, predictable rate, and a timer interrupt gives you that rate without the CPU waiting in a loop. The numbers make this concrete. At 200 MHz, one clock cycle is 1/200,000,000 seconds, or 5 nanoseconds. A 1 millisecond interrupt therefore corresponds to about 200,000 counts. A full 32-bit count of 2^32 cycles lasts roughly 21.5 seconds, so a single timer covers a very wide range of periods.</a:t>
            </a:r>
          </a:p>
          <a:p>
            <a:pPr marL="0" lvl="0" indent="0" algn="l" rtl="0">
              <a:lnSpc>
                <a:spcPct val="100000"/>
              </a:lnSpc>
              <a:spcBef>
                <a:spcPts val="0"/>
              </a:spcBef>
              <a:spcAft>
                <a:spcPts val="600"/>
              </a:spcAft>
              <a:buSzPts val="1400"/>
              <a:buNone/>
            </a:pPr>
            <a:r>
              <a:rPr lang="en-US" dirty="0"/>
              <a:t>Quick check: how many SYSCLK cycles occur in 4 ms? (Answer: 800,000.)</a:t>
            </a:r>
          </a:p>
          <a:p>
            <a:pPr marL="0" lvl="0" indent="0" algn="l" rtl="0">
              <a:lnSpc>
                <a:spcPct val="100000"/>
              </a:lnSpc>
              <a:spcBef>
                <a:spcPts val="0"/>
              </a:spcBef>
              <a:spcAft>
                <a:spcPts val="600"/>
              </a:spcAft>
              <a:buSzPts val="1400"/>
              <a:buNone/>
            </a:pPr>
            <a:r>
              <a:rPr lang="en-US" dirty="0"/>
              <a:t>Next, the block diagram shows the logic inside a CPU-Timer. Watch for the AND, OR and NOT gates; they mirror the bitwise operations from the last slide.</a:t>
            </a:r>
          </a:p>
        </p:txBody>
      </p:sp>
      <p:sp>
        <p:nvSpPr>
          <p:cNvPr id="116" name="Google Shape;116;p29:notes">
            <a:extLst>
              <a:ext uri="{FF2B5EF4-FFF2-40B4-BE49-F238E27FC236}">
                <a16:creationId xmlns:a16="http://schemas.microsoft.com/office/drawing/2014/main" id="{A7FE9A8A-3B96-16ED-CD9A-EC675FDE4F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15184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68A8AE-3822-5138-D4AB-80720FACD54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88A369-6B99-117F-1BAE-0A0CD3BE4C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shows Figure 3-10, "CPU-Timers," the block diagram of one CPU timer from the TI TMS320F2837xD reference manual. Red arrows label three logic gates: two OR gates at the top and an AND gate on the left whose lower input has a small circle, labelled NOT, meaning that input is inverted.</a:t>
            </a:r>
          </a:p>
          <a:p>
            <a:pPr>
              <a:spcAft>
                <a:spcPts val="600"/>
              </a:spcAft>
            </a:pPr>
            <a:r>
              <a:rPr lang="en-US" dirty="0"/>
              <a:t>Follow the clock from left to right. SYSCLKOUT, the 200 MHz system clock, enters the AND gate with TCR.4, the Timer Stop Status bit in the Timer Control Register. Because TCR.4 is inverted, clock pulses pass only while TCR.4 = 0. Writing 1 stops the timer, and writing 0 starts it. A timer does nothing until your software explicitly starts it.</a:t>
            </a:r>
          </a:p>
          <a:p>
            <a:pPr>
              <a:spcAft>
                <a:spcPts val="600"/>
              </a:spcAft>
            </a:pPr>
            <a:r>
              <a:rPr lang="en-US" dirty="0"/>
              <a:t>The gated clock drives the 16-bit prescale counter, PSCH:PSC. It counts down, and when it underflows it produces a "borrow." That borrow does two things. It reloads the prescaler from the 16-bit divide-down register, TDDRH:TDDR, and it decrements the main 32-bit counter, TIMH:TIM, by one. The prescaler therefore slows time down so the main counter ticks at a manageable rate, once every TDDR + 1 clock cycles.</a:t>
            </a:r>
          </a:p>
          <a:p>
            <a:pPr>
              <a:spcAft>
                <a:spcPts val="600"/>
              </a:spcAft>
            </a:pPr>
            <a:r>
              <a:rPr lang="en-US" dirty="0"/>
              <a:t>The 32-bit counter decrements on each prescaled tick. When it underflows, its borrow asserts TINT, the timer interrupt; the bar over the name means it is active low. The same borrow reloads the counter from the 32-bit period register, PRDH:PRD, so the timer repeats forever. The OR gates also force both reloads whenever Reset or Timer reload is asserted.</a:t>
            </a:r>
          </a:p>
          <a:p>
            <a:pPr>
              <a:spcAft>
                <a:spcPts val="600"/>
              </a:spcAft>
            </a:pPr>
            <a:r>
              <a:rPr lang="en-US" dirty="0"/>
              <a:t>Quick check: if TCR.4 = 1, does TIM ever change? No. This is a common reason a lab interrupt never fires.</a:t>
            </a:r>
          </a:p>
          <a:p>
            <a:pPr>
              <a:spcAft>
                <a:spcPts val="600"/>
              </a:spcAft>
            </a:pPr>
            <a:r>
              <a:rPr lang="en-US" dirty="0"/>
              <a:t>Next comes an animation of this diagram, followed by a slide explaining why two counters are needed.</a:t>
            </a:r>
          </a:p>
        </p:txBody>
      </p:sp>
      <p:sp>
        <p:nvSpPr>
          <p:cNvPr id="116" name="Google Shape;116;p29:notes">
            <a:extLst>
              <a:ext uri="{FF2B5EF4-FFF2-40B4-BE49-F238E27FC236}">
                <a16:creationId xmlns:a16="http://schemas.microsoft.com/office/drawing/2014/main" id="{75C88DC5-6882-AE62-38F7-1B560EA420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73272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E9BD42-6D44-07E7-0C57-E63AF0D999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17AE7C-EC41-47D9-AFB5-4EC85F9436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plays a short animation, "CPU Timer Animation" by Marius Juston, at https://youtu.be/AB0ehpoGNZU?si=qzp9HoeXxZYwsuXb. It animates the CPU-Timer block diagram from the previous slide on a black background, with yellow highlighting that shows signals moving. On the left, SYSCLK and TCR.4 (through a NOT gate) feed an AND gate into the prescale counter, PSC. Above PSC is the divide-down register, TDDR. On the right, the period register, PRD, sits above the main counter, TIM, which outputs TINT. OR gates combine Reset and Timer reload to trigger the reloads.</a:t>
            </a:r>
          </a:p>
          <a:p>
            <a:pPr>
              <a:spcAft>
                <a:spcPts val="600"/>
              </a:spcAft>
            </a:pPr>
            <a:r>
              <a:rPr lang="en-US" dirty="0"/>
              <a:t>Follow the signal path as the video plays. SYSCLKOUT is the system clock, 200 MHz here. TCR.4 is the Timer Control Register bit that enables or disables counting. The AND gate passes clock pulses only while TCR.4 is 0, so the timer does nothing until software starts it by clearing that stop bit. A common mistake is configuring a timer and forgetting to start it.</a:t>
            </a:r>
          </a:p>
          <a:p>
            <a:pPr>
              <a:spcAft>
                <a:spcPts val="600"/>
              </a:spcAft>
            </a:pPr>
            <a:r>
              <a:rPr lang="en-US" dirty="0"/>
              <a:t>The 16-bit divide-down register (TDDRH:TDDR) divides the incoming clock frequency so the timer runs at a manageable speed. The 16-bit prescale counter (PSCH:PSC) counts down. When it underflows, it produces a borrow and reloads from TDDR. That borrow advances the main 32-bit timer, so the prescaler slows time down before it reaches the main counter.</a:t>
            </a:r>
          </a:p>
          <a:p>
            <a:pPr>
              <a:spcAft>
                <a:spcPts val="600"/>
              </a:spcAft>
            </a:pPr>
            <a:r>
              <a:rPr lang="en-US" dirty="0"/>
              <a:t>The 32-bit period register (PRDH:PRD) holds the value the timer reloads from. The 32-bit counter (TIMH:TIM) is the actual counter, and it decrements every prescaled tick. When it reaches zero, a borrow occurs, an interrupt (TINT) is generated, and the counter reloads from PRD.</a:t>
            </a:r>
          </a:p>
          <a:p>
            <a:pPr>
              <a:spcAft>
                <a:spcPts val="600"/>
              </a:spcAft>
            </a:pPr>
            <a:r>
              <a:rPr lang="en-US" dirty="0"/>
              <a:t>Next, we look at why splitting the work into two counters makes choosing a period so much easier.</a:t>
            </a:r>
          </a:p>
        </p:txBody>
      </p:sp>
      <p:sp>
        <p:nvSpPr>
          <p:cNvPr id="116" name="Google Shape;116;p29:notes">
            <a:extLst>
              <a:ext uri="{FF2B5EF4-FFF2-40B4-BE49-F238E27FC236}">
                <a16:creationId xmlns:a16="http://schemas.microsoft.com/office/drawing/2014/main" id="{184AD7E4-B967-5FAE-4A9E-3DDC0B9939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528888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9857DE6-DF8B-D8B6-B80A-D4FFA47EBC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A53D2C1-BC7D-1078-FBB3-A743209988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question from the block diagram and animation you just saw: why does the CPU timer have two counters in a row instead of one?</a:t>
            </a:r>
          </a:p>
          <a:p>
            <a:pPr marL="0" lvl="0" indent="0" algn="l" rtl="0">
              <a:lnSpc>
                <a:spcPct val="100000"/>
              </a:lnSpc>
              <a:spcBef>
                <a:spcPts val="0"/>
              </a:spcBef>
              <a:spcAft>
                <a:spcPts val="600"/>
              </a:spcAft>
              <a:buSzPts val="1400"/>
              <a:buNone/>
            </a:pPr>
            <a:r>
              <a:rPr lang="en-US" dirty="0"/>
              <a:t>The slide starts with the system clock, SYSCLKOUT, at 200 megahertz. One clock period is 1 divided by 200 million, which is 5 nanoseconds. The slide prints 2 nanoseconds, but the tick counts on the slide all use 5 nanoseconds. At that rate, 1 millisecond takes 200,000 clock ticks and 10 milliseconds takes 2,000,000. Those numbers are awkward to compute and easy to get wrong in code.</a:t>
            </a:r>
          </a:p>
          <a:p>
            <a:pPr marL="0" lvl="0" indent="0" algn="l" rtl="0">
              <a:lnSpc>
                <a:spcPct val="100000"/>
              </a:lnSpc>
              <a:spcBef>
                <a:spcPts val="0"/>
              </a:spcBef>
              <a:spcAft>
                <a:spcPts val="600"/>
              </a:spcAft>
              <a:buSzPts val="1400"/>
              <a:buNone/>
            </a:pPr>
            <a:r>
              <a:rPr lang="en-US" dirty="0"/>
              <a:t>The solution is to split the job between two counters. The prescaler counter, PSC, reloads from the divide-down register TDDR and controls speed: it sets the unit of time. The main timer counter, TIM, reloads from the period register PRD and controls duration: it sets how many of those units pass before an interrupt. In the slide's words, one counter decides how fast time flows and the other decides how much time passes.</a:t>
            </a:r>
          </a:p>
          <a:p>
            <a:pPr marL="0" lvl="0" indent="0" algn="l" rtl="0">
              <a:lnSpc>
                <a:spcPct val="100000"/>
              </a:lnSpc>
              <a:spcBef>
                <a:spcPts val="0"/>
              </a:spcBef>
              <a:spcAft>
                <a:spcPts val="600"/>
              </a:spcAft>
              <a:buSzPts val="1400"/>
              <a:buNone/>
            </a:pPr>
            <a:r>
              <a:rPr lang="en-US" dirty="0"/>
              <a:t>Here is the worked example. The slide writes TTDR, but it means TDDR. Set TDDR = 199. The prescaler then divides by TDDR + 1 = 200, so each tick of the main counter is exactly 1 microsecond. A 10 millisecond period then needs about 10,000 main-counter ticks, so PRD is roughly 10,000.</a:t>
            </a:r>
          </a:p>
          <a:p>
            <a:pPr marL="0" lvl="0" indent="0" algn="l" rtl="0">
              <a:lnSpc>
                <a:spcPct val="100000"/>
              </a:lnSpc>
              <a:spcBef>
                <a:spcPts val="0"/>
              </a:spcBef>
              <a:spcAft>
                <a:spcPts val="600"/>
              </a:spcAft>
              <a:buSzPts val="1400"/>
              <a:buNone/>
            </a:pPr>
            <a:r>
              <a:rPr lang="en-US" dirty="0"/>
              <a:t>There is one detail to watch. The counter counts down through zero, so the period is really (PRD + 1) times (TDDR + 1) clock cycles. For exactly 10 milliseconds you set PRD = 9,999. The same plus-one applies to TDDR, which is why 199 gives a divide-by-200.</a:t>
            </a:r>
          </a:p>
          <a:p>
            <a:pPr marL="0" lvl="0" indent="0" algn="l" rtl="0">
              <a:lnSpc>
                <a:spcPct val="100000"/>
              </a:lnSpc>
              <a:spcBef>
                <a:spcPts val="0"/>
              </a:spcBef>
              <a:spcAft>
                <a:spcPts val="600"/>
              </a:spcAft>
              <a:buSzPts val="1400"/>
              <a:buNone/>
            </a:pPr>
            <a:r>
              <a:rPr lang="en-US" dirty="0"/>
              <a:t>Quick check: with TDDR = 199, what PRD gives a 1 millisecond interrupt? The answer is 999.</a:t>
            </a:r>
          </a:p>
          <a:p>
            <a:pPr marL="0" lvl="0" indent="0" algn="l" rtl="0">
              <a:lnSpc>
                <a:spcPct val="100000"/>
              </a:lnSpc>
              <a:spcBef>
                <a:spcPts val="0"/>
              </a:spcBef>
              <a:spcAft>
                <a:spcPts val="600"/>
              </a:spcAft>
              <a:buSzPts val="1400"/>
              <a:buNone/>
            </a:pPr>
            <a:r>
              <a:rPr lang="en-US" dirty="0"/>
              <a:t>Next, you see where the timer interrupts go inside the CPU.</a:t>
            </a:r>
          </a:p>
        </p:txBody>
      </p:sp>
      <p:sp>
        <p:nvSpPr>
          <p:cNvPr id="116" name="Google Shape;116;p29:notes">
            <a:extLst>
              <a:ext uri="{FF2B5EF4-FFF2-40B4-BE49-F238E27FC236}">
                <a16:creationId xmlns:a16="http://schemas.microsoft.com/office/drawing/2014/main" id="{90808667-3B3A-7BDA-EA07-6665024B16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3472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8C5D6C7-5422-60D4-9BF9-2EAA80BE19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DC76DDE-0BD6-A46A-932A-9C7A9A74369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a:spcAft>
                <a:spcPts val="600"/>
              </a:spcAft>
            </a:pPr>
            <a:r>
              <a:rPr lang="en-US" dirty="0"/>
              <a:t>This slide reproduces Figure 3-11 from the TI reference manual, "CPU-Timer Interrupt Signals and Output Signal." A large box on the left is the 28x CPU. On the right are three boxes: TIMER0, TIMER1 and TIMER2. TIMER0's interrupt signal, TINT0, goes into a block labeled PIE, which feeds the CPU's interrupt lines INT1 through INT12. TIMER1's signal, TINT1, connects directly to INT13, and TIMER2's signal, TINT2, connects directly to INT14. Two footnotes say that the timer registers sit on the C28x memory bus, and that the CPU timers are synchronized to SYSCLKOUT, the same 200 MHz clock from the prescaler slide.</a:t>
            </a:r>
          </a:p>
          <a:p>
            <a:pPr>
              <a:spcAft>
                <a:spcPts val="600"/>
              </a:spcAft>
            </a:pPr>
            <a:r>
              <a:rPr lang="en-US" dirty="0"/>
              <a:t>The PIE, or Peripheral Interrupt Expansion, is an interrupt router. It takes the many peripheral interrupts and maps them onto CPU interrupt vectors. Timer 0 goes through the PIE because it is commonly used for application-level tasks, and the PIE gives it prioritization and masking.</a:t>
            </a:r>
          </a:p>
          <a:p>
            <a:pPr>
              <a:spcAft>
                <a:spcPts val="600"/>
              </a:spcAft>
            </a:pPr>
            <a:r>
              <a:rPr lang="en-US" dirty="0"/>
              <a:t>The software consequence is that using Timer 0 takes four steps. You enable the timer interrupt, enable the PIE group, enable the CPU interrupt, and acknowledge the PIE inside the ISR. This makes Timer 0 ideal for control loops, scheduling and RTOS ticks. A common mistake is forgetting the PIE acknowledge. When you leave it out, the ISR runs once and then never fires again.</a:t>
            </a:r>
          </a:p>
          <a:p>
            <a:pPr>
              <a:spcAft>
                <a:spcPts val="600"/>
              </a:spcAft>
            </a:pPr>
            <a:r>
              <a:rPr lang="en-US" dirty="0"/>
              <a:t>Timers 1 and 2 bypass the PIE and use the dedicated CPU interrupts INT13 and INT14. They are intended for high-priority system tasks, real-time services and deterministic timing. They have lower latency, are simpler to configure, and are harder to misuse accidentally.</a:t>
            </a:r>
          </a:p>
          <a:p>
            <a:pPr>
              <a:spcAft>
                <a:spcPts val="600"/>
              </a:spcAft>
            </a:pPr>
            <a:r>
              <a:rPr lang="en-US" dirty="0"/>
              <a:t>Next, you see how ConfigCpuTimer sets each timer's period in code.</a:t>
            </a:r>
          </a:p>
        </p:txBody>
      </p:sp>
      <p:sp>
        <p:nvSpPr>
          <p:cNvPr id="116" name="Google Shape;116;p29:notes">
            <a:extLst>
              <a:ext uri="{FF2B5EF4-FFF2-40B4-BE49-F238E27FC236}">
                <a16:creationId xmlns:a16="http://schemas.microsoft.com/office/drawing/2014/main" id="{42FD8C5D-9C20-C91C-AC9B-D65DAB800F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325120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15C7C-5E78-525A-60EE-FEA456DCF41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2C6A1C-81CD-6A4A-0EC7-D4DF6592E8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last timer slide answers the practical question: what do you actually use a timer for, and how do you set one up in code? The slide lists three jobs the timer controls: the sampling rate of a control loop (the controller you write yourself), task scheduling, and PWM updates. It then says the timer sets how often the software interrupts get called, and shows a code block with two comment lines, "Configure CPU-Timer 0, 1, and 2 to interrupt every given period" and "200MHz CPU Freq, Period (in uSeconds)", followed by three calls:</a:t>
            </a:r>
          </a:p>
          <a:p>
            <a:pPr marL="0" lvl="0" indent="0" algn="l" rtl="0">
              <a:lnSpc>
                <a:spcPct val="100000"/>
              </a:lnSpc>
              <a:spcBef>
                <a:spcPts val="0"/>
              </a:spcBef>
              <a:spcAft>
                <a:spcPts val="600"/>
              </a:spcAft>
              <a:buSzPts val="1400"/>
              <a:buNone/>
            </a:pPr>
            <a:r>
              <a:rPr lang="en-US" dirty="0"/>
              <a:t>ConfigCpuTimer(&amp;CpuTimer0, LAUNCHPAD_CPU_FREQUENCY, 10000);</a:t>
            </a:r>
          </a:p>
          <a:p>
            <a:pPr marL="0" lvl="0" indent="0" algn="l" rtl="0">
              <a:lnSpc>
                <a:spcPct val="100000"/>
              </a:lnSpc>
              <a:spcBef>
                <a:spcPts val="0"/>
              </a:spcBef>
              <a:spcAft>
                <a:spcPts val="600"/>
              </a:spcAft>
              <a:buSzPts val="1400"/>
              <a:buNone/>
            </a:pPr>
            <a:r>
              <a:rPr lang="en-US" dirty="0"/>
              <a:t>ConfigCpuTimer(&amp;CpuTimer1, LAUNCHPAD_CPU_FREQUENCY, 20000);</a:t>
            </a:r>
          </a:p>
          <a:p>
            <a:pPr marL="0" lvl="0" indent="0" algn="l" rtl="0">
              <a:lnSpc>
                <a:spcPct val="100000"/>
              </a:lnSpc>
              <a:spcBef>
                <a:spcPts val="0"/>
              </a:spcBef>
              <a:spcAft>
                <a:spcPts val="600"/>
              </a:spcAft>
              <a:buSzPts val="1400"/>
              <a:buNone/>
            </a:pPr>
            <a:r>
              <a:rPr lang="en-US" dirty="0"/>
              <a:t>ConfigCpuTimer(&amp;CpuTimer2, LAUNCHPAD_CPU_FREQUENCY, 40000);</a:t>
            </a:r>
          </a:p>
          <a:p>
            <a:pPr marL="0" lvl="0" indent="0" algn="l" rtl="0">
              <a:lnSpc>
                <a:spcPct val="100000"/>
              </a:lnSpc>
              <a:spcBef>
                <a:spcPts val="0"/>
              </a:spcBef>
              <a:spcAft>
                <a:spcPts val="600"/>
              </a:spcAft>
              <a:buSzPts val="1400"/>
              <a:buNone/>
            </a:pPr>
            <a:r>
              <a:rPr lang="en-US" dirty="0"/>
              <a:t>Each call takes three arguments: which timer to configure, the CPU frequency (200 MHz), and the interrupt period in microseconds. The function does the prescaler and period-register arithmetic from the previous slides for you.</a:t>
            </a:r>
          </a:p>
          <a:p>
            <a:pPr marL="0" lvl="0" indent="0" algn="l" rtl="0">
              <a:lnSpc>
                <a:spcPct val="100000"/>
              </a:lnSpc>
              <a:spcBef>
                <a:spcPts val="0"/>
              </a:spcBef>
              <a:spcAft>
                <a:spcPts val="600"/>
              </a:spcAft>
              <a:buSzPts val="1400"/>
              <a:buNone/>
            </a:pPr>
            <a:r>
              <a:rPr lang="en-US" dirty="0"/>
              <a:t>Work out the numbers. 10000 microseconds is 10 ms, so CPU-Timer 0 interrupts at 100 Hz. Timer 1 at 20 ms runs at 50 Hz, and Timer 2 at 40 ms runs at 25 Hz.</a:t>
            </a:r>
          </a:p>
          <a:p>
            <a:pPr marL="0" lvl="0" indent="0" algn="l" rtl="0">
              <a:lnSpc>
                <a:spcPct val="100000"/>
              </a:lnSpc>
              <a:spcBef>
                <a:spcPts val="0"/>
              </a:spcBef>
              <a:spcAft>
                <a:spcPts val="600"/>
              </a:spcAft>
              <a:buSzPts val="1400"/>
              <a:buNone/>
            </a:pPr>
            <a:r>
              <a:rPr lang="en-US" dirty="0"/>
              <a:t>The period you pick for a control loop is its sample time. For example, a controller running in a 10 ms timer interrupt uses dt = 0.01 s in its discrete equations.</a:t>
            </a:r>
          </a:p>
          <a:p>
            <a:pPr marL="0" lvl="0" indent="0" algn="l" rtl="0">
              <a:lnSpc>
                <a:spcPct val="100000"/>
              </a:lnSpc>
              <a:spcBef>
                <a:spcPts val="0"/>
              </a:spcBef>
              <a:spcAft>
                <a:spcPts val="600"/>
              </a:spcAft>
              <a:buSzPts val="1400"/>
              <a:buNone/>
            </a:pPr>
            <a:r>
              <a:rPr lang="en-US" dirty="0"/>
              <a:t>A common mistake is to treat the third argument as milliseconds. Writing 10 when you mean 10 ms gives a 10 microsecond period, which floods the CPU with interrupts. The unit is microseconds.</a:t>
            </a:r>
          </a:p>
          <a:p>
            <a:pPr marL="0" lvl="0" indent="0" algn="l" rtl="0">
              <a:lnSpc>
                <a:spcPct val="100000"/>
              </a:lnSpc>
              <a:spcBef>
                <a:spcPts val="0"/>
              </a:spcBef>
              <a:spcAft>
                <a:spcPts val="600"/>
              </a:spcAft>
              <a:buSzPts val="1400"/>
              <a:buNone/>
            </a:pPr>
            <a:r>
              <a:rPr lang="en-US" dirty="0"/>
              <a:t>Quick check: what value gives a 1 ms control loop? The answer is 1000. You will change these values in lab when you set up your own periodic tasks.</a:t>
            </a:r>
          </a:p>
          <a:p>
            <a:pPr marL="0" lvl="0" indent="0" algn="l" rtl="0">
              <a:lnSpc>
                <a:spcPct val="100000"/>
              </a:lnSpc>
              <a:spcBef>
                <a:spcPts val="0"/>
              </a:spcBef>
              <a:spcAft>
                <a:spcPts val="600"/>
              </a:spcAft>
              <a:buSzPts val="1400"/>
              <a:buNone/>
            </a:pPr>
            <a:r>
              <a:rPr lang="en-US" dirty="0"/>
              <a:t>That wraps up timers and the peripheral material for Lecture 2. Next is time for questions.</a:t>
            </a:r>
          </a:p>
        </p:txBody>
      </p:sp>
      <p:sp>
        <p:nvSpPr>
          <p:cNvPr id="116" name="Google Shape;116;p29:notes">
            <a:extLst>
              <a:ext uri="{FF2B5EF4-FFF2-40B4-BE49-F238E27FC236}">
                <a16:creationId xmlns:a16="http://schemas.microsoft.com/office/drawing/2014/main" id="{E9E55876-018B-F3F8-A378-6190163DC3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43991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reads "Questions?" in large white text, with a smaller line beneath it: "(Lecture Wednesday online or not?)". The dark blue Illinois background has faint hand-drawn equations and diagrams that are only decoration.</a:t>
            </a:r>
          </a:p>
          <a:p>
            <a:pPr marL="0" lvl="0" indent="0" algn="l" rtl="0">
              <a:spcBef>
                <a:spcPts val="0"/>
              </a:spcBef>
              <a:spcAft>
                <a:spcPts val="600"/>
              </a:spcAft>
              <a:buNone/>
            </a:pPr>
            <a:r>
              <a:rPr lang="en-US" dirty="0"/>
              <a:t>This is your chance to ask about anything from today: registers, memory-mapped I/O, EALLOW and EDIS, GPIO, bit masks and bitwise operations, or the CPU timers and ConfigCpuTimer. The instructor also polls the class on whether Wednesday's lecture is online. Watch for the announced decision rather than assuming either way.</a:t>
            </a: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2. It shows the orange Grainger College of Engineering, University of Illinois Urbana-Champaign title card, with the block I logo and faint hand-drawn sketches of equations, a cube, a sphere, chemical structures and a diagram in the background.</a:t>
            </a:r>
          </a:p>
          <a:p>
            <a:pPr marL="0" lvl="0" indent="0" algn="l" rtl="0">
              <a:spcBef>
                <a:spcPts val="0"/>
              </a:spcBef>
              <a:spcAft>
                <a:spcPts val="600"/>
              </a:spcAft>
              <a:buNone/>
            </a:pPr>
            <a:r>
              <a:rPr lang="en-US" dirty="0"/>
              <a:t>Today you saw memory-mapped peripheral registers, EALLOW and EDIS, GPIO, binary, hexadecimal, bit masks, bitwise operations and CPU timers. Before lab, check that you can explain how a mask sets or clears a single bit.</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marius-juston.github.io/SE-423---Class-Material/Labs/Lab1.pdf"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marius-juston.github.io/SE-423---Class-Material/Homeworks/LabVIEW1.pdf" TargetMode="External"/><Relationship Id="rId4" Type="http://schemas.openxmlformats.org/officeDocument/2006/relationships/hyperlink" Target="https://marius-juston.github.io/SE-423---Class-Material/Homeworks/HW1.pdf"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hackster.io/jay118/se-423-astar-ball-collection-and-drop-off-project-3daa28?f=1"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hyperlink" Target="https://coecsl.ece.illinois.edu/se423/tms320f28379D_TechRefi.pdf"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coecsl.ece.illinois.edu/se423/hw/PinMuxTableF28379DLaunchPad.p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video" Target="https://www.youtube.com/embed/AB0ehpoGNZU?feature=oembed" TargetMode="External"/><Relationship Id="rId6" Type="http://schemas.openxmlformats.org/officeDocument/2006/relationships/hyperlink" Target="https://youtu.be/AB0ehpoGNZU?si=qzp9HoeXxZYwsuXb" TargetMode="External"/><Relationship Id="rId5" Type="http://schemas.openxmlformats.org/officeDocument/2006/relationships/image" Target="../media/image10.jpe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600"/>
              </a:spcBef>
              <a:spcAft>
                <a:spcPts val="0"/>
              </a:spcAft>
              <a:buClr>
                <a:srgbClr val="000000"/>
              </a:buClr>
              <a:buSzPts val="4500"/>
              <a:buFont typeface="Arial"/>
              <a:buNone/>
            </a:pPr>
            <a:r>
              <a:rPr lang="en-US" sz="4500" b="1" i="0" u="none" strike="noStrike" cap="none" dirty="0">
                <a:solidFill>
                  <a:schemeClr val="lt1"/>
                </a:solidFill>
                <a:latin typeface="Atkinson Hyperlegible Next"/>
                <a:ea typeface="Arial"/>
                <a:cs typeface="Arial"/>
                <a:sym typeface="Arial"/>
              </a:rPr>
              <a:t>SE 423: Introduction to Mechatronics</a:t>
            </a:r>
            <a:endParaRPr sz="4500" b="0" i="0" u="none" strike="noStrike" cap="none" dirty="0">
              <a:solidFill>
                <a:srgbClr val="000000"/>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2500" dirty="0">
                <a:solidFill>
                  <a:schemeClr val="lt1"/>
                </a:solidFill>
              </a:rPr>
              <a:t>Lecture 2: Peripherals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i="0" b="0" lang="en-US" sz="1800" dirty="0">
                <a:solidFill>
                  <a:schemeClr val="lt1"/>
                </a:solidFil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t>
            </a:r>
            <a:r>
              <a:rPr lang="en-US" sz="1800" b="0" i="0" u="none" strike="noStrike" cap="none">
                <a:solidFill>
                  <a:schemeClr val="lt1"/>
                </a:solidFill>
                <a:latin typeface="Atkinson Hyperlegible Next"/>
                <a:ea typeface="Arial"/>
                <a:cs typeface="Arial"/>
                <a:sym typeface="Arial"/>
              </a:rPr>
              <a:t>January 26</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a:t>
            </a:r>
            <a:r>
              <a:rPr lang="en-US" sz="1800" b="0" i="0" u="none" strike="noStrike" cap="none" dirty="0">
                <a:solidFill>
                  <a:schemeClr val="lt1"/>
                </a:solidFill>
                <a:latin typeface="Atkinson Hyperlegible Next"/>
                <a:ea typeface="Arial"/>
                <a:cs typeface="Arial"/>
                <a:sym typeface="Arial"/>
              </a:rPr>
              <a:t>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pic>
        <p:nvPicPr>
          <p:cNvPr id="5" name="Picture 4" descr="Cartoon: a person bundled in a puffy coat, scarf, and pom-pom hat stands frozen in a block of ice beside a small wheeled robot with googly eyes, also encased in ice, a lighthearted nod to the frigid late-January weather.">
            <a:extLst>
              <a:ext uri="{FF2B5EF4-FFF2-40B4-BE49-F238E27FC236}">
                <a16:creationId xmlns:a16="http://schemas.microsoft.com/office/drawing/2014/main" id="{3DEDD2ED-7EA0-C726-B86C-DAF6A1B5857D}"/>
              </a:ext>
            </a:extLst>
          </p:cNvPr>
          <p:cNvPicPr>
            <a:picLocks noChangeAspect="1"/>
          </p:cNvPicPr>
          <p:nvPr/>
        </p:nvPicPr>
        <p:blipFill>
          <a:blip r:embed="rId5"/>
          <a:stretch>
            <a:fillRect/>
          </a:stretch>
        </p:blipFill>
        <p:spPr>
          <a:xfrm>
            <a:off x="420738" y="2474829"/>
            <a:ext cx="3994099" cy="33083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220859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94978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How was the first lab? Enjoyed it?</a:t>
            </a:r>
          </a:p>
        </p:txBody>
      </p:sp>
      <p:grpSp>
        <p:nvGrpSpPr>
          <p:cNvPr id="91" name="Google Shape;91;p27"/>
          <p:cNvGrpSpPr/>
          <p:nvPr/>
        </p:nvGrpSpPr>
        <p:grpSpPr>
          <a:xfrm>
            <a:off x="3943790" y="339448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dirty="0">
                <a:solidFill>
                  <a:srgbClr val="E84B36"/>
                </a:solidFill>
                <a:latin typeface="Atkinson Hyperlegible Next"/>
                <a:ea typeface="Arial"/>
                <a:cs typeface="Arial"/>
                <a:sym typeface="Arial"/>
              </a:rPr>
              <a:t>Times:</a:t>
            </a:r>
          </a:p>
          <a:p>
            <a:pPr marL="0" lvl="0" indent="0" algn="l" rtl="0">
              <a:lnSpc>
                <a:spcPct val="100000"/>
              </a:lnSpc>
              <a:spcBef>
                <a:spcPts val="0"/>
              </a:spcBef>
              <a:spcAft>
                <a:spcPts val="0"/>
              </a:spcAft>
              <a:buSzPts val="3000"/>
              <a:buNone/>
            </a:pP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Samuel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Neel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285750" indent="-285750">
              <a:lnSpc>
                <a:spcPct val="100000"/>
              </a:lnSpc>
              <a:spcBef>
                <a:spcPts val="0"/>
              </a:spcBef>
              <a:buSzPts val="3000"/>
            </a:pPr>
            <a:endParaRPr lang="en-US" sz="1800" b="1"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There to help with setting up </a:t>
            </a:r>
            <a:r>
              <a:rPr lang="en-US" sz="1800" dirty="0" err="1">
                <a:latin typeface="Atkinson Hyperlegible Next"/>
                <a:ea typeface="Arial"/>
                <a:cs typeface="Arial"/>
                <a:sym typeface="Arial"/>
              </a:rPr>
              <a:t>CodeComposer</a:t>
            </a:r>
            <a:r>
              <a:rPr lang="en-US" sz="1800" dirty="0">
                <a:latin typeface="Atkinson Hyperlegible Next"/>
                <a:ea typeface="Arial"/>
                <a:cs typeface="Arial"/>
                <a:sym typeface="Arial"/>
              </a:rPr>
              <a:t> ( not necessary but helpful for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 finishing the solder, getting checked off for the </a:t>
            </a:r>
            <a:r>
              <a:rPr lang="en-US" sz="1800" dirty="0" err="1">
                <a:latin typeface="Atkinson Hyperlegible Next"/>
                <a:ea typeface="Arial"/>
                <a:cs typeface="Arial"/>
                <a:sym typeface="Arial"/>
              </a:rPr>
              <a:t>homeworks</a:t>
            </a:r>
            <a:r>
              <a:rPr lang="en-US" sz="1800" dirty="0">
                <a:latin typeface="Atkinson Hyperlegible Next"/>
                <a:ea typeface="Arial"/>
                <a:cs typeface="Arial"/>
                <a:sym typeface="Arial"/>
              </a:rPr>
              <a:t>, labs or LabVIEW</a:t>
            </a:r>
          </a:p>
          <a:p>
            <a:pPr marL="285750" indent="-285750">
              <a:lnSpc>
                <a:spcPct val="100000"/>
              </a:lnSpc>
              <a:spcBef>
                <a:spcPts val="0"/>
              </a:spcBef>
              <a:buSzPts val="3000"/>
            </a:pPr>
            <a:r>
              <a:rPr lang="en-US" sz="1800" dirty="0">
                <a:latin typeface="Atkinson Hyperlegible Next"/>
                <a:ea typeface="Arial"/>
                <a:cs typeface="Arial"/>
                <a:sym typeface="Arial"/>
              </a:rPr>
              <a:t>Close to deadlines it will be busy so be sure to come in early!</a:t>
            </a:r>
          </a:p>
          <a:p>
            <a:pPr marL="0" indent="0">
              <a:lnSpc>
                <a:spcPct val="100000"/>
              </a:lnSpc>
              <a:spcBef>
                <a:spcPts val="0"/>
              </a:spcBef>
              <a:buSzPts val="3000"/>
              <a:buNone/>
            </a:pPr>
            <a:endParaRPr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Office Hours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2EC0B-8783-91E6-CCD2-B7B06FAFF1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7BDBD34-A31A-FF8F-814D-CEA3F5CE034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Starting </a:t>
            </a:r>
            <a:r>
              <a:rPr lang="en-US" sz="1800" dirty="0">
                <a:latin typeface="Atkinson Hyperlegible Next"/>
                <a:ea typeface="Arial"/>
                <a:cs typeface="Arial"/>
                <a:sym typeface="Arial"/>
                <a:hlinkClick r:id="rId3"/>
              </a:rPr>
              <a:t>Lab 1</a:t>
            </a:r>
            <a:r>
              <a:rPr lang="en-US" sz="1800" dirty="0">
                <a:latin typeface="Atkinson Hyperlegible Next"/>
                <a:ea typeface="Arial"/>
                <a:cs typeface="Arial"/>
                <a:sym typeface="Arial"/>
              </a:rPr>
              <a:t> this week, will be using C so be sure to be prepared! </a:t>
            </a:r>
          </a:p>
          <a:p>
            <a:pPr marL="285750" indent="-285750">
              <a:lnSpc>
                <a:spcPct val="100000"/>
              </a:lnSpc>
              <a:spcBef>
                <a:spcPts val="0"/>
              </a:spcBef>
              <a:buSzPts val="3000"/>
            </a:pPr>
            <a:r>
              <a:rPr lang="en-US" sz="1800" dirty="0">
                <a:latin typeface="Atkinson Hyperlegible Next"/>
                <a:ea typeface="Arial"/>
                <a:cs typeface="Arial"/>
                <a:sym typeface="Arial"/>
              </a:rPr>
              <a:t>Do Exercise 1 of Homework 1 to get started in C.</a:t>
            </a:r>
          </a:p>
          <a:p>
            <a:pPr marL="742950" lvl="1" indent="-285750">
              <a:lnSpc>
                <a:spcPct val="100000"/>
              </a:lnSpc>
              <a:spcBef>
                <a:spcPts val="0"/>
              </a:spcBef>
              <a:buSzPts val="3000"/>
            </a:pPr>
            <a:r>
              <a:rPr lang="en-US" sz="1400" dirty="0">
                <a:latin typeface="Atkinson Hyperlegible Next"/>
                <a:ea typeface="Arial"/>
                <a:cs typeface="Arial"/>
                <a:sym typeface="Arial"/>
              </a:rPr>
              <a:t>You cannot use </a:t>
            </a:r>
            <a:r>
              <a:rPr lang="en-US" sz="1400" dirty="0" err="1">
                <a:latin typeface="Atkinson Hyperlegible Next"/>
                <a:ea typeface="Arial"/>
                <a:cs typeface="Arial"/>
                <a:sym typeface="Arial"/>
              </a:rPr>
              <a:t>CodeComposer</a:t>
            </a:r>
            <a:r>
              <a:rPr lang="en-US" sz="1400" dirty="0">
                <a:latin typeface="Atkinson Hyperlegible Next"/>
                <a:ea typeface="Arial"/>
                <a:cs typeface="Arial"/>
                <a:sym typeface="Arial"/>
              </a:rPr>
              <a:t> for that. You can just use an online C compile.</a:t>
            </a:r>
          </a:p>
          <a:p>
            <a:pPr marL="285750" indent="-285750">
              <a:lnSpc>
                <a:spcPct val="100000"/>
              </a:lnSpc>
              <a:spcBef>
                <a:spcPts val="0"/>
              </a:spcBef>
              <a:buSzPts val="3000"/>
            </a:pPr>
            <a:r>
              <a:rPr lang="en-US" sz="1800" dirty="0">
                <a:latin typeface="Atkinson Hyperlegible Next"/>
                <a:ea typeface="Arial"/>
                <a:cs typeface="Arial"/>
                <a:sym typeface="Arial"/>
              </a:rPr>
              <a:t>Lab 1 is a 1-week lab, some are longer</a:t>
            </a:r>
          </a:p>
          <a:p>
            <a:pPr marL="285750" indent="-285750">
              <a:lnSpc>
                <a:spcPct val="100000"/>
              </a:lnSpc>
              <a:spcBef>
                <a:spcPts val="0"/>
              </a:spcBef>
              <a:buSzPts val="3000"/>
            </a:pP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homework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3, 5PM</a:t>
            </a:r>
            <a:endParaRPr lang="en-US" sz="1400" b="1" dirty="0">
              <a:latin typeface="Atkinson Hyperlegible Next"/>
              <a:ea typeface="Arial"/>
              <a:cs typeface="Arial"/>
              <a:sym typeface="Arial"/>
            </a:endParaRPr>
          </a:p>
          <a:p>
            <a:pPr marL="742950" lvl="1" indent="-285750">
              <a:lnSpc>
                <a:spcPct val="100000"/>
              </a:lnSpc>
              <a:spcBef>
                <a:spcPts val="0"/>
              </a:spcBef>
              <a:buSzPts val="3000"/>
            </a:pPr>
            <a:r>
              <a:rPr lang="en-US" sz="1400" dirty="0">
                <a:latin typeface="Atkinson Hyperlegible Next"/>
                <a:ea typeface="Arial"/>
                <a:cs typeface="Arial"/>
                <a:sym typeface="Arial"/>
              </a:rPr>
              <a:t>Questions 2, 3, 5, 7, 8, 9 and 10 need to be checked-off by instructors / TAs</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1 are due </a:t>
            </a:r>
            <a:r>
              <a:rPr lang="en-US" sz="1800" b="1" dirty="0">
                <a:latin typeface="Atkinson Hyperlegible Next"/>
                <a:ea typeface="Arial"/>
                <a:cs typeface="Arial"/>
                <a:sym typeface="Arial"/>
              </a:rPr>
              <a:t>February 4, 9AM</a:t>
            </a:r>
          </a:p>
          <a:p>
            <a:pPr marL="285750" indent="-285750">
              <a:lnSpc>
                <a:spcPct val="100000"/>
              </a:lnSpc>
              <a:spcBef>
                <a:spcPts val="0"/>
              </a:spcBef>
              <a:buSzPts val="3000"/>
            </a:pPr>
            <a:r>
              <a:rPr lang="en-US" sz="1800" dirty="0">
                <a:latin typeface="Atkinson Hyperlegible Next"/>
                <a:ea typeface="Arial"/>
                <a:cs typeface="Arial"/>
                <a:sym typeface="Arial"/>
              </a:rPr>
              <a:t>No late acceptations, since these are individual!</a:t>
            </a:r>
            <a:endParaRPr lang="en-US" sz="1800"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Soldering is Exercise 2 of Homework 1.</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1</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5, 5PM</a:t>
            </a:r>
          </a:p>
        </p:txBody>
      </p:sp>
      <p:sp>
        <p:nvSpPr>
          <p:cNvPr id="119" name="Google Shape;119;p29">
            <a:extLst>
              <a:ext uri="{FF2B5EF4-FFF2-40B4-BE49-F238E27FC236}">
                <a16:creationId xmlns:a16="http://schemas.microsoft.com/office/drawing/2014/main" id="{AD59AEA4-FA31-7DE5-ECA1-47FDE291DA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F4682E-AB31-E1D3-8C63-83FBD01EEE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Due Dates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D4F2AE-AF34-641F-D726-1F09D72D4F1C}"/>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F2177D-7368-A283-161A-0AB4D52E95A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E702B2-7A21-65E7-17C4-E10079AAA2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DFBE1C-F9BB-2D43-E81C-914BF2A56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B709CE-2A7C-0CCA-4EDF-FEC086E24F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462F17-FDB0-9C67-DE2D-DF014F11F9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4747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C2441AC-B173-8D17-8C64-0E6EB4DE3EDC}"/>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28B44141-C670-8ABB-20E0-AAA6EFD29AB9}"/>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Semester Project</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C188BAE0-AF94-4F20-E8F5-C7A8238E2D56}"/>
              </a:ext>
            </a:extLst>
          </p:cNvPr>
          <p:cNvSpPr txBox="1"/>
          <p:nvPr/>
        </p:nvSpPr>
        <p:spPr>
          <a:xfrm>
            <a:off x="1441528" y="3232230"/>
            <a:ext cx="9308941" cy="2246729"/>
          </a:xfrm>
          <a:prstGeom prst="rect">
            <a:avLst/>
          </a:prstGeom>
          <a:noFill/>
          <a:ln>
            <a:noFill/>
          </a:ln>
        </p:spPr>
        <p:txBody>
          <a:bodyPr spcFirstLastPara="1" wrap="square" lIns="91425" tIns="45700" rIns="91425" bIns="45700" anchor="t" anchorCtr="0">
            <a:spAutoFit/>
          </a:bodyPr>
          <a:lstStyle/>
          <a:p>
            <a:pPr lvl="0" algn="ctr">
              <a:buSzPts val="2800"/>
            </a:pPr>
            <a:r>
              <a:rPr lang="en-US" sz="2800" dirty="0">
                <a:solidFill>
                  <a:schemeClr val="lt1"/>
                </a:solidFill>
              </a:rPr>
              <a:t>Thursday May 14</a:t>
            </a:r>
            <a:r>
              <a:rPr lang="en-US" sz="2800" baseline="30000" dirty="0">
                <a:solidFill>
                  <a:schemeClr val="lt1"/>
                </a:solidFill>
              </a:rPr>
              <a:t>th</a:t>
            </a:r>
            <a:r>
              <a:rPr lang="en-US" sz="2800" dirty="0">
                <a:solidFill>
                  <a:schemeClr val="lt1"/>
                </a:solidFill>
              </a:rPr>
              <a:t>, 11AM – 2PM</a:t>
            </a:r>
          </a:p>
          <a:p>
            <a:pPr lvl="0" algn="ctr">
              <a:buSzPts val="2800"/>
            </a:pPr>
            <a:r>
              <a:rPr lang="en-US" sz="2800" b="1" dirty="0">
                <a:solidFill>
                  <a:schemeClr val="lt1"/>
                </a:solidFill>
              </a:rPr>
              <a:t>Last day of Finals!!! </a:t>
            </a:r>
          </a:p>
          <a:p>
            <a:pPr lvl="0" algn="ctr">
              <a:buSzPts val="2800"/>
            </a:pPr>
            <a:r>
              <a:rPr lang="en-US" sz="2800" dirty="0">
                <a:solidFill>
                  <a:schemeClr val="lt1"/>
                </a:solidFill>
              </a:rPr>
              <a:t>( yes, I know that’s annoying)</a:t>
            </a:r>
          </a:p>
          <a:p>
            <a:pPr lvl="0" algn="ctr">
              <a:buSzPts val="2800"/>
            </a:pPr>
            <a:endParaRPr lang="en-US" sz="2800" b="1" i="0" u="none" strike="noStrike" cap="none" dirty="0">
              <a:solidFill>
                <a:schemeClr val="lt1"/>
              </a:solidFill>
              <a:latin typeface="Atkinson Hyperlegible Next"/>
              <a:ea typeface="Arial"/>
              <a:cs typeface="Arial"/>
              <a:sym typeface="Arial"/>
            </a:endParaRPr>
          </a:p>
          <a:p>
            <a:pPr lvl="0" algn="ctr">
              <a:buSzPts val="2800"/>
            </a:pPr>
            <a:r>
              <a:rPr lang="en-US" sz="2800" b="1" dirty="0">
                <a:solidFill>
                  <a:schemeClr val="lt1"/>
                </a:solidFill>
              </a:rPr>
              <a:t>Attendance is </a:t>
            </a:r>
            <a:r>
              <a:rPr lang="en-US" sz="2800" b="1" dirty="0">
                <a:solidFill>
                  <a:srgbClr val="E84B36"/>
                </a:solidFill>
              </a:rPr>
              <a:t>mandatory</a:t>
            </a:r>
            <a:r>
              <a:rPr lang="en-US" sz="2800" b="1" dirty="0">
                <a:solidFill>
                  <a:schemeClr val="lt1"/>
                </a:solidFill>
              </a:rPr>
              <a:t>!!</a:t>
            </a:r>
            <a:endParaRPr lang="en-US" sz="2800" b="1"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2BDD255B-0619-DA09-C865-8E5E11CABDA0}"/>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EFB24328-6928-5D39-E355-377755EDF1A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AAD31-BC0F-4A60-8AA1-56D755E30FD5}"/>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42EC04A-B6B9-3EC3-CAA1-53A267F1FE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CB5533F-A0D3-93F5-8101-D1A909B532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FA3D936-A09D-5A2D-BD3F-3B4A185E17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5895954-C3C5-744F-50CC-224A22A7767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3E8396-30D7-4A21-4AEC-3C0062DF05A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9BD3E6C-4647-5B80-CA19-FB9C76DE306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012414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29D7E9-EA1D-D258-7422-A853BFA601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15131D-2264-84AA-B6C4-8A0256D0306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Website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will be creating a </a:t>
            </a:r>
            <a:r>
              <a:rPr lang="en-US" sz="1800" dirty="0">
                <a:latin typeface="Atkinson Hyperlegible Next"/>
                <a:ea typeface="Arial"/>
                <a:cs typeface="Arial"/>
                <a:sym typeface="Arial"/>
                <a:hlinkClick r:id="rId3"/>
              </a:rPr>
              <a:t>Hackster.io </a:t>
            </a:r>
            <a:r>
              <a:rPr lang="en-US" sz="1800" dirty="0">
                <a:latin typeface="Atkinson Hyperlegible Next"/>
                <a:ea typeface="Arial"/>
                <a:cs typeface="Arial"/>
                <a:sym typeface="Arial"/>
              </a:rPr>
              <a:t>website to show what you have done by the end of the semester to showcase to everyone.</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Show the video working,</a:t>
            </a:r>
          </a:p>
          <a:p>
            <a:pPr marL="285750" indent="-285750">
              <a:lnSpc>
                <a:spcPct val="100000"/>
              </a:lnSpc>
              <a:spcBef>
                <a:spcPts val="0"/>
              </a:spcBef>
              <a:buSzPts val="3000"/>
            </a:pPr>
            <a:r>
              <a:rPr lang="en-US" sz="1800" dirty="0">
                <a:latin typeface="Atkinson Hyperlegible Next"/>
                <a:ea typeface="Arial"/>
                <a:cs typeface="Arial"/>
                <a:sym typeface="Arial"/>
              </a:rPr>
              <a:t>Put code, </a:t>
            </a:r>
          </a:p>
          <a:p>
            <a:pPr marL="285750" indent="-285750">
              <a:lnSpc>
                <a:spcPct val="100000"/>
              </a:lnSpc>
              <a:spcBef>
                <a:spcPts val="0"/>
              </a:spcBef>
              <a:buSzPts val="3000"/>
            </a:pPr>
            <a:r>
              <a:rPr lang="en-US" sz="1800" b="1" dirty="0">
                <a:solidFill>
                  <a:srgbClr val="D83B27"/>
                </a:solidFill>
                <a:latin typeface="Atkinson Hyperlegible Next"/>
                <a:ea typeface="Arial"/>
                <a:cs typeface="Arial"/>
                <a:sym typeface="Arial"/>
              </a:rPr>
              <a:t>Show any other cool stuff you do!</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are posting this to be publicly visible, so put your best effort in doing this. You can show the work for interviews, </a:t>
            </a:r>
            <a:r>
              <a:rPr lang="en-US" sz="1800" dirty="0" err="1">
                <a:latin typeface="Atkinson Hyperlegible Next"/>
                <a:ea typeface="Arial"/>
                <a:cs typeface="Arial"/>
                <a:sym typeface="Arial"/>
              </a:rPr>
              <a:t>etc</a:t>
            </a:r>
            <a:r>
              <a:rPr lang="en-US" sz="1800" dirty="0">
                <a:latin typeface="Atkinson Hyperlegible Next"/>
                <a:ea typeface="Arial"/>
                <a:cs typeface="Arial"/>
                <a:sym typeface="Arial"/>
              </a:rPr>
              <a:t>…</a:t>
            </a:r>
            <a:endParaRPr lang="en-US" sz="1800" b="1" dirty="0">
              <a:solidFill>
                <a:srgbClr val="E84B36"/>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B8ADD5E-4587-91AA-E902-1B0E4A8E35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286703-C61A-B2D1-585F-C10B261E8B9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Semester Project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447D33-31A5-FA96-111C-05B9D66690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5751BA-8B9C-91BD-8C25-6C469DA0A6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5DC340-10EC-BD3A-74F5-B5230770C8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E46266-8579-84FA-6DE5-1CFA462B2E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9E83D-2B67-876F-D392-B6E929232A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FA36F5-6D8B-FB3A-824E-B3067E17F35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96259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Registers</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BEEF1A-8246-780D-B805-73B0266CA65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3D1F5B-F4CE-3A65-FC4B-C8CBA8198B9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knows one thing: </a:t>
            </a:r>
            <a:r>
              <a:rPr lang="en-US" sz="1800" b="1" dirty="0">
                <a:solidFill>
                  <a:schemeClr val="dk1"/>
                </a:solidFill>
                <a:latin typeface="Atkinson Hyperlegible Next"/>
                <a:ea typeface="Arial"/>
                <a:cs typeface="Arial"/>
                <a:sym typeface="Arial"/>
              </a:rPr>
              <a:t>memory addresses</a:t>
            </a:r>
          </a:p>
          <a:p>
            <a:pPr marL="0" lvl="0" indent="0" algn="l" rtl="0">
              <a:lnSpc>
                <a:spcPct val="100000"/>
              </a:lnSpc>
              <a:spcBef>
                <a:spcPts val="0"/>
              </a:spcBef>
              <a:spcAft>
                <a:spcPts val="0"/>
              </a:spcAft>
              <a:buSzPts val="3000"/>
              <a:buNone/>
            </a:pPr>
            <a:endParaRPr lang="en-US" sz="1800" b="1" dirty="0">
              <a:latin typeface="Atkinson Hyperlegible Next"/>
              <a:cs typeface="Arial"/>
              <a:sym typeface="Arial"/>
            </a:endParaRPr>
          </a:p>
          <a:p>
            <a:pPr marL="0" lvl="0" indent="0">
              <a:lnSpc>
                <a:spcPct val="100000"/>
              </a:lnSpc>
              <a:spcBef>
                <a:spcPts val="0"/>
              </a:spcBef>
              <a:buSzPts val="3000"/>
              <a:buNone/>
            </a:pPr>
            <a:r>
              <a:rPr lang="en-US" sz="1800" dirty="0">
                <a:latin typeface="Atkinson Hyperlegible Next"/>
                <a:cs typeface="Arial"/>
                <a:sym typeface="Arial"/>
              </a:rPr>
              <a:t>On the </a:t>
            </a:r>
            <a:r>
              <a:rPr lang="en-US" sz="1800" dirty="0"/>
              <a:t>TMS320F2837xD:</a:t>
            </a:r>
          </a:p>
          <a:p>
            <a:pPr marL="285750" indent="-285750">
              <a:lnSpc>
                <a:spcPct val="100000"/>
              </a:lnSpc>
              <a:spcBef>
                <a:spcPts val="0"/>
              </a:spcBef>
              <a:buSzPts val="3000"/>
            </a:pPr>
            <a:r>
              <a:rPr lang="en-US" sz="1800" dirty="0"/>
              <a:t>RAM has addresses</a:t>
            </a:r>
          </a:p>
          <a:p>
            <a:pPr marL="285750" indent="-285750">
              <a:lnSpc>
                <a:spcPct val="100000"/>
              </a:lnSpc>
              <a:spcBef>
                <a:spcPts val="0"/>
              </a:spcBef>
              <a:buSzPts val="3000"/>
            </a:pPr>
            <a:r>
              <a:rPr lang="en-US" sz="1800" dirty="0"/>
              <a:t>Flash has addresses</a:t>
            </a:r>
          </a:p>
          <a:p>
            <a:pPr marL="285750" indent="-285750">
              <a:lnSpc>
                <a:spcPct val="100000"/>
              </a:lnSpc>
              <a:spcBef>
                <a:spcPts val="0"/>
              </a:spcBef>
              <a:buSzPts val="3000"/>
            </a:pPr>
            <a:r>
              <a:rPr lang="en-US" sz="1800" dirty="0"/>
              <a:t>Peripherals also have addresses</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This is called Memory-Mapped I/O (</a:t>
            </a:r>
            <a:r>
              <a:rPr lang="en-US" sz="1800" b="1" dirty="0"/>
              <a:t>MMIO</a:t>
            </a:r>
            <a:r>
              <a:rPr lang="en-US" sz="1800" dirty="0"/>
              <a: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 peripheral is a hardware module whose control and status registers are mapped to fixed memory addresses, allowing the CPU to configure and control hardware by reading from and writing to memory.</a:t>
            </a:r>
          </a:p>
        </p:txBody>
      </p:sp>
      <p:sp>
        <p:nvSpPr>
          <p:cNvPr id="119" name="Google Shape;119;p29">
            <a:extLst>
              <a:ext uri="{FF2B5EF4-FFF2-40B4-BE49-F238E27FC236}">
                <a16:creationId xmlns:a16="http://schemas.microsoft.com/office/drawing/2014/main" id="{F4A71BDA-AF55-C788-95F4-7D99FDA443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767473E-7200-1801-D48E-0407667B4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Memory-Mapped 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247348-FF7D-D515-1494-EF00C3BBBF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98A567-8333-5798-5A96-986D6AB0E8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D4E743-6B2A-DBCA-05CA-15E8A3CDF8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68D5BC-52F3-5E41-9D28-A5329EF010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A7FD3E-06AA-8235-9B82-C4FE44AF417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792E2D-C8AF-47FB-EDEE-A0035DB721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922104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54B991-8E85-5A52-F99C-11B8C0B1926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524367-278E-EA64-B4EE-239DCE369C7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chemeClr val="dk1"/>
                </a:solidFill>
                <a:latin typeface="Atkinson Hyperlegible Next"/>
                <a:ea typeface="Arial"/>
                <a:cs typeface="Arial"/>
                <a:sym typeface="Arial"/>
              </a:rPr>
              <a:t>Peripheral:</a:t>
            </a:r>
          </a:p>
          <a:p>
            <a:pPr marL="0" lvl="0" indent="0" algn="l" rtl="0">
              <a:lnSpc>
                <a:spcPct val="100000"/>
              </a:lnSpc>
              <a:spcBef>
                <a:spcPts val="0"/>
              </a:spcBef>
              <a:spcAft>
                <a:spcPts val="0"/>
              </a:spcAft>
              <a:buSzPts val="3000"/>
              <a:buNone/>
            </a:pPr>
            <a:endParaRPr lang="en-US" sz="1800"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 </a:t>
            </a:r>
            <a:r>
              <a:rPr lang="en-US" sz="1800" b="1" dirty="0">
                <a:solidFill>
                  <a:schemeClr val="dk1"/>
                </a:solidFill>
                <a:latin typeface="Atkinson Hyperlegible Next"/>
                <a:ea typeface="Arial"/>
                <a:cs typeface="Arial"/>
                <a:sym typeface="Arial"/>
              </a:rPr>
              <a:t>Peripheral</a:t>
            </a:r>
            <a:r>
              <a:rPr lang="en-US" sz="1800" dirty="0">
                <a:solidFill>
                  <a:schemeClr val="dk1"/>
                </a:solidFill>
                <a:latin typeface="Atkinson Hyperlegible Next"/>
                <a:ea typeface="Arial"/>
                <a:cs typeface="Arial"/>
                <a:sym typeface="Arial"/>
              </a:rPr>
              <a:t> is a hardware device with a specific address in memory that it writes data to and/or reads data from.</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All peripherals can be described by an offset from the </a:t>
            </a:r>
            <a:r>
              <a:rPr lang="en-US" sz="1800" b="1" dirty="0">
                <a:solidFill>
                  <a:schemeClr val="dk1"/>
                </a:solidFill>
                <a:latin typeface="Atkinson Hyperlegible Next"/>
                <a:ea typeface="Arial"/>
                <a:cs typeface="Arial"/>
                <a:sym typeface="Arial"/>
              </a:rPr>
              <a:t>Peripheral Base Address.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On the </a:t>
            </a:r>
            <a:r>
              <a:rPr lang="en-US" sz="1800" dirty="0"/>
              <a:t>TMS320F2837xD, registers are typically </a:t>
            </a:r>
            <a:r>
              <a:rPr lang="en-US" sz="1800" b="1" dirty="0"/>
              <a:t>32-bits </a:t>
            </a:r>
            <a:r>
              <a:rPr lang="en-US" sz="1800" dirty="0"/>
              <a:t>or </a:t>
            </a:r>
            <a:r>
              <a:rPr lang="en-US" sz="1800" b="1" dirty="0"/>
              <a:t>16-bit</a:t>
            </a:r>
            <a:r>
              <a:rPr lang="en-US" sz="1800" dirty="0"/>
              <a:t> wide</a:t>
            </a:r>
          </a:p>
          <a:p>
            <a:pPr marL="0" lvl="0" indent="0">
              <a:lnSpc>
                <a:spcPct val="100000"/>
              </a:lnSpc>
              <a:spcBef>
                <a:spcPts val="0"/>
              </a:spcBef>
              <a:buSzPts val="3000"/>
              <a:buNone/>
            </a:pPr>
            <a:endParaRPr lang="en-US" sz="1800" dirty="0"/>
          </a:p>
          <a:p>
            <a:pPr marL="0" lvl="0" indent="0">
              <a:lnSpc>
                <a:spcPct val="100000"/>
              </a:lnSpc>
              <a:spcBef>
                <a:spcPts val="0"/>
              </a:spcBef>
              <a:buSzPts val="3000"/>
              <a:buNone/>
            </a:pPr>
            <a:r>
              <a:rPr lang="en-US" sz="1800" dirty="0"/>
              <a:t>Each bit usually represents to:</a:t>
            </a:r>
          </a:p>
          <a:p>
            <a:pPr marL="285750" indent="-285750">
              <a:lnSpc>
                <a:spcPct val="100000"/>
              </a:lnSpc>
              <a:spcBef>
                <a:spcPts val="0"/>
              </a:spcBef>
              <a:buSzPts val="3000"/>
            </a:pPr>
            <a:r>
              <a:rPr lang="en-US" sz="1800" dirty="0"/>
              <a:t>A hardware switch (ON / OFF)</a:t>
            </a:r>
          </a:p>
          <a:p>
            <a:pPr marL="285750" indent="-285750">
              <a:lnSpc>
                <a:spcPct val="100000"/>
              </a:lnSpc>
              <a:spcBef>
                <a:spcPts val="0"/>
              </a:spcBef>
              <a:buSzPts val="3000"/>
            </a:pPr>
            <a:r>
              <a:rPr lang="en-US" sz="1800" dirty="0"/>
              <a:t>A configuration option</a:t>
            </a:r>
          </a:p>
          <a:p>
            <a:pPr marL="285750" indent="-285750">
              <a:lnSpc>
                <a:spcPct val="100000"/>
              </a:lnSpc>
              <a:spcBef>
                <a:spcPts val="0"/>
              </a:spcBef>
              <a:buSzPts val="3000"/>
            </a:pPr>
            <a:r>
              <a:rPr lang="en-US" sz="1800" dirty="0"/>
              <a:t>A hardware status flag ( Error code, OK )</a:t>
            </a:r>
          </a:p>
          <a:p>
            <a:pPr marL="285750" indent="-285750">
              <a:lnSpc>
                <a:spcPct val="100000"/>
              </a:lnSpc>
              <a:spcBef>
                <a:spcPts val="0"/>
              </a:spcBef>
              <a:buSzPts val="3000"/>
            </a:pPr>
            <a:endParaRPr lang="en-US" sz="1800" dirty="0"/>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F71C68D-2089-CB5C-59AB-CF864A9E24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014155-4DAB-98B2-4E07-B5E40E0C4B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and 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BF5345-B5BF-16DF-10F0-8E870569DB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C6D2008-58CF-E5C6-8BFA-8ABFE7BC72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A9BE1D3-C0D7-38B7-7C00-6210784ACDD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ADFA8D-E8F0-AF61-A156-4365E6F5C1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8ED05-543F-E0F7-BCA4-849511BC5E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630CA8-DBBC-0FAA-99D9-5B106C34696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95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F4A3F0A-E78E-9730-D0BA-98BFA49501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0E8B25-9CF7-F89B-84D7-9854597C886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t>TI groups peripherals into address regions.</a:t>
            </a:r>
          </a:p>
          <a:p>
            <a:pPr marL="0" indent="0">
              <a:lnSpc>
                <a:spcPct val="100000"/>
              </a:lnSpc>
              <a:spcBef>
                <a:spcPts val="0"/>
              </a:spcBef>
              <a:buSzPts val="3000"/>
              <a:buNone/>
            </a:pPr>
            <a:endParaRPr lang="en-US" sz="1800" dirty="0"/>
          </a:p>
          <a:p>
            <a:pPr marL="0" indent="0">
              <a:lnSpc>
                <a:spcPct val="100000"/>
              </a:lnSpc>
              <a:spcBef>
                <a:spcPts val="0"/>
              </a:spcBef>
              <a:buSzPts val="3000"/>
              <a:buNone/>
            </a:pPr>
            <a:r>
              <a:rPr lang="en-US" sz="1800" dirty="0"/>
              <a:t>For example:</a:t>
            </a:r>
          </a:p>
          <a:p>
            <a:pPr marL="0" indent="0">
              <a:lnSpc>
                <a:spcPct val="100000"/>
              </a:lnSpc>
              <a:spcBef>
                <a:spcPts val="0"/>
              </a:spcBef>
              <a:buSzPts val="3000"/>
              <a:buNone/>
            </a:pPr>
            <a:endParaRPr lang="en-US" sz="1800" dirty="0"/>
          </a:p>
          <a:p>
            <a:pPr marL="285750" indent="-285750">
              <a:lnSpc>
                <a:spcPct val="100000"/>
              </a:lnSpc>
              <a:spcBef>
                <a:spcPts val="0"/>
              </a:spcBef>
              <a:buSzPts val="3000"/>
            </a:pPr>
            <a:r>
              <a:rPr lang="en-US" sz="1800" dirty="0"/>
              <a:t>GPIO register live in one address range</a:t>
            </a:r>
          </a:p>
          <a:p>
            <a:pPr marL="285750" indent="-285750">
              <a:lnSpc>
                <a:spcPct val="100000"/>
              </a:lnSpc>
              <a:spcBef>
                <a:spcPts val="0"/>
              </a:spcBef>
              <a:buSzPts val="3000"/>
            </a:pPr>
            <a:r>
              <a:rPr lang="en-US" sz="1800" dirty="0"/>
              <a:t>Timers in another</a:t>
            </a:r>
          </a:p>
          <a:p>
            <a:pPr marL="285750" indent="-285750">
              <a:lnSpc>
                <a:spcPct val="100000"/>
              </a:lnSpc>
              <a:spcBef>
                <a:spcPts val="0"/>
              </a:spcBef>
              <a:buSzPts val="3000"/>
            </a:pPr>
            <a:r>
              <a:rPr lang="en-US" sz="1800" dirty="0" err="1"/>
              <a:t>ePWM</a:t>
            </a:r>
            <a:r>
              <a:rPr lang="en-US" sz="1800" dirty="0"/>
              <a:t> in another</a:t>
            </a:r>
          </a:p>
          <a:p>
            <a:pPr marL="285750" indent="-285750">
              <a:lnSpc>
                <a:spcPct val="100000"/>
              </a:lnSpc>
              <a:spcBef>
                <a:spcPts val="0"/>
              </a:spcBef>
              <a:buSzPts val="3000"/>
            </a:pPr>
            <a:r>
              <a:rPr lang="en-US" sz="1800" dirty="0"/>
              <a:t>ADC (Analog to Digital Converters ) in another</a:t>
            </a:r>
          </a:p>
          <a:p>
            <a:pPr marL="285750" indent="-285750">
              <a:lnSpc>
                <a:spcPct val="100000"/>
              </a:lnSpc>
              <a:spcBef>
                <a:spcPts val="0"/>
              </a:spcBef>
              <a:buSzPts val="3000"/>
            </a:pPr>
            <a:r>
              <a:rPr lang="en-US" sz="1800" dirty="0" err="1"/>
              <a:t>Etc</a:t>
            </a:r>
            <a:r>
              <a:rPr lang="en-US" sz="1800" dirty="0"/>
              <a:t>…</a:t>
            </a:r>
          </a:p>
          <a:p>
            <a:pPr marL="285750" indent="-285750">
              <a:lnSpc>
                <a:spcPct val="100000"/>
              </a:lnSpc>
              <a:spcBef>
                <a:spcPts val="0"/>
              </a:spcBef>
              <a:buSzPts val="3000"/>
            </a:pPr>
            <a:endParaRPr lang="en-US" sz="1800" dirty="0"/>
          </a:p>
          <a:p>
            <a:pPr marL="0" indent="0">
              <a:lnSpc>
                <a:spcPct val="100000"/>
              </a:lnSpc>
              <a:spcBef>
                <a:spcPts val="0"/>
              </a:spcBef>
              <a:buSzPts val="3000"/>
              <a:buNone/>
            </a:pPr>
            <a:r>
              <a:rPr lang="en-US" sz="1800" dirty="0"/>
              <a:t>Each register is located at:</a:t>
            </a:r>
          </a:p>
          <a:p>
            <a:pPr marL="0" indent="0">
              <a:lnSpc>
                <a:spcPct val="100000"/>
              </a:lnSpc>
              <a:spcBef>
                <a:spcPts val="0"/>
              </a:spcBef>
              <a:buSzPts val="3000"/>
              <a:buNone/>
            </a:pPr>
            <a:endParaRPr lang="en-US" sz="1800" dirty="0"/>
          </a:p>
          <a:p>
            <a:pPr marL="0" indent="0" algn="ctr">
              <a:lnSpc>
                <a:spcPct val="100000"/>
              </a:lnSpc>
              <a:spcBef>
                <a:spcPts val="0"/>
              </a:spcBef>
              <a:buSzPts val="3000"/>
              <a:buNone/>
            </a:pPr>
            <a:r>
              <a:rPr lang="en-US" sz="1800" b="1" dirty="0"/>
              <a:t>Peripheral Base Address + Register Offset</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You do not need to calculate these </a:t>
            </a:r>
            <a:r>
              <a:rPr lang="en-US" sz="1800" dirty="0">
                <a:latin typeface="Atkinson Hyperlegible Next"/>
                <a:ea typeface="Arial"/>
                <a:cs typeface="Arial"/>
                <a:sym typeface="Arial"/>
                <a:hlinkClick r:id="rId3"/>
              </a:rPr>
              <a:t>addresses manually</a:t>
            </a:r>
            <a:r>
              <a:rPr lang="en-US" sz="1800" dirty="0">
                <a:latin typeface="Atkinson Hyperlegible Next"/>
                <a:ea typeface="Arial"/>
                <a:cs typeface="Arial"/>
                <a:sym typeface="Arial"/>
              </a:rPr>
              <a:t>; TI provides C structures and header files that do this manually.</a:t>
            </a: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EPwm1Regs.</a:t>
            </a:r>
            <a:r>
              <a:rPr lang="en-US" sz="1800" dirty="0">
                <a:solidFill>
                  <a:srgbClr val="0000C0"/>
                </a:solidFill>
                <a:latin typeface="Consolas" panose="020B0609020204030204" pitchFamily="49" charset="0"/>
              </a:rPr>
              <a:t>TBCTL</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CLKDIV</a:t>
            </a:r>
            <a:r>
              <a:rPr lang="en-US" sz="1800" dirty="0">
                <a:solidFill>
                  <a:srgbClr val="000000"/>
                </a:solidFill>
                <a:latin typeface="Consolas" panose="020B0609020204030204" pitchFamily="49" charset="0"/>
              </a:rPr>
              <a:t> = 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735B1A7-A140-C0A0-76FF-8562328E31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A597A2-E454-B786-AFB9-579B6E8093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Base Address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A08611-B304-CD35-D2C6-87BFF403FD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DAEB88-8BDF-CA9E-F1F9-04EE5C10A7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C30BEF-DCB2-EDB1-C765-2A06F1C7AB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6EE376-804D-D15B-8027-B05926335F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97F45A-48B9-3B23-D9CF-AC6BFCA3CE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9C26A3-2124-2892-7251-E19506A906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322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531F301-BBF7-DF92-6EBE-3E0587DE351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E62DBE1-FA05-0946-0A1D-E31DF5AF30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latin typeface="Atkinson Hyperlegible Next"/>
                <a:ea typeface="Arial"/>
                <a:cs typeface="Arial"/>
                <a:sym typeface="Arial"/>
              </a:rPr>
              <a:t>System registers </a:t>
            </a:r>
            <a:r>
              <a:rPr lang="en-US" sz="1800" dirty="0">
                <a:latin typeface="Atkinson Hyperlegible Next"/>
                <a:ea typeface="Arial"/>
                <a:cs typeface="Arial"/>
                <a:sym typeface="Arial"/>
              </a:rPr>
              <a:t>control the </a:t>
            </a:r>
            <a:r>
              <a:rPr lang="en-US" sz="1800" i="1" dirty="0">
                <a:latin typeface="Atkinson Hyperlegible Next"/>
                <a:ea typeface="Arial"/>
                <a:cs typeface="Arial"/>
                <a:sym typeface="Arial"/>
              </a:rPr>
              <a:t>behavior of the CPU itself</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registers affect the </a:t>
            </a:r>
            <a:r>
              <a:rPr lang="en-US" sz="1800" b="1" dirty="0">
                <a:latin typeface="Atkinson Hyperlegible Next"/>
                <a:ea typeface="Arial"/>
                <a:cs typeface="Arial"/>
                <a:sym typeface="Arial"/>
              </a:rPr>
              <a:t>entire chip.</a:t>
            </a:r>
            <a:r>
              <a:rPr lang="en-US" sz="1800" dirty="0">
                <a:latin typeface="Atkinson Hyperlegible Next"/>
                <a:ea typeface="Arial"/>
                <a:cs typeface="Arial"/>
                <a:sym typeface="Arial"/>
              </a:rPr>
              <a:t> These system registers are protected.</a:t>
            </a: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can modify:</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Clock configuration</a:t>
            </a:r>
          </a:p>
          <a:p>
            <a:pPr marL="285750" indent="-285750">
              <a:lnSpc>
                <a:spcPct val="100000"/>
              </a:lnSpc>
              <a:spcBef>
                <a:spcPts val="0"/>
              </a:spcBef>
              <a:buSzPts val="3000"/>
            </a:pPr>
            <a:r>
              <a:rPr lang="en-US" sz="1800" dirty="0">
                <a:latin typeface="Atkinson Hyperlegible Next"/>
                <a:ea typeface="Arial"/>
                <a:cs typeface="Arial"/>
                <a:sym typeface="Arial"/>
              </a:rPr>
              <a:t>Resets</a:t>
            </a:r>
          </a:p>
          <a:p>
            <a:pPr marL="285750" indent="-285750">
              <a:lnSpc>
                <a:spcPct val="100000"/>
              </a:lnSpc>
              <a:spcBef>
                <a:spcPts val="0"/>
              </a:spcBef>
              <a:buSzPts val="3000"/>
            </a:pPr>
            <a:r>
              <a:rPr lang="en-US" sz="1800" dirty="0">
                <a:latin typeface="Atkinson Hyperlegible Next"/>
                <a:ea typeface="Arial"/>
                <a:cs typeface="Arial"/>
                <a:sym typeface="Arial"/>
              </a:rPr>
              <a:t>Peripheral interrupts</a:t>
            </a:r>
          </a:p>
          <a:p>
            <a:pPr marL="285750" indent="-285750">
              <a:lnSpc>
                <a:spcPct val="100000"/>
              </a:lnSpc>
              <a:spcBef>
                <a:spcPts val="0"/>
              </a:spcBef>
              <a:buSzPts val="3000"/>
            </a:pPr>
            <a:r>
              <a:rPr lang="en-US" sz="1800" dirty="0">
                <a:latin typeface="Atkinson Hyperlegible Next"/>
                <a:ea typeface="Arial"/>
                <a:cs typeface="Arial"/>
                <a:sym typeface="Arial"/>
              </a:rPr>
              <a:t>Memory configuration</a:t>
            </a:r>
          </a:p>
          <a:p>
            <a:pPr marL="285750" indent="-285750">
              <a:lnSpc>
                <a:spcPct val="100000"/>
              </a:lnSpc>
              <a:spcBef>
                <a:spcPts val="0"/>
              </a:spcBef>
              <a:buSzPts val="3000"/>
            </a:pPr>
            <a:r>
              <a:rPr lang="en-US" sz="1800" dirty="0">
                <a:latin typeface="Atkinson Hyperlegible Next"/>
                <a:ea typeface="Arial"/>
                <a:cs typeface="Arial"/>
                <a:sym typeface="Arial"/>
              </a:rPr>
              <a:t>Timer</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Full list is available in </a:t>
            </a:r>
            <a:r>
              <a:rPr lang="en-US" sz="1800" dirty="0">
                <a:latin typeface="Atkinson Hyperlegible Next"/>
                <a:ea typeface="Arial"/>
                <a:cs typeface="Arial"/>
                <a:sym typeface="Arial"/>
                <a:hlinkClick r:id="rId3"/>
              </a:rPr>
              <a:t>Table 3-17 - System Control Base Address Table</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BDD7FD4-3FE9-19BA-F754-C7DB057606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79A8-52A8-01B3-C5F6-8E97FAF6F4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System Peripheral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8D369D-85E0-F5B0-1E38-6A002F63DE4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AAF780E-DDBE-210F-EBC3-9F8DCE3146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0F64F90-8511-F464-F05A-D27E77FA68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80295F-E227-0193-65CF-CF514DC846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F0FC49-B78E-B368-881D-B7F199CEF9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D98819-0AF0-5C1F-E988-A94E1AAB75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39546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44DEFE-17C8-CB12-604A-CE91D6C4D2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F33995-67A6-C92D-4526-9A278F1724B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Some registers are protected to prevent accidental damage ( most / all system peripherals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Thus, an additional layer of protection is allowed for accidental writes ( memory leaked code or otherwise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b="1" dirty="0">
                <a:latin typeface="Atkinson Hyperlegible Next"/>
                <a:ea typeface="Arial"/>
                <a:cs typeface="Arial"/>
                <a:sym typeface="Arial"/>
              </a:rPr>
              <a:t>EALLOW</a:t>
            </a:r>
            <a:r>
              <a:rPr lang="en-US" sz="1800" dirty="0">
                <a:latin typeface="Atkinson Hyperlegible Next"/>
                <a:ea typeface="Arial"/>
                <a:cs typeface="Arial"/>
                <a:sym typeface="Arial"/>
              </a:rPr>
              <a:t>: unlocks protected registers</a:t>
            </a:r>
          </a:p>
          <a:p>
            <a:pPr marL="285750" indent="-285750">
              <a:lnSpc>
                <a:spcPct val="100000"/>
              </a:lnSpc>
              <a:spcBef>
                <a:spcPts val="0"/>
              </a:spcBef>
              <a:buSzPts val="3000"/>
            </a:pPr>
            <a:r>
              <a:rPr lang="en-US" sz="1800" b="1" dirty="0">
                <a:latin typeface="Atkinson Hyperlegible Next"/>
                <a:ea typeface="Arial"/>
                <a:cs typeface="Arial"/>
                <a:sym typeface="Arial"/>
              </a:rPr>
              <a:t>EDIS: </a:t>
            </a:r>
            <a:r>
              <a:rPr lang="en-US" sz="1800" dirty="0">
                <a:latin typeface="Atkinson Hyperlegible Next"/>
                <a:ea typeface="Arial"/>
                <a:cs typeface="Arial"/>
                <a:sym typeface="Arial"/>
              </a:rPr>
              <a:t>locks them again</a:t>
            </a:r>
          </a:p>
          <a:p>
            <a:pPr marL="114300" indent="0" algn="l">
              <a:buNone/>
            </a:pPr>
            <a:endParaRPr lang="en-US" sz="1800" dirty="0">
              <a:latin typeface="Atkinson Hyperlegible Next"/>
              <a:cs typeface="Arial"/>
              <a:sym typeface="Arial"/>
            </a:endParaRPr>
          </a:p>
          <a:p>
            <a:pPr marL="114300" indent="0" algn="l">
              <a:buNone/>
            </a:pPr>
            <a:r>
              <a:rPr lang="en-US" sz="1800" dirty="0">
                <a:solidFill>
                  <a:srgbClr val="000000"/>
                </a:solidFill>
                <a:latin typeface="Consolas" panose="020B0609020204030204" pitchFamily="49" charset="0"/>
              </a:rPr>
              <a:t>EALLOW;  </a:t>
            </a:r>
            <a:r>
              <a:rPr lang="en-US" sz="1800" dirty="0">
                <a:solidFill>
                  <a:srgbClr val="3F7F5F"/>
                </a:solidFill>
                <a:latin typeface="Consolas" panose="020B0609020204030204" pitchFamily="49" charset="0"/>
              </a:rPr>
              <a:t>// This is needed to write to EALLOW protected registers</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TIMER0_INT</a:t>
            </a:r>
            <a:r>
              <a:rPr lang="en-US" sz="1800" dirty="0">
                <a:solidFill>
                  <a:srgbClr val="000000"/>
                </a:solidFill>
                <a:latin typeface="Consolas" panose="020B0609020204030204" pitchFamily="49" charset="0"/>
              </a:rPr>
              <a:t> = &amp;cpu_timer0_isr;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TIMER1_INT</a:t>
            </a:r>
            <a:r>
              <a:rPr lang="en-US" sz="1800" dirty="0">
                <a:solidFill>
                  <a:srgbClr val="000000"/>
                </a:solidFill>
                <a:latin typeface="Consolas" panose="020B0609020204030204" pitchFamily="49" charset="0"/>
              </a:rPr>
              <a:t> = &amp;cpu_timer1_isr;</a:t>
            </a:r>
          </a:p>
          <a:p>
            <a:pPr marL="114300" indent="0" algn="l">
              <a:buNone/>
            </a:pPr>
            <a:r>
              <a:rPr lang="en-US" sz="1800" dirty="0">
                <a:solidFill>
                  <a:srgbClr val="000000"/>
                </a:solidFill>
                <a:latin typeface="Consolas" panose="020B0609020204030204" pitchFamily="49" charset="0"/>
              </a:rPr>
              <a:t>PieVectTable.</a:t>
            </a:r>
            <a:r>
              <a:rPr lang="en-US" sz="1800" dirty="0">
                <a:solidFill>
                  <a:srgbClr val="0000C0"/>
                </a:solidFill>
                <a:latin typeface="Consolas" panose="020B0609020204030204" pitchFamily="49" charset="0"/>
              </a:rPr>
              <a:t>TIMER2_INT</a:t>
            </a:r>
            <a:r>
              <a:rPr lang="en-US" sz="1800" dirty="0">
                <a:solidFill>
                  <a:srgbClr val="000000"/>
                </a:solidFill>
                <a:latin typeface="Consolas" panose="020B0609020204030204" pitchFamily="49" charset="0"/>
              </a:rPr>
              <a:t> = &amp;cpu_timer2_isr;</a:t>
            </a:r>
            <a:endParaRPr lang="en-US" sz="1800" dirty="0">
              <a:latin typeface="Consolas" panose="020B0609020204030204" pitchFamily="49" charset="0"/>
            </a:endParaRPr>
          </a:p>
          <a:p>
            <a:pPr marL="114300" indent="0" algn="l">
              <a:buNone/>
            </a:pPr>
            <a:r>
              <a:rPr lang="en-US" sz="1800" dirty="0" err="1">
                <a:solidFill>
                  <a:srgbClr val="000000"/>
                </a:solidFill>
                <a:latin typeface="Consolas" panose="020B0609020204030204" pitchFamily="49" charset="0"/>
              </a:rPr>
              <a:t>PieVectTable.</a:t>
            </a:r>
            <a:r>
              <a:rPr lang="en-US" sz="1800" dirty="0" err="1">
                <a:solidFill>
                  <a:srgbClr val="0000C0"/>
                </a:solidFill>
                <a:latin typeface="Consolas" panose="020B0609020204030204" pitchFamily="49" charset="0"/>
              </a:rPr>
              <a:t>EMIF_ERROR_INT</a:t>
            </a:r>
            <a:r>
              <a:rPr lang="en-US" sz="1800" dirty="0">
                <a:solidFill>
                  <a:srgbClr val="000000"/>
                </a:solidFill>
                <a:latin typeface="Consolas" panose="020B0609020204030204" pitchFamily="49" charset="0"/>
              </a:rPr>
              <a:t> = &amp;</a:t>
            </a:r>
            <a:r>
              <a:rPr lang="en-US" sz="1800" dirty="0" err="1">
                <a:solidFill>
                  <a:srgbClr val="000000"/>
                </a:solidFill>
                <a:latin typeface="Consolas" panose="020B0609020204030204" pitchFamily="49" charset="0"/>
              </a:rPr>
              <a:t>SWI_isr</a:t>
            </a:r>
            <a:r>
              <a:rPr lang="en-US" sz="1800" dirty="0">
                <a:solidFill>
                  <a:srgbClr val="000000"/>
                </a:solidFill>
                <a:latin typeface="Consolas" panose="020B0609020204030204" pitchFamily="49" charset="0"/>
              </a:rPr>
              <a:t>;</a:t>
            </a:r>
          </a:p>
          <a:p>
            <a:pPr marL="114300" indent="0" algn="l">
              <a:buNone/>
            </a:pPr>
            <a:r>
              <a:rPr lang="en-US" sz="1800" dirty="0">
                <a:solidFill>
                  <a:srgbClr val="000000"/>
                </a:solidFill>
                <a:latin typeface="Consolas" panose="020B0609020204030204" pitchFamily="49" charset="0"/>
              </a:rPr>
              <a:t>EDIS;    </a:t>
            </a:r>
            <a:r>
              <a:rPr lang="en-US" sz="1800" dirty="0">
                <a:solidFill>
                  <a:srgbClr val="3F7F5F"/>
                </a:solidFill>
                <a:latin typeface="Consolas" panose="020B0609020204030204" pitchFamily="49" charset="0"/>
              </a:rPr>
              <a:t>// This is needed to disable write to EALLOW protected registers</a:t>
            </a:r>
            <a:r>
              <a:rPr lang="en-US" sz="1800" dirty="0">
                <a:solidFill>
                  <a:srgbClr val="000000"/>
                </a:solidFill>
                <a:latin typeface="Consolas" panose="020B0609020204030204" pitchFamily="49" charset="0"/>
              </a:rPr>
              <a:t>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503F74-3799-2E44-B39D-A1560202F8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98A594-0216-9C9B-4CED-9D568D7F7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EALLOW / EDIS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ECC981-9977-ED6B-5D97-285443D5C0E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C30C89-FE20-8A40-8241-4A27471632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5A68DC-47F0-9FA9-2E00-4043F3ACAC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340323-31CC-BB85-CB4B-F52E3315EA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7E9565-CC74-46F1-E43E-C685288D7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D5BC91-373A-229E-F874-B2906BBB4F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259613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4F6B2D5-2790-2B2A-EE21-1B9CD76F33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23406B-5D76-1289-48AD-E257A7B5C37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Peripheral registers control individual hardware modules. Usually do not have any write protection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Examples:</a:t>
            </a:r>
          </a:p>
          <a:p>
            <a:pPr marL="285750" indent="-285750">
              <a:lnSpc>
                <a:spcPct val="100000"/>
              </a:lnSpc>
              <a:spcBef>
                <a:spcPts val="0"/>
              </a:spcBef>
              <a:buSzPts val="3000"/>
            </a:pPr>
            <a:r>
              <a:rPr lang="en-US" sz="1800" dirty="0">
                <a:latin typeface="Atkinson Hyperlegible Next"/>
                <a:ea typeface="Arial"/>
                <a:cs typeface="Arial"/>
                <a:sym typeface="Arial"/>
              </a:rPr>
              <a:t>GPIO (General Purpose Input-Output)</a:t>
            </a:r>
          </a:p>
          <a:p>
            <a:pPr marL="285750" indent="-285750">
              <a:lnSpc>
                <a:spcPct val="100000"/>
              </a:lnSpc>
              <a:spcBef>
                <a:spcPts val="0"/>
              </a:spcBef>
              <a:buSzPts val="3000"/>
            </a:pPr>
            <a:r>
              <a:rPr lang="en-US" sz="1800" dirty="0">
                <a:latin typeface="Atkinson Hyperlegible Next"/>
                <a:ea typeface="Arial"/>
                <a:cs typeface="Arial"/>
                <a:sym typeface="Arial"/>
              </a:rPr>
              <a:t>Timers</a:t>
            </a:r>
          </a:p>
          <a:p>
            <a:pPr marL="285750" indent="-285750">
              <a:lnSpc>
                <a:spcPct val="100000"/>
              </a:lnSpc>
              <a:spcBef>
                <a:spcPts val="0"/>
              </a:spcBef>
              <a:buSzPts val="3000"/>
            </a:pPr>
            <a:r>
              <a:rPr lang="en-US" sz="1800" dirty="0">
                <a:latin typeface="Atkinson Hyperlegible Next"/>
                <a:ea typeface="Arial"/>
                <a:cs typeface="Arial"/>
                <a:sym typeface="Arial"/>
              </a:rPr>
              <a:t>ADC (Analog-to-Digital Converter)</a:t>
            </a:r>
          </a:p>
          <a:p>
            <a:pPr marL="285750" indent="-285750">
              <a:lnSpc>
                <a:spcPct val="100000"/>
              </a:lnSpc>
              <a:spcBef>
                <a:spcPts val="0"/>
              </a:spcBef>
              <a:buSzPts val="3000"/>
            </a:pPr>
            <a:r>
              <a:rPr lang="en-US" sz="1800" dirty="0">
                <a:latin typeface="Atkinson Hyperlegible Next"/>
                <a:ea typeface="Arial"/>
                <a:cs typeface="Arial"/>
                <a:sym typeface="Arial"/>
              </a:rPr>
              <a:t>PWM (Pulse Width Modulation)</a:t>
            </a:r>
          </a:p>
          <a:p>
            <a:pPr marL="285750" indent="-285750">
              <a:lnSpc>
                <a:spcPct val="100000"/>
              </a:lnSpc>
              <a:spcBef>
                <a:spcPts val="0"/>
              </a:spcBef>
              <a:buSzPts val="3000"/>
            </a:pPr>
            <a:r>
              <a:rPr lang="en-US" sz="1800" dirty="0">
                <a:latin typeface="Atkinson Hyperlegible Next"/>
                <a:ea typeface="Arial"/>
                <a:cs typeface="Arial"/>
                <a:sym typeface="Arial"/>
              </a:rPr>
              <a:t>SPI (Serial Peripheral Interface)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Each peripheral has a Read (DAT), Write (SET), Clear (CLEAR) and Toggle (TOGGLE) register.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GPBDAT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Do not use to set</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GPBSET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1</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GPBCLEAR</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a:t>
            </a:r>
          </a:p>
          <a:p>
            <a:pPr marL="114300" indent="0" algn="l">
              <a:buNone/>
            </a:pPr>
            <a:r>
              <a:rPr lang="en-US" sz="1800" dirty="0">
                <a:solidFill>
                  <a:srgbClr val="000000"/>
                </a:solidFill>
                <a:latin typeface="Consolas" panose="020B0609020204030204" pitchFamily="49" charset="0"/>
              </a:rPr>
              <a:t>GpioDataRegs.</a:t>
            </a:r>
            <a:r>
              <a:rPr lang="en-US" sz="1800" dirty="0">
                <a:solidFill>
                  <a:srgbClr val="0000C0"/>
                </a:solidFill>
                <a:latin typeface="Consolas" panose="020B0609020204030204" pitchFamily="49" charset="0"/>
              </a:rPr>
              <a:t>GPBTOGGLE</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GPIO37</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Sets GPIO37 to 0-&gt;1</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AEDED1B-5C8B-C160-2651-3A0A180B26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FFC7-9325-B47F-0D01-B173838933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Peripheral Registers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A6F078-9316-17CF-4FBB-DDD54C30ED7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279C1-FA22-DE07-9360-A9F0E8C9A0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FE2136-3D5F-F855-B829-53B490A7D5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D6CCAB-0EAE-E661-F22B-859622804C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DFE9D-6060-ECCC-55AB-4C2BAFB23C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58E183-4506-ED5C-B449-60BC6FC6D2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3810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0F0EF0-9C72-2574-550B-51A640D696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2CC2D72-48DF-7031-8F5D-879528208F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There are problems that arise from writing directly to DAT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Writing to DAT requires,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342900">
              <a:lnSpc>
                <a:spcPct val="100000"/>
              </a:lnSpc>
              <a:spcBef>
                <a:spcPts val="0"/>
              </a:spcBef>
              <a:buSzPts val="3000"/>
              <a:buAutoNum type="arabicPeriod"/>
            </a:pPr>
            <a:r>
              <a:rPr lang="en-US" sz="1800" dirty="0">
                <a:latin typeface="Atkinson Hyperlegible Next"/>
                <a:ea typeface="Arial"/>
                <a:cs typeface="Arial"/>
                <a:sym typeface="Arial"/>
              </a:rPr>
              <a:t>Read</a:t>
            </a:r>
          </a:p>
          <a:p>
            <a:pPr marL="342900">
              <a:lnSpc>
                <a:spcPct val="100000"/>
              </a:lnSpc>
              <a:spcBef>
                <a:spcPts val="0"/>
              </a:spcBef>
              <a:buSzPts val="3000"/>
              <a:buAutoNum type="arabicPeriod"/>
            </a:pPr>
            <a:r>
              <a:rPr lang="en-US" sz="1800" dirty="0">
                <a:latin typeface="Atkinson Hyperlegible Next"/>
                <a:ea typeface="Arial"/>
                <a:cs typeface="Arial"/>
                <a:sym typeface="Arial"/>
              </a:rPr>
              <a:t>Modify</a:t>
            </a:r>
          </a:p>
          <a:p>
            <a:pPr marL="342900">
              <a:lnSpc>
                <a:spcPct val="100000"/>
              </a:lnSpc>
              <a:spcBef>
                <a:spcPts val="0"/>
              </a:spcBef>
              <a:buSzPts val="3000"/>
              <a:buAutoNum type="arabicPeriod"/>
            </a:pPr>
            <a:r>
              <a:rPr lang="en-US" sz="1800" dirty="0">
                <a:latin typeface="Atkinson Hyperlegible Next"/>
                <a:ea typeface="Arial"/>
                <a:cs typeface="Arial"/>
                <a:sym typeface="Arial"/>
              </a:rPr>
              <a:t>Write</a:t>
            </a:r>
          </a:p>
          <a:p>
            <a:pPr marL="342900">
              <a:lnSpc>
                <a:spcPct val="100000"/>
              </a:lnSpc>
              <a:spcBef>
                <a:spcPts val="0"/>
              </a:spcBef>
              <a:buSzPts val="3000"/>
              <a:buAutoNum type="arabicPeriod"/>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An interrupt ( code that runs on certain events ) can run between these steps and corrupt data</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SET / CLEAR registers avoid this by being </a:t>
            </a:r>
            <a:r>
              <a:rPr lang="en-US" sz="1800" b="1" dirty="0">
                <a:latin typeface="Atkinson Hyperlegible Next"/>
                <a:ea typeface="Arial"/>
                <a:cs typeface="Arial"/>
                <a:sym typeface="Arial"/>
              </a:rPr>
              <a:t>atomic </a:t>
            </a:r>
            <a:r>
              <a:rPr lang="en-US" sz="1800" dirty="0">
                <a:latin typeface="Atkinson Hyperlegible Next"/>
                <a:ea typeface="Arial"/>
                <a:cs typeface="Arial"/>
                <a:sym typeface="Arial"/>
              </a:rPr>
              <a:t>hardware operations.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Atomic operations guarantee that a variable will be locked during the operations and cannot be modified by anyone else during that time.</a:t>
            </a:r>
          </a:p>
        </p:txBody>
      </p:sp>
      <p:sp>
        <p:nvSpPr>
          <p:cNvPr id="119" name="Google Shape;119;p29">
            <a:extLst>
              <a:ext uri="{FF2B5EF4-FFF2-40B4-BE49-F238E27FC236}">
                <a16:creationId xmlns:a16="http://schemas.microsoft.com/office/drawing/2014/main" id="{8936E051-310E-3991-1272-A29B50D7E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E28FAC-3016-0DC7-47B2-7A1F7CF1F5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Using DAT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376A5-18FF-9EE2-2AD5-86886DEE67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AFE4DC-246E-0B7A-1155-2834F156A3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D38B8-B1F2-F7F3-DD1F-960665E36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5F70D6-8D81-C290-976A-3B9666E20E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0FE89C-F235-757E-FF80-D6E77047EA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BBF27-0B75-AFF9-68BE-7AA2A40A10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128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29A7ED-CD7B-066A-E85A-D2C7A4615E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669D54-ACA1-0C2B-8720-D54B2F1229D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Each </a:t>
            </a:r>
            <a:r>
              <a:rPr lang="en-US" sz="1800" b="1" dirty="0">
                <a:latin typeface="Atkinson Hyperlegible Next"/>
                <a:ea typeface="Arial"/>
                <a:cs typeface="Arial"/>
                <a:sym typeface="Arial"/>
              </a:rPr>
              <a:t>physical </a:t>
            </a:r>
            <a:r>
              <a:rPr lang="en-US" sz="1800" dirty="0">
                <a:latin typeface="Atkinson Hyperlegible Next"/>
                <a:ea typeface="Arial"/>
                <a:cs typeface="Arial"/>
                <a:sym typeface="Arial"/>
              </a:rPr>
              <a:t>pin can serve </a:t>
            </a:r>
            <a:r>
              <a:rPr lang="en-US" sz="1800" b="1" dirty="0">
                <a:latin typeface="Atkinson Hyperlegible Next"/>
                <a:ea typeface="Arial"/>
                <a:cs typeface="Arial"/>
                <a:sym typeface="Arial"/>
                <a:hlinkClick r:id="rId3"/>
              </a:rPr>
              <a:t>multiple functions</a:t>
            </a:r>
            <a:endParaRPr lang="en-US" sz="1800" b="1" dirty="0">
              <a:latin typeface="Atkinson Hyperlegible Next"/>
              <a:ea typeface="Arial"/>
              <a:cs typeface="Arial"/>
              <a:sym typeface="Arial"/>
            </a:endParaRPr>
          </a:p>
          <a:p>
            <a:pPr marL="0" indent="0">
              <a:lnSpc>
                <a:spcPct val="100000"/>
              </a:lnSpc>
              <a:spcBef>
                <a:spcPts val="0"/>
              </a:spcBef>
              <a:buSzPts val="3000"/>
              <a:buNone/>
            </a:pPr>
            <a:endParaRPr lang="en-US" sz="1800" b="1"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GPIO</a:t>
            </a:r>
          </a:p>
          <a:p>
            <a:pPr marL="285750" indent="-285750">
              <a:lnSpc>
                <a:spcPct val="100000"/>
              </a:lnSpc>
              <a:spcBef>
                <a:spcPts val="0"/>
              </a:spcBef>
              <a:buSzPts val="3000"/>
            </a:pPr>
            <a:r>
              <a:rPr lang="en-US" sz="1800" dirty="0">
                <a:latin typeface="Atkinson Hyperlegible Next"/>
                <a:ea typeface="Arial"/>
                <a:cs typeface="Arial"/>
                <a:sym typeface="Arial"/>
              </a:rPr>
              <a:t>PWM</a:t>
            </a:r>
          </a:p>
          <a:p>
            <a:pPr marL="285750" indent="-285750">
              <a:lnSpc>
                <a:spcPct val="100000"/>
              </a:lnSpc>
              <a:spcBef>
                <a:spcPts val="0"/>
              </a:spcBef>
              <a:buSzPts val="3000"/>
            </a:pPr>
            <a:r>
              <a:rPr lang="en-US" sz="1800" dirty="0">
                <a:latin typeface="Atkinson Hyperlegible Next"/>
                <a:ea typeface="Arial"/>
                <a:cs typeface="Arial"/>
                <a:sym typeface="Arial"/>
              </a:rPr>
              <a:t>SPI</a:t>
            </a:r>
          </a:p>
          <a:p>
            <a:pPr marL="285750" indent="-285750">
              <a:lnSpc>
                <a:spcPct val="100000"/>
              </a:lnSpc>
              <a:spcBef>
                <a:spcPts val="0"/>
              </a:spcBef>
              <a:buSzPts val="3000"/>
            </a:pPr>
            <a:r>
              <a:rPr lang="en-US" sz="1800" dirty="0">
                <a:latin typeface="Atkinson Hyperlegible Next"/>
                <a:ea typeface="Arial"/>
                <a:cs typeface="Arial"/>
                <a:sym typeface="Arial"/>
              </a:rPr>
              <a:t>SCI</a:t>
            </a:r>
          </a:p>
          <a:p>
            <a:pPr marL="285750" indent="-285750">
              <a:lnSpc>
                <a:spcPct val="100000"/>
              </a:lnSpc>
              <a:spcBef>
                <a:spcPts val="0"/>
              </a:spcBef>
              <a:buSzPts val="3000"/>
            </a:pPr>
            <a:r>
              <a:rPr lang="en-US" sz="1800" dirty="0">
                <a:latin typeface="Atkinson Hyperlegible Next"/>
                <a:ea typeface="Arial"/>
                <a:cs typeface="Arial"/>
                <a:sym typeface="Arial"/>
              </a:rPr>
              <a:t>CAN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You must first select the function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err="1">
                <a:solidFill>
                  <a:srgbClr val="642880"/>
                </a:solidFill>
                <a:latin typeface="Consolas" panose="020B0609020204030204" pitchFamily="49" charset="0"/>
              </a:rPr>
              <a:t>GPIO_SetupPinMux</a:t>
            </a:r>
            <a:r>
              <a:rPr lang="en-US" sz="1800" dirty="0">
                <a:solidFill>
                  <a:srgbClr val="000000"/>
                </a:solidFill>
                <a:latin typeface="Consolas" panose="020B0609020204030204" pitchFamily="49" charset="0"/>
              </a:rPr>
              <a:t>(31, GPIO_MUX_CPU1, 0);</a:t>
            </a:r>
          </a:p>
          <a:p>
            <a:pPr marL="114300" indent="0" algn="l">
              <a:buNone/>
            </a:pPr>
            <a:r>
              <a:rPr lang="en-US" sz="1800" dirty="0" err="1">
                <a:solidFill>
                  <a:srgbClr val="642880"/>
                </a:solidFill>
                <a:latin typeface="Consolas" panose="020B0609020204030204" pitchFamily="49" charset="0"/>
              </a:rPr>
              <a:t>GPIO_SetupPinOptions</a:t>
            </a:r>
            <a:r>
              <a:rPr lang="en-US" sz="1800" dirty="0">
                <a:solidFill>
                  <a:srgbClr val="000000"/>
                </a:solidFill>
                <a:latin typeface="Consolas" panose="020B0609020204030204" pitchFamily="49" charset="0"/>
              </a:rPr>
              <a:t>(31, GPIO_OUTPUT, GPIO_PUSHPULL);</a:t>
            </a: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4FCB565-2A51-4FAB-F9CA-AA6C8868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6F98EE-17CD-DAD4-D51B-0B9C2876FCA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Digital I/O (GPIO)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AF3BA-929C-AE0B-08A8-01C74ECFB2C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0601F-1A36-29A7-369C-0A27203E34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D80D43-4E8F-D1F2-D6A7-DA1A3882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76F1D6-C729-98D5-5B26-91653D52E5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892BCB-4425-0FED-DE90-990DFBA18F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AE1D4-767A-022A-A369-081CC884FB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5498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A84038E-8D38-7C8F-6FC0-455DCB7FB0D6}"/>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2AEC150-34E9-FD6F-9BAD-7E065947028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Bits</a:t>
            </a:r>
            <a:endParaRPr i="0" b="0" sz="1400" dirty="0">
              <a:solidFill>
                <a:srgbClr val="000000"/>
              </a:solidFill>
            </a:endParaRPr>
          </a:p>
        </p:txBody>
      </p:sp>
      <p:grpSp>
        <p:nvGrpSpPr>
          <p:cNvPr id="105" name="Google Shape;105;p28">
            <a:extLst>
              <a:ext uri="{FF2B5EF4-FFF2-40B4-BE49-F238E27FC236}">
                <a16:creationId xmlns:a16="http://schemas.microsoft.com/office/drawing/2014/main" id="{11C85305-70EB-14CE-364A-0ADCA1866DED}"/>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C839739-8769-EAEF-9463-89E804E8E31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EB4FC774-FF75-C60A-20C4-F81634344E7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CD9286F-6EB3-69F5-58DF-751E98ABD0C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569B4EB-2FD0-AD30-F50E-C241BA4DDEA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B3C5720-5765-357C-A3EB-EFBB7865643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79B5572-BDBA-D4B3-4612-D3C744E8AA6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A51ED6C-B8B5-7601-9873-F8E8B11373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A69615E-6CAE-27C3-F85D-B218D9D662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92292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DE9268-7945-FFE5-97A7-B45A0361D0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61B06A-1C2E-6A1E-3C8D-8B2746C028E2}"/>
              </a:ext>
            </a:extLst>
          </p:cNvPr>
          <p:cNvSpPr txBox="1">
            <a:spLocks noGrp="1"/>
          </p:cNvSpPr>
          <p:nvPr>
            <p:ph type="body" idx="1"/>
          </p:nvPr>
        </p:nvSpPr>
        <p:spPr>
          <a:xfrm>
            <a:off x="376809" y="1334279"/>
            <a:ext cx="11177401" cy="214552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The CPU only reads binary, 1s or 0s; however, for humans it is difficult to understand long string of numbers.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solidFill>
                  <a:schemeClr val="dk1"/>
                </a:solidFill>
                <a:latin typeface="Atkinson Hyperlegible Next"/>
                <a:ea typeface="Arial"/>
                <a:cs typeface="Arial"/>
                <a:sym typeface="Arial"/>
              </a:rPr>
              <a:t>A 32-bit register could be represented as such with 32 bits </a:t>
            </a:r>
            <a:r>
              <a:rPr lang="en-US" sz="1800" dirty="0">
                <a:latin typeface="Atkinson Hyperlegible Next"/>
                <a:ea typeface="Arial"/>
                <a:cs typeface="Arial"/>
                <a:sym typeface="Arial"/>
              </a:rPr>
              <a:t>(unsigned 3,357,083,684):</a:t>
            </a:r>
            <a:endParaRPr lang="en-US" sz="18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0b110010000001100100000100000100100;</a:t>
            </a:r>
          </a:p>
          <a:p>
            <a:pPr marL="0" lvl="0" indent="0" algn="ctr" rtl="0">
              <a:lnSpc>
                <a:spcPct val="100000"/>
              </a:lnSpc>
              <a:spcBef>
                <a:spcPts val="0"/>
              </a:spcBef>
              <a:spcAft>
                <a:spcPts val="0"/>
              </a:spcAft>
              <a:buSzPts val="3000"/>
              <a:buNone/>
            </a:pPr>
            <a:endParaRPr lang="en-US" sz="1800" dirty="0">
              <a:solidFill>
                <a:srgbClr val="000000"/>
              </a:solidFill>
              <a:latin typeface="Consolas" panose="020B0609020204030204" pitchFamily="49" charset="0"/>
              <a:ea typeface="Arial"/>
              <a:cs typeface="Arial"/>
              <a:sym typeface="Arial"/>
            </a:endParaRPr>
          </a:p>
          <a:p>
            <a:pPr marL="0" lvl="0" indent="0"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What is a potential problem?</a:t>
            </a:r>
          </a:p>
        </p:txBody>
      </p:sp>
      <p:sp>
        <p:nvSpPr>
          <p:cNvPr id="119" name="Google Shape;119;p29">
            <a:extLst>
              <a:ext uri="{FF2B5EF4-FFF2-40B4-BE49-F238E27FC236}">
                <a16:creationId xmlns:a16="http://schemas.microsoft.com/office/drawing/2014/main" id="{0D648654-B8E7-6A7C-250D-7F8FA28ABC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40AA82-D9BB-44C6-3DDA-87BE2D46BAB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Binary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3B481-F43D-6BB6-C538-88D354B70D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6201E1-4BDA-B7D2-65A7-13DC9AF143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A1DB4E-6D4D-8DC9-AA3A-2D6B7E48AE0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797A9CE-6B2C-2500-46AD-16AECA730A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F838EA-2E3A-B71E-A2FA-2BABE0621D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96DA638-7CF5-5C2A-F32C-FE089F744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48F1AF25-5F21-2287-8C45-C570B7ECC68C}"/>
              </a:ext>
            </a:extLst>
          </p:cNvPr>
          <p:cNvSpPr txBox="1"/>
          <p:nvPr/>
        </p:nvSpPr>
        <p:spPr>
          <a:xfrm>
            <a:off x="376807" y="4254500"/>
            <a:ext cx="11180702"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Prone to make mistakes if you need to manually type this out! For example, there are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33-bits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above, not 32!</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Why not use Decimal system? Not as simple to convert from decimal to binary!</a:t>
            </a:r>
          </a:p>
        </p:txBody>
      </p:sp>
    </p:spTree>
    <p:extLst>
      <p:ext uri="{BB962C8B-B14F-4D97-AF65-F5344CB8AC3E}">
        <p14:creationId xmlns:p14="http://schemas.microsoft.com/office/powerpoint/2010/main" val="9477839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35D5C0-4C41-ED87-68EA-17ABC178F6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28BFA-1E18-359E-4492-E6DEADED63B5}"/>
              </a:ext>
            </a:extLst>
          </p:cNvPr>
          <p:cNvSpPr txBox="1">
            <a:spLocks noGrp="1"/>
          </p:cNvSpPr>
          <p:nvPr>
            <p:ph type="body" idx="1"/>
          </p:nvPr>
        </p:nvSpPr>
        <p:spPr>
          <a:xfrm>
            <a:off x="376809" y="1334279"/>
            <a:ext cx="11177401" cy="10520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Instead of base 10, let’s explore base 16, i.e., hexadecimal base system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Very easy to convert binary to hex (0-9 then A-F):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74EAF3B-345F-0479-2706-C5F0561339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F0E4D0-E790-23C2-2C5D-D247974449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Hexadecimal</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F71259-9DE7-40F5-630A-E5129BC53E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BB80D2-43E6-240C-FB51-71CBF8BC68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4F356B-6FEC-7187-AA59-9515521CB6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0CB545-D058-A201-A7DE-B0CAB3EF64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476572C-1F90-D6F3-6426-1CC4D407A5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0FDA6F1-B24E-B555-7032-50C7505868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aphicFrame>
        <p:nvGraphicFramePr>
          <p:cNvPr id="3" name="Table 2">
            <a:extLst>
              <a:ext uri="{FF2B5EF4-FFF2-40B4-BE49-F238E27FC236}">
                <a16:creationId xmlns:a16="http://schemas.microsoft.com/office/drawing/2014/main" id="{312A5808-068D-5FB9-19E9-65DFB027BC68}"/>
              </a:ext>
            </a:extLst>
          </p:cNvPr>
          <p:cNvGraphicFramePr>
            <a:graphicFrameLocks noGrp="1"/>
          </p:cNvGraphicFramePr>
          <p:nvPr>
            <p:extLst>
              <p:ext uri="{D42A27DB-BD31-4B8C-83A1-F6EECF244321}">
                <p14:modId xmlns:p14="http://schemas.microsoft.com/office/powerpoint/2010/main" val="3618201903"/>
              </p:ext>
            </p:extLst>
          </p:nvPr>
        </p:nvGraphicFramePr>
        <p:xfrm>
          <a:off x="1720850" y="2501900"/>
          <a:ext cx="8127999" cy="1854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207646052"/>
                    </a:ext>
                  </a:extLst>
                </a:gridCol>
                <a:gridCol w="2709333">
                  <a:extLst>
                    <a:ext uri="{9D8B030D-6E8A-4147-A177-3AD203B41FA5}">
                      <a16:colId xmlns:a16="http://schemas.microsoft.com/office/drawing/2014/main" val="2445483742"/>
                    </a:ext>
                  </a:extLst>
                </a:gridCol>
                <a:gridCol w="2709333">
                  <a:extLst>
                    <a:ext uri="{9D8B030D-6E8A-4147-A177-3AD203B41FA5}">
                      <a16:colId xmlns:a16="http://schemas.microsoft.com/office/drawing/2014/main" val="2026562162"/>
                    </a:ext>
                  </a:extLst>
                </a:gridCol>
              </a:tblGrid>
              <a:tr h="370840">
                <a:tc>
                  <a:txBody>
                    <a:bodyPr/>
                    <a:lstStyle/>
                    <a:p>
                      <a:r>
                        <a:rPr lang="en-US" dirty="0"/>
                        <a:t>Binary</a:t>
                      </a:r>
                    </a:p>
                  </a:txBody>
                  <a:tcPr/>
                </a:tc>
                <a:tc>
                  <a:txBody>
                    <a:bodyPr/>
                    <a:lstStyle/>
                    <a:p>
                      <a:r>
                        <a:rPr lang="en-US" dirty="0" err="1"/>
                        <a:t>Hexidecimal</a:t>
                      </a:r>
                      <a:endParaRPr lang="en-US" dirty="0"/>
                    </a:p>
                  </a:txBody>
                  <a:tcPr/>
                </a:tc>
                <a:tc>
                  <a:txBody>
                    <a:bodyPr/>
                    <a:lstStyle/>
                    <a:p>
                      <a:r>
                        <a:rPr lang="en-US" dirty="0"/>
                        <a:t>Decimal</a:t>
                      </a:r>
                    </a:p>
                  </a:txBody>
                  <a:tcPr/>
                </a:tc>
                <a:extLst>
                  <a:ext uri="{0D108BD9-81ED-4DB2-BD59-A6C34878D82A}">
                    <a16:rowId xmlns:a16="http://schemas.microsoft.com/office/drawing/2014/main" val="3944417571"/>
                  </a:ext>
                </a:extLst>
              </a:tr>
              <a:tr h="370840">
                <a:tc>
                  <a:txBody>
                    <a:bodyPr/>
                    <a:lstStyle/>
                    <a:p>
                      <a:r>
                        <a:rPr lang="en-US" dirty="0"/>
                        <a:t>0000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3275023116"/>
                  </a:ext>
                </a:extLst>
              </a:tr>
              <a:tr h="370840">
                <a:tc>
                  <a:txBody>
                    <a:bodyPr/>
                    <a:lstStyle/>
                    <a:p>
                      <a:r>
                        <a:rPr lang="en-US" dirty="0"/>
                        <a:t>0001</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2984900594"/>
                  </a:ext>
                </a:extLst>
              </a:tr>
              <a:tr h="370840">
                <a:tc>
                  <a:txBody>
                    <a:bodyPr/>
                    <a:lstStyle/>
                    <a:p>
                      <a:r>
                        <a:rPr lang="en-US" dirty="0"/>
                        <a:t>1010</a:t>
                      </a:r>
                    </a:p>
                  </a:txBody>
                  <a:tcPr/>
                </a:tc>
                <a:tc>
                  <a:txBody>
                    <a:bodyPr/>
                    <a:lstStyle/>
                    <a:p>
                      <a:r>
                        <a:rPr lang="en-US" dirty="0"/>
                        <a:t>A</a:t>
                      </a:r>
                    </a:p>
                  </a:txBody>
                  <a:tcPr/>
                </a:tc>
                <a:tc>
                  <a:txBody>
                    <a:bodyPr/>
                    <a:lstStyle/>
                    <a:p>
                      <a:r>
                        <a:rPr lang="en-US" dirty="0"/>
                        <a:t>10</a:t>
                      </a:r>
                    </a:p>
                  </a:txBody>
                  <a:tcPr/>
                </a:tc>
                <a:extLst>
                  <a:ext uri="{0D108BD9-81ED-4DB2-BD59-A6C34878D82A}">
                    <a16:rowId xmlns:a16="http://schemas.microsoft.com/office/drawing/2014/main" val="2480441898"/>
                  </a:ext>
                </a:extLst>
              </a:tr>
              <a:tr h="370840">
                <a:tc>
                  <a:txBody>
                    <a:bodyPr/>
                    <a:lstStyle/>
                    <a:p>
                      <a:r>
                        <a:rPr lang="en-US" dirty="0"/>
                        <a:t>1111</a:t>
                      </a:r>
                    </a:p>
                  </a:txBody>
                  <a:tcPr/>
                </a:tc>
                <a:tc>
                  <a:txBody>
                    <a:bodyPr/>
                    <a:lstStyle/>
                    <a:p>
                      <a:r>
                        <a:rPr lang="en-US" dirty="0"/>
                        <a:t>F</a:t>
                      </a:r>
                    </a:p>
                  </a:txBody>
                  <a:tcPr/>
                </a:tc>
                <a:tc>
                  <a:txBody>
                    <a:bodyPr/>
                    <a:lstStyle/>
                    <a:p>
                      <a:r>
                        <a:rPr lang="en-US" dirty="0"/>
                        <a:t>15</a:t>
                      </a:r>
                    </a:p>
                  </a:txBody>
                  <a:tcPr/>
                </a:tc>
                <a:extLst>
                  <a:ext uri="{0D108BD9-81ED-4DB2-BD59-A6C34878D82A}">
                    <a16:rowId xmlns:a16="http://schemas.microsoft.com/office/drawing/2014/main" val="1219560062"/>
                  </a:ext>
                </a:extLst>
              </a:tr>
            </a:tbl>
          </a:graphicData>
        </a:graphic>
      </p:graphicFrame>
      <p:sp>
        <p:nvSpPr>
          <p:cNvPr id="4" name="TextBox 3">
            <a:extLst>
              <a:ext uri="{FF2B5EF4-FFF2-40B4-BE49-F238E27FC236}">
                <a16:creationId xmlns:a16="http://schemas.microsoft.com/office/drawing/2014/main" id="{2BEE2F4C-2FDB-0B1E-F74F-1A67D3C37081}"/>
              </a:ext>
            </a:extLst>
          </p:cNvPr>
          <p:cNvSpPr txBox="1"/>
          <p:nvPr/>
        </p:nvSpPr>
        <p:spPr>
          <a:xfrm>
            <a:off x="376807" y="4597400"/>
            <a:ext cx="10910029" cy="1754326"/>
          </a:xfrm>
          <a:prstGeom prst="rect">
            <a:avLst/>
          </a:prstGeom>
          <a:noFill/>
        </p:spPr>
        <p:txBody>
          <a:bodyPr wrap="square" rtlCol="0">
            <a:spAutoFit/>
          </a:bodyPr>
          <a:lstStyle/>
          <a:p>
            <a:r>
              <a:rPr lang="en-US" sz="1800" dirty="0"/>
              <a:t>E</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very 4-bits = 1 hex value, makes things much easier to compress, much easier to look at!</a:t>
            </a:r>
          </a:p>
          <a:p>
            <a:endParaRPr lang="en-US" sz="1800" dirty="0"/>
          </a:p>
          <a:p>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x = 0xC8190824;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05032"/>
                </a:solidFill>
                <a:effectLst/>
                <a:uLnTx/>
                <a:uFillTx/>
                <a:latin typeface="Consolas" panose="020B0609020204030204" pitchFamily="49" charset="0"/>
                <a:cs typeface="Arial"/>
                <a:sym typeface="Arial"/>
              </a:rPr>
              <a:t>int16_t</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rPr>
              <a:t> x = 0x0824;</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latin typeface="Consolas" panose="020B0609020204030204" pitchFamily="49" charset="0"/>
            </a:endParaRPr>
          </a:p>
          <a:p>
            <a:pPr lvl="0">
              <a:defRPr/>
            </a:pPr>
            <a:r>
              <a:rPr lang="en-US" sz="1800" dirty="0"/>
              <a:t>Windows Calculator set to programming mode can easily do the conversion!</a:t>
            </a:r>
            <a:endParaRPr kumimoji="0" lang="en-US" sz="1800" b="0" i="0" u="none" strike="noStrike" kern="0" cap="none" spc="0" normalizeH="0" baseline="0" noProof="0" dirty="0">
              <a:ln>
                <a:noFill/>
              </a:ln>
              <a:solidFill>
                <a:srgbClr val="000000"/>
              </a:solidFill>
              <a:effectLst/>
              <a:uLnTx/>
              <a:uFillTx/>
              <a:latin typeface="Consolas" panose="020B0609020204030204" pitchFamily="49" charset="0"/>
              <a:cs typeface="Arial"/>
              <a:sym typeface="Arial"/>
            </a:endParaRPr>
          </a:p>
        </p:txBody>
      </p:sp>
    </p:spTree>
    <p:extLst>
      <p:ext uri="{BB962C8B-B14F-4D97-AF65-F5344CB8AC3E}">
        <p14:creationId xmlns:p14="http://schemas.microsoft.com/office/powerpoint/2010/main" val="276946302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056B78-B910-A511-41E5-DB6A25780D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A402EC-2306-AEDB-4671-C167E6DF739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Bit number starts at 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Bit 0 → 2</a:t>
            </a:r>
            <a:r>
              <a:rPr lang="en-US" sz="1800" baseline="30000" dirty="0">
                <a:latin typeface="Atkinson Hyperlegible Next"/>
                <a:ea typeface="Arial"/>
                <a:cs typeface="Arial"/>
                <a:sym typeface="Arial"/>
              </a:rPr>
              <a:t>0</a:t>
            </a:r>
          </a:p>
          <a:p>
            <a:pPr marL="0" indent="0">
              <a:lnSpc>
                <a:spcPct val="100000"/>
              </a:lnSpc>
              <a:spcBef>
                <a:spcPts val="0"/>
              </a:spcBef>
              <a:buSzPts val="3000"/>
              <a:buNone/>
            </a:pPr>
            <a:r>
              <a:rPr lang="en-US" sz="1800" dirty="0">
                <a:latin typeface="Atkinson Hyperlegible Next"/>
                <a:ea typeface="Arial"/>
                <a:cs typeface="Arial"/>
                <a:sym typeface="Arial"/>
              </a:rPr>
              <a:t>Bit 1 → 2</a:t>
            </a:r>
            <a:r>
              <a:rPr lang="en-US" sz="1800" baseline="30000" dirty="0">
                <a:latin typeface="Atkinson Hyperlegible Next"/>
                <a:ea typeface="Arial"/>
                <a:cs typeface="Arial"/>
                <a:sym typeface="Arial"/>
              </a:rPr>
              <a:t>1</a:t>
            </a:r>
          </a:p>
          <a:p>
            <a:pPr marL="0" indent="0">
              <a:lnSpc>
                <a:spcPct val="100000"/>
              </a:lnSpc>
              <a:spcBef>
                <a:spcPts val="0"/>
              </a:spcBef>
              <a:buSzPts val="3000"/>
              <a:buNone/>
            </a:pPr>
            <a:r>
              <a:rPr lang="en-US" sz="1800" dirty="0">
                <a:latin typeface="Atkinson Hyperlegible Next"/>
                <a:ea typeface="Arial"/>
                <a:cs typeface="Arial"/>
                <a:sym typeface="Arial"/>
              </a:rPr>
              <a:t>Bit 5 → 2</a:t>
            </a:r>
            <a:r>
              <a:rPr lang="en-US" sz="1800" baseline="30000" dirty="0">
                <a:latin typeface="Atkinson Hyperlegible Next"/>
                <a:ea typeface="Arial"/>
                <a:cs typeface="Arial"/>
                <a:sym typeface="Arial"/>
              </a:rPr>
              <a:t>5</a:t>
            </a:r>
            <a:r>
              <a:rPr lang="en-US" sz="1800" dirty="0">
                <a:latin typeface="Atkinson Hyperlegible Next"/>
                <a:ea typeface="Arial"/>
                <a:cs typeface="Arial"/>
                <a:sym typeface="Arial"/>
              </a:rPr>
              <a:t> = 32 = 0x20</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Creating a bit shifting:</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Left shifting: </a:t>
            </a:r>
            <a:r>
              <a:rPr lang="en-US" sz="1800" dirty="0">
                <a:solidFill>
                  <a:srgbClr val="000000"/>
                </a:solidFill>
                <a:latin typeface="Consolas" panose="020B0609020204030204" pitchFamily="49" charset="0"/>
              </a:rPr>
              <a:t>x &lt;&lt; n</a:t>
            </a:r>
            <a:r>
              <a:rPr lang="en-US" sz="1800" dirty="0">
                <a:latin typeface="Atkinson Hyperlegible Next"/>
                <a:ea typeface="Arial"/>
                <a:cs typeface="Arial"/>
                <a:sym typeface="Arial"/>
              </a:rPr>
              <a:t>, shifts bits in x to the left by n. </a:t>
            </a:r>
            <a:r>
              <a:rPr lang="en-US" sz="1800" dirty="0">
                <a:solidFill>
                  <a:srgbClr val="000000"/>
                </a:solidFill>
                <a:latin typeface="Consolas" panose="020B0609020204030204" pitchFamily="49" charset="0"/>
              </a:rPr>
              <a:t>0b01 &lt;&lt; 1 = 0b10</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Right shifting: </a:t>
            </a:r>
            <a:r>
              <a:rPr lang="en-US" sz="1800" dirty="0">
                <a:solidFill>
                  <a:srgbClr val="000000"/>
                </a:solidFill>
                <a:latin typeface="Consolas" panose="020B0609020204030204" pitchFamily="49" charset="0"/>
              </a:rPr>
              <a:t>x &gt;&gt; n</a:t>
            </a:r>
            <a:r>
              <a:rPr lang="en-US" sz="1800" dirty="0">
                <a:latin typeface="Atkinson Hyperlegible Next"/>
                <a:ea typeface="Arial"/>
                <a:cs typeface="Arial"/>
                <a:sym typeface="Arial"/>
              </a:rPr>
              <a:t>, shifts bits in x to the right by n. </a:t>
            </a:r>
            <a:r>
              <a:rPr lang="en-US" sz="1800" dirty="0">
                <a:solidFill>
                  <a:srgbClr val="000000"/>
                </a:solidFill>
                <a:latin typeface="Consolas" panose="020B0609020204030204" pitchFamily="49" charset="0"/>
              </a:rPr>
              <a:t>0b10 &gt;&gt; 1 = 0b01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Commonly used to create bit “masks”: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5032"/>
                </a:solidFill>
                <a:latin typeface="Consolas" panose="020B0609020204030204" pitchFamily="49" charset="0"/>
              </a:rPr>
              <a:t>int32_t</a:t>
            </a:r>
            <a:r>
              <a:rPr lang="en-US" sz="1800" dirty="0">
                <a:solidFill>
                  <a:srgbClr val="000000"/>
                </a:solidFill>
                <a:latin typeface="Consolas" panose="020B0609020204030204" pitchFamily="49" charset="0"/>
              </a:rPr>
              <a:t> bit5Mask = 1 &lt;&lt; 5; </a:t>
            </a:r>
            <a:r>
              <a:rPr lang="en-US" sz="1800" dirty="0">
                <a:solidFill>
                  <a:srgbClr val="3F7F5F"/>
                </a:solidFill>
                <a:latin typeface="Consolas" panose="020B0609020204030204" pitchFamily="49" charset="0"/>
              </a:rPr>
              <a:t>// 0x20, sets only bit 5 to 1!</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are masks? What are they used for?</a:t>
            </a:r>
          </a:p>
        </p:txBody>
      </p:sp>
      <p:sp>
        <p:nvSpPr>
          <p:cNvPr id="119" name="Google Shape;119;p29">
            <a:extLst>
              <a:ext uri="{FF2B5EF4-FFF2-40B4-BE49-F238E27FC236}">
                <a16:creationId xmlns:a16="http://schemas.microsoft.com/office/drawing/2014/main" id="{693A4AA0-51AE-E163-7FE7-4739E99772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6AF272-8944-188B-D036-8C03798A0C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Bits, Bit Positions and Masks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5E2F6-45BA-674E-90E9-B88C0123EA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5EB83C3-4FD0-688C-29E9-9B77646B97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1CB886-30B5-E16B-7512-0FECF2C8185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AD6C8AB-ABE1-F2D9-C049-FDE2FB2BBD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D3231A-0FE1-6F0A-EE9E-99664EA2DBD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546CA3-3362-FBB5-200A-AEB28D21F3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1471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A38449-2004-E61B-C218-BE4EBA471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C668CE-8DFA-F2AA-A3DC-923F02B37474}"/>
              </a:ext>
            </a:extLst>
          </p:cNvPr>
          <p:cNvSpPr txBox="1">
            <a:spLocks noGrp="1"/>
          </p:cNvSpPr>
          <p:nvPr>
            <p:ph type="body" idx="1"/>
          </p:nvPr>
        </p:nvSpPr>
        <p:spPr>
          <a:xfrm>
            <a:off x="376809" y="1334279"/>
            <a:ext cx="5173091" cy="293302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a:solidFill>
                  <a:srgbClr val="15264B"/>
                </a:solidFill>
                <a:latin typeface="Atkinson Hyperlegible Next"/>
                <a:ea typeface="Arial"/>
                <a:cs typeface="Arial"/>
                <a:sym typeface="Arial"/>
              </a:rPr>
              <a:t>AND (&amp;) – Masking</a:t>
            </a:r>
          </a:p>
          <a:p>
            <a:pPr marL="114300" indent="0" algn="l">
              <a:buNone/>
            </a:pPr>
            <a:endParaRPr lang="en-US" sz="1800" b="1" dirty="0">
              <a:solidFill>
                <a:srgbClr val="15264B"/>
              </a:solidFill>
              <a:latin typeface="Atkinson Hyperlegible Next"/>
              <a:cs typeface="Arial"/>
              <a:sym typeface="Arial"/>
            </a:endParaRPr>
          </a:p>
          <a:p>
            <a:pPr marL="114300" indent="0" algn="l">
              <a:buNone/>
            </a:pPr>
            <a:r>
              <a:rPr lang="en-US" sz="1800" b="1" dirty="0">
                <a:solidFill>
                  <a:srgbClr val="7F0055"/>
                </a:solidFill>
                <a:latin typeface="Consolas" panose="020B0609020204030204" pitchFamily="49" charset="0"/>
              </a:rPr>
              <a:t>if</a:t>
            </a:r>
            <a:r>
              <a:rPr lang="en-US" sz="1800" b="1" dirty="0">
                <a:solidFill>
                  <a:srgbClr val="000000"/>
                </a:solidFill>
                <a:latin typeface="Consolas" panose="020B0609020204030204" pitchFamily="49" charset="0"/>
              </a:rPr>
              <a:t> (reg &amp; (1 &lt;&lt; 3)) {</a:t>
            </a:r>
          </a:p>
          <a:p>
            <a:pPr marL="114300" indent="0" algn="l">
              <a:buNone/>
            </a:pPr>
            <a:r>
              <a:rPr lang="en-US" sz="1800" dirty="0">
                <a:solidFill>
                  <a:srgbClr val="000000"/>
                </a:solidFill>
                <a:latin typeface="Consolas" panose="020B0609020204030204" pitchFamily="49" charset="0"/>
              </a:rPr>
              <a:t>    </a:t>
            </a:r>
            <a:r>
              <a:rPr lang="en-US" sz="1800" dirty="0">
                <a:solidFill>
                  <a:srgbClr val="3F7F5F"/>
                </a:solidFill>
                <a:latin typeface="Consolas" panose="020B0609020204030204" pitchFamily="49" charset="0"/>
              </a:rPr>
              <a:t>// Bit 3 is set</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lang="en-US" sz="1800" b="1" dirty="0">
                <a:solidFill>
                  <a:srgbClr val="000000"/>
                </a:solidFill>
                <a:latin typeface="Consolas" panose="020B0609020204030204" pitchFamily="49" charset="0"/>
                <a:ea typeface="Arial"/>
                <a:cs typeface="Arial"/>
                <a:sym typeface="Arial"/>
              </a:rPr>
              <a:t>}</a:t>
            </a: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1800" b="1" dirty="0">
              <a:solidFill>
                <a:srgbClr val="15264B"/>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rPr>
              <a:t>OR    (|)  – Setting Bits</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1800" b="1" i="0" u="none" strike="noStrike" kern="0" cap="none" spc="0" normalizeH="0" baseline="0" noProof="0" dirty="0">
              <a:ln>
                <a:noFill/>
              </a:ln>
              <a:solidFill>
                <a:srgbClr val="15264B"/>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reg |= (1 &lt;&lt; 3);</a:t>
            </a: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000000"/>
              </a:solidFill>
              <a:latin typeface="Consolas" panose="020B0609020204030204" pitchFamily="49" charset="0"/>
              <a:ea typeface="Arial"/>
              <a:cs typeface="Arial"/>
              <a:sym typeface="Arial"/>
            </a:endParaRPr>
          </a:p>
          <a:p>
            <a:pPr marL="114300" indent="0" algn="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15264B"/>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F91230B-08CD-0D0C-39AF-E0ACCC0A41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54473D-21A5-A5D5-D97D-E711034807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Bitwise Operations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1BB5D4-2A0F-5D14-FF14-E9D5E53A71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7FD24E-CA58-4011-2DD0-1DDAEA2FAE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F9A49-48D0-C667-07E1-C31D1B6E7E2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4475F2-CF4E-32CE-BF08-6EF0332A8D2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53C5C0-D2D3-C5AC-42C6-64CDE684B4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D99DA-8DF4-9904-C8A3-D6D3C78FA7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7C5046C5-1945-C6F3-E883-8DDDD61834C0}"/>
              </a:ext>
            </a:extLst>
          </p:cNvPr>
          <p:cNvSpPr txBox="1">
            <a:spLocks/>
          </p:cNvSpPr>
          <p:nvPr/>
        </p:nvSpPr>
        <p:spPr>
          <a:xfrm>
            <a:off x="6713540" y="1334279"/>
            <a:ext cx="5173091" cy="494550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NOT (~) – Clearing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&amp;= ~(1 &lt;&lt; 3);</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r>
              <a:rPr lang="en-US" sz="1800" b="1" dirty="0">
                <a:solidFill>
                  <a:srgbClr val="15264B"/>
                </a:solidFill>
                <a:latin typeface="Atkinson Hyperlegible Next"/>
                <a:ea typeface="Arial"/>
                <a:cs typeface="Arial"/>
                <a:sym typeface="Arial"/>
              </a:rPr>
              <a:t>XOR (^) – Toggling Bits</a:t>
            </a: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None/>
            </a:pPr>
            <a:r>
              <a:rPr lang="en-US" sz="1800" dirty="0">
                <a:solidFill>
                  <a:srgbClr val="000000"/>
                </a:solidFill>
                <a:latin typeface="Consolas" panose="020B0609020204030204" pitchFamily="49" charset="0"/>
              </a:rPr>
              <a:t>reg ^= (1 &lt;&lt; 3);</a:t>
            </a:r>
            <a:endParaRPr lang="en-US" sz="1800" b="1" dirty="0">
              <a:solidFill>
                <a:srgbClr val="15264B"/>
              </a:solidFill>
              <a:latin typeface="Atkinson Hyperlegible Next"/>
              <a:ea typeface="Arial"/>
              <a:cs typeface="Arial"/>
              <a:sym typeface="Arial"/>
            </a:endParaRPr>
          </a:p>
          <a:p>
            <a:pPr marL="0" indent="0">
              <a:lnSpc>
                <a:spcPct val="100000"/>
              </a:lnSpc>
              <a:spcBef>
                <a:spcPts val="0"/>
              </a:spcBef>
              <a:buSzPts val="3000"/>
              <a:buFont typeface="Arial"/>
              <a:buNone/>
            </a:pPr>
            <a:endParaRPr lang="en-US" sz="1800" b="1" dirty="0">
              <a:solidFill>
                <a:srgbClr val="15264B"/>
              </a:solidFill>
              <a:latin typeface="Atkinson Hyperlegible Next"/>
              <a:ea typeface="Arial"/>
              <a:cs typeface="Arial"/>
              <a:sym typeface="Arial"/>
            </a:endParaRPr>
          </a:p>
        </p:txBody>
      </p:sp>
      <p:graphicFrame>
        <p:nvGraphicFramePr>
          <p:cNvPr id="3" name="Table 2">
            <a:extLst>
              <a:ext uri="{FF2B5EF4-FFF2-40B4-BE49-F238E27FC236}">
                <a16:creationId xmlns:a16="http://schemas.microsoft.com/office/drawing/2014/main" id="{1EE3DE62-4E85-1C4E-5AB7-A55EFC150E57}"/>
              </a:ext>
            </a:extLst>
          </p:cNvPr>
          <p:cNvGraphicFramePr>
            <a:graphicFrameLocks noGrp="1"/>
          </p:cNvGraphicFramePr>
          <p:nvPr>
            <p:extLst>
              <p:ext uri="{D42A27DB-BD31-4B8C-83A1-F6EECF244321}">
                <p14:modId xmlns:p14="http://schemas.microsoft.com/office/powerpoint/2010/main" val="2016186720"/>
              </p:ext>
            </p:extLst>
          </p:nvPr>
        </p:nvGraphicFramePr>
        <p:xfrm>
          <a:off x="1925640" y="4448044"/>
          <a:ext cx="3624260" cy="1524000"/>
        </p:xfrm>
        <a:graphic>
          <a:graphicData uri="http://schemas.openxmlformats.org/drawingml/2006/table">
            <a:tbl>
              <a:tblPr firstRow="1" bandRow="1">
                <a:tableStyleId>{5C22544A-7EE6-4342-B048-85BDC9FD1C3A}</a:tableStyleId>
              </a:tblPr>
              <a:tblGrid>
                <a:gridCol w="724852">
                  <a:extLst>
                    <a:ext uri="{9D8B030D-6E8A-4147-A177-3AD203B41FA5}">
                      <a16:colId xmlns:a16="http://schemas.microsoft.com/office/drawing/2014/main" val="346855582"/>
                    </a:ext>
                  </a:extLst>
                </a:gridCol>
                <a:gridCol w="724852">
                  <a:extLst>
                    <a:ext uri="{9D8B030D-6E8A-4147-A177-3AD203B41FA5}">
                      <a16:colId xmlns:a16="http://schemas.microsoft.com/office/drawing/2014/main" val="1592488445"/>
                    </a:ext>
                  </a:extLst>
                </a:gridCol>
                <a:gridCol w="724852">
                  <a:extLst>
                    <a:ext uri="{9D8B030D-6E8A-4147-A177-3AD203B41FA5}">
                      <a16:colId xmlns:a16="http://schemas.microsoft.com/office/drawing/2014/main" val="3403376714"/>
                    </a:ext>
                  </a:extLst>
                </a:gridCol>
                <a:gridCol w="724852">
                  <a:extLst>
                    <a:ext uri="{9D8B030D-6E8A-4147-A177-3AD203B41FA5}">
                      <a16:colId xmlns:a16="http://schemas.microsoft.com/office/drawing/2014/main" val="903622980"/>
                    </a:ext>
                  </a:extLst>
                </a:gridCol>
                <a:gridCol w="724852">
                  <a:extLst>
                    <a:ext uri="{9D8B030D-6E8A-4147-A177-3AD203B41FA5}">
                      <a16:colId xmlns:a16="http://schemas.microsoft.com/office/drawing/2014/main" val="4093562064"/>
                    </a:ext>
                  </a:extLst>
                </a:gridCol>
              </a:tblGrid>
              <a:tr h="298856">
                <a:tc>
                  <a:txBody>
                    <a:bodyPr/>
                    <a:lstStyle/>
                    <a:p>
                      <a:r>
                        <a:rPr lang="en-US" dirty="0"/>
                        <a:t>REG</a:t>
                      </a:r>
                    </a:p>
                  </a:txBody>
                  <a:tcPr/>
                </a:tc>
                <a:tc>
                  <a:txBody>
                    <a:bodyPr/>
                    <a:lstStyle/>
                    <a:p>
                      <a:r>
                        <a:rPr lang="en-US" dirty="0"/>
                        <a:t>MASK</a:t>
                      </a:r>
                    </a:p>
                  </a:txBody>
                  <a:tcPr/>
                </a:tc>
                <a:tc>
                  <a:txBody>
                    <a:bodyPr/>
                    <a:lstStyle/>
                    <a:p>
                      <a:r>
                        <a:rPr lang="en-US" dirty="0"/>
                        <a:t>AND</a:t>
                      </a:r>
                    </a:p>
                  </a:txBody>
                  <a:tcPr/>
                </a:tc>
                <a:tc>
                  <a:txBody>
                    <a:bodyPr/>
                    <a:lstStyle/>
                    <a:p>
                      <a:r>
                        <a:rPr lang="en-US" dirty="0"/>
                        <a:t>OR</a:t>
                      </a:r>
                    </a:p>
                  </a:txBody>
                  <a:tcPr/>
                </a:tc>
                <a:tc>
                  <a:txBody>
                    <a:bodyPr/>
                    <a:lstStyle/>
                    <a:p>
                      <a:r>
                        <a:rPr lang="en-US" dirty="0"/>
                        <a:t>XOR</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tc>
                  <a:txBody>
                    <a:bodyPr/>
                    <a:lstStyle/>
                    <a:p>
                      <a:r>
                        <a:rPr lang="en-US" dirty="0"/>
                        <a:t>0</a:t>
                      </a:r>
                    </a:p>
                  </a:txBody>
                  <a:tcPr/>
                </a:tc>
                <a:extLst>
                  <a:ext uri="{0D108BD9-81ED-4DB2-BD59-A6C34878D82A}">
                    <a16:rowId xmlns:a16="http://schemas.microsoft.com/office/drawing/2014/main" val="2591078293"/>
                  </a:ext>
                </a:extLst>
              </a:tr>
              <a:tr h="298856">
                <a:tc>
                  <a:txBody>
                    <a:bodyPr/>
                    <a:lstStyle/>
                    <a:p>
                      <a:r>
                        <a:rPr lang="en-US" dirty="0"/>
                        <a:t>0</a:t>
                      </a:r>
                    </a:p>
                  </a:txBody>
                  <a:tcPr/>
                </a:tc>
                <a:tc>
                  <a:txBody>
                    <a:bodyPr/>
                    <a:lstStyle/>
                    <a:p>
                      <a:r>
                        <a:rPr lang="en-US" dirty="0"/>
                        <a:t>1</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922570205"/>
                  </a:ext>
                </a:extLst>
              </a:tr>
              <a:tr h="298856">
                <a:tc>
                  <a:txBody>
                    <a:bodyPr/>
                    <a:lstStyle/>
                    <a:p>
                      <a:r>
                        <a:rPr lang="en-US" dirty="0"/>
                        <a:t>1</a:t>
                      </a:r>
                    </a:p>
                  </a:txBody>
                  <a:tcPr/>
                </a:tc>
                <a:tc>
                  <a:txBody>
                    <a:bodyPr/>
                    <a:lstStyle/>
                    <a:p>
                      <a:r>
                        <a:rPr lang="en-US" dirty="0"/>
                        <a:t>0</a:t>
                      </a:r>
                    </a:p>
                  </a:txBody>
                  <a:tcPr/>
                </a:tc>
                <a:tc>
                  <a:txBody>
                    <a:bodyPr/>
                    <a:lstStyle/>
                    <a:p>
                      <a:r>
                        <a:rPr lang="en-US" dirty="0"/>
                        <a:t>0</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3415747797"/>
                  </a:ext>
                </a:extLst>
              </a:tr>
              <a:tr h="298856">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graphicFrame>
        <p:nvGraphicFramePr>
          <p:cNvPr id="5" name="Table 4">
            <a:extLst>
              <a:ext uri="{FF2B5EF4-FFF2-40B4-BE49-F238E27FC236}">
                <a16:creationId xmlns:a16="http://schemas.microsoft.com/office/drawing/2014/main" id="{6BE1C4B3-CD06-5B1D-BFDE-3CBBAD187494}"/>
              </a:ext>
            </a:extLst>
          </p:cNvPr>
          <p:cNvGraphicFramePr>
            <a:graphicFrameLocks noGrp="1"/>
          </p:cNvGraphicFramePr>
          <p:nvPr>
            <p:extLst>
              <p:ext uri="{D42A27DB-BD31-4B8C-83A1-F6EECF244321}">
                <p14:modId xmlns:p14="http://schemas.microsoft.com/office/powerpoint/2010/main" val="3823596159"/>
              </p:ext>
            </p:extLst>
          </p:nvPr>
        </p:nvGraphicFramePr>
        <p:xfrm>
          <a:off x="7660119" y="4752844"/>
          <a:ext cx="1416050" cy="914400"/>
        </p:xfrm>
        <a:graphic>
          <a:graphicData uri="http://schemas.openxmlformats.org/drawingml/2006/table">
            <a:tbl>
              <a:tblPr firstRow="1" bandRow="1">
                <a:tableStyleId>{5C22544A-7EE6-4342-B048-85BDC9FD1C3A}</a:tableStyleId>
              </a:tblPr>
              <a:tblGrid>
                <a:gridCol w="708025">
                  <a:extLst>
                    <a:ext uri="{9D8B030D-6E8A-4147-A177-3AD203B41FA5}">
                      <a16:colId xmlns:a16="http://schemas.microsoft.com/office/drawing/2014/main" val="346855582"/>
                    </a:ext>
                  </a:extLst>
                </a:gridCol>
                <a:gridCol w="708025">
                  <a:extLst>
                    <a:ext uri="{9D8B030D-6E8A-4147-A177-3AD203B41FA5}">
                      <a16:colId xmlns:a16="http://schemas.microsoft.com/office/drawing/2014/main" val="3403376714"/>
                    </a:ext>
                  </a:extLst>
                </a:gridCol>
              </a:tblGrid>
              <a:tr h="298856">
                <a:tc>
                  <a:txBody>
                    <a:bodyPr/>
                    <a:lstStyle/>
                    <a:p>
                      <a:r>
                        <a:rPr lang="en-US" dirty="0"/>
                        <a:t>MASK</a:t>
                      </a:r>
                    </a:p>
                  </a:txBody>
                  <a:tcPr/>
                </a:tc>
                <a:tc>
                  <a:txBody>
                    <a:bodyPr/>
                    <a:lstStyle/>
                    <a:p>
                      <a:r>
                        <a:rPr lang="en-US" dirty="0"/>
                        <a:t>NOT</a:t>
                      </a:r>
                    </a:p>
                  </a:txBody>
                  <a:tcPr/>
                </a:tc>
                <a:extLst>
                  <a:ext uri="{0D108BD9-81ED-4DB2-BD59-A6C34878D82A}">
                    <a16:rowId xmlns:a16="http://schemas.microsoft.com/office/drawing/2014/main" val="3071070923"/>
                  </a:ext>
                </a:extLst>
              </a:tr>
              <a:tr h="298856">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2591078293"/>
                  </a:ext>
                </a:extLst>
              </a:tr>
              <a:tr h="298856">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3045618015"/>
                  </a:ext>
                </a:extLst>
              </a:tr>
            </a:tbl>
          </a:graphicData>
        </a:graphic>
      </p:graphicFrame>
    </p:spTree>
    <p:extLst>
      <p:ext uri="{BB962C8B-B14F-4D97-AF65-F5344CB8AC3E}">
        <p14:creationId xmlns:p14="http://schemas.microsoft.com/office/powerpoint/2010/main" val="3045116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E79D79B-BD25-AA21-47B4-E81C12A502D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CF22A56-36F3-2F36-80D2-E68D3C88ADD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Timers</a:t>
            </a:r>
            <a:endParaRPr i="0" b="0" sz="1400" dirty="0">
              <a:solidFill>
                <a:srgbClr val="000000"/>
              </a:solidFill>
            </a:endParaRPr>
          </a:p>
        </p:txBody>
      </p:sp>
      <p:grpSp>
        <p:nvGrpSpPr>
          <p:cNvPr id="105" name="Google Shape;105;p28">
            <a:extLst>
              <a:ext uri="{FF2B5EF4-FFF2-40B4-BE49-F238E27FC236}">
                <a16:creationId xmlns:a16="http://schemas.microsoft.com/office/drawing/2014/main" id="{ED152358-FB50-DD95-DD4A-B2A6E78964C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B577B21-43F8-795D-1EC1-81C8834DD36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CCE0AC3-14DB-782A-523B-9244244AB12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8CF2629-2730-A4EB-283A-97444685EAB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9A535D8-D20A-D52E-CE0C-307518C98C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4E8A94F-7828-AB89-1D84-E4F975B0BDF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8F21ABA-161F-3B32-B002-B1E5742FA173}"/>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A606F35-F79B-4318-6B7F-6FF4FEFD3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995E2DE-F38D-FD9C-EE82-F60CBD7D19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54535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CA83B8-C177-16BC-A74B-4B751B8EAA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7CA2A7-D188-B086-D949-D81D019F0415}"/>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Just like a clock that you have; however, in hardware it is EXTREMELY important.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 </a:t>
            </a:r>
            <a:r>
              <a:rPr lang="en-US" sz="1800" b="1" dirty="0">
                <a:latin typeface="Atkinson Hyperlegible Next"/>
                <a:ea typeface="Arial"/>
                <a:cs typeface="Arial"/>
                <a:sym typeface="Arial"/>
              </a:rPr>
              <a:t>timer </a:t>
            </a:r>
            <a:r>
              <a:rPr lang="en-US" sz="1800" dirty="0">
                <a:latin typeface="Atkinson Hyperlegible Next"/>
                <a:ea typeface="Arial"/>
                <a:cs typeface="Arial"/>
                <a:sym typeface="Arial"/>
              </a:rPr>
              <a:t>is a hardware counter that:</a:t>
            </a:r>
          </a:p>
          <a:p>
            <a:pPr marL="285750" indent="-285750">
              <a:lnSpc>
                <a:spcPct val="100000"/>
              </a:lnSpc>
              <a:spcBef>
                <a:spcPts val="0"/>
              </a:spcBef>
              <a:buSzPts val="3000"/>
            </a:pPr>
            <a:r>
              <a:rPr lang="en-US" sz="1800" dirty="0">
                <a:latin typeface="Atkinson Hyperlegible Next"/>
                <a:ea typeface="Arial"/>
                <a:cs typeface="Arial"/>
                <a:sym typeface="Arial"/>
              </a:rPr>
              <a:t>Counts clock cycles</a:t>
            </a:r>
          </a:p>
          <a:p>
            <a:pPr marL="285750" indent="-285750">
              <a:lnSpc>
                <a:spcPct val="100000"/>
              </a:lnSpc>
              <a:spcBef>
                <a:spcPts val="0"/>
              </a:spcBef>
              <a:buSzPts val="3000"/>
            </a:pPr>
            <a:r>
              <a:rPr lang="en-US" sz="1800" dirty="0">
                <a:latin typeface="Atkinson Hyperlegible Next"/>
                <a:ea typeface="Arial"/>
                <a:cs typeface="Arial"/>
                <a:sym typeface="Arial"/>
              </a:rPr>
              <a:t>Triggers an interrupt when it reaches a specified condition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TMS320F2837xD has </a:t>
            </a:r>
            <a:r>
              <a:rPr lang="en-US" sz="1800" b="1" dirty="0">
                <a:latin typeface="Atkinson Hyperlegible Next"/>
                <a:ea typeface="Arial"/>
                <a:cs typeface="Arial"/>
                <a:sym typeface="Arial"/>
              </a:rPr>
              <a:t>3</a:t>
            </a:r>
            <a:r>
              <a:rPr lang="en-US" sz="1800" dirty="0">
                <a:latin typeface="Atkinson Hyperlegible Next"/>
                <a:ea typeface="Arial"/>
                <a:cs typeface="Arial"/>
                <a:sym typeface="Arial"/>
              </a:rPr>
              <a:t> 32-bit CPU timers. </a:t>
            </a:r>
          </a:p>
          <a:p>
            <a:pPr marL="285750" indent="-285750">
              <a:lnSpc>
                <a:spcPct val="100000"/>
              </a:lnSpc>
              <a:spcBef>
                <a:spcPts val="0"/>
              </a:spcBef>
              <a:buSzPts val="3000"/>
            </a:pPr>
            <a:r>
              <a:rPr lang="en-US" sz="1800" dirty="0">
                <a:latin typeface="Atkinson Hyperlegible Next"/>
                <a:ea typeface="Arial"/>
                <a:cs typeface="Arial"/>
                <a:sym typeface="Arial"/>
              </a:rPr>
              <a:t>CPU-Timer0 and CPU-Timer1 can be used in user applications</a:t>
            </a:r>
          </a:p>
          <a:p>
            <a:pPr marL="285750" indent="-285750">
              <a:lnSpc>
                <a:spcPct val="100000"/>
              </a:lnSpc>
              <a:spcBef>
                <a:spcPts val="0"/>
              </a:spcBef>
              <a:buSzPts val="3000"/>
            </a:pPr>
            <a:r>
              <a:rPr lang="en-US" sz="1800" dirty="0">
                <a:latin typeface="Atkinson Hyperlegible Next"/>
                <a:ea typeface="Arial"/>
                <a:cs typeface="Arial"/>
                <a:sym typeface="Arial"/>
              </a:rPr>
              <a:t>CPU-Timer2 is reserved for real-time operating system uses ( if not being uses in an operating system that uses this timer, it can used in the application).</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These clocks run off the system’s internal clock (SYSCLK) (CPU-Timer2, has additional options)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System’s internal clock runs at 200 MHz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5142FBA-6DEC-D842-33DC-729D877C91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727983-1768-CBE4-0DBC-D9B3EDEDDD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(1/6)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333CCFD-5566-247B-FBA2-4925B9AA6D8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12D56-C24F-6187-AC64-391C7B75F9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95E876-350D-F5F3-72C1-E09DF7F59F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50DB7C-44AA-D61C-EA90-C7AD441830F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E19E11-68A0-7D65-A8FF-1688A4DE7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47E355-A3AD-3658-F4C1-6B87E79F93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96777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B91D7D-A22B-2E01-EF3E-8AAADBCA2A6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9513E68-F5B4-D4AA-7617-A64412922F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A271FF-5C0A-6931-09C6-6E892192E4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(2/6)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D01B28-2810-7D4B-EF46-09359AE8F9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06E48CF-02C4-3786-C624-CAEB9610B6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C91540-A329-CFE6-AD20-0CCFBB5C9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15780B7-AD26-AD57-99CF-8F2AE6F14D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6F5EFE-425A-57F5-B80B-2ED738F3EF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BDFBF8-D2A1-B826-2D56-4A845EFF4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TI CPU-Timer. An AND gate passes SYSCLKOUT to a 16-bit prescale counter only while TCR.4, the timer stop bit, is 0. Each time the prescaler borrows (underflows), it reloads from the 16-bit divide-down register TDDRH:TDDR and decrements the 32-bit counter TIMH:TIM. When that counter borrows, it asserts the interrupt TINT (active low) and reloads from the 32-bit period register PRDH:PRD. OR gates also force both reloads on Reset or Timer reload.">
            <a:extLst>
              <a:ext uri="{FF2B5EF4-FFF2-40B4-BE49-F238E27FC236}">
                <a16:creationId xmlns:a16="http://schemas.microsoft.com/office/drawing/2014/main" id="{0073D16F-1F5B-03A8-350C-E201DDF86E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4936" y="1403473"/>
            <a:ext cx="10931900" cy="4508500"/>
          </a:xfrm>
          <a:prstGeom prst="rect">
            <a:avLst/>
          </a:prstGeom>
        </p:spPr>
      </p:pic>
      <p:cxnSp>
        <p:nvCxnSpPr>
          <p:cNvPr id="7" name="Straight Arrow Connector 6">
            <a:extLst>
              <a:ext uri="{FF2B5EF4-FFF2-40B4-BE49-F238E27FC236}">
                <a16:creationId xmlns:a16="http://schemas.microsoft.com/office/drawing/2014/main" id="{65E7B09A-B3ED-A424-09DB-27F506A3B4A7}"/>
              </a:ext>
            </a:extLst>
          </p:cNvPr>
          <p:cNvCxnSpPr>
            <a:cxnSpLocks/>
            <a:stCxn id="12" idx="2"/>
          </p:cNvCxnSpPr>
          <p:nvPr/>
        </p:nvCxnSpPr>
        <p:spPr>
          <a:xfrm>
            <a:off x="3137618" y="1488344"/>
            <a:ext cx="451402" cy="101111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E0B4787-1659-1F7B-FFBB-C958229C8F0D}"/>
              </a:ext>
            </a:extLst>
          </p:cNvPr>
          <p:cNvCxnSpPr>
            <a:cxnSpLocks/>
            <a:stCxn id="12" idx="2"/>
          </p:cNvCxnSpPr>
          <p:nvPr/>
        </p:nvCxnSpPr>
        <p:spPr>
          <a:xfrm>
            <a:off x="3137618" y="1488344"/>
            <a:ext cx="2455462" cy="10882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60C3DC5-06BB-8795-9BF9-E418AF8CB8E4}"/>
              </a:ext>
            </a:extLst>
          </p:cNvPr>
          <p:cNvSpPr txBox="1"/>
          <p:nvPr/>
        </p:nvSpPr>
        <p:spPr>
          <a:xfrm>
            <a:off x="2872160" y="1119012"/>
            <a:ext cx="530915" cy="369332"/>
          </a:xfrm>
          <a:prstGeom prst="rect">
            <a:avLst/>
          </a:prstGeom>
          <a:noFill/>
        </p:spPr>
        <p:txBody>
          <a:bodyPr wrap="none" rtlCol="0">
            <a:spAutoFit/>
          </a:bodyPr>
          <a:lstStyle/>
          <a:p>
            <a:r>
              <a:rPr lang="en-US" sz="1800" dirty="0"/>
              <a:t>OR</a:t>
            </a:r>
          </a:p>
        </p:txBody>
      </p:sp>
      <p:sp>
        <p:nvSpPr>
          <p:cNvPr id="13" name="TextBox 12">
            <a:extLst>
              <a:ext uri="{FF2B5EF4-FFF2-40B4-BE49-F238E27FC236}">
                <a16:creationId xmlns:a16="http://schemas.microsoft.com/office/drawing/2014/main" id="{0F34C39A-A5B3-4719-51D3-59EFDDFBA8E1}"/>
              </a:ext>
            </a:extLst>
          </p:cNvPr>
          <p:cNvSpPr txBox="1"/>
          <p:nvPr/>
        </p:nvSpPr>
        <p:spPr>
          <a:xfrm>
            <a:off x="3067085" y="3189019"/>
            <a:ext cx="671979" cy="369332"/>
          </a:xfrm>
          <a:prstGeom prst="rect">
            <a:avLst/>
          </a:prstGeom>
          <a:noFill/>
        </p:spPr>
        <p:txBody>
          <a:bodyPr wrap="none" rtlCol="0">
            <a:spAutoFit/>
          </a:bodyPr>
          <a:lstStyle/>
          <a:p>
            <a:r>
              <a:rPr lang="en-US" sz="1800" dirty="0"/>
              <a:t>AND</a:t>
            </a:r>
          </a:p>
        </p:txBody>
      </p:sp>
      <p:cxnSp>
        <p:nvCxnSpPr>
          <p:cNvPr id="14" name="Straight Arrow Connector 13">
            <a:extLst>
              <a:ext uri="{FF2B5EF4-FFF2-40B4-BE49-F238E27FC236}">
                <a16:creationId xmlns:a16="http://schemas.microsoft.com/office/drawing/2014/main" id="{4FC930C6-79A9-D8F5-9AC7-95B3C5F621F1}"/>
              </a:ext>
            </a:extLst>
          </p:cNvPr>
          <p:cNvCxnSpPr>
            <a:cxnSpLocks/>
            <a:stCxn id="13" idx="2"/>
          </p:cNvCxnSpPr>
          <p:nvPr/>
        </p:nvCxnSpPr>
        <p:spPr>
          <a:xfrm>
            <a:off x="3403075" y="3558351"/>
            <a:ext cx="185945" cy="8993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C6649C05-FA19-F219-E8EB-07FCACFEA66A}"/>
              </a:ext>
            </a:extLst>
          </p:cNvPr>
          <p:cNvSpPr txBox="1"/>
          <p:nvPr/>
        </p:nvSpPr>
        <p:spPr>
          <a:xfrm>
            <a:off x="2200181" y="4979719"/>
            <a:ext cx="671979" cy="369332"/>
          </a:xfrm>
          <a:prstGeom prst="rect">
            <a:avLst/>
          </a:prstGeom>
          <a:noFill/>
        </p:spPr>
        <p:txBody>
          <a:bodyPr wrap="none" rtlCol="0">
            <a:spAutoFit/>
          </a:bodyPr>
          <a:lstStyle/>
          <a:p>
            <a:r>
              <a:rPr lang="en-US" sz="1800" dirty="0"/>
              <a:t>NOT</a:t>
            </a:r>
          </a:p>
        </p:txBody>
      </p:sp>
      <p:cxnSp>
        <p:nvCxnSpPr>
          <p:cNvPr id="21" name="Straight Arrow Connector 20">
            <a:extLst>
              <a:ext uri="{FF2B5EF4-FFF2-40B4-BE49-F238E27FC236}">
                <a16:creationId xmlns:a16="http://schemas.microsoft.com/office/drawing/2014/main" id="{7A251EBD-D8EE-BBA8-0EA8-8B98F08FE1BD}"/>
              </a:ext>
            </a:extLst>
          </p:cNvPr>
          <p:cNvCxnSpPr>
            <a:cxnSpLocks/>
            <a:stCxn id="20" idx="0"/>
          </p:cNvCxnSpPr>
          <p:nvPr/>
        </p:nvCxnSpPr>
        <p:spPr>
          <a:xfrm flipV="1">
            <a:off x="2536171" y="4579094"/>
            <a:ext cx="466109" cy="40062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3761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1DCAA7-AB7C-4F44-1B99-1A44A911816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DA2F02-61B0-A78D-2EC2-1BB08CE8B7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52731B-DFF7-5ADE-6A8A-0C38FE000F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(3/6)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BA04C2-9408-8115-FD87-8AB89A69D2E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1E0AF6-7FD1-06AC-1E3A-BDEBCCD555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C3B273-FF26-605D-CB9E-260DDCD3C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45F1F2-163B-3BD0-807B-599047DBCB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7AC88A-A30C-0B6D-270B-465BC160E4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3CF8F2-09A0-9FA8-004C-20D992F4C9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CPU Timer Animation" descr="YouTube video: CPU Timer Animation (Marius Juston)">
            <a:hlinkClick r:id="" action="ppaction://media"/>
            <a:extLst>
              <a:ext uri="{FF2B5EF4-FFF2-40B4-BE49-F238E27FC236}">
                <a16:creationId xmlns:a16="http://schemas.microsoft.com/office/drawing/2014/main" id="{A553F8F7-7DD2-D53E-17D0-2EC475C190E7}"/>
              </a:ext>
            </a:extLst>
          </p:cNvPr>
          <p:cNvPicPr>
            <a:picLocks noRot="1" noChangeAspect="1"/>
          </p:cNvPicPr>
          <p:nvPr>
            <a:videoFile r:link="rId1"/>
          </p:nvPr>
        </p:nvPicPr>
        <p:blipFill>
          <a:blip r:embed="rId5"/>
          <a:stretch>
            <a:fillRect/>
          </a:stretch>
        </p:blipFill>
        <p:spPr>
          <a:xfrm>
            <a:off x="1158582" y="1036296"/>
            <a:ext cx="9354909" cy="5285536"/>
          </a:xfrm>
          <a:prstGeom prst="rect">
            <a:avLst/>
          </a:prstGeom>
        </p:spPr>
      </p:pic>
      <p:sp>
        <p:nvSpPr>
          <p:cNvPr id="3" name="TextBox 2">
            <a:extLst>
              <a:ext uri="{FF2B5EF4-FFF2-40B4-BE49-F238E27FC236}">
                <a16:creationId xmlns:a16="http://schemas.microsoft.com/office/drawing/2014/main" id="{F16E5136-2744-2DAF-4C66-6C9D54524520}"/>
              </a:ext>
            </a:extLst>
          </p:cNvPr>
          <p:cNvSpPr txBox="1"/>
          <p:nvPr/>
        </p:nvSpPr>
        <p:spPr>
          <a:xfrm>
            <a:off x="3799287" y="6335177"/>
            <a:ext cx="4065071" cy="276999"/>
          </a:xfrm>
          <a:prstGeom prst="rect">
            <a:avLst/>
          </a:prstGeom>
          <a:noFill/>
        </p:spPr>
        <p:txBody>
          <a:bodyPr wrap="square" rtlCol="0">
            <a:spAutoFit/>
          </a:bodyPr>
          <a:lstStyle/>
          <a:p>
            <a:pPr algn="ctr"/>
            <a:r>
              <a:rPr lang="en-US" sz="1200" dirty="0">
                <a:hlinkClick r:id="rId6"/>
              </a:rPr>
              <a:t>https://youtu.be/AB0ehpoGNZU?si=qzp9HoeXxZYwsuXb</a:t>
            </a:r>
            <a:r>
              <a:rPr lang="en-US" sz="1200" dirty="0"/>
              <a:t> </a:t>
            </a:r>
          </a:p>
        </p:txBody>
      </p:sp>
    </p:spTree>
    <p:extLst>
      <p:ext uri="{BB962C8B-B14F-4D97-AF65-F5344CB8AC3E}">
        <p14:creationId xmlns:p14="http://schemas.microsoft.com/office/powerpoint/2010/main" val="32865110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5A2408-CA67-6611-DC76-6D35EBFD34E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A597ED4-1ABE-38A8-A789-503D51362E61}"/>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Why are there 2-counter blocks?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System clock: SYSCLKOUT = 200 MHz → </a:t>
            </a:r>
            <a:r>
              <a:rPr lang="en-US" sz="1800" dirty="0" err="1">
                <a:latin typeface="Atkinson Hyperlegible Next"/>
                <a:ea typeface="Arial"/>
                <a:cs typeface="Arial"/>
                <a:sym typeface="Arial"/>
              </a:rPr>
              <a:t>T</a:t>
            </a:r>
            <a:r>
              <a:rPr lang="en-US" sz="1800" baseline="-25000" dirty="0" err="1">
                <a:latin typeface="Atkinson Hyperlegible Next"/>
                <a:ea typeface="Arial"/>
                <a:cs typeface="Arial"/>
                <a:sym typeface="Arial"/>
              </a:rPr>
              <a:t>clk</a:t>
            </a:r>
            <a:r>
              <a:rPr lang="en-US" sz="1800" dirty="0">
                <a:latin typeface="Atkinson Hyperlegible Next"/>
                <a:ea typeface="Arial"/>
                <a:cs typeface="Arial"/>
                <a:sym typeface="Arial"/>
              </a:rPr>
              <a:t> = 2 ns</a:t>
            </a:r>
          </a:p>
          <a:p>
            <a:pPr marL="0" indent="0">
              <a:lnSpc>
                <a:spcPct val="100000"/>
              </a:lnSpc>
              <a:spcBef>
                <a:spcPts val="0"/>
              </a:spcBef>
              <a:buSzPts val="3000"/>
              <a:buNone/>
            </a:pPr>
            <a:endParaRPr lang="en-US" sz="1800" baseline="-250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Problem is that the clock is too fast for software: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At 200 MHz:</a:t>
            </a:r>
          </a:p>
          <a:p>
            <a:pPr marL="285750" indent="-285750">
              <a:lnSpc>
                <a:spcPct val="100000"/>
              </a:lnSpc>
              <a:spcBef>
                <a:spcPts val="0"/>
              </a:spcBef>
              <a:buSzPts val="3000"/>
            </a:pPr>
            <a:r>
              <a:rPr lang="en-US" sz="1800" dirty="0">
                <a:latin typeface="Atkinson Hyperlegible Next"/>
                <a:ea typeface="Arial"/>
                <a:cs typeface="Arial"/>
                <a:sym typeface="Arial"/>
              </a:rPr>
              <a:t>1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 clock ticks</a:t>
            </a:r>
          </a:p>
          <a:p>
            <a:pPr marL="285750" indent="-285750">
              <a:lnSpc>
                <a:spcPct val="100000"/>
              </a:lnSpc>
              <a:spcBef>
                <a:spcPts val="0"/>
              </a:spcBef>
              <a:buSzPts val="3000"/>
            </a:pPr>
            <a:r>
              <a:rPr lang="en-US" sz="1800" dirty="0">
                <a:latin typeface="Atkinson Hyperlegible Next"/>
                <a:ea typeface="Arial"/>
                <a:cs typeface="Arial"/>
                <a:sym typeface="Arial"/>
              </a:rPr>
              <a:t>10 </a:t>
            </a:r>
            <a:r>
              <a:rPr lang="en-US" sz="1800" dirty="0" err="1">
                <a:latin typeface="Atkinson Hyperlegible Next"/>
                <a:ea typeface="Arial"/>
                <a:cs typeface="Arial"/>
                <a:sym typeface="Arial"/>
              </a:rPr>
              <a:t>ms</a:t>
            </a:r>
            <a:r>
              <a:rPr lang="en-US" sz="1800" dirty="0">
                <a:latin typeface="Atkinson Hyperlegible Next"/>
                <a:ea typeface="Arial"/>
                <a:cs typeface="Arial"/>
                <a:sym typeface="Arial"/>
              </a:rPr>
              <a:t> requires: 2,000,000 clock ticks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Split the job into 2 counters:</a:t>
            </a:r>
          </a:p>
          <a:p>
            <a:pPr marL="285750" indent="-285750">
              <a:lnSpc>
                <a:spcPct val="100000"/>
              </a:lnSpc>
              <a:spcBef>
                <a:spcPts val="0"/>
              </a:spcBef>
              <a:buSzPts val="3000"/>
            </a:pP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Counter (PSC, TDDR) – Controls speed, defines a unit of time</a:t>
            </a:r>
          </a:p>
          <a:p>
            <a:pPr marL="285750" indent="-285750">
              <a:lnSpc>
                <a:spcPct val="100000"/>
              </a:lnSpc>
              <a:spcBef>
                <a:spcPts val="0"/>
              </a:spcBef>
              <a:buSzPts val="3000"/>
            </a:pPr>
            <a:r>
              <a:rPr lang="en-US" sz="1800" dirty="0">
                <a:latin typeface="Atkinson Hyperlegible Next"/>
                <a:ea typeface="Arial"/>
                <a:cs typeface="Arial"/>
                <a:sym typeface="Arial"/>
              </a:rPr>
              <a:t>Main Timer Counter (TIM, PRD) – Controls duration, how much time should pass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One counter decides how </a:t>
            </a:r>
            <a:r>
              <a:rPr lang="en-US" sz="1800" i="1" dirty="0">
                <a:latin typeface="Atkinson Hyperlegible Next"/>
                <a:ea typeface="Arial"/>
                <a:cs typeface="Arial"/>
                <a:sym typeface="Arial"/>
              </a:rPr>
              <a:t>fast time flows </a:t>
            </a:r>
            <a:r>
              <a:rPr lang="en-US" sz="1800" dirty="0">
                <a:latin typeface="Atkinson Hyperlegible Next"/>
                <a:ea typeface="Arial"/>
                <a:cs typeface="Arial"/>
                <a:sym typeface="Arial"/>
              </a:rPr>
              <a:t>and the other decides </a:t>
            </a:r>
            <a:r>
              <a:rPr lang="en-US" sz="1800" i="1" dirty="0">
                <a:latin typeface="Atkinson Hyperlegible Next"/>
                <a:ea typeface="Arial"/>
                <a:cs typeface="Arial"/>
                <a:sym typeface="Arial"/>
              </a:rPr>
              <a:t>how much time passes.</a:t>
            </a:r>
          </a:p>
          <a:p>
            <a:pPr marL="0" indent="0">
              <a:lnSpc>
                <a:spcPct val="100000"/>
              </a:lnSpc>
              <a:spcBef>
                <a:spcPts val="0"/>
              </a:spcBef>
              <a:buSzPts val="3000"/>
              <a:buNone/>
            </a:pPr>
            <a:endParaRPr lang="en-US" sz="1800" i="1"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With a </a:t>
            </a:r>
            <a:r>
              <a:rPr lang="en-US" sz="1800" dirty="0" err="1">
                <a:latin typeface="Atkinson Hyperlegible Next"/>
                <a:ea typeface="Arial"/>
                <a:cs typeface="Arial"/>
                <a:sym typeface="Arial"/>
              </a:rPr>
              <a:t>prescaler</a:t>
            </a:r>
            <a:r>
              <a:rPr lang="en-US" sz="1800" dirty="0">
                <a:latin typeface="Atkinson Hyperlegible Next"/>
                <a:ea typeface="Arial"/>
                <a:cs typeface="Arial"/>
                <a:sym typeface="Arial"/>
              </a:rPr>
              <a:t> set to TTDR=199 for example, you now have that a single tick for the main timer counter represents a clean 1 </a:t>
            </a:r>
            <a:r>
              <a:rPr lang="el-GR" sz="1800" dirty="0"/>
              <a:t>μ</a:t>
            </a:r>
            <a:r>
              <a:rPr lang="en-US" sz="1800" dirty="0"/>
              <a:t>s, thus, to ensure that your timer runs every 10 </a:t>
            </a:r>
            <a:r>
              <a:rPr lang="en-US" sz="1800" dirty="0" err="1"/>
              <a:t>ms</a:t>
            </a:r>
            <a:r>
              <a:rPr lang="en-US" sz="1800" dirty="0"/>
              <a:t> you can set PRD = 10,000! Much simpler! </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C30045-7CC0-39F9-973B-6A9ACB445D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CF0951-1B3E-B309-4F20-4E19E396BA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(4/6)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816700-3D02-C248-14E0-D7385ECBA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98E33C-250B-E218-DEC7-5D52D056BC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4E87641-7FC6-BF33-B11A-0D730B882F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A1D7C8-BB2D-E37E-636E-05687647D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5443457-B9B5-8D6F-6CBB-732513501B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AC64C2-1ED3-D0D3-BDF8-D3D9711A18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2011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53FF48-2567-36DF-0E08-872F3456FEE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A3964E-F300-5874-C505-98DA49C7D1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C289BE-F442-1AFA-5A9F-F46ACDF9B8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(5/6)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492385-0078-432E-BA25-52EF8191B28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66DA96-0358-524C-453E-587CB945BB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A910AD-7E91-D4AA-5C35-5E6FF9168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0E51EB-A661-4A04-7D7C-2CF15D53C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F036B1-9043-9AA4-FF3E-C616B36FA3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288E5-6EC6-70D1-18E6-CC3127D03C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Block diagram of how the three CPU timers interrupt the 28x CPU. TIMER0's interrupt, TINT0, goes through the PIE (peripheral interrupt expansion) block, which feeds CPU interrupt lines INT1 through INT12. TIMER1's TINT1 connects directly to INT13, and TIMER2's TINT2 connects directly to INT14. Notes: the timer registers sit on the C28x memory bus, and the timers are synchronized to SYSCLKOUT.">
            <a:extLst>
              <a:ext uri="{FF2B5EF4-FFF2-40B4-BE49-F238E27FC236}">
                <a16:creationId xmlns:a16="http://schemas.microsoft.com/office/drawing/2014/main" id="{2BCB83CC-7AC6-B0A5-00FA-C78A00ADEF2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1540" y="1039363"/>
            <a:ext cx="10408920" cy="5282472"/>
          </a:xfrm>
          <a:prstGeom prst="rect">
            <a:avLst/>
          </a:prstGeom>
        </p:spPr>
      </p:pic>
    </p:spTree>
    <p:extLst>
      <p:ext uri="{BB962C8B-B14F-4D97-AF65-F5344CB8AC3E}">
        <p14:creationId xmlns:p14="http://schemas.microsoft.com/office/powerpoint/2010/main" val="20676672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016ADF-792F-CCA1-AA92-D17767A2AD1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F006A6-8226-869F-CC6D-7DF09AF771C4}"/>
              </a:ext>
            </a:extLst>
          </p:cNvPr>
          <p:cNvSpPr txBox="1">
            <a:spLocks noGrp="1"/>
          </p:cNvSpPr>
          <p:nvPr>
            <p:ph type="body" idx="1"/>
          </p:nvPr>
        </p:nvSpPr>
        <p:spPr>
          <a:xfrm>
            <a:off x="376809" y="1334279"/>
            <a:ext cx="11177401" cy="494550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timer controls: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Control loop sampling rate ( user defined controller )</a:t>
            </a:r>
          </a:p>
          <a:p>
            <a:pPr marL="285750" indent="-285750">
              <a:lnSpc>
                <a:spcPct val="100000"/>
              </a:lnSpc>
              <a:spcBef>
                <a:spcPts val="0"/>
              </a:spcBef>
              <a:buSzPts val="3000"/>
            </a:pPr>
            <a:r>
              <a:rPr lang="en-US" sz="1800" dirty="0">
                <a:latin typeface="Atkinson Hyperlegible Next"/>
                <a:ea typeface="Arial"/>
                <a:cs typeface="Arial"/>
                <a:sym typeface="Arial"/>
              </a:rPr>
              <a:t>Task scheduling</a:t>
            </a:r>
          </a:p>
          <a:p>
            <a:pPr marL="285750" indent="-285750">
              <a:lnSpc>
                <a:spcPct val="100000"/>
              </a:lnSpc>
              <a:spcBef>
                <a:spcPts val="0"/>
              </a:spcBef>
              <a:buSzPts val="3000"/>
            </a:pPr>
            <a:r>
              <a:rPr lang="en-US" sz="1800" dirty="0">
                <a:latin typeface="Atkinson Hyperlegible Next"/>
                <a:ea typeface="Arial"/>
                <a:cs typeface="Arial"/>
                <a:sym typeface="Arial"/>
              </a:rPr>
              <a:t>PWM updates</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Can control interrupt how often the software interrupts get called: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114300" indent="0" algn="l">
              <a:buNone/>
            </a:pPr>
            <a:r>
              <a:rPr lang="en-US" sz="1800" dirty="0">
                <a:solidFill>
                  <a:srgbClr val="3F7F5F"/>
                </a:solidFill>
                <a:latin typeface="Consolas" panose="020B0609020204030204" pitchFamily="49" charset="0"/>
              </a:rPr>
              <a:t>// Configure CPU-Timer 0, 1, and 2 to interrupt every given period:</a:t>
            </a:r>
          </a:p>
          <a:p>
            <a:pPr marL="114300" indent="0" algn="l">
              <a:buNone/>
            </a:pPr>
            <a:r>
              <a:rPr lang="en-US" sz="1800" dirty="0">
                <a:solidFill>
                  <a:srgbClr val="3F7F5F"/>
                </a:solidFill>
                <a:latin typeface="Consolas" panose="020B0609020204030204" pitchFamily="49" charset="0"/>
              </a:rPr>
              <a:t>// 200MHz CPU Freq,                       Period (in </a:t>
            </a:r>
            <a:r>
              <a:rPr lang="en-US" sz="1800" dirty="0" err="1">
                <a:solidFill>
                  <a:srgbClr val="3F7F5F"/>
                </a:solidFill>
                <a:latin typeface="Consolas" panose="020B0609020204030204" pitchFamily="49" charset="0"/>
              </a:rPr>
              <a:t>uSeconds</a:t>
            </a:r>
            <a:r>
              <a:rPr lang="en-US" sz="1800" dirty="0">
                <a:solidFill>
                  <a:srgbClr val="3F7F5F"/>
                </a:solidFill>
                <a:latin typeface="Consolas" panose="020B0609020204030204" pitchFamily="49" charset="0"/>
              </a:rPr>
              <a:t>)</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(&amp;CpuTimer0, LAUNCHPAD_CPU_FREQUENCY, 10000);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(&amp;CpuTimer1, LAUNCHPAD_CPU_FREQUENCY, 20000);</a:t>
            </a:r>
          </a:p>
          <a:p>
            <a:pPr marL="114300" indent="0" algn="l">
              <a:buNone/>
            </a:pPr>
            <a:r>
              <a:rPr lang="en-US" sz="1800" dirty="0" err="1">
                <a:solidFill>
                  <a:srgbClr val="642880"/>
                </a:solidFill>
                <a:latin typeface="Consolas" panose="020B0609020204030204" pitchFamily="49" charset="0"/>
              </a:rPr>
              <a:t>ConfigCpuTimer</a:t>
            </a:r>
            <a:r>
              <a:rPr lang="en-US" sz="1800" dirty="0">
                <a:solidFill>
                  <a:srgbClr val="000000"/>
                </a:solidFill>
                <a:latin typeface="Consolas" panose="020B0609020204030204" pitchFamily="49" charset="0"/>
              </a:rPr>
              <a:t>(&amp;CpuTimer2, LAUNCHPAD_CPU_FREQUENCY, 40000);</a:t>
            </a: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C13347D-81DD-2C1F-7B05-1EF26AA8E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62AB7-600D-841A-B491-FB2AE15042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What is a timer? (6/6)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E730D0-44C7-EC82-7138-C3802602FF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7CC407-3551-B507-97A4-8F6D91AC58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66AF9F-3916-2F50-2804-4F737D0587C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A7FF96-5EBD-79A0-EA80-CD77D906C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274538-35A5-F814-1DC7-4B679DA922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BD0738-AF42-4397-DA92-9C081ABA6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831094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p:nvPr>
            <p:ph type="title"/>
          </p:nvPr>
        </p:nvSpPr>
        <p:spPr>
          <a:xfrm>
            <a:off x="2275515" y="2416680"/>
            <a:ext cx="7640969" cy="2024640"/>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8800" b="1" dirty="0">
                <a:solidFill>
                  <a:schemeClr val="lt1"/>
                </a:solidFill>
              </a:rPr>
              <a:t>Questions</a:t>
            </a:r>
            <a:r>
              <a:rPr i="0" lang="en-US" sz="7200" b="1" dirty="0">
                <a:solidFill>
                  <a:schemeClr val="lt1"/>
                </a:solidFill>
              </a:rPr>
              <a:t>?</a:t>
            </a:r>
          </a:p>
          <a:p>
            <a:pPr lvl="0" algn="ctr">
              <a:lnSpc>
                <a:spcPct val="100000"/>
              </a:lnSpc>
              <a:spcBef>
                <a:spcPts val="0"/>
              </a:spcBef>
              <a:spcAft>
                <a:spcPts val="0"/>
              </a:spcAft>
            </a:pPr>
            <a:r>
              <a:rPr i="0" lang="en-US" sz="3200" b="1" dirty="0">
                <a:solidFill>
                  <a:schemeClr val="lt1"/>
                </a:solidFill>
              </a:rPr>
              <a:t>(Lecture Wednesday online or not?)</a:t>
            </a:r>
          </a:p>
        </p:txBody>
      </p:sp>
      <p:pic>
        <p:nvPicPr>
          <p:cNvPr id="265" name="Google Shape;265;p3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2</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1488</TotalTime>
  <Words>2445</Words>
  <Application>Microsoft Office PowerPoint</Application>
  <PresentationFormat>Widescreen</PresentationFormat>
  <Paragraphs>512</Paragraphs>
  <Slides>29</Slides>
  <Notes>29</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142</cp:revision>
  <dcterms:created xsi:type="dcterms:W3CDTF">2019-01-14T22:06:33Z</dcterms:created>
  <dcterms:modified xsi:type="dcterms:W3CDTF">2026-02-08T02:49:00Z</dcterms:modified>
  <dc:title>SE 423 Lecture 2: Peripherals</dc:title>
</cp:coreProperties>
</file>