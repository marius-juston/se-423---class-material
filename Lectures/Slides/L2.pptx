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71" r:id="rId4"/>
    <p:sldId id="274" r:id="rId5"/>
    <p:sldId id="275" r:id="rId6"/>
    <p:sldId id="276" r:id="rId7"/>
    <p:sldId id="258" r:id="rId8"/>
    <p:sldId id="277" r:id="rId9"/>
    <p:sldId id="272" r:id="rId10"/>
    <p:sldId id="278" r:id="rId11"/>
    <p:sldId id="279" r:id="rId12"/>
    <p:sldId id="280" r:id="rId13"/>
    <p:sldId id="281" r:id="rId14"/>
    <p:sldId id="289" r:id="rId15"/>
    <p:sldId id="288" r:id="rId16"/>
    <p:sldId id="282" r:id="rId17"/>
    <p:sldId id="283" r:id="rId18"/>
    <p:sldId id="285" r:id="rId19"/>
    <p:sldId id="286" r:id="rId20"/>
    <p:sldId id="287" r:id="rId21"/>
    <p:sldId id="290" r:id="rId22"/>
    <p:sldId id="291" r:id="rId23"/>
    <p:sldId id="292" r:id="rId24"/>
    <p:sldId id="295" r:id="rId25"/>
    <p:sldId id="296" r:id="rId26"/>
    <p:sldId id="293" r:id="rId27"/>
    <p:sldId id="294" r:id="rId28"/>
    <p:sldId id="269" r:id="rId29"/>
    <p:sldId id="270" r:id="rId3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2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740" autoAdjust="0"/>
  </p:normalViewPr>
  <p:slideViewPr>
    <p:cSldViewPr snapToGrid="0">
      <p:cViewPr varScale="1">
        <p:scale>
          <a:sx n="123" d="100"/>
          <a:sy n="123" d="100"/>
        </p:scale>
        <p:origin x="169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Well I hope that most of your classes have been </a:t>
            </a:r>
            <a:r>
              <a:rPr lang="en-US" dirty="0" err="1"/>
              <a:t>cancled</a:t>
            </a:r>
            <a:r>
              <a:rPr lang="en-US" dirty="0"/>
              <a:t> or are on Zoom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Did all of you get my Canvas email or do I need to it through email? Or announcements?</a:t>
            </a:r>
            <a:endParaRPr dirty="0"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Office</a:t>
            </a:r>
            <a:endParaRPr dirty="0"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9F8C6CA-881C-831D-A68C-FC172238B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2E868FB-C2CC-0118-8490-F144740BF9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C441899-808F-CE82-1C7A-518EB00609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039407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9DEDADA-5225-64E9-5957-E6FF531CB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B0BF354B-0C63-6FD5-49BB-33D722553D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Office</a:t>
            </a:r>
            <a:endParaRPr dirty="0"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E1221BEA-B11F-4D08-B7C9-8423E27409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864753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2A0246F-0340-08E7-4D04-E2FBC0692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207A6BB-DBA7-3EB9-E887-D86A8E5011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2B107F5-18B0-AF04-42E2-7B012C2E4F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578334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F328BB-3062-BEAF-9BC9-E942CCBAA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48D0EEE-2A41-EE1A-0E7B-AC62206417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34408D0-82C1-683F-B1BB-9831CA3E95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062755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0ABBF50-D5B8-2A36-4BAF-6A768B0D2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D005934-3152-262D-A0E2-BB7CC8D73C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E98563B-6280-6309-9568-9A9B5647CB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890079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033A47F-9B51-9DA3-AE26-0AA5862DB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F46D099-5AFF-C207-0BDC-8A3C0DEDF2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C03A73D-DD03-981A-6693-F8A04A1C9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85162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4002A6B-EB3B-2A06-FAEC-A513648D6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CFAE1C1-55CA-47F2-FF7E-7F248239DA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71781BD-E566-D770-EDE8-9B942F7858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051749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FEB3224-6EB4-EEE0-76DB-9A52492CB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7561A0E-1BE5-4F61-BE5B-8CBA6801C5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097315A-647C-E042-AC77-19E49FDB0C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536327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EBBE47C-1410-32AE-729F-5B98D7836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F69EBCF-4BA4-B717-E614-7BEA4583E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7A7160F-67A9-C867-66CA-AD70B79068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871191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94DC85B-66B2-7866-DF76-9CE4CC305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A61A4E4-2CAE-F878-F6B3-20A53101E4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48AB98-5666-C342-A3FC-843A2F4005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005572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9B708F8-F9B3-A837-B9C4-DCCC50285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0452604-A62A-ED78-B359-E8A75AF74D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B7B2FF8-2C4F-5CB1-3239-E7CBC2F03D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867292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7EEF92A-11BD-547F-79EF-F86417EB9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D25C9E05-4B9F-0482-DCA1-B0B8B43B6B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13E967EC-FB0F-76F4-41CE-28BE02EEBC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34510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024E206-363E-2299-0F09-D6B63492C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EA92925-55FF-E76F-15C2-FC28F0C5EC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6A6F3AA-3CC5-A3F3-676B-A7B12D0F03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619961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34BFA0-409F-8E5C-E177-49C390279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1E3EBC8-3303-D860-6253-0D12D7571F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744C7E3-F152-5E42-1DFF-E9F5E8BFD0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978045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567EDA8-189A-FF31-EEA4-BFDEFB754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2574A4B-9DFB-F15E-6A3F-93ED478093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2933390-70FC-29A4-5F57-4643D9DD6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208197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F2006E7-F7A3-4600-5DF7-132BC6D5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C408A8B-FDB8-10D9-B6AB-930AAE13B9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E92A5C7-FBBB-282D-4177-16D9146F0B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74421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45A87DC-1043-F839-5736-AAAB23CA0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5377813C-5A87-2AB6-9674-BA6B74863B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06E4E8F5-A940-EB06-7D89-C15348C454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49576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3C8E97F-C54B-48AE-D971-3484584C6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4170352-F1D7-9831-693B-D0DE6316CB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7FE9A8A-3B96-16ED-CD9A-EC675FDE4F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015184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868A8AE-3822-5138-D4AB-80720FAC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188A369-6B99-117F-1BAE-0A0CD3BE4C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SYSCLKOUT</a:t>
            </a:r>
            <a:r>
              <a:rPr lang="en-US" dirty="0"/>
              <a:t> is the system clock (e.g., 200 MHz).</a:t>
            </a:r>
          </a:p>
          <a:p>
            <a:r>
              <a:rPr lang="en-US" b="1" dirty="0"/>
              <a:t>TCR.4</a:t>
            </a:r>
            <a:r>
              <a:rPr lang="en-US" dirty="0"/>
              <a:t> is the </a:t>
            </a:r>
            <a:r>
              <a:rPr lang="en-US" i="1" dirty="0"/>
              <a:t>Timer Control Register bit</a:t>
            </a:r>
            <a:r>
              <a:rPr lang="en-US" dirty="0"/>
              <a:t> that enables or disables counting.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 timer only receives clock pulses when software sets the START bit. This is why timers do </a:t>
            </a:r>
            <a:r>
              <a:rPr lang="en-US" i="1" dirty="0"/>
              <a:t>nothing</a:t>
            </a:r>
            <a:r>
              <a:rPr lang="en-US" dirty="0"/>
              <a:t> until you explicitly enable them in software.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b="1" dirty="0"/>
              <a:t>16-bit Divide-Down (TDDRH:TDDR)</a:t>
            </a:r>
          </a:p>
          <a:p>
            <a:r>
              <a:rPr lang="en-US" dirty="0"/>
              <a:t>This block divides the incoming clock frequency.</a:t>
            </a:r>
          </a:p>
          <a:p>
            <a:r>
              <a:rPr lang="en-US" dirty="0"/>
              <a:t>This allows the timer to operate at manageable speeds</a:t>
            </a:r>
          </a:p>
          <a:p>
            <a:endParaRPr lang="en-US" dirty="0"/>
          </a:p>
          <a:p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/>
              <a:t>16-bit </a:t>
            </a:r>
            <a:r>
              <a:rPr lang="en-US" b="1" dirty="0" err="1"/>
              <a:t>Prescale</a:t>
            </a:r>
            <a:r>
              <a:rPr lang="en-US" b="1" dirty="0"/>
              <a:t> Counter (PSCH:PSC)</a:t>
            </a:r>
          </a:p>
          <a:p>
            <a:r>
              <a:rPr lang="en-US" dirty="0"/>
              <a:t>This is an additional counter that:</a:t>
            </a:r>
          </a:p>
          <a:p>
            <a:r>
              <a:rPr lang="en-US" dirty="0"/>
              <a:t>Counts down</a:t>
            </a:r>
          </a:p>
          <a:p>
            <a:r>
              <a:rPr lang="en-US" dirty="0"/>
              <a:t>Generates a </a:t>
            </a:r>
            <a:r>
              <a:rPr lang="en-US" b="1" dirty="0"/>
              <a:t>borrow</a:t>
            </a:r>
            <a:r>
              <a:rPr lang="en-US" dirty="0"/>
              <a:t> when it underflows</a:t>
            </a:r>
          </a:p>
          <a:p>
            <a:r>
              <a:rPr lang="en-US" dirty="0"/>
              <a:t>That borrow is what advances the main 32-bit timer.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The </a:t>
            </a:r>
            <a:r>
              <a:rPr lang="en-US" dirty="0" err="1"/>
              <a:t>prescaler</a:t>
            </a:r>
            <a:r>
              <a:rPr lang="en-US" dirty="0"/>
              <a:t> slows time down before it reaches the main timer counter.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sv-SE" b="1" dirty="0"/>
              <a:t>32-bit Period Register (PRDH:PRD)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This is the value the timer reloads </a:t>
            </a:r>
            <a:r>
              <a:rPr lang="en-US" b="1" dirty="0"/>
              <a:t>from</a:t>
            </a:r>
            <a:r>
              <a:rPr lang="en-US" dirty="0"/>
              <a:t>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r>
              <a:rPr lang="en-US" b="1" dirty="0"/>
              <a:t>32-bit Counter (TIMH:TIM)</a:t>
            </a:r>
          </a:p>
          <a:p>
            <a:r>
              <a:rPr lang="en-US" dirty="0"/>
              <a:t>This is the </a:t>
            </a:r>
            <a:r>
              <a:rPr lang="en-US" b="1" dirty="0"/>
              <a:t>actual counter</a:t>
            </a:r>
            <a:r>
              <a:rPr lang="en-US" dirty="0"/>
              <a:t>:</a:t>
            </a:r>
          </a:p>
          <a:p>
            <a:r>
              <a:rPr lang="en-US" dirty="0"/>
              <a:t>Decrements every </a:t>
            </a:r>
            <a:r>
              <a:rPr lang="en-US" dirty="0" err="1"/>
              <a:t>prescaled</a:t>
            </a:r>
            <a:r>
              <a:rPr lang="en-US" dirty="0"/>
              <a:t> clock tick</a:t>
            </a:r>
          </a:p>
          <a:p>
            <a:r>
              <a:rPr lang="en-US" dirty="0"/>
              <a:t>When it reaches zero:</a:t>
            </a:r>
          </a:p>
          <a:p>
            <a:pPr lvl="0"/>
            <a:r>
              <a:rPr lang="en-US" dirty="0"/>
              <a:t>A borrow occurs</a:t>
            </a:r>
          </a:p>
          <a:p>
            <a:pPr lvl="0"/>
            <a:r>
              <a:rPr lang="en-US" dirty="0"/>
              <a:t>An interrupt is generated</a:t>
            </a:r>
          </a:p>
          <a:p>
            <a:pPr lvl="0"/>
            <a:r>
              <a:rPr lang="en-US" dirty="0"/>
              <a:t>The counter reloads from PRD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5C88DC5-6882-AE62-38F7-1B560EA420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732727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9E9BD42-6D44-07E7-0C57-E63AF0D99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417AE7C-EC41-47D9-AFB5-4EC85F9436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SYSCLKOUT</a:t>
            </a:r>
            <a:r>
              <a:rPr lang="en-US" dirty="0"/>
              <a:t> is the system clock (e.g., 200 MHz).</a:t>
            </a:r>
          </a:p>
          <a:p>
            <a:r>
              <a:rPr lang="en-US" b="1" dirty="0"/>
              <a:t>TCR.4</a:t>
            </a:r>
            <a:r>
              <a:rPr lang="en-US" dirty="0"/>
              <a:t> is the </a:t>
            </a:r>
            <a:r>
              <a:rPr lang="en-US" i="1" dirty="0"/>
              <a:t>Timer Control Register bit</a:t>
            </a:r>
            <a:r>
              <a:rPr lang="en-US" dirty="0"/>
              <a:t> that enables or disables counting.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 timer only receives clock pulses when software sets the START bit. This is why timers do </a:t>
            </a:r>
            <a:r>
              <a:rPr lang="en-US" i="1" dirty="0"/>
              <a:t>nothing</a:t>
            </a:r>
            <a:r>
              <a:rPr lang="en-US" dirty="0"/>
              <a:t> until you explicitly enable them in software.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b="1" dirty="0"/>
              <a:t>16-bit Divide-Down (TDDRH:TDDR)</a:t>
            </a:r>
          </a:p>
          <a:p>
            <a:r>
              <a:rPr lang="en-US" dirty="0"/>
              <a:t>This block divides the incoming clock frequency.</a:t>
            </a:r>
          </a:p>
          <a:p>
            <a:r>
              <a:rPr lang="en-US" dirty="0"/>
              <a:t>This allows the timer to operate at manageable speeds</a:t>
            </a:r>
          </a:p>
          <a:p>
            <a:endParaRPr lang="en-US" dirty="0"/>
          </a:p>
          <a:p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/>
              <a:t>16-bit </a:t>
            </a:r>
            <a:r>
              <a:rPr lang="en-US" b="1" dirty="0" err="1"/>
              <a:t>Prescale</a:t>
            </a:r>
            <a:r>
              <a:rPr lang="en-US" b="1" dirty="0"/>
              <a:t> Counter (PSCH:PSC)</a:t>
            </a:r>
          </a:p>
          <a:p>
            <a:r>
              <a:rPr lang="en-US" dirty="0"/>
              <a:t>This is an additional counter that:</a:t>
            </a:r>
          </a:p>
          <a:p>
            <a:r>
              <a:rPr lang="en-US" dirty="0"/>
              <a:t>Counts down</a:t>
            </a:r>
          </a:p>
          <a:p>
            <a:r>
              <a:rPr lang="en-US" dirty="0"/>
              <a:t>Generates a </a:t>
            </a:r>
            <a:r>
              <a:rPr lang="en-US" b="1" dirty="0"/>
              <a:t>borrow</a:t>
            </a:r>
            <a:r>
              <a:rPr lang="en-US" dirty="0"/>
              <a:t> when it underflows</a:t>
            </a:r>
          </a:p>
          <a:p>
            <a:r>
              <a:rPr lang="en-US" dirty="0"/>
              <a:t>That borrow is what advances the main 32-bit timer.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The </a:t>
            </a:r>
            <a:r>
              <a:rPr lang="en-US" dirty="0" err="1"/>
              <a:t>prescaler</a:t>
            </a:r>
            <a:r>
              <a:rPr lang="en-US" dirty="0"/>
              <a:t> slows time down before it reaches the main timer counter.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sv-SE" b="1" dirty="0"/>
              <a:t>32-bit Period Register (PRDH:PRD)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This is the value the timer reloads </a:t>
            </a:r>
            <a:r>
              <a:rPr lang="en-US" b="1" dirty="0"/>
              <a:t>from</a:t>
            </a:r>
            <a:r>
              <a:rPr lang="en-US" dirty="0"/>
              <a:t>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r>
              <a:rPr lang="en-US" b="1" dirty="0"/>
              <a:t>32-bit Counter (TIMH:TIM)</a:t>
            </a:r>
          </a:p>
          <a:p>
            <a:r>
              <a:rPr lang="en-US" dirty="0"/>
              <a:t>This is the </a:t>
            </a:r>
            <a:r>
              <a:rPr lang="en-US" b="1" dirty="0"/>
              <a:t>actual counter</a:t>
            </a:r>
            <a:r>
              <a:rPr lang="en-US" dirty="0"/>
              <a:t>:</a:t>
            </a:r>
          </a:p>
          <a:p>
            <a:r>
              <a:rPr lang="en-US" dirty="0"/>
              <a:t>Decrements every </a:t>
            </a:r>
            <a:r>
              <a:rPr lang="en-US" dirty="0" err="1"/>
              <a:t>prescaled</a:t>
            </a:r>
            <a:r>
              <a:rPr lang="en-US" dirty="0"/>
              <a:t> clock tick</a:t>
            </a:r>
          </a:p>
          <a:p>
            <a:r>
              <a:rPr lang="en-US" dirty="0"/>
              <a:t>When it reaches zero:</a:t>
            </a:r>
          </a:p>
          <a:p>
            <a:pPr lvl="0"/>
            <a:r>
              <a:rPr lang="en-US" dirty="0"/>
              <a:t>A borrow occurs</a:t>
            </a:r>
          </a:p>
          <a:p>
            <a:pPr lvl="0"/>
            <a:r>
              <a:rPr lang="en-US" dirty="0"/>
              <a:t>An interrupt is generated</a:t>
            </a:r>
          </a:p>
          <a:p>
            <a:pPr lvl="0"/>
            <a:r>
              <a:rPr lang="en-US" dirty="0"/>
              <a:t>The counter reloads from PRD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84AD7E4-B967-5FAE-4A9E-3DDC0B9939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2528888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9857DE6-DF8B-D8B6-B80A-D4FFA47EB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A53D2C1-BC7D-1078-FBB3-A743209988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0808667-3B3A-7BDA-EA07-6665024B16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773472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8C5D6C7-5422-60D4-9BF9-2EAA80BE1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DC76DDE-0BD6-A46A-932A-9C7A9A7436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dirty="0"/>
              <a:t>Timer 0</a:t>
            </a:r>
          </a:p>
          <a:p>
            <a:r>
              <a:rPr lang="en-US" dirty="0"/>
              <a:t>TINT0</a:t>
            </a:r>
          </a:p>
          <a:p>
            <a:r>
              <a:rPr lang="en-US" dirty="0"/>
              <a:t>INT1–INT12 via PIE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dirty="0"/>
              <a:t>Timer 1</a:t>
            </a:r>
          </a:p>
          <a:p>
            <a:r>
              <a:rPr lang="en-US" dirty="0"/>
              <a:t>TINT1</a:t>
            </a:r>
          </a:p>
          <a:p>
            <a:r>
              <a:rPr lang="en-US" dirty="0"/>
              <a:t>INT13 (direct)</a:t>
            </a:r>
          </a:p>
          <a:p>
            <a:endParaRPr lang="en-US" dirty="0"/>
          </a:p>
          <a:p>
            <a:r>
              <a:rPr lang="en-US" dirty="0"/>
              <a:t>Timer 2</a:t>
            </a:r>
          </a:p>
          <a:p>
            <a:r>
              <a:rPr lang="en-US" dirty="0"/>
              <a:t>TINT2</a:t>
            </a:r>
          </a:p>
          <a:p>
            <a:r>
              <a:rPr lang="en-US" dirty="0"/>
              <a:t>INT14 (direct)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b="1" dirty="0"/>
              <a:t>Peripheral Interrupt Expansion (PIE)</a:t>
            </a:r>
            <a:r>
              <a:rPr lang="en-US" dirty="0"/>
              <a:t> is an interrupt router.</a:t>
            </a:r>
          </a:p>
          <a:p>
            <a:r>
              <a:rPr lang="en-US" dirty="0"/>
              <a:t>It:</a:t>
            </a:r>
          </a:p>
          <a:p>
            <a:r>
              <a:rPr lang="en-US" dirty="0"/>
              <a:t>Takes many peripheral interrupts</a:t>
            </a:r>
          </a:p>
          <a:p>
            <a:r>
              <a:rPr lang="en-US" dirty="0"/>
              <a:t>Maps them to CPU interrupt vectors</a:t>
            </a:r>
          </a:p>
          <a:p>
            <a:r>
              <a:rPr lang="en-US" dirty="0"/>
              <a:t>Timer 0 is routed through the PIE because:</a:t>
            </a:r>
          </a:p>
          <a:p>
            <a:r>
              <a:rPr lang="en-US" dirty="0"/>
              <a:t>It is commonly used for application-level tasks</a:t>
            </a:r>
          </a:p>
          <a:p>
            <a:r>
              <a:rPr lang="en-US" dirty="0"/>
              <a:t>It supports prioritization and masking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Software Consequence</a:t>
            </a:r>
          </a:p>
          <a:p>
            <a:r>
              <a:rPr lang="en-US" dirty="0"/>
              <a:t>To use Timer 0:</a:t>
            </a:r>
          </a:p>
          <a:p>
            <a:r>
              <a:rPr lang="en-US" dirty="0"/>
              <a:t>Enable the timer interrupt</a:t>
            </a:r>
          </a:p>
          <a:p>
            <a:r>
              <a:rPr lang="en-US" dirty="0"/>
              <a:t>Enable the PIE group</a:t>
            </a:r>
          </a:p>
          <a:p>
            <a:r>
              <a:rPr lang="en-US" dirty="0"/>
              <a:t>Enable the CPU interrupt</a:t>
            </a:r>
          </a:p>
          <a:p>
            <a:r>
              <a:rPr lang="en-US" dirty="0"/>
              <a:t>Acknowledge the PIE inside the ISR</a:t>
            </a:r>
          </a:p>
          <a:p>
            <a:r>
              <a:rPr lang="en-US" dirty="0"/>
              <a:t>This makes Timer 0 ideal for:</a:t>
            </a:r>
          </a:p>
          <a:p>
            <a:r>
              <a:rPr lang="en-US" dirty="0"/>
              <a:t>Control loops</a:t>
            </a:r>
          </a:p>
          <a:p>
            <a:r>
              <a:rPr lang="en-US" dirty="0"/>
              <a:t>Scheduling</a:t>
            </a:r>
          </a:p>
          <a:p>
            <a:r>
              <a:rPr lang="en-US" dirty="0"/>
              <a:t>RTOS ticks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Timers 1 and 2 Bypass the PIE</a:t>
            </a:r>
          </a:p>
          <a:p>
            <a:r>
              <a:rPr lang="en-US" dirty="0"/>
              <a:t>Timer 1 → </a:t>
            </a:r>
            <a:r>
              <a:rPr lang="en-US" b="1" dirty="0"/>
              <a:t>INT13</a:t>
            </a:r>
            <a:br>
              <a:rPr lang="en-US" dirty="0"/>
            </a:br>
            <a:r>
              <a:rPr lang="en-US" dirty="0"/>
              <a:t>Timer 2 → </a:t>
            </a:r>
            <a:r>
              <a:rPr lang="en-US" b="1" dirty="0"/>
              <a:t>INT14</a:t>
            </a:r>
            <a:endParaRPr lang="en-US" dirty="0"/>
          </a:p>
          <a:p>
            <a:r>
              <a:rPr lang="en-US" dirty="0"/>
              <a:t>These are </a:t>
            </a:r>
            <a:r>
              <a:rPr lang="en-US" b="1" dirty="0"/>
              <a:t>dedicated CPU interrupts</a:t>
            </a:r>
            <a:r>
              <a:rPr lang="en-US" dirty="0"/>
              <a:t>.</a:t>
            </a:r>
          </a:p>
          <a:p>
            <a:r>
              <a:rPr lang="en-US" b="1" dirty="0"/>
              <a:t>Why?</a:t>
            </a:r>
          </a:p>
          <a:p>
            <a:r>
              <a:rPr lang="en-US" dirty="0"/>
              <a:t>They are intended for:</a:t>
            </a:r>
          </a:p>
          <a:p>
            <a:r>
              <a:rPr lang="en-US" dirty="0"/>
              <a:t>High-priority system tasks</a:t>
            </a:r>
          </a:p>
          <a:p>
            <a:r>
              <a:rPr lang="en-US" dirty="0"/>
              <a:t>Real-time services</a:t>
            </a:r>
          </a:p>
          <a:p>
            <a:r>
              <a:rPr lang="en-US" dirty="0"/>
              <a:t>Deterministic timing</a:t>
            </a:r>
          </a:p>
          <a:p>
            <a:r>
              <a:rPr lang="en-US" dirty="0"/>
              <a:t>They:</a:t>
            </a:r>
          </a:p>
          <a:p>
            <a:r>
              <a:rPr lang="en-US" dirty="0"/>
              <a:t>Have lower latency</a:t>
            </a:r>
          </a:p>
          <a:p>
            <a:r>
              <a:rPr lang="en-US" dirty="0"/>
              <a:t>Are simpler to configure</a:t>
            </a:r>
          </a:p>
          <a:p>
            <a:r>
              <a:rPr lang="en-US" dirty="0"/>
              <a:t>Are harder to misuse accidentally</a:t>
            </a:r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2FD8C5D-9C20-C91C-AC9B-D65DAB800F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3251202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6315C7C-5E78-525A-60EE-FEA456DCF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62C6A1C-81CD-6A4A-0EC7-D4DF6592E8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9E55876-018B-F3F8-A378-6190163DC3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8439911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62" name="Google Shape;262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Labs/Lab1.pdf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hyperlink" Target="https://marius-juston.github.io/SE-423---Class-Material/Homeworks/LabVIEW1.pdf" TargetMode="External"/><Relationship Id="rId4" Type="http://schemas.openxmlformats.org/officeDocument/2006/relationships/hyperlink" Target="https://marius-juston.github.io/SE-423---Class-Material/Homeworks/HW1.pdf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ckster.io/jay118/se-423-astar-ball-collection-and-drop-off-project-3daa28?f=1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tms320f28379D_TechRefi.pdf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tms320f28379D_TechRefi.pdf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hw/PinMuxTableF28379DLaunchPad.pdf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AB0ehpoGNZU?feature=oembed" TargetMode="External"/><Relationship Id="rId5" Type="http://schemas.openxmlformats.org/officeDocument/2006/relationships/image" Target="../media/image10.jpeg"/><Relationship Id="rId4" Type="http://schemas.openxmlformats.org/officeDocument/2006/relationships/image" Target="../media/image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 423: Introduction to Mechatronics</a:t>
            </a:r>
            <a:endParaRPr sz="4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2: Peripherals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Monday 26, 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EDD2ED-7EA0-C726-B86C-DAF6A1B585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738" y="2474829"/>
            <a:ext cx="3994099" cy="33083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/>
          <p:nvPr/>
        </p:nvSpPr>
        <p:spPr>
          <a:xfrm>
            <a:off x="2206906" y="220859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/>
          <p:cNvSpPr txBox="1"/>
          <p:nvPr/>
        </p:nvSpPr>
        <p:spPr>
          <a:xfrm>
            <a:off x="1441528" y="3949780"/>
            <a:ext cx="9308941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How was the first lab? Enjoyed it?</a:t>
            </a:r>
          </a:p>
        </p:txBody>
      </p:sp>
      <p:grpSp>
        <p:nvGrpSpPr>
          <p:cNvPr id="91" name="Google Shape;91;p27"/>
          <p:cNvGrpSpPr/>
          <p:nvPr/>
        </p:nvGrpSpPr>
        <p:grpSpPr>
          <a:xfrm>
            <a:off x="3943790" y="339448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26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Times: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There to help with setting up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CodeComposer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( not necessary but helpful for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), finishing the solder, getting checked off for the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labs or LabVIEW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Close to deadlines it will be busy so be sure to come in early!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Office Hours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752EC0B-8783-91E6-CCD2-B7B06FAF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7BDBD34-A31A-FF8F-814D-CEA3F5CE03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Lab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this week, will be using C so be sure to be prepared!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Do Exercise 1 of Homework 1 to get started in C.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You cannot use </a:t>
            </a:r>
            <a:r>
              <a:rPr lang="en-US" sz="1400" dirty="0" err="1">
                <a:latin typeface="Arial"/>
                <a:ea typeface="Arial"/>
                <a:cs typeface="Arial"/>
                <a:sym typeface="Arial"/>
              </a:rPr>
              <a:t>CodeComposer</a:t>
            </a: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 for that. You can just use an online C compile.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Lab 1 is a 1-week lab, some are longer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4"/>
              </a:rPr>
              <a:t>homework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3, 5PM</a:t>
            </a:r>
            <a:endParaRPr lang="en-US" sz="1400" b="1" dirty="0">
              <a:latin typeface="Arial"/>
              <a:ea typeface="Arial"/>
              <a:cs typeface="Arial"/>
              <a:sym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Questions 2, 3, 5, 7, 8, 9 and 10 need to be checked-off by instructors / TAs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Answers and code submissions for homework 1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4,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No late acceptations, since these are individual!</a:t>
            </a: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Soldering is Exercise 2 of Homework 1.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LabVIEW: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5"/>
              </a:rPr>
              <a:t>LabVIEW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5, 5PM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D59AEA4-FA31-7DE5-ECA1-47FDE291DAD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EF4682E-AB31-E1D3-8C63-83FBD01EEE5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Due Dates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D4F2AE-AF34-641F-D726-1F09D72D4F1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BF2177D-7368-A283-161A-0AB4D52E95A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1E702B2-7A21-65E7-17C4-E10079AAA2D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8DFBE1C-F9BB-2D43-E81C-914BF2A5623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B709CE-2A7C-0CCA-4EDF-FEC086E24F5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B462F17-FDB0-9C67-DE2D-DF014F11F97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747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C2441AC-B173-8D17-8C64-0E6EB4DE3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28B44141-C670-8ABB-20E0-AAA6EFD29AB9}"/>
              </a:ext>
            </a:extLst>
          </p:cNvPr>
          <p:cNvSpPr txBox="1"/>
          <p:nvPr/>
        </p:nvSpPr>
        <p:spPr>
          <a:xfrm>
            <a:off x="2206906" y="149104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Semester Project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>
            <a:extLst>
              <a:ext uri="{FF2B5EF4-FFF2-40B4-BE49-F238E27FC236}">
                <a16:creationId xmlns:a16="http://schemas.microsoft.com/office/drawing/2014/main" id="{C188BAE0-AF94-4F20-E8F5-C7A8238E2D56}"/>
              </a:ext>
            </a:extLst>
          </p:cNvPr>
          <p:cNvSpPr txBox="1"/>
          <p:nvPr/>
        </p:nvSpPr>
        <p:spPr>
          <a:xfrm>
            <a:off x="1441528" y="3232230"/>
            <a:ext cx="9308941" cy="224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Thursday May 14</a:t>
            </a:r>
            <a:r>
              <a:rPr lang="en-US" sz="2800" baseline="30000" dirty="0">
                <a:solidFill>
                  <a:schemeClr val="lt1"/>
                </a:solidFill>
              </a:rPr>
              <a:t>th</a:t>
            </a:r>
            <a:r>
              <a:rPr lang="en-US" sz="2800" dirty="0">
                <a:solidFill>
                  <a:schemeClr val="lt1"/>
                </a:solidFill>
              </a:rPr>
              <a:t>, 11AM – 2PM</a:t>
            </a:r>
          </a:p>
          <a:p>
            <a:pPr lvl="0" algn="ctr">
              <a:buSzPts val="2800"/>
            </a:pPr>
            <a:r>
              <a:rPr lang="en-US" sz="2800" b="1" dirty="0">
                <a:solidFill>
                  <a:schemeClr val="lt1"/>
                </a:solidFill>
              </a:rPr>
              <a:t>Last day of Finals!!! </a:t>
            </a:r>
          </a:p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( yes, I know that’s annoying)</a:t>
            </a:r>
          </a:p>
          <a:p>
            <a:pPr lvl="0" algn="ctr">
              <a:buSzPts val="2800"/>
            </a:pPr>
            <a:endParaRPr lang="en-US" sz="28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 algn="ctr">
              <a:buSzPts val="2800"/>
            </a:pPr>
            <a:r>
              <a:rPr lang="en-US" sz="2800" b="1" dirty="0">
                <a:solidFill>
                  <a:schemeClr val="lt1"/>
                </a:solidFill>
              </a:rPr>
              <a:t>Attendance is </a:t>
            </a:r>
            <a:r>
              <a:rPr lang="en-US" sz="2800" b="1" dirty="0">
                <a:solidFill>
                  <a:srgbClr val="E84B36"/>
                </a:solidFill>
              </a:rPr>
              <a:t>mandatory</a:t>
            </a:r>
            <a:r>
              <a:rPr lang="en-US" sz="2800" b="1" dirty="0">
                <a:solidFill>
                  <a:schemeClr val="lt1"/>
                </a:solidFill>
              </a:rPr>
              <a:t>!!</a:t>
            </a:r>
            <a:endParaRPr lang="en-US" sz="28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2BDD255B-0619-DA09-C865-8E5E11CABDA0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EFB24328-6928-5D39-E355-377755EDF1AF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E3BAAD31-BC0F-4A60-8AA1-56D755E30FD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442EC04A-B6B9-3EC3-CAA1-53A267F1FE2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CCB5533F-A0D3-93F5-8101-D1A909B532B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FA3D936-A09D-5A2D-BD3F-3B4A185E17A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A5895954-C3C5-744F-50CC-224A22A7767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CF3E8396-30D7-4A21-4AEC-3C0062DF05A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09BD3E6C-4647-5B80-CA19-FB9C76DE306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1241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29D7E9-EA1D-D258-7422-A853BFA60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915131D-2264-84AA-B6C4-8A0256D030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Website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will be creating a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Hackster.io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website to show what you have done by the end of the semester to showcase to everyone.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Show the video working,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Put code,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Show any other cool stuff you do!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are posting this to be publicly visible, so put your best effort in doing this. You can show the work for interviews,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etc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…</a:t>
            </a: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B8ADD5E-4587-91AA-E902-1B0E4A8E354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1286703-C61A-B2D1-585F-C10B261E8B9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Semester Project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4447D33-31A5-FA96-111C-05B9D666909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75751BA-8B9C-91BD-8C25-6C469DA0A6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15DC340-10EC-BD3A-74F5-B5230770C81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2E46266-8579-84FA-6DE5-1CFA462B2E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C89E83D-2B67-876F-D392-B6E929232AA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FA36F5-6D8B-FB3A-824E-B3067E17F35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96259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Registers</a:t>
            </a:r>
            <a:endParaRPr dirty="0"/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9BEEF1A-8246-780D-B805-73B0266CA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3D1F5B-F4CE-3A65-FC4B-C8CBA8198B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CPU only knows one thing: 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memory addresses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cs typeface="Arial"/>
                <a:sym typeface="Arial"/>
              </a:rPr>
              <a:t>On the </a:t>
            </a:r>
            <a:r>
              <a:rPr lang="en-US" sz="1800" dirty="0"/>
              <a:t>TMS320F2837xD: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RAM has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Flash has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Peripherals also have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This is called Memory-Mapped I/O (</a:t>
            </a:r>
            <a:r>
              <a:rPr lang="en-US" sz="1800" b="1" dirty="0"/>
              <a:t>MMIO</a:t>
            </a:r>
            <a:r>
              <a:rPr lang="en-US" sz="1800" dirty="0"/>
              <a:t>)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 peripheral is a hardware module whose control and status registers are mapped to fixed memory addresses, allowing the CPU to configure and control hardware by reading from and writing to memory.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4A71BDA-AF55-C788-95F4-7D99FDA443D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767473E-7200-1801-D48E-0407667B4E7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Memory-Mapped I/O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8247348-FF7D-D515-1494-EF00C3BBBFB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B98A567-8333-5798-5A96-986D6AB0E8E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7D4E743-6B2A-DBCA-05CA-15E8A3CDF8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E68D5BC-52F3-5E41-9D28-A5329EF010B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2A7FD3E-06AA-8235-9B82-C4FE44AF417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E792E2D-C8AF-47FB-EDEE-A0035DB7218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2210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A54B991-8E85-5A52-F99C-11B8C0B19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5524367-278E-EA64-B4EE-239DCE369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Peripheral: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Peripheral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a hardware device with a specific address in memory that it writes data to and/or reads data from.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All peripherals can be described by an offset from the 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Peripheral Base Address.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On the </a:t>
            </a:r>
            <a:r>
              <a:rPr lang="en-US" sz="1800" dirty="0"/>
              <a:t>TMS320F2837xD, registers are typically </a:t>
            </a:r>
            <a:r>
              <a:rPr lang="en-US" sz="1800" b="1" dirty="0"/>
              <a:t>32-bits </a:t>
            </a:r>
            <a:r>
              <a:rPr lang="en-US" sz="1800" dirty="0"/>
              <a:t>or </a:t>
            </a:r>
            <a:r>
              <a:rPr lang="en-US" sz="1800" b="1" dirty="0"/>
              <a:t>16-bit</a:t>
            </a:r>
            <a:r>
              <a:rPr lang="en-US" sz="1800" dirty="0"/>
              <a:t> wide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Each bit usually represents to: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hardware switch (ON / OFF)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configuration option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hardware status flag ( Error code, OK 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F71C68D-2089-CB5C-59AB-CF864A9E24C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8014155-4DAB-98B2-4E07-B5E40E0C4BB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System and Peripheral Registers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5BF5345-B5BF-16DF-10F0-8E870569DB1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C6D2008-58CF-E5C6-8BFA-8ABFE7BC72F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A9BE1D3-C0D7-38B7-7C00-6210784ACDD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8ADFA8D-E8F0-AF61-A156-4365E6F5C13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FE8ED05-543F-E0F7-BCA4-849511BC5E8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5630CA8-DBBC-0FAA-99D9-5B106C34696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495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F4A3F0A-E78E-9730-D0BA-98BFA495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D0E8B25-9CF7-F89B-84D7-9854597C88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TI groups peripherals into address regions.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For example: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GPIO register live in one address range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Timers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/>
              <a:t>ePWM</a:t>
            </a:r>
            <a:r>
              <a:rPr lang="en-US" sz="1800" dirty="0"/>
              <a:t>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ADC (Analog to Digital Converters )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/>
              <a:t>Etc</a:t>
            </a:r>
            <a:r>
              <a:rPr lang="en-US" sz="1800" dirty="0"/>
              <a:t>…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Each register is located at: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/>
              <a:t>Peripheral Base Address + Register Offset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do not need to calculate these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addresses manually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; TI provides C structures and header files that do this manually.</a:t>
            </a:r>
          </a:p>
          <a:p>
            <a:pPr marL="0" lv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EPwm1Regs.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TBCTL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CLKDIV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735B1A7-A140-C0A0-76FF-8562328E315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7A597A2-E454-B786-AFB9-579B6E80934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Peripheral Base Address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FA08611-B304-CD35-D2C6-87BFF403FDD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CDAEB88-8BDF-CA9E-F1F9-04EE5C10A7C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AC30BEF-DCB2-EDB1-C765-2A06F1C7AB1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96EE376-804D-D15B-8027-B05926335F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097F45A-48B9-3B23-D9CF-AC6BFCA3CEF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19C26A3-2124-2892-7251-E19506A9067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32273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531F301-BBF7-DF92-6EBE-3E0587DE3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E62DBE1-FA05-0946-0A1D-E31DF5AF30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System registers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control the </a:t>
            </a:r>
            <a:r>
              <a:rPr lang="en-US" sz="1800" i="1" dirty="0">
                <a:latin typeface="Arial"/>
                <a:ea typeface="Arial"/>
                <a:cs typeface="Arial"/>
                <a:sym typeface="Arial"/>
              </a:rPr>
              <a:t>behavior of the CPU itself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i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These registers affect the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entire chip.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These system registers are protected.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These can modify: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Clock configuration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Resets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Peripheral interrupts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Memory configuration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Timer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Full list is available in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Table 3-17 - System Control Base Address Table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BDD7FD4-3FE9-19BA-F754-C7DB057606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3279A8-52A8-01B3-C5F6-8E97FAF6F49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System Peripheral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68D369D-85E0-F5B0-1E38-6A002F63DE4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AAF780E-DDBE-210F-EBC3-9F8DCE31463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0F64F90-8511-F464-F05A-D27E77FA68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C80295F-E227-0193-65CF-CF514DC8460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F0FC49-B78E-B368-881D-B7F199CEF9E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7D98819-0AF0-5C1F-E988-A94E1AAB753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3954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A44DEFE-17C8-CB12-604A-CE91D6C4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DF33995-67A6-C92D-4526-9A278F1724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Some registers are protected to prevent accidental damage ( most / all system peripherals 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Thus, an additional layer of protection is allowed for accidental writes ( memory leaked code or otherwise 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EALLOW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: unlocks protected registers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EDIS: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locks them again</a:t>
            </a:r>
          </a:p>
          <a:p>
            <a:pPr marL="114300" indent="0" algn="l">
              <a:buNone/>
            </a:pPr>
            <a:endParaRPr lang="en-US" sz="1800" dirty="0">
              <a:latin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EALLOW;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This is needed to write to EALLOW protected registers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TIMER0_INT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&amp;cpu_timer0_isr;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TIMER1_INT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&amp;cpu_timer1_isr;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TIMER2_INT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&amp;cpu_timer2_isr;</a:t>
            </a:r>
            <a:endParaRPr lang="en-US" sz="1800" dirty="0"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EMIF_ERROR_INT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SWI_isr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EDIS;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This is needed to disable write to EALLOW protected registers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C503F74-3799-2E44-B39D-A1560202F8F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98A594-0216-9C9B-4CED-9D568D7F7FE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EALLOW / EDIS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2ECC981-9977-ED6B-5D97-285443D5C0E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8C30C89-FE20-8A40-8241-4A274716329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A5A68DC-47F0-9FA9-2E00-4043F3ACAC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E340323-31CC-BB85-CB4B-F52E3315EA2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87E9565-CC74-46F1-E43E-C685288D74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DD5BC91-373A-229E-F874-B2906BBB4FD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5961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4F6B2D5-2790-2B2A-EE21-1B9CD76F3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023406B-5D76-1289-48AD-E257A7B5C3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Peripheral registers control individual hardware modules. Usually do not have any write protection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GPIO (General Purpose Input-Output)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Timers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ADC (Analog-to-Digital Converter)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 (Pulse Width Modulation)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SPI (Serial Peripheral Interface)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Each peripheral has a Read (DAT), Write (SET), Clear (CLEAR) and Toggle (TOGGLE) register.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GPBDAT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Do not use to set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GPBSET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1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GPBCLEAR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0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GPBTOGGLE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0-&gt;1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AEDED1B-5C8B-C160-2651-3A0A180B260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9BBFFC7-9325-B47F-0D01-B1738389336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Peripheral Registers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2A6F078-9316-17CF-4FBB-DDD54C30ED7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6A279C1-FA22-DE07-9360-A9F0E8C9A0A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4FE2136-3D5F-F855-B829-53B490A7D5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4D6CCAB-0EAE-E661-F22B-859622804C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2DFE9D-6060-ECCC-55AB-4C2BAFB23C8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B58E183-4506-ED5C-B449-60BC6FC6D28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3810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20F0EF0-9C72-2574-550B-51A640D69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2CC2D72-48DF-7031-8F5D-879528208F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There are problems that arise from writing directly to DAT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Writing to DAT requires,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Read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Modify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Write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 interrupt ( code that runs on certain events ) can run between these steps and corrupt data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SET / CLEAR registers avoid this by being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atomic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hardware operations.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Atomic operations guarantee that a variable will be locked during the operations and cannot be modified by anyone else during that time.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936E051-310E-3991-1272-A29B50D7E4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AE28FAC-3016-0DC7-47B2-7A1F7CF1F55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Using DAT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41376A5-18FF-9EE2-2AD5-86886DEE67F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AAFE4DC-246E-0B7A-1155-2834F156A3C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4D38B8-B1F2-F7F3-DD1F-960665E3648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B5F70D6-8D81-C290-976A-3B9666E20E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60FE89C-F235-757E-FF80-D6E77047EA1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1ABBF27-0B75-AFF9-68BE-7AA2A40A104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286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B29A7ED-CD7B-066A-E85A-D2C7A4615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D669D54-ACA1-0C2B-8720-D54B2F1229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Each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physical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pin can serve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  <a:hlinkClick r:id="rId3"/>
              </a:rPr>
              <a:t>multiple functions</a:t>
            </a: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GPIO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SCI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CAN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must first select the function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(31,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(31, GPIO_OUTPUT, GPIO_PUSHPULL);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4FCB565-2A51-4FAB-F9CA-AA6C8868758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6F98EE-17CD-DAD4-D51B-0B9C2876FCA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I/O (GPIO)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99AF3BA-929C-AE0B-08A8-01C74ECFB2C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A00601F-1A36-29A7-369C-0A27203E346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3D80D43-4E8F-D1F2-D6A7-DA1A3882903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A76F1D6-C729-98D5-5B26-91653D52E51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C892BCB-4425-0FED-DE90-990DFBA18F2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A6AE1D4-767A-022A-A369-081CC884FB3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154984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8A84038E-8D38-7C8F-6FC0-455DCB7FB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2AEC150-34E9-FD6F-9BAD-7E0659470285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Bits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11C85305-70EB-14CE-364A-0ADCA1866DED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6C839739-8769-EAEF-9463-89E804E8E31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EB4FC774-FF75-C60A-20C4-F81634344E7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ECD9286F-6EB3-69F5-58DF-751E98ABD0C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B569B4EB-2FD0-AD30-F50E-C241BA4DDEA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6B3C5720-5765-357C-A3EB-EFBB78656436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679B5572-BDBA-D4B3-4612-D3C744E8AA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9A51ED6C-B8B5-7601-9873-F8E8B113733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A69615E-6CAE-27C3-F85D-B218D9D6621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19229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8DE9268-7945-FFE5-97A7-B45A0361D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661B06A-1C2E-6A1E-3C8D-8B2746C028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2145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CPU only reads binary, 1s or 0s; however, for humans it is difficult to understand long string of numbers.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32-bit register could be represented as such with 32 bits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(unsigned 3,357,083,684):</a:t>
            </a:r>
            <a:endParaRPr lang="en-US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 = 0b110010000001100100000100000100100;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is a potential problem?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D648654-B8E7-6A7C-250D-7F8FA28ABC0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C40AA82-D9BB-44C6-3DDA-87BE2D46BAB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Binary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B63B481-F43D-6BB6-C538-88D354B70D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C6201E1-4BDA-B7D2-65A7-13DC9AF1435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EA1DB4E-6D4D-8DC9-AA3A-2D6B7E48AE0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797A9CE-6B2C-2500-46AD-16AECA730A5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FF838EA-2E3A-B71E-A2FA-2BABE0621D2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96DA638-7CF5-5C2A-F32C-FE089F74491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8F1AF25-5F21-2287-8C45-C570B7ECC68C}"/>
              </a:ext>
            </a:extLst>
          </p:cNvPr>
          <p:cNvSpPr txBox="1"/>
          <p:nvPr/>
        </p:nvSpPr>
        <p:spPr>
          <a:xfrm>
            <a:off x="376807" y="4254500"/>
            <a:ext cx="11180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Prone to make mistakes if you need to manually type this out! For example, there are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33-bits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above, not 32!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Why not use Decimal system? Not as simple to convert from decimal to binary!</a:t>
            </a:r>
          </a:p>
        </p:txBody>
      </p:sp>
    </p:spTree>
    <p:extLst>
      <p:ext uri="{BB962C8B-B14F-4D97-AF65-F5344CB8AC3E}">
        <p14:creationId xmlns:p14="http://schemas.microsoft.com/office/powerpoint/2010/main" val="947783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935D5C0-4C41-ED87-68EA-17ABC178F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2428BFA-1E18-359E-4492-E6DEADED63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1052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Instead of base 10, let’s explore base 16, i.e., hexadecimal base system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Very easy to convert binary to hex (0-9 then A-F):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74EAF3B-345F-0479-2706-C5F0561339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BF0E4D0-E790-23C2-2C5D-D2479744492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Hexadecimal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BF71259-9DE7-40F5-630A-E5129BC53E3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1BB80D2-43E6-240C-FB51-71CBF8BC68E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44F356B-6FEC-7187-AA59-9515521CB6F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60CB545-D058-A201-A7DE-B0CAB3EF647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476572C-1F90-D6F3-6426-1CC4D407A54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0FDA6F1-B24E-B555-7032-50C75058682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12A5808-068D-5FB9-19E9-65DFB027B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8201903"/>
              </p:ext>
            </p:extLst>
          </p:nvPr>
        </p:nvGraphicFramePr>
        <p:xfrm>
          <a:off x="1720850" y="2501900"/>
          <a:ext cx="812799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20764605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44548374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265621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Hexidecimal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4417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5023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900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0441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56006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BEE2F4C-2FDB-0B1E-F74F-1A67D3C37081}"/>
              </a:ext>
            </a:extLst>
          </p:cNvPr>
          <p:cNvSpPr txBox="1"/>
          <p:nvPr/>
        </p:nvSpPr>
        <p:spPr>
          <a:xfrm>
            <a:off x="376807" y="4597400"/>
            <a:ext cx="1091002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E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very 4-bits = 1 hex value, makes things much easier to compress, much easier to look at!</a:t>
            </a:r>
          </a:p>
          <a:p>
            <a:endParaRPr lang="en-US" sz="1800" dirty="0"/>
          </a:p>
          <a:p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 = 0xC8190824;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5032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int16_t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x = 0x0824;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lang="en-US" sz="1800" dirty="0">
              <a:latin typeface="Consolas" panose="020B0609020204030204" pitchFamily="49" charset="0"/>
            </a:endParaRPr>
          </a:p>
          <a:p>
            <a:pPr lvl="0">
              <a:defRPr/>
            </a:pPr>
            <a:r>
              <a:rPr lang="en-US" sz="1800" dirty="0"/>
              <a:t>Windows Calculator set to programming mode can easily do the conversion!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694630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056B78-B910-A511-41E5-DB6A25780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DA402EC-2306-AEDB-4671-C167E6DF73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number starts at 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0 → 2</a:t>
            </a:r>
            <a:r>
              <a:rPr lang="en-US" sz="1800" baseline="30000" dirty="0">
                <a:latin typeface="Arial"/>
                <a:ea typeface="Arial"/>
                <a:cs typeface="Arial"/>
                <a:sym typeface="Arial"/>
              </a:rPr>
              <a:t>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1 → 2</a:t>
            </a:r>
            <a:r>
              <a:rPr lang="en-US" sz="1800" baseline="30000" dirty="0">
                <a:latin typeface="Arial"/>
                <a:ea typeface="Arial"/>
                <a:cs typeface="Arial"/>
                <a:sym typeface="Arial"/>
              </a:rPr>
              <a:t>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5 → 2</a:t>
            </a:r>
            <a:r>
              <a:rPr lang="en-US" sz="1800" baseline="30000" dirty="0">
                <a:latin typeface="Arial"/>
                <a:ea typeface="Arial"/>
                <a:cs typeface="Arial"/>
                <a:sym typeface="Arial"/>
              </a:rPr>
              <a:t>5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= 32 = 0x20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Creating a bit shifting: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Left shifting: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x &lt;&lt; n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shifts bits in x to the left by n.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0b01 &lt;&lt; 1 = 0b10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Right shifting: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x &gt;&gt; n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shifts bits in x to the right by n.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0b10 &gt;&gt; 1 = 0b01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Commonly used to create bit “masks”: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bit5Mask = 1 &lt;&lt; 5;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0x20, sets only bit 5 to 1!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What are masks? What are they used for?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93A4AA0-51AE-E163-7FE7-4739E99772F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6AF272-8944-188B-D036-8C03798A0C0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Bits, Bit Positions and Masks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F25E2F6-45BA-674E-90E9-B88C0123EA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5EB83C3-4FD0-688C-29E9-9B77646B975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1CB886-30B5-E16B-7512-0FECF2C818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AD6C8AB-ABE1-F2D9-C049-FDE2FB2BBD7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D3231A-0FE1-6F0A-EE9E-99664EA2DBD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1546CA3-3362-FBB5-200A-AEB28D21F31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471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1A38449-2004-E61B-C218-BE4EBA471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FC668CE-8DFA-F2AA-A3DC-923F02B374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5173091" cy="2933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AND (&amp;) – Masking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b="1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(reg &amp; (1 &lt;&lt; 3)) {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Bit 3 is set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lang="en-US" sz="1800" b="1" dirty="0">
                <a:solidFill>
                  <a:srgbClr val="000000"/>
                </a:solidFill>
                <a:latin typeface="Consolas" panose="020B0609020204030204" pitchFamily="49" charset="0"/>
                <a:ea typeface="Arial"/>
                <a:cs typeface="Arial"/>
                <a:sym typeface="Arial"/>
              </a:rPr>
              <a:t>}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15264B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15264B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OR    (|)  – Setting Bits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kumimoji="0" lang="en-US" sz="1800" b="1" i="0" u="none" strike="noStrike" kern="0" cap="none" spc="0" normalizeH="0" baseline="0" noProof="0" dirty="0">
              <a:ln>
                <a:noFill/>
              </a:ln>
              <a:solidFill>
                <a:srgbClr val="15264B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alibri"/>
                <a:sym typeface="Calibri"/>
              </a:rPr>
              <a:t>reg |= (1 &lt;&lt; 3);</a:t>
            </a: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F91230B-08CD-0D0C-39AF-E0ACCC0A41E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B54473D-21A5-A5D5-D97D-E711034807A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Bitwise Operations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1BB5D4-2A0F-5D14-FF14-E9D5E53A713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A7FD24E-CA58-4011-2DD0-1DDAEA2FAE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1EF9A49-48D0-C667-07E1-C31D1B6E7E2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4475F2-CF4E-32CE-BF08-6EF0332A8D2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753C5C0-D2D3-C5AC-42C6-64CDE684B4C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7FD99DA-8DF4-9904-C8A3-D6D3C78FA78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118;p29">
            <a:extLst>
              <a:ext uri="{FF2B5EF4-FFF2-40B4-BE49-F238E27FC236}">
                <a16:creationId xmlns:a16="http://schemas.microsoft.com/office/drawing/2014/main" id="{7C5046C5-1945-C6F3-E883-8DDDD61834C0}"/>
              </a:ext>
            </a:extLst>
          </p:cNvPr>
          <p:cNvSpPr txBox="1">
            <a:spLocks/>
          </p:cNvSpPr>
          <p:nvPr/>
        </p:nvSpPr>
        <p:spPr>
          <a:xfrm>
            <a:off x="6713540" y="1334279"/>
            <a:ext cx="517309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r>
              <a:rPr lang="en-US" sz="1800" b="1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NOT (~) – Clearing Bits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reg &amp;= ~(1 &lt;&lt; 3);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r>
              <a:rPr lang="en-US" sz="1800" b="1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XOR (^) – Toggling Bits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reg ^= (1 &lt;&lt; 3);</a:t>
            </a: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EE3DE62-4E85-1C4E-5AB7-A55EFC150E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6186720"/>
              </p:ext>
            </p:extLst>
          </p:nvPr>
        </p:nvGraphicFramePr>
        <p:xfrm>
          <a:off x="1925640" y="4448044"/>
          <a:ext cx="362426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4852">
                  <a:extLst>
                    <a:ext uri="{9D8B030D-6E8A-4147-A177-3AD203B41FA5}">
                      <a16:colId xmlns:a16="http://schemas.microsoft.com/office/drawing/2014/main" val="346855582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1592488445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3403376714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903622980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4093562064"/>
                    </a:ext>
                  </a:extLst>
                </a:gridCol>
              </a:tblGrid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07092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107829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2570205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5747797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61801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BE1C4B3-CD06-5B1D-BFDE-3CBBAD1874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596159"/>
              </p:ext>
            </p:extLst>
          </p:nvPr>
        </p:nvGraphicFramePr>
        <p:xfrm>
          <a:off x="7660119" y="4752844"/>
          <a:ext cx="141605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8025">
                  <a:extLst>
                    <a:ext uri="{9D8B030D-6E8A-4147-A177-3AD203B41FA5}">
                      <a16:colId xmlns:a16="http://schemas.microsoft.com/office/drawing/2014/main" val="346855582"/>
                    </a:ext>
                  </a:extLst>
                </a:gridCol>
                <a:gridCol w="708025">
                  <a:extLst>
                    <a:ext uri="{9D8B030D-6E8A-4147-A177-3AD203B41FA5}">
                      <a16:colId xmlns:a16="http://schemas.microsoft.com/office/drawing/2014/main" val="3403376714"/>
                    </a:ext>
                  </a:extLst>
                </a:gridCol>
              </a:tblGrid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MASK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07092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107829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618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51162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3E79D79B-BD25-AA21-47B4-E81C12A50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ECF22A56-36F3-2F36-80D2-E68D3C88ADDB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Timers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ED152358-FB50-DD95-DD4A-B2A6E78964C6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6B577B21-43F8-795D-1EC1-81C8834DD368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9CCE0AC3-14DB-782A-523B-9244244AB12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C8CF2629-2730-A4EB-283A-97444685EAB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A9A535D8-D20A-D52E-CE0C-307518C98C7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4E8A94F-7828-AB89-1D84-E4F975B0BDFF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D8F21ABA-161F-3B32-B002-B1E5742FA17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AA606F35-F79B-4318-6B7F-6FF4FEFD356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5995E2DE-F38D-FD9C-EE82-F60CBD7D197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54535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4CA83B8-C177-16BC-A74B-4B751B8EA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F7CA2A7-D188-B086-D949-D81D019F04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Just like a clock that you have; however, in hardware it is EXTREMELY important.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timer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is a hardware counter that: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Counts clock cycles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Triggers an interrupt when it reaches a specified condition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TMS320F2837xD has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32-bit CPU timers.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CPU-Timer0 and CPU-Timer1 can be used in user applications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CPU-Timer2 is reserved for real-time operating system uses ( if not being uses in an operating system that uses this timer, it can used in the application).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These clocks run off the system’s internal clock (SYSCLK) (CPU-Timer2, has additional options)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System’s internal clock runs at 200 MHz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5142FBA-6DEC-D842-33DC-729D877C91C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E727983-1768-CBE4-0DBC-D9B3EDEDDD9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333CCFD-5566-247B-FBA2-4925B9AA6D8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7412D56-C24F-6187-AC64-391C7B75F9E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695E876-350D-F5F3-72C1-E09DF7F59FD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950DB7C-44AA-D61C-EA90-C7AD441830F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BE19E11-68A0-7D65-A8FF-1688A4DE764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E47E355-A3AD-3658-F4C1-6B87E79F93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96777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DB91D7D-A22B-2E01-EF3E-8AAADBCA2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513E68-F5B4-D4AA-7617-A64412922F3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5A271FF-5C0A-6931-09C6-6E892192E4C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CD01B28-2810-7D4B-EF46-09359AE8F9E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06E48CF-02C4-3786-C624-CAEB9610B6E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3C91540-A329-CFE6-AD20-0CCFBB5C952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5780B7-AD26-AD57-99CF-8F2AE6F14DB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E6F5EFE-425A-57F5-B80B-2ED738F3EF2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1BDFBF8-D2A1-B826-2D56-4A845EFF475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0073D16F-1F5B-03A8-350C-E201DDF86E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4936" y="1403473"/>
            <a:ext cx="10931900" cy="45085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5E7B09A-B3ED-A424-09DB-27F506A3B4A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3137618" y="1488344"/>
            <a:ext cx="451402" cy="101111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0B4787-1659-1F7B-FFBB-C958229C8F0D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3137618" y="1488344"/>
            <a:ext cx="2455462" cy="10882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0C3DC5-06BB-8795-9BF9-E418AF8CB8E4}"/>
              </a:ext>
            </a:extLst>
          </p:cNvPr>
          <p:cNvSpPr txBox="1"/>
          <p:nvPr/>
        </p:nvSpPr>
        <p:spPr>
          <a:xfrm>
            <a:off x="2872160" y="1119012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34C39A-A5B3-4719-51D3-59EFDDFBA8E1}"/>
              </a:ext>
            </a:extLst>
          </p:cNvPr>
          <p:cNvSpPr txBox="1"/>
          <p:nvPr/>
        </p:nvSpPr>
        <p:spPr>
          <a:xfrm>
            <a:off x="3067085" y="318901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AND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FC930C6-79A9-D8F5-9AC7-95B3C5F621F1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3403075" y="3558351"/>
            <a:ext cx="185945" cy="89934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49C05-FA19-F219-E8EB-07FCACFEA66A}"/>
              </a:ext>
            </a:extLst>
          </p:cNvPr>
          <p:cNvSpPr txBox="1"/>
          <p:nvPr/>
        </p:nvSpPr>
        <p:spPr>
          <a:xfrm>
            <a:off x="2200181" y="497971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NOT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A251EBD-D8EE-BBA8-0EA8-8B98F08FE1BD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536171" y="4579094"/>
            <a:ext cx="466109" cy="40062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7617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81DCAA7-AB7C-4F44-1B99-1A44A9118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BDA2F02-61B0-A78D-2EC2-1BB08CE8B7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952731B-DFF7-5ADE-6A8A-0C38FE000FB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4BA04C2-9408-8115-FD87-8AB89A69D2E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D1E0AF6-7FD1-06AC-1E3A-BDEBCCD5551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4C3B273-FF26-605D-CB9E-260DDCD3C55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045F1F2-163B-3BD0-807B-599047DBCB0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F7AC88A-A30C-0B6D-270B-465BC160E48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D3CF8F2-09A0-9FA8-004C-20D992F4C9C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" name="Online Media 1" title="CPU Timer Animation">
            <a:hlinkClick r:id="" action="ppaction://media"/>
            <a:extLst>
              <a:ext uri="{FF2B5EF4-FFF2-40B4-BE49-F238E27FC236}">
                <a16:creationId xmlns:a16="http://schemas.microsoft.com/office/drawing/2014/main" id="{A553F8F7-7DD2-D53E-17D0-2EC475C190E7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158582" y="1036296"/>
            <a:ext cx="9354909" cy="5285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511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75A2408-CA67-6611-DC76-6D35EBFD3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A597ED4-1ABE-38A8-A789-503D51362E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Why are there 2-counter blocks?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System clock: SYSCLKOUT = 200 MHz →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800" baseline="-25000" dirty="0" err="1">
                <a:latin typeface="Arial"/>
                <a:ea typeface="Arial"/>
                <a:cs typeface="Arial"/>
                <a:sym typeface="Arial"/>
              </a:rPr>
              <a:t>clk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= 2 ns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aseline="-250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Problem is that the clock is too fast for software: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At 200 MHz: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ms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requires: 200,000 clock ticks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10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ms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requires: 2,000,000 clock ticks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Split the job into 2 counters: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Prescaler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Counter (PSC, TDDR) – Controls speed, defines a unit of time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Main Timer Counter (TIM, PRD) – Controls duration, how much time should pass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One counter decides how </a:t>
            </a:r>
            <a:r>
              <a:rPr lang="en-US" sz="1800" i="1" dirty="0">
                <a:latin typeface="Arial"/>
                <a:ea typeface="Arial"/>
                <a:cs typeface="Arial"/>
                <a:sym typeface="Arial"/>
              </a:rPr>
              <a:t>fast time flows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and the other decides </a:t>
            </a:r>
            <a:r>
              <a:rPr lang="en-US" sz="1800" i="1" dirty="0">
                <a:latin typeface="Arial"/>
                <a:ea typeface="Arial"/>
                <a:cs typeface="Arial"/>
                <a:sym typeface="Arial"/>
              </a:rPr>
              <a:t>how much time passes.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i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With a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prescaler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set to TTDR=199 for example, you now have that a single tick for the main timer counter represents a clean 1 </a:t>
            </a:r>
            <a:r>
              <a:rPr lang="el-GR" sz="1800" dirty="0"/>
              <a:t>μ</a:t>
            </a:r>
            <a:r>
              <a:rPr lang="en-US" sz="1800" dirty="0"/>
              <a:t>s, thus, to ensure that your timer runs every 10 </a:t>
            </a:r>
            <a:r>
              <a:rPr lang="en-US" sz="1800" dirty="0" err="1"/>
              <a:t>ms</a:t>
            </a:r>
            <a:r>
              <a:rPr lang="en-US" sz="1800" dirty="0"/>
              <a:t> you can set PRD = 10,000! Much simpler! 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C30045-7CC0-39F9-973B-6A9ACB445D4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1CF0951-1B3E-B309-4F20-4E19E396BAC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816700-3D02-C248-14E0-D7385ECBA36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298E33C-250B-E218-DEC7-5D52D056BC7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4E87641-7FC6-BF33-B11A-0D730B882F9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A1D7C8-BB2D-E37E-636E-05687647DBD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5443457-B9B5-8D6F-6CBB-732513501BB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FAC64C2-1ED3-D0D3-BDF8-D3D9711A180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201158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953FF48-2567-36DF-0E08-872F3456F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5A3964E-F300-5874-C505-98DA49C7D1E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7C289BE-F442-1AFA-5A9F-F46ACDF9B8B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F492385-0078-432E-BA25-52EF8191B2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C66DA96-0358-524C-453E-587CB945BB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5A910AD-7E91-D4AA-5C35-5E6FF9168A0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30E51EB-A661-4A04-7D7C-2CF15D53CFA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EF036B1-9043-9AA4-FF3E-C616B36FA3A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57288E5-6EC6-70D1-18E6-CC3127D03C5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2BCB83CC-7AC6-B0A5-00FA-C78A00ADEF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1540" y="1039363"/>
            <a:ext cx="10408920" cy="5282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667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7016ADF-792F-CCA1-AA92-D17767A2A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5F006A6-8226-869F-CC6D-7DF09AF77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timer controls: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Control loop sampling rate ( user defined controller 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Task scheduling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 updates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Can control interrupt how often the software interrupts get called: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Configure CPU-Timer 0, 1, and 2 to interrupt every given period: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200MHz CPU Freq,                       Period (in </a:t>
            </a:r>
            <a:r>
              <a:rPr lang="en-US" sz="1800" dirty="0" err="1">
                <a:solidFill>
                  <a:srgbClr val="3F7F5F"/>
                </a:solidFill>
                <a:latin typeface="Consolas" panose="020B0609020204030204" pitchFamily="49" charset="0"/>
              </a:rPr>
              <a:t>uSeconds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)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(&amp;CpuTimer0, LAUNCHPAD_CPU_FREQUENCY, 10000);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(&amp;CpuTimer1, LAUNCHPAD_CPU_FREQUENCY, 20000);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(&amp;CpuTimer2, LAUNCHPAD_CPU_FREQUENCY, 40000);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C13347D-81DD-2C1F-7B05-1EF26AA8E0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6562AB7-600D-841A-B491-FB2AE150429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6E730D0-44C7-EC82-7138-C3802602FF7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77CC407-3551-B507-97A4-8F6D91AC580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966AF9F-3916-2F50-2804-4F737D0587C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1A7FF96-5EBD-79A0-EA80-CD77D906CD2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D274538-35A5-F814-1DC7-4B679DA9229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2BD0738-AF42-4397-DA92-9C081ABA6AA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31094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/>
          <p:cNvSpPr txBox="1"/>
          <p:nvPr/>
        </p:nvSpPr>
        <p:spPr>
          <a:xfrm>
            <a:off x="2275515" y="2416680"/>
            <a:ext cx="7640969" cy="2024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8800" b="1" dirty="0">
                <a:solidFill>
                  <a:schemeClr val="lt1"/>
                </a:solidFill>
              </a:rPr>
              <a:t>Questions</a:t>
            </a:r>
            <a:r>
              <a:rPr lang="en-US" sz="7200" b="1" dirty="0">
                <a:solidFill>
                  <a:schemeClr val="lt1"/>
                </a:solidFill>
              </a:rPr>
              <a:t>?</a:t>
            </a:r>
          </a:p>
          <a:p>
            <a:pPr lvl="0" algn="ctr"/>
            <a:r>
              <a:rPr lang="en-US" sz="3200" b="1" dirty="0">
                <a:solidFill>
                  <a:schemeClr val="lt1"/>
                </a:solidFill>
              </a:rPr>
              <a:t>(Lecture Wednesday online or not?)</a:t>
            </a:r>
          </a:p>
        </p:txBody>
      </p:sp>
      <p:pic>
        <p:nvPicPr>
          <p:cNvPr id="265" name="Google Shape;265;p3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1487</TotalTime>
  <Words>2432</Words>
  <Application>Microsoft Office PowerPoint</Application>
  <PresentationFormat>Widescreen</PresentationFormat>
  <Paragraphs>511</Paragraphs>
  <Slides>29</Slides>
  <Notes>29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138</cp:revision>
  <dcterms:created xsi:type="dcterms:W3CDTF">2019-01-14T22:06:33Z</dcterms:created>
  <dcterms:modified xsi:type="dcterms:W3CDTF">2026-01-26T23:48:37Z</dcterms:modified>
</cp:coreProperties>
</file>