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71" r:id="rId4"/>
    <p:sldId id="274" r:id="rId5"/>
    <p:sldId id="275" r:id="rId6"/>
    <p:sldId id="276" r:id="rId7"/>
    <p:sldId id="258" r:id="rId8"/>
    <p:sldId id="277" r:id="rId9"/>
    <p:sldId id="272" r:id="rId10"/>
    <p:sldId id="278" r:id="rId11"/>
    <p:sldId id="279" r:id="rId12"/>
    <p:sldId id="280" r:id="rId13"/>
    <p:sldId id="281" r:id="rId14"/>
    <p:sldId id="289" r:id="rId15"/>
    <p:sldId id="288" r:id="rId16"/>
    <p:sldId id="282" r:id="rId17"/>
    <p:sldId id="283" r:id="rId18"/>
    <p:sldId id="285" r:id="rId19"/>
    <p:sldId id="286" r:id="rId20"/>
    <p:sldId id="287" r:id="rId21"/>
    <p:sldId id="290" r:id="rId22"/>
    <p:sldId id="291" r:id="rId23"/>
    <p:sldId id="292" r:id="rId24"/>
    <p:sldId id="295" r:id="rId25"/>
    <p:sldId id="293" r:id="rId26"/>
    <p:sldId id="294" r:id="rId27"/>
    <p:sldId id="269" r:id="rId28"/>
    <p:sldId id="270" r:id="rId2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6020" autoAdjust="0"/>
  </p:normalViewPr>
  <p:slideViewPr>
    <p:cSldViewPr snapToGrid="0">
      <p:cViewPr varScale="1">
        <p:scale>
          <a:sx n="105" d="100"/>
          <a:sy n="105" d="100"/>
        </p:scale>
        <p:origin x="241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F8C6CA-881C-831D-A68C-FC172238B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E868FB-C2CC-0118-8490-F144740BF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C441899-808F-CE82-1C7A-518EB0060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94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9DEDADA-5225-64E9-5957-E6FF531C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B0BF354B-0C63-6FD5-49BB-33D72255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1221BEA-B11F-4D08-B7C9-8423E2740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64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2A0246F-0340-08E7-4D04-E2FBC069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07A6BB-DBA7-3EB9-E887-D86A8E501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B107F5-18B0-AF04-42E2-7B012C2E4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783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F328BB-3062-BEAF-9BC9-E942CCBAA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8D0EEE-2A41-EE1A-0E7B-AC6220641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4408D0-82C1-683F-B1BB-9831CA3E9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275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0ABBF50-D5B8-2A36-4BAF-6A768B0D2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005934-3152-262D-A0E2-BB7CC8D7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98563B-6280-6309-9568-9A9B5647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89007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033A47F-9B51-9DA3-AE26-0AA5862D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F46D099-5AFF-C207-0BDC-8A3C0DEDF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03A73D-DD03-981A-6693-F8A04A1C9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851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4002A6B-EB3B-2A06-FAEC-A513648D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FAE1C1-55CA-47F2-FF7E-7F248239D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1781BD-E566-D770-EDE8-9B942F7858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05174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EB3224-6EB4-EEE0-76DB-9A52492C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561A0E-1BE5-4F61-BE5B-8CBA6801C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097315A-647C-E042-AC77-19E49FDB0C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3632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EBBE47C-1410-32AE-729F-5B98D783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69EBCF-4BA4-B717-E614-7BEA4583E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A7160F-67A9-C867-66CA-AD70B7906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87119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94DC85B-66B2-7866-DF76-9CE4CC30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61A4E4-2CAE-F878-F6B3-20A53101E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48AB98-5666-C342-A3FC-843A2F4005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00557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B708F8-F9B3-A837-B9C4-DCCC50285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452604-A62A-ED78-B359-E8A75AF74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7B2FF8-2C4F-5CB1-3239-E7CBC2F03D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6729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EEF92A-11BD-547F-79EF-F86417EB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25C9E05-4B9F-0482-DCA1-B0B8B43B6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3E967EC-FB0F-76F4-41CE-28BE02EEB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451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24E206-363E-2299-0F09-D6B63492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A92925-55FF-E76F-15C2-FC28F0C5E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A6F3AA-3CC5-A3F3-676B-A7B12D0F0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1996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4BFA0-409F-8E5C-E177-49C39027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1E3EBC8-3303-D860-6253-0D12D7571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44C7E3-F152-5E42-1DFF-E9F5E8BFD0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9780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567EDA8-189A-FF31-EEA4-BFDEFB75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574A4B-9DFB-F15E-6A3F-93ED47809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2933390-70FC-29A4-5F57-4643D9DD6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819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2006E7-F7A3-4600-5DF7-132BC6D5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C408A8B-FDB8-10D9-B6AB-930AAE13B9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92A5C7-FBBB-282D-4177-16D9146F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4421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45A87DC-1043-F839-5736-AAAB23CA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377813C-5A87-2AB6-9674-BA6B74863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06E4E8F5-A940-EB06-7D89-C15348C45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9576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C8E97F-C54B-48AE-D971-3484584C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170352-F1D7-9831-693B-D0DE6316C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FE9A8A-3B96-16ED-CD9A-EC675FDE4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1518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68A8AE-3822-5138-D4AB-80720FAC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88A369-6B99-117F-1BAE-0A0CD3BE4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88DC5-6882-AE62-38F7-1B560EA42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73272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9E9BD42-6D44-07E7-0C57-E63AF0D99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417AE7C-EC41-47D9-AFB5-4EC85F943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84AD7E4-B967-5FAE-4A9E-3DDC0B993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52888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8C5D6C7-5422-60D4-9BF9-2EAA80B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DC76DDE-0BD6-A46A-932A-9C7A9A743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Timer 0</a:t>
            </a:r>
          </a:p>
          <a:p>
            <a:r>
              <a:rPr lang="en-US" dirty="0"/>
              <a:t>TINT0</a:t>
            </a:r>
          </a:p>
          <a:p>
            <a:r>
              <a:rPr lang="en-US" dirty="0"/>
              <a:t>INT1–INT12 via PIE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dirty="0"/>
              <a:t>Timer 1</a:t>
            </a:r>
          </a:p>
          <a:p>
            <a:r>
              <a:rPr lang="en-US" dirty="0"/>
              <a:t>TINT1</a:t>
            </a:r>
          </a:p>
          <a:p>
            <a:r>
              <a:rPr lang="en-US" dirty="0"/>
              <a:t>INT13 (direct)</a:t>
            </a:r>
          </a:p>
          <a:p>
            <a:endParaRPr lang="en-US" dirty="0"/>
          </a:p>
          <a:p>
            <a:r>
              <a:rPr lang="en-US" dirty="0"/>
              <a:t>Timer 2</a:t>
            </a:r>
          </a:p>
          <a:p>
            <a:r>
              <a:rPr lang="en-US" dirty="0"/>
              <a:t>TINT2</a:t>
            </a:r>
          </a:p>
          <a:p>
            <a:r>
              <a:rPr lang="en-US" dirty="0"/>
              <a:t>INT14 (direct)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Peripheral Interrupt Expansion (PIE)</a:t>
            </a:r>
            <a:r>
              <a:rPr lang="en-US" dirty="0"/>
              <a:t> is an interrupt router.</a:t>
            </a:r>
          </a:p>
          <a:p>
            <a:r>
              <a:rPr lang="en-US" dirty="0"/>
              <a:t>It:</a:t>
            </a:r>
          </a:p>
          <a:p>
            <a:r>
              <a:rPr lang="en-US" dirty="0"/>
              <a:t>Takes many peripheral interrupts</a:t>
            </a:r>
          </a:p>
          <a:p>
            <a:r>
              <a:rPr lang="en-US" dirty="0"/>
              <a:t>Maps them to CPU interrupt vectors</a:t>
            </a:r>
          </a:p>
          <a:p>
            <a:r>
              <a:rPr lang="en-US" dirty="0"/>
              <a:t>Timer 0 is routed through the PIE because:</a:t>
            </a:r>
          </a:p>
          <a:p>
            <a:r>
              <a:rPr lang="en-US" dirty="0"/>
              <a:t>It is commonly used for application-level tasks</a:t>
            </a:r>
          </a:p>
          <a:p>
            <a:r>
              <a:rPr lang="en-US" dirty="0"/>
              <a:t>It supports prioritization and masking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Software Consequence</a:t>
            </a:r>
          </a:p>
          <a:p>
            <a:r>
              <a:rPr lang="en-US" dirty="0"/>
              <a:t>To use Timer 0:</a:t>
            </a:r>
          </a:p>
          <a:p>
            <a:r>
              <a:rPr lang="en-US" dirty="0"/>
              <a:t>Enable the timer interrupt</a:t>
            </a:r>
          </a:p>
          <a:p>
            <a:r>
              <a:rPr lang="en-US" dirty="0"/>
              <a:t>Enable the PIE group</a:t>
            </a:r>
          </a:p>
          <a:p>
            <a:r>
              <a:rPr lang="en-US" dirty="0"/>
              <a:t>Enable the CPU interrupt</a:t>
            </a:r>
          </a:p>
          <a:p>
            <a:r>
              <a:rPr lang="en-US" dirty="0"/>
              <a:t>Acknowledge the PIE inside the ISR</a:t>
            </a:r>
          </a:p>
          <a:p>
            <a:r>
              <a:rPr lang="en-US" dirty="0"/>
              <a:t>This makes Timer 0 ideal for:</a:t>
            </a:r>
          </a:p>
          <a:p>
            <a:r>
              <a:rPr lang="en-US" dirty="0"/>
              <a:t>Control loops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RTOS ticks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Timers 1 and 2 Bypass the PIE</a:t>
            </a:r>
          </a:p>
          <a:p>
            <a:r>
              <a:rPr lang="en-US" dirty="0"/>
              <a:t>Timer 1 → </a:t>
            </a:r>
            <a:r>
              <a:rPr lang="en-US" b="1" dirty="0"/>
              <a:t>INT13</a:t>
            </a:r>
            <a:br>
              <a:rPr lang="en-US" dirty="0"/>
            </a:br>
            <a:r>
              <a:rPr lang="en-US" dirty="0"/>
              <a:t>Timer 2 → </a:t>
            </a:r>
            <a:r>
              <a:rPr lang="en-US" b="1" dirty="0"/>
              <a:t>INT14</a:t>
            </a:r>
            <a:endParaRPr lang="en-US" dirty="0"/>
          </a:p>
          <a:p>
            <a:r>
              <a:rPr lang="en-US" dirty="0"/>
              <a:t>These are </a:t>
            </a:r>
            <a:r>
              <a:rPr lang="en-US" b="1" dirty="0"/>
              <a:t>dedicated CPU interrupts</a:t>
            </a:r>
            <a:r>
              <a:rPr lang="en-US" dirty="0"/>
              <a:t>.</a:t>
            </a:r>
          </a:p>
          <a:p>
            <a:r>
              <a:rPr lang="en-US" b="1" dirty="0"/>
              <a:t>Why?</a:t>
            </a:r>
          </a:p>
          <a:p>
            <a:r>
              <a:rPr lang="en-US" dirty="0"/>
              <a:t>They are intended for:</a:t>
            </a:r>
          </a:p>
          <a:p>
            <a:r>
              <a:rPr lang="en-US" dirty="0"/>
              <a:t>High-priority system tasks</a:t>
            </a:r>
          </a:p>
          <a:p>
            <a:r>
              <a:rPr lang="en-US" dirty="0"/>
              <a:t>Real-time services</a:t>
            </a:r>
          </a:p>
          <a:p>
            <a:r>
              <a:rPr lang="en-US" dirty="0"/>
              <a:t>Deterministic timing</a:t>
            </a:r>
          </a:p>
          <a:p>
            <a:r>
              <a:rPr lang="en-US" dirty="0"/>
              <a:t>They:</a:t>
            </a:r>
          </a:p>
          <a:p>
            <a:r>
              <a:rPr lang="en-US" dirty="0"/>
              <a:t>Have lower latency</a:t>
            </a:r>
          </a:p>
          <a:p>
            <a:r>
              <a:rPr lang="en-US" dirty="0"/>
              <a:t>Are simpler to configure</a:t>
            </a:r>
          </a:p>
          <a:p>
            <a:r>
              <a:rPr lang="en-US" dirty="0"/>
              <a:t>Are harder to misuse accidentally</a:t>
            </a:r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2FD8C5D-9C20-C91C-AC9B-D65DAB80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25120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6315C7C-5E78-525A-60EE-FEA456DC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62C6A1C-81CD-6A4A-0EC7-D4DF6592E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E55876-018B-F3F8-A378-6190163DC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843991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ster.io/jay118/se-423-astar-ball-collection-and-drop-off-project-3daa28?f=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hw/PinMuxTableF28379DLaunchPad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B0ehpoGNZU?feature=oembed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 423: Introduction to Mechatronics</a:t>
            </a:r>
            <a:endParaRPr sz="4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2: Peripherals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EDD2ED-7EA0-C726-B86C-DAF6A1B58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738" y="2474829"/>
            <a:ext cx="3994099" cy="330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/>
          <p:nvPr/>
        </p:nvSpPr>
        <p:spPr>
          <a:xfrm>
            <a:off x="2206906" y="220859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/>
          <p:cNvSpPr txBox="1"/>
          <p:nvPr/>
        </p:nvSpPr>
        <p:spPr>
          <a:xfrm>
            <a:off x="1441528" y="3949780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How was the first lab? Enjoyed it?</a:t>
            </a:r>
          </a:p>
        </p:txBody>
      </p:sp>
      <p:grpSp>
        <p:nvGrpSpPr>
          <p:cNvPr id="91" name="Google Shape;91;p27"/>
          <p:cNvGrpSpPr/>
          <p:nvPr/>
        </p:nvGrpSpPr>
        <p:grpSpPr>
          <a:xfrm>
            <a:off x="3943790" y="339448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6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Times: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to help with setting up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( not necessary but helpful for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), finishing the solder, getting checked off for the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labs or LabVIEW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Close to deadlines it will be busy so be sure to come in early!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Office Hours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52EC0B-8783-91E6-CCD2-B7B06FAF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7BDBD34-A31A-FF8F-814D-CEA3F5CE0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Do Exercise 1 of Homework 1 to get started in C.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You cannot use </a:t>
            </a:r>
            <a:r>
              <a:rPr lang="en-US" sz="14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for that. You can just use an online C compile.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Lab 1 is a 1-week lab, some are longer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Questions 2, 3, 5, 7, 8, 9 and 10 need to be checked-off by instructors / TAs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No late acceptations, since these are individual!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Soldering is Exercise 2 of Homework 1.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D59AEA4-FA31-7DE5-ECA1-47FDE291DA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F4682E-AB31-E1D3-8C63-83FBD01EEE5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Due Dates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D4F2AE-AF34-641F-D726-1F09D72D4F1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F2177D-7368-A283-161A-0AB4D52E95A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1E702B2-7A21-65E7-17C4-E10079AAA2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DFBE1C-F9BB-2D43-E81C-914BF2A562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B709CE-2A7C-0CCA-4EDF-FEC086E24F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B462F17-FDB0-9C67-DE2D-DF014F11F97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747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C2441AC-B173-8D17-8C64-0E6EB4DE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28B44141-C670-8ABB-20E0-AAA6EFD29AB9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C188BAE0-AF94-4F20-E8F5-C7A8238E2D56}"/>
              </a:ext>
            </a:extLst>
          </p:cNvPr>
          <p:cNvSpPr txBox="1"/>
          <p:nvPr/>
        </p:nvSpPr>
        <p:spPr>
          <a:xfrm>
            <a:off x="1441528" y="3232230"/>
            <a:ext cx="9308941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Thursday May 14</a:t>
            </a:r>
            <a:r>
              <a:rPr lang="en-US" sz="2800" baseline="30000" dirty="0">
                <a:solidFill>
                  <a:schemeClr val="lt1"/>
                </a:solidFill>
              </a:rPr>
              <a:t>th</a:t>
            </a:r>
            <a:r>
              <a:rPr lang="en-US" sz="2800" dirty="0">
                <a:solidFill>
                  <a:schemeClr val="lt1"/>
                </a:solidFill>
              </a:rPr>
              <a:t>, 11AM – 2PM</a:t>
            </a: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Last day of Finals!!! </a:t>
            </a:r>
          </a:p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( yes, I know that’s annoying)</a:t>
            </a:r>
          </a:p>
          <a:p>
            <a:pPr lvl="0" algn="ctr">
              <a:buSzPts val="2800"/>
            </a:pP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Attendance is </a:t>
            </a:r>
            <a:r>
              <a:rPr lang="en-US" sz="2800" b="1" dirty="0">
                <a:solidFill>
                  <a:srgbClr val="E84B36"/>
                </a:solidFill>
              </a:rPr>
              <a:t>mandatory</a:t>
            </a:r>
            <a:r>
              <a:rPr lang="en-US" sz="2800" b="1" dirty="0">
                <a:solidFill>
                  <a:schemeClr val="lt1"/>
                </a:solidFill>
              </a:rPr>
              <a:t>!!</a:t>
            </a: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2BDD255B-0619-DA09-C865-8E5E11CABDA0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FB24328-6928-5D39-E355-377755EDF1A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AAD31-BC0F-4A60-8AA1-56D755E30FD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42EC04A-B6B9-3EC3-CAA1-53A267F1FE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CB5533F-A0D3-93F5-8101-D1A909B532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FA3D936-A09D-5A2D-BD3F-3B4A185E17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5895954-C3C5-744F-50CC-224A22A7767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CF3E8396-30D7-4A21-4AEC-3C0062DF0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9BD3E6C-4647-5B80-CA19-FB9C76DE306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4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29D7E9-EA1D-D258-7422-A853BFA6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915131D-2264-84AA-B6C4-8A0256D03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Website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will be creating a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Hackster.io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website to show what you have done by the end of the semester to showcase to everyone.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Show the video working,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Put code,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Show any other cool stuff you do!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are posting this to be publicly visible, so put your best effort in doing this. You can show the work for interviews,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…</a:t>
            </a: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ADD5E-4587-91AA-E902-1B0E4A8E35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1286703-C61A-B2D1-585F-C10B261E8B9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447D33-31A5-FA96-111C-05B9D66690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5751BA-8B9C-91BD-8C25-6C469DA0A6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5DC340-10EC-BD3A-74F5-B5230770C81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2E46266-8579-84FA-6DE5-1CFA462B2E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C89E83D-2B67-876F-D392-B6E929232AA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FA36F5-6D8B-FB3A-824E-B3067E17F35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25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Registers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9BEEF1A-8246-780D-B805-73B0266C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3D1F5B-F4CE-3A65-FC4B-C8CBA8198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knows one thing: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RAM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Flash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Peripherals also have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This is called Memory-Mapped I/O (</a:t>
            </a:r>
            <a:r>
              <a:rPr lang="en-US" sz="1800" b="1" dirty="0"/>
              <a:t>MMIO</a:t>
            </a:r>
            <a:r>
              <a:rPr lang="en-US" sz="1800" dirty="0"/>
              <a:t>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peripheral is a hardware module whose control and status registers are mapped to fixed memory addresses, allowing the CPU to configure and control hardware by reading from and writing to memory.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4A71BDA-AF55-C788-95F4-7D99FDA443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67473E-7200-1801-D48E-0407667B4E7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Memory-Mapped I/O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247348-FF7D-D515-1494-EF00C3BBB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98A567-8333-5798-5A96-986D6AB0E8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D4E743-6B2A-DBCA-05CA-15E8A3CDF8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68D5BC-52F3-5E41-9D28-A5329EF010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2A7FD3E-06AA-8235-9B82-C4FE44AF417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792E2D-C8AF-47FB-EDEE-A0035DB721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2210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54B991-8E85-5A52-F99C-11B8C0B1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5524367-278E-EA64-B4EE-239DCE369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hardware device with a specific address in memory that it writes data to and/or reads data from.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peripherals can be described by an offset from the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 Base Address.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TMS320F2837xD, registers are typically </a:t>
            </a:r>
            <a:r>
              <a:rPr lang="en-US" sz="1800" b="1" dirty="0"/>
              <a:t>32-bits </a:t>
            </a:r>
            <a:r>
              <a:rPr lang="en-US" sz="1800" dirty="0"/>
              <a:t>or </a:t>
            </a:r>
            <a:r>
              <a:rPr lang="en-US" sz="1800" b="1" dirty="0"/>
              <a:t>16-bit</a:t>
            </a:r>
            <a:r>
              <a:rPr lang="en-US" sz="1800" dirty="0"/>
              <a:t> wide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bit usually represents to: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switch (ON / OFF)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configuration option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status flag ( Error code, OK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71C68D-2089-CB5C-59AB-CF864A9E24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8014155-4DAB-98B2-4E07-B5E40E0C4B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and 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BF5345-B5BF-16DF-10F0-8E870569DB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C6D2008-58CF-E5C6-8BFA-8ABFE7BC72F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A9BE1D3-C0D7-38B7-7C00-6210784ACDD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8ADFA8D-E8F0-AF61-A156-4365E6F5C1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FE8ED05-543F-E0F7-BCA4-849511BC5E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630CA8-DBBC-0FAA-99D9-5B106C3469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4A3F0A-E78E-9730-D0BA-98BFA49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D0E8B25-9CF7-F89B-84D7-9854597C8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TI groups peripherals into address regions.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For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GPIO register live in one address range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Timers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ePWM</a:t>
            </a:r>
            <a:r>
              <a:rPr lang="en-US" sz="1800" dirty="0"/>
              <a:t>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ADC (Analog to Digital Converters )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register is located at: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/>
              <a:t>Peripheral Base Address + Register Offset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do not need to calculate these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addresses manually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; TI provides C structures and header files that do this manually.</a:t>
            </a: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EPwm1Regs.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TBCTL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CLKDIV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35B1A7-A140-C0A0-76FF-8562328E315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A597A2-E454-B786-AFB9-579B6E809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Base Address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FA08611-B304-CD35-D2C6-87BFF403FD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CDAEB88-8BDF-CA9E-F1F9-04EE5C10A7C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C30BEF-DCB2-EDB1-C765-2A06F1C7AB1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6EE376-804D-D15B-8027-B05926335F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97F45A-48B9-3B23-D9CF-AC6BFCA3CE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19C26A3-2124-2892-7251-E19506A9067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322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1F301-BBF7-DF92-6EBE-3E0587DE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E62DBE1-FA05-0946-0A1D-E31DF5AF3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System registers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the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behavior of the CPU itself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registers affect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entire chip.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These system registers are protected.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can modify: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Clock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Resets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Memory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Full list is available in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Table 3-17 - System Control Base Address Table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DD7FD4-3FE9-19BA-F754-C7DB057606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3279A8-52A8-01B3-C5F6-8E97FAF6F49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Peripheral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68D369D-85E0-F5B0-1E38-6A002F63DE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AAF780E-DDBE-210F-EBC3-9F8DCE3146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0F64F90-8511-F464-F05A-D27E77FA68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80295F-E227-0193-65CF-CF514DC846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0FC49-B78E-B368-881D-B7F199CEF9E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D98819-0AF0-5C1F-E988-A94E1AAB75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395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4DEFE-17C8-CB12-604A-CE91D6C4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F33995-67A6-C92D-4526-9A278F172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Some registers are protected to prevent accidental damage ( most / all system peripherals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Thus, an additional layer of protection is allowed for accidental writes ( memory leaked code or otherwise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EALLOW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: unlocks protected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EDIS: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locks them again</a:t>
            </a:r>
          </a:p>
          <a:p>
            <a:pPr marL="114300" indent="0" algn="l">
              <a:buNone/>
            </a:pPr>
            <a:endParaRPr lang="en-US" sz="1800" dirty="0">
              <a:latin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write to EALLOW protected registers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TIMER0_INT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&amp;cpu_timer0_isr;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TIMER1_INT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&amp;cpu_timer1_isr;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TIMER2_INT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&amp;cpu_timer2_isr;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EMIF_ERROR_INT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SWI_isr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disable write to EALLOW protected registers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503F74-3799-2E44-B39D-A1560202F8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98A594-0216-9C9B-4CED-9D568D7F7F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EALLOW / EDIS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2ECC981-9977-ED6B-5D97-285443D5C0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C30C89-FE20-8A40-8241-4A27471632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5A68DC-47F0-9FA9-2E00-4043F3ACA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340323-31CC-BB85-CB4B-F52E3315EA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7E9565-CC74-46F1-E43E-C685288D7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D5BC91-373A-229E-F874-B2906BBB4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961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F6B2D5-2790-2B2A-EE21-1B9CD76F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023406B-5D76-1289-48AD-E257A7B5C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registers control individual hardware modules. Usually do not have any write protection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(Serial Peripheral Interface)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peripheral has a Read (DAT), Write (SET), Clear (CLEAR) and Toggle (TOGGLE) register.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not use to set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GPBSET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1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GPBCLEAR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0-&gt;1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AEDED1B-5C8B-C160-2651-3A0A180B26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BFFC7-9325-B47F-0D01-B1738389336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A6F078-9316-17CF-4FBB-DDD54C30E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A279C1-FA22-DE07-9360-A9F0E8C9A0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FE2136-3D5F-F855-B829-53B490A7D5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D6CCAB-0EAE-E661-F22B-859622804C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2DFE9D-6060-ECCC-55AB-4C2BAFB23C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58E183-4506-ED5C-B449-60BC6FC6D2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81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20F0EF0-9C72-2574-550B-51A640D6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2CC2D72-48DF-7031-8F5D-879528208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are problems that arise from writing directly to DAT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Writing to DAT requires,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Read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Modify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 interrupt ( code that runs on certain events ) can run between these steps and corrupt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SET / CLEAR registers avoid this by being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atomic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hardware operations.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Atomic operations guarantee that a variable will be locked during the operations and cannot be modified by anyone else during that time.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36E051-310E-3991-1272-A29B50D7E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AE28FAC-3016-0DC7-47B2-7A1F7CF1F5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Using DAT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41376A5-18FF-9EE2-2AD5-86886DEE67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AFE4DC-246E-0B7A-1155-2834F156A3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D38B8-B1F2-F7F3-DD1F-960665E3648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B5F70D6-8D81-C290-976A-3B9666E20E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0FE89C-F235-757E-FF80-D6E77047EA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1ABBF27-0B75-AFF9-68BE-7AA2A40A10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28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29A7ED-CD7B-066A-E85A-D2C7A461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669D54-ACA1-0C2B-8720-D54B2F122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physical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 can serve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  <a:hlinkClick r:id="rId3"/>
              </a:rPr>
              <a:t>multiple functions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SCI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must first select the function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GPIO_OUTPUT, GPIO_PUSHPULL);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FCB565-2A51-4FAB-F9CA-AA6C886875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6F98EE-17CD-DAD4-D51B-0B9C2876FCA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I/O (GPIO)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99AF3BA-929C-AE0B-08A8-01C74ECFB2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0601F-1A36-29A7-369C-0A27203E34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D80D43-4E8F-D1F2-D6A7-DA1A3882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76F1D6-C729-98D5-5B26-91653D52E5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892BCB-4425-0FED-DE90-990DFBA18F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A6AE1D4-767A-022A-A369-081CC884FB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49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8A84038E-8D38-7C8F-6FC0-455DCB7FB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2AEC150-34E9-FD6F-9BAD-7E0659470285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1C85305-70EB-14CE-364A-0ADCA1866DE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C839739-8769-EAEF-9463-89E804E8E31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EB4FC774-FF75-C60A-20C4-F81634344E7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CD9286F-6EB3-69F5-58DF-751E98ABD0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569B4EB-2FD0-AD30-F50E-C241BA4DDEA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B3C5720-5765-357C-A3EB-EFBB786564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79B5572-BDBA-D4B3-4612-D3C744E8AA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A51ED6C-B8B5-7601-9873-F8E8B113733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A69615E-6CAE-27C3-F85D-B218D9D662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9229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8DE9268-7945-FFE5-97A7-B45A0361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1B06A-1C2E-6A1E-3C8D-8B2746C02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14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reads binary, 1s or 0s; however, for humans it is difficult to understand long string of numbers.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32-bit register could be represented as such with 32 bits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(unsigned 3,357,083,684):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0b110010000001100100000100000100100;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potential problem?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648654-B8E7-6A7C-250D-7F8FA28ABC0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40AA82-D9BB-44C6-3DDA-87BE2D46BA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Binary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63B481-F43D-6BB6-C538-88D354B70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6201E1-4BDA-B7D2-65A7-13DC9AF143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EA1DB4E-6D4D-8DC9-AA3A-2D6B7E48AE0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797A9CE-6B2C-2500-46AD-16AECA730A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FF838EA-2E3A-B71E-A2FA-2BABE0621D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96DA638-7CF5-5C2A-F32C-FE089F744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F1AF25-5F21-2287-8C45-C570B7ECC68C}"/>
              </a:ext>
            </a:extLst>
          </p:cNvPr>
          <p:cNvSpPr txBox="1"/>
          <p:nvPr/>
        </p:nvSpPr>
        <p:spPr>
          <a:xfrm>
            <a:off x="376807" y="4254500"/>
            <a:ext cx="11180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Prone to make mistakes if you need to manually type this out! For example, there are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33-bits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above, not 32!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Why not use Decimal system? Not as simple to convert from decimal to binary!</a:t>
            </a:r>
          </a:p>
        </p:txBody>
      </p:sp>
    </p:spTree>
    <p:extLst>
      <p:ext uri="{BB962C8B-B14F-4D97-AF65-F5344CB8AC3E}">
        <p14:creationId xmlns:p14="http://schemas.microsoft.com/office/powerpoint/2010/main" val="94778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935D5C0-4C41-ED87-68EA-17ABC17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428BFA-1E18-359E-4492-E6DEADED6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52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Instead of base 10, let’s explore base 16, i.e., hexadecimal base system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Very easy to convert binary to hex (0-9 then A-F):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4EAF3B-345F-0479-2706-C5F0561339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F0E4D0-E790-23C2-2C5D-D247974449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Hexadecimal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F71259-9DE7-40F5-630A-E5129BC53E3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BB80D2-43E6-240C-FB51-71CBF8BC68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4F356B-6FEC-7187-AA59-9515521CB6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60CB545-D058-A201-A7DE-B0CAB3EF6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76572C-1F90-D6F3-6426-1CC4D407A5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FDA6F1-B24E-B555-7032-50C7505868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A5808-068D-5FB9-19E9-65DFB027B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201903"/>
              </p:ext>
            </p:extLst>
          </p:nvPr>
        </p:nvGraphicFramePr>
        <p:xfrm>
          <a:off x="1720850" y="25019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2076460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454837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26562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Hexidecimal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417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02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00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44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60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BEE2F4C-2FDB-0B1E-F74F-1A67D3C37081}"/>
              </a:ext>
            </a:extLst>
          </p:cNvPr>
          <p:cNvSpPr txBox="1"/>
          <p:nvPr/>
        </p:nvSpPr>
        <p:spPr>
          <a:xfrm>
            <a:off x="376807" y="4597400"/>
            <a:ext cx="1091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very 4-bits = 1 hex value, makes things much easier to compress, much easier to look at!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0xC8190824;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5032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int16_t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x = 0x0824;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dirty="0"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n-US" sz="1800" dirty="0"/>
              <a:t>Windows Calculator set to programming mode can easily do the conversion!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9463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56B78-B910-A511-41E5-DB6A2578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DA402EC-2306-AEDB-4671-C167E6DF7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number starts at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0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1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5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5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32 = 0x20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Creating a bit shifting: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&lt;&lt;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left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0b01 &lt;&lt; 1 = 0b10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&gt;&gt;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right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0b10 &gt;&gt; 1 = 0b01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Commonly used to create bit “masks”: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bit5Mask = 1 &lt;&lt; 5;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0x20, sets only bit 5 to 1!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are masks? What are they used for?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3A4AA0-51AE-E163-7FE7-4739E99772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AF272-8944-188B-D036-8C03798A0C0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Bits, Bit Positions and Masks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F25E2F6-45BA-674E-90E9-B88C0123EA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5EB83C3-4FD0-688C-29E9-9B77646B97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1CB886-30B5-E16B-7512-0FECF2C818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6C8AB-ABE1-F2D9-C049-FDE2FB2BBD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D3231A-0FE1-6F0A-EE9E-99664EA2DBD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546CA3-3362-FBB5-200A-AEB28D21F31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71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1A38449-2004-E61B-C218-BE4EBA4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FC668CE-8DFA-F2AA-A3DC-923F02B37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5173091" cy="2933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AND (&amp;) – Masking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(reg &amp; (1 &lt;&lt; 3)) 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Bit 3 is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  <a:ea typeface="Arial"/>
                <a:cs typeface="Arial"/>
                <a:sym typeface="Arial"/>
              </a:rPr>
              <a:t>}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OR    (|)  – Setting Bits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15264B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alibri"/>
                <a:sym typeface="Calibri"/>
              </a:rPr>
              <a:t>reg |= (1 &lt;&lt; 3);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F91230B-08CD-0D0C-39AF-E0ACCC0A41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4473D-21A5-A5D5-D97D-E711034807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Bitwise Operations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1BB5D4-2A0F-5D14-FF14-E9D5E53A713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7FD24E-CA58-4011-2DD0-1DDAEA2FAE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1EF9A49-48D0-C667-07E1-C31D1B6E7E2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4475F2-CF4E-32CE-BF08-6EF0332A8D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3C5C0-D2D3-C5AC-42C6-64CDE684B4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FD99DA-8DF4-9904-C8A3-D6D3C78FA78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7C5046C5-1945-C6F3-E883-8DDDD61834C0}"/>
              </a:ext>
            </a:extLst>
          </p:cNvPr>
          <p:cNvSpPr txBox="1">
            <a:spLocks/>
          </p:cNvSpPr>
          <p:nvPr/>
        </p:nvSpPr>
        <p:spPr>
          <a:xfrm>
            <a:off x="6713540" y="1334279"/>
            <a:ext cx="517309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NOT (~) – Clearing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&amp;= ~(1 &lt;&lt; 3);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XOR (^) – Toggling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^= (1 &lt;&lt; 3);</a:t>
            </a: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E3DE62-4E85-1C4E-5AB7-A55EFC150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6720"/>
              </p:ext>
            </p:extLst>
          </p:nvPr>
        </p:nvGraphicFramePr>
        <p:xfrm>
          <a:off x="1925640" y="4448044"/>
          <a:ext cx="36242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852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1592488445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903622980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409356206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570205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747797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E1C4B3-CD06-5B1D-BFDE-3CBBAD187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96159"/>
              </p:ext>
            </p:extLst>
          </p:nvPr>
        </p:nvGraphicFramePr>
        <p:xfrm>
          <a:off x="7660119" y="4752844"/>
          <a:ext cx="141605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025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08025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1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E79D79B-BD25-AA21-47B4-E81C12A5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CF22A56-36F3-2F36-80D2-E68D3C88ADD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Timers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ED152358-FB50-DD95-DD4A-B2A6E78964C6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B577B21-43F8-795D-1EC1-81C8834DD36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CCE0AC3-14DB-782A-523B-9244244AB12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C8CF2629-2730-A4EB-283A-97444685EA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9A535D8-D20A-D52E-CE0C-307518C98C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4E8A94F-7828-AB89-1D84-E4F975B0BDF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8F21ABA-161F-3B32-B002-B1E5742FA17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AA606F35-F79B-4318-6B7F-6FF4FEFD356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5995E2DE-F38D-FD9C-EE82-F60CBD7D197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5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4CA83B8-C177-16BC-A74B-4B751B8E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7CA2A7-D188-B086-D949-D81D019F0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Just like a clock that you have; however, in hardware it is EXTREMELY important.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timer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is a hardware counter that: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Counts clock cycles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Triggers an interrupt when it reaches a specified condition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TMS320F2837xD has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32-bit CPU timers.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CPU-Timer0 and CPU-Timer1 can be used in user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CPU-Timer2 is reserved for real-time operating system uses ( if not being uses in an operating system that uses this timer, it can used in the application).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clocks run off the system’s internal clock (SYSCLK) (CPU-Timer2, has additional options)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System’s internal clock runs at 200 MHz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142FBA-6DEC-D842-33DC-729D877C91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727983-1768-CBE4-0DBC-D9B3EDEDDD9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333CCFD-5566-247B-FBA2-4925B9AA6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7412D56-C24F-6187-AC64-391C7B75F9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95E876-350D-F5F3-72C1-E09DF7F59FD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50DB7C-44AA-D61C-EA90-C7AD441830F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E19E11-68A0-7D65-A8FF-1688A4DE76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E47E355-A3AD-3658-F4C1-6B87E79F93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77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B91D7D-A22B-2E01-EF3E-8AAADBCA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513E68-F5B4-D4AA-7617-A64412922F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A271FF-5C0A-6931-09C6-6E892192E4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D01B28-2810-7D4B-EF46-09359AE8F9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06E48CF-02C4-3786-C624-CAEB9610B6E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C91540-A329-CFE6-AD20-0CCFBB5C95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5780B7-AD26-AD57-99CF-8F2AE6F14DB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6F5EFE-425A-57F5-B80B-2ED738F3EF2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1BDFBF8-D2A1-B826-2D56-4A845EFF4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073D16F-1F5B-03A8-350C-E201DDF8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936" y="1403473"/>
            <a:ext cx="10931900" cy="45085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E7B09A-B3ED-A424-09DB-27F506A3B4A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451402" cy="101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0B4787-1659-1F7B-FFBB-C958229C8F0D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2455462" cy="1088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0C3DC5-06BB-8795-9BF9-E418AF8CB8E4}"/>
              </a:ext>
            </a:extLst>
          </p:cNvPr>
          <p:cNvSpPr txBox="1"/>
          <p:nvPr/>
        </p:nvSpPr>
        <p:spPr>
          <a:xfrm>
            <a:off x="2872160" y="111901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4C39A-A5B3-4719-51D3-59EFDDFBA8E1}"/>
              </a:ext>
            </a:extLst>
          </p:cNvPr>
          <p:cNvSpPr txBox="1"/>
          <p:nvPr/>
        </p:nvSpPr>
        <p:spPr>
          <a:xfrm>
            <a:off x="3067085" y="31890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C930C6-79A9-D8F5-9AC7-95B3C5F621F1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403075" y="3558351"/>
            <a:ext cx="185945" cy="89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49C05-FA19-F219-E8EB-07FCACFEA66A}"/>
              </a:ext>
            </a:extLst>
          </p:cNvPr>
          <p:cNvSpPr txBox="1"/>
          <p:nvPr/>
        </p:nvSpPr>
        <p:spPr>
          <a:xfrm>
            <a:off x="2200181" y="49797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251EBD-D8EE-BBA8-0EA8-8B98F08FE1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536171" y="4579094"/>
            <a:ext cx="466109" cy="4006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761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1DCAA7-AB7C-4F44-1B99-1A44A911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BDA2F02-61B0-A78D-2EC2-1BB08CE8B7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52731B-DFF7-5ADE-6A8A-0C38FE000FB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BA04C2-9408-8115-FD87-8AB89A69D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D1E0AF6-7FD1-06AC-1E3A-BDEBCCD5551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4C3B273-FF26-605D-CB9E-260DDCD3C55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45F1F2-163B-3BD0-807B-599047DBCB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7AC88A-A30C-0B6D-270B-465BC160E4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3CF8F2-09A0-9FA8-004C-20D992F4C9C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Online Media 1" title="CPU Timer Animation">
            <a:hlinkClick r:id="" action="ppaction://media"/>
            <a:extLst>
              <a:ext uri="{FF2B5EF4-FFF2-40B4-BE49-F238E27FC236}">
                <a16:creationId xmlns:a16="http://schemas.microsoft.com/office/drawing/2014/main" id="{A553F8F7-7DD2-D53E-17D0-2EC475C190E7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158582" y="1036296"/>
            <a:ext cx="9354909" cy="5285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511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53FF48-2567-36DF-0E08-872F3456F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A3964E-F300-5874-C505-98DA49C7D1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C289BE-F442-1AFA-5A9F-F46ACDF9B8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F492385-0078-432E-BA25-52EF8191B2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66DA96-0358-524C-453E-587CB945BB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A910AD-7E91-D4AA-5C35-5E6FF9168A0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30E51EB-A661-4A04-7D7C-2CF15D53C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EF036B1-9043-9AA4-FF3E-C616B36FA3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7288E5-6EC6-70D1-18E6-CC3127D03C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BCB83CC-7AC6-B0A5-00FA-C78A00ADEF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" y="1039363"/>
            <a:ext cx="10408920" cy="52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6672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016ADF-792F-CCA1-AA92-D17767A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F006A6-8226-869F-CC6D-7DF09AF77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timer controls: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loop sampling rate ( user defined controller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Task scheduling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updates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control interrupt how often the software interrupts get called: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Configure CPU-Timer 0, 1, and 2 to interrupt every given period: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200MHz CPU Freq,                       Period (in </a:t>
            </a:r>
            <a:r>
              <a:rPr lang="en-US" sz="1800" dirty="0" err="1">
                <a:solidFill>
                  <a:srgbClr val="3F7F5F"/>
                </a:solidFill>
                <a:latin typeface="Consolas" panose="020B0609020204030204" pitchFamily="49" charset="0"/>
              </a:rPr>
              <a:t>uSeconds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)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(&amp;CpuTimer0, LAUNCHPAD_CPU_FREQUENCY, 10000);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(&amp;CpuTimer1, LAUNCHPAD_CPU_FREQUENCY, 20000);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(&amp;CpuTimer2, LAUNCHPAD_CPU_FREQUENCY, 40000);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13347D-81DD-2C1F-7B05-1EF26AA8E0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62AB7-600D-841A-B491-FB2AE150429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730D0-44C7-EC82-7138-C3802602FF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7CC407-3551-B507-97A4-8F6D91AC580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66AF9F-3916-2F50-2804-4F737D0587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A7FF96-5EBD-79A0-EA80-CD77D906CD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D274538-35A5-F814-1DC7-4B679DA9229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BD0738-AF42-4397-DA92-9C081ABA6A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31094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 txBox="1"/>
          <p:nvPr/>
        </p:nvSpPr>
        <p:spPr>
          <a:xfrm>
            <a:off x="2275515" y="2416680"/>
            <a:ext cx="7640969" cy="2024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8800" b="1" dirty="0">
                <a:solidFill>
                  <a:schemeClr val="lt1"/>
                </a:solidFill>
              </a:rPr>
              <a:t>Questions</a:t>
            </a:r>
            <a:r>
              <a:rPr lang="en-US" sz="7200" b="1" dirty="0">
                <a:solidFill>
                  <a:schemeClr val="lt1"/>
                </a:solidFill>
              </a:rPr>
              <a:t>?</a:t>
            </a:r>
          </a:p>
          <a:p>
            <a:pPr lvl="0" algn="ctr"/>
            <a:r>
              <a:rPr lang="en-US" sz="3200" b="1" dirty="0">
                <a:solidFill>
                  <a:schemeClr val="lt1"/>
                </a:solidFill>
              </a:rPr>
              <a:t>(Lecture Wednesday online or not?)</a:t>
            </a:r>
          </a:p>
        </p:txBody>
      </p:sp>
      <p:pic>
        <p:nvPicPr>
          <p:cNvPr id="265" name="Google Shape;265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2231</Words>
  <Application>Microsoft Office PowerPoint</Application>
  <PresentationFormat>Widescreen</PresentationFormat>
  <Paragraphs>488</Paragraphs>
  <Slides>28</Slides>
  <Notes>28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125</cp:revision>
  <dcterms:created xsi:type="dcterms:W3CDTF">2019-01-14T22:06:33Z</dcterms:created>
  <dcterms:modified xsi:type="dcterms:W3CDTF">2026-01-26T00:13:05Z</dcterms:modified>
</cp:coreProperties>
</file>