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56" r:id="rId2"/>
    <p:sldId id="257" r:id="rId3"/>
    <p:sldId id="271" r:id="rId4"/>
    <p:sldId id="274" r:id="rId5"/>
    <p:sldId id="275" r:id="rId6"/>
    <p:sldId id="276" r:id="rId7"/>
    <p:sldId id="258" r:id="rId8"/>
    <p:sldId id="277" r:id="rId9"/>
    <p:sldId id="272" r:id="rId10"/>
    <p:sldId id="278" r:id="rId11"/>
    <p:sldId id="279" r:id="rId12"/>
    <p:sldId id="280" r:id="rId13"/>
    <p:sldId id="281" r:id="rId14"/>
    <p:sldId id="289" r:id="rId15"/>
    <p:sldId id="288" r:id="rId16"/>
    <p:sldId id="282" r:id="rId17"/>
    <p:sldId id="283" r:id="rId18"/>
    <p:sldId id="285" r:id="rId19"/>
    <p:sldId id="286" r:id="rId20"/>
    <p:sldId id="287" r:id="rId21"/>
    <p:sldId id="290" r:id="rId22"/>
    <p:sldId id="291" r:id="rId23"/>
    <p:sldId id="292" r:id="rId24"/>
    <p:sldId id="295" r:id="rId25"/>
    <p:sldId id="296" r:id="rId26"/>
    <p:sldId id="293" r:id="rId27"/>
    <p:sldId id="294" r:id="rId28"/>
    <p:sldId id="269" r:id="rId29"/>
    <p:sldId id="270"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740" autoAdjust="0"/>
  </p:normalViewPr>
  <p:slideViewPr>
    <p:cSldViewPr snapToGrid="0">
      <p:cViewPr varScale="1">
        <p:scale>
          <a:sx n="123" d="100"/>
          <a:sy n="123" d="100"/>
        </p:scale>
        <p:origin x="169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Well I hope that most of your classes have been </a:t>
            </a:r>
            <a:r>
              <a:rPr lang="en-US" dirty="0" err="1"/>
              <a:t>cancled</a:t>
            </a:r>
            <a:r>
              <a:rPr lang="en-US" dirty="0"/>
              <a:t> or are on Zoom</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Did all of you get my Canvas email or do I need to it through email? Or announcements?</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Office</a:t>
            </a:r>
            <a:endParaRPr dirty="0"/>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F8C6CA-881C-831D-A68C-FC172238B4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E868FB-C2CC-0118-8490-F144740BF9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441899-808F-CE82-1C7A-518EB00609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3940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DEDADA-5225-64E9-5957-E6FF531CB85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B0BF354B-0C63-6FD5-49BB-33D722553D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Office</a:t>
            </a:r>
            <a:endParaRPr dirty="0"/>
          </a:p>
        </p:txBody>
      </p:sp>
      <p:sp>
        <p:nvSpPr>
          <p:cNvPr id="87" name="Google Shape;87;p27:notes">
            <a:extLst>
              <a:ext uri="{FF2B5EF4-FFF2-40B4-BE49-F238E27FC236}">
                <a16:creationId xmlns:a16="http://schemas.microsoft.com/office/drawing/2014/main" id="{E1221BEA-B11F-4D08-B7C9-8423E27409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6475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2A0246F-0340-08E7-4D04-E2FBC0692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07A6BB-DBA7-3EB9-E887-D86A8E501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2B107F5-18B0-AF04-42E2-7B012C2E4F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78334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F328BB-3062-BEAF-9BC9-E942CCBAA4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8D0EEE-2A41-EE1A-0E7B-AC6220641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4408D0-82C1-683F-B1BB-9831CA3E95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275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BBF50-D5B8-2A36-4BAF-6A768B0D2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005934-3152-262D-A0E2-BB7CC8D73C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E98563B-6280-6309-9568-9A9B5647CB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89007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33A47F-9B51-9DA3-AE26-0AA5862DB6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46D099-5AFF-C207-0BDC-8A3C0DEDF2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3A73D-DD03-981A-6693-F8A04A1C9A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8516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002A6B-EB3B-2A06-FAEC-A513648D61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AE1C1-55CA-47F2-FF7E-7F248239DA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781BD-E566-D770-EDE8-9B942F7858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51749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EB3224-6EB4-EEE0-76DB-9A52492CB7A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61A0E-1BE5-4F61-BE5B-8CBA6801C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97315A-647C-E042-AC77-19E49FDB0C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3632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BBE47C-1410-32AE-729F-5B98D7836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69EBCF-4BA4-B717-E614-7BEA4583EA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A7160F-67A9-C867-66CA-AD70B79068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871191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94DC85B-66B2-7866-DF76-9CE4CC3052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61A4E4-2CAE-F878-F6B3-20A53101E4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48AB98-5666-C342-A3FC-843A2F4005C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0557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B708F8-F9B3-A837-B9C4-DCCC50285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452604-A62A-ED78-B359-E8A75AF74D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7B2FF8-2C4F-5CB1-3239-E7CBC2F03D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8672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7EEF92A-11BD-547F-79EF-F86417EB9DE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5C9E05-4B9F-0482-DCA1-B0B8B43B6B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3E967EC-FB0F-76F4-41CE-28BE02EEBC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345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24E206-363E-2299-0F09-D6B63492CC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A92925-55FF-E76F-15C2-FC28F0C5EC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A6F3AA-3CC5-A3F3-676B-A7B12D0F03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996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4BFA0-409F-8E5C-E177-49C3902797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E3EBC8-3303-D860-6253-0D12D7571F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4C7E3-F152-5E42-1DFF-E9F5E8BFD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978045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567EDA8-189A-FF31-EEA4-BFDEFB7542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574A4B-9DFB-F15E-6A3F-93ED478093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933390-70FC-29A4-5F57-4643D9DD6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0819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006E7-F7A3-4600-5DF7-132BC6D5D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408A8B-FDB8-10D9-B6AB-930AAE13B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92A5C7-FBBB-282D-4177-16D9146F0B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421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45A87DC-1043-F839-5736-AAAB23CA056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377813C-5A87-2AB6-9674-BA6B74863B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06E4E8F5-A940-EB06-7D89-C15348C45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49576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C8E97F-C54B-48AE-D971-3484584C63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170352-F1D7-9831-693B-D0DE6316CB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E9A8A-3B96-16ED-CD9A-EC675FDE4F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15184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68A8AE-3822-5138-D4AB-80720FACD5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88A369-6B99-117F-1BAE-0A0CD3BE4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1" dirty="0"/>
              <a:t>SYSCLKOUT</a:t>
            </a:r>
            <a:r>
              <a:rPr lang="en-US" dirty="0"/>
              <a:t> is the system clock (e.g., 200 MHz).</a:t>
            </a:r>
          </a:p>
          <a:p>
            <a:r>
              <a:rPr lang="en-US" b="1" dirty="0"/>
              <a:t>TCR.4</a:t>
            </a:r>
            <a:r>
              <a:rPr lang="en-US" dirty="0"/>
              <a:t> is the </a:t>
            </a:r>
            <a:r>
              <a:rPr lang="en-US" i="1" dirty="0"/>
              <a:t>Timer Control Register bit</a:t>
            </a:r>
            <a:r>
              <a:rPr lang="en-US" dirty="0"/>
              <a:t> that enables or disables counting.</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The timer only receives clock pulses when software sets the START bit. This is why timers do </a:t>
            </a:r>
            <a:r>
              <a:rPr lang="en-US" i="1" dirty="0"/>
              <a:t>nothing</a:t>
            </a:r>
            <a:r>
              <a:rPr lang="en-US" dirty="0"/>
              <a:t> until you explicitly enable them in software.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lang="en-US" dirty="0"/>
          </a:p>
          <a:p>
            <a:r>
              <a:rPr lang="en-US" b="1" dirty="0"/>
              <a:t>16-bit Divide-Down (TDDRH:TDDR)</a:t>
            </a:r>
          </a:p>
          <a:p>
            <a:r>
              <a:rPr lang="en-US" dirty="0"/>
              <a:t>This block divides the incoming clock frequency.</a:t>
            </a:r>
          </a:p>
          <a:p>
            <a:r>
              <a:rPr lang="en-US" dirty="0"/>
              <a:t>This allows the timer to operate at manageable speeds</a:t>
            </a:r>
          </a:p>
          <a:p>
            <a:endParaRPr lang="en-US" dirty="0"/>
          </a:p>
          <a:p>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1" dirty="0"/>
              <a:t>16-bit </a:t>
            </a:r>
            <a:r>
              <a:rPr lang="en-US" b="1" dirty="0" err="1"/>
              <a:t>Prescale</a:t>
            </a:r>
            <a:r>
              <a:rPr lang="en-US" b="1" dirty="0"/>
              <a:t> Counter (PSCH:PSC)</a:t>
            </a:r>
          </a:p>
          <a:p>
            <a:r>
              <a:rPr lang="en-US" dirty="0"/>
              <a:t>This is an additional counter that:</a:t>
            </a:r>
          </a:p>
          <a:p>
            <a:r>
              <a:rPr lang="en-US" dirty="0"/>
              <a:t>Counts down</a:t>
            </a:r>
          </a:p>
          <a:p>
            <a:r>
              <a:rPr lang="en-US" dirty="0"/>
              <a:t>Generates a </a:t>
            </a:r>
            <a:r>
              <a:rPr lang="en-US" b="1" dirty="0"/>
              <a:t>borrow</a:t>
            </a:r>
            <a:r>
              <a:rPr lang="en-US" dirty="0"/>
              <a:t> when it underflows</a:t>
            </a:r>
          </a:p>
          <a:p>
            <a:r>
              <a:rPr lang="en-US" dirty="0"/>
              <a:t>That borrow is what advances the main 32-bit timer.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a:t>
            </a:r>
            <a:r>
              <a:rPr lang="en-US" dirty="0" err="1"/>
              <a:t>prescaler</a:t>
            </a:r>
            <a:r>
              <a:rPr lang="en-US" dirty="0"/>
              <a:t> slows time down before it reaches the main timer counter.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sv-SE" b="1" dirty="0"/>
              <a:t>32-bit Period Register (PRDH:PRD)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the value the timer reloads </a:t>
            </a:r>
            <a:r>
              <a:rPr lang="en-US" b="1" dirty="0"/>
              <a:t>from</a:t>
            </a:r>
            <a:r>
              <a:rPr lang="en-US" dirty="0"/>
              <a:t>.</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r>
              <a:rPr lang="en-US" b="1" dirty="0"/>
              <a:t>32-bit Counter (TIMH:TIM)</a:t>
            </a:r>
          </a:p>
          <a:p>
            <a:r>
              <a:rPr lang="en-US" dirty="0"/>
              <a:t>This is the </a:t>
            </a:r>
            <a:r>
              <a:rPr lang="en-US" b="1" dirty="0"/>
              <a:t>actual counter</a:t>
            </a:r>
            <a:r>
              <a:rPr lang="en-US" dirty="0"/>
              <a:t>:</a:t>
            </a:r>
          </a:p>
          <a:p>
            <a:r>
              <a:rPr lang="en-US" dirty="0"/>
              <a:t>Decrements every </a:t>
            </a:r>
            <a:r>
              <a:rPr lang="en-US" dirty="0" err="1"/>
              <a:t>prescaled</a:t>
            </a:r>
            <a:r>
              <a:rPr lang="en-US" dirty="0"/>
              <a:t> clock tick</a:t>
            </a:r>
          </a:p>
          <a:p>
            <a:r>
              <a:rPr lang="en-US" dirty="0"/>
              <a:t>When it reaches zero:</a:t>
            </a:r>
          </a:p>
          <a:p>
            <a:pPr lvl="0"/>
            <a:r>
              <a:rPr lang="en-US" dirty="0"/>
              <a:t>A borrow occurs</a:t>
            </a:r>
          </a:p>
          <a:p>
            <a:pPr lvl="0"/>
            <a:r>
              <a:rPr lang="en-US" dirty="0"/>
              <a:t>An interrupt is generated</a:t>
            </a:r>
          </a:p>
          <a:p>
            <a:pPr lvl="0"/>
            <a:r>
              <a:rPr lang="en-US" dirty="0"/>
              <a:t>The counter reloads from 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endParaRPr lang="en-US" dirty="0"/>
          </a:p>
          <a:p>
            <a:endParaRPr lang="en-US" dirty="0"/>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5C88DC5-6882-AE62-38F7-1B560EA420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73272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E9BD42-6D44-07E7-0C57-E63AF0D999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17AE7C-EC41-47D9-AFB5-4EC85F9436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1" dirty="0"/>
              <a:t>SYSCLKOUT</a:t>
            </a:r>
            <a:r>
              <a:rPr lang="en-US" dirty="0"/>
              <a:t> is the system clock (e.g., 200 MHz).</a:t>
            </a:r>
          </a:p>
          <a:p>
            <a:r>
              <a:rPr lang="en-US" b="1" dirty="0"/>
              <a:t>TCR.4</a:t>
            </a:r>
            <a:r>
              <a:rPr lang="en-US" dirty="0"/>
              <a:t> is the </a:t>
            </a:r>
            <a:r>
              <a:rPr lang="en-US" i="1" dirty="0"/>
              <a:t>Timer Control Register bit</a:t>
            </a:r>
            <a:r>
              <a:rPr lang="en-US" dirty="0"/>
              <a:t> that enables or disables counting.</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The timer only receives clock pulses when software sets the START bit. This is why timers do </a:t>
            </a:r>
            <a:r>
              <a:rPr lang="en-US" i="1" dirty="0"/>
              <a:t>nothing</a:t>
            </a:r>
            <a:r>
              <a:rPr lang="en-US" dirty="0"/>
              <a:t> until you explicitly enable them in software.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lang="en-US" dirty="0"/>
          </a:p>
          <a:p>
            <a:r>
              <a:rPr lang="en-US" b="1" dirty="0"/>
              <a:t>16-bit Divide-Down (TDDRH:TDDR)</a:t>
            </a:r>
          </a:p>
          <a:p>
            <a:r>
              <a:rPr lang="en-US" dirty="0"/>
              <a:t>This block divides the incoming clock frequency.</a:t>
            </a:r>
          </a:p>
          <a:p>
            <a:r>
              <a:rPr lang="en-US" dirty="0"/>
              <a:t>This allows the timer to operate at manageable speeds</a:t>
            </a:r>
          </a:p>
          <a:p>
            <a:endParaRPr lang="en-US" dirty="0"/>
          </a:p>
          <a:p>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1" dirty="0"/>
              <a:t>16-bit </a:t>
            </a:r>
            <a:r>
              <a:rPr lang="en-US" b="1" dirty="0" err="1"/>
              <a:t>Prescale</a:t>
            </a:r>
            <a:r>
              <a:rPr lang="en-US" b="1" dirty="0"/>
              <a:t> Counter (PSCH:PSC)</a:t>
            </a:r>
          </a:p>
          <a:p>
            <a:r>
              <a:rPr lang="en-US" dirty="0"/>
              <a:t>This is an additional counter that:</a:t>
            </a:r>
          </a:p>
          <a:p>
            <a:r>
              <a:rPr lang="en-US" dirty="0"/>
              <a:t>Counts down</a:t>
            </a:r>
          </a:p>
          <a:p>
            <a:r>
              <a:rPr lang="en-US" dirty="0"/>
              <a:t>Generates a </a:t>
            </a:r>
            <a:r>
              <a:rPr lang="en-US" b="1" dirty="0"/>
              <a:t>borrow</a:t>
            </a:r>
            <a:r>
              <a:rPr lang="en-US" dirty="0"/>
              <a:t> when it underflows</a:t>
            </a:r>
          </a:p>
          <a:p>
            <a:r>
              <a:rPr lang="en-US" dirty="0"/>
              <a:t>That borrow is what advances the main 32-bit timer.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a:t>
            </a:r>
            <a:r>
              <a:rPr lang="en-US" dirty="0" err="1"/>
              <a:t>prescaler</a:t>
            </a:r>
            <a:r>
              <a:rPr lang="en-US" dirty="0"/>
              <a:t> slows time down before it reaches the main timer counter.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sv-SE" b="1" dirty="0"/>
              <a:t>32-bit Period Register (PRDH:PRD)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the value the timer reloads </a:t>
            </a:r>
            <a:r>
              <a:rPr lang="en-US" b="1" dirty="0"/>
              <a:t>from</a:t>
            </a:r>
            <a:r>
              <a:rPr lang="en-US" dirty="0"/>
              <a:t>.</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r>
              <a:rPr lang="en-US" b="1" dirty="0"/>
              <a:t>32-bit Counter (TIMH:TIM)</a:t>
            </a:r>
          </a:p>
          <a:p>
            <a:r>
              <a:rPr lang="en-US" dirty="0"/>
              <a:t>This is the </a:t>
            </a:r>
            <a:r>
              <a:rPr lang="en-US" b="1" dirty="0"/>
              <a:t>actual counter</a:t>
            </a:r>
            <a:r>
              <a:rPr lang="en-US" dirty="0"/>
              <a:t>:</a:t>
            </a:r>
          </a:p>
          <a:p>
            <a:r>
              <a:rPr lang="en-US" dirty="0"/>
              <a:t>Decrements every </a:t>
            </a:r>
            <a:r>
              <a:rPr lang="en-US" dirty="0" err="1"/>
              <a:t>prescaled</a:t>
            </a:r>
            <a:r>
              <a:rPr lang="en-US" dirty="0"/>
              <a:t> clock tick</a:t>
            </a:r>
          </a:p>
          <a:p>
            <a:r>
              <a:rPr lang="en-US" dirty="0"/>
              <a:t>When it reaches zero:</a:t>
            </a:r>
          </a:p>
          <a:p>
            <a:pPr lvl="0"/>
            <a:r>
              <a:rPr lang="en-US" dirty="0"/>
              <a:t>A borrow occurs</a:t>
            </a:r>
          </a:p>
          <a:p>
            <a:pPr lvl="0"/>
            <a:r>
              <a:rPr lang="en-US" dirty="0"/>
              <a:t>An interrupt is generated</a:t>
            </a:r>
          </a:p>
          <a:p>
            <a:pPr lvl="0"/>
            <a:r>
              <a:rPr lang="en-US" dirty="0"/>
              <a:t>The counter reloads from 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endParaRPr lang="en-US" dirty="0"/>
          </a:p>
          <a:p>
            <a:endParaRPr lang="en-US" dirty="0"/>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84AD7E4-B967-5FAE-4A9E-3DDC0B9939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8888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857DE6-DF8B-D8B6-B80A-D4FFA47EBC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53D2C1-BC7D-1078-FBB3-A743209988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0808667-3B3A-7BDA-EA07-6665024B16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3472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8C5D6C7-5422-60D4-9BF9-2EAA80BE19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DC76DDE-0BD6-A46A-932A-9C7A9A74369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dirty="0"/>
              <a:t>Timer 0</a:t>
            </a:r>
          </a:p>
          <a:p>
            <a:r>
              <a:rPr lang="en-US" dirty="0"/>
              <a:t>TINT0</a:t>
            </a:r>
          </a:p>
          <a:p>
            <a:r>
              <a:rPr lang="en-US" dirty="0"/>
              <a:t>INT1–INT12 via PIE</a:t>
            </a:r>
          </a:p>
          <a:p>
            <a:pPr marL="0" lvl="0" indent="0" algn="l" rtl="0">
              <a:lnSpc>
                <a:spcPct val="100000"/>
              </a:lnSpc>
              <a:spcBef>
                <a:spcPts val="0"/>
              </a:spcBef>
              <a:spcAft>
                <a:spcPts val="0"/>
              </a:spcAft>
              <a:buSzPts val="1400"/>
              <a:buNone/>
            </a:pPr>
            <a:endParaRPr lang="en-US" dirty="0"/>
          </a:p>
          <a:p>
            <a:r>
              <a:rPr lang="en-US" dirty="0"/>
              <a:t>Timer 1</a:t>
            </a:r>
          </a:p>
          <a:p>
            <a:r>
              <a:rPr lang="en-US" dirty="0"/>
              <a:t>TINT1</a:t>
            </a:r>
          </a:p>
          <a:p>
            <a:r>
              <a:rPr lang="en-US" dirty="0"/>
              <a:t>INT13 (direct)</a:t>
            </a:r>
          </a:p>
          <a:p>
            <a:endParaRPr lang="en-US" dirty="0"/>
          </a:p>
          <a:p>
            <a:r>
              <a:rPr lang="en-US" dirty="0"/>
              <a:t>Timer 2</a:t>
            </a:r>
          </a:p>
          <a:p>
            <a:r>
              <a:rPr lang="en-US" dirty="0"/>
              <a:t>TINT2</a:t>
            </a:r>
          </a:p>
          <a:p>
            <a:r>
              <a:rPr lang="en-US" dirty="0"/>
              <a:t>INT14 (direct)</a:t>
            </a:r>
          </a:p>
          <a:p>
            <a:endParaRPr lang="en-US" dirty="0"/>
          </a:p>
          <a:p>
            <a:endParaRPr lang="en-US" dirty="0"/>
          </a:p>
          <a:p>
            <a:r>
              <a:rPr lang="en-US" dirty="0"/>
              <a:t>The </a:t>
            </a:r>
            <a:r>
              <a:rPr lang="en-US" b="1" dirty="0"/>
              <a:t>Peripheral Interrupt Expansion (PIE)</a:t>
            </a:r>
            <a:r>
              <a:rPr lang="en-US" dirty="0"/>
              <a:t> is an interrupt router.</a:t>
            </a:r>
          </a:p>
          <a:p>
            <a:r>
              <a:rPr lang="en-US" dirty="0"/>
              <a:t>It:</a:t>
            </a:r>
          </a:p>
          <a:p>
            <a:r>
              <a:rPr lang="en-US" dirty="0"/>
              <a:t>Takes many peripheral interrupts</a:t>
            </a:r>
          </a:p>
          <a:p>
            <a:r>
              <a:rPr lang="en-US" dirty="0"/>
              <a:t>Maps them to CPU interrupt vectors</a:t>
            </a:r>
          </a:p>
          <a:p>
            <a:r>
              <a:rPr lang="en-US" dirty="0"/>
              <a:t>Timer 0 is routed through the PIE because:</a:t>
            </a:r>
          </a:p>
          <a:p>
            <a:r>
              <a:rPr lang="en-US" dirty="0"/>
              <a:t>It is commonly used for application-level tasks</a:t>
            </a:r>
          </a:p>
          <a:p>
            <a:r>
              <a:rPr lang="en-US" dirty="0"/>
              <a:t>It supports prioritization and masking</a:t>
            </a:r>
          </a:p>
          <a:p>
            <a:endParaRPr lang="en-US" dirty="0"/>
          </a:p>
          <a:p>
            <a:endParaRPr lang="en-US" dirty="0"/>
          </a:p>
          <a:p>
            <a:endParaRPr lang="en-US" dirty="0"/>
          </a:p>
          <a:p>
            <a:r>
              <a:rPr lang="en-US" b="1" dirty="0"/>
              <a:t>Software Consequence</a:t>
            </a:r>
          </a:p>
          <a:p>
            <a:r>
              <a:rPr lang="en-US" dirty="0"/>
              <a:t>To use Timer 0:</a:t>
            </a:r>
          </a:p>
          <a:p>
            <a:r>
              <a:rPr lang="en-US" dirty="0"/>
              <a:t>Enable the timer interrupt</a:t>
            </a:r>
          </a:p>
          <a:p>
            <a:r>
              <a:rPr lang="en-US" dirty="0"/>
              <a:t>Enable the PIE group</a:t>
            </a:r>
          </a:p>
          <a:p>
            <a:r>
              <a:rPr lang="en-US" dirty="0"/>
              <a:t>Enable the CPU interrupt</a:t>
            </a:r>
          </a:p>
          <a:p>
            <a:r>
              <a:rPr lang="en-US" dirty="0"/>
              <a:t>Acknowledge the PIE inside the ISR</a:t>
            </a:r>
          </a:p>
          <a:p>
            <a:r>
              <a:rPr lang="en-US" dirty="0"/>
              <a:t>This makes Timer 0 ideal for:</a:t>
            </a:r>
          </a:p>
          <a:p>
            <a:r>
              <a:rPr lang="en-US" dirty="0"/>
              <a:t>Control loops</a:t>
            </a:r>
          </a:p>
          <a:p>
            <a:r>
              <a:rPr lang="en-US" dirty="0"/>
              <a:t>Scheduling</a:t>
            </a:r>
          </a:p>
          <a:p>
            <a:r>
              <a:rPr lang="en-US" dirty="0"/>
              <a:t>RTOS ticks</a:t>
            </a:r>
          </a:p>
          <a:p>
            <a:endParaRPr lang="en-US" dirty="0"/>
          </a:p>
          <a:p>
            <a:endParaRPr lang="en-US" dirty="0"/>
          </a:p>
          <a:p>
            <a:r>
              <a:rPr lang="en-US" b="1" dirty="0"/>
              <a:t>Timers 1 and 2 Bypass the PIE</a:t>
            </a:r>
          </a:p>
          <a:p>
            <a:r>
              <a:rPr lang="en-US" dirty="0"/>
              <a:t>Timer 1 → </a:t>
            </a:r>
            <a:r>
              <a:rPr lang="en-US" b="1" dirty="0"/>
              <a:t>INT13</a:t>
            </a:r>
            <a:br>
              <a:rPr lang="en-US" dirty="0"/>
            </a:br>
            <a:r>
              <a:rPr lang="en-US" dirty="0"/>
              <a:t>Timer 2 → </a:t>
            </a:r>
            <a:r>
              <a:rPr lang="en-US" b="1" dirty="0"/>
              <a:t>INT14</a:t>
            </a:r>
            <a:endParaRPr lang="en-US" dirty="0"/>
          </a:p>
          <a:p>
            <a:r>
              <a:rPr lang="en-US" dirty="0"/>
              <a:t>These are </a:t>
            </a:r>
            <a:r>
              <a:rPr lang="en-US" b="1" dirty="0"/>
              <a:t>dedicated CPU interrupts</a:t>
            </a:r>
            <a:r>
              <a:rPr lang="en-US" dirty="0"/>
              <a:t>.</a:t>
            </a:r>
          </a:p>
          <a:p>
            <a:r>
              <a:rPr lang="en-US" b="1" dirty="0"/>
              <a:t>Why?</a:t>
            </a:r>
          </a:p>
          <a:p>
            <a:r>
              <a:rPr lang="en-US" dirty="0"/>
              <a:t>They are intended for:</a:t>
            </a:r>
          </a:p>
          <a:p>
            <a:r>
              <a:rPr lang="en-US" dirty="0"/>
              <a:t>High-priority system tasks</a:t>
            </a:r>
          </a:p>
          <a:p>
            <a:r>
              <a:rPr lang="en-US" dirty="0"/>
              <a:t>Real-time services</a:t>
            </a:r>
          </a:p>
          <a:p>
            <a:r>
              <a:rPr lang="en-US" dirty="0"/>
              <a:t>Deterministic timing</a:t>
            </a:r>
          </a:p>
          <a:p>
            <a:r>
              <a:rPr lang="en-US" dirty="0"/>
              <a:t>They:</a:t>
            </a:r>
          </a:p>
          <a:p>
            <a:r>
              <a:rPr lang="en-US" dirty="0"/>
              <a:t>Have lower latency</a:t>
            </a:r>
          </a:p>
          <a:p>
            <a:r>
              <a:rPr lang="en-US" dirty="0"/>
              <a:t>Are simpler to configure</a:t>
            </a:r>
          </a:p>
          <a:p>
            <a:r>
              <a:rPr lang="en-US" dirty="0"/>
              <a:t>Are harder to misuse accidentally</a:t>
            </a:r>
          </a:p>
          <a:p>
            <a:endParaRPr lang="en-US" dirty="0"/>
          </a:p>
          <a:p>
            <a:endParaRPr lang="en-US" dirty="0"/>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2FD8C5D-9C20-C91C-AC9B-D65DAB800F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325120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15C7C-5E78-525A-60EE-FEA456DCF41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2C6A1C-81CD-6A4A-0EC7-D4DF6592E8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E55876-018B-F3F8-A378-6190163DC3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43991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hackster.io/jay118/se-423-astar-ball-collection-and-drop-off-project-3daa28?f=1"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coecsl.ece.illinois.edu/se423/hw/PinMuxTableF28379DLaunchPad.p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video" Target="https://www.youtube.com/embed/AB0ehpoGNZU?feature=oembed" TargetMode="External"/><Relationship Id="rId6" Type="http://schemas.openxmlformats.org/officeDocument/2006/relationships/hyperlink" Target="https://youtu.be/AB0ehpoGNZU?si=qzp9HoeXxZYwsuXb" TargetMode="External"/><Relationship Id="rId5" Type="http://schemas.openxmlformats.org/officeDocument/2006/relationships/image" Target="../media/image10.jpe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2: Peripherals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1800" dirty="0">
                <a:solidFill>
                  <a:schemeClr val="lt1"/>
                </a:solidFil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t>
            </a:r>
            <a:r>
              <a:rPr lang="en-US" sz="1800" b="0" i="0" u="none" strike="noStrike" cap="none">
                <a:solidFill>
                  <a:schemeClr val="lt1"/>
                </a:solidFill>
                <a:latin typeface="Atkinson Hyperlegible Next"/>
                <a:ea typeface="Arial"/>
                <a:cs typeface="Arial"/>
                <a:sym typeface="Arial"/>
              </a:rPr>
              <a:t>January 26</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pic>
        <p:nvPicPr>
          <p:cNvPr id="5" name="Picture 4" descr="Cartoon: a person bundled in a puffy coat, scarf, and pom-pom hat stands frozen in a block of ice beside a small wheeled robot with googly eyes, also encased in ice, a lighthearted nod to the frigid late-January weather.">
            <a:extLst>
              <a:ext uri="{FF2B5EF4-FFF2-40B4-BE49-F238E27FC236}">
                <a16:creationId xmlns:a16="http://schemas.microsoft.com/office/drawing/2014/main" id="{3DEDD2ED-7EA0-C726-B86C-DAF6A1B5857D}"/>
              </a:ext>
            </a:extLst>
          </p:cNvPr>
          <p:cNvPicPr>
            <a:picLocks noChangeAspect="1"/>
          </p:cNvPicPr>
          <p:nvPr/>
        </p:nvPicPr>
        <p:blipFill>
          <a:blip r:embed="rId5"/>
          <a:stretch>
            <a:fillRect/>
          </a:stretch>
        </p:blipFill>
        <p:spPr>
          <a:xfrm>
            <a:off x="420738" y="2474829"/>
            <a:ext cx="3994099" cy="3308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220859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94978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How was the first lab? Enjoyed it?</a:t>
            </a:r>
          </a:p>
        </p:txBody>
      </p:sp>
      <p:grpSp>
        <p:nvGrpSpPr>
          <p:cNvPr id="91" name="Google Shape;91;p27"/>
          <p:cNvGrpSpPr/>
          <p:nvPr/>
        </p:nvGrpSpPr>
        <p:grpSpPr>
          <a:xfrm>
            <a:off x="3943790" y="339448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dirty="0">
                <a:solidFill>
                  <a:srgbClr val="E84B36"/>
                </a:solidFill>
                <a:latin typeface="Atkinson Hyperlegible Next"/>
                <a:ea typeface="Arial"/>
                <a:cs typeface="Arial"/>
                <a:sym typeface="Arial"/>
              </a:rPr>
              <a:t>Times:</a:t>
            </a:r>
          </a:p>
          <a:p>
            <a:pPr marL="0" lvl="0" indent="0" algn="l" rtl="0">
              <a:lnSpc>
                <a:spcPct val="100000"/>
              </a:lnSpc>
              <a:spcBef>
                <a:spcPts val="0"/>
              </a:spcBef>
              <a:spcAft>
                <a:spcPts val="0"/>
              </a:spcAft>
              <a:buSzPts val="3000"/>
              <a:buNone/>
            </a:pP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There to help with setting up </a:t>
            </a:r>
            <a:r>
              <a:rPr lang="en-US" sz="1800" dirty="0" err="1">
                <a:latin typeface="Atkinson Hyperlegible Next"/>
                <a:ea typeface="Arial"/>
                <a:cs typeface="Arial"/>
                <a:sym typeface="Arial"/>
              </a:rPr>
              <a:t>CodeComposer</a:t>
            </a:r>
            <a:r>
              <a:rPr lang="en-US" sz="1800" dirty="0">
                <a:latin typeface="Atkinson Hyperlegible Next"/>
                <a:ea typeface="Arial"/>
                <a:cs typeface="Arial"/>
                <a:sym typeface="Arial"/>
              </a:rPr>
              <a:t> ( not necessary but helpful for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 finishing the solder, getting checked off for the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labs or LabVIEW</a:t>
            </a:r>
          </a:p>
          <a:p>
            <a:pPr marL="285750" indent="-285750">
              <a:lnSpc>
                <a:spcPct val="100000"/>
              </a:lnSpc>
              <a:spcBef>
                <a:spcPts val="0"/>
              </a:spcBef>
              <a:buSzPts val="3000"/>
            </a:pPr>
            <a:r>
              <a:rPr lang="en-US" sz="1800" dirty="0">
                <a:latin typeface="Atkinson Hyperlegible Next"/>
                <a:ea typeface="Arial"/>
                <a:cs typeface="Arial"/>
                <a:sym typeface="Arial"/>
              </a:rPr>
              <a:t>Close to deadlines it will be busy so be sure to come in early!</a:t>
            </a:r>
          </a:p>
          <a:p>
            <a:pPr marL="0" indent="0">
              <a:lnSpc>
                <a:spcPct val="100000"/>
              </a:lnSpc>
              <a:spcBef>
                <a:spcPts val="0"/>
              </a:spcBef>
              <a:buSzPts val="3000"/>
              <a:buNone/>
            </a:pPr>
            <a:endParaRPr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Office Hours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2EC0B-8783-91E6-CCD2-B7B06FAFF1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7BDBD34-A31A-FF8F-814D-CEA3F5CE034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a:t>
            </a:r>
          </a:p>
          <a:p>
            <a:pPr marL="285750" indent="-285750">
              <a:lnSpc>
                <a:spcPct val="100000"/>
              </a:lnSpc>
              <a:spcBef>
                <a:spcPts val="0"/>
              </a:spcBef>
              <a:buSzPts val="3000"/>
            </a:pPr>
            <a:r>
              <a:rPr lang="en-US" sz="1800" dirty="0">
                <a:latin typeface="Atkinson Hyperlegible Next"/>
                <a:ea typeface="Arial"/>
                <a:cs typeface="Arial"/>
                <a:sym typeface="Arial"/>
              </a:rPr>
              <a:t>Do Exercise 1 of Homework 1 to get started in C.</a:t>
            </a:r>
          </a:p>
          <a:p>
            <a:pPr marL="742950" lvl="1" indent="-285750">
              <a:lnSpc>
                <a:spcPct val="100000"/>
              </a:lnSpc>
              <a:spcBef>
                <a:spcPts val="0"/>
              </a:spcBef>
              <a:buSzPts val="3000"/>
            </a:pPr>
            <a:r>
              <a:rPr lang="en-US" sz="1400" dirty="0">
                <a:latin typeface="Atkinson Hyperlegible Next"/>
                <a:ea typeface="Arial"/>
                <a:cs typeface="Arial"/>
                <a:sym typeface="Arial"/>
              </a:rPr>
              <a:t>You cannot use </a:t>
            </a:r>
            <a:r>
              <a:rPr lang="en-US" sz="1400" dirty="0" err="1">
                <a:latin typeface="Atkinson Hyperlegible Next"/>
                <a:ea typeface="Arial"/>
                <a:cs typeface="Arial"/>
                <a:sym typeface="Arial"/>
              </a:rPr>
              <a:t>CodeComposer</a:t>
            </a:r>
            <a:r>
              <a:rPr lang="en-US" sz="1400" dirty="0">
                <a:latin typeface="Atkinson Hyperlegible Next"/>
                <a:ea typeface="Arial"/>
                <a:cs typeface="Arial"/>
                <a:sym typeface="Arial"/>
              </a:rPr>
              <a:t> for that. You can just use an online C compile.</a:t>
            </a:r>
          </a:p>
          <a:p>
            <a:pPr marL="285750" indent="-285750">
              <a:lnSpc>
                <a:spcPct val="100000"/>
              </a:lnSpc>
              <a:spcBef>
                <a:spcPts val="0"/>
              </a:spcBef>
              <a:buSzPts val="3000"/>
            </a:pPr>
            <a:r>
              <a:rPr lang="en-US" sz="1800" dirty="0">
                <a:latin typeface="Atkinson Hyperlegible Next"/>
                <a:ea typeface="Arial"/>
                <a:cs typeface="Arial"/>
                <a:sym typeface="Arial"/>
              </a:rPr>
              <a:t>Lab 1 is a 1-week lab, some are longer</a:t>
            </a:r>
          </a:p>
          <a:p>
            <a:pPr marL="285750" indent="-285750">
              <a:lnSpc>
                <a:spcPct val="100000"/>
              </a:lnSpc>
              <a:spcBef>
                <a:spcPts val="0"/>
              </a:spcBef>
              <a:buSzPts val="3000"/>
            </a:pP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742950" lvl="1" indent="-285750">
              <a:lnSpc>
                <a:spcPct val="100000"/>
              </a:lnSpc>
              <a:spcBef>
                <a:spcPts val="0"/>
              </a:spcBef>
              <a:buSzPts val="3000"/>
            </a:pPr>
            <a:r>
              <a:rPr lang="en-US" sz="1400" dirty="0">
                <a:latin typeface="Atkinson Hyperlegible Next"/>
                <a:ea typeface="Arial"/>
                <a:cs typeface="Arial"/>
                <a:sym typeface="Arial"/>
              </a:rPr>
              <a:t>Questions 2, 3, 5, 7, 8, 9 and 10 need to be checked-off by instructors / TAs</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r>
              <a:rPr lang="en-US" sz="1800" dirty="0">
                <a:latin typeface="Atkinson Hyperlegible Next"/>
                <a:ea typeface="Arial"/>
                <a:cs typeface="Arial"/>
                <a:sym typeface="Arial"/>
              </a:rPr>
              <a:t>No late acceptations, since these are individual!</a:t>
            </a:r>
            <a:endParaRPr lang="en-US" sz="1800"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Soldering is Exercise 2 of Homework 1.</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p:txBody>
      </p:sp>
      <p:sp>
        <p:nvSpPr>
          <p:cNvPr id="119" name="Google Shape;119;p29">
            <a:extLst>
              <a:ext uri="{FF2B5EF4-FFF2-40B4-BE49-F238E27FC236}">
                <a16:creationId xmlns:a16="http://schemas.microsoft.com/office/drawing/2014/main" id="{AD59AEA4-FA31-7DE5-ECA1-47FDE291DA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F4682E-AB31-E1D3-8C63-83FBD01EEE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Due Dates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D4F2AE-AF34-641F-D726-1F09D72D4F1C}"/>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F2177D-7368-A283-161A-0AB4D52E95A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E702B2-7A21-65E7-17C4-E10079AAA2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DFBE1C-F9BB-2D43-E81C-914BF2A56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B709CE-2A7C-0CCA-4EDF-FEC086E24F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462F17-FDB0-9C67-DE2D-DF014F11F9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4747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C2441AC-B173-8D17-8C64-0E6EB4DE3EDC}"/>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28B44141-C670-8ABB-20E0-AAA6EFD29AB9}"/>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Semester Project</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C188BAE0-AF94-4F20-E8F5-C7A8238E2D56}"/>
              </a:ext>
            </a:extLst>
          </p:cNvPr>
          <p:cNvSpPr txBox="1"/>
          <p:nvPr/>
        </p:nvSpPr>
        <p:spPr>
          <a:xfrm>
            <a:off x="1441528" y="3232230"/>
            <a:ext cx="9308941" cy="2246729"/>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Thursday May 14</a:t>
            </a:r>
            <a:r>
              <a:rPr lang="en-US" sz="2800" baseline="30000" dirty="0">
                <a:solidFill>
                  <a:schemeClr val="lt1"/>
                </a:solidFill>
              </a:rPr>
              <a:t>th</a:t>
            </a:r>
            <a:r>
              <a:rPr lang="en-US" sz="2800" dirty="0">
                <a:solidFill>
                  <a:schemeClr val="lt1"/>
                </a:solidFill>
              </a:rPr>
              <a:t>, 11AM – 2PM</a:t>
            </a:r>
          </a:p>
          <a:p>
            <a:pPr lvl="0" algn="ctr">
              <a:buSzPts val="2800"/>
            </a:pPr>
            <a:r>
              <a:rPr lang="en-US" sz="2800" b="1" dirty="0">
                <a:solidFill>
                  <a:schemeClr val="lt1"/>
                </a:solidFill>
              </a:rPr>
              <a:t>Last day of Finals!!! </a:t>
            </a:r>
          </a:p>
          <a:p>
            <a:pPr lvl="0" algn="ctr">
              <a:buSzPts val="2800"/>
            </a:pPr>
            <a:r>
              <a:rPr lang="en-US" sz="2800" dirty="0">
                <a:solidFill>
                  <a:schemeClr val="lt1"/>
                </a:solidFill>
              </a:rPr>
              <a:t>( yes, I know that’s annoying)</a:t>
            </a:r>
          </a:p>
          <a:p>
            <a:pPr lvl="0" algn="ctr">
              <a:buSzPts val="2800"/>
            </a:pPr>
            <a:endParaRPr lang="en-US" sz="2800" b="1" i="0" u="none" strike="noStrike" cap="none" dirty="0">
              <a:solidFill>
                <a:schemeClr val="lt1"/>
              </a:solidFill>
              <a:latin typeface="Atkinson Hyperlegible Next"/>
              <a:ea typeface="Arial"/>
              <a:cs typeface="Arial"/>
              <a:sym typeface="Arial"/>
            </a:endParaRPr>
          </a:p>
          <a:p>
            <a:pPr lvl="0" algn="ctr">
              <a:buSzPts val="2800"/>
            </a:pPr>
            <a:r>
              <a:rPr lang="en-US" sz="2800" b="1" dirty="0">
                <a:solidFill>
                  <a:schemeClr val="lt1"/>
                </a:solidFill>
              </a:rPr>
              <a:t>Attendance is </a:t>
            </a:r>
            <a:r>
              <a:rPr lang="en-US" sz="2800" b="1" dirty="0">
                <a:solidFill>
                  <a:srgbClr val="E84B36"/>
                </a:solidFill>
              </a:rPr>
              <a:t>mandatory</a:t>
            </a:r>
            <a:r>
              <a:rPr lang="en-US" sz="2800" b="1" dirty="0">
                <a:solidFill>
                  <a:schemeClr val="lt1"/>
                </a:solidFill>
              </a:rPr>
              <a:t>!!</a:t>
            </a:r>
            <a:endParaRPr lang="en-US" sz="2800" b="1"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2BDD255B-0619-DA09-C865-8E5E11CABDA0}"/>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EFB24328-6928-5D39-E355-377755EDF1A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AAD31-BC0F-4A60-8AA1-56D755E30FD5}"/>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42EC04A-B6B9-3EC3-CAA1-53A267F1FE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CB5533F-A0D3-93F5-8101-D1A909B532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FA3D936-A09D-5A2D-BD3F-3B4A185E17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5895954-C3C5-744F-50CC-224A22A7767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3E8396-30D7-4A21-4AEC-3C0062DF05A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9BD3E6C-4647-5B80-CA19-FB9C76DE306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01241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29D7E9-EA1D-D258-7422-A853BFA601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15131D-2264-84AA-B6C4-8A0256D0306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Website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will be creating a </a:t>
            </a:r>
            <a:r>
              <a:rPr lang="en-US" sz="1800" dirty="0">
                <a:latin typeface="Atkinson Hyperlegible Next"/>
                <a:ea typeface="Arial"/>
                <a:cs typeface="Arial"/>
                <a:sym typeface="Arial"/>
                <a:hlinkClick r:id="rId3"/>
              </a:rPr>
              <a:t>Hackster.io </a:t>
            </a:r>
            <a:r>
              <a:rPr lang="en-US" sz="1800" dirty="0">
                <a:latin typeface="Atkinson Hyperlegible Next"/>
                <a:ea typeface="Arial"/>
                <a:cs typeface="Arial"/>
                <a:sym typeface="Arial"/>
              </a:rPr>
              <a:t>website to show what you have done by the end of the semester to showcase to everyone.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Show the video working,</a:t>
            </a:r>
          </a:p>
          <a:p>
            <a:pPr marL="285750" indent="-285750">
              <a:lnSpc>
                <a:spcPct val="100000"/>
              </a:lnSpc>
              <a:spcBef>
                <a:spcPts val="0"/>
              </a:spcBef>
              <a:buSzPts val="3000"/>
            </a:pPr>
            <a:r>
              <a:rPr lang="en-US" sz="1800" dirty="0">
                <a:latin typeface="Atkinson Hyperlegible Next"/>
                <a:ea typeface="Arial"/>
                <a:cs typeface="Arial"/>
                <a:sym typeface="Arial"/>
              </a:rPr>
              <a:t>Put code, </a:t>
            </a:r>
          </a:p>
          <a:p>
            <a:pPr marL="285750" indent="-285750">
              <a:lnSpc>
                <a:spcPct val="100000"/>
              </a:lnSpc>
              <a:spcBef>
                <a:spcPts val="0"/>
              </a:spcBef>
              <a:buSzPts val="3000"/>
            </a:pPr>
            <a:r>
              <a:rPr lang="en-US" sz="1800" b="1" dirty="0">
                <a:solidFill>
                  <a:srgbClr val="D83B27"/>
                </a:solidFill>
                <a:latin typeface="Atkinson Hyperlegible Next"/>
                <a:ea typeface="Arial"/>
                <a:cs typeface="Arial"/>
                <a:sym typeface="Arial"/>
              </a:rPr>
              <a:t>Show any other cool stuff you do!</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are posting this to be publicly visible, so put your best effort in doing this. You can show the work for interviews, </a:t>
            </a:r>
            <a:r>
              <a:rPr lang="en-US" sz="1800" dirty="0" err="1">
                <a:latin typeface="Atkinson Hyperlegible Next"/>
                <a:ea typeface="Arial"/>
                <a:cs typeface="Arial"/>
                <a:sym typeface="Arial"/>
              </a:rPr>
              <a:t>etc</a:t>
            </a:r>
            <a:r>
              <a:rPr lang="en-US" sz="1800" dirty="0">
                <a:latin typeface="Atkinson Hyperlegible Next"/>
                <a:ea typeface="Arial"/>
                <a:cs typeface="Arial"/>
                <a:sym typeface="Arial"/>
              </a:rPr>
              <a:t>…</a:t>
            </a:r>
            <a:endParaRPr lang="en-US" sz="1800" b="1" dirty="0">
              <a:solidFill>
                <a:srgbClr val="E84B36"/>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B8ADD5E-4587-91AA-E902-1B0E4A8E35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286703-C61A-B2D1-585F-C10B261E8B9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Semester Project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447D33-31A5-FA96-111C-05B9D66690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5751BA-8B9C-91BD-8C25-6C469DA0A6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5DC340-10EC-BD3A-74F5-B5230770C8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E46266-8579-84FA-6DE5-1CFA462B2E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9E83D-2B67-876F-D392-B6E929232A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FA36F5-6D8B-FB3A-824E-B3067E17F3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96259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Registers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BEEF1A-8246-780D-B805-73B0266CA6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3D1F5B-F4CE-3A65-FC4B-C8CBA8198B9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knows one thing: </a:t>
            </a:r>
            <a:r>
              <a:rPr lang="en-US" sz="1800" b="1" dirty="0">
                <a:solidFill>
                  <a:schemeClr val="dk1"/>
                </a:solidFill>
                <a:latin typeface="Atkinson Hyperlegible Next"/>
                <a:ea typeface="Arial"/>
                <a:cs typeface="Arial"/>
                <a:sym typeface="Arial"/>
              </a:rPr>
              <a:t>memory addresses</a:t>
            </a:r>
          </a:p>
          <a:p>
            <a:pPr marL="0" lvl="0" indent="0" algn="l" rtl="0">
              <a:lnSpc>
                <a:spcPct val="100000"/>
              </a:lnSpc>
              <a:spcBef>
                <a:spcPts val="0"/>
              </a:spcBef>
              <a:spcAft>
                <a:spcPts val="0"/>
              </a:spcAft>
              <a:buSzPts val="3000"/>
              <a:buNone/>
            </a:pPr>
            <a:endParaRPr lang="en-US" sz="1800" b="1" dirty="0">
              <a:latin typeface="Atkinson Hyperlegible Next"/>
              <a:cs typeface="Arial"/>
              <a:sym typeface="Arial"/>
            </a:endParaRPr>
          </a:p>
          <a:p>
            <a:pPr marL="0" lvl="0" indent="0">
              <a:lnSpc>
                <a:spcPct val="100000"/>
              </a:lnSpc>
              <a:spcBef>
                <a:spcPts val="0"/>
              </a:spcBef>
              <a:buSzPts val="3000"/>
              <a:buNone/>
            </a:pPr>
            <a:r>
              <a:rPr lang="en-US" sz="1800" dirty="0">
                <a:latin typeface="Atkinson Hyperlegible Next"/>
                <a:cs typeface="Arial"/>
                <a:sym typeface="Arial"/>
              </a:rPr>
              <a:t>On the </a:t>
            </a:r>
            <a:r>
              <a:rPr lang="en-US" sz="1800" dirty="0"/>
              <a:t>TMS320F2837xD:</a:t>
            </a:r>
          </a:p>
          <a:p>
            <a:pPr marL="285750" indent="-285750">
              <a:lnSpc>
                <a:spcPct val="100000"/>
              </a:lnSpc>
              <a:spcBef>
                <a:spcPts val="0"/>
              </a:spcBef>
              <a:buSzPts val="3000"/>
            </a:pPr>
            <a:r>
              <a:rPr lang="en-US" sz="1800" dirty="0"/>
              <a:t>RAM has addresses</a:t>
            </a:r>
          </a:p>
          <a:p>
            <a:pPr marL="285750" indent="-285750">
              <a:lnSpc>
                <a:spcPct val="100000"/>
              </a:lnSpc>
              <a:spcBef>
                <a:spcPts val="0"/>
              </a:spcBef>
              <a:buSzPts val="3000"/>
            </a:pPr>
            <a:r>
              <a:rPr lang="en-US" sz="1800" dirty="0"/>
              <a:t>Flash has addresses</a:t>
            </a:r>
          </a:p>
          <a:p>
            <a:pPr marL="285750" indent="-285750">
              <a:lnSpc>
                <a:spcPct val="100000"/>
              </a:lnSpc>
              <a:spcBef>
                <a:spcPts val="0"/>
              </a:spcBef>
              <a:buSzPts val="3000"/>
            </a:pPr>
            <a:r>
              <a:rPr lang="en-US" sz="1800" dirty="0"/>
              <a:t>Peripherals also have addresses</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This is called Memory-Mapped I/O (</a:t>
            </a:r>
            <a:r>
              <a:rPr lang="en-US" sz="1800" b="1" dirty="0"/>
              <a:t>MMIO</a:t>
            </a:r>
            <a:r>
              <a:rPr lang="en-US" sz="1800" dirty="0"/>
              <a: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peripheral is a hardware module whose control and status registers are mapped to fixed memory addresses, allowing the CPU to configure and control hardware by reading from and writing to memory.</a:t>
            </a:r>
          </a:p>
        </p:txBody>
      </p:sp>
      <p:sp>
        <p:nvSpPr>
          <p:cNvPr id="119" name="Google Shape;119;p29">
            <a:extLst>
              <a:ext uri="{FF2B5EF4-FFF2-40B4-BE49-F238E27FC236}">
                <a16:creationId xmlns:a16="http://schemas.microsoft.com/office/drawing/2014/main" id="{F4A71BDA-AF55-C788-95F4-7D99FDA443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67473E-7200-1801-D48E-0407667B4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Memory-Mapped 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247348-FF7D-D515-1494-EF00C3BBBF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98A567-8333-5798-5A96-986D6AB0E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D4E743-6B2A-DBCA-05CA-15E8A3CDF8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68D5BC-52F3-5E41-9D28-A5329EF010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A7FD3E-06AA-8235-9B82-C4FE44AF417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792E2D-C8AF-47FB-EDEE-A0035DB721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92210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54B991-8E85-5A52-F99C-11B8C0B192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524367-278E-EA64-B4EE-239DCE369C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Atkinson Hyperlegible Next"/>
                <a:ea typeface="Arial"/>
                <a:cs typeface="Arial"/>
                <a:sym typeface="Arial"/>
              </a:rPr>
              <a:t>Peripheral:</a:t>
            </a:r>
          </a:p>
          <a:p>
            <a:pPr marL="0" lvl="0" indent="0" algn="l" rtl="0">
              <a:lnSpc>
                <a:spcPct val="100000"/>
              </a:lnSpc>
              <a:spcBef>
                <a:spcPts val="0"/>
              </a:spcBef>
              <a:spcAft>
                <a:spcPts val="0"/>
              </a:spcAft>
              <a:buSzPts val="3000"/>
              <a:buNone/>
            </a:pPr>
            <a:endParaRPr lang="en-US" sz="1800"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 </a:t>
            </a:r>
            <a:r>
              <a:rPr lang="en-US" sz="1800" b="1" dirty="0">
                <a:solidFill>
                  <a:schemeClr val="dk1"/>
                </a:solidFill>
                <a:latin typeface="Atkinson Hyperlegible Next"/>
                <a:ea typeface="Arial"/>
                <a:cs typeface="Arial"/>
                <a:sym typeface="Arial"/>
              </a:rPr>
              <a:t>Peripheral</a:t>
            </a:r>
            <a:r>
              <a:rPr lang="en-US" sz="1800" dirty="0">
                <a:solidFill>
                  <a:schemeClr val="dk1"/>
                </a:solidFill>
                <a:latin typeface="Atkinson Hyperlegible Next"/>
                <a:ea typeface="Arial"/>
                <a:cs typeface="Arial"/>
                <a:sym typeface="Arial"/>
              </a:rPr>
              <a:t> is a hardware device with a specific address in memory that it writes data to and/or reads data from.</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All peripherals can be described by an offset from the </a:t>
            </a:r>
            <a:r>
              <a:rPr lang="en-US" sz="1800" b="1" dirty="0">
                <a:solidFill>
                  <a:schemeClr val="dk1"/>
                </a:solidFill>
                <a:latin typeface="Atkinson Hyperlegible Next"/>
                <a:ea typeface="Arial"/>
                <a:cs typeface="Arial"/>
                <a:sym typeface="Arial"/>
              </a:rPr>
              <a:t>Peripheral Base Address.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On the </a:t>
            </a:r>
            <a:r>
              <a:rPr lang="en-US" sz="1800" dirty="0"/>
              <a:t>TMS320F2837xD, registers are typically </a:t>
            </a:r>
            <a:r>
              <a:rPr lang="en-US" sz="1800" b="1" dirty="0"/>
              <a:t>32-bits </a:t>
            </a:r>
            <a:r>
              <a:rPr lang="en-US" sz="1800" dirty="0"/>
              <a:t>or </a:t>
            </a:r>
            <a:r>
              <a:rPr lang="en-US" sz="1800" b="1" dirty="0"/>
              <a:t>16-bit</a:t>
            </a:r>
            <a:r>
              <a:rPr lang="en-US" sz="1800" dirty="0"/>
              <a:t> wide</a:t>
            </a:r>
          </a:p>
          <a:p>
            <a:pPr marL="0" lvl="0" indent="0">
              <a:lnSpc>
                <a:spcPct val="100000"/>
              </a:lnSpc>
              <a:spcBef>
                <a:spcPts val="0"/>
              </a:spcBef>
              <a:buSzPts val="3000"/>
              <a:buNone/>
            </a:pPr>
            <a:endParaRPr lang="en-US" sz="1800" dirty="0"/>
          </a:p>
          <a:p>
            <a:pPr marL="0" lvl="0" indent="0">
              <a:lnSpc>
                <a:spcPct val="100000"/>
              </a:lnSpc>
              <a:spcBef>
                <a:spcPts val="0"/>
              </a:spcBef>
              <a:buSzPts val="3000"/>
              <a:buNone/>
            </a:pPr>
            <a:r>
              <a:rPr lang="en-US" sz="1800" dirty="0"/>
              <a:t>Each bit usually represents to:</a:t>
            </a:r>
          </a:p>
          <a:p>
            <a:pPr marL="285750" indent="-285750">
              <a:lnSpc>
                <a:spcPct val="100000"/>
              </a:lnSpc>
              <a:spcBef>
                <a:spcPts val="0"/>
              </a:spcBef>
              <a:buSzPts val="3000"/>
            </a:pPr>
            <a:r>
              <a:rPr lang="en-US" sz="1800" dirty="0"/>
              <a:t>A hardware switch (ON / OFF)</a:t>
            </a:r>
          </a:p>
          <a:p>
            <a:pPr marL="285750" indent="-285750">
              <a:lnSpc>
                <a:spcPct val="100000"/>
              </a:lnSpc>
              <a:spcBef>
                <a:spcPts val="0"/>
              </a:spcBef>
              <a:buSzPts val="3000"/>
            </a:pPr>
            <a:r>
              <a:rPr lang="en-US" sz="1800" dirty="0"/>
              <a:t>A configuration option</a:t>
            </a:r>
          </a:p>
          <a:p>
            <a:pPr marL="285750" indent="-285750">
              <a:lnSpc>
                <a:spcPct val="100000"/>
              </a:lnSpc>
              <a:spcBef>
                <a:spcPts val="0"/>
              </a:spcBef>
              <a:buSzPts val="3000"/>
            </a:pPr>
            <a:r>
              <a:rPr lang="en-US" sz="1800" dirty="0"/>
              <a:t>A hardware status flag ( Error code, OK )</a:t>
            </a:r>
          </a:p>
          <a:p>
            <a:pPr marL="285750" indent="-285750">
              <a:lnSpc>
                <a:spcPct val="100000"/>
              </a:lnSpc>
              <a:spcBef>
                <a:spcPts val="0"/>
              </a:spcBef>
              <a:buSzPts val="3000"/>
            </a:pPr>
            <a:endParaRPr lang="en-US" sz="1800" dirty="0"/>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F71C68D-2089-CB5C-59AB-CF864A9E24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014155-4DAB-98B2-4E07-B5E40E0C4B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and 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BF5345-B5BF-16DF-10F0-8E870569DB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D2008-58CF-E5C6-8BFA-8ABFE7BC72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A9BE1D3-C0D7-38B7-7C00-6210784ACDD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ADFA8D-E8F0-AF61-A156-4365E6F5C1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8ED05-543F-E0F7-BCA4-849511BC5E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630CA8-DBBC-0FAA-99D9-5B106C3469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95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4A3F0A-E78E-9730-D0BA-98BFA49501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0E8B25-9CF7-F89B-84D7-9854597C886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t>TI groups peripherals into address regions.</a:t>
            </a:r>
          </a:p>
          <a:p>
            <a:pPr marL="0" indent="0">
              <a:lnSpc>
                <a:spcPct val="100000"/>
              </a:lnSpc>
              <a:spcBef>
                <a:spcPts val="0"/>
              </a:spcBef>
              <a:buSzPts val="3000"/>
              <a:buNone/>
            </a:pPr>
            <a:endParaRPr lang="en-US" sz="1800" dirty="0"/>
          </a:p>
          <a:p>
            <a:pPr marL="0" indent="0">
              <a:lnSpc>
                <a:spcPct val="100000"/>
              </a:lnSpc>
              <a:spcBef>
                <a:spcPts val="0"/>
              </a:spcBef>
              <a:buSzPts val="3000"/>
              <a:buNone/>
            </a:pPr>
            <a:r>
              <a:rPr lang="en-US" sz="1800" dirty="0"/>
              <a:t>For example:</a:t>
            </a:r>
          </a:p>
          <a:p>
            <a:pPr marL="0" indent="0">
              <a:lnSpc>
                <a:spcPct val="100000"/>
              </a:lnSpc>
              <a:spcBef>
                <a:spcPts val="0"/>
              </a:spcBef>
              <a:buSzPts val="3000"/>
              <a:buNone/>
            </a:pPr>
            <a:endParaRPr lang="en-US" sz="1800" dirty="0"/>
          </a:p>
          <a:p>
            <a:pPr marL="285750" indent="-285750">
              <a:lnSpc>
                <a:spcPct val="100000"/>
              </a:lnSpc>
              <a:spcBef>
                <a:spcPts val="0"/>
              </a:spcBef>
              <a:buSzPts val="3000"/>
            </a:pPr>
            <a:r>
              <a:rPr lang="en-US" sz="1800" dirty="0"/>
              <a:t>GPIO register live in one address range</a:t>
            </a:r>
          </a:p>
          <a:p>
            <a:pPr marL="285750" indent="-285750">
              <a:lnSpc>
                <a:spcPct val="100000"/>
              </a:lnSpc>
              <a:spcBef>
                <a:spcPts val="0"/>
              </a:spcBef>
              <a:buSzPts val="3000"/>
            </a:pPr>
            <a:r>
              <a:rPr lang="en-US" sz="1800" dirty="0"/>
              <a:t>Timers in another</a:t>
            </a:r>
          </a:p>
          <a:p>
            <a:pPr marL="285750" indent="-285750">
              <a:lnSpc>
                <a:spcPct val="100000"/>
              </a:lnSpc>
              <a:spcBef>
                <a:spcPts val="0"/>
              </a:spcBef>
              <a:buSzPts val="3000"/>
            </a:pPr>
            <a:r>
              <a:rPr lang="en-US" sz="1800" dirty="0" err="1"/>
              <a:t>ePWM</a:t>
            </a:r>
            <a:r>
              <a:rPr lang="en-US" sz="1800" dirty="0"/>
              <a:t> in another</a:t>
            </a:r>
          </a:p>
          <a:p>
            <a:pPr marL="285750" indent="-285750">
              <a:lnSpc>
                <a:spcPct val="100000"/>
              </a:lnSpc>
              <a:spcBef>
                <a:spcPts val="0"/>
              </a:spcBef>
              <a:buSzPts val="3000"/>
            </a:pPr>
            <a:r>
              <a:rPr lang="en-US" sz="1800" dirty="0"/>
              <a:t>ADC (Analog to Digital Converters ) in another</a:t>
            </a:r>
          </a:p>
          <a:p>
            <a:pPr marL="285750" indent="-285750">
              <a:lnSpc>
                <a:spcPct val="100000"/>
              </a:lnSpc>
              <a:spcBef>
                <a:spcPts val="0"/>
              </a:spcBef>
              <a:buSzPts val="3000"/>
            </a:pPr>
            <a:r>
              <a:rPr lang="en-US" sz="1800" dirty="0" err="1"/>
              <a:t>Etc</a:t>
            </a:r>
            <a:r>
              <a:rPr lang="en-US" sz="1800" dirty="0"/>
              <a:t>…</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Each register is located at:</a:t>
            </a:r>
          </a:p>
          <a:p>
            <a:pPr marL="0" indent="0">
              <a:lnSpc>
                <a:spcPct val="100000"/>
              </a:lnSpc>
              <a:spcBef>
                <a:spcPts val="0"/>
              </a:spcBef>
              <a:buSzPts val="3000"/>
              <a:buNone/>
            </a:pPr>
            <a:endParaRPr lang="en-US" sz="1800" dirty="0"/>
          </a:p>
          <a:p>
            <a:pPr marL="0" indent="0" algn="ctr">
              <a:lnSpc>
                <a:spcPct val="100000"/>
              </a:lnSpc>
              <a:spcBef>
                <a:spcPts val="0"/>
              </a:spcBef>
              <a:buSzPts val="3000"/>
              <a:buNone/>
            </a:pPr>
            <a:r>
              <a:rPr lang="en-US" sz="1800" b="1" dirty="0"/>
              <a:t>Peripheral Base Address + Register Offset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do not need to calculate these </a:t>
            </a:r>
            <a:r>
              <a:rPr lang="en-US" sz="1800" dirty="0">
                <a:latin typeface="Atkinson Hyperlegible Next"/>
                <a:ea typeface="Arial"/>
                <a:cs typeface="Arial"/>
                <a:sym typeface="Arial"/>
                <a:hlinkClick r:id="rId3"/>
              </a:rPr>
              <a:t>addresses manually</a:t>
            </a:r>
            <a:r>
              <a:rPr lang="en-US" sz="1800" dirty="0">
                <a:latin typeface="Atkinson Hyperlegible Next"/>
                <a:ea typeface="Arial"/>
                <a:cs typeface="Arial"/>
                <a:sym typeface="Arial"/>
              </a:rPr>
              <a:t>; TI provides C structures and header files that do this manually.</a:t>
            </a: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EPwm1Regs.</a:t>
            </a:r>
            <a:r>
              <a:rPr lang="en-US" sz="1800" dirty="0">
                <a:solidFill>
                  <a:srgbClr val="0000C0"/>
                </a:solidFill>
                <a:latin typeface="Consolas" panose="020B0609020204030204" pitchFamily="49" charset="0"/>
              </a:rPr>
              <a:t>TBCTL</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CLKDIV</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735B1A7-A140-C0A0-76FF-8562328E31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A597A2-E454-B786-AFB9-579B6E809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Base Address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A08611-B304-CD35-D2C6-87BFF403FD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DAEB88-8BDF-CA9E-F1F9-04EE5C10A7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C30BEF-DCB2-EDB1-C765-2A06F1C7AB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6EE376-804D-D15B-8027-B05926335F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97F45A-48B9-3B23-D9CF-AC6BFCA3CE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9C26A3-2124-2892-7251-E19506A906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322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531F301-BBF7-DF92-6EBE-3E0587DE351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62DBE1-FA05-0946-0A1D-E31DF5AF30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latin typeface="Atkinson Hyperlegible Next"/>
                <a:ea typeface="Arial"/>
                <a:cs typeface="Arial"/>
                <a:sym typeface="Arial"/>
              </a:rPr>
              <a:t>System registers </a:t>
            </a:r>
            <a:r>
              <a:rPr lang="en-US" sz="1800" dirty="0">
                <a:latin typeface="Atkinson Hyperlegible Next"/>
                <a:ea typeface="Arial"/>
                <a:cs typeface="Arial"/>
                <a:sym typeface="Arial"/>
              </a:rPr>
              <a:t>control the </a:t>
            </a:r>
            <a:r>
              <a:rPr lang="en-US" sz="1800" i="1" dirty="0">
                <a:latin typeface="Atkinson Hyperlegible Next"/>
                <a:ea typeface="Arial"/>
                <a:cs typeface="Arial"/>
                <a:sym typeface="Arial"/>
              </a:rPr>
              <a:t>behavior of the CPU itself</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registers affect the </a:t>
            </a:r>
            <a:r>
              <a:rPr lang="en-US" sz="1800" b="1" dirty="0">
                <a:latin typeface="Atkinson Hyperlegible Next"/>
                <a:ea typeface="Arial"/>
                <a:cs typeface="Arial"/>
                <a:sym typeface="Arial"/>
              </a:rPr>
              <a:t>entire chip.</a:t>
            </a:r>
            <a:r>
              <a:rPr lang="en-US" sz="1800" dirty="0">
                <a:latin typeface="Atkinson Hyperlegible Next"/>
                <a:ea typeface="Arial"/>
                <a:cs typeface="Arial"/>
                <a:sym typeface="Arial"/>
              </a:rPr>
              <a:t> These system registers are protected.</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can modify: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Clock configuration</a:t>
            </a:r>
          </a:p>
          <a:p>
            <a:pPr marL="285750" indent="-285750">
              <a:lnSpc>
                <a:spcPct val="100000"/>
              </a:lnSpc>
              <a:spcBef>
                <a:spcPts val="0"/>
              </a:spcBef>
              <a:buSzPts val="3000"/>
            </a:pPr>
            <a:r>
              <a:rPr lang="en-US" sz="1800" dirty="0">
                <a:latin typeface="Atkinson Hyperlegible Next"/>
                <a:ea typeface="Arial"/>
                <a:cs typeface="Arial"/>
                <a:sym typeface="Arial"/>
              </a:rPr>
              <a:t>Resets</a:t>
            </a:r>
          </a:p>
          <a:p>
            <a:pPr marL="285750" indent="-285750">
              <a:lnSpc>
                <a:spcPct val="100000"/>
              </a:lnSpc>
              <a:spcBef>
                <a:spcPts val="0"/>
              </a:spcBef>
              <a:buSzPts val="3000"/>
            </a:pPr>
            <a:r>
              <a:rPr lang="en-US" sz="1800" dirty="0">
                <a:latin typeface="Atkinson Hyperlegible Next"/>
                <a:ea typeface="Arial"/>
                <a:cs typeface="Arial"/>
                <a:sym typeface="Arial"/>
              </a:rPr>
              <a:t>Peripheral interrupts</a:t>
            </a:r>
          </a:p>
          <a:p>
            <a:pPr marL="285750" indent="-285750">
              <a:lnSpc>
                <a:spcPct val="100000"/>
              </a:lnSpc>
              <a:spcBef>
                <a:spcPts val="0"/>
              </a:spcBef>
              <a:buSzPts val="3000"/>
            </a:pPr>
            <a:r>
              <a:rPr lang="en-US" sz="1800" dirty="0">
                <a:latin typeface="Atkinson Hyperlegible Next"/>
                <a:ea typeface="Arial"/>
                <a:cs typeface="Arial"/>
                <a:sym typeface="Arial"/>
              </a:rPr>
              <a:t>Memory configuration</a:t>
            </a:r>
          </a:p>
          <a:p>
            <a:pPr marL="285750" indent="-285750">
              <a:lnSpc>
                <a:spcPct val="100000"/>
              </a:lnSpc>
              <a:spcBef>
                <a:spcPts val="0"/>
              </a:spcBef>
              <a:buSzPts val="3000"/>
            </a:pPr>
            <a:r>
              <a:rPr lang="en-US" sz="1800" dirty="0">
                <a:latin typeface="Atkinson Hyperlegible Next"/>
                <a:ea typeface="Arial"/>
                <a:cs typeface="Arial"/>
                <a:sym typeface="Arial"/>
              </a:rPr>
              <a:t>Timer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Full list is available in </a:t>
            </a:r>
            <a:r>
              <a:rPr lang="en-US" sz="1800" dirty="0">
                <a:latin typeface="Atkinson Hyperlegible Next"/>
                <a:ea typeface="Arial"/>
                <a:cs typeface="Arial"/>
                <a:sym typeface="Arial"/>
                <a:hlinkClick r:id="rId3"/>
              </a:rPr>
              <a:t>Table 3-17 - System Control Base Address Table</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BDD7FD4-3FE9-19BA-F754-C7DB057606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79A8-52A8-01B3-C5F6-8E97FAF6F4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Peripheral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8D369D-85E0-F5B0-1E38-6A002F63DE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AAF780E-DDBE-210F-EBC3-9F8DCE3146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0F64F90-8511-F464-F05A-D27E77FA68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80295F-E227-0193-65CF-CF514DC846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0FC49-B78E-B368-881D-B7F199CEF9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D98819-0AF0-5C1F-E988-A94E1AAB75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3954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4DEFE-17C8-CB12-604A-CE91D6C4D2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F33995-67A6-C92D-4526-9A278F1724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Some registers are protected to prevent accidental damage ( most / all system peripherals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Thus, an additional layer of protection is allowed for accidental writes ( memory leaked code or otherwise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EALLOW</a:t>
            </a:r>
            <a:r>
              <a:rPr lang="en-US" sz="1800" dirty="0">
                <a:latin typeface="Atkinson Hyperlegible Next"/>
                <a:ea typeface="Arial"/>
                <a:cs typeface="Arial"/>
                <a:sym typeface="Arial"/>
              </a:rPr>
              <a:t>: unlocks protected registers</a:t>
            </a:r>
          </a:p>
          <a:p>
            <a:pPr marL="285750" indent="-285750">
              <a:lnSpc>
                <a:spcPct val="100000"/>
              </a:lnSpc>
              <a:spcBef>
                <a:spcPts val="0"/>
              </a:spcBef>
              <a:buSzPts val="3000"/>
            </a:pPr>
            <a:r>
              <a:rPr lang="en-US" sz="1800" b="1" dirty="0">
                <a:latin typeface="Atkinson Hyperlegible Next"/>
                <a:ea typeface="Arial"/>
                <a:cs typeface="Arial"/>
                <a:sym typeface="Arial"/>
              </a:rPr>
              <a:t>EDIS: </a:t>
            </a:r>
            <a:r>
              <a:rPr lang="en-US" sz="1800" dirty="0">
                <a:latin typeface="Atkinson Hyperlegible Next"/>
                <a:ea typeface="Arial"/>
                <a:cs typeface="Arial"/>
                <a:sym typeface="Arial"/>
              </a:rPr>
              <a:t>locks them again</a:t>
            </a:r>
          </a:p>
          <a:p>
            <a:pPr marL="114300" indent="0" algn="l">
              <a:buNone/>
            </a:pPr>
            <a:endParaRPr lang="en-US" sz="1800" dirty="0">
              <a:latin typeface="Atkinson Hyperlegible Next"/>
              <a:cs typeface="Arial"/>
              <a:sym typeface="Arial"/>
            </a:endParaRPr>
          </a:p>
          <a:p>
            <a:pPr marL="114300" indent="0" algn="l">
              <a:buNone/>
            </a:pPr>
            <a:r>
              <a:rPr lang="en-US" sz="1800" dirty="0">
                <a:solidFill>
                  <a:srgbClr val="000000"/>
                </a:solidFill>
                <a:latin typeface="Consolas" panose="020B0609020204030204" pitchFamily="49" charset="0"/>
              </a:rPr>
              <a:t>EALLOW;  </a:t>
            </a:r>
            <a:r>
              <a:rPr lang="en-US" sz="1800" dirty="0">
                <a:solidFill>
                  <a:srgbClr val="3F7F5F"/>
                </a:solidFill>
                <a:latin typeface="Consolas" panose="020B0609020204030204" pitchFamily="49" charset="0"/>
              </a:rPr>
              <a:t>// This is needed to write to EALLOW protected registers</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TIMER0_INT</a:t>
            </a:r>
            <a:r>
              <a:rPr lang="en-US" sz="1800" dirty="0">
                <a:solidFill>
                  <a:srgbClr val="000000"/>
                </a:solidFill>
                <a:latin typeface="Consolas" panose="020B0609020204030204" pitchFamily="49" charset="0"/>
              </a:rPr>
              <a:t> = &amp;cpu_timer0_isr;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TIMER1_INT</a:t>
            </a:r>
            <a:r>
              <a:rPr lang="en-US" sz="1800" dirty="0">
                <a:solidFill>
                  <a:srgbClr val="000000"/>
                </a:solidFill>
                <a:latin typeface="Consolas" panose="020B0609020204030204" pitchFamily="49" charset="0"/>
              </a:rPr>
              <a:t> = &amp;cpu_timer1_isr;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TIMER2_INT</a:t>
            </a:r>
            <a:r>
              <a:rPr lang="en-US" sz="1800" dirty="0">
                <a:solidFill>
                  <a:srgbClr val="000000"/>
                </a:solidFill>
                <a:latin typeface="Consolas" panose="020B0609020204030204" pitchFamily="49" charset="0"/>
              </a:rPr>
              <a:t> = &amp;cpu_timer2_isr;</a:t>
            </a:r>
            <a:endParaRPr lang="en-US" sz="1800" dirty="0">
              <a:latin typeface="Consolas" panose="020B0609020204030204" pitchFamily="49" charset="0"/>
            </a:endParaRPr>
          </a:p>
          <a:p>
            <a:pPr marL="114300" indent="0" algn="l">
              <a:buNone/>
            </a:pPr>
            <a:r>
              <a:rPr lang="en-US" sz="1800" dirty="0" err="1">
                <a:solidFill>
                  <a:srgbClr val="000000"/>
                </a:solidFill>
                <a:latin typeface="Consolas" panose="020B0609020204030204" pitchFamily="49" charset="0"/>
              </a:rPr>
              <a:t>PieVectTable.</a:t>
            </a:r>
            <a:r>
              <a:rPr lang="en-US" sz="1800" dirty="0" err="1">
                <a:solidFill>
                  <a:srgbClr val="0000C0"/>
                </a:solidFill>
                <a:latin typeface="Consolas" panose="020B0609020204030204" pitchFamily="49" charset="0"/>
              </a:rPr>
              <a:t>EMIF_ERROR_INT</a:t>
            </a:r>
            <a:r>
              <a:rPr lang="en-US" sz="1800" dirty="0">
                <a:solidFill>
                  <a:srgbClr val="000000"/>
                </a:solidFill>
                <a:latin typeface="Consolas" panose="020B0609020204030204" pitchFamily="49" charset="0"/>
              </a:rPr>
              <a:t> = &amp;</a:t>
            </a:r>
            <a:r>
              <a:rPr lang="en-US" sz="1800" dirty="0" err="1">
                <a:solidFill>
                  <a:srgbClr val="000000"/>
                </a:solidFill>
                <a:latin typeface="Consolas" panose="020B0609020204030204" pitchFamily="49" charset="0"/>
              </a:rPr>
              <a:t>SWI_isr</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EDIS;    </a:t>
            </a:r>
            <a:r>
              <a:rPr lang="en-US" sz="1800" dirty="0">
                <a:solidFill>
                  <a:srgbClr val="3F7F5F"/>
                </a:solidFill>
                <a:latin typeface="Consolas" panose="020B0609020204030204" pitchFamily="49" charset="0"/>
              </a:rPr>
              <a:t>// This is needed to disable write to EALLOW protected registers</a:t>
            </a:r>
            <a:r>
              <a:rPr lang="en-US" sz="1800" dirty="0">
                <a:solidFill>
                  <a:srgbClr val="000000"/>
                </a:solidFill>
                <a:latin typeface="Consolas" panose="020B0609020204030204" pitchFamily="49" charset="0"/>
              </a:rPr>
              <a:t>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503F74-3799-2E44-B39D-A1560202F8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98A594-0216-9C9B-4CED-9D568D7F7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EALLOW / EDIS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ECC981-9977-ED6B-5D97-285443D5C0E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C30C89-FE20-8A40-8241-4A27471632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5A68DC-47F0-9FA9-2E00-4043F3ACA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340323-31CC-BB85-CB4B-F52E3315EA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7E9565-CC74-46F1-E43E-C685288D7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D5BC91-373A-229E-F874-B2906BBB4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5961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F6B2D5-2790-2B2A-EE21-1B9CD76F33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23406B-5D76-1289-48AD-E257A7B5C37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Peripheral registers control individual hardware modules. Usually do not have any write protection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Timers</a:t>
            </a:r>
          </a:p>
          <a:p>
            <a:pPr marL="285750" indent="-285750">
              <a:lnSpc>
                <a:spcPct val="100000"/>
              </a:lnSpc>
              <a:spcBef>
                <a:spcPts val="0"/>
              </a:spcBef>
              <a:buSzPts val="3000"/>
            </a:pPr>
            <a:r>
              <a:rPr lang="en-US" sz="1800" dirty="0">
                <a:latin typeface="Atkinson Hyperlegible Next"/>
                <a:ea typeface="Arial"/>
                <a:cs typeface="Arial"/>
                <a:sym typeface="Arial"/>
              </a:rPr>
              <a:t>ADC (Analog-to-Digital Converter)</a:t>
            </a:r>
          </a:p>
          <a:p>
            <a:pPr marL="285750" indent="-285750">
              <a:lnSpc>
                <a:spcPct val="100000"/>
              </a:lnSpc>
              <a:spcBef>
                <a:spcPts val="0"/>
              </a:spcBef>
              <a:buSzPts val="3000"/>
            </a:pPr>
            <a:r>
              <a:rPr lang="en-US" sz="1800" dirty="0">
                <a:latin typeface="Atkinson Hyperlegible Next"/>
                <a:ea typeface="Arial"/>
                <a:cs typeface="Arial"/>
                <a:sym typeface="Arial"/>
              </a:rPr>
              <a:t>PWM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Each peripheral has a Read (DAT), Write (SET), Clear (CLEAR) and Toggle (TOGGLE) register.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not use to set</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GPBSET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1</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GPBCLEAR</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0-&gt;1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AEDED1B-5C8B-C160-2651-3A0A180B26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FFC7-9325-B47F-0D01-B173838933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A6F078-9316-17CF-4FBB-DDD54C30ED7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279C1-FA22-DE07-9360-A9F0E8C9A0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FE2136-3D5F-F855-B829-53B490A7D5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D6CCAB-0EAE-E661-F22B-859622804C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DFE9D-6060-ECCC-55AB-4C2BAFB23C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58E183-4506-ED5C-B449-60BC6FC6D2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381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0F0EF0-9C72-2574-550B-51A640D696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2CC2D72-48DF-7031-8F5D-879528208F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There are problems that arise from writing directly to DAT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Writing to DAT requires,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342900">
              <a:lnSpc>
                <a:spcPct val="100000"/>
              </a:lnSpc>
              <a:spcBef>
                <a:spcPts val="0"/>
              </a:spcBef>
              <a:buSzPts val="3000"/>
              <a:buAutoNum type="arabicPeriod"/>
            </a:pPr>
            <a:r>
              <a:rPr lang="en-US" sz="1800" dirty="0">
                <a:latin typeface="Atkinson Hyperlegible Next"/>
                <a:ea typeface="Arial"/>
                <a:cs typeface="Arial"/>
                <a:sym typeface="Arial"/>
              </a:rPr>
              <a:t>Read</a:t>
            </a:r>
          </a:p>
          <a:p>
            <a:pPr marL="342900">
              <a:lnSpc>
                <a:spcPct val="100000"/>
              </a:lnSpc>
              <a:spcBef>
                <a:spcPts val="0"/>
              </a:spcBef>
              <a:buSzPts val="3000"/>
              <a:buAutoNum type="arabicPeriod"/>
            </a:pPr>
            <a:r>
              <a:rPr lang="en-US" sz="1800" dirty="0">
                <a:latin typeface="Atkinson Hyperlegible Next"/>
                <a:ea typeface="Arial"/>
                <a:cs typeface="Arial"/>
                <a:sym typeface="Arial"/>
              </a:rPr>
              <a:t>Modify</a:t>
            </a:r>
          </a:p>
          <a:p>
            <a:pPr marL="342900">
              <a:lnSpc>
                <a:spcPct val="100000"/>
              </a:lnSpc>
              <a:spcBef>
                <a:spcPts val="0"/>
              </a:spcBef>
              <a:buSzPts val="3000"/>
              <a:buAutoNum type="arabicPeriod"/>
            </a:pPr>
            <a:r>
              <a:rPr lang="en-US" sz="1800" dirty="0">
                <a:latin typeface="Atkinson Hyperlegible Next"/>
                <a:ea typeface="Arial"/>
                <a:cs typeface="Arial"/>
                <a:sym typeface="Arial"/>
              </a:rPr>
              <a:t>Write</a:t>
            </a:r>
          </a:p>
          <a:p>
            <a:pPr marL="342900">
              <a:lnSpc>
                <a:spcPct val="100000"/>
              </a:lnSpc>
              <a:spcBef>
                <a:spcPts val="0"/>
              </a:spcBef>
              <a:buSzPts val="3000"/>
              <a:buAutoNum type="arabicPeriod"/>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An interrupt ( code that runs on certain events ) can run between these steps and corrupt data</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SET / CLEAR registers avoid this by being </a:t>
            </a:r>
            <a:r>
              <a:rPr lang="en-US" sz="1800" b="1" dirty="0">
                <a:latin typeface="Atkinson Hyperlegible Next"/>
                <a:ea typeface="Arial"/>
                <a:cs typeface="Arial"/>
                <a:sym typeface="Arial"/>
              </a:rPr>
              <a:t>atomic </a:t>
            </a:r>
            <a:r>
              <a:rPr lang="en-US" sz="1800" dirty="0">
                <a:latin typeface="Atkinson Hyperlegible Next"/>
                <a:ea typeface="Arial"/>
                <a:cs typeface="Arial"/>
                <a:sym typeface="Arial"/>
              </a:rPr>
              <a:t>hardware operations.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Atomic operations guarantee that a variable will be locked during the operations and cannot be modified by anyone else during that time.</a:t>
            </a:r>
          </a:p>
        </p:txBody>
      </p:sp>
      <p:sp>
        <p:nvSpPr>
          <p:cNvPr id="119" name="Google Shape;119;p29">
            <a:extLst>
              <a:ext uri="{FF2B5EF4-FFF2-40B4-BE49-F238E27FC236}">
                <a16:creationId xmlns:a16="http://schemas.microsoft.com/office/drawing/2014/main" id="{8936E051-310E-3991-1272-A29B50D7E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8FAC-3016-0DC7-47B2-7A1F7CF1F5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Using DAT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376A5-18FF-9EE2-2AD5-86886DEE67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FE4DC-246E-0B7A-1155-2834F156A3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D38B8-B1F2-F7F3-DD1F-960665E36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5F70D6-8D81-C290-976A-3B9666E20E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0FE89C-F235-757E-FF80-D6E77047EA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BBF27-0B75-AFF9-68BE-7AA2A40A10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128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29A7ED-CD7B-066A-E85A-D2C7A4615E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669D54-ACA1-0C2B-8720-D54B2F1229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Each </a:t>
            </a:r>
            <a:r>
              <a:rPr lang="en-US" sz="1800" b="1" dirty="0">
                <a:latin typeface="Atkinson Hyperlegible Next"/>
                <a:ea typeface="Arial"/>
                <a:cs typeface="Arial"/>
                <a:sym typeface="Arial"/>
              </a:rPr>
              <a:t>physical </a:t>
            </a:r>
            <a:r>
              <a:rPr lang="en-US" sz="1800" dirty="0">
                <a:latin typeface="Atkinson Hyperlegible Next"/>
                <a:ea typeface="Arial"/>
                <a:cs typeface="Arial"/>
                <a:sym typeface="Arial"/>
              </a:rPr>
              <a:t>pin can serve </a:t>
            </a:r>
            <a:r>
              <a:rPr lang="en-US" sz="1800" b="1" dirty="0">
                <a:latin typeface="Atkinson Hyperlegible Next"/>
                <a:ea typeface="Arial"/>
                <a:cs typeface="Arial"/>
                <a:sym typeface="Arial"/>
                <a:hlinkClick r:id="rId3"/>
              </a:rPr>
              <a:t>multiple functions</a:t>
            </a:r>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GPIO</a:t>
            </a:r>
          </a:p>
          <a:p>
            <a:pPr marL="285750" indent="-285750">
              <a:lnSpc>
                <a:spcPct val="100000"/>
              </a:lnSpc>
              <a:spcBef>
                <a:spcPts val="0"/>
              </a:spcBef>
              <a:buSzPts val="3000"/>
            </a:pPr>
            <a:r>
              <a:rPr lang="en-US" sz="1800" dirty="0">
                <a:latin typeface="Atkinson Hyperlegible Next"/>
                <a:ea typeface="Arial"/>
                <a:cs typeface="Arial"/>
                <a:sym typeface="Arial"/>
              </a:rPr>
              <a:t>PWM</a:t>
            </a:r>
          </a:p>
          <a:p>
            <a:pPr marL="285750" indent="-285750">
              <a:lnSpc>
                <a:spcPct val="100000"/>
              </a:lnSpc>
              <a:spcBef>
                <a:spcPts val="0"/>
              </a:spcBef>
              <a:buSzPts val="3000"/>
            </a:pPr>
            <a:r>
              <a:rPr lang="en-US" sz="1800" dirty="0">
                <a:latin typeface="Atkinson Hyperlegible Next"/>
                <a:ea typeface="Arial"/>
                <a:cs typeface="Arial"/>
                <a:sym typeface="Arial"/>
              </a:rPr>
              <a:t>SPI</a:t>
            </a:r>
          </a:p>
          <a:p>
            <a:pPr marL="285750" indent="-285750">
              <a:lnSpc>
                <a:spcPct val="100000"/>
              </a:lnSpc>
              <a:spcBef>
                <a:spcPts val="0"/>
              </a:spcBef>
              <a:buSzPts val="3000"/>
            </a:pPr>
            <a:r>
              <a:rPr lang="en-US" sz="1800" dirty="0">
                <a:latin typeface="Atkinson Hyperlegible Next"/>
                <a:ea typeface="Arial"/>
                <a:cs typeface="Arial"/>
                <a:sym typeface="Arial"/>
              </a:rPr>
              <a:t>SCI</a:t>
            </a:r>
          </a:p>
          <a:p>
            <a:pPr marL="285750" indent="-285750">
              <a:lnSpc>
                <a:spcPct val="100000"/>
              </a:lnSpc>
              <a:spcBef>
                <a:spcPts val="0"/>
              </a:spcBef>
              <a:buSzPts val="3000"/>
            </a:pPr>
            <a:r>
              <a:rPr lang="en-US" sz="1800" dirty="0">
                <a:latin typeface="Atkinson Hyperlegible Next"/>
                <a:ea typeface="Arial"/>
                <a:cs typeface="Arial"/>
                <a:sym typeface="Arial"/>
              </a:rPr>
              <a:t>CAN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must first select the function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(31,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(31, GPIO_OUTPUT, GPIO_PUSHPULL);</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4FCB565-2A51-4FAB-F9CA-AA6C8868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6F98EE-17CD-DAD4-D51B-0B9C2876FCA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I/O (GPIO)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AF3BA-929C-AE0B-08A8-01C74ECFB2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0601F-1A36-29A7-369C-0A27203E34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D80D43-4E8F-D1F2-D6A7-DA1A3882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76F1D6-C729-98D5-5B26-91653D52E5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892BCB-4425-0FED-DE90-990DFBA18F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AE1D4-767A-022A-A369-081CC884FB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5498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A84038E-8D38-7C8F-6FC0-455DCB7FB0D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2AEC150-34E9-FD6F-9BAD-7E06594702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Bits</a:t>
            </a:r>
            <a:endParaRPr i="0" b="0" sz="1400" dirty="0">
              <a:solidFill>
                <a:srgbClr val="000000"/>
              </a:solidFill>
            </a:endParaRPr>
          </a:p>
        </p:txBody>
      </p:sp>
      <p:grpSp>
        <p:nvGrpSpPr>
          <p:cNvPr id="105" name="Google Shape;105;p28">
            <a:extLst>
              <a:ext uri="{FF2B5EF4-FFF2-40B4-BE49-F238E27FC236}">
                <a16:creationId xmlns:a16="http://schemas.microsoft.com/office/drawing/2014/main" id="{11C85305-70EB-14CE-364A-0ADCA1866DE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C839739-8769-EAEF-9463-89E804E8E31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EB4FC774-FF75-C60A-20C4-F81634344E7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D9286F-6EB3-69F5-58DF-751E98ABD0C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569B4EB-2FD0-AD30-F50E-C241BA4DDEA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B3C5720-5765-357C-A3EB-EFBB786564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79B5572-BDBA-D4B3-4612-D3C744E8AA6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A51ED6C-B8B5-7601-9873-F8E8B1137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A69615E-6CAE-27C3-F85D-B218D9D662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9229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DE9268-7945-FFE5-97A7-B45A0361D0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1B06A-1C2E-6A1E-3C8D-8B2746C028E2}"/>
              </a:ext>
            </a:extLst>
          </p:cNvPr>
          <p:cNvSpPr txBox="1">
            <a:spLocks noGrp="1"/>
          </p:cNvSpPr>
          <p:nvPr>
            <p:ph type="body" idx="1"/>
          </p:nvPr>
        </p:nvSpPr>
        <p:spPr>
          <a:xfrm>
            <a:off x="376809" y="1334279"/>
            <a:ext cx="11177401" cy="214552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reads binary, 1s or 0s; however, for humans it is difficult to understand long string of numbers.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solidFill>
                  <a:schemeClr val="dk1"/>
                </a:solidFill>
                <a:latin typeface="Atkinson Hyperlegible Next"/>
                <a:ea typeface="Arial"/>
                <a:cs typeface="Arial"/>
                <a:sym typeface="Arial"/>
              </a:rPr>
              <a:t>A 32-bit register could be represented as such with 32 bits </a:t>
            </a:r>
            <a:r>
              <a:rPr lang="en-US" sz="1800" dirty="0">
                <a:latin typeface="Atkinson Hyperlegible Next"/>
                <a:ea typeface="Arial"/>
                <a:cs typeface="Arial"/>
                <a:sym typeface="Arial"/>
              </a:rPr>
              <a:t>(unsigned 3,357,083,684):</a:t>
            </a:r>
            <a:endParaRPr lang="en-US" sz="18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0b110010000001100100000100000100100;</a:t>
            </a:r>
          </a:p>
          <a:p>
            <a:pPr marL="0" lvl="0" indent="0" algn="ctr" rtl="0">
              <a:lnSpc>
                <a:spcPct val="100000"/>
              </a:lnSpc>
              <a:spcBef>
                <a:spcPts val="0"/>
              </a:spcBef>
              <a:spcAft>
                <a:spcPts val="0"/>
              </a:spcAft>
              <a:buSzPts val="3000"/>
              <a:buNone/>
            </a:pPr>
            <a:endParaRPr lang="en-US" sz="1800" dirty="0">
              <a:solidFill>
                <a:srgbClr val="000000"/>
              </a:solidFill>
              <a:latin typeface="Consolas" panose="020B0609020204030204" pitchFamily="49" charset="0"/>
              <a:ea typeface="Arial"/>
              <a:cs typeface="Arial"/>
              <a:sym typeface="Arial"/>
            </a:endParaRPr>
          </a:p>
          <a:p>
            <a:pPr marL="0" lvl="0" indent="0"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What is a potential problem?</a:t>
            </a:r>
          </a:p>
        </p:txBody>
      </p:sp>
      <p:sp>
        <p:nvSpPr>
          <p:cNvPr id="119" name="Google Shape;119;p29">
            <a:extLst>
              <a:ext uri="{FF2B5EF4-FFF2-40B4-BE49-F238E27FC236}">
                <a16:creationId xmlns:a16="http://schemas.microsoft.com/office/drawing/2014/main" id="{0D648654-B8E7-6A7C-250D-7F8FA28ABC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40AA82-D9BB-44C6-3DDA-87BE2D46BA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Binary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3B481-F43D-6BB6-C538-88D354B70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6201E1-4BDA-B7D2-65A7-13DC9AF143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A1DB4E-6D4D-8DC9-AA3A-2D6B7E48AE0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97A9CE-6B2C-2500-46AD-16AECA730A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F838EA-2E3A-B71E-A2FA-2BABE0621D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6DA638-7CF5-5C2A-F32C-FE089F744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48F1AF25-5F21-2287-8C45-C570B7ECC68C}"/>
              </a:ext>
            </a:extLst>
          </p:cNvPr>
          <p:cNvSpPr txBox="1"/>
          <p:nvPr/>
        </p:nvSpPr>
        <p:spPr>
          <a:xfrm>
            <a:off x="376807" y="4254500"/>
            <a:ext cx="1118070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Prone to make mistakes if you need to manually type this out! For example, there are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33-bits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above, not 32!</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Why not use Decimal system? Not as simple to convert from decimal to binary!</a:t>
            </a:r>
          </a:p>
        </p:txBody>
      </p:sp>
    </p:spTree>
    <p:extLst>
      <p:ext uri="{BB962C8B-B14F-4D97-AF65-F5344CB8AC3E}">
        <p14:creationId xmlns:p14="http://schemas.microsoft.com/office/powerpoint/2010/main" val="947783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35D5C0-4C41-ED87-68EA-17ABC178F6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28BFA-1E18-359E-4492-E6DEADED63B5}"/>
              </a:ext>
            </a:extLst>
          </p:cNvPr>
          <p:cNvSpPr txBox="1">
            <a:spLocks noGrp="1"/>
          </p:cNvSpPr>
          <p:nvPr>
            <p:ph type="body" idx="1"/>
          </p:nvPr>
        </p:nvSpPr>
        <p:spPr>
          <a:xfrm>
            <a:off x="376809" y="1334279"/>
            <a:ext cx="11177401" cy="10520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Instead of base 10, let’s explore base 16, i.e., hexadecimal base system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Very easy to convert binary to hex (0-9 then A-F):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74EAF3B-345F-0479-2706-C5F0561339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F0E4D0-E790-23C2-2C5D-D247974449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Hexadecimal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F71259-9DE7-40F5-630A-E5129BC53E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BB80D2-43E6-240C-FB51-71CBF8BC68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4F356B-6FEC-7187-AA59-9515521CB6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0CB545-D058-A201-A7DE-B0CAB3EF64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76572C-1F90-D6F3-6426-1CC4D407A5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FDA6F1-B24E-B555-7032-50C7505868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3" name="Table 2">
            <a:extLst>
              <a:ext uri="{FF2B5EF4-FFF2-40B4-BE49-F238E27FC236}">
                <a16:creationId xmlns:a16="http://schemas.microsoft.com/office/drawing/2014/main" id="{312A5808-068D-5FB9-19E9-65DFB027BC68}"/>
              </a:ext>
            </a:extLst>
          </p:cNvPr>
          <p:cNvGraphicFramePr>
            <a:graphicFrameLocks noGrp="1"/>
          </p:cNvGraphicFramePr>
          <p:nvPr>
            <p:extLst>
              <p:ext uri="{D42A27DB-BD31-4B8C-83A1-F6EECF244321}">
                <p14:modId xmlns:p14="http://schemas.microsoft.com/office/powerpoint/2010/main" val="3618201903"/>
              </p:ext>
            </p:extLst>
          </p:nvPr>
        </p:nvGraphicFramePr>
        <p:xfrm>
          <a:off x="1720850" y="2501900"/>
          <a:ext cx="8127999" cy="1854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207646052"/>
                    </a:ext>
                  </a:extLst>
                </a:gridCol>
                <a:gridCol w="2709333">
                  <a:extLst>
                    <a:ext uri="{9D8B030D-6E8A-4147-A177-3AD203B41FA5}">
                      <a16:colId xmlns:a16="http://schemas.microsoft.com/office/drawing/2014/main" val="2445483742"/>
                    </a:ext>
                  </a:extLst>
                </a:gridCol>
                <a:gridCol w="2709333">
                  <a:extLst>
                    <a:ext uri="{9D8B030D-6E8A-4147-A177-3AD203B41FA5}">
                      <a16:colId xmlns:a16="http://schemas.microsoft.com/office/drawing/2014/main" val="2026562162"/>
                    </a:ext>
                  </a:extLst>
                </a:gridCol>
              </a:tblGrid>
              <a:tr h="370840">
                <a:tc>
                  <a:txBody>
                    <a:bodyPr/>
                    <a:lstStyle/>
                    <a:p>
                      <a:r>
                        <a:rPr lang="en-US" dirty="0"/>
                        <a:t>Binary</a:t>
                      </a:r>
                    </a:p>
                  </a:txBody>
                  <a:tcPr/>
                </a:tc>
                <a:tc>
                  <a:txBody>
                    <a:bodyPr/>
                    <a:lstStyle/>
                    <a:p>
                      <a:r>
                        <a:rPr lang="en-US" dirty="0" err="1"/>
                        <a:t>Hexidecimal</a:t>
                      </a:r>
                      <a:endParaRPr lang="en-US" dirty="0"/>
                    </a:p>
                  </a:txBody>
                  <a:tcPr/>
                </a:tc>
                <a:tc>
                  <a:txBody>
                    <a:bodyPr/>
                    <a:lstStyle/>
                    <a:p>
                      <a:r>
                        <a:rPr lang="en-US" dirty="0"/>
                        <a:t>Decimal</a:t>
                      </a:r>
                    </a:p>
                  </a:txBody>
                  <a:tcPr/>
                </a:tc>
                <a:extLst>
                  <a:ext uri="{0D108BD9-81ED-4DB2-BD59-A6C34878D82A}">
                    <a16:rowId xmlns:a16="http://schemas.microsoft.com/office/drawing/2014/main" val="3944417571"/>
                  </a:ext>
                </a:extLst>
              </a:tr>
              <a:tr h="370840">
                <a:tc>
                  <a:txBody>
                    <a:bodyPr/>
                    <a:lstStyle/>
                    <a:p>
                      <a:r>
                        <a:rPr lang="en-US" dirty="0"/>
                        <a:t>0000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3275023116"/>
                  </a:ext>
                </a:extLst>
              </a:tr>
              <a:tr h="370840">
                <a:tc>
                  <a:txBody>
                    <a:bodyPr/>
                    <a:lstStyle/>
                    <a:p>
                      <a:r>
                        <a:rPr lang="en-US" dirty="0"/>
                        <a:t>0001</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2984900594"/>
                  </a:ext>
                </a:extLst>
              </a:tr>
              <a:tr h="370840">
                <a:tc>
                  <a:txBody>
                    <a:bodyPr/>
                    <a:lstStyle/>
                    <a:p>
                      <a:r>
                        <a:rPr lang="en-US" dirty="0"/>
                        <a:t>1010</a:t>
                      </a:r>
                    </a:p>
                  </a:txBody>
                  <a:tcPr/>
                </a:tc>
                <a:tc>
                  <a:txBody>
                    <a:bodyPr/>
                    <a:lstStyle/>
                    <a:p>
                      <a:r>
                        <a:rPr lang="en-US" dirty="0"/>
                        <a:t>A</a:t>
                      </a:r>
                    </a:p>
                  </a:txBody>
                  <a:tcPr/>
                </a:tc>
                <a:tc>
                  <a:txBody>
                    <a:bodyPr/>
                    <a:lstStyle/>
                    <a:p>
                      <a:r>
                        <a:rPr lang="en-US" dirty="0"/>
                        <a:t>10</a:t>
                      </a:r>
                    </a:p>
                  </a:txBody>
                  <a:tcPr/>
                </a:tc>
                <a:extLst>
                  <a:ext uri="{0D108BD9-81ED-4DB2-BD59-A6C34878D82A}">
                    <a16:rowId xmlns:a16="http://schemas.microsoft.com/office/drawing/2014/main" val="2480441898"/>
                  </a:ext>
                </a:extLst>
              </a:tr>
              <a:tr h="370840">
                <a:tc>
                  <a:txBody>
                    <a:bodyPr/>
                    <a:lstStyle/>
                    <a:p>
                      <a:r>
                        <a:rPr lang="en-US" dirty="0"/>
                        <a:t>1111</a:t>
                      </a:r>
                    </a:p>
                  </a:txBody>
                  <a:tcPr/>
                </a:tc>
                <a:tc>
                  <a:txBody>
                    <a:bodyPr/>
                    <a:lstStyle/>
                    <a:p>
                      <a:r>
                        <a:rPr lang="en-US" dirty="0"/>
                        <a:t>F</a:t>
                      </a:r>
                    </a:p>
                  </a:txBody>
                  <a:tcPr/>
                </a:tc>
                <a:tc>
                  <a:txBody>
                    <a:bodyPr/>
                    <a:lstStyle/>
                    <a:p>
                      <a:r>
                        <a:rPr lang="en-US" dirty="0"/>
                        <a:t>15</a:t>
                      </a:r>
                    </a:p>
                  </a:txBody>
                  <a:tcPr/>
                </a:tc>
                <a:extLst>
                  <a:ext uri="{0D108BD9-81ED-4DB2-BD59-A6C34878D82A}">
                    <a16:rowId xmlns:a16="http://schemas.microsoft.com/office/drawing/2014/main" val="1219560062"/>
                  </a:ext>
                </a:extLst>
              </a:tr>
            </a:tbl>
          </a:graphicData>
        </a:graphic>
      </p:graphicFrame>
      <p:sp>
        <p:nvSpPr>
          <p:cNvPr id="4" name="TextBox 3">
            <a:extLst>
              <a:ext uri="{FF2B5EF4-FFF2-40B4-BE49-F238E27FC236}">
                <a16:creationId xmlns:a16="http://schemas.microsoft.com/office/drawing/2014/main" id="{2BEE2F4C-2FDB-0B1E-F74F-1A67D3C37081}"/>
              </a:ext>
            </a:extLst>
          </p:cNvPr>
          <p:cNvSpPr txBox="1"/>
          <p:nvPr/>
        </p:nvSpPr>
        <p:spPr>
          <a:xfrm>
            <a:off x="376807" y="4597400"/>
            <a:ext cx="10910029" cy="1754326"/>
          </a:xfrm>
          <a:prstGeom prst="rect">
            <a:avLst/>
          </a:prstGeom>
          <a:noFill/>
        </p:spPr>
        <p:txBody>
          <a:bodyPr wrap="square" rtlCol="0">
            <a:spAutoFit/>
          </a:bodyPr>
          <a:lstStyle/>
          <a:p>
            <a:r>
              <a:rPr lang="en-US" sz="1800" dirty="0"/>
              <a:t>E</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very 4-bits = 1 hex value, makes things much easier to compress, much easier to look at!</a:t>
            </a:r>
          </a:p>
          <a:p>
            <a:endParaRPr lang="en-US" sz="1800" dirty="0"/>
          </a:p>
          <a:p>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0xC8190824;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5032"/>
                </a:solidFill>
                <a:effectLst/>
                <a:uLnTx/>
                <a:uFillTx/>
                <a:latin typeface="Consolas" panose="020B0609020204030204" pitchFamily="49" charset="0"/>
                <a:cs typeface="Arial"/>
                <a:sym typeface="Arial"/>
              </a:rPr>
              <a:t>int16_t</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rPr>
              <a:t> x = 0x0824;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onsolas" panose="020B0609020204030204" pitchFamily="49" charset="0"/>
            </a:endParaRPr>
          </a:p>
          <a:p>
            <a:pPr lvl="0">
              <a:defRPr/>
            </a:pPr>
            <a:r>
              <a:rPr lang="en-US" sz="1800" dirty="0"/>
              <a:t>Windows Calculator set to programming mode can easily do the conversion!</a:t>
            </a:r>
            <a:endPar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endParaRPr>
          </a:p>
        </p:txBody>
      </p:sp>
    </p:spTree>
    <p:extLst>
      <p:ext uri="{BB962C8B-B14F-4D97-AF65-F5344CB8AC3E}">
        <p14:creationId xmlns:p14="http://schemas.microsoft.com/office/powerpoint/2010/main" val="27694630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56B78-B910-A511-41E5-DB6A25780D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A402EC-2306-AEDB-4671-C167E6DF739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Bit number starts at 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Bit 0 → 2</a:t>
            </a:r>
            <a:r>
              <a:rPr lang="en-US" sz="1800" baseline="30000" dirty="0">
                <a:latin typeface="Atkinson Hyperlegible Next"/>
                <a:ea typeface="Arial"/>
                <a:cs typeface="Arial"/>
                <a:sym typeface="Arial"/>
              </a:rPr>
              <a:t>0</a:t>
            </a:r>
          </a:p>
          <a:p>
            <a:pPr marL="0" indent="0">
              <a:lnSpc>
                <a:spcPct val="100000"/>
              </a:lnSpc>
              <a:spcBef>
                <a:spcPts val="0"/>
              </a:spcBef>
              <a:buSzPts val="3000"/>
              <a:buNone/>
            </a:pPr>
            <a:r>
              <a:rPr lang="en-US" sz="1800" dirty="0">
                <a:latin typeface="Atkinson Hyperlegible Next"/>
                <a:ea typeface="Arial"/>
                <a:cs typeface="Arial"/>
                <a:sym typeface="Arial"/>
              </a:rPr>
              <a:t>Bit 1 → 2</a:t>
            </a:r>
            <a:r>
              <a:rPr lang="en-US" sz="1800" baseline="30000" dirty="0">
                <a:latin typeface="Atkinson Hyperlegible Next"/>
                <a:ea typeface="Arial"/>
                <a:cs typeface="Arial"/>
                <a:sym typeface="Arial"/>
              </a:rPr>
              <a:t>1</a:t>
            </a:r>
          </a:p>
          <a:p>
            <a:pPr marL="0" indent="0">
              <a:lnSpc>
                <a:spcPct val="100000"/>
              </a:lnSpc>
              <a:spcBef>
                <a:spcPts val="0"/>
              </a:spcBef>
              <a:buSzPts val="3000"/>
              <a:buNone/>
            </a:pPr>
            <a:r>
              <a:rPr lang="en-US" sz="1800" dirty="0">
                <a:latin typeface="Atkinson Hyperlegible Next"/>
                <a:ea typeface="Arial"/>
                <a:cs typeface="Arial"/>
                <a:sym typeface="Arial"/>
              </a:rPr>
              <a:t>Bit 5 → 2</a:t>
            </a:r>
            <a:r>
              <a:rPr lang="en-US" sz="1800" baseline="30000" dirty="0">
                <a:latin typeface="Atkinson Hyperlegible Next"/>
                <a:ea typeface="Arial"/>
                <a:cs typeface="Arial"/>
                <a:sym typeface="Arial"/>
              </a:rPr>
              <a:t>5</a:t>
            </a:r>
            <a:r>
              <a:rPr lang="en-US" sz="1800" dirty="0">
                <a:latin typeface="Atkinson Hyperlegible Next"/>
                <a:ea typeface="Arial"/>
                <a:cs typeface="Arial"/>
                <a:sym typeface="Arial"/>
              </a:rPr>
              <a:t> = 32 = 0x20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Creating a bit shifting:</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Left shifting: </a:t>
            </a:r>
            <a:r>
              <a:rPr lang="en-US" sz="1800" dirty="0">
                <a:solidFill>
                  <a:srgbClr val="000000"/>
                </a:solidFill>
                <a:latin typeface="Consolas" panose="020B0609020204030204" pitchFamily="49" charset="0"/>
              </a:rPr>
              <a:t>x &lt;&lt; n</a:t>
            </a:r>
            <a:r>
              <a:rPr lang="en-US" sz="1800" dirty="0">
                <a:latin typeface="Atkinson Hyperlegible Next"/>
                <a:ea typeface="Arial"/>
                <a:cs typeface="Arial"/>
                <a:sym typeface="Arial"/>
              </a:rPr>
              <a:t>, shifts bits in x to the left by n. </a:t>
            </a:r>
            <a:r>
              <a:rPr lang="en-US" sz="1800" dirty="0">
                <a:solidFill>
                  <a:srgbClr val="000000"/>
                </a:solidFill>
                <a:latin typeface="Consolas" panose="020B0609020204030204" pitchFamily="49" charset="0"/>
              </a:rPr>
              <a:t>0b01 &lt;&lt; 1 = 0b10</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Right shifting: </a:t>
            </a:r>
            <a:r>
              <a:rPr lang="en-US" sz="1800" dirty="0">
                <a:solidFill>
                  <a:srgbClr val="000000"/>
                </a:solidFill>
                <a:latin typeface="Consolas" panose="020B0609020204030204" pitchFamily="49" charset="0"/>
              </a:rPr>
              <a:t>x &gt;&gt; n</a:t>
            </a:r>
            <a:r>
              <a:rPr lang="en-US" sz="1800" dirty="0">
                <a:latin typeface="Atkinson Hyperlegible Next"/>
                <a:ea typeface="Arial"/>
                <a:cs typeface="Arial"/>
                <a:sym typeface="Arial"/>
              </a:rPr>
              <a:t>, shifts bits in x to the right by n. </a:t>
            </a:r>
            <a:r>
              <a:rPr lang="en-US" sz="1800" dirty="0">
                <a:solidFill>
                  <a:srgbClr val="000000"/>
                </a:solidFill>
                <a:latin typeface="Consolas" panose="020B0609020204030204" pitchFamily="49" charset="0"/>
              </a:rPr>
              <a:t>0b10 &gt;&gt; 1 = 0b01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Commonly used to create bit “masks”: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bit5Mask = 1 &lt;&lt; 5; </a:t>
            </a:r>
            <a:r>
              <a:rPr lang="en-US" sz="1800" dirty="0">
                <a:solidFill>
                  <a:srgbClr val="3F7F5F"/>
                </a:solidFill>
                <a:latin typeface="Consolas" panose="020B0609020204030204" pitchFamily="49" charset="0"/>
              </a:rPr>
              <a:t>// 0x20, sets only bit 5 to 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are masks? What are they used for?</a:t>
            </a:r>
          </a:p>
        </p:txBody>
      </p:sp>
      <p:sp>
        <p:nvSpPr>
          <p:cNvPr id="119" name="Google Shape;119;p29">
            <a:extLst>
              <a:ext uri="{FF2B5EF4-FFF2-40B4-BE49-F238E27FC236}">
                <a16:creationId xmlns:a16="http://schemas.microsoft.com/office/drawing/2014/main" id="{693A4AA0-51AE-E163-7FE7-4739E99772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AF272-8944-188B-D036-8C03798A0C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Bits, Bit Positions and Masks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5E2F6-45BA-674E-90E9-B88C0123EA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5EB83C3-4FD0-688C-29E9-9B77646B97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1CB886-30B5-E16B-7512-0FECF2C818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6C8AB-ABE1-F2D9-C049-FDE2FB2BBD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D3231A-0FE1-6F0A-EE9E-99664EA2DBD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546CA3-3362-FBB5-200A-AEB28D21F3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1471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A38449-2004-E61B-C218-BE4EBA471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C668CE-8DFA-F2AA-A3DC-923F02B37474}"/>
              </a:ext>
            </a:extLst>
          </p:cNvPr>
          <p:cNvSpPr txBox="1">
            <a:spLocks noGrp="1"/>
          </p:cNvSpPr>
          <p:nvPr>
            <p:ph type="body" idx="1"/>
          </p:nvPr>
        </p:nvSpPr>
        <p:spPr>
          <a:xfrm>
            <a:off x="376809" y="1334279"/>
            <a:ext cx="5173091" cy="293302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15264B"/>
                </a:solidFill>
                <a:latin typeface="Atkinson Hyperlegible Next"/>
                <a:ea typeface="Arial"/>
                <a:cs typeface="Arial"/>
                <a:sym typeface="Arial"/>
              </a:rPr>
              <a:t>AND (&amp;) – Masking</a:t>
            </a:r>
          </a:p>
          <a:p>
            <a:pPr marL="114300" indent="0" algn="l">
              <a:buNone/>
            </a:pPr>
            <a:endParaRPr lang="en-US" sz="1800" b="1" dirty="0">
              <a:solidFill>
                <a:srgbClr val="15264B"/>
              </a:solidFill>
              <a:latin typeface="Atkinson Hyperlegible Next"/>
              <a:cs typeface="Arial"/>
              <a:sym typeface="Arial"/>
            </a:endParaRPr>
          </a:p>
          <a:p>
            <a:pPr marL="114300" indent="0" algn="l">
              <a:buNone/>
            </a:pPr>
            <a:r>
              <a:rPr lang="en-US" sz="1800" b="1" dirty="0">
                <a:solidFill>
                  <a:srgbClr val="7F0055"/>
                </a:solidFill>
                <a:latin typeface="Consolas" panose="020B0609020204030204" pitchFamily="49" charset="0"/>
              </a:rPr>
              <a:t>if</a:t>
            </a:r>
            <a:r>
              <a:rPr lang="en-US" sz="1800" b="1" dirty="0">
                <a:solidFill>
                  <a:srgbClr val="000000"/>
                </a:solidFill>
                <a:latin typeface="Consolas" panose="020B0609020204030204" pitchFamily="49" charset="0"/>
              </a:rPr>
              <a:t> (reg &amp; (1 &lt;&lt; 3)) {</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Bit 3 is set</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lang="en-US" sz="1800" b="1" dirty="0">
                <a:solidFill>
                  <a:srgbClr val="000000"/>
                </a:solidFill>
                <a:latin typeface="Consolas" panose="020B0609020204030204" pitchFamily="49" charset="0"/>
                <a:ea typeface="Arial"/>
                <a:cs typeface="Arial"/>
                <a:sym typeface="Arial"/>
              </a:rPr>
              <a:t>}</a:t>
            </a: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1800" b="1" dirty="0">
              <a:solidFill>
                <a:srgbClr val="15264B"/>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OR    (|)  – Setting Bits</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reg |= (1 &lt;&lt; 3);</a:t>
            </a: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F91230B-08CD-0D0C-39AF-E0ACCC0A41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4473D-21A5-A5D5-D97D-E711034807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Bitwise Operations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1BB5D4-2A0F-5D14-FF14-E9D5E53A71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7FD24E-CA58-4011-2DD0-1DDAEA2FAE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F9A49-48D0-C667-07E1-C31D1B6E7E2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4475F2-CF4E-32CE-BF08-6EF0332A8D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3C5C0-D2D3-C5AC-42C6-64CDE684B4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99DA-8DF4-9904-C8A3-D6D3C78FA7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C5046C5-1945-C6F3-E883-8DDDD61834C0}"/>
              </a:ext>
            </a:extLst>
          </p:cNvPr>
          <p:cNvSpPr txBox="1">
            <a:spLocks/>
          </p:cNvSpPr>
          <p:nvPr/>
        </p:nvSpPr>
        <p:spPr>
          <a:xfrm>
            <a:off x="6713540" y="1334279"/>
            <a:ext cx="5173091" cy="49455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NOT (~) – Clearing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&amp;= ~(1 &lt;&lt; 3);</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XOR (^) – Toggling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 (1 &lt;&lt; 3);</a:t>
            </a: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p:txBody>
      </p:sp>
      <p:graphicFrame>
        <p:nvGraphicFramePr>
          <p:cNvPr id="3" name="Table 2">
            <a:extLst>
              <a:ext uri="{FF2B5EF4-FFF2-40B4-BE49-F238E27FC236}">
                <a16:creationId xmlns:a16="http://schemas.microsoft.com/office/drawing/2014/main" id="{1EE3DE62-4E85-1C4E-5AB7-A55EFC150E57}"/>
              </a:ext>
            </a:extLst>
          </p:cNvPr>
          <p:cNvGraphicFramePr>
            <a:graphicFrameLocks noGrp="1"/>
          </p:cNvGraphicFramePr>
          <p:nvPr>
            <p:extLst>
              <p:ext uri="{D42A27DB-BD31-4B8C-83A1-F6EECF244321}">
                <p14:modId xmlns:p14="http://schemas.microsoft.com/office/powerpoint/2010/main" val="2016186720"/>
              </p:ext>
            </p:extLst>
          </p:nvPr>
        </p:nvGraphicFramePr>
        <p:xfrm>
          <a:off x="1925640" y="4448044"/>
          <a:ext cx="3624260" cy="1524000"/>
        </p:xfrm>
        <a:graphic>
          <a:graphicData uri="http://schemas.openxmlformats.org/drawingml/2006/table">
            <a:tbl>
              <a:tblPr firstRow="1" bandRow="1">
                <a:tableStyleId>{5C22544A-7EE6-4342-B048-85BDC9FD1C3A}</a:tableStyleId>
              </a:tblPr>
              <a:tblGrid>
                <a:gridCol w="724852">
                  <a:extLst>
                    <a:ext uri="{9D8B030D-6E8A-4147-A177-3AD203B41FA5}">
                      <a16:colId xmlns:a16="http://schemas.microsoft.com/office/drawing/2014/main" val="346855582"/>
                    </a:ext>
                  </a:extLst>
                </a:gridCol>
                <a:gridCol w="724852">
                  <a:extLst>
                    <a:ext uri="{9D8B030D-6E8A-4147-A177-3AD203B41FA5}">
                      <a16:colId xmlns:a16="http://schemas.microsoft.com/office/drawing/2014/main" val="1592488445"/>
                    </a:ext>
                  </a:extLst>
                </a:gridCol>
                <a:gridCol w="724852">
                  <a:extLst>
                    <a:ext uri="{9D8B030D-6E8A-4147-A177-3AD203B41FA5}">
                      <a16:colId xmlns:a16="http://schemas.microsoft.com/office/drawing/2014/main" val="3403376714"/>
                    </a:ext>
                  </a:extLst>
                </a:gridCol>
                <a:gridCol w="724852">
                  <a:extLst>
                    <a:ext uri="{9D8B030D-6E8A-4147-A177-3AD203B41FA5}">
                      <a16:colId xmlns:a16="http://schemas.microsoft.com/office/drawing/2014/main" val="903622980"/>
                    </a:ext>
                  </a:extLst>
                </a:gridCol>
                <a:gridCol w="724852">
                  <a:extLst>
                    <a:ext uri="{9D8B030D-6E8A-4147-A177-3AD203B41FA5}">
                      <a16:colId xmlns:a16="http://schemas.microsoft.com/office/drawing/2014/main" val="4093562064"/>
                    </a:ext>
                  </a:extLst>
                </a:gridCol>
              </a:tblGrid>
              <a:tr h="298856">
                <a:tc>
                  <a:txBody>
                    <a:bodyPr/>
                    <a:lstStyle/>
                    <a:p>
                      <a:r>
                        <a:rPr lang="en-US" dirty="0"/>
                        <a:t>REG</a:t>
                      </a:r>
                    </a:p>
                  </a:txBody>
                  <a:tcPr/>
                </a:tc>
                <a:tc>
                  <a:txBody>
                    <a:bodyPr/>
                    <a:lstStyle/>
                    <a:p>
                      <a:r>
                        <a:rPr lang="en-US" dirty="0"/>
                        <a:t>MASK</a:t>
                      </a:r>
                    </a:p>
                  </a:txBody>
                  <a:tcPr/>
                </a:tc>
                <a:tc>
                  <a:txBody>
                    <a:bodyPr/>
                    <a:lstStyle/>
                    <a:p>
                      <a:r>
                        <a:rPr lang="en-US" dirty="0"/>
                        <a:t>AND</a:t>
                      </a:r>
                    </a:p>
                  </a:txBody>
                  <a:tcPr/>
                </a:tc>
                <a:tc>
                  <a:txBody>
                    <a:bodyPr/>
                    <a:lstStyle/>
                    <a:p>
                      <a:r>
                        <a:rPr lang="en-US" dirty="0"/>
                        <a:t>OR</a:t>
                      </a:r>
                    </a:p>
                  </a:txBody>
                  <a:tcPr/>
                </a:tc>
                <a:tc>
                  <a:txBody>
                    <a:bodyPr/>
                    <a:lstStyle/>
                    <a:p>
                      <a:r>
                        <a:rPr lang="en-US" dirty="0"/>
                        <a:t>XOR</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2591078293"/>
                  </a:ext>
                </a:extLst>
              </a:tr>
              <a:tr h="298856">
                <a:tc>
                  <a:txBody>
                    <a:bodyPr/>
                    <a:lstStyle/>
                    <a:p>
                      <a:r>
                        <a:rPr lang="en-US" dirty="0"/>
                        <a:t>0</a:t>
                      </a:r>
                    </a:p>
                  </a:txBody>
                  <a:tcPr/>
                </a:tc>
                <a:tc>
                  <a:txBody>
                    <a:bodyPr/>
                    <a:lstStyle/>
                    <a:p>
                      <a:r>
                        <a:rPr lang="en-US" dirty="0"/>
                        <a:t>1</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922570205"/>
                  </a:ext>
                </a:extLst>
              </a:tr>
              <a:tr h="298856">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3415747797"/>
                  </a:ext>
                </a:extLst>
              </a:tr>
              <a:tr h="298856">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graphicFrame>
        <p:nvGraphicFramePr>
          <p:cNvPr id="5" name="Table 4">
            <a:extLst>
              <a:ext uri="{FF2B5EF4-FFF2-40B4-BE49-F238E27FC236}">
                <a16:creationId xmlns:a16="http://schemas.microsoft.com/office/drawing/2014/main" id="{6BE1C4B3-CD06-5B1D-BFDE-3CBBAD187494}"/>
              </a:ext>
            </a:extLst>
          </p:cNvPr>
          <p:cNvGraphicFramePr>
            <a:graphicFrameLocks noGrp="1"/>
          </p:cNvGraphicFramePr>
          <p:nvPr>
            <p:extLst>
              <p:ext uri="{D42A27DB-BD31-4B8C-83A1-F6EECF244321}">
                <p14:modId xmlns:p14="http://schemas.microsoft.com/office/powerpoint/2010/main" val="3823596159"/>
              </p:ext>
            </p:extLst>
          </p:nvPr>
        </p:nvGraphicFramePr>
        <p:xfrm>
          <a:off x="7660119" y="4752844"/>
          <a:ext cx="1416050" cy="914400"/>
        </p:xfrm>
        <a:graphic>
          <a:graphicData uri="http://schemas.openxmlformats.org/drawingml/2006/table">
            <a:tbl>
              <a:tblPr firstRow="1" bandRow="1">
                <a:tableStyleId>{5C22544A-7EE6-4342-B048-85BDC9FD1C3A}</a:tableStyleId>
              </a:tblPr>
              <a:tblGrid>
                <a:gridCol w="708025">
                  <a:extLst>
                    <a:ext uri="{9D8B030D-6E8A-4147-A177-3AD203B41FA5}">
                      <a16:colId xmlns:a16="http://schemas.microsoft.com/office/drawing/2014/main" val="346855582"/>
                    </a:ext>
                  </a:extLst>
                </a:gridCol>
                <a:gridCol w="708025">
                  <a:extLst>
                    <a:ext uri="{9D8B030D-6E8A-4147-A177-3AD203B41FA5}">
                      <a16:colId xmlns:a16="http://schemas.microsoft.com/office/drawing/2014/main" val="3403376714"/>
                    </a:ext>
                  </a:extLst>
                </a:gridCol>
              </a:tblGrid>
              <a:tr h="298856">
                <a:tc>
                  <a:txBody>
                    <a:bodyPr/>
                    <a:lstStyle/>
                    <a:p>
                      <a:r>
                        <a:rPr lang="en-US" dirty="0"/>
                        <a:t>MASK</a:t>
                      </a:r>
                    </a:p>
                  </a:txBody>
                  <a:tcPr/>
                </a:tc>
                <a:tc>
                  <a:txBody>
                    <a:bodyPr/>
                    <a:lstStyle/>
                    <a:p>
                      <a:r>
                        <a:rPr lang="en-US" dirty="0"/>
                        <a:t>NOT</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591078293"/>
                  </a:ext>
                </a:extLst>
              </a:tr>
              <a:tr h="298856">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spTree>
    <p:extLst>
      <p:ext uri="{BB962C8B-B14F-4D97-AF65-F5344CB8AC3E}">
        <p14:creationId xmlns:p14="http://schemas.microsoft.com/office/powerpoint/2010/main" val="3045116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E79D79B-BD25-AA21-47B4-E81C12A502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CF22A56-36F3-2F36-80D2-E68D3C88AD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Timers</a:t>
            </a:r>
            <a:endParaRPr i="0" b="0" sz="1400" dirty="0">
              <a:solidFill>
                <a:srgbClr val="000000"/>
              </a:solidFill>
            </a:endParaRPr>
          </a:p>
        </p:txBody>
      </p:sp>
      <p:grpSp>
        <p:nvGrpSpPr>
          <p:cNvPr id="105" name="Google Shape;105;p28">
            <a:extLst>
              <a:ext uri="{FF2B5EF4-FFF2-40B4-BE49-F238E27FC236}">
                <a16:creationId xmlns:a16="http://schemas.microsoft.com/office/drawing/2014/main" id="{ED152358-FB50-DD95-DD4A-B2A6E78964C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B577B21-43F8-795D-1EC1-81C8834DD36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CCE0AC3-14DB-782A-523B-9244244AB12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CF2629-2730-A4EB-283A-97444685EAB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9A535D8-D20A-D52E-CE0C-307518C98C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4E8A94F-7828-AB89-1D84-E4F975B0BDF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8F21ABA-161F-3B32-B002-B1E5742FA173}"/>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A606F35-F79B-4318-6B7F-6FF4FEFD3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995E2DE-F38D-FD9C-EE82-F60CBD7D19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5453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CA83B8-C177-16BC-A74B-4B751B8EAA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7CA2A7-D188-B086-D949-D81D019F0415}"/>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Just like a clock that you have; however, in hardware it is EXTREMELY important.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a:t>
            </a:r>
            <a:r>
              <a:rPr lang="en-US" sz="1800" b="1" dirty="0">
                <a:latin typeface="Atkinson Hyperlegible Next"/>
                <a:ea typeface="Arial"/>
                <a:cs typeface="Arial"/>
                <a:sym typeface="Arial"/>
              </a:rPr>
              <a:t>timer </a:t>
            </a:r>
            <a:r>
              <a:rPr lang="en-US" sz="1800" dirty="0">
                <a:latin typeface="Atkinson Hyperlegible Next"/>
                <a:ea typeface="Arial"/>
                <a:cs typeface="Arial"/>
                <a:sym typeface="Arial"/>
              </a:rPr>
              <a:t>is a hardware counter that:</a:t>
            </a:r>
          </a:p>
          <a:p>
            <a:pPr marL="285750" indent="-285750">
              <a:lnSpc>
                <a:spcPct val="100000"/>
              </a:lnSpc>
              <a:spcBef>
                <a:spcPts val="0"/>
              </a:spcBef>
              <a:buSzPts val="3000"/>
            </a:pPr>
            <a:r>
              <a:rPr lang="en-US" sz="1800" dirty="0">
                <a:latin typeface="Atkinson Hyperlegible Next"/>
                <a:ea typeface="Arial"/>
                <a:cs typeface="Arial"/>
                <a:sym typeface="Arial"/>
              </a:rPr>
              <a:t>Counts clock cycles</a:t>
            </a:r>
          </a:p>
          <a:p>
            <a:pPr marL="285750" indent="-285750">
              <a:lnSpc>
                <a:spcPct val="100000"/>
              </a:lnSpc>
              <a:spcBef>
                <a:spcPts val="0"/>
              </a:spcBef>
              <a:buSzPts val="3000"/>
            </a:pPr>
            <a:r>
              <a:rPr lang="en-US" sz="1800" dirty="0">
                <a:latin typeface="Atkinson Hyperlegible Next"/>
                <a:ea typeface="Arial"/>
                <a:cs typeface="Arial"/>
                <a:sym typeface="Arial"/>
              </a:rPr>
              <a:t>Triggers an interrupt when it reaches a specified condition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TMS320F2837xD has </a:t>
            </a:r>
            <a:r>
              <a:rPr lang="en-US" sz="1800" b="1" dirty="0">
                <a:latin typeface="Atkinson Hyperlegible Next"/>
                <a:ea typeface="Arial"/>
                <a:cs typeface="Arial"/>
                <a:sym typeface="Arial"/>
              </a:rPr>
              <a:t>3</a:t>
            </a:r>
            <a:r>
              <a:rPr lang="en-US" sz="1800" dirty="0">
                <a:latin typeface="Atkinson Hyperlegible Next"/>
                <a:ea typeface="Arial"/>
                <a:cs typeface="Arial"/>
                <a:sym typeface="Arial"/>
              </a:rPr>
              <a:t> 32-bit CPU timers. </a:t>
            </a:r>
          </a:p>
          <a:p>
            <a:pPr marL="285750" indent="-285750">
              <a:lnSpc>
                <a:spcPct val="100000"/>
              </a:lnSpc>
              <a:spcBef>
                <a:spcPts val="0"/>
              </a:spcBef>
              <a:buSzPts val="3000"/>
            </a:pPr>
            <a:r>
              <a:rPr lang="en-US" sz="1800" dirty="0">
                <a:latin typeface="Atkinson Hyperlegible Next"/>
                <a:ea typeface="Arial"/>
                <a:cs typeface="Arial"/>
                <a:sym typeface="Arial"/>
              </a:rPr>
              <a:t>CPU-Timer0 and CPU-Timer1 can be used in user applications</a:t>
            </a:r>
          </a:p>
          <a:p>
            <a:pPr marL="285750" indent="-285750">
              <a:lnSpc>
                <a:spcPct val="100000"/>
              </a:lnSpc>
              <a:spcBef>
                <a:spcPts val="0"/>
              </a:spcBef>
              <a:buSzPts val="3000"/>
            </a:pPr>
            <a:r>
              <a:rPr lang="en-US" sz="1800" dirty="0">
                <a:latin typeface="Atkinson Hyperlegible Next"/>
                <a:ea typeface="Arial"/>
                <a:cs typeface="Arial"/>
                <a:sym typeface="Arial"/>
              </a:rPr>
              <a:t>CPU-Timer2 is reserved for real-time operating system uses ( if not being uses in an operating system that uses this timer, it can used in the application).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clocks run off the system’s internal clock (SYSCLK) (CPU-Timer2, has additional options)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System’s internal clock runs at 200 MHz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42FBA-6DEC-D842-33DC-729D877C91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727983-1768-CBE4-0DBC-D9B3EDEDDD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33CCFD-5566-247B-FBA2-4925B9AA6D8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12D56-C24F-6187-AC64-391C7B75F9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95E876-350D-F5F3-72C1-E09DF7F59F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50DB7C-44AA-D61C-EA90-C7AD441830F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E19E11-68A0-7D65-A8FF-1688A4DE7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47E355-A3AD-3658-F4C1-6B87E79F93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96777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B91D7D-A22B-2E01-EF3E-8AAADBCA2A6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513E68-F5B4-D4AA-7617-A64412922F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A271FF-5C0A-6931-09C6-6E892192E4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D01B28-2810-7D4B-EF46-09359AE8F9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06E48CF-02C4-3786-C624-CAEB9610B6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C91540-A329-CFE6-AD20-0CCFBB5C9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5780B7-AD26-AD57-99CF-8F2AE6F14D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6F5EFE-425A-57F5-B80B-2ED738F3EF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BDFBF8-D2A1-B826-2D56-4A845EFF4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CPU-Timer. An AND gate passes SYSCLKOUT to a 16-bit prescale counter only while TCR.4, the timer stop bit, is 0. Each time the prescaler borrows (underflows), it reloads from the 16-bit divide-down register TDDRH:TDDR and decrements the 32-bit counter TIMH:TIM. When that counter borrows, it asserts the interrupt TINT (active low) and reloads from the 32-bit period register PRDH:PRD. OR gates also force both reloads on Reset or Timer reload.">
            <a:extLst>
              <a:ext uri="{FF2B5EF4-FFF2-40B4-BE49-F238E27FC236}">
                <a16:creationId xmlns:a16="http://schemas.microsoft.com/office/drawing/2014/main" id="{0073D16F-1F5B-03A8-350C-E201DDF86E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936" y="1403473"/>
            <a:ext cx="10931900" cy="4508500"/>
          </a:xfrm>
          <a:prstGeom prst="rect">
            <a:avLst/>
          </a:prstGeom>
        </p:spPr>
      </p:pic>
      <p:cxnSp>
        <p:nvCxnSpPr>
          <p:cNvPr id="7" name="Straight Arrow Connector 6">
            <a:extLst>
              <a:ext uri="{FF2B5EF4-FFF2-40B4-BE49-F238E27FC236}">
                <a16:creationId xmlns:a16="http://schemas.microsoft.com/office/drawing/2014/main" id="{65E7B09A-B3ED-A424-09DB-27F506A3B4A7}"/>
              </a:ext>
            </a:extLst>
          </p:cNvPr>
          <p:cNvCxnSpPr>
            <a:cxnSpLocks/>
            <a:stCxn id="12" idx="2"/>
          </p:cNvCxnSpPr>
          <p:nvPr/>
        </p:nvCxnSpPr>
        <p:spPr>
          <a:xfrm>
            <a:off x="3137618" y="1488344"/>
            <a:ext cx="451402" cy="10111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E0B4787-1659-1F7B-FFBB-C958229C8F0D}"/>
              </a:ext>
            </a:extLst>
          </p:cNvPr>
          <p:cNvCxnSpPr>
            <a:cxnSpLocks/>
            <a:stCxn id="12" idx="2"/>
          </p:cNvCxnSpPr>
          <p:nvPr/>
        </p:nvCxnSpPr>
        <p:spPr>
          <a:xfrm>
            <a:off x="3137618" y="1488344"/>
            <a:ext cx="2455462" cy="10882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60C3DC5-06BB-8795-9BF9-E418AF8CB8E4}"/>
              </a:ext>
            </a:extLst>
          </p:cNvPr>
          <p:cNvSpPr txBox="1"/>
          <p:nvPr/>
        </p:nvSpPr>
        <p:spPr>
          <a:xfrm>
            <a:off x="2872160" y="1119012"/>
            <a:ext cx="530915" cy="369332"/>
          </a:xfrm>
          <a:prstGeom prst="rect">
            <a:avLst/>
          </a:prstGeom>
          <a:noFill/>
        </p:spPr>
        <p:txBody>
          <a:bodyPr wrap="none" rtlCol="0">
            <a:spAutoFit/>
          </a:bodyPr>
          <a:lstStyle/>
          <a:p>
            <a:r>
              <a:rPr lang="en-US" sz="1800" dirty="0"/>
              <a:t>OR</a:t>
            </a:r>
          </a:p>
        </p:txBody>
      </p:sp>
      <p:sp>
        <p:nvSpPr>
          <p:cNvPr id="13" name="TextBox 12">
            <a:extLst>
              <a:ext uri="{FF2B5EF4-FFF2-40B4-BE49-F238E27FC236}">
                <a16:creationId xmlns:a16="http://schemas.microsoft.com/office/drawing/2014/main" id="{0F34C39A-A5B3-4719-51D3-59EFDDFBA8E1}"/>
              </a:ext>
            </a:extLst>
          </p:cNvPr>
          <p:cNvSpPr txBox="1"/>
          <p:nvPr/>
        </p:nvSpPr>
        <p:spPr>
          <a:xfrm>
            <a:off x="3067085" y="3189019"/>
            <a:ext cx="671979" cy="369332"/>
          </a:xfrm>
          <a:prstGeom prst="rect">
            <a:avLst/>
          </a:prstGeom>
          <a:noFill/>
        </p:spPr>
        <p:txBody>
          <a:bodyPr wrap="none" rtlCol="0">
            <a:spAutoFit/>
          </a:bodyPr>
          <a:lstStyle/>
          <a:p>
            <a:r>
              <a:rPr lang="en-US" sz="1800" dirty="0"/>
              <a:t>AND</a:t>
            </a:r>
          </a:p>
        </p:txBody>
      </p:sp>
      <p:cxnSp>
        <p:nvCxnSpPr>
          <p:cNvPr id="14" name="Straight Arrow Connector 13">
            <a:extLst>
              <a:ext uri="{FF2B5EF4-FFF2-40B4-BE49-F238E27FC236}">
                <a16:creationId xmlns:a16="http://schemas.microsoft.com/office/drawing/2014/main" id="{4FC930C6-79A9-D8F5-9AC7-95B3C5F621F1}"/>
              </a:ext>
            </a:extLst>
          </p:cNvPr>
          <p:cNvCxnSpPr>
            <a:cxnSpLocks/>
            <a:stCxn id="13" idx="2"/>
          </p:cNvCxnSpPr>
          <p:nvPr/>
        </p:nvCxnSpPr>
        <p:spPr>
          <a:xfrm>
            <a:off x="3403075" y="3558351"/>
            <a:ext cx="185945" cy="8993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6649C05-FA19-F219-E8EB-07FCACFEA66A}"/>
              </a:ext>
            </a:extLst>
          </p:cNvPr>
          <p:cNvSpPr txBox="1"/>
          <p:nvPr/>
        </p:nvSpPr>
        <p:spPr>
          <a:xfrm>
            <a:off x="2200181" y="4979719"/>
            <a:ext cx="671979" cy="369332"/>
          </a:xfrm>
          <a:prstGeom prst="rect">
            <a:avLst/>
          </a:prstGeom>
          <a:noFill/>
        </p:spPr>
        <p:txBody>
          <a:bodyPr wrap="none" rtlCol="0">
            <a:spAutoFit/>
          </a:bodyPr>
          <a:lstStyle/>
          <a:p>
            <a:r>
              <a:rPr lang="en-US" sz="1800" dirty="0"/>
              <a:t>NOT</a:t>
            </a:r>
          </a:p>
        </p:txBody>
      </p:sp>
      <p:cxnSp>
        <p:nvCxnSpPr>
          <p:cNvPr id="21" name="Straight Arrow Connector 20">
            <a:extLst>
              <a:ext uri="{FF2B5EF4-FFF2-40B4-BE49-F238E27FC236}">
                <a16:creationId xmlns:a16="http://schemas.microsoft.com/office/drawing/2014/main" id="{7A251EBD-D8EE-BBA8-0EA8-8B98F08FE1BD}"/>
              </a:ext>
            </a:extLst>
          </p:cNvPr>
          <p:cNvCxnSpPr>
            <a:cxnSpLocks/>
            <a:stCxn id="20" idx="0"/>
          </p:cNvCxnSpPr>
          <p:nvPr/>
        </p:nvCxnSpPr>
        <p:spPr>
          <a:xfrm flipV="1">
            <a:off x="2536171" y="4579094"/>
            <a:ext cx="466109" cy="40062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3761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1DCAA7-AB7C-4F44-1B99-1A44A911816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DA2F02-61B0-A78D-2EC2-1BB08CE8B7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52731B-DFF7-5ADE-6A8A-0C38FE000F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A04C2-9408-8115-FD87-8AB89A69D2E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1E0AF6-7FD1-06AC-1E3A-BDEBCCD555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C3B273-FF26-605D-CB9E-260DDCD3C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45F1F2-163B-3BD0-807B-599047DBCB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7AC88A-A30C-0B6D-270B-465BC160E4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3CF8F2-09A0-9FA8-004C-20D992F4C9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CPU Timer Animation" descr="YouTube video: CPU Timer Animation (Marius Juston)">
            <a:hlinkClick r:id="" action="ppaction://media"/>
            <a:extLst>
              <a:ext uri="{FF2B5EF4-FFF2-40B4-BE49-F238E27FC236}">
                <a16:creationId xmlns:a16="http://schemas.microsoft.com/office/drawing/2014/main" id="{A553F8F7-7DD2-D53E-17D0-2EC475C190E7}"/>
              </a:ext>
            </a:extLst>
          </p:cNvPr>
          <p:cNvPicPr>
            <a:picLocks noRot="1" noChangeAspect="1"/>
          </p:cNvPicPr>
          <p:nvPr>
            <a:videoFile r:link="rId1"/>
          </p:nvPr>
        </p:nvPicPr>
        <p:blipFill>
          <a:blip r:embed="rId5"/>
          <a:stretch>
            <a:fillRect/>
          </a:stretch>
        </p:blipFill>
        <p:spPr>
          <a:xfrm>
            <a:off x="1158582" y="1036296"/>
            <a:ext cx="9354909" cy="5285536"/>
          </a:xfrm>
          <a:prstGeom prst="rect">
            <a:avLst/>
          </a:prstGeom>
        </p:spPr>
      </p:pic>
      <p:sp>
        <p:nvSpPr>
          <p:cNvPr id="3" name="TextBox 2">
            <a:extLst>
              <a:ext uri="{FF2B5EF4-FFF2-40B4-BE49-F238E27FC236}">
                <a16:creationId xmlns:a16="http://schemas.microsoft.com/office/drawing/2014/main" id="{F16E5136-2744-2DAF-4C66-6C9D54524520}"/>
              </a:ext>
            </a:extLst>
          </p:cNvPr>
          <p:cNvSpPr txBox="1"/>
          <p:nvPr/>
        </p:nvSpPr>
        <p:spPr>
          <a:xfrm>
            <a:off x="3799287" y="6335177"/>
            <a:ext cx="4065071" cy="276999"/>
          </a:xfrm>
          <a:prstGeom prst="rect">
            <a:avLst/>
          </a:prstGeom>
          <a:noFill/>
        </p:spPr>
        <p:txBody>
          <a:bodyPr wrap="square" rtlCol="0">
            <a:spAutoFit/>
          </a:bodyPr>
          <a:lstStyle/>
          <a:p>
            <a:pPr algn="ctr"/>
            <a:r>
              <a:rPr lang="en-US" sz="1200" dirty="0">
                <a:hlinkClick r:id="rId6"/>
              </a:rPr>
              <a:t>https://youtu.be/AB0ehpoGNZU?si=qzp9HoeXxZYwsuXb</a:t>
            </a:r>
            <a:r>
              <a:rPr lang="en-US" sz="1200" dirty="0"/>
              <a:t> </a:t>
            </a:r>
          </a:p>
        </p:txBody>
      </p:sp>
    </p:spTree>
    <p:extLst>
      <p:ext uri="{BB962C8B-B14F-4D97-AF65-F5344CB8AC3E}">
        <p14:creationId xmlns:p14="http://schemas.microsoft.com/office/powerpoint/2010/main" val="3286511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5A2408-CA67-6611-DC76-6D35EBFD34E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A597ED4-1ABE-38A8-A789-503D51362E6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are there 2-counter blocks?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 clock: SYSCLKOUT = 200 MHz → </a:t>
            </a:r>
            <a:r>
              <a:rPr lang="en-US" sz="1800" dirty="0" err="1">
                <a:latin typeface="Atkinson Hyperlegible Next"/>
                <a:ea typeface="Arial"/>
                <a:cs typeface="Arial"/>
                <a:sym typeface="Arial"/>
              </a:rPr>
              <a:t>T</a:t>
            </a:r>
            <a:r>
              <a:rPr lang="en-US" sz="1800" baseline="-25000" dirty="0" err="1">
                <a:latin typeface="Atkinson Hyperlegible Next"/>
                <a:ea typeface="Arial"/>
                <a:cs typeface="Arial"/>
                <a:sym typeface="Arial"/>
              </a:rPr>
              <a:t>clk</a:t>
            </a:r>
            <a:r>
              <a:rPr lang="en-US" sz="1800" dirty="0">
                <a:latin typeface="Atkinson Hyperlegible Next"/>
                <a:ea typeface="Arial"/>
                <a:cs typeface="Arial"/>
                <a:sym typeface="Arial"/>
              </a:rPr>
              <a:t> = 2 ns</a:t>
            </a:r>
          </a:p>
          <a:p>
            <a:pPr marL="0" indent="0">
              <a:lnSpc>
                <a:spcPct val="100000"/>
              </a:lnSpc>
              <a:spcBef>
                <a:spcPts val="0"/>
              </a:spcBef>
              <a:buSzPts val="3000"/>
              <a:buNone/>
            </a:pPr>
            <a:endParaRPr lang="en-US" sz="1800" baseline="-250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 is that the clock is too fast for software: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 200 MHz:</a:t>
            </a:r>
          </a:p>
          <a:p>
            <a:pPr marL="285750" indent="-285750">
              <a:lnSpc>
                <a:spcPct val="100000"/>
              </a:lnSpc>
              <a:spcBef>
                <a:spcPts val="0"/>
              </a:spcBef>
              <a:buSzPts val="3000"/>
            </a:pPr>
            <a:r>
              <a:rPr lang="en-US" sz="1800" dirty="0">
                <a:latin typeface="Atkinson Hyperlegible Next"/>
                <a:ea typeface="Arial"/>
                <a:cs typeface="Arial"/>
                <a:sym typeface="Arial"/>
              </a:rPr>
              <a:t>1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 clock ticks</a:t>
            </a:r>
          </a:p>
          <a:p>
            <a:pPr marL="285750" indent="-285750">
              <a:lnSpc>
                <a:spcPct val="100000"/>
              </a:lnSpc>
              <a:spcBef>
                <a:spcPts val="0"/>
              </a:spcBef>
              <a:buSzPts val="3000"/>
            </a:pPr>
            <a:r>
              <a:rPr lang="en-US" sz="1800" dirty="0">
                <a:latin typeface="Atkinson Hyperlegible Next"/>
                <a:ea typeface="Arial"/>
                <a:cs typeface="Arial"/>
                <a:sym typeface="Arial"/>
              </a:rPr>
              <a:t>10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2,000,000 clock ticks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Split the job into 2 counters:</a:t>
            </a:r>
          </a:p>
          <a:p>
            <a:pPr marL="285750" indent="-285750">
              <a:lnSpc>
                <a:spcPct val="100000"/>
              </a:lnSpc>
              <a:spcBef>
                <a:spcPts val="0"/>
              </a:spcBef>
              <a:buSzPts val="3000"/>
            </a:pP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Counter (PSC, TDDR) – Controls speed, defines a unit of time</a:t>
            </a:r>
          </a:p>
          <a:p>
            <a:pPr marL="285750" indent="-285750">
              <a:lnSpc>
                <a:spcPct val="100000"/>
              </a:lnSpc>
              <a:spcBef>
                <a:spcPts val="0"/>
              </a:spcBef>
              <a:buSzPts val="3000"/>
            </a:pPr>
            <a:r>
              <a:rPr lang="en-US" sz="1800" dirty="0">
                <a:latin typeface="Atkinson Hyperlegible Next"/>
                <a:ea typeface="Arial"/>
                <a:cs typeface="Arial"/>
                <a:sym typeface="Arial"/>
              </a:rPr>
              <a:t>Main Timer Counter (TIM, PRD) – Controls duration, how much time should pass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One counter decides how </a:t>
            </a:r>
            <a:r>
              <a:rPr lang="en-US" sz="1800" i="1" dirty="0">
                <a:latin typeface="Atkinson Hyperlegible Next"/>
                <a:ea typeface="Arial"/>
                <a:cs typeface="Arial"/>
                <a:sym typeface="Arial"/>
              </a:rPr>
              <a:t>fast time flows </a:t>
            </a:r>
            <a:r>
              <a:rPr lang="en-US" sz="1800" dirty="0">
                <a:latin typeface="Atkinson Hyperlegible Next"/>
                <a:ea typeface="Arial"/>
                <a:cs typeface="Arial"/>
                <a:sym typeface="Arial"/>
              </a:rPr>
              <a:t>and the other decides </a:t>
            </a:r>
            <a:r>
              <a:rPr lang="en-US" sz="1800" i="1" dirty="0">
                <a:latin typeface="Atkinson Hyperlegible Next"/>
                <a:ea typeface="Arial"/>
                <a:cs typeface="Arial"/>
                <a:sym typeface="Arial"/>
              </a:rPr>
              <a:t>how much time passes.</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With a </a:t>
            </a: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set to TTDR=199 for example, you now have that a single tick for the main timer counter represents a clean 1 </a:t>
            </a:r>
            <a:r>
              <a:rPr lang="el-GR" sz="1800" dirty="0"/>
              <a:t>μ</a:t>
            </a:r>
            <a:r>
              <a:rPr lang="en-US" sz="1800" dirty="0"/>
              <a:t>s, thus, to ensure that your timer runs every 10 </a:t>
            </a:r>
            <a:r>
              <a:rPr lang="en-US" sz="1800" dirty="0" err="1"/>
              <a:t>ms</a:t>
            </a:r>
            <a:r>
              <a:rPr lang="en-US" sz="1800" dirty="0"/>
              <a:t> you can set PRD = 10,000! Much simpler!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C30045-7CC0-39F9-973B-6A9ACB445D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CF0951-1B3E-B309-4F20-4E19E396BA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816700-3D02-C248-14E0-D7385ECBA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98E33C-250B-E218-DEC7-5D52D056BC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4E87641-7FC6-BF33-B11A-0D730B882F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A1D7C8-BB2D-E37E-636E-05687647D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443457-B9B5-8D6F-6CBB-732513501B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AC64C2-1ED3-D0D3-BDF8-D3D9711A18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2011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53FF48-2567-36DF-0E08-872F3456FEE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A3964E-F300-5874-C505-98DA49C7D1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C289BE-F442-1AFA-5A9F-F46ACDF9B8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492385-0078-432E-BA25-52EF8191B2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66DA96-0358-524C-453E-587CB945BB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A910AD-7E91-D4AA-5C35-5E6FF9168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0E51EB-A661-4A04-7D7C-2CF15D53C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F036B1-9043-9AA4-FF3E-C616B36FA3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288E5-6EC6-70D1-18E6-CC3127D03C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how the three CPU timers interrupt the 28x CPU. TIMER0's interrupt, TINT0, goes through the PIE (peripheral interrupt expansion) block, which feeds CPU interrupt lines INT1 through INT12. TIMER1's TINT1 connects directly to INT13, and TIMER2's TINT2 connects directly to INT14. Notes: the timer registers sit on the C28x memory bus, and the timers are synchronized to SYSCLKOUT.">
            <a:extLst>
              <a:ext uri="{FF2B5EF4-FFF2-40B4-BE49-F238E27FC236}">
                <a16:creationId xmlns:a16="http://schemas.microsoft.com/office/drawing/2014/main" id="{2BCB83CC-7AC6-B0A5-00FA-C78A00ADEF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1540" y="1039363"/>
            <a:ext cx="10408920" cy="5282472"/>
          </a:xfrm>
          <a:prstGeom prst="rect">
            <a:avLst/>
          </a:prstGeom>
        </p:spPr>
      </p:pic>
    </p:spTree>
    <p:extLst>
      <p:ext uri="{BB962C8B-B14F-4D97-AF65-F5344CB8AC3E}">
        <p14:creationId xmlns:p14="http://schemas.microsoft.com/office/powerpoint/2010/main" val="2067667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016ADF-792F-CCA1-AA92-D17767A2AD1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F006A6-8226-869F-CC6D-7DF09AF771C4}"/>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timer controls: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Control loop sampling rate ( user defined controller )</a:t>
            </a:r>
          </a:p>
          <a:p>
            <a:pPr marL="285750" indent="-285750">
              <a:lnSpc>
                <a:spcPct val="100000"/>
              </a:lnSpc>
              <a:spcBef>
                <a:spcPts val="0"/>
              </a:spcBef>
              <a:buSzPts val="3000"/>
            </a:pPr>
            <a:r>
              <a:rPr lang="en-US" sz="1800" dirty="0">
                <a:latin typeface="Atkinson Hyperlegible Next"/>
                <a:ea typeface="Arial"/>
                <a:cs typeface="Arial"/>
                <a:sym typeface="Arial"/>
              </a:rPr>
              <a:t>Task scheduling</a:t>
            </a:r>
          </a:p>
          <a:p>
            <a:pPr marL="285750" indent="-285750">
              <a:lnSpc>
                <a:spcPct val="100000"/>
              </a:lnSpc>
              <a:spcBef>
                <a:spcPts val="0"/>
              </a:spcBef>
              <a:buSzPts val="3000"/>
            </a:pPr>
            <a:r>
              <a:rPr lang="en-US" sz="1800" dirty="0">
                <a:latin typeface="Atkinson Hyperlegible Next"/>
                <a:ea typeface="Arial"/>
                <a:cs typeface="Arial"/>
                <a:sym typeface="Arial"/>
              </a:rPr>
              <a:t>PWM updates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Can control interrupt how often the software interrupts get called: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3F7F5F"/>
                </a:solidFill>
                <a:latin typeface="Consolas" panose="020B0609020204030204" pitchFamily="49" charset="0"/>
              </a:rPr>
              <a:t>// Configure CPU-Timer 0, 1, and 2 to interrupt every given period:</a:t>
            </a:r>
          </a:p>
          <a:p>
            <a:pPr marL="114300" indent="0" algn="l">
              <a:buNone/>
            </a:pPr>
            <a:r>
              <a:rPr lang="en-US" sz="1800" dirty="0">
                <a:solidFill>
                  <a:srgbClr val="3F7F5F"/>
                </a:solidFill>
                <a:latin typeface="Consolas" panose="020B0609020204030204" pitchFamily="49" charset="0"/>
              </a:rPr>
              <a:t>// 200MHz CPU Freq,                       Period (in </a:t>
            </a:r>
            <a:r>
              <a:rPr lang="en-US" sz="1800" dirty="0" err="1">
                <a:solidFill>
                  <a:srgbClr val="3F7F5F"/>
                </a:solidFill>
                <a:latin typeface="Consolas" panose="020B0609020204030204" pitchFamily="49" charset="0"/>
              </a:rPr>
              <a:t>uSeconds</a:t>
            </a:r>
            <a:r>
              <a:rPr lang="en-US" sz="1800" dirty="0">
                <a:solidFill>
                  <a:srgbClr val="3F7F5F"/>
                </a:solidFill>
                <a:latin typeface="Consolas" panose="020B0609020204030204" pitchFamily="49" charset="0"/>
              </a:rPr>
              <a:t>)</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(&amp;CpuTimer0, LAUNCHPAD_CPU_FREQUENCY, 10000);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(&amp;CpuTimer1, LAUNCHPAD_CPU_FREQUENCY, 20000);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(&amp;CpuTimer2, LAUNCHPAD_CPU_FREQUENCY, 40000);</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C13347D-81DD-2C1F-7B05-1EF26AA8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62AB7-600D-841A-B491-FB2AE15042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730D0-44C7-EC82-7138-C3802602FF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7CC407-3551-B507-97A4-8F6D91AC58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66AF9F-3916-2F50-2804-4F737D0587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A7FF96-5EBD-79A0-EA80-CD77D906C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274538-35A5-F814-1DC7-4B679DA922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BD0738-AF42-4397-DA92-9C081ABA6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831094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16680"/>
            <a:ext cx="7640969" cy="2024640"/>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8800" b="1" dirty="0">
                <a:solidFill>
                  <a:schemeClr val="lt1"/>
                </a:solidFill>
              </a:rPr>
              <a:t>Questions</a:t>
            </a:r>
            <a:r>
              <a:rPr i="0" lang="en-US" sz="7200" b="1" dirty="0">
                <a:solidFill>
                  <a:schemeClr val="lt1"/>
                </a:solidFill>
              </a:rPr>
              <a:t>?</a:t>
            </a:r>
          </a:p>
          <a:p>
            <a:pPr lvl="0" algn="ctr">
              <a:lnSpc>
                <a:spcPct val="100000"/>
              </a:lnSpc>
              <a:spcBef>
                <a:spcPts val="0"/>
              </a:spcBef>
              <a:spcAft>
                <a:spcPts val="0"/>
              </a:spcAft>
            </a:pPr>
            <a:r>
              <a:rPr i="0" lang="en-US" sz="3200" b="1" dirty="0">
                <a:solidFill>
                  <a:schemeClr val="lt1"/>
                </a:solidFill>
              </a:rPr>
              <a:t>(Lecture Wednesday online or not?)</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1488</TotalTime>
  <Words>2445</Words>
  <Application>Microsoft Office PowerPoint</Application>
  <PresentationFormat>Widescreen</PresentationFormat>
  <Paragraphs>512</Paragraphs>
  <Slides>29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142</cp:revision>
  <dcterms:created xsi:type="dcterms:W3CDTF">2019-01-14T22:06:33Z</dcterms:created>
  <dcterms:modified xsi:type="dcterms:W3CDTF">2026-02-08T02:49:00Z</dcterms:modified>
</cp:coreProperties>
</file>