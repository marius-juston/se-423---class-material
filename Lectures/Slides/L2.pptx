
<file path=[Content_Types].xml><?xml version="1.0" encoding="utf-8"?>
<Types xmlns="http://schemas.openxmlformats.org/package/2006/content-types">
  <Default Extension="jp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metadata" ContentType="application/binary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saveSubsetFonts="1" autoCompressPictures="0">
  <p:sldMasterIdLst>
    <p:sldMasterId id="2147483648" r:id="rId1"/>
  </p:sldMasterIdLst>
  <p:notesMasterIdLst>
    <p:notesMasterId r:id="rId29"/>
  </p:notesMasterIdLst>
  <p:sldIdLst>
    <p:sldId id="256" r:id="rId2"/>
    <p:sldId id="257" r:id="rId3"/>
    <p:sldId id="271" r:id="rId4"/>
    <p:sldId id="274" r:id="rId5"/>
    <p:sldId id="275" r:id="rId6"/>
    <p:sldId id="276" r:id="rId7"/>
    <p:sldId id="258" r:id="rId8"/>
    <p:sldId id="277" r:id="rId9"/>
    <p:sldId id="272" r:id="rId10"/>
    <p:sldId id="278" r:id="rId11"/>
    <p:sldId id="279" r:id="rId12"/>
    <p:sldId id="280" r:id="rId13"/>
    <p:sldId id="281" r:id="rId14"/>
    <p:sldId id="289" r:id="rId15"/>
    <p:sldId id="288" r:id="rId16"/>
    <p:sldId id="282" r:id="rId17"/>
    <p:sldId id="283" r:id="rId18"/>
    <p:sldId id="285" r:id="rId19"/>
    <p:sldId id="286" r:id="rId20"/>
    <p:sldId id="287" r:id="rId21"/>
    <p:sldId id="290" r:id="rId22"/>
    <p:sldId id="291" r:id="rId23"/>
    <p:sldId id="292" r:id="rId24"/>
    <p:sldId id="293" r:id="rId25"/>
    <p:sldId id="294" r:id="rId26"/>
    <p:sldId id="269" r:id="rId27"/>
    <p:sldId id="270" r:id="rId28"/>
  </p:sldIdLst>
  <p:sldSz cx="12192000" cy="6858000"/>
  <p:notesSz cx="6858000" cy="9144000"/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/>
    </p:ext>
    <p:ext uri="http://customooxmlschemas.google.com/">
      <go:slidesCustomData xmlns:go="http://customooxmlschemas.google.com/" xmlns:ahyp="http://schemas.microsoft.com/office/drawing/2018/hyperlinkcolor" xmlns:p15="http://schemas.microsoft.com/office/powerpoint/2012/main" xmlns:p14="http://schemas.microsoft.com/office/powerpoint/2010/main" xmlns:com="http://schemas.openxmlformats.org/drawingml/2006/compatibility" xmlns:pvml="urn:schemas-microsoft-com:office:powerpoint" xmlns:v="urn:schemas-microsoft-com:vml" xmlns:o="urn:schemas-microsoft-com:office:office" xmlns:dgm="http://schemas.openxmlformats.org/drawingml/2006/diagram" xmlns:c="http://schemas.openxmlformats.org/drawingml/2006/chart" xmlns:mv="urn:schemas-microsoft-com:mac:vml" xmlns:mc="http://schemas.openxmlformats.org/markup-compatibility/2006" xmlns="" r:id="rId30" roundtripDataSignature="AMtx7mjKkk5wOoQj6sDPPETbbKgHU96Dzg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66020" autoAdjust="0"/>
  </p:normalViewPr>
  <p:slideViewPr>
    <p:cSldViewPr snapToGrid="0">
      <p:cViewPr varScale="1">
        <p:scale>
          <a:sx n="105" d="100"/>
          <a:sy n="105" d="100"/>
        </p:scale>
        <p:origin x="2418" y="10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34" Type="http://schemas.openxmlformats.org/officeDocument/2006/relationships/tableStyles" Target="tableStyle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notesMaster" Target="notesMasters/notesMaster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customschemas.google.com/relationships/presentationmetadata" Target="metadata"/><Relationship Id="rId8" Type="http://schemas.openxmlformats.org/officeDocument/2006/relationships/slide" Target="slides/slide7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>
            <a:spLocks noGrp="1"/>
          </p:cNvSpPr>
          <p:nvPr>
            <p:ph type="hdr" idx="2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4" name="Google Shape;4;n"/>
          <p:cNvSpPr txBox="1">
            <a:spLocks noGrp="1"/>
          </p:cNvSpPr>
          <p:nvPr>
            <p:ph type="dt" idx="10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5" name="Google Shape;5;n"/>
          <p:cNvSpPr>
            <a:spLocks noGrp="1" noRot="1" noChangeAspect="1"/>
          </p:cNvSpPr>
          <p:nvPr>
            <p:ph type="sldImg" idx="3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6" name="Google Shape;6;n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7" name="Google Shape;7;n"/>
          <p:cNvSpPr txBox="1">
            <a:spLocks noGrp="1"/>
          </p:cNvSpPr>
          <p:nvPr>
            <p:ph type="ftr" idx="11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8" name="Google Shape;8;n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lang="en-US"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26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0" name="Google Shape;80;p26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27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Office</a:t>
            </a:r>
            <a:endParaRPr dirty="0"/>
          </a:p>
        </p:txBody>
      </p:sp>
      <p:sp>
        <p:nvSpPr>
          <p:cNvPr id="87" name="Google Shape;87;p27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">
          <a:extLst>
            <a:ext uri="{FF2B5EF4-FFF2-40B4-BE49-F238E27FC236}">
              <a16:creationId xmlns:a16="http://schemas.microsoft.com/office/drawing/2014/main" id="{811560CD-FFDE-70C6-6183-A453F3E9816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29:notes">
            <a:extLst>
              <a:ext uri="{FF2B5EF4-FFF2-40B4-BE49-F238E27FC236}">
                <a16:creationId xmlns:a16="http://schemas.microsoft.com/office/drawing/2014/main" id="{E57E4E91-ED9F-DE16-BEB6-F07455961AC1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16" name="Google Shape;116;p29:notes">
            <a:extLst>
              <a:ext uri="{FF2B5EF4-FFF2-40B4-BE49-F238E27FC236}">
                <a16:creationId xmlns:a16="http://schemas.microsoft.com/office/drawing/2014/main" id="{063A7F12-DA54-6672-271A-7F884E56D747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3499943449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">
          <a:extLst>
            <a:ext uri="{FF2B5EF4-FFF2-40B4-BE49-F238E27FC236}">
              <a16:creationId xmlns:a16="http://schemas.microsoft.com/office/drawing/2014/main" id="{59F8C6CA-881C-831D-A68C-FC172238B4C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29:notes">
            <a:extLst>
              <a:ext uri="{FF2B5EF4-FFF2-40B4-BE49-F238E27FC236}">
                <a16:creationId xmlns:a16="http://schemas.microsoft.com/office/drawing/2014/main" id="{42E868FB-C2CC-0118-8490-F144740BF9AF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16" name="Google Shape;116;p29:notes">
            <a:extLst>
              <a:ext uri="{FF2B5EF4-FFF2-40B4-BE49-F238E27FC236}">
                <a16:creationId xmlns:a16="http://schemas.microsoft.com/office/drawing/2014/main" id="{8C441899-808F-CE82-1C7A-518EB006097B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3303940779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5">
          <a:extLst>
            <a:ext uri="{FF2B5EF4-FFF2-40B4-BE49-F238E27FC236}">
              <a16:creationId xmlns:a16="http://schemas.microsoft.com/office/drawing/2014/main" id="{99DEDADA-5225-64E9-5957-E6FF531CB85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27:notes">
            <a:extLst>
              <a:ext uri="{FF2B5EF4-FFF2-40B4-BE49-F238E27FC236}">
                <a16:creationId xmlns:a16="http://schemas.microsoft.com/office/drawing/2014/main" id="{B0BF354B-0C63-6FD5-49BB-33D722553DE8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Office</a:t>
            </a:r>
            <a:endParaRPr dirty="0"/>
          </a:p>
        </p:txBody>
      </p:sp>
      <p:sp>
        <p:nvSpPr>
          <p:cNvPr id="87" name="Google Shape;87;p27:notes">
            <a:extLst>
              <a:ext uri="{FF2B5EF4-FFF2-40B4-BE49-F238E27FC236}">
                <a16:creationId xmlns:a16="http://schemas.microsoft.com/office/drawing/2014/main" id="{E1221BEA-B11F-4D08-B7C9-8423E2740917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1486475382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">
          <a:extLst>
            <a:ext uri="{FF2B5EF4-FFF2-40B4-BE49-F238E27FC236}">
              <a16:creationId xmlns:a16="http://schemas.microsoft.com/office/drawing/2014/main" id="{52A0246F-0340-08E7-4D04-E2FBC06922A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29:notes">
            <a:extLst>
              <a:ext uri="{FF2B5EF4-FFF2-40B4-BE49-F238E27FC236}">
                <a16:creationId xmlns:a16="http://schemas.microsoft.com/office/drawing/2014/main" id="{1207A6BB-DBA7-3EB9-E887-D86A8E501119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16" name="Google Shape;116;p29:notes">
            <a:extLst>
              <a:ext uri="{FF2B5EF4-FFF2-40B4-BE49-F238E27FC236}">
                <a16:creationId xmlns:a16="http://schemas.microsoft.com/office/drawing/2014/main" id="{F2B107F5-18B0-AF04-42E2-7B012C2E4F4B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657833455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8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2" name="Google Shape;102;p28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">
          <a:extLst>
            <a:ext uri="{FF2B5EF4-FFF2-40B4-BE49-F238E27FC236}">
              <a16:creationId xmlns:a16="http://schemas.microsoft.com/office/drawing/2014/main" id="{D0F328BB-3062-BEAF-9BC9-E942CCBAA4C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29:notes">
            <a:extLst>
              <a:ext uri="{FF2B5EF4-FFF2-40B4-BE49-F238E27FC236}">
                <a16:creationId xmlns:a16="http://schemas.microsoft.com/office/drawing/2014/main" id="{448D0EEE-2A41-EE1A-0E7B-AC62206417A7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16" name="Google Shape;116;p29:notes">
            <a:extLst>
              <a:ext uri="{FF2B5EF4-FFF2-40B4-BE49-F238E27FC236}">
                <a16:creationId xmlns:a16="http://schemas.microsoft.com/office/drawing/2014/main" id="{A34408D0-82C1-683F-B1BB-9831CA3E95F3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3406275529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">
          <a:extLst>
            <a:ext uri="{FF2B5EF4-FFF2-40B4-BE49-F238E27FC236}">
              <a16:creationId xmlns:a16="http://schemas.microsoft.com/office/drawing/2014/main" id="{10ABBF50-D5B8-2A36-4BAF-6A768B0D23A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29:notes">
            <a:extLst>
              <a:ext uri="{FF2B5EF4-FFF2-40B4-BE49-F238E27FC236}">
                <a16:creationId xmlns:a16="http://schemas.microsoft.com/office/drawing/2014/main" id="{BD005934-3152-262D-A0E2-BB7CC8D73C88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16" name="Google Shape;116;p29:notes">
            <a:extLst>
              <a:ext uri="{FF2B5EF4-FFF2-40B4-BE49-F238E27FC236}">
                <a16:creationId xmlns:a16="http://schemas.microsoft.com/office/drawing/2014/main" id="{5E98563B-6280-6309-9568-9A9B5647CBE1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1589007933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">
          <a:extLst>
            <a:ext uri="{FF2B5EF4-FFF2-40B4-BE49-F238E27FC236}">
              <a16:creationId xmlns:a16="http://schemas.microsoft.com/office/drawing/2014/main" id="{B033A47F-9B51-9DA3-AE26-0AA5862DB68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29:notes">
            <a:extLst>
              <a:ext uri="{FF2B5EF4-FFF2-40B4-BE49-F238E27FC236}">
                <a16:creationId xmlns:a16="http://schemas.microsoft.com/office/drawing/2014/main" id="{CF46D099-5AFF-C207-0BDC-8A3C0DEDF25D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16" name="Google Shape;116;p29:notes">
            <a:extLst>
              <a:ext uri="{FF2B5EF4-FFF2-40B4-BE49-F238E27FC236}">
                <a16:creationId xmlns:a16="http://schemas.microsoft.com/office/drawing/2014/main" id="{9C03A73D-DD03-981A-6693-F8A04A1C9AEB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3548516257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">
          <a:extLst>
            <a:ext uri="{FF2B5EF4-FFF2-40B4-BE49-F238E27FC236}">
              <a16:creationId xmlns:a16="http://schemas.microsoft.com/office/drawing/2014/main" id="{74002A6B-EB3B-2A06-FAEC-A513648D61C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29:notes">
            <a:extLst>
              <a:ext uri="{FF2B5EF4-FFF2-40B4-BE49-F238E27FC236}">
                <a16:creationId xmlns:a16="http://schemas.microsoft.com/office/drawing/2014/main" id="{DCFAE1C1-55CA-47F2-FF7E-7F248239DA98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16" name="Google Shape;116;p29:notes">
            <a:extLst>
              <a:ext uri="{FF2B5EF4-FFF2-40B4-BE49-F238E27FC236}">
                <a16:creationId xmlns:a16="http://schemas.microsoft.com/office/drawing/2014/main" id="{B71781BD-E566-D770-EDE8-9B942F785813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2305174997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">
          <a:extLst>
            <a:ext uri="{FF2B5EF4-FFF2-40B4-BE49-F238E27FC236}">
              <a16:creationId xmlns:a16="http://schemas.microsoft.com/office/drawing/2014/main" id="{AFEB3224-6EB4-EEE0-76DB-9A52492CB7A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29:notes">
            <a:extLst>
              <a:ext uri="{FF2B5EF4-FFF2-40B4-BE49-F238E27FC236}">
                <a16:creationId xmlns:a16="http://schemas.microsoft.com/office/drawing/2014/main" id="{47561A0E-1BE5-4F61-BE5B-8CBA6801C5D0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16" name="Google Shape;116;p29:notes">
            <a:extLst>
              <a:ext uri="{FF2B5EF4-FFF2-40B4-BE49-F238E27FC236}">
                <a16:creationId xmlns:a16="http://schemas.microsoft.com/office/drawing/2014/main" id="{D097315A-647C-E042-AC77-19E49FDB0CEE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3853632764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">
          <a:extLst>
            <a:ext uri="{FF2B5EF4-FFF2-40B4-BE49-F238E27FC236}">
              <a16:creationId xmlns:a16="http://schemas.microsoft.com/office/drawing/2014/main" id="{7EBBE47C-1410-32AE-729F-5B98D7836A7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29:notes">
            <a:extLst>
              <a:ext uri="{FF2B5EF4-FFF2-40B4-BE49-F238E27FC236}">
                <a16:creationId xmlns:a16="http://schemas.microsoft.com/office/drawing/2014/main" id="{1F69EBCF-4BA4-B717-E614-7BEA4583EAB8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16" name="Google Shape;116;p29:notes">
            <a:extLst>
              <a:ext uri="{FF2B5EF4-FFF2-40B4-BE49-F238E27FC236}">
                <a16:creationId xmlns:a16="http://schemas.microsoft.com/office/drawing/2014/main" id="{27A7160F-67A9-C867-66CA-AD70B790684E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487119120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">
          <a:extLst>
            <a:ext uri="{FF2B5EF4-FFF2-40B4-BE49-F238E27FC236}">
              <a16:creationId xmlns:a16="http://schemas.microsoft.com/office/drawing/2014/main" id="{794DC85B-66B2-7866-DF76-9CE4CC30529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29:notes">
            <a:extLst>
              <a:ext uri="{FF2B5EF4-FFF2-40B4-BE49-F238E27FC236}">
                <a16:creationId xmlns:a16="http://schemas.microsoft.com/office/drawing/2014/main" id="{AA61A4E4-2CAE-F878-F6B3-20A53101E437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16" name="Google Shape;116;p29:notes">
            <a:extLst>
              <a:ext uri="{FF2B5EF4-FFF2-40B4-BE49-F238E27FC236}">
                <a16:creationId xmlns:a16="http://schemas.microsoft.com/office/drawing/2014/main" id="{B048AB98-5666-C342-A3FC-843A2F4005C2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3100557205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">
          <a:extLst>
            <a:ext uri="{FF2B5EF4-FFF2-40B4-BE49-F238E27FC236}">
              <a16:creationId xmlns:a16="http://schemas.microsoft.com/office/drawing/2014/main" id="{19B708F8-F9B3-A837-B9C4-DCCC50285F2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29:notes">
            <a:extLst>
              <a:ext uri="{FF2B5EF4-FFF2-40B4-BE49-F238E27FC236}">
                <a16:creationId xmlns:a16="http://schemas.microsoft.com/office/drawing/2014/main" id="{00452604-A62A-ED78-B359-E8A75AF74D6E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16" name="Google Shape;116;p29:notes">
            <a:extLst>
              <a:ext uri="{FF2B5EF4-FFF2-40B4-BE49-F238E27FC236}">
                <a16:creationId xmlns:a16="http://schemas.microsoft.com/office/drawing/2014/main" id="{6B7B2FF8-2C4F-5CB1-3239-E7CBC2F03DFB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88672924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0">
          <a:extLst>
            <a:ext uri="{FF2B5EF4-FFF2-40B4-BE49-F238E27FC236}">
              <a16:creationId xmlns:a16="http://schemas.microsoft.com/office/drawing/2014/main" id="{17EEF92A-11BD-547F-79EF-F86417EB9DE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8:notes">
            <a:extLst>
              <a:ext uri="{FF2B5EF4-FFF2-40B4-BE49-F238E27FC236}">
                <a16:creationId xmlns:a16="http://schemas.microsoft.com/office/drawing/2014/main" id="{D25C9E05-4B9F-0482-DCA1-B0B8B43B6BAB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2" name="Google Shape;102;p28:notes">
            <a:extLst>
              <a:ext uri="{FF2B5EF4-FFF2-40B4-BE49-F238E27FC236}">
                <a16:creationId xmlns:a16="http://schemas.microsoft.com/office/drawing/2014/main" id="{13E967EC-FB0F-76F4-41CE-28BE02EEBC63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3563451079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">
          <a:extLst>
            <a:ext uri="{FF2B5EF4-FFF2-40B4-BE49-F238E27FC236}">
              <a16:creationId xmlns:a16="http://schemas.microsoft.com/office/drawing/2014/main" id="{A024E206-363E-2299-0F09-D6B63492CCE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29:notes">
            <a:extLst>
              <a:ext uri="{FF2B5EF4-FFF2-40B4-BE49-F238E27FC236}">
                <a16:creationId xmlns:a16="http://schemas.microsoft.com/office/drawing/2014/main" id="{7EA92925-55FF-E76F-15C2-FC28F0C5EC4E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16" name="Google Shape;116;p29:notes">
            <a:extLst>
              <a:ext uri="{FF2B5EF4-FFF2-40B4-BE49-F238E27FC236}">
                <a16:creationId xmlns:a16="http://schemas.microsoft.com/office/drawing/2014/main" id="{26A6F3AA-3CC5-A3F3-676B-A7B12D0F033E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2961996160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">
          <a:extLst>
            <a:ext uri="{FF2B5EF4-FFF2-40B4-BE49-F238E27FC236}">
              <a16:creationId xmlns:a16="http://schemas.microsoft.com/office/drawing/2014/main" id="{D034BFA0-409F-8E5C-E177-49C39027971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29:notes">
            <a:extLst>
              <a:ext uri="{FF2B5EF4-FFF2-40B4-BE49-F238E27FC236}">
                <a16:creationId xmlns:a16="http://schemas.microsoft.com/office/drawing/2014/main" id="{41E3EBC8-3303-D860-6253-0D12D7571F87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16" name="Google Shape;116;p29:notes">
            <a:extLst>
              <a:ext uri="{FF2B5EF4-FFF2-40B4-BE49-F238E27FC236}">
                <a16:creationId xmlns:a16="http://schemas.microsoft.com/office/drawing/2014/main" id="{0744C7E3-F152-5E42-1DFF-E9F5E8BFD0AE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1497804574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">
          <a:extLst>
            <a:ext uri="{FF2B5EF4-FFF2-40B4-BE49-F238E27FC236}">
              <a16:creationId xmlns:a16="http://schemas.microsoft.com/office/drawing/2014/main" id="{5567EDA8-189A-FF31-EEA4-BFDEFB7542D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29:notes">
            <a:extLst>
              <a:ext uri="{FF2B5EF4-FFF2-40B4-BE49-F238E27FC236}">
                <a16:creationId xmlns:a16="http://schemas.microsoft.com/office/drawing/2014/main" id="{F2574A4B-9DFB-F15E-6A3F-93ED47809320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16" name="Google Shape;116;p29:notes">
            <a:extLst>
              <a:ext uri="{FF2B5EF4-FFF2-40B4-BE49-F238E27FC236}">
                <a16:creationId xmlns:a16="http://schemas.microsoft.com/office/drawing/2014/main" id="{72933390-70FC-29A4-5F57-4643D9DD6F3F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3120819719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">
          <a:extLst>
            <a:ext uri="{FF2B5EF4-FFF2-40B4-BE49-F238E27FC236}">
              <a16:creationId xmlns:a16="http://schemas.microsoft.com/office/drawing/2014/main" id="{0F2006E7-F7A3-4600-5DF7-132BC6D5D38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29:notes">
            <a:extLst>
              <a:ext uri="{FF2B5EF4-FFF2-40B4-BE49-F238E27FC236}">
                <a16:creationId xmlns:a16="http://schemas.microsoft.com/office/drawing/2014/main" id="{5C408A8B-FDB8-10D9-B6AB-930AAE13B931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16" name="Google Shape;116;p29:notes">
            <a:extLst>
              <a:ext uri="{FF2B5EF4-FFF2-40B4-BE49-F238E27FC236}">
                <a16:creationId xmlns:a16="http://schemas.microsoft.com/office/drawing/2014/main" id="{BE92A5C7-FBBB-282D-4177-16D9146F0B29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157442152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0">
          <a:extLst>
            <a:ext uri="{FF2B5EF4-FFF2-40B4-BE49-F238E27FC236}">
              <a16:creationId xmlns:a16="http://schemas.microsoft.com/office/drawing/2014/main" id="{245A87DC-1043-F839-5736-AAAB23CA056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8:notes">
            <a:extLst>
              <a:ext uri="{FF2B5EF4-FFF2-40B4-BE49-F238E27FC236}">
                <a16:creationId xmlns:a16="http://schemas.microsoft.com/office/drawing/2014/main" id="{5377813C-5A87-2AB6-9674-BA6B74863BE2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2" name="Google Shape;102;p28:notes">
            <a:extLst>
              <a:ext uri="{FF2B5EF4-FFF2-40B4-BE49-F238E27FC236}">
                <a16:creationId xmlns:a16="http://schemas.microsoft.com/office/drawing/2014/main" id="{06E4E8F5-A940-EB06-7D89-C15348C45498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2254957679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">
          <a:extLst>
            <a:ext uri="{FF2B5EF4-FFF2-40B4-BE49-F238E27FC236}">
              <a16:creationId xmlns:a16="http://schemas.microsoft.com/office/drawing/2014/main" id="{C3C8E97F-C54B-48AE-D971-3484584C631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29:notes">
            <a:extLst>
              <a:ext uri="{FF2B5EF4-FFF2-40B4-BE49-F238E27FC236}">
                <a16:creationId xmlns:a16="http://schemas.microsoft.com/office/drawing/2014/main" id="{14170352-F1D7-9831-693B-D0DE6316CBB5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16" name="Google Shape;116;p29:notes">
            <a:extLst>
              <a:ext uri="{FF2B5EF4-FFF2-40B4-BE49-F238E27FC236}">
                <a16:creationId xmlns:a16="http://schemas.microsoft.com/office/drawing/2014/main" id="{A7FE9A8A-3B96-16ED-CD9A-EC675FDE4F5D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4001518452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">
          <a:extLst>
            <a:ext uri="{FF2B5EF4-FFF2-40B4-BE49-F238E27FC236}">
              <a16:creationId xmlns:a16="http://schemas.microsoft.com/office/drawing/2014/main" id="{6868A8AE-3822-5138-D4AB-80720FACD54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29:notes">
            <a:extLst>
              <a:ext uri="{FF2B5EF4-FFF2-40B4-BE49-F238E27FC236}">
                <a16:creationId xmlns:a16="http://schemas.microsoft.com/office/drawing/2014/main" id="{9188A369-6B99-117F-1BAE-0A0CD3BE4CA9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r>
              <a:rPr lang="en-US" b="1" dirty="0"/>
              <a:t>SYSCLKOUT</a:t>
            </a:r>
            <a:r>
              <a:rPr lang="en-US" dirty="0"/>
              <a:t> is the system clock (e.g., 200 MHz).</a:t>
            </a:r>
          </a:p>
          <a:p>
            <a:r>
              <a:rPr lang="en-US" b="1" dirty="0"/>
              <a:t>TCR.4</a:t>
            </a:r>
            <a:r>
              <a:rPr lang="en-US" dirty="0"/>
              <a:t> is the </a:t>
            </a:r>
            <a:r>
              <a:rPr lang="en-US" i="1" dirty="0"/>
              <a:t>Timer Control Register bit</a:t>
            </a:r>
            <a:r>
              <a:rPr lang="en-US" dirty="0"/>
              <a:t> that enables or disables counting.</a:t>
            </a: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 lang="en-US" dirty="0"/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en-US" dirty="0"/>
              <a:t>The timer only receives clock pulses when software sets the START bit. This is why timers do </a:t>
            </a:r>
            <a:r>
              <a:rPr lang="en-US" i="1" dirty="0"/>
              <a:t>nothing</a:t>
            </a:r>
            <a:r>
              <a:rPr lang="en-US" dirty="0"/>
              <a:t> until you explicitly enable them in software.</a:t>
            </a: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 lang="en-US" dirty="0"/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 lang="en-US" dirty="0"/>
          </a:p>
          <a:p>
            <a:r>
              <a:rPr lang="en-US" b="1" dirty="0"/>
              <a:t>16-bit Divide-Down (TDDRH:TDDR)</a:t>
            </a:r>
          </a:p>
          <a:p>
            <a:r>
              <a:rPr lang="en-US" dirty="0"/>
              <a:t>This block divides the incoming clock frequency.</a:t>
            </a:r>
          </a:p>
          <a:p>
            <a:r>
              <a:rPr lang="en-US" dirty="0"/>
              <a:t>This allows the timer to operate at manageable speeds</a:t>
            </a:r>
          </a:p>
          <a:p>
            <a:endParaRPr lang="en-US" dirty="0"/>
          </a:p>
          <a:p>
            <a:endParaRPr lang="en-US" dirty="0"/>
          </a:p>
          <a:p>
            <a:pPr marL="457200" marR="0" lvl="0" indent="-2286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tabLst/>
              <a:defRPr/>
            </a:pPr>
            <a:r>
              <a:rPr lang="en-US" b="1" dirty="0"/>
              <a:t>16-bit </a:t>
            </a:r>
            <a:r>
              <a:rPr lang="en-US" b="1" dirty="0" err="1"/>
              <a:t>Prescale</a:t>
            </a:r>
            <a:r>
              <a:rPr lang="en-US" b="1" dirty="0"/>
              <a:t> Counter (PSCH:PSC)</a:t>
            </a:r>
          </a:p>
          <a:p>
            <a:r>
              <a:rPr lang="en-US" dirty="0"/>
              <a:t>This is an additional counter that:</a:t>
            </a:r>
          </a:p>
          <a:p>
            <a:r>
              <a:rPr lang="en-US" dirty="0"/>
              <a:t>Counts down</a:t>
            </a:r>
          </a:p>
          <a:p>
            <a:r>
              <a:rPr lang="en-US" dirty="0"/>
              <a:t>Generates a </a:t>
            </a:r>
            <a:r>
              <a:rPr lang="en-US" b="1" dirty="0"/>
              <a:t>borrow</a:t>
            </a:r>
            <a:r>
              <a:rPr lang="en-US" dirty="0"/>
              <a:t> when it underflows</a:t>
            </a:r>
          </a:p>
          <a:p>
            <a:r>
              <a:rPr lang="en-US" dirty="0"/>
              <a:t>That borrow is what advances the main 32-bit timer.</a:t>
            </a:r>
          </a:p>
          <a:p>
            <a:pPr marL="457200" marR="0" lvl="0" indent="-2286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tabLst/>
              <a:defRPr/>
            </a:pPr>
            <a:r>
              <a:rPr lang="en-US" dirty="0"/>
              <a:t>The </a:t>
            </a:r>
            <a:r>
              <a:rPr lang="en-US" dirty="0" err="1"/>
              <a:t>prescaler</a:t>
            </a:r>
            <a:r>
              <a:rPr lang="en-US" dirty="0"/>
              <a:t> slows time down before it reaches the main timer counter.</a:t>
            </a:r>
          </a:p>
          <a:p>
            <a:pPr marL="457200" marR="0" lvl="0" indent="-2286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tabLst/>
              <a:defRPr/>
            </a:pPr>
            <a:endParaRPr lang="en-US" dirty="0"/>
          </a:p>
          <a:p>
            <a:pPr marL="457200" marR="0" lvl="0" indent="-2286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tabLst/>
              <a:defRPr/>
            </a:pPr>
            <a:r>
              <a:rPr lang="sv-SE" b="1" dirty="0"/>
              <a:t>32-bit Period Register (PRDH:PRD)</a:t>
            </a:r>
          </a:p>
          <a:p>
            <a:pPr marL="457200" marR="0" lvl="0" indent="-2286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tabLst/>
              <a:defRPr/>
            </a:pPr>
            <a:r>
              <a:rPr lang="en-US" dirty="0"/>
              <a:t>This is the value the timer reloads </a:t>
            </a:r>
            <a:r>
              <a:rPr lang="en-US" b="1" dirty="0"/>
              <a:t>from</a:t>
            </a:r>
            <a:r>
              <a:rPr lang="en-US" dirty="0"/>
              <a:t>.</a:t>
            </a:r>
          </a:p>
          <a:p>
            <a:pPr marL="457200" marR="0" lvl="0" indent="-2286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tabLst/>
              <a:defRPr/>
            </a:pPr>
            <a:endParaRPr lang="en-US" dirty="0"/>
          </a:p>
          <a:p>
            <a:pPr marL="457200" marR="0" lvl="0" indent="-2286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tabLst/>
              <a:defRPr/>
            </a:pPr>
            <a:endParaRPr lang="en-US" dirty="0"/>
          </a:p>
          <a:p>
            <a:r>
              <a:rPr lang="en-US" b="1" dirty="0"/>
              <a:t>32-bit Counter (TIMH:TIM)</a:t>
            </a:r>
          </a:p>
          <a:p>
            <a:r>
              <a:rPr lang="en-US" dirty="0"/>
              <a:t>This is the </a:t>
            </a:r>
            <a:r>
              <a:rPr lang="en-US" b="1" dirty="0"/>
              <a:t>actual counter</a:t>
            </a:r>
            <a:r>
              <a:rPr lang="en-US" dirty="0"/>
              <a:t>:</a:t>
            </a:r>
          </a:p>
          <a:p>
            <a:r>
              <a:rPr lang="en-US" dirty="0"/>
              <a:t>Decrements every </a:t>
            </a:r>
            <a:r>
              <a:rPr lang="en-US" dirty="0" err="1"/>
              <a:t>prescaled</a:t>
            </a:r>
            <a:r>
              <a:rPr lang="en-US" dirty="0"/>
              <a:t> clock tick</a:t>
            </a:r>
          </a:p>
          <a:p>
            <a:r>
              <a:rPr lang="en-US" dirty="0"/>
              <a:t>When it reaches zero:</a:t>
            </a:r>
          </a:p>
          <a:p>
            <a:pPr lvl="0"/>
            <a:r>
              <a:rPr lang="en-US" dirty="0"/>
              <a:t>A borrow occurs</a:t>
            </a:r>
          </a:p>
          <a:p>
            <a:pPr lvl="0"/>
            <a:r>
              <a:rPr lang="en-US" dirty="0"/>
              <a:t>An interrupt is generated</a:t>
            </a:r>
          </a:p>
          <a:p>
            <a:pPr lvl="0"/>
            <a:r>
              <a:rPr lang="en-US" dirty="0"/>
              <a:t>The counter reloads from PRD</a:t>
            </a:r>
          </a:p>
          <a:p>
            <a:pPr marL="457200" marR="0" lvl="0" indent="-2286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tabLst/>
              <a:defRPr/>
            </a:pPr>
            <a:endParaRPr lang="en-US" dirty="0"/>
          </a:p>
          <a:p>
            <a:endParaRPr lang="en-US" dirty="0"/>
          </a:p>
          <a:p>
            <a:endParaRPr lang="en-US" dirty="0"/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 lang="en-US" dirty="0"/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 dirty="0"/>
          </a:p>
        </p:txBody>
      </p:sp>
      <p:sp>
        <p:nvSpPr>
          <p:cNvPr id="116" name="Google Shape;116;p29:notes">
            <a:extLst>
              <a:ext uri="{FF2B5EF4-FFF2-40B4-BE49-F238E27FC236}">
                <a16:creationId xmlns:a16="http://schemas.microsoft.com/office/drawing/2014/main" id="{75C88DC5-6882-AE62-38F7-1B560EA4202D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267327272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">
          <a:extLst>
            <a:ext uri="{FF2B5EF4-FFF2-40B4-BE49-F238E27FC236}">
              <a16:creationId xmlns:a16="http://schemas.microsoft.com/office/drawing/2014/main" id="{38C5D6C7-5422-60D4-9BF9-2EAA80BE193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29:notes">
            <a:extLst>
              <a:ext uri="{FF2B5EF4-FFF2-40B4-BE49-F238E27FC236}">
                <a16:creationId xmlns:a16="http://schemas.microsoft.com/office/drawing/2014/main" id="{DDC76DDE-0BD6-A46A-932A-9C7A9A74369D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r>
              <a:rPr lang="en-US" dirty="0"/>
              <a:t>Timer 0</a:t>
            </a:r>
          </a:p>
          <a:p>
            <a:r>
              <a:rPr lang="en-US" dirty="0"/>
              <a:t>TINT0</a:t>
            </a:r>
          </a:p>
          <a:p>
            <a:r>
              <a:rPr lang="en-US" dirty="0"/>
              <a:t>INT1–INT12 via PIE</a:t>
            </a: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 lang="en-US" dirty="0"/>
          </a:p>
          <a:p>
            <a:r>
              <a:rPr lang="en-US" dirty="0"/>
              <a:t>Timer 1</a:t>
            </a:r>
          </a:p>
          <a:p>
            <a:r>
              <a:rPr lang="en-US" dirty="0"/>
              <a:t>TINT1</a:t>
            </a:r>
          </a:p>
          <a:p>
            <a:r>
              <a:rPr lang="en-US" dirty="0"/>
              <a:t>INT13 (direct)</a:t>
            </a:r>
          </a:p>
          <a:p>
            <a:endParaRPr lang="en-US" dirty="0"/>
          </a:p>
          <a:p>
            <a:r>
              <a:rPr lang="en-US" dirty="0"/>
              <a:t>Timer 2</a:t>
            </a:r>
          </a:p>
          <a:p>
            <a:r>
              <a:rPr lang="en-US" dirty="0"/>
              <a:t>TINT2</a:t>
            </a:r>
          </a:p>
          <a:p>
            <a:r>
              <a:rPr lang="en-US" dirty="0"/>
              <a:t>INT14 (direct)</a:t>
            </a:r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The </a:t>
            </a:r>
            <a:r>
              <a:rPr lang="en-US" b="1" dirty="0"/>
              <a:t>Peripheral Interrupt Expansion (PIE)</a:t>
            </a:r>
            <a:r>
              <a:rPr lang="en-US" dirty="0"/>
              <a:t> is an interrupt router.</a:t>
            </a:r>
          </a:p>
          <a:p>
            <a:r>
              <a:rPr lang="en-US" dirty="0"/>
              <a:t>It:</a:t>
            </a:r>
          </a:p>
          <a:p>
            <a:r>
              <a:rPr lang="en-US" dirty="0"/>
              <a:t>Takes many peripheral interrupts</a:t>
            </a:r>
          </a:p>
          <a:p>
            <a:r>
              <a:rPr lang="en-US" dirty="0"/>
              <a:t>Maps them to CPU interrupt vectors</a:t>
            </a:r>
          </a:p>
          <a:p>
            <a:r>
              <a:rPr lang="en-US" dirty="0"/>
              <a:t>Timer 0 is routed through the PIE because:</a:t>
            </a:r>
          </a:p>
          <a:p>
            <a:r>
              <a:rPr lang="en-US" dirty="0"/>
              <a:t>It is commonly used for application-level tasks</a:t>
            </a:r>
          </a:p>
          <a:p>
            <a:r>
              <a:rPr lang="en-US" dirty="0"/>
              <a:t>It supports prioritization and masking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b="1" dirty="0"/>
              <a:t>Software Consequence</a:t>
            </a:r>
          </a:p>
          <a:p>
            <a:r>
              <a:rPr lang="en-US" dirty="0"/>
              <a:t>To use Timer 0:</a:t>
            </a:r>
          </a:p>
          <a:p>
            <a:r>
              <a:rPr lang="en-US" dirty="0"/>
              <a:t>Enable the timer interrupt</a:t>
            </a:r>
          </a:p>
          <a:p>
            <a:r>
              <a:rPr lang="en-US" dirty="0"/>
              <a:t>Enable the PIE group</a:t>
            </a:r>
          </a:p>
          <a:p>
            <a:r>
              <a:rPr lang="en-US" dirty="0"/>
              <a:t>Enable the CPU interrupt</a:t>
            </a:r>
          </a:p>
          <a:p>
            <a:r>
              <a:rPr lang="en-US" dirty="0"/>
              <a:t>Acknowledge the PIE inside the ISR</a:t>
            </a:r>
          </a:p>
          <a:p>
            <a:r>
              <a:rPr lang="en-US" dirty="0"/>
              <a:t>This makes Timer 0 ideal for:</a:t>
            </a:r>
          </a:p>
          <a:p>
            <a:r>
              <a:rPr lang="en-US" dirty="0"/>
              <a:t>Control loops</a:t>
            </a:r>
          </a:p>
          <a:p>
            <a:r>
              <a:rPr lang="en-US" dirty="0"/>
              <a:t>Scheduling</a:t>
            </a:r>
          </a:p>
          <a:p>
            <a:r>
              <a:rPr lang="en-US" dirty="0"/>
              <a:t>RTOS ticks</a:t>
            </a:r>
          </a:p>
          <a:p>
            <a:endParaRPr lang="en-US" dirty="0"/>
          </a:p>
          <a:p>
            <a:endParaRPr lang="en-US" dirty="0"/>
          </a:p>
          <a:p>
            <a:r>
              <a:rPr lang="en-US" b="1" dirty="0"/>
              <a:t>Timers 1 and 2 Bypass the PIE</a:t>
            </a:r>
          </a:p>
          <a:p>
            <a:r>
              <a:rPr lang="en-US" dirty="0"/>
              <a:t>Timer 1 → </a:t>
            </a:r>
            <a:r>
              <a:rPr lang="en-US" b="1" dirty="0"/>
              <a:t>INT13</a:t>
            </a:r>
            <a:br>
              <a:rPr lang="en-US" dirty="0"/>
            </a:br>
            <a:r>
              <a:rPr lang="en-US" dirty="0"/>
              <a:t>Timer 2 → </a:t>
            </a:r>
            <a:r>
              <a:rPr lang="en-US" b="1" dirty="0"/>
              <a:t>INT14</a:t>
            </a:r>
            <a:endParaRPr lang="en-US" dirty="0"/>
          </a:p>
          <a:p>
            <a:r>
              <a:rPr lang="en-US" dirty="0"/>
              <a:t>These are </a:t>
            </a:r>
            <a:r>
              <a:rPr lang="en-US" b="1" dirty="0"/>
              <a:t>dedicated CPU interrupts</a:t>
            </a:r>
            <a:r>
              <a:rPr lang="en-US" dirty="0"/>
              <a:t>.</a:t>
            </a:r>
          </a:p>
          <a:p>
            <a:r>
              <a:rPr lang="en-US" b="1" dirty="0"/>
              <a:t>Why?</a:t>
            </a:r>
          </a:p>
          <a:p>
            <a:r>
              <a:rPr lang="en-US" dirty="0"/>
              <a:t>They are intended for:</a:t>
            </a:r>
          </a:p>
          <a:p>
            <a:r>
              <a:rPr lang="en-US" dirty="0"/>
              <a:t>High-priority system tasks</a:t>
            </a:r>
          </a:p>
          <a:p>
            <a:r>
              <a:rPr lang="en-US" dirty="0"/>
              <a:t>Real-time services</a:t>
            </a:r>
          </a:p>
          <a:p>
            <a:r>
              <a:rPr lang="en-US" dirty="0"/>
              <a:t>Deterministic timing</a:t>
            </a:r>
          </a:p>
          <a:p>
            <a:r>
              <a:rPr lang="en-US" dirty="0"/>
              <a:t>They:</a:t>
            </a:r>
          </a:p>
          <a:p>
            <a:r>
              <a:rPr lang="en-US" dirty="0"/>
              <a:t>Have lower latency</a:t>
            </a:r>
          </a:p>
          <a:p>
            <a:r>
              <a:rPr lang="en-US" dirty="0"/>
              <a:t>Are simpler to configure</a:t>
            </a:r>
          </a:p>
          <a:p>
            <a:r>
              <a:rPr lang="en-US" dirty="0"/>
              <a:t>Are harder to misuse accidentally</a:t>
            </a:r>
          </a:p>
          <a:p>
            <a:endParaRPr lang="en-US" dirty="0"/>
          </a:p>
          <a:p>
            <a:endParaRPr lang="en-US" dirty="0"/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 dirty="0"/>
          </a:p>
        </p:txBody>
      </p:sp>
      <p:sp>
        <p:nvSpPr>
          <p:cNvPr id="116" name="Google Shape;116;p29:notes">
            <a:extLst>
              <a:ext uri="{FF2B5EF4-FFF2-40B4-BE49-F238E27FC236}">
                <a16:creationId xmlns:a16="http://schemas.microsoft.com/office/drawing/2014/main" id="{42FD8C5D-9C20-C91C-AC9B-D65DAB800F1C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632512027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">
          <a:extLst>
            <a:ext uri="{FF2B5EF4-FFF2-40B4-BE49-F238E27FC236}">
              <a16:creationId xmlns:a16="http://schemas.microsoft.com/office/drawing/2014/main" id="{86315C7C-5E78-525A-60EE-FEA456DCF41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29:notes">
            <a:extLst>
              <a:ext uri="{FF2B5EF4-FFF2-40B4-BE49-F238E27FC236}">
                <a16:creationId xmlns:a16="http://schemas.microsoft.com/office/drawing/2014/main" id="{162C6A1C-81CD-6A4A-0EC7-D4DF6592E8E2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16" name="Google Shape;116;p29:notes">
            <a:extLst>
              <a:ext uri="{FF2B5EF4-FFF2-40B4-BE49-F238E27FC236}">
                <a16:creationId xmlns:a16="http://schemas.microsoft.com/office/drawing/2014/main" id="{E9E55876-018B-F3F8-A378-6190163DC3DE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388439911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1" name="Google Shape;261;p37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62" name="Google Shape;262;p37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2" name="Google Shape;272;p38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73" name="Google Shape;273;p38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21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7" name="Google Shape;17;p21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8" name="Google Shape;18;p21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Content" type="obj">
  <p:cSld name="OBJECT">
    <p:spTree>
      <p:nvGrpSpPr>
        <p:cNvPr id="1" name="Shape 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Google Shape;20;p16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1" name="Google Shape;21;p16"/>
          <p:cNvSpPr txBox="1"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22" name="Google Shape;22;p16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3" name="Google Shape;23;p16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4" name="Google Shape;24;p16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17"/>
          <p:cNvSpPr txBox="1"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Calibri"/>
              <a:buNone/>
              <a:defRPr sz="60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7" name="Google Shape;27;p17"/>
          <p:cNvSpPr txBox="1"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888888"/>
              </a:buClr>
              <a:buSzPts val="2400"/>
              <a:buNone/>
              <a:defRPr sz="2400">
                <a:solidFill>
                  <a:srgbClr val="888888"/>
                </a:solidFill>
              </a:defRPr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 sz="2000">
                <a:solidFill>
                  <a:srgbClr val="888888"/>
                </a:solidFill>
              </a:defRPr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800"/>
              <a:buNone/>
              <a:defRPr sz="1800">
                <a:solidFill>
                  <a:srgbClr val="888888"/>
                </a:solidFill>
              </a:defRPr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9pPr>
          </a:lstStyle>
          <a:p>
            <a:endParaRPr/>
          </a:p>
        </p:txBody>
      </p:sp>
      <p:sp>
        <p:nvSpPr>
          <p:cNvPr id="28" name="Google Shape;28;p17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9" name="Google Shape;29;p17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0" name="Google Shape;30;p17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wo Content" type="twoObj">
  <p:cSld name="TWO_OBJECTS">
    <p:spTree>
      <p:nvGrpSpPr>
        <p:cNvPr id="1" name="Shape 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" name="Google Shape;32;p18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3" name="Google Shape;33;p18"/>
          <p:cNvSpPr txBox="1">
            <a:spLocks noGrp="1"/>
          </p:cNvSpPr>
          <p:nvPr>
            <p:ph type="body" idx="1"/>
          </p:nvPr>
        </p:nvSpPr>
        <p:spPr>
          <a:xfrm>
            <a:off x="838200" y="1825625"/>
            <a:ext cx="5181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34" name="Google Shape;34;p18"/>
          <p:cNvSpPr txBox="1">
            <a:spLocks noGrp="1"/>
          </p:cNvSpPr>
          <p:nvPr>
            <p:ph type="body" idx="2"/>
          </p:nvPr>
        </p:nvSpPr>
        <p:spPr>
          <a:xfrm>
            <a:off x="6172200" y="1825625"/>
            <a:ext cx="5181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35" name="Google Shape;35;p18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6" name="Google Shape;36;p18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7" name="Google Shape;37;p18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mparison" type="twoTxTwoObj">
  <p:cSld name="TWO_OBJECTS_WITH_TEXT">
    <p:spTree>
      <p:nvGrpSpPr>
        <p:cNvPr id="1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19"/>
          <p:cNvSpPr txBox="1"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0" name="Google Shape;40;p19"/>
          <p:cNvSpPr txBox="1"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1"/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1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41" name="Google Shape;41;p19"/>
          <p:cNvSpPr txBox="1">
            <a:spLocks noGrp="1"/>
          </p:cNvSpPr>
          <p:nvPr>
            <p:ph type="body" idx="2"/>
          </p:nvPr>
        </p:nvSpPr>
        <p:spPr>
          <a:xfrm>
            <a:off x="839788" y="2505075"/>
            <a:ext cx="5157787" cy="3684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42" name="Google Shape;42;p19"/>
          <p:cNvSpPr txBox="1">
            <a:spLocks noGrp="1"/>
          </p:cNvSpPr>
          <p:nvPr>
            <p:ph type="body" idx="3"/>
          </p:nvPr>
        </p:nvSpPr>
        <p:spPr>
          <a:xfrm>
            <a:off x="6172200" y="1681163"/>
            <a:ext cx="5183188" cy="8239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1"/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1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43" name="Google Shape;43;p19"/>
          <p:cNvSpPr txBox="1">
            <a:spLocks noGrp="1"/>
          </p:cNvSpPr>
          <p:nvPr>
            <p:ph type="body" idx="4"/>
          </p:nvPr>
        </p:nvSpPr>
        <p:spPr>
          <a:xfrm>
            <a:off x="6172200" y="2505075"/>
            <a:ext cx="5183188" cy="3684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44" name="Google Shape;44;p19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5" name="Google Shape;45;p19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6" name="Google Shape;46;p19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" name="Google Shape;48;p20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9" name="Google Shape;49;p20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0" name="Google Shape;50;p20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1" name="Google Shape;51;p20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ntent with Caption" type="objTx">
  <p:cSld name="OBJECT_WITH_CAPTION_TEXT">
    <p:spTree>
      <p:nvGrpSpPr>
        <p:cNvPr id="1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22"/>
          <p:cNvSpPr txBox="1"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Calibri"/>
              <a:buNone/>
              <a:defRPr sz="32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4" name="Google Shape;54;p22"/>
          <p:cNvSpPr txBox="1">
            <a:spLocks noGrp="1"/>
          </p:cNvSpPr>
          <p:nvPr>
            <p:ph type="body" idx="1"/>
          </p:nvPr>
        </p:nvSpPr>
        <p:spPr>
          <a:xfrm>
            <a:off x="5183188" y="987425"/>
            <a:ext cx="6172200" cy="48736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4318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3200"/>
              <a:buChar char="•"/>
              <a:defRPr sz="3200"/>
            </a:lvl1pPr>
            <a:lvl2pPr marL="914400" lvl="1" indent="-406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2pPr>
            <a:lvl3pPr marL="1371600" lvl="2" indent="-381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3pPr>
            <a:lvl4pPr marL="1828800" lvl="3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4pPr>
            <a:lvl5pPr marL="2286000" lvl="4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5pPr>
            <a:lvl6pPr marL="2743200" lvl="5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6pPr>
            <a:lvl7pPr marL="3200400" lvl="6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7pPr>
            <a:lvl8pPr marL="3657600" lvl="7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8pPr>
            <a:lvl9pPr marL="4114800" lvl="8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9pPr>
          </a:lstStyle>
          <a:p>
            <a:endParaRPr/>
          </a:p>
        </p:txBody>
      </p:sp>
      <p:sp>
        <p:nvSpPr>
          <p:cNvPr id="55" name="Google Shape;55;p22"/>
          <p:cNvSpPr txBox="1">
            <a:spLocks noGrp="1"/>
          </p:cNvSpPr>
          <p:nvPr>
            <p:ph type="body" idx="2"/>
          </p:nvPr>
        </p:nvSpPr>
        <p:spPr>
          <a:xfrm>
            <a:off x="839788" y="2057400"/>
            <a:ext cx="3932237" cy="3811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9pPr>
          </a:lstStyle>
          <a:p>
            <a:endParaRPr/>
          </a:p>
        </p:txBody>
      </p:sp>
      <p:sp>
        <p:nvSpPr>
          <p:cNvPr id="56" name="Google Shape;56;p22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7" name="Google Shape;57;p22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8" name="Google Shape;58;p22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Picture with Caption" type="picTx">
  <p:cSld name="PICTURE_WITH_CAPTION_TEXT">
    <p:spTree>
      <p:nvGrpSpPr>
        <p:cNvPr id="1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23"/>
          <p:cNvSpPr txBox="1"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Calibri"/>
              <a:buNone/>
              <a:defRPr sz="32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1" name="Google Shape;61;p23"/>
          <p:cNvSpPr>
            <a:spLocks noGrp="1"/>
          </p:cNvSpPr>
          <p:nvPr>
            <p:ph type="pic" idx="2"/>
          </p:nvPr>
        </p:nvSpPr>
        <p:spPr>
          <a:xfrm>
            <a:off x="5183188" y="987425"/>
            <a:ext cx="6172200" cy="4873625"/>
          </a:xfrm>
          <a:prstGeom prst="rect">
            <a:avLst/>
          </a:prstGeom>
          <a:noFill/>
          <a:ln>
            <a:noFill/>
          </a:ln>
        </p:spPr>
      </p:sp>
      <p:sp>
        <p:nvSpPr>
          <p:cNvPr id="62" name="Google Shape;62;p23"/>
          <p:cNvSpPr txBox="1">
            <a:spLocks noGrp="1"/>
          </p:cNvSpPr>
          <p:nvPr>
            <p:ph type="body" idx="1"/>
          </p:nvPr>
        </p:nvSpPr>
        <p:spPr>
          <a:xfrm>
            <a:off x="839788" y="2057400"/>
            <a:ext cx="3932237" cy="3811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9pPr>
          </a:lstStyle>
          <a:p>
            <a:endParaRPr/>
          </a:p>
        </p:txBody>
      </p:sp>
      <p:sp>
        <p:nvSpPr>
          <p:cNvPr id="63" name="Google Shape;63;p23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4" name="Google Shape;64;p23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5" name="Google Shape;65;p23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Vertical Text" type="vertTx">
  <p:cSld name="VERTICAL_TEXT">
    <p:spTree>
      <p:nvGrpSpPr>
        <p:cNvPr id="1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24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8" name="Google Shape;68;p24"/>
          <p:cNvSpPr txBox="1">
            <a:spLocks noGrp="1"/>
          </p:cNvSpPr>
          <p:nvPr>
            <p:ph type="body" idx="1"/>
          </p:nvPr>
        </p:nvSpPr>
        <p:spPr>
          <a:xfrm rot="5400000">
            <a:off x="3920331" y="-1256506"/>
            <a:ext cx="4351338" cy="1051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69" name="Google Shape;69;p24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0" name="Google Shape;70;p24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1" name="Google Shape;71;p24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Vertical Title and Text" type="vertTitleAndTx">
  <p:cSld name="VERTICAL_TITLE_AND_VERTICAL_TEXT">
    <p:spTree>
      <p:nvGrpSpPr>
        <p:cNvPr id="1" name="Shape 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Google Shape;73;p25"/>
          <p:cNvSpPr txBox="1">
            <a:spLocks noGrp="1"/>
          </p:cNvSpPr>
          <p:nvPr>
            <p:ph type="title"/>
          </p:nvPr>
        </p:nvSpPr>
        <p:spPr>
          <a:xfrm rot="5400000">
            <a:off x="7133431" y="1956594"/>
            <a:ext cx="5811838" cy="2628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4" name="Google Shape;74;p25"/>
          <p:cNvSpPr txBox="1">
            <a:spLocks noGrp="1"/>
          </p:cNvSpPr>
          <p:nvPr>
            <p:ph type="body" idx="1"/>
          </p:nvPr>
        </p:nvSpPr>
        <p:spPr>
          <a:xfrm rot="5400000">
            <a:off x="1799431" y="-596106"/>
            <a:ext cx="5811838" cy="7734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75" name="Google Shape;75;p25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6" name="Google Shape;76;p25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7" name="Google Shape;77;p25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4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 sz="4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11" name="Google Shape;11;p14"/>
          <p:cNvSpPr txBox="1"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marR="0" lvl="0" indent="-4064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•"/>
              <a:defRPr sz="2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2" name="Google Shape;12;p14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3" name="Google Shape;13;p14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4" name="Google Shape;14;p14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5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hyperlink" Target="https://marius-juston.github.io/SE-423---Class-Material/Labs/Lab1.pdf" TargetMode="External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.png"/><Relationship Id="rId5" Type="http://schemas.openxmlformats.org/officeDocument/2006/relationships/hyperlink" Target="https://marius-juston.github.io/SE-423---Class-Material/Homeworks/LabVIEW1.pdf" TargetMode="External"/><Relationship Id="rId4" Type="http://schemas.openxmlformats.org/officeDocument/2006/relationships/hyperlink" Target="https://marius-juston.github.io/SE-423---Class-Material/Homeworks/HW1.pdf" TargetMode="Externa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5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hackster.io/jay118/se-423-astar-ball-collection-and-drop-off-project-3daa28?f=1" TargetMode="External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5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7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hyperlink" Target="https://coecsl.ece.illinois.edu/se423/tms320f28379D_TechRefi.pdf" TargetMode="External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5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hyperlink" Target="https://coecsl.ece.illinois.edu/se423/tms320f28379D_TechRefi.pdf" TargetMode="External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5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hyperlink" Target="https://coecsl.ece.illinois.edu/se423/hw/PinMuxTableF28379DLaunchPad.pdf" TargetMode="External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5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7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7.png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9.svg"/><Relationship Id="rId4" Type="http://schemas.openxmlformats.org/officeDocument/2006/relationships/image" Target="../media/image8.png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1.svg"/><Relationship Id="rId4" Type="http://schemas.openxmlformats.org/officeDocument/2006/relationships/image" Target="../media/image10.png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g"/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5.png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g"/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2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>
            <a:alphaModFix/>
          </a:blip>
          <a:stretch>
            <a:fillRect/>
          </a:stretch>
        </a:blipFill>
        <a:effectLst/>
      </p:bgPr>
    </p:bg>
    <p:spTree>
      <p:nvGrpSpPr>
        <p:cNvPr id="1" name="Shape 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Google Shape;82;p26"/>
          <p:cNvSpPr txBox="1"/>
          <p:nvPr/>
        </p:nvSpPr>
        <p:spPr>
          <a:xfrm>
            <a:off x="1134035" y="2553964"/>
            <a:ext cx="9924000" cy="272378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rgbClr val="000000"/>
              </a:buClr>
              <a:buSzPts val="4500"/>
              <a:buFont typeface="Arial"/>
              <a:buNone/>
            </a:pPr>
            <a:r>
              <a:rPr lang="en-US" sz="4500" b="1" i="0" u="none" strike="noStrike" cap="none" dirty="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SE 423: Introduction to Mechatronics</a:t>
            </a:r>
            <a:endParaRPr sz="45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500" dirty="0">
                <a:solidFill>
                  <a:schemeClr val="lt1"/>
                </a:solidFill>
              </a:rPr>
              <a:t>Lecture 2: IO</a:t>
            </a:r>
            <a:endParaRPr dirty="0"/>
          </a:p>
          <a:p>
            <a:pPr marL="0" marR="0" lvl="0" indent="0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None/>
            </a:pPr>
            <a:endParaRPr sz="1800" b="0" i="0" u="none" strike="noStrike" cap="none" dirty="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1800" dirty="0">
                <a:solidFill>
                  <a:schemeClr val="lt1"/>
                </a:solidFill>
              </a:rPr>
              <a:t>Marius Juston</a:t>
            </a:r>
            <a:endParaRPr sz="18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3" name="Google Shape;83;p26"/>
          <p:cNvSpPr txBox="1"/>
          <p:nvPr/>
        </p:nvSpPr>
        <p:spPr>
          <a:xfrm>
            <a:off x="3922059" y="5413888"/>
            <a:ext cx="4347882" cy="36929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US" sz="1800" b="0" i="0" u="none" strike="noStrike" cap="none" dirty="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Monday</a:t>
            </a:r>
            <a:endParaRPr sz="1800" b="0" i="0" u="none" strike="noStrike" cap="none" dirty="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84" name="Google Shape;84;p26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4641007" y="1004743"/>
            <a:ext cx="2909982" cy="754664"/>
          </a:xfrm>
          <a:prstGeom prst="rect">
            <a:avLst/>
          </a:prstGeom>
          <a:noFill/>
          <a:ln>
            <a:noFill/>
          </a:ln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3DEDD2ED-7EA0-C726-B86C-DAF6A1B5857D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20738" y="2474829"/>
            <a:ext cx="3994099" cy="330835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>
            <a:alphaModFix/>
          </a:blip>
          <a:stretch>
            <a:fillRect/>
          </a:stretch>
        </a:blipFill>
        <a:effectLst/>
      </p:bgPr>
    </p:bg>
    <p:spTree>
      <p:nvGrpSpPr>
        <p:cNvPr id="1" name="Shape 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" name="Google Shape;89;p27"/>
          <p:cNvSpPr txBox="1"/>
          <p:nvPr/>
        </p:nvSpPr>
        <p:spPr>
          <a:xfrm>
            <a:off x="2206906" y="2208590"/>
            <a:ext cx="7778187" cy="10156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lang="en-US" sz="6000" b="1" i="0" u="none" strike="noStrike" cap="none" dirty="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Questions?</a:t>
            </a:r>
            <a:endParaRPr sz="14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0" name="Google Shape;90;p27"/>
          <p:cNvSpPr txBox="1"/>
          <p:nvPr/>
        </p:nvSpPr>
        <p:spPr>
          <a:xfrm>
            <a:off x="1441528" y="3949780"/>
            <a:ext cx="9308941" cy="5231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Arial"/>
              <a:buNone/>
            </a:pPr>
            <a:r>
              <a:rPr lang="en-US" sz="2800" b="0" i="0" u="none" strike="noStrike" cap="none" dirty="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How was the first lab? Enjoyed it?</a:t>
            </a:r>
          </a:p>
        </p:txBody>
      </p:sp>
      <p:grpSp>
        <p:nvGrpSpPr>
          <p:cNvPr id="91" name="Google Shape;91;p27"/>
          <p:cNvGrpSpPr/>
          <p:nvPr/>
        </p:nvGrpSpPr>
        <p:grpSpPr>
          <a:xfrm>
            <a:off x="3943790" y="3394489"/>
            <a:ext cx="3861740" cy="322845"/>
            <a:chOff x="3943790" y="2676939"/>
            <a:chExt cx="3861740" cy="322845"/>
          </a:xfrm>
        </p:grpSpPr>
        <p:cxnSp>
          <p:nvCxnSpPr>
            <p:cNvPr id="92" name="Google Shape;92;p27"/>
            <p:cNvCxnSpPr/>
            <p:nvPr/>
          </p:nvCxnSpPr>
          <p:spPr>
            <a:xfrm>
              <a:off x="4426226" y="2676939"/>
              <a:ext cx="3379304" cy="0"/>
            </a:xfrm>
            <a:prstGeom prst="straightConnector1">
              <a:avLst/>
            </a:prstGeom>
            <a:noFill/>
            <a:ln w="19050" cap="flat" cmpd="sng">
              <a:solidFill>
                <a:srgbClr val="E84B36"/>
              </a:solidFill>
              <a:prstDash val="solid"/>
              <a:round/>
              <a:headEnd type="none" w="sm" len="sm"/>
              <a:tailEnd type="none" w="sm" len="sm"/>
            </a:ln>
          </p:spPr>
        </p:cxnSp>
        <p:cxnSp>
          <p:nvCxnSpPr>
            <p:cNvPr id="93" name="Google Shape;93;p27"/>
            <p:cNvCxnSpPr/>
            <p:nvPr/>
          </p:nvCxnSpPr>
          <p:spPr>
            <a:xfrm rot="10800000" flipH="1">
              <a:off x="3943790" y="2676939"/>
              <a:ext cx="482436" cy="322845"/>
            </a:xfrm>
            <a:prstGeom prst="straightConnector1">
              <a:avLst/>
            </a:prstGeom>
            <a:noFill/>
            <a:ln w="19050" cap="flat" cmpd="sng">
              <a:solidFill>
                <a:srgbClr val="E84B36"/>
              </a:solidFill>
              <a:prstDash val="solid"/>
              <a:round/>
              <a:headEnd type="none" w="sm" len="sm"/>
              <a:tailEnd type="none" w="sm" len="sm"/>
            </a:ln>
          </p:spPr>
        </p:cxnSp>
      </p:grpSp>
      <p:pic>
        <p:nvPicPr>
          <p:cNvPr id="94" name="Google Shape;94;p27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1557509" y="233819"/>
            <a:ext cx="271308" cy="389810"/>
          </a:xfrm>
          <a:prstGeom prst="rect">
            <a:avLst/>
          </a:prstGeom>
          <a:noFill/>
          <a:ln>
            <a:noFill/>
          </a:ln>
        </p:spPr>
      </p:pic>
      <p:sp>
        <p:nvSpPr>
          <p:cNvPr id="95" name="Google Shape;95;p27"/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96" name="Google Shape;96;p27"/>
          <p:cNvSpPr txBox="1"/>
          <p:nvPr/>
        </p:nvSpPr>
        <p:spPr>
          <a:xfrm>
            <a:off x="376807" y="6524381"/>
            <a:ext cx="7991337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chemeClr val="lt1"/>
                </a:solidFill>
              </a:rPr>
              <a:t>SYSTEMS ENGINEERING </a:t>
            </a:r>
            <a:endParaRPr dirty="0"/>
          </a:p>
        </p:txBody>
      </p:sp>
      <p:grpSp>
        <p:nvGrpSpPr>
          <p:cNvPr id="97" name="Google Shape;97;p27"/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98" name="Google Shape;98;p27"/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99" name="Google Shape;99;p27"/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">
          <a:extLst>
            <a:ext uri="{FF2B5EF4-FFF2-40B4-BE49-F238E27FC236}">
              <a16:creationId xmlns:a16="http://schemas.microsoft.com/office/drawing/2014/main" id="{781D3E48-EB5B-86EE-C4D9-54116487B2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29">
            <a:extLst>
              <a:ext uri="{FF2B5EF4-FFF2-40B4-BE49-F238E27FC236}">
                <a16:creationId xmlns:a16="http://schemas.microsoft.com/office/drawing/2014/main" id="{3BCC2F8C-3A4A-AD98-3682-D9499379E419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376809" y="1334279"/>
            <a:ext cx="11177401" cy="482110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US" sz="2600" b="1" dirty="0">
                <a:solidFill>
                  <a:srgbClr val="E84B36"/>
                </a:solidFill>
                <a:latin typeface="Arial"/>
                <a:ea typeface="Arial"/>
                <a:cs typeface="Arial"/>
                <a:sym typeface="Arial"/>
              </a:rPr>
              <a:t>Times:</a:t>
            </a: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endParaRPr lang="en-US" sz="2600" b="1" dirty="0">
              <a:solidFill>
                <a:srgbClr val="E84B36"/>
              </a:solidFill>
              <a:latin typeface="Arial"/>
              <a:ea typeface="Arial"/>
              <a:cs typeface="Arial"/>
              <a:sym typeface="Arial"/>
            </a:endParaRP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r>
              <a:rPr lang="en-US" sz="1800" b="1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Monday: </a:t>
            </a:r>
            <a:r>
              <a:rPr lang="en-US" sz="1800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4-6 PM</a:t>
            </a:r>
            <a:r>
              <a:rPr lang="en-US" sz="1800" b="1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, </a:t>
            </a:r>
            <a:r>
              <a:rPr lang="en-US" sz="1800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Samuel</a:t>
            </a: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r>
              <a:rPr lang="en-US" sz="1800" b="1" dirty="0">
                <a:latin typeface="Arial"/>
                <a:ea typeface="Arial"/>
                <a:cs typeface="Arial"/>
                <a:sym typeface="Arial"/>
              </a:rPr>
              <a:t>Tuesday: </a:t>
            </a:r>
            <a:r>
              <a:rPr lang="en-US" sz="1800" dirty="0">
                <a:latin typeface="Arial"/>
                <a:ea typeface="Arial"/>
                <a:cs typeface="Arial"/>
                <a:sym typeface="Arial"/>
              </a:rPr>
              <a:t>11-1 PM</a:t>
            </a:r>
            <a:r>
              <a:rPr lang="en-US" sz="1800" b="1" dirty="0">
                <a:latin typeface="Arial"/>
                <a:ea typeface="Arial"/>
                <a:cs typeface="Arial"/>
                <a:sym typeface="Arial"/>
              </a:rPr>
              <a:t>, </a:t>
            </a:r>
            <a:r>
              <a:rPr lang="en-US" sz="1800" dirty="0">
                <a:latin typeface="Arial"/>
                <a:ea typeface="Arial"/>
                <a:cs typeface="Arial"/>
                <a:sym typeface="Arial"/>
              </a:rPr>
              <a:t>Lakshmi</a:t>
            </a: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r>
              <a:rPr lang="en-US" sz="1800" b="1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Tuesday: </a:t>
            </a:r>
            <a:r>
              <a:rPr lang="en-US" sz="1800" dirty="0">
                <a:latin typeface="Arial"/>
                <a:ea typeface="Arial"/>
                <a:cs typeface="Arial"/>
                <a:sym typeface="Arial"/>
              </a:rPr>
              <a:t>1-3 PM</a:t>
            </a:r>
            <a:r>
              <a:rPr lang="en-US" sz="1800" b="1" dirty="0">
                <a:latin typeface="Arial"/>
                <a:ea typeface="Arial"/>
                <a:cs typeface="Arial"/>
                <a:sym typeface="Arial"/>
              </a:rPr>
              <a:t>, </a:t>
            </a:r>
            <a:r>
              <a:rPr lang="en-US" sz="1800" dirty="0">
                <a:latin typeface="Arial"/>
                <a:ea typeface="Arial"/>
                <a:cs typeface="Arial"/>
                <a:sym typeface="Arial"/>
              </a:rPr>
              <a:t>Neel</a:t>
            </a: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r>
              <a:rPr lang="en-US" sz="1800" b="1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Tuesday: </a:t>
            </a:r>
            <a:r>
              <a:rPr lang="en-US" sz="1800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2-5 PM</a:t>
            </a:r>
            <a:r>
              <a:rPr lang="en-US" sz="1800" b="1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, </a:t>
            </a:r>
            <a:r>
              <a:rPr lang="en-US" sz="1800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Dan &amp; Marius</a:t>
            </a: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endParaRPr lang="en-US" sz="1800" b="1" dirty="0">
              <a:latin typeface="Arial"/>
              <a:ea typeface="Arial"/>
              <a:cs typeface="Arial"/>
              <a:sym typeface="Arial"/>
            </a:endParaRP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endParaRPr lang="en-US" sz="1800" b="1" dirty="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r>
              <a:rPr lang="en-US" sz="1800" dirty="0">
                <a:latin typeface="Arial"/>
                <a:ea typeface="Arial"/>
                <a:cs typeface="Arial"/>
                <a:sym typeface="Arial"/>
              </a:rPr>
              <a:t>There to help with setting up </a:t>
            </a:r>
            <a:r>
              <a:rPr lang="en-US" sz="1800" dirty="0" err="1">
                <a:latin typeface="Arial"/>
                <a:ea typeface="Arial"/>
                <a:cs typeface="Arial"/>
                <a:sym typeface="Arial"/>
              </a:rPr>
              <a:t>CodeComposer</a:t>
            </a:r>
            <a:r>
              <a:rPr lang="en-US" sz="1800" dirty="0">
                <a:latin typeface="Arial"/>
                <a:ea typeface="Arial"/>
                <a:cs typeface="Arial"/>
                <a:sym typeface="Arial"/>
              </a:rPr>
              <a:t> ( not necessary but helpful for </a:t>
            </a:r>
            <a:r>
              <a:rPr lang="en-US" sz="1800" dirty="0" err="1">
                <a:latin typeface="Arial"/>
                <a:ea typeface="Arial"/>
                <a:cs typeface="Arial"/>
                <a:sym typeface="Arial"/>
              </a:rPr>
              <a:t>homeworks</a:t>
            </a:r>
            <a:r>
              <a:rPr lang="en-US" sz="1800" dirty="0">
                <a:latin typeface="Arial"/>
                <a:ea typeface="Arial"/>
                <a:cs typeface="Arial"/>
                <a:sym typeface="Arial"/>
              </a:rPr>
              <a:t> ), finishing the solder, getting checked off for the </a:t>
            </a:r>
            <a:r>
              <a:rPr lang="en-US" sz="1800" dirty="0" err="1">
                <a:latin typeface="Arial"/>
                <a:ea typeface="Arial"/>
                <a:cs typeface="Arial"/>
                <a:sym typeface="Arial"/>
              </a:rPr>
              <a:t>homeworks</a:t>
            </a:r>
            <a:r>
              <a:rPr lang="en-US" sz="1800" dirty="0">
                <a:latin typeface="Arial"/>
                <a:ea typeface="Arial"/>
                <a:cs typeface="Arial"/>
                <a:sym typeface="Arial"/>
              </a:rPr>
              <a:t>, labs or LabVIEW</a:t>
            </a: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r>
              <a:rPr lang="en-US" sz="1800" dirty="0">
                <a:latin typeface="Arial"/>
                <a:ea typeface="Arial"/>
                <a:cs typeface="Arial"/>
                <a:sym typeface="Arial"/>
              </a:rPr>
              <a:t>Close to deadlines it will be busy so be sure to come in early!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endParaRPr sz="1800" dirty="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9" name="Google Shape;119;p29">
            <a:extLst>
              <a:ext uri="{FF2B5EF4-FFF2-40B4-BE49-F238E27FC236}">
                <a16:creationId xmlns:a16="http://schemas.microsoft.com/office/drawing/2014/main" id="{19848B8C-9075-59EA-79FA-AF5B8BFAF8D4}"/>
              </a:ext>
            </a:extLst>
          </p:cNvPr>
          <p:cNvSpPr/>
          <p:nvPr/>
        </p:nvSpPr>
        <p:spPr>
          <a:xfrm rot="10800000" flipH="1">
            <a:off x="0" y="0"/>
            <a:ext cx="12192000" cy="868220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rgbClr val="13294B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29">
            <a:extLst>
              <a:ext uri="{FF2B5EF4-FFF2-40B4-BE49-F238E27FC236}">
                <a16:creationId xmlns:a16="http://schemas.microsoft.com/office/drawing/2014/main" id="{6AE21486-AEEC-E367-96A5-81B49AD32D6A}"/>
              </a:ext>
            </a:extLst>
          </p:cNvPr>
          <p:cNvSpPr txBox="1"/>
          <p:nvPr/>
        </p:nvSpPr>
        <p:spPr>
          <a:xfrm>
            <a:off x="376810" y="204051"/>
            <a:ext cx="10910026" cy="46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lang="en-US" sz="2400" b="0" i="0" u="none" strike="noStrike" cap="none" dirty="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Office Hours</a:t>
            </a:r>
            <a:endParaRPr sz="2400" b="0" i="0" u="none" strike="noStrike" cap="none" dirty="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21" name="Google Shape;121;p29">
            <a:extLst>
              <a:ext uri="{FF2B5EF4-FFF2-40B4-BE49-F238E27FC236}">
                <a16:creationId xmlns:a16="http://schemas.microsoft.com/office/drawing/2014/main" id="{28CCE647-4D9B-354D-A2E9-718CA28CD750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1557509" y="233819"/>
            <a:ext cx="271308" cy="389810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29">
            <a:extLst>
              <a:ext uri="{FF2B5EF4-FFF2-40B4-BE49-F238E27FC236}">
                <a16:creationId xmlns:a16="http://schemas.microsoft.com/office/drawing/2014/main" id="{FAC87A64-580A-4863-38B3-4D1504C83F5F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23" name="Google Shape;123;p29">
            <a:extLst>
              <a:ext uri="{FF2B5EF4-FFF2-40B4-BE49-F238E27FC236}">
                <a16:creationId xmlns:a16="http://schemas.microsoft.com/office/drawing/2014/main" id="{23649EAB-2DB3-2DA4-9AD9-5D94AEE695E1}"/>
              </a:ext>
            </a:extLst>
          </p:cNvPr>
          <p:cNvSpPr txBox="1"/>
          <p:nvPr/>
        </p:nvSpPr>
        <p:spPr>
          <a:xfrm>
            <a:off x="376807" y="6524381"/>
            <a:ext cx="7991337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13294B"/>
                </a:solidFill>
              </a:rPr>
              <a:t>SYSTEMS ENGINEERING </a:t>
            </a:r>
            <a:endParaRPr dirty="0"/>
          </a:p>
        </p:txBody>
      </p:sp>
      <p:grpSp>
        <p:nvGrpSpPr>
          <p:cNvPr id="124" name="Google Shape;124;p29">
            <a:extLst>
              <a:ext uri="{FF2B5EF4-FFF2-40B4-BE49-F238E27FC236}">
                <a16:creationId xmlns:a16="http://schemas.microsoft.com/office/drawing/2014/main" id="{D41F8E2C-2780-2776-E8ED-542B082247FE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125" name="Google Shape;125;p29">
              <a:extLst>
                <a:ext uri="{FF2B5EF4-FFF2-40B4-BE49-F238E27FC236}">
                  <a16:creationId xmlns:a16="http://schemas.microsoft.com/office/drawing/2014/main" id="{1D628D6E-10A9-03E9-659C-F8F2D0023C66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rgbClr val="13294B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26" name="Google Shape;126;p29">
              <a:extLst>
                <a:ext uri="{FF2B5EF4-FFF2-40B4-BE49-F238E27FC236}">
                  <a16:creationId xmlns:a16="http://schemas.microsoft.com/office/drawing/2014/main" id="{7BEB3CD3-0F72-FD08-8FA5-00AD37965F20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rgbClr val="13294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79584103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">
          <a:extLst>
            <a:ext uri="{FF2B5EF4-FFF2-40B4-BE49-F238E27FC236}">
              <a16:creationId xmlns:a16="http://schemas.microsoft.com/office/drawing/2014/main" id="{F752EC0B-8783-91E6-CCD2-B7B06FAFF1C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29">
            <a:extLst>
              <a:ext uri="{FF2B5EF4-FFF2-40B4-BE49-F238E27FC236}">
                <a16:creationId xmlns:a16="http://schemas.microsoft.com/office/drawing/2014/main" id="{97BDBD34-A31A-FF8F-814D-CEA3F5CE0341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376809" y="1334279"/>
            <a:ext cx="11177401" cy="482110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1800" b="1" dirty="0">
                <a:solidFill>
                  <a:srgbClr val="E84B36"/>
                </a:solidFill>
                <a:latin typeface="Arial"/>
                <a:ea typeface="Arial"/>
                <a:cs typeface="Arial"/>
                <a:sym typeface="Arial"/>
              </a:rPr>
              <a:t>Lab: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endParaRPr lang="en-US" sz="1800" b="1" dirty="0">
              <a:solidFill>
                <a:srgbClr val="E84B36"/>
              </a:solidFill>
              <a:latin typeface="Arial"/>
              <a:ea typeface="Arial"/>
              <a:cs typeface="Arial"/>
              <a:sym typeface="Arial"/>
            </a:endParaRP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r>
              <a:rPr lang="en-US" sz="1800" dirty="0">
                <a:latin typeface="Arial"/>
                <a:ea typeface="Arial"/>
                <a:cs typeface="Arial"/>
                <a:sym typeface="Arial"/>
              </a:rPr>
              <a:t>Starting </a:t>
            </a:r>
            <a:r>
              <a:rPr lang="en-US" sz="1800" dirty="0">
                <a:latin typeface="Arial"/>
                <a:ea typeface="Arial"/>
                <a:cs typeface="Arial"/>
                <a:sym typeface="Arial"/>
                <a:hlinkClick r:id="rId3"/>
              </a:rPr>
              <a:t>Lab 1</a:t>
            </a:r>
            <a:r>
              <a:rPr lang="en-US" sz="1800" dirty="0">
                <a:latin typeface="Arial"/>
                <a:ea typeface="Arial"/>
                <a:cs typeface="Arial"/>
                <a:sym typeface="Arial"/>
              </a:rPr>
              <a:t> this week, will be using C so be sure to be prepared! </a:t>
            </a: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r>
              <a:rPr lang="en-US" sz="1800" dirty="0">
                <a:latin typeface="Arial"/>
                <a:ea typeface="Arial"/>
                <a:cs typeface="Arial"/>
                <a:sym typeface="Arial"/>
              </a:rPr>
              <a:t>Do Exercise 1 of Homework 1 to get started in C.</a:t>
            </a:r>
          </a:p>
          <a:p>
            <a:pPr marL="742950" lvl="1" indent="-285750">
              <a:lnSpc>
                <a:spcPct val="100000"/>
              </a:lnSpc>
              <a:spcBef>
                <a:spcPts val="0"/>
              </a:spcBef>
              <a:buSzPts val="3000"/>
            </a:pPr>
            <a:r>
              <a:rPr lang="en-US" sz="1400" dirty="0">
                <a:latin typeface="Arial"/>
                <a:ea typeface="Arial"/>
                <a:cs typeface="Arial"/>
                <a:sym typeface="Arial"/>
              </a:rPr>
              <a:t>You cannot use </a:t>
            </a:r>
            <a:r>
              <a:rPr lang="en-US" sz="1400" dirty="0" err="1">
                <a:latin typeface="Arial"/>
                <a:ea typeface="Arial"/>
                <a:cs typeface="Arial"/>
                <a:sym typeface="Arial"/>
              </a:rPr>
              <a:t>CodeComposer</a:t>
            </a:r>
            <a:r>
              <a:rPr lang="en-US" sz="1400" dirty="0">
                <a:latin typeface="Arial"/>
                <a:ea typeface="Arial"/>
                <a:cs typeface="Arial"/>
                <a:sym typeface="Arial"/>
              </a:rPr>
              <a:t> for that. You can just use an online C compile.</a:t>
            </a: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r>
              <a:rPr lang="en-US" sz="1800" dirty="0">
                <a:latin typeface="Arial"/>
                <a:ea typeface="Arial"/>
                <a:cs typeface="Arial"/>
                <a:sym typeface="Arial"/>
              </a:rPr>
              <a:t>Lab 1 is a 1-week lab, some are longer</a:t>
            </a: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endParaRPr lang="en-US" sz="1800" dirty="0">
              <a:solidFill>
                <a:srgbClr val="E84B36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1800" b="1" dirty="0" err="1">
                <a:solidFill>
                  <a:srgbClr val="E84B36"/>
                </a:solidFill>
                <a:latin typeface="Arial"/>
                <a:ea typeface="Arial"/>
                <a:cs typeface="Arial"/>
                <a:sym typeface="Arial"/>
              </a:rPr>
              <a:t>Homeworks</a:t>
            </a:r>
            <a:r>
              <a:rPr lang="en-US" sz="1800" b="1" dirty="0">
                <a:solidFill>
                  <a:srgbClr val="E84B36"/>
                </a:solidFill>
                <a:latin typeface="Arial"/>
                <a:ea typeface="Arial"/>
                <a:cs typeface="Arial"/>
                <a:sym typeface="Arial"/>
              </a:rPr>
              <a:t>: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endParaRPr lang="en-US" sz="1800" b="1" dirty="0">
              <a:solidFill>
                <a:srgbClr val="E84B36"/>
              </a:solidFill>
              <a:latin typeface="Arial"/>
              <a:ea typeface="Arial"/>
              <a:cs typeface="Arial"/>
              <a:sym typeface="Arial"/>
            </a:endParaRP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r>
              <a:rPr lang="en-US" sz="1800" dirty="0">
                <a:latin typeface="Arial"/>
                <a:ea typeface="Arial"/>
                <a:cs typeface="Arial"/>
                <a:sym typeface="Arial"/>
              </a:rPr>
              <a:t>All check-offs for </a:t>
            </a:r>
            <a:r>
              <a:rPr lang="en-US" sz="1800" dirty="0">
                <a:latin typeface="Arial"/>
                <a:ea typeface="Arial"/>
                <a:cs typeface="Arial"/>
                <a:sym typeface="Arial"/>
                <a:hlinkClick r:id="rId4"/>
              </a:rPr>
              <a:t>homework 1</a:t>
            </a:r>
            <a:r>
              <a:rPr lang="en-US" sz="1800" dirty="0">
                <a:latin typeface="Arial"/>
                <a:ea typeface="Arial"/>
                <a:cs typeface="Arial"/>
                <a:sym typeface="Arial"/>
              </a:rPr>
              <a:t> are due </a:t>
            </a:r>
            <a:r>
              <a:rPr lang="en-US" sz="1800" b="1" dirty="0">
                <a:latin typeface="Arial"/>
                <a:ea typeface="Arial"/>
                <a:cs typeface="Arial"/>
                <a:sym typeface="Arial"/>
              </a:rPr>
              <a:t>February 3, 5PM</a:t>
            </a:r>
            <a:endParaRPr lang="en-US" sz="1400" b="1" dirty="0">
              <a:latin typeface="Arial"/>
              <a:ea typeface="Arial"/>
              <a:cs typeface="Arial"/>
              <a:sym typeface="Arial"/>
            </a:endParaRPr>
          </a:p>
          <a:p>
            <a:pPr marL="742950" lvl="1" indent="-285750">
              <a:lnSpc>
                <a:spcPct val="100000"/>
              </a:lnSpc>
              <a:spcBef>
                <a:spcPts val="0"/>
              </a:spcBef>
              <a:buSzPts val="3000"/>
            </a:pPr>
            <a:r>
              <a:rPr lang="en-US" sz="1400" dirty="0">
                <a:latin typeface="Arial"/>
                <a:ea typeface="Arial"/>
                <a:cs typeface="Arial"/>
                <a:sym typeface="Arial"/>
              </a:rPr>
              <a:t>Questions 2, 3, 5, 7, 8, 9 and 10 need to be checked-off by instructors / TAs</a:t>
            </a: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r>
              <a:rPr lang="en-US" sz="1800" dirty="0">
                <a:latin typeface="Arial"/>
                <a:ea typeface="Arial"/>
                <a:cs typeface="Arial"/>
                <a:sym typeface="Arial"/>
              </a:rPr>
              <a:t>Answers and code submissions for homework 1 are due </a:t>
            </a:r>
            <a:r>
              <a:rPr lang="en-US" sz="1800" b="1" dirty="0">
                <a:latin typeface="Arial"/>
                <a:ea typeface="Arial"/>
                <a:cs typeface="Arial"/>
                <a:sym typeface="Arial"/>
              </a:rPr>
              <a:t>February 4, 9AM</a:t>
            </a: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r>
              <a:rPr lang="en-US" sz="1800" dirty="0">
                <a:latin typeface="Arial"/>
                <a:ea typeface="Arial"/>
                <a:cs typeface="Arial"/>
                <a:sym typeface="Arial"/>
              </a:rPr>
              <a:t>No late acceptations, since these are individual!</a:t>
            </a:r>
            <a:endParaRPr lang="en-US" sz="1800" dirty="0">
              <a:solidFill>
                <a:srgbClr val="E84B36"/>
              </a:solidFill>
              <a:latin typeface="Arial"/>
              <a:ea typeface="Arial"/>
              <a:cs typeface="Arial"/>
              <a:sym typeface="Arial"/>
            </a:endParaRP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r>
              <a:rPr lang="en-US" sz="1800" dirty="0">
                <a:latin typeface="Arial"/>
                <a:ea typeface="Arial"/>
                <a:cs typeface="Arial"/>
                <a:sym typeface="Arial"/>
              </a:rPr>
              <a:t>Soldering is Exercise 2 of Homework 1.</a:t>
            </a: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endParaRPr lang="en-US" sz="1800" dirty="0">
              <a:latin typeface="Arial"/>
              <a:ea typeface="Arial"/>
              <a:cs typeface="Arial"/>
              <a:sym typeface="Arial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1800" b="1" dirty="0">
                <a:solidFill>
                  <a:srgbClr val="E84B36"/>
                </a:solidFill>
                <a:latin typeface="Arial"/>
                <a:ea typeface="Arial"/>
                <a:cs typeface="Arial"/>
                <a:sym typeface="Arial"/>
              </a:rPr>
              <a:t>LabVIEW:</a:t>
            </a: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r>
              <a:rPr lang="en-US" sz="1800" dirty="0">
                <a:latin typeface="Arial"/>
                <a:ea typeface="Arial"/>
                <a:cs typeface="Arial"/>
                <a:sym typeface="Arial"/>
              </a:rPr>
              <a:t>All check-offs for </a:t>
            </a:r>
            <a:r>
              <a:rPr lang="en-US" sz="1800" dirty="0">
                <a:latin typeface="Arial"/>
                <a:ea typeface="Arial"/>
                <a:cs typeface="Arial"/>
                <a:sym typeface="Arial"/>
                <a:hlinkClick r:id="rId5"/>
              </a:rPr>
              <a:t>LabVIEW 1</a:t>
            </a:r>
            <a:r>
              <a:rPr lang="en-US" sz="1800" dirty="0">
                <a:latin typeface="Arial"/>
                <a:ea typeface="Arial"/>
                <a:cs typeface="Arial"/>
                <a:sym typeface="Arial"/>
              </a:rPr>
              <a:t> are  due </a:t>
            </a:r>
            <a:r>
              <a:rPr lang="en-US" sz="1800" b="1" dirty="0">
                <a:latin typeface="Arial"/>
                <a:ea typeface="Arial"/>
                <a:cs typeface="Arial"/>
                <a:sym typeface="Arial"/>
              </a:rPr>
              <a:t>February 5, 5PM</a:t>
            </a:r>
          </a:p>
        </p:txBody>
      </p:sp>
      <p:sp>
        <p:nvSpPr>
          <p:cNvPr id="119" name="Google Shape;119;p29">
            <a:extLst>
              <a:ext uri="{FF2B5EF4-FFF2-40B4-BE49-F238E27FC236}">
                <a16:creationId xmlns:a16="http://schemas.microsoft.com/office/drawing/2014/main" id="{AD59AEA4-FA31-7DE5-ECA1-47FDE291DADA}"/>
              </a:ext>
            </a:extLst>
          </p:cNvPr>
          <p:cNvSpPr/>
          <p:nvPr/>
        </p:nvSpPr>
        <p:spPr>
          <a:xfrm rot="10800000" flipH="1">
            <a:off x="0" y="0"/>
            <a:ext cx="12192000" cy="868220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rgbClr val="13294B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29">
            <a:extLst>
              <a:ext uri="{FF2B5EF4-FFF2-40B4-BE49-F238E27FC236}">
                <a16:creationId xmlns:a16="http://schemas.microsoft.com/office/drawing/2014/main" id="{2EF4682E-AB31-E1D3-8C63-83FBD01EEE50}"/>
              </a:ext>
            </a:extLst>
          </p:cNvPr>
          <p:cNvSpPr txBox="1"/>
          <p:nvPr/>
        </p:nvSpPr>
        <p:spPr>
          <a:xfrm>
            <a:off x="376810" y="204051"/>
            <a:ext cx="10910026" cy="46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lang="en-US" sz="2400" b="0" i="0" u="none" strike="noStrike" cap="none" dirty="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Due Dates</a:t>
            </a:r>
            <a:endParaRPr sz="2400" b="0" i="0" u="none" strike="noStrike" cap="none" dirty="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21" name="Google Shape;121;p29">
            <a:extLst>
              <a:ext uri="{FF2B5EF4-FFF2-40B4-BE49-F238E27FC236}">
                <a16:creationId xmlns:a16="http://schemas.microsoft.com/office/drawing/2014/main" id="{82D4F2AE-AF34-641F-D726-1F09D72D4F1C}"/>
              </a:ext>
            </a:extLst>
          </p:cNvPr>
          <p:cNvPicPr preferRelativeResize="0"/>
          <p:nvPr/>
        </p:nvPicPr>
        <p:blipFill rotWithShape="1">
          <a:blip r:embed="rId6">
            <a:alphaModFix/>
          </a:blip>
          <a:srcRect/>
          <a:stretch/>
        </p:blipFill>
        <p:spPr>
          <a:xfrm>
            <a:off x="11557509" y="233819"/>
            <a:ext cx="271308" cy="389810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29">
            <a:extLst>
              <a:ext uri="{FF2B5EF4-FFF2-40B4-BE49-F238E27FC236}">
                <a16:creationId xmlns:a16="http://schemas.microsoft.com/office/drawing/2014/main" id="{0BF2177D-7368-A283-161A-0AB4D52E95AD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23" name="Google Shape;123;p29">
            <a:extLst>
              <a:ext uri="{FF2B5EF4-FFF2-40B4-BE49-F238E27FC236}">
                <a16:creationId xmlns:a16="http://schemas.microsoft.com/office/drawing/2014/main" id="{C1E702B2-7A21-65E7-17C4-E10079AAA2DD}"/>
              </a:ext>
            </a:extLst>
          </p:cNvPr>
          <p:cNvSpPr txBox="1"/>
          <p:nvPr/>
        </p:nvSpPr>
        <p:spPr>
          <a:xfrm>
            <a:off x="376807" y="6524381"/>
            <a:ext cx="7991337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13294B"/>
                </a:solidFill>
              </a:rPr>
              <a:t>SYSTEMS ENGINEERING </a:t>
            </a:r>
            <a:endParaRPr dirty="0"/>
          </a:p>
        </p:txBody>
      </p:sp>
      <p:grpSp>
        <p:nvGrpSpPr>
          <p:cNvPr id="124" name="Google Shape;124;p29">
            <a:extLst>
              <a:ext uri="{FF2B5EF4-FFF2-40B4-BE49-F238E27FC236}">
                <a16:creationId xmlns:a16="http://schemas.microsoft.com/office/drawing/2014/main" id="{18DFBE1C-F9BB-2D43-E81C-914BF2A56235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125" name="Google Shape;125;p29">
              <a:extLst>
                <a:ext uri="{FF2B5EF4-FFF2-40B4-BE49-F238E27FC236}">
                  <a16:creationId xmlns:a16="http://schemas.microsoft.com/office/drawing/2014/main" id="{E8B709CE-2A7C-0CCA-4EDF-FEC086E24F5A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rgbClr val="13294B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26" name="Google Shape;126;p29">
              <a:extLst>
                <a:ext uri="{FF2B5EF4-FFF2-40B4-BE49-F238E27FC236}">
                  <a16:creationId xmlns:a16="http://schemas.microsoft.com/office/drawing/2014/main" id="{1B462F17-FDB0-9C67-DE2D-DF014F11F97D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rgbClr val="13294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8474716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>
            <a:alphaModFix/>
          </a:blip>
          <a:stretch>
            <a:fillRect/>
          </a:stretch>
        </a:blipFill>
        <a:effectLst/>
      </p:bgPr>
    </p:bg>
    <p:spTree>
      <p:nvGrpSpPr>
        <p:cNvPr id="1" name="Shape 88">
          <a:extLst>
            <a:ext uri="{FF2B5EF4-FFF2-40B4-BE49-F238E27FC236}">
              <a16:creationId xmlns:a16="http://schemas.microsoft.com/office/drawing/2014/main" id="{8C2441AC-B173-8D17-8C64-0E6EB4DE3ED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" name="Google Shape;89;p27">
            <a:extLst>
              <a:ext uri="{FF2B5EF4-FFF2-40B4-BE49-F238E27FC236}">
                <a16:creationId xmlns:a16="http://schemas.microsoft.com/office/drawing/2014/main" id="{28B44141-C670-8ABB-20E0-AAA6EFD29AB9}"/>
              </a:ext>
            </a:extLst>
          </p:cNvPr>
          <p:cNvSpPr txBox="1"/>
          <p:nvPr/>
        </p:nvSpPr>
        <p:spPr>
          <a:xfrm>
            <a:off x="2206906" y="1491040"/>
            <a:ext cx="7778187" cy="10156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lang="en-US" sz="6000" b="1" i="0" u="none" strike="noStrike" cap="none" dirty="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Semester Project</a:t>
            </a:r>
            <a:endParaRPr sz="14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0" name="Google Shape;90;p27">
            <a:extLst>
              <a:ext uri="{FF2B5EF4-FFF2-40B4-BE49-F238E27FC236}">
                <a16:creationId xmlns:a16="http://schemas.microsoft.com/office/drawing/2014/main" id="{C188BAE0-AF94-4F20-E8F5-C7A8238E2D56}"/>
              </a:ext>
            </a:extLst>
          </p:cNvPr>
          <p:cNvSpPr txBox="1"/>
          <p:nvPr/>
        </p:nvSpPr>
        <p:spPr>
          <a:xfrm>
            <a:off x="1441528" y="3232230"/>
            <a:ext cx="9308941" cy="224672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lvl="0" algn="ctr">
              <a:buSzPts val="2800"/>
            </a:pPr>
            <a:r>
              <a:rPr lang="en-US" sz="2800" dirty="0">
                <a:solidFill>
                  <a:schemeClr val="lt1"/>
                </a:solidFill>
              </a:rPr>
              <a:t>Thursday May 14</a:t>
            </a:r>
            <a:r>
              <a:rPr lang="en-US" sz="2800" baseline="30000" dirty="0">
                <a:solidFill>
                  <a:schemeClr val="lt1"/>
                </a:solidFill>
              </a:rPr>
              <a:t>th</a:t>
            </a:r>
            <a:r>
              <a:rPr lang="en-US" sz="2800" dirty="0">
                <a:solidFill>
                  <a:schemeClr val="lt1"/>
                </a:solidFill>
              </a:rPr>
              <a:t>, 11AM – 2PM</a:t>
            </a:r>
          </a:p>
          <a:p>
            <a:pPr lvl="0" algn="ctr">
              <a:buSzPts val="2800"/>
            </a:pPr>
            <a:r>
              <a:rPr lang="en-US" sz="2800" b="1" dirty="0">
                <a:solidFill>
                  <a:schemeClr val="lt1"/>
                </a:solidFill>
              </a:rPr>
              <a:t>Last day of Finals!!! </a:t>
            </a:r>
          </a:p>
          <a:p>
            <a:pPr lvl="0" algn="ctr">
              <a:buSzPts val="2800"/>
            </a:pPr>
            <a:r>
              <a:rPr lang="en-US" sz="2800" dirty="0">
                <a:solidFill>
                  <a:schemeClr val="lt1"/>
                </a:solidFill>
              </a:rPr>
              <a:t>( yes, I know that’s annoying)</a:t>
            </a:r>
          </a:p>
          <a:p>
            <a:pPr lvl="0" algn="ctr">
              <a:buSzPts val="2800"/>
            </a:pPr>
            <a:endParaRPr lang="en-US" sz="2800" b="1" i="0" u="none" strike="noStrike" cap="none" dirty="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  <a:p>
            <a:pPr lvl="0" algn="ctr">
              <a:buSzPts val="2800"/>
            </a:pPr>
            <a:r>
              <a:rPr lang="en-US" sz="2800" b="1" dirty="0">
                <a:solidFill>
                  <a:schemeClr val="lt1"/>
                </a:solidFill>
              </a:rPr>
              <a:t>Attendance is </a:t>
            </a:r>
            <a:r>
              <a:rPr lang="en-US" sz="2800" b="1" dirty="0">
                <a:solidFill>
                  <a:srgbClr val="E84B36"/>
                </a:solidFill>
              </a:rPr>
              <a:t>mandatory</a:t>
            </a:r>
            <a:r>
              <a:rPr lang="en-US" sz="2800" b="1" dirty="0">
                <a:solidFill>
                  <a:schemeClr val="lt1"/>
                </a:solidFill>
              </a:rPr>
              <a:t>!!</a:t>
            </a:r>
            <a:endParaRPr lang="en-US" sz="2800" b="1" i="0" u="none" strike="noStrike" cap="none" dirty="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91" name="Google Shape;91;p27">
            <a:extLst>
              <a:ext uri="{FF2B5EF4-FFF2-40B4-BE49-F238E27FC236}">
                <a16:creationId xmlns:a16="http://schemas.microsoft.com/office/drawing/2014/main" id="{2BDD255B-0619-DA09-C865-8E5E11CABDA0}"/>
              </a:ext>
            </a:extLst>
          </p:cNvPr>
          <p:cNvGrpSpPr/>
          <p:nvPr/>
        </p:nvGrpSpPr>
        <p:grpSpPr>
          <a:xfrm>
            <a:off x="3943790" y="2676939"/>
            <a:ext cx="3861740" cy="322845"/>
            <a:chOff x="3943790" y="2676939"/>
            <a:chExt cx="3861740" cy="322845"/>
          </a:xfrm>
        </p:grpSpPr>
        <p:cxnSp>
          <p:nvCxnSpPr>
            <p:cNvPr id="92" name="Google Shape;92;p27">
              <a:extLst>
                <a:ext uri="{FF2B5EF4-FFF2-40B4-BE49-F238E27FC236}">
                  <a16:creationId xmlns:a16="http://schemas.microsoft.com/office/drawing/2014/main" id="{EFB24328-6928-5D39-E355-377755EDF1AF}"/>
                </a:ext>
              </a:extLst>
            </p:cNvPr>
            <p:cNvCxnSpPr/>
            <p:nvPr/>
          </p:nvCxnSpPr>
          <p:spPr>
            <a:xfrm>
              <a:off x="4426226" y="2676939"/>
              <a:ext cx="3379304" cy="0"/>
            </a:xfrm>
            <a:prstGeom prst="straightConnector1">
              <a:avLst/>
            </a:prstGeom>
            <a:noFill/>
            <a:ln w="19050" cap="flat" cmpd="sng">
              <a:solidFill>
                <a:srgbClr val="E84B36"/>
              </a:solidFill>
              <a:prstDash val="solid"/>
              <a:round/>
              <a:headEnd type="none" w="sm" len="sm"/>
              <a:tailEnd type="none" w="sm" len="sm"/>
            </a:ln>
          </p:spPr>
        </p:cxnSp>
        <p:cxnSp>
          <p:nvCxnSpPr>
            <p:cNvPr id="93" name="Google Shape;93;p27">
              <a:extLst>
                <a:ext uri="{FF2B5EF4-FFF2-40B4-BE49-F238E27FC236}">
                  <a16:creationId xmlns:a16="http://schemas.microsoft.com/office/drawing/2014/main" id="{E3BAAD31-BC0F-4A60-8AA1-56D755E30FD5}"/>
                </a:ext>
              </a:extLst>
            </p:cNvPr>
            <p:cNvCxnSpPr/>
            <p:nvPr/>
          </p:nvCxnSpPr>
          <p:spPr>
            <a:xfrm rot="10800000" flipH="1">
              <a:off x="3943790" y="2676939"/>
              <a:ext cx="482436" cy="322845"/>
            </a:xfrm>
            <a:prstGeom prst="straightConnector1">
              <a:avLst/>
            </a:prstGeom>
            <a:noFill/>
            <a:ln w="19050" cap="flat" cmpd="sng">
              <a:solidFill>
                <a:srgbClr val="E84B36"/>
              </a:solidFill>
              <a:prstDash val="solid"/>
              <a:round/>
              <a:headEnd type="none" w="sm" len="sm"/>
              <a:tailEnd type="none" w="sm" len="sm"/>
            </a:ln>
          </p:spPr>
        </p:cxnSp>
      </p:grpSp>
      <p:pic>
        <p:nvPicPr>
          <p:cNvPr id="94" name="Google Shape;94;p27">
            <a:extLst>
              <a:ext uri="{FF2B5EF4-FFF2-40B4-BE49-F238E27FC236}">
                <a16:creationId xmlns:a16="http://schemas.microsoft.com/office/drawing/2014/main" id="{442EC04A-B6B9-3EC3-CAA1-53A267F1FE2A}"/>
              </a:ext>
            </a:extLst>
          </p:cNvPr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1557509" y="233819"/>
            <a:ext cx="271308" cy="389810"/>
          </a:xfrm>
          <a:prstGeom prst="rect">
            <a:avLst/>
          </a:prstGeom>
          <a:noFill/>
          <a:ln>
            <a:noFill/>
          </a:ln>
        </p:spPr>
      </p:pic>
      <p:sp>
        <p:nvSpPr>
          <p:cNvPr id="95" name="Google Shape;95;p27">
            <a:extLst>
              <a:ext uri="{FF2B5EF4-FFF2-40B4-BE49-F238E27FC236}">
                <a16:creationId xmlns:a16="http://schemas.microsoft.com/office/drawing/2014/main" id="{CCB5533F-A0D3-93F5-8101-D1A909B532B2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96" name="Google Shape;96;p27">
            <a:extLst>
              <a:ext uri="{FF2B5EF4-FFF2-40B4-BE49-F238E27FC236}">
                <a16:creationId xmlns:a16="http://schemas.microsoft.com/office/drawing/2014/main" id="{5FA3D936-A09D-5A2D-BD3F-3B4A185E17AE}"/>
              </a:ext>
            </a:extLst>
          </p:cNvPr>
          <p:cNvSpPr txBox="1"/>
          <p:nvPr/>
        </p:nvSpPr>
        <p:spPr>
          <a:xfrm>
            <a:off x="376807" y="6524381"/>
            <a:ext cx="7991337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chemeClr val="lt1"/>
                </a:solidFill>
              </a:rPr>
              <a:t>SYSTEMS ENGINEERING </a:t>
            </a:r>
            <a:endParaRPr dirty="0"/>
          </a:p>
        </p:txBody>
      </p:sp>
      <p:grpSp>
        <p:nvGrpSpPr>
          <p:cNvPr id="97" name="Google Shape;97;p27">
            <a:extLst>
              <a:ext uri="{FF2B5EF4-FFF2-40B4-BE49-F238E27FC236}">
                <a16:creationId xmlns:a16="http://schemas.microsoft.com/office/drawing/2014/main" id="{A5895954-C3C5-744F-50CC-224A22A77670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98" name="Google Shape;98;p27">
              <a:extLst>
                <a:ext uri="{FF2B5EF4-FFF2-40B4-BE49-F238E27FC236}">
                  <a16:creationId xmlns:a16="http://schemas.microsoft.com/office/drawing/2014/main" id="{CF3E8396-30D7-4A21-4AEC-3C0062DF05A9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99" name="Google Shape;99;p27">
              <a:extLst>
                <a:ext uri="{FF2B5EF4-FFF2-40B4-BE49-F238E27FC236}">
                  <a16:creationId xmlns:a16="http://schemas.microsoft.com/office/drawing/2014/main" id="{09BD3E6C-4647-5B80-CA19-FB9C76DE3066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40124147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">
          <a:extLst>
            <a:ext uri="{FF2B5EF4-FFF2-40B4-BE49-F238E27FC236}">
              <a16:creationId xmlns:a16="http://schemas.microsoft.com/office/drawing/2014/main" id="{2829D7E9-EA1D-D258-7422-A853BFA6013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29">
            <a:extLst>
              <a:ext uri="{FF2B5EF4-FFF2-40B4-BE49-F238E27FC236}">
                <a16:creationId xmlns:a16="http://schemas.microsoft.com/office/drawing/2014/main" id="{8915131D-2264-84AA-B6C4-8A0256D0306D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376809" y="1334279"/>
            <a:ext cx="11177401" cy="482110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1800" b="1" dirty="0">
                <a:solidFill>
                  <a:srgbClr val="E84B36"/>
                </a:solidFill>
                <a:latin typeface="Arial"/>
                <a:ea typeface="Arial"/>
                <a:cs typeface="Arial"/>
                <a:sym typeface="Arial"/>
              </a:rPr>
              <a:t>Website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endParaRPr lang="en-US" sz="1800" b="1" dirty="0">
              <a:solidFill>
                <a:srgbClr val="E84B36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1800" dirty="0">
                <a:latin typeface="Arial"/>
                <a:ea typeface="Arial"/>
                <a:cs typeface="Arial"/>
                <a:sym typeface="Arial"/>
              </a:rPr>
              <a:t>You will be creating a </a:t>
            </a:r>
            <a:r>
              <a:rPr lang="en-US" sz="1800" dirty="0">
                <a:latin typeface="Arial"/>
                <a:ea typeface="Arial"/>
                <a:cs typeface="Arial"/>
                <a:sym typeface="Arial"/>
                <a:hlinkClick r:id="rId3"/>
              </a:rPr>
              <a:t>Hackster.io </a:t>
            </a:r>
            <a:r>
              <a:rPr lang="en-US" sz="1800" dirty="0">
                <a:latin typeface="Arial"/>
                <a:ea typeface="Arial"/>
                <a:cs typeface="Arial"/>
                <a:sym typeface="Arial"/>
              </a:rPr>
              <a:t>website to show what you have done by the end of the semester to showcase to everyone.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endParaRPr lang="en-US" sz="1800" b="1" dirty="0">
              <a:solidFill>
                <a:srgbClr val="E84B36"/>
              </a:solidFill>
              <a:latin typeface="Arial"/>
              <a:ea typeface="Arial"/>
              <a:cs typeface="Arial"/>
              <a:sym typeface="Arial"/>
            </a:endParaRP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r>
              <a:rPr lang="en-US" sz="1800" dirty="0">
                <a:latin typeface="Arial"/>
                <a:ea typeface="Arial"/>
                <a:cs typeface="Arial"/>
                <a:sym typeface="Arial"/>
              </a:rPr>
              <a:t>Show the video working,</a:t>
            </a: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r>
              <a:rPr lang="en-US" sz="1800" dirty="0">
                <a:latin typeface="Arial"/>
                <a:ea typeface="Arial"/>
                <a:cs typeface="Arial"/>
                <a:sym typeface="Arial"/>
              </a:rPr>
              <a:t>Put code, </a:t>
            </a: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r>
              <a:rPr lang="en-US" sz="1800" b="1" dirty="0">
                <a:solidFill>
                  <a:srgbClr val="E84B36"/>
                </a:solidFill>
                <a:latin typeface="Arial"/>
                <a:ea typeface="Arial"/>
                <a:cs typeface="Arial"/>
                <a:sym typeface="Arial"/>
              </a:rPr>
              <a:t>Show any other cool stuff you do!</a:t>
            </a: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endParaRPr lang="en-US" sz="1800" b="1" dirty="0">
              <a:solidFill>
                <a:srgbClr val="E84B36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1800" dirty="0">
                <a:latin typeface="Arial"/>
                <a:ea typeface="Arial"/>
                <a:cs typeface="Arial"/>
                <a:sym typeface="Arial"/>
              </a:rPr>
              <a:t>You are posting this to be publicly visible, so put your best effort in doing this. You can show the work for interviews, </a:t>
            </a:r>
            <a:r>
              <a:rPr lang="en-US" sz="1800" dirty="0" err="1">
                <a:latin typeface="Arial"/>
                <a:ea typeface="Arial"/>
                <a:cs typeface="Arial"/>
                <a:sym typeface="Arial"/>
              </a:rPr>
              <a:t>etc</a:t>
            </a:r>
            <a:r>
              <a:rPr lang="en-US" sz="1800" dirty="0">
                <a:latin typeface="Arial"/>
                <a:ea typeface="Arial"/>
                <a:cs typeface="Arial"/>
                <a:sym typeface="Arial"/>
              </a:rPr>
              <a:t>…</a:t>
            </a:r>
            <a:endParaRPr lang="en-US" sz="1800" b="1" dirty="0">
              <a:solidFill>
                <a:srgbClr val="E84B36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9" name="Google Shape;119;p29">
            <a:extLst>
              <a:ext uri="{FF2B5EF4-FFF2-40B4-BE49-F238E27FC236}">
                <a16:creationId xmlns:a16="http://schemas.microsoft.com/office/drawing/2014/main" id="{BB8ADD5E-4587-91AA-E902-1B0E4A8E354A}"/>
              </a:ext>
            </a:extLst>
          </p:cNvPr>
          <p:cNvSpPr/>
          <p:nvPr/>
        </p:nvSpPr>
        <p:spPr>
          <a:xfrm rot="10800000" flipH="1">
            <a:off x="0" y="0"/>
            <a:ext cx="12192000" cy="868220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rgbClr val="13294B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29">
            <a:extLst>
              <a:ext uri="{FF2B5EF4-FFF2-40B4-BE49-F238E27FC236}">
                <a16:creationId xmlns:a16="http://schemas.microsoft.com/office/drawing/2014/main" id="{F1286703-C61A-B2D1-585F-C10B261E8B94}"/>
              </a:ext>
            </a:extLst>
          </p:cNvPr>
          <p:cNvSpPr txBox="1"/>
          <p:nvPr/>
        </p:nvSpPr>
        <p:spPr>
          <a:xfrm>
            <a:off x="376810" y="204051"/>
            <a:ext cx="10910026" cy="46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lang="en-US" sz="2400" b="0" i="0" u="none" strike="noStrike" cap="none" dirty="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Semester Project</a:t>
            </a:r>
            <a:endParaRPr sz="2400" b="0" i="0" u="none" strike="noStrike" cap="none" dirty="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21" name="Google Shape;121;p29">
            <a:extLst>
              <a:ext uri="{FF2B5EF4-FFF2-40B4-BE49-F238E27FC236}">
                <a16:creationId xmlns:a16="http://schemas.microsoft.com/office/drawing/2014/main" id="{D4447D33-31A5-FA96-111C-05B9D666909D}"/>
              </a:ext>
            </a:extLst>
          </p:cNvPr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1557509" y="233819"/>
            <a:ext cx="271308" cy="389810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29">
            <a:extLst>
              <a:ext uri="{FF2B5EF4-FFF2-40B4-BE49-F238E27FC236}">
                <a16:creationId xmlns:a16="http://schemas.microsoft.com/office/drawing/2014/main" id="{E75751BA-8B9C-91BD-8C25-6C469DA0A635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23" name="Google Shape;123;p29">
            <a:extLst>
              <a:ext uri="{FF2B5EF4-FFF2-40B4-BE49-F238E27FC236}">
                <a16:creationId xmlns:a16="http://schemas.microsoft.com/office/drawing/2014/main" id="{315DC340-10EC-BD3A-74F5-B5230770C81F}"/>
              </a:ext>
            </a:extLst>
          </p:cNvPr>
          <p:cNvSpPr txBox="1"/>
          <p:nvPr/>
        </p:nvSpPr>
        <p:spPr>
          <a:xfrm>
            <a:off x="376807" y="6524381"/>
            <a:ext cx="7991337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13294B"/>
                </a:solidFill>
              </a:rPr>
              <a:t>SYSTEMS ENGINEERING </a:t>
            </a:r>
            <a:endParaRPr dirty="0"/>
          </a:p>
        </p:txBody>
      </p:sp>
      <p:grpSp>
        <p:nvGrpSpPr>
          <p:cNvPr id="124" name="Google Shape;124;p29">
            <a:extLst>
              <a:ext uri="{FF2B5EF4-FFF2-40B4-BE49-F238E27FC236}">
                <a16:creationId xmlns:a16="http://schemas.microsoft.com/office/drawing/2014/main" id="{92E46266-8579-84FA-6DE5-1CFA462B2EC3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125" name="Google Shape;125;p29">
              <a:extLst>
                <a:ext uri="{FF2B5EF4-FFF2-40B4-BE49-F238E27FC236}">
                  <a16:creationId xmlns:a16="http://schemas.microsoft.com/office/drawing/2014/main" id="{2C89E83D-2B67-876F-D392-B6E929232AA3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rgbClr val="13294B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26" name="Google Shape;126;p29">
              <a:extLst>
                <a:ext uri="{FF2B5EF4-FFF2-40B4-BE49-F238E27FC236}">
                  <a16:creationId xmlns:a16="http://schemas.microsoft.com/office/drawing/2014/main" id="{7BFA36F5-6D8B-FB3A-824E-B3067E17F350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rgbClr val="13294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89625976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>
            <a:alphaModFix/>
          </a:blip>
          <a:stretch>
            <a:fillRect/>
          </a:stretch>
        </a:blipFill>
        <a:effectLst/>
      </p:bgPr>
    </p:bg>
    <p:spTree>
      <p:nvGrpSpPr>
        <p:cNvPr id="1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28"/>
          <p:cNvSpPr txBox="1"/>
          <p:nvPr/>
        </p:nvSpPr>
        <p:spPr>
          <a:xfrm>
            <a:off x="1295400" y="3225489"/>
            <a:ext cx="9601200" cy="7847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500"/>
              <a:buFont typeface="Arial"/>
              <a:buNone/>
            </a:pPr>
            <a:r>
              <a:rPr lang="en-US" sz="4500" b="1" i="0" u="none" strike="noStrike" cap="none" dirty="0">
                <a:solidFill>
                  <a:srgbClr val="15264B"/>
                </a:solidFill>
                <a:latin typeface="Arial"/>
                <a:ea typeface="Arial"/>
                <a:cs typeface="Arial"/>
                <a:sym typeface="Arial"/>
              </a:rPr>
              <a:t>Registers</a:t>
            </a:r>
            <a:endParaRPr dirty="0"/>
          </a:p>
        </p:txBody>
      </p:sp>
      <p:grpSp>
        <p:nvGrpSpPr>
          <p:cNvPr id="105" name="Google Shape;105;p28"/>
          <p:cNvGrpSpPr/>
          <p:nvPr/>
        </p:nvGrpSpPr>
        <p:grpSpPr>
          <a:xfrm>
            <a:off x="3943790" y="2676939"/>
            <a:ext cx="3861740" cy="322845"/>
            <a:chOff x="3943790" y="2676939"/>
            <a:chExt cx="3861740" cy="322845"/>
          </a:xfrm>
        </p:grpSpPr>
        <p:cxnSp>
          <p:nvCxnSpPr>
            <p:cNvPr id="106" name="Google Shape;106;p28"/>
            <p:cNvCxnSpPr/>
            <p:nvPr/>
          </p:nvCxnSpPr>
          <p:spPr>
            <a:xfrm>
              <a:off x="4426226" y="2676939"/>
              <a:ext cx="3379304" cy="0"/>
            </a:xfrm>
            <a:prstGeom prst="straightConnector1">
              <a:avLst/>
            </a:prstGeom>
            <a:noFill/>
            <a:ln w="190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</p:cxnSp>
        <p:cxnSp>
          <p:nvCxnSpPr>
            <p:cNvPr id="107" name="Google Shape;107;p28"/>
            <p:cNvCxnSpPr/>
            <p:nvPr/>
          </p:nvCxnSpPr>
          <p:spPr>
            <a:xfrm rot="10800000" flipH="1">
              <a:off x="3943790" y="2676939"/>
              <a:ext cx="482436" cy="322845"/>
            </a:xfrm>
            <a:prstGeom prst="straightConnector1">
              <a:avLst/>
            </a:prstGeom>
            <a:noFill/>
            <a:ln w="190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</p:cxnSp>
      </p:grpSp>
      <p:pic>
        <p:nvPicPr>
          <p:cNvPr id="108" name="Google Shape;108;p28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1557509" y="233819"/>
            <a:ext cx="271308" cy="389811"/>
          </a:xfrm>
          <a:prstGeom prst="rect">
            <a:avLst/>
          </a:prstGeom>
          <a:noFill/>
          <a:ln>
            <a:noFill/>
          </a:ln>
        </p:spPr>
      </p:pic>
      <p:sp>
        <p:nvSpPr>
          <p:cNvPr id="109" name="Google Shape;109;p28"/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10" name="Google Shape;110;p28"/>
          <p:cNvSpPr txBox="1"/>
          <p:nvPr/>
        </p:nvSpPr>
        <p:spPr>
          <a:xfrm>
            <a:off x="376807" y="6524381"/>
            <a:ext cx="7991400" cy="230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13294B"/>
                </a:solidFill>
              </a:rPr>
              <a:t>SYSTEMS ENGINEERING</a:t>
            </a:r>
            <a:endParaRPr dirty="0"/>
          </a:p>
        </p:txBody>
      </p:sp>
      <p:grpSp>
        <p:nvGrpSpPr>
          <p:cNvPr id="111" name="Google Shape;111;p28"/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112" name="Google Shape;112;p28"/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rgbClr val="13294B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13" name="Google Shape;113;p28"/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rgbClr val="13294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">
          <a:extLst>
            <a:ext uri="{FF2B5EF4-FFF2-40B4-BE49-F238E27FC236}">
              <a16:creationId xmlns:a16="http://schemas.microsoft.com/office/drawing/2014/main" id="{C9BEEF1A-8246-780D-B805-73B0266CA6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29">
            <a:extLst>
              <a:ext uri="{FF2B5EF4-FFF2-40B4-BE49-F238E27FC236}">
                <a16:creationId xmlns:a16="http://schemas.microsoft.com/office/drawing/2014/main" id="{3B3D1F5B-F4CE-3A65-FC4B-C8CBA8198B93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376809" y="1334279"/>
            <a:ext cx="11177401" cy="482110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US" sz="1800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The CPU only knows one thing: </a:t>
            </a:r>
            <a:r>
              <a:rPr lang="en-US" sz="1800" b="1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memory addresses</a:t>
            </a: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endParaRPr lang="en-US" sz="1800" b="1" dirty="0">
              <a:latin typeface="Arial"/>
              <a:cs typeface="Arial"/>
              <a:sym typeface="Arial"/>
            </a:endParaRPr>
          </a:p>
          <a:p>
            <a:pPr marL="0" lv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1800" dirty="0">
                <a:latin typeface="Arial"/>
                <a:cs typeface="Arial"/>
                <a:sym typeface="Arial"/>
              </a:rPr>
              <a:t>On the </a:t>
            </a:r>
            <a:r>
              <a:rPr lang="en-US" sz="1800" dirty="0"/>
              <a:t>TMS320F2837xD:</a:t>
            </a: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r>
              <a:rPr lang="en-US" sz="1800" dirty="0"/>
              <a:t>RAM has addresses</a:t>
            </a: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r>
              <a:rPr lang="en-US" sz="1800" dirty="0"/>
              <a:t>Flash has addresses</a:t>
            </a: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r>
              <a:rPr lang="en-US" sz="1800" dirty="0"/>
              <a:t>Peripherals also have addresses</a:t>
            </a: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endParaRPr lang="en-US" sz="1800" dirty="0"/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1800" dirty="0"/>
              <a:t>This is called Memory-Mapped I/O (</a:t>
            </a:r>
            <a:r>
              <a:rPr lang="en-US" sz="1800" b="1" dirty="0"/>
              <a:t>MMIO</a:t>
            </a:r>
            <a:r>
              <a:rPr lang="en-US" sz="1800" dirty="0"/>
              <a:t>)</a:t>
            </a:r>
          </a:p>
          <a:p>
            <a:pPr marL="0" lv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endParaRPr lang="en-US" sz="1800" dirty="0">
              <a:latin typeface="Arial"/>
              <a:ea typeface="Arial"/>
              <a:cs typeface="Arial"/>
              <a:sym typeface="Arial"/>
            </a:endParaRPr>
          </a:p>
          <a:p>
            <a:pPr marL="0" lv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endParaRPr lang="en-US" sz="1800" dirty="0">
              <a:latin typeface="Arial"/>
              <a:ea typeface="Arial"/>
              <a:cs typeface="Arial"/>
              <a:sym typeface="Arial"/>
            </a:endParaRPr>
          </a:p>
          <a:p>
            <a:pPr marL="0" lv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1800" dirty="0">
                <a:latin typeface="Arial"/>
                <a:ea typeface="Arial"/>
                <a:cs typeface="Arial"/>
                <a:sym typeface="Arial"/>
              </a:rPr>
              <a:t>A peripheral is a hardware module whose control and status registers are mapped to fixed memory addresses, allowing the CPU to configure and control hardware by reading from and writing to memory.</a:t>
            </a:r>
          </a:p>
        </p:txBody>
      </p:sp>
      <p:sp>
        <p:nvSpPr>
          <p:cNvPr id="119" name="Google Shape;119;p29">
            <a:extLst>
              <a:ext uri="{FF2B5EF4-FFF2-40B4-BE49-F238E27FC236}">
                <a16:creationId xmlns:a16="http://schemas.microsoft.com/office/drawing/2014/main" id="{F4A71BDA-AF55-C788-95F4-7D99FDA443DB}"/>
              </a:ext>
            </a:extLst>
          </p:cNvPr>
          <p:cNvSpPr/>
          <p:nvPr/>
        </p:nvSpPr>
        <p:spPr>
          <a:xfrm rot="10800000" flipH="1">
            <a:off x="0" y="0"/>
            <a:ext cx="12192000" cy="868220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rgbClr val="13294B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29">
            <a:extLst>
              <a:ext uri="{FF2B5EF4-FFF2-40B4-BE49-F238E27FC236}">
                <a16:creationId xmlns:a16="http://schemas.microsoft.com/office/drawing/2014/main" id="{3767473E-7200-1801-D48E-0407667B4E72}"/>
              </a:ext>
            </a:extLst>
          </p:cNvPr>
          <p:cNvSpPr txBox="1"/>
          <p:nvPr/>
        </p:nvSpPr>
        <p:spPr>
          <a:xfrm>
            <a:off x="376810" y="204051"/>
            <a:ext cx="10910026" cy="46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lang="en-US" sz="2400" b="0" i="0" u="none" strike="noStrike" cap="none" dirty="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Memory-Mapped I/O</a:t>
            </a:r>
            <a:endParaRPr sz="2400" b="0" i="0" u="none" strike="noStrike" cap="none" dirty="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21" name="Google Shape;121;p29">
            <a:extLst>
              <a:ext uri="{FF2B5EF4-FFF2-40B4-BE49-F238E27FC236}">
                <a16:creationId xmlns:a16="http://schemas.microsoft.com/office/drawing/2014/main" id="{F8247348-FF7D-D515-1494-EF00C3BBBFBB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1557509" y="233819"/>
            <a:ext cx="271308" cy="389810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29">
            <a:extLst>
              <a:ext uri="{FF2B5EF4-FFF2-40B4-BE49-F238E27FC236}">
                <a16:creationId xmlns:a16="http://schemas.microsoft.com/office/drawing/2014/main" id="{7B98A567-8333-5798-5A96-986D6AB0E8E1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23" name="Google Shape;123;p29">
            <a:extLst>
              <a:ext uri="{FF2B5EF4-FFF2-40B4-BE49-F238E27FC236}">
                <a16:creationId xmlns:a16="http://schemas.microsoft.com/office/drawing/2014/main" id="{77D4E743-6B2A-DBCA-05CA-15E8A3CDF86D}"/>
              </a:ext>
            </a:extLst>
          </p:cNvPr>
          <p:cNvSpPr txBox="1"/>
          <p:nvPr/>
        </p:nvSpPr>
        <p:spPr>
          <a:xfrm>
            <a:off x="376807" y="6524381"/>
            <a:ext cx="7991337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13294B"/>
                </a:solidFill>
              </a:rPr>
              <a:t>SYSTEMS ENGINEERING </a:t>
            </a:r>
            <a:endParaRPr dirty="0"/>
          </a:p>
        </p:txBody>
      </p:sp>
      <p:grpSp>
        <p:nvGrpSpPr>
          <p:cNvPr id="124" name="Google Shape;124;p29">
            <a:extLst>
              <a:ext uri="{FF2B5EF4-FFF2-40B4-BE49-F238E27FC236}">
                <a16:creationId xmlns:a16="http://schemas.microsoft.com/office/drawing/2014/main" id="{4E68D5BC-52F3-5E41-9D28-A5329EF010B1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125" name="Google Shape;125;p29">
              <a:extLst>
                <a:ext uri="{FF2B5EF4-FFF2-40B4-BE49-F238E27FC236}">
                  <a16:creationId xmlns:a16="http://schemas.microsoft.com/office/drawing/2014/main" id="{E2A7FD3E-06AA-8235-9B82-C4FE44AF4179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rgbClr val="13294B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26" name="Google Shape;126;p29">
              <a:extLst>
                <a:ext uri="{FF2B5EF4-FFF2-40B4-BE49-F238E27FC236}">
                  <a16:creationId xmlns:a16="http://schemas.microsoft.com/office/drawing/2014/main" id="{8E792E2D-C8AF-47FB-EDEE-A0035DB7218C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rgbClr val="13294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49221042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">
          <a:extLst>
            <a:ext uri="{FF2B5EF4-FFF2-40B4-BE49-F238E27FC236}">
              <a16:creationId xmlns:a16="http://schemas.microsoft.com/office/drawing/2014/main" id="{3A54B991-8E85-5A52-F99C-11B8C0B1926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29">
            <a:extLst>
              <a:ext uri="{FF2B5EF4-FFF2-40B4-BE49-F238E27FC236}">
                <a16:creationId xmlns:a16="http://schemas.microsoft.com/office/drawing/2014/main" id="{A5524367-278E-EA64-B4EE-239DCE369C73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376809" y="1334279"/>
            <a:ext cx="11177401" cy="482110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US" sz="1800" b="1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Peripheral:</a:t>
            </a: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endParaRPr lang="en-US" sz="1800" b="1" dirty="0">
              <a:latin typeface="Arial"/>
              <a:ea typeface="Arial"/>
              <a:cs typeface="Arial"/>
              <a:sym typeface="Arial"/>
            </a:endParaRP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US" sz="1800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A </a:t>
            </a:r>
            <a:r>
              <a:rPr lang="en-US" sz="1800" b="1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Peripheral</a:t>
            </a:r>
            <a:r>
              <a:rPr lang="en-US" sz="1800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is a hardware device with a specific address in memory that it writes data to and/or reads data from.</a:t>
            </a: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endParaRPr lang="en-US" sz="1800" dirty="0">
              <a:latin typeface="Arial"/>
              <a:ea typeface="Arial"/>
              <a:cs typeface="Arial"/>
              <a:sym typeface="Arial"/>
            </a:endParaRP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US" sz="1800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All peripherals can be described by an offset from the </a:t>
            </a:r>
            <a:r>
              <a:rPr lang="en-US" sz="1800" b="1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Peripheral Base Address.</a:t>
            </a: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endParaRPr lang="en-US" sz="1800" dirty="0">
              <a:latin typeface="Arial"/>
              <a:ea typeface="Arial"/>
              <a:cs typeface="Arial"/>
              <a:sym typeface="Arial"/>
            </a:endParaRPr>
          </a:p>
          <a:p>
            <a:pPr marL="0" lv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1800" dirty="0">
                <a:latin typeface="Arial"/>
                <a:ea typeface="Arial"/>
                <a:cs typeface="Arial"/>
                <a:sym typeface="Arial"/>
              </a:rPr>
              <a:t>On the </a:t>
            </a:r>
            <a:r>
              <a:rPr lang="en-US" sz="1800" dirty="0"/>
              <a:t>TMS320F2837xD, registers are typically </a:t>
            </a:r>
            <a:r>
              <a:rPr lang="en-US" sz="1800" b="1" dirty="0"/>
              <a:t>32-bits </a:t>
            </a:r>
            <a:r>
              <a:rPr lang="en-US" sz="1800" dirty="0"/>
              <a:t>or </a:t>
            </a:r>
            <a:r>
              <a:rPr lang="en-US" sz="1800" b="1" dirty="0"/>
              <a:t>16-bit</a:t>
            </a:r>
            <a:r>
              <a:rPr lang="en-US" sz="1800" dirty="0"/>
              <a:t> wide</a:t>
            </a:r>
          </a:p>
          <a:p>
            <a:pPr marL="0" lv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endParaRPr lang="en-US" sz="1800" dirty="0"/>
          </a:p>
          <a:p>
            <a:pPr marL="0" lv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1800" dirty="0"/>
              <a:t>Each bit usually represents to:</a:t>
            </a: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r>
              <a:rPr lang="en-US" sz="1800" dirty="0"/>
              <a:t>A hardware switch (ON / OFF)</a:t>
            </a: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r>
              <a:rPr lang="en-US" sz="1800" dirty="0"/>
              <a:t>A configuration option</a:t>
            </a: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r>
              <a:rPr lang="en-US" sz="1800" dirty="0"/>
              <a:t>A hardware status flag ( Error code, OK )</a:t>
            </a: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endParaRPr lang="en-US" sz="1800" dirty="0"/>
          </a:p>
          <a:p>
            <a:pPr marL="0" lv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endParaRPr lang="en-US" sz="1800" dirty="0">
              <a:latin typeface="Arial"/>
              <a:ea typeface="Arial"/>
              <a:cs typeface="Arial"/>
              <a:sym typeface="Arial"/>
            </a:endParaRPr>
          </a:p>
          <a:p>
            <a:pPr marL="0" lv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endParaRPr lang="en-US" sz="1800" dirty="0"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9" name="Google Shape;119;p29">
            <a:extLst>
              <a:ext uri="{FF2B5EF4-FFF2-40B4-BE49-F238E27FC236}">
                <a16:creationId xmlns:a16="http://schemas.microsoft.com/office/drawing/2014/main" id="{4F71C68D-2089-CB5C-59AB-CF864A9E24C4}"/>
              </a:ext>
            </a:extLst>
          </p:cNvPr>
          <p:cNvSpPr/>
          <p:nvPr/>
        </p:nvSpPr>
        <p:spPr>
          <a:xfrm rot="10800000" flipH="1">
            <a:off x="0" y="0"/>
            <a:ext cx="12192000" cy="868220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rgbClr val="13294B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29">
            <a:extLst>
              <a:ext uri="{FF2B5EF4-FFF2-40B4-BE49-F238E27FC236}">
                <a16:creationId xmlns:a16="http://schemas.microsoft.com/office/drawing/2014/main" id="{38014155-4DAB-98B2-4E07-B5E40E0C4BB4}"/>
              </a:ext>
            </a:extLst>
          </p:cNvPr>
          <p:cNvSpPr txBox="1"/>
          <p:nvPr/>
        </p:nvSpPr>
        <p:spPr>
          <a:xfrm>
            <a:off x="376810" y="204051"/>
            <a:ext cx="10910026" cy="46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lang="en-US" sz="2400" b="0" i="0" u="none" strike="noStrike" cap="none" dirty="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System and Peripheral Registers</a:t>
            </a:r>
            <a:endParaRPr sz="2400" b="0" i="0" u="none" strike="noStrike" cap="none" dirty="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21" name="Google Shape;121;p29">
            <a:extLst>
              <a:ext uri="{FF2B5EF4-FFF2-40B4-BE49-F238E27FC236}">
                <a16:creationId xmlns:a16="http://schemas.microsoft.com/office/drawing/2014/main" id="{A5BF5345-B5BF-16DF-10F0-8E870569DB14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1557509" y="233819"/>
            <a:ext cx="271308" cy="389810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29">
            <a:extLst>
              <a:ext uri="{FF2B5EF4-FFF2-40B4-BE49-F238E27FC236}">
                <a16:creationId xmlns:a16="http://schemas.microsoft.com/office/drawing/2014/main" id="{8C6D2008-58CF-E5C6-8BFA-8ABFE7BC72FA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23" name="Google Shape;123;p29">
            <a:extLst>
              <a:ext uri="{FF2B5EF4-FFF2-40B4-BE49-F238E27FC236}">
                <a16:creationId xmlns:a16="http://schemas.microsoft.com/office/drawing/2014/main" id="{9A9BE1D3-C0D7-38B7-7C00-6210784ACDD5}"/>
              </a:ext>
            </a:extLst>
          </p:cNvPr>
          <p:cNvSpPr txBox="1"/>
          <p:nvPr/>
        </p:nvSpPr>
        <p:spPr>
          <a:xfrm>
            <a:off x="376807" y="6524381"/>
            <a:ext cx="7991337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13294B"/>
                </a:solidFill>
              </a:rPr>
              <a:t>SYSTEMS ENGINEERING </a:t>
            </a:r>
            <a:endParaRPr dirty="0"/>
          </a:p>
        </p:txBody>
      </p:sp>
      <p:grpSp>
        <p:nvGrpSpPr>
          <p:cNvPr id="124" name="Google Shape;124;p29">
            <a:extLst>
              <a:ext uri="{FF2B5EF4-FFF2-40B4-BE49-F238E27FC236}">
                <a16:creationId xmlns:a16="http://schemas.microsoft.com/office/drawing/2014/main" id="{F8ADFA8D-E8F0-AF61-A156-4365E6F5C133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125" name="Google Shape;125;p29">
              <a:extLst>
                <a:ext uri="{FF2B5EF4-FFF2-40B4-BE49-F238E27FC236}">
                  <a16:creationId xmlns:a16="http://schemas.microsoft.com/office/drawing/2014/main" id="{EFE8ED05-543F-E0F7-BCA4-849511BC5E84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rgbClr val="13294B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26" name="Google Shape;126;p29">
              <a:extLst>
                <a:ext uri="{FF2B5EF4-FFF2-40B4-BE49-F238E27FC236}">
                  <a16:creationId xmlns:a16="http://schemas.microsoft.com/office/drawing/2014/main" id="{55630CA8-DBBC-0FAA-99D9-5B106C34696F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rgbClr val="13294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0949569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">
          <a:extLst>
            <a:ext uri="{FF2B5EF4-FFF2-40B4-BE49-F238E27FC236}">
              <a16:creationId xmlns:a16="http://schemas.microsoft.com/office/drawing/2014/main" id="{9F4A3F0A-E78E-9730-D0BA-98BFA495015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29">
            <a:extLst>
              <a:ext uri="{FF2B5EF4-FFF2-40B4-BE49-F238E27FC236}">
                <a16:creationId xmlns:a16="http://schemas.microsoft.com/office/drawing/2014/main" id="{7D0E8B25-9CF7-F89B-84D7-9854597C8868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376809" y="1334279"/>
            <a:ext cx="11177401" cy="482110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1800" dirty="0"/>
              <a:t>TI groups peripherals into address regions.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endParaRPr lang="en-US" sz="1800" dirty="0"/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1800" dirty="0"/>
              <a:t>For example: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endParaRPr lang="en-US" sz="1800" dirty="0"/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r>
              <a:rPr lang="en-US" sz="1800" dirty="0"/>
              <a:t>GPIO register live in one address range</a:t>
            </a: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r>
              <a:rPr lang="en-US" sz="1800" dirty="0"/>
              <a:t>Timers in another</a:t>
            </a: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r>
              <a:rPr lang="en-US" sz="1800" dirty="0" err="1"/>
              <a:t>ePWM</a:t>
            </a:r>
            <a:r>
              <a:rPr lang="en-US" sz="1800" dirty="0"/>
              <a:t> in another</a:t>
            </a: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r>
              <a:rPr lang="en-US" sz="1800" dirty="0"/>
              <a:t>ADC (Analog to Digital Converters ) in another</a:t>
            </a: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r>
              <a:rPr lang="en-US" sz="1800" dirty="0" err="1"/>
              <a:t>Etc</a:t>
            </a:r>
            <a:r>
              <a:rPr lang="en-US" sz="1800" dirty="0"/>
              <a:t>…</a:t>
            </a: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endParaRPr lang="en-US" sz="1800" dirty="0"/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1800" dirty="0"/>
              <a:t>Each register is located at: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endParaRPr lang="en-US" sz="1800" dirty="0"/>
          </a:p>
          <a:p>
            <a:pPr marL="0" indent="0" algn="ctr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1800" b="1" dirty="0"/>
              <a:t>Peripheral Base Address + Register Offset</a:t>
            </a:r>
          </a:p>
          <a:p>
            <a:pPr marL="0" lv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endParaRPr lang="en-US" sz="1800" dirty="0">
              <a:latin typeface="Arial"/>
              <a:ea typeface="Arial"/>
              <a:cs typeface="Arial"/>
              <a:sym typeface="Arial"/>
            </a:endParaRPr>
          </a:p>
          <a:p>
            <a:pPr marL="0" lv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1800" dirty="0">
                <a:latin typeface="Arial"/>
                <a:ea typeface="Arial"/>
                <a:cs typeface="Arial"/>
                <a:sym typeface="Arial"/>
              </a:rPr>
              <a:t>You do not need to calculate these </a:t>
            </a:r>
            <a:r>
              <a:rPr lang="en-US" sz="1800" dirty="0">
                <a:latin typeface="Arial"/>
                <a:ea typeface="Arial"/>
                <a:cs typeface="Arial"/>
                <a:sym typeface="Arial"/>
                <a:hlinkClick r:id="rId3"/>
              </a:rPr>
              <a:t>addresses manually</a:t>
            </a:r>
            <a:r>
              <a:rPr lang="en-US" sz="1800" dirty="0">
                <a:latin typeface="Arial"/>
                <a:ea typeface="Arial"/>
                <a:cs typeface="Arial"/>
                <a:sym typeface="Arial"/>
              </a:rPr>
              <a:t>; TI provides C structures and header files that do this manually.</a:t>
            </a:r>
          </a:p>
          <a:p>
            <a:pPr marL="0" lvl="0" indent="0" algn="ctr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EPwm1Regs.</a:t>
            </a:r>
            <a:r>
              <a:rPr lang="en-US" sz="1800" dirty="0">
                <a:solidFill>
                  <a:srgbClr val="0000C0"/>
                </a:solidFill>
                <a:latin typeface="Consolas" panose="020B0609020204030204" pitchFamily="49" charset="0"/>
              </a:rPr>
              <a:t>TBCTL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sz="1800" dirty="0">
                <a:solidFill>
                  <a:srgbClr val="0000C0"/>
                </a:solidFill>
                <a:latin typeface="Consolas" panose="020B0609020204030204" pitchFamily="49" charset="0"/>
              </a:rPr>
              <a:t>bit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sz="1800" dirty="0">
                <a:solidFill>
                  <a:srgbClr val="0000C0"/>
                </a:solidFill>
                <a:latin typeface="Consolas" panose="020B0609020204030204" pitchFamily="49" charset="0"/>
              </a:rPr>
              <a:t>CLKDIV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 = 1;</a:t>
            </a:r>
            <a:endParaRPr lang="en-US" sz="1800" dirty="0"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9" name="Google Shape;119;p29">
            <a:extLst>
              <a:ext uri="{FF2B5EF4-FFF2-40B4-BE49-F238E27FC236}">
                <a16:creationId xmlns:a16="http://schemas.microsoft.com/office/drawing/2014/main" id="{2735B1A7-A140-C0A0-76FF-8562328E315F}"/>
              </a:ext>
            </a:extLst>
          </p:cNvPr>
          <p:cNvSpPr/>
          <p:nvPr/>
        </p:nvSpPr>
        <p:spPr>
          <a:xfrm rot="10800000" flipH="1">
            <a:off x="0" y="0"/>
            <a:ext cx="12192000" cy="868220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rgbClr val="13294B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29">
            <a:extLst>
              <a:ext uri="{FF2B5EF4-FFF2-40B4-BE49-F238E27FC236}">
                <a16:creationId xmlns:a16="http://schemas.microsoft.com/office/drawing/2014/main" id="{87A597A2-E454-B786-AFB9-579B6E809341}"/>
              </a:ext>
            </a:extLst>
          </p:cNvPr>
          <p:cNvSpPr txBox="1"/>
          <p:nvPr/>
        </p:nvSpPr>
        <p:spPr>
          <a:xfrm>
            <a:off x="376810" y="204051"/>
            <a:ext cx="10910026" cy="46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lang="en-US" sz="2400" b="0" i="0" u="none" strike="noStrike" cap="none" dirty="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Peripheral Base Address</a:t>
            </a:r>
            <a:endParaRPr sz="2400" b="0" i="0" u="none" strike="noStrike" cap="none" dirty="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21" name="Google Shape;121;p29">
            <a:extLst>
              <a:ext uri="{FF2B5EF4-FFF2-40B4-BE49-F238E27FC236}">
                <a16:creationId xmlns:a16="http://schemas.microsoft.com/office/drawing/2014/main" id="{0FA08611-B304-CD35-D2C6-87BFF403FDD9}"/>
              </a:ext>
            </a:extLst>
          </p:cNvPr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1557509" y="233819"/>
            <a:ext cx="271308" cy="389810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29">
            <a:extLst>
              <a:ext uri="{FF2B5EF4-FFF2-40B4-BE49-F238E27FC236}">
                <a16:creationId xmlns:a16="http://schemas.microsoft.com/office/drawing/2014/main" id="{2CDAEB88-8BDF-CA9E-F1F9-04EE5C10A7C4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23" name="Google Shape;123;p29">
            <a:extLst>
              <a:ext uri="{FF2B5EF4-FFF2-40B4-BE49-F238E27FC236}">
                <a16:creationId xmlns:a16="http://schemas.microsoft.com/office/drawing/2014/main" id="{DAC30BEF-DCB2-EDB1-C765-2A06F1C7AB18}"/>
              </a:ext>
            </a:extLst>
          </p:cNvPr>
          <p:cNvSpPr txBox="1"/>
          <p:nvPr/>
        </p:nvSpPr>
        <p:spPr>
          <a:xfrm>
            <a:off x="376807" y="6524381"/>
            <a:ext cx="7991337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13294B"/>
                </a:solidFill>
              </a:rPr>
              <a:t>SYSTEMS ENGINEERING </a:t>
            </a:r>
            <a:endParaRPr dirty="0"/>
          </a:p>
        </p:txBody>
      </p:sp>
      <p:grpSp>
        <p:nvGrpSpPr>
          <p:cNvPr id="124" name="Google Shape;124;p29">
            <a:extLst>
              <a:ext uri="{FF2B5EF4-FFF2-40B4-BE49-F238E27FC236}">
                <a16:creationId xmlns:a16="http://schemas.microsoft.com/office/drawing/2014/main" id="{796EE376-804D-D15B-8027-B05926335F78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125" name="Google Shape;125;p29">
              <a:extLst>
                <a:ext uri="{FF2B5EF4-FFF2-40B4-BE49-F238E27FC236}">
                  <a16:creationId xmlns:a16="http://schemas.microsoft.com/office/drawing/2014/main" id="{2097F45A-48B9-3B23-D9CF-AC6BFCA3CEF3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rgbClr val="13294B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26" name="Google Shape;126;p29">
              <a:extLst>
                <a:ext uri="{FF2B5EF4-FFF2-40B4-BE49-F238E27FC236}">
                  <a16:creationId xmlns:a16="http://schemas.microsoft.com/office/drawing/2014/main" id="{219C26A3-2124-2892-7251-E19506A90678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rgbClr val="13294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103227361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">
          <a:extLst>
            <a:ext uri="{FF2B5EF4-FFF2-40B4-BE49-F238E27FC236}">
              <a16:creationId xmlns:a16="http://schemas.microsoft.com/office/drawing/2014/main" id="{0531F301-BBF7-DF92-6EBE-3E0587DE351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29">
            <a:extLst>
              <a:ext uri="{FF2B5EF4-FFF2-40B4-BE49-F238E27FC236}">
                <a16:creationId xmlns:a16="http://schemas.microsoft.com/office/drawing/2014/main" id="{4E62DBE1-FA05-0946-0A1D-E31DF5AF30E4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376809" y="1334279"/>
            <a:ext cx="11177401" cy="482110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1800" b="1" dirty="0">
                <a:latin typeface="Arial"/>
                <a:ea typeface="Arial"/>
                <a:cs typeface="Arial"/>
                <a:sym typeface="Arial"/>
              </a:rPr>
              <a:t>System registers </a:t>
            </a:r>
            <a:r>
              <a:rPr lang="en-US" sz="1800" dirty="0">
                <a:latin typeface="Arial"/>
                <a:ea typeface="Arial"/>
                <a:cs typeface="Arial"/>
                <a:sym typeface="Arial"/>
              </a:rPr>
              <a:t>control the </a:t>
            </a:r>
            <a:r>
              <a:rPr lang="en-US" sz="1800" i="1" dirty="0">
                <a:latin typeface="Arial"/>
                <a:ea typeface="Arial"/>
                <a:cs typeface="Arial"/>
                <a:sym typeface="Arial"/>
              </a:rPr>
              <a:t>behavior of the CPU itself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endParaRPr lang="en-US" sz="1800" i="1" dirty="0">
              <a:latin typeface="Arial"/>
              <a:ea typeface="Arial"/>
              <a:cs typeface="Arial"/>
              <a:sym typeface="Arial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1800" dirty="0">
                <a:latin typeface="Arial"/>
                <a:ea typeface="Arial"/>
                <a:cs typeface="Arial"/>
                <a:sym typeface="Arial"/>
              </a:rPr>
              <a:t>These registers affect the </a:t>
            </a:r>
            <a:r>
              <a:rPr lang="en-US" sz="1800" b="1" dirty="0">
                <a:latin typeface="Arial"/>
                <a:ea typeface="Arial"/>
                <a:cs typeface="Arial"/>
                <a:sym typeface="Arial"/>
              </a:rPr>
              <a:t>entire chip.</a:t>
            </a:r>
            <a:r>
              <a:rPr lang="en-US" sz="1800" dirty="0">
                <a:latin typeface="Arial"/>
                <a:ea typeface="Arial"/>
                <a:cs typeface="Arial"/>
                <a:sym typeface="Arial"/>
              </a:rPr>
              <a:t> These system registers are protected.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endParaRPr lang="en-US" sz="1800" b="1" dirty="0">
              <a:latin typeface="Arial"/>
              <a:ea typeface="Arial"/>
              <a:cs typeface="Arial"/>
              <a:sym typeface="Arial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1800" dirty="0">
                <a:latin typeface="Arial"/>
                <a:ea typeface="Arial"/>
                <a:cs typeface="Arial"/>
                <a:sym typeface="Arial"/>
              </a:rPr>
              <a:t>These can modify: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endParaRPr lang="en-US" sz="1800" dirty="0">
              <a:latin typeface="Arial"/>
              <a:ea typeface="Arial"/>
              <a:cs typeface="Arial"/>
              <a:sym typeface="Arial"/>
            </a:endParaRP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r>
              <a:rPr lang="en-US" sz="1800" dirty="0">
                <a:latin typeface="Arial"/>
                <a:ea typeface="Arial"/>
                <a:cs typeface="Arial"/>
                <a:sym typeface="Arial"/>
              </a:rPr>
              <a:t>Clock configuration</a:t>
            </a: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r>
              <a:rPr lang="en-US" sz="1800" dirty="0">
                <a:latin typeface="Arial"/>
                <a:ea typeface="Arial"/>
                <a:cs typeface="Arial"/>
                <a:sym typeface="Arial"/>
              </a:rPr>
              <a:t>Resets</a:t>
            </a: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r>
              <a:rPr lang="en-US" sz="1800" dirty="0">
                <a:latin typeface="Arial"/>
                <a:ea typeface="Arial"/>
                <a:cs typeface="Arial"/>
                <a:sym typeface="Arial"/>
              </a:rPr>
              <a:t>Peripheral interrupts</a:t>
            </a: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r>
              <a:rPr lang="en-US" sz="1800" dirty="0">
                <a:latin typeface="Arial"/>
                <a:ea typeface="Arial"/>
                <a:cs typeface="Arial"/>
                <a:sym typeface="Arial"/>
              </a:rPr>
              <a:t>Memory configuration</a:t>
            </a: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r>
              <a:rPr lang="en-US" sz="1800" dirty="0">
                <a:latin typeface="Arial"/>
                <a:ea typeface="Arial"/>
                <a:cs typeface="Arial"/>
                <a:sym typeface="Arial"/>
              </a:rPr>
              <a:t>Timer</a:t>
            </a: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endParaRPr lang="en-US" sz="1800" dirty="0">
              <a:latin typeface="Arial"/>
              <a:ea typeface="Arial"/>
              <a:cs typeface="Arial"/>
              <a:sym typeface="Arial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1800" dirty="0">
                <a:latin typeface="Arial"/>
                <a:ea typeface="Arial"/>
                <a:cs typeface="Arial"/>
                <a:sym typeface="Arial"/>
              </a:rPr>
              <a:t>Full list is available in </a:t>
            </a:r>
            <a:r>
              <a:rPr lang="en-US" sz="1800" dirty="0">
                <a:latin typeface="Arial"/>
                <a:ea typeface="Arial"/>
                <a:cs typeface="Arial"/>
                <a:sym typeface="Arial"/>
                <a:hlinkClick r:id="rId3"/>
              </a:rPr>
              <a:t>Table 3-17 - System Control Base Address Table</a:t>
            </a:r>
            <a:endParaRPr lang="en-US" sz="1800" dirty="0"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9" name="Google Shape;119;p29">
            <a:extLst>
              <a:ext uri="{FF2B5EF4-FFF2-40B4-BE49-F238E27FC236}">
                <a16:creationId xmlns:a16="http://schemas.microsoft.com/office/drawing/2014/main" id="{CBDD7FD4-3FE9-19BA-F754-C7DB05760633}"/>
              </a:ext>
            </a:extLst>
          </p:cNvPr>
          <p:cNvSpPr/>
          <p:nvPr/>
        </p:nvSpPr>
        <p:spPr>
          <a:xfrm rot="10800000" flipH="1">
            <a:off x="0" y="0"/>
            <a:ext cx="12192000" cy="868220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rgbClr val="13294B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29">
            <a:extLst>
              <a:ext uri="{FF2B5EF4-FFF2-40B4-BE49-F238E27FC236}">
                <a16:creationId xmlns:a16="http://schemas.microsoft.com/office/drawing/2014/main" id="{AC3279A8-52A8-01B3-C5F6-8E97FAF6F49F}"/>
              </a:ext>
            </a:extLst>
          </p:cNvPr>
          <p:cNvSpPr txBox="1"/>
          <p:nvPr/>
        </p:nvSpPr>
        <p:spPr>
          <a:xfrm>
            <a:off x="376810" y="204051"/>
            <a:ext cx="10910026" cy="46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lang="en-US" sz="2400" b="0" i="0" u="none" strike="noStrike" cap="none" dirty="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System Peripheral</a:t>
            </a:r>
            <a:endParaRPr sz="2400" b="0" i="0" u="none" strike="noStrike" cap="none" dirty="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21" name="Google Shape;121;p29">
            <a:extLst>
              <a:ext uri="{FF2B5EF4-FFF2-40B4-BE49-F238E27FC236}">
                <a16:creationId xmlns:a16="http://schemas.microsoft.com/office/drawing/2014/main" id="{F68D369D-85E0-F5B0-1E38-6A002F63DE44}"/>
              </a:ext>
            </a:extLst>
          </p:cNvPr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1557509" y="233819"/>
            <a:ext cx="271308" cy="389810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29">
            <a:extLst>
              <a:ext uri="{FF2B5EF4-FFF2-40B4-BE49-F238E27FC236}">
                <a16:creationId xmlns:a16="http://schemas.microsoft.com/office/drawing/2014/main" id="{CAAF780E-DDBE-210F-EBC3-9F8DCE31463A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23" name="Google Shape;123;p29">
            <a:extLst>
              <a:ext uri="{FF2B5EF4-FFF2-40B4-BE49-F238E27FC236}">
                <a16:creationId xmlns:a16="http://schemas.microsoft.com/office/drawing/2014/main" id="{30F64F90-8511-F464-F05A-D27E77FA68F5}"/>
              </a:ext>
            </a:extLst>
          </p:cNvPr>
          <p:cNvSpPr txBox="1"/>
          <p:nvPr/>
        </p:nvSpPr>
        <p:spPr>
          <a:xfrm>
            <a:off x="376807" y="6524381"/>
            <a:ext cx="7991337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13294B"/>
                </a:solidFill>
              </a:rPr>
              <a:t>SYSTEMS ENGINEERING </a:t>
            </a:r>
            <a:endParaRPr dirty="0"/>
          </a:p>
        </p:txBody>
      </p:sp>
      <p:grpSp>
        <p:nvGrpSpPr>
          <p:cNvPr id="124" name="Google Shape;124;p29">
            <a:extLst>
              <a:ext uri="{FF2B5EF4-FFF2-40B4-BE49-F238E27FC236}">
                <a16:creationId xmlns:a16="http://schemas.microsoft.com/office/drawing/2014/main" id="{3C80295F-E227-0193-65CF-CF514DC84607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125" name="Google Shape;125;p29">
              <a:extLst>
                <a:ext uri="{FF2B5EF4-FFF2-40B4-BE49-F238E27FC236}">
                  <a16:creationId xmlns:a16="http://schemas.microsoft.com/office/drawing/2014/main" id="{CEF0FC49-B78E-B368-881D-B7F199CEF9E0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rgbClr val="13294B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26" name="Google Shape;126;p29">
              <a:extLst>
                <a:ext uri="{FF2B5EF4-FFF2-40B4-BE49-F238E27FC236}">
                  <a16:creationId xmlns:a16="http://schemas.microsoft.com/office/drawing/2014/main" id="{B7D98819-0AF0-5C1F-E988-A94E1AAB7532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rgbClr val="13294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353954688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">
          <a:extLst>
            <a:ext uri="{FF2B5EF4-FFF2-40B4-BE49-F238E27FC236}">
              <a16:creationId xmlns:a16="http://schemas.microsoft.com/office/drawing/2014/main" id="{BA44DEFE-17C8-CB12-604A-CE91D6C4D22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29">
            <a:extLst>
              <a:ext uri="{FF2B5EF4-FFF2-40B4-BE49-F238E27FC236}">
                <a16:creationId xmlns:a16="http://schemas.microsoft.com/office/drawing/2014/main" id="{BDF33995-67A6-C92D-4526-9A278F1724B1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376809" y="1334279"/>
            <a:ext cx="11177401" cy="482110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1800" dirty="0">
                <a:latin typeface="Arial"/>
                <a:ea typeface="Arial"/>
                <a:cs typeface="Arial"/>
                <a:sym typeface="Arial"/>
              </a:rPr>
              <a:t>Some registers are protected to prevent accidental damage ( most / all system peripherals ).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endParaRPr lang="en-US" sz="1800" dirty="0">
              <a:latin typeface="Arial"/>
              <a:ea typeface="Arial"/>
              <a:cs typeface="Arial"/>
              <a:sym typeface="Arial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1800" dirty="0">
                <a:latin typeface="Arial"/>
                <a:ea typeface="Arial"/>
                <a:cs typeface="Arial"/>
                <a:sym typeface="Arial"/>
              </a:rPr>
              <a:t>Thus, an additional layer of protection is allowed for accidental writes ( memory leaked code or otherwise ).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endParaRPr lang="en-US" sz="1800" dirty="0">
              <a:latin typeface="Arial"/>
              <a:ea typeface="Arial"/>
              <a:cs typeface="Arial"/>
              <a:sym typeface="Arial"/>
            </a:endParaRP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r>
              <a:rPr lang="en-US" sz="1800" b="1" dirty="0">
                <a:latin typeface="Arial"/>
                <a:ea typeface="Arial"/>
                <a:cs typeface="Arial"/>
                <a:sym typeface="Arial"/>
              </a:rPr>
              <a:t>EALLOW</a:t>
            </a:r>
            <a:r>
              <a:rPr lang="en-US" sz="1800" dirty="0">
                <a:latin typeface="Arial"/>
                <a:ea typeface="Arial"/>
                <a:cs typeface="Arial"/>
                <a:sym typeface="Arial"/>
              </a:rPr>
              <a:t>: unlocks protected registers</a:t>
            </a: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r>
              <a:rPr lang="en-US" sz="1800" b="1" dirty="0">
                <a:latin typeface="Arial"/>
                <a:ea typeface="Arial"/>
                <a:cs typeface="Arial"/>
                <a:sym typeface="Arial"/>
              </a:rPr>
              <a:t>EDIS: </a:t>
            </a:r>
            <a:r>
              <a:rPr lang="en-US" sz="1800" dirty="0">
                <a:latin typeface="Arial"/>
                <a:ea typeface="Arial"/>
                <a:cs typeface="Arial"/>
                <a:sym typeface="Arial"/>
              </a:rPr>
              <a:t>locks them again</a:t>
            </a:r>
          </a:p>
          <a:p>
            <a:pPr marL="114300" indent="0" algn="l">
              <a:buNone/>
            </a:pPr>
            <a:endParaRPr lang="en-US" sz="1800" dirty="0">
              <a:latin typeface="Arial"/>
              <a:cs typeface="Arial"/>
              <a:sym typeface="Arial"/>
            </a:endParaRPr>
          </a:p>
          <a:p>
            <a:pPr marL="114300" indent="0" algn="l">
              <a:buNone/>
            </a:pP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EALLOW;  </a:t>
            </a:r>
            <a:r>
              <a:rPr lang="en-US" sz="1800" dirty="0">
                <a:solidFill>
                  <a:srgbClr val="3F7F5F"/>
                </a:solidFill>
                <a:latin typeface="Consolas" panose="020B0609020204030204" pitchFamily="49" charset="0"/>
              </a:rPr>
              <a:t>// This is needed to write to EALLOW protected registers</a:t>
            </a:r>
          </a:p>
          <a:p>
            <a:pPr marL="114300" indent="0" algn="l">
              <a:buNone/>
            </a:pP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PieVectTable.</a:t>
            </a:r>
            <a:r>
              <a:rPr lang="en-US" sz="1800" dirty="0">
                <a:solidFill>
                  <a:srgbClr val="0000C0"/>
                </a:solidFill>
                <a:latin typeface="Consolas" panose="020B0609020204030204" pitchFamily="49" charset="0"/>
              </a:rPr>
              <a:t>TIMER0_INT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 = &amp;cpu_timer0_isr;</a:t>
            </a:r>
          </a:p>
          <a:p>
            <a:pPr marL="114300" indent="0" algn="l">
              <a:buNone/>
            </a:pP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PieVectTable.</a:t>
            </a:r>
            <a:r>
              <a:rPr lang="en-US" sz="1800" dirty="0">
                <a:solidFill>
                  <a:srgbClr val="0000C0"/>
                </a:solidFill>
                <a:latin typeface="Consolas" panose="020B0609020204030204" pitchFamily="49" charset="0"/>
              </a:rPr>
              <a:t>TIMER1_INT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 = &amp;cpu_timer1_isr;</a:t>
            </a:r>
          </a:p>
          <a:p>
            <a:pPr marL="114300" indent="0" algn="l">
              <a:buNone/>
            </a:pP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PieVectTable.</a:t>
            </a:r>
            <a:r>
              <a:rPr lang="en-US" sz="1800" dirty="0">
                <a:solidFill>
                  <a:srgbClr val="0000C0"/>
                </a:solidFill>
                <a:latin typeface="Consolas" panose="020B0609020204030204" pitchFamily="49" charset="0"/>
              </a:rPr>
              <a:t>TIMER2_INT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 = &amp;cpu_timer2_isr;</a:t>
            </a:r>
            <a:endParaRPr lang="en-US" sz="1800" dirty="0">
              <a:latin typeface="Consolas" panose="020B0609020204030204" pitchFamily="49" charset="0"/>
            </a:endParaRPr>
          </a:p>
          <a:p>
            <a:pPr marL="114300" indent="0" algn="l">
              <a:buNone/>
            </a:pPr>
            <a:r>
              <a:rPr lang="en-US" sz="1800" dirty="0" err="1">
                <a:solidFill>
                  <a:srgbClr val="000000"/>
                </a:solidFill>
                <a:latin typeface="Consolas" panose="020B0609020204030204" pitchFamily="49" charset="0"/>
              </a:rPr>
              <a:t>PieVectTable.</a:t>
            </a:r>
            <a:r>
              <a:rPr lang="en-US" sz="1800" dirty="0" err="1">
                <a:solidFill>
                  <a:srgbClr val="0000C0"/>
                </a:solidFill>
                <a:latin typeface="Consolas" panose="020B0609020204030204" pitchFamily="49" charset="0"/>
              </a:rPr>
              <a:t>EMIF_ERROR_INT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 = &amp;</a:t>
            </a:r>
            <a:r>
              <a:rPr lang="en-US" sz="1800" dirty="0" err="1">
                <a:solidFill>
                  <a:srgbClr val="000000"/>
                </a:solidFill>
                <a:latin typeface="Consolas" panose="020B0609020204030204" pitchFamily="49" charset="0"/>
              </a:rPr>
              <a:t>SWI_isr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;</a:t>
            </a:r>
          </a:p>
          <a:p>
            <a:pPr marL="114300" indent="0" algn="l">
              <a:buNone/>
            </a:pP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EDIS;    </a:t>
            </a:r>
            <a:r>
              <a:rPr lang="en-US" sz="1800" dirty="0">
                <a:solidFill>
                  <a:srgbClr val="3F7F5F"/>
                </a:solidFill>
                <a:latin typeface="Consolas" panose="020B0609020204030204" pitchFamily="49" charset="0"/>
              </a:rPr>
              <a:t>// This is needed to disable write to EALLOW protected registers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endParaRPr lang="en-US" sz="1800" dirty="0"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9" name="Google Shape;119;p29">
            <a:extLst>
              <a:ext uri="{FF2B5EF4-FFF2-40B4-BE49-F238E27FC236}">
                <a16:creationId xmlns:a16="http://schemas.microsoft.com/office/drawing/2014/main" id="{4C503F74-3799-2E44-B39D-A1560202F8F0}"/>
              </a:ext>
            </a:extLst>
          </p:cNvPr>
          <p:cNvSpPr/>
          <p:nvPr/>
        </p:nvSpPr>
        <p:spPr>
          <a:xfrm rot="10800000" flipH="1">
            <a:off x="0" y="0"/>
            <a:ext cx="12192000" cy="868220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rgbClr val="13294B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29">
            <a:extLst>
              <a:ext uri="{FF2B5EF4-FFF2-40B4-BE49-F238E27FC236}">
                <a16:creationId xmlns:a16="http://schemas.microsoft.com/office/drawing/2014/main" id="{3098A594-0216-9C9B-4CED-9D568D7F7FE2}"/>
              </a:ext>
            </a:extLst>
          </p:cNvPr>
          <p:cNvSpPr txBox="1"/>
          <p:nvPr/>
        </p:nvSpPr>
        <p:spPr>
          <a:xfrm>
            <a:off x="376810" y="204051"/>
            <a:ext cx="10910026" cy="46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lang="en-US" sz="2400" b="0" i="0" u="none" strike="noStrike" cap="none" dirty="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EALLOW / EDIS</a:t>
            </a:r>
            <a:endParaRPr sz="2400" b="0" i="0" u="none" strike="noStrike" cap="none" dirty="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21" name="Google Shape;121;p29">
            <a:extLst>
              <a:ext uri="{FF2B5EF4-FFF2-40B4-BE49-F238E27FC236}">
                <a16:creationId xmlns:a16="http://schemas.microsoft.com/office/drawing/2014/main" id="{B2ECC981-9977-ED6B-5D97-285443D5C0EE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1557509" y="233819"/>
            <a:ext cx="271308" cy="389810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29">
            <a:extLst>
              <a:ext uri="{FF2B5EF4-FFF2-40B4-BE49-F238E27FC236}">
                <a16:creationId xmlns:a16="http://schemas.microsoft.com/office/drawing/2014/main" id="{68C30C89-FE20-8A40-8241-4A2747163296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23" name="Google Shape;123;p29">
            <a:extLst>
              <a:ext uri="{FF2B5EF4-FFF2-40B4-BE49-F238E27FC236}">
                <a16:creationId xmlns:a16="http://schemas.microsoft.com/office/drawing/2014/main" id="{2A5A68DC-47F0-9FA9-2E00-4043F3ACACEA}"/>
              </a:ext>
            </a:extLst>
          </p:cNvPr>
          <p:cNvSpPr txBox="1"/>
          <p:nvPr/>
        </p:nvSpPr>
        <p:spPr>
          <a:xfrm>
            <a:off x="376807" y="6524381"/>
            <a:ext cx="7991337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13294B"/>
                </a:solidFill>
              </a:rPr>
              <a:t>SYSTEMS ENGINEERING </a:t>
            </a:r>
            <a:endParaRPr dirty="0"/>
          </a:p>
        </p:txBody>
      </p:sp>
      <p:grpSp>
        <p:nvGrpSpPr>
          <p:cNvPr id="124" name="Google Shape;124;p29">
            <a:extLst>
              <a:ext uri="{FF2B5EF4-FFF2-40B4-BE49-F238E27FC236}">
                <a16:creationId xmlns:a16="http://schemas.microsoft.com/office/drawing/2014/main" id="{6E340323-31CC-BB85-CB4B-F52E3315EA25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125" name="Google Shape;125;p29">
              <a:extLst>
                <a:ext uri="{FF2B5EF4-FFF2-40B4-BE49-F238E27FC236}">
                  <a16:creationId xmlns:a16="http://schemas.microsoft.com/office/drawing/2014/main" id="{B87E9565-CC74-46F1-E43E-C685288D7466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rgbClr val="13294B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26" name="Google Shape;126;p29">
              <a:extLst>
                <a:ext uri="{FF2B5EF4-FFF2-40B4-BE49-F238E27FC236}">
                  <a16:creationId xmlns:a16="http://schemas.microsoft.com/office/drawing/2014/main" id="{2DD5BC91-373A-229E-F874-B2906BBB4FD1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rgbClr val="13294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525961320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">
          <a:extLst>
            <a:ext uri="{FF2B5EF4-FFF2-40B4-BE49-F238E27FC236}">
              <a16:creationId xmlns:a16="http://schemas.microsoft.com/office/drawing/2014/main" id="{F4F6B2D5-2790-2B2A-EE21-1B9CD76F33B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29">
            <a:extLst>
              <a:ext uri="{FF2B5EF4-FFF2-40B4-BE49-F238E27FC236}">
                <a16:creationId xmlns:a16="http://schemas.microsoft.com/office/drawing/2014/main" id="{2023406B-5D76-1289-48AD-E257A7B5C37F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376809" y="1334279"/>
            <a:ext cx="11177401" cy="482110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1800" dirty="0">
                <a:latin typeface="Arial"/>
                <a:ea typeface="Arial"/>
                <a:cs typeface="Arial"/>
                <a:sym typeface="Arial"/>
              </a:rPr>
              <a:t>Peripheral registers control individual hardware modules. Usually do not have any write protection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endParaRPr lang="en-US" sz="1800" dirty="0">
              <a:latin typeface="Arial"/>
              <a:ea typeface="Arial"/>
              <a:cs typeface="Arial"/>
              <a:sym typeface="Arial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1800" dirty="0">
                <a:latin typeface="Arial"/>
                <a:ea typeface="Arial"/>
                <a:cs typeface="Arial"/>
                <a:sym typeface="Arial"/>
              </a:rPr>
              <a:t>Examples:</a:t>
            </a: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r>
              <a:rPr lang="en-US" sz="1800" dirty="0">
                <a:latin typeface="Arial"/>
                <a:ea typeface="Arial"/>
                <a:cs typeface="Arial"/>
                <a:sym typeface="Arial"/>
              </a:rPr>
              <a:t>GPIO (General Purpose Input-Output)</a:t>
            </a: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r>
              <a:rPr lang="en-US" sz="1800" dirty="0">
                <a:latin typeface="Arial"/>
                <a:ea typeface="Arial"/>
                <a:cs typeface="Arial"/>
                <a:sym typeface="Arial"/>
              </a:rPr>
              <a:t>Timers</a:t>
            </a: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r>
              <a:rPr lang="en-US" sz="1800" dirty="0">
                <a:latin typeface="Arial"/>
                <a:ea typeface="Arial"/>
                <a:cs typeface="Arial"/>
                <a:sym typeface="Arial"/>
              </a:rPr>
              <a:t>ADC (Analog-to-Digital Converter)</a:t>
            </a: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r>
              <a:rPr lang="en-US" sz="1800" dirty="0">
                <a:latin typeface="Arial"/>
                <a:ea typeface="Arial"/>
                <a:cs typeface="Arial"/>
                <a:sym typeface="Arial"/>
              </a:rPr>
              <a:t>PWM (Pulse Width Modulation)</a:t>
            </a: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r>
              <a:rPr lang="en-US" sz="1800" dirty="0">
                <a:latin typeface="Arial"/>
                <a:ea typeface="Arial"/>
                <a:cs typeface="Arial"/>
                <a:sym typeface="Arial"/>
              </a:rPr>
              <a:t>SPI (Serial Peripheral Interface)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endParaRPr lang="en-US" sz="1800" dirty="0">
              <a:latin typeface="Arial"/>
              <a:ea typeface="Arial"/>
              <a:cs typeface="Arial"/>
              <a:sym typeface="Arial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1800" dirty="0">
                <a:latin typeface="Arial"/>
                <a:ea typeface="Arial"/>
                <a:cs typeface="Arial"/>
                <a:sym typeface="Arial"/>
              </a:rPr>
              <a:t>Each peripheral has a Read (DAT), Write (SET), Clear (CLEAR) and Toggle (TOGGLE) register.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endParaRPr lang="en-US" sz="1800" dirty="0">
              <a:latin typeface="Arial"/>
              <a:ea typeface="Arial"/>
              <a:cs typeface="Arial"/>
              <a:sym typeface="Arial"/>
            </a:endParaRPr>
          </a:p>
          <a:p>
            <a:pPr marL="114300" indent="0" algn="l">
              <a:buNone/>
            </a:pP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GpioDataRegs.</a:t>
            </a:r>
            <a:r>
              <a:rPr lang="en-US" sz="1800" dirty="0">
                <a:solidFill>
                  <a:srgbClr val="0000C0"/>
                </a:solidFill>
                <a:latin typeface="Consolas" panose="020B0609020204030204" pitchFamily="49" charset="0"/>
              </a:rPr>
              <a:t>GPBDAT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sz="1800" dirty="0">
                <a:solidFill>
                  <a:srgbClr val="0000C0"/>
                </a:solidFill>
                <a:latin typeface="Consolas" panose="020B0609020204030204" pitchFamily="49" charset="0"/>
              </a:rPr>
              <a:t>bit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sz="1800" dirty="0">
                <a:solidFill>
                  <a:srgbClr val="0000C0"/>
                </a:solidFill>
                <a:latin typeface="Consolas" panose="020B0609020204030204" pitchFamily="49" charset="0"/>
              </a:rPr>
              <a:t>GPIO37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; </a:t>
            </a:r>
            <a:r>
              <a:rPr lang="en-US" sz="1800" dirty="0">
                <a:solidFill>
                  <a:srgbClr val="3F7F5F"/>
                </a:solidFill>
                <a:latin typeface="Consolas" panose="020B0609020204030204" pitchFamily="49" charset="0"/>
              </a:rPr>
              <a:t>// Do not use to set</a:t>
            </a:r>
          </a:p>
          <a:p>
            <a:pPr marL="114300" indent="0" algn="l">
              <a:buNone/>
            </a:pP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GpioDataRegs.</a:t>
            </a:r>
            <a:r>
              <a:rPr lang="en-US" sz="1800" dirty="0">
                <a:solidFill>
                  <a:srgbClr val="0000C0"/>
                </a:solidFill>
                <a:latin typeface="Consolas" panose="020B0609020204030204" pitchFamily="49" charset="0"/>
              </a:rPr>
              <a:t>GPBSET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sz="1800" dirty="0">
                <a:solidFill>
                  <a:srgbClr val="0000C0"/>
                </a:solidFill>
                <a:latin typeface="Consolas" panose="020B0609020204030204" pitchFamily="49" charset="0"/>
              </a:rPr>
              <a:t>bit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sz="1800" dirty="0">
                <a:solidFill>
                  <a:srgbClr val="0000C0"/>
                </a:solidFill>
                <a:latin typeface="Consolas" panose="020B0609020204030204" pitchFamily="49" charset="0"/>
              </a:rPr>
              <a:t>GPIO37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 = 1; </a:t>
            </a:r>
            <a:r>
              <a:rPr lang="en-US" sz="1800" dirty="0">
                <a:solidFill>
                  <a:srgbClr val="3F7F5F"/>
                </a:solidFill>
                <a:latin typeface="Consolas" panose="020B0609020204030204" pitchFamily="49" charset="0"/>
              </a:rPr>
              <a:t>// Sets GPIO37 to 1</a:t>
            </a:r>
          </a:p>
          <a:p>
            <a:pPr marL="114300" indent="0" algn="l">
              <a:buNone/>
            </a:pP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GpioDataRegs.</a:t>
            </a:r>
            <a:r>
              <a:rPr lang="en-US" sz="1800" dirty="0">
                <a:solidFill>
                  <a:srgbClr val="0000C0"/>
                </a:solidFill>
                <a:latin typeface="Consolas" panose="020B0609020204030204" pitchFamily="49" charset="0"/>
              </a:rPr>
              <a:t>GPBCLEAR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sz="1800" dirty="0">
                <a:solidFill>
                  <a:srgbClr val="0000C0"/>
                </a:solidFill>
                <a:latin typeface="Consolas" panose="020B0609020204030204" pitchFamily="49" charset="0"/>
              </a:rPr>
              <a:t>bit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sz="1800" dirty="0">
                <a:solidFill>
                  <a:srgbClr val="0000C0"/>
                </a:solidFill>
                <a:latin typeface="Consolas" panose="020B0609020204030204" pitchFamily="49" charset="0"/>
              </a:rPr>
              <a:t>GPIO37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 = 1; </a:t>
            </a:r>
            <a:r>
              <a:rPr lang="en-US" sz="1800" dirty="0">
                <a:solidFill>
                  <a:srgbClr val="3F7F5F"/>
                </a:solidFill>
                <a:latin typeface="Consolas" panose="020B0609020204030204" pitchFamily="49" charset="0"/>
              </a:rPr>
              <a:t>// Sets GPIO37 to 0</a:t>
            </a:r>
          </a:p>
          <a:p>
            <a:pPr marL="114300" indent="0" algn="l">
              <a:buNone/>
            </a:pP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GpioDataRegs.</a:t>
            </a:r>
            <a:r>
              <a:rPr lang="en-US" sz="1800" dirty="0">
                <a:solidFill>
                  <a:srgbClr val="0000C0"/>
                </a:solidFill>
                <a:latin typeface="Consolas" panose="020B0609020204030204" pitchFamily="49" charset="0"/>
              </a:rPr>
              <a:t>GPBTOGGLE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sz="1800" dirty="0">
                <a:solidFill>
                  <a:srgbClr val="0000C0"/>
                </a:solidFill>
                <a:latin typeface="Consolas" panose="020B0609020204030204" pitchFamily="49" charset="0"/>
              </a:rPr>
              <a:t>bit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sz="1800" dirty="0">
                <a:solidFill>
                  <a:srgbClr val="0000C0"/>
                </a:solidFill>
                <a:latin typeface="Consolas" panose="020B0609020204030204" pitchFamily="49" charset="0"/>
              </a:rPr>
              <a:t>GPIO37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 = 1; </a:t>
            </a:r>
            <a:r>
              <a:rPr lang="en-US" sz="1800" dirty="0">
                <a:solidFill>
                  <a:srgbClr val="3F7F5F"/>
                </a:solidFill>
                <a:latin typeface="Consolas" panose="020B0609020204030204" pitchFamily="49" charset="0"/>
              </a:rPr>
              <a:t>// Sets GPIO37 to 0-&gt;1</a:t>
            </a:r>
            <a:endParaRPr lang="en-US" sz="1800" dirty="0"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9" name="Google Shape;119;p29">
            <a:extLst>
              <a:ext uri="{FF2B5EF4-FFF2-40B4-BE49-F238E27FC236}">
                <a16:creationId xmlns:a16="http://schemas.microsoft.com/office/drawing/2014/main" id="{0AEDED1B-5C8B-C160-2651-3A0A180B260E}"/>
              </a:ext>
            </a:extLst>
          </p:cNvPr>
          <p:cNvSpPr/>
          <p:nvPr/>
        </p:nvSpPr>
        <p:spPr>
          <a:xfrm rot="10800000" flipH="1">
            <a:off x="0" y="0"/>
            <a:ext cx="12192000" cy="868220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rgbClr val="13294B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29">
            <a:extLst>
              <a:ext uri="{FF2B5EF4-FFF2-40B4-BE49-F238E27FC236}">
                <a16:creationId xmlns:a16="http://schemas.microsoft.com/office/drawing/2014/main" id="{79BBFFC7-9325-B47F-0D01-B17383893360}"/>
              </a:ext>
            </a:extLst>
          </p:cNvPr>
          <p:cNvSpPr txBox="1"/>
          <p:nvPr/>
        </p:nvSpPr>
        <p:spPr>
          <a:xfrm>
            <a:off x="376810" y="204051"/>
            <a:ext cx="10910026" cy="46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lang="en-US" sz="2400" b="0" i="0" u="none" strike="noStrike" cap="none" dirty="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Peripheral Registers</a:t>
            </a:r>
            <a:endParaRPr sz="2400" b="0" i="0" u="none" strike="noStrike" cap="none" dirty="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21" name="Google Shape;121;p29">
            <a:extLst>
              <a:ext uri="{FF2B5EF4-FFF2-40B4-BE49-F238E27FC236}">
                <a16:creationId xmlns:a16="http://schemas.microsoft.com/office/drawing/2014/main" id="{52A6F078-9316-17CF-4FBB-DDD54C30ED7F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1557509" y="233819"/>
            <a:ext cx="271308" cy="389810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29">
            <a:extLst>
              <a:ext uri="{FF2B5EF4-FFF2-40B4-BE49-F238E27FC236}">
                <a16:creationId xmlns:a16="http://schemas.microsoft.com/office/drawing/2014/main" id="{76A279C1-FA22-DE07-9360-A9F0E8C9A0A9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23" name="Google Shape;123;p29">
            <a:extLst>
              <a:ext uri="{FF2B5EF4-FFF2-40B4-BE49-F238E27FC236}">
                <a16:creationId xmlns:a16="http://schemas.microsoft.com/office/drawing/2014/main" id="{D4FE2136-3D5F-F855-B829-53B490A7D55E}"/>
              </a:ext>
            </a:extLst>
          </p:cNvPr>
          <p:cNvSpPr txBox="1"/>
          <p:nvPr/>
        </p:nvSpPr>
        <p:spPr>
          <a:xfrm>
            <a:off x="376807" y="6524381"/>
            <a:ext cx="7991337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13294B"/>
                </a:solidFill>
              </a:rPr>
              <a:t>SYSTEMS ENGINEERING </a:t>
            </a:r>
            <a:endParaRPr dirty="0"/>
          </a:p>
        </p:txBody>
      </p:sp>
      <p:grpSp>
        <p:nvGrpSpPr>
          <p:cNvPr id="124" name="Google Shape;124;p29">
            <a:extLst>
              <a:ext uri="{FF2B5EF4-FFF2-40B4-BE49-F238E27FC236}">
                <a16:creationId xmlns:a16="http://schemas.microsoft.com/office/drawing/2014/main" id="{E4D6CCAB-0EAE-E661-F22B-859622804C64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125" name="Google Shape;125;p29">
              <a:extLst>
                <a:ext uri="{FF2B5EF4-FFF2-40B4-BE49-F238E27FC236}">
                  <a16:creationId xmlns:a16="http://schemas.microsoft.com/office/drawing/2014/main" id="{7B2DFE9D-6060-ECCC-55AB-4C2BAFB23C81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rgbClr val="13294B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26" name="Google Shape;126;p29">
              <a:extLst>
                <a:ext uri="{FF2B5EF4-FFF2-40B4-BE49-F238E27FC236}">
                  <a16:creationId xmlns:a16="http://schemas.microsoft.com/office/drawing/2014/main" id="{5B58E183-4506-ED5C-B449-60BC6FC6D28F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rgbClr val="13294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4263810036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">
          <a:extLst>
            <a:ext uri="{FF2B5EF4-FFF2-40B4-BE49-F238E27FC236}">
              <a16:creationId xmlns:a16="http://schemas.microsoft.com/office/drawing/2014/main" id="{B20F0EF0-9C72-2574-550B-51A640D6966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29">
            <a:extLst>
              <a:ext uri="{FF2B5EF4-FFF2-40B4-BE49-F238E27FC236}">
                <a16:creationId xmlns:a16="http://schemas.microsoft.com/office/drawing/2014/main" id="{22CC2D72-48DF-7031-8F5D-879528208FCF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376809" y="1334279"/>
            <a:ext cx="11177401" cy="482110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1800" dirty="0">
                <a:latin typeface="Arial"/>
                <a:ea typeface="Arial"/>
                <a:cs typeface="Arial"/>
                <a:sym typeface="Arial"/>
              </a:rPr>
              <a:t>There are problems that arise from writing directly to DAT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endParaRPr lang="en-US" sz="1800" dirty="0">
              <a:latin typeface="Arial"/>
              <a:ea typeface="Arial"/>
              <a:cs typeface="Arial"/>
              <a:sym typeface="Arial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1800" dirty="0">
                <a:latin typeface="Arial"/>
                <a:ea typeface="Arial"/>
                <a:cs typeface="Arial"/>
                <a:sym typeface="Arial"/>
              </a:rPr>
              <a:t>Writing to DAT requires,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endParaRPr lang="en-US" sz="1800" dirty="0">
              <a:latin typeface="Arial"/>
              <a:ea typeface="Arial"/>
              <a:cs typeface="Arial"/>
              <a:sym typeface="Arial"/>
            </a:endParaRPr>
          </a:p>
          <a:p>
            <a:pPr marL="342900">
              <a:lnSpc>
                <a:spcPct val="100000"/>
              </a:lnSpc>
              <a:spcBef>
                <a:spcPts val="0"/>
              </a:spcBef>
              <a:buSzPts val="3000"/>
              <a:buAutoNum type="arabicPeriod"/>
            </a:pPr>
            <a:r>
              <a:rPr lang="en-US" sz="1800" dirty="0">
                <a:latin typeface="Arial"/>
                <a:ea typeface="Arial"/>
                <a:cs typeface="Arial"/>
                <a:sym typeface="Arial"/>
              </a:rPr>
              <a:t>Read</a:t>
            </a:r>
          </a:p>
          <a:p>
            <a:pPr marL="342900">
              <a:lnSpc>
                <a:spcPct val="100000"/>
              </a:lnSpc>
              <a:spcBef>
                <a:spcPts val="0"/>
              </a:spcBef>
              <a:buSzPts val="3000"/>
              <a:buAutoNum type="arabicPeriod"/>
            </a:pPr>
            <a:r>
              <a:rPr lang="en-US" sz="1800" dirty="0">
                <a:latin typeface="Arial"/>
                <a:ea typeface="Arial"/>
                <a:cs typeface="Arial"/>
                <a:sym typeface="Arial"/>
              </a:rPr>
              <a:t>Modify</a:t>
            </a:r>
          </a:p>
          <a:p>
            <a:pPr marL="342900">
              <a:lnSpc>
                <a:spcPct val="100000"/>
              </a:lnSpc>
              <a:spcBef>
                <a:spcPts val="0"/>
              </a:spcBef>
              <a:buSzPts val="3000"/>
              <a:buAutoNum type="arabicPeriod"/>
            </a:pPr>
            <a:r>
              <a:rPr lang="en-US" sz="1800" dirty="0">
                <a:latin typeface="Arial"/>
                <a:ea typeface="Arial"/>
                <a:cs typeface="Arial"/>
                <a:sym typeface="Arial"/>
              </a:rPr>
              <a:t>Write</a:t>
            </a:r>
          </a:p>
          <a:p>
            <a:pPr marL="342900">
              <a:lnSpc>
                <a:spcPct val="100000"/>
              </a:lnSpc>
              <a:spcBef>
                <a:spcPts val="0"/>
              </a:spcBef>
              <a:buSzPts val="3000"/>
              <a:buAutoNum type="arabicPeriod"/>
            </a:pPr>
            <a:endParaRPr lang="en-US" sz="1800" dirty="0">
              <a:latin typeface="Arial"/>
              <a:ea typeface="Arial"/>
              <a:cs typeface="Arial"/>
              <a:sym typeface="Arial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1800" dirty="0">
                <a:latin typeface="Arial"/>
                <a:ea typeface="Arial"/>
                <a:cs typeface="Arial"/>
                <a:sym typeface="Arial"/>
              </a:rPr>
              <a:t>An interrupt ( code that runs on certain events ) can run between these steps and corrupt data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endParaRPr lang="en-US" sz="1800" dirty="0">
              <a:latin typeface="Arial"/>
              <a:ea typeface="Arial"/>
              <a:cs typeface="Arial"/>
              <a:sym typeface="Arial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1800" dirty="0">
                <a:latin typeface="Arial"/>
                <a:ea typeface="Arial"/>
                <a:cs typeface="Arial"/>
                <a:sym typeface="Arial"/>
              </a:rPr>
              <a:t>SET / CLEAR registers avoid this by being </a:t>
            </a:r>
            <a:r>
              <a:rPr lang="en-US" sz="1800" b="1" dirty="0">
                <a:latin typeface="Arial"/>
                <a:ea typeface="Arial"/>
                <a:cs typeface="Arial"/>
                <a:sym typeface="Arial"/>
              </a:rPr>
              <a:t>atomic </a:t>
            </a:r>
            <a:r>
              <a:rPr lang="en-US" sz="1800" dirty="0">
                <a:latin typeface="Arial"/>
                <a:ea typeface="Arial"/>
                <a:cs typeface="Arial"/>
                <a:sym typeface="Arial"/>
              </a:rPr>
              <a:t>hardware operations.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endParaRPr lang="en-US" sz="1800" dirty="0">
              <a:latin typeface="Arial"/>
              <a:ea typeface="Arial"/>
              <a:cs typeface="Arial"/>
              <a:sym typeface="Arial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1800" dirty="0">
                <a:latin typeface="Arial"/>
                <a:ea typeface="Arial"/>
                <a:cs typeface="Arial"/>
                <a:sym typeface="Arial"/>
              </a:rPr>
              <a:t>Atomic operations guarantee that a variable will be locked during the operations and cannot be modified by anyone else during that time.</a:t>
            </a:r>
          </a:p>
        </p:txBody>
      </p:sp>
      <p:sp>
        <p:nvSpPr>
          <p:cNvPr id="119" name="Google Shape;119;p29">
            <a:extLst>
              <a:ext uri="{FF2B5EF4-FFF2-40B4-BE49-F238E27FC236}">
                <a16:creationId xmlns:a16="http://schemas.microsoft.com/office/drawing/2014/main" id="{8936E051-310E-3991-1272-A29B50D7E422}"/>
              </a:ext>
            </a:extLst>
          </p:cNvPr>
          <p:cNvSpPr/>
          <p:nvPr/>
        </p:nvSpPr>
        <p:spPr>
          <a:xfrm rot="10800000" flipH="1">
            <a:off x="0" y="0"/>
            <a:ext cx="12192000" cy="868220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rgbClr val="13294B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29">
            <a:extLst>
              <a:ext uri="{FF2B5EF4-FFF2-40B4-BE49-F238E27FC236}">
                <a16:creationId xmlns:a16="http://schemas.microsoft.com/office/drawing/2014/main" id="{9AE28FAC-3016-0DC7-47B2-7A1F7CF1F555}"/>
              </a:ext>
            </a:extLst>
          </p:cNvPr>
          <p:cNvSpPr txBox="1"/>
          <p:nvPr/>
        </p:nvSpPr>
        <p:spPr>
          <a:xfrm>
            <a:off x="376810" y="204051"/>
            <a:ext cx="10910026" cy="46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lang="en-US" sz="2400" dirty="0">
                <a:solidFill>
                  <a:schemeClr val="lt1"/>
                </a:solidFill>
              </a:rPr>
              <a:t>Using DAT</a:t>
            </a:r>
            <a:endParaRPr sz="2400" b="0" i="0" u="none" strike="noStrike" cap="none" dirty="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21" name="Google Shape;121;p29">
            <a:extLst>
              <a:ext uri="{FF2B5EF4-FFF2-40B4-BE49-F238E27FC236}">
                <a16:creationId xmlns:a16="http://schemas.microsoft.com/office/drawing/2014/main" id="{F41376A5-18FF-9EE2-2AD5-86886DEE67F4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1557509" y="233819"/>
            <a:ext cx="271308" cy="389810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29">
            <a:extLst>
              <a:ext uri="{FF2B5EF4-FFF2-40B4-BE49-F238E27FC236}">
                <a16:creationId xmlns:a16="http://schemas.microsoft.com/office/drawing/2014/main" id="{EAAFE4DC-246E-0B7A-1155-2834F156A3CE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23" name="Google Shape;123;p29">
            <a:extLst>
              <a:ext uri="{FF2B5EF4-FFF2-40B4-BE49-F238E27FC236}">
                <a16:creationId xmlns:a16="http://schemas.microsoft.com/office/drawing/2014/main" id="{094D38B8-B1F2-F7F3-DD1F-960665E3648D}"/>
              </a:ext>
            </a:extLst>
          </p:cNvPr>
          <p:cNvSpPr txBox="1"/>
          <p:nvPr/>
        </p:nvSpPr>
        <p:spPr>
          <a:xfrm>
            <a:off x="376807" y="6524381"/>
            <a:ext cx="7991337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13294B"/>
                </a:solidFill>
              </a:rPr>
              <a:t>SYSTEMS ENGINEERING </a:t>
            </a:r>
            <a:endParaRPr dirty="0"/>
          </a:p>
        </p:txBody>
      </p:sp>
      <p:grpSp>
        <p:nvGrpSpPr>
          <p:cNvPr id="124" name="Google Shape;124;p29">
            <a:extLst>
              <a:ext uri="{FF2B5EF4-FFF2-40B4-BE49-F238E27FC236}">
                <a16:creationId xmlns:a16="http://schemas.microsoft.com/office/drawing/2014/main" id="{5B5F70D6-8D81-C290-976A-3B9666E20E29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125" name="Google Shape;125;p29">
              <a:extLst>
                <a:ext uri="{FF2B5EF4-FFF2-40B4-BE49-F238E27FC236}">
                  <a16:creationId xmlns:a16="http://schemas.microsoft.com/office/drawing/2014/main" id="{A60FE89C-F235-757E-FF80-D6E77047EA1D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rgbClr val="13294B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26" name="Google Shape;126;p29">
              <a:extLst>
                <a:ext uri="{FF2B5EF4-FFF2-40B4-BE49-F238E27FC236}">
                  <a16:creationId xmlns:a16="http://schemas.microsoft.com/office/drawing/2014/main" id="{F1ABBF27-0B75-AFF9-68BE-7AA2A40A1044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rgbClr val="13294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24128651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">
          <a:extLst>
            <a:ext uri="{FF2B5EF4-FFF2-40B4-BE49-F238E27FC236}">
              <a16:creationId xmlns:a16="http://schemas.microsoft.com/office/drawing/2014/main" id="{7B29A7ED-CD7B-066A-E85A-D2C7A4615E4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29">
            <a:extLst>
              <a:ext uri="{FF2B5EF4-FFF2-40B4-BE49-F238E27FC236}">
                <a16:creationId xmlns:a16="http://schemas.microsoft.com/office/drawing/2014/main" id="{8D669D54-ACA1-0C2B-8720-D54B2F1229D4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376809" y="1334279"/>
            <a:ext cx="11177401" cy="482110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1800" dirty="0">
                <a:latin typeface="Arial"/>
                <a:ea typeface="Arial"/>
                <a:cs typeface="Arial"/>
                <a:sym typeface="Arial"/>
              </a:rPr>
              <a:t>Each </a:t>
            </a:r>
            <a:r>
              <a:rPr lang="en-US" sz="1800" b="1" dirty="0">
                <a:latin typeface="Arial"/>
                <a:ea typeface="Arial"/>
                <a:cs typeface="Arial"/>
                <a:sym typeface="Arial"/>
              </a:rPr>
              <a:t>physical </a:t>
            </a:r>
            <a:r>
              <a:rPr lang="en-US" sz="1800" dirty="0">
                <a:latin typeface="Arial"/>
                <a:ea typeface="Arial"/>
                <a:cs typeface="Arial"/>
                <a:sym typeface="Arial"/>
              </a:rPr>
              <a:t>pin can serve </a:t>
            </a:r>
            <a:r>
              <a:rPr lang="en-US" sz="1800" b="1" dirty="0">
                <a:latin typeface="Arial"/>
                <a:ea typeface="Arial"/>
                <a:cs typeface="Arial"/>
                <a:sym typeface="Arial"/>
                <a:hlinkClick r:id="rId3"/>
              </a:rPr>
              <a:t>multiple functions</a:t>
            </a:r>
            <a:endParaRPr lang="en-US" sz="1800" b="1" dirty="0">
              <a:latin typeface="Arial"/>
              <a:ea typeface="Arial"/>
              <a:cs typeface="Arial"/>
              <a:sym typeface="Arial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endParaRPr lang="en-US" sz="1800" b="1" dirty="0">
              <a:latin typeface="Arial"/>
              <a:ea typeface="Arial"/>
              <a:cs typeface="Arial"/>
              <a:sym typeface="Arial"/>
            </a:endParaRP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r>
              <a:rPr lang="en-US" sz="1800" dirty="0">
                <a:latin typeface="Arial"/>
                <a:ea typeface="Arial"/>
                <a:cs typeface="Arial"/>
                <a:sym typeface="Arial"/>
              </a:rPr>
              <a:t>GPIO</a:t>
            </a: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r>
              <a:rPr lang="en-US" sz="1800" dirty="0">
                <a:latin typeface="Arial"/>
                <a:ea typeface="Arial"/>
                <a:cs typeface="Arial"/>
                <a:sym typeface="Arial"/>
              </a:rPr>
              <a:t>PWM</a:t>
            </a: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r>
              <a:rPr lang="en-US" sz="1800" dirty="0">
                <a:latin typeface="Arial"/>
                <a:ea typeface="Arial"/>
                <a:cs typeface="Arial"/>
                <a:sym typeface="Arial"/>
              </a:rPr>
              <a:t>SPI</a:t>
            </a: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r>
              <a:rPr lang="en-US" sz="1800" dirty="0">
                <a:latin typeface="Arial"/>
                <a:ea typeface="Arial"/>
                <a:cs typeface="Arial"/>
                <a:sym typeface="Arial"/>
              </a:rPr>
              <a:t>SCI</a:t>
            </a: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r>
              <a:rPr lang="en-US" sz="1800" dirty="0">
                <a:latin typeface="Arial"/>
                <a:ea typeface="Arial"/>
                <a:cs typeface="Arial"/>
                <a:sym typeface="Arial"/>
              </a:rPr>
              <a:t>CAN</a:t>
            </a: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endParaRPr lang="en-US" sz="1800" dirty="0">
              <a:latin typeface="Arial"/>
              <a:ea typeface="Arial"/>
              <a:cs typeface="Arial"/>
              <a:sym typeface="Arial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1800" dirty="0">
                <a:latin typeface="Arial"/>
                <a:ea typeface="Arial"/>
                <a:cs typeface="Arial"/>
                <a:sym typeface="Arial"/>
              </a:rPr>
              <a:t>You must first select the function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endParaRPr lang="en-US" sz="1800" dirty="0">
              <a:latin typeface="Arial"/>
              <a:ea typeface="Arial"/>
              <a:cs typeface="Arial"/>
              <a:sym typeface="Arial"/>
            </a:endParaRPr>
          </a:p>
          <a:p>
            <a:pPr marL="114300" indent="0" algn="l">
              <a:buNone/>
            </a:pPr>
            <a:r>
              <a:rPr lang="en-US" sz="1800" dirty="0" err="1">
                <a:solidFill>
                  <a:srgbClr val="642880"/>
                </a:solidFill>
                <a:latin typeface="Consolas" panose="020B0609020204030204" pitchFamily="49" charset="0"/>
              </a:rPr>
              <a:t>GPIO_SetupPinMux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(31, GPIO_MUX_CPU1, 0);</a:t>
            </a:r>
          </a:p>
          <a:p>
            <a:pPr marL="114300" indent="0" algn="l">
              <a:buNone/>
            </a:pPr>
            <a:r>
              <a:rPr lang="en-US" sz="1800" dirty="0" err="1">
                <a:solidFill>
                  <a:srgbClr val="642880"/>
                </a:solidFill>
                <a:latin typeface="Consolas" panose="020B0609020204030204" pitchFamily="49" charset="0"/>
              </a:rPr>
              <a:t>GPIO_SetupPinOptions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(31, GPIO_OUTPUT, GPIO_PUSHPULL);</a:t>
            </a:r>
            <a:endParaRPr lang="en-US" sz="1800" dirty="0">
              <a:latin typeface="Arial"/>
              <a:ea typeface="Arial"/>
              <a:cs typeface="Arial"/>
              <a:sym typeface="Arial"/>
            </a:endParaRP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endParaRPr lang="en-US" sz="1800" b="1" dirty="0"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9" name="Google Shape;119;p29">
            <a:extLst>
              <a:ext uri="{FF2B5EF4-FFF2-40B4-BE49-F238E27FC236}">
                <a16:creationId xmlns:a16="http://schemas.microsoft.com/office/drawing/2014/main" id="{64FCB565-2A51-4FAB-F9CA-AA6C8868758C}"/>
              </a:ext>
            </a:extLst>
          </p:cNvPr>
          <p:cNvSpPr/>
          <p:nvPr/>
        </p:nvSpPr>
        <p:spPr>
          <a:xfrm rot="10800000" flipH="1">
            <a:off x="0" y="0"/>
            <a:ext cx="12192000" cy="868220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rgbClr val="13294B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29">
            <a:extLst>
              <a:ext uri="{FF2B5EF4-FFF2-40B4-BE49-F238E27FC236}">
                <a16:creationId xmlns:a16="http://schemas.microsoft.com/office/drawing/2014/main" id="{C96F98EE-17CD-DAD4-D51B-0B9C2876FCA6}"/>
              </a:ext>
            </a:extLst>
          </p:cNvPr>
          <p:cNvSpPr txBox="1"/>
          <p:nvPr/>
        </p:nvSpPr>
        <p:spPr>
          <a:xfrm>
            <a:off x="376810" y="204051"/>
            <a:ext cx="10910026" cy="46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lang="en-US" sz="2400" b="0" i="0" u="none" strike="noStrike" cap="none" dirty="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Digital I/O (GPIO)</a:t>
            </a:r>
            <a:endParaRPr sz="2400" b="0" i="0" u="none" strike="noStrike" cap="none" dirty="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21" name="Google Shape;121;p29">
            <a:extLst>
              <a:ext uri="{FF2B5EF4-FFF2-40B4-BE49-F238E27FC236}">
                <a16:creationId xmlns:a16="http://schemas.microsoft.com/office/drawing/2014/main" id="{199AF3BA-929C-AE0B-08A8-01C74ECFB2C3}"/>
              </a:ext>
            </a:extLst>
          </p:cNvPr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1557509" y="233819"/>
            <a:ext cx="271308" cy="389810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29">
            <a:extLst>
              <a:ext uri="{FF2B5EF4-FFF2-40B4-BE49-F238E27FC236}">
                <a16:creationId xmlns:a16="http://schemas.microsoft.com/office/drawing/2014/main" id="{7A00601F-1A36-29A7-369C-0A27203E3466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23" name="Google Shape;123;p29">
            <a:extLst>
              <a:ext uri="{FF2B5EF4-FFF2-40B4-BE49-F238E27FC236}">
                <a16:creationId xmlns:a16="http://schemas.microsoft.com/office/drawing/2014/main" id="{A3D80D43-4E8F-D1F2-D6A7-DA1A3882903D}"/>
              </a:ext>
            </a:extLst>
          </p:cNvPr>
          <p:cNvSpPr txBox="1"/>
          <p:nvPr/>
        </p:nvSpPr>
        <p:spPr>
          <a:xfrm>
            <a:off x="376807" y="6524381"/>
            <a:ext cx="7991337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13294B"/>
                </a:solidFill>
              </a:rPr>
              <a:t>SYSTEMS ENGINEERING </a:t>
            </a:r>
            <a:endParaRPr dirty="0"/>
          </a:p>
        </p:txBody>
      </p:sp>
      <p:grpSp>
        <p:nvGrpSpPr>
          <p:cNvPr id="124" name="Google Shape;124;p29">
            <a:extLst>
              <a:ext uri="{FF2B5EF4-FFF2-40B4-BE49-F238E27FC236}">
                <a16:creationId xmlns:a16="http://schemas.microsoft.com/office/drawing/2014/main" id="{9A76F1D6-C729-98D5-5B26-91653D52E513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125" name="Google Shape;125;p29">
              <a:extLst>
                <a:ext uri="{FF2B5EF4-FFF2-40B4-BE49-F238E27FC236}">
                  <a16:creationId xmlns:a16="http://schemas.microsoft.com/office/drawing/2014/main" id="{BC892BCB-4425-0FED-DE90-990DFBA18F28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rgbClr val="13294B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26" name="Google Shape;126;p29">
              <a:extLst>
                <a:ext uri="{FF2B5EF4-FFF2-40B4-BE49-F238E27FC236}">
                  <a16:creationId xmlns:a16="http://schemas.microsoft.com/office/drawing/2014/main" id="{EA6AE1D4-767A-022A-A369-081CC884FB3E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rgbClr val="13294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1415498429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>
            <a:alphaModFix/>
          </a:blip>
          <a:stretch>
            <a:fillRect/>
          </a:stretch>
        </a:blipFill>
        <a:effectLst/>
      </p:bgPr>
    </p:bg>
    <p:spTree>
      <p:nvGrpSpPr>
        <p:cNvPr id="1" name="Shape 103">
          <a:extLst>
            <a:ext uri="{FF2B5EF4-FFF2-40B4-BE49-F238E27FC236}">
              <a16:creationId xmlns:a16="http://schemas.microsoft.com/office/drawing/2014/main" id="{8A84038E-8D38-7C8F-6FC0-455DCB7FB0D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28">
            <a:extLst>
              <a:ext uri="{FF2B5EF4-FFF2-40B4-BE49-F238E27FC236}">
                <a16:creationId xmlns:a16="http://schemas.microsoft.com/office/drawing/2014/main" id="{02AEC150-34E9-FD6F-9BAD-7E0659470285}"/>
              </a:ext>
            </a:extLst>
          </p:cNvPr>
          <p:cNvSpPr txBox="1"/>
          <p:nvPr/>
        </p:nvSpPr>
        <p:spPr>
          <a:xfrm>
            <a:off x="1295400" y="3225489"/>
            <a:ext cx="9601200" cy="7847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500"/>
              <a:buFont typeface="Arial"/>
              <a:buNone/>
            </a:pPr>
            <a:r>
              <a:rPr lang="en-US" sz="4500" b="1" i="0" u="none" strike="noStrike" cap="none" dirty="0">
                <a:solidFill>
                  <a:srgbClr val="15264B"/>
                </a:solidFill>
                <a:latin typeface="Arial"/>
                <a:ea typeface="Arial"/>
                <a:cs typeface="Arial"/>
                <a:sym typeface="Arial"/>
              </a:rPr>
              <a:t>Bits</a:t>
            </a:r>
            <a:endParaRPr dirty="0"/>
          </a:p>
        </p:txBody>
      </p:sp>
      <p:grpSp>
        <p:nvGrpSpPr>
          <p:cNvPr id="105" name="Google Shape;105;p28">
            <a:extLst>
              <a:ext uri="{FF2B5EF4-FFF2-40B4-BE49-F238E27FC236}">
                <a16:creationId xmlns:a16="http://schemas.microsoft.com/office/drawing/2014/main" id="{11C85305-70EB-14CE-364A-0ADCA1866DED}"/>
              </a:ext>
            </a:extLst>
          </p:cNvPr>
          <p:cNvGrpSpPr/>
          <p:nvPr/>
        </p:nvGrpSpPr>
        <p:grpSpPr>
          <a:xfrm>
            <a:off x="3943790" y="2676939"/>
            <a:ext cx="3861740" cy="322845"/>
            <a:chOff x="3943790" y="2676939"/>
            <a:chExt cx="3861740" cy="322845"/>
          </a:xfrm>
        </p:grpSpPr>
        <p:cxnSp>
          <p:nvCxnSpPr>
            <p:cNvPr id="106" name="Google Shape;106;p28">
              <a:extLst>
                <a:ext uri="{FF2B5EF4-FFF2-40B4-BE49-F238E27FC236}">
                  <a16:creationId xmlns:a16="http://schemas.microsoft.com/office/drawing/2014/main" id="{6C839739-8769-EAEF-9463-89E804E8E31E}"/>
                </a:ext>
              </a:extLst>
            </p:cNvPr>
            <p:cNvCxnSpPr/>
            <p:nvPr/>
          </p:nvCxnSpPr>
          <p:spPr>
            <a:xfrm>
              <a:off x="4426226" y="2676939"/>
              <a:ext cx="3379304" cy="0"/>
            </a:xfrm>
            <a:prstGeom prst="straightConnector1">
              <a:avLst/>
            </a:prstGeom>
            <a:noFill/>
            <a:ln w="190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</p:cxnSp>
        <p:cxnSp>
          <p:nvCxnSpPr>
            <p:cNvPr id="107" name="Google Shape;107;p28">
              <a:extLst>
                <a:ext uri="{FF2B5EF4-FFF2-40B4-BE49-F238E27FC236}">
                  <a16:creationId xmlns:a16="http://schemas.microsoft.com/office/drawing/2014/main" id="{EB4FC774-FF75-C60A-20C4-F81634344E75}"/>
                </a:ext>
              </a:extLst>
            </p:cNvPr>
            <p:cNvCxnSpPr/>
            <p:nvPr/>
          </p:nvCxnSpPr>
          <p:spPr>
            <a:xfrm rot="10800000" flipH="1">
              <a:off x="3943790" y="2676939"/>
              <a:ext cx="482436" cy="322845"/>
            </a:xfrm>
            <a:prstGeom prst="straightConnector1">
              <a:avLst/>
            </a:prstGeom>
            <a:noFill/>
            <a:ln w="190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</p:cxnSp>
      </p:grpSp>
      <p:pic>
        <p:nvPicPr>
          <p:cNvPr id="108" name="Google Shape;108;p28">
            <a:extLst>
              <a:ext uri="{FF2B5EF4-FFF2-40B4-BE49-F238E27FC236}">
                <a16:creationId xmlns:a16="http://schemas.microsoft.com/office/drawing/2014/main" id="{ECD9286F-6EB3-69F5-58DF-751E98ABD0C3}"/>
              </a:ext>
            </a:extLst>
          </p:cNvPr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1557509" y="233819"/>
            <a:ext cx="271308" cy="389811"/>
          </a:xfrm>
          <a:prstGeom prst="rect">
            <a:avLst/>
          </a:prstGeom>
          <a:noFill/>
          <a:ln>
            <a:noFill/>
          </a:ln>
        </p:spPr>
      </p:pic>
      <p:sp>
        <p:nvSpPr>
          <p:cNvPr id="109" name="Google Shape;109;p28">
            <a:extLst>
              <a:ext uri="{FF2B5EF4-FFF2-40B4-BE49-F238E27FC236}">
                <a16:creationId xmlns:a16="http://schemas.microsoft.com/office/drawing/2014/main" id="{B569B4EB-2FD0-AD30-F50E-C241BA4DDEA3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10" name="Google Shape;110;p28">
            <a:extLst>
              <a:ext uri="{FF2B5EF4-FFF2-40B4-BE49-F238E27FC236}">
                <a16:creationId xmlns:a16="http://schemas.microsoft.com/office/drawing/2014/main" id="{6B3C5720-5765-357C-A3EB-EFBB78656436}"/>
              </a:ext>
            </a:extLst>
          </p:cNvPr>
          <p:cNvSpPr txBox="1"/>
          <p:nvPr/>
        </p:nvSpPr>
        <p:spPr>
          <a:xfrm>
            <a:off x="376807" y="6524381"/>
            <a:ext cx="7991400" cy="230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13294B"/>
                </a:solidFill>
              </a:rPr>
              <a:t>SYSTEMS ENGINEERING</a:t>
            </a:r>
            <a:endParaRPr dirty="0"/>
          </a:p>
        </p:txBody>
      </p:sp>
      <p:grpSp>
        <p:nvGrpSpPr>
          <p:cNvPr id="111" name="Google Shape;111;p28">
            <a:extLst>
              <a:ext uri="{FF2B5EF4-FFF2-40B4-BE49-F238E27FC236}">
                <a16:creationId xmlns:a16="http://schemas.microsoft.com/office/drawing/2014/main" id="{679B5572-BDBA-D4B3-4612-D3C744E8AA6F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112" name="Google Shape;112;p28">
              <a:extLst>
                <a:ext uri="{FF2B5EF4-FFF2-40B4-BE49-F238E27FC236}">
                  <a16:creationId xmlns:a16="http://schemas.microsoft.com/office/drawing/2014/main" id="{9A51ED6C-B8B5-7601-9873-F8E8B113733C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rgbClr val="13294B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13" name="Google Shape;113;p28">
              <a:extLst>
                <a:ext uri="{FF2B5EF4-FFF2-40B4-BE49-F238E27FC236}">
                  <a16:creationId xmlns:a16="http://schemas.microsoft.com/office/drawing/2014/main" id="{FA69615E-6CAE-27C3-F85D-B218D9D6621D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rgbClr val="13294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819229230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">
          <a:extLst>
            <a:ext uri="{FF2B5EF4-FFF2-40B4-BE49-F238E27FC236}">
              <a16:creationId xmlns:a16="http://schemas.microsoft.com/office/drawing/2014/main" id="{98DE9268-7945-FFE5-97A7-B45A0361D06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29">
            <a:extLst>
              <a:ext uri="{FF2B5EF4-FFF2-40B4-BE49-F238E27FC236}">
                <a16:creationId xmlns:a16="http://schemas.microsoft.com/office/drawing/2014/main" id="{1661B06A-1C2E-6A1E-3C8D-8B2746C028E2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376809" y="1334279"/>
            <a:ext cx="11177401" cy="214552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US" sz="1800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The CPU only reads binary, 1s or 0s; however, for humans it is difficult to understand long string of numbers.</a:t>
            </a: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endParaRPr lang="en-US" sz="1800" dirty="0">
              <a:latin typeface="Arial"/>
              <a:ea typeface="Arial"/>
              <a:cs typeface="Arial"/>
              <a:sym typeface="Arial"/>
            </a:endParaRPr>
          </a:p>
          <a:p>
            <a:pPr marL="0" lv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1800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A 32-bit register could be represented as such with 32 bits </a:t>
            </a:r>
            <a:r>
              <a:rPr lang="en-US" sz="1800" dirty="0">
                <a:latin typeface="Arial"/>
                <a:ea typeface="Arial"/>
                <a:cs typeface="Arial"/>
                <a:sym typeface="Arial"/>
              </a:rPr>
              <a:t>(unsigned 3,357,083,684):</a:t>
            </a:r>
            <a:endParaRPr lang="en-US" sz="1800" dirty="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endParaRPr lang="en-US" sz="1800" dirty="0">
              <a:latin typeface="Arial"/>
              <a:ea typeface="Arial"/>
              <a:cs typeface="Arial"/>
              <a:sym typeface="Arial"/>
            </a:endParaRPr>
          </a:p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US" sz="1800" dirty="0">
                <a:solidFill>
                  <a:srgbClr val="005032"/>
                </a:solidFill>
                <a:latin typeface="Consolas" panose="020B0609020204030204" pitchFamily="49" charset="0"/>
              </a:rPr>
              <a:t>int32_t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 x = 0b110010000001100100000100000100100;</a:t>
            </a:r>
          </a:p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endParaRPr lang="en-US" sz="1800" dirty="0">
              <a:solidFill>
                <a:srgbClr val="000000"/>
              </a:solidFill>
              <a:latin typeface="Consolas" panose="020B0609020204030204" pitchFamily="49" charset="0"/>
              <a:ea typeface="Arial"/>
              <a:cs typeface="Arial"/>
              <a:sym typeface="Arial"/>
            </a:endParaRPr>
          </a:p>
          <a:p>
            <a:pPr marL="0" lv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US" sz="1800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What is a potential problem?</a:t>
            </a:r>
          </a:p>
        </p:txBody>
      </p:sp>
      <p:sp>
        <p:nvSpPr>
          <p:cNvPr id="119" name="Google Shape;119;p29">
            <a:extLst>
              <a:ext uri="{FF2B5EF4-FFF2-40B4-BE49-F238E27FC236}">
                <a16:creationId xmlns:a16="http://schemas.microsoft.com/office/drawing/2014/main" id="{0D648654-B8E7-6A7C-250D-7F8FA28ABC03}"/>
              </a:ext>
            </a:extLst>
          </p:cNvPr>
          <p:cNvSpPr/>
          <p:nvPr/>
        </p:nvSpPr>
        <p:spPr>
          <a:xfrm rot="10800000" flipH="1">
            <a:off x="0" y="0"/>
            <a:ext cx="12192000" cy="868220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rgbClr val="13294B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29">
            <a:extLst>
              <a:ext uri="{FF2B5EF4-FFF2-40B4-BE49-F238E27FC236}">
                <a16:creationId xmlns:a16="http://schemas.microsoft.com/office/drawing/2014/main" id="{4C40AA82-D9BB-44C6-3DDA-87BE2D46BAB4}"/>
              </a:ext>
            </a:extLst>
          </p:cNvPr>
          <p:cNvSpPr txBox="1"/>
          <p:nvPr/>
        </p:nvSpPr>
        <p:spPr>
          <a:xfrm>
            <a:off x="376810" y="204051"/>
            <a:ext cx="10910026" cy="46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lang="en-US" sz="2400" b="0" i="0" u="none" strike="noStrike" cap="none" dirty="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Binary</a:t>
            </a:r>
            <a:endParaRPr sz="2400" b="0" i="0" u="none" strike="noStrike" cap="none" dirty="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21" name="Google Shape;121;p29">
            <a:extLst>
              <a:ext uri="{FF2B5EF4-FFF2-40B4-BE49-F238E27FC236}">
                <a16:creationId xmlns:a16="http://schemas.microsoft.com/office/drawing/2014/main" id="{2B63B481-F43D-6BB6-C538-88D354B70D89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1557509" y="233819"/>
            <a:ext cx="271308" cy="389810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29">
            <a:extLst>
              <a:ext uri="{FF2B5EF4-FFF2-40B4-BE49-F238E27FC236}">
                <a16:creationId xmlns:a16="http://schemas.microsoft.com/office/drawing/2014/main" id="{4C6201E1-4BDA-B7D2-65A7-13DC9AF14350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23" name="Google Shape;123;p29">
            <a:extLst>
              <a:ext uri="{FF2B5EF4-FFF2-40B4-BE49-F238E27FC236}">
                <a16:creationId xmlns:a16="http://schemas.microsoft.com/office/drawing/2014/main" id="{0EA1DB4E-6D4D-8DC9-AA3A-2D6B7E48AE07}"/>
              </a:ext>
            </a:extLst>
          </p:cNvPr>
          <p:cNvSpPr txBox="1"/>
          <p:nvPr/>
        </p:nvSpPr>
        <p:spPr>
          <a:xfrm>
            <a:off x="376807" y="6524381"/>
            <a:ext cx="7991337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13294B"/>
                </a:solidFill>
              </a:rPr>
              <a:t>SYSTEMS ENGINEERING </a:t>
            </a:r>
            <a:endParaRPr dirty="0"/>
          </a:p>
        </p:txBody>
      </p:sp>
      <p:grpSp>
        <p:nvGrpSpPr>
          <p:cNvPr id="124" name="Google Shape;124;p29">
            <a:extLst>
              <a:ext uri="{FF2B5EF4-FFF2-40B4-BE49-F238E27FC236}">
                <a16:creationId xmlns:a16="http://schemas.microsoft.com/office/drawing/2014/main" id="{5797A9CE-6B2C-2500-46AD-16AECA730A51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125" name="Google Shape;125;p29">
              <a:extLst>
                <a:ext uri="{FF2B5EF4-FFF2-40B4-BE49-F238E27FC236}">
                  <a16:creationId xmlns:a16="http://schemas.microsoft.com/office/drawing/2014/main" id="{7FF838EA-2E3A-B71E-A2FA-2BABE0621D29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rgbClr val="13294B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26" name="Google Shape;126;p29">
              <a:extLst>
                <a:ext uri="{FF2B5EF4-FFF2-40B4-BE49-F238E27FC236}">
                  <a16:creationId xmlns:a16="http://schemas.microsoft.com/office/drawing/2014/main" id="{596DA638-7CF5-5C2A-F32C-FE089F744916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rgbClr val="13294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2" name="TextBox 1">
            <a:extLst>
              <a:ext uri="{FF2B5EF4-FFF2-40B4-BE49-F238E27FC236}">
                <a16:creationId xmlns:a16="http://schemas.microsoft.com/office/drawing/2014/main" id="{48F1AF25-5F21-2287-8C45-C570B7ECC68C}"/>
              </a:ext>
            </a:extLst>
          </p:cNvPr>
          <p:cNvSpPr txBox="1"/>
          <p:nvPr/>
        </p:nvSpPr>
        <p:spPr>
          <a:xfrm>
            <a:off x="376807" y="4254500"/>
            <a:ext cx="11180702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000"/>
              <a:buFont typeface="Arial"/>
              <a:buNone/>
              <a:tabLst/>
              <a:defRPr/>
            </a:pPr>
            <a:r>
              <a: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Arial"/>
                <a:cs typeface="Arial"/>
                <a:sym typeface="Arial"/>
              </a:rPr>
              <a:t>Prone to make mistakes if you need to manually type this out! For example, there are </a:t>
            </a:r>
            <a:r>
              <a:rPr kumimoji="0" lang="en-US" sz="1800" b="1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Arial"/>
                <a:cs typeface="Arial"/>
                <a:sym typeface="Arial"/>
              </a:rPr>
              <a:t>33-bits </a:t>
            </a:r>
            <a:r>
              <a: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Arial"/>
                <a:cs typeface="Arial"/>
                <a:sym typeface="Arial"/>
              </a:rPr>
              <a:t>above, not 32!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000"/>
              <a:buFont typeface="Arial"/>
              <a:buNone/>
              <a:tabLst/>
              <a:defRPr/>
            </a:pPr>
            <a:endParaRPr kumimoji="0" lang="en-US" sz="18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000"/>
              <a:buFont typeface="Arial"/>
              <a:buNone/>
              <a:tabLst/>
              <a:defRPr/>
            </a:pPr>
            <a:r>
              <a: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Arial"/>
                <a:cs typeface="Arial"/>
                <a:sym typeface="Arial"/>
              </a:rPr>
              <a:t>Why not use Decimal system? Not as simple to convert from decimal to binary!</a:t>
            </a:r>
          </a:p>
        </p:txBody>
      </p:sp>
    </p:spTree>
    <p:extLst>
      <p:ext uri="{BB962C8B-B14F-4D97-AF65-F5344CB8AC3E}">
        <p14:creationId xmlns:p14="http://schemas.microsoft.com/office/powerpoint/2010/main" val="94778393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">
          <a:extLst>
            <a:ext uri="{FF2B5EF4-FFF2-40B4-BE49-F238E27FC236}">
              <a16:creationId xmlns:a16="http://schemas.microsoft.com/office/drawing/2014/main" id="{9935D5C0-4C41-ED87-68EA-17ABC178F6F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29">
            <a:extLst>
              <a:ext uri="{FF2B5EF4-FFF2-40B4-BE49-F238E27FC236}">
                <a16:creationId xmlns:a16="http://schemas.microsoft.com/office/drawing/2014/main" id="{F2428BFA-1E18-359E-4492-E6DEADED63B5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376809" y="1334279"/>
            <a:ext cx="11177401" cy="105205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1800" dirty="0">
                <a:latin typeface="Arial"/>
                <a:ea typeface="Arial"/>
                <a:cs typeface="Arial"/>
                <a:sym typeface="Arial"/>
              </a:rPr>
              <a:t>Instead of base 10, let’s explore base 16, i.e., hexadecimal base system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endParaRPr lang="en-US" sz="1800" dirty="0">
              <a:latin typeface="Arial"/>
              <a:ea typeface="Arial"/>
              <a:cs typeface="Arial"/>
              <a:sym typeface="Arial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1800" dirty="0">
                <a:latin typeface="Arial"/>
                <a:ea typeface="Arial"/>
                <a:cs typeface="Arial"/>
                <a:sym typeface="Arial"/>
              </a:rPr>
              <a:t>Very easy to convert binary to hex (0-9 then A-F):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endParaRPr lang="en-US" sz="1800" dirty="0">
              <a:latin typeface="Arial"/>
              <a:ea typeface="Arial"/>
              <a:cs typeface="Arial"/>
              <a:sym typeface="Arial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endParaRPr lang="en-US" sz="1800" dirty="0">
              <a:latin typeface="Arial"/>
              <a:ea typeface="Arial"/>
              <a:cs typeface="Arial"/>
              <a:sym typeface="Arial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endParaRPr lang="en-US" sz="1800" dirty="0">
              <a:latin typeface="Arial"/>
              <a:ea typeface="Arial"/>
              <a:cs typeface="Arial"/>
              <a:sym typeface="Arial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endParaRPr lang="en-US" sz="1800" dirty="0">
              <a:latin typeface="Arial"/>
              <a:ea typeface="Arial"/>
              <a:cs typeface="Arial"/>
              <a:sym typeface="Arial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endParaRPr lang="en-US" sz="1800" dirty="0">
              <a:latin typeface="Arial"/>
              <a:ea typeface="Arial"/>
              <a:cs typeface="Arial"/>
              <a:sym typeface="Arial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endParaRPr lang="en-US" sz="1800" dirty="0">
              <a:latin typeface="Arial"/>
              <a:ea typeface="Arial"/>
              <a:cs typeface="Arial"/>
              <a:sym typeface="Arial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endParaRPr lang="en-US" sz="1800" dirty="0">
              <a:latin typeface="Arial"/>
              <a:ea typeface="Arial"/>
              <a:cs typeface="Arial"/>
              <a:sym typeface="Arial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endParaRPr lang="en-US" sz="1800" dirty="0">
              <a:latin typeface="Arial"/>
              <a:ea typeface="Arial"/>
              <a:cs typeface="Arial"/>
              <a:sym typeface="Arial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endParaRPr lang="en-US" sz="1800" dirty="0"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9" name="Google Shape;119;p29">
            <a:extLst>
              <a:ext uri="{FF2B5EF4-FFF2-40B4-BE49-F238E27FC236}">
                <a16:creationId xmlns:a16="http://schemas.microsoft.com/office/drawing/2014/main" id="{974EAF3B-345F-0479-2706-C5F0561339D4}"/>
              </a:ext>
            </a:extLst>
          </p:cNvPr>
          <p:cNvSpPr/>
          <p:nvPr/>
        </p:nvSpPr>
        <p:spPr>
          <a:xfrm rot="10800000" flipH="1">
            <a:off x="0" y="0"/>
            <a:ext cx="12192000" cy="868220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rgbClr val="13294B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29">
            <a:extLst>
              <a:ext uri="{FF2B5EF4-FFF2-40B4-BE49-F238E27FC236}">
                <a16:creationId xmlns:a16="http://schemas.microsoft.com/office/drawing/2014/main" id="{EBF0E4D0-E790-23C2-2C5D-D24797444929}"/>
              </a:ext>
            </a:extLst>
          </p:cNvPr>
          <p:cNvSpPr txBox="1"/>
          <p:nvPr/>
        </p:nvSpPr>
        <p:spPr>
          <a:xfrm>
            <a:off x="376810" y="204051"/>
            <a:ext cx="10910026" cy="46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lang="en-US" sz="2400" b="0" i="0" u="none" strike="noStrike" cap="none" dirty="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Hexadecimal</a:t>
            </a:r>
            <a:endParaRPr sz="2400" b="0" i="0" u="none" strike="noStrike" cap="none" dirty="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21" name="Google Shape;121;p29">
            <a:extLst>
              <a:ext uri="{FF2B5EF4-FFF2-40B4-BE49-F238E27FC236}">
                <a16:creationId xmlns:a16="http://schemas.microsoft.com/office/drawing/2014/main" id="{8BF71259-9DE7-40F5-630A-E5129BC53E3F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1557509" y="233819"/>
            <a:ext cx="271308" cy="389810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29">
            <a:extLst>
              <a:ext uri="{FF2B5EF4-FFF2-40B4-BE49-F238E27FC236}">
                <a16:creationId xmlns:a16="http://schemas.microsoft.com/office/drawing/2014/main" id="{41BB80D2-43E6-240C-FB51-71CBF8BC68E6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23" name="Google Shape;123;p29">
            <a:extLst>
              <a:ext uri="{FF2B5EF4-FFF2-40B4-BE49-F238E27FC236}">
                <a16:creationId xmlns:a16="http://schemas.microsoft.com/office/drawing/2014/main" id="{044F356B-6FEC-7187-AA59-9515521CB6FD}"/>
              </a:ext>
            </a:extLst>
          </p:cNvPr>
          <p:cNvSpPr txBox="1"/>
          <p:nvPr/>
        </p:nvSpPr>
        <p:spPr>
          <a:xfrm>
            <a:off x="376807" y="6524381"/>
            <a:ext cx="7991337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13294B"/>
                </a:solidFill>
              </a:rPr>
              <a:t>SYSTEMS ENGINEERING </a:t>
            </a:r>
            <a:endParaRPr dirty="0"/>
          </a:p>
        </p:txBody>
      </p:sp>
      <p:grpSp>
        <p:nvGrpSpPr>
          <p:cNvPr id="124" name="Google Shape;124;p29">
            <a:extLst>
              <a:ext uri="{FF2B5EF4-FFF2-40B4-BE49-F238E27FC236}">
                <a16:creationId xmlns:a16="http://schemas.microsoft.com/office/drawing/2014/main" id="{C60CB545-D058-A201-A7DE-B0CAB3EF6472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125" name="Google Shape;125;p29">
              <a:extLst>
                <a:ext uri="{FF2B5EF4-FFF2-40B4-BE49-F238E27FC236}">
                  <a16:creationId xmlns:a16="http://schemas.microsoft.com/office/drawing/2014/main" id="{1476572C-1F90-D6F3-6426-1CC4D407A542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rgbClr val="13294B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26" name="Google Shape;126;p29">
              <a:extLst>
                <a:ext uri="{FF2B5EF4-FFF2-40B4-BE49-F238E27FC236}">
                  <a16:creationId xmlns:a16="http://schemas.microsoft.com/office/drawing/2014/main" id="{90FDA6F1-B24E-B555-7032-50C75058682A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rgbClr val="13294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aphicFrame>
        <p:nvGraphicFramePr>
          <p:cNvPr id="3" name="Table 2">
            <a:extLst>
              <a:ext uri="{FF2B5EF4-FFF2-40B4-BE49-F238E27FC236}">
                <a16:creationId xmlns:a16="http://schemas.microsoft.com/office/drawing/2014/main" id="{312A5808-068D-5FB9-19E9-65DFB027BC6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618201903"/>
              </p:ext>
            </p:extLst>
          </p:nvPr>
        </p:nvGraphicFramePr>
        <p:xfrm>
          <a:off x="1720850" y="2501900"/>
          <a:ext cx="8127999" cy="1854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09333">
                  <a:extLst>
                    <a:ext uri="{9D8B030D-6E8A-4147-A177-3AD203B41FA5}">
                      <a16:colId xmlns:a16="http://schemas.microsoft.com/office/drawing/2014/main" val="1207646052"/>
                    </a:ext>
                  </a:extLst>
                </a:gridCol>
                <a:gridCol w="2709333">
                  <a:extLst>
                    <a:ext uri="{9D8B030D-6E8A-4147-A177-3AD203B41FA5}">
                      <a16:colId xmlns:a16="http://schemas.microsoft.com/office/drawing/2014/main" val="2445483742"/>
                    </a:ext>
                  </a:extLst>
                </a:gridCol>
                <a:gridCol w="2709333">
                  <a:extLst>
                    <a:ext uri="{9D8B030D-6E8A-4147-A177-3AD203B41FA5}">
                      <a16:colId xmlns:a16="http://schemas.microsoft.com/office/drawing/2014/main" val="2026562162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Binary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 err="1"/>
                        <a:t>Hexidecimal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Decimal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4441757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0000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27502311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0001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8490059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1010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48044189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1111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F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15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19560062"/>
                  </a:ext>
                </a:extLst>
              </a:tr>
            </a:tbl>
          </a:graphicData>
        </a:graphic>
      </p:graphicFrame>
      <p:sp>
        <p:nvSpPr>
          <p:cNvPr id="4" name="TextBox 3">
            <a:extLst>
              <a:ext uri="{FF2B5EF4-FFF2-40B4-BE49-F238E27FC236}">
                <a16:creationId xmlns:a16="http://schemas.microsoft.com/office/drawing/2014/main" id="{2BEE2F4C-2FDB-0B1E-F74F-1A67D3C37081}"/>
              </a:ext>
            </a:extLst>
          </p:cNvPr>
          <p:cNvSpPr txBox="1"/>
          <p:nvPr/>
        </p:nvSpPr>
        <p:spPr>
          <a:xfrm>
            <a:off x="376807" y="4597400"/>
            <a:ext cx="10910029" cy="17543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800" dirty="0"/>
              <a:t>E</a:t>
            </a:r>
            <a:r>
              <a: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Arial"/>
                <a:cs typeface="Arial"/>
                <a:sym typeface="Arial"/>
              </a:rPr>
              <a:t>very 4-bits = 1 hex value, makes things much easier to compress, much easier to look at!</a:t>
            </a:r>
          </a:p>
          <a:p>
            <a:endParaRPr lang="en-US" sz="1800" dirty="0"/>
          </a:p>
          <a:p>
            <a:r>
              <a:rPr lang="en-US" sz="1800" dirty="0">
                <a:solidFill>
                  <a:srgbClr val="005032"/>
                </a:solidFill>
                <a:latin typeface="Consolas" panose="020B0609020204030204" pitchFamily="49" charset="0"/>
              </a:rPr>
              <a:t>int32_t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 x = 0xC8190824;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r>
              <a: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5032"/>
                </a:solidFill>
                <a:effectLst/>
                <a:uLnTx/>
                <a:uFillTx/>
                <a:latin typeface="Consolas" panose="020B0609020204030204" pitchFamily="49" charset="0"/>
                <a:cs typeface="Arial"/>
                <a:sym typeface="Arial"/>
              </a:rPr>
              <a:t>int16_t</a:t>
            </a:r>
            <a:r>
              <a: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cs typeface="Arial"/>
                <a:sym typeface="Arial"/>
              </a:rPr>
              <a:t> x = 0x0824;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endParaRPr lang="en-US" sz="1800" dirty="0">
              <a:latin typeface="Consolas" panose="020B0609020204030204" pitchFamily="49" charset="0"/>
            </a:endParaRPr>
          </a:p>
          <a:p>
            <a:pPr lvl="0">
              <a:defRPr/>
            </a:pPr>
            <a:r>
              <a:rPr lang="en-US" sz="1800" dirty="0"/>
              <a:t>Windows Calculator set to programming mode can easily do the conversion!</a:t>
            </a:r>
            <a:endParaRPr kumimoji="0" lang="en-US" sz="18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onsolas" panose="020B0609020204030204" pitchFamily="49" charset="0"/>
              <a:cs typeface="Arial"/>
              <a:sym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2769463025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">
          <a:extLst>
            <a:ext uri="{FF2B5EF4-FFF2-40B4-BE49-F238E27FC236}">
              <a16:creationId xmlns:a16="http://schemas.microsoft.com/office/drawing/2014/main" id="{74056B78-B910-A511-41E5-DB6A25780D6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29">
            <a:extLst>
              <a:ext uri="{FF2B5EF4-FFF2-40B4-BE49-F238E27FC236}">
                <a16:creationId xmlns:a16="http://schemas.microsoft.com/office/drawing/2014/main" id="{1DA402EC-2306-AEDB-4671-C167E6DF7391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376809" y="1334279"/>
            <a:ext cx="11177401" cy="494550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1800" dirty="0">
                <a:latin typeface="Arial"/>
                <a:ea typeface="Arial"/>
                <a:cs typeface="Arial"/>
                <a:sym typeface="Arial"/>
              </a:rPr>
              <a:t>Bit number starts at 0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endParaRPr lang="en-US" sz="1800" dirty="0">
              <a:latin typeface="Arial"/>
              <a:ea typeface="Arial"/>
              <a:cs typeface="Arial"/>
              <a:sym typeface="Arial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1800" dirty="0">
                <a:latin typeface="Arial"/>
                <a:ea typeface="Arial"/>
                <a:cs typeface="Arial"/>
                <a:sym typeface="Arial"/>
              </a:rPr>
              <a:t>Bit 0 → 2</a:t>
            </a:r>
            <a:r>
              <a:rPr lang="en-US" sz="1800" baseline="30000" dirty="0">
                <a:latin typeface="Arial"/>
                <a:ea typeface="Arial"/>
                <a:cs typeface="Arial"/>
                <a:sym typeface="Arial"/>
              </a:rPr>
              <a:t>0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1800" dirty="0">
                <a:latin typeface="Arial"/>
                <a:ea typeface="Arial"/>
                <a:cs typeface="Arial"/>
                <a:sym typeface="Arial"/>
              </a:rPr>
              <a:t>Bit 1 → 2</a:t>
            </a:r>
            <a:r>
              <a:rPr lang="en-US" sz="1800" baseline="30000" dirty="0">
                <a:latin typeface="Arial"/>
                <a:ea typeface="Arial"/>
                <a:cs typeface="Arial"/>
                <a:sym typeface="Arial"/>
              </a:rPr>
              <a:t>1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1800" dirty="0">
                <a:latin typeface="Arial"/>
                <a:ea typeface="Arial"/>
                <a:cs typeface="Arial"/>
                <a:sym typeface="Arial"/>
              </a:rPr>
              <a:t>Bit 5 → 2</a:t>
            </a:r>
            <a:r>
              <a:rPr lang="en-US" sz="1800" baseline="30000" dirty="0">
                <a:latin typeface="Arial"/>
                <a:ea typeface="Arial"/>
                <a:cs typeface="Arial"/>
                <a:sym typeface="Arial"/>
              </a:rPr>
              <a:t>5</a:t>
            </a:r>
            <a:r>
              <a:rPr lang="en-US" sz="1800" dirty="0">
                <a:latin typeface="Arial"/>
                <a:ea typeface="Arial"/>
                <a:cs typeface="Arial"/>
                <a:sym typeface="Arial"/>
              </a:rPr>
              <a:t> = 32 = 0x20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endParaRPr lang="en-US" sz="1800" dirty="0">
              <a:latin typeface="Arial"/>
              <a:ea typeface="Arial"/>
              <a:cs typeface="Arial"/>
              <a:sym typeface="Arial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1800" dirty="0">
                <a:latin typeface="Arial"/>
                <a:ea typeface="Arial"/>
                <a:cs typeface="Arial"/>
                <a:sym typeface="Arial"/>
              </a:rPr>
              <a:t>Creating a bit shifting: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endParaRPr lang="en-US" sz="1800" dirty="0">
              <a:latin typeface="Arial"/>
              <a:ea typeface="Arial"/>
              <a:cs typeface="Arial"/>
              <a:sym typeface="Arial"/>
            </a:endParaRP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r>
              <a:rPr lang="en-US" sz="1800" dirty="0">
                <a:latin typeface="Arial"/>
                <a:ea typeface="Arial"/>
                <a:cs typeface="Arial"/>
                <a:sym typeface="Arial"/>
              </a:rPr>
              <a:t>Left shifting: 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x &lt;&lt; n</a:t>
            </a:r>
            <a:r>
              <a:rPr lang="en-US" sz="1800" dirty="0">
                <a:latin typeface="Arial"/>
                <a:ea typeface="Arial"/>
                <a:cs typeface="Arial"/>
                <a:sym typeface="Arial"/>
              </a:rPr>
              <a:t>, shifts bits in x to the left by n. 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0b01 &lt;&lt; 1 = 0b10</a:t>
            </a:r>
            <a:endParaRPr lang="en-US" sz="1800" dirty="0">
              <a:latin typeface="Arial"/>
              <a:ea typeface="Arial"/>
              <a:cs typeface="Arial"/>
              <a:sym typeface="Arial"/>
            </a:endParaRP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r>
              <a:rPr lang="en-US" sz="1800" dirty="0">
                <a:latin typeface="Arial"/>
                <a:ea typeface="Arial"/>
                <a:cs typeface="Arial"/>
                <a:sym typeface="Arial"/>
              </a:rPr>
              <a:t>Left shifting: 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x &gt;&gt; n</a:t>
            </a:r>
            <a:r>
              <a:rPr lang="en-US" sz="1800" dirty="0">
                <a:latin typeface="Arial"/>
                <a:ea typeface="Arial"/>
                <a:cs typeface="Arial"/>
                <a:sym typeface="Arial"/>
              </a:rPr>
              <a:t>, shifts bits in x to the right by n. 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0b10 &gt;&gt; 1 = 0b01</a:t>
            </a:r>
            <a:endParaRPr lang="en-US" sz="1800" dirty="0">
              <a:latin typeface="Arial"/>
              <a:ea typeface="Arial"/>
              <a:cs typeface="Arial"/>
              <a:sym typeface="Arial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endParaRPr lang="en-US" sz="1800" dirty="0">
              <a:latin typeface="Arial"/>
              <a:ea typeface="Arial"/>
              <a:cs typeface="Arial"/>
              <a:sym typeface="Arial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1800" dirty="0">
                <a:latin typeface="Arial"/>
                <a:ea typeface="Arial"/>
                <a:cs typeface="Arial"/>
                <a:sym typeface="Arial"/>
              </a:rPr>
              <a:t>Commonly used to create bit “masks”: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endParaRPr lang="en-US" sz="1800" dirty="0">
              <a:latin typeface="Arial"/>
              <a:ea typeface="Arial"/>
              <a:cs typeface="Arial"/>
              <a:sym typeface="Arial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1800" dirty="0">
                <a:solidFill>
                  <a:srgbClr val="005032"/>
                </a:solidFill>
                <a:latin typeface="Consolas" panose="020B0609020204030204" pitchFamily="49" charset="0"/>
              </a:rPr>
              <a:t>int32_t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 bit5Mask = 1 &lt;&lt; 5; </a:t>
            </a:r>
            <a:r>
              <a:rPr lang="en-US" sz="1800" dirty="0">
                <a:solidFill>
                  <a:srgbClr val="3F7F5F"/>
                </a:solidFill>
                <a:latin typeface="Consolas" panose="020B0609020204030204" pitchFamily="49" charset="0"/>
              </a:rPr>
              <a:t>// 0x20, sets only bit 5 to 1!</a:t>
            </a:r>
            <a:endParaRPr lang="en-US" sz="1800" dirty="0">
              <a:latin typeface="Arial"/>
              <a:ea typeface="Arial"/>
              <a:cs typeface="Arial"/>
              <a:sym typeface="Arial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endParaRPr lang="en-US" sz="1800" dirty="0">
              <a:latin typeface="Arial"/>
              <a:ea typeface="Arial"/>
              <a:cs typeface="Arial"/>
              <a:sym typeface="Arial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endParaRPr lang="en-US" sz="1800" dirty="0">
              <a:latin typeface="Arial"/>
              <a:ea typeface="Arial"/>
              <a:cs typeface="Arial"/>
              <a:sym typeface="Arial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1800" dirty="0">
                <a:latin typeface="Arial"/>
                <a:ea typeface="Arial"/>
                <a:cs typeface="Arial"/>
                <a:sym typeface="Arial"/>
              </a:rPr>
              <a:t>What are masks? What are they used for?</a:t>
            </a:r>
          </a:p>
        </p:txBody>
      </p:sp>
      <p:sp>
        <p:nvSpPr>
          <p:cNvPr id="119" name="Google Shape;119;p29">
            <a:extLst>
              <a:ext uri="{FF2B5EF4-FFF2-40B4-BE49-F238E27FC236}">
                <a16:creationId xmlns:a16="http://schemas.microsoft.com/office/drawing/2014/main" id="{693A4AA0-51AE-E163-7FE7-4739E99772F4}"/>
              </a:ext>
            </a:extLst>
          </p:cNvPr>
          <p:cNvSpPr/>
          <p:nvPr/>
        </p:nvSpPr>
        <p:spPr>
          <a:xfrm rot="10800000" flipH="1">
            <a:off x="0" y="0"/>
            <a:ext cx="12192000" cy="868220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rgbClr val="13294B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29">
            <a:extLst>
              <a:ext uri="{FF2B5EF4-FFF2-40B4-BE49-F238E27FC236}">
                <a16:creationId xmlns:a16="http://schemas.microsoft.com/office/drawing/2014/main" id="{556AF272-8944-188B-D036-8C03798A0C01}"/>
              </a:ext>
            </a:extLst>
          </p:cNvPr>
          <p:cNvSpPr txBox="1"/>
          <p:nvPr/>
        </p:nvSpPr>
        <p:spPr>
          <a:xfrm>
            <a:off x="376810" y="204051"/>
            <a:ext cx="10910026" cy="46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lang="en-US" sz="2400" b="0" i="0" u="none" strike="noStrike" cap="none" dirty="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Bits, Bit Positions and Masks</a:t>
            </a:r>
            <a:endParaRPr sz="2400" b="0" i="0" u="none" strike="noStrike" cap="none" dirty="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21" name="Google Shape;121;p29">
            <a:extLst>
              <a:ext uri="{FF2B5EF4-FFF2-40B4-BE49-F238E27FC236}">
                <a16:creationId xmlns:a16="http://schemas.microsoft.com/office/drawing/2014/main" id="{FF25E2F6-45BA-674E-90E9-B88C0123EA6B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1557509" y="233819"/>
            <a:ext cx="271308" cy="389810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29">
            <a:extLst>
              <a:ext uri="{FF2B5EF4-FFF2-40B4-BE49-F238E27FC236}">
                <a16:creationId xmlns:a16="http://schemas.microsoft.com/office/drawing/2014/main" id="{A5EB83C3-4FD0-688C-29E9-9B77646B9757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23" name="Google Shape;123;p29">
            <a:extLst>
              <a:ext uri="{FF2B5EF4-FFF2-40B4-BE49-F238E27FC236}">
                <a16:creationId xmlns:a16="http://schemas.microsoft.com/office/drawing/2014/main" id="{091CB886-30B5-E16B-7512-0FECF2C8185E}"/>
              </a:ext>
            </a:extLst>
          </p:cNvPr>
          <p:cNvSpPr txBox="1"/>
          <p:nvPr/>
        </p:nvSpPr>
        <p:spPr>
          <a:xfrm>
            <a:off x="376807" y="6524381"/>
            <a:ext cx="7991337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13294B"/>
                </a:solidFill>
              </a:rPr>
              <a:t>SYSTEMS ENGINEERING </a:t>
            </a:r>
            <a:endParaRPr dirty="0"/>
          </a:p>
        </p:txBody>
      </p:sp>
      <p:grpSp>
        <p:nvGrpSpPr>
          <p:cNvPr id="124" name="Google Shape;124;p29">
            <a:extLst>
              <a:ext uri="{FF2B5EF4-FFF2-40B4-BE49-F238E27FC236}">
                <a16:creationId xmlns:a16="http://schemas.microsoft.com/office/drawing/2014/main" id="{8AD6C8AB-ABE1-F2D9-C049-FDE2FB2BBD7F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125" name="Google Shape;125;p29">
              <a:extLst>
                <a:ext uri="{FF2B5EF4-FFF2-40B4-BE49-F238E27FC236}">
                  <a16:creationId xmlns:a16="http://schemas.microsoft.com/office/drawing/2014/main" id="{ABD3231A-0FE1-6F0A-EE9E-99664EA2DBDA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rgbClr val="13294B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26" name="Google Shape;126;p29">
              <a:extLst>
                <a:ext uri="{FF2B5EF4-FFF2-40B4-BE49-F238E27FC236}">
                  <a16:creationId xmlns:a16="http://schemas.microsoft.com/office/drawing/2014/main" id="{01546CA3-3362-FBB5-200A-AEB28D21F31F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rgbClr val="13294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814717361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">
          <a:extLst>
            <a:ext uri="{FF2B5EF4-FFF2-40B4-BE49-F238E27FC236}">
              <a16:creationId xmlns:a16="http://schemas.microsoft.com/office/drawing/2014/main" id="{C1A38449-2004-E61B-C218-BE4EBA47131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29">
            <a:extLst>
              <a:ext uri="{FF2B5EF4-FFF2-40B4-BE49-F238E27FC236}">
                <a16:creationId xmlns:a16="http://schemas.microsoft.com/office/drawing/2014/main" id="{DFC668CE-8DFA-F2AA-A3DC-923F02B37474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376809" y="1334279"/>
            <a:ext cx="5173091" cy="293302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1800" b="1" dirty="0">
                <a:solidFill>
                  <a:srgbClr val="15264B"/>
                </a:solidFill>
                <a:latin typeface="Arial"/>
                <a:ea typeface="Arial"/>
                <a:cs typeface="Arial"/>
                <a:sym typeface="Arial"/>
              </a:rPr>
              <a:t>AND (&amp;) – Masking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endParaRPr lang="en-US" sz="1800" b="1" dirty="0">
              <a:solidFill>
                <a:srgbClr val="15264B"/>
              </a:solidFill>
              <a:latin typeface="Arial"/>
              <a:ea typeface="Arial"/>
              <a:cs typeface="Arial"/>
              <a:sym typeface="Arial"/>
            </a:endParaRPr>
          </a:p>
          <a:p>
            <a:pPr marL="114300" indent="0" algn="l">
              <a:buNone/>
            </a:pPr>
            <a:r>
              <a:rPr lang="en-US" sz="1800" b="1" dirty="0">
                <a:solidFill>
                  <a:srgbClr val="7F0055"/>
                </a:solidFill>
                <a:latin typeface="Consolas" panose="020B0609020204030204" pitchFamily="49" charset="0"/>
              </a:rPr>
              <a:t>if</a:t>
            </a:r>
            <a:r>
              <a:rPr lang="en-US" sz="1800" b="1" dirty="0">
                <a:solidFill>
                  <a:srgbClr val="000000"/>
                </a:solidFill>
                <a:latin typeface="Consolas" panose="020B0609020204030204" pitchFamily="49" charset="0"/>
              </a:rPr>
              <a:t> (reg &amp; (1 &lt;&lt; 3)) {</a:t>
            </a:r>
          </a:p>
          <a:p>
            <a:pPr marL="114300" indent="0" algn="l">
              <a:buNone/>
            </a:pP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    </a:t>
            </a:r>
            <a:r>
              <a:rPr lang="en-US" sz="1800" dirty="0">
                <a:solidFill>
                  <a:srgbClr val="3F7F5F"/>
                </a:solidFill>
                <a:latin typeface="Consolas" panose="020B0609020204030204" pitchFamily="49" charset="0"/>
              </a:rPr>
              <a:t>// Bit 3 is set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000"/>
              <a:buFont typeface="Arial"/>
              <a:buNone/>
              <a:tabLst/>
              <a:defRPr/>
            </a:pPr>
            <a:r>
              <a:rPr lang="en-US" sz="1800" b="1" dirty="0">
                <a:solidFill>
                  <a:srgbClr val="000000"/>
                </a:solidFill>
                <a:latin typeface="Consolas" panose="020B0609020204030204" pitchFamily="49" charset="0"/>
                <a:ea typeface="Arial"/>
                <a:cs typeface="Arial"/>
                <a:sym typeface="Arial"/>
              </a:rPr>
              <a:t>}</a:t>
            </a:r>
            <a:r>
              <a:rPr kumimoji="0" lang="en-US" sz="1800" b="1" i="0" u="none" strike="noStrike" kern="0" cap="none" spc="0" normalizeH="0" baseline="0" noProof="0" dirty="0">
                <a:ln>
                  <a:noFill/>
                </a:ln>
                <a:solidFill>
                  <a:srgbClr val="15264B"/>
                </a:solidFill>
                <a:effectLst/>
                <a:uLnTx/>
                <a:uFillTx/>
                <a:latin typeface="Arial"/>
                <a:ea typeface="Arial"/>
                <a:cs typeface="Arial"/>
                <a:sym typeface="Arial"/>
              </a:rPr>
              <a:t> 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000"/>
              <a:buFont typeface="Arial"/>
              <a:buNone/>
              <a:tabLst/>
              <a:defRPr/>
            </a:pPr>
            <a:endParaRPr lang="en-US" sz="1800" b="1" dirty="0">
              <a:solidFill>
                <a:srgbClr val="15264B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000"/>
              <a:buFont typeface="Arial"/>
              <a:buNone/>
              <a:tabLst/>
              <a:defRPr/>
            </a:pPr>
            <a:r>
              <a:rPr kumimoji="0" lang="en-US" sz="1800" b="1" i="0" u="none" strike="noStrike" kern="0" cap="none" spc="0" normalizeH="0" baseline="0" noProof="0" dirty="0">
                <a:ln>
                  <a:noFill/>
                </a:ln>
                <a:solidFill>
                  <a:srgbClr val="15264B"/>
                </a:solidFill>
                <a:effectLst/>
                <a:uLnTx/>
                <a:uFillTx/>
                <a:latin typeface="Arial"/>
                <a:ea typeface="Arial"/>
                <a:cs typeface="Arial"/>
                <a:sym typeface="Arial"/>
              </a:rPr>
              <a:t>OR    (|)  – Setting Bits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000"/>
              <a:buFont typeface="Arial"/>
              <a:buNone/>
              <a:tabLst/>
              <a:defRPr/>
            </a:pPr>
            <a:endParaRPr kumimoji="0" lang="en-US" sz="1800" b="1" i="0" u="none" strike="noStrike" kern="0" cap="none" spc="0" normalizeH="0" baseline="0" noProof="0" dirty="0">
              <a:ln>
                <a:noFill/>
              </a:ln>
              <a:solidFill>
                <a:srgbClr val="15264B"/>
              </a:solidFill>
              <a:effectLst/>
              <a:uLnTx/>
              <a:uFillTx/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000"/>
              <a:buFont typeface="Arial"/>
              <a:buNone/>
              <a:tabLst/>
              <a:defRPr/>
            </a:pPr>
            <a:r>
              <a: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Calibri"/>
                <a:cs typeface="Calibri"/>
                <a:sym typeface="Calibri"/>
              </a:rPr>
              <a:t>reg |= (1 &lt;&lt; 3);</a:t>
            </a:r>
          </a:p>
          <a:p>
            <a:pPr marL="114300" indent="0" algn="l">
              <a:buNone/>
            </a:pPr>
            <a:endParaRPr lang="en-US" sz="1800" b="1" dirty="0">
              <a:solidFill>
                <a:srgbClr val="000000"/>
              </a:solidFill>
              <a:latin typeface="Consolas" panose="020B0609020204030204" pitchFamily="49" charset="0"/>
              <a:ea typeface="Arial"/>
              <a:cs typeface="Arial"/>
              <a:sym typeface="Arial"/>
            </a:endParaRPr>
          </a:p>
          <a:p>
            <a:pPr marL="114300" indent="0" algn="l">
              <a:buNone/>
            </a:pPr>
            <a:endParaRPr lang="en-US" sz="1800" b="1" dirty="0">
              <a:solidFill>
                <a:srgbClr val="000000"/>
              </a:solidFill>
              <a:latin typeface="Consolas" panose="020B0609020204030204" pitchFamily="49" charset="0"/>
              <a:ea typeface="Arial"/>
              <a:cs typeface="Arial"/>
              <a:sym typeface="Arial"/>
            </a:endParaRPr>
          </a:p>
          <a:p>
            <a:pPr marL="114300" indent="0" algn="l">
              <a:buNone/>
            </a:pPr>
            <a:endParaRPr lang="en-US" sz="1800" b="1" dirty="0">
              <a:solidFill>
                <a:srgbClr val="15264B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endParaRPr lang="en-US" sz="1800" b="1" dirty="0">
              <a:solidFill>
                <a:srgbClr val="15264B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endParaRPr lang="en-US" sz="1800" b="1" dirty="0">
              <a:solidFill>
                <a:srgbClr val="15264B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endParaRPr lang="en-US" sz="1800" b="1" dirty="0">
              <a:solidFill>
                <a:srgbClr val="15264B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9" name="Google Shape;119;p29">
            <a:extLst>
              <a:ext uri="{FF2B5EF4-FFF2-40B4-BE49-F238E27FC236}">
                <a16:creationId xmlns:a16="http://schemas.microsoft.com/office/drawing/2014/main" id="{AF91230B-08CD-0D0C-39AF-E0ACCC0A41E4}"/>
              </a:ext>
            </a:extLst>
          </p:cNvPr>
          <p:cNvSpPr/>
          <p:nvPr/>
        </p:nvSpPr>
        <p:spPr>
          <a:xfrm rot="10800000" flipH="1">
            <a:off x="0" y="0"/>
            <a:ext cx="12192000" cy="868220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rgbClr val="13294B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29">
            <a:extLst>
              <a:ext uri="{FF2B5EF4-FFF2-40B4-BE49-F238E27FC236}">
                <a16:creationId xmlns:a16="http://schemas.microsoft.com/office/drawing/2014/main" id="{2B54473D-21A5-A5D5-D97D-E711034807A0}"/>
              </a:ext>
            </a:extLst>
          </p:cNvPr>
          <p:cNvSpPr txBox="1"/>
          <p:nvPr/>
        </p:nvSpPr>
        <p:spPr>
          <a:xfrm>
            <a:off x="376810" y="204051"/>
            <a:ext cx="10910026" cy="46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lang="en-US" sz="2400" dirty="0">
                <a:solidFill>
                  <a:schemeClr val="lt1"/>
                </a:solidFill>
              </a:rPr>
              <a:t>Bitwise Operations</a:t>
            </a:r>
            <a:endParaRPr sz="2400" b="0" i="0" u="none" strike="noStrike" cap="none" dirty="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21" name="Google Shape;121;p29">
            <a:extLst>
              <a:ext uri="{FF2B5EF4-FFF2-40B4-BE49-F238E27FC236}">
                <a16:creationId xmlns:a16="http://schemas.microsoft.com/office/drawing/2014/main" id="{281BB5D4-2A0F-5D14-FF14-E9D5E53A7135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1557509" y="233819"/>
            <a:ext cx="271308" cy="389810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29">
            <a:extLst>
              <a:ext uri="{FF2B5EF4-FFF2-40B4-BE49-F238E27FC236}">
                <a16:creationId xmlns:a16="http://schemas.microsoft.com/office/drawing/2014/main" id="{2A7FD24E-CA58-4011-2DD0-1DDAEA2FAE69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23" name="Google Shape;123;p29">
            <a:extLst>
              <a:ext uri="{FF2B5EF4-FFF2-40B4-BE49-F238E27FC236}">
                <a16:creationId xmlns:a16="http://schemas.microsoft.com/office/drawing/2014/main" id="{61EF9A49-48D0-C667-07E1-C31D1B6E7E24}"/>
              </a:ext>
            </a:extLst>
          </p:cNvPr>
          <p:cNvSpPr txBox="1"/>
          <p:nvPr/>
        </p:nvSpPr>
        <p:spPr>
          <a:xfrm>
            <a:off x="376807" y="6524381"/>
            <a:ext cx="7991337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13294B"/>
                </a:solidFill>
              </a:rPr>
              <a:t>SYSTEMS ENGINEERING </a:t>
            </a:r>
            <a:endParaRPr dirty="0"/>
          </a:p>
        </p:txBody>
      </p:sp>
      <p:grpSp>
        <p:nvGrpSpPr>
          <p:cNvPr id="124" name="Google Shape;124;p29">
            <a:extLst>
              <a:ext uri="{FF2B5EF4-FFF2-40B4-BE49-F238E27FC236}">
                <a16:creationId xmlns:a16="http://schemas.microsoft.com/office/drawing/2014/main" id="{C14475F2-CF4E-32CE-BF08-6EF0332A8D21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125" name="Google Shape;125;p29">
              <a:extLst>
                <a:ext uri="{FF2B5EF4-FFF2-40B4-BE49-F238E27FC236}">
                  <a16:creationId xmlns:a16="http://schemas.microsoft.com/office/drawing/2014/main" id="{6753C5C0-D2D3-C5AC-42C6-64CDE684B4C5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rgbClr val="13294B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26" name="Google Shape;126;p29">
              <a:extLst>
                <a:ext uri="{FF2B5EF4-FFF2-40B4-BE49-F238E27FC236}">
                  <a16:creationId xmlns:a16="http://schemas.microsoft.com/office/drawing/2014/main" id="{B7FD99DA-8DF4-9904-C8A3-D6D3C78FA78A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rgbClr val="13294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2" name="Google Shape;118;p29">
            <a:extLst>
              <a:ext uri="{FF2B5EF4-FFF2-40B4-BE49-F238E27FC236}">
                <a16:creationId xmlns:a16="http://schemas.microsoft.com/office/drawing/2014/main" id="{7C5046C5-1945-C6F3-E883-8DDDD61834C0}"/>
              </a:ext>
            </a:extLst>
          </p:cNvPr>
          <p:cNvSpPr txBox="1">
            <a:spLocks/>
          </p:cNvSpPr>
          <p:nvPr/>
        </p:nvSpPr>
        <p:spPr>
          <a:xfrm>
            <a:off x="6713540" y="1334279"/>
            <a:ext cx="5173091" cy="494550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429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2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Font typeface="Arial"/>
              <a:buNone/>
            </a:pPr>
            <a:r>
              <a:rPr lang="en-US" sz="1800" b="1" dirty="0">
                <a:solidFill>
                  <a:srgbClr val="15264B"/>
                </a:solidFill>
                <a:latin typeface="Arial"/>
                <a:ea typeface="Arial"/>
                <a:cs typeface="Arial"/>
                <a:sym typeface="Arial"/>
              </a:rPr>
              <a:t>NOT (~) – Clearing Bits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Font typeface="Arial"/>
              <a:buNone/>
            </a:pPr>
            <a:endParaRPr lang="en-US" sz="1800" b="1" dirty="0">
              <a:solidFill>
                <a:srgbClr val="15264B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reg &amp;= ~(1 &lt;&lt; 3);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Font typeface="Arial"/>
              <a:buNone/>
            </a:pPr>
            <a:endParaRPr lang="en-US" sz="1800" b="1" dirty="0">
              <a:solidFill>
                <a:srgbClr val="15264B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Font typeface="Arial"/>
              <a:buNone/>
            </a:pPr>
            <a:endParaRPr lang="en-US" sz="1800" b="1" dirty="0">
              <a:solidFill>
                <a:srgbClr val="15264B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Font typeface="Arial"/>
              <a:buNone/>
            </a:pPr>
            <a:r>
              <a:rPr lang="en-US" sz="1800" b="1" dirty="0">
                <a:solidFill>
                  <a:srgbClr val="15264B"/>
                </a:solidFill>
                <a:latin typeface="Arial"/>
                <a:ea typeface="Arial"/>
                <a:cs typeface="Arial"/>
                <a:sym typeface="Arial"/>
              </a:rPr>
              <a:t>XOR (^) – Toggling Bits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Font typeface="Arial"/>
              <a:buNone/>
            </a:pPr>
            <a:endParaRPr lang="en-US" sz="1800" b="1" dirty="0">
              <a:solidFill>
                <a:srgbClr val="15264B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reg ^= (1 &lt;&lt; 3);</a:t>
            </a:r>
            <a:endParaRPr lang="en-US" sz="1800" b="1" dirty="0">
              <a:solidFill>
                <a:srgbClr val="15264B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Font typeface="Arial"/>
              <a:buNone/>
            </a:pPr>
            <a:endParaRPr lang="en-US" sz="1800" b="1" dirty="0">
              <a:solidFill>
                <a:srgbClr val="15264B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aphicFrame>
        <p:nvGraphicFramePr>
          <p:cNvPr id="3" name="Table 2">
            <a:extLst>
              <a:ext uri="{FF2B5EF4-FFF2-40B4-BE49-F238E27FC236}">
                <a16:creationId xmlns:a16="http://schemas.microsoft.com/office/drawing/2014/main" id="{1EE3DE62-4E85-1C4E-5AB7-A55EFC150E5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016186720"/>
              </p:ext>
            </p:extLst>
          </p:nvPr>
        </p:nvGraphicFramePr>
        <p:xfrm>
          <a:off x="1925640" y="4448044"/>
          <a:ext cx="3624260" cy="1524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24852">
                  <a:extLst>
                    <a:ext uri="{9D8B030D-6E8A-4147-A177-3AD203B41FA5}">
                      <a16:colId xmlns:a16="http://schemas.microsoft.com/office/drawing/2014/main" val="346855582"/>
                    </a:ext>
                  </a:extLst>
                </a:gridCol>
                <a:gridCol w="724852">
                  <a:extLst>
                    <a:ext uri="{9D8B030D-6E8A-4147-A177-3AD203B41FA5}">
                      <a16:colId xmlns:a16="http://schemas.microsoft.com/office/drawing/2014/main" val="1592488445"/>
                    </a:ext>
                  </a:extLst>
                </a:gridCol>
                <a:gridCol w="724852">
                  <a:extLst>
                    <a:ext uri="{9D8B030D-6E8A-4147-A177-3AD203B41FA5}">
                      <a16:colId xmlns:a16="http://schemas.microsoft.com/office/drawing/2014/main" val="3403376714"/>
                    </a:ext>
                  </a:extLst>
                </a:gridCol>
                <a:gridCol w="724852">
                  <a:extLst>
                    <a:ext uri="{9D8B030D-6E8A-4147-A177-3AD203B41FA5}">
                      <a16:colId xmlns:a16="http://schemas.microsoft.com/office/drawing/2014/main" val="903622980"/>
                    </a:ext>
                  </a:extLst>
                </a:gridCol>
                <a:gridCol w="724852">
                  <a:extLst>
                    <a:ext uri="{9D8B030D-6E8A-4147-A177-3AD203B41FA5}">
                      <a16:colId xmlns:a16="http://schemas.microsoft.com/office/drawing/2014/main" val="4093562064"/>
                    </a:ext>
                  </a:extLst>
                </a:gridCol>
              </a:tblGrid>
              <a:tr h="298856">
                <a:tc>
                  <a:txBody>
                    <a:bodyPr/>
                    <a:lstStyle/>
                    <a:p>
                      <a:r>
                        <a:rPr lang="en-US" dirty="0"/>
                        <a:t>REG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MASK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AND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OR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XOR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71070923"/>
                  </a:ext>
                </a:extLst>
              </a:tr>
              <a:tr h="298856">
                <a:tc>
                  <a:txBody>
                    <a:bodyPr/>
                    <a:lstStyle/>
                    <a:p>
                      <a:r>
                        <a:rPr lang="en-US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591078293"/>
                  </a:ext>
                </a:extLst>
              </a:tr>
              <a:tr h="298856">
                <a:tc>
                  <a:txBody>
                    <a:bodyPr/>
                    <a:lstStyle/>
                    <a:p>
                      <a:r>
                        <a:rPr lang="en-US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922570205"/>
                  </a:ext>
                </a:extLst>
              </a:tr>
              <a:tr h="298856">
                <a:tc>
                  <a:txBody>
                    <a:bodyPr/>
                    <a:lstStyle/>
                    <a:p>
                      <a:r>
                        <a:rPr lang="en-US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15747797"/>
                  </a:ext>
                </a:extLst>
              </a:tr>
              <a:tr h="298856">
                <a:tc>
                  <a:txBody>
                    <a:bodyPr/>
                    <a:lstStyle/>
                    <a:p>
                      <a:r>
                        <a:rPr lang="en-US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45618015"/>
                  </a:ext>
                </a:extLst>
              </a:tr>
            </a:tbl>
          </a:graphicData>
        </a:graphic>
      </p:graphicFrame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6BE1C4B3-CD06-5B1D-BFDE-3CBBAD18749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823596159"/>
              </p:ext>
            </p:extLst>
          </p:nvPr>
        </p:nvGraphicFramePr>
        <p:xfrm>
          <a:off x="7660119" y="4752844"/>
          <a:ext cx="1416050" cy="914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08025">
                  <a:extLst>
                    <a:ext uri="{9D8B030D-6E8A-4147-A177-3AD203B41FA5}">
                      <a16:colId xmlns:a16="http://schemas.microsoft.com/office/drawing/2014/main" val="346855582"/>
                    </a:ext>
                  </a:extLst>
                </a:gridCol>
                <a:gridCol w="708025">
                  <a:extLst>
                    <a:ext uri="{9D8B030D-6E8A-4147-A177-3AD203B41FA5}">
                      <a16:colId xmlns:a16="http://schemas.microsoft.com/office/drawing/2014/main" val="3403376714"/>
                    </a:ext>
                  </a:extLst>
                </a:gridCol>
              </a:tblGrid>
              <a:tr h="298856">
                <a:tc>
                  <a:txBody>
                    <a:bodyPr/>
                    <a:lstStyle/>
                    <a:p>
                      <a:r>
                        <a:rPr lang="en-US" dirty="0"/>
                        <a:t>MASK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NOT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71070923"/>
                  </a:ext>
                </a:extLst>
              </a:tr>
              <a:tr h="298856">
                <a:tc>
                  <a:txBody>
                    <a:bodyPr/>
                    <a:lstStyle/>
                    <a:p>
                      <a:r>
                        <a:rPr lang="en-US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591078293"/>
                  </a:ext>
                </a:extLst>
              </a:tr>
              <a:tr h="298856">
                <a:tc>
                  <a:txBody>
                    <a:bodyPr/>
                    <a:lstStyle/>
                    <a:p>
                      <a:r>
                        <a:rPr lang="en-US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4561801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045116204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>
            <a:alphaModFix/>
          </a:blip>
          <a:stretch>
            <a:fillRect/>
          </a:stretch>
        </a:blipFill>
        <a:effectLst/>
      </p:bgPr>
    </p:bg>
    <p:spTree>
      <p:nvGrpSpPr>
        <p:cNvPr id="1" name="Shape 103">
          <a:extLst>
            <a:ext uri="{FF2B5EF4-FFF2-40B4-BE49-F238E27FC236}">
              <a16:creationId xmlns:a16="http://schemas.microsoft.com/office/drawing/2014/main" id="{3E79D79B-BD25-AA21-47B4-E81C12A502D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28">
            <a:extLst>
              <a:ext uri="{FF2B5EF4-FFF2-40B4-BE49-F238E27FC236}">
                <a16:creationId xmlns:a16="http://schemas.microsoft.com/office/drawing/2014/main" id="{ECF22A56-36F3-2F36-80D2-E68D3C88ADDB}"/>
              </a:ext>
            </a:extLst>
          </p:cNvPr>
          <p:cNvSpPr txBox="1"/>
          <p:nvPr/>
        </p:nvSpPr>
        <p:spPr>
          <a:xfrm>
            <a:off x="1295400" y="3225489"/>
            <a:ext cx="9601200" cy="7847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500"/>
              <a:buFont typeface="Arial"/>
              <a:buNone/>
            </a:pPr>
            <a:r>
              <a:rPr lang="en-US" sz="4500" b="1" i="0" u="none" strike="noStrike" cap="none" dirty="0">
                <a:solidFill>
                  <a:srgbClr val="15264B"/>
                </a:solidFill>
                <a:latin typeface="Arial"/>
                <a:ea typeface="Arial"/>
                <a:cs typeface="Arial"/>
                <a:sym typeface="Arial"/>
              </a:rPr>
              <a:t>Timers</a:t>
            </a:r>
            <a:endParaRPr dirty="0"/>
          </a:p>
        </p:txBody>
      </p:sp>
      <p:grpSp>
        <p:nvGrpSpPr>
          <p:cNvPr id="105" name="Google Shape;105;p28">
            <a:extLst>
              <a:ext uri="{FF2B5EF4-FFF2-40B4-BE49-F238E27FC236}">
                <a16:creationId xmlns:a16="http://schemas.microsoft.com/office/drawing/2014/main" id="{ED152358-FB50-DD95-DD4A-B2A6E78964C6}"/>
              </a:ext>
            </a:extLst>
          </p:cNvPr>
          <p:cNvGrpSpPr/>
          <p:nvPr/>
        </p:nvGrpSpPr>
        <p:grpSpPr>
          <a:xfrm>
            <a:off x="3943790" y="2676939"/>
            <a:ext cx="3861740" cy="322845"/>
            <a:chOff x="3943790" y="2676939"/>
            <a:chExt cx="3861740" cy="322845"/>
          </a:xfrm>
        </p:grpSpPr>
        <p:cxnSp>
          <p:nvCxnSpPr>
            <p:cNvPr id="106" name="Google Shape;106;p28">
              <a:extLst>
                <a:ext uri="{FF2B5EF4-FFF2-40B4-BE49-F238E27FC236}">
                  <a16:creationId xmlns:a16="http://schemas.microsoft.com/office/drawing/2014/main" id="{6B577B21-43F8-795D-1EC1-81C8834DD368}"/>
                </a:ext>
              </a:extLst>
            </p:cNvPr>
            <p:cNvCxnSpPr/>
            <p:nvPr/>
          </p:nvCxnSpPr>
          <p:spPr>
            <a:xfrm>
              <a:off x="4426226" y="2676939"/>
              <a:ext cx="3379304" cy="0"/>
            </a:xfrm>
            <a:prstGeom prst="straightConnector1">
              <a:avLst/>
            </a:prstGeom>
            <a:noFill/>
            <a:ln w="190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</p:cxnSp>
        <p:cxnSp>
          <p:nvCxnSpPr>
            <p:cNvPr id="107" name="Google Shape;107;p28">
              <a:extLst>
                <a:ext uri="{FF2B5EF4-FFF2-40B4-BE49-F238E27FC236}">
                  <a16:creationId xmlns:a16="http://schemas.microsoft.com/office/drawing/2014/main" id="{9CCE0AC3-14DB-782A-523B-9244244AB129}"/>
                </a:ext>
              </a:extLst>
            </p:cNvPr>
            <p:cNvCxnSpPr/>
            <p:nvPr/>
          </p:nvCxnSpPr>
          <p:spPr>
            <a:xfrm rot="10800000" flipH="1">
              <a:off x="3943790" y="2676939"/>
              <a:ext cx="482436" cy="322845"/>
            </a:xfrm>
            <a:prstGeom prst="straightConnector1">
              <a:avLst/>
            </a:prstGeom>
            <a:noFill/>
            <a:ln w="190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</p:cxnSp>
      </p:grpSp>
      <p:pic>
        <p:nvPicPr>
          <p:cNvPr id="108" name="Google Shape;108;p28">
            <a:extLst>
              <a:ext uri="{FF2B5EF4-FFF2-40B4-BE49-F238E27FC236}">
                <a16:creationId xmlns:a16="http://schemas.microsoft.com/office/drawing/2014/main" id="{C8CF2629-2730-A4EB-283A-97444685EAB0}"/>
              </a:ext>
            </a:extLst>
          </p:cNvPr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1557509" y="233819"/>
            <a:ext cx="271308" cy="389811"/>
          </a:xfrm>
          <a:prstGeom prst="rect">
            <a:avLst/>
          </a:prstGeom>
          <a:noFill/>
          <a:ln>
            <a:noFill/>
          </a:ln>
        </p:spPr>
      </p:pic>
      <p:sp>
        <p:nvSpPr>
          <p:cNvPr id="109" name="Google Shape;109;p28">
            <a:extLst>
              <a:ext uri="{FF2B5EF4-FFF2-40B4-BE49-F238E27FC236}">
                <a16:creationId xmlns:a16="http://schemas.microsoft.com/office/drawing/2014/main" id="{A9A535D8-D20A-D52E-CE0C-307518C98C7F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10" name="Google Shape;110;p28">
            <a:extLst>
              <a:ext uri="{FF2B5EF4-FFF2-40B4-BE49-F238E27FC236}">
                <a16:creationId xmlns:a16="http://schemas.microsoft.com/office/drawing/2014/main" id="{A4E8A94F-7828-AB89-1D84-E4F975B0BDFF}"/>
              </a:ext>
            </a:extLst>
          </p:cNvPr>
          <p:cNvSpPr txBox="1"/>
          <p:nvPr/>
        </p:nvSpPr>
        <p:spPr>
          <a:xfrm>
            <a:off x="376807" y="6524381"/>
            <a:ext cx="7991400" cy="230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13294B"/>
                </a:solidFill>
              </a:rPr>
              <a:t>SYSTEMS ENGINEERING</a:t>
            </a:r>
            <a:endParaRPr dirty="0"/>
          </a:p>
        </p:txBody>
      </p:sp>
      <p:grpSp>
        <p:nvGrpSpPr>
          <p:cNvPr id="111" name="Google Shape;111;p28">
            <a:extLst>
              <a:ext uri="{FF2B5EF4-FFF2-40B4-BE49-F238E27FC236}">
                <a16:creationId xmlns:a16="http://schemas.microsoft.com/office/drawing/2014/main" id="{D8F21ABA-161F-3B32-B002-B1E5742FA173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112" name="Google Shape;112;p28">
              <a:extLst>
                <a:ext uri="{FF2B5EF4-FFF2-40B4-BE49-F238E27FC236}">
                  <a16:creationId xmlns:a16="http://schemas.microsoft.com/office/drawing/2014/main" id="{AA606F35-F79B-4318-6B7F-6FF4FEFD356D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rgbClr val="13294B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13" name="Google Shape;113;p28">
              <a:extLst>
                <a:ext uri="{FF2B5EF4-FFF2-40B4-BE49-F238E27FC236}">
                  <a16:creationId xmlns:a16="http://schemas.microsoft.com/office/drawing/2014/main" id="{5995E2DE-F38D-FD9C-EE82-F60CBD7D1977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rgbClr val="13294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195453585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">
          <a:extLst>
            <a:ext uri="{FF2B5EF4-FFF2-40B4-BE49-F238E27FC236}">
              <a16:creationId xmlns:a16="http://schemas.microsoft.com/office/drawing/2014/main" id="{A4CA83B8-C177-16BC-A74B-4B751B8EAAA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29">
            <a:extLst>
              <a:ext uri="{FF2B5EF4-FFF2-40B4-BE49-F238E27FC236}">
                <a16:creationId xmlns:a16="http://schemas.microsoft.com/office/drawing/2014/main" id="{6F7CA2A7-D188-B086-D949-D81D019F0415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376809" y="1334279"/>
            <a:ext cx="11177401" cy="494550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1800" dirty="0">
                <a:latin typeface="Arial"/>
                <a:ea typeface="Arial"/>
                <a:cs typeface="Arial"/>
                <a:sym typeface="Arial"/>
              </a:rPr>
              <a:t>Just like a clock that you have; however, in hardware it is EXTREMELY important. 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endParaRPr lang="en-US" sz="1800" dirty="0">
              <a:latin typeface="Arial"/>
              <a:ea typeface="Arial"/>
              <a:cs typeface="Arial"/>
              <a:sym typeface="Arial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1800" dirty="0">
                <a:latin typeface="Arial"/>
                <a:ea typeface="Arial"/>
                <a:cs typeface="Arial"/>
                <a:sym typeface="Arial"/>
              </a:rPr>
              <a:t>A </a:t>
            </a:r>
            <a:r>
              <a:rPr lang="en-US" sz="1800" b="1" dirty="0">
                <a:latin typeface="Arial"/>
                <a:ea typeface="Arial"/>
                <a:cs typeface="Arial"/>
                <a:sym typeface="Arial"/>
              </a:rPr>
              <a:t>timer </a:t>
            </a:r>
            <a:r>
              <a:rPr lang="en-US" sz="1800" dirty="0">
                <a:latin typeface="Arial"/>
                <a:ea typeface="Arial"/>
                <a:cs typeface="Arial"/>
                <a:sym typeface="Arial"/>
              </a:rPr>
              <a:t>is a hardware counter that:</a:t>
            </a: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r>
              <a:rPr lang="en-US" sz="1800" dirty="0">
                <a:latin typeface="Arial"/>
                <a:ea typeface="Arial"/>
                <a:cs typeface="Arial"/>
                <a:sym typeface="Arial"/>
              </a:rPr>
              <a:t>Counts clock cycles</a:t>
            </a: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r>
              <a:rPr lang="en-US" sz="1800" dirty="0">
                <a:latin typeface="Arial"/>
                <a:ea typeface="Arial"/>
                <a:cs typeface="Arial"/>
                <a:sym typeface="Arial"/>
              </a:rPr>
              <a:t>Triggers an interrupt when it reaches a specified condition</a:t>
            </a: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endParaRPr lang="en-US" sz="1800" dirty="0">
              <a:latin typeface="Arial"/>
              <a:ea typeface="Arial"/>
              <a:cs typeface="Arial"/>
              <a:sym typeface="Arial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1800" dirty="0">
                <a:latin typeface="Arial"/>
                <a:ea typeface="Arial"/>
                <a:cs typeface="Arial"/>
                <a:sym typeface="Arial"/>
              </a:rPr>
              <a:t>The TMS320F2837xD has </a:t>
            </a:r>
            <a:r>
              <a:rPr lang="en-US" sz="1800" b="1" dirty="0">
                <a:latin typeface="Arial"/>
                <a:ea typeface="Arial"/>
                <a:cs typeface="Arial"/>
                <a:sym typeface="Arial"/>
              </a:rPr>
              <a:t>3</a:t>
            </a:r>
            <a:r>
              <a:rPr lang="en-US" sz="1800" dirty="0">
                <a:latin typeface="Arial"/>
                <a:ea typeface="Arial"/>
                <a:cs typeface="Arial"/>
                <a:sym typeface="Arial"/>
              </a:rPr>
              <a:t> 32-bit CPU timers. </a:t>
            </a: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r>
              <a:rPr lang="en-US" sz="1800" dirty="0">
                <a:latin typeface="Arial"/>
                <a:ea typeface="Arial"/>
                <a:cs typeface="Arial"/>
                <a:sym typeface="Arial"/>
              </a:rPr>
              <a:t>CPU-Timer0 and CPU-Timer1 can be used in user applications</a:t>
            </a: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r>
              <a:rPr lang="en-US" sz="1800" dirty="0">
                <a:latin typeface="Arial"/>
                <a:ea typeface="Arial"/>
                <a:cs typeface="Arial"/>
                <a:sym typeface="Arial"/>
              </a:rPr>
              <a:t>CPU-Timer2 is reserved for real-time operating system uses ( if not being uses in an operating system that uses this timer, it can used in the application).</a:t>
            </a: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endParaRPr lang="en-US" sz="1800" dirty="0">
              <a:latin typeface="Arial"/>
              <a:ea typeface="Arial"/>
              <a:cs typeface="Arial"/>
              <a:sym typeface="Arial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1800" dirty="0">
                <a:latin typeface="Arial"/>
                <a:ea typeface="Arial"/>
                <a:cs typeface="Arial"/>
                <a:sym typeface="Arial"/>
              </a:rPr>
              <a:t>These clocks run off the system’s internal clock (SYSCLK) (CPU-Timer2, has additional options)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endParaRPr lang="en-US" sz="1800" dirty="0">
              <a:latin typeface="Arial"/>
              <a:ea typeface="Arial"/>
              <a:cs typeface="Arial"/>
              <a:sym typeface="Arial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1800" dirty="0">
                <a:latin typeface="Arial"/>
                <a:ea typeface="Arial"/>
                <a:cs typeface="Arial"/>
                <a:sym typeface="Arial"/>
              </a:rPr>
              <a:t>System’s internal clock runs at 200 MHz 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endParaRPr lang="en-US" sz="1800" dirty="0">
              <a:latin typeface="Arial"/>
              <a:ea typeface="Arial"/>
              <a:cs typeface="Arial"/>
              <a:sym typeface="Arial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endParaRPr lang="en-US" sz="1800" dirty="0">
              <a:latin typeface="Arial"/>
              <a:ea typeface="Arial"/>
              <a:cs typeface="Arial"/>
              <a:sym typeface="Arial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endParaRPr lang="en-US" sz="1800" dirty="0">
              <a:latin typeface="Arial"/>
              <a:ea typeface="Arial"/>
              <a:cs typeface="Arial"/>
              <a:sym typeface="Arial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endParaRPr lang="en-US" sz="1800" dirty="0"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9" name="Google Shape;119;p29">
            <a:extLst>
              <a:ext uri="{FF2B5EF4-FFF2-40B4-BE49-F238E27FC236}">
                <a16:creationId xmlns:a16="http://schemas.microsoft.com/office/drawing/2014/main" id="{15142FBA-6DEC-D842-33DC-729D877C91C2}"/>
              </a:ext>
            </a:extLst>
          </p:cNvPr>
          <p:cNvSpPr/>
          <p:nvPr/>
        </p:nvSpPr>
        <p:spPr>
          <a:xfrm rot="10800000" flipH="1">
            <a:off x="0" y="0"/>
            <a:ext cx="12192000" cy="868220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rgbClr val="13294B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29">
            <a:extLst>
              <a:ext uri="{FF2B5EF4-FFF2-40B4-BE49-F238E27FC236}">
                <a16:creationId xmlns:a16="http://schemas.microsoft.com/office/drawing/2014/main" id="{FE727983-1768-CBE4-0DBC-D9B3EDEDDD92}"/>
              </a:ext>
            </a:extLst>
          </p:cNvPr>
          <p:cNvSpPr txBox="1"/>
          <p:nvPr/>
        </p:nvSpPr>
        <p:spPr>
          <a:xfrm>
            <a:off x="376810" y="204051"/>
            <a:ext cx="10910026" cy="46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lang="en-US" sz="2400" b="0" i="0" u="none" strike="noStrike" cap="none" dirty="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What is a timer?</a:t>
            </a:r>
            <a:endParaRPr sz="2400" b="0" i="0" u="none" strike="noStrike" cap="none" dirty="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21" name="Google Shape;121;p29">
            <a:extLst>
              <a:ext uri="{FF2B5EF4-FFF2-40B4-BE49-F238E27FC236}">
                <a16:creationId xmlns:a16="http://schemas.microsoft.com/office/drawing/2014/main" id="{6333CCFD-5566-247B-FBA2-4925B9AA6D88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1557509" y="233819"/>
            <a:ext cx="271308" cy="389810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29">
            <a:extLst>
              <a:ext uri="{FF2B5EF4-FFF2-40B4-BE49-F238E27FC236}">
                <a16:creationId xmlns:a16="http://schemas.microsoft.com/office/drawing/2014/main" id="{57412D56-C24F-6187-AC64-391C7B75F9E3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23" name="Google Shape;123;p29">
            <a:extLst>
              <a:ext uri="{FF2B5EF4-FFF2-40B4-BE49-F238E27FC236}">
                <a16:creationId xmlns:a16="http://schemas.microsoft.com/office/drawing/2014/main" id="{F695E876-350D-F5F3-72C1-E09DF7F59FD9}"/>
              </a:ext>
            </a:extLst>
          </p:cNvPr>
          <p:cNvSpPr txBox="1"/>
          <p:nvPr/>
        </p:nvSpPr>
        <p:spPr>
          <a:xfrm>
            <a:off x="376807" y="6524381"/>
            <a:ext cx="7991337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13294B"/>
                </a:solidFill>
              </a:rPr>
              <a:t>SYSTEMS ENGINEERING </a:t>
            </a:r>
            <a:endParaRPr dirty="0"/>
          </a:p>
        </p:txBody>
      </p:sp>
      <p:grpSp>
        <p:nvGrpSpPr>
          <p:cNvPr id="124" name="Google Shape;124;p29">
            <a:extLst>
              <a:ext uri="{FF2B5EF4-FFF2-40B4-BE49-F238E27FC236}">
                <a16:creationId xmlns:a16="http://schemas.microsoft.com/office/drawing/2014/main" id="{F950DB7C-44AA-D61C-EA90-C7AD441830F6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125" name="Google Shape;125;p29">
              <a:extLst>
                <a:ext uri="{FF2B5EF4-FFF2-40B4-BE49-F238E27FC236}">
                  <a16:creationId xmlns:a16="http://schemas.microsoft.com/office/drawing/2014/main" id="{6BE19E11-68A0-7D65-A8FF-1688A4DE764C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rgbClr val="13294B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26" name="Google Shape;126;p29">
              <a:extLst>
                <a:ext uri="{FF2B5EF4-FFF2-40B4-BE49-F238E27FC236}">
                  <a16:creationId xmlns:a16="http://schemas.microsoft.com/office/drawing/2014/main" id="{1E47E355-A3AD-3658-F4C1-6B87E79F9399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rgbClr val="13294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696777400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">
          <a:extLst>
            <a:ext uri="{FF2B5EF4-FFF2-40B4-BE49-F238E27FC236}">
              <a16:creationId xmlns:a16="http://schemas.microsoft.com/office/drawing/2014/main" id="{EDB91D7D-A22B-2E01-EF3E-8AAADBCA2A6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29">
            <a:extLst>
              <a:ext uri="{FF2B5EF4-FFF2-40B4-BE49-F238E27FC236}">
                <a16:creationId xmlns:a16="http://schemas.microsoft.com/office/drawing/2014/main" id="{59513E68-F5B4-D4AA-7617-A64412922F3F}"/>
              </a:ext>
            </a:extLst>
          </p:cNvPr>
          <p:cNvSpPr/>
          <p:nvPr/>
        </p:nvSpPr>
        <p:spPr>
          <a:xfrm rot="10800000" flipH="1">
            <a:off x="0" y="0"/>
            <a:ext cx="12192000" cy="868220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rgbClr val="13294B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29">
            <a:extLst>
              <a:ext uri="{FF2B5EF4-FFF2-40B4-BE49-F238E27FC236}">
                <a16:creationId xmlns:a16="http://schemas.microsoft.com/office/drawing/2014/main" id="{15A271FF-5C0A-6931-09C6-6E892192E4CA}"/>
              </a:ext>
            </a:extLst>
          </p:cNvPr>
          <p:cNvSpPr txBox="1"/>
          <p:nvPr/>
        </p:nvSpPr>
        <p:spPr>
          <a:xfrm>
            <a:off x="376810" y="204051"/>
            <a:ext cx="10910026" cy="46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lang="en-US" sz="2400" b="0" i="0" u="none" strike="noStrike" cap="none" dirty="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What is a timer?</a:t>
            </a:r>
            <a:endParaRPr sz="2400" b="0" i="0" u="none" strike="noStrike" cap="none" dirty="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21" name="Google Shape;121;p29">
            <a:extLst>
              <a:ext uri="{FF2B5EF4-FFF2-40B4-BE49-F238E27FC236}">
                <a16:creationId xmlns:a16="http://schemas.microsoft.com/office/drawing/2014/main" id="{6CD01B28-2810-7D4B-EF46-09359AE8F9E3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1557509" y="233819"/>
            <a:ext cx="271308" cy="389810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29">
            <a:extLst>
              <a:ext uri="{FF2B5EF4-FFF2-40B4-BE49-F238E27FC236}">
                <a16:creationId xmlns:a16="http://schemas.microsoft.com/office/drawing/2014/main" id="{306E48CF-02C4-3786-C624-CAEB9610B6E5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23" name="Google Shape;123;p29">
            <a:extLst>
              <a:ext uri="{FF2B5EF4-FFF2-40B4-BE49-F238E27FC236}">
                <a16:creationId xmlns:a16="http://schemas.microsoft.com/office/drawing/2014/main" id="{03C91540-A329-CFE6-AD20-0CCFBB5C952B}"/>
              </a:ext>
            </a:extLst>
          </p:cNvPr>
          <p:cNvSpPr txBox="1"/>
          <p:nvPr/>
        </p:nvSpPr>
        <p:spPr>
          <a:xfrm>
            <a:off x="376807" y="6524381"/>
            <a:ext cx="7991337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13294B"/>
                </a:solidFill>
              </a:rPr>
              <a:t>SYSTEMS ENGINEERING </a:t>
            </a:r>
            <a:endParaRPr dirty="0"/>
          </a:p>
        </p:txBody>
      </p:sp>
      <p:grpSp>
        <p:nvGrpSpPr>
          <p:cNvPr id="124" name="Google Shape;124;p29">
            <a:extLst>
              <a:ext uri="{FF2B5EF4-FFF2-40B4-BE49-F238E27FC236}">
                <a16:creationId xmlns:a16="http://schemas.microsoft.com/office/drawing/2014/main" id="{C15780B7-AD26-AD57-99CF-8F2AE6F14DBD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125" name="Google Shape;125;p29">
              <a:extLst>
                <a:ext uri="{FF2B5EF4-FFF2-40B4-BE49-F238E27FC236}">
                  <a16:creationId xmlns:a16="http://schemas.microsoft.com/office/drawing/2014/main" id="{0E6F5EFE-425A-57F5-B80B-2ED738F3EF2D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rgbClr val="13294B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26" name="Google Shape;126;p29">
              <a:extLst>
                <a:ext uri="{FF2B5EF4-FFF2-40B4-BE49-F238E27FC236}">
                  <a16:creationId xmlns:a16="http://schemas.microsoft.com/office/drawing/2014/main" id="{51BDFBF8-D2A1-B826-2D56-4A845EFF4758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rgbClr val="13294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pic>
        <p:nvPicPr>
          <p:cNvPr id="5" name="Graphic 4">
            <a:extLst>
              <a:ext uri="{FF2B5EF4-FFF2-40B4-BE49-F238E27FC236}">
                <a16:creationId xmlns:a16="http://schemas.microsoft.com/office/drawing/2014/main" id="{0073D16F-1F5B-03A8-350C-E201DDF86EF3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354936" y="1403473"/>
            <a:ext cx="10931900" cy="4508500"/>
          </a:xfrm>
          <a:prstGeom prst="rect">
            <a:avLst/>
          </a:prstGeom>
        </p:spPr>
      </p:pic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65E7B09A-B3ED-A424-09DB-27F506A3B4A7}"/>
              </a:ext>
            </a:extLst>
          </p:cNvPr>
          <p:cNvCxnSpPr>
            <a:cxnSpLocks/>
            <a:stCxn id="12" idx="2"/>
          </p:cNvCxnSpPr>
          <p:nvPr/>
        </p:nvCxnSpPr>
        <p:spPr>
          <a:xfrm>
            <a:off x="3137618" y="1488344"/>
            <a:ext cx="451402" cy="1011111"/>
          </a:xfrm>
          <a:prstGeom prst="straightConnector1">
            <a:avLst/>
          </a:prstGeom>
          <a:ln w="3810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3E0B4787-1659-1F7B-FFBB-C958229C8F0D}"/>
              </a:ext>
            </a:extLst>
          </p:cNvPr>
          <p:cNvCxnSpPr>
            <a:cxnSpLocks/>
            <a:stCxn id="12" idx="2"/>
          </p:cNvCxnSpPr>
          <p:nvPr/>
        </p:nvCxnSpPr>
        <p:spPr>
          <a:xfrm>
            <a:off x="3137618" y="1488344"/>
            <a:ext cx="2455462" cy="1088267"/>
          </a:xfrm>
          <a:prstGeom prst="straightConnector1">
            <a:avLst/>
          </a:prstGeom>
          <a:ln w="3810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TextBox 11">
            <a:extLst>
              <a:ext uri="{FF2B5EF4-FFF2-40B4-BE49-F238E27FC236}">
                <a16:creationId xmlns:a16="http://schemas.microsoft.com/office/drawing/2014/main" id="{660C3DC5-06BB-8795-9BF9-E418AF8CB8E4}"/>
              </a:ext>
            </a:extLst>
          </p:cNvPr>
          <p:cNvSpPr txBox="1"/>
          <p:nvPr/>
        </p:nvSpPr>
        <p:spPr>
          <a:xfrm>
            <a:off x="2872160" y="1119012"/>
            <a:ext cx="53091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800" dirty="0"/>
              <a:t>OR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0F34C39A-A5B3-4719-51D3-59EFDDFBA8E1}"/>
              </a:ext>
            </a:extLst>
          </p:cNvPr>
          <p:cNvSpPr txBox="1"/>
          <p:nvPr/>
        </p:nvSpPr>
        <p:spPr>
          <a:xfrm>
            <a:off x="3067085" y="3189019"/>
            <a:ext cx="67197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800" dirty="0"/>
              <a:t>AND</a:t>
            </a:r>
          </a:p>
        </p:txBody>
      </p: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4FC930C6-79A9-D8F5-9AC7-95B3C5F621F1}"/>
              </a:ext>
            </a:extLst>
          </p:cNvPr>
          <p:cNvCxnSpPr>
            <a:cxnSpLocks/>
            <a:stCxn id="13" idx="2"/>
          </p:cNvCxnSpPr>
          <p:nvPr/>
        </p:nvCxnSpPr>
        <p:spPr>
          <a:xfrm>
            <a:off x="3403075" y="3558351"/>
            <a:ext cx="185945" cy="899349"/>
          </a:xfrm>
          <a:prstGeom prst="straightConnector1">
            <a:avLst/>
          </a:prstGeom>
          <a:ln w="3810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TextBox 19">
            <a:extLst>
              <a:ext uri="{FF2B5EF4-FFF2-40B4-BE49-F238E27FC236}">
                <a16:creationId xmlns:a16="http://schemas.microsoft.com/office/drawing/2014/main" id="{C6649C05-FA19-F219-E8EB-07FCACFEA66A}"/>
              </a:ext>
            </a:extLst>
          </p:cNvPr>
          <p:cNvSpPr txBox="1"/>
          <p:nvPr/>
        </p:nvSpPr>
        <p:spPr>
          <a:xfrm>
            <a:off x="2200181" y="4979719"/>
            <a:ext cx="67197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800" dirty="0"/>
              <a:t>NOT</a:t>
            </a:r>
          </a:p>
        </p:txBody>
      </p: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7A251EBD-D8EE-BBA8-0EA8-8B98F08FE1BD}"/>
              </a:ext>
            </a:extLst>
          </p:cNvPr>
          <p:cNvCxnSpPr>
            <a:cxnSpLocks/>
            <a:stCxn id="20" idx="0"/>
          </p:cNvCxnSpPr>
          <p:nvPr/>
        </p:nvCxnSpPr>
        <p:spPr>
          <a:xfrm flipV="1">
            <a:off x="2536171" y="4579094"/>
            <a:ext cx="466109" cy="400625"/>
          </a:xfrm>
          <a:prstGeom prst="straightConnector1">
            <a:avLst/>
          </a:prstGeom>
          <a:ln w="3810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693761784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">
          <a:extLst>
            <a:ext uri="{FF2B5EF4-FFF2-40B4-BE49-F238E27FC236}">
              <a16:creationId xmlns:a16="http://schemas.microsoft.com/office/drawing/2014/main" id="{4953FF48-2567-36DF-0E08-872F3456FEE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29">
            <a:extLst>
              <a:ext uri="{FF2B5EF4-FFF2-40B4-BE49-F238E27FC236}">
                <a16:creationId xmlns:a16="http://schemas.microsoft.com/office/drawing/2014/main" id="{55A3964E-F300-5874-C505-98DA49C7D1E2}"/>
              </a:ext>
            </a:extLst>
          </p:cNvPr>
          <p:cNvSpPr/>
          <p:nvPr/>
        </p:nvSpPr>
        <p:spPr>
          <a:xfrm rot="10800000" flipH="1">
            <a:off x="0" y="0"/>
            <a:ext cx="12192000" cy="868220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rgbClr val="13294B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29">
            <a:extLst>
              <a:ext uri="{FF2B5EF4-FFF2-40B4-BE49-F238E27FC236}">
                <a16:creationId xmlns:a16="http://schemas.microsoft.com/office/drawing/2014/main" id="{B7C289BE-F442-1AFA-5A9F-F46ACDF9B8B1}"/>
              </a:ext>
            </a:extLst>
          </p:cNvPr>
          <p:cNvSpPr txBox="1"/>
          <p:nvPr/>
        </p:nvSpPr>
        <p:spPr>
          <a:xfrm>
            <a:off x="376810" y="204051"/>
            <a:ext cx="10910026" cy="46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lang="en-US" sz="2400" b="0" i="0" u="none" strike="noStrike" cap="none" dirty="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What is a timer?</a:t>
            </a:r>
            <a:endParaRPr sz="2400" b="0" i="0" u="none" strike="noStrike" cap="none" dirty="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21" name="Google Shape;121;p29">
            <a:extLst>
              <a:ext uri="{FF2B5EF4-FFF2-40B4-BE49-F238E27FC236}">
                <a16:creationId xmlns:a16="http://schemas.microsoft.com/office/drawing/2014/main" id="{1F492385-0078-432E-BA25-52EF8191B289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1557509" y="233819"/>
            <a:ext cx="271308" cy="389810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29">
            <a:extLst>
              <a:ext uri="{FF2B5EF4-FFF2-40B4-BE49-F238E27FC236}">
                <a16:creationId xmlns:a16="http://schemas.microsoft.com/office/drawing/2014/main" id="{AC66DA96-0358-524C-453E-587CB945BB35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23" name="Google Shape;123;p29">
            <a:extLst>
              <a:ext uri="{FF2B5EF4-FFF2-40B4-BE49-F238E27FC236}">
                <a16:creationId xmlns:a16="http://schemas.microsoft.com/office/drawing/2014/main" id="{65A910AD-7E91-D4AA-5C35-5E6FF9168A0A}"/>
              </a:ext>
            </a:extLst>
          </p:cNvPr>
          <p:cNvSpPr txBox="1"/>
          <p:nvPr/>
        </p:nvSpPr>
        <p:spPr>
          <a:xfrm>
            <a:off x="376807" y="6524381"/>
            <a:ext cx="7991337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13294B"/>
                </a:solidFill>
              </a:rPr>
              <a:t>SYSTEMS ENGINEERING </a:t>
            </a:r>
            <a:endParaRPr dirty="0"/>
          </a:p>
        </p:txBody>
      </p:sp>
      <p:grpSp>
        <p:nvGrpSpPr>
          <p:cNvPr id="124" name="Google Shape;124;p29">
            <a:extLst>
              <a:ext uri="{FF2B5EF4-FFF2-40B4-BE49-F238E27FC236}">
                <a16:creationId xmlns:a16="http://schemas.microsoft.com/office/drawing/2014/main" id="{F30E51EB-A661-4A04-7D7C-2CF15D53CFAA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125" name="Google Shape;125;p29">
              <a:extLst>
                <a:ext uri="{FF2B5EF4-FFF2-40B4-BE49-F238E27FC236}">
                  <a16:creationId xmlns:a16="http://schemas.microsoft.com/office/drawing/2014/main" id="{8EF036B1-9043-9AA4-FF3E-C616B36FA3A8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rgbClr val="13294B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26" name="Google Shape;126;p29">
              <a:extLst>
                <a:ext uri="{FF2B5EF4-FFF2-40B4-BE49-F238E27FC236}">
                  <a16:creationId xmlns:a16="http://schemas.microsoft.com/office/drawing/2014/main" id="{257288E5-6EC6-70D1-18E6-CC3127D03C53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rgbClr val="13294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pic>
        <p:nvPicPr>
          <p:cNvPr id="6" name="Graphic 5">
            <a:extLst>
              <a:ext uri="{FF2B5EF4-FFF2-40B4-BE49-F238E27FC236}">
                <a16:creationId xmlns:a16="http://schemas.microsoft.com/office/drawing/2014/main" id="{2BCB83CC-7AC6-B0A5-00FA-C78A00ADEF21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891540" y="1039363"/>
            <a:ext cx="10408920" cy="528247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67667218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">
          <a:extLst>
            <a:ext uri="{FF2B5EF4-FFF2-40B4-BE49-F238E27FC236}">
              <a16:creationId xmlns:a16="http://schemas.microsoft.com/office/drawing/2014/main" id="{87016ADF-792F-CCA1-AA92-D17767A2AD1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29">
            <a:extLst>
              <a:ext uri="{FF2B5EF4-FFF2-40B4-BE49-F238E27FC236}">
                <a16:creationId xmlns:a16="http://schemas.microsoft.com/office/drawing/2014/main" id="{C5F006A6-8226-869F-CC6D-7DF09AF771C4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376809" y="1334279"/>
            <a:ext cx="11177401" cy="494550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1800" dirty="0">
                <a:latin typeface="Arial"/>
                <a:ea typeface="Arial"/>
                <a:cs typeface="Arial"/>
                <a:sym typeface="Arial"/>
              </a:rPr>
              <a:t>The timer controls: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endParaRPr lang="en-US" sz="1800" dirty="0">
              <a:latin typeface="Arial"/>
              <a:ea typeface="Arial"/>
              <a:cs typeface="Arial"/>
              <a:sym typeface="Arial"/>
            </a:endParaRP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r>
              <a:rPr lang="en-US" sz="1800" dirty="0">
                <a:latin typeface="Arial"/>
                <a:ea typeface="Arial"/>
                <a:cs typeface="Arial"/>
                <a:sym typeface="Arial"/>
              </a:rPr>
              <a:t>Control loop sampling rate ( user defined controller )</a:t>
            </a: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r>
              <a:rPr lang="en-US" sz="1800" dirty="0">
                <a:latin typeface="Arial"/>
                <a:ea typeface="Arial"/>
                <a:cs typeface="Arial"/>
                <a:sym typeface="Arial"/>
              </a:rPr>
              <a:t>Task scheduling</a:t>
            </a: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r>
              <a:rPr lang="en-US" sz="1800" dirty="0">
                <a:latin typeface="Arial"/>
                <a:ea typeface="Arial"/>
                <a:cs typeface="Arial"/>
                <a:sym typeface="Arial"/>
              </a:rPr>
              <a:t>PWM updates</a:t>
            </a: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endParaRPr lang="en-US" sz="1800" dirty="0">
              <a:latin typeface="Arial"/>
              <a:ea typeface="Arial"/>
              <a:cs typeface="Arial"/>
              <a:sym typeface="Arial"/>
            </a:endParaRP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endParaRPr lang="en-US" sz="1800" dirty="0">
              <a:latin typeface="Arial"/>
              <a:ea typeface="Arial"/>
              <a:cs typeface="Arial"/>
              <a:sym typeface="Arial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1800" dirty="0">
                <a:latin typeface="Arial"/>
                <a:ea typeface="Arial"/>
                <a:cs typeface="Arial"/>
                <a:sym typeface="Arial"/>
              </a:rPr>
              <a:t>Can control interrupt how often the software interrupts get called: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endParaRPr lang="en-US" sz="1800" dirty="0">
              <a:latin typeface="Arial"/>
              <a:ea typeface="Arial"/>
              <a:cs typeface="Arial"/>
              <a:sym typeface="Arial"/>
            </a:endParaRPr>
          </a:p>
          <a:p>
            <a:pPr marL="114300" indent="0" algn="l">
              <a:buNone/>
            </a:pPr>
            <a:r>
              <a:rPr lang="en-US" sz="1800" dirty="0">
                <a:solidFill>
                  <a:srgbClr val="3F7F5F"/>
                </a:solidFill>
                <a:latin typeface="Consolas" panose="020B0609020204030204" pitchFamily="49" charset="0"/>
              </a:rPr>
              <a:t>// Configure CPU-Timer 0, 1, and 2 to interrupt every given period:</a:t>
            </a:r>
          </a:p>
          <a:p>
            <a:pPr marL="114300" indent="0" algn="l">
              <a:buNone/>
            </a:pPr>
            <a:r>
              <a:rPr lang="en-US" sz="1800" dirty="0">
                <a:solidFill>
                  <a:srgbClr val="3F7F5F"/>
                </a:solidFill>
                <a:latin typeface="Consolas" panose="020B0609020204030204" pitchFamily="49" charset="0"/>
              </a:rPr>
              <a:t>// 200MHz CPU </a:t>
            </a:r>
            <a:r>
              <a:rPr lang="en-US" sz="1800" u="sng" dirty="0">
                <a:solidFill>
                  <a:srgbClr val="3F7F5F"/>
                </a:solidFill>
                <a:latin typeface="Consolas" panose="020B0609020204030204" pitchFamily="49" charset="0"/>
              </a:rPr>
              <a:t>Freq,                       Period (in </a:t>
            </a:r>
            <a:r>
              <a:rPr lang="en-US" sz="1800" u="sng" dirty="0" err="1">
                <a:solidFill>
                  <a:srgbClr val="3F7F5F"/>
                </a:solidFill>
                <a:latin typeface="Consolas" panose="020B0609020204030204" pitchFamily="49" charset="0"/>
              </a:rPr>
              <a:t>uSeconds</a:t>
            </a:r>
            <a:r>
              <a:rPr lang="en-US" sz="1800" u="sng" dirty="0">
                <a:solidFill>
                  <a:srgbClr val="3F7F5F"/>
                </a:solidFill>
                <a:latin typeface="Consolas" panose="020B0609020204030204" pitchFamily="49" charset="0"/>
              </a:rPr>
              <a:t>)</a:t>
            </a:r>
          </a:p>
          <a:p>
            <a:pPr marL="114300" indent="0" algn="l">
              <a:buNone/>
            </a:pPr>
            <a:r>
              <a:rPr lang="en-US" sz="1800" dirty="0" err="1">
                <a:solidFill>
                  <a:srgbClr val="642880"/>
                </a:solidFill>
                <a:latin typeface="Consolas" panose="020B0609020204030204" pitchFamily="49" charset="0"/>
              </a:rPr>
              <a:t>ConfigCpuTimer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(&amp;CpuTimer0, LAUNCHPAD_CPU_FREQUENCY, 10000);</a:t>
            </a:r>
          </a:p>
          <a:p>
            <a:pPr marL="114300" indent="0" algn="l">
              <a:buNone/>
            </a:pPr>
            <a:r>
              <a:rPr lang="en-US" sz="1800" dirty="0" err="1">
                <a:solidFill>
                  <a:srgbClr val="642880"/>
                </a:solidFill>
                <a:latin typeface="Consolas" panose="020B0609020204030204" pitchFamily="49" charset="0"/>
              </a:rPr>
              <a:t>ConfigCpuTimer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(&amp;CpuTimer1, LAUNCHPAD_CPU_FREQUENCY, 20000);</a:t>
            </a:r>
          </a:p>
          <a:p>
            <a:pPr marL="114300" indent="0" algn="l">
              <a:buNone/>
            </a:pPr>
            <a:r>
              <a:rPr lang="en-US" sz="1800" dirty="0" err="1">
                <a:solidFill>
                  <a:srgbClr val="642880"/>
                </a:solidFill>
                <a:latin typeface="Consolas" panose="020B0609020204030204" pitchFamily="49" charset="0"/>
              </a:rPr>
              <a:t>ConfigCpuTimer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(&amp;CpuTimer2, LAUNCHPAD_CPU_FREQUENCY, 40000);</a:t>
            </a:r>
            <a:endParaRPr lang="en-US" sz="1800" dirty="0">
              <a:latin typeface="Arial"/>
              <a:ea typeface="Arial"/>
              <a:cs typeface="Arial"/>
              <a:sym typeface="Arial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endParaRPr lang="en-US" sz="1800" dirty="0">
              <a:latin typeface="Arial"/>
              <a:ea typeface="Arial"/>
              <a:cs typeface="Arial"/>
              <a:sym typeface="Arial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endParaRPr lang="en-US" sz="1800" dirty="0"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9" name="Google Shape;119;p29">
            <a:extLst>
              <a:ext uri="{FF2B5EF4-FFF2-40B4-BE49-F238E27FC236}">
                <a16:creationId xmlns:a16="http://schemas.microsoft.com/office/drawing/2014/main" id="{7C13347D-81DD-2C1F-7B05-1EF26AA8E022}"/>
              </a:ext>
            </a:extLst>
          </p:cNvPr>
          <p:cNvSpPr/>
          <p:nvPr/>
        </p:nvSpPr>
        <p:spPr>
          <a:xfrm rot="10800000" flipH="1">
            <a:off x="0" y="0"/>
            <a:ext cx="12192000" cy="868220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rgbClr val="13294B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29">
            <a:extLst>
              <a:ext uri="{FF2B5EF4-FFF2-40B4-BE49-F238E27FC236}">
                <a16:creationId xmlns:a16="http://schemas.microsoft.com/office/drawing/2014/main" id="{06562AB7-600D-841A-B491-FB2AE150429B}"/>
              </a:ext>
            </a:extLst>
          </p:cNvPr>
          <p:cNvSpPr txBox="1"/>
          <p:nvPr/>
        </p:nvSpPr>
        <p:spPr>
          <a:xfrm>
            <a:off x="376810" y="204051"/>
            <a:ext cx="10910026" cy="46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lang="en-US" sz="2400" b="0" i="0" u="none" strike="noStrike" cap="none" dirty="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What is a timer?</a:t>
            </a:r>
            <a:endParaRPr sz="2400" b="0" i="0" u="none" strike="noStrike" cap="none" dirty="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21" name="Google Shape;121;p29">
            <a:extLst>
              <a:ext uri="{FF2B5EF4-FFF2-40B4-BE49-F238E27FC236}">
                <a16:creationId xmlns:a16="http://schemas.microsoft.com/office/drawing/2014/main" id="{96E730D0-44C7-EC82-7138-C3802602FF7E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1557509" y="233819"/>
            <a:ext cx="271308" cy="389810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29">
            <a:extLst>
              <a:ext uri="{FF2B5EF4-FFF2-40B4-BE49-F238E27FC236}">
                <a16:creationId xmlns:a16="http://schemas.microsoft.com/office/drawing/2014/main" id="{877CC407-3551-B507-97A4-8F6D91AC5803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23" name="Google Shape;123;p29">
            <a:extLst>
              <a:ext uri="{FF2B5EF4-FFF2-40B4-BE49-F238E27FC236}">
                <a16:creationId xmlns:a16="http://schemas.microsoft.com/office/drawing/2014/main" id="{F966AF9F-3916-2F50-2804-4F737D0587C1}"/>
              </a:ext>
            </a:extLst>
          </p:cNvPr>
          <p:cNvSpPr txBox="1"/>
          <p:nvPr/>
        </p:nvSpPr>
        <p:spPr>
          <a:xfrm>
            <a:off x="376807" y="6524381"/>
            <a:ext cx="7991337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13294B"/>
                </a:solidFill>
              </a:rPr>
              <a:t>SYSTEMS ENGINEERING </a:t>
            </a:r>
            <a:endParaRPr dirty="0"/>
          </a:p>
        </p:txBody>
      </p:sp>
      <p:grpSp>
        <p:nvGrpSpPr>
          <p:cNvPr id="124" name="Google Shape;124;p29">
            <a:extLst>
              <a:ext uri="{FF2B5EF4-FFF2-40B4-BE49-F238E27FC236}">
                <a16:creationId xmlns:a16="http://schemas.microsoft.com/office/drawing/2014/main" id="{41A7FF96-5EBD-79A0-EA80-CD77D906CD26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125" name="Google Shape;125;p29">
              <a:extLst>
                <a:ext uri="{FF2B5EF4-FFF2-40B4-BE49-F238E27FC236}">
                  <a16:creationId xmlns:a16="http://schemas.microsoft.com/office/drawing/2014/main" id="{DD274538-35A5-F814-1DC7-4B679DA92293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rgbClr val="13294B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26" name="Google Shape;126;p29">
              <a:extLst>
                <a:ext uri="{FF2B5EF4-FFF2-40B4-BE49-F238E27FC236}">
                  <a16:creationId xmlns:a16="http://schemas.microsoft.com/office/drawing/2014/main" id="{82BD0738-AF42-4397-DA92-9C081ABA6AAF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rgbClr val="13294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583109436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>
            <a:alphaModFix/>
          </a:blip>
          <a:stretch>
            <a:fillRect/>
          </a:stretch>
        </a:blipFill>
        <a:effectLst/>
      </p:bgPr>
    </p:bg>
    <p:spTree>
      <p:nvGrpSpPr>
        <p:cNvPr id="1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37"/>
          <p:cNvSpPr txBox="1"/>
          <p:nvPr/>
        </p:nvSpPr>
        <p:spPr>
          <a:xfrm>
            <a:off x="2345961" y="2638799"/>
            <a:ext cx="7640969" cy="158040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lvl="0" algn="ctr"/>
            <a:r>
              <a:rPr lang="en-US" sz="8800" b="1" dirty="0">
                <a:solidFill>
                  <a:schemeClr val="lt1"/>
                </a:solidFill>
              </a:rPr>
              <a:t>Questions</a:t>
            </a:r>
            <a:r>
              <a:rPr lang="en-US" sz="7200" b="1" dirty="0">
                <a:solidFill>
                  <a:schemeClr val="lt1"/>
                </a:solidFill>
              </a:rPr>
              <a:t>?</a:t>
            </a:r>
          </a:p>
        </p:txBody>
      </p:sp>
      <p:pic>
        <p:nvPicPr>
          <p:cNvPr id="265" name="Google Shape;265;p37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1557509" y="233819"/>
            <a:ext cx="271308" cy="389810"/>
          </a:xfrm>
          <a:prstGeom prst="rect">
            <a:avLst/>
          </a:prstGeom>
          <a:noFill/>
          <a:ln>
            <a:noFill/>
          </a:ln>
        </p:spPr>
      </p:pic>
      <p:sp>
        <p:nvSpPr>
          <p:cNvPr id="266" name="Google Shape;266;p37"/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267" name="Google Shape;267;p37"/>
          <p:cNvSpPr txBox="1"/>
          <p:nvPr/>
        </p:nvSpPr>
        <p:spPr>
          <a:xfrm>
            <a:off x="376807" y="6524381"/>
            <a:ext cx="7991337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chemeClr val="lt1"/>
                </a:solidFill>
              </a:rPr>
              <a:t>SYSTEMS ENGINEERING </a:t>
            </a:r>
            <a:endParaRPr dirty="0"/>
          </a:p>
        </p:txBody>
      </p:sp>
      <p:grpSp>
        <p:nvGrpSpPr>
          <p:cNvPr id="268" name="Google Shape;268;p37"/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269" name="Google Shape;269;p37"/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270" name="Google Shape;270;p37"/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>
            <a:alphaModFix/>
          </a:blip>
          <a:stretch>
            <a:fillRect/>
          </a:stretch>
        </a:blipFill>
        <a:effectLst/>
      </p:bgPr>
    </p:bg>
    <p:spTree>
      <p:nvGrpSpPr>
        <p:cNvPr id="1" name="Shape 2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75" name="Google Shape;275;p38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2259350" y="2791508"/>
            <a:ext cx="5414193" cy="127498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333</TotalTime>
  <Words>2038</Words>
  <Application>Microsoft Office PowerPoint</Application>
  <PresentationFormat>Widescreen</PresentationFormat>
  <Paragraphs>452</Paragraphs>
  <Slides>27</Slides>
  <Notes>27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27</vt:i4>
      </vt:variant>
    </vt:vector>
  </HeadingPairs>
  <TitlesOfParts>
    <vt:vector size="31" baseType="lpstr">
      <vt:lpstr>Arial</vt:lpstr>
      <vt:lpstr>Calibri</vt:lpstr>
      <vt:lpstr>Consolas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>Nielsen, Joshua</dc:creator>
  <cp:lastModifiedBy>Juston, Marius F</cp:lastModifiedBy>
  <cp:revision>120</cp:revision>
  <dcterms:created xsi:type="dcterms:W3CDTF">2019-01-14T22:06:33Z</dcterms:created>
  <dcterms:modified xsi:type="dcterms:W3CDTF">2026-01-25T10:23:04Z</dcterms:modified>
</cp:coreProperties>
</file>