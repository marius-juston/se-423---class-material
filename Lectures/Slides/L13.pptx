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5"/>
  </p:notesMasterIdLst>
  <p:sldIdLst>
    <p:sldId id="256" r:id="rId2"/>
    <p:sldId id="417" r:id="rId3"/>
    <p:sldId id="413" r:id="rId4"/>
    <p:sldId id="272" r:id="rId5"/>
    <p:sldId id="440" r:id="rId6"/>
    <p:sldId id="442" r:id="rId7"/>
    <p:sldId id="258" r:id="rId8"/>
    <p:sldId id="420" r:id="rId9"/>
    <p:sldId id="419" r:id="rId10"/>
    <p:sldId id="426" r:id="rId11"/>
    <p:sldId id="423" r:id="rId12"/>
    <p:sldId id="422" r:id="rId13"/>
    <p:sldId id="424" r:id="rId14"/>
    <p:sldId id="425" r:id="rId15"/>
    <p:sldId id="441" r:id="rId16"/>
    <p:sldId id="429" r:id="rId17"/>
    <p:sldId id="430" r:id="rId18"/>
    <p:sldId id="437" r:id="rId19"/>
    <p:sldId id="421" r:id="rId20"/>
    <p:sldId id="428" r:id="rId21"/>
    <p:sldId id="427" r:id="rId22"/>
    <p:sldId id="418" r:id="rId23"/>
    <p:sldId id="432" r:id="rId24"/>
    <p:sldId id="431" r:id="rId25"/>
    <p:sldId id="433" r:id="rId26"/>
    <p:sldId id="443" r:id="rId27"/>
    <p:sldId id="434" r:id="rId28"/>
    <p:sldId id="435" r:id="rId29"/>
    <p:sldId id="438" r:id="rId30"/>
    <p:sldId id="439" r:id="rId31"/>
    <p:sldId id="444" r:id="rId32"/>
    <p:sldId id="445" r:id="rId33"/>
    <p:sldId id="446" r:id="rId34"/>
    <p:sldId id="447" r:id="rId35"/>
    <p:sldId id="448" r:id="rId36"/>
    <p:sldId id="449" r:id="rId37"/>
    <p:sldId id="450" r:id="rId38"/>
    <p:sldId id="451" r:id="rId39"/>
    <p:sldId id="452" r:id="rId40"/>
    <p:sldId id="454" r:id="rId41"/>
    <p:sldId id="455" r:id="rId42"/>
    <p:sldId id="271" r:id="rId43"/>
    <p:sldId id="270" r:id="rId4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7AFF886-F560-8B59-4ACB-60C130D5BA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14BE3A-0385-6AC3-4DFC-77061E22301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153BDEA8-4CC3-0DC9-B742-8F937F153D2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62510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1513FDB-8A2A-9ECB-C9EE-EB055F252F0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1D15087-40ED-AC6E-C6AB-99B3BB8DC5B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16B1CF0A-0DE5-C4E1-A793-D739157857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59196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3FE5DFB-C003-A719-1B2E-43AE28019C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533F0A7-998E-67A9-90C0-70F6AE7BD6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5EB7389B-DB50-F026-664F-9E0E60164B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63349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B0F1CCE-276A-3855-A9AB-61646F76034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C455BB7-B80C-56B6-C712-D228B61A038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294BAF93-37E3-BEAC-B633-3C8AD7EF0F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455819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09BADC-C5EE-A953-A49C-FA5A80C7B81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6347FAA-033B-5CAB-2DBD-537B35126C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E8F12E41-7B81-DC65-9BD3-A2D27E9A04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2611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92D4B74-6C56-42D4-2C29-CDD721964B1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E013CB4-ECFE-71E0-1639-B3FB388CB14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ACAF8A9F-B526-2F07-CF3E-7B74DF112F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300039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17D5111-ED53-97BA-7352-7C4FBDB896D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1452289-1C13-7A64-6215-2D539784790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ED19C883-B5D6-7EEC-06D1-779D02C0A4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51399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439AF06-19D4-1678-95EF-0510C0DAF4C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C36DD8E-A99B-92ED-0A1A-292DB435A5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43B3522E-0EFA-C0F7-B4E8-93B1E62C08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06728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238ADF-D91B-0600-7036-18DDCACECE0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9826717-6317-D72C-CACC-7F228F3978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092A44F-A154-1C63-C254-C15283FAC2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10785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C397BEE-783C-76FF-BDCE-D7A24289B10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3967819-AA1B-65B1-AD07-8726270BF7D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71D8DD64-FAD9-0EC3-C020-9E28741F0B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59638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3F663CD-3692-7A0D-8804-B817EB4A42B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3FCF36B-3AB6-D3F3-2D53-66F59325835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6B253B73-414A-8F94-9B23-9B2A4C35B5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6185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861E7F0-FD22-E2E0-E153-6EF75F65AF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6FA83DA-0842-1C28-DD3C-D733668ACC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A23FC7E3-34D9-9DE0-F30E-001E54D3555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505546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1785DC7-361D-056A-EF17-EAC2EA64501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98FA0E-4CFE-C301-CB69-D660F579FFA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14BA3CC-822A-4260-79EB-58E474B265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101494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EAF209A-C3E5-88C9-A8B5-30F35202407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F06E5FF-F3A1-DC4A-82A3-3F9774BB197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7018F9CC-19CE-DB8D-07AB-955AC6C515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760122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73796A-F94D-83F8-74F6-9B01D1C6B22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3B333B4-DED4-92A9-6CCB-C71C099D3D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C7575118-4613-D248-7832-FC3BD3E017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521145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796F3BF-FA49-7AD2-61F6-DE0E30B3D49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D5B06B-C833-611D-D9CB-16485A7FC3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561D7DF6-463C-4F05-41B6-9296775B2A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43782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EC1D9EA-42EA-19C3-2972-5B0785A6C6A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46BBE7E-DA55-F6FC-5C21-126685D3AA2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26EF83F2-35C1-3AB6-E986-0415CE545A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154961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2C832DD-EDBE-D80E-D3C1-C49F370016F8}"/>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EF422FDF-85F7-A5C3-B141-000A5785CCC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A606B115-5488-EA09-8DE6-0018E90FC90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41255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BC0C23D-7A3E-340D-E3E1-D6D3E6AE40E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2A60226-E207-CAEC-F41B-2543BF6A419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E179475F-B13C-0AB5-FD32-A30FB05064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497291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1EF16BE-E7AD-D510-84E0-2333A14C811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76B6FF0-0DA6-9C26-8FAF-21E0F83B9E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B1B06122-9F8C-53D3-2CDF-356F26C978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75897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5532C13-EFFC-5ADE-CD90-9349457A62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65249CB-BE83-6831-A5DC-01168B77DB4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74654209-CB08-9BBE-A464-70CD128E0D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527595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115FC0-2FC1-E1CD-E97D-261AA3E0740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0A1985A-4D6C-CE71-05F5-19C8178086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64D0932-B1CD-A574-EFF8-7A1A5DCC9B1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205131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CB4440F-8C28-8A5A-8586-7FA4F09A076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518C88D-679F-E2A0-3725-040F5E5679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C8AFF0CD-1B53-468A-B313-91CBE57F3F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31046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AEAAE72-420C-C089-B1AF-896EA171811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4ADE1CA-5DC2-9E78-BB8E-0DBACC7460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8EEA1D5A-EFAD-8159-EF85-29A13610D29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670401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B588265-0405-48C3-2A94-B43E25C904FF}"/>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A1314C23-2A3A-9DB9-4C0A-72D1D396C1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0C9F4E0-F067-DBED-F9D1-956953CA5F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002626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FDC0A17-03C0-A0FB-9084-FD64470FD4A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54DC8D3-A0D7-4D04-8C18-39E47ACB4A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DC414165-AC52-5280-568A-156D2A1CD62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444439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CDB20DE-4D81-C41A-2CB7-A28803C78FD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0902EAC-3CAF-CF96-81E7-A062ED69AD1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EF9D19AE-0F45-1B01-48F5-67B2E39E5BF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944700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D7E8BA0-F96E-58D5-2221-0EBACFB71CB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D0826FF-FFBE-5D71-AD28-017BCD7AEA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2CC98982-122B-8CA9-7476-57712E45E1D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677202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871FA5-FEFE-B0EE-D7BF-43508BC2246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B54B51F-C0A1-C3CD-23C0-6BB2290F848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D76CB638-AB92-A0FD-9BE7-B71AD058CC6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997624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1E08AB-8B36-C726-5DB7-F5C28DE63DD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2700AC1-B62B-06AF-D593-404C4EE76F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91DD36C8-9456-D3A8-21F6-9D5C01EB22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409532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4EB19EB-65B6-7F40-4F5C-E63B9546512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E6F22DB-17F0-2D5B-0058-2122CA0E89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C2C8E55-0AB2-69E7-4E06-3FA75232E01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159660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F26D02C-946D-1305-2037-5AD8A632AA4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BCC2E36-2E55-CD2D-09E9-1984E3456D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BEBA7248-299B-3FD2-B623-A333BA107E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14922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21B3885-6F20-B8CF-FB79-984700544BA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45AF543-7A36-EE53-FF09-D36B9B135FD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5E2BD208-2C07-8A10-41DE-9EA3C618A4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56026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FA83EBA-7479-12EE-061D-01B081C947E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3747C51-0BAD-3914-FBE4-DCD31C0F1F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94EF1EC2-408D-7FA1-017D-B5BAE5358F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4667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12D84CD-0BDC-19D8-2616-55B37C0E5B5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1C5AC9B-780C-44B0-57FB-65CAE55B6C6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0AE0D770-8069-BD05-56C0-7F8A6CCE43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534891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3C06BF1-FD20-1AB5-A508-2A884E0F68D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82E0440-9347-F352-90F6-B589021971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28BD611D-2E57-5409-7094-98DF75ED63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448857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hyperlink" Target="https://kuleuven-diepenbeek.github.io/osc-course/ch6-tasks/" TargetMode="External"/><Relationship Id="rId3" Type="http://schemas.openxmlformats.org/officeDocument/2006/relationships/hyperlink" Target="https://youtu.be/7ge7u5VUSbE?si=O0Uba2lTkLotpd87" TargetMode="External"/><Relationship Id="rId7" Type="http://schemas.openxmlformats.org/officeDocument/2006/relationships/hyperlink" Target="https://youtu.be/5sw9XJokAqw?si=IvZqqokTP5nwP-u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youtu.be/M9HHWFp84f0?si=NMBI0whrwmfuv7IA" TargetMode="External"/><Relationship Id="rId5" Type="http://schemas.openxmlformats.org/officeDocument/2006/relationships/hyperlink" Target="https://youtu.be/Y2mDwW2pMv4?si=BAZ74dU6Yn5dNik2" TargetMode="External"/><Relationship Id="rId4" Type="http://schemas.openxmlformats.org/officeDocument/2006/relationships/hyperlink" Target="https://youtu.be/LDhoD4IVElk?si=wzx11WVn2Ow84q__" TargetMode="External"/><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hyperlink" Target="https://www.youtube.com/watch?v=7ge7u5VUSb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hyperlink" Target="https://www.youtube.com/watch?v=7ge7u5VUSbE"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https://kuleuven-diepenbeek.github.io/osc-course/ch6-tasks/threads/" TargetMode="Externa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hyperlink" Target="https://kuleuven-diepenbeek.github.io/osc-course/ch6-tasks/threads/" TargetMode="Externa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ideo" Target="https://www.youtube.com/embed/hN2Yrf4tqTY?feature=oembed" TargetMode="External"/><Relationship Id="rId5" Type="http://schemas.openxmlformats.org/officeDocument/2006/relationships/image" Target="../media/image15.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s://kuleuven-diepenbeek.github.io/osc-course/ch6-tasks/interprocess/" TargetMode="External"/><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13: Thread &amp; Processes</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lt1"/>
                </a:solidFill>
                <a:latin typeface="Atkinson Hyperlegible Next"/>
                <a:ea typeface="Arial"/>
                <a:cs typeface="Arial"/>
                <a:sym typeface="Arial"/>
              </a:rPr>
              <a:t>Wednesday, </a:t>
            </a:r>
            <a:r>
              <a:rPr lang="en-US" sz="1800" b="0" i="0" u="none" strike="noStrike" cap="none">
                <a:solidFill>
                  <a:schemeClr val="lt1"/>
                </a:solidFill>
                <a:latin typeface="Atkinson Hyperlegible Next"/>
                <a:ea typeface="Arial"/>
                <a:cs typeface="Arial"/>
                <a:sym typeface="Arial"/>
              </a:rPr>
              <a:t>March 4</a:t>
            </a:r>
            <a:r>
              <a:rPr lang="en-US" sz="1800" b="0" i="0" u="none" strike="noStrike" cap="none" baseline="30000">
                <a:solidFill>
                  <a:schemeClr val="lt1"/>
                </a:solidFill>
                <a:latin typeface="Atkinson Hyperlegible Next"/>
                <a:ea typeface="Arial"/>
                <a:cs typeface="Arial"/>
                <a:sym typeface="Arial"/>
              </a:rPr>
              <a:t>rd</a:t>
            </a:r>
            <a:r>
              <a:rPr lang="en-US" sz="1800" b="0" i="0" u="none" strike="noStrike" cap="none" dirty="0">
                <a:solidFill>
                  <a:schemeClr val="lt1"/>
                </a:solidFill>
                <a:latin typeface="Atkinson Hyperlegible Next"/>
                <a:ea typeface="Arial"/>
                <a:cs typeface="Arial"/>
                <a:sym typeface="Aria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If you have </a:t>
            </a:r>
            <a:r>
              <a:rPr lang="en-US" sz="2400" dirty="0">
                <a:latin typeface="Atkinson Hyperlegible Next"/>
                <a:ea typeface="Arial"/>
                <a:cs typeface="Arial"/>
                <a:sym typeface="Arial"/>
              </a:rPr>
              <a:t>Timer </a:t>
            </a:r>
            <a:r>
              <a:rPr lang="en-US" sz="2400" dirty="0">
                <a:solidFill>
                  <a:schemeClr val="dk1"/>
                </a:solidFill>
                <a:latin typeface="Atkinson Hyperlegible Next"/>
                <a:ea typeface="Arial"/>
                <a:cs typeface="Arial"/>
                <a:sym typeface="Arial"/>
              </a:rPr>
              <a:t>0 </a:t>
            </a:r>
            <a:r>
              <a:rPr lang="en-US" sz="2400">
                <a:solidFill>
                  <a:schemeClr val="dk1"/>
                </a:solidFill>
                <a:latin typeface="Atkinson Hyperlegible Next"/>
                <a:ea typeface="Arial"/>
                <a:cs typeface="Arial"/>
                <a:sym typeface="Arial"/>
              </a:rPr>
              <a:t>and Timer 1 </a:t>
            </a:r>
            <a:r>
              <a:rPr lang="en-US" sz="2400" dirty="0">
                <a:solidFill>
                  <a:schemeClr val="dk1"/>
                </a:solidFill>
                <a:latin typeface="Atkinson Hyperlegible Next"/>
                <a:ea typeface="Arial"/>
                <a:cs typeface="Arial"/>
                <a:sym typeface="Arial"/>
              </a:rPr>
              <a:t>running at the exact same time in parallel and both are trying to write the robot’s position as (0, 1) and (1, 0) respectively to the same array. What is the worst-possible case that could happen?</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If you drive a car, why is it safer and more robust to separate the “where should I be” (localization) calculations from the “how much voltage goes to the steering motor” calculations rather than a single equation?</a:t>
            </a:r>
          </a:p>
          <a:p>
            <a:pPr marL="285750" indent="-28575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4 this week. This a 2-week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1, 2, 3 &amp; 4 are due </a:t>
            </a:r>
            <a:r>
              <a:rPr lang="en-US" sz="1800" b="1" dirty="0">
                <a:latin typeface="Atkinson Hyperlegible Next"/>
                <a:ea typeface="Arial"/>
                <a:cs typeface="Arial"/>
                <a:sym typeface="Arial"/>
              </a:rPr>
              <a:t>March 10,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C183D7F6-B498-43B3-948B-1728B52AA6E4}">
                <adec:decorative xmlns:adec="http://schemas.microsoft.com/office/drawing/2017/decorative" val="1"/>
              </a:ex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C1E3F16-51B8-D6F1-19AB-BA1ABDCC62F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515E8F3-0462-CB05-C21D-FC15F80BCB2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In future labs we will be using a more powerful microcontroller for doing some heavy computation such as handling camera image data and doing processing on this.</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be able to handle that data throughput we need to use something more complex, i.e., the Raspberry Pi.</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The Raspberry Pi is a multi-core Linux system with a lot more RAM.</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2400" dirty="0">
                <a:latin typeface="Atkinson Hyperlegible Next"/>
                <a:ea typeface="Arial"/>
                <a:cs typeface="Arial"/>
                <a:sym typeface="Arial"/>
              </a:rPr>
              <a:t>However, the Raspberry Pi more complex due to its modern architectural design choices so we need to somewhat understand it.</a:t>
            </a: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DCB1917-1370-A159-B9DC-6784B90EA71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FEE165A-FCBC-8CD6-8E35-88D0B333B6E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F860878-B682-0DB8-49BB-7CEF2E42A44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BFBD843-989C-2597-7AFC-09E8F377A0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E0F93CE-EF9D-B3FE-A832-9A342F6D3F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9F47145-4C77-7029-4B40-A02A399E087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012812F-DFEF-800A-935B-A143C252A0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00371D-69A1-F6FC-3FB5-85516FE5FB4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97594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D7BC157-8A41-4DF8-AEEF-64F967687CB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AE76569-0434-BD15-BF68-B146E1ECD5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CE82387-3A23-510F-6229-576AB040760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D2166D4-488E-3F4A-7ADC-179321B143E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187C4B0-4074-0634-90E9-C68EDCA5A4E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4755BB9-4080-D556-144A-DE4D2EA960D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E6D37AD-2F3D-8000-8DA4-ABAA9DADE63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DCD98D6-4927-DDDF-71E2-470A5A5A68E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361EF20-DBD4-57ED-374B-BECBBF5FB86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4" name="Graphic 23">
            <a:extLst>
              <a:ext uri="{FF2B5EF4-FFF2-40B4-BE49-F238E27FC236}">
                <a16:creationId xmlns:a16="http://schemas.microsoft.com/office/drawing/2014/main" id="{24356165-11B7-5CA3-9C3C-2FF29D036AC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58918" y="1003086"/>
            <a:ext cx="6380162" cy="5501654"/>
          </a:xfrm>
          <a:prstGeom prst="rect">
            <a:avLst/>
          </a:prstGeom>
        </p:spPr>
      </p:pic>
    </p:spTree>
    <p:extLst>
      <p:ext uri="{BB962C8B-B14F-4D97-AF65-F5344CB8AC3E}">
        <p14:creationId xmlns:p14="http://schemas.microsoft.com/office/powerpoint/2010/main" val="3094200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Threads &amp; Processes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CDC7B9E-D6B5-719A-3445-F657AFC037D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BE9B5E6-C9EC-AFE4-C086-3C272A6F12E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latin typeface="Atkinson Hyperlegible Next"/>
                <a:ea typeface="Arial"/>
                <a:cs typeface="Arial"/>
                <a:sym typeface="Arial"/>
              </a:rPr>
              <a:t>Warning</a:t>
            </a:r>
            <a:r>
              <a:rPr lang="en-US" sz="1800" dirty="0">
                <a:latin typeface="Atkinson Hyperlegible Next"/>
                <a:ea typeface="Arial"/>
                <a:cs typeface="Arial"/>
                <a:sym typeface="Arial"/>
              </a:rPr>
              <a:t>: This lecture is going to be very high level of what threads and processes are. </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There is an incredibly big rabbit hole of complexity. If you want to really understand things properly. I would highly recommend the following videos in order:</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342900" lvl="0">
              <a:lnSpc>
                <a:spcPct val="100000"/>
              </a:lnSpc>
              <a:spcBef>
                <a:spcPts val="0"/>
              </a:spcBef>
              <a:buSzPct val="100000"/>
              <a:buAutoNum type="arabicParenR"/>
            </a:pPr>
            <a:r>
              <a:rPr lang="en-US" sz="1400" dirty="0">
                <a:latin typeface="Atkinson Hyperlegible Next"/>
                <a:ea typeface="Arial"/>
                <a:cs typeface="Arial"/>
                <a:sym typeface="Arial"/>
              </a:rPr>
              <a:t>The definition of a process vs a program (8 min): </a:t>
            </a:r>
            <a:r>
              <a:rPr lang="en-US" sz="1400" dirty="0">
                <a:latin typeface="Atkinson Hyperlegible Next"/>
                <a:ea typeface="Arial"/>
                <a:cs typeface="Arial"/>
                <a:sym typeface="Arial"/>
                <a:hlinkClick r:id="rId3"/>
              </a:rPr>
              <a:t>https://youtu.be/7ge7u5VUSbE?si=O0Uba2lTkLotpd87</a:t>
            </a:r>
            <a:r>
              <a:rPr lang="en-US" sz="1400" dirty="0">
                <a:latin typeface="Atkinson Hyperlegible Next"/>
                <a:ea typeface="Arial"/>
                <a:cs typeface="Arial"/>
                <a:sym typeface="Arial"/>
              </a:rPr>
              <a:t> </a:t>
            </a:r>
          </a:p>
          <a:p>
            <a:pPr marL="342900" lvl="0">
              <a:lnSpc>
                <a:spcPct val="100000"/>
              </a:lnSpc>
              <a:spcBef>
                <a:spcPts val="0"/>
              </a:spcBef>
              <a:buSzPct val="100000"/>
              <a:buAutoNum type="arabicParenR"/>
            </a:pPr>
            <a:r>
              <a:rPr lang="en-US" sz="1400" dirty="0">
                <a:latin typeface="Atkinson Hyperlegible Next"/>
                <a:ea typeface="Arial"/>
                <a:cs typeface="Arial"/>
                <a:sym typeface="Arial"/>
              </a:rPr>
              <a:t>What a process actual and how it works (16 min): </a:t>
            </a:r>
            <a:r>
              <a:rPr lang="en-US" sz="1400" dirty="0">
                <a:latin typeface="Atkinson Hyperlegible Next"/>
                <a:ea typeface="Arial"/>
                <a:cs typeface="Arial"/>
                <a:sym typeface="Arial"/>
                <a:hlinkClick r:id="rId4"/>
              </a:rPr>
              <a:t>https://youtu.be/LDhoD4IVElk?si=wzx11WVn2Ow84q__</a:t>
            </a:r>
            <a:r>
              <a:rPr lang="en-US" sz="1400" dirty="0">
                <a:latin typeface="Atkinson Hyperlegible Next"/>
                <a:ea typeface="Arial"/>
                <a:cs typeface="Arial"/>
                <a:sym typeface="Arial"/>
              </a:rPr>
              <a:t> </a:t>
            </a:r>
          </a:p>
          <a:p>
            <a:pPr marL="342900" lvl="0">
              <a:lnSpc>
                <a:spcPct val="100000"/>
              </a:lnSpc>
              <a:spcBef>
                <a:spcPts val="0"/>
              </a:spcBef>
              <a:buSzPct val="100000"/>
              <a:buAutoNum type="arabicParenR"/>
            </a:pPr>
            <a:r>
              <a:rPr lang="en-US" sz="1400" dirty="0">
                <a:latin typeface="Atkinson Hyperlegible Next"/>
                <a:ea typeface="Arial"/>
                <a:cs typeface="Arial"/>
                <a:sym typeface="Arial"/>
              </a:rPr>
              <a:t>IPC to share memory between processes (14 min): </a:t>
            </a:r>
            <a:r>
              <a:rPr lang="en-US" sz="1400" dirty="0">
                <a:latin typeface="Atkinson Hyperlegible Next"/>
                <a:ea typeface="Arial"/>
                <a:cs typeface="Arial"/>
                <a:sym typeface="Arial"/>
                <a:hlinkClick r:id="rId5"/>
              </a:rPr>
              <a:t>https://youtu.be/Y2mDwW2pMv4?si=BAZ74dU6Yn5dNik2</a:t>
            </a:r>
            <a:r>
              <a:rPr lang="en-US" sz="1400" dirty="0">
                <a:latin typeface="Atkinson Hyperlegible Next"/>
                <a:ea typeface="Arial"/>
                <a:cs typeface="Arial"/>
                <a:sym typeface="Arial"/>
              </a:rPr>
              <a:t> </a:t>
            </a:r>
          </a:p>
          <a:p>
            <a:pPr marL="342900" lvl="0">
              <a:lnSpc>
                <a:spcPct val="100000"/>
              </a:lnSpc>
              <a:spcBef>
                <a:spcPts val="0"/>
              </a:spcBef>
              <a:buSzPct val="100000"/>
              <a:buAutoNum type="arabicParenR"/>
            </a:pPr>
            <a:r>
              <a:rPr lang="en-US" sz="1400" dirty="0">
                <a:latin typeface="Atkinson Hyperlegible Next"/>
                <a:ea typeface="Arial"/>
                <a:cs typeface="Arial"/>
                <a:sym typeface="Arial"/>
              </a:rPr>
              <a:t>What are threads, and how they work on single core processors (16 min): </a:t>
            </a:r>
            <a:r>
              <a:rPr lang="en-US" sz="1400" dirty="0">
                <a:latin typeface="Atkinson Hyperlegible Next"/>
                <a:ea typeface="Arial"/>
                <a:cs typeface="Arial"/>
                <a:sym typeface="Arial"/>
                <a:hlinkClick r:id="rId6"/>
              </a:rPr>
              <a:t>https://youtu.be/M9HHWFp84f0?si=NMBI0whrwmfuv7IA</a:t>
            </a:r>
            <a:r>
              <a:rPr lang="en-US" sz="1400" dirty="0">
                <a:latin typeface="Atkinson Hyperlegible Next"/>
                <a:ea typeface="Arial"/>
                <a:cs typeface="Arial"/>
                <a:sym typeface="Arial"/>
              </a:rPr>
              <a:t> </a:t>
            </a:r>
          </a:p>
          <a:p>
            <a:pPr marL="342900" lvl="0">
              <a:lnSpc>
                <a:spcPct val="100000"/>
              </a:lnSpc>
              <a:spcBef>
                <a:spcPts val="0"/>
              </a:spcBef>
              <a:buSzPct val="100000"/>
              <a:buAutoNum type="arabicParenR"/>
            </a:pPr>
            <a:r>
              <a:rPr lang="en-US" sz="1400" dirty="0">
                <a:latin typeface="Atkinson Hyperlegible Next"/>
                <a:ea typeface="Arial"/>
                <a:cs typeface="Arial"/>
                <a:sym typeface="Arial"/>
              </a:rPr>
              <a:t>Threads on multicore systems (11 min): </a:t>
            </a:r>
            <a:r>
              <a:rPr lang="en-US" sz="1400" dirty="0">
                <a:latin typeface="Atkinson Hyperlegible Next"/>
                <a:ea typeface="Arial"/>
                <a:cs typeface="Arial"/>
                <a:sym typeface="Arial"/>
                <a:hlinkClick r:id="rId7"/>
              </a:rPr>
              <a:t>https://youtu.be/5sw9XJokAqw?si=IvZqqokTP5nwP-uN</a:t>
            </a:r>
            <a:r>
              <a:rPr lang="en-US" sz="1400" dirty="0">
                <a:latin typeface="Atkinson Hyperlegible Next"/>
                <a:ea typeface="Arial"/>
                <a:cs typeface="Arial"/>
                <a:sym typeface="Arial"/>
              </a:rPr>
              <a:t> </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Total of 65 minutes.</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You can also practice and get additional details reading </a:t>
            </a:r>
            <a:r>
              <a:rPr lang="en-US" sz="1800" dirty="0">
                <a:latin typeface="Atkinson Hyperlegible Next"/>
                <a:ea typeface="Arial"/>
                <a:cs typeface="Arial"/>
                <a:sym typeface="Arial"/>
                <a:hlinkClick r:id="rId8"/>
              </a:rPr>
              <a:t>https://kuleuven-diepenbeek.github.io/osc-course/ch6-tasks/</a:t>
            </a:r>
            <a:r>
              <a:rPr lang="en-US" sz="1800" dirty="0">
                <a:latin typeface="Atkinson Hyperlegible Next"/>
                <a:ea typeface="Arial"/>
                <a:cs typeface="Arial"/>
                <a:sym typeface="Arial"/>
              </a:rPr>
              <a:t> </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61FC49C-363E-1518-EE0D-C14A627E31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BF29CFC-3BD9-4907-763D-FB88C6A806E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433AF55-A704-8553-EC43-9D0B3310F4C5}"/>
              </a:ext>
            </a:extLst>
          </p:cNvPr>
          <p:cNvPicPr preferRelativeResize="0"/>
          <p:nvPr/>
        </p:nvPicPr>
        <p:blipFill rotWithShape="1">
          <a:blip r:embed="rId9">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4B20395-0C2D-3C9F-6648-70856BB2BC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1271828-7934-3E1E-F124-3E54CF680D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1B99320-8820-0C63-606D-4B46BD57687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6C6BF32-0FA1-2108-8A9F-817D5749B8B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6AC8476-45AE-98F4-6925-AA0D1B82A9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4888029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027581C-0D73-7C46-C865-34BA9EBE48F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E77D6BC-02F8-AA14-11B6-3152B2A5C6D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A </a:t>
            </a:r>
            <a:r>
              <a:rPr lang="en-US" sz="3200" b="1" dirty="0">
                <a:latin typeface="Atkinson Hyperlegible Next"/>
                <a:ea typeface="Arial"/>
                <a:cs typeface="Arial"/>
                <a:sym typeface="Arial"/>
              </a:rPr>
              <a:t>process</a:t>
            </a:r>
            <a:r>
              <a:rPr lang="en-US" sz="3200" dirty="0">
                <a:latin typeface="Atkinson Hyperlegible Next"/>
                <a:ea typeface="Arial"/>
                <a:cs typeface="Arial"/>
                <a:sym typeface="Arial"/>
              </a:rPr>
              <a:t> is, informally “a program in execution”. </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A </a:t>
            </a:r>
            <a:r>
              <a:rPr lang="en-US" sz="3200" b="1" dirty="0">
                <a:latin typeface="Atkinson Hyperlegible Next"/>
                <a:ea typeface="Arial"/>
                <a:cs typeface="Arial"/>
                <a:sym typeface="Arial"/>
              </a:rPr>
              <a:t>program</a:t>
            </a:r>
            <a:r>
              <a:rPr lang="en-US" sz="3200" dirty="0">
                <a:latin typeface="Atkinson Hyperlegible Next"/>
                <a:ea typeface="Arial"/>
                <a:cs typeface="Arial"/>
                <a:sym typeface="Arial"/>
              </a:rPr>
              <a:t> is a set of CPU instructions and the data necessary for its task. Which is essential an executable file. It stays in your file storage waiting to be run.</a:t>
            </a:r>
          </a:p>
          <a:p>
            <a:pPr marL="0" lvl="0" indent="0" algn="l" rtl="0">
              <a:lnSpc>
                <a:spcPct val="100000"/>
              </a:lnSpc>
              <a:spcBef>
                <a:spcPts val="0"/>
              </a:spcBef>
              <a:spcAft>
                <a:spcPts val="0"/>
              </a:spcAft>
              <a:buSzPts val="3000"/>
              <a:buNone/>
            </a:pPr>
            <a:endParaRPr lang="en-US" sz="3200"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sz="3200" dirty="0">
                <a:latin typeface="Atkinson Hyperlegible Next"/>
                <a:ea typeface="Arial"/>
                <a:cs typeface="Arial"/>
                <a:sym typeface="Arial"/>
              </a:rPr>
              <a:t>When you run the program, it needs more than that data to be able to run its task which are placed in the heap and the stack, which change dynamically in size.</a:t>
            </a:r>
          </a:p>
        </p:txBody>
      </p:sp>
      <p:sp>
        <p:nvSpPr>
          <p:cNvPr id="119" name="Google Shape;119;p29">
            <a:extLst>
              <a:ext uri="{FF2B5EF4-FFF2-40B4-BE49-F238E27FC236}">
                <a16:creationId xmlns:a16="http://schemas.microsoft.com/office/drawing/2014/main" id="{14BD2305-77FA-E77F-A511-0493B667A3E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AC1D3F-8AA9-CA78-35CF-0E9F211B776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14C71DC-B7DD-738E-7898-466BB5025B4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D3CAAF-E763-2C68-9755-2C0C91B2BA5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BB86B1E-A333-F1FE-7CCE-39F1B51521D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486BC27-F47C-06F2-49E1-D894C4FF272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C3CE2B-9B53-9296-1D1B-B393FB891E2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3026E3-F689-3B04-8116-FCB56A9744A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54206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172D26C-2C3C-2081-130C-403B33B5FEA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FE96C07-C21C-4B93-80D8-ED1EB2BEED7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000" dirty="0">
                <a:latin typeface="Atkinson Hyperlegible Next"/>
                <a:ea typeface="Arial"/>
                <a:cs typeface="Arial"/>
                <a:sym typeface="Arial"/>
              </a:rPr>
              <a:t>The combination of a code, data, stack, heap, and some extra information the information is the </a:t>
            </a:r>
            <a:r>
              <a:rPr lang="en-US" sz="2000" b="1" dirty="0">
                <a:latin typeface="Atkinson Hyperlegible Next"/>
                <a:ea typeface="Arial"/>
                <a:cs typeface="Arial"/>
                <a:sym typeface="Arial"/>
              </a:rPr>
              <a:t>process</a:t>
            </a:r>
            <a:r>
              <a:rPr lang="en-US" sz="2000" dirty="0">
                <a:latin typeface="Atkinson Hyperlegible Next"/>
                <a:ea typeface="Arial"/>
                <a:cs typeface="Arial"/>
                <a:sym typeface="Arial"/>
              </a:rPr>
              <a:t>.</a:t>
            </a:r>
          </a:p>
          <a:p>
            <a:pPr marL="0" lvl="0" indent="0">
              <a:lnSpc>
                <a:spcPct val="100000"/>
              </a:lnSpc>
              <a:spcBef>
                <a:spcPts val="0"/>
              </a:spcBef>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Whenever you think of opening Google Chrome, </a:t>
            </a:r>
            <a:r>
              <a:rPr lang="en-US" sz="2000" dirty="0" err="1">
                <a:latin typeface="Atkinson Hyperlegible Next"/>
                <a:ea typeface="Arial"/>
                <a:cs typeface="Arial"/>
                <a:sym typeface="Arial"/>
              </a:rPr>
              <a:t>VSCode</a:t>
            </a:r>
            <a:r>
              <a:rPr lang="en-US" sz="2000" dirty="0">
                <a:latin typeface="Atkinson Hyperlegible Next"/>
                <a:ea typeface="Arial"/>
                <a:cs typeface="Arial"/>
                <a:sym typeface="Arial"/>
              </a:rPr>
              <a:t>, </a:t>
            </a:r>
            <a:r>
              <a:rPr lang="en-US" sz="2000" dirty="0" err="1">
                <a:latin typeface="Atkinson Hyperlegible Next"/>
                <a:ea typeface="Arial"/>
                <a:cs typeface="Arial"/>
                <a:sym typeface="Arial"/>
              </a:rPr>
              <a:t>CodeComposer</a:t>
            </a:r>
            <a:r>
              <a:rPr lang="en-US" sz="2000" dirty="0">
                <a:latin typeface="Atkinson Hyperlegible Next"/>
                <a:ea typeface="Arial"/>
                <a:cs typeface="Arial"/>
                <a:sym typeface="Arial"/>
              </a:rPr>
              <a:t> and the likes. You are starting a process from a program.</a:t>
            </a:r>
          </a:p>
          <a:p>
            <a:pPr marL="0" lvl="0" indent="0">
              <a:lnSpc>
                <a:spcPct val="100000"/>
              </a:lnSpc>
              <a:spcBef>
                <a:spcPts val="0"/>
              </a:spcBef>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The “.exe” represents the program and then an instance of </a:t>
            </a:r>
            <a:r>
              <a:rPr lang="en-US" sz="2000" dirty="0" err="1">
                <a:latin typeface="Atkinson Hyperlegible Next"/>
                <a:ea typeface="Arial"/>
                <a:cs typeface="Arial"/>
                <a:sym typeface="Arial"/>
              </a:rPr>
              <a:t>VSCode</a:t>
            </a:r>
            <a:r>
              <a:rPr lang="en-US" sz="2000" dirty="0">
                <a:latin typeface="Atkinson Hyperlegible Next"/>
                <a:ea typeface="Arial"/>
                <a:cs typeface="Arial"/>
                <a:sym typeface="Arial"/>
              </a:rPr>
              <a:t> represents a process. As you add more tabs or write more code, the editor’s heap / stack size increases, differing from the initial program.</a:t>
            </a:r>
          </a:p>
          <a:p>
            <a:pPr marL="0" lvl="0" indent="0">
              <a:lnSpc>
                <a:spcPct val="100000"/>
              </a:lnSpc>
              <a:spcBef>
                <a:spcPts val="0"/>
              </a:spcBef>
              <a:buSzPts val="3000"/>
              <a:buNone/>
            </a:pPr>
            <a:endParaRPr lang="en-US" sz="2000" dirty="0">
              <a:latin typeface="Atkinson Hyperlegible Next"/>
              <a:ea typeface="Arial"/>
              <a:cs typeface="Arial"/>
              <a:sym typeface="Arial"/>
            </a:endParaRPr>
          </a:p>
          <a:p>
            <a:pPr marL="0" lvl="0" indent="0">
              <a:lnSpc>
                <a:spcPct val="100000"/>
              </a:lnSpc>
              <a:spcBef>
                <a:spcPts val="0"/>
              </a:spcBef>
              <a:buSzPts val="3000"/>
              <a:buNone/>
            </a:pPr>
            <a:r>
              <a:rPr lang="en-US" sz="2000" dirty="0">
                <a:latin typeface="Atkinson Hyperlegible Next"/>
                <a:ea typeface="Arial"/>
                <a:cs typeface="Arial"/>
                <a:sym typeface="Arial"/>
              </a:rPr>
              <a:t>The CPU then cycles between the running process and switches the context that it is looking at.</a:t>
            </a:r>
          </a:p>
        </p:txBody>
      </p:sp>
      <p:sp>
        <p:nvSpPr>
          <p:cNvPr id="119" name="Google Shape;119;p29">
            <a:extLst>
              <a:ext uri="{FF2B5EF4-FFF2-40B4-BE49-F238E27FC236}">
                <a16:creationId xmlns:a16="http://schemas.microsoft.com/office/drawing/2014/main" id="{805DFAE5-41EE-DB8D-16EE-D5C6C012973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1164221-BA2C-349A-C9C0-67EEA69B908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52F6AB1-51F2-AF4D-C6A4-4EB0D776D99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94E866C-BC44-6B27-D499-E88AC40BCB5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2CDFEB3-EAFC-1F22-B18A-D71B10E47A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2FE79E9-DB19-FCEE-AF8A-96BD7084460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7C13BDD-4B10-5A31-C51E-D465326CA5E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5067003-C25F-1B7F-3924-73BFE06AA2E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874751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0FD7469-3CA5-9518-72BC-5E6DE842CD5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AF032B92-4308-ABB7-D3D7-9FBE166434E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B783E3-58F6-C252-65FF-A86041805A5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AF31709-F770-CD0E-8D90-D8A6C9396F6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5727398-17D9-D751-7597-00F93E2FBF5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7C3F289-57A7-7D94-BBD2-E4B93E50045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6F82AB-37C8-61D1-296A-1358F0EAFED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9EA997C-47D2-DBCA-068C-CBA8FD4C935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373F726-913D-50C3-C3A9-9781F676F75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37FA345C-4752-80EA-4EE5-96ACE5EA7976}"/>
              </a:ext>
            </a:extLst>
          </p:cNvPr>
          <p:cNvSpPr>
            <a:spLocks noGrp="1"/>
          </p:cNvSpPr>
          <p:nvPr>
            <p:ph type="body" idx="1"/>
          </p:nvPr>
        </p:nvSpPr>
        <p:spPr>
          <a:xfrm>
            <a:off x="4571422" y="6210300"/>
            <a:ext cx="3049156" cy="391237"/>
          </a:xfrm>
        </p:spPr>
        <p:txBody>
          <a:bodyPr>
            <a:normAutofit/>
          </a:bodyPr>
          <a:lstStyle/>
          <a:p>
            <a:pPr marL="114300" indent="0" algn="ctr">
              <a:buNone/>
            </a:pPr>
            <a:r>
              <a:rPr lang="en-US" sz="1000" dirty="0">
                <a:hlinkClick r:id="rId4"/>
              </a:rPr>
              <a:t>https://www.youtube.com/watch?v=7ge7u5VUSbE</a:t>
            </a:r>
            <a:r>
              <a:rPr lang="en-US" sz="1000" dirty="0"/>
              <a:t> </a:t>
            </a:r>
          </a:p>
        </p:txBody>
      </p:sp>
      <p:pic>
        <p:nvPicPr>
          <p:cNvPr id="5" name="Picture 4">
            <a:extLst>
              <a:ext uri="{FF2B5EF4-FFF2-40B4-BE49-F238E27FC236}">
                <a16:creationId xmlns:a16="http://schemas.microsoft.com/office/drawing/2014/main" id="{A38C60A1-C66E-CE47-28E4-763F4132E6BF}"/>
              </a:ext>
            </a:extLst>
          </p:cNvPr>
          <p:cNvPicPr>
            <a:picLocks noChangeAspect="1"/>
          </p:cNvPicPr>
          <p:nvPr/>
        </p:nvPicPr>
        <p:blipFill>
          <a:blip r:embed="rId5"/>
          <a:srcRect/>
          <a:stretch/>
        </p:blipFill>
        <p:spPr>
          <a:xfrm>
            <a:off x="6980996" y="899495"/>
            <a:ext cx="4712167" cy="5420764"/>
          </a:xfrm>
          <a:prstGeom prst="rect">
            <a:avLst/>
          </a:prstGeom>
        </p:spPr>
      </p:pic>
      <p:pic>
        <p:nvPicPr>
          <p:cNvPr id="4" name="Picture 3">
            <a:extLst>
              <a:ext uri="{FF2B5EF4-FFF2-40B4-BE49-F238E27FC236}">
                <a16:creationId xmlns:a16="http://schemas.microsoft.com/office/drawing/2014/main" id="{5AAA68F8-9D75-7853-D652-AFBB9C534ED2}"/>
              </a:ext>
            </a:extLst>
          </p:cNvPr>
          <p:cNvPicPr>
            <a:picLocks noChangeAspect="1"/>
          </p:cNvPicPr>
          <p:nvPr/>
        </p:nvPicPr>
        <p:blipFill>
          <a:blip r:embed="rId6"/>
          <a:stretch>
            <a:fillRect/>
          </a:stretch>
        </p:blipFill>
        <p:spPr>
          <a:xfrm>
            <a:off x="95693" y="1961024"/>
            <a:ext cx="6885303" cy="3303126"/>
          </a:xfrm>
          <a:prstGeom prst="rect">
            <a:avLst/>
          </a:prstGeom>
        </p:spPr>
      </p:pic>
    </p:spTree>
    <p:extLst>
      <p:ext uri="{BB962C8B-B14F-4D97-AF65-F5344CB8AC3E}">
        <p14:creationId xmlns:p14="http://schemas.microsoft.com/office/powerpoint/2010/main" val="2600929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0BC310-7EE0-0780-9A81-003DCFCB0A0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23FB07C-5ED3-7B91-60D7-D3DFD4C2D7C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3A6B4A9-6919-E3FE-71A9-5A9EF61805A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B78BA1D-4C81-9ED9-E2EC-49F3177C380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F8C6808-E087-E9C0-2384-98DB040D048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8159048-8A6D-BE9C-80CA-2EDB775345A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8CD1EC3-C513-982E-BB8E-C01DD38D1C9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7B46D53-5A72-FCB7-E384-6BCB5972093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C7F32A-2B33-152F-D0C0-4B4F11ECE8D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 Placeholder 2">
            <a:extLst>
              <a:ext uri="{FF2B5EF4-FFF2-40B4-BE49-F238E27FC236}">
                <a16:creationId xmlns:a16="http://schemas.microsoft.com/office/drawing/2014/main" id="{58591162-ECC0-2633-3413-7FEC7AAB29E7}"/>
              </a:ext>
            </a:extLst>
          </p:cNvPr>
          <p:cNvSpPr>
            <a:spLocks noGrp="1"/>
          </p:cNvSpPr>
          <p:nvPr>
            <p:ph type="body" idx="1"/>
          </p:nvPr>
        </p:nvSpPr>
        <p:spPr>
          <a:xfrm>
            <a:off x="4571422" y="6210300"/>
            <a:ext cx="3049156" cy="391237"/>
          </a:xfrm>
        </p:spPr>
        <p:txBody>
          <a:bodyPr>
            <a:normAutofit/>
          </a:bodyPr>
          <a:lstStyle/>
          <a:p>
            <a:pPr marL="114300" indent="0" algn="ctr">
              <a:buNone/>
            </a:pPr>
            <a:r>
              <a:rPr lang="en-US" sz="1000" dirty="0">
                <a:hlinkClick r:id="rId4"/>
              </a:rPr>
              <a:t>https://www.youtube.com/watch?v=7ge7u5VUSbE</a:t>
            </a:r>
            <a:r>
              <a:rPr lang="en-US" sz="1000" dirty="0"/>
              <a:t> </a:t>
            </a:r>
          </a:p>
        </p:txBody>
      </p:sp>
      <p:pic>
        <p:nvPicPr>
          <p:cNvPr id="5" name="Picture 4">
            <a:extLst>
              <a:ext uri="{FF2B5EF4-FFF2-40B4-BE49-F238E27FC236}">
                <a16:creationId xmlns:a16="http://schemas.microsoft.com/office/drawing/2014/main" id="{F96529A1-B40E-A8F2-D80D-74408277B80A}"/>
              </a:ext>
            </a:extLst>
          </p:cNvPr>
          <p:cNvPicPr>
            <a:picLocks noChangeAspect="1"/>
          </p:cNvPicPr>
          <p:nvPr/>
        </p:nvPicPr>
        <p:blipFill>
          <a:blip r:embed="rId5"/>
          <a:stretch>
            <a:fillRect/>
          </a:stretch>
        </p:blipFill>
        <p:spPr>
          <a:xfrm>
            <a:off x="1136873" y="906290"/>
            <a:ext cx="9918254" cy="5420764"/>
          </a:xfrm>
          <a:prstGeom prst="rect">
            <a:avLst/>
          </a:prstGeom>
        </p:spPr>
      </p:pic>
    </p:spTree>
    <p:extLst>
      <p:ext uri="{BB962C8B-B14F-4D97-AF65-F5344CB8AC3E}">
        <p14:creationId xmlns:p14="http://schemas.microsoft.com/office/powerpoint/2010/main" val="6888321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A200502-3639-1A9A-55C7-EC77CF23B27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71DFD30-25DD-F697-8DDE-A5D26001B96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A </a:t>
            </a:r>
            <a:r>
              <a:rPr lang="en-US" b="1" dirty="0">
                <a:latin typeface="Atkinson Hyperlegible Next"/>
                <a:ea typeface="Arial"/>
                <a:cs typeface="Arial"/>
                <a:sym typeface="Arial"/>
              </a:rPr>
              <a:t>thread</a:t>
            </a:r>
            <a:r>
              <a:rPr lang="en-US" dirty="0">
                <a:latin typeface="Atkinson Hyperlegible Next"/>
                <a:ea typeface="Arial"/>
                <a:cs typeface="Arial"/>
                <a:sym typeface="Arial"/>
              </a:rPr>
              <a:t> is the smallest unit of a process.</a:t>
            </a:r>
          </a:p>
          <a:p>
            <a:pPr marL="0" lvl="0" indent="0" algn="l" rtl="0">
              <a:lnSpc>
                <a:spcPct val="100000"/>
              </a:lnSpc>
              <a:spcBef>
                <a:spcPts val="0"/>
              </a:spcBef>
              <a:spcAft>
                <a:spcPts val="0"/>
              </a:spcAft>
              <a:buSzPts val="3000"/>
              <a:buNone/>
            </a:pPr>
            <a:endParaRPr lang="en-US" b="1"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A thread executes a sequence of operations for a process. Each threads maintains the same code, heap and data from the process; however, they have their own registers, program counter and stack.</a:t>
            </a: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Every process runs initially on a single-threaded way with the “main” thread.</a:t>
            </a: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a:p>
            <a:pPr marL="0" lvl="0" indent="0" algn="l" rtl="0">
              <a:lnSpc>
                <a:spcPct val="100000"/>
              </a:lnSpc>
              <a:spcBef>
                <a:spcPts val="0"/>
              </a:spcBef>
              <a:spcAft>
                <a:spcPts val="0"/>
              </a:spcAft>
              <a:buSzPts val="3000"/>
              <a:buNone/>
            </a:pPr>
            <a:r>
              <a:rPr lang="en-US" dirty="0">
                <a:latin typeface="Atkinson Hyperlegible Next"/>
                <a:ea typeface="Arial"/>
                <a:cs typeface="Arial"/>
                <a:sym typeface="Arial"/>
              </a:rPr>
              <a:t>However, it is possible to dynamically allocate the number of threads for your application to make it </a:t>
            </a:r>
            <a:r>
              <a:rPr lang="en-US" b="1" dirty="0">
                <a:latin typeface="Atkinson Hyperlegible Next"/>
                <a:ea typeface="Arial"/>
                <a:cs typeface="Arial"/>
                <a:sym typeface="Arial"/>
              </a:rPr>
              <a:t>multi-thread.</a:t>
            </a:r>
          </a:p>
          <a:p>
            <a:pPr marL="0" lvl="0" indent="0" algn="l" rtl="0">
              <a:lnSpc>
                <a:spcPct val="100000"/>
              </a:lnSpc>
              <a:spcBef>
                <a:spcPts val="0"/>
              </a:spcBef>
              <a:spcAft>
                <a:spcPts val="0"/>
              </a:spcAft>
              <a:buSzPts val="3000"/>
              <a:buNone/>
            </a:pPr>
            <a:endParaRPr lang="en-US" b="1" dirty="0">
              <a:latin typeface="Atkinson Hyperlegible Next"/>
              <a:ea typeface="Arial"/>
              <a:cs typeface="Arial"/>
              <a:sym typeface="Arial"/>
            </a:endParaRPr>
          </a:p>
          <a:p>
            <a:pPr marL="0" lvl="0" indent="0" algn="l" rtl="0">
              <a:lnSpc>
                <a:spcPct val="100000"/>
              </a:lnSpc>
              <a:spcBef>
                <a:spcPts val="0"/>
              </a:spcBef>
              <a:spcAft>
                <a:spcPts val="0"/>
              </a:spcAft>
              <a:buSzPts val="3000"/>
              <a:buNone/>
            </a:pPr>
            <a:endParaRPr lang="en-US"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1C42516-5CEF-BC0E-08B1-7AB3B60EC4C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97E63E3-B960-F099-C261-4DC130638B1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2445F871-8C07-CF8A-8568-FAAD6CE6465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7589556-C3AF-1ED3-C700-ED0E564809E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2A9681E-5020-AF42-D1E1-1059D8DB1AD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F69E32D-4542-0DE5-7EE5-92A3FB63AFE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CDD48A8-5CFB-4542-FF02-165004FC00C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BB455E8-9321-B18F-3C9E-B9EFE42AA4A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32872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1B59B00-D6EF-F0D7-21D0-BFA95D3D412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4AE6B84-C700-5891-204F-CA0AFF61CC2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1800" dirty="0">
                <a:latin typeface="Atkinson Hyperlegible Next"/>
                <a:ea typeface="Arial"/>
                <a:cs typeface="Arial"/>
                <a:sym typeface="Arial"/>
              </a:rPr>
              <a:t>Depending on your CPU and how many cores you have you will be able to parallelize how many threads can run at once.</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A CPU with 4 cores allows you to run 4 threads in parallel, while a CPU with 8 cores allows you to run 8 in parallel.</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What happens if you have more threads than cores, i.e., 1 core and wanting to use 8 threads?</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Would we want to wait for one thread to finish before continuing another one? What happens if you must wait for a large file transfer to happen?</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This is where scheduler works!</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r>
              <a:rPr lang="en-US" sz="1800" dirty="0">
                <a:latin typeface="Atkinson Hyperlegible Next"/>
                <a:ea typeface="Arial"/>
                <a:cs typeface="Arial"/>
                <a:sym typeface="Arial"/>
              </a:rPr>
              <a:t>Essentially every thread is given a tiny bit of time to execute an instruction and then you cycle to the next thread, and you do this so fast it seems like you are running in parallel.</a:t>
            </a:r>
          </a:p>
          <a:p>
            <a:pPr marL="0" lvl="0" indent="0">
              <a:lnSpc>
                <a:spcPct val="100000"/>
              </a:lnSpc>
              <a:spcBef>
                <a:spcPts val="0"/>
              </a:spcBef>
              <a:buSzPts val="3000"/>
              <a:buNone/>
            </a:pPr>
            <a:endParaRPr lang="en-US" sz="1800" dirty="0">
              <a:latin typeface="Atkinson Hyperlegible Next"/>
              <a:ea typeface="Arial"/>
              <a:cs typeface="Arial"/>
              <a:sym typeface="Arial"/>
            </a:endParaRPr>
          </a:p>
          <a:p>
            <a:pPr marL="0" lvl="0" indent="0">
              <a:lnSpc>
                <a:spcPct val="100000"/>
              </a:lnSpc>
              <a:spcBef>
                <a:spcPts val="0"/>
              </a:spcBef>
              <a:buSzPts val="3000"/>
              <a:buNone/>
            </a:pP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5457ADC6-FFBE-6253-9999-75212DD9AAF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7576121-230D-2464-9681-6B0CC23EE8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AE277A3-1714-E0D2-F651-71CA1BBA182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C18E01-E767-DF0D-3F9C-103F5CB917B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417F050-8F87-EA04-E93A-3CA6B58CF9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4E13783-41DC-87A9-0FA7-6CBF4C29E04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377E984-575E-49C4-3652-474C97C013A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5D1830A-B7F4-0F65-1F60-47D85DCFBEB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80110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3F3B881-52D9-0E19-407D-A9065F80C0D8}"/>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245E6A9-0E32-A998-7B3E-6951EC919BB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SzPts val="3000"/>
              <a:buNone/>
            </a:pPr>
            <a:r>
              <a:rPr lang="en-US" sz="2400" dirty="0">
                <a:latin typeface="Atkinson Hyperlegible Next"/>
                <a:ea typeface="Arial"/>
                <a:cs typeface="Arial"/>
                <a:sym typeface="Arial"/>
              </a:rPr>
              <a:t>The Red Board is a dual-core microcontroller; however, we only use one CPU1. </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So many threads can it have running in parallel?</a:t>
            </a:r>
          </a:p>
          <a:p>
            <a:pPr marL="0" lvl="0" indent="0">
              <a:lnSpc>
                <a:spcPct val="100000"/>
              </a:lnSpc>
              <a:spcBef>
                <a:spcPts val="0"/>
              </a:spcBef>
              <a:buSzPts val="3000"/>
              <a:buNone/>
            </a:pPr>
            <a:endParaRPr lang="en-US" sz="2400" dirty="0">
              <a:latin typeface="Atkinson Hyperlegible Next"/>
              <a:ea typeface="Arial"/>
              <a:cs typeface="Arial"/>
              <a:sym typeface="Arial"/>
            </a:endParaRPr>
          </a:p>
          <a:p>
            <a:pPr marL="0" lvl="0" indent="0">
              <a:lnSpc>
                <a:spcPct val="100000"/>
              </a:lnSpc>
              <a:spcBef>
                <a:spcPts val="0"/>
              </a:spcBef>
              <a:buSzPts val="3000"/>
              <a:buNone/>
            </a:pPr>
            <a:r>
              <a:rPr lang="en-US" sz="2400" dirty="0">
                <a:latin typeface="Atkinson Hyperlegible Next"/>
                <a:ea typeface="Arial"/>
                <a:cs typeface="Arial"/>
                <a:sym typeface="Arial"/>
              </a:rPr>
              <a:t>Are the CPU timers / interrupts running truly parallelly?</a:t>
            </a:r>
          </a:p>
          <a:p>
            <a:pPr marL="0" lv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CE56AFB-64BF-81B5-7D80-788EE92EF3F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57CACCD-0244-A29F-829E-B69A0FDB441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D918222-CAB1-6269-5721-31D0D97047B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E4ACBA-84A7-236E-F5BA-A2984A94DD5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B68BEA0-C6CA-9126-05A1-7EC7B4CFCC4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8B7E443-394E-E6E3-91D1-08EE9217003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29F2263-A5B6-66DE-5CF9-B1763587E3D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A2821EB-21E6-2A9B-4CDB-6D8F9215963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440630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400F81-190C-10B8-19CF-AE1DC57AE6A2}"/>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EBA741E-ED86-0AE0-7182-423C775696C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2D9F3AE-9355-E514-569B-D847103E087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6B07BB9-E588-6A8E-D92A-E0B7EE49EC6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63B9D90-4A9A-EB4A-2777-B5432363187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84D254D-AD17-7A34-EC0D-8705FCAE195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A3D4AF4-A1B9-F545-DFB3-D55DD238EC5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7EB9B0-5697-AD4F-FA6D-C149D9F9B92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DDA4DC6-A2B0-B379-634F-48C0D8E4E10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a:extLst>
              <a:ext uri="{FF2B5EF4-FFF2-40B4-BE49-F238E27FC236}">
                <a16:creationId xmlns:a16="http://schemas.microsoft.com/office/drawing/2014/main" id="{20166750-1C13-A3FF-99A1-2CB80308C6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4213" y="922910"/>
            <a:ext cx="8283574" cy="54324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077D9F8-86E6-5C54-B537-789C20BB0E86}"/>
              </a:ext>
            </a:extLst>
          </p:cNvPr>
          <p:cNvSpPr txBox="1"/>
          <p:nvPr/>
        </p:nvSpPr>
        <p:spPr>
          <a:xfrm>
            <a:off x="4083050" y="6374350"/>
            <a:ext cx="4025900" cy="246221"/>
          </a:xfrm>
          <a:prstGeom prst="rect">
            <a:avLst/>
          </a:prstGeom>
          <a:noFill/>
        </p:spPr>
        <p:txBody>
          <a:bodyPr wrap="square">
            <a:spAutoFit/>
          </a:bodyPr>
          <a:lstStyle/>
          <a:p>
            <a:pPr algn="ctr"/>
            <a:r>
              <a:rPr lang="en-US" sz="1000" dirty="0">
                <a:hlinkClick r:id="rId5"/>
              </a:rPr>
              <a:t>https://kuleuven-diepenbeek.github.io/osc-course/ch6-tasks/threads/</a:t>
            </a:r>
            <a:r>
              <a:rPr lang="en-US" sz="1000" dirty="0"/>
              <a:t> </a:t>
            </a:r>
          </a:p>
        </p:txBody>
      </p:sp>
    </p:spTree>
    <p:extLst>
      <p:ext uri="{BB962C8B-B14F-4D97-AF65-F5344CB8AC3E}">
        <p14:creationId xmlns:p14="http://schemas.microsoft.com/office/powerpoint/2010/main" val="4005952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2875419-CB39-E27B-93D2-861F80D9A78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55CD41E-7D88-EE19-E0C8-CC71F49C9EF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4EFDCF7-28B4-BF76-576B-4EB19CDB9CB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345E457-25D4-2AF4-DD95-7638ED3B4C2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332B446-1E9A-02EA-E1A1-00A63245A1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C6B459A-1000-2B70-B199-9F6CAB1207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4DCB6D7-0307-270B-DFCA-CEC2556B905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206E725-EB96-2247-D880-6430B93711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38277B9-EEA6-A80C-84E2-D8D36DD20A1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a:extLst>
              <a:ext uri="{FF2B5EF4-FFF2-40B4-BE49-F238E27FC236}">
                <a16:creationId xmlns:a16="http://schemas.microsoft.com/office/drawing/2014/main" id="{B062A763-D041-A592-9822-74D17B82A0DA}"/>
              </a:ext>
            </a:extLst>
          </p:cNvPr>
          <p:cNvPicPr>
            <a:picLocks noChangeAspect="1" noChangeArrowheads="1"/>
          </p:cNvPicPr>
          <p:nvPr/>
        </p:nvPicPr>
        <p:blipFill>
          <a:blip r:embed="rId4"/>
          <a:srcRect/>
          <a:stretch/>
        </p:blipFill>
        <p:spPr bwMode="auto">
          <a:xfrm>
            <a:off x="1954213" y="925673"/>
            <a:ext cx="8283574" cy="542687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E80316-9C0D-FE81-263D-AD8D7AF326A9}"/>
              </a:ext>
            </a:extLst>
          </p:cNvPr>
          <p:cNvSpPr txBox="1"/>
          <p:nvPr/>
        </p:nvSpPr>
        <p:spPr>
          <a:xfrm>
            <a:off x="4083050" y="6374350"/>
            <a:ext cx="4025900" cy="246221"/>
          </a:xfrm>
          <a:prstGeom prst="rect">
            <a:avLst/>
          </a:prstGeom>
          <a:noFill/>
        </p:spPr>
        <p:txBody>
          <a:bodyPr wrap="square">
            <a:spAutoFit/>
          </a:bodyPr>
          <a:lstStyle/>
          <a:p>
            <a:pPr algn="ctr"/>
            <a:r>
              <a:rPr lang="en-US" sz="1000" dirty="0">
                <a:hlinkClick r:id="rId5"/>
              </a:rPr>
              <a:t>https://kuleuven-diepenbeek.github.io/osc-course/ch6-tasks/threads/</a:t>
            </a:r>
            <a:r>
              <a:rPr lang="en-US" sz="1000" dirty="0"/>
              <a:t> </a:t>
            </a:r>
          </a:p>
        </p:txBody>
      </p:sp>
    </p:spTree>
    <p:extLst>
      <p:ext uri="{BB962C8B-B14F-4D97-AF65-F5344CB8AC3E}">
        <p14:creationId xmlns:p14="http://schemas.microsoft.com/office/powerpoint/2010/main" val="1963506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50AE08-6DBA-EAE6-1365-496C921E6F4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6D6AFE9-6C46-69F9-32E4-F34E4E424638}"/>
              </a:ext>
            </a:extLst>
          </p:cNvPr>
          <p:cNvSpPr txBox="1">
            <a:spLocks noGrp="1"/>
          </p:cNvSpPr>
          <p:nvPr>
            <p:ph type="body" idx="1"/>
          </p:nvPr>
        </p:nvSpPr>
        <p:spPr>
          <a:xfrm>
            <a:off x="376809" y="1334279"/>
            <a:ext cx="4646041" cy="4821102"/>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900" dirty="0">
                <a:solidFill>
                  <a:srgbClr val="7F0055"/>
                </a:solidFill>
                <a:latin typeface="Consolas" panose="020B0609020204030204" pitchFamily="49" charset="0"/>
              </a:rPr>
              <a:t>#include</a:t>
            </a:r>
            <a:r>
              <a:rPr lang="en-US" sz="900" dirty="0">
                <a:solidFill>
                  <a:srgbClr val="000000"/>
                </a:solidFill>
                <a:latin typeface="Consolas" panose="020B0609020204030204" pitchFamily="49" charset="0"/>
              </a:rPr>
              <a:t> </a:t>
            </a:r>
            <a:r>
              <a:rPr lang="en-US" sz="900" dirty="0">
                <a:solidFill>
                  <a:srgbClr val="2A00FF"/>
                </a:solidFill>
                <a:latin typeface="Consolas" panose="020B0609020204030204" pitchFamily="49" charset="0"/>
              </a:rPr>
              <a:t>&lt;</a:t>
            </a:r>
            <a:r>
              <a:rPr lang="en-US" sz="900" dirty="0" err="1">
                <a:solidFill>
                  <a:srgbClr val="2A00FF"/>
                </a:solidFill>
                <a:latin typeface="Consolas" panose="020B0609020204030204" pitchFamily="49" charset="0"/>
              </a:rPr>
              <a:t>stdio.h</a:t>
            </a:r>
            <a:r>
              <a:rPr lang="en-US" sz="900" dirty="0">
                <a:solidFill>
                  <a:srgbClr val="2A00FF"/>
                </a:solidFill>
                <a:latin typeface="Consolas" panose="020B0609020204030204" pitchFamily="49" charset="0"/>
              </a:rPr>
              <a:t>&gt;</a:t>
            </a:r>
          </a:p>
          <a:p>
            <a:pPr marL="114300" indent="0">
              <a:spcBef>
                <a:spcPts val="0"/>
              </a:spcBef>
              <a:buNone/>
            </a:pPr>
            <a:r>
              <a:rPr lang="en-US" sz="900" dirty="0">
                <a:solidFill>
                  <a:srgbClr val="7F0055"/>
                </a:solidFill>
                <a:latin typeface="Consolas" panose="020B0609020204030204" pitchFamily="49" charset="0"/>
              </a:rPr>
              <a:t>#include</a:t>
            </a:r>
            <a:r>
              <a:rPr lang="en-US" sz="900" dirty="0">
                <a:solidFill>
                  <a:srgbClr val="000000"/>
                </a:solidFill>
                <a:latin typeface="Consolas" panose="020B0609020204030204" pitchFamily="49" charset="0"/>
              </a:rPr>
              <a:t> </a:t>
            </a:r>
            <a:r>
              <a:rPr lang="en-US" sz="900" dirty="0">
                <a:solidFill>
                  <a:srgbClr val="2A00FF"/>
                </a:solidFill>
                <a:latin typeface="Consolas" panose="020B0609020204030204" pitchFamily="49" charset="0"/>
              </a:rPr>
              <a:t>&lt;</a:t>
            </a:r>
            <a:r>
              <a:rPr lang="en-US" sz="900" dirty="0" err="1">
                <a:solidFill>
                  <a:srgbClr val="2A00FF"/>
                </a:solidFill>
                <a:latin typeface="Consolas" panose="020B0609020204030204" pitchFamily="49" charset="0"/>
              </a:rPr>
              <a:t>string.h</a:t>
            </a:r>
            <a:r>
              <a:rPr lang="en-US" sz="900" dirty="0">
                <a:solidFill>
                  <a:srgbClr val="2A00FF"/>
                </a:solidFill>
                <a:latin typeface="Consolas" panose="020B0609020204030204" pitchFamily="49" charset="0"/>
              </a:rPr>
              <a:t>&gt;</a:t>
            </a:r>
          </a:p>
          <a:p>
            <a:pPr marL="114300" indent="0">
              <a:spcBef>
                <a:spcPts val="0"/>
              </a:spcBef>
              <a:buNone/>
            </a:pPr>
            <a:r>
              <a:rPr lang="en-US" sz="900" dirty="0">
                <a:solidFill>
                  <a:srgbClr val="7F0055"/>
                </a:solidFill>
                <a:latin typeface="Consolas" panose="020B0609020204030204" pitchFamily="49" charset="0"/>
              </a:rPr>
              <a:t>#include</a:t>
            </a:r>
            <a:r>
              <a:rPr lang="en-US" sz="900" dirty="0">
                <a:solidFill>
                  <a:srgbClr val="000000"/>
                </a:solidFill>
                <a:latin typeface="Consolas" panose="020B0609020204030204" pitchFamily="49" charset="0"/>
              </a:rPr>
              <a:t> </a:t>
            </a:r>
            <a:r>
              <a:rPr lang="en-US" sz="900" dirty="0">
                <a:solidFill>
                  <a:srgbClr val="2A00FF"/>
                </a:solidFill>
                <a:latin typeface="Consolas" panose="020B0609020204030204" pitchFamily="49" charset="0"/>
              </a:rPr>
              <a:t>&lt;</a:t>
            </a:r>
            <a:r>
              <a:rPr lang="en-US" sz="900" dirty="0" err="1">
                <a:solidFill>
                  <a:srgbClr val="2A00FF"/>
                </a:solidFill>
                <a:latin typeface="Consolas" panose="020B0609020204030204" pitchFamily="49" charset="0"/>
              </a:rPr>
              <a:t>pthread.h</a:t>
            </a:r>
            <a:r>
              <a:rPr lang="en-US" sz="900" dirty="0">
                <a:solidFill>
                  <a:srgbClr val="2A00FF"/>
                </a:solidFill>
                <a:latin typeface="Consolas" panose="020B0609020204030204" pitchFamily="49" charset="0"/>
              </a:rPr>
              <a:t>&gt;</a:t>
            </a:r>
          </a:p>
          <a:p>
            <a:pPr marL="114300" indent="0">
              <a:spcBef>
                <a:spcPts val="0"/>
              </a:spcBef>
              <a:buNone/>
            </a:pPr>
            <a:r>
              <a:rPr lang="en-US" sz="900" dirty="0">
                <a:solidFill>
                  <a:srgbClr val="7F0055"/>
                </a:solidFill>
                <a:latin typeface="Consolas" panose="020B0609020204030204" pitchFamily="49" charset="0"/>
              </a:rPr>
              <a:t>#include</a:t>
            </a:r>
            <a:r>
              <a:rPr lang="en-US" sz="900" dirty="0">
                <a:solidFill>
                  <a:srgbClr val="000000"/>
                </a:solidFill>
                <a:latin typeface="Consolas" panose="020B0609020204030204" pitchFamily="49" charset="0"/>
              </a:rPr>
              <a:t> </a:t>
            </a:r>
            <a:r>
              <a:rPr lang="en-US" sz="900" dirty="0">
                <a:solidFill>
                  <a:srgbClr val="2A00FF"/>
                </a:solidFill>
                <a:latin typeface="Consolas" panose="020B0609020204030204" pitchFamily="49" charset="0"/>
              </a:rPr>
              <a:t>&lt;</a:t>
            </a:r>
            <a:r>
              <a:rPr lang="en-US" sz="900" dirty="0" err="1">
                <a:solidFill>
                  <a:srgbClr val="2A00FF"/>
                </a:solidFill>
                <a:latin typeface="Consolas" panose="020B0609020204030204" pitchFamily="49" charset="0"/>
              </a:rPr>
              <a:t>stdlib.h</a:t>
            </a:r>
            <a:r>
              <a:rPr lang="en-US" sz="900" dirty="0">
                <a:solidFill>
                  <a:srgbClr val="2A00FF"/>
                </a:solidFill>
                <a:latin typeface="Consolas" panose="020B0609020204030204" pitchFamily="49" charset="0"/>
              </a:rPr>
              <a:t>&gt;</a:t>
            </a:r>
          </a:p>
          <a:p>
            <a:pPr marL="114300" indent="0">
              <a:spcBef>
                <a:spcPts val="0"/>
              </a:spcBef>
              <a:buNone/>
            </a:pPr>
            <a:r>
              <a:rPr lang="en-US" sz="900" dirty="0">
                <a:solidFill>
                  <a:srgbClr val="7F0055"/>
                </a:solidFill>
                <a:latin typeface="Consolas" panose="020B0609020204030204" pitchFamily="49" charset="0"/>
              </a:rPr>
              <a:t>#include</a:t>
            </a:r>
            <a:r>
              <a:rPr lang="en-US" sz="900" dirty="0">
                <a:solidFill>
                  <a:srgbClr val="000000"/>
                </a:solidFill>
                <a:latin typeface="Consolas" panose="020B0609020204030204" pitchFamily="49" charset="0"/>
              </a:rPr>
              <a:t> </a:t>
            </a:r>
            <a:r>
              <a:rPr lang="en-US" sz="900" dirty="0">
                <a:solidFill>
                  <a:srgbClr val="2A00FF"/>
                </a:solidFill>
                <a:latin typeface="Consolas" panose="020B0609020204030204" pitchFamily="49" charset="0"/>
              </a:rPr>
              <a:t>&lt;</a:t>
            </a:r>
            <a:r>
              <a:rPr lang="en-US" sz="900" dirty="0" err="1">
                <a:solidFill>
                  <a:srgbClr val="2A00FF"/>
                </a:solidFill>
                <a:latin typeface="Consolas" panose="020B0609020204030204" pitchFamily="49" charset="0"/>
              </a:rPr>
              <a:t>unistd.h</a:t>
            </a:r>
            <a:r>
              <a:rPr lang="en-US" sz="900" dirty="0">
                <a:solidFill>
                  <a:srgbClr val="2A00FF"/>
                </a:solidFill>
                <a:latin typeface="Consolas" panose="020B0609020204030204" pitchFamily="49" charset="0"/>
              </a:rPr>
              <a:t>&gt;</a:t>
            </a:r>
          </a:p>
          <a:p>
            <a:pPr marL="114300" indent="0">
              <a:spcBef>
                <a:spcPts val="0"/>
              </a:spcBef>
              <a:buNone/>
            </a:pPr>
            <a:endParaRPr lang="en-US" sz="900" dirty="0">
              <a:latin typeface="Consolas" panose="020B0609020204030204" pitchFamily="49" charset="0"/>
            </a:endParaRPr>
          </a:p>
          <a:p>
            <a:pPr marL="114300" indent="0">
              <a:spcBef>
                <a:spcPts val="0"/>
              </a:spcBef>
              <a:buNone/>
            </a:pPr>
            <a:r>
              <a:rPr lang="en-US" sz="900" dirty="0">
                <a:solidFill>
                  <a:srgbClr val="7F0055"/>
                </a:solidFill>
                <a:latin typeface="Consolas" panose="020B0609020204030204" pitchFamily="49" charset="0"/>
              </a:rPr>
              <a:t>int</a:t>
            </a:r>
            <a:r>
              <a:rPr lang="en-US" sz="900" dirty="0">
                <a:solidFill>
                  <a:srgbClr val="000000"/>
                </a:solidFill>
                <a:latin typeface="Consolas" panose="020B0609020204030204" pitchFamily="49" charset="0"/>
              </a:rPr>
              <a:t> counter;</a:t>
            </a:r>
          </a:p>
          <a:p>
            <a:pPr marL="114300" indent="0">
              <a:spcBef>
                <a:spcPts val="0"/>
              </a:spcBef>
              <a:buNone/>
            </a:pPr>
            <a:endParaRPr lang="en-US" sz="900" dirty="0">
              <a:latin typeface="Consolas" panose="020B0609020204030204" pitchFamily="49" charset="0"/>
            </a:endParaRPr>
          </a:p>
          <a:p>
            <a:pPr marL="114300" indent="0">
              <a:spcBef>
                <a:spcPts val="0"/>
              </a:spcBef>
              <a:buNone/>
            </a:pPr>
            <a:r>
              <a:rPr lang="en-US" sz="900" dirty="0">
                <a:solidFill>
                  <a:srgbClr val="7F0055"/>
                </a:solidFill>
                <a:latin typeface="Consolas" panose="020B0609020204030204" pitchFamily="49" charset="0"/>
              </a:rPr>
              <a:t>void</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startThreadJob</a:t>
            </a:r>
            <a:r>
              <a:rPr lang="en-US" sz="900" dirty="0">
                <a:solidFill>
                  <a:srgbClr val="000000"/>
                </a:solidFill>
                <a:latin typeface="Consolas" panose="020B0609020204030204" pitchFamily="49" charset="0"/>
              </a:rPr>
              <a:t>() {</a:t>
            </a:r>
          </a:p>
          <a:p>
            <a:pPr marL="114300" indent="0">
              <a:spcBef>
                <a:spcPts val="0"/>
              </a:spcBef>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unsigned</a:t>
            </a: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long</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 0;</a:t>
            </a:r>
          </a:p>
          <a:p>
            <a:pPr marL="114300" indent="0">
              <a:spcBef>
                <a:spcPts val="0"/>
              </a:spcBef>
              <a:buNone/>
            </a:pPr>
            <a:r>
              <a:rPr lang="en-US" sz="900" dirty="0">
                <a:solidFill>
                  <a:srgbClr val="000000"/>
                </a:solidFill>
                <a:latin typeface="Consolas" panose="020B0609020204030204" pitchFamily="49" charset="0"/>
              </a:rPr>
              <a:t>    counter += 1;</a:t>
            </a:r>
          </a:p>
          <a:p>
            <a:pPr marL="114300" indent="0">
              <a:spcBef>
                <a:spcPts val="0"/>
              </a:spcBef>
              <a:buNone/>
            </a:pPr>
            <a:endParaRPr lang="en-US" sz="900" dirty="0">
              <a:latin typeface="Consolas" panose="020B0609020204030204" pitchFamily="49" charset="0"/>
            </a:endParaRPr>
          </a:p>
          <a:p>
            <a:pPr marL="114300" indent="0">
              <a:spcBef>
                <a:spcPts val="0"/>
              </a:spcBef>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printf</a:t>
            </a:r>
            <a:r>
              <a:rPr lang="en-US" sz="900" dirty="0">
                <a:solidFill>
                  <a:srgbClr val="000000"/>
                </a:solidFill>
                <a:latin typeface="Consolas" panose="020B0609020204030204" pitchFamily="49" charset="0"/>
              </a:rPr>
              <a:t>(</a:t>
            </a:r>
            <a:r>
              <a:rPr lang="en-US" sz="900" dirty="0">
                <a:solidFill>
                  <a:srgbClr val="2A00FF"/>
                </a:solidFill>
                <a:latin typeface="Consolas" panose="020B0609020204030204" pitchFamily="49" charset="0"/>
              </a:rPr>
              <a:t>"  Job %d started\n"</a:t>
            </a:r>
            <a:r>
              <a:rPr lang="en-US" sz="900" dirty="0">
                <a:solidFill>
                  <a:srgbClr val="000000"/>
                </a:solidFill>
                <a:latin typeface="Consolas" panose="020B0609020204030204" pitchFamily="49" charset="0"/>
              </a:rPr>
              <a:t>, counter);</a:t>
            </a:r>
          </a:p>
          <a:p>
            <a:pPr marL="114300" indent="0">
              <a:spcBef>
                <a:spcPts val="0"/>
              </a:spcBef>
              <a:buNone/>
            </a:pPr>
            <a:r>
              <a:rPr lang="nn-NO" sz="900" dirty="0">
                <a:solidFill>
                  <a:srgbClr val="000000"/>
                </a:solidFill>
                <a:latin typeface="Consolas" panose="020B0609020204030204" pitchFamily="49" charset="0"/>
              </a:rPr>
              <a:t>    </a:t>
            </a:r>
            <a:r>
              <a:rPr lang="nn-NO" sz="900" dirty="0">
                <a:solidFill>
                  <a:srgbClr val="7F0055"/>
                </a:solidFill>
                <a:latin typeface="Consolas" panose="020B0609020204030204" pitchFamily="49" charset="0"/>
              </a:rPr>
              <a:t>for</a:t>
            </a:r>
            <a:r>
              <a:rPr lang="nn-NO" sz="900" dirty="0">
                <a:solidFill>
                  <a:srgbClr val="000000"/>
                </a:solidFill>
                <a:latin typeface="Consolas" panose="020B0609020204030204" pitchFamily="49" charset="0"/>
              </a:rPr>
              <a:t>(i=0; i&lt;(0xFFFFFFFF); i++) {</a:t>
            </a:r>
          </a:p>
          <a:p>
            <a:pPr marL="114300" indent="0">
              <a:spcBef>
                <a:spcPts val="0"/>
              </a:spcBef>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do nothing</a:t>
            </a:r>
          </a:p>
          <a:p>
            <a:pPr marL="114300" indent="0">
              <a:spcBef>
                <a:spcPts val="0"/>
              </a:spcBef>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this is just here to keep the thread running for a while!</a:t>
            </a:r>
          </a:p>
          <a:p>
            <a:pPr marL="114300" indent="0">
              <a:spcBef>
                <a:spcPts val="0"/>
              </a:spcBef>
              <a:buNone/>
            </a:pPr>
            <a:r>
              <a:rPr lang="en-US" sz="900" dirty="0">
                <a:solidFill>
                  <a:srgbClr val="000000"/>
                </a:solidFill>
                <a:latin typeface="Consolas" panose="020B0609020204030204" pitchFamily="49" charset="0"/>
              </a:rPr>
              <a:t>    }</a:t>
            </a:r>
          </a:p>
          <a:p>
            <a:pPr marL="114300" indent="0">
              <a:spcBef>
                <a:spcPts val="0"/>
              </a:spcBef>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printf</a:t>
            </a:r>
            <a:r>
              <a:rPr lang="en-US" sz="900" dirty="0">
                <a:solidFill>
                  <a:srgbClr val="000000"/>
                </a:solidFill>
                <a:latin typeface="Consolas" panose="020B0609020204030204" pitchFamily="49" charset="0"/>
              </a:rPr>
              <a:t>(</a:t>
            </a:r>
            <a:r>
              <a:rPr lang="en-US" sz="900" dirty="0">
                <a:solidFill>
                  <a:srgbClr val="2A00FF"/>
                </a:solidFill>
                <a:latin typeface="Consolas" panose="020B0609020204030204" pitchFamily="49" charset="0"/>
              </a:rPr>
              <a:t>"  Job %d finished\n"</a:t>
            </a:r>
            <a:r>
              <a:rPr lang="en-US" sz="900" dirty="0">
                <a:solidFill>
                  <a:srgbClr val="000000"/>
                </a:solidFill>
                <a:latin typeface="Consolas" panose="020B0609020204030204" pitchFamily="49" charset="0"/>
              </a:rPr>
              <a:t>, counter);</a:t>
            </a:r>
          </a:p>
          <a:p>
            <a:pPr marL="114300" indent="0">
              <a:spcBef>
                <a:spcPts val="0"/>
              </a:spcBef>
              <a:buNone/>
            </a:pPr>
            <a:endParaRPr lang="en-US" sz="900" dirty="0">
              <a:latin typeface="Consolas" panose="020B0609020204030204" pitchFamily="49" charset="0"/>
            </a:endParaRPr>
          </a:p>
          <a:p>
            <a:pPr marL="114300" indent="0">
              <a:spcBef>
                <a:spcPts val="0"/>
              </a:spcBef>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return</a:t>
            </a:r>
            <a:r>
              <a:rPr lang="en-US" sz="900" dirty="0">
                <a:solidFill>
                  <a:srgbClr val="000000"/>
                </a:solidFill>
                <a:latin typeface="Consolas" panose="020B0609020204030204" pitchFamily="49" charset="0"/>
              </a:rPr>
              <a:t> NULL;</a:t>
            </a:r>
          </a:p>
          <a:p>
            <a:pPr marL="114300" indent="0">
              <a:spcBef>
                <a:spcPts val="0"/>
              </a:spcBef>
              <a:buNone/>
            </a:pPr>
            <a:r>
              <a:rPr lang="en-US" sz="900" dirty="0">
                <a:solidFill>
                  <a:srgbClr val="000000"/>
                </a:solidFill>
                <a:latin typeface="Consolas" panose="020B0609020204030204" pitchFamily="49" charset="0"/>
              </a:rPr>
              <a:t>}</a:t>
            </a:r>
          </a:p>
        </p:txBody>
      </p:sp>
      <p:sp>
        <p:nvSpPr>
          <p:cNvPr id="119" name="Google Shape;119;p29">
            <a:extLst>
              <a:ext uri="{FF2B5EF4-FFF2-40B4-BE49-F238E27FC236}">
                <a16:creationId xmlns:a16="http://schemas.microsoft.com/office/drawing/2014/main" id="{A95E0A6D-24DE-B47B-8803-F025A866E93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F2BA10F-CC93-8DEA-03FC-EAB2694E0CB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D117CDF-79BB-B397-E54A-1D28E4F9AC7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7F7BB6D-A67A-8A79-A469-26EFC10BE8C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AD94DA0-2101-4728-FA19-C272097D31B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DFF56B-FCD3-1FC7-DAD1-71FA5963475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F0785CA-2B8B-BDA1-B962-36A4EAA0FC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9FCDFBE-32EF-9F7C-F2F7-14B10D5061B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2FCA9763-1510-5358-FE56-7E57E94534E4}"/>
              </a:ext>
            </a:extLst>
          </p:cNvPr>
          <p:cNvSpPr txBox="1">
            <a:spLocks/>
          </p:cNvSpPr>
          <p:nvPr/>
        </p:nvSpPr>
        <p:spPr>
          <a:xfrm>
            <a:off x="5022850" y="1334279"/>
            <a:ext cx="6997700" cy="482110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spcBef>
                <a:spcPts val="0"/>
              </a:spcBef>
              <a:buFont typeface="Arial"/>
              <a:buNone/>
            </a:pPr>
            <a:r>
              <a:rPr lang="en-US" sz="900" dirty="0">
                <a:solidFill>
                  <a:srgbClr val="7F0055"/>
                </a:solidFill>
                <a:latin typeface="Consolas" panose="020B0609020204030204" pitchFamily="49" charset="0"/>
              </a:rPr>
              <a:t>int</a:t>
            </a:r>
            <a:r>
              <a:rPr lang="en-US" sz="900" dirty="0">
                <a:solidFill>
                  <a:srgbClr val="000000"/>
                </a:solidFill>
                <a:latin typeface="Consolas" panose="020B0609020204030204" pitchFamily="49" charset="0"/>
              </a:rPr>
              <a:t> main(</a:t>
            </a:r>
            <a:r>
              <a:rPr lang="en-US" sz="900" dirty="0">
                <a:solidFill>
                  <a:srgbClr val="7F0055"/>
                </a:solidFill>
                <a:latin typeface="Consolas" panose="020B0609020204030204" pitchFamily="49" charset="0"/>
              </a:rPr>
              <a:t>void</a:t>
            </a:r>
            <a:r>
              <a:rPr lang="en-US" sz="900" dirty="0">
                <a:solidFill>
                  <a:srgbClr val="000000"/>
                </a:solidFill>
                <a:latin typeface="Consolas" panose="020B0609020204030204" pitchFamily="49" charset="0"/>
              </a:rPr>
              <a:t>) {</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int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 0, err;</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pthread_t</a:t>
            </a: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tid</a:t>
            </a:r>
            <a:r>
              <a:rPr lang="en-US" sz="900" dirty="0">
                <a:solidFill>
                  <a:srgbClr val="000000"/>
                </a:solidFill>
                <a:latin typeface="Consolas" panose="020B0609020204030204" pitchFamily="49" charset="0"/>
              </a:rPr>
              <a:t>[2];</a:t>
            </a:r>
          </a:p>
          <a:p>
            <a:pPr marL="114300" indent="0">
              <a:spcBef>
                <a:spcPts val="0"/>
              </a:spcBef>
              <a:buFont typeface="Arial"/>
              <a:buNone/>
            </a:pPr>
            <a:r>
              <a:rPr lang="en-US" sz="900" dirty="0">
                <a:solidFill>
                  <a:srgbClr val="000000"/>
                </a:solidFill>
                <a:latin typeface="Consolas" panose="020B0609020204030204" pitchFamily="49" charset="0"/>
              </a:rPr>
              <a:t>  counter = 0;</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while</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&lt; 2) {</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a:t>
            </a:r>
            <a:r>
              <a:rPr lang="en-US" sz="900" dirty="0" err="1">
                <a:solidFill>
                  <a:srgbClr val="3F7F5F"/>
                </a:solidFill>
                <a:latin typeface="Consolas" panose="020B0609020204030204" pitchFamily="49" charset="0"/>
              </a:rPr>
              <a:t>pthread_create</a:t>
            </a:r>
            <a:r>
              <a:rPr lang="en-US" sz="900" dirty="0">
                <a:solidFill>
                  <a:srgbClr val="3F7F5F"/>
                </a:solidFill>
                <a:latin typeface="Consolas" panose="020B0609020204030204" pitchFamily="49" charset="0"/>
              </a:rPr>
              <a:t> has 4 parameters:</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1. pointer to </a:t>
            </a:r>
            <a:r>
              <a:rPr lang="en-US" sz="900" dirty="0" err="1">
                <a:solidFill>
                  <a:srgbClr val="3F7F5F"/>
                </a:solidFill>
                <a:latin typeface="Consolas" panose="020B0609020204030204" pitchFamily="49" charset="0"/>
              </a:rPr>
              <a:t>pthread_t</a:t>
            </a:r>
            <a:r>
              <a:rPr lang="en-US" sz="900" dirty="0">
                <a:solidFill>
                  <a:srgbClr val="3F7F5F"/>
                </a:solidFill>
                <a:latin typeface="Consolas" panose="020B0609020204030204" pitchFamily="49" charset="0"/>
              </a:rPr>
              <a:t>, needed to keep thread state</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2. configuration arguments for the thread (passing NULL means we use the defaults here)</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3. pointer to the function that will run in a separate thread</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4. parameters to pass to the thread (no arguments for </a:t>
            </a:r>
            <a:r>
              <a:rPr lang="en-US" sz="900" dirty="0" err="1">
                <a:solidFill>
                  <a:srgbClr val="3F7F5F"/>
                </a:solidFill>
                <a:latin typeface="Consolas" panose="020B0609020204030204" pitchFamily="49" charset="0"/>
              </a:rPr>
              <a:t>startThreadJob</a:t>
            </a:r>
            <a:r>
              <a:rPr lang="en-US" sz="900" dirty="0">
                <a:solidFill>
                  <a:srgbClr val="3F7F5F"/>
                </a:solidFill>
                <a:latin typeface="Consolas" panose="020B0609020204030204" pitchFamily="49" charset="0"/>
              </a:rPr>
              <a:t>, so we pass NULL)</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err = </a:t>
            </a:r>
            <a:r>
              <a:rPr lang="en-US" sz="900" dirty="0" err="1">
                <a:solidFill>
                  <a:srgbClr val="000000"/>
                </a:solidFill>
                <a:latin typeface="Consolas" panose="020B0609020204030204" pitchFamily="49" charset="0"/>
              </a:rPr>
              <a:t>pthread_create</a:t>
            </a:r>
            <a:r>
              <a:rPr lang="en-US" sz="900" dirty="0">
                <a:solidFill>
                  <a:srgbClr val="000000"/>
                </a:solidFill>
                <a:latin typeface="Consolas" panose="020B0609020204030204" pitchFamily="49" charset="0"/>
              </a:rPr>
              <a:t>( &amp;(</a:t>
            </a:r>
            <a:r>
              <a:rPr lang="en-US" sz="900" dirty="0" err="1">
                <a:solidFill>
                  <a:srgbClr val="000000"/>
                </a:solidFill>
                <a:latin typeface="Consolas" panose="020B0609020204030204" pitchFamily="49" charset="0"/>
              </a:rPr>
              <a:t>tid</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 NULL, </a:t>
            </a:r>
            <a:r>
              <a:rPr lang="en-US" sz="900" dirty="0" err="1">
                <a:solidFill>
                  <a:srgbClr val="000000"/>
                </a:solidFill>
                <a:latin typeface="Consolas" panose="020B0609020204030204" pitchFamily="49" charset="0"/>
              </a:rPr>
              <a:t>startThreadJob</a:t>
            </a:r>
            <a:r>
              <a:rPr lang="en-US" sz="900" dirty="0">
                <a:solidFill>
                  <a:srgbClr val="000000"/>
                </a:solidFill>
                <a:latin typeface="Consolas" panose="020B0609020204030204" pitchFamily="49" charset="0"/>
              </a:rPr>
              <a:t>, NULL );</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if</a:t>
            </a:r>
            <a:r>
              <a:rPr lang="en-US" sz="900" dirty="0">
                <a:solidFill>
                  <a:srgbClr val="000000"/>
                </a:solidFill>
                <a:latin typeface="Consolas" panose="020B0609020204030204" pitchFamily="49" charset="0"/>
              </a:rPr>
              <a:t> (err != 0) {</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printf</a:t>
            </a:r>
            <a:r>
              <a:rPr lang="en-US" sz="900" dirty="0">
                <a:solidFill>
                  <a:srgbClr val="000000"/>
                </a:solidFill>
                <a:latin typeface="Consolas" panose="020B0609020204030204" pitchFamily="49" charset="0"/>
              </a:rPr>
              <a:t>(</a:t>
            </a:r>
            <a:r>
              <a:rPr lang="en-US" sz="900" dirty="0">
                <a:solidFill>
                  <a:srgbClr val="2A00FF"/>
                </a:solidFill>
                <a:latin typeface="Consolas" panose="020B0609020204030204" pitchFamily="49" charset="0"/>
              </a:rPr>
              <a:t>"\</a:t>
            </a:r>
            <a:r>
              <a:rPr lang="en-US" sz="900" dirty="0" err="1">
                <a:solidFill>
                  <a:srgbClr val="2A00FF"/>
                </a:solidFill>
                <a:latin typeface="Consolas" panose="020B0609020204030204" pitchFamily="49" charset="0"/>
              </a:rPr>
              <a:t>ncan't</a:t>
            </a:r>
            <a:r>
              <a:rPr lang="en-US" sz="900" dirty="0">
                <a:solidFill>
                  <a:srgbClr val="2A00FF"/>
                </a:solidFill>
                <a:latin typeface="Consolas" panose="020B0609020204030204" pitchFamily="49" charset="0"/>
              </a:rPr>
              <a:t> create thread :[%s]"</a:t>
            </a:r>
            <a:r>
              <a:rPr lang="en-US" sz="900" dirty="0">
                <a:solidFill>
                  <a:srgbClr val="000000"/>
                </a:solidFill>
                <a:latin typeface="Consolas" panose="020B0609020204030204" pitchFamily="49" charset="0"/>
              </a:rPr>
              <a:t>, </a:t>
            </a:r>
            <a:r>
              <a:rPr lang="en-US" sz="900" dirty="0" err="1">
                <a:solidFill>
                  <a:srgbClr val="642880"/>
                </a:solidFill>
                <a:latin typeface="Consolas" panose="020B0609020204030204" pitchFamily="49" charset="0"/>
              </a:rPr>
              <a:t>strerror</a:t>
            </a:r>
            <a:r>
              <a:rPr lang="en-US" sz="900" dirty="0">
                <a:solidFill>
                  <a:srgbClr val="000000"/>
                </a:solidFill>
                <a:latin typeface="Consolas" panose="020B0609020204030204" pitchFamily="49" charset="0"/>
              </a:rPr>
              <a:t>(err));</a:t>
            </a:r>
          </a:p>
          <a:p>
            <a:pPr marL="114300" indent="0">
              <a:spcBef>
                <a:spcPts val="0"/>
              </a:spcBef>
              <a:buFont typeface="Arial"/>
              <a:buNone/>
            </a:pPr>
            <a:r>
              <a:rPr lang="en-US" sz="900" dirty="0">
                <a:solidFill>
                  <a:srgbClr val="000000"/>
                </a:solidFill>
                <a:latin typeface="Consolas" panose="020B0609020204030204" pitchFamily="49" charset="0"/>
              </a:rPr>
              <a:t>    }</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i</a:t>
            </a:r>
            <a:r>
              <a:rPr lang="en-US" sz="900" dirty="0">
                <a:solidFill>
                  <a:srgbClr val="000000"/>
                </a:solidFill>
                <a:latin typeface="Consolas" panose="020B0609020204030204" pitchFamily="49" charset="0"/>
              </a:rPr>
              <a:t>++;</a:t>
            </a:r>
          </a:p>
          <a:p>
            <a:pPr marL="114300" indent="0">
              <a:spcBef>
                <a:spcPts val="0"/>
              </a:spcBef>
              <a:buFont typeface="Arial"/>
              <a:buNone/>
            </a:pPr>
            <a:r>
              <a:rPr lang="en-US" sz="900" dirty="0">
                <a:solidFill>
                  <a:srgbClr val="000000"/>
                </a:solidFill>
                <a:latin typeface="Consolas" panose="020B0609020204030204" pitchFamily="49" charset="0"/>
              </a:rPr>
              <a:t>  }</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a:t>
            </a:r>
            <a:r>
              <a:rPr lang="en-US" sz="900" dirty="0" err="1">
                <a:solidFill>
                  <a:srgbClr val="3F7F5F"/>
                </a:solidFill>
                <a:latin typeface="Consolas" panose="020B0609020204030204" pitchFamily="49" charset="0"/>
              </a:rPr>
              <a:t>pthread_join</a:t>
            </a:r>
            <a:r>
              <a:rPr lang="en-US" sz="900" dirty="0">
                <a:solidFill>
                  <a:srgbClr val="3F7F5F"/>
                </a:solidFill>
                <a:latin typeface="Consolas" panose="020B0609020204030204" pitchFamily="49" charset="0"/>
              </a:rPr>
              <a:t> pauses the current thread until the thread in the first argument is terminated</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Note that the "main" function automatically also executes in a thread, which we often call the "main thread".</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If the joined thread was already terminated, </a:t>
            </a:r>
            <a:r>
              <a:rPr lang="en-US" sz="900" dirty="0" err="1">
                <a:solidFill>
                  <a:srgbClr val="3F7F5F"/>
                </a:solidFill>
                <a:latin typeface="Consolas" panose="020B0609020204030204" pitchFamily="49" charset="0"/>
              </a:rPr>
              <a:t>pthread_join</a:t>
            </a:r>
            <a:r>
              <a:rPr lang="en-US" sz="900" dirty="0">
                <a:solidFill>
                  <a:srgbClr val="3F7F5F"/>
                </a:solidFill>
                <a:latin typeface="Consolas" panose="020B0609020204030204" pitchFamily="49" charset="0"/>
              </a:rPr>
              <a:t> returns immediately</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The second argument can be used to store the return value of the thread</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3F7F5F"/>
                </a:solidFill>
                <a:latin typeface="Consolas" panose="020B0609020204030204" pitchFamily="49" charset="0"/>
              </a:rPr>
              <a:t>// Our thread currently doesn't return anything, so we pass NULL</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pthread_join</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tid</a:t>
            </a:r>
            <a:r>
              <a:rPr lang="en-US" sz="900" dirty="0">
                <a:solidFill>
                  <a:srgbClr val="000000"/>
                </a:solidFill>
                <a:latin typeface="Consolas" panose="020B0609020204030204" pitchFamily="49" charset="0"/>
              </a:rPr>
              <a:t>[0], NULL);</a:t>
            </a: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err="1">
                <a:solidFill>
                  <a:srgbClr val="000000"/>
                </a:solidFill>
                <a:latin typeface="Consolas" panose="020B0609020204030204" pitchFamily="49" charset="0"/>
              </a:rPr>
              <a:t>pthread_join</a:t>
            </a:r>
            <a:r>
              <a:rPr lang="en-US" sz="900" dirty="0">
                <a:solidFill>
                  <a:srgbClr val="000000"/>
                </a:solidFill>
                <a:latin typeface="Consolas" panose="020B0609020204030204" pitchFamily="49" charset="0"/>
              </a:rPr>
              <a:t>(</a:t>
            </a:r>
            <a:r>
              <a:rPr lang="en-US" sz="900" dirty="0" err="1">
                <a:solidFill>
                  <a:srgbClr val="000000"/>
                </a:solidFill>
                <a:latin typeface="Consolas" panose="020B0609020204030204" pitchFamily="49" charset="0"/>
              </a:rPr>
              <a:t>tid</a:t>
            </a:r>
            <a:r>
              <a:rPr lang="en-US" sz="900" dirty="0">
                <a:solidFill>
                  <a:srgbClr val="000000"/>
                </a:solidFill>
                <a:latin typeface="Consolas" panose="020B0609020204030204" pitchFamily="49" charset="0"/>
              </a:rPr>
              <a:t>[1], NULL);</a:t>
            </a:r>
          </a:p>
          <a:p>
            <a:pPr marL="114300" indent="0">
              <a:spcBef>
                <a:spcPts val="0"/>
              </a:spcBef>
              <a:buFont typeface="Arial"/>
              <a:buNone/>
            </a:pPr>
            <a:endParaRPr lang="en-US" sz="900" dirty="0">
              <a:latin typeface="Consolas" panose="020B0609020204030204" pitchFamily="49" charset="0"/>
            </a:endParaRPr>
          </a:p>
          <a:p>
            <a:pPr marL="114300" indent="0">
              <a:spcBef>
                <a:spcPts val="0"/>
              </a:spcBef>
              <a:buFont typeface="Arial"/>
              <a:buNone/>
            </a:pPr>
            <a:r>
              <a:rPr lang="en-US" sz="900" dirty="0">
                <a:solidFill>
                  <a:srgbClr val="000000"/>
                </a:solidFill>
                <a:latin typeface="Consolas" panose="020B0609020204030204" pitchFamily="49" charset="0"/>
              </a:rPr>
              <a:t>  </a:t>
            </a:r>
            <a:r>
              <a:rPr lang="en-US" sz="900" dirty="0">
                <a:solidFill>
                  <a:srgbClr val="7F0055"/>
                </a:solidFill>
                <a:latin typeface="Consolas" panose="020B0609020204030204" pitchFamily="49" charset="0"/>
              </a:rPr>
              <a:t>return</a:t>
            </a:r>
            <a:r>
              <a:rPr lang="en-US" sz="900" dirty="0">
                <a:solidFill>
                  <a:srgbClr val="000000"/>
                </a:solidFill>
                <a:latin typeface="Consolas" panose="020B0609020204030204" pitchFamily="49" charset="0"/>
              </a:rPr>
              <a:t> 0;</a:t>
            </a:r>
          </a:p>
          <a:p>
            <a:pPr marL="114300" indent="0">
              <a:spcBef>
                <a:spcPts val="0"/>
              </a:spcBef>
              <a:buFont typeface="Arial"/>
              <a:buNone/>
            </a:pPr>
            <a:r>
              <a:rPr lang="en-US" sz="9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2804492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DA55757-A327-A5D6-952F-7CE5AD5249B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4955A215-3934-CA42-7907-DC9F96A860D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8F69CFB-6DAF-66EA-E5F0-C688EB06F11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A04F106-790B-271A-784B-90164137147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30207B-E75A-3313-F7EF-F33E89D58B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A31649-87D0-FD3E-CB4A-E1B29FBC13A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43C05DA-F32C-E8F3-C5AC-1E29330857B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1414061-DE54-8416-4239-CE7CE34CF9B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58F4D0D-0D81-9990-54AA-98D98116B9D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descr="Program vs Process vs Thread | Smit Shah">
            <a:extLst>
              <a:ext uri="{FF2B5EF4-FFF2-40B4-BE49-F238E27FC236}">
                <a16:creationId xmlns:a16="http://schemas.microsoft.com/office/drawing/2014/main" id="{848AF4E3-252A-1573-3205-F1DAD91D90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8488" y="916065"/>
            <a:ext cx="5206670" cy="549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272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1DE2C01-BF12-F9A9-F2D5-BE432B36E34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537078B-C1EE-7C80-287B-96FA9744819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AEA4B8C-CDFA-AE65-40FA-A3BE6D030B2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D8B996F-2979-8459-B470-C5C247B72F7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FD7611C-F3AB-05C1-E919-4BA645ABAA2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5530D25-0140-4ACB-A2B2-481ACFDA469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11020A9-249C-948F-62EE-3117838A28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6CB427B-78CB-482F-9D36-52B48DFC82E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33CDFC-E59B-2DD8-1081-42BC130058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6" name="Online Media 5" title="What is a Thread? | Threads, Process, Program, Parallelism and Scheduler Explained | Geekific" descr="YouTube video: What is a Thread? | Threads, Process, Program, Parallelism and Scheduler Explained | Geekific (Geekific)">
            <a:hlinkClick r:id="" action="ppaction://media"/>
            <a:extLst>
              <a:ext uri="{FF2B5EF4-FFF2-40B4-BE49-F238E27FC236}">
                <a16:creationId xmlns:a16="http://schemas.microsoft.com/office/drawing/2014/main" id="{EBE6570E-94DE-EAE5-C00B-EDF84219689C}"/>
              </a:ext>
            </a:extLst>
          </p:cNvPr>
          <p:cNvPicPr>
            <a:picLocks noRot="1" noChangeAspect="1"/>
          </p:cNvPicPr>
          <p:nvPr>
            <a:videoFile r:link="rId1"/>
          </p:nvPr>
        </p:nvPicPr>
        <p:blipFill>
          <a:blip r:embed="rId5"/>
          <a:stretch>
            <a:fillRect/>
          </a:stretch>
        </p:blipFill>
        <p:spPr>
          <a:xfrm>
            <a:off x="1226523" y="983446"/>
            <a:ext cx="9738954" cy="5502522"/>
          </a:xfrm>
          <a:prstGeom prst="rect">
            <a:avLst/>
          </a:prstGeom>
        </p:spPr>
      </p:pic>
    </p:spTree>
    <p:extLst>
      <p:ext uri="{BB962C8B-B14F-4D97-AF65-F5344CB8AC3E}">
        <p14:creationId xmlns:p14="http://schemas.microsoft.com/office/powerpoint/2010/main" val="3073163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F760ED8-C08B-00BC-B777-A879BB431FFC}"/>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A6CC8D4-DE29-1569-4D06-8A07CCE12C6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500" dirty="0">
                <a:latin typeface="Atkinson Hyperlegible Next"/>
                <a:ea typeface="Arial"/>
                <a:cs typeface="Arial"/>
                <a:sym typeface="Arial"/>
              </a:rPr>
              <a:t>Why would we want multi-processes?</a:t>
            </a:r>
          </a:p>
          <a:p>
            <a:pPr marL="0" lvl="0" indent="0" algn="l" rtl="0">
              <a:lnSpc>
                <a:spcPct val="100000"/>
              </a:lnSpc>
              <a:spcBef>
                <a:spcPts val="0"/>
              </a:spcBef>
              <a:spcAft>
                <a:spcPts val="0"/>
              </a:spcAft>
              <a:buSzPts val="3000"/>
              <a:buNone/>
            </a:pPr>
            <a:endParaRPr lang="en-US" sz="1500" dirty="0">
              <a:latin typeface="Atkinson Hyperlegible Next"/>
              <a:ea typeface="Arial"/>
              <a:cs typeface="Arial"/>
              <a:sym typeface="Arial"/>
            </a:endParaRPr>
          </a:p>
          <a:p>
            <a:pPr marL="285750" indent="-285750">
              <a:lnSpc>
                <a:spcPct val="100000"/>
              </a:lnSpc>
              <a:spcBef>
                <a:spcPts val="0"/>
              </a:spcBef>
              <a:buSzPts val="3000"/>
            </a:pPr>
            <a:r>
              <a:rPr lang="en-US" sz="1500" b="1" dirty="0">
                <a:latin typeface="Atkinson Hyperlegible Next"/>
                <a:ea typeface="Arial"/>
                <a:cs typeface="Arial"/>
                <a:sym typeface="Arial"/>
              </a:rPr>
              <a:t>Fault Isolation and Robustness</a:t>
            </a:r>
            <a:r>
              <a:rPr lang="en-US" sz="1500" dirty="0">
                <a:latin typeface="Atkinson Hyperlegible Next"/>
                <a:ea typeface="Arial"/>
                <a:cs typeface="Arial"/>
                <a:sym typeface="Arial"/>
              </a:rPr>
              <a:t>: Each process resides in its own isolated virtual address space. If a process experiences an error, it typically cannot corrupt the heap or stack of an unrelated process. This ensures that a failure in one process does not cause everything else to fail.</a:t>
            </a:r>
          </a:p>
          <a:p>
            <a:pPr marL="285750" indent="-285750">
              <a:lnSpc>
                <a:spcPct val="100000"/>
              </a:lnSpc>
              <a:spcBef>
                <a:spcPts val="0"/>
              </a:spcBef>
              <a:buSzPts val="3000"/>
            </a:pPr>
            <a:r>
              <a:rPr lang="en-US" sz="1500" b="1" dirty="0">
                <a:latin typeface="Atkinson Hyperlegible Next"/>
                <a:ea typeface="Arial"/>
                <a:cs typeface="Arial"/>
                <a:sym typeface="Arial"/>
              </a:rPr>
              <a:t>Scalability Across Distributed Systems</a:t>
            </a:r>
            <a:r>
              <a:rPr lang="en-US" sz="1500" dirty="0">
                <a:latin typeface="Atkinson Hyperlegible Next"/>
                <a:ea typeface="Arial"/>
                <a:cs typeface="Arial"/>
                <a:sym typeface="Arial"/>
              </a:rPr>
              <a:t>: While threads are inherently limited to a single physical machine (as they rely on shared local memory), processes can easily be distributed across a cluster or a network of machines. This allows for scaling across different hardware.</a:t>
            </a:r>
          </a:p>
          <a:p>
            <a:pPr marL="285750" indent="-285750">
              <a:lnSpc>
                <a:spcPct val="100000"/>
              </a:lnSpc>
              <a:spcBef>
                <a:spcPts val="0"/>
              </a:spcBef>
              <a:buSzPts val="3000"/>
            </a:pPr>
            <a:r>
              <a:rPr lang="en-US" sz="1500" b="1" dirty="0">
                <a:latin typeface="Atkinson Hyperlegible Next"/>
                <a:ea typeface="Arial"/>
                <a:cs typeface="Arial"/>
                <a:sym typeface="Arial"/>
              </a:rPr>
              <a:t>Security and Privilege Separation</a:t>
            </a:r>
            <a:r>
              <a:rPr lang="en-US" sz="1500" dirty="0">
                <a:latin typeface="Atkinson Hyperlegible Next"/>
                <a:ea typeface="Arial"/>
                <a:cs typeface="Arial"/>
                <a:sym typeface="Arial"/>
              </a:rPr>
              <a:t>: Multi-processing allows for the strict application of the Principle of Least Privilege. Different processes can be executed with distinct user permissions or security contexts. For instance, in a browser architecture, the rendering engine might run with restricted sandboxed privileges, while a kernel-level driver or system service runs with elevated permissions, preventing malicious content from escalating access.</a:t>
            </a:r>
          </a:p>
          <a:p>
            <a:pPr marL="285750" indent="-285750">
              <a:lnSpc>
                <a:spcPct val="100000"/>
              </a:lnSpc>
              <a:spcBef>
                <a:spcPts val="0"/>
              </a:spcBef>
              <a:buSzPts val="3000"/>
            </a:pPr>
            <a:r>
              <a:rPr lang="en-US" sz="1500" b="1" dirty="0">
                <a:latin typeface="Atkinson Hyperlegible Next"/>
                <a:ea typeface="Arial"/>
                <a:cs typeface="Arial"/>
                <a:sym typeface="Arial"/>
              </a:rPr>
              <a:t>Enhanced Security and Isolation</a:t>
            </a:r>
            <a:r>
              <a:rPr lang="en-US" sz="1500" dirty="0">
                <a:latin typeface="Atkinson Hyperlegible Next"/>
                <a:ea typeface="Arial"/>
                <a:cs typeface="Arial"/>
                <a:sym typeface="Arial"/>
              </a:rPr>
              <a:t>: Because processes do not share memory by default, one process cannot accidentally (or maliciously) read or overwrite the data of another. This "sandboxing" is critical for executing untrusted code or separating sensitive cryptographic operations from general UI logic.</a:t>
            </a:r>
          </a:p>
          <a:p>
            <a:pPr marL="285750" indent="-285750">
              <a:lnSpc>
                <a:spcPct val="100000"/>
              </a:lnSpc>
              <a:spcBef>
                <a:spcPts val="0"/>
              </a:spcBef>
              <a:buSzPts val="3000"/>
            </a:pPr>
            <a:r>
              <a:rPr lang="en-US" sz="1500" b="1" dirty="0">
                <a:latin typeface="Atkinson Hyperlegible Next"/>
                <a:ea typeface="Arial"/>
                <a:cs typeface="Arial"/>
                <a:sym typeface="Arial"/>
              </a:rPr>
              <a:t>True Hardware Parallelism (CPU-Bound Tasks): </a:t>
            </a:r>
            <a:r>
              <a:rPr lang="en-US" sz="1500" dirty="0">
                <a:latin typeface="Atkinson Hyperlegible Next"/>
                <a:ea typeface="Arial"/>
                <a:cs typeface="Arial"/>
                <a:sym typeface="Arial"/>
              </a:rPr>
              <a:t>In many interpreted languages (notably Python with its Global Interpreter Lock), threads cannot run in parallel on multiple cores (less true recently). Multiprocessing bypasses these software-level locks by giving each process its own instance of the interpreter and its own memory space, allowing N processes to utilize N CPU cores simultaneously.</a:t>
            </a:r>
          </a:p>
        </p:txBody>
      </p:sp>
      <p:sp>
        <p:nvSpPr>
          <p:cNvPr id="119" name="Google Shape;119;p29">
            <a:extLst>
              <a:ext uri="{FF2B5EF4-FFF2-40B4-BE49-F238E27FC236}">
                <a16:creationId xmlns:a16="http://schemas.microsoft.com/office/drawing/2014/main" id="{C49C8ADC-17C0-7468-AE44-4220CDEDB07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5E3ABE1-D841-8927-749C-FFDDED5E892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65BE942C-5DBA-2470-F49F-6EE31A707F6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AA94207-78DF-8C74-C261-B53964528B6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964A86D-95DB-5ED1-62EE-A438AE4C2ED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7293ADE-4ADA-745C-F438-2AFAD36B5D6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F91699E-F680-933B-6C41-29B85342FFE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896567E-9466-E0BE-8DC5-6C8A54D87D5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24194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60AEE1A-6E16-C04C-DCE2-C2BF90E9F82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D0F86C5-AE56-89EA-D466-2161DFF45D4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dirty="0">
                <a:latin typeface="Atkinson Hyperlegible Next"/>
                <a:ea typeface="Arial"/>
                <a:cs typeface="Arial"/>
                <a:sym typeface="Arial"/>
              </a:rPr>
              <a:t>Why would we want multi-threading?</a:t>
            </a:r>
          </a:p>
          <a:p>
            <a:pPr marL="0" lvl="0" indent="0" algn="l" rtl="0">
              <a:lnSpc>
                <a:spcPct val="100000"/>
              </a:lnSpc>
              <a:spcBef>
                <a:spcPts val="0"/>
              </a:spcBef>
              <a:spcAft>
                <a:spcPts val="0"/>
              </a:spcAft>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b="1" dirty="0">
                <a:latin typeface="Atkinson Hyperlegible Next"/>
                <a:ea typeface="Arial"/>
                <a:cs typeface="Arial"/>
                <a:sym typeface="Arial"/>
              </a:rPr>
              <a:t>Responsiveness</a:t>
            </a:r>
            <a:r>
              <a:rPr lang="en-US" sz="1800" dirty="0">
                <a:latin typeface="Atkinson Hyperlegible Next"/>
                <a:ea typeface="Arial"/>
                <a:cs typeface="Arial"/>
                <a:sym typeface="Arial"/>
              </a:rPr>
              <a:t>: When a single program is broken into multiple threads, the experience feels more responsive. Dedicated threads can be created to handle user requires, while other threads can process data in the background.</a:t>
            </a:r>
          </a:p>
          <a:p>
            <a:pPr marL="285750" indent="-285750">
              <a:lnSpc>
                <a:spcPct val="100000"/>
              </a:lnSpc>
              <a:spcBef>
                <a:spcPts val="0"/>
              </a:spcBef>
              <a:buSzPts val="3000"/>
            </a:pPr>
            <a:r>
              <a:rPr lang="en-US" sz="1800" b="1" dirty="0">
                <a:latin typeface="Atkinson Hyperlegible Next"/>
                <a:ea typeface="Arial"/>
                <a:cs typeface="Arial"/>
                <a:sym typeface="Arial"/>
              </a:rPr>
              <a:t>Resource sharing</a:t>
            </a:r>
            <a:r>
              <a:rPr lang="en-US" sz="1800" dirty="0">
                <a:latin typeface="Atkinson Hyperlegible Next"/>
                <a:ea typeface="Arial"/>
                <a:cs typeface="Arial"/>
                <a:sym typeface="Arial"/>
              </a:rPr>
              <a:t>: Programs that have multiple threads typically want some sort of communication between these threads. This is done more easily between threads than between processes, as threads implicitly share memory via their heap</a:t>
            </a:r>
          </a:p>
          <a:p>
            <a:pPr marL="285750" indent="-285750">
              <a:lnSpc>
                <a:spcPct val="100000"/>
              </a:lnSpc>
              <a:spcBef>
                <a:spcPts val="0"/>
              </a:spcBef>
              <a:buSzPts val="3000"/>
            </a:pPr>
            <a:r>
              <a:rPr lang="en-US" sz="1800" b="1" dirty="0">
                <a:latin typeface="Atkinson Hyperlegible Next"/>
                <a:ea typeface="Arial"/>
                <a:cs typeface="Arial"/>
                <a:sym typeface="Arial"/>
              </a:rPr>
              <a:t>Economy</a:t>
            </a:r>
            <a:r>
              <a:rPr lang="en-US" sz="1800" dirty="0">
                <a:latin typeface="Atkinson Hyperlegible Next"/>
                <a:ea typeface="Arial"/>
                <a:cs typeface="Arial"/>
                <a:sym typeface="Arial"/>
              </a:rPr>
              <a:t>: Context switching becomes cheaper when switching between threads in comparison to switching between processes. This is because less per-thread state needs to be tracked, in comparison to more per-process state.</a:t>
            </a:r>
          </a:p>
          <a:p>
            <a:pPr marL="285750" indent="-285750">
              <a:lnSpc>
                <a:spcPct val="100000"/>
              </a:lnSpc>
              <a:spcBef>
                <a:spcPts val="0"/>
              </a:spcBef>
              <a:buSzPts val="3000"/>
            </a:pPr>
            <a:r>
              <a:rPr lang="en-US" sz="1800" b="1" dirty="0">
                <a:latin typeface="Atkinson Hyperlegible Next"/>
                <a:ea typeface="Arial"/>
                <a:cs typeface="Arial"/>
                <a:sym typeface="Arial"/>
              </a:rPr>
              <a:t>Scalability</a:t>
            </a:r>
            <a:r>
              <a:rPr lang="en-US" sz="1800" dirty="0">
                <a:latin typeface="Atkinson Hyperlegible Next"/>
                <a:ea typeface="Arial"/>
                <a:cs typeface="Arial"/>
                <a:sym typeface="Arial"/>
              </a:rPr>
              <a:t>: Multiple threads can run in parallel on multi-core systems in contrast to a single threaded process.</a:t>
            </a:r>
          </a:p>
          <a:p>
            <a:pPr marL="285750" indent="-285750">
              <a:lnSpc>
                <a:spcPct val="100000"/>
              </a:lnSpc>
              <a:spcBef>
                <a:spcPts val="0"/>
              </a:spcBef>
              <a:buSzPts val="3000"/>
            </a:pP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519B977-D5D1-EE71-2F31-7B1FDF8380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A867D59-B9A5-392D-009E-C84B453879F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57C66E3-4D5D-483F-3A4C-43AA84C994D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F5D4CE6-72AD-BDA5-32DD-37699A13DF2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7D14472-510E-3470-0EA1-2A15BB8DC04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AC49256-7968-0657-2F23-D188F59100E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4A8244F-F728-EFC0-4BAF-E4A69F87679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C94523D-FB52-430D-EA5D-8006623105C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8408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30F6BBEC-4988-4915-E42A-39BB9CF91CD5}"/>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A2DFA212-059E-CB3C-E1BA-2FDD9AEE6EA0}"/>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Processes Communication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F8A3ED65-D70E-EC31-7FDD-3901AABA087A}"/>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5E17733B-C34F-6D63-0629-EE7B6A39AD2F}"/>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3934F22F-0577-A195-33E8-8D57147E162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8BFB92C0-6EF3-9207-CED5-E4574A4E3113}"/>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D0770229-022C-FC3C-29B9-FCF243C5C4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D91ED6A3-FC8E-B1F6-ADA9-4739A0CDC59C}"/>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ABC97FFB-B3CC-46AA-8568-55D778E0B32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1C188850-1896-A873-577C-D82B70B8606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F4AF8FC0-E20A-8C16-88CA-F5552F4D249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228764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08545A2-F00A-2C03-A339-95D1168B178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37DC788-6CFF-C6A9-8FC3-069C19C9BE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Each process resides in its own isolated virtual address space. While isolation is useful for security sometimes you need to communication information</a:t>
            </a:r>
          </a:p>
          <a:p>
            <a:pPr marL="285750" indent="-285750">
              <a:lnSpc>
                <a:spcPct val="100000"/>
              </a:lnSpc>
              <a:spcBef>
                <a:spcPts val="0"/>
              </a:spcBef>
              <a:buSzPts val="3000"/>
            </a:pPr>
            <a:r>
              <a:rPr lang="en-US" sz="1800" dirty="0">
                <a:latin typeface="Atkinson Hyperlegible Next"/>
                <a:ea typeface="Arial"/>
                <a:cs typeface="Arial"/>
                <a:sym typeface="Arial"/>
              </a:rPr>
              <a:t>To communicate information between processes you either do it through 2 methods:</a:t>
            </a:r>
          </a:p>
          <a:p>
            <a:pPr marL="285750" indent="-285750">
              <a:lnSpc>
                <a:spcPct val="100000"/>
              </a:lnSpc>
              <a:spcBef>
                <a:spcPts val="0"/>
              </a:spcBef>
              <a:buSzPts val="3000"/>
            </a:pPr>
            <a:r>
              <a:rPr lang="en-US" sz="1800" b="1" dirty="0">
                <a:latin typeface="Atkinson Hyperlegible Next"/>
                <a:ea typeface="Arial"/>
                <a:cs typeface="Arial"/>
                <a:sym typeface="Arial"/>
              </a:rPr>
              <a:t>Shared Memory</a:t>
            </a:r>
            <a:r>
              <a:rPr lang="en-US" sz="1800" dirty="0">
                <a:latin typeface="Atkinson Hyperlegible Next"/>
                <a:ea typeface="Arial"/>
                <a:cs typeface="Arial"/>
                <a:sym typeface="Arial"/>
              </a:rPr>
              <a:t>:</a:t>
            </a:r>
          </a:p>
          <a:p>
            <a:pPr marL="742950" lvl="1" indent="-285750">
              <a:lnSpc>
                <a:spcPct val="100000"/>
              </a:lnSpc>
              <a:spcBef>
                <a:spcPts val="0"/>
              </a:spcBef>
              <a:buSzPts val="3000"/>
            </a:pPr>
            <a:r>
              <a:rPr lang="en-US" sz="1800" dirty="0">
                <a:latin typeface="Atkinson Hyperlegible Next"/>
                <a:ea typeface="Arial"/>
                <a:cs typeface="Arial"/>
                <a:sym typeface="Arial"/>
              </a:rPr>
              <a:t>Maps a singular physical memory block into the virtual address spaces of distinct processes</a:t>
            </a:r>
          </a:p>
          <a:p>
            <a:pPr marL="285750" indent="-285750">
              <a:lnSpc>
                <a:spcPct val="100000"/>
              </a:lnSpc>
              <a:spcBef>
                <a:spcPts val="0"/>
              </a:spcBef>
              <a:buSzPts val="3000"/>
            </a:pPr>
            <a:r>
              <a:rPr lang="en-US" sz="1800" b="1" dirty="0">
                <a:latin typeface="Atkinson Hyperlegible Next"/>
                <a:ea typeface="Arial"/>
                <a:cs typeface="Arial"/>
                <a:sym typeface="Arial"/>
              </a:rPr>
              <a:t>Message Passing </a:t>
            </a:r>
            <a:r>
              <a:rPr lang="en-US" sz="1800" dirty="0">
                <a:latin typeface="Atkinson Hyperlegible Next"/>
                <a:ea typeface="Arial"/>
                <a:cs typeface="Arial"/>
                <a:sym typeface="Arial"/>
              </a:rPr>
              <a:t>(Signals / Pipes): </a:t>
            </a:r>
          </a:p>
          <a:p>
            <a:pPr marL="742950" lvl="1" indent="-285750">
              <a:lnSpc>
                <a:spcPct val="100000"/>
              </a:lnSpc>
              <a:spcBef>
                <a:spcPts val="0"/>
              </a:spcBef>
              <a:buSzPts val="3000"/>
            </a:pPr>
            <a:r>
              <a:rPr lang="en-US" sz="1800" dirty="0">
                <a:latin typeface="Atkinson Hyperlegible Next"/>
                <a:ea typeface="Arial"/>
                <a:cs typeface="Arial"/>
                <a:sym typeface="Arial"/>
              </a:rPr>
              <a:t>OS-mediated streams or interrupts.</a:t>
            </a:r>
          </a:p>
        </p:txBody>
      </p:sp>
      <p:sp>
        <p:nvSpPr>
          <p:cNvPr id="119" name="Google Shape;119;p29">
            <a:extLst>
              <a:ext uri="{FF2B5EF4-FFF2-40B4-BE49-F238E27FC236}">
                <a16:creationId xmlns:a16="http://schemas.microsoft.com/office/drawing/2014/main" id="{46AA7A39-9BA5-4291-1340-D3872F779F7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E7AE6FC-A472-FC03-9707-4A9980B3D78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IPC – Inter-Process Communication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99248190-5465-87D5-4D29-047484CB60C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93CE6F8-3F4A-7596-3DA7-781E5F2A43F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2D8AC77-733B-7F1D-05BD-521B8F43E0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485BA1F-B49F-761A-FDB4-73FE669EC11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C8EF800-9CA2-20C3-E8AB-20D125119D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3BCB577-79E8-100A-1BED-B0222A171D2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074" name="Picture 2">
            <a:extLst>
              <a:ext uri="{FF2B5EF4-FFF2-40B4-BE49-F238E27FC236}">
                <a16:creationId xmlns:a16="http://schemas.microsoft.com/office/drawing/2014/main" id="{04DBDED2-FC79-A6C7-F177-0D9C747FF4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6623" y="3295459"/>
            <a:ext cx="5257771" cy="298680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7643626-40C3-2FAD-FA0F-477A0CAD0EF3}"/>
              </a:ext>
            </a:extLst>
          </p:cNvPr>
          <p:cNvSpPr txBox="1"/>
          <p:nvPr/>
        </p:nvSpPr>
        <p:spPr>
          <a:xfrm>
            <a:off x="3940175" y="6320337"/>
            <a:ext cx="4311650" cy="246221"/>
          </a:xfrm>
          <a:prstGeom prst="rect">
            <a:avLst/>
          </a:prstGeom>
          <a:noFill/>
        </p:spPr>
        <p:txBody>
          <a:bodyPr wrap="square">
            <a:spAutoFit/>
          </a:bodyPr>
          <a:lstStyle/>
          <a:p>
            <a:pPr algn="ctr"/>
            <a:r>
              <a:rPr lang="en-US" sz="1000" dirty="0">
                <a:hlinkClick r:id="rId5"/>
              </a:rPr>
              <a:t>https://kuleuven-diepenbeek.github.io/osc-course/ch6-tasks/interprocess/</a:t>
            </a:r>
            <a:r>
              <a:rPr lang="en-US" sz="1000" dirty="0"/>
              <a:t> </a:t>
            </a:r>
          </a:p>
        </p:txBody>
      </p:sp>
    </p:spTree>
    <p:extLst>
      <p:ext uri="{BB962C8B-B14F-4D97-AF65-F5344CB8AC3E}">
        <p14:creationId xmlns:p14="http://schemas.microsoft.com/office/powerpoint/2010/main" val="1453858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8">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6174C9-659F-D23D-6E1B-459A2AAE6DB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1DC9333-B35F-96FC-102E-6B42101C8FCA}"/>
              </a:ext>
            </a:extLst>
          </p:cNvPr>
          <p:cNvSpPr txBox="1">
            <a:spLocks noGrp="1"/>
          </p:cNvSpPr>
          <p:nvPr>
            <p:ph type="body" idx="1"/>
          </p:nvPr>
        </p:nvSpPr>
        <p:spPr>
          <a:xfrm>
            <a:off x="376809" y="1149900"/>
            <a:ext cx="5046091" cy="5005481"/>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1000" dirty="0">
                <a:solidFill>
                  <a:srgbClr val="3F7F5F"/>
                </a:solidFill>
                <a:latin typeface="Consolas" panose="020B0609020204030204" pitchFamily="49" charset="0"/>
              </a:rPr>
              <a:t>// Producer (a process which puts data inside of the shared memory)</a:t>
            </a:r>
          </a:p>
          <a:p>
            <a:pPr marL="114300" indent="0">
              <a:spcBef>
                <a:spcPts val="0"/>
              </a:spcBef>
              <a:buNone/>
            </a:pPr>
            <a:endParaRPr lang="en-US" sz="1000" dirty="0">
              <a:solidFill>
                <a:srgbClr val="7F0055"/>
              </a:solidFill>
              <a:latin typeface="Consolas" panose="020B0609020204030204" pitchFamily="49" charset="0"/>
            </a:endParaRPr>
          </a:p>
          <a:p>
            <a:pPr marL="114300" indent="0">
              <a:spcBef>
                <a:spcPts val="0"/>
              </a:spcBef>
              <a:buNone/>
            </a:pPr>
            <a:endParaRPr lang="en-US" sz="1000" dirty="0">
              <a:solidFill>
                <a:srgbClr val="7F0055"/>
              </a:solidFill>
              <a:latin typeface="Consolas" panose="020B0609020204030204" pitchFamily="49" charset="0"/>
            </a:endParaRP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stdio.h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stdlib.h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string.h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fcntl.h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unistd.h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&lt;sys/</a:t>
            </a:r>
            <a:r>
              <a:rPr lang="en-US" sz="1000" dirty="0" err="1">
                <a:solidFill>
                  <a:srgbClr val="2A00FF"/>
                </a:solidFill>
                <a:latin typeface="Consolas" panose="020B0609020204030204" pitchFamily="49" charset="0"/>
              </a:rPr>
              <a:t>shm.h</a:t>
            </a:r>
            <a:r>
              <a:rPr lang="en-US" sz="1000" dirty="0">
                <a:solidFill>
                  <a:srgbClr val="2A00FF"/>
                </a:solidFill>
                <a:latin typeface="Consolas" panose="020B0609020204030204" pitchFamily="49" charset="0"/>
              </a:rPr>
              <a:t>&gt;</a:t>
            </a:r>
          </a:p>
          <a:p>
            <a:pPr marL="114300" indent="0">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&lt;sys/</a:t>
            </a:r>
            <a:r>
              <a:rPr lang="en-US" sz="1000" dirty="0" err="1">
                <a:solidFill>
                  <a:srgbClr val="2A00FF"/>
                </a:solidFill>
                <a:latin typeface="Consolas" panose="020B0609020204030204" pitchFamily="49" charset="0"/>
              </a:rPr>
              <a:t>mman.h</a:t>
            </a:r>
            <a:r>
              <a:rPr lang="en-US" sz="1000" dirty="0">
                <a:solidFill>
                  <a:srgbClr val="2A00FF"/>
                </a:solidFill>
                <a:latin typeface="Consolas" panose="020B0609020204030204" pitchFamily="49" charset="0"/>
              </a:rPr>
              <a:t>&gt;</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main() {</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SIZE = 4096; </a:t>
            </a:r>
            <a:r>
              <a:rPr lang="en-US" sz="1000" dirty="0">
                <a:solidFill>
                  <a:srgbClr val="3F7F5F"/>
                </a:solidFill>
                <a:latin typeface="Consolas" panose="020B0609020204030204" pitchFamily="49" charset="0"/>
              </a:rPr>
              <a:t>/* </a:t>
            </a:r>
            <a:r>
              <a:rPr lang="en-US" sz="1000" dirty="0" err="1">
                <a:solidFill>
                  <a:srgbClr val="3F7F5F"/>
                </a:solidFill>
                <a:latin typeface="Consolas" panose="020B0609020204030204" pitchFamily="49" charset="0"/>
              </a:rPr>
              <a:t>buffersize</a:t>
            </a:r>
            <a:r>
              <a:rPr lang="en-US" sz="1000" dirty="0">
                <a:solidFill>
                  <a:srgbClr val="3F7F5F"/>
                </a:solidFill>
                <a:latin typeface="Consolas" panose="020B0609020204030204" pitchFamily="49" charset="0"/>
              </a:rPr>
              <a:t> (bytes) */</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char</a:t>
            </a:r>
            <a:r>
              <a:rPr lang="en-US" sz="1000" dirty="0">
                <a:solidFill>
                  <a:srgbClr val="000000"/>
                </a:solidFill>
                <a:latin typeface="Consolas" panose="020B0609020204030204" pitchFamily="49" charset="0"/>
              </a:rPr>
              <a:t> *name = </a:t>
            </a:r>
            <a:r>
              <a:rPr lang="en-US" sz="1000" dirty="0">
                <a:solidFill>
                  <a:srgbClr val="2A00FF"/>
                </a:solidFill>
                <a:latin typeface="Consolas" panose="020B0609020204030204" pitchFamily="49" charset="0"/>
              </a:rPr>
              <a:t>"OS"</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shared memory object name */</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char</a:t>
            </a:r>
            <a:r>
              <a:rPr lang="en-US" sz="1000" dirty="0">
                <a:solidFill>
                  <a:srgbClr val="000000"/>
                </a:solidFill>
                <a:latin typeface="Consolas" panose="020B0609020204030204" pitchFamily="49" charset="0"/>
              </a:rPr>
              <a:t> *data_0 = </a:t>
            </a:r>
            <a:r>
              <a:rPr lang="en-US" sz="1000" dirty="0">
                <a:solidFill>
                  <a:srgbClr val="2A00FF"/>
                </a:solidFill>
                <a:latin typeface="Consolas" panose="020B0609020204030204" pitchFamily="49" charset="0"/>
              </a:rPr>
              <a:t>"Hello"</a:t>
            </a:r>
            <a:r>
              <a:rPr lang="en-US" sz="1000" dirty="0">
                <a:solidFill>
                  <a:srgbClr val="000000"/>
                </a:solidFill>
                <a:latin typeface="Consolas" panose="020B0609020204030204" pitchFamily="49" charset="0"/>
              </a:rPr>
              <a:t>;</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char</a:t>
            </a:r>
            <a:r>
              <a:rPr lang="en-US" sz="1000" dirty="0">
                <a:solidFill>
                  <a:srgbClr val="000000"/>
                </a:solidFill>
                <a:latin typeface="Consolas" panose="020B0609020204030204" pitchFamily="49" charset="0"/>
              </a:rPr>
              <a:t> *data_1 = </a:t>
            </a:r>
            <a:r>
              <a:rPr lang="en-US" sz="1000" dirty="0">
                <a:solidFill>
                  <a:srgbClr val="2A00FF"/>
                </a:solidFill>
                <a:latin typeface="Consolas" panose="020B0609020204030204" pitchFamily="49" charset="0"/>
              </a:rPr>
              <a:t>"World!"</a:t>
            </a:r>
            <a:r>
              <a:rPr lang="en-US" sz="1000" dirty="0">
                <a:solidFill>
                  <a:srgbClr val="000000"/>
                </a:solidFill>
                <a:latin typeface="Consolas" panose="020B0609020204030204" pitchFamily="49" charset="0"/>
              </a:rPr>
              <a:t>;</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shared memory file descriptor */</a:t>
            </a: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create the shared memory file descriptor */</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shm_open</a:t>
            </a:r>
            <a:r>
              <a:rPr lang="en-US" sz="1000" dirty="0">
                <a:solidFill>
                  <a:srgbClr val="000000"/>
                </a:solidFill>
                <a:latin typeface="Consolas" panose="020B0609020204030204" pitchFamily="49" charset="0"/>
              </a:rPr>
              <a:t>(name, O_CREAT | O_RDWR, 0666);</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configure the size of the shared memory file */</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ftruncate</a:t>
            </a:r>
            <a:r>
              <a:rPr lang="en-US" sz="1000" dirty="0">
                <a:solidFill>
                  <a:srgbClr val="000000"/>
                </a:solidFill>
                <a:latin typeface="Consolas" panose="020B0609020204030204" pitchFamily="49" charset="0"/>
              </a:rPr>
              <a:t>(</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SIZE);</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memory map the shared memory file */</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mmap</a:t>
            </a:r>
            <a:r>
              <a:rPr lang="en-US" sz="1000" dirty="0">
                <a:solidFill>
                  <a:srgbClr val="000000"/>
                </a:solidFill>
                <a:latin typeface="Consolas" panose="020B0609020204030204" pitchFamily="49" charset="0"/>
              </a:rPr>
              <a:t>(0, SIZE, PROT_WRITE, MAP_SHARED,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0);</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write to the shared memory file */</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sprintf</a:t>
            </a:r>
            <a:r>
              <a:rPr lang="en-US" sz="1000" dirty="0">
                <a:solidFill>
                  <a:srgbClr val="000000"/>
                </a:solidFill>
                <a:latin typeface="Consolas" panose="020B0609020204030204" pitchFamily="49" charset="0"/>
              </a:rPr>
              <a:t>(ptr,</a:t>
            </a:r>
            <a:r>
              <a:rPr lang="en-US" sz="1000" dirty="0">
                <a:solidFill>
                  <a:srgbClr val="2A00FF"/>
                </a:solidFill>
                <a:latin typeface="Consolas" panose="020B0609020204030204" pitchFamily="49" charset="0"/>
              </a:rPr>
              <a:t>"%s"</a:t>
            </a:r>
            <a:r>
              <a:rPr lang="en-US" sz="1000" dirty="0">
                <a:solidFill>
                  <a:srgbClr val="000000"/>
                </a:solidFill>
                <a:latin typeface="Consolas" panose="020B0609020204030204" pitchFamily="49" charset="0"/>
              </a:rPr>
              <a:t>,data_0);</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 += </a:t>
            </a:r>
            <a:r>
              <a:rPr lang="en-US" sz="1000" dirty="0" err="1">
                <a:solidFill>
                  <a:srgbClr val="642880"/>
                </a:solidFill>
                <a:latin typeface="Consolas" panose="020B0609020204030204" pitchFamily="49" charset="0"/>
              </a:rPr>
              <a:t>strlen</a:t>
            </a:r>
            <a:r>
              <a:rPr lang="en-US" sz="1000" dirty="0">
                <a:solidFill>
                  <a:srgbClr val="000000"/>
                </a:solidFill>
                <a:latin typeface="Consolas" panose="020B0609020204030204" pitchFamily="49" charset="0"/>
              </a:rPr>
              <a:t>(data_0);</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sprintf</a:t>
            </a:r>
            <a:r>
              <a:rPr lang="en-US" sz="1000" dirty="0">
                <a:solidFill>
                  <a:srgbClr val="000000"/>
                </a:solidFill>
                <a:latin typeface="Consolas" panose="020B0609020204030204" pitchFamily="49" charset="0"/>
              </a:rPr>
              <a:t>(ptr,</a:t>
            </a:r>
            <a:r>
              <a:rPr lang="en-US" sz="1000" dirty="0">
                <a:solidFill>
                  <a:srgbClr val="2A00FF"/>
                </a:solidFill>
                <a:latin typeface="Consolas" panose="020B0609020204030204" pitchFamily="49" charset="0"/>
              </a:rPr>
              <a:t>"%s"</a:t>
            </a:r>
            <a:r>
              <a:rPr lang="en-US" sz="1000" dirty="0">
                <a:solidFill>
                  <a:srgbClr val="000000"/>
                </a:solidFill>
                <a:latin typeface="Consolas" panose="020B0609020204030204" pitchFamily="49" charset="0"/>
              </a:rPr>
              <a:t>,data_1);</a:t>
            </a:r>
          </a:p>
          <a:p>
            <a:pPr marL="114300" indent="0">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 += </a:t>
            </a:r>
            <a:r>
              <a:rPr lang="en-US" sz="1000" dirty="0" err="1">
                <a:solidFill>
                  <a:srgbClr val="642880"/>
                </a:solidFill>
                <a:latin typeface="Consolas" panose="020B0609020204030204" pitchFamily="49" charset="0"/>
              </a:rPr>
              <a:t>strlen</a:t>
            </a:r>
            <a:r>
              <a:rPr lang="en-US" sz="1000" dirty="0">
                <a:solidFill>
                  <a:srgbClr val="000000"/>
                </a:solidFill>
                <a:latin typeface="Consolas" panose="020B0609020204030204" pitchFamily="49" charset="0"/>
              </a:rPr>
              <a:t>(data_1);</a:t>
            </a:r>
          </a:p>
          <a:p>
            <a:pPr marL="114300" indent="0">
              <a:spcBef>
                <a:spcPts val="0"/>
              </a:spcBef>
              <a:buNone/>
            </a:pPr>
            <a:endParaRPr lang="en-US" sz="1000" dirty="0">
              <a:latin typeface="Consolas" panose="020B0609020204030204" pitchFamily="49" charset="0"/>
            </a:endParaRPr>
          </a:p>
          <a:p>
            <a:pPr marL="114300" indent="0">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return</a:t>
            </a:r>
            <a:r>
              <a:rPr lang="en-US" sz="1000" dirty="0">
                <a:solidFill>
                  <a:srgbClr val="000000"/>
                </a:solidFill>
                <a:latin typeface="Consolas" panose="020B0609020204030204" pitchFamily="49" charset="0"/>
              </a:rPr>
              <a:t> 0;</a:t>
            </a:r>
          </a:p>
          <a:p>
            <a:pPr marL="114300" indent="0">
              <a:spcBef>
                <a:spcPts val="0"/>
              </a:spcBef>
              <a:buNone/>
            </a:pPr>
            <a:r>
              <a:rPr lang="en-US" sz="1000" dirty="0">
                <a:solidFill>
                  <a:srgbClr val="000000"/>
                </a:solidFill>
                <a:latin typeface="Consolas" panose="020B0609020204030204" pitchFamily="49" charset="0"/>
              </a:rPr>
              <a:t>}</a:t>
            </a:r>
            <a:endParaRPr lang="en-US" sz="9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9C9B95C-87A2-8436-924A-824EBF85C96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DA4641-6C69-F20F-A64A-314C89D55F4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IPC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CBFFD03-353E-3B00-C789-7D492571B9A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53F2924-3534-92C7-D7BA-455D5F1149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B6C5CE7-EEA5-7112-4500-16D647B04ED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49BD167-ECA1-9B63-C328-3CDD4DEC40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01C97F3-E2A1-A527-AF6F-66F8779D034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081A17D-9CAA-1677-0569-A1E874114C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0BAF0EFD-B201-F8A4-F9C9-0C702C45600E}"/>
              </a:ext>
            </a:extLst>
          </p:cNvPr>
          <p:cNvSpPr txBox="1">
            <a:spLocks/>
          </p:cNvSpPr>
          <p:nvPr/>
        </p:nvSpPr>
        <p:spPr>
          <a:xfrm>
            <a:off x="5835651" y="1149900"/>
            <a:ext cx="5718558" cy="500548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spcBef>
                <a:spcPts val="0"/>
              </a:spcBef>
              <a:buNone/>
            </a:pPr>
            <a:r>
              <a:rPr lang="en-US" sz="1000" dirty="0">
                <a:solidFill>
                  <a:srgbClr val="3F7F5F"/>
                </a:solidFill>
                <a:latin typeface="Consolas" panose="020B0609020204030204" pitchFamily="49" charset="0"/>
              </a:rPr>
              <a:t>// CONSUMER  (which uses the data it gets from the producer)</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stdio.h</a:t>
            </a:r>
            <a:r>
              <a:rPr lang="en-US" sz="1000" dirty="0">
                <a:solidFill>
                  <a:srgbClr val="2A00FF"/>
                </a:solidFill>
                <a:latin typeface="Consolas" panose="020B0609020204030204" pitchFamily="49" charset="0"/>
              </a:rPr>
              <a:t>&gt;</a:t>
            </a: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stdlib.h</a:t>
            </a:r>
            <a:r>
              <a:rPr lang="en-US" sz="1000" dirty="0">
                <a:solidFill>
                  <a:srgbClr val="2A00FF"/>
                </a:solidFill>
                <a:latin typeface="Consolas" panose="020B0609020204030204" pitchFamily="49" charset="0"/>
              </a:rPr>
              <a:t>&gt;</a:t>
            </a: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fcntl.h</a:t>
            </a:r>
            <a:r>
              <a:rPr lang="en-US" sz="1000" dirty="0">
                <a:solidFill>
                  <a:srgbClr val="2A00FF"/>
                </a:solidFill>
                <a:latin typeface="Consolas" panose="020B0609020204030204" pitchFamily="49" charset="0"/>
              </a:rPr>
              <a:t>&gt;</a:t>
            </a: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a:t>
            </a:r>
            <a:r>
              <a:rPr lang="en-US" sz="1000" dirty="0" err="1">
                <a:solidFill>
                  <a:srgbClr val="2A00FF"/>
                </a:solidFill>
                <a:latin typeface="Consolas" panose="020B0609020204030204" pitchFamily="49" charset="0"/>
              </a:rPr>
              <a:t>unistd.h</a:t>
            </a:r>
            <a:r>
              <a:rPr lang="en-US" sz="1000" dirty="0">
                <a:solidFill>
                  <a:srgbClr val="2A00FF"/>
                </a:solidFill>
                <a:latin typeface="Consolas" panose="020B0609020204030204" pitchFamily="49" charset="0"/>
              </a:rPr>
              <a:t>&gt;</a:t>
            </a: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&lt;sys/</a:t>
            </a:r>
            <a:r>
              <a:rPr lang="en-US" sz="1000" dirty="0" err="1">
                <a:solidFill>
                  <a:srgbClr val="2A00FF"/>
                </a:solidFill>
                <a:latin typeface="Consolas" panose="020B0609020204030204" pitchFamily="49" charset="0"/>
              </a:rPr>
              <a:t>shm.h</a:t>
            </a:r>
            <a:r>
              <a:rPr lang="en-US" sz="1000" dirty="0">
                <a:solidFill>
                  <a:srgbClr val="2A00FF"/>
                </a:solidFill>
                <a:latin typeface="Consolas" panose="020B0609020204030204" pitchFamily="49" charset="0"/>
              </a:rPr>
              <a:t>&gt;</a:t>
            </a:r>
          </a:p>
          <a:p>
            <a:pPr marL="114300" indent="0" algn="l">
              <a:spcBef>
                <a:spcPts val="0"/>
              </a:spcBef>
              <a:buNone/>
            </a:pPr>
            <a:r>
              <a:rPr lang="en-US" sz="1000" dirty="0">
                <a:solidFill>
                  <a:srgbClr val="7F0055"/>
                </a:solidFill>
                <a:latin typeface="Consolas" panose="020B0609020204030204" pitchFamily="49" charset="0"/>
              </a:rPr>
              <a:t>#include</a:t>
            </a:r>
            <a:r>
              <a:rPr lang="en-US" sz="1000" dirty="0">
                <a:solidFill>
                  <a:srgbClr val="000000"/>
                </a:solidFill>
                <a:latin typeface="Consolas" panose="020B0609020204030204" pitchFamily="49" charset="0"/>
              </a:rPr>
              <a:t> </a:t>
            </a:r>
            <a:r>
              <a:rPr lang="en-US" sz="1000" dirty="0">
                <a:solidFill>
                  <a:srgbClr val="2A00FF"/>
                </a:solidFill>
                <a:latin typeface="Consolas" panose="020B0609020204030204" pitchFamily="49" charset="0"/>
              </a:rPr>
              <a:t>&lt;sys/</a:t>
            </a:r>
            <a:r>
              <a:rPr lang="en-US" sz="1000" dirty="0" err="1">
                <a:solidFill>
                  <a:srgbClr val="2A00FF"/>
                </a:solidFill>
                <a:latin typeface="Consolas" panose="020B0609020204030204" pitchFamily="49" charset="0"/>
              </a:rPr>
              <a:t>mman.h</a:t>
            </a:r>
            <a:r>
              <a:rPr lang="en-US" sz="1000" dirty="0">
                <a:solidFill>
                  <a:srgbClr val="2A00FF"/>
                </a:solidFill>
                <a:latin typeface="Consolas" panose="020B0609020204030204" pitchFamily="49" charset="0"/>
              </a:rPr>
              <a:t>&gt;</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main()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SIZE = 4096; </a:t>
            </a:r>
            <a:r>
              <a:rPr lang="en-US" sz="1000" dirty="0">
                <a:solidFill>
                  <a:srgbClr val="3F7F5F"/>
                </a:solidFill>
                <a:latin typeface="Consolas" panose="020B0609020204030204" pitchFamily="49" charset="0"/>
              </a:rPr>
              <a:t>/* </a:t>
            </a:r>
            <a:r>
              <a:rPr lang="en-US" sz="1000" dirty="0" err="1">
                <a:solidFill>
                  <a:srgbClr val="3F7F5F"/>
                </a:solidFill>
                <a:latin typeface="Consolas" panose="020B0609020204030204" pitchFamily="49" charset="0"/>
              </a:rPr>
              <a:t>buffersize</a:t>
            </a:r>
            <a:r>
              <a:rPr lang="en-US" sz="1000" dirty="0">
                <a:solidFill>
                  <a:srgbClr val="3F7F5F"/>
                </a:solidFill>
                <a:latin typeface="Consolas" panose="020B0609020204030204" pitchFamily="49" charset="0"/>
              </a:rPr>
              <a:t> (bytes)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const</a:t>
            </a: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char</a:t>
            </a:r>
            <a:r>
              <a:rPr lang="en-US" sz="1000" dirty="0">
                <a:solidFill>
                  <a:srgbClr val="000000"/>
                </a:solidFill>
                <a:latin typeface="Consolas" panose="020B0609020204030204" pitchFamily="49" charset="0"/>
              </a:rPr>
              <a:t> *name = </a:t>
            </a:r>
            <a:r>
              <a:rPr lang="en-US" sz="1000" dirty="0">
                <a:solidFill>
                  <a:srgbClr val="2A00FF"/>
                </a:solidFill>
                <a:latin typeface="Consolas" panose="020B0609020204030204" pitchFamily="49" charset="0"/>
              </a:rPr>
              <a:t>"OS"</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shared memory object name */</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int</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file descriptor */</a:t>
            </a: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void</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open the shared memory file */</a:t>
            </a:r>
          </a:p>
          <a:p>
            <a:pPr marL="114300" indent="0" algn="l">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shm_open</a:t>
            </a:r>
            <a:r>
              <a:rPr lang="en-US" sz="1000" dirty="0">
                <a:solidFill>
                  <a:srgbClr val="000000"/>
                </a:solidFill>
                <a:latin typeface="Consolas" panose="020B0609020204030204" pitchFamily="49" charset="0"/>
              </a:rPr>
              <a:t>(name, O_RDONLY, 0666);</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memory map the shared memory file */</a:t>
            </a:r>
          </a:p>
          <a:p>
            <a:pPr marL="114300" indent="0" algn="l">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 = </a:t>
            </a:r>
            <a:r>
              <a:rPr lang="en-US" sz="1000" dirty="0" err="1">
                <a:solidFill>
                  <a:srgbClr val="000000"/>
                </a:solidFill>
                <a:latin typeface="Consolas" panose="020B0609020204030204" pitchFamily="49" charset="0"/>
              </a:rPr>
              <a:t>mmap</a:t>
            </a:r>
            <a:r>
              <a:rPr lang="en-US" sz="1000" dirty="0">
                <a:solidFill>
                  <a:srgbClr val="000000"/>
                </a:solidFill>
                <a:latin typeface="Consolas" panose="020B0609020204030204" pitchFamily="49" charset="0"/>
              </a:rPr>
              <a:t>(0, SIZE, PROT_READ, MAP_SHARED, </a:t>
            </a:r>
            <a:r>
              <a:rPr lang="en-US" sz="1000" dirty="0" err="1">
                <a:solidFill>
                  <a:srgbClr val="000000"/>
                </a:solidFill>
                <a:latin typeface="Consolas" panose="020B0609020204030204" pitchFamily="49" charset="0"/>
              </a:rPr>
              <a:t>shm_fd</a:t>
            </a:r>
            <a:r>
              <a:rPr lang="en-US" sz="1000" dirty="0">
                <a:solidFill>
                  <a:srgbClr val="000000"/>
                </a:solidFill>
                <a:latin typeface="Consolas" panose="020B0609020204030204" pitchFamily="49" charset="0"/>
              </a:rPr>
              <a:t>, 0);</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read from the shared memory file */</a:t>
            </a:r>
          </a:p>
          <a:p>
            <a:pPr marL="114300" indent="0" algn="l">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printf</a:t>
            </a:r>
            <a:r>
              <a:rPr lang="en-US" sz="1000" dirty="0">
                <a:solidFill>
                  <a:srgbClr val="000000"/>
                </a:solidFill>
                <a:latin typeface="Consolas" panose="020B0609020204030204" pitchFamily="49" charset="0"/>
              </a:rPr>
              <a:t>(</a:t>
            </a:r>
            <a:r>
              <a:rPr lang="en-US" sz="1000" dirty="0">
                <a:solidFill>
                  <a:srgbClr val="2A00FF"/>
                </a:solidFill>
                <a:latin typeface="Consolas" panose="020B0609020204030204" pitchFamily="49" charset="0"/>
              </a:rPr>
              <a:t>"%s"</a:t>
            </a:r>
            <a:r>
              <a:rPr lang="en-US" sz="1000" dirty="0">
                <a:solidFill>
                  <a:srgbClr val="000000"/>
                </a:solidFill>
                <a:latin typeface="Consolas" panose="020B0609020204030204" pitchFamily="49" charset="0"/>
              </a:rPr>
              <a:t>,(</a:t>
            </a:r>
            <a:r>
              <a:rPr lang="en-US" sz="1000" dirty="0">
                <a:solidFill>
                  <a:srgbClr val="7F0055"/>
                </a:solidFill>
                <a:latin typeface="Consolas" panose="020B0609020204030204" pitchFamily="49" charset="0"/>
              </a:rPr>
              <a:t>char</a:t>
            </a: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ptr</a:t>
            </a:r>
            <a:r>
              <a:rPr lang="en-US" sz="1000" dirty="0">
                <a:solidFill>
                  <a:srgbClr val="000000"/>
                </a:solidFill>
                <a:latin typeface="Consolas" panose="020B0609020204030204" pitchFamily="49" charset="0"/>
              </a:rPr>
              <a:t>);</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3F7F5F"/>
                </a:solidFill>
                <a:latin typeface="Consolas" panose="020B0609020204030204" pitchFamily="49" charset="0"/>
              </a:rPr>
              <a:t>/* remove the shared memory file */</a:t>
            </a:r>
          </a:p>
          <a:p>
            <a:pPr marL="114300" indent="0" algn="l">
              <a:spcBef>
                <a:spcPts val="0"/>
              </a:spcBef>
              <a:buNone/>
            </a:pPr>
            <a:r>
              <a:rPr lang="en-US" sz="1000" dirty="0">
                <a:solidFill>
                  <a:srgbClr val="000000"/>
                </a:solidFill>
                <a:latin typeface="Consolas" panose="020B0609020204030204" pitchFamily="49" charset="0"/>
              </a:rPr>
              <a:t>  </a:t>
            </a:r>
            <a:r>
              <a:rPr lang="en-US" sz="1000" dirty="0" err="1">
                <a:solidFill>
                  <a:srgbClr val="000000"/>
                </a:solidFill>
                <a:latin typeface="Consolas" panose="020B0609020204030204" pitchFamily="49" charset="0"/>
              </a:rPr>
              <a:t>shm_unlink</a:t>
            </a:r>
            <a:r>
              <a:rPr lang="en-US" sz="1000" dirty="0">
                <a:solidFill>
                  <a:srgbClr val="000000"/>
                </a:solidFill>
                <a:latin typeface="Consolas" panose="020B0609020204030204" pitchFamily="49" charset="0"/>
              </a:rPr>
              <a:t>(name);</a:t>
            </a:r>
          </a:p>
          <a:p>
            <a:pPr marL="114300" indent="0" algn="l">
              <a:spcBef>
                <a:spcPts val="0"/>
              </a:spcBef>
              <a:buNone/>
            </a:pPr>
            <a:endParaRPr lang="en-US" sz="1000" dirty="0">
              <a:latin typeface="Consolas" panose="020B0609020204030204" pitchFamily="49" charset="0"/>
            </a:endParaRPr>
          </a:p>
          <a:p>
            <a:pPr marL="114300" indent="0" algn="l">
              <a:spcBef>
                <a:spcPts val="0"/>
              </a:spcBef>
              <a:buNone/>
            </a:pPr>
            <a:r>
              <a:rPr lang="en-US" sz="1000" dirty="0">
                <a:solidFill>
                  <a:srgbClr val="000000"/>
                </a:solidFill>
                <a:latin typeface="Consolas" panose="020B0609020204030204" pitchFamily="49" charset="0"/>
              </a:rPr>
              <a:t>  </a:t>
            </a:r>
            <a:r>
              <a:rPr lang="en-US" sz="1000" dirty="0">
                <a:solidFill>
                  <a:srgbClr val="7F0055"/>
                </a:solidFill>
                <a:latin typeface="Consolas" panose="020B0609020204030204" pitchFamily="49" charset="0"/>
              </a:rPr>
              <a:t>return</a:t>
            </a:r>
            <a:r>
              <a:rPr lang="en-US" sz="1000" dirty="0">
                <a:solidFill>
                  <a:srgbClr val="000000"/>
                </a:solidFill>
                <a:latin typeface="Consolas" panose="020B0609020204030204" pitchFamily="49" charset="0"/>
              </a:rPr>
              <a:t> 0;</a:t>
            </a:r>
          </a:p>
          <a:p>
            <a:pPr marL="114300" indent="0" algn="l">
              <a:spcBef>
                <a:spcPts val="0"/>
              </a:spcBef>
              <a:buNone/>
            </a:pPr>
            <a:r>
              <a:rPr lang="en-US" sz="1000" dirty="0">
                <a:solidFill>
                  <a:srgbClr val="000000"/>
                </a:solidFill>
                <a:latin typeface="Consolas" panose="020B0609020204030204" pitchFamily="49" charset="0"/>
              </a:rPr>
              <a:t>}</a:t>
            </a:r>
            <a:endParaRPr lang="en-US" sz="900" dirty="0">
              <a:latin typeface="Atkinson Hyperlegible Next"/>
              <a:ea typeface="Arial"/>
              <a:cs typeface="Arial"/>
              <a:sym typeface="Arial"/>
            </a:endParaRPr>
          </a:p>
        </p:txBody>
      </p:sp>
    </p:spTree>
    <p:extLst>
      <p:ext uri="{BB962C8B-B14F-4D97-AF65-F5344CB8AC3E}">
        <p14:creationId xmlns:p14="http://schemas.microsoft.com/office/powerpoint/2010/main" val="908533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65425E5-0578-ADDB-268A-B43E45C5DC2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56E9D83-C75E-6C17-C85A-76F31A59826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57C01A0-51D8-EAA5-10D3-51D4D67738E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176308E5-EA1E-9F96-CE1E-F3014600DE0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0F753F-DA2B-6697-21C8-2463AF2B569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3209A51-1859-7770-0A22-9714DC6A496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DB3EC6-2C39-CFF3-65B5-F8FA4ED2B63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D044D30-134C-A61D-18A8-62045A32847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2AF7925-0989-B538-9DF5-77960C2AE17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4" name="Graphic 23">
            <a:extLst>
              <a:ext uri="{FF2B5EF4-FFF2-40B4-BE49-F238E27FC236}">
                <a16:creationId xmlns:a16="http://schemas.microsoft.com/office/drawing/2014/main" id="{84B40BA0-6200-7012-2665-31C9F569C49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58918" y="1003086"/>
            <a:ext cx="6380162" cy="5501654"/>
          </a:xfrm>
          <a:prstGeom prst="rect">
            <a:avLst/>
          </a:prstGeom>
        </p:spPr>
      </p:pic>
    </p:spTree>
    <p:extLst>
      <p:ext uri="{BB962C8B-B14F-4D97-AF65-F5344CB8AC3E}">
        <p14:creationId xmlns:p14="http://schemas.microsoft.com/office/powerpoint/2010/main" val="2345947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E4655BB-9D4A-4AAB-9FA3-4464C59C2F5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CD7DC9E-CFF4-AC5A-9325-A256F01EB52C}"/>
              </a:ext>
            </a:extLst>
          </p:cNvPr>
          <p:cNvSpPr txBox="1">
            <a:spLocks noGrp="1"/>
          </p:cNvSpPr>
          <p:nvPr>
            <p:ph type="body" idx="1"/>
          </p:nvPr>
        </p:nvSpPr>
        <p:spPr>
          <a:xfrm>
            <a:off x="376809" y="1334279"/>
            <a:ext cx="11177401" cy="5151692"/>
          </a:xfrm>
          <a:prstGeom prst="rect">
            <a:avLst/>
          </a:prstGeom>
          <a:noFill/>
          <a:ln>
            <a:noFill/>
          </a:ln>
        </p:spPr>
        <p:txBody>
          <a:bodyPr spcFirstLastPara="1" wrap="square" lIns="91425" tIns="45700" rIns="91425" bIns="45700" anchor="t" anchorCtr="0">
            <a:noAutofit/>
          </a:bodyPr>
          <a:lstStyle/>
          <a:p>
            <a:pPr marL="285750" indent="-285750">
              <a:lnSpc>
                <a:spcPct val="100000"/>
              </a:lnSpc>
              <a:spcBef>
                <a:spcPts val="0"/>
              </a:spcBef>
              <a:buSzPts val="3000"/>
            </a:pPr>
            <a:r>
              <a:rPr lang="en-US" sz="1800" dirty="0">
                <a:latin typeface="Atkinson Hyperlegible Next"/>
                <a:ea typeface="Arial"/>
                <a:cs typeface="Arial"/>
                <a:sym typeface="Arial"/>
              </a:rPr>
              <a:t>The message passing is split into 2 different mechanism </a:t>
            </a:r>
            <a:r>
              <a:rPr lang="en-US" sz="1800" b="1" dirty="0">
                <a:latin typeface="Atkinson Hyperlegible Next"/>
                <a:ea typeface="Arial"/>
                <a:cs typeface="Arial"/>
                <a:sym typeface="Arial"/>
              </a:rPr>
              <a:t>signals </a:t>
            </a:r>
            <a:r>
              <a:rPr lang="en-US" sz="1800" dirty="0">
                <a:latin typeface="Atkinson Hyperlegible Next"/>
                <a:ea typeface="Arial"/>
                <a:cs typeface="Arial"/>
                <a:sym typeface="Arial"/>
              </a:rPr>
              <a:t>and </a:t>
            </a:r>
            <a:r>
              <a:rPr lang="en-US" sz="1800" b="1" dirty="0">
                <a:latin typeface="Atkinson Hyperlegible Next"/>
                <a:ea typeface="Arial"/>
                <a:cs typeface="Arial"/>
                <a:sym typeface="Arial"/>
              </a:rPr>
              <a:t>pipes</a:t>
            </a:r>
            <a:r>
              <a:rPr lang="en-US" sz="1800" dirty="0">
                <a:latin typeface="Atkinson Hyperlegible Next"/>
                <a:ea typeface="Arial"/>
                <a:cs typeface="Arial"/>
                <a:sym typeface="Arial"/>
              </a:rPr>
              <a:t> </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b="1" dirty="0">
                <a:latin typeface="Atkinson Hyperlegible Next"/>
                <a:ea typeface="Arial"/>
                <a:cs typeface="Arial"/>
                <a:sym typeface="Arial"/>
              </a:rPr>
              <a:t>Signals</a:t>
            </a:r>
            <a:r>
              <a:rPr lang="en-US" sz="1800" dirty="0">
                <a:latin typeface="Atkinson Hyperlegible Next"/>
                <a:ea typeface="Arial"/>
                <a:cs typeface="Arial"/>
                <a:sym typeface="Arial"/>
              </a:rPr>
              <a:t> are the cheapest form of IPC. They literally allow one process to send a signal (a code) to another process, using the function kill() (terminates a running program). </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114300" indent="0">
              <a:spcBef>
                <a:spcPts val="0"/>
              </a:spcBef>
              <a:buNone/>
            </a:pPr>
            <a:r>
              <a:rPr lang="en-US" sz="1400" dirty="0">
                <a:solidFill>
                  <a:srgbClr val="000000"/>
                </a:solidFill>
                <a:latin typeface="Consolas" panose="020B0609020204030204" pitchFamily="49" charset="0"/>
              </a:rPr>
              <a:t>kill -L</a:t>
            </a:r>
          </a:p>
          <a:p>
            <a:pPr marL="114300" indent="0">
              <a:spcBef>
                <a:spcPts val="0"/>
              </a:spcBef>
              <a:buNone/>
            </a:pPr>
            <a:r>
              <a:rPr lang="en-US" sz="1400" dirty="0">
                <a:solidFill>
                  <a:srgbClr val="000000"/>
                </a:solidFill>
                <a:latin typeface="Consolas" panose="020B0609020204030204" pitchFamily="49" charset="0"/>
              </a:rPr>
              <a:t> 1) SIGHUP       2) SIGINT       3) SIGQUIT      4) SIGILL       5) SIGTRAP</a:t>
            </a:r>
          </a:p>
          <a:p>
            <a:pPr marL="114300" indent="0">
              <a:spcBef>
                <a:spcPts val="0"/>
              </a:spcBef>
              <a:buNone/>
            </a:pPr>
            <a:r>
              <a:rPr lang="en-US" sz="1400" dirty="0">
                <a:solidFill>
                  <a:srgbClr val="000000"/>
                </a:solidFill>
                <a:latin typeface="Consolas" panose="020B0609020204030204" pitchFamily="49" charset="0"/>
              </a:rPr>
              <a:t> 6) SIGABRT      7) SIGBUS       8) SIGFPE       9) SIGKILL     10) SIGUSR1</a:t>
            </a:r>
          </a:p>
          <a:p>
            <a:pPr marL="114300" indent="0">
              <a:spcBef>
                <a:spcPts val="0"/>
              </a:spcBef>
              <a:buNone/>
            </a:pPr>
            <a:r>
              <a:rPr lang="da-DK" sz="1400" dirty="0">
                <a:solidFill>
                  <a:srgbClr val="000000"/>
                </a:solidFill>
                <a:latin typeface="Consolas" panose="020B0609020204030204" pitchFamily="49" charset="0"/>
              </a:rPr>
              <a:t>11) SIGSEGV     12) SIGUSR2     13) SIGPIPE     14) SIGALRM     15) SIGTERM</a:t>
            </a:r>
          </a:p>
          <a:p>
            <a:pPr marL="114300" indent="0">
              <a:spcBef>
                <a:spcPts val="0"/>
              </a:spcBef>
              <a:buNone/>
            </a:pPr>
            <a:r>
              <a:rPr lang="da-DK" sz="1400" dirty="0">
                <a:solidFill>
                  <a:srgbClr val="000000"/>
                </a:solidFill>
                <a:latin typeface="Consolas" panose="020B0609020204030204" pitchFamily="49" charset="0"/>
              </a:rPr>
              <a:t>16) SIGSTKFLT   17) SIGCHLD     18) SIGCONT     19) SIGSTOP     20) SIGTSTP</a:t>
            </a:r>
          </a:p>
          <a:p>
            <a:pPr marL="114300" indent="0">
              <a:spcBef>
                <a:spcPts val="0"/>
              </a:spcBef>
              <a:buNone/>
            </a:pPr>
            <a:r>
              <a:rPr lang="en-US" sz="1400" dirty="0">
                <a:solidFill>
                  <a:srgbClr val="000000"/>
                </a:solidFill>
                <a:latin typeface="Consolas" panose="020B0609020204030204" pitchFamily="49" charset="0"/>
              </a:rPr>
              <a:t>21) SIGTTIN     22) SIGTTOU     23) SIGURG      24) SIGXCPU     25) SIGXFSZ</a:t>
            </a:r>
          </a:p>
          <a:p>
            <a:pPr marL="114300" indent="0">
              <a:spcBef>
                <a:spcPts val="0"/>
              </a:spcBef>
              <a:buNone/>
            </a:pPr>
            <a:r>
              <a:rPr lang="en-US" sz="1400" dirty="0">
                <a:solidFill>
                  <a:srgbClr val="000000"/>
                </a:solidFill>
                <a:latin typeface="Consolas" panose="020B0609020204030204" pitchFamily="49" charset="0"/>
              </a:rPr>
              <a:t>26) SIGVTALRM   27) SIGPROF     28) SIGWINCH    29) SIGIO       30) SIGPWR</a:t>
            </a:r>
          </a:p>
          <a:p>
            <a:pPr marL="114300" indent="0">
              <a:spcBef>
                <a:spcPts val="0"/>
              </a:spcBef>
              <a:buNone/>
            </a:pPr>
            <a:r>
              <a:rPr lang="sv-SE" sz="1400" dirty="0">
                <a:solidFill>
                  <a:srgbClr val="000000"/>
                </a:solidFill>
                <a:latin typeface="Consolas" panose="020B0609020204030204" pitchFamily="49" charset="0"/>
              </a:rPr>
              <a:t>31) SIGSYS      34) SIGRTMIN    35) SIGRTMIN+1  36) SIGRTMIN+2  37) SIGRTMIN+3</a:t>
            </a:r>
          </a:p>
          <a:p>
            <a:pPr marL="114300" indent="0">
              <a:spcBef>
                <a:spcPts val="0"/>
              </a:spcBef>
              <a:buNone/>
            </a:pPr>
            <a:r>
              <a:rPr lang="sv-SE" sz="1400" dirty="0">
                <a:solidFill>
                  <a:srgbClr val="000000"/>
                </a:solidFill>
                <a:latin typeface="Consolas" panose="020B0609020204030204" pitchFamily="49" charset="0"/>
              </a:rPr>
              <a:t>38) SIGRTMIN+4  39) SIGRTMIN+5  40) SIGRTMIN+6  41) SIGRTMIN+7  42) SIGRTMIN+8</a:t>
            </a:r>
          </a:p>
          <a:p>
            <a:pPr marL="114300" indent="0">
              <a:spcBef>
                <a:spcPts val="0"/>
              </a:spcBef>
              <a:buNone/>
            </a:pPr>
            <a:r>
              <a:rPr lang="sv-SE" sz="1400" dirty="0">
                <a:solidFill>
                  <a:srgbClr val="000000"/>
                </a:solidFill>
                <a:latin typeface="Consolas" panose="020B0609020204030204" pitchFamily="49" charset="0"/>
              </a:rPr>
              <a:t>43) SIGRTMIN+9  44) SIGRTMIN+10 45) SIGRTMIN+11 46) SIGRTMIN+12 47) SIGRTMIN+13</a:t>
            </a:r>
          </a:p>
          <a:p>
            <a:pPr marL="114300" indent="0">
              <a:spcBef>
                <a:spcPts val="0"/>
              </a:spcBef>
              <a:buNone/>
            </a:pPr>
            <a:r>
              <a:rPr lang="en-US" sz="1400" dirty="0">
                <a:solidFill>
                  <a:srgbClr val="000000"/>
                </a:solidFill>
                <a:latin typeface="Consolas" panose="020B0609020204030204" pitchFamily="49" charset="0"/>
              </a:rPr>
              <a:t>48) SIGRTMIN+14 49) SIGRTMIN+15 50) SIGRTMAX-14 51) SIGRTMAX-13 52) SIGRTMAX-12</a:t>
            </a:r>
          </a:p>
          <a:p>
            <a:pPr marL="114300" indent="0">
              <a:spcBef>
                <a:spcPts val="0"/>
              </a:spcBef>
              <a:buNone/>
            </a:pPr>
            <a:r>
              <a:rPr lang="en-US" sz="1400" dirty="0">
                <a:solidFill>
                  <a:srgbClr val="000000"/>
                </a:solidFill>
                <a:latin typeface="Consolas" panose="020B0609020204030204" pitchFamily="49" charset="0"/>
              </a:rPr>
              <a:t>53) SIGRTMAX-11 54) SIGRTMAX-10 55) SIGRTMAX-9  56) SIGRTMAX-8  57) SIGRTMAX-7</a:t>
            </a:r>
          </a:p>
          <a:p>
            <a:pPr marL="114300" indent="0">
              <a:spcBef>
                <a:spcPts val="0"/>
              </a:spcBef>
              <a:buNone/>
            </a:pPr>
            <a:r>
              <a:rPr lang="en-US" sz="1400" dirty="0">
                <a:solidFill>
                  <a:srgbClr val="000000"/>
                </a:solidFill>
                <a:latin typeface="Consolas" panose="020B0609020204030204" pitchFamily="49" charset="0"/>
              </a:rPr>
              <a:t>58) SIGRTMAX-6  59) SIGRTMAX-5  60) SIGRTMAX-4  61) SIGRTMAX-3  62) SIGRTMAX-2</a:t>
            </a:r>
          </a:p>
          <a:p>
            <a:pPr marL="114300" indent="0">
              <a:spcBef>
                <a:spcPts val="0"/>
              </a:spcBef>
              <a:buNone/>
            </a:pPr>
            <a:r>
              <a:rPr lang="en-US" sz="1400" dirty="0">
                <a:solidFill>
                  <a:srgbClr val="000000"/>
                </a:solidFill>
                <a:latin typeface="Consolas" panose="020B0609020204030204" pitchFamily="49" charset="0"/>
              </a:rPr>
              <a:t>63) SIGRTMAX-1  64) SIGRTMAX </a:t>
            </a:r>
            <a:endParaRPr lang="en-US" sz="18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425765B2-AB67-5699-F622-C0522796A3B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FC58158-B1C5-DE22-AD8B-F75A63D79E9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IPC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39C1BEC6-95B0-4A13-4C60-50FE23553CB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C64B337-3633-E063-CBEE-3260F288EA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4D3251-E56F-D486-E026-240DA36A005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1A71CEB-1850-2416-78A1-B6B4A8632AF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C4D2C72-208B-3480-4435-2AD76AFD238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727B41C-1BD8-F3A9-F3E1-279CFB70E0B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62164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33F6011-854A-59AA-A7F0-760F4083F7F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5DA39528-4BD1-8739-4AD5-2B3F967C626B}"/>
              </a:ext>
            </a:extLst>
          </p:cNvPr>
          <p:cNvSpPr txBox="1">
            <a:spLocks noGrp="1"/>
          </p:cNvSpPr>
          <p:nvPr>
            <p:ph type="body" idx="1"/>
          </p:nvPr>
        </p:nvSpPr>
        <p:spPr>
          <a:xfrm>
            <a:off x="376809" y="1334279"/>
            <a:ext cx="11452008" cy="4821102"/>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1600" dirty="0">
                <a:solidFill>
                  <a:srgbClr val="7F0055"/>
                </a:solidFill>
                <a:latin typeface="Consolas" panose="020B0609020204030204" pitchFamily="49" charset="0"/>
              </a:rPr>
              <a:t>#include</a:t>
            </a:r>
            <a:r>
              <a:rPr lang="en-US" sz="1600" dirty="0">
                <a:solidFill>
                  <a:srgbClr val="000000"/>
                </a:solidFill>
                <a:latin typeface="Consolas" panose="020B0609020204030204" pitchFamily="49" charset="0"/>
              </a:rPr>
              <a:t> </a:t>
            </a:r>
            <a:r>
              <a:rPr lang="en-US" sz="1600" dirty="0">
                <a:solidFill>
                  <a:srgbClr val="2A00FF"/>
                </a:solidFill>
                <a:latin typeface="Consolas" panose="020B0609020204030204" pitchFamily="49" charset="0"/>
              </a:rPr>
              <a:t>&lt;</a:t>
            </a:r>
            <a:r>
              <a:rPr lang="en-US" sz="1600" dirty="0" err="1">
                <a:solidFill>
                  <a:srgbClr val="2A00FF"/>
                </a:solidFill>
                <a:latin typeface="Consolas" panose="020B0609020204030204" pitchFamily="49" charset="0"/>
              </a:rPr>
              <a:t>stdio.h</a:t>
            </a:r>
            <a:r>
              <a:rPr lang="en-US" sz="1600" dirty="0">
                <a:solidFill>
                  <a:srgbClr val="2A00FF"/>
                </a:solidFill>
                <a:latin typeface="Consolas" panose="020B0609020204030204" pitchFamily="49" charset="0"/>
              </a:rPr>
              <a:t>&gt;</a:t>
            </a:r>
          </a:p>
          <a:p>
            <a:pPr marL="114300" indent="0" algn="l">
              <a:spcBef>
                <a:spcPts val="0"/>
              </a:spcBef>
              <a:buNone/>
            </a:pPr>
            <a:r>
              <a:rPr lang="en-US" sz="1600" dirty="0">
                <a:solidFill>
                  <a:srgbClr val="7F0055"/>
                </a:solidFill>
                <a:latin typeface="Consolas" panose="020B0609020204030204" pitchFamily="49" charset="0"/>
              </a:rPr>
              <a:t>#include</a:t>
            </a:r>
            <a:r>
              <a:rPr lang="en-US" sz="1600" dirty="0">
                <a:solidFill>
                  <a:srgbClr val="000000"/>
                </a:solidFill>
                <a:latin typeface="Consolas" panose="020B0609020204030204" pitchFamily="49" charset="0"/>
              </a:rPr>
              <a:t> </a:t>
            </a:r>
            <a:r>
              <a:rPr lang="en-US" sz="1600" dirty="0">
                <a:solidFill>
                  <a:srgbClr val="2A00FF"/>
                </a:solidFill>
                <a:latin typeface="Consolas" panose="020B0609020204030204" pitchFamily="49" charset="0"/>
              </a:rPr>
              <a:t>&lt;</a:t>
            </a:r>
            <a:r>
              <a:rPr lang="en-US" sz="1600" dirty="0" err="1">
                <a:solidFill>
                  <a:srgbClr val="2A00FF"/>
                </a:solidFill>
                <a:latin typeface="Consolas" panose="020B0609020204030204" pitchFamily="49" charset="0"/>
              </a:rPr>
              <a:t>stdlib.h</a:t>
            </a:r>
            <a:r>
              <a:rPr lang="en-US" sz="1600" dirty="0">
                <a:solidFill>
                  <a:srgbClr val="2A00FF"/>
                </a:solidFill>
                <a:latin typeface="Consolas" panose="020B0609020204030204" pitchFamily="49" charset="0"/>
              </a:rPr>
              <a:t>&gt;</a:t>
            </a:r>
          </a:p>
          <a:p>
            <a:pPr marL="114300" indent="0" algn="l">
              <a:spcBef>
                <a:spcPts val="0"/>
              </a:spcBef>
              <a:buNone/>
            </a:pPr>
            <a:r>
              <a:rPr lang="en-US" sz="1600" dirty="0">
                <a:solidFill>
                  <a:srgbClr val="7F0055"/>
                </a:solidFill>
                <a:latin typeface="Consolas" panose="020B0609020204030204" pitchFamily="49" charset="0"/>
              </a:rPr>
              <a:t>#include</a:t>
            </a:r>
            <a:r>
              <a:rPr lang="en-US" sz="1600" dirty="0">
                <a:solidFill>
                  <a:srgbClr val="000000"/>
                </a:solidFill>
                <a:latin typeface="Consolas" panose="020B0609020204030204" pitchFamily="49" charset="0"/>
              </a:rPr>
              <a:t> </a:t>
            </a:r>
            <a:r>
              <a:rPr lang="en-US" sz="1600" dirty="0">
                <a:solidFill>
                  <a:srgbClr val="2A00FF"/>
                </a:solidFill>
                <a:latin typeface="Consolas" panose="020B0609020204030204" pitchFamily="49" charset="0"/>
              </a:rPr>
              <a:t>&lt;</a:t>
            </a:r>
            <a:r>
              <a:rPr lang="en-US" sz="1600" dirty="0" err="1">
                <a:solidFill>
                  <a:srgbClr val="2A00FF"/>
                </a:solidFill>
                <a:latin typeface="Consolas" panose="020B0609020204030204" pitchFamily="49" charset="0"/>
              </a:rPr>
              <a:t>signal.h</a:t>
            </a:r>
            <a:r>
              <a:rPr lang="en-US" sz="1600" dirty="0">
                <a:solidFill>
                  <a:srgbClr val="2A00FF"/>
                </a:solidFill>
                <a:latin typeface="Consolas" panose="020B0609020204030204" pitchFamily="49" charset="0"/>
              </a:rPr>
              <a:t>&gt;</a:t>
            </a:r>
          </a:p>
          <a:p>
            <a:pPr marL="114300" indent="0" algn="l">
              <a:spcBef>
                <a:spcPts val="0"/>
              </a:spcBef>
              <a:buNone/>
            </a:pPr>
            <a:endParaRPr lang="en-US" sz="1600" dirty="0">
              <a:latin typeface="Consolas" panose="020B0609020204030204" pitchFamily="49" charset="0"/>
            </a:endParaRPr>
          </a:p>
          <a:p>
            <a:pPr marL="114300" indent="0" algn="l">
              <a:spcBef>
                <a:spcPts val="0"/>
              </a:spcBef>
              <a:buNone/>
            </a:pPr>
            <a:r>
              <a:rPr lang="en-US" sz="1600" dirty="0">
                <a:solidFill>
                  <a:srgbClr val="3F7F5F"/>
                </a:solidFill>
                <a:latin typeface="Consolas" panose="020B0609020204030204" pitchFamily="49" charset="0"/>
              </a:rPr>
              <a:t>// Signal handler function</a:t>
            </a:r>
          </a:p>
          <a:p>
            <a:pPr marL="114300" indent="0" algn="l">
              <a:spcBef>
                <a:spcPts val="0"/>
              </a:spcBef>
              <a:buNone/>
            </a:pPr>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signalHandler</a:t>
            </a:r>
            <a:r>
              <a:rPr lang="en-US" sz="1600" dirty="0">
                <a:solidFill>
                  <a:srgbClr val="000000"/>
                </a:solidFill>
                <a:latin typeface="Consolas" panose="020B0609020204030204" pitchFamily="49" charset="0"/>
              </a:rPr>
              <a:t>(</a:t>
            </a:r>
            <a:r>
              <a:rPr lang="en-US" sz="1600" dirty="0">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sig) {</a:t>
            </a:r>
          </a:p>
          <a:p>
            <a:pPr marL="114300" indent="0" algn="l">
              <a:spcBef>
                <a:spcPts val="0"/>
              </a:spcBef>
              <a:buNone/>
            </a:pP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printf</a:t>
            </a:r>
            <a:r>
              <a:rPr lang="en-US" sz="1600" dirty="0">
                <a:solidFill>
                  <a:srgbClr val="000000"/>
                </a:solidFill>
                <a:latin typeface="Consolas" panose="020B0609020204030204" pitchFamily="49" charset="0"/>
              </a:rPr>
              <a:t>(</a:t>
            </a:r>
            <a:r>
              <a:rPr lang="en-US" sz="1600" dirty="0">
                <a:solidFill>
                  <a:srgbClr val="2A00FF"/>
                </a:solidFill>
                <a:latin typeface="Consolas" panose="020B0609020204030204" pitchFamily="49" charset="0"/>
              </a:rPr>
              <a:t>"Interrupt handled: %d"</a:t>
            </a:r>
            <a:r>
              <a:rPr lang="en-US" sz="1600" dirty="0">
                <a:solidFill>
                  <a:srgbClr val="000000"/>
                </a:solidFill>
                <a:latin typeface="Consolas" panose="020B0609020204030204" pitchFamily="49" charset="0"/>
              </a:rPr>
              <a:t>, sig);</a:t>
            </a:r>
          </a:p>
          <a:p>
            <a:pPr marL="114300" indent="0" algn="l">
              <a:spcBef>
                <a:spcPts val="0"/>
              </a:spcBef>
              <a:buNone/>
            </a:pPr>
            <a:r>
              <a:rPr lang="en-US" sz="1600" dirty="0">
                <a:solidFill>
                  <a:srgbClr val="000000"/>
                </a:solidFill>
                <a:latin typeface="Consolas" panose="020B0609020204030204" pitchFamily="49" charset="0"/>
              </a:rPr>
              <a:t>    </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Optionally exit the program after handling</a:t>
            </a:r>
          </a:p>
          <a:p>
            <a:pPr marL="114300" indent="0" algn="l">
              <a:spcBef>
                <a:spcPts val="0"/>
              </a:spcBef>
              <a:buNone/>
            </a:pPr>
            <a:r>
              <a:rPr lang="en-US" sz="1600" dirty="0">
                <a:solidFill>
                  <a:srgbClr val="000000"/>
                </a:solidFill>
                <a:latin typeface="Consolas" panose="020B0609020204030204" pitchFamily="49" charset="0"/>
              </a:rPr>
              <a:t>    exit(sig);</a:t>
            </a:r>
          </a:p>
          <a:p>
            <a:pPr marL="114300" indent="0" algn="l">
              <a:spcBef>
                <a:spcPts val="0"/>
              </a:spcBef>
              <a:buNone/>
            </a:pPr>
            <a:r>
              <a:rPr lang="en-US" sz="1600" dirty="0">
                <a:solidFill>
                  <a:srgbClr val="000000"/>
                </a:solidFill>
                <a:latin typeface="Consolas" panose="020B0609020204030204" pitchFamily="49" charset="0"/>
              </a:rPr>
              <a:t>}</a:t>
            </a:r>
          </a:p>
          <a:p>
            <a:pPr marL="114300" indent="0" algn="l">
              <a:spcBef>
                <a:spcPts val="0"/>
              </a:spcBef>
              <a:buNone/>
            </a:pPr>
            <a:endParaRPr lang="en-US" sz="1600" dirty="0">
              <a:latin typeface="Consolas" panose="020B0609020204030204" pitchFamily="49" charset="0"/>
            </a:endParaRPr>
          </a:p>
          <a:p>
            <a:pPr marL="114300" indent="0" algn="l">
              <a:spcBef>
                <a:spcPts val="0"/>
              </a:spcBef>
              <a:buNone/>
            </a:pPr>
            <a:r>
              <a:rPr lang="en-US" sz="1600" dirty="0">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main() {</a:t>
            </a:r>
          </a:p>
          <a:p>
            <a:pPr marL="114300" indent="0" algn="l">
              <a:spcBef>
                <a:spcPts val="0"/>
              </a:spcBef>
              <a:buNone/>
            </a:pPr>
            <a:r>
              <a:rPr lang="en-US" sz="1600" dirty="0">
                <a:solidFill>
                  <a:srgbClr val="000000"/>
                </a:solidFill>
                <a:latin typeface="Consolas" panose="020B0609020204030204" pitchFamily="49" charset="0"/>
              </a:rPr>
              <a:t>    </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Handle signal</a:t>
            </a:r>
          </a:p>
          <a:p>
            <a:pPr marL="114300" indent="0" algn="l">
              <a:spcBef>
                <a:spcPts val="0"/>
              </a:spcBef>
              <a:buNone/>
            </a:pPr>
            <a:r>
              <a:rPr lang="en-US" sz="1600" dirty="0">
                <a:solidFill>
                  <a:srgbClr val="000000"/>
                </a:solidFill>
                <a:latin typeface="Consolas" panose="020B0609020204030204" pitchFamily="49" charset="0"/>
              </a:rPr>
              <a:t>    signal(SIGINT, </a:t>
            </a:r>
            <a:r>
              <a:rPr lang="en-US" sz="1600" dirty="0" err="1">
                <a:solidFill>
                  <a:srgbClr val="000000"/>
                </a:solidFill>
                <a:latin typeface="Consolas" panose="020B0609020204030204" pitchFamily="49" charset="0"/>
              </a:rPr>
              <a:t>signalHandler</a:t>
            </a:r>
            <a:r>
              <a:rPr lang="en-US" sz="1600" dirty="0">
                <a:solidFill>
                  <a:srgbClr val="000000"/>
                </a:solidFill>
                <a:latin typeface="Consolas" panose="020B0609020204030204" pitchFamily="49" charset="0"/>
              </a:rPr>
              <a:t>);</a:t>
            </a:r>
          </a:p>
          <a:p>
            <a:pPr marL="114300" indent="0" algn="l">
              <a:spcBef>
                <a:spcPts val="0"/>
              </a:spcBef>
              <a:buNone/>
            </a:pPr>
            <a:r>
              <a:rPr lang="en-US" sz="1600" dirty="0">
                <a:solidFill>
                  <a:srgbClr val="000000"/>
                </a:solidFill>
                <a:latin typeface="Consolas" panose="020B0609020204030204" pitchFamily="49" charset="0"/>
              </a:rPr>
              <a:t>    </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Automatically generate a signal</a:t>
            </a:r>
          </a:p>
          <a:p>
            <a:pPr marL="114300" indent="0" algn="l">
              <a:spcBef>
                <a:spcPts val="0"/>
              </a:spcBef>
              <a:buNone/>
            </a:pPr>
            <a:r>
              <a:rPr lang="en-US" sz="1600" dirty="0">
                <a:solidFill>
                  <a:srgbClr val="000000"/>
                </a:solidFill>
                <a:latin typeface="Consolas" panose="020B0609020204030204" pitchFamily="49" charset="0"/>
              </a:rPr>
              <a:t>    raise(SIGINT);</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return</a:t>
            </a:r>
            <a:r>
              <a:rPr lang="en-US" sz="1600" dirty="0">
                <a:solidFill>
                  <a:srgbClr val="000000"/>
                </a:solidFill>
                <a:latin typeface="Consolas" panose="020B0609020204030204" pitchFamily="49" charset="0"/>
              </a:rPr>
              <a:t> 0;</a:t>
            </a:r>
          </a:p>
          <a:p>
            <a:pPr marL="114300" indent="0" algn="l">
              <a:spcBef>
                <a:spcPts val="0"/>
              </a:spcBef>
              <a:buNone/>
            </a:pPr>
            <a:r>
              <a:rPr lang="en-US" sz="1600" dirty="0">
                <a:solidFill>
                  <a:srgbClr val="000000"/>
                </a:solidFill>
                <a:latin typeface="Consolas" panose="020B0609020204030204" pitchFamily="49" charset="0"/>
              </a:rPr>
              <a:t>}</a:t>
            </a:r>
            <a:endParaRPr lang="en-US" sz="1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83D2443-A1F1-DD7C-9C06-5FB7CD512DD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DD929BA-2F8E-40E7-6463-1F16FEB12C2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IPC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4BE3A127-C5F8-669B-1CDC-0A439207A80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55EB343-BA7C-3564-E129-EA6E6FA14D0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26A45D6-492C-EB1A-59F0-1199B9C1E9F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60F5198-F1EC-7803-B2CC-BD7194DE2A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7D305EF-8E42-6813-A1B7-D5DDFA174E9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27F35E2-6C20-62FA-557B-C4587AD1A37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509005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5F2538-E596-2714-4884-B26E68DE09B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2191BB5-3C18-CA38-46D2-052C455D40AE}"/>
              </a:ext>
            </a:extLst>
          </p:cNvPr>
          <p:cNvSpPr txBox="1">
            <a:spLocks noGrp="1"/>
          </p:cNvSpPr>
          <p:nvPr>
            <p:ph type="body" idx="1"/>
          </p:nvPr>
        </p:nvSpPr>
        <p:spPr>
          <a:xfrm>
            <a:off x="376809" y="1334279"/>
            <a:ext cx="11177401" cy="515169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600" b="1" dirty="0">
                <a:latin typeface="Atkinson Hyperlegible Next"/>
                <a:ea typeface="Arial"/>
                <a:cs typeface="Arial"/>
                <a:sym typeface="Arial"/>
              </a:rPr>
              <a:t>Anonymous pipes </a:t>
            </a:r>
            <a:r>
              <a:rPr lang="en-US" sz="1600" dirty="0">
                <a:latin typeface="Atkinson Hyperlegible Next"/>
                <a:ea typeface="Arial"/>
                <a:cs typeface="Arial"/>
                <a:sym typeface="Arial"/>
              </a:rPr>
              <a:t>are like waterslides. (Named pipes are not often used)</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nSpc>
                <a:spcPct val="100000"/>
              </a:lnSpc>
              <a:spcBef>
                <a:spcPts val="0"/>
              </a:spcBef>
              <a:buSzPts val="3000"/>
              <a:buNone/>
            </a:pPr>
            <a:r>
              <a:rPr lang="en-US" sz="1600" dirty="0">
                <a:latin typeface="Atkinson Hyperlegible Next"/>
                <a:ea typeface="Arial"/>
                <a:cs typeface="Arial"/>
                <a:sym typeface="Arial"/>
              </a:rPr>
              <a:t>You can put some data on it on one end (the top of the slide) and it comes out the other (the bottom), but it’s not possible to go up the waterslide from the bottom. </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nSpc>
                <a:spcPct val="100000"/>
              </a:lnSpc>
              <a:spcBef>
                <a:spcPts val="0"/>
              </a:spcBef>
              <a:buSzPts val="3000"/>
              <a:buNone/>
            </a:pPr>
            <a:r>
              <a:rPr lang="en-US" sz="1600" dirty="0">
                <a:latin typeface="Atkinson Hyperlegible Next"/>
                <a:ea typeface="Arial"/>
                <a:cs typeface="Arial"/>
                <a:sym typeface="Arial"/>
              </a:rPr>
              <a:t>One process can write into the pipe, while the other can read from of the pipe. We write to a “virtual file” in memory. </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nSpc>
                <a:spcPct val="100000"/>
              </a:lnSpc>
              <a:spcBef>
                <a:spcPts val="0"/>
              </a:spcBef>
              <a:buSzPts val="3000"/>
              <a:buNone/>
            </a:pPr>
            <a:r>
              <a:rPr lang="en-US" sz="1600" dirty="0">
                <a:latin typeface="Atkinson Hyperlegible Next"/>
                <a:ea typeface="Arial"/>
                <a:cs typeface="Arial"/>
                <a:sym typeface="Arial"/>
              </a:rPr>
              <a:t>This type of pipe can only be created between two processes that have parent-child relationship. </a:t>
            </a:r>
          </a:p>
          <a:p>
            <a:pPr marL="0" indent="0">
              <a:lnSpc>
                <a:spcPct val="100000"/>
              </a:lnSpc>
              <a:spcBef>
                <a:spcPts val="0"/>
              </a:spcBef>
              <a:buSzPts val="3000"/>
              <a:buNone/>
            </a:pPr>
            <a:r>
              <a:rPr lang="en-US" sz="1600" dirty="0">
                <a:latin typeface="Atkinson Hyperlegible Next"/>
                <a:ea typeface="Arial"/>
                <a:cs typeface="Arial"/>
                <a:sym typeface="Arial"/>
              </a:rPr>
              <a:t>What happens internally is that the </a:t>
            </a:r>
            <a:r>
              <a:rPr lang="en-US" sz="1600" dirty="0" err="1">
                <a:latin typeface="Atkinson Hyperlegible Next"/>
                <a:ea typeface="Arial"/>
                <a:cs typeface="Arial"/>
                <a:sym typeface="Arial"/>
              </a:rPr>
              <a:t>stdout</a:t>
            </a:r>
            <a:r>
              <a:rPr lang="en-US" sz="1600" dirty="0">
                <a:latin typeface="Atkinson Hyperlegible Next"/>
                <a:ea typeface="Arial"/>
                <a:cs typeface="Arial"/>
                <a:sym typeface="Arial"/>
              </a:rPr>
              <a:t> of the first process is mapped to the stdin of the second process. </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nSpc>
                <a:spcPct val="100000"/>
              </a:lnSpc>
              <a:spcBef>
                <a:spcPts val="0"/>
              </a:spcBef>
              <a:buSzPts val="3000"/>
              <a:buNone/>
            </a:pPr>
            <a:r>
              <a:rPr lang="en-US" sz="1600" dirty="0">
                <a:latin typeface="Atkinson Hyperlegible Next"/>
                <a:ea typeface="Arial"/>
                <a:cs typeface="Arial"/>
                <a:sym typeface="Arial"/>
              </a:rPr>
              <a:t>For this, we use the | (pipe) character.</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nSpc>
                <a:spcPct val="100000"/>
              </a:lnSpc>
              <a:spcBef>
                <a:spcPts val="0"/>
              </a:spcBef>
              <a:buSzPts val="3000"/>
              <a:buNone/>
            </a:pPr>
            <a:r>
              <a:rPr lang="en-US" sz="1600" dirty="0">
                <a:latin typeface="Atkinson Hyperlegible Next"/>
                <a:ea typeface="Arial"/>
                <a:cs typeface="Arial"/>
                <a:sym typeface="Arial"/>
              </a:rPr>
              <a:t>When using the CLI, anonymous pipes are a very powerful tool for chaining different commands. The output of the first command will be the input for the next command. This can be chained multiple times:</a:t>
            </a:r>
          </a:p>
          <a:p>
            <a:pPr marL="0" indent="0">
              <a:lnSpc>
                <a:spcPct val="100000"/>
              </a:lnSpc>
              <a:spcBef>
                <a:spcPts val="0"/>
              </a:spcBef>
              <a:buSzPts val="3000"/>
              <a:buNone/>
            </a:pPr>
            <a:endParaRPr lang="en-US" sz="1600" dirty="0">
              <a:latin typeface="Atkinson Hyperlegible Next"/>
              <a:ea typeface="Arial"/>
              <a:cs typeface="Arial"/>
              <a:sym typeface="Arial"/>
            </a:endParaRPr>
          </a:p>
          <a:p>
            <a:pPr marL="0" indent="0" algn="ctr">
              <a:lnSpc>
                <a:spcPct val="100000"/>
              </a:lnSpc>
              <a:spcBef>
                <a:spcPts val="0"/>
              </a:spcBef>
              <a:buSzPts val="3000"/>
              <a:buNone/>
            </a:pPr>
            <a:r>
              <a:rPr lang="en-US" sz="1600" dirty="0" err="1">
                <a:latin typeface="Atkinson Hyperlegible Next"/>
                <a:ea typeface="Arial"/>
                <a:cs typeface="Arial"/>
                <a:sym typeface="Arial"/>
              </a:rPr>
              <a:t>ps</a:t>
            </a:r>
            <a:r>
              <a:rPr lang="en-US" sz="1600" dirty="0">
                <a:latin typeface="Atkinson Hyperlegible Next"/>
                <a:ea typeface="Arial"/>
                <a:cs typeface="Arial"/>
                <a:sym typeface="Arial"/>
              </a:rPr>
              <a:t> -</a:t>
            </a:r>
            <a:r>
              <a:rPr lang="en-US" sz="1600" dirty="0" err="1">
                <a:latin typeface="Atkinson Hyperlegible Next"/>
                <a:ea typeface="Arial"/>
                <a:cs typeface="Arial"/>
                <a:sym typeface="Arial"/>
              </a:rPr>
              <a:t>ux</a:t>
            </a:r>
            <a:r>
              <a:rPr lang="en-US" sz="1600" dirty="0">
                <a:latin typeface="Atkinson Hyperlegible Next"/>
                <a:ea typeface="Arial"/>
                <a:cs typeface="Arial"/>
                <a:sym typeface="Arial"/>
              </a:rPr>
              <a:t> | grep </a:t>
            </a:r>
            <a:r>
              <a:rPr lang="en-US" sz="1600" dirty="0" err="1">
                <a:latin typeface="Atkinson Hyperlegible Next"/>
                <a:ea typeface="Arial"/>
                <a:cs typeface="Arial"/>
                <a:sym typeface="Arial"/>
              </a:rPr>
              <a:t>xeyes</a:t>
            </a:r>
            <a:r>
              <a:rPr lang="en-US" sz="1600" dirty="0">
                <a:latin typeface="Atkinson Hyperlegible Next"/>
                <a:ea typeface="Arial"/>
                <a:cs typeface="Arial"/>
                <a:sym typeface="Arial"/>
              </a:rPr>
              <a:t> | head -1 | tr -s " " | cut -d " " -f 3</a:t>
            </a:r>
          </a:p>
          <a:p>
            <a:pPr marL="0" indent="0" algn="ctr">
              <a:lnSpc>
                <a:spcPct val="100000"/>
              </a:lnSpc>
              <a:spcBef>
                <a:spcPts val="0"/>
              </a:spcBef>
              <a:buSzPts val="3000"/>
              <a:buNone/>
            </a:pPr>
            <a:endParaRPr lang="en-US" sz="1600" dirty="0">
              <a:latin typeface="Atkinson Hyperlegible Next"/>
              <a:ea typeface="Arial"/>
              <a:cs typeface="Arial"/>
              <a:sym typeface="Arial"/>
            </a:endParaRPr>
          </a:p>
          <a:p>
            <a:pPr marL="0" indent="0" algn="ctr">
              <a:lnSpc>
                <a:spcPct val="100000"/>
              </a:lnSpc>
              <a:spcBef>
                <a:spcPts val="0"/>
              </a:spcBef>
              <a:buSzPts val="3000"/>
              <a:buNone/>
            </a:pPr>
            <a:r>
              <a:rPr lang="en-US" sz="1600" dirty="0">
                <a:latin typeface="Atkinson Hyperlegible Next"/>
                <a:ea typeface="Arial"/>
                <a:cs typeface="Arial"/>
                <a:sym typeface="Arial"/>
              </a:rPr>
              <a:t>List of all my processes | filter only lines that contain “</a:t>
            </a:r>
            <a:r>
              <a:rPr lang="en-US" sz="1600" dirty="0" err="1">
                <a:latin typeface="Atkinson Hyperlegible Next"/>
                <a:ea typeface="Arial"/>
                <a:cs typeface="Arial"/>
                <a:sym typeface="Arial"/>
              </a:rPr>
              <a:t>xeyes</a:t>
            </a:r>
            <a:r>
              <a:rPr lang="en-US" sz="1600" dirty="0">
                <a:latin typeface="Atkinson Hyperlegible Next"/>
                <a:ea typeface="Arial"/>
                <a:cs typeface="Arial"/>
                <a:sym typeface="Arial"/>
              </a:rPr>
              <a:t>” | filter only the first line | squish all consecutive spaces together to a single space | split the input on a space, report the third field</a:t>
            </a:r>
          </a:p>
          <a:p>
            <a:pPr marL="285750" indent="-285750">
              <a:lnSpc>
                <a:spcPct val="100000"/>
              </a:lnSpc>
              <a:spcBef>
                <a:spcPts val="0"/>
              </a:spcBef>
              <a:buSzPts val="3000"/>
            </a:pPr>
            <a:endParaRPr lang="en-US" sz="16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E253ABFA-8C9C-5779-9B97-9386C5DB6FD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D64DF3-6C45-D634-94DF-7268AF045D4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IPC</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B4815D04-438F-EB87-EC06-03789CA85BC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48FC9A8-3001-67F4-4493-FB26C13C54E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DA74FBF-0EE3-68A8-2371-66780B59900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4E7D277-8117-9D05-7290-BF4CF0B6476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EEB52AC-9A6A-4BAD-1CD3-F9F3561B572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6CE004B-0286-9372-096A-CD8C5C38AD4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23883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E6A97ED-7A8D-F444-48EE-00F62F3969AA}"/>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CD798DFC-D36B-BED0-4CBF-807A4C028985}"/>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Thread Communication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5FF6CBBF-F19D-1BBF-AC51-6EB7D37D5776}"/>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055EEFCC-1FF9-5E73-C2EE-6B2BE94E7C51}"/>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26E63D6-6CE5-E14C-6A2E-552034232D8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C183D7F6-B498-43B3-948B-1728B52AA6E4}">
                <adec:decorative xmlns:adec="http://schemas.microsoft.com/office/drawing/2017/decorative" val="1"/>
              </a:ext>
              <a:ext uri="{FF2B5EF4-FFF2-40B4-BE49-F238E27FC236}">
                <a16:creationId xmlns:a16="http://schemas.microsoft.com/office/drawing/2014/main" id="{96E1A6AB-49EC-31E5-A764-642B981EEF34}"/>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4CB6F7C1-A310-E16F-C23D-1BE914D0D37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88DB588B-9AB0-2DED-106C-097935E3EC2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52AEA352-3AE1-4C99-9B05-AB4C20CA05D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8C883572-8F90-451A-3156-AF684822350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A6C19615-3534-1A8C-5059-862962C2D38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598019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073629F-F4E2-76C2-947A-28656AC2CC1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BE104D8-0D73-972B-7C50-7D832A26B76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DD2777-1660-1AA5-1FC0-C686DF7BB3B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84C7D756-BD1C-4B20-F4CF-807C721C4C9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D0C8898-89F6-3854-8730-F02175388F3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95EA277-6B73-266B-0B22-5DF811090D8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65AA4C5-3C8D-AC37-6970-AADFAA69CCD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6DF0432-47B7-B1A8-0B93-2410F595EE2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6EAEE98-9CD1-0CA1-121C-0E779E25860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4" name="Graphic 23">
            <a:extLst>
              <a:ext uri="{FF2B5EF4-FFF2-40B4-BE49-F238E27FC236}">
                <a16:creationId xmlns:a16="http://schemas.microsoft.com/office/drawing/2014/main" id="{D88A1901-4402-8DD6-6D8F-007EA8BCF76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905919" y="1003086"/>
            <a:ext cx="6380162" cy="5501654"/>
          </a:xfrm>
          <a:prstGeom prst="rect">
            <a:avLst/>
          </a:prstGeom>
        </p:spPr>
      </p:pic>
    </p:spTree>
    <p:extLst>
      <p:ext uri="{BB962C8B-B14F-4D97-AF65-F5344CB8AC3E}">
        <p14:creationId xmlns:p14="http://schemas.microsoft.com/office/powerpoint/2010/main" val="493179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900546-334A-DA7E-4C78-CB8CE3BF8AA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E32C7D9-9890-5843-5C13-B5F5F5E9562E}"/>
              </a:ext>
            </a:extLst>
          </p:cNvPr>
          <p:cNvSpPr txBox="1">
            <a:spLocks noGrp="1"/>
          </p:cNvSpPr>
          <p:nvPr>
            <p:ph type="body" idx="1"/>
          </p:nvPr>
        </p:nvSpPr>
        <p:spPr>
          <a:xfrm>
            <a:off x="376809" y="1334279"/>
            <a:ext cx="11177401" cy="515169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Race conditions, imagine you have the following code where I have multiple threads running at the same time?</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114300" indent="0">
              <a:spcBef>
                <a:spcPts val="0"/>
              </a:spcBef>
              <a:buNone/>
            </a:pPr>
            <a:r>
              <a:rPr lang="en-US" sz="2000" dirty="0">
                <a:solidFill>
                  <a:srgbClr val="7F0055"/>
                </a:solidFill>
                <a:latin typeface="Consolas" panose="020B0609020204030204" pitchFamily="49" charset="0"/>
              </a:rPr>
              <a:t>int</a:t>
            </a:r>
            <a:r>
              <a:rPr lang="en-US" sz="2000" dirty="0">
                <a:solidFill>
                  <a:srgbClr val="000000"/>
                </a:solidFill>
                <a:latin typeface="Consolas" panose="020B0609020204030204" pitchFamily="49" charset="0"/>
              </a:rPr>
              <a:t> counter = 0;</a:t>
            </a:r>
          </a:p>
          <a:p>
            <a:pPr marL="114300" indent="0">
              <a:spcBef>
                <a:spcPts val="0"/>
              </a:spcBef>
              <a:buNone/>
            </a:pPr>
            <a:endParaRPr lang="en-US" sz="2000" dirty="0">
              <a:latin typeface="Consolas" panose="020B0609020204030204" pitchFamily="49" charset="0"/>
            </a:endParaRPr>
          </a:p>
          <a:p>
            <a:pPr marL="114300" indent="0">
              <a:spcBef>
                <a:spcPts val="0"/>
              </a:spcBef>
              <a:buNone/>
            </a:pPr>
            <a:r>
              <a:rPr lang="en-US" sz="2000" dirty="0">
                <a:solidFill>
                  <a:srgbClr val="7F0055"/>
                </a:solidFill>
                <a:latin typeface="Consolas" panose="020B0609020204030204" pitchFamily="49" charset="0"/>
              </a:rPr>
              <a:t>void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doSomeThing</a:t>
            </a:r>
            <a:r>
              <a:rPr lang="en-US" sz="2000" dirty="0">
                <a:solidFill>
                  <a:srgbClr val="000000"/>
                </a:solidFill>
                <a:latin typeface="Consolas" panose="020B0609020204030204" pitchFamily="49" charset="0"/>
              </a:rPr>
              <a:t>(</a:t>
            </a:r>
            <a:r>
              <a:rPr lang="en-US" sz="2000" dirty="0">
                <a:solidFill>
                  <a:srgbClr val="7F0055"/>
                </a:solidFill>
                <a:latin typeface="Consolas" panose="020B0609020204030204" pitchFamily="49" charset="0"/>
              </a:rPr>
              <a:t>void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arg</a:t>
            </a:r>
            <a:r>
              <a:rPr lang="en-US" sz="2000" dirty="0">
                <a:solidFill>
                  <a:srgbClr val="000000"/>
                </a:solidFill>
                <a:latin typeface="Consolas" panose="020B0609020204030204" pitchFamily="49" charset="0"/>
              </a:rPr>
              <a:t>) {</a:t>
            </a:r>
            <a:endParaRPr lang="en-US" sz="2000" dirty="0">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int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a:t>
            </a:r>
            <a:r>
              <a:rPr lang="en-US" sz="2000" dirty="0">
                <a:solidFill>
                  <a:srgbClr val="3F7F5F"/>
                </a:solidFill>
                <a:latin typeface="Consolas" panose="020B0609020204030204" pitchFamily="49" charset="0"/>
              </a:rPr>
              <a:t>// new, per-thread variable                                    </a:t>
            </a:r>
          </a:p>
          <a:p>
            <a:pPr marL="114300" indent="0">
              <a:spcBef>
                <a:spcPts val="0"/>
              </a:spcBef>
              <a:buNone/>
            </a:pPr>
            <a:r>
              <a:rPr lang="en-US" sz="2000" dirty="0">
                <a:solidFill>
                  <a:srgbClr val="000000"/>
                </a:solidFill>
                <a:latin typeface="Consolas" panose="020B0609020204030204" pitchFamily="49" charset="0"/>
              </a:rPr>
              <a:t>    counter += 1;</a:t>
            </a: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 counter; </a:t>
            </a:r>
            <a:r>
              <a:rPr lang="en-US" sz="2000" dirty="0">
                <a:solidFill>
                  <a:srgbClr val="3F7F5F"/>
                </a:solidFill>
                <a:latin typeface="Consolas" panose="020B0609020204030204" pitchFamily="49" charset="0"/>
              </a:rPr>
              <a:t>// make a local copy of counter for this thread                                </a:t>
            </a:r>
          </a:p>
          <a:p>
            <a:pPr marL="114300" indent="0">
              <a:spcBef>
                <a:spcPts val="0"/>
              </a:spcBef>
              <a:buNone/>
            </a:pPr>
            <a:endParaRPr lang="en-US" sz="2000" dirty="0">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return</a:t>
            </a:r>
            <a:r>
              <a:rPr lang="en-US" sz="2000" dirty="0">
                <a:solidFill>
                  <a:srgbClr val="000000"/>
                </a:solidFill>
                <a:latin typeface="Consolas" panose="020B0609020204030204" pitchFamily="49" charset="0"/>
              </a:rPr>
              <a:t> NULL;</a:t>
            </a:r>
          </a:p>
          <a:p>
            <a:pPr marL="114300" indent="0">
              <a:spcBef>
                <a:spcPts val="0"/>
              </a:spcBef>
              <a:buNone/>
            </a:pPr>
            <a:r>
              <a:rPr lang="en-US" sz="2000" dirty="0">
                <a:solidFill>
                  <a:srgbClr val="000000"/>
                </a:solidFill>
                <a:latin typeface="Consolas" panose="020B0609020204030204" pitchFamily="49" charset="0"/>
              </a:rPr>
              <a:t>}</a:t>
            </a:r>
          </a:p>
          <a:p>
            <a:pPr marL="114300" indent="0">
              <a:spcBef>
                <a:spcPts val="0"/>
              </a:spcBef>
              <a:buNone/>
            </a:pPr>
            <a:endParaRPr lang="en-US" sz="2000" dirty="0">
              <a:solidFill>
                <a:srgbClr val="000000"/>
              </a:solidFill>
              <a:latin typeface="Consolas" panose="020B0609020204030204" pitchFamily="49" charset="0"/>
            </a:endParaRPr>
          </a:p>
          <a:p>
            <a:pPr marL="114300" indent="0">
              <a:spcBef>
                <a:spcPts val="0"/>
              </a:spcBef>
              <a:buNone/>
            </a:pPr>
            <a:r>
              <a:rPr lang="en-US" sz="2000" dirty="0">
                <a:latin typeface="Atkinson Hyperlegible Next"/>
                <a:ea typeface="Arial"/>
                <a:cs typeface="Arial"/>
                <a:sym typeface="Arial"/>
              </a:rPr>
              <a:t>We must think very low level, can potentially switch between different thread at each assembly instruction (the compiled version of this C code, between C and binary code)!</a:t>
            </a:r>
          </a:p>
        </p:txBody>
      </p:sp>
      <p:sp>
        <p:nvSpPr>
          <p:cNvPr id="119" name="Google Shape;119;p29">
            <a:extLst>
              <a:ext uri="{FF2B5EF4-FFF2-40B4-BE49-F238E27FC236}">
                <a16:creationId xmlns:a16="http://schemas.microsoft.com/office/drawing/2014/main" id="{E3D3AE52-DA07-6770-F743-709CB4689A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8C4A01-AA90-88E3-4B6F-2B0E035F6CE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Race Conditions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5584AAFF-8B5F-B2EB-F641-85C10F83E89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B2AB25E-AD1E-DEC1-2EAF-4F215314BCF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59AFED5-3AAA-A4E8-6531-5B6DC29D643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2BC377D-242C-3F61-91FD-E374DCB7B7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6241C91-E93A-C359-4475-E0F2FA3F53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FA71178-FC38-03FC-BECF-C1DA122998A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36251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BE3D30B-08A6-3930-103C-05A18333127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13038FE-A992-A0D4-151A-11229124AB4E}"/>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1600" dirty="0">
                <a:latin typeface="Atkinson Hyperlegible Next"/>
                <a:ea typeface="Arial"/>
                <a:cs typeface="Arial"/>
                <a:sym typeface="Arial"/>
              </a:rPr>
              <a:t>The problem is the following:</a:t>
            </a:r>
          </a:p>
          <a:p>
            <a:pPr marL="114300" indent="0">
              <a:spcBef>
                <a:spcPts val="0"/>
              </a:spcBef>
              <a:buNone/>
            </a:pPr>
            <a:endParaRPr lang="en-US" sz="1600" dirty="0">
              <a:latin typeface="Atkinson Hyperlegible Next"/>
              <a:ea typeface="Arial"/>
              <a:cs typeface="Arial"/>
              <a:sym typeface="Arial"/>
            </a:endParaRPr>
          </a:p>
          <a:p>
            <a:pPr marL="114300" indent="0" algn="l">
              <a:spcBef>
                <a:spcPts val="0"/>
              </a:spcBef>
              <a:buNone/>
            </a:pPr>
            <a:r>
              <a:rPr lang="en-US" sz="1600" dirty="0">
                <a:solidFill>
                  <a:srgbClr val="3F7F5F"/>
                </a:solidFill>
                <a:latin typeface="Consolas" panose="020B0609020204030204" pitchFamily="49" charset="0"/>
              </a:rPr>
              <a:t>// Code that both threads will execute:</a:t>
            </a:r>
          </a:p>
          <a:p>
            <a:pPr marL="114300" indent="0" algn="l">
              <a:spcBef>
                <a:spcPts val="0"/>
              </a:spcBef>
              <a:buNone/>
            </a:pPr>
            <a:r>
              <a:rPr lang="en-US" sz="1600" dirty="0">
                <a:solidFill>
                  <a:srgbClr val="000000"/>
                </a:solidFill>
                <a:latin typeface="Consolas" panose="020B0609020204030204" pitchFamily="49" charset="0"/>
              </a:rPr>
              <a:t>counter += 1;</a:t>
            </a:r>
          </a:p>
          <a:p>
            <a:pPr marL="114300" indent="0" algn="l">
              <a:spcBef>
                <a:spcPts val="0"/>
              </a:spcBef>
              <a:buNone/>
            </a:pPr>
            <a:r>
              <a:rPr lang="en-US" sz="1600" dirty="0" err="1">
                <a:solidFill>
                  <a:srgbClr val="000000"/>
                </a:solidFill>
                <a:latin typeface="Consolas" panose="020B0609020204030204" pitchFamily="49" charset="0"/>
              </a:rPr>
              <a:t>local_id</a:t>
            </a:r>
            <a:r>
              <a:rPr lang="en-US" sz="1600" dirty="0">
                <a:solidFill>
                  <a:srgbClr val="000000"/>
                </a:solidFill>
                <a:latin typeface="Consolas" panose="020B0609020204030204" pitchFamily="49" charset="0"/>
              </a:rPr>
              <a:t> = counter;</a:t>
            </a:r>
          </a:p>
          <a:p>
            <a:pPr marL="114300" indent="0" algn="l">
              <a:spcBef>
                <a:spcPts val="0"/>
              </a:spcBef>
              <a:buNone/>
            </a:pPr>
            <a:r>
              <a:rPr lang="en-US" sz="1600" dirty="0">
                <a:solidFill>
                  <a:srgbClr val="3F7F5F"/>
                </a:solidFill>
                <a:latin typeface="Consolas" panose="020B0609020204030204" pitchFamily="49" charset="0"/>
              </a:rPr>
              <a:t>// -----------------------------------</a:t>
            </a:r>
          </a:p>
          <a:p>
            <a:pPr marL="114300" indent="0" algn="l">
              <a:spcBef>
                <a:spcPts val="0"/>
              </a:spcBef>
              <a:buNone/>
            </a:pPr>
            <a:endParaRPr lang="en-US" sz="1600" dirty="0">
              <a:latin typeface="Consolas" panose="020B0609020204030204" pitchFamily="49" charset="0"/>
            </a:endParaRPr>
          </a:p>
          <a:p>
            <a:pPr marL="114300" indent="0" algn="l">
              <a:spcBef>
                <a:spcPts val="0"/>
              </a:spcBef>
              <a:buNone/>
            </a:pPr>
            <a:r>
              <a:rPr lang="en-US" sz="1600" dirty="0">
                <a:solidFill>
                  <a:srgbClr val="3F7F5F"/>
                </a:solidFill>
                <a:latin typeface="Consolas" panose="020B0609020204030204" pitchFamily="49" charset="0"/>
              </a:rPr>
              <a:t>// Thread 1</a:t>
            </a:r>
          </a:p>
          <a:p>
            <a:pPr marL="114300" indent="0" algn="l">
              <a:spcBef>
                <a:spcPts val="0"/>
              </a:spcBef>
              <a:buNone/>
            </a:pPr>
            <a:r>
              <a:rPr lang="en-US" sz="1600" dirty="0">
                <a:solidFill>
                  <a:srgbClr val="000000"/>
                </a:solidFill>
                <a:latin typeface="Consolas" panose="020B0609020204030204" pitchFamily="49" charset="0"/>
              </a:rPr>
              <a:t>counter += 1; </a:t>
            </a:r>
            <a:r>
              <a:rPr lang="en-US" sz="1600" dirty="0">
                <a:solidFill>
                  <a:srgbClr val="3F7F5F"/>
                </a:solidFill>
                <a:latin typeface="Consolas" panose="020B0609020204030204" pitchFamily="49" charset="0"/>
              </a:rPr>
              <a:t>// after this, counter == 1</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Before Thread 1 can execute </a:t>
            </a:r>
            <a:r>
              <a:rPr lang="en-US" sz="1600" dirty="0" err="1">
                <a:solidFill>
                  <a:srgbClr val="3F7F5F"/>
                </a:solidFill>
                <a:latin typeface="Consolas" panose="020B0609020204030204" pitchFamily="49" charset="0"/>
              </a:rPr>
              <a:t>local_id</a:t>
            </a:r>
            <a:r>
              <a:rPr lang="en-US" sz="1600" dirty="0">
                <a:solidFill>
                  <a:srgbClr val="3F7F5F"/>
                </a:solidFill>
                <a:latin typeface="Consolas" panose="020B0609020204030204" pitchFamily="49" charset="0"/>
              </a:rPr>
              <a:t> = counter, it is paused by the CPU</a:t>
            </a:r>
          </a:p>
          <a:p>
            <a:pPr marL="114300" indent="0" algn="l">
              <a:spcBef>
                <a:spcPts val="0"/>
              </a:spcBef>
              <a:buNone/>
            </a:pPr>
            <a:r>
              <a:rPr lang="en-US" sz="1600" dirty="0">
                <a:solidFill>
                  <a:srgbClr val="000000"/>
                </a:solidFill>
                <a:latin typeface="Consolas" panose="020B0609020204030204" pitchFamily="49" charset="0"/>
              </a:rPr>
              <a:t>    </a:t>
            </a:r>
            <a:r>
              <a:rPr lang="en-US" sz="1600" dirty="0">
                <a:solidFill>
                  <a:srgbClr val="3F7F5F"/>
                </a:solidFill>
                <a:latin typeface="Consolas" panose="020B0609020204030204" pitchFamily="49" charset="0"/>
              </a:rPr>
              <a:t>// Thread 2</a:t>
            </a:r>
          </a:p>
          <a:p>
            <a:pPr marL="114300" indent="0" algn="l">
              <a:spcBef>
                <a:spcPts val="0"/>
              </a:spcBef>
              <a:buNone/>
            </a:pPr>
            <a:r>
              <a:rPr lang="en-US" sz="1600" dirty="0">
                <a:solidFill>
                  <a:srgbClr val="000000"/>
                </a:solidFill>
                <a:latin typeface="Consolas" panose="020B0609020204030204" pitchFamily="49" charset="0"/>
              </a:rPr>
              <a:t>    counter += 1; </a:t>
            </a:r>
            <a:r>
              <a:rPr lang="en-US" sz="1600" dirty="0">
                <a:solidFill>
                  <a:srgbClr val="3F7F5F"/>
                </a:solidFill>
                <a:latin typeface="Consolas" panose="020B0609020204030204" pitchFamily="49" charset="0"/>
              </a:rPr>
              <a:t>// after this, counter == 2</a:t>
            </a:r>
          </a:p>
          <a:p>
            <a:pPr marL="114300" indent="0" algn="l">
              <a:spcBef>
                <a:spcPts val="0"/>
              </a:spcBef>
              <a:buNone/>
            </a:pP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local_id</a:t>
            </a:r>
            <a:r>
              <a:rPr lang="en-US" sz="1600" dirty="0">
                <a:solidFill>
                  <a:srgbClr val="000000"/>
                </a:solidFill>
                <a:latin typeface="Consolas" panose="020B0609020204030204" pitchFamily="49" charset="0"/>
              </a:rPr>
              <a:t> = counter; </a:t>
            </a:r>
            <a:r>
              <a:rPr lang="en-US" sz="1600" dirty="0">
                <a:solidFill>
                  <a:srgbClr val="3F7F5F"/>
                </a:solidFill>
                <a:latin typeface="Consolas" panose="020B0609020204030204" pitchFamily="49" charset="0"/>
              </a:rPr>
              <a:t>// thus, in Thread 2, </a:t>
            </a:r>
            <a:r>
              <a:rPr lang="en-US" sz="1600" dirty="0" err="1">
                <a:solidFill>
                  <a:srgbClr val="3F7F5F"/>
                </a:solidFill>
                <a:latin typeface="Consolas" panose="020B0609020204030204" pitchFamily="49" charset="0"/>
              </a:rPr>
              <a:t>local_id</a:t>
            </a:r>
            <a:r>
              <a:rPr lang="en-US" sz="1600" dirty="0">
                <a:solidFill>
                  <a:srgbClr val="3F7F5F"/>
                </a:solidFill>
                <a:latin typeface="Consolas" panose="020B0609020204030204" pitchFamily="49" charset="0"/>
              </a:rPr>
              <a:t> is correctly 2</a:t>
            </a:r>
          </a:p>
          <a:p>
            <a:pPr marL="114300" indent="0" algn="l">
              <a:spcBef>
                <a:spcPts val="0"/>
              </a:spcBef>
              <a:buNone/>
            </a:pPr>
            <a:r>
              <a:rPr lang="en-US" sz="1600" dirty="0">
                <a:solidFill>
                  <a:srgbClr val="3F7F5F"/>
                </a:solidFill>
                <a:latin typeface="Consolas" panose="020B0609020204030204" pitchFamily="49" charset="0"/>
              </a:rPr>
              <a:t>// Here, the CPU switches back to Thread 1</a:t>
            </a:r>
          </a:p>
          <a:p>
            <a:pPr marL="114300" indent="0" algn="l">
              <a:spcBef>
                <a:spcPts val="0"/>
              </a:spcBef>
              <a:buNone/>
            </a:pPr>
            <a:r>
              <a:rPr lang="en-US" sz="1600" dirty="0">
                <a:solidFill>
                  <a:srgbClr val="3F7F5F"/>
                </a:solidFill>
                <a:latin typeface="Consolas" panose="020B0609020204030204" pitchFamily="49" charset="0"/>
              </a:rPr>
              <a:t>// Thread 1</a:t>
            </a:r>
          </a:p>
          <a:p>
            <a:pPr marL="114300" indent="0" algn="l">
              <a:spcBef>
                <a:spcPts val="0"/>
              </a:spcBef>
              <a:buNone/>
            </a:pPr>
            <a:r>
              <a:rPr lang="en-US" sz="1600" dirty="0" err="1">
                <a:solidFill>
                  <a:srgbClr val="000000"/>
                </a:solidFill>
                <a:latin typeface="Consolas" panose="020B0609020204030204" pitchFamily="49" charset="0"/>
              </a:rPr>
              <a:t>local_id</a:t>
            </a:r>
            <a:r>
              <a:rPr lang="en-US" sz="1600" dirty="0">
                <a:solidFill>
                  <a:srgbClr val="000000"/>
                </a:solidFill>
                <a:latin typeface="Consolas" panose="020B0609020204030204" pitchFamily="49" charset="0"/>
              </a:rPr>
              <a:t> = counter; </a:t>
            </a:r>
            <a:r>
              <a:rPr lang="en-US" sz="1600" dirty="0">
                <a:solidFill>
                  <a:srgbClr val="3F7F5F"/>
                </a:solidFill>
                <a:latin typeface="Consolas" panose="020B0609020204030204" pitchFamily="49" charset="0"/>
              </a:rPr>
              <a:t>// now, </a:t>
            </a:r>
            <a:r>
              <a:rPr lang="en-US" sz="1600" dirty="0" err="1">
                <a:solidFill>
                  <a:srgbClr val="3F7F5F"/>
                </a:solidFill>
                <a:latin typeface="Consolas" panose="020B0609020204030204" pitchFamily="49" charset="0"/>
              </a:rPr>
              <a:t>local_id</a:t>
            </a:r>
            <a:r>
              <a:rPr lang="en-US" sz="1600" dirty="0">
                <a:solidFill>
                  <a:srgbClr val="3F7F5F"/>
                </a:solidFill>
                <a:latin typeface="Consolas" panose="020B0609020204030204" pitchFamily="49" charset="0"/>
              </a:rPr>
              <a:t> is still 2, instead of 1... mission failed</a:t>
            </a:r>
            <a:endParaRPr lang="en-US" sz="1600" dirty="0">
              <a:solidFill>
                <a:srgbClr val="3F7F5F"/>
              </a:solidFill>
              <a:latin typeface="Consolas" panose="020B0609020204030204" pitchFamily="49" charset="0"/>
              <a:ea typeface="Arial"/>
              <a:cs typeface="Arial"/>
              <a:sym typeface="Arial"/>
            </a:endParaRPr>
          </a:p>
          <a:p>
            <a:pPr marL="114300" indent="0" algn="l">
              <a:spcBef>
                <a:spcPts val="0"/>
              </a:spcBef>
              <a:buNone/>
            </a:pPr>
            <a:endParaRPr lang="en-US" sz="1600" dirty="0">
              <a:solidFill>
                <a:srgbClr val="3F7F5F"/>
              </a:solidFill>
              <a:latin typeface="Consolas" panose="020B0609020204030204" pitchFamily="49" charset="0"/>
              <a:ea typeface="Arial"/>
              <a:cs typeface="Arial"/>
              <a:sym typeface="Arial"/>
            </a:endParaRPr>
          </a:p>
          <a:p>
            <a:pPr marL="114300" indent="0">
              <a:spcBef>
                <a:spcPts val="0"/>
              </a:spcBef>
              <a:buNone/>
            </a:pPr>
            <a:r>
              <a:rPr lang="en-US" sz="1600" dirty="0">
                <a:latin typeface="Atkinson Hyperlegible Next"/>
                <a:ea typeface="Arial"/>
                <a:cs typeface="Arial"/>
                <a:sym typeface="Arial"/>
              </a:rPr>
              <a:t>This is called a race condition! </a:t>
            </a:r>
          </a:p>
          <a:p>
            <a:pPr marL="114300" indent="0">
              <a:spcBef>
                <a:spcPts val="0"/>
              </a:spcBef>
              <a:buNone/>
            </a:pPr>
            <a:endParaRPr lang="en-US" sz="1600" dirty="0">
              <a:latin typeface="Atkinson Hyperlegible Next"/>
              <a:ea typeface="Arial"/>
              <a:cs typeface="Arial"/>
              <a:sym typeface="Arial"/>
            </a:endParaRPr>
          </a:p>
          <a:p>
            <a:pPr marL="114300" indent="0">
              <a:spcBef>
                <a:spcPts val="0"/>
              </a:spcBef>
              <a:buNone/>
            </a:pPr>
            <a:r>
              <a:rPr lang="en-US" sz="1600" dirty="0">
                <a:latin typeface="Atkinson Hyperlegible Next"/>
                <a:ea typeface="Arial"/>
                <a:cs typeface="Arial"/>
                <a:sym typeface="Arial"/>
              </a:rPr>
              <a:t>This happens when you the ordering of instructions is not what you expect! There is some randomness in the instruction call ordering, so you might not always get this problem.</a:t>
            </a:r>
          </a:p>
          <a:p>
            <a:pPr marL="114300" indent="0">
              <a:spcBef>
                <a:spcPts val="0"/>
              </a:spcBef>
              <a:buNone/>
            </a:pPr>
            <a:endParaRPr lang="en-US" sz="1600" dirty="0">
              <a:latin typeface="Atkinson Hyperlegible Next"/>
              <a:ea typeface="Arial"/>
              <a:cs typeface="Arial"/>
              <a:sym typeface="Arial"/>
            </a:endParaRPr>
          </a:p>
          <a:p>
            <a:pPr marL="114300" indent="0">
              <a:spcBef>
                <a:spcPts val="0"/>
              </a:spcBef>
              <a:buNone/>
            </a:pPr>
            <a:r>
              <a:rPr lang="en-US" sz="1600" dirty="0">
                <a:latin typeface="Atkinson Hyperlegible Next"/>
                <a:ea typeface="Arial"/>
                <a:cs typeface="Arial"/>
                <a:sym typeface="Arial"/>
              </a:rPr>
              <a:t>Can the Red Board also have this problem?</a:t>
            </a:r>
          </a:p>
        </p:txBody>
      </p:sp>
      <p:sp>
        <p:nvSpPr>
          <p:cNvPr id="119" name="Google Shape;119;p29">
            <a:extLst>
              <a:ext uri="{FF2B5EF4-FFF2-40B4-BE49-F238E27FC236}">
                <a16:creationId xmlns:a16="http://schemas.microsoft.com/office/drawing/2014/main" id="{23A650AE-B18E-D067-7966-B418CFFA831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4F60FEE-7AAB-3F29-23F3-26BF52BAEC0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algn="l" lvl="0">
              <a:lnSpc>
                <a:spcPct val="100000"/>
              </a:lnSpc>
              <a:spcBef>
                <a:spcPts val="0"/>
              </a:spcBef>
              <a:spcAft>
                <a:spcPts val="0"/>
              </a:spcAft>
              <a:buSzPts val="2400"/>
            </a:pPr>
            <a:r>
              <a:rPr i="0" b="0" lang="en-US" sz="2400" dirty="0">
                <a:solidFill>
                  <a:schemeClr val="lt1"/>
                </a:solidFill>
              </a:rPr>
              <a:t>Threads &amp; Processes – Race Conditions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CD4400F-2B97-8E18-20E3-497F031BFE0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E9AAD61-A1E0-1647-005B-6C2858C898F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2EC4F01-F8A9-A646-4789-DAFDCABE597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BA66F1A-3979-85EA-EB52-D7613C533D7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3DCA874-3AFB-ABC6-B25A-038696D79F4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AC19CA4-74A5-5821-9FED-81E96B50D72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1962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8">
                                            <p:txEl>
                                              <p:pRg st="15" end="1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18">
                                            <p:txEl>
                                              <p:pRg st="17" end="1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18">
                                            <p:txEl>
                                              <p:pRg st="19" end="19"/>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18">
                                            <p:txEl>
                                              <p:pRg st="21" end="2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94F7083-A0FA-CA15-41BF-C25B410AD08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84C4D67-F90E-F49C-559F-D2394FE400C2}"/>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1600" dirty="0">
                <a:latin typeface="Atkinson Hyperlegible Next"/>
                <a:ea typeface="Arial"/>
                <a:cs typeface="Arial"/>
                <a:sym typeface="Arial"/>
              </a:rPr>
              <a:t>The problem is that what we just did was not an </a:t>
            </a:r>
            <a:r>
              <a:rPr lang="en-US" sz="1600" b="1" dirty="0">
                <a:latin typeface="Atkinson Hyperlegible Next"/>
                <a:ea typeface="Arial"/>
                <a:cs typeface="Arial"/>
                <a:sym typeface="Arial"/>
              </a:rPr>
              <a:t>atomic operation</a:t>
            </a:r>
            <a:r>
              <a:rPr lang="en-US" sz="1600" dirty="0">
                <a:latin typeface="Atkinson Hyperlegible Next"/>
                <a:ea typeface="Arial"/>
                <a:cs typeface="Arial"/>
                <a:sym typeface="Arial"/>
              </a:rPr>
              <a:t> . This means that internally, it is not implemented with a single CPU instruction but rather out of a series of different operations / instructions.</a:t>
            </a:r>
          </a:p>
          <a:p>
            <a:pPr marL="114300" indent="0">
              <a:spcBef>
                <a:spcPts val="0"/>
              </a:spcBef>
              <a:buNone/>
            </a:pPr>
            <a:endParaRPr lang="en-US" sz="1600" b="1" dirty="0">
              <a:latin typeface="Atkinson Hyperlegible Next"/>
              <a:ea typeface="Arial"/>
              <a:cs typeface="Arial"/>
              <a:sym typeface="Arial"/>
            </a:endParaRPr>
          </a:p>
          <a:p>
            <a:pPr marL="114300" indent="0">
              <a:spcBef>
                <a:spcPts val="0"/>
              </a:spcBef>
              <a:buNone/>
            </a:pPr>
            <a:r>
              <a:rPr lang="en-US" sz="1600" dirty="0">
                <a:latin typeface="Atkinson Hyperlegible Next"/>
                <a:ea typeface="Arial"/>
                <a:cs typeface="Arial"/>
                <a:sym typeface="Arial"/>
              </a:rPr>
              <a:t>Even simple, unassuming code can cause a race condition. For example, the following causes a race condition,</a:t>
            </a:r>
          </a:p>
          <a:p>
            <a:pPr marL="114300" indent="0">
              <a:spcBef>
                <a:spcPts val="0"/>
              </a:spcBef>
              <a:buNone/>
            </a:pPr>
            <a:endParaRPr lang="en-US" sz="1600" dirty="0">
              <a:latin typeface="Atkinson Hyperlegible Next"/>
              <a:ea typeface="Arial"/>
              <a:cs typeface="Arial"/>
              <a:sym typeface="Arial"/>
            </a:endParaRPr>
          </a:p>
          <a:p>
            <a:pPr marL="114300" lvl="0" indent="0">
              <a:spcBef>
                <a:spcPts val="0"/>
              </a:spcBef>
              <a:buClr>
                <a:srgbClr val="000000"/>
              </a:buClr>
              <a:buNone/>
            </a:pPr>
            <a:r>
              <a:rPr lang="en-US" sz="1600" dirty="0">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counter = 0;</a:t>
            </a:r>
          </a:p>
          <a:p>
            <a:pPr marL="114300" lvl="0" indent="0">
              <a:spcBef>
                <a:spcPts val="0"/>
              </a:spcBef>
              <a:buClr>
                <a:srgbClr val="000000"/>
              </a:buClr>
              <a:buNone/>
            </a:pPr>
            <a:endParaRPr lang="en-US" sz="1600" dirty="0">
              <a:solidFill>
                <a:srgbClr val="000000"/>
              </a:solidFill>
              <a:latin typeface="Consolas" panose="020B0609020204030204" pitchFamily="49" charset="0"/>
            </a:endParaRPr>
          </a:p>
          <a:p>
            <a:pPr marL="114300" lvl="0" indent="0">
              <a:spcBef>
                <a:spcPts val="0"/>
              </a:spcBef>
              <a:buClr>
                <a:srgbClr val="000000"/>
              </a:buClr>
              <a:buNone/>
            </a:pPr>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doSomeThing</a:t>
            </a:r>
            <a:r>
              <a:rPr lang="en-US" sz="1600" dirty="0">
                <a:solidFill>
                  <a:srgbClr val="000000"/>
                </a:solidFill>
                <a:latin typeface="Consolas" panose="020B0609020204030204" pitchFamily="49" charset="0"/>
              </a:rPr>
              <a:t>(</a:t>
            </a:r>
            <a:r>
              <a:rPr lang="en-US" sz="1600" dirty="0">
                <a:solidFill>
                  <a:srgbClr val="7F0055"/>
                </a:solidFill>
                <a:latin typeface="Consolas" panose="020B0609020204030204" pitchFamily="49" charset="0"/>
              </a:rPr>
              <a:t>void</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arg</a:t>
            </a:r>
            <a:r>
              <a:rPr lang="en-US" sz="1600" dirty="0">
                <a:solidFill>
                  <a:srgbClr val="000000"/>
                </a:solidFill>
                <a:latin typeface="Consolas" panose="020B0609020204030204" pitchFamily="49" charset="0"/>
              </a:rPr>
              <a:t>) {</a:t>
            </a:r>
          </a:p>
          <a:p>
            <a:pPr marL="114300" lvl="0" indent="0">
              <a:spcBef>
                <a:spcPts val="0"/>
              </a:spcBef>
              <a:buClr>
                <a:srgbClr val="000000"/>
              </a:buClr>
              <a:buNone/>
            </a:pPr>
            <a:r>
              <a:rPr lang="en-US" sz="1600" dirty="0">
                <a:solidFill>
                  <a:srgbClr val="000000"/>
                </a:solidFill>
                <a:latin typeface="Consolas" panose="020B0609020204030204" pitchFamily="49" charset="0"/>
              </a:rPr>
              <a:t>    counter += 1;</a:t>
            </a:r>
          </a:p>
          <a:p>
            <a:pPr marL="114300" lvl="0" indent="0">
              <a:spcBef>
                <a:spcPts val="0"/>
              </a:spcBef>
              <a:buClr>
                <a:srgbClr val="000000"/>
              </a:buClr>
              <a:buNone/>
            </a:pPr>
            <a:r>
              <a:rPr lang="en-US" sz="1600" dirty="0">
                <a:solidFill>
                  <a:srgbClr val="000000"/>
                </a:solidFill>
                <a:latin typeface="Consolas" panose="020B0609020204030204" pitchFamily="49" charset="0"/>
              </a:rPr>
              <a:t>    </a:t>
            </a:r>
          </a:p>
          <a:p>
            <a:pPr marL="114300" lvl="0" indent="0">
              <a:spcBef>
                <a:spcPts val="0"/>
              </a:spcBef>
              <a:buClr>
                <a:srgbClr val="000000"/>
              </a:buClr>
              <a:buNone/>
            </a:pPr>
            <a:r>
              <a:rPr lang="en-US" sz="1600" dirty="0">
                <a:solidFill>
                  <a:srgbClr val="000000"/>
                </a:solidFill>
                <a:latin typeface="Consolas" panose="020B0609020204030204" pitchFamily="49" charset="0"/>
              </a:rPr>
              <a:t>    </a:t>
            </a:r>
            <a:r>
              <a:rPr lang="en-US" sz="1600" dirty="0">
                <a:solidFill>
                  <a:srgbClr val="7F0055"/>
                </a:solidFill>
                <a:latin typeface="Consolas" panose="020B0609020204030204" pitchFamily="49" charset="0"/>
              </a:rPr>
              <a:t>return</a:t>
            </a:r>
            <a:r>
              <a:rPr lang="en-US" sz="1600" dirty="0">
                <a:solidFill>
                  <a:srgbClr val="000000"/>
                </a:solidFill>
                <a:latin typeface="Consolas" panose="020B0609020204030204" pitchFamily="49" charset="0"/>
              </a:rPr>
              <a:t> NULL;</a:t>
            </a:r>
          </a:p>
          <a:p>
            <a:pPr marL="114300" lvl="0" indent="0">
              <a:spcBef>
                <a:spcPts val="0"/>
              </a:spcBef>
              <a:buClr>
                <a:srgbClr val="000000"/>
              </a:buClr>
              <a:buNone/>
            </a:pPr>
            <a:r>
              <a:rPr lang="en-US" sz="1600" dirty="0">
                <a:solidFill>
                  <a:srgbClr val="000000"/>
                </a:solidFill>
                <a:latin typeface="Consolas" panose="020B0609020204030204" pitchFamily="49" charset="0"/>
              </a:rPr>
              <a:t>}</a:t>
            </a:r>
          </a:p>
          <a:p>
            <a:pPr marL="114300" indent="0">
              <a:spcBef>
                <a:spcPts val="0"/>
              </a:spcBef>
              <a:buNone/>
            </a:pPr>
            <a:endParaRPr lang="en-US" sz="1600" b="1" dirty="0">
              <a:latin typeface="Atkinson Hyperlegible Next"/>
              <a:ea typeface="Arial"/>
              <a:cs typeface="Arial"/>
              <a:sym typeface="Arial"/>
            </a:endParaRPr>
          </a:p>
          <a:p>
            <a:pPr marL="114300" indent="0">
              <a:spcBef>
                <a:spcPts val="0"/>
              </a:spcBef>
              <a:buNone/>
            </a:pPr>
            <a:r>
              <a:rPr lang="en-US" sz="1600" dirty="0">
                <a:latin typeface="Atkinson Hyperlegible Next"/>
                <a:ea typeface="Arial"/>
                <a:cs typeface="Arial"/>
                <a:sym typeface="Arial"/>
              </a:rPr>
              <a:t>What is causing the race condition in this case?</a:t>
            </a:r>
          </a:p>
          <a:p>
            <a:pPr marL="114300" indent="0">
              <a:spcBef>
                <a:spcPts val="0"/>
              </a:spcBef>
              <a:buNone/>
            </a:pPr>
            <a:endParaRPr lang="en-US" sz="1600" dirty="0">
              <a:latin typeface="Atkinson Hyperlegible Next"/>
              <a:ea typeface="Arial"/>
              <a:cs typeface="Arial"/>
              <a:sym typeface="Arial"/>
            </a:endParaRPr>
          </a:p>
          <a:p>
            <a:pPr marL="114300" indent="0">
              <a:spcBef>
                <a:spcPts val="0"/>
              </a:spcBef>
              <a:buNone/>
            </a:pPr>
            <a:r>
              <a:rPr lang="en-US" sz="1600" dirty="0">
                <a:latin typeface="Atkinson Hyperlegible Next"/>
                <a:ea typeface="Arial"/>
                <a:cs typeface="Arial"/>
                <a:sym typeface="Arial"/>
              </a:rPr>
              <a:t>The “+= 1”, is causing the race condition! Since that is not a single operation!</a:t>
            </a:r>
          </a:p>
          <a:p>
            <a:pPr marL="114300" indent="0">
              <a:spcBef>
                <a:spcPts val="0"/>
              </a:spcBef>
              <a:buNone/>
            </a:pPr>
            <a:endParaRPr lang="en-US" sz="1600" dirty="0">
              <a:latin typeface="Atkinson Hyperlegible Next"/>
              <a:ea typeface="Arial"/>
              <a:cs typeface="Arial"/>
              <a:sym typeface="Arial"/>
            </a:endParaRPr>
          </a:p>
          <a:p>
            <a:pPr marL="114300" indent="0">
              <a:spcBef>
                <a:spcPts val="0"/>
              </a:spcBef>
              <a:buNone/>
            </a:pPr>
            <a:r>
              <a:rPr lang="en-US" sz="1600" dirty="0">
                <a:solidFill>
                  <a:srgbClr val="3F7F5F"/>
                </a:solidFill>
                <a:latin typeface="Consolas" panose="020B0609020204030204" pitchFamily="49" charset="0"/>
              </a:rPr>
              <a:t>// In simple pseudocode, counter += 1 or counter++ looks like this:</a:t>
            </a:r>
          </a:p>
          <a:p>
            <a:pPr marL="114300" indent="0">
              <a:spcBef>
                <a:spcPts val="0"/>
              </a:spcBef>
              <a:buNone/>
            </a:pPr>
            <a:r>
              <a:rPr lang="en-US" sz="1600" dirty="0">
                <a:solidFill>
                  <a:srgbClr val="7F0055"/>
                </a:solidFill>
                <a:latin typeface="Consolas" panose="020B0609020204030204" pitchFamily="49" charset="0"/>
              </a:rPr>
              <a:t>int</a:t>
            </a:r>
            <a:r>
              <a:rPr lang="en-US" sz="1600" dirty="0">
                <a:solidFill>
                  <a:srgbClr val="000000"/>
                </a:solidFill>
                <a:latin typeface="Consolas" panose="020B0609020204030204" pitchFamily="49" charset="0"/>
              </a:rPr>
              <a:t> temp = counter + 1; </a:t>
            </a:r>
            <a:r>
              <a:rPr lang="en-US" sz="1600" dirty="0">
                <a:solidFill>
                  <a:srgbClr val="3F7F5F"/>
                </a:solidFill>
                <a:latin typeface="Consolas" panose="020B0609020204030204" pitchFamily="49" charset="0"/>
              </a:rPr>
              <a:t>// temp is for example the CPU register here, and "counter" is the value in memory</a:t>
            </a:r>
          </a:p>
          <a:p>
            <a:pPr marL="114300" indent="0">
              <a:spcBef>
                <a:spcPts val="0"/>
              </a:spcBef>
              <a:buNone/>
            </a:pPr>
            <a:r>
              <a:rPr lang="en-US" sz="1600" dirty="0">
                <a:solidFill>
                  <a:srgbClr val="000000"/>
                </a:solidFill>
                <a:latin typeface="Consolas" panose="020B0609020204030204" pitchFamily="49" charset="0"/>
              </a:rPr>
              <a:t>counter = temp; </a:t>
            </a:r>
            <a:r>
              <a:rPr lang="en-US" sz="1600" dirty="0">
                <a:solidFill>
                  <a:srgbClr val="3F7F5F"/>
                </a:solidFill>
                <a:latin typeface="Consolas" panose="020B0609020204030204" pitchFamily="49" charset="0"/>
              </a:rPr>
              <a:t>// the register value is written back out to the memory</a:t>
            </a:r>
            <a:endParaRPr lang="en-US" sz="16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64D63EF-1783-BC87-1483-E474BD37F08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9147C4E-1AE2-15B6-70BA-E39B82DC51D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D9B7B4D0-FF97-B989-B85C-2D286FE20A8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B1BF02F-A039-DC66-4F85-F26E38873E5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BDAC947-BA6A-13E9-E62F-BB39A28C69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C2C746F-FDA2-26BD-0BAE-8A6D1C7E1C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2CF23F3-476E-B9BA-6DD9-DFA7F5DA89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D2F55E7-9A40-F632-D5EA-EF5F5EA5AC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6242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4" end="1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16" end="1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17" end="1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A9B265-FA35-670C-4365-8BB9310B7FB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C965076-64D3-FA57-A476-11E477FFF3AE}"/>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1900" dirty="0">
                <a:latin typeface="Atkinson Hyperlegible Next"/>
                <a:ea typeface="Arial"/>
                <a:cs typeface="Arial"/>
                <a:sym typeface="Arial"/>
              </a:rPr>
              <a:t>We need a way to secure the important sections in a thread such that you can </a:t>
            </a:r>
            <a:r>
              <a:rPr lang="en-US" sz="1900" b="1" dirty="0">
                <a:latin typeface="Atkinson Hyperlegible Next"/>
                <a:ea typeface="Arial"/>
                <a:cs typeface="Arial"/>
                <a:sym typeface="Arial"/>
              </a:rPr>
              <a:t>lock </a:t>
            </a:r>
            <a:r>
              <a:rPr lang="en-US" sz="1900" dirty="0">
                <a:latin typeface="Atkinson Hyperlegible Next"/>
                <a:ea typeface="Arial"/>
                <a:cs typeface="Arial"/>
                <a:sym typeface="Arial"/>
              </a:rPr>
              <a:t>and </a:t>
            </a:r>
            <a:r>
              <a:rPr lang="en-US" sz="1900" b="1" dirty="0">
                <a:latin typeface="Atkinson Hyperlegible Next"/>
                <a:ea typeface="Arial"/>
                <a:cs typeface="Arial"/>
                <a:sym typeface="Arial"/>
              </a:rPr>
              <a:t>unlock </a:t>
            </a:r>
            <a:r>
              <a:rPr lang="en-US" sz="1900" dirty="0">
                <a:latin typeface="Atkinson Hyperlegible Next"/>
                <a:ea typeface="Arial"/>
                <a:cs typeface="Arial"/>
                <a:sym typeface="Arial"/>
              </a:rPr>
              <a:t>access for pieces of code for the threads.</a:t>
            </a:r>
          </a:p>
          <a:p>
            <a:pPr marL="114300" indent="0">
              <a:spcBef>
                <a:spcPts val="0"/>
              </a:spcBef>
              <a:buNone/>
            </a:pPr>
            <a:endParaRPr lang="en-US" sz="1900" b="1"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The simplest method is called the </a:t>
            </a:r>
            <a:r>
              <a:rPr lang="en-US" sz="1900" b="1" dirty="0">
                <a:latin typeface="Atkinson Hyperlegible Next"/>
                <a:ea typeface="Arial"/>
                <a:cs typeface="Arial"/>
                <a:sym typeface="Arial"/>
              </a:rPr>
              <a:t>mutex</a:t>
            </a:r>
            <a:r>
              <a:rPr lang="en-US" sz="1900" dirty="0">
                <a:latin typeface="Atkinson Hyperlegible Next"/>
                <a:ea typeface="Arial"/>
                <a:cs typeface="Arial"/>
                <a:sym typeface="Arial"/>
              </a:rPr>
              <a:t> (</a:t>
            </a:r>
            <a:r>
              <a:rPr lang="en-US" sz="1900" b="1" dirty="0">
                <a:latin typeface="Atkinson Hyperlegible Next"/>
                <a:ea typeface="Arial"/>
                <a:cs typeface="Arial"/>
                <a:sym typeface="Arial"/>
              </a:rPr>
              <a:t>Mut</a:t>
            </a:r>
            <a:r>
              <a:rPr lang="en-US" sz="1900" dirty="0">
                <a:latin typeface="Atkinson Hyperlegible Next"/>
                <a:ea typeface="Arial"/>
                <a:cs typeface="Arial"/>
                <a:sym typeface="Arial"/>
              </a:rPr>
              <a:t>ual </a:t>
            </a:r>
            <a:r>
              <a:rPr lang="en-US" sz="1900" b="1" dirty="0">
                <a:latin typeface="Atkinson Hyperlegible Next"/>
                <a:ea typeface="Arial"/>
                <a:cs typeface="Arial"/>
                <a:sym typeface="Arial"/>
              </a:rPr>
              <a:t>Ex</a:t>
            </a:r>
            <a:r>
              <a:rPr lang="en-US" sz="1900" dirty="0">
                <a:latin typeface="Atkinson Hyperlegible Next"/>
                <a:ea typeface="Arial"/>
                <a:cs typeface="Arial"/>
                <a:sym typeface="Arial"/>
              </a:rPr>
              <a:t>clusion). </a:t>
            </a: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The behavior can be seen as the lock on a restroom door. If you are using the restroom, you </a:t>
            </a:r>
            <a:r>
              <a:rPr lang="en-US" sz="1900" b="1" dirty="0">
                <a:latin typeface="Atkinson Hyperlegible Next"/>
                <a:ea typeface="Arial"/>
                <a:cs typeface="Arial"/>
                <a:sym typeface="Arial"/>
              </a:rPr>
              <a:t>lock</a:t>
            </a:r>
            <a:r>
              <a:rPr lang="en-US" sz="1900" dirty="0">
                <a:latin typeface="Atkinson Hyperlegible Next"/>
                <a:ea typeface="Arial"/>
                <a:cs typeface="Arial"/>
                <a:sym typeface="Arial"/>
              </a:rPr>
              <a:t> the door. Others that want to occupy the restroom must </a:t>
            </a:r>
            <a:r>
              <a:rPr lang="en-US" sz="1900" b="1" dirty="0">
                <a:latin typeface="Atkinson Hyperlegible Next"/>
                <a:ea typeface="Arial"/>
                <a:cs typeface="Arial"/>
                <a:sym typeface="Arial"/>
              </a:rPr>
              <a:t>wait</a:t>
            </a:r>
            <a:r>
              <a:rPr lang="en-US" sz="1900" dirty="0">
                <a:latin typeface="Atkinson Hyperlegible Next"/>
                <a:ea typeface="Arial"/>
                <a:cs typeface="Arial"/>
                <a:sym typeface="Arial"/>
              </a:rPr>
              <a:t> until you’re finished and you </a:t>
            </a:r>
            <a:r>
              <a:rPr lang="en-US" sz="1900" b="1" dirty="0">
                <a:latin typeface="Atkinson Hyperlegible Next"/>
                <a:ea typeface="Arial"/>
                <a:cs typeface="Arial"/>
                <a:sym typeface="Arial"/>
              </a:rPr>
              <a:t>unlock</a:t>
            </a:r>
            <a:r>
              <a:rPr lang="en-US" sz="1900" dirty="0">
                <a:latin typeface="Atkinson Hyperlegible Next"/>
                <a:ea typeface="Arial"/>
                <a:cs typeface="Arial"/>
                <a:sym typeface="Arial"/>
              </a:rPr>
              <a:t> the door (and get out, after washing your hands). </a:t>
            </a: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Hence, the mutex has only </a:t>
            </a:r>
            <a:r>
              <a:rPr lang="en-US" sz="1900" b="1" dirty="0">
                <a:latin typeface="Atkinson Hyperlegible Next"/>
                <a:ea typeface="Arial"/>
                <a:cs typeface="Arial"/>
                <a:sym typeface="Arial"/>
              </a:rPr>
              <a:t>two states</a:t>
            </a:r>
            <a:r>
              <a:rPr lang="en-US" sz="1900" dirty="0">
                <a:latin typeface="Atkinson Hyperlegible Next"/>
                <a:ea typeface="Arial"/>
                <a:cs typeface="Arial"/>
                <a:sym typeface="Arial"/>
              </a:rPr>
              <a:t>: one or zero, on or off, locked or unlocked.</a:t>
            </a: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Internally the mutex is implemented as a single, atomic CPU instruction!</a:t>
            </a: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The number of code / instructions between locking and unlocking a mutex should be kept to a minimum. If you put your whole thread inside the mutex then you are just making all your threads run in serial again! Losing all the parallelization benefits!</a:t>
            </a:r>
          </a:p>
          <a:p>
            <a:pPr marL="114300" indent="0">
              <a:spcBef>
                <a:spcPts val="0"/>
              </a:spcBef>
              <a:buNone/>
            </a:pPr>
            <a:endParaRPr lang="en-US" sz="1900" dirty="0">
              <a:latin typeface="Atkinson Hyperlegible Next"/>
              <a:ea typeface="Arial"/>
              <a:cs typeface="Arial"/>
              <a:sym typeface="Arial"/>
            </a:endParaRPr>
          </a:p>
          <a:p>
            <a:pPr marL="114300" indent="0">
              <a:spcBef>
                <a:spcPts val="0"/>
              </a:spcBef>
              <a:buNone/>
            </a:pPr>
            <a:r>
              <a:rPr lang="en-US" sz="1900" dirty="0">
                <a:latin typeface="Atkinson Hyperlegible Next"/>
                <a:ea typeface="Arial"/>
                <a:cs typeface="Arial"/>
                <a:sym typeface="Arial"/>
              </a:rPr>
              <a:t>You can still have a Deadlock problem (where threads lock each other out causing infinite waiting)</a:t>
            </a:r>
          </a:p>
        </p:txBody>
      </p:sp>
      <p:sp>
        <p:nvSpPr>
          <p:cNvPr id="119" name="Google Shape;119;p29">
            <a:extLst>
              <a:ext uri="{FF2B5EF4-FFF2-40B4-BE49-F238E27FC236}">
                <a16:creationId xmlns:a16="http://schemas.microsoft.com/office/drawing/2014/main" id="{36CA3B53-45A1-D29E-A7E9-9E5E05646B2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7C8BF39-828B-4C6F-E7BA-5092DA6E175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Mutex and Locking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0FBF0087-BFE9-AEA9-70BF-2FCFD6A4632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AE8496F-5AF1-9A97-C0AC-87BF987270D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1D2C84F-EA04-E44F-7691-21695C23B03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FF01C05-5F65-ECB1-18EB-ACD9268C000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262ED94-5843-F2BA-D096-77674D63CEA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E487E1-750C-89EE-8589-8D36E042D95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0767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B780BCA-B828-1808-5290-C1F70F83D24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80572AB-02FC-3A4F-23A1-82E19C66B9FD}"/>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2000" dirty="0">
                <a:solidFill>
                  <a:srgbClr val="7F0055"/>
                </a:solidFill>
                <a:latin typeface="Consolas" panose="020B0609020204030204" pitchFamily="49" charset="0"/>
              </a:rPr>
              <a:t>int</a:t>
            </a:r>
            <a:r>
              <a:rPr lang="en-US" sz="2000" dirty="0">
                <a:solidFill>
                  <a:srgbClr val="000000"/>
                </a:solidFill>
                <a:latin typeface="Consolas" panose="020B0609020204030204" pitchFamily="49" charset="0"/>
              </a:rPr>
              <a:t> counter;</a:t>
            </a:r>
          </a:p>
          <a:p>
            <a:pPr marL="114300" indent="0">
              <a:spcBef>
                <a:spcPts val="0"/>
              </a:spcBef>
              <a:buNone/>
            </a:pPr>
            <a:r>
              <a:rPr lang="en-US" sz="2000" dirty="0" err="1">
                <a:solidFill>
                  <a:srgbClr val="000000"/>
                </a:solidFill>
                <a:latin typeface="Consolas" panose="020B0609020204030204" pitchFamily="49" charset="0"/>
              </a:rPr>
              <a:t>pthread_mutex_t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counter_lock</a:t>
            </a:r>
            <a:r>
              <a:rPr lang="en-US" sz="2000" dirty="0">
                <a:solidFill>
                  <a:srgbClr val="000000"/>
                </a:solidFill>
                <a:latin typeface="Consolas" panose="020B0609020204030204" pitchFamily="49" charset="0"/>
              </a:rPr>
              <a:t>;</a:t>
            </a:r>
          </a:p>
          <a:p>
            <a:pPr marL="114300" indent="0">
              <a:spcBef>
                <a:spcPts val="0"/>
              </a:spcBef>
              <a:buNone/>
            </a:pPr>
            <a:r>
              <a:rPr lang="en-US" sz="2000" dirty="0">
                <a:solidFill>
                  <a:srgbClr val="000000"/>
                </a:solidFill>
                <a:latin typeface="Consolas" panose="020B0609020204030204" pitchFamily="49" charset="0"/>
              </a:rPr>
              <a:t>                </a:t>
            </a:r>
            <a:endParaRPr lang="en-US" sz="2000" dirty="0">
              <a:latin typeface="Consolas" panose="020B0609020204030204" pitchFamily="49" charset="0"/>
            </a:endParaRPr>
          </a:p>
          <a:p>
            <a:pPr marL="114300" indent="0">
              <a:spcBef>
                <a:spcPts val="0"/>
              </a:spcBef>
              <a:buNone/>
            </a:pPr>
            <a:r>
              <a:rPr lang="en-US" sz="2000" dirty="0">
                <a:solidFill>
                  <a:srgbClr val="7F0055"/>
                </a:solidFill>
                <a:latin typeface="Consolas" panose="020B0609020204030204" pitchFamily="49" charset="0"/>
              </a:rPr>
              <a:t>void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doSomeThing</a:t>
            </a:r>
            <a:r>
              <a:rPr lang="en-US" sz="2000" dirty="0">
                <a:solidFill>
                  <a:srgbClr val="000000"/>
                </a:solidFill>
                <a:latin typeface="Consolas" panose="020B0609020204030204" pitchFamily="49" charset="0"/>
              </a:rPr>
              <a:t>(</a:t>
            </a:r>
            <a:r>
              <a:rPr lang="en-US" sz="2000" dirty="0">
                <a:solidFill>
                  <a:srgbClr val="7F0055"/>
                </a:solidFill>
                <a:latin typeface="Consolas" panose="020B0609020204030204" pitchFamily="49" charset="0"/>
              </a:rPr>
              <a:t>void</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arg</a:t>
            </a:r>
            <a:r>
              <a:rPr lang="en-US" sz="2000" dirty="0">
                <a:solidFill>
                  <a:srgbClr val="000000"/>
                </a:solidFill>
                <a:latin typeface="Consolas" panose="020B0609020204030204" pitchFamily="49" charset="0"/>
              </a:rPr>
              <a:t>) {</a:t>
            </a:r>
          </a:p>
          <a:p>
            <a:pPr marL="114300" indent="0">
              <a:spcBef>
                <a:spcPts val="0"/>
              </a:spcBef>
              <a:buNone/>
            </a:pP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unsigned</a:t>
            </a: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long</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i</a:t>
            </a:r>
            <a:r>
              <a:rPr lang="en-US" sz="2000" dirty="0">
                <a:solidFill>
                  <a:srgbClr val="000000"/>
                </a:solidFill>
                <a:latin typeface="Consolas" panose="020B0609020204030204" pitchFamily="49" charset="0"/>
              </a:rPr>
              <a:t> = 0;</a:t>
            </a:r>
          </a:p>
          <a:p>
            <a:pPr marL="114300" indent="0">
              <a:spcBef>
                <a:spcPts val="0"/>
              </a:spcBef>
              <a:buNone/>
            </a:pPr>
            <a:endParaRPr lang="en-US" sz="2000" dirty="0">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int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a:t>
            </a:r>
            <a:endParaRPr lang="en-US" sz="2000" dirty="0">
              <a:solidFill>
                <a:srgbClr val="3F7F5F"/>
              </a:solidFill>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pthread_mutex_lock</a:t>
            </a:r>
            <a:r>
              <a:rPr lang="en-US" sz="2000" dirty="0">
                <a:solidFill>
                  <a:srgbClr val="000000"/>
                </a:solidFill>
                <a:latin typeface="Consolas" panose="020B0609020204030204" pitchFamily="49" charset="0"/>
              </a:rPr>
              <a:t>(&amp;</a:t>
            </a:r>
            <a:r>
              <a:rPr lang="en-US" sz="2000" dirty="0" err="1">
                <a:solidFill>
                  <a:srgbClr val="000000"/>
                </a:solidFill>
                <a:latin typeface="Consolas" panose="020B0609020204030204" pitchFamily="49" charset="0"/>
              </a:rPr>
              <a:t>counter_lock</a:t>
            </a:r>
            <a:r>
              <a:rPr lang="en-US" sz="2000" dirty="0">
                <a:solidFill>
                  <a:srgbClr val="000000"/>
                </a:solidFill>
                <a:latin typeface="Consolas" panose="020B0609020204030204" pitchFamily="49" charset="0"/>
              </a:rPr>
              <a:t>);          </a:t>
            </a:r>
            <a:endParaRPr lang="en-US" sz="2000" dirty="0">
              <a:solidFill>
                <a:srgbClr val="3F7F5F"/>
              </a:solidFill>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counter += 1;</a:t>
            </a: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 counter;                         </a:t>
            </a:r>
            <a:endParaRPr lang="en-US" sz="2000" dirty="0">
              <a:solidFill>
                <a:srgbClr val="3F7F5F"/>
              </a:solidFill>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pthread_mutex_unlock</a:t>
            </a:r>
            <a:r>
              <a:rPr lang="en-US" sz="2000" dirty="0">
                <a:solidFill>
                  <a:srgbClr val="000000"/>
                </a:solidFill>
                <a:latin typeface="Consolas" panose="020B0609020204030204" pitchFamily="49" charset="0"/>
              </a:rPr>
              <a:t>(&amp;</a:t>
            </a:r>
            <a:r>
              <a:rPr lang="en-US" sz="2000" dirty="0" err="1">
                <a:solidFill>
                  <a:srgbClr val="000000"/>
                </a:solidFill>
                <a:latin typeface="Consolas" panose="020B0609020204030204" pitchFamily="49" charset="0"/>
              </a:rPr>
              <a:t>counter_lock</a:t>
            </a:r>
            <a:r>
              <a:rPr lang="en-US" sz="2000" dirty="0">
                <a:solidFill>
                  <a:srgbClr val="000000"/>
                </a:solidFill>
                <a:latin typeface="Consolas" panose="020B0609020204030204" pitchFamily="49" charset="0"/>
              </a:rPr>
              <a:t>);        </a:t>
            </a:r>
            <a:endParaRPr lang="en-US" sz="2000" dirty="0">
              <a:solidFill>
                <a:srgbClr val="3F7F5F"/>
              </a:solidFill>
              <a:latin typeface="Consolas" panose="020B0609020204030204" pitchFamily="49" charset="0"/>
            </a:endParaRPr>
          </a:p>
          <a:p>
            <a:pPr marL="114300" indent="0">
              <a:spcBef>
                <a:spcPts val="0"/>
              </a:spcBef>
              <a:buNone/>
            </a:pPr>
            <a:endParaRPr lang="en-US" sz="2000" dirty="0">
              <a:latin typeface="Consolas" panose="020B0609020204030204" pitchFamily="49" charset="0"/>
            </a:endParaRPr>
          </a:p>
          <a:p>
            <a:pPr marL="114300" indent="0">
              <a:spcBef>
                <a:spcPts val="0"/>
              </a:spcBef>
              <a:buNone/>
            </a:pPr>
            <a:endParaRPr lang="en-US" sz="2000" dirty="0">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printf</a:t>
            </a:r>
            <a:r>
              <a:rPr lang="en-US" sz="2000" dirty="0">
                <a:solidFill>
                  <a:srgbClr val="000000"/>
                </a:solidFill>
                <a:latin typeface="Consolas" panose="020B0609020204030204" pitchFamily="49" charset="0"/>
              </a:rPr>
              <a:t>(</a:t>
            </a:r>
            <a:r>
              <a:rPr lang="en-US" sz="2000" dirty="0">
                <a:solidFill>
                  <a:srgbClr val="2A00FF"/>
                </a:solidFill>
                <a:latin typeface="Consolas" panose="020B0609020204030204" pitchFamily="49" charset="0"/>
              </a:rPr>
              <a:t>"  Job %d started\n"</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a:t>
            </a:r>
            <a:endParaRPr lang="en-US" sz="2000" dirty="0">
              <a:solidFill>
                <a:srgbClr val="3F7F5F"/>
              </a:solidFill>
              <a:latin typeface="Consolas" panose="020B0609020204030204" pitchFamily="49" charset="0"/>
            </a:endParaRPr>
          </a:p>
          <a:p>
            <a:pPr marL="114300" indent="0">
              <a:spcBef>
                <a:spcPts val="0"/>
              </a:spcBef>
              <a:buNone/>
            </a:pPr>
            <a:r>
              <a:rPr lang="nn-NO" sz="2000" dirty="0">
                <a:solidFill>
                  <a:srgbClr val="000000"/>
                </a:solidFill>
                <a:latin typeface="Consolas" panose="020B0609020204030204" pitchFamily="49" charset="0"/>
              </a:rPr>
              <a:t>    </a:t>
            </a:r>
            <a:r>
              <a:rPr lang="nn-NO" sz="2000" dirty="0">
                <a:solidFill>
                  <a:srgbClr val="7F0055"/>
                </a:solidFill>
                <a:latin typeface="Consolas" panose="020B0609020204030204" pitchFamily="49" charset="0"/>
              </a:rPr>
              <a:t>for</a:t>
            </a:r>
            <a:r>
              <a:rPr lang="nn-NO" sz="2000" dirty="0">
                <a:solidFill>
                  <a:srgbClr val="000000"/>
                </a:solidFill>
                <a:latin typeface="Consolas" panose="020B0609020204030204" pitchFamily="49" charset="0"/>
              </a:rPr>
              <a:t>(i=0; i&lt;(0xFFFFFFFF);i++);</a:t>
            </a:r>
          </a:p>
          <a:p>
            <a:pPr marL="114300" indent="0">
              <a:spcBef>
                <a:spcPts val="0"/>
              </a:spcBef>
              <a:buNone/>
            </a:pP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printf</a:t>
            </a:r>
            <a:r>
              <a:rPr lang="en-US" sz="2000" dirty="0">
                <a:solidFill>
                  <a:srgbClr val="000000"/>
                </a:solidFill>
                <a:latin typeface="Consolas" panose="020B0609020204030204" pitchFamily="49" charset="0"/>
              </a:rPr>
              <a:t>(</a:t>
            </a:r>
            <a:r>
              <a:rPr lang="en-US" sz="2000" dirty="0">
                <a:solidFill>
                  <a:srgbClr val="2A00FF"/>
                </a:solidFill>
                <a:latin typeface="Consolas" panose="020B0609020204030204" pitchFamily="49" charset="0"/>
              </a:rPr>
              <a:t>"  Job %d finished\n"</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local_id</a:t>
            </a:r>
            <a:r>
              <a:rPr lang="en-US" sz="2000" dirty="0">
                <a:solidFill>
                  <a:srgbClr val="000000"/>
                </a:solidFill>
                <a:latin typeface="Consolas" panose="020B0609020204030204" pitchFamily="49" charset="0"/>
              </a:rPr>
              <a:t>);    </a:t>
            </a:r>
            <a:endParaRPr lang="en-US" sz="2000" dirty="0">
              <a:solidFill>
                <a:srgbClr val="3F7F5F"/>
              </a:solidFill>
              <a:latin typeface="Consolas" panose="020B0609020204030204" pitchFamily="49" charset="0"/>
            </a:endParaRPr>
          </a:p>
          <a:p>
            <a:pPr marL="114300" indent="0">
              <a:spcBef>
                <a:spcPts val="0"/>
              </a:spcBef>
              <a:buNone/>
            </a:pPr>
            <a:endParaRPr lang="en-US" sz="2000" dirty="0">
              <a:latin typeface="Consolas" panose="020B0609020204030204" pitchFamily="49" charset="0"/>
            </a:endParaRPr>
          </a:p>
          <a:p>
            <a:pPr marL="114300" indent="0">
              <a:spcBef>
                <a:spcPts val="0"/>
              </a:spcBef>
              <a:buNone/>
            </a:pPr>
            <a:r>
              <a:rPr lang="en-US" sz="2000" dirty="0">
                <a:solidFill>
                  <a:srgbClr val="000000"/>
                </a:solidFill>
                <a:latin typeface="Consolas" panose="020B0609020204030204" pitchFamily="49" charset="0"/>
              </a:rPr>
              <a:t>    </a:t>
            </a:r>
            <a:r>
              <a:rPr lang="en-US" sz="2000" dirty="0">
                <a:solidFill>
                  <a:srgbClr val="7F0055"/>
                </a:solidFill>
                <a:latin typeface="Consolas" panose="020B0609020204030204" pitchFamily="49" charset="0"/>
              </a:rPr>
              <a:t>return</a:t>
            </a:r>
            <a:r>
              <a:rPr lang="en-US" sz="2000" dirty="0">
                <a:solidFill>
                  <a:srgbClr val="000000"/>
                </a:solidFill>
                <a:latin typeface="Consolas" panose="020B0609020204030204" pitchFamily="49" charset="0"/>
              </a:rPr>
              <a:t> NULL;</a:t>
            </a:r>
          </a:p>
          <a:p>
            <a:pPr marL="114300" indent="0">
              <a:spcBef>
                <a:spcPts val="0"/>
              </a:spcBef>
              <a:buNone/>
            </a:pPr>
            <a:r>
              <a:rPr lang="en-US" sz="2000" dirty="0">
                <a:solidFill>
                  <a:srgbClr val="000000"/>
                </a:solidFill>
                <a:latin typeface="Consolas" panose="020B0609020204030204" pitchFamily="49" charset="0"/>
              </a:rPr>
              <a:t>}</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FC492D4-8D55-50D7-3FEF-84C49258198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E89AA3A-7BB3-8499-CC43-CBCEB417897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Mutex and Locking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6615CB1-8FEC-7BBD-C036-EEC56D0F18A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B2174D3-E5E3-3F3A-B9DC-47D1BB66BA5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9B1ECBA-1ED0-2D16-166A-C5CBACF142F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D706337-1EFE-67BC-165F-D3B627B63E5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02A726-BE2F-C5DB-14A8-1572DCEBDDE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8C3F4F-47AD-4180-3476-D2B5E7D0389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240281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0232C7B-1E6E-9AAC-EE8C-4B2EAC447D2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0497DF-F6A2-65E6-948E-A95986F0BDFD}"/>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2000" dirty="0">
                <a:latin typeface="Atkinson Hyperlegible Next"/>
                <a:ea typeface="Arial"/>
                <a:cs typeface="Arial"/>
                <a:sym typeface="Arial"/>
              </a:rPr>
              <a:t>While the mutex is nice and simple, we can improve the thread synchronization </a:t>
            </a:r>
            <a:r>
              <a:rPr lang="en-US" sz="2000" dirty="0" err="1">
                <a:latin typeface="Atkinson Hyperlegible Next"/>
                <a:ea typeface="Arial"/>
                <a:cs typeface="Arial"/>
                <a:sym typeface="Arial"/>
              </a:rPr>
              <a:t>techniuques</a:t>
            </a:r>
            <a:r>
              <a:rPr lang="en-US" sz="2000" dirty="0">
                <a:latin typeface="Atkinson Hyperlegible Next"/>
                <a:ea typeface="Arial"/>
                <a:cs typeface="Arial"/>
                <a:sym typeface="Arial"/>
              </a:rPr>
              <a:t> using Semaphores!</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This technique is useful in </a:t>
            </a:r>
            <a:r>
              <a:rPr lang="en-US" sz="2000" b="1" dirty="0">
                <a:latin typeface="Atkinson Hyperlegible Next"/>
                <a:ea typeface="Arial"/>
                <a:cs typeface="Arial"/>
                <a:sym typeface="Arial"/>
              </a:rPr>
              <a:t>producer-consumer </a:t>
            </a:r>
            <a:r>
              <a:rPr lang="en-US" sz="2000" dirty="0">
                <a:latin typeface="Atkinson Hyperlegible Next"/>
                <a:ea typeface="Arial"/>
                <a:cs typeface="Arial"/>
                <a:sym typeface="Arial"/>
              </a:rPr>
              <a:t>problems.</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producer </a:t>
            </a:r>
            <a:r>
              <a:rPr lang="en-US" sz="2000" dirty="0">
                <a:latin typeface="Atkinson Hyperlegible Next"/>
                <a:ea typeface="Arial"/>
                <a:cs typeface="Arial"/>
                <a:sym typeface="Arial"/>
              </a:rPr>
              <a:t>has 1 or more threads to prepare data and put it in a limited amount of shared memory (an array for example)</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consumer </a:t>
            </a:r>
            <a:r>
              <a:rPr lang="en-US" sz="2000" dirty="0">
                <a:latin typeface="Atkinson Hyperlegible Next"/>
                <a:ea typeface="Arial"/>
                <a:cs typeface="Arial"/>
                <a:sym typeface="Arial"/>
              </a:rPr>
              <a:t>wants to be able to read that ready data.</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Now we want to have multiple producers be able to write to that shared memory at a given time if there is an open spot. If not wait!</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Similarly, the consumers can read data from the shared memory if there is something there. If not wait!</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2F75C06-E8A3-BEA1-2F84-012F3F90494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3C1836E-A577-CA56-50CC-EAB011C3373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Semaphores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EB1FF7A-8257-D77B-D77B-84C40DEE0BD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EDB2D09-5BBF-2D6C-E245-6A02A0CE4EC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73DFB47-24F5-57ED-5205-00E57DF002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BF62637-7727-87C7-C8B0-ECA65D05143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4BEB016-BDF8-B526-4E21-758130A0AB0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26C5D2D-C321-DE00-701E-D2C0816D8A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2025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F3B170-E45D-18FB-7E6C-AFF60870E6E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DE98EDF-6562-34EE-E6A0-65BE69213D47}"/>
              </a:ext>
            </a:extLst>
          </p:cNvPr>
          <p:cNvSpPr txBox="1">
            <a:spLocks noGrp="1"/>
          </p:cNvSpPr>
          <p:nvPr>
            <p:ph type="body" idx="1"/>
          </p:nvPr>
        </p:nvSpPr>
        <p:spPr>
          <a:xfrm>
            <a:off x="376809" y="1102041"/>
            <a:ext cx="11177401" cy="5383930"/>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2000" dirty="0">
                <a:latin typeface="Atkinson Hyperlegible Next"/>
                <a:ea typeface="Arial"/>
                <a:cs typeface="Arial"/>
                <a:sym typeface="Arial"/>
              </a:rPr>
              <a:t>We want threads that want to read/write an item from/to the array can only do so if it is possible. </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If not, the thread should be </a:t>
            </a:r>
            <a:r>
              <a:rPr lang="en-US" sz="2000" b="1" dirty="0">
                <a:latin typeface="Atkinson Hyperlegible Next"/>
                <a:ea typeface="Arial"/>
                <a:cs typeface="Arial"/>
                <a:sym typeface="Arial"/>
              </a:rPr>
              <a:t>paused</a:t>
            </a:r>
            <a:r>
              <a:rPr lang="en-US" sz="2000" dirty="0">
                <a:latin typeface="Atkinson Hyperlegible Next"/>
                <a:ea typeface="Arial"/>
                <a:cs typeface="Arial"/>
                <a:sym typeface="Arial"/>
              </a:rPr>
              <a:t> until it’s sure that it can make progress, instead of constantly checking. </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To do this, we need a new type of lock that keeps track of who’s waiting for what to happen, which is called the </a:t>
            </a:r>
            <a:r>
              <a:rPr lang="en-US" sz="2000" b="1" dirty="0">
                <a:latin typeface="Atkinson Hyperlegible Next"/>
                <a:ea typeface="Arial"/>
                <a:cs typeface="Arial"/>
                <a:sym typeface="Arial"/>
              </a:rPr>
              <a:t>semaphore</a:t>
            </a:r>
            <a:r>
              <a:rPr lang="en-US" sz="2000" dirty="0">
                <a:latin typeface="Atkinson Hyperlegible Next"/>
                <a:ea typeface="Arial"/>
                <a:cs typeface="Arial"/>
                <a:sym typeface="Arial"/>
              </a:rPr>
              <a:t>.</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We could have a mutex</a:t>
            </a:r>
            <a:r>
              <a:rPr lang="en-US" sz="2000" b="1" dirty="0">
                <a:latin typeface="Atkinson Hyperlegible Next"/>
                <a:ea typeface="Arial"/>
                <a:cs typeface="Arial"/>
                <a:sym typeface="Arial"/>
              </a:rPr>
              <a:t> </a:t>
            </a:r>
            <a:r>
              <a:rPr lang="en-US" sz="2000" dirty="0">
                <a:latin typeface="Atkinson Hyperlegible Next"/>
                <a:ea typeface="Arial"/>
                <a:cs typeface="Arial"/>
                <a:sym typeface="Arial"/>
              </a:rPr>
              <a:t>and check if the specific element has been changed or not; however, having a mutex locking and unlocking almost immediately to check that element, is called </a:t>
            </a:r>
            <a:r>
              <a:rPr lang="en-US" sz="2000" b="1" dirty="0">
                <a:latin typeface="Atkinson Hyperlegible Next"/>
                <a:ea typeface="Arial"/>
                <a:cs typeface="Arial"/>
                <a:sym typeface="Arial"/>
              </a:rPr>
              <a:t>busy waiting </a:t>
            </a:r>
            <a:r>
              <a:rPr lang="en-US" sz="2000" dirty="0">
                <a:latin typeface="Atkinson Hyperlegible Next"/>
                <a:ea typeface="Arial"/>
                <a:cs typeface="Arial"/>
                <a:sym typeface="Arial"/>
              </a:rPr>
              <a:t>or </a:t>
            </a:r>
            <a:r>
              <a:rPr lang="en-US" sz="2000" b="1" dirty="0">
                <a:latin typeface="Atkinson Hyperlegible Next"/>
                <a:ea typeface="Arial"/>
                <a:cs typeface="Arial"/>
                <a:sym typeface="Arial"/>
              </a:rPr>
              <a:t>polling </a:t>
            </a:r>
            <a:r>
              <a:rPr lang="en-US" sz="2000" dirty="0">
                <a:latin typeface="Atkinson Hyperlegible Next"/>
                <a:ea typeface="Arial"/>
                <a:cs typeface="Arial"/>
                <a:sym typeface="Arial"/>
              </a:rPr>
              <a:t>and is bad for performance as you’re doing a lot of unnecessary work.</a:t>
            </a:r>
          </a:p>
        </p:txBody>
      </p:sp>
      <p:sp>
        <p:nvSpPr>
          <p:cNvPr id="119" name="Google Shape;119;p29">
            <a:extLst>
              <a:ext uri="{FF2B5EF4-FFF2-40B4-BE49-F238E27FC236}">
                <a16:creationId xmlns:a16="http://schemas.microsoft.com/office/drawing/2014/main" id="{6BFCC886-9E0B-37CA-3D34-91DA58DD407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CCCD10D-8804-CFD7-BCD5-AE3ABD64D71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Semaphores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A0FCCECB-CB1C-F739-7C02-736C2806833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EC79E67-BD50-95F6-62E6-E0E68B7958C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50E1596-2743-B95B-9884-C7E2BA6DC1B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5836CF8-B3EB-94FC-DCF8-6F7BB891022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E4B09A1-5FDC-6F95-0D2B-43CFCCFB780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E944576-7A7C-E1CE-317F-A84656F2559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946197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5A7ABA6-4CA5-08D8-87E9-D5C3D223E92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187F383-92CB-C55A-70E1-03475039BECD}"/>
              </a:ext>
            </a:extLst>
          </p:cNvPr>
          <p:cNvSpPr txBox="1">
            <a:spLocks noGrp="1"/>
          </p:cNvSpPr>
          <p:nvPr>
            <p:ph type="body" idx="1"/>
          </p:nvPr>
        </p:nvSpPr>
        <p:spPr>
          <a:xfrm>
            <a:off x="376809" y="1102041"/>
            <a:ext cx="11177401" cy="2739709"/>
          </a:xfrm>
          <a:prstGeom prst="rect">
            <a:avLst/>
          </a:prstGeom>
          <a:noFill/>
          <a:ln>
            <a:noFill/>
          </a:ln>
        </p:spPr>
        <p:txBody>
          <a:bodyPr spcFirstLastPara="1" wrap="square" lIns="91425" tIns="45700" rIns="91425" bIns="45700" anchor="t" anchorCtr="0">
            <a:noAutofit/>
          </a:bodyPr>
          <a:lstStyle/>
          <a:p>
            <a:pPr marL="114300" indent="0">
              <a:spcBef>
                <a:spcPts val="0"/>
              </a:spcBef>
              <a:buNone/>
            </a:pPr>
            <a:r>
              <a:rPr lang="en-US" sz="2000" dirty="0">
                <a:latin typeface="Atkinson Hyperlegible Next"/>
                <a:ea typeface="Arial"/>
                <a:cs typeface="Arial"/>
                <a:sym typeface="Arial"/>
              </a:rPr>
              <a:t>Semaphores are simply a counter, but one that can automatically pause/resume threads that use it.</a:t>
            </a:r>
          </a:p>
          <a:p>
            <a:pPr marL="114300" indent="0">
              <a:spcBef>
                <a:spcPts val="0"/>
              </a:spcBef>
              <a:buNone/>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It only has 2 operations (below is pseudocode for the functions):</a:t>
            </a:r>
          </a:p>
          <a:p>
            <a:pPr>
              <a:spcBef>
                <a:spcPts val="0"/>
              </a:spcBef>
            </a:pPr>
            <a:r>
              <a:rPr lang="en-US" sz="2000" b="1" dirty="0">
                <a:latin typeface="Atkinson Hyperlegible Next"/>
                <a:ea typeface="Arial"/>
                <a:cs typeface="Arial"/>
                <a:sym typeface="Arial"/>
              </a:rPr>
              <a:t>Wait</a:t>
            </a:r>
            <a:r>
              <a:rPr lang="en-US" sz="2000" dirty="0">
                <a:latin typeface="Atkinson Hyperlegible Next"/>
                <a:ea typeface="Arial"/>
                <a:cs typeface="Arial"/>
                <a:sym typeface="Arial"/>
              </a:rPr>
              <a:t>: continues if counter &gt; 0 and decrements it by 1. If not waits until counter &gt; 0</a:t>
            </a:r>
          </a:p>
          <a:p>
            <a:pPr>
              <a:spcBef>
                <a:spcPts val="0"/>
              </a:spcBef>
            </a:pPr>
            <a:r>
              <a:rPr lang="en-US" sz="2000" b="1" dirty="0">
                <a:latin typeface="Atkinson Hyperlegible Next"/>
                <a:ea typeface="Arial"/>
                <a:cs typeface="Arial"/>
                <a:sym typeface="Arial"/>
              </a:rPr>
              <a:t>Post</a:t>
            </a:r>
            <a:r>
              <a:rPr lang="en-US" sz="2000" dirty="0">
                <a:latin typeface="Atkinson Hyperlegible Next"/>
                <a:ea typeface="Arial"/>
                <a:cs typeface="Arial"/>
                <a:sym typeface="Arial"/>
              </a:rPr>
              <a:t>: increments counter by 1. Causes 1 of the waiting threads to un pause.</a:t>
            </a:r>
          </a:p>
          <a:p>
            <a:pPr>
              <a:spcBef>
                <a:spcPts val="0"/>
              </a:spcBef>
            </a:pPr>
            <a:endParaRPr lang="en-US" sz="2000" dirty="0">
              <a:latin typeface="Atkinson Hyperlegible Next"/>
              <a:ea typeface="Arial"/>
              <a:cs typeface="Arial"/>
              <a:sym typeface="Arial"/>
            </a:endParaRPr>
          </a:p>
          <a:p>
            <a:pPr>
              <a:spcBef>
                <a:spcPts val="0"/>
              </a:spcBef>
            </a:pPr>
            <a:endParaRPr lang="en-US" sz="2000" dirty="0">
              <a:latin typeface="Atkinson Hyperlegible Next"/>
              <a:ea typeface="Arial"/>
              <a:cs typeface="Arial"/>
              <a:sym typeface="Arial"/>
            </a:endParaRPr>
          </a:p>
          <a:p>
            <a:pPr marL="114300" indent="0">
              <a:spcBef>
                <a:spcPts val="0"/>
              </a:spcBef>
              <a:buNone/>
            </a:pPr>
            <a:r>
              <a:rPr lang="en-US" sz="2000" dirty="0">
                <a:latin typeface="Atkinson Hyperlegible Next"/>
                <a:ea typeface="Arial"/>
                <a:cs typeface="Arial"/>
                <a:sym typeface="Arial"/>
              </a:rPr>
              <a:t>Can be used to help wait for data to arrive.</a:t>
            </a:r>
          </a:p>
        </p:txBody>
      </p:sp>
      <p:sp>
        <p:nvSpPr>
          <p:cNvPr id="119" name="Google Shape;119;p29">
            <a:extLst>
              <a:ext uri="{FF2B5EF4-FFF2-40B4-BE49-F238E27FC236}">
                <a16:creationId xmlns:a16="http://schemas.microsoft.com/office/drawing/2014/main" id="{6862C4E3-56C9-9168-C0D9-6C8DCD5EC5A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52A489C-D41D-D059-343A-477E1C8EC21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Semaphores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88D1C78-1392-F604-9278-70DC11D88DA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69B7C0B-B8D5-E155-1437-4828FD5D013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07D87A6-A1F2-FA60-A707-E34C05A4E52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40DE081-13CC-6CBE-2202-640F2FD2FC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8CF33E-0979-777A-53FB-0B7976F46C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D83369B-661C-EDCB-23A7-97BBD13984E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TextBox 1">
            <a:extLst>
              <a:ext uri="{FF2B5EF4-FFF2-40B4-BE49-F238E27FC236}">
                <a16:creationId xmlns:a16="http://schemas.microsoft.com/office/drawing/2014/main" id="{E9589303-49D8-01EC-CFC0-8865BB2716DD}"/>
              </a:ext>
            </a:extLst>
          </p:cNvPr>
          <p:cNvSpPr txBox="1"/>
          <p:nvPr/>
        </p:nvSpPr>
        <p:spPr>
          <a:xfrm>
            <a:off x="376807" y="3956975"/>
            <a:ext cx="5092700" cy="2246769"/>
          </a:xfrm>
          <a:prstGeom prst="rect">
            <a:avLst/>
          </a:prstGeom>
          <a:noFill/>
        </p:spPr>
        <p:txBody>
          <a:bodyPr wrap="square" rtlCol="0">
            <a:spAutoFit/>
          </a:bodyPr>
          <a:lstStyle/>
          <a:p>
            <a:pPr algn="l"/>
            <a:r>
              <a:rPr lang="en-US" sz="1400" dirty="0">
                <a:solidFill>
                  <a:srgbClr val="000000"/>
                </a:solidFill>
                <a:latin typeface="Consolas" panose="020B0609020204030204" pitchFamily="49" charset="0"/>
              </a:rPr>
              <a:t>wait(semaphore v){</a:t>
            </a:r>
          </a:p>
          <a:p>
            <a:pPr algn="l"/>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while</a:t>
            </a:r>
            <a:r>
              <a:rPr lang="en-US" sz="1400" dirty="0">
                <a:solidFill>
                  <a:srgbClr val="000000"/>
                </a:solidFill>
                <a:latin typeface="Consolas" panose="020B0609020204030204" pitchFamily="49" charset="0"/>
              </a:rPr>
              <a:t>(1){</a:t>
            </a:r>
          </a:p>
          <a:p>
            <a:pPr algn="l"/>
            <a:r>
              <a:rPr lang="en-US" sz="1400" dirty="0">
                <a:solidFill>
                  <a:srgbClr val="000000"/>
                </a:solidFill>
                <a:latin typeface="Consolas" panose="020B0609020204030204" pitchFamily="49" charset="0"/>
              </a:rPr>
              <a:t>        atomic {</a:t>
            </a:r>
          </a:p>
          <a:p>
            <a:pPr algn="l"/>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if</a:t>
            </a:r>
            <a:r>
              <a:rPr lang="en-US" sz="1400" dirty="0">
                <a:solidFill>
                  <a:srgbClr val="000000"/>
                </a:solidFill>
                <a:latin typeface="Consolas" panose="020B0609020204030204" pitchFamily="49" charset="0"/>
              </a:rPr>
              <a:t> (v &gt; 0){</a:t>
            </a:r>
          </a:p>
          <a:p>
            <a:pPr algn="l"/>
            <a:r>
              <a:rPr lang="en-US" sz="1400" dirty="0">
                <a:solidFill>
                  <a:srgbClr val="000000"/>
                </a:solidFill>
                <a:latin typeface="Consolas" panose="020B0609020204030204" pitchFamily="49" charset="0"/>
              </a:rPr>
              <a:t>                v--;</a:t>
            </a:r>
          </a:p>
          <a:p>
            <a:pPr algn="l"/>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a:t>
            </a:r>
          </a:p>
          <a:p>
            <a:pPr algn="l"/>
            <a:r>
              <a:rPr lang="en-US" sz="1400" dirty="0">
                <a:solidFill>
                  <a:srgbClr val="000000"/>
                </a:solidFill>
                <a:latin typeface="Consolas" panose="020B0609020204030204" pitchFamily="49" charset="0"/>
              </a:rPr>
              <a:t>            }</a:t>
            </a:r>
          </a:p>
          <a:p>
            <a:pPr algn="l"/>
            <a:r>
              <a:rPr lang="en-US" sz="1400" dirty="0">
                <a:solidFill>
                  <a:srgbClr val="000000"/>
                </a:solidFill>
                <a:latin typeface="Consolas" panose="020B0609020204030204" pitchFamily="49" charset="0"/>
              </a:rPr>
              <a:t>        }</a:t>
            </a:r>
          </a:p>
          <a:p>
            <a:pPr algn="l"/>
            <a:r>
              <a:rPr lang="en-US" sz="1400" dirty="0">
                <a:solidFill>
                  <a:srgbClr val="000000"/>
                </a:solidFill>
                <a:latin typeface="Consolas" panose="020B0609020204030204" pitchFamily="49" charset="0"/>
              </a:rPr>
              <a:t>    }</a:t>
            </a:r>
          </a:p>
          <a:p>
            <a:pPr algn="l"/>
            <a:r>
              <a:rPr lang="en-US" sz="1400" dirty="0">
                <a:solidFill>
                  <a:srgbClr val="000000"/>
                </a:solidFill>
                <a:latin typeface="Consolas" panose="020B0609020204030204" pitchFamily="49" charset="0"/>
              </a:rPr>
              <a:t>}</a:t>
            </a:r>
            <a:endParaRPr lang="en-US" dirty="0"/>
          </a:p>
        </p:txBody>
      </p:sp>
      <p:sp>
        <p:nvSpPr>
          <p:cNvPr id="3" name="TextBox 2">
            <a:extLst>
              <a:ext uri="{FF2B5EF4-FFF2-40B4-BE49-F238E27FC236}">
                <a16:creationId xmlns:a16="http://schemas.microsoft.com/office/drawing/2014/main" id="{07588F99-D0F2-6FB1-45E7-5F793EFB604E}"/>
              </a:ext>
            </a:extLst>
          </p:cNvPr>
          <p:cNvSpPr txBox="1"/>
          <p:nvPr/>
        </p:nvSpPr>
        <p:spPr>
          <a:xfrm>
            <a:off x="5831823" y="3956975"/>
            <a:ext cx="5863308" cy="1384995"/>
          </a:xfrm>
          <a:prstGeom prst="rect">
            <a:avLst/>
          </a:prstGeom>
          <a:noFill/>
        </p:spPr>
        <p:txBody>
          <a:bodyPr wrap="square" rtlCol="0">
            <a:spAutoFit/>
          </a:bodyPr>
          <a:lstStyle/>
          <a:p>
            <a:pPr algn="l"/>
            <a:r>
              <a:rPr lang="en-US" sz="1400" dirty="0">
                <a:solidFill>
                  <a:srgbClr val="000000"/>
                </a:solidFill>
                <a:latin typeface="Consolas" panose="020B0609020204030204" pitchFamily="49" charset="0"/>
              </a:rPr>
              <a:t>post(semaphore v){</a:t>
            </a:r>
          </a:p>
          <a:p>
            <a:pPr algn="l"/>
            <a:r>
              <a:rPr lang="en-US" sz="1400" dirty="0">
                <a:solidFill>
                  <a:srgbClr val="000000"/>
                </a:solidFill>
                <a:latin typeface="Consolas" panose="020B0609020204030204" pitchFamily="49" charset="0"/>
              </a:rPr>
              <a:t>    atomic {</a:t>
            </a:r>
          </a:p>
          <a:p>
            <a:pPr algn="l"/>
            <a:r>
              <a:rPr lang="en-US" sz="1400" dirty="0">
                <a:solidFill>
                  <a:srgbClr val="000000"/>
                </a:solidFill>
                <a:latin typeface="Consolas" panose="020B0609020204030204" pitchFamily="49" charset="0"/>
              </a:rPr>
              <a:t>        v++;</a:t>
            </a:r>
          </a:p>
          <a:p>
            <a:pPr algn="l"/>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a:t>
            </a:r>
          </a:p>
          <a:p>
            <a:pPr algn="l"/>
            <a:r>
              <a:rPr lang="en-US" sz="1400" dirty="0">
                <a:solidFill>
                  <a:srgbClr val="000000"/>
                </a:solidFill>
                <a:latin typeface="Consolas" panose="020B0609020204030204" pitchFamily="49" charset="0"/>
              </a:rPr>
              <a:t>    }</a:t>
            </a:r>
          </a:p>
          <a:p>
            <a:pPr algn="l"/>
            <a:r>
              <a:rPr lang="en-US" sz="1400" dirty="0">
                <a:solidFill>
                  <a:srgbClr val="000000"/>
                </a:solidFill>
                <a:latin typeface="Consolas" panose="020B0609020204030204" pitchFamily="49" charset="0"/>
              </a:rPr>
              <a:t>}</a:t>
            </a:r>
            <a:endParaRPr lang="en-US" dirty="0"/>
          </a:p>
        </p:txBody>
      </p:sp>
    </p:spTree>
    <p:extLst>
      <p:ext uri="{BB962C8B-B14F-4D97-AF65-F5344CB8AC3E}">
        <p14:creationId xmlns:p14="http://schemas.microsoft.com/office/powerpoint/2010/main" val="3983115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FCB9E41-BFF9-4BF7-F274-5225384B360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E2C6798-DF0E-E16D-5CA7-FB33C2D7F5D1}"/>
              </a:ext>
            </a:extLst>
          </p:cNvPr>
          <p:cNvSpPr txBox="1">
            <a:spLocks noGrp="1"/>
          </p:cNvSpPr>
          <p:nvPr>
            <p:ph type="body" idx="1"/>
          </p:nvPr>
        </p:nvSpPr>
        <p:spPr>
          <a:xfrm>
            <a:off x="376809" y="1102041"/>
            <a:ext cx="5719191" cy="5383930"/>
          </a:xfrm>
          <a:prstGeom prst="rect">
            <a:avLst/>
          </a:prstGeom>
          <a:noFill/>
          <a:ln>
            <a:noFill/>
          </a:ln>
        </p:spPr>
        <p:txBody>
          <a:bodyPr spcFirstLastPara="1" wrap="square" lIns="91425" tIns="45700" rIns="91425" bIns="45700" anchor="t" anchorCtr="0">
            <a:noAutofit/>
          </a:bodyPr>
          <a:lstStyle/>
          <a:p>
            <a:pPr marL="114300" indent="0" algn="l">
              <a:spcBef>
                <a:spcPts val="0"/>
              </a:spcBef>
              <a:buNone/>
            </a:pPr>
            <a:r>
              <a:rPr lang="en-US" sz="1400" dirty="0">
                <a:solidFill>
                  <a:srgbClr val="7F0055"/>
                </a:solidFill>
                <a:latin typeface="Consolas" panose="020B0609020204030204" pitchFamily="49" charset="0"/>
              </a:rPr>
              <a:t>#include</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&lt;</a:t>
            </a:r>
            <a:r>
              <a:rPr lang="en-US" sz="1400" dirty="0" err="1">
                <a:solidFill>
                  <a:srgbClr val="2A00FF"/>
                </a:solidFill>
                <a:latin typeface="Consolas" panose="020B0609020204030204" pitchFamily="49" charset="0"/>
              </a:rPr>
              <a:t>stdio.h</a:t>
            </a:r>
            <a:r>
              <a:rPr lang="en-US" sz="1400" dirty="0">
                <a:solidFill>
                  <a:srgbClr val="2A00FF"/>
                </a:solidFill>
                <a:latin typeface="Consolas" panose="020B0609020204030204" pitchFamily="49" charset="0"/>
              </a:rPr>
              <a:t>&gt;</a:t>
            </a:r>
          </a:p>
          <a:p>
            <a:pPr marL="114300" indent="0" algn="l">
              <a:spcBef>
                <a:spcPts val="0"/>
              </a:spcBef>
              <a:buNone/>
            </a:pPr>
            <a:r>
              <a:rPr lang="en-US" sz="1400" dirty="0">
                <a:solidFill>
                  <a:srgbClr val="7F0055"/>
                </a:solidFill>
                <a:latin typeface="Consolas" panose="020B0609020204030204" pitchFamily="49" charset="0"/>
              </a:rPr>
              <a:t>#include</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&lt;</a:t>
            </a:r>
            <a:r>
              <a:rPr lang="en-US" sz="1400" dirty="0" err="1">
                <a:solidFill>
                  <a:srgbClr val="2A00FF"/>
                </a:solidFill>
                <a:latin typeface="Consolas" panose="020B0609020204030204" pitchFamily="49" charset="0"/>
              </a:rPr>
              <a:t>pthread.h</a:t>
            </a:r>
            <a:r>
              <a:rPr lang="en-US" sz="1400" dirty="0">
                <a:solidFill>
                  <a:srgbClr val="2A00FF"/>
                </a:solidFill>
                <a:latin typeface="Consolas" panose="020B0609020204030204" pitchFamily="49" charset="0"/>
              </a:rPr>
              <a:t>&gt;</a:t>
            </a:r>
          </a:p>
          <a:p>
            <a:pPr marL="114300" indent="0" algn="l">
              <a:spcBef>
                <a:spcPts val="0"/>
              </a:spcBef>
              <a:buNone/>
            </a:pPr>
            <a:r>
              <a:rPr lang="en-US" sz="1400" dirty="0">
                <a:solidFill>
                  <a:srgbClr val="7F0055"/>
                </a:solidFill>
                <a:latin typeface="Consolas" panose="020B0609020204030204" pitchFamily="49" charset="0"/>
              </a:rPr>
              <a:t>#include</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&lt;</a:t>
            </a:r>
            <a:r>
              <a:rPr lang="en-US" sz="1400" dirty="0" err="1">
                <a:solidFill>
                  <a:srgbClr val="2A00FF"/>
                </a:solidFill>
                <a:latin typeface="Consolas" panose="020B0609020204030204" pitchFamily="49" charset="0"/>
              </a:rPr>
              <a:t>semaphore.h</a:t>
            </a:r>
            <a:r>
              <a:rPr lang="en-US" sz="1400" dirty="0">
                <a:solidFill>
                  <a:srgbClr val="2A00FF"/>
                </a:solidFill>
                <a:latin typeface="Consolas" panose="020B0609020204030204" pitchFamily="49" charset="0"/>
              </a:rPr>
              <a:t>&gt;</a:t>
            </a:r>
          </a:p>
          <a:p>
            <a:pPr marL="114300" indent="0" algn="l">
              <a:spcBef>
                <a:spcPts val="0"/>
              </a:spcBef>
              <a:buNone/>
            </a:pPr>
            <a:r>
              <a:rPr lang="en-US" sz="1400" dirty="0">
                <a:solidFill>
                  <a:srgbClr val="7F0055"/>
                </a:solidFill>
                <a:latin typeface="Consolas" panose="020B0609020204030204" pitchFamily="49" charset="0"/>
              </a:rPr>
              <a:t>#include</a:t>
            </a:r>
            <a:r>
              <a:rPr lang="en-US" sz="1400" dirty="0">
                <a:solidFill>
                  <a:srgbClr val="000000"/>
                </a:solidFill>
                <a:latin typeface="Consolas" panose="020B0609020204030204" pitchFamily="49" charset="0"/>
              </a:rPr>
              <a:t> </a:t>
            </a:r>
            <a:r>
              <a:rPr lang="en-US" sz="1400" dirty="0">
                <a:solidFill>
                  <a:srgbClr val="2A00FF"/>
                </a:solidFill>
                <a:latin typeface="Consolas" panose="020B0609020204030204" pitchFamily="49" charset="0"/>
              </a:rPr>
              <a:t>&lt;</a:t>
            </a:r>
            <a:r>
              <a:rPr lang="en-US" sz="1400" dirty="0" err="1">
                <a:solidFill>
                  <a:srgbClr val="2A00FF"/>
                </a:solidFill>
                <a:latin typeface="Consolas" panose="020B0609020204030204" pitchFamily="49" charset="0"/>
              </a:rPr>
              <a:t>unistd.h</a:t>
            </a:r>
            <a:r>
              <a:rPr lang="en-US" sz="1400" dirty="0">
                <a:solidFill>
                  <a:srgbClr val="2A00FF"/>
                </a:solidFill>
                <a:latin typeface="Consolas" panose="020B0609020204030204" pitchFamily="49" charset="0"/>
              </a:rPr>
              <a:t>&gt;</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err="1">
                <a:solidFill>
                  <a:srgbClr val="000000"/>
                </a:solidFill>
                <a:latin typeface="Consolas" panose="020B0609020204030204" pitchFamily="49" charset="0"/>
              </a:rPr>
              <a:t>sem_t</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signal_sem</a:t>
            </a:r>
            <a:r>
              <a:rPr lang="en-US" sz="1400" dirty="0">
                <a:solidFill>
                  <a:srgbClr val="000000"/>
                </a:solidFill>
                <a:latin typeface="Consolas" panose="020B0609020204030204" pitchFamily="49" charset="0"/>
              </a:rPr>
              <a:t>;</a:t>
            </a:r>
          </a:p>
          <a:p>
            <a:pPr marL="114300" indent="0" algn="l">
              <a:spcBef>
                <a:spcPts val="0"/>
              </a:spcBef>
              <a:buNone/>
            </a:pPr>
            <a:endParaRPr lang="en-US" sz="1400" dirty="0">
              <a:latin typeface="Consolas" panose="020B0609020204030204" pitchFamily="49" charset="0"/>
            </a:endParaRPr>
          </a:p>
          <a:p>
            <a:pPr marL="114300" indent="0" algn="l">
              <a:spcBef>
                <a:spcPts val="0"/>
              </a:spcBef>
              <a:buNone/>
            </a:pP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worker_thread</a:t>
            </a:r>
            <a:r>
              <a:rPr lang="en-US" sz="1400" dirty="0">
                <a:solidFill>
                  <a:srgbClr val="000000"/>
                </a:solidFill>
                <a:latin typeface="Consolas" panose="020B0609020204030204" pitchFamily="49" charset="0"/>
              </a:rPr>
              <a:t>(</a:t>
            </a:r>
            <a:r>
              <a:rPr lang="en-US" sz="1400" dirty="0">
                <a:solidFill>
                  <a:srgbClr val="7F0055"/>
                </a:solidFill>
                <a:latin typeface="Consolas" panose="020B0609020204030204" pitchFamily="49" charset="0"/>
              </a:rPr>
              <a:t>void</a:t>
            </a: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arg</a:t>
            </a: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"Collected sensor data...\n"</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sleep(2); </a:t>
            </a:r>
            <a:r>
              <a:rPr lang="en-US" sz="1400" dirty="0">
                <a:solidFill>
                  <a:srgbClr val="3F7F5F"/>
                </a:solidFill>
                <a:latin typeface="Consolas" panose="020B0609020204030204" pitchFamily="49" charset="0"/>
              </a:rPr>
              <a:t>// Simulate the time it takes to read hardware sensors</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"Finished reading.\n"</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sem_post</a:t>
            </a:r>
            <a:r>
              <a:rPr lang="en-US" sz="1400" dirty="0">
                <a:solidFill>
                  <a:srgbClr val="000000"/>
                </a:solidFill>
                <a:latin typeface="Consolas" panose="020B0609020204030204" pitchFamily="49" charset="0"/>
              </a:rPr>
              <a:t>(&amp;</a:t>
            </a:r>
            <a:r>
              <a:rPr lang="en-US" sz="1400" dirty="0" err="1">
                <a:solidFill>
                  <a:srgbClr val="000000"/>
                </a:solidFill>
                <a:latin typeface="Consolas" panose="020B0609020204030204" pitchFamily="49" charset="0"/>
              </a:rPr>
              <a:t>signal_sem</a:t>
            </a: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Increments S to 1. Unblocks the main thread.</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 NULL;</a:t>
            </a:r>
          </a:p>
          <a:p>
            <a:pPr marL="114300" indent="0" algn="l">
              <a:spcBef>
                <a:spcPts val="0"/>
              </a:spcBef>
              <a:buNone/>
            </a:pPr>
            <a:r>
              <a:rPr lang="en-US" sz="1400" dirty="0">
                <a:solidFill>
                  <a:srgbClr val="000000"/>
                </a:solidFill>
                <a:latin typeface="Consolas" panose="020B0609020204030204" pitchFamily="49" charset="0"/>
              </a:rPr>
              <a:t>}</a:t>
            </a:r>
            <a:endParaRPr lang="en-US" sz="1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4D204AE4-3FEA-195B-E0D9-C391C340D2A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BC01E03-8875-E2D3-2350-39198CDEC4B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 – Semaphores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EB154DB5-CD58-4434-F191-01097D39CD1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D42B9E-6253-FD13-1E67-A81F18FFDBB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4E5EFF0-CF35-0AE4-E27D-2F823D11151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5232FEE-D10F-97CE-B85A-432DA7DFE4E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67DABAD-4F64-34E1-77AC-348A9557773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CF5A0BA-38E5-12F1-87E3-6A525A34F9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Google Shape;118;p29">
            <a:extLst>
              <a:ext uri="{FF2B5EF4-FFF2-40B4-BE49-F238E27FC236}">
                <a16:creationId xmlns:a16="http://schemas.microsoft.com/office/drawing/2014/main" id="{7E72868E-A9A6-1092-10E4-C50FD4A37B07}"/>
              </a:ext>
            </a:extLst>
          </p:cNvPr>
          <p:cNvSpPr txBox="1">
            <a:spLocks/>
          </p:cNvSpPr>
          <p:nvPr/>
        </p:nvSpPr>
        <p:spPr>
          <a:xfrm>
            <a:off x="6096000" y="1102041"/>
            <a:ext cx="5969000" cy="538393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114300" indent="0" algn="l">
              <a:spcBef>
                <a:spcPts val="0"/>
              </a:spcBef>
              <a:buNone/>
            </a:pPr>
            <a:r>
              <a:rPr lang="en-US" sz="1400" dirty="0">
                <a:solidFill>
                  <a:srgbClr val="7F0055"/>
                </a:solidFill>
                <a:latin typeface="Consolas" panose="020B0609020204030204" pitchFamily="49" charset="0"/>
              </a:rPr>
              <a:t>int</a:t>
            </a:r>
            <a:r>
              <a:rPr lang="en-US" sz="1400" dirty="0">
                <a:solidFill>
                  <a:srgbClr val="000000"/>
                </a:solidFill>
                <a:latin typeface="Consolas" panose="020B0609020204030204" pitchFamily="49" charset="0"/>
              </a:rPr>
              <a:t> main()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pthread_t</a:t>
            </a:r>
            <a:r>
              <a:rPr lang="en-US" sz="1400" dirty="0">
                <a:solidFill>
                  <a:srgbClr val="000000"/>
                </a:solidFill>
                <a:latin typeface="Consolas" panose="020B0609020204030204" pitchFamily="49" charset="0"/>
              </a:rPr>
              <a:t> thread;</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Initialize the semaphore to 0</a:t>
            </a:r>
          </a:p>
          <a:p>
            <a:pPr marL="114300" indent="0" algn="l">
              <a:spcBef>
                <a:spcPts val="0"/>
              </a:spcBef>
              <a:buNone/>
            </a:pPr>
            <a:r>
              <a:rPr lang="pt-BR" sz="1400" dirty="0">
                <a:solidFill>
                  <a:srgbClr val="000000"/>
                </a:solidFill>
                <a:latin typeface="Consolas" panose="020B0609020204030204" pitchFamily="49" charset="0"/>
              </a:rPr>
              <a:t>    sem_init(&amp;signal_sem, 0, 0); </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"Start reading.\n"</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pthread_create</a:t>
            </a:r>
            <a:r>
              <a:rPr lang="en-US" sz="1400" dirty="0">
                <a:solidFill>
                  <a:srgbClr val="000000"/>
                </a:solidFill>
                <a:latin typeface="Consolas" panose="020B0609020204030204" pitchFamily="49" charset="0"/>
              </a:rPr>
              <a:t>(&amp;thread, NULL, </a:t>
            </a:r>
            <a:r>
              <a:rPr lang="en-US" sz="1400" dirty="0" err="1">
                <a:solidFill>
                  <a:srgbClr val="000000"/>
                </a:solidFill>
                <a:latin typeface="Consolas" panose="020B0609020204030204" pitchFamily="49" charset="0"/>
              </a:rPr>
              <a:t>worker_thread</a:t>
            </a:r>
            <a:r>
              <a:rPr lang="en-US" sz="1400" dirty="0">
                <a:solidFill>
                  <a:srgbClr val="000000"/>
                </a:solidFill>
                <a:latin typeface="Consolas" panose="020B0609020204030204" pitchFamily="49" charset="0"/>
              </a:rPr>
              <a:t>, NULL);</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"Waiting for sensor reading...\n"</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Attempt to decrement S. Since S is 0, the CPU strictly blocks here.</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sem_wait</a:t>
            </a:r>
            <a:r>
              <a:rPr lang="en-US" sz="1400" dirty="0">
                <a:solidFill>
                  <a:srgbClr val="000000"/>
                </a:solidFill>
                <a:latin typeface="Consolas" panose="020B0609020204030204" pitchFamily="49" charset="0"/>
              </a:rPr>
              <a:t>(&amp;</a:t>
            </a:r>
            <a:r>
              <a:rPr lang="en-US" sz="1400" dirty="0" err="1">
                <a:solidFill>
                  <a:srgbClr val="000000"/>
                </a:solidFill>
                <a:latin typeface="Consolas" panose="020B0609020204030204" pitchFamily="49" charset="0"/>
              </a:rPr>
              <a:t>signal_sem</a:t>
            </a: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printf</a:t>
            </a:r>
            <a:r>
              <a:rPr lang="en-US" sz="1400" dirty="0">
                <a:solidFill>
                  <a:srgbClr val="000000"/>
                </a:solidFill>
                <a:latin typeface="Consolas" panose="020B0609020204030204" pitchFamily="49" charset="0"/>
              </a:rPr>
              <a:t>(</a:t>
            </a:r>
            <a:r>
              <a:rPr lang="en-US" sz="1400" dirty="0">
                <a:solidFill>
                  <a:srgbClr val="2A00FF"/>
                </a:solidFill>
                <a:latin typeface="Consolas" panose="020B0609020204030204" pitchFamily="49" charset="0"/>
              </a:rPr>
              <a:t>"Data collected, processing!\n"</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3F7F5F"/>
                </a:solidFill>
                <a:latin typeface="Consolas" panose="020B0609020204030204" pitchFamily="49" charset="0"/>
              </a:rPr>
              <a:t>// Clean up memory</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pthread_join</a:t>
            </a:r>
            <a:r>
              <a:rPr lang="en-US" sz="1400" dirty="0">
                <a:solidFill>
                  <a:srgbClr val="000000"/>
                </a:solidFill>
                <a:latin typeface="Consolas" panose="020B0609020204030204" pitchFamily="49" charset="0"/>
              </a:rPr>
              <a:t>(thread, NULL);</a:t>
            </a:r>
          </a:p>
          <a:p>
            <a:pPr marL="114300" indent="0" algn="l">
              <a:spcBef>
                <a:spcPts val="0"/>
              </a:spcBef>
              <a:buNone/>
            </a:pPr>
            <a:r>
              <a:rPr lang="en-US" sz="1400" dirty="0">
                <a:solidFill>
                  <a:srgbClr val="000000"/>
                </a:solidFill>
                <a:latin typeface="Consolas" panose="020B0609020204030204" pitchFamily="49" charset="0"/>
              </a:rPr>
              <a:t>    </a:t>
            </a:r>
            <a:r>
              <a:rPr lang="en-US" sz="1400" dirty="0" err="1">
                <a:solidFill>
                  <a:srgbClr val="000000"/>
                </a:solidFill>
                <a:latin typeface="Consolas" panose="020B0609020204030204" pitchFamily="49" charset="0"/>
              </a:rPr>
              <a:t>sem_destroy</a:t>
            </a:r>
            <a:r>
              <a:rPr lang="en-US" sz="1400" dirty="0">
                <a:solidFill>
                  <a:srgbClr val="000000"/>
                </a:solidFill>
                <a:latin typeface="Consolas" panose="020B0609020204030204" pitchFamily="49" charset="0"/>
              </a:rPr>
              <a:t>(&amp;</a:t>
            </a:r>
            <a:r>
              <a:rPr lang="en-US" sz="1400" dirty="0" err="1">
                <a:solidFill>
                  <a:srgbClr val="000000"/>
                </a:solidFill>
                <a:latin typeface="Consolas" panose="020B0609020204030204" pitchFamily="49" charset="0"/>
              </a:rPr>
              <a:t>signal_sem</a:t>
            </a:r>
            <a:r>
              <a:rPr lang="en-US" sz="1400" dirty="0">
                <a:solidFill>
                  <a:srgbClr val="000000"/>
                </a:solidFill>
                <a:latin typeface="Consolas" panose="020B0609020204030204" pitchFamily="49" charset="0"/>
              </a:rPr>
              <a:t>);</a:t>
            </a:r>
          </a:p>
          <a:p>
            <a:pPr marL="114300" indent="0" algn="l">
              <a:spcBef>
                <a:spcPts val="0"/>
              </a:spcBef>
              <a:buNone/>
            </a:pPr>
            <a:r>
              <a:rPr lang="en-US" sz="1400" dirty="0">
                <a:solidFill>
                  <a:srgbClr val="000000"/>
                </a:solidFill>
                <a:latin typeface="Consolas" panose="020B0609020204030204" pitchFamily="49" charset="0"/>
              </a:rPr>
              <a:t>    </a:t>
            </a:r>
          </a:p>
          <a:p>
            <a:pPr marL="114300" indent="0" algn="l">
              <a:spcBef>
                <a:spcPts val="0"/>
              </a:spcBef>
              <a:buNone/>
            </a:pPr>
            <a:r>
              <a:rPr lang="en-US" sz="1400" dirty="0">
                <a:solidFill>
                  <a:srgbClr val="000000"/>
                </a:solidFill>
                <a:latin typeface="Consolas" panose="020B0609020204030204" pitchFamily="49" charset="0"/>
              </a:rPr>
              <a:t>    </a:t>
            </a:r>
            <a:r>
              <a:rPr lang="en-US" sz="1400" dirty="0">
                <a:solidFill>
                  <a:srgbClr val="7F0055"/>
                </a:solidFill>
                <a:latin typeface="Consolas" panose="020B0609020204030204" pitchFamily="49" charset="0"/>
              </a:rPr>
              <a:t>return</a:t>
            </a:r>
            <a:r>
              <a:rPr lang="en-US" sz="1400" dirty="0">
                <a:solidFill>
                  <a:srgbClr val="000000"/>
                </a:solidFill>
                <a:latin typeface="Consolas" panose="020B0609020204030204" pitchFamily="49" charset="0"/>
              </a:rPr>
              <a:t> 0;</a:t>
            </a:r>
          </a:p>
          <a:p>
            <a:pPr marL="114300" indent="0" algn="l">
              <a:spcBef>
                <a:spcPts val="0"/>
              </a:spcBef>
              <a:buNone/>
            </a:pPr>
            <a:r>
              <a:rPr lang="en-US" sz="1400" dirty="0">
                <a:solidFill>
                  <a:srgbClr val="000000"/>
                </a:solidFill>
                <a:latin typeface="Consolas" panose="020B0609020204030204" pitchFamily="49" charset="0"/>
              </a:rPr>
              <a:t>}</a:t>
            </a:r>
            <a:endParaRPr lang="en-US" sz="1200" dirty="0">
              <a:latin typeface="Atkinson Hyperlegible Next"/>
              <a:ea typeface="Arial"/>
              <a:cs typeface="Arial"/>
              <a:sym typeface="Arial"/>
            </a:endParaRPr>
          </a:p>
        </p:txBody>
      </p:sp>
    </p:spTree>
    <p:extLst>
      <p:ext uri="{BB962C8B-B14F-4D97-AF65-F5344CB8AC3E}">
        <p14:creationId xmlns:p14="http://schemas.microsoft.com/office/powerpoint/2010/main" val="25424643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897E4C6-E73B-25B0-F9B0-88BA2135A2C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921BC4F-051D-CE20-B281-ACAC1BA8328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D1E7C40-F5BF-C0BB-0266-0E7802DFC34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i="0" b="0" lang="en-US" sz="2400" dirty="0">
                <a:solidFill>
                  <a:schemeClr val="lt1"/>
                </a:solidFill>
              </a:rPr>
              <a:t>Threads &amp; Processes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C183D7F6-B498-43B3-948B-1728B52AA6E4}">
                <adec:decorative xmlns:adec="http://schemas.microsoft.com/office/drawing/2017/decorative" val="1"/>
              </a:ext>
              <a:ext uri="{FF2B5EF4-FFF2-40B4-BE49-F238E27FC236}">
                <a16:creationId xmlns:a16="http://schemas.microsoft.com/office/drawing/2014/main" id="{FFAF09F9-5A29-4866-DC2F-B409F8973DE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55BA90-9DFF-E061-6389-93D86FB6828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3A370CE-983B-F87C-792F-5D444472215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F3E942D-81F1-6A44-B6F8-90936AA121A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A86ED24-DB6A-F6B2-A0A5-31D0803C035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F7CEF53-FF4D-436F-ED69-1BDAFD24681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4" name="Graphic 23">
            <a:extLst>
              <a:ext uri="{FF2B5EF4-FFF2-40B4-BE49-F238E27FC236}">
                <a16:creationId xmlns:a16="http://schemas.microsoft.com/office/drawing/2014/main" id="{1318D75A-6E38-B719-46F0-F70CD629CBA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58918" y="1003086"/>
            <a:ext cx="6380162" cy="5501654"/>
          </a:xfrm>
          <a:prstGeom prst="rect">
            <a:avLst/>
          </a:prstGeom>
        </p:spPr>
      </p:pic>
    </p:spTree>
    <p:extLst>
      <p:ext uri="{BB962C8B-B14F-4D97-AF65-F5344CB8AC3E}">
        <p14:creationId xmlns:p14="http://schemas.microsoft.com/office/powerpoint/2010/main" val="17111392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C183D7F6-B498-43B3-948B-1728B52AA6E4}">
                <adec:decorative xmlns:adec="http://schemas.microsoft.com/office/drawing/2017/decorative" val="1"/>
              </a:ex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13</a:t>
            </a:r>
          </a:p>
        </p:txBody>
      </p:sp>
      <p:pic>
        <p:nvPicPr>
          <p:cNvPr id="275" name="Google Shape;275;p38">
            <a:extLs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355</TotalTime>
  <Words>4671</Words>
  <Application>Microsoft Office PowerPoint</Application>
  <PresentationFormat>Widescreen</PresentationFormat>
  <Paragraphs>572</Paragraphs>
  <Slides>43</Slides>
  <Notes>43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202</cp:revision>
  <dcterms:created xsi:type="dcterms:W3CDTF">2019-01-14T22:06:33Z</dcterms:created>
  <dcterms:modified xsi:type="dcterms:W3CDTF">2026-03-04T14:51:55Z</dcterms:modified>
</cp:coreProperties>
</file>