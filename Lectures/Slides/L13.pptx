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13: Thread &amp; Processes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Wednesday, </a:t>
            </a:r>
            <a:r>
              <a:rPr lang="en-US" sz="1800" b="0" i="0" u="none" strike="noStrike" cap="none">
                <a:solidFill>
                  <a:schemeClr val="lt1"/>
                </a:solidFill>
                <a:latin typeface="Arial"/>
                <a:ea typeface="Arial"/>
                <a:cs typeface="Arial"/>
                <a:sym typeface="Arial"/>
              </a:rPr>
              <a:t>March 4</a:t>
            </a:r>
            <a:r>
              <a:rPr lang="en-US" sz="1800" b="0" i="0" u="none" strike="noStrike" cap="none" baseline="3000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If you have </a:t>
            </a:r>
            <a:r>
              <a:rPr lang="en-US" sz="2400" dirty="0">
                <a:latin typeface="Arial"/>
                <a:ea typeface="Arial"/>
                <a:cs typeface="Arial"/>
                <a:sym typeface="Arial"/>
              </a:rPr>
              <a:t>Timer </a:t>
            </a:r>
            <a:r>
              <a:rPr lang="en-US" sz="2400" dirty="0">
                <a:solidFill>
                  <a:schemeClr val="dk1"/>
                </a:solidFill>
                <a:latin typeface="Arial"/>
                <a:ea typeface="Arial"/>
                <a:cs typeface="Arial"/>
                <a:sym typeface="Arial"/>
              </a:rPr>
              <a:t>0 </a:t>
            </a:r>
            <a:r>
              <a:rPr lang="en-US" sz="2400">
                <a:solidFill>
                  <a:schemeClr val="dk1"/>
                </a:solidFill>
                <a:latin typeface="Arial"/>
                <a:ea typeface="Arial"/>
                <a:cs typeface="Arial"/>
                <a:sym typeface="Arial"/>
              </a:rPr>
              <a:t>and Timer 1 </a:t>
            </a:r>
            <a:r>
              <a:rPr lang="en-US" sz="2400" dirty="0">
                <a:solidFill>
                  <a:schemeClr val="dk1"/>
                </a:solidFill>
                <a:latin typeface="Arial"/>
                <a:ea typeface="Arial"/>
                <a:cs typeface="Arial"/>
                <a:sym typeface="Arial"/>
              </a:rPr>
              <a:t>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1, 2, 3 &amp; 4 are due </a:t>
            </a:r>
            <a:r>
              <a:rPr lang="en-US" sz="1800" b="1" dirty="0">
                <a:latin typeface="Arial"/>
                <a:ea typeface="Arial"/>
                <a:cs typeface="Arial"/>
                <a:sym typeface="Arial"/>
              </a:rPr>
              <a:t>March 10,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Threads &amp; Processes</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rial"/>
                <a:ea typeface="Arial"/>
                <a:cs typeface="Arial"/>
                <a:sym typeface="Arial"/>
              </a:rPr>
              <a:t>Warning</a:t>
            </a:r>
            <a:r>
              <a:rPr lang="en-US" sz="1800" dirty="0">
                <a:latin typeface="Arial"/>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342900" lvl="0">
              <a:lnSpc>
                <a:spcPct val="100000"/>
              </a:lnSpc>
              <a:spcBef>
                <a:spcPts val="0"/>
              </a:spcBef>
              <a:buSzPct val="100000"/>
              <a:buAutoNum type="arabicParenR"/>
            </a:pPr>
            <a:r>
              <a:rPr lang="en-US" sz="1400" dirty="0">
                <a:latin typeface="Arial"/>
                <a:ea typeface="Arial"/>
                <a:cs typeface="Arial"/>
                <a:sym typeface="Arial"/>
              </a:rPr>
              <a:t>The definition of a process vs a program (8 min): </a:t>
            </a:r>
            <a:r>
              <a:rPr lang="en-US" sz="1400" dirty="0">
                <a:latin typeface="Arial"/>
                <a:ea typeface="Arial"/>
                <a:cs typeface="Arial"/>
                <a:sym typeface="Arial"/>
                <a:hlinkClick r:id="rId3"/>
              </a:rPr>
              <a:t>https://youtu.be/7ge7u5VUSbE?si=O0Uba2lTkLotpd87</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What a process actual and how it works (16 min): </a:t>
            </a:r>
            <a:r>
              <a:rPr lang="en-US" sz="1400" dirty="0">
                <a:latin typeface="Arial"/>
                <a:ea typeface="Arial"/>
                <a:cs typeface="Arial"/>
                <a:sym typeface="Arial"/>
                <a:hlinkClick r:id="rId4"/>
              </a:rPr>
              <a:t>https://youtu.be/LDhoD4IVElk?si=wzx11WVn2Ow84q__</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IPC to share memory between processes (14 min): </a:t>
            </a:r>
            <a:r>
              <a:rPr lang="en-US" sz="1400" dirty="0">
                <a:latin typeface="Arial"/>
                <a:ea typeface="Arial"/>
                <a:cs typeface="Arial"/>
                <a:sym typeface="Arial"/>
                <a:hlinkClick r:id="rId5"/>
              </a:rPr>
              <a:t>https://youtu.be/Y2mDwW2pMv4?si=BAZ74dU6Yn5dNik2</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What are threads, and how they work on single core processors (16 min): </a:t>
            </a:r>
            <a:r>
              <a:rPr lang="en-US" sz="1400" dirty="0">
                <a:latin typeface="Arial"/>
                <a:ea typeface="Arial"/>
                <a:cs typeface="Arial"/>
                <a:sym typeface="Arial"/>
                <a:hlinkClick r:id="rId6"/>
              </a:rPr>
              <a:t>https://youtu.be/M9HHWFp84f0?si=NMBI0whrwmfuv7IA</a:t>
            </a:r>
            <a:r>
              <a:rPr lang="en-US" sz="1400" dirty="0">
                <a:latin typeface="Arial"/>
                <a:ea typeface="Arial"/>
                <a:cs typeface="Arial"/>
                <a:sym typeface="Arial"/>
              </a:rPr>
              <a:t> </a:t>
            </a:r>
          </a:p>
          <a:p>
            <a:pPr marL="342900" lvl="0">
              <a:lnSpc>
                <a:spcPct val="100000"/>
              </a:lnSpc>
              <a:spcBef>
                <a:spcPts val="0"/>
              </a:spcBef>
              <a:buSzPct val="100000"/>
              <a:buAutoNum type="arabicParenR"/>
            </a:pPr>
            <a:r>
              <a:rPr lang="en-US" sz="1400" dirty="0">
                <a:latin typeface="Arial"/>
                <a:ea typeface="Arial"/>
                <a:cs typeface="Arial"/>
                <a:sym typeface="Arial"/>
              </a:rPr>
              <a:t>Threads on multicore systems (11 min): </a:t>
            </a:r>
            <a:r>
              <a:rPr lang="en-US" sz="1400" dirty="0">
                <a:latin typeface="Arial"/>
                <a:ea typeface="Arial"/>
                <a:cs typeface="Arial"/>
                <a:sym typeface="Arial"/>
                <a:hlinkClick r:id="rId7"/>
              </a:rPr>
              <a:t>https://youtu.be/5sw9XJokAqw?si=IvZqqokTP5nwP-uN</a:t>
            </a:r>
            <a:r>
              <a:rPr lang="en-US" sz="1400" dirty="0">
                <a:latin typeface="Arial"/>
                <a:ea typeface="Arial"/>
                <a:cs typeface="Arial"/>
                <a:sym typeface="Arial"/>
              </a:rPr>
              <a:t>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Total of 65 minutes.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You can also practice and get additional details reading </a:t>
            </a:r>
            <a:r>
              <a:rPr lang="en-US" sz="1800" dirty="0">
                <a:latin typeface="Arial"/>
                <a:ea typeface="Arial"/>
                <a:cs typeface="Arial"/>
                <a:sym typeface="Arial"/>
                <a:hlinkClick r:id="rId8"/>
              </a:rPr>
              <a:t>https://kuleuven-diepenbeek.github.io/osc-course/ch6-tasks/</a:t>
            </a:r>
            <a:r>
              <a:rPr lang="en-US" sz="1800" dirty="0">
                <a:latin typeface="Arial"/>
                <a:ea typeface="Arial"/>
                <a:cs typeface="Arial"/>
                <a:sym typeface="Arial"/>
              </a:rPr>
              <a:t>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A </a:t>
            </a:r>
            <a:r>
              <a:rPr lang="en-US" sz="3200" b="1" dirty="0">
                <a:latin typeface="Arial"/>
                <a:ea typeface="Arial"/>
                <a:cs typeface="Arial"/>
                <a:sym typeface="Arial"/>
              </a:rPr>
              <a:t>process</a:t>
            </a:r>
            <a:r>
              <a:rPr lang="en-US" sz="3200" dirty="0">
                <a:latin typeface="Arial"/>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A </a:t>
            </a:r>
            <a:r>
              <a:rPr lang="en-US" sz="3200" b="1" dirty="0">
                <a:latin typeface="Arial"/>
                <a:ea typeface="Arial"/>
                <a:cs typeface="Arial"/>
                <a:sym typeface="Arial"/>
              </a:rPr>
              <a:t>program</a:t>
            </a:r>
            <a:r>
              <a:rPr lang="en-US" sz="3200" dirty="0">
                <a:latin typeface="Arial"/>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rial"/>
                <a:ea typeface="Arial"/>
                <a:cs typeface="Arial"/>
                <a:sym typeface="Arial"/>
              </a:rPr>
              <a:t>The combination of a code, data, stack, heap, and some extra information the information is the </a:t>
            </a:r>
            <a:r>
              <a:rPr lang="en-US" sz="2000" b="1" dirty="0">
                <a:latin typeface="Arial"/>
                <a:ea typeface="Arial"/>
                <a:cs typeface="Arial"/>
                <a:sym typeface="Arial"/>
              </a:rPr>
              <a:t>process</a:t>
            </a:r>
            <a:r>
              <a:rPr lang="en-US" sz="2000" dirty="0">
                <a:latin typeface="Arial"/>
                <a:ea typeface="Arial"/>
                <a:cs typeface="Arial"/>
                <a:sym typeface="Arial"/>
              </a:rPr>
              <a:t>.</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Whenever you think of opening Google Chrome, </a:t>
            </a:r>
            <a:r>
              <a:rPr lang="en-US" sz="2000" dirty="0" err="1">
                <a:latin typeface="Arial"/>
                <a:ea typeface="Arial"/>
                <a:cs typeface="Arial"/>
                <a:sym typeface="Arial"/>
              </a:rPr>
              <a:t>VSCode</a:t>
            </a:r>
            <a:r>
              <a:rPr lang="en-US" sz="2000" dirty="0">
                <a:latin typeface="Arial"/>
                <a:ea typeface="Arial"/>
                <a:cs typeface="Arial"/>
                <a:sym typeface="Arial"/>
              </a:rPr>
              <a:t>, </a:t>
            </a:r>
            <a:r>
              <a:rPr lang="en-US" sz="2000" dirty="0" err="1">
                <a:latin typeface="Arial"/>
                <a:ea typeface="Arial"/>
                <a:cs typeface="Arial"/>
                <a:sym typeface="Arial"/>
              </a:rPr>
              <a:t>CodeComposer</a:t>
            </a:r>
            <a:r>
              <a:rPr lang="en-US" sz="2000" dirty="0">
                <a:latin typeface="Arial"/>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The “.exe” represents the program and then an instance of </a:t>
            </a:r>
            <a:r>
              <a:rPr lang="en-US" sz="2000" dirty="0" err="1">
                <a:latin typeface="Arial"/>
                <a:ea typeface="Arial"/>
                <a:cs typeface="Arial"/>
                <a:sym typeface="Arial"/>
              </a:rPr>
              <a:t>VSCode</a:t>
            </a:r>
            <a:r>
              <a:rPr lang="en-US" sz="2000" dirty="0">
                <a:latin typeface="Arial"/>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A </a:t>
            </a:r>
            <a:r>
              <a:rPr lang="en-US" b="1" dirty="0">
                <a:latin typeface="Arial"/>
                <a:ea typeface="Arial"/>
                <a:cs typeface="Arial"/>
                <a:sym typeface="Arial"/>
              </a:rPr>
              <a:t>thread</a:t>
            </a:r>
            <a:r>
              <a:rPr lang="en-US" dirty="0">
                <a:latin typeface="Arial"/>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However, it is possible to dynamically allocate the number of threads for your application to make it </a:t>
            </a:r>
            <a:r>
              <a:rPr lang="en-US" b="1" dirty="0">
                <a:latin typeface="Arial"/>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where scheduler works!</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rial"/>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rogram vs Process vs Thread | Smit Shah">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Online Media 5" title="What is a Thread? | Threads, Process, Program, Parallelism and Scheduler Explained |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rial"/>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rial"/>
              <a:ea typeface="Arial"/>
              <a:cs typeface="Arial"/>
              <a:sym typeface="Arial"/>
            </a:endParaRPr>
          </a:p>
          <a:p>
            <a:pPr marL="285750" indent="-285750">
              <a:lnSpc>
                <a:spcPct val="100000"/>
              </a:lnSpc>
              <a:spcBef>
                <a:spcPts val="0"/>
              </a:spcBef>
              <a:buSzPts val="3000"/>
            </a:pPr>
            <a:r>
              <a:rPr lang="en-US" sz="1500" b="1" dirty="0">
                <a:latin typeface="Arial"/>
                <a:ea typeface="Arial"/>
                <a:cs typeface="Arial"/>
                <a:sym typeface="Arial"/>
              </a:rPr>
              <a:t>Fault Isolation and Robustness</a:t>
            </a:r>
            <a:r>
              <a:rPr lang="en-US" sz="1500" dirty="0">
                <a:latin typeface="Arial"/>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rial"/>
                <a:ea typeface="Arial"/>
                <a:cs typeface="Arial"/>
                <a:sym typeface="Arial"/>
              </a:rPr>
              <a:t>Scalability Across Distributed Systems</a:t>
            </a:r>
            <a:r>
              <a:rPr lang="en-US" sz="1500" dirty="0">
                <a:latin typeface="Arial"/>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rial"/>
                <a:ea typeface="Arial"/>
                <a:cs typeface="Arial"/>
                <a:sym typeface="Arial"/>
              </a:rPr>
              <a:t>Security and Privilege Separation</a:t>
            </a:r>
            <a:r>
              <a:rPr lang="en-US" sz="1500" dirty="0">
                <a:latin typeface="Arial"/>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rial"/>
                <a:ea typeface="Arial"/>
                <a:cs typeface="Arial"/>
                <a:sym typeface="Arial"/>
              </a:rPr>
              <a:t>Enhanced Security and Isolation</a:t>
            </a:r>
            <a:r>
              <a:rPr lang="en-US" sz="1500" dirty="0">
                <a:latin typeface="Arial"/>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rial"/>
                <a:ea typeface="Arial"/>
                <a:cs typeface="Arial"/>
                <a:sym typeface="Arial"/>
              </a:rPr>
              <a:t>True Hardware Parallelism (CPU-Bound Tasks): </a:t>
            </a:r>
            <a:r>
              <a:rPr lang="en-US" sz="1500" dirty="0">
                <a:latin typeface="Arial"/>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Responsiveness</a:t>
            </a:r>
            <a:r>
              <a:rPr lang="en-US" sz="1800" dirty="0">
                <a:latin typeface="Arial"/>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rial"/>
                <a:ea typeface="Arial"/>
                <a:cs typeface="Arial"/>
                <a:sym typeface="Arial"/>
              </a:rPr>
              <a:t>Resource sharing</a:t>
            </a:r>
            <a:r>
              <a:rPr lang="en-US" sz="1800" dirty="0">
                <a:latin typeface="Arial"/>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rial"/>
                <a:ea typeface="Arial"/>
                <a:cs typeface="Arial"/>
                <a:sym typeface="Arial"/>
              </a:rPr>
              <a:t>Economy</a:t>
            </a:r>
            <a:r>
              <a:rPr lang="en-US" sz="1800" dirty="0">
                <a:latin typeface="Arial"/>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rial"/>
                <a:ea typeface="Arial"/>
                <a:cs typeface="Arial"/>
                <a:sym typeface="Arial"/>
              </a:rPr>
              <a:t>Scalability</a:t>
            </a:r>
            <a:r>
              <a:rPr lang="en-US" sz="1800" dirty="0">
                <a:latin typeface="Arial"/>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Processes Communication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rial"/>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rial"/>
                <a:ea typeface="Arial"/>
                <a:cs typeface="Arial"/>
                <a:sym typeface="Arial"/>
              </a:rPr>
              <a:t>Shared Memory</a:t>
            </a:r>
            <a:r>
              <a:rPr lang="en-US" sz="1800" dirty="0">
                <a:latin typeface="Arial"/>
                <a:ea typeface="Arial"/>
                <a:cs typeface="Arial"/>
                <a:sym typeface="Arial"/>
              </a:rPr>
              <a:t>:</a:t>
            </a:r>
          </a:p>
          <a:p>
            <a:pPr marL="742950" lvl="1" indent="-285750">
              <a:lnSpc>
                <a:spcPct val="100000"/>
              </a:lnSpc>
              <a:spcBef>
                <a:spcPts val="0"/>
              </a:spcBef>
              <a:buSzPts val="3000"/>
            </a:pPr>
            <a:r>
              <a:rPr lang="en-US" sz="1800" dirty="0">
                <a:latin typeface="Arial"/>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rial"/>
                <a:ea typeface="Arial"/>
                <a:cs typeface="Arial"/>
                <a:sym typeface="Arial"/>
              </a:rPr>
              <a:t>Message Passing </a:t>
            </a:r>
            <a:r>
              <a:rPr lang="en-US" sz="1800" dirty="0">
                <a:latin typeface="Arial"/>
                <a:ea typeface="Arial"/>
                <a:cs typeface="Arial"/>
                <a:sym typeface="Arial"/>
              </a:rPr>
              <a:t>(Signals / Pipes): </a:t>
            </a:r>
          </a:p>
          <a:p>
            <a:pPr marL="742950" lvl="1" indent="-285750">
              <a:lnSpc>
                <a:spcPct val="100000"/>
              </a:lnSpc>
              <a:spcBef>
                <a:spcPts val="0"/>
              </a:spcBef>
              <a:buSzPts val="3000"/>
            </a:pPr>
            <a:r>
              <a:rPr lang="en-US" sz="1800" dirty="0">
                <a:latin typeface="Arial"/>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 – Inter-Process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074" name="Picture 2">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rial"/>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rial"/>
                <a:ea typeface="Arial"/>
                <a:cs typeface="Arial"/>
                <a:sym typeface="Arial"/>
              </a:rPr>
              <a:t>The message passing is split into 2 different mechanism </a:t>
            </a:r>
            <a:r>
              <a:rPr lang="en-US" sz="1800" b="1" dirty="0">
                <a:latin typeface="Arial"/>
                <a:ea typeface="Arial"/>
                <a:cs typeface="Arial"/>
                <a:sym typeface="Arial"/>
              </a:rPr>
              <a:t>signals </a:t>
            </a:r>
            <a:r>
              <a:rPr lang="en-US" sz="1800" dirty="0">
                <a:latin typeface="Arial"/>
                <a:ea typeface="Arial"/>
                <a:cs typeface="Arial"/>
                <a:sym typeface="Arial"/>
              </a:rPr>
              <a:t>and </a:t>
            </a:r>
            <a:r>
              <a:rPr lang="en-US" sz="1800" b="1" dirty="0">
                <a:latin typeface="Arial"/>
                <a:ea typeface="Arial"/>
                <a:cs typeface="Arial"/>
                <a:sym typeface="Arial"/>
              </a:rPr>
              <a:t>pipes</a:t>
            </a:r>
            <a:r>
              <a:rPr lang="en-US" sz="1800" dirty="0">
                <a:latin typeface="Arial"/>
                <a:ea typeface="Arial"/>
                <a:cs typeface="Arial"/>
                <a:sym typeface="Arial"/>
              </a:rPr>
              <a:t> </a:t>
            </a:r>
          </a:p>
          <a:p>
            <a:pPr marL="285750" indent="-285750">
              <a:lnSpc>
                <a:spcPct val="100000"/>
              </a:lnSpc>
              <a:spcBef>
                <a:spcPts val="0"/>
              </a:spcBef>
              <a:buSzPts val="3000"/>
            </a:pPr>
            <a:endParaRPr lang="en-US" sz="1800" dirty="0">
              <a:latin typeface="Arial"/>
              <a:ea typeface="Arial"/>
              <a:cs typeface="Arial"/>
              <a:sym typeface="Arial"/>
            </a:endParaRPr>
          </a:p>
          <a:p>
            <a:pPr marL="285750" indent="-285750">
              <a:lnSpc>
                <a:spcPct val="100000"/>
              </a:lnSpc>
              <a:spcBef>
                <a:spcPts val="0"/>
              </a:spcBef>
              <a:buSzPts val="3000"/>
            </a:pPr>
            <a:r>
              <a:rPr lang="en-US" sz="1800" b="1" dirty="0">
                <a:latin typeface="Arial"/>
                <a:ea typeface="Arial"/>
                <a:cs typeface="Arial"/>
                <a:sym typeface="Arial"/>
              </a:rPr>
              <a:t>Signals</a:t>
            </a:r>
            <a:r>
              <a:rPr lang="en-US" sz="1800" dirty="0">
                <a:latin typeface="Arial"/>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rial"/>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rial"/>
                <a:ea typeface="Arial"/>
                <a:cs typeface="Arial"/>
                <a:sym typeface="Arial"/>
              </a:rPr>
              <a:t>Anonymous pipes </a:t>
            </a:r>
            <a:r>
              <a:rPr lang="en-US" sz="1600" dirty="0">
                <a:latin typeface="Arial"/>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rial"/>
                <a:ea typeface="Arial"/>
                <a:cs typeface="Arial"/>
                <a:sym typeface="Arial"/>
              </a:rPr>
              <a:t>What happens internally is that the </a:t>
            </a:r>
            <a:r>
              <a:rPr lang="en-US" sz="1600" dirty="0" err="1">
                <a:latin typeface="Arial"/>
                <a:ea typeface="Arial"/>
                <a:cs typeface="Arial"/>
                <a:sym typeface="Arial"/>
              </a:rPr>
              <a:t>stdout</a:t>
            </a:r>
            <a:r>
              <a:rPr lang="en-US" sz="1600" dirty="0">
                <a:latin typeface="Arial"/>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For this, we use the | (pipe) character.</a:t>
            </a:r>
          </a:p>
          <a:p>
            <a:pPr marL="0" indent="0">
              <a:lnSpc>
                <a:spcPct val="100000"/>
              </a:lnSpc>
              <a:spcBef>
                <a:spcPts val="0"/>
              </a:spcBef>
              <a:buSzPts val="3000"/>
              <a:buNone/>
            </a:pPr>
            <a:endParaRPr lang="en-US" sz="1600" dirty="0">
              <a:latin typeface="Arial"/>
              <a:ea typeface="Arial"/>
              <a:cs typeface="Arial"/>
              <a:sym typeface="Arial"/>
            </a:endParaRPr>
          </a:p>
          <a:p>
            <a:pPr marL="0" indent="0">
              <a:lnSpc>
                <a:spcPct val="100000"/>
              </a:lnSpc>
              <a:spcBef>
                <a:spcPts val="0"/>
              </a:spcBef>
              <a:buSzPts val="3000"/>
              <a:buNone/>
            </a:pPr>
            <a:r>
              <a:rPr lang="en-US" sz="1600" dirty="0">
                <a:latin typeface="Arial"/>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rial"/>
              <a:ea typeface="Arial"/>
              <a:cs typeface="Arial"/>
              <a:sym typeface="Arial"/>
            </a:endParaRPr>
          </a:p>
          <a:p>
            <a:pPr marL="0" indent="0" algn="ctr">
              <a:lnSpc>
                <a:spcPct val="100000"/>
              </a:lnSpc>
              <a:spcBef>
                <a:spcPts val="0"/>
              </a:spcBef>
              <a:buSzPts val="3000"/>
              <a:buNone/>
            </a:pPr>
            <a:r>
              <a:rPr lang="en-US" sz="1600" dirty="0" err="1">
                <a:latin typeface="Arial"/>
                <a:ea typeface="Arial"/>
                <a:cs typeface="Arial"/>
                <a:sym typeface="Arial"/>
              </a:rPr>
              <a:t>ps</a:t>
            </a:r>
            <a:r>
              <a:rPr lang="en-US" sz="1600" dirty="0">
                <a:latin typeface="Arial"/>
                <a:ea typeface="Arial"/>
                <a:cs typeface="Arial"/>
                <a:sym typeface="Arial"/>
              </a:rPr>
              <a:t> -</a:t>
            </a:r>
            <a:r>
              <a:rPr lang="en-US" sz="1600" dirty="0" err="1">
                <a:latin typeface="Arial"/>
                <a:ea typeface="Arial"/>
                <a:cs typeface="Arial"/>
                <a:sym typeface="Arial"/>
              </a:rPr>
              <a:t>ux</a:t>
            </a:r>
            <a:r>
              <a:rPr lang="en-US" sz="1600" dirty="0">
                <a:latin typeface="Arial"/>
                <a:ea typeface="Arial"/>
                <a:cs typeface="Arial"/>
                <a:sym typeface="Arial"/>
              </a:rPr>
              <a:t> | grep </a:t>
            </a:r>
            <a:r>
              <a:rPr lang="en-US" sz="1600" dirty="0" err="1">
                <a:latin typeface="Arial"/>
                <a:ea typeface="Arial"/>
                <a:cs typeface="Arial"/>
                <a:sym typeface="Arial"/>
              </a:rPr>
              <a:t>xeyes</a:t>
            </a:r>
            <a:r>
              <a:rPr lang="en-US" sz="1600" dirty="0">
                <a:latin typeface="Arial"/>
                <a:ea typeface="Arial"/>
                <a:cs typeface="Arial"/>
                <a:sym typeface="Arial"/>
              </a:rPr>
              <a:t> | head -1 | tr -s " " | cut -d " " -f 3</a:t>
            </a:r>
          </a:p>
          <a:p>
            <a:pPr marL="0" indent="0" algn="ctr">
              <a:lnSpc>
                <a:spcPct val="100000"/>
              </a:lnSpc>
              <a:spcBef>
                <a:spcPts val="0"/>
              </a:spcBef>
              <a:buSzPts val="3000"/>
              <a:buNone/>
            </a:pPr>
            <a:endParaRPr lang="en-US" sz="1600" dirty="0">
              <a:latin typeface="Arial"/>
              <a:ea typeface="Arial"/>
              <a:cs typeface="Arial"/>
              <a:sym typeface="Arial"/>
            </a:endParaRPr>
          </a:p>
          <a:p>
            <a:pPr marL="0" indent="0" algn="ctr">
              <a:lnSpc>
                <a:spcPct val="100000"/>
              </a:lnSpc>
              <a:spcBef>
                <a:spcPts val="0"/>
              </a:spcBef>
              <a:buSzPts val="3000"/>
              <a:buNone/>
            </a:pPr>
            <a:r>
              <a:rPr lang="en-US" sz="1600" dirty="0">
                <a:latin typeface="Arial"/>
                <a:ea typeface="Arial"/>
                <a:cs typeface="Arial"/>
                <a:sym typeface="Arial"/>
              </a:rPr>
              <a:t>List of all my processes | filter only lines that contain “</a:t>
            </a:r>
            <a:r>
              <a:rPr lang="en-US" sz="1600" dirty="0" err="1">
                <a:latin typeface="Arial"/>
                <a:ea typeface="Arial"/>
                <a:cs typeface="Arial"/>
                <a:sym typeface="Arial"/>
              </a:rPr>
              <a:t>xeyes</a:t>
            </a:r>
            <a:r>
              <a:rPr lang="en-US" sz="1600" dirty="0">
                <a:latin typeface="Arial"/>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IPC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Thread Communication</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rial"/>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rial"/>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Race Conditions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rial"/>
                <a:ea typeface="Arial"/>
                <a:cs typeface="Arial"/>
                <a:sym typeface="Arial"/>
              </a:rPr>
              <a:t>The problem is the following:</a:t>
            </a:r>
          </a:p>
          <a:p>
            <a:pPr marL="114300" indent="0">
              <a:spcBef>
                <a:spcPts val="0"/>
              </a:spcBef>
              <a:buNone/>
            </a:pPr>
            <a:endParaRPr lang="en-US" sz="1600" dirty="0">
              <a:latin typeface="Arial"/>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rial"/>
                <a:ea typeface="Arial"/>
                <a:cs typeface="Arial"/>
                <a:sym typeface="Arial"/>
              </a:rPr>
              <a:t>This is called a race condition! </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Threads &amp; Processes – Race Conditions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rial"/>
                <a:ea typeface="Arial"/>
                <a:cs typeface="Arial"/>
                <a:sym typeface="Arial"/>
              </a:rPr>
              <a:t>The problem is that what we just did was not an </a:t>
            </a:r>
            <a:r>
              <a:rPr lang="en-US" sz="1600" b="1" dirty="0">
                <a:latin typeface="Arial"/>
                <a:ea typeface="Arial"/>
                <a:cs typeface="Arial"/>
                <a:sym typeface="Arial"/>
              </a:rPr>
              <a:t>atomic operation</a:t>
            </a:r>
            <a:r>
              <a:rPr lang="en-US" sz="1600" dirty="0">
                <a:latin typeface="Arial"/>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rial"/>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What is causing the race condition in this case?</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latin typeface="Arial"/>
                <a:ea typeface="Arial"/>
                <a:cs typeface="Arial"/>
                <a:sym typeface="Arial"/>
              </a:rPr>
              <a:t>The “+= 1”, is causing the race condition! Since that is not a single operation!</a:t>
            </a:r>
          </a:p>
          <a:p>
            <a:pPr marL="114300" indent="0">
              <a:spcBef>
                <a:spcPts val="0"/>
              </a:spcBef>
              <a:buNone/>
            </a:pPr>
            <a:endParaRPr lang="en-US" sz="1600" dirty="0">
              <a:latin typeface="Arial"/>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rial"/>
                <a:ea typeface="Arial"/>
                <a:cs typeface="Arial"/>
                <a:sym typeface="Arial"/>
              </a:rPr>
              <a:t>We need a way to secure the important sections in a thread such that you can </a:t>
            </a:r>
            <a:r>
              <a:rPr lang="en-US" sz="1900" b="1" dirty="0">
                <a:latin typeface="Arial"/>
                <a:ea typeface="Arial"/>
                <a:cs typeface="Arial"/>
                <a:sym typeface="Arial"/>
              </a:rPr>
              <a:t>lock </a:t>
            </a:r>
            <a:r>
              <a:rPr lang="en-US" sz="1900" dirty="0">
                <a:latin typeface="Arial"/>
                <a:ea typeface="Arial"/>
                <a:cs typeface="Arial"/>
                <a:sym typeface="Arial"/>
              </a:rPr>
              <a:t>and </a:t>
            </a:r>
            <a:r>
              <a:rPr lang="en-US" sz="1900" b="1" dirty="0">
                <a:latin typeface="Arial"/>
                <a:ea typeface="Arial"/>
                <a:cs typeface="Arial"/>
                <a:sym typeface="Arial"/>
              </a:rPr>
              <a:t>unlock </a:t>
            </a:r>
            <a:r>
              <a:rPr lang="en-US" sz="1900" dirty="0">
                <a:latin typeface="Arial"/>
                <a:ea typeface="Arial"/>
                <a:cs typeface="Arial"/>
                <a:sym typeface="Arial"/>
              </a:rPr>
              <a:t>access for pieces of code for the threads.</a:t>
            </a:r>
          </a:p>
          <a:p>
            <a:pPr marL="114300" indent="0">
              <a:spcBef>
                <a:spcPts val="0"/>
              </a:spcBef>
              <a:buNone/>
            </a:pPr>
            <a:endParaRPr lang="en-US" sz="1900" b="1"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simplest method is called the </a:t>
            </a:r>
            <a:r>
              <a:rPr lang="en-US" sz="1900" b="1" dirty="0">
                <a:latin typeface="Arial"/>
                <a:ea typeface="Arial"/>
                <a:cs typeface="Arial"/>
                <a:sym typeface="Arial"/>
              </a:rPr>
              <a:t>mutex</a:t>
            </a:r>
            <a:r>
              <a:rPr lang="en-US" sz="1900" dirty="0">
                <a:latin typeface="Arial"/>
                <a:ea typeface="Arial"/>
                <a:cs typeface="Arial"/>
                <a:sym typeface="Arial"/>
              </a:rPr>
              <a:t> (</a:t>
            </a:r>
            <a:r>
              <a:rPr lang="en-US" sz="1900" b="1" dirty="0">
                <a:latin typeface="Arial"/>
                <a:ea typeface="Arial"/>
                <a:cs typeface="Arial"/>
                <a:sym typeface="Arial"/>
              </a:rPr>
              <a:t>Mut</a:t>
            </a:r>
            <a:r>
              <a:rPr lang="en-US" sz="1900" dirty="0">
                <a:latin typeface="Arial"/>
                <a:ea typeface="Arial"/>
                <a:cs typeface="Arial"/>
                <a:sym typeface="Arial"/>
              </a:rPr>
              <a:t>ual </a:t>
            </a:r>
            <a:r>
              <a:rPr lang="en-US" sz="1900" b="1" dirty="0">
                <a:latin typeface="Arial"/>
                <a:ea typeface="Arial"/>
                <a:cs typeface="Arial"/>
                <a:sym typeface="Arial"/>
              </a:rPr>
              <a:t>Ex</a:t>
            </a:r>
            <a:r>
              <a:rPr lang="en-US" sz="1900" dirty="0">
                <a:latin typeface="Arial"/>
                <a:ea typeface="Arial"/>
                <a:cs typeface="Arial"/>
                <a:sym typeface="Arial"/>
              </a:rPr>
              <a:t>clusion). </a:t>
            </a:r>
          </a:p>
          <a:p>
            <a:pPr marL="114300" indent="0">
              <a:spcBef>
                <a:spcPts val="0"/>
              </a:spcBef>
              <a:buNone/>
            </a:pPr>
            <a:endParaRPr lang="en-US" sz="1900" dirty="0">
              <a:latin typeface="Arial"/>
              <a:ea typeface="Arial"/>
              <a:cs typeface="Arial"/>
              <a:sym typeface="Arial"/>
            </a:endParaRP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behavior can be seen as the lock on a restroom door. If you are using the restroom, you </a:t>
            </a:r>
            <a:r>
              <a:rPr lang="en-US" sz="1900" b="1" dirty="0">
                <a:latin typeface="Arial"/>
                <a:ea typeface="Arial"/>
                <a:cs typeface="Arial"/>
                <a:sym typeface="Arial"/>
              </a:rPr>
              <a:t>lock</a:t>
            </a:r>
            <a:r>
              <a:rPr lang="en-US" sz="1900" dirty="0">
                <a:latin typeface="Arial"/>
                <a:ea typeface="Arial"/>
                <a:cs typeface="Arial"/>
                <a:sym typeface="Arial"/>
              </a:rPr>
              <a:t> the door. Others that want to occupy the restroom must </a:t>
            </a:r>
            <a:r>
              <a:rPr lang="en-US" sz="1900" b="1" dirty="0">
                <a:latin typeface="Arial"/>
                <a:ea typeface="Arial"/>
                <a:cs typeface="Arial"/>
                <a:sym typeface="Arial"/>
              </a:rPr>
              <a:t>wait</a:t>
            </a:r>
            <a:r>
              <a:rPr lang="en-US" sz="1900" dirty="0">
                <a:latin typeface="Arial"/>
                <a:ea typeface="Arial"/>
                <a:cs typeface="Arial"/>
                <a:sym typeface="Arial"/>
              </a:rPr>
              <a:t> until you’re finished and you </a:t>
            </a:r>
            <a:r>
              <a:rPr lang="en-US" sz="1900" b="1" dirty="0">
                <a:latin typeface="Arial"/>
                <a:ea typeface="Arial"/>
                <a:cs typeface="Arial"/>
                <a:sym typeface="Arial"/>
              </a:rPr>
              <a:t>unlock</a:t>
            </a:r>
            <a:r>
              <a:rPr lang="en-US" sz="1900" dirty="0">
                <a:latin typeface="Arial"/>
                <a:ea typeface="Arial"/>
                <a:cs typeface="Arial"/>
                <a:sym typeface="Arial"/>
              </a:rPr>
              <a:t> the door (and get out, after washing your hands). </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Hence, the mutex has only </a:t>
            </a:r>
            <a:r>
              <a:rPr lang="en-US" sz="1900" b="1" dirty="0">
                <a:latin typeface="Arial"/>
                <a:ea typeface="Arial"/>
                <a:cs typeface="Arial"/>
                <a:sym typeface="Arial"/>
              </a:rPr>
              <a:t>two states</a:t>
            </a:r>
            <a:r>
              <a:rPr lang="en-US" sz="1900" dirty="0">
                <a:latin typeface="Arial"/>
                <a:ea typeface="Arial"/>
                <a:cs typeface="Arial"/>
                <a:sym typeface="Arial"/>
              </a:rPr>
              <a:t>: one or zero, on or off, locked or unlocked.</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Internally the mutex is implemented as a single, atomic CPU instruction!</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rial"/>
              <a:ea typeface="Arial"/>
              <a:cs typeface="Arial"/>
              <a:sym typeface="Arial"/>
            </a:endParaRPr>
          </a:p>
          <a:p>
            <a:pPr marL="114300" indent="0">
              <a:spcBef>
                <a:spcPts val="0"/>
              </a:spcBef>
              <a:buNone/>
            </a:pPr>
            <a:r>
              <a:rPr lang="en-US" sz="1900" dirty="0">
                <a:latin typeface="Arial"/>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Mutex and Locking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While the mutex is nice and simple, we can improve the thread synchronization </a:t>
            </a:r>
            <a:r>
              <a:rPr lang="en-US" sz="2000" dirty="0" err="1">
                <a:latin typeface="Arial"/>
                <a:ea typeface="Arial"/>
                <a:cs typeface="Arial"/>
                <a:sym typeface="Arial"/>
              </a:rPr>
              <a:t>techniuques</a:t>
            </a:r>
            <a:r>
              <a:rPr lang="en-US" sz="2000" dirty="0">
                <a:latin typeface="Arial"/>
                <a:ea typeface="Arial"/>
                <a:cs typeface="Arial"/>
                <a:sym typeface="Arial"/>
              </a:rPr>
              <a:t> using Semaphores!</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This technique is useful in </a:t>
            </a:r>
            <a:r>
              <a:rPr lang="en-US" sz="2000" b="1" dirty="0">
                <a:latin typeface="Arial"/>
                <a:ea typeface="Arial"/>
                <a:cs typeface="Arial"/>
                <a:sym typeface="Arial"/>
              </a:rPr>
              <a:t>producer-consumer </a:t>
            </a:r>
            <a:r>
              <a:rPr lang="en-US" sz="2000" dirty="0">
                <a:latin typeface="Arial"/>
                <a:ea typeface="Arial"/>
                <a:cs typeface="Arial"/>
                <a:sym typeface="Arial"/>
              </a:rPr>
              <a:t>problems.</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The </a:t>
            </a:r>
            <a:r>
              <a:rPr lang="en-US" sz="2000" b="1" dirty="0">
                <a:latin typeface="Arial"/>
                <a:ea typeface="Arial"/>
                <a:cs typeface="Arial"/>
                <a:sym typeface="Arial"/>
              </a:rPr>
              <a:t>producer </a:t>
            </a:r>
            <a:r>
              <a:rPr lang="en-US" sz="2000" dirty="0">
                <a:latin typeface="Arial"/>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The </a:t>
            </a:r>
            <a:r>
              <a:rPr lang="en-US" sz="2000" b="1" dirty="0">
                <a:latin typeface="Arial"/>
                <a:ea typeface="Arial"/>
                <a:cs typeface="Arial"/>
                <a:sym typeface="Arial"/>
              </a:rPr>
              <a:t>consumer </a:t>
            </a:r>
            <a:r>
              <a:rPr lang="en-US" sz="2000" dirty="0">
                <a:latin typeface="Arial"/>
                <a:ea typeface="Arial"/>
                <a:cs typeface="Arial"/>
                <a:sym typeface="Arial"/>
              </a:rPr>
              <a:t>wants to be able to read that ready data.</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rial"/>
              <a:ea typeface="Arial"/>
              <a:cs typeface="Arial"/>
              <a:sym typeface="Arial"/>
            </a:endParaRPr>
          </a:p>
          <a:p>
            <a:pPr marL="114300" indent="0">
              <a:spcBef>
                <a:spcPts val="0"/>
              </a:spcBef>
              <a:buNone/>
            </a:pPr>
            <a:endParaRPr lang="en-US" sz="2000" dirty="0">
              <a:latin typeface="Arial"/>
              <a:ea typeface="Arial"/>
              <a:cs typeface="Arial"/>
              <a:sym typeface="Arial"/>
            </a:endParaRPr>
          </a:p>
          <a:p>
            <a:pPr marL="114300" indent="0">
              <a:spcBef>
                <a:spcPts val="0"/>
              </a:spcBef>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If not, the thread should be </a:t>
            </a:r>
            <a:r>
              <a:rPr lang="en-US" sz="2000" b="1" dirty="0">
                <a:latin typeface="Arial"/>
                <a:ea typeface="Arial"/>
                <a:cs typeface="Arial"/>
                <a:sym typeface="Arial"/>
              </a:rPr>
              <a:t>paused</a:t>
            </a:r>
            <a:r>
              <a:rPr lang="en-US" sz="2000" dirty="0">
                <a:latin typeface="Arial"/>
                <a:ea typeface="Arial"/>
                <a:cs typeface="Arial"/>
                <a:sym typeface="Arial"/>
              </a:rPr>
              <a:t> until it’s sure that it can make progress, instead of constantly checking. </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To do this, we need a new type of lock that keeps track of who’s waiting for what to happen, which is called the </a:t>
            </a:r>
            <a:r>
              <a:rPr lang="en-US" sz="2000" b="1" dirty="0">
                <a:latin typeface="Arial"/>
                <a:ea typeface="Arial"/>
                <a:cs typeface="Arial"/>
                <a:sym typeface="Arial"/>
              </a:rPr>
              <a:t>semaphore</a:t>
            </a:r>
            <a:r>
              <a:rPr lang="en-US" sz="2000" dirty="0">
                <a:latin typeface="Arial"/>
                <a:ea typeface="Arial"/>
                <a:cs typeface="Arial"/>
                <a:sym typeface="Arial"/>
              </a:rPr>
              <a: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We could have a mutex</a:t>
            </a:r>
            <a:r>
              <a:rPr lang="en-US" sz="2000" b="1" dirty="0">
                <a:latin typeface="Arial"/>
                <a:ea typeface="Arial"/>
                <a:cs typeface="Arial"/>
                <a:sym typeface="Arial"/>
              </a:rPr>
              <a:t> </a:t>
            </a:r>
            <a:r>
              <a:rPr lang="en-US" sz="2000" dirty="0">
                <a:latin typeface="Arial"/>
                <a:ea typeface="Arial"/>
                <a:cs typeface="Arial"/>
                <a:sym typeface="Arial"/>
              </a:rPr>
              <a:t>and check if the specific element has been changed or not; however, having a mutex locking and unlocking almost immediately to check that element, is called </a:t>
            </a:r>
            <a:r>
              <a:rPr lang="en-US" sz="2000" b="1" dirty="0">
                <a:latin typeface="Arial"/>
                <a:ea typeface="Arial"/>
                <a:cs typeface="Arial"/>
                <a:sym typeface="Arial"/>
              </a:rPr>
              <a:t>busy waiting </a:t>
            </a:r>
            <a:r>
              <a:rPr lang="en-US" sz="2000" dirty="0">
                <a:latin typeface="Arial"/>
                <a:ea typeface="Arial"/>
                <a:cs typeface="Arial"/>
                <a:sym typeface="Arial"/>
              </a:rPr>
              <a:t>or </a:t>
            </a:r>
            <a:r>
              <a:rPr lang="en-US" sz="2000" b="1" dirty="0">
                <a:latin typeface="Arial"/>
                <a:ea typeface="Arial"/>
                <a:cs typeface="Arial"/>
                <a:sym typeface="Arial"/>
              </a:rPr>
              <a:t>polling </a:t>
            </a:r>
            <a:r>
              <a:rPr lang="en-US" sz="2000" dirty="0">
                <a:latin typeface="Arial"/>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rial"/>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It only has 2 operations (below is pseudocode for the functions):</a:t>
            </a:r>
          </a:p>
          <a:p>
            <a:pPr>
              <a:spcBef>
                <a:spcPts val="0"/>
              </a:spcBef>
            </a:pPr>
            <a:r>
              <a:rPr lang="en-US" sz="2000" b="1" dirty="0">
                <a:latin typeface="Arial"/>
                <a:ea typeface="Arial"/>
                <a:cs typeface="Arial"/>
                <a:sym typeface="Arial"/>
              </a:rPr>
              <a:t>Wait</a:t>
            </a:r>
            <a:r>
              <a:rPr lang="en-US" sz="2000" dirty="0">
                <a:latin typeface="Arial"/>
                <a:ea typeface="Arial"/>
                <a:cs typeface="Arial"/>
                <a:sym typeface="Arial"/>
              </a:rPr>
              <a:t>: continues if counter &gt; 0 and decrements it by 1. If not waits until counter &gt; 0</a:t>
            </a:r>
          </a:p>
          <a:p>
            <a:pPr>
              <a:spcBef>
                <a:spcPts val="0"/>
              </a:spcBef>
            </a:pPr>
            <a:r>
              <a:rPr lang="en-US" sz="2000" b="1" dirty="0">
                <a:latin typeface="Arial"/>
                <a:ea typeface="Arial"/>
                <a:cs typeface="Arial"/>
                <a:sym typeface="Arial"/>
              </a:rPr>
              <a:t>Post</a:t>
            </a:r>
            <a:r>
              <a:rPr lang="en-US" sz="2000" dirty="0">
                <a:latin typeface="Arial"/>
                <a:ea typeface="Arial"/>
                <a:cs typeface="Arial"/>
                <a:sym typeface="Arial"/>
              </a:rPr>
              <a:t>: increments counter by 1. Causes 1 of the waiting threads to un pause.</a:t>
            </a:r>
          </a:p>
          <a:p>
            <a:pPr>
              <a:spcBef>
                <a:spcPts val="0"/>
              </a:spcBef>
            </a:pPr>
            <a:endParaRPr lang="en-US" sz="2000" dirty="0">
              <a:latin typeface="Arial"/>
              <a:ea typeface="Arial"/>
              <a:cs typeface="Arial"/>
              <a:sym typeface="Arial"/>
            </a:endParaRPr>
          </a:p>
          <a:p>
            <a:pPr>
              <a:spcBef>
                <a:spcPts val="0"/>
              </a:spcBef>
            </a:pPr>
            <a:endParaRPr lang="en-US" sz="2000" dirty="0">
              <a:latin typeface="Arial"/>
              <a:ea typeface="Arial"/>
              <a:cs typeface="Arial"/>
              <a:sym typeface="Arial"/>
            </a:endParaRPr>
          </a:p>
          <a:p>
            <a:pPr marL="114300" indent="0">
              <a:spcBef>
                <a:spcPts val="0"/>
              </a:spcBef>
              <a:buNone/>
            </a:pPr>
            <a:r>
              <a:rPr lang="en-US" sz="2000" dirty="0">
                <a:latin typeface="Arial"/>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 – Semaphores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rial"/>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Threads &amp; Processes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4" name="Graphic 23">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355</TotalTime>
  <Words>4671</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202</cp:revision>
  <dcterms:created xsi:type="dcterms:W3CDTF">2019-01-14T22:06:33Z</dcterms:created>
  <dcterms:modified xsi:type="dcterms:W3CDTF">2026-03-04T14:51:55Z</dcterms:modified>
</cp:coreProperties>
</file>