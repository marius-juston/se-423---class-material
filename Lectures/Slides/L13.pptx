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5"/>
  </p:notesMasterIdLst>
  <p:sldIdLst>
    <p:sldId id="256" r:id="rId2"/>
    <p:sldId id="417" r:id="rId3"/>
    <p:sldId id="413" r:id="rId4"/>
    <p:sldId id="272" r:id="rId5"/>
    <p:sldId id="440" r:id="rId6"/>
    <p:sldId id="442" r:id="rId7"/>
    <p:sldId id="258" r:id="rId8"/>
    <p:sldId id="420" r:id="rId9"/>
    <p:sldId id="419" r:id="rId10"/>
    <p:sldId id="426" r:id="rId11"/>
    <p:sldId id="423" r:id="rId12"/>
    <p:sldId id="422" r:id="rId13"/>
    <p:sldId id="424" r:id="rId14"/>
    <p:sldId id="425" r:id="rId15"/>
    <p:sldId id="441" r:id="rId16"/>
    <p:sldId id="429" r:id="rId17"/>
    <p:sldId id="430" r:id="rId18"/>
    <p:sldId id="437" r:id="rId19"/>
    <p:sldId id="421" r:id="rId20"/>
    <p:sldId id="428" r:id="rId21"/>
    <p:sldId id="427" r:id="rId22"/>
    <p:sldId id="418" r:id="rId23"/>
    <p:sldId id="432" r:id="rId24"/>
    <p:sldId id="431" r:id="rId25"/>
    <p:sldId id="433" r:id="rId26"/>
    <p:sldId id="443" r:id="rId27"/>
    <p:sldId id="434" r:id="rId28"/>
    <p:sldId id="435" r:id="rId29"/>
    <p:sldId id="438" r:id="rId30"/>
    <p:sldId id="439" r:id="rId31"/>
    <p:sldId id="444" r:id="rId32"/>
    <p:sldId id="445" r:id="rId33"/>
    <p:sldId id="446" r:id="rId34"/>
    <p:sldId id="447" r:id="rId35"/>
    <p:sldId id="448" r:id="rId36"/>
    <p:sldId id="449" r:id="rId37"/>
    <p:sldId id="450" r:id="rId38"/>
    <p:sldId id="451" r:id="rId39"/>
    <p:sldId id="452" r:id="rId40"/>
    <p:sldId id="454" r:id="rId41"/>
    <p:sldId id="455" r:id="rId42"/>
    <p:sldId id="271" r:id="rId43"/>
    <p:sldId id="270" r:id="rId44"/>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46"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customschemas.google.com/relationships/presentationmetadata" Target="metadata"/><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the title slide for SE 423, Introduction to Mechatronics, Lecture 13: Threads and Processes, presented by Marius Juston on Wednesday, March 4th, 2026. The slide has the University of Illinois Urbana-Champaign logo above the title, set on a dark blue background sketched with faint equations and diagrams.</a:t>
            </a:r>
          </a:p>
          <a:p>
            <a:pPr marL="0" lvl="0" indent="0" algn="l" rtl="0">
              <a:spcBef>
                <a:spcPts val="0"/>
              </a:spcBef>
              <a:spcAft>
                <a:spcPts val="600"/>
              </a:spcAft>
              <a:buNone/>
            </a:pPr>
            <a:r>
              <a:rPr lang="en-US" dirty="0"/>
              <a:t>Today's lecture moves from bare-metal timer interrupts on the Red Board to how an operating system like Linux on the Raspberry Pi runs many tasks at once. It covers processes, threads, inter-process communication, race conditions, mutexes and semaphores. First comes a short partner discussion about two timers writing to the same data.</a:t>
            </a: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five-minute partner discussion that reviews last lecture and sets up today's topic, threads and processes. The slide says: talk to the person next to you and answer these two questions.</a:t>
            </a:r>
          </a:p>
          <a:p>
            <a:pPr marL="0" lvl="0" indent="0" algn="l" rtl="0">
              <a:lnSpc>
                <a:spcPct val="100000"/>
              </a:lnSpc>
              <a:spcBef>
                <a:spcPts val="0"/>
              </a:spcBef>
              <a:spcAft>
                <a:spcPts val="600"/>
              </a:spcAft>
              <a:buSzPts val="1400"/>
              <a:buNone/>
            </a:pPr>
            <a:r>
              <a:rPr lang="en-US" dirty="0"/>
              <a:t>Question one: Timer 0 and Timer 1 run at the exact same time, in parallel, and both write the robot's position to the same array. Timer 0 writes (0, 1) and Timer 1 writes (1, 0). What is the worst possible case?</a:t>
            </a:r>
          </a:p>
          <a:p>
            <a:pPr marL="0" lvl="0" indent="0" algn="l" rtl="0">
              <a:lnSpc>
                <a:spcPct val="100000"/>
              </a:lnSpc>
              <a:spcBef>
                <a:spcPts val="0"/>
              </a:spcBef>
              <a:spcAft>
                <a:spcPts val="600"/>
              </a:spcAft>
              <a:buSzPts val="1400"/>
              <a:buNone/>
            </a:pPr>
            <a:r>
              <a:rPr lang="en-US" dirty="0"/>
              <a:t>Question two: when driving a car, why is it safer and more robust to separate the "where should I be" calculations, called localization, from the "how much voltage goes to the steering motor" calculations, instead of using one single equation?</a:t>
            </a:r>
          </a:p>
          <a:p>
            <a:pPr marL="0" lvl="0" indent="0" algn="l" rtl="0">
              <a:lnSpc>
                <a:spcPct val="100000"/>
              </a:lnSpc>
              <a:spcBef>
                <a:spcPts val="0"/>
              </a:spcBef>
              <a:spcAft>
                <a:spcPts val="600"/>
              </a:spcAft>
              <a:buSzPts val="1400"/>
              <a:buNone/>
            </a:pPr>
            <a:r>
              <a:rPr lang="en-US" dirty="0"/>
              <a:t>For question one, the worst case is not that one value wins. It is that the two writes interleave. Timer 0 writes x = 0, Timer 1 writes x = 1 and then y = 0, and Timer 0 finishes with y = 1. The array ends up holding (1, 1), and (0, 0) is also possible. That is a position neither timer ever computed. Any code that reads the array mid-update sees a mix of the two. This is called a race condition, and it gets a formal treatment later today. On a single-core processor, nested interrupts, where one interrupt pauses another, produce exactly this interleaving.</a:t>
            </a:r>
          </a:p>
          <a:p>
            <a:pPr marL="0" lvl="0" indent="0" algn="l" rtl="0">
              <a:lnSpc>
                <a:spcPct val="100000"/>
              </a:lnSpc>
              <a:spcBef>
                <a:spcPts val="0"/>
              </a:spcBef>
              <a:spcAft>
                <a:spcPts val="600"/>
              </a:spcAft>
              <a:buSzPts val="1400"/>
              <a:buNone/>
            </a:pPr>
            <a:r>
              <a:rPr lang="en-US" dirty="0"/>
              <a:t>For question two, separating the jobs lets each run at its own rate: motor control is fast, while localization is often slower. Each block can be tested and debugged on its own, and you can swap sensors without touching the controller. A failure is also contained, so if localization drops out, the controller can still bring the car safely to a stop.</a:t>
            </a:r>
          </a:p>
          <a:p>
            <a:pPr marL="0" lvl="0" indent="0" algn="l" rtl="0">
              <a:lnSpc>
                <a:spcPct val="100000"/>
              </a:lnSpc>
              <a:spcBef>
                <a:spcPts val="0"/>
              </a:spcBef>
              <a:spcAft>
                <a:spcPts val="600"/>
              </a:spcAft>
              <a:buSzPts val="1400"/>
              <a:buNone/>
            </a:pPr>
            <a:r>
              <a:rPr lang="en-US" dirty="0"/>
              <a:t>After the reminders, these ideas lead directly into threads, shared memory, and locking.</a:t>
            </a: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lists the course reminders for the week in three groups: office hours, lab, and homework.</a:t>
            </a:r>
          </a:p>
          <a:p>
            <a:pPr marL="0" lvl="0" indent="0" algn="l" rtl="0">
              <a:lnSpc>
                <a:spcPct val="100000"/>
              </a:lnSpc>
              <a:spcBef>
                <a:spcPts val="0"/>
              </a:spcBef>
              <a:spcAft>
                <a:spcPts val="600"/>
              </a:spcAft>
              <a:buSzPts val="1400"/>
              <a:buNone/>
            </a:pPr>
            <a:r>
              <a:rPr lang="en-US" dirty="0"/>
              <a:t>Office hours are Monday 4 to 6 PM with Neel, and Tuesday with Lakshmi from 11 AM to 1 PM, Samuel from 1 to 3 PM, and Dan and Marius from 2 to 5 PM.</a:t>
            </a:r>
          </a:p>
          <a:p>
            <a:pPr marL="0" lvl="0" indent="0" algn="l" rtl="0">
              <a:lnSpc>
                <a:spcPct val="100000"/>
              </a:lnSpc>
              <a:spcBef>
                <a:spcPts val="0"/>
              </a:spcBef>
              <a:spcAft>
                <a:spcPts val="600"/>
              </a:spcAft>
              <a:buSzPts val="1400"/>
              <a:buNone/>
            </a:pPr>
            <a:r>
              <a:rPr lang="en-US" dirty="0"/>
              <a:t>In lab, you start Lab 4 this week. It is a 2-week lab, so plan your work across both sessions.</a:t>
            </a:r>
          </a:p>
          <a:p>
            <a:pPr marL="0" lvl="0" indent="0" algn="l" rtl="0">
              <a:lnSpc>
                <a:spcPct val="100000"/>
              </a:lnSpc>
              <a:spcBef>
                <a:spcPts val="0"/>
              </a:spcBef>
              <a:spcAft>
                <a:spcPts val="600"/>
              </a:spcAft>
              <a:buSzPts val="1400"/>
              <a:buNone/>
            </a:pPr>
            <a:r>
              <a:rPr lang="en-US" dirty="0"/>
              <a:t>For homework 3, each mention of "homework 3" on the slide is a link to the assignment. Check-offs for exercises 1, 2, 3 and 4 are due March 10 at 5 PM, the end of office hours. The check-off for exercise 5 is due March 24 at 5 PM, also the end of office hours. Your written answers and code submissions for all of homework 3 are due March 25 at 9 AM.</a:t>
            </a:r>
          </a:p>
          <a:p>
            <a:pPr marL="0" lvl="0" indent="0" algn="l" rtl="0">
              <a:lnSpc>
                <a:spcPct val="100000"/>
              </a:lnSpc>
              <a:spcBef>
                <a:spcPts val="0"/>
              </a:spcBef>
              <a:spcAft>
                <a:spcPts val="600"/>
              </a:spcAft>
              <a:buSzPts val="1400"/>
              <a:buNone/>
            </a:pPr>
            <a:r>
              <a:rPr lang="en-US" dirty="0"/>
              <a:t>Check-offs happen in person during office hours, so arriving at 4:55 PM on a deadline day is risky. Come early in the week.</a:t>
            </a:r>
          </a:p>
          <a:p>
            <a:pPr marL="0" lvl="0" indent="0" algn="l" rtl="0">
              <a:lnSpc>
                <a:spcPct val="100000"/>
              </a:lnSpc>
              <a:spcBef>
                <a:spcPts val="0"/>
              </a:spcBef>
              <a:spcAft>
                <a:spcPts val="600"/>
              </a:spcAft>
              <a:buSzPts val="1400"/>
              <a:buNone/>
            </a:pPr>
            <a:r>
              <a:rPr lang="en-US" dirty="0"/>
              <a:t>Next you can ask questions about the homework, the lab or LabVIEW. Then we return to the review question about two timers writing to the same array, which leads into threads and processes on the Raspberry Pi.</a:t>
            </a:r>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reads "Questions?" in large white text on the dark blue Illinois background with faint hand-drawn equations. Below an orange accent line, a prompt asks: Homework, Lab, LabVIEW?</a:t>
            </a:r>
          </a:p>
          <a:p>
            <a:pPr marL="0" lvl="0" indent="0" algn="l" rtl="0">
              <a:spcBef>
                <a:spcPts val="0"/>
              </a:spcBef>
              <a:spcAft>
                <a:spcPts val="600"/>
              </a:spcAft>
              <a:buNone/>
            </a:pPr>
            <a:r>
              <a:rPr lang="en-US" dirty="0"/>
              <a:t>Before you move on, this is the time to ask about homework 3, starting Lab 4, or anything with LabVIEW. Once questions are covered, the lecture turns to threads and processes, which you need for the multi-core Raspberry Pi in later labs.</a:t>
            </a: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7AFF886-F560-8B59-4ACB-60C130D5BA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14BE3A-0385-6AC3-4DFC-77061E22301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opens the main topic of Lecture 13, threads and processes. It is text only, four short statements explaining why you need these ideas now.</a:t>
            </a:r>
          </a:p>
          <a:p>
            <a:pPr marL="0" lvl="0" indent="0" algn="l" rtl="0">
              <a:lnSpc>
                <a:spcPct val="100000"/>
              </a:lnSpc>
              <a:spcBef>
                <a:spcPts val="0"/>
              </a:spcBef>
              <a:spcAft>
                <a:spcPts val="600"/>
              </a:spcAft>
              <a:buSzPts val="1400"/>
              <a:buNone/>
            </a:pPr>
            <a:r>
              <a:rPr lang="en-US" dirty="0"/>
              <a:t>The first point is that future labs need much more computing power than the F28379D Red Board provides. The example is camera images: one frame holds many thousands of pixels, and processing frames continuously means moving and crunching a large amount of data every second.</a:t>
            </a:r>
          </a:p>
          <a:p>
            <a:pPr marL="0" lvl="0" indent="0" algn="l" rtl="0">
              <a:lnSpc>
                <a:spcPct val="100000"/>
              </a:lnSpc>
              <a:spcBef>
                <a:spcPts val="0"/>
              </a:spcBef>
              <a:spcAft>
                <a:spcPts val="600"/>
              </a:spcAft>
              <a:buSzPts val="1400"/>
              <a:buNone/>
            </a:pPr>
            <a:r>
              <a:rPr lang="en-US" dirty="0"/>
              <a:t>The second and third points name the solution, the Raspberry Pi, and describe it. The Pi is a multi-core computer running Linux, with far more RAM than the Red Board. The slide calls it a more powerful microcontroller. Strictly speaking, the Pi is a single-board computer with an application processor rather than a microcontroller, and that difference is exactly why the last point matters.</a:t>
            </a:r>
          </a:p>
          <a:p>
            <a:pPr marL="0" lvl="0" indent="0" algn="l" rtl="0">
              <a:lnSpc>
                <a:spcPct val="100000"/>
              </a:lnSpc>
              <a:spcBef>
                <a:spcPts val="0"/>
              </a:spcBef>
              <a:spcAft>
                <a:spcPts val="600"/>
              </a:spcAft>
              <a:buSzPts val="1400"/>
              <a:buNone/>
            </a:pPr>
            <a:r>
              <a:rPr lang="en-US" dirty="0"/>
              <a:t>The fourth point is the catch: the Pi is more complex because of its modern architecture. On the Red Board, your code runs directly on the hardware, with interrupts you configure yourself. On the Pi, a Linux operating system decides when your code runs. It splits work across several cores and runs many programs at once. To use the Pi well, you need to understand how the operating system organizes that work into processes and threads.</a:t>
            </a:r>
          </a:p>
          <a:p>
            <a:pPr marL="0" lvl="0" indent="0" algn="l" rtl="0">
              <a:lnSpc>
                <a:spcPct val="100000"/>
              </a:lnSpc>
              <a:spcBef>
                <a:spcPts val="0"/>
              </a:spcBef>
              <a:spcAft>
                <a:spcPts val="600"/>
              </a:spcAft>
              <a:buSzPts val="1400"/>
              <a:buNone/>
            </a:pPr>
            <a:r>
              <a:rPr lang="en-US" dirty="0"/>
              <a:t>A quick question to think about: what is one thing your Red Board code assumes that might not hold on a multitasking Linux system? Timing is a good candidate.</a:t>
            </a:r>
          </a:p>
          <a:p>
            <a:pPr marL="0" lvl="0" indent="0" algn="l" rtl="0">
              <a:lnSpc>
                <a:spcPct val="100000"/>
              </a:lnSpc>
              <a:spcBef>
                <a:spcPts val="0"/>
              </a:spcBef>
              <a:spcAft>
                <a:spcPts val="600"/>
              </a:spcAft>
              <a:buSzPts val="1400"/>
              <a:buNone/>
            </a:pPr>
            <a:r>
              <a:rPr lang="en-US" dirty="0"/>
              <a:t>On the next slide, you will see the actual robot software as a set of separate Linux processes. They share data with each other and with the Red Board.</a:t>
            </a:r>
          </a:p>
        </p:txBody>
      </p:sp>
      <p:sp>
        <p:nvSpPr>
          <p:cNvPr id="116" name="Google Shape;116;p29:notes">
            <a:extLst>
              <a:ext uri="{FF2B5EF4-FFF2-40B4-BE49-F238E27FC236}">
                <a16:creationId xmlns:a16="http://schemas.microsoft.com/office/drawing/2014/main" id="{153BDEA8-4CC3-0DC9-B742-8F937F153D2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625107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1513FDB-8A2A-9ECB-C9EE-EB055F252F0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1D15087-40ED-AC6E-C6AB-99B3BB8DC5B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block diagram of the software you will run on the Raspberry Pi. It shows several separate programs, each running as its own process, cooperating through shared memory. Blue boxes are processes, green boxes are named POSIX shared memory regions with the data they hold, and red circles are named semaphores.</a:t>
            </a:r>
          </a:p>
          <a:p>
            <a:pPr marL="0" lvl="0" indent="0" algn="l" rtl="0">
              <a:lnSpc>
                <a:spcPct val="100000"/>
              </a:lnSpc>
              <a:spcBef>
                <a:spcPts val="0"/>
              </a:spcBef>
              <a:spcAft>
                <a:spcPts val="600"/>
              </a:spcAft>
              <a:buSzPts val="1400"/>
              <a:buNone/>
            </a:pPr>
            <a:r>
              <a:rPr lang="en-US" dirty="0"/>
              <a:t>In the center is serial_COMandOpti, the central hub. A two-way arrow labeled Serial / UDP connects it to the orange RedBoard (F28379D). Around the hub sit four other processes. LVCOMApp, a TCP/IP server, exchanges data with the hub in both directions. It writes /sharedmem-LVCOMApp-readfrom and reads /sharedmem-LVCOMApp-sendto, and each region holds char data_char[32] and float data_flts[8]. LinuxCMDApp, a command-line control program, writes /sharedmem-LINUXCMDApp-recvfrom, which holds 44 chars and 11 floats. AstarApp, the path planner, receives from the hub float x, y (the robot pose), short destrow and destcol (the destination cell), and char mapCondensed[22]. It returns an 81-character path, read_path[81]. Separately, ladar_server reads the LiDAR on UART ttyAMA2 and writes float ladar_dist[228].</a:t>
            </a:r>
          </a:p>
          <a:p>
            <a:pPr marL="0" lvl="0" indent="0" algn="l" rtl="0">
              <a:lnSpc>
                <a:spcPct val="100000"/>
              </a:lnSpc>
              <a:spcBef>
                <a:spcPts val="0"/>
              </a:spcBef>
              <a:spcAft>
                <a:spcPts val="600"/>
              </a:spcAft>
              <a:buSzPts val="1400"/>
              <a:buNone/>
            </a:pPr>
            <a:r>
              <a:rPr lang="en-US" dirty="0"/>
              <a:t>Each red dashed arrow labeled sem_post means "after I write this region, I signal its matching semaphore." For example, ladar_server posts sem-new-ladar-dist, so the reading process knows fresh data is ready.</a:t>
            </a:r>
          </a:p>
          <a:p>
            <a:pPr marL="0" lvl="0" indent="0" algn="l" rtl="0">
              <a:lnSpc>
                <a:spcPct val="100000"/>
              </a:lnSpc>
              <a:spcBef>
                <a:spcPts val="0"/>
              </a:spcBef>
              <a:spcAft>
                <a:spcPts val="600"/>
              </a:spcAft>
              <a:buSzPts val="1400"/>
              <a:buNone/>
            </a:pPr>
            <a:r>
              <a:rPr lang="en-US" dirty="0"/>
              <a:t>The point of the diagram is that splitting the work into independent processes keeps each one simple and lets them run on different cores of the Pi. That split creates the problem the rest of this lecture covers: how processes share data safely. Keep this picture in mind, because shared memory and semaphores return near the end of the lecture.</a:t>
            </a:r>
          </a:p>
          <a:p>
            <a:pPr marL="0" lvl="0" indent="0" algn="l" rtl="0">
              <a:lnSpc>
                <a:spcPct val="100000"/>
              </a:lnSpc>
              <a:spcBef>
                <a:spcPts val="0"/>
              </a:spcBef>
              <a:spcAft>
                <a:spcPts val="600"/>
              </a:spcAft>
              <a:buSzPts val="1400"/>
              <a:buNone/>
            </a:pPr>
            <a:r>
              <a:rPr lang="en-US" dirty="0"/>
              <a:t>As a quick check, ask yourself why a reader needs the semaphore at all, instead of simply polling the shared memory.</a:t>
            </a:r>
          </a:p>
        </p:txBody>
      </p:sp>
      <p:sp>
        <p:nvSpPr>
          <p:cNvPr id="116" name="Google Shape;116;p29:notes">
            <a:extLst>
              <a:ext uri="{FF2B5EF4-FFF2-40B4-BE49-F238E27FC236}">
                <a16:creationId xmlns:a16="http://schemas.microsoft.com/office/drawing/2014/main" id="{16B1CF0A-0DE5-C4E1-A793-D739157857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4591963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is a section divider with the title "Threads &amp; Processes" in dark blue on the orange Illinois Systems Engineering background. The faint sketches behind the title (a cube, equations, molecules) are decorative and carry no content.</a:t>
            </a:r>
          </a:p>
          <a:p>
            <a:pPr marL="0" lvl="0" indent="0" algn="l" rtl="0">
              <a:spcBef>
                <a:spcPts val="0"/>
              </a:spcBef>
              <a:spcAft>
                <a:spcPts val="600"/>
              </a:spcAft>
              <a:buNone/>
            </a:pPr>
            <a:r>
              <a:rPr lang="en-US" dirty="0"/>
              <a:t>You just saw the diagram of separate programs on the Raspberry Pi sharing data through shared memory and semaphores. To understand that design, you first need to know what a process and a thread actually are. Next comes a warning that this treatment is high level, along with resources if you want to go deeper.</a:t>
            </a: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3FE5DFB-C003-A719-1B2E-43AE28019C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533F0A7-998E-67A9-90C0-70F6AE7BD60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warning and a reading list before you get into definitions. It says this lecture treats threads and processes at a very high level, and that the full topic is a deep rabbit hole of complexity. If you want to understand it properly, the slide recommends five videos, watched in order:</a:t>
            </a:r>
          </a:p>
          <a:p>
            <a:pPr marL="0" lvl="0" indent="0" algn="l" rtl="0">
              <a:lnSpc>
                <a:spcPct val="100000"/>
              </a:lnSpc>
              <a:spcBef>
                <a:spcPts val="0"/>
              </a:spcBef>
              <a:spcAft>
                <a:spcPts val="600"/>
              </a:spcAft>
              <a:buSzPts val="1400"/>
              <a:buNone/>
            </a:pPr>
            <a:r>
              <a:rPr lang="en-US" dirty="0"/>
              <a:t>1. The definition of a process versus a program, 8 minutes: https://youtu.be/7ge7u5VUSbE?si=O0Uba2lTkLotpd87</a:t>
            </a:r>
          </a:p>
          <a:p>
            <a:pPr marL="0" lvl="0" indent="0" algn="l" rtl="0">
              <a:lnSpc>
                <a:spcPct val="100000"/>
              </a:lnSpc>
              <a:spcBef>
                <a:spcPts val="0"/>
              </a:spcBef>
              <a:spcAft>
                <a:spcPts val="600"/>
              </a:spcAft>
              <a:buSzPts val="1400"/>
              <a:buNone/>
            </a:pPr>
            <a:r>
              <a:rPr lang="en-US" dirty="0"/>
              <a:t>2. What a process actually is and how it works, 16 minutes: https://youtu.be/LDhoD4IVElk?si=wzx11WVn2Ow84q__</a:t>
            </a:r>
          </a:p>
          <a:p>
            <a:pPr marL="0" lvl="0" indent="0" algn="l" rtl="0">
              <a:lnSpc>
                <a:spcPct val="100000"/>
              </a:lnSpc>
              <a:spcBef>
                <a:spcPts val="0"/>
              </a:spcBef>
              <a:spcAft>
                <a:spcPts val="600"/>
              </a:spcAft>
              <a:buSzPts val="1400"/>
              <a:buNone/>
            </a:pPr>
            <a:r>
              <a:rPr lang="en-US" dirty="0"/>
              <a:t>3. IPC, inter-process communication, for sharing memory between processes, 14 minutes: https://youtu.be/Y2mDwW2pMv4?si=BAZ74dU6Yn5dNik2</a:t>
            </a:r>
          </a:p>
          <a:p>
            <a:pPr marL="0" lvl="0" indent="0" algn="l" rtl="0">
              <a:lnSpc>
                <a:spcPct val="100000"/>
              </a:lnSpc>
              <a:spcBef>
                <a:spcPts val="0"/>
              </a:spcBef>
              <a:spcAft>
                <a:spcPts val="600"/>
              </a:spcAft>
              <a:buSzPts val="1400"/>
              <a:buNone/>
            </a:pPr>
            <a:r>
              <a:rPr lang="en-US" dirty="0"/>
              <a:t>4. What threads are and how they work on single-core processors, 16 minutes: https://youtu.be/M9HHWFp84f0?si=NMBI0whrwmfuv7IA</a:t>
            </a:r>
          </a:p>
          <a:p>
            <a:pPr marL="0" lvl="0" indent="0" algn="l" rtl="0">
              <a:lnSpc>
                <a:spcPct val="100000"/>
              </a:lnSpc>
              <a:spcBef>
                <a:spcPts val="0"/>
              </a:spcBef>
              <a:spcAft>
                <a:spcPts val="600"/>
              </a:spcAft>
              <a:buSzPts val="1400"/>
              <a:buNone/>
            </a:pPr>
            <a:r>
              <a:rPr lang="en-US" dirty="0"/>
              <a:t>5. Threads on multicore systems, 11 minutes: https://youtu.be/5sw9XJokAqw?si=IvZqqokTP5nwP-uN</a:t>
            </a:r>
          </a:p>
          <a:p>
            <a:pPr marL="0" lvl="0" indent="0" algn="l" rtl="0">
              <a:lnSpc>
                <a:spcPct val="100000"/>
              </a:lnSpc>
              <a:spcBef>
                <a:spcPts val="0"/>
              </a:spcBef>
              <a:spcAft>
                <a:spcPts val="600"/>
              </a:spcAft>
              <a:buSzPts val="1400"/>
              <a:buNone/>
            </a:pPr>
            <a:r>
              <a:rPr lang="en-US" dirty="0"/>
              <a:t>The total viewing time is 65 minutes. For practice and more detail, the slide also points to the KU Leuven operating systems course chapter on tasks: https://kuleuven-diepenbeek.github.io/osc-course/ch6-tasks/</a:t>
            </a:r>
          </a:p>
          <a:p>
            <a:pPr marL="0" lvl="0" indent="0" algn="l" rtl="0">
              <a:lnSpc>
                <a:spcPct val="100000"/>
              </a:lnSpc>
              <a:spcBef>
                <a:spcPts val="0"/>
              </a:spcBef>
              <a:spcAft>
                <a:spcPts val="600"/>
              </a:spcAft>
              <a:buSzPts val="1400"/>
              <a:buNone/>
            </a:pPr>
            <a:r>
              <a:rPr lang="en-US" dirty="0"/>
              <a:t>The video order matches the order of this lecture: processes first, then IPC, then threads and the problems they create. If you get lost in a section, the matching video is a good place to catch up.</a:t>
            </a:r>
          </a:p>
          <a:p>
            <a:pPr marL="0" lvl="0" indent="0" algn="l" rtl="0">
              <a:lnSpc>
                <a:spcPct val="100000"/>
              </a:lnSpc>
              <a:spcBef>
                <a:spcPts val="0"/>
              </a:spcBef>
              <a:spcAft>
                <a:spcPts val="600"/>
              </a:spcAft>
              <a:buSzPts val="1400"/>
              <a:buNone/>
            </a:pPr>
            <a:r>
              <a:rPr lang="en-US" dirty="0"/>
              <a:t>This matters for the robot. On slide 6 you saw several separate programs on the Raspberry Pi, such as the A* path planner, the LiDAR server and the serial hub, all sharing data through POSIX shared memory and semaphores. To reason about that system, you first need clear definitions. The next slide starts with the most basic one: the difference between a program and a process.</a:t>
            </a:r>
          </a:p>
        </p:txBody>
      </p:sp>
      <p:sp>
        <p:nvSpPr>
          <p:cNvPr id="116" name="Google Shape;116;p29:notes">
            <a:extLst>
              <a:ext uri="{FF2B5EF4-FFF2-40B4-BE49-F238E27FC236}">
                <a16:creationId xmlns:a16="http://schemas.microsoft.com/office/drawing/2014/main" id="{5EB7389B-DB50-F026-664F-9E0E60164B7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6334970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B0F1CCE-276A-3855-A9AB-61646F76034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455BB7-B80C-56B6-C712-D228B61A038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gives two definitions. A process is, informally, "a program in execution." A program is a set of CPU instructions plus the data needed for its task. In other words, it is essentially an executable file that sits in your file storage waiting to be run. The slide then adds that when you run the program, it needs more than that stored data, and the extra memory lives in the heap and the stack, which change size dynamically.</a:t>
            </a:r>
          </a:p>
          <a:p>
            <a:pPr marL="0" lvl="0" indent="0" algn="l" rtl="0">
              <a:lnSpc>
                <a:spcPct val="100000"/>
              </a:lnSpc>
              <a:spcBef>
                <a:spcPts val="0"/>
              </a:spcBef>
              <a:spcAft>
                <a:spcPts val="600"/>
              </a:spcAft>
              <a:buSzPts val="1400"/>
              <a:buNone/>
            </a:pPr>
            <a:r>
              <a:rPr lang="en-US" dirty="0"/>
              <a:t>The key distinction is passive versus active. A program is a passive file on disk, like a recipe. A process is that recipe being cooked: it has been loaded into memory, it is executing, and it has state that changes over time.</a:t>
            </a:r>
          </a:p>
          <a:p>
            <a:pPr marL="0" lvl="0" indent="0" algn="l" rtl="0">
              <a:lnSpc>
                <a:spcPct val="100000"/>
              </a:lnSpc>
              <a:spcBef>
                <a:spcPts val="0"/>
              </a:spcBef>
              <a:spcAft>
                <a:spcPts val="600"/>
              </a:spcAft>
              <a:buSzPts val="1400"/>
              <a:buNone/>
            </a:pPr>
            <a:r>
              <a:rPr lang="en-US" dirty="0"/>
              <a:t>The heap and stack are the new terms. The stack holds function call information: local variables, function arguments, and return addresses. It grows when a function is called and shrinks when it returns. The heap holds memory that the program requests while it runs, for example with malloc in C or new in C++. That memory stays allocated until it is explicitly freed. Neither region exists in the executable file. Both are created when the program starts running.</a:t>
            </a:r>
          </a:p>
          <a:p>
            <a:pPr marL="0" lvl="0" indent="0" algn="l" rtl="0">
              <a:lnSpc>
                <a:spcPct val="100000"/>
              </a:lnSpc>
              <a:spcBef>
                <a:spcPts val="0"/>
              </a:spcBef>
              <a:spcAft>
                <a:spcPts val="600"/>
              </a:spcAft>
              <a:buSzPts val="1400"/>
              <a:buNone/>
            </a:pPr>
            <a:r>
              <a:rPr lang="en-US" dirty="0"/>
              <a:t>A common mistake is treating "program" and "process" as synonyms. One program can be run as several processes at the same time, and each process gets its own heap and stack.</a:t>
            </a:r>
          </a:p>
          <a:p>
            <a:pPr marL="0" lvl="0" indent="0" algn="l" rtl="0">
              <a:lnSpc>
                <a:spcPct val="100000"/>
              </a:lnSpc>
              <a:spcBef>
                <a:spcPts val="0"/>
              </a:spcBef>
              <a:spcAft>
                <a:spcPts val="600"/>
              </a:spcAft>
              <a:buSzPts val="1400"/>
              <a:buNone/>
            </a:pPr>
            <a:r>
              <a:rPr lang="en-US" dirty="0"/>
              <a:t>This is the first step into the material behind the videos listed on the previous slide. Next, we put the code, data, heap and stack together and see that this whole bundle is what we call a process, using familiar examples like Chrome and VSCode.</a:t>
            </a:r>
          </a:p>
        </p:txBody>
      </p:sp>
      <p:sp>
        <p:nvSpPr>
          <p:cNvPr id="116" name="Google Shape;116;p29:notes">
            <a:extLst>
              <a:ext uri="{FF2B5EF4-FFF2-40B4-BE49-F238E27FC236}">
                <a16:creationId xmlns:a16="http://schemas.microsoft.com/office/drawing/2014/main" id="{294BAF93-37E3-BEAC-B633-3C8AD7EF0F2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455819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09BADC-C5EE-A953-A49C-FA5A80C7B81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6347FAA-033B-5CAB-2DBD-537B35126C6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and finishes the definition of a process from the previous slide. It states that the combination of code, data, stack, heap, and some extra information is the process. It then gives everyday examples: whenever you open Google Chrome, VSCode, Code Composer Studio, and similar applications, you start a process from a program. The ".exe" file is the program, and a running instance of VSCode is a process. As you open more tabs or write more code, the editor's heap and stack grow, so the running process differs from the program file it started from. Finally, the CPU cycles between the running processes and switches the context it is looking at.</a:t>
            </a:r>
          </a:p>
          <a:p>
            <a:pPr marL="0" lvl="0" indent="0" algn="l" rtl="0">
              <a:lnSpc>
                <a:spcPct val="100000"/>
              </a:lnSpc>
              <a:spcBef>
                <a:spcPts val="0"/>
              </a:spcBef>
              <a:spcAft>
                <a:spcPts val="600"/>
              </a:spcAft>
              <a:buSzPts val="1400"/>
              <a:buNone/>
            </a:pPr>
            <a:r>
              <a:rPr lang="en-US" dirty="0"/>
              <a:t>The key distinction is that the program is static and sits on disk, while the process is dynamic and lives in memory while it runs. You can launch two VSCode windows from one executable and get two processes, each with its own heap and stack.</a:t>
            </a:r>
          </a:p>
          <a:p>
            <a:pPr marL="0" lvl="0" indent="0" algn="l" rtl="0">
              <a:lnSpc>
                <a:spcPct val="100000"/>
              </a:lnSpc>
              <a:spcBef>
                <a:spcPts val="0"/>
              </a:spcBef>
              <a:spcAft>
                <a:spcPts val="600"/>
              </a:spcAft>
              <a:buSzPts val="1400"/>
              <a:buNone/>
            </a:pPr>
            <a:r>
              <a:rPr lang="en-US" dirty="0"/>
              <a:t>The "extra information" is what the operating system keeps about each process: an ID number, the saved CPU registers, the program counter (the address of the next instruction), and open files. A context switch saves this state for one process and loads it for another. That is how one core appears to run many programs at once.</a:t>
            </a:r>
          </a:p>
          <a:p>
            <a:pPr marL="0" lvl="0" indent="0" algn="l" rtl="0">
              <a:lnSpc>
                <a:spcPct val="100000"/>
              </a:lnSpc>
              <a:spcBef>
                <a:spcPts val="0"/>
              </a:spcBef>
              <a:spcAft>
                <a:spcPts val="600"/>
              </a:spcAft>
              <a:buSzPts val="1400"/>
              <a:buNone/>
            </a:pPr>
            <a:r>
              <a:rPr lang="en-US" dirty="0"/>
              <a:t>A useful contrast for this course: the bare-metal F28379D Red Board runs only your single program, with interrupts. The Raspberry Pi runs Linux, which juggles many processes.</a:t>
            </a:r>
          </a:p>
          <a:p>
            <a:pPr marL="0" lvl="0" indent="0" algn="l" rtl="0">
              <a:lnSpc>
                <a:spcPct val="100000"/>
              </a:lnSpc>
              <a:spcBef>
                <a:spcPts val="0"/>
              </a:spcBef>
              <a:spcAft>
                <a:spcPts val="600"/>
              </a:spcAft>
              <a:buSzPts val="1400"/>
              <a:buNone/>
            </a:pPr>
            <a:r>
              <a:rPr lang="en-US" dirty="0"/>
              <a:t>Quick check: if you open Chrome twice, how many programs and how many processes are there?</a:t>
            </a:r>
          </a:p>
          <a:p>
            <a:pPr marL="0" lvl="0" indent="0" algn="l" rtl="0">
              <a:lnSpc>
                <a:spcPct val="100000"/>
              </a:lnSpc>
              <a:spcBef>
                <a:spcPts val="0"/>
              </a:spcBef>
              <a:spcAft>
                <a:spcPts val="600"/>
              </a:spcAft>
              <a:buSzPts val="1400"/>
              <a:buNone/>
            </a:pPr>
            <a:r>
              <a:rPr lang="en-US" dirty="0"/>
              <a:t>The next slide shows the memory layout of a process: text, data, heap, and stack.</a:t>
            </a:r>
          </a:p>
        </p:txBody>
      </p:sp>
      <p:sp>
        <p:nvSpPr>
          <p:cNvPr id="116" name="Google Shape;116;p29:notes">
            <a:extLst>
              <a:ext uri="{FF2B5EF4-FFF2-40B4-BE49-F238E27FC236}">
                <a16:creationId xmlns:a16="http://schemas.microsoft.com/office/drawing/2014/main" id="{E8F12E41-7B81-DC65-9BD3-A2D27E9A04E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261150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92D4B74-6C56-42D4-2C29-CDD721964B1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E013CB4-ECFE-71E0-1639-B3FB388CB14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pictures the idea from the last two slides: how a program sitting on disk becomes a process in memory. The figures come from the YouTube video linked at the bottom, https://www.youtube.com/watch?v=7ge7u5VUSbE, which is worth watching on your own.</a:t>
            </a:r>
          </a:p>
          <a:p>
            <a:pPr marL="0" lvl="0" indent="0" algn="l" rtl="0">
              <a:lnSpc>
                <a:spcPct val="100000"/>
              </a:lnSpc>
              <a:spcBef>
                <a:spcPts val="0"/>
              </a:spcBef>
              <a:spcAft>
                <a:spcPts val="600"/>
              </a:spcAft>
              <a:buSzPts val="1400"/>
              <a:buNone/>
            </a:pPr>
            <a:r>
              <a:rPr lang="en-US" dirty="0"/>
              <a:t>The left diagram shows an executable file as a column of fifteen 8-bit binary words. The top ten are bracketed as CPU instructions and the bottom five as data, and one large bracket labels the whole thing "Executable File." The point is that a program on disk is just binary: machine instructions plus the constant and initial data they need.</a:t>
            </a:r>
          </a:p>
          <a:p>
            <a:pPr marL="0" lvl="0" indent="0" algn="l" rtl="0">
              <a:lnSpc>
                <a:spcPct val="100000"/>
              </a:lnSpc>
              <a:spcBef>
                <a:spcPts val="0"/>
              </a:spcBef>
              <a:spcAft>
                <a:spcPts val="600"/>
              </a:spcAft>
              <a:buSzPts val="1400"/>
              <a:buNone/>
            </a:pPr>
            <a:r>
              <a:rPr lang="en-US" dirty="0"/>
              <a:t>The right diagram is a vertical column labeled MEMORY. It has unused space at the top. Below that, from top to bottom, are four regions: TEXT, DATA, HEAP and STACK, followed by more unused space. TEXT and DATA are highlighted together and bracketed as PROGRAM. The heap is the largest region.</a:t>
            </a:r>
          </a:p>
          <a:p>
            <a:pPr marL="0" lvl="0" indent="0" algn="l" rtl="0">
              <a:lnSpc>
                <a:spcPct val="100000"/>
              </a:lnSpc>
              <a:spcBef>
                <a:spcPts val="0"/>
              </a:spcBef>
              <a:spcAft>
                <a:spcPts val="600"/>
              </a:spcAft>
              <a:buSzPts val="1400"/>
              <a:buNone/>
            </a:pPr>
            <a:r>
              <a:rPr lang="en-US" dirty="0"/>
              <a:t>When you launch the program, the operating system copies the instructions into the text region and the initialized data into the data region. Both of those are fixed in size. It then adds two regions that change size while the program runs. The heap holds memory you request dynamically, for example with malloc or new. The stack holds function calls, return addresses and local variables. Program plus heap plus stack, along with some bookkeeping information, is the process.</a:t>
            </a:r>
          </a:p>
          <a:p>
            <a:pPr marL="0" lvl="0" indent="0" algn="l" rtl="0">
              <a:lnSpc>
                <a:spcPct val="100000"/>
              </a:lnSpc>
              <a:spcBef>
                <a:spcPts val="0"/>
              </a:spcBef>
              <a:spcAft>
                <a:spcPts val="600"/>
              </a:spcAft>
              <a:buSzPts val="1400"/>
              <a:buNone/>
            </a:pPr>
            <a:r>
              <a:rPr lang="en-US" dirty="0"/>
              <a:t>You have already seen this layout on the Red Board. The linker command file in Code Composer places sections such as .text, .stack and the heap into specific memory. A common mistake is declaring a huge local array inside a function, which can overflow the stack.</a:t>
            </a:r>
          </a:p>
          <a:p>
            <a:pPr marL="0" lvl="0" indent="0" algn="l" rtl="0">
              <a:lnSpc>
                <a:spcPct val="100000"/>
              </a:lnSpc>
              <a:spcBef>
                <a:spcPts val="0"/>
              </a:spcBef>
              <a:spcAft>
                <a:spcPts val="600"/>
              </a:spcAft>
              <a:buSzPts val="1400"/>
              <a:buNone/>
            </a:pPr>
            <a:r>
              <a:rPr lang="en-US" dirty="0"/>
              <a:t>Next, you see two processes in memory side by side, each with its own regions.</a:t>
            </a:r>
          </a:p>
        </p:txBody>
      </p:sp>
      <p:sp>
        <p:nvSpPr>
          <p:cNvPr id="116" name="Google Shape;116;p29:notes">
            <a:extLst>
              <a:ext uri="{FF2B5EF4-FFF2-40B4-BE49-F238E27FC236}">
                <a16:creationId xmlns:a16="http://schemas.microsoft.com/office/drawing/2014/main" id="{ACAF8A9F-B526-2F07-CF3E-7B74DF112FB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300039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7D5111-ED53-97BA-7352-7C4FBDB896D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1452289-1C13-7A64-6215-2D539784790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another screenshot from the same video as the previous slide, linked at https://www.youtube.com/watch?v=7ge7u5VUSbE. On the right is a tall column labeled MEMORY. It holds two separate blocks with unused memory above, between, and below them. Each block is bracketed and labeled, the upper one "Process 1 Memory region" and the lower one "Process 2 Memory region." Inside each block, from top to bottom, are TEXT, labeled executable code, then DATA, HEAP, and STACK, labeled together as process data. Process 1's block is much taller than Process 2's, mostly because its heap is far larger. On the left are the video creator's script notes.</a:t>
            </a:r>
          </a:p>
          <a:p>
            <a:pPr marL="0" lvl="0" indent="0" algn="l" rtl="0">
              <a:lnSpc>
                <a:spcPct val="100000"/>
              </a:lnSpc>
              <a:spcBef>
                <a:spcPts val="0"/>
              </a:spcBef>
              <a:spcAft>
                <a:spcPts val="600"/>
              </a:spcAft>
              <a:buSzPts val="1400"/>
              <a:buNone/>
            </a:pPr>
            <a:r>
              <a:rPr lang="en-US" dirty="0"/>
              <a:t>The key idea is what turns a program into a process. On disk, a program is just the text section, which holds the machine instructions, and the data section, which holds global variables and constants. Both are fixed in size. When you run the program, the operating system also gives it a heap for dynamically allocated memory and a stack for function calls and local variables. These grow and shrink at runtime with user input and temporary results. Once the program is loaded with its own heap and stack, it is a process.</a:t>
            </a:r>
          </a:p>
          <a:p>
            <a:pPr marL="0" lvl="0" indent="0" algn="l" rtl="0">
              <a:lnSpc>
                <a:spcPct val="100000"/>
              </a:lnSpc>
              <a:spcBef>
                <a:spcPts val="0"/>
              </a:spcBef>
              <a:spcAft>
                <a:spcPts val="600"/>
              </a:spcAft>
              <a:buSzPts val="1400"/>
              <a:buNone/>
            </a:pPr>
            <a:r>
              <a:rPr lang="en-US" dirty="0"/>
              <a:t>This is why two processes started from the same .exe can occupy very different amounts of memory. A VSCode window with many files open has a bigger heap than a fresh one. Each process also gets its own separate region, so one process cannot simply read another's variables. That isolation is why inter-process communication comes up later in this lecture.</a:t>
            </a:r>
          </a:p>
          <a:p>
            <a:pPr marL="0" lvl="0" indent="0" algn="l" rtl="0">
              <a:lnSpc>
                <a:spcPct val="100000"/>
              </a:lnSpc>
              <a:spcBef>
                <a:spcPts val="0"/>
              </a:spcBef>
              <a:spcAft>
                <a:spcPts val="600"/>
              </a:spcAft>
              <a:buSzPts val="1400"/>
              <a:buNone/>
            </a:pPr>
            <a:r>
              <a:rPr lang="en-US" dirty="0"/>
              <a:t>One caution: this picture is the memory layout of a process, not the whole process. The operating system also tracks extra information about each process, such as its registers and program counter.</a:t>
            </a:r>
          </a:p>
          <a:p>
            <a:pPr marL="0" lvl="0" indent="0" algn="l" rtl="0">
              <a:lnSpc>
                <a:spcPct val="100000"/>
              </a:lnSpc>
              <a:spcBef>
                <a:spcPts val="0"/>
              </a:spcBef>
              <a:spcAft>
                <a:spcPts val="600"/>
              </a:spcAft>
              <a:buSzPts val="1400"/>
              <a:buNone/>
            </a:pPr>
            <a:r>
              <a:rPr lang="en-US" dirty="0"/>
              <a:t>Next, we split a single process into threads, which share text, data, and heap but each get their own stack.</a:t>
            </a:r>
          </a:p>
        </p:txBody>
      </p:sp>
      <p:sp>
        <p:nvSpPr>
          <p:cNvPr id="116" name="Google Shape;116;p29:notes">
            <a:extLst>
              <a:ext uri="{FF2B5EF4-FFF2-40B4-BE49-F238E27FC236}">
                <a16:creationId xmlns:a16="http://schemas.microsoft.com/office/drawing/2014/main" id="{ED19C883-B5D6-7EEC-06D1-779D02C0A4A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6513994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439AF06-19D4-1678-95EF-0510C0DAF4C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C36DD8E-A99B-92ED-0A1A-292DB435A5A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"Threads and Processes." It defines a thread and explains how threads relate to the process memory layout from the last two slides.</a:t>
            </a:r>
          </a:p>
          <a:p>
            <a:pPr marL="0" lvl="0" indent="0" algn="l" rtl="0">
              <a:lnSpc>
                <a:spcPct val="100000"/>
              </a:lnSpc>
              <a:spcBef>
                <a:spcPts val="0"/>
              </a:spcBef>
              <a:spcAft>
                <a:spcPts val="600"/>
              </a:spcAft>
              <a:buSzPts val="1400"/>
              <a:buNone/>
            </a:pPr>
            <a:r>
              <a:rPr lang="en-US" dirty="0"/>
              <a:t>The first statement is that a thread is the smallest unit of a process: the smallest piece of work the operating system can schedule. A thread executes a sequence of operations on behalf of its process.</a:t>
            </a:r>
          </a:p>
          <a:p>
            <a:pPr marL="0" lvl="0" indent="0" algn="l" rtl="0">
              <a:lnSpc>
                <a:spcPct val="100000"/>
              </a:lnSpc>
              <a:spcBef>
                <a:spcPts val="0"/>
              </a:spcBef>
              <a:spcAft>
                <a:spcPts val="600"/>
              </a:spcAft>
              <a:buSzPts val="1400"/>
              <a:buNone/>
            </a:pPr>
            <a:r>
              <a:rPr lang="en-US" dirty="0"/>
              <a:t>Recall the process layout of text, data, heap and stack. All threads in a process share the same code (the text region), the same global data, and the same heap. Each thread gets its own registers, its own program counter, and its own stack. The program counter is the register holding the address of the next instruction. Because each thread has its own program counter and registers, it can be at a different place in the code. Because each has its own stack, its local variables and function calls stay separate.</a:t>
            </a:r>
          </a:p>
          <a:p>
            <a:pPr marL="0" lvl="0" indent="0" algn="l" rtl="0">
              <a:lnSpc>
                <a:spcPct val="100000"/>
              </a:lnSpc>
              <a:spcBef>
                <a:spcPts val="0"/>
              </a:spcBef>
              <a:spcAft>
                <a:spcPts val="600"/>
              </a:spcAft>
              <a:buSzPts val="1400"/>
              <a:buNone/>
            </a:pPr>
            <a:r>
              <a:rPr lang="en-US" dirty="0"/>
              <a:t>Every process starts single-threaded, running only the "main" thread, which begins at your main() function. Your program can then create additional threads at run time, which makes the application multi-threaded. On the Raspberry Pi, for example, one thread could read the LiDAR while another handles communication with the Red Board.</a:t>
            </a:r>
          </a:p>
          <a:p>
            <a:pPr marL="0" lvl="0" indent="0" algn="l" rtl="0">
              <a:lnSpc>
                <a:spcPct val="100000"/>
              </a:lnSpc>
              <a:spcBef>
                <a:spcPts val="0"/>
              </a:spcBef>
              <a:spcAft>
                <a:spcPts val="600"/>
              </a:spcAft>
              <a:buSzPts val="1400"/>
              <a:buNone/>
            </a:pPr>
            <a:r>
              <a:rPr lang="en-US" dirty="0"/>
              <a:t>A common misconception is that threads are isolated like separate processes. They are not. Local variables live on each thread's own stack and are private. Globals and heap memory are shared, so two threads can read and write the same variable. That shared access is exactly what causes the race conditions you will see later in this lecture.</a:t>
            </a:r>
          </a:p>
          <a:p>
            <a:pPr marL="0" lvl="0" indent="0" algn="l" rtl="0">
              <a:lnSpc>
                <a:spcPct val="100000"/>
              </a:lnSpc>
              <a:spcBef>
                <a:spcPts val="0"/>
              </a:spcBef>
              <a:spcAft>
                <a:spcPts val="600"/>
              </a:spcAft>
              <a:buSzPts val="1400"/>
              <a:buNone/>
            </a:pPr>
            <a:r>
              <a:rPr lang="en-US" dirty="0"/>
              <a:t>Quick check: if two threads call the same function, does each get its own copy of that function's local variables? (Yes, because each thread has its own stack.)</a:t>
            </a:r>
          </a:p>
          <a:p>
            <a:pPr marL="0" lvl="0" indent="0" algn="l" rtl="0">
              <a:lnSpc>
                <a:spcPct val="100000"/>
              </a:lnSpc>
              <a:spcBef>
                <a:spcPts val="0"/>
              </a:spcBef>
              <a:spcAft>
                <a:spcPts val="600"/>
              </a:spcAft>
              <a:buSzPts val="1400"/>
              <a:buNone/>
            </a:pPr>
            <a:r>
              <a:rPr lang="en-US" dirty="0"/>
              <a:t>Next, we look at how many threads can actually run at once, which depends on the number of CPU cores.</a:t>
            </a:r>
          </a:p>
        </p:txBody>
      </p:sp>
      <p:sp>
        <p:nvSpPr>
          <p:cNvPr id="116" name="Google Shape;116;p29:notes">
            <a:extLst>
              <a:ext uri="{FF2B5EF4-FFF2-40B4-BE49-F238E27FC236}">
                <a16:creationId xmlns:a16="http://schemas.microsoft.com/office/drawing/2014/main" id="{43B3522E-0EFA-C0F7-B4E8-93B1E62C08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7067280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238ADF-D91B-0600-7036-18DDCACECE0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9826717-6317-D72C-CACC-7F228F3978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Threads and Processes. It says that how many threads can run at once depends on your CPU and its number of cores. A 4-core CPU runs 4 threads in parallel, and an 8-core CPU runs 8. It then asks what happens when you have more threads than cores, for example 1 core and 8 threads. Should one thread finish before the next starts, and what if a thread is stuck waiting for a large file transfer? The answer is the scheduler. Each thread gets a tiny bit of time to execute, then the CPU cycles to the next thread, so fast that it looks parallel.</a:t>
            </a:r>
          </a:p>
          <a:p>
            <a:pPr marL="0" lvl="0" indent="0" algn="l" rtl="0">
              <a:lnSpc>
                <a:spcPct val="100000"/>
              </a:lnSpc>
              <a:spcBef>
                <a:spcPts val="0"/>
              </a:spcBef>
              <a:spcAft>
                <a:spcPts val="600"/>
              </a:spcAft>
              <a:buSzPts val="1400"/>
              <a:buNone/>
            </a:pPr>
            <a:r>
              <a:rPr lang="en-US" dirty="0"/>
              <a:t>The previous slide showed that each thread has its own registers, program counter and stack. That is exactly what makes this switching possible. When the scheduler stops one thread, it saves that thread's registers and program counter and loads the next thread's. This is called a context switch. Each turn, or time slice, is short to a human, typically milliseconds, but long enough for the CPU to run many instructions.</a:t>
            </a:r>
          </a:p>
          <a:p>
            <a:pPr marL="0" lvl="0" indent="0" algn="l" rtl="0">
              <a:lnSpc>
                <a:spcPct val="100000"/>
              </a:lnSpc>
              <a:spcBef>
                <a:spcPts val="0"/>
              </a:spcBef>
              <a:spcAft>
                <a:spcPts val="600"/>
              </a:spcAft>
              <a:buSzPts val="1400"/>
              <a:buNone/>
            </a:pPr>
            <a:r>
              <a:rPr lang="en-US" dirty="0"/>
              <a:t>Think about why running threads one after another is a bad idea. A thread waiting on a file transfer or a network packet does no useful work. With a scheduler, that blocked thread steps aside and another thread uses the CPU.</a:t>
            </a:r>
          </a:p>
          <a:p>
            <a:pPr marL="0" lvl="0" indent="0" algn="l" rtl="0">
              <a:lnSpc>
                <a:spcPct val="100000"/>
              </a:lnSpc>
              <a:spcBef>
                <a:spcPts val="0"/>
              </a:spcBef>
              <a:spcAft>
                <a:spcPts val="600"/>
              </a:spcAft>
              <a:buSzPts val="1400"/>
              <a:buNone/>
            </a:pPr>
            <a:r>
              <a:rPr lang="en-US" dirty="0"/>
              <a:t>Keep two words separate. Concurrency means taking turns on shared cores. Parallelism means truly running at the same instant on separate cores.</a:t>
            </a:r>
          </a:p>
          <a:p>
            <a:pPr marL="0" lvl="0" indent="0" algn="l" rtl="0">
              <a:lnSpc>
                <a:spcPct val="100000"/>
              </a:lnSpc>
              <a:spcBef>
                <a:spcPts val="0"/>
              </a:spcBef>
              <a:spcAft>
                <a:spcPts val="600"/>
              </a:spcAft>
              <a:buSzPts val="1400"/>
              <a:buNone/>
            </a:pPr>
            <a:r>
              <a:rPr lang="en-US" dirty="0"/>
              <a:t>Keep that distinction in mind for the next slide. There you apply it to the dual-core Red Board, where you only use CPU1, and to its timers and interrupts.</a:t>
            </a:r>
          </a:p>
        </p:txBody>
      </p:sp>
      <p:sp>
        <p:nvSpPr>
          <p:cNvPr id="116" name="Google Shape;116;p29:notes">
            <a:extLst>
              <a:ext uri="{FF2B5EF4-FFF2-40B4-BE49-F238E27FC236}">
                <a16:creationId xmlns:a16="http://schemas.microsoft.com/office/drawing/2014/main" id="{0092A44F-A154-1C63-C254-C15283FAC21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1078501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C397BEE-783C-76FF-BDCE-D7A24289B10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3967819-AA1B-65B1-AD07-8726270BF7D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has no figures, just three lines of text on the standard title bar. The first line states that the Red Board, the TMS320F28379D, is a dual-core microcontroller, but we only use one core, CPU1. Then it asks two questions: how many threads can it run in parallel, and are the CPU timers and interrupts running truly in parallel?</a:t>
            </a:r>
          </a:p>
          <a:p>
            <a:pPr marL="0" lvl="0" indent="0" algn="l" rtl="0">
              <a:lnSpc>
                <a:spcPct val="100000"/>
              </a:lnSpc>
              <a:spcBef>
                <a:spcPts val="0"/>
              </a:spcBef>
              <a:spcAft>
                <a:spcPts val="600"/>
              </a:spcAft>
              <a:buSzPts val="1400"/>
              <a:buNone/>
            </a:pPr>
            <a:r>
              <a:rPr lang="en-US" dirty="0"/>
              <a:t>On the last slide you saw that the number of threads that can truly run at once equals the number of cores, and that a scheduler fakes parallelism by switching between threads very quickly. Apply that here. CPU2 sits unused, so only one sequence of instructions executes at any instant: one thread in parallel.</a:t>
            </a:r>
          </a:p>
          <a:p>
            <a:pPr marL="0" lvl="0" indent="0" algn="l" rtl="0">
              <a:lnSpc>
                <a:spcPct val="100000"/>
              </a:lnSpc>
              <a:spcBef>
                <a:spcPts val="0"/>
              </a:spcBef>
              <a:spcAft>
                <a:spcPts val="600"/>
              </a:spcAft>
              <a:buSzPts val="1400"/>
              <a:buNone/>
            </a:pPr>
            <a:r>
              <a:rPr lang="en-US" dirty="0"/>
              <a:t>What about your CPU Timer 0, 1 and 2 interrupts? They feel concurrent, but they are not truly parallel. Here is what actually happens. When a timer expires, the hardware raises an interrupt flag, and CPU1 pauses the main loop. It saves its registers, runs the interrupt service routine (ISR), restores the registers and resumes. Unless you explicitly enable nesting, one ISR also waits for another to finish. The interrupt controller decides which pending interrupt goes first by priority. So the interrupts take turns on a single core, much like a scheduler.</a:t>
            </a:r>
          </a:p>
          <a:p>
            <a:pPr marL="0" lvl="0" indent="0" algn="l" rtl="0">
              <a:lnSpc>
                <a:spcPct val="100000"/>
              </a:lnSpc>
              <a:spcBef>
                <a:spcPts val="0"/>
              </a:spcBef>
              <a:spcAft>
                <a:spcPts val="600"/>
              </a:spcAft>
              <a:buSzPts val="1400"/>
              <a:buNone/>
            </a:pPr>
            <a:r>
              <a:rPr lang="en-US" dirty="0"/>
              <a:t>What is truly parallel is the peripheral hardware. The timer counters, ePWM, ADC conversions, eQEP encoder counting and SPI shifting all run on their own while the CPU does something else.</a:t>
            </a:r>
          </a:p>
          <a:p>
            <a:pPr marL="0" lvl="0" indent="0" algn="l" rtl="0">
              <a:lnSpc>
                <a:spcPct val="100000"/>
              </a:lnSpc>
              <a:spcBef>
                <a:spcPts val="0"/>
              </a:spcBef>
              <a:spcAft>
                <a:spcPts val="600"/>
              </a:spcAft>
              <a:buSzPts val="1400"/>
              <a:buNone/>
            </a:pPr>
            <a:r>
              <a:rPr lang="en-US" dirty="0"/>
              <a:t>Quick check: if one ISR takes longer than its timer period, what happens to the other interrupts and the main loop? Next we look at diagrams of how processes and threads are organized in memory.</a:t>
            </a:r>
          </a:p>
        </p:txBody>
      </p:sp>
      <p:sp>
        <p:nvSpPr>
          <p:cNvPr id="116" name="Google Shape;116;p29:notes">
            <a:extLst>
              <a:ext uri="{FF2B5EF4-FFF2-40B4-BE49-F238E27FC236}">
                <a16:creationId xmlns:a16="http://schemas.microsoft.com/office/drawing/2014/main" id="{71D8DD64-FAD9-0EC3-C020-9E28741F0B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596382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3F663CD-3692-7A0D-8804-B817EB4A42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3FCF36B-3AB6-D3F3-2D53-66F59325835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two diagrams side by side, labeled "Singlethreaded process #1" and "Singlethreaded process #2." Each diagram is a tall box in three layers. The top layer, shaded blue, holds three blocks: code, heap, and files. The middle layer, shaded red, holds registers, program counter, and stack. The bottom layer contains one wavy line with an arrow labeled "Thread." The two boxes are identical and completely separate: nothing is shared between them. The source link at the bottom is https://kuleuven-diepenbeek.github.io/osc-course/ch6-tasks/threads/.</a:t>
            </a:r>
          </a:p>
          <a:p>
            <a:pPr marL="0" lvl="0" indent="0" algn="l" rtl="0">
              <a:lnSpc>
                <a:spcPct val="100000"/>
              </a:lnSpc>
              <a:spcBef>
                <a:spcPts val="0"/>
              </a:spcBef>
              <a:spcAft>
                <a:spcPts val="600"/>
              </a:spcAft>
              <a:buSzPts val="1400"/>
              <a:buNone/>
            </a:pPr>
            <a:r>
              <a:rPr lang="en-US" dirty="0"/>
              <a:t>The previous slides covered scheduling on cores, including the Red Board's single CPU1. This slide defines the difference between a process and a thread. A process is a running program that the operating system gives its own private resources. Those resources are the code (the compiled instructions), the heap (memory allocated at run time, for example with malloc), and the files (open files and other handles).</a:t>
            </a:r>
          </a:p>
          <a:p>
            <a:pPr marL="0" lvl="0" indent="0" algn="l" rtl="0">
              <a:lnSpc>
                <a:spcPct val="100000"/>
              </a:lnSpc>
              <a:spcBef>
                <a:spcPts val="0"/>
              </a:spcBef>
              <a:spcAft>
                <a:spcPts val="600"/>
              </a:spcAft>
              <a:buSzPts val="1400"/>
              <a:buNone/>
            </a:pPr>
            <a:r>
              <a:rPr lang="en-US" dirty="0"/>
              <a:t>A thread is the actual path of execution inside a process. Each thread needs its own registers, its own program counter (the address of the next instruction to run), and its own stack (local variables and function call history).</a:t>
            </a:r>
          </a:p>
          <a:p>
            <a:pPr marL="0" lvl="0" indent="0" algn="l" rtl="0">
              <a:lnSpc>
                <a:spcPct val="100000"/>
              </a:lnSpc>
              <a:spcBef>
                <a:spcPts val="0"/>
              </a:spcBef>
              <a:spcAft>
                <a:spcPts val="600"/>
              </a:spcAft>
              <a:buSzPts val="1400"/>
              <a:buNone/>
            </a:pPr>
            <a:r>
              <a:rPr lang="en-US" dirty="0"/>
              <a:t>Here each process has exactly one thread. Because the two processes share nothing, a global variable in process #1 is invisible to process #2, and a crash in one does not corrupt the other. On the Raspberry Pi, for example, you could run a LiDAR program and a vision program as separate processes for this isolation. The cost is that they cannot simply share data. They need inter-process communication, which comes later in this lecture.</a:t>
            </a:r>
          </a:p>
          <a:p>
            <a:pPr marL="0" lvl="0" indent="0" algn="l" rtl="0">
              <a:lnSpc>
                <a:spcPct val="100000"/>
              </a:lnSpc>
              <a:spcBef>
                <a:spcPts val="0"/>
              </a:spcBef>
              <a:spcAft>
                <a:spcPts val="600"/>
              </a:spcAft>
              <a:buSzPts val="1400"/>
              <a:buNone/>
            </a:pPr>
            <a:r>
              <a:rPr lang="en-US" dirty="0"/>
              <a:t>Quick check: if process #1 changes a variable, does process #2 see the new value? (No.) The next slide shows what changes when one process holds several threads.</a:t>
            </a:r>
          </a:p>
        </p:txBody>
      </p:sp>
      <p:sp>
        <p:nvSpPr>
          <p:cNvPr id="116" name="Google Shape;116;p29:notes">
            <a:extLst>
              <a:ext uri="{FF2B5EF4-FFF2-40B4-BE49-F238E27FC236}">
                <a16:creationId xmlns:a16="http://schemas.microsoft.com/office/drawing/2014/main" id="{6B253B73-414A-8F94-9B23-9B2A4C35B57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061855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861E7F0-FD22-E2E0-E153-6EF75F65AF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6FA83DA-0842-1C28-DD3C-D733668ACC8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compares two processes side by side. On the left is a single-threaded process. Its top section, shaded blue, holds the code, the heap and the open files. Below that, shaded red, is one set of registers, a program counter and a stack. At the bottom, one wavy line labeled "Thread" represents the single path of execution. On the right is a multithreaded process with 3 threads. The blue section of code, heap and files appears only once and spans the whole width, because all three threads share it. The red section is split into three columns, each with its own registers, program counter and stack, and each column has its own wavy thread line.</a:t>
            </a:r>
          </a:p>
          <a:p>
            <a:pPr marL="0" lvl="0" indent="0" algn="l" rtl="0">
              <a:lnSpc>
                <a:spcPct val="100000"/>
              </a:lnSpc>
              <a:spcBef>
                <a:spcPts val="0"/>
              </a:spcBef>
              <a:spcAft>
                <a:spcPts val="600"/>
              </a:spcAft>
              <a:buSzPts val="1400"/>
              <a:buNone/>
            </a:pPr>
            <a:r>
              <a:rPr lang="en-US" dirty="0"/>
              <a:t>The key idea is what threads share and what they keep private. A thread is one stream of execution. The program counter tracks where that thread is in the code. The registers hold its working values, and the stack holds its local variables and function calls. Each thread needs these to run independently. The code, the heap (dynamically allocated memory), global variables and open files all belong to the process, so every thread can read and write them.</a:t>
            </a:r>
          </a:p>
          <a:p>
            <a:pPr marL="0" lvl="0" indent="0" algn="l" rtl="0">
              <a:lnSpc>
                <a:spcPct val="100000"/>
              </a:lnSpc>
              <a:spcBef>
                <a:spcPts val="0"/>
              </a:spcBef>
              <a:spcAft>
                <a:spcPts val="600"/>
              </a:spcAft>
              <a:buSzPts val="1400"/>
              <a:buNone/>
            </a:pPr>
            <a:r>
              <a:rPr lang="en-US" dirty="0"/>
              <a:t>Compare this with the previous slide. There, two separate processes shared nothing. Threads inside one process are cheaper to create and can communicate simply by touching the same memory.</a:t>
            </a:r>
          </a:p>
          <a:p>
            <a:pPr marL="0" lvl="0" indent="0" algn="l" rtl="0">
              <a:lnSpc>
                <a:spcPct val="100000"/>
              </a:lnSpc>
              <a:spcBef>
                <a:spcPts val="0"/>
              </a:spcBef>
              <a:spcAft>
                <a:spcPts val="600"/>
              </a:spcAft>
              <a:buSzPts val="1400"/>
              <a:buNone/>
            </a:pPr>
            <a:r>
              <a:rPr lang="en-US" dirty="0"/>
              <a:t>That shared memory is both the benefit and the danger. On the next slide, the pthread example has two threads updating one global variable, counter. As you read the code, ask yourself which value each thread will print, and why.</a:t>
            </a:r>
          </a:p>
          <a:p>
            <a:pPr marL="0" lvl="0" indent="0" algn="l" rtl="0">
              <a:lnSpc>
                <a:spcPct val="100000"/>
              </a:lnSpc>
              <a:spcBef>
                <a:spcPts val="0"/>
              </a:spcBef>
              <a:spcAft>
                <a:spcPts val="600"/>
              </a:spcAft>
              <a:buSzPts val="1400"/>
              <a:buNone/>
            </a:pPr>
            <a:r>
              <a:rPr lang="en-US" dirty="0"/>
              <a:t>The diagram comes from https://kuleuven-diepenbeek.github.io/osc-course/ch6-tasks/threads/</a:t>
            </a:r>
          </a:p>
        </p:txBody>
      </p:sp>
      <p:sp>
        <p:nvSpPr>
          <p:cNvPr id="116" name="Google Shape;116;p29:notes">
            <a:extLst>
              <a:ext uri="{FF2B5EF4-FFF2-40B4-BE49-F238E27FC236}">
                <a16:creationId xmlns:a16="http://schemas.microsoft.com/office/drawing/2014/main" id="{A23FC7E3-34D9-9DE0-F30E-001E54D3555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5055461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1785DC7-361D-056A-EF17-EAC2EA64501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98FA0E-4CFE-C301-CB69-D660F579FFA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puts the previous diagram into code: a complete C program that uses the POSIX threads library, pthreads, to start two threads inside one process. Remember that threads in a process share the code, heap and global data, while each thread has its own registers, program counter and stack.</a:t>
            </a:r>
          </a:p>
          <a:p>
            <a:pPr marL="0" lvl="0" indent="0" algn="l" rtl="0">
              <a:lnSpc>
                <a:spcPct val="100000"/>
              </a:lnSpc>
              <a:spcBef>
                <a:spcPts val="0"/>
              </a:spcBef>
              <a:spcAft>
                <a:spcPts val="600"/>
              </a:spcAft>
              <a:buSzPts val="1400"/>
              <a:buNone/>
            </a:pPr>
            <a:r>
              <a:rPr lang="en-US" dirty="0"/>
              <a:t>On the left are the includes, among them pthread.h, and a global variable, int counter. Below that is the thread function, startThreadJob. It increments counter by one, prints "Job %d started" with the current counter value, then spins in an empty for loop from 0 up to 0xFFFFFFFF, about 4.3 billion iterations. The loop does nothing; it only keeps the thread busy for a while. Then it prints "Job %d finished" and returns NULL.</a:t>
            </a:r>
          </a:p>
          <a:p>
            <a:pPr marL="0" lvl="0" indent="0" algn="l" rtl="0">
              <a:lnSpc>
                <a:spcPct val="100000"/>
              </a:lnSpc>
              <a:spcBef>
                <a:spcPts val="0"/>
              </a:spcBef>
              <a:spcAft>
                <a:spcPts val="600"/>
              </a:spcAft>
              <a:buSzPts val="1400"/>
              <a:buNone/>
            </a:pPr>
            <a:r>
              <a:rPr lang="en-US" dirty="0"/>
              <a:t>On the right is main. It declares an array of two pthread_t handles and sets counter to 0. A while loop calls pthread_create twice. Its four arguments are a pointer to the thread handle, the thread attributes (NULL means use the defaults), the function to run, and an argument for that function (NULL here). A non-zero return value is an error, which the program prints with strerror. Finally main calls pthread_join on each handle. pthread_join blocks the main thread until the named thread ends, and it returns immediately if that thread has already finished.</a:t>
            </a:r>
          </a:p>
          <a:p>
            <a:pPr marL="0" lvl="0" indent="0" algn="l" rtl="0">
              <a:lnSpc>
                <a:spcPct val="100000"/>
              </a:lnSpc>
              <a:spcBef>
                <a:spcPts val="0"/>
              </a:spcBef>
              <a:spcAft>
                <a:spcPts val="600"/>
              </a:spcAft>
              <a:buSzPts val="1400"/>
              <a:buNone/>
            </a:pPr>
            <a:r>
              <a:rPr lang="en-US" dirty="0"/>
              <a:t>Think about what this prints. Both threads read the same global counter. By the time each one finishes its long loop, counter is already 2, so you typically see "Job 1 started", "Job 2 started", and then "Job 2 finished" twice. That is shared memory at work.</a:t>
            </a:r>
          </a:p>
          <a:p>
            <a:pPr marL="0" lvl="0" indent="0" algn="l" rtl="0">
              <a:lnSpc>
                <a:spcPct val="100000"/>
              </a:lnSpc>
              <a:spcBef>
                <a:spcPts val="0"/>
              </a:spcBef>
              <a:spcAft>
                <a:spcPts val="600"/>
              </a:spcAft>
              <a:buSzPts val="1400"/>
              <a:buNone/>
            </a:pPr>
            <a:r>
              <a:rPr lang="en-US" dirty="0"/>
              <a:t>Also, counter += 1 is not atomic. Two threads updating it at the same moment can lose an update. This sets up the race conditions and mutexes later in the lecture.</a:t>
            </a:r>
          </a:p>
          <a:p>
            <a:pPr marL="0" lvl="0" indent="0" algn="l" rtl="0">
              <a:lnSpc>
                <a:spcPct val="100000"/>
              </a:lnSpc>
              <a:spcBef>
                <a:spcPts val="0"/>
              </a:spcBef>
              <a:spcAft>
                <a:spcPts val="600"/>
              </a:spcAft>
              <a:buSzPts val="1400"/>
              <a:buNone/>
            </a:pPr>
            <a:r>
              <a:rPr lang="en-US" dirty="0"/>
              <a:t>To build the program, compile it with gcc file.c -pthread.</a:t>
            </a:r>
          </a:p>
        </p:txBody>
      </p:sp>
      <p:sp>
        <p:nvSpPr>
          <p:cNvPr id="116" name="Google Shape;116;p29:notes">
            <a:extLst>
              <a:ext uri="{FF2B5EF4-FFF2-40B4-BE49-F238E27FC236}">
                <a16:creationId xmlns:a16="http://schemas.microsoft.com/office/drawing/2014/main" id="{014BA3CC-822A-4260-79EB-58E474B265B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1014941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EAF209A-C3E5-88C9-A8B5-30F35202407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F06E5FF-F3A1-DC4A-82A3-3F9774BB197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the "Program vs Process vs Thread" infographic from blog.bytebytego.com. It steps back from the pthread code on the previous slide and lays out the three terms in order.</a:t>
            </a:r>
          </a:p>
          <a:p>
            <a:pPr marL="0" lvl="0" indent="0" algn="l" rtl="0">
              <a:lnSpc>
                <a:spcPct val="100000"/>
              </a:lnSpc>
              <a:spcBef>
                <a:spcPts val="0"/>
              </a:spcBef>
              <a:spcAft>
                <a:spcPts val="600"/>
              </a:spcAft>
              <a:buSzPts val="1400"/>
              <a:buNone/>
            </a:pPr>
            <a:r>
              <a:rPr lang="en-US" dirty="0"/>
              <a:t>The top left panel, labeled "Program (Disk)," shows an applications folder: Image Capture, iMovie, IntelliJ IDEA, Keynote, OneNote, Outlook, MindNode, Photo Booth, Photos, PlayOnMac, Podcasts, and Microsoft Word, which is highlighted. A program is just a file of instructions sitting on disk. It does nothing until you run it.</a:t>
            </a:r>
          </a:p>
          <a:p>
            <a:pPr marL="0" lvl="0" indent="0" algn="l" rtl="0">
              <a:lnSpc>
                <a:spcPct val="100000"/>
              </a:lnSpc>
              <a:spcBef>
                <a:spcPts val="0"/>
              </a:spcBef>
              <a:spcAft>
                <a:spcPts val="600"/>
              </a:spcAft>
              <a:buSzPts val="1400"/>
              <a:buNone/>
            </a:pPr>
            <a:r>
              <a:rPr lang="en-US" dirty="0"/>
              <a:t>An arrow leads to the top right panel, labeled "Process (RAM)," which shows Windows Task Manager. Total CPU use is 59 percent and memory use is 48 percent. Five apps are listed:</a:t>
            </a:r>
          </a:p>
          <a:p>
            <a:pPr marL="0" lvl="0" indent="0" algn="l" rtl="0">
              <a:lnSpc>
                <a:spcPct val="100000"/>
              </a:lnSpc>
              <a:spcBef>
                <a:spcPts val="0"/>
              </a:spcBef>
              <a:spcAft>
                <a:spcPts val="600"/>
              </a:spcAft>
              <a:buSzPts val="1400"/>
              <a:buNone/>
            </a:pPr>
            <a:r>
              <a:rPr lang="en-US" dirty="0"/>
              <a:t>Firefox (7) uses 1.5 percent CPU and 396.8 MB of memory.</a:t>
            </a:r>
          </a:p>
          <a:p>
            <a:pPr marL="0" lvl="0" indent="0" algn="l" rtl="0">
              <a:lnSpc>
                <a:spcPct val="100000"/>
              </a:lnSpc>
              <a:spcBef>
                <a:spcPts val="0"/>
              </a:spcBef>
              <a:spcAft>
                <a:spcPts val="600"/>
              </a:spcAft>
              <a:buSzPts val="1400"/>
              <a:buNone/>
            </a:pPr>
            <a:r>
              <a:rPr lang="en-US" dirty="0"/>
              <a:t>Google Chrome (20) uses 21.2 percent CPU and 700.0 MB.</a:t>
            </a:r>
          </a:p>
          <a:p>
            <a:pPr marL="0" lvl="0" indent="0" algn="l" rtl="0">
              <a:lnSpc>
                <a:spcPct val="100000"/>
              </a:lnSpc>
              <a:spcBef>
                <a:spcPts val="0"/>
              </a:spcBef>
              <a:spcAft>
                <a:spcPts val="600"/>
              </a:spcAft>
              <a:buSzPts val="1400"/>
              <a:buNone/>
            </a:pPr>
            <a:r>
              <a:rPr lang="en-US" dirty="0"/>
              <a:t>Microsoft Word, highlighted, uses 0 percent CPU and 158.1 MB.</a:t>
            </a:r>
          </a:p>
          <a:p>
            <a:pPr marL="0" lvl="0" indent="0" algn="l" rtl="0">
              <a:lnSpc>
                <a:spcPct val="100000"/>
              </a:lnSpc>
              <a:spcBef>
                <a:spcPts val="0"/>
              </a:spcBef>
              <a:spcAft>
                <a:spcPts val="600"/>
              </a:spcAft>
              <a:buSzPts val="1400"/>
              <a:buNone/>
            </a:pPr>
            <a:r>
              <a:rPr lang="en-US" dirty="0"/>
              <a:t>Snipping Tool uses 2.8 percent CPU and 5.2 MB.</a:t>
            </a:r>
          </a:p>
          <a:p>
            <a:pPr marL="0" lvl="0" indent="0" algn="l" rtl="0">
              <a:lnSpc>
                <a:spcPct val="100000"/>
              </a:lnSpc>
              <a:spcBef>
                <a:spcPts val="0"/>
              </a:spcBef>
              <a:spcAft>
                <a:spcPts val="600"/>
              </a:spcAft>
              <a:buSzPts val="1400"/>
              <a:buNone/>
            </a:pPr>
            <a:r>
              <a:rPr lang="en-US" dirty="0"/>
              <a:t>Task Manager uses 0.4 percent CPU and 26.5 MB.</a:t>
            </a:r>
          </a:p>
          <a:p>
            <a:pPr marL="0" lvl="0" indent="0" algn="l" rtl="0">
              <a:lnSpc>
                <a:spcPct val="100000"/>
              </a:lnSpc>
              <a:spcBef>
                <a:spcPts val="0"/>
              </a:spcBef>
              <a:spcAft>
                <a:spcPts val="600"/>
              </a:spcAft>
              <a:buSzPts val="1400"/>
              <a:buNone/>
            </a:pPr>
            <a:r>
              <a:rPr lang="en-US" dirty="0"/>
              <a:t>Once Word is launched, it becomes a process: a running instance with its own memory in RAM.</a:t>
            </a:r>
          </a:p>
          <a:p>
            <a:pPr marL="0" lvl="0" indent="0" algn="l" rtl="0">
              <a:lnSpc>
                <a:spcPct val="100000"/>
              </a:lnSpc>
              <a:spcBef>
                <a:spcPts val="0"/>
              </a:spcBef>
              <a:spcAft>
                <a:spcPts val="600"/>
              </a:spcAft>
              <a:buSzPts val="1400"/>
              <a:buNone/>
            </a:pPr>
            <a:r>
              <a:rPr lang="en-US" dirty="0"/>
              <a:t>The bottom flow diagram has three numbered steps. In step 1, the program on disk holds instructions 1 through n. In step 2, one program can be loaded into RAM as several processes. In step 3, each process contains one or more threads. Those threads share the process's code and heap but each has its own stack and registers, as you saw two slides ago.</a:t>
            </a:r>
          </a:p>
          <a:p>
            <a:pPr marL="0" lvl="0" indent="0" algn="l" rtl="0">
              <a:lnSpc>
                <a:spcPct val="100000"/>
              </a:lnSpc>
              <a:spcBef>
                <a:spcPts val="0"/>
              </a:spcBef>
              <a:spcAft>
                <a:spcPts val="600"/>
              </a:spcAft>
              <a:buSzPts val="1400"/>
              <a:buNone/>
            </a:pPr>
            <a:r>
              <a:rPr lang="en-US" dirty="0"/>
              <a:t>Notice the counts in parentheses. Chrome (20) means Chrome is running as many separate processes, not one. That design choice sets up the next slides on why you would want multiple processes.</a:t>
            </a:r>
          </a:p>
          <a:p>
            <a:pPr marL="0" lvl="0" indent="0" algn="l" rtl="0">
              <a:lnSpc>
                <a:spcPct val="100000"/>
              </a:lnSpc>
              <a:spcBef>
                <a:spcPts val="0"/>
              </a:spcBef>
              <a:spcAft>
                <a:spcPts val="600"/>
              </a:spcAft>
              <a:buSzPts val="1400"/>
              <a:buNone/>
            </a:pPr>
            <a:r>
              <a:rPr lang="en-US" dirty="0"/>
              <a:t>On your robot, the same ideas apply on the Raspberry Pi. Each program you launch is a process, and inside it you may run threads for tasks such as reading the LiDAR and talking to the Red Board.</a:t>
            </a:r>
          </a:p>
          <a:p>
            <a:pPr marL="0" lvl="0" indent="0" algn="l" rtl="0">
              <a:lnSpc>
                <a:spcPct val="100000"/>
              </a:lnSpc>
              <a:spcBef>
                <a:spcPts val="0"/>
              </a:spcBef>
              <a:spcAft>
                <a:spcPts val="600"/>
              </a:spcAft>
              <a:buSzPts val="1400"/>
              <a:buNone/>
            </a:pPr>
            <a:r>
              <a:rPr lang="en-US" dirty="0"/>
              <a:t>Quick check: if you double-click Word twice, how many programs exist, and how many processes? The answer is one program and two processes.</a:t>
            </a:r>
          </a:p>
        </p:txBody>
      </p:sp>
      <p:sp>
        <p:nvSpPr>
          <p:cNvPr id="116" name="Google Shape;116;p29:notes">
            <a:extLst>
              <a:ext uri="{FF2B5EF4-FFF2-40B4-BE49-F238E27FC236}">
                <a16:creationId xmlns:a16="http://schemas.microsoft.com/office/drawing/2014/main" id="{7018F9CC-19CE-DB8D-07AB-955AC6C515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7601229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73796A-F94D-83F8-74F6-9B01D1C6B22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3B333B4-DED4-92A9-6CCB-C71C099D3D7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embeds a YouTube video by Geekific titled "What is a Thread? | Threads, Process, Program, Parallelism and Scheduler Explained." The thumbnail is bold yellow and orange text on black that asks three questions: What is a Thread? What is a Process? What is a Program?</a:t>
            </a:r>
          </a:p>
          <a:p>
            <a:pPr marL="0" lvl="0" indent="0" algn="l" rtl="0">
              <a:lnSpc>
                <a:spcPct val="100000"/>
              </a:lnSpc>
              <a:spcBef>
                <a:spcPts val="0"/>
              </a:spcBef>
              <a:spcAft>
                <a:spcPts val="600"/>
              </a:spcAft>
              <a:buSzPts val="1400"/>
              <a:buNone/>
            </a:pPr>
            <a:r>
              <a:rPr lang="en-US" dirty="0"/>
              <a:t>The video reinforces the previous infographic: a program is instructions on disk, a process is that program running in RAM, and each process holds one or more threads that the scheduler runs. Next, we ask why you would choose multiple processes or multiple threads.</a:t>
            </a:r>
          </a:p>
        </p:txBody>
      </p:sp>
      <p:sp>
        <p:nvSpPr>
          <p:cNvPr id="116" name="Google Shape;116;p29:notes">
            <a:extLst>
              <a:ext uri="{FF2B5EF4-FFF2-40B4-BE49-F238E27FC236}">
                <a16:creationId xmlns:a16="http://schemas.microsoft.com/office/drawing/2014/main" id="{C7575118-4613-D248-7832-FC3BD3E0178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5211452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796F3BF-FA49-7AD2-61F6-DE0E30B3D49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D5B06B-C833-611D-D9CB-16485A7FC30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Threads and Processes. It asks: why would we want multiple processes? It gives five reasons, each a bold heading with a short explanation.</a:t>
            </a:r>
          </a:p>
          <a:p>
            <a:pPr marL="0" lvl="0" indent="0" algn="l" rtl="0">
              <a:lnSpc>
                <a:spcPct val="100000"/>
              </a:lnSpc>
              <a:spcBef>
                <a:spcPts val="0"/>
              </a:spcBef>
              <a:spcAft>
                <a:spcPts val="600"/>
              </a:spcAft>
              <a:buSzPts val="1400"/>
              <a:buNone/>
            </a:pPr>
            <a:r>
              <a:rPr lang="en-US" dirty="0"/>
              <a:t>Now that the video and the infographic have shown how a program on disk becomes one or more processes, each holding one or more threads, the question is when you would split work into separate processes instead of threads.</a:t>
            </a:r>
          </a:p>
          <a:p>
            <a:pPr marL="0" lvl="0" indent="0" algn="l" rtl="0">
              <a:lnSpc>
                <a:spcPct val="100000"/>
              </a:lnSpc>
              <a:spcBef>
                <a:spcPts val="0"/>
              </a:spcBef>
              <a:spcAft>
                <a:spcPts val="600"/>
              </a:spcAft>
              <a:buSzPts val="1400"/>
              <a:buNone/>
            </a:pPr>
            <a:r>
              <a:rPr lang="en-US" dirty="0"/>
              <a:t>Fault isolation and robustness: each process has its own virtual address space, so a crash or memory bug in one process typically cannot corrupt another process's heap or stack. One failure does not bring everything down.</a:t>
            </a:r>
          </a:p>
          <a:p>
            <a:pPr marL="0" lvl="0" indent="0" algn="l" rtl="0">
              <a:lnSpc>
                <a:spcPct val="100000"/>
              </a:lnSpc>
              <a:spcBef>
                <a:spcPts val="0"/>
              </a:spcBef>
              <a:spcAft>
                <a:spcPts val="600"/>
              </a:spcAft>
              <a:buSzPts val="1400"/>
              <a:buNone/>
            </a:pPr>
            <a:r>
              <a:rPr lang="en-US" dirty="0"/>
              <a:t>Scalability across distributed systems: threads share local memory, so they are tied to one machine. Processes can be spread across a cluster or network.</a:t>
            </a:r>
          </a:p>
          <a:p>
            <a:pPr marL="0" lvl="0" indent="0" algn="l" rtl="0">
              <a:lnSpc>
                <a:spcPct val="100000"/>
              </a:lnSpc>
              <a:spcBef>
                <a:spcPts val="0"/>
              </a:spcBef>
              <a:spcAft>
                <a:spcPts val="600"/>
              </a:spcAft>
              <a:buSzPts val="1400"/>
              <a:buNone/>
            </a:pPr>
            <a:r>
              <a:rPr lang="en-US" dirty="0"/>
              <a:t>Security and privilege separation: you can apply the Principle of Least Privilege, meaning each piece of software gets only the permissions it needs. In a web browser, for example, the rendering engine runs sandboxed with restricted rights, while system services run with elevated rights.</a:t>
            </a:r>
          </a:p>
          <a:p>
            <a:pPr marL="0" lvl="0" indent="0" algn="l" rtl="0">
              <a:lnSpc>
                <a:spcPct val="100000"/>
              </a:lnSpc>
              <a:spcBef>
                <a:spcPts val="0"/>
              </a:spcBef>
              <a:spcAft>
                <a:spcPts val="600"/>
              </a:spcAft>
              <a:buSzPts val="1400"/>
              <a:buNone/>
            </a:pPr>
            <a:r>
              <a:rPr lang="en-US" dirty="0"/>
              <a:t>Enhanced security and isolation: because processes do not share memory by default, one cannot accidentally or maliciously read or overwrite another's data. This matters for untrusted code or for keeping cryptographic operations away from user-interface code.</a:t>
            </a:r>
          </a:p>
          <a:p>
            <a:pPr marL="0" lvl="0" indent="0" algn="l" rtl="0">
              <a:lnSpc>
                <a:spcPct val="100000"/>
              </a:lnSpc>
              <a:spcBef>
                <a:spcPts val="0"/>
              </a:spcBef>
              <a:spcAft>
                <a:spcPts val="600"/>
              </a:spcAft>
              <a:buSzPts val="1400"/>
              <a:buNone/>
            </a:pPr>
            <a:r>
              <a:rPr lang="en-US" dirty="0"/>
              <a:t>True hardware parallelism: in Python, the Global Interpreter Lock has traditionally kept threads from running Python code on multiple cores at once. Recent Python versions loosen this. Separate processes each get their own interpreter, so N processes can use N cores.</a:t>
            </a:r>
          </a:p>
          <a:p>
            <a:pPr marL="0" lvl="0" indent="0" algn="l" rtl="0">
              <a:lnSpc>
                <a:spcPct val="100000"/>
              </a:lnSpc>
              <a:spcBef>
                <a:spcPts val="0"/>
              </a:spcBef>
              <a:spcAft>
                <a:spcPts val="600"/>
              </a:spcAft>
              <a:buSzPts val="1400"/>
              <a:buNone/>
            </a:pPr>
            <a:r>
              <a:rPr lang="en-US" dirty="0"/>
              <a:t>On the robot's Raspberry Pi, this is why you might run CPU-heavy vision or LiDAR processing in its own Python process. Next, we look at the reasons to choose threads instead.</a:t>
            </a:r>
          </a:p>
        </p:txBody>
      </p:sp>
      <p:sp>
        <p:nvSpPr>
          <p:cNvPr id="116" name="Google Shape;116;p29:notes">
            <a:extLst>
              <a:ext uri="{FF2B5EF4-FFF2-40B4-BE49-F238E27FC236}">
                <a16:creationId xmlns:a16="http://schemas.microsoft.com/office/drawing/2014/main" id="{561D7DF6-463C-4F05-41B6-9296775B2AB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1437828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C1D9EA-42EA-19C3-2972-5B0785A6C6A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46BBE7E-DA55-F6FC-5C21-126685D3AA2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the counterpart to the previous one. There we asked why you would split work into multiple processes; here the question is "Why would we want multi-threading?" The slide is text only and lists four reasons: responsiveness, resource sharing, economy, and scalability.</a:t>
            </a:r>
          </a:p>
          <a:p>
            <a:pPr marL="0" lvl="0" indent="0" algn="l" rtl="0">
              <a:lnSpc>
                <a:spcPct val="100000"/>
              </a:lnSpc>
              <a:spcBef>
                <a:spcPts val="0"/>
              </a:spcBef>
              <a:spcAft>
                <a:spcPts val="600"/>
              </a:spcAft>
              <a:buSzPts val="1400"/>
              <a:buNone/>
            </a:pPr>
            <a:r>
              <a:rPr lang="en-US" dirty="0"/>
              <a:t>Responsiveness: when one program is split into several threads, it feels more responsive. A dedicated thread can handle user requests while other threads process data in the background, so the program never freezes waiting on a long computation.</a:t>
            </a:r>
          </a:p>
          <a:p>
            <a:pPr marL="0" lvl="0" indent="0" algn="l" rtl="0">
              <a:lnSpc>
                <a:spcPct val="100000"/>
              </a:lnSpc>
              <a:spcBef>
                <a:spcPts val="0"/>
              </a:spcBef>
              <a:spcAft>
                <a:spcPts val="600"/>
              </a:spcAft>
              <a:buSzPts val="1400"/>
              <a:buNone/>
            </a:pPr>
            <a:r>
              <a:rPr lang="en-US" dirty="0"/>
              <a:t>Resource sharing: threads in a program usually need to communicate, and that is easier between threads than between processes. Threads of the same process share the same heap and global variables; only each thread's stack and registers are private. Passing data can be as simple as writing to a shared variable.</a:t>
            </a:r>
          </a:p>
          <a:p>
            <a:pPr marL="0" lvl="0" indent="0" algn="l" rtl="0">
              <a:lnSpc>
                <a:spcPct val="100000"/>
              </a:lnSpc>
              <a:spcBef>
                <a:spcPts val="0"/>
              </a:spcBef>
              <a:spcAft>
                <a:spcPts val="600"/>
              </a:spcAft>
              <a:buSzPts val="1400"/>
              <a:buNone/>
            </a:pPr>
            <a:r>
              <a:rPr lang="en-US" dirty="0"/>
              <a:t>Economy: switching between threads is cheaper than switching between processes, because less per-thread state must be saved and restored. Threads in one process share an address space, so the operating system does not swap memory mappings.</a:t>
            </a:r>
          </a:p>
          <a:p>
            <a:pPr marL="0" lvl="0" indent="0" algn="l" rtl="0">
              <a:lnSpc>
                <a:spcPct val="100000"/>
              </a:lnSpc>
              <a:spcBef>
                <a:spcPts val="0"/>
              </a:spcBef>
              <a:spcAft>
                <a:spcPts val="600"/>
              </a:spcAft>
              <a:buSzPts val="1400"/>
              <a:buNone/>
            </a:pPr>
            <a:r>
              <a:rPr lang="en-US" dirty="0"/>
              <a:t>Scalability: on a multi-core processor, like the Raspberry Pi on your robot, threads can run truly in parallel. A single-threaded process uses only one core at a time.</a:t>
            </a:r>
          </a:p>
          <a:p>
            <a:pPr marL="0" lvl="0" indent="0" algn="l" rtl="0">
              <a:lnSpc>
                <a:spcPct val="100000"/>
              </a:lnSpc>
              <a:spcBef>
                <a:spcPts val="0"/>
              </a:spcBef>
              <a:spcAft>
                <a:spcPts val="600"/>
              </a:spcAft>
              <a:buSzPts val="1400"/>
              <a:buNone/>
            </a:pPr>
            <a:r>
              <a:rPr lang="en-US" dirty="0"/>
              <a:t>Picture the robot: one thread reads LiDAR scans, another runs computer vision, and a third talks to the Red Board over serial, all sharing the latest data.</a:t>
            </a:r>
          </a:p>
          <a:p>
            <a:pPr marL="0" lvl="0" indent="0" algn="l" rtl="0">
              <a:lnSpc>
                <a:spcPct val="100000"/>
              </a:lnSpc>
              <a:spcBef>
                <a:spcPts val="0"/>
              </a:spcBef>
              <a:spcAft>
                <a:spcPts val="600"/>
              </a:spcAft>
              <a:buSzPts val="1400"/>
              <a:buNone/>
            </a:pPr>
            <a:r>
              <a:rPr lang="en-US" dirty="0"/>
              <a:t>Shared memory is the catch. Easy sharing also means two threads can write the same variable at the same time, which leads to the race conditions and locks covered later. Next, though, we look at how processes communicate when they do not share memory.</a:t>
            </a:r>
          </a:p>
        </p:txBody>
      </p:sp>
      <p:sp>
        <p:nvSpPr>
          <p:cNvPr id="116" name="Google Shape;116;p29:notes">
            <a:extLst>
              <a:ext uri="{FF2B5EF4-FFF2-40B4-BE49-F238E27FC236}">
                <a16:creationId xmlns:a16="http://schemas.microsoft.com/office/drawing/2014/main" id="{26EF83F2-35C1-3AB6-E986-0415CE545AB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1549613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2C832DD-EDBE-D80E-D3C1-C49F370016F8}"/>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EF422FDF-85F7-A5C3-B141-000A5785CCC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slide reads "Processes Communication." It uses the orange Illinois template with faint, decorative hand-drawn equations and diagrams in the background.</a:t>
            </a:r>
          </a:p>
          <a:p>
            <a:pPr marL="0" lvl="0" indent="0" algn="l" rtl="0">
              <a:spcBef>
                <a:spcPts val="0"/>
              </a:spcBef>
              <a:spcAft>
                <a:spcPts val="600"/>
              </a:spcAft>
              <a:buNone/>
            </a:pPr>
            <a:r>
              <a:rPr lang="en-US" dirty="0"/>
              <a:t>You have just compared processes and threads. Processes give you isolation, robustness and security because each one has its own virtual address space. That isolation raises a practical problem: how do separate processes share data? This section answers it with inter-process communication through shared memory and message passing. On the robot, this is how a camera process can hand results to a control process.</a:t>
            </a:r>
          </a:p>
        </p:txBody>
      </p:sp>
      <p:sp>
        <p:nvSpPr>
          <p:cNvPr id="102" name="Google Shape;102;p28:notes">
            <a:extLst>
              <a:ext uri="{FF2B5EF4-FFF2-40B4-BE49-F238E27FC236}">
                <a16:creationId xmlns:a16="http://schemas.microsoft.com/office/drawing/2014/main" id="{A606B115-5488-EA09-8DE6-0018E90FC90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9412554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BC0C23D-7A3E-340D-E3E1-D6D3E6AE40E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2A60226-E207-CAEC-F41B-2543BF6A419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question raised on the last slide: if threads share memory for free, how do separate processes talk to each other? Each process lives in its own isolated virtual address space. That isolation is good for security and stability, because one process cannot corrupt another. But sometimes you need to pass information between them, and there are two main ways to do it.</a:t>
            </a:r>
          </a:p>
          <a:p>
            <a:pPr marL="0" lvl="0" indent="0" algn="l" rtl="0">
              <a:lnSpc>
                <a:spcPct val="100000"/>
              </a:lnSpc>
              <a:spcBef>
                <a:spcPts val="0"/>
              </a:spcBef>
              <a:spcAft>
                <a:spcPts val="600"/>
              </a:spcAft>
              <a:buSzPts val="1400"/>
              <a:buNone/>
            </a:pPr>
            <a:r>
              <a:rPr lang="en-US" dirty="0"/>
              <a:t>The first is shared memory. The operating system maps a single block of physical memory into the virtual address spaces of two or more distinct processes, so each one sees the same bytes at some address of its own. The second is message passing, such as signals and pipes. These are streams or interrupts that the operating system mediates.</a:t>
            </a:r>
          </a:p>
          <a:p>
            <a:pPr marL="0" lvl="0" indent="0" algn="l" rtl="0">
              <a:lnSpc>
                <a:spcPct val="100000"/>
              </a:lnSpc>
              <a:spcBef>
                <a:spcPts val="0"/>
              </a:spcBef>
              <a:spcAft>
                <a:spcPts val="600"/>
              </a:spcAft>
              <a:buSzPts val="1400"/>
              <a:buNone/>
            </a:pPr>
            <a:r>
              <a:rPr lang="en-US" dirty="0"/>
              <a:t>The figure, from the KU Leuven course page at https://kuleuven-diepenbeek.github.io/osc-course/ch6-tasks/interprocess/, shows two memory layouts side by side. On the left, for message passing, process A and process B sit at the top of memory. Both have arrows going down into a message queue inside the kernel region, which holds messages m_0, m_1, up to m_n. Every message travels through the OS. On the right, for shared memory, a shared region sits between process A and process B, and both point directly into it. The kernel sits separately at the bottom and is not in the data path.</a:t>
            </a:r>
          </a:p>
          <a:p>
            <a:pPr marL="0" lvl="0" indent="0" algn="l" rtl="0">
              <a:lnSpc>
                <a:spcPct val="100000"/>
              </a:lnSpc>
              <a:spcBef>
                <a:spcPts val="0"/>
              </a:spcBef>
              <a:spcAft>
                <a:spcPts val="600"/>
              </a:spcAft>
              <a:buSzPts val="1400"/>
              <a:buNone/>
            </a:pPr>
            <a:r>
              <a:rPr lang="en-US" dirty="0"/>
              <a:t>The tradeoff is this. Message passing is simpler and safer, but every transfer costs a system call and a copy. Shared memory is very fast, but you must coordinate access yourself, which is why semaphores appear later in this lecture.</a:t>
            </a:r>
          </a:p>
          <a:p>
            <a:pPr marL="0" lvl="0" indent="0" algn="l" rtl="0">
              <a:lnSpc>
                <a:spcPct val="100000"/>
              </a:lnSpc>
              <a:spcBef>
                <a:spcPts val="0"/>
              </a:spcBef>
              <a:spcAft>
                <a:spcPts val="600"/>
              </a:spcAft>
              <a:buSzPts val="1400"/>
              <a:buNone/>
            </a:pPr>
            <a:r>
              <a:rPr lang="en-US" dirty="0"/>
              <a:t>Next, you see C code for a shared-memory producer and consumer, and then the robot's Linux processes connected exactly this way.</a:t>
            </a:r>
          </a:p>
        </p:txBody>
      </p:sp>
      <p:sp>
        <p:nvSpPr>
          <p:cNvPr id="116" name="Google Shape;116;p29:notes">
            <a:extLst>
              <a:ext uri="{FF2B5EF4-FFF2-40B4-BE49-F238E27FC236}">
                <a16:creationId xmlns:a16="http://schemas.microsoft.com/office/drawing/2014/main" id="{E179475F-B13C-0AB5-FD32-A30FB05064D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4972916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1EF16BE-E7AD-D510-84E0-2333A14C811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76B6FF0-0DA6-9C26-8FAF-21E0F83B9ED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puts the shared memory idea from the previous slide into real POSIX C code. It shows two programs side by side. On the left is the producer, a process that writes data into shared memory. On the right is the consumer, a process that reads that data. Both use the same two constants: SIZE = 4096 bytes and the shared memory object name "OS". That common name is how the two separate processes find the same block of memory.</a:t>
            </a:r>
          </a:p>
          <a:p>
            <a:pPr marL="0" lvl="0" indent="0" algn="l" rtl="0">
              <a:lnSpc>
                <a:spcPct val="100000"/>
              </a:lnSpc>
              <a:spcBef>
                <a:spcPts val="0"/>
              </a:spcBef>
              <a:spcAft>
                <a:spcPts val="600"/>
              </a:spcAft>
              <a:buSzPts val="1400"/>
              <a:buNone/>
            </a:pPr>
            <a:r>
              <a:rPr lang="en-US" dirty="0"/>
              <a:t>The producer takes four steps. First, shm_open(name, O_CREAT | O_RDWR, 0666) creates the object for reading and writing, with read and write permission for everyone, and returns a file descriptor. Second, ftruncate(shm_fd, SIZE) sets the object's size to 4096 bytes. A newly created object has size zero, so you must set it before mapping. Third, mmap(0, SIZE, PROT_WRITE, MAP_SHARED, shm_fd, 0) maps the object into the producer's virtual address space and returns a pointer, ptr. MAP_SHARED is the important flag, because it makes your writes visible to other processes. Fourth, sprintf writes "Hello" at ptr, the code advances ptr by strlen("Hello"), and then it writes "World!". The memory now holds "HelloWorld!" with no space between the words.</a:t>
            </a:r>
          </a:p>
          <a:p>
            <a:pPr marL="0" lvl="0" indent="0" algn="l" rtl="0">
              <a:lnSpc>
                <a:spcPct val="100000"/>
              </a:lnSpc>
              <a:spcBef>
                <a:spcPts val="0"/>
              </a:spcBef>
              <a:spcAft>
                <a:spcPts val="600"/>
              </a:spcAft>
              <a:buSzPts val="1400"/>
              <a:buNone/>
            </a:pPr>
            <a:r>
              <a:rPr lang="en-US" dirty="0"/>
              <a:t>The consumer opens the same name with O_RDONLY and maps it with PROT_READ. It then calls printf to print the string, and calls shm_unlink(name) to remove the object. Until something unlinks it, the object stays in /dev/shm even after the producer exits.</a:t>
            </a:r>
          </a:p>
          <a:p>
            <a:pPr marL="0" lvl="0" indent="0" algn="l" rtl="0">
              <a:lnSpc>
                <a:spcPct val="100000"/>
              </a:lnSpc>
              <a:spcBef>
                <a:spcPts val="0"/>
              </a:spcBef>
              <a:spcAft>
                <a:spcPts val="600"/>
              </a:spcAft>
              <a:buSzPts val="1400"/>
              <a:buNone/>
            </a:pPr>
            <a:r>
              <a:rPr lang="en-US" dirty="0"/>
              <a:t>Notice that nothing here coordinates timing. You must run the consumer after the producer has finished writing. That gap is why later slides add semaphores. The next slide shows the robot's own processes sharing memory in this same way.</a:t>
            </a:r>
          </a:p>
        </p:txBody>
      </p:sp>
      <p:sp>
        <p:nvSpPr>
          <p:cNvPr id="116" name="Google Shape;116;p29:notes">
            <a:extLst>
              <a:ext uri="{FF2B5EF4-FFF2-40B4-BE49-F238E27FC236}">
                <a16:creationId xmlns:a16="http://schemas.microsoft.com/office/drawing/2014/main" id="{B1B06122-9F8C-53D3-2CDF-356F26C978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7589798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5532C13-EFFC-5ADE-CD90-9349457A62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65249CB-BE83-6831-A5DC-01168B77DB4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real process architecture running on your robot's Raspberry Pi, built on the POSIX shared memory you just saw in the producer and consumer code. Each blue box is a separate Linux process. Each green box is a named shared memory object with the data layout it holds. Each red circle is a named semaphore.</a:t>
            </a:r>
          </a:p>
          <a:p>
            <a:pPr marL="0" lvl="0" indent="0" algn="l" rtl="0">
              <a:lnSpc>
                <a:spcPct val="100000"/>
              </a:lnSpc>
              <a:spcBef>
                <a:spcPts val="0"/>
              </a:spcBef>
              <a:spcAft>
                <a:spcPts val="600"/>
              </a:spcAft>
              <a:buSzPts val="1400"/>
              <a:buNone/>
            </a:pPr>
            <a:r>
              <a:rPr lang="en-US" dirty="0"/>
              <a:t>At the center is serial_COMandOpti, the central hub. It is the only process that talks to the RedBoard, the F28379D, over a two-way serial or UDP link. LVCOMApp, a TCP/IP server, writes 32 chars and 8 floats into /sharedmem-LVCOMApp-readfrom for the hub. The hub writes the same layout back into /sharedmem-LVCOMApp-sendto. LinuxCMDApp, the command-line control, writes 44 chars and 11 floats into /sharedmem-LINUXCMDApp-recvfrom.</a:t>
            </a:r>
          </a:p>
          <a:p>
            <a:pPr marL="0" lvl="0" indent="0" algn="l" rtl="0">
              <a:lnSpc>
                <a:spcPct val="100000"/>
              </a:lnSpc>
              <a:spcBef>
                <a:spcPts val="0"/>
              </a:spcBef>
              <a:spcAft>
                <a:spcPts val="600"/>
              </a:spcAft>
              <a:buSzPts val="1400"/>
              <a:buNone/>
            </a:pPr>
            <a:r>
              <a:rPr lang="en-US" dirty="0"/>
              <a:t>For path planning, the hub writes the robot pose (float x, y), the destination row and column (shorts destrow and destcol), and a 22-char condensed map into /sharedmem-AstarApp-sendto-pose-obstacle. AstarApp, the A-star path planner, answers with an 81-char path in /sharedmem-AstarApp-readfrom-new-path. Separately, ladar_server reads the LiDAR on UART ttyAMA2 and writes 228 float distances into /posix-shared-mem-ladar-dist.</a:t>
            </a:r>
          </a:p>
          <a:p>
            <a:pPr marL="0" lvl="0" indent="0" algn="l" rtl="0">
              <a:lnSpc>
                <a:spcPct val="100000"/>
              </a:lnSpc>
              <a:spcBef>
                <a:spcPts val="0"/>
              </a:spcBef>
              <a:spcAft>
                <a:spcPts val="600"/>
              </a:spcAft>
              <a:buSzPts val="1400"/>
              <a:buNone/>
            </a:pPr>
            <a:r>
              <a:rPr lang="en-US" dirty="0"/>
              <a:t>The pattern is the same everywhere. A writer fills a shared region and then calls sem_post on its matching semaphore, for example sem-new-ladar-dist. That tells the reader that fresh data is ready. Shared memory by itself gives no such notification. Semaphores come back in detail at the end of the lecture.</a:t>
            </a:r>
          </a:p>
          <a:p>
            <a:pPr marL="0" lvl="0" indent="0" algn="l" rtl="0">
              <a:lnSpc>
                <a:spcPct val="100000"/>
              </a:lnSpc>
              <a:spcBef>
                <a:spcPts val="0"/>
              </a:spcBef>
              <a:spcAft>
                <a:spcPts val="600"/>
              </a:spcAft>
              <a:buSzPts val="1400"/>
              <a:buNone/>
            </a:pPr>
            <a:r>
              <a:rPr lang="en-US" dirty="0"/>
              <a:t>Quick check: why does only one process own the RedBoard link? Next, you look at the other IPC family, message passing, starting with signals.</a:t>
            </a:r>
          </a:p>
        </p:txBody>
      </p:sp>
      <p:sp>
        <p:nvSpPr>
          <p:cNvPr id="116" name="Google Shape;116;p29:notes">
            <a:extLst>
              <a:ext uri="{FF2B5EF4-FFF2-40B4-BE49-F238E27FC236}">
                <a16:creationId xmlns:a16="http://schemas.microsoft.com/office/drawing/2014/main" id="{74654209-CB08-9BBE-A464-70CD128E0DB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5275952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115FC0-2FC1-E1CD-E97D-261AA3E0740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0A1985A-4D6C-CE71-05F5-19C81780869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moves from shared memory to message passing, which comes in two mechanisms: signals and pipes. Signals come first, and pipes follow in a couple of slides.</a:t>
            </a:r>
          </a:p>
          <a:p>
            <a:pPr marL="0" lvl="0" indent="0" algn="l" rtl="0">
              <a:lnSpc>
                <a:spcPct val="100000"/>
              </a:lnSpc>
              <a:spcBef>
                <a:spcPts val="0"/>
              </a:spcBef>
              <a:spcAft>
                <a:spcPts val="600"/>
              </a:spcAft>
              <a:buSzPts val="1400"/>
              <a:buNone/>
            </a:pPr>
            <a:r>
              <a:rPr lang="en-US" dirty="0"/>
              <a:t>The slide says signals are the cheapest form of inter-process communication. A signal is just a small integer code that one process sends to another. You send it with the kill() function in C or the kill command in the shell. The name comes from the most common use, terminating a running program, but kill can deliver any signal in the list.</a:t>
            </a:r>
          </a:p>
          <a:p>
            <a:pPr marL="0" lvl="0" indent="0" algn="l" rtl="0">
              <a:lnSpc>
                <a:spcPct val="100000"/>
              </a:lnSpc>
              <a:spcBef>
                <a:spcPts val="0"/>
              </a:spcBef>
              <a:spcAft>
                <a:spcPts val="600"/>
              </a:spcAft>
              <a:buSzPts val="1400"/>
              <a:buNone/>
            </a:pPr>
            <a:r>
              <a:rPr lang="en-US" dirty="0"/>
              <a:t>Below the text is the output of the command kill -L, a table of every signal on a Linux system, numbered 1 through 64. A few are worth remembering:</a:t>
            </a:r>
          </a:p>
          <a:p>
            <a:pPr marL="0" lvl="0" indent="0" algn="l" rtl="0">
              <a:lnSpc>
                <a:spcPct val="100000"/>
              </a:lnSpc>
              <a:spcBef>
                <a:spcPts val="0"/>
              </a:spcBef>
              <a:spcAft>
                <a:spcPts val="600"/>
              </a:spcAft>
              <a:buSzPts val="1400"/>
              <a:buNone/>
            </a:pPr>
            <a:r>
              <a:rPr lang="en-US" dirty="0"/>
              <a:t>SIGINT, number 2, is what Ctrl+C sends.</a:t>
            </a:r>
          </a:p>
          <a:p>
            <a:pPr marL="0" lvl="0" indent="0" algn="l" rtl="0">
              <a:lnSpc>
                <a:spcPct val="100000"/>
              </a:lnSpc>
              <a:spcBef>
                <a:spcPts val="0"/>
              </a:spcBef>
              <a:spcAft>
                <a:spcPts val="600"/>
              </a:spcAft>
              <a:buSzPts val="1400"/>
              <a:buNone/>
            </a:pPr>
            <a:r>
              <a:rPr lang="en-US" dirty="0"/>
              <a:t>SIGTERM, number 15, is the polite "please shut down" that kill sends by default.</a:t>
            </a:r>
          </a:p>
          <a:p>
            <a:pPr marL="0" lvl="0" indent="0" algn="l" rtl="0">
              <a:lnSpc>
                <a:spcPct val="100000"/>
              </a:lnSpc>
              <a:spcBef>
                <a:spcPts val="0"/>
              </a:spcBef>
              <a:spcAft>
                <a:spcPts val="600"/>
              </a:spcAft>
              <a:buSzPts val="1400"/>
              <a:buNone/>
            </a:pPr>
            <a:r>
              <a:rPr lang="en-US" dirty="0"/>
              <a:t>SIGKILL, number 9, ends a process immediately.</a:t>
            </a:r>
          </a:p>
          <a:p>
            <a:pPr marL="0" lvl="0" indent="0" algn="l" rtl="0">
              <a:lnSpc>
                <a:spcPct val="100000"/>
              </a:lnSpc>
              <a:spcBef>
                <a:spcPts val="0"/>
              </a:spcBef>
              <a:spcAft>
                <a:spcPts val="600"/>
              </a:spcAft>
              <a:buSzPts val="1400"/>
              <a:buNone/>
            </a:pPr>
            <a:r>
              <a:rPr lang="en-US" dirty="0"/>
              <a:t>SIGSEGV, number 11, is a segmentation fault from a bad pointer.</a:t>
            </a:r>
          </a:p>
          <a:p>
            <a:pPr marL="0" lvl="0" indent="0" algn="l" rtl="0">
              <a:lnSpc>
                <a:spcPct val="100000"/>
              </a:lnSpc>
              <a:spcBef>
                <a:spcPts val="0"/>
              </a:spcBef>
              <a:spcAft>
                <a:spcPts val="600"/>
              </a:spcAft>
              <a:buSzPts val="1400"/>
              <a:buNone/>
            </a:pPr>
            <a:r>
              <a:rPr lang="en-US" dirty="0"/>
              <a:t>SIGUSR1 and SIGUSR2, numbers 10 and 12, have no predefined meaning, so you can use them for your own purposes.</a:t>
            </a:r>
          </a:p>
          <a:p>
            <a:pPr marL="0" lvl="0" indent="0" algn="l" rtl="0">
              <a:lnSpc>
                <a:spcPct val="100000"/>
              </a:lnSpc>
              <a:spcBef>
                <a:spcPts val="0"/>
              </a:spcBef>
              <a:spcAft>
                <a:spcPts val="600"/>
              </a:spcAft>
              <a:buSzPts val="1400"/>
              <a:buNone/>
            </a:pPr>
            <a:r>
              <a:rPr lang="en-US" dirty="0"/>
              <a:t>The rest of the table, from SIGRTMIN at 34 up to SIGRTMAX at 64, are real-time signals for application use. Numbers 32 and 33 are missing because the threading library reserves them.</a:t>
            </a:r>
          </a:p>
          <a:p>
            <a:pPr marL="0" lvl="0" indent="0" algn="l" rtl="0">
              <a:lnSpc>
                <a:spcPct val="100000"/>
              </a:lnSpc>
              <a:spcBef>
                <a:spcPts val="0"/>
              </a:spcBef>
              <a:spcAft>
                <a:spcPts val="600"/>
              </a:spcAft>
              <a:buSzPts val="1400"/>
              <a:buNone/>
            </a:pPr>
            <a:r>
              <a:rPr lang="en-US" dirty="0"/>
              <a:t>Notice how little a signal carries: only "event number N happened," with no data payload. That is why it is cheap, and also why the robot software on the previous slide moves the actual data through shared memory instead.</a:t>
            </a:r>
          </a:p>
          <a:p>
            <a:pPr marL="0" lvl="0" indent="0" algn="l" rtl="0">
              <a:lnSpc>
                <a:spcPct val="100000"/>
              </a:lnSpc>
              <a:spcBef>
                <a:spcPts val="0"/>
              </a:spcBef>
              <a:spcAft>
                <a:spcPts val="600"/>
              </a:spcAft>
              <a:buSzPts val="1400"/>
              <a:buNone/>
            </a:pPr>
            <a:r>
              <a:rPr lang="en-US" dirty="0"/>
              <a:t>A common mistake is assuming every signal can be caught. SIGKILL and SIGSTOP cannot be caught or ignored.</a:t>
            </a:r>
          </a:p>
          <a:p>
            <a:pPr marL="0" lvl="0" indent="0" algn="l" rtl="0">
              <a:lnSpc>
                <a:spcPct val="100000"/>
              </a:lnSpc>
              <a:spcBef>
                <a:spcPts val="0"/>
              </a:spcBef>
              <a:spcAft>
                <a:spcPts val="600"/>
              </a:spcAft>
              <a:buSzPts val="1400"/>
              <a:buNone/>
            </a:pPr>
            <a:r>
              <a:rPr lang="en-US" dirty="0"/>
              <a:t>The next slide shows how a program installs a handler to catch SIGINT.</a:t>
            </a:r>
          </a:p>
        </p:txBody>
      </p:sp>
      <p:sp>
        <p:nvSpPr>
          <p:cNvPr id="116" name="Google Shape;116;p29:notes">
            <a:extLst>
              <a:ext uri="{FF2B5EF4-FFF2-40B4-BE49-F238E27FC236}">
                <a16:creationId xmlns:a16="http://schemas.microsoft.com/office/drawing/2014/main" id="{064D0932-B1CD-A574-EFF8-7A1A5DCC9B1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2051318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CB4440F-8C28-8A5A-8586-7FA4F09A076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518C88D-679F-E2A0-3725-040F5E5679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a short C program that puts the signal list from the previous slide to use. It includes stdio.h, stdlib.h and signal.h. It defines a function called signalHandler that takes an int named sig, prints "Interrupt handled: %d" with the signal number, and then calls exit(sig). A comment notes that exiting is optional. In main, the call signal(SIGINT, signalHandler) registers the handler, raise(SIGINT) sends the signal to this same process, and main ends with return 0.</a:t>
            </a:r>
          </a:p>
          <a:p>
            <a:pPr marL="0" lvl="0" indent="0" algn="l" rtl="0">
              <a:lnSpc>
                <a:spcPct val="100000"/>
              </a:lnSpc>
              <a:spcBef>
                <a:spcPts val="0"/>
              </a:spcBef>
              <a:spcAft>
                <a:spcPts val="600"/>
              </a:spcAft>
              <a:buSzPts val="1400"/>
              <a:buNone/>
            </a:pPr>
            <a:r>
              <a:rPr lang="en-US" dirty="0"/>
              <a:t>Here is what happens when you run it. The call signal(SIGINT, signalHandler) tells the operating system: when this process receives SIGINT, call my function instead of using the default action, which is to terminate. Then raise(SIGINT) delivers signal 2 to the process itself, so the handler runs and prints "Interrupt handled: 2". Because the handler calls exit(2), return 0 is never reached, and the program's exit status is 2.</a:t>
            </a:r>
          </a:p>
          <a:p>
            <a:pPr marL="0" lvl="0" indent="0" algn="l" rtl="0">
              <a:lnSpc>
                <a:spcPct val="100000"/>
              </a:lnSpc>
              <a:spcBef>
                <a:spcPts val="0"/>
              </a:spcBef>
              <a:spcAft>
                <a:spcPts val="600"/>
              </a:spcAft>
              <a:buSzPts val="1400"/>
              <a:buNone/>
            </a:pPr>
            <a:r>
              <a:rPr lang="en-US" dirty="0"/>
              <a:t>In normal use you don't call raise. SIGINT is what your terminal sends when you press Ctrl+C, and another process can send it with kill. This is the same idea as an interrupt service routine on the F28379D: you register a function, and the system jumps to it asynchronously when an event occurs.</a:t>
            </a:r>
          </a:p>
          <a:p>
            <a:pPr marL="0" lvl="0" indent="0" algn="l" rtl="0">
              <a:lnSpc>
                <a:spcPct val="100000"/>
              </a:lnSpc>
              <a:spcBef>
                <a:spcPts val="0"/>
              </a:spcBef>
              <a:spcAft>
                <a:spcPts val="600"/>
              </a:spcAft>
              <a:buSzPts val="1400"/>
              <a:buNone/>
            </a:pPr>
            <a:r>
              <a:rPr lang="en-US" dirty="0"/>
              <a:t>On the robot's Linux side, this is how you catch Ctrl+C to shut down cleanly: stop the motors, close serial ports, and release shared memory and semaphores.</a:t>
            </a:r>
          </a:p>
          <a:p>
            <a:pPr marL="0" lvl="0" indent="0" algn="l" rtl="0">
              <a:lnSpc>
                <a:spcPct val="100000"/>
              </a:lnSpc>
              <a:spcBef>
                <a:spcPts val="0"/>
              </a:spcBef>
              <a:spcAft>
                <a:spcPts val="600"/>
              </a:spcAft>
              <a:buSzPts val="1400"/>
              <a:buNone/>
            </a:pPr>
            <a:r>
              <a:rPr lang="en-US" dirty="0"/>
              <a:t>One caution: printf is not formally safe to call inside a signal handler. In real code, set a flag in the handler and do the work in your main loop.</a:t>
            </a:r>
          </a:p>
          <a:p>
            <a:pPr marL="0" lvl="0" indent="0" algn="l" rtl="0">
              <a:lnSpc>
                <a:spcPct val="100000"/>
              </a:lnSpc>
              <a:spcBef>
                <a:spcPts val="0"/>
              </a:spcBef>
              <a:spcAft>
                <a:spcPts val="600"/>
              </a:spcAft>
              <a:buSzPts val="1400"/>
              <a:buNone/>
            </a:pPr>
            <a:r>
              <a:rPr lang="en-US" dirty="0"/>
              <a:t>Quick check: what is printed if you delete the exit call? (The message still prints, and then main returns 0.)</a:t>
            </a:r>
          </a:p>
          <a:p>
            <a:pPr marL="0" lvl="0" indent="0" algn="l" rtl="0">
              <a:lnSpc>
                <a:spcPct val="100000"/>
              </a:lnSpc>
              <a:spcBef>
                <a:spcPts val="0"/>
              </a:spcBef>
              <a:spcAft>
                <a:spcPts val="600"/>
              </a:spcAft>
              <a:buSzPts val="1400"/>
              <a:buNone/>
            </a:pPr>
            <a:r>
              <a:rPr lang="en-US" dirty="0"/>
              <a:t>Next, we move from signals to pipes.</a:t>
            </a:r>
          </a:p>
        </p:txBody>
      </p:sp>
      <p:sp>
        <p:nvSpPr>
          <p:cNvPr id="116" name="Google Shape;116;p29:notes">
            <a:extLst>
              <a:ext uri="{FF2B5EF4-FFF2-40B4-BE49-F238E27FC236}">
                <a16:creationId xmlns:a16="http://schemas.microsoft.com/office/drawing/2014/main" id="{C8AFF0CD-1B53-468A-B313-91CBE57F3F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4310467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AEAAE72-420C-C089-B1AF-896EA171811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ADE1CA-5DC2-9E78-BB8E-0DBACC7460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covers the second message-passing mechanism after signals: the anonymous pipe. The slide compares it to a waterslide. You put data in at the top and it comes out the bottom, but nothing can travel back up. A pipe is one-directional: one process writes into it and another reads from it. The data goes into a "virtual file" in memory rather than onto the disk. The slide notes in passing that named pipes exist but are not often used.</a:t>
            </a:r>
          </a:p>
          <a:p>
            <a:pPr marL="0" lvl="0" indent="0" algn="l" rtl="0">
              <a:lnSpc>
                <a:spcPct val="100000"/>
              </a:lnSpc>
              <a:spcBef>
                <a:spcPts val="0"/>
              </a:spcBef>
              <a:spcAft>
                <a:spcPts val="600"/>
              </a:spcAft>
              <a:buSzPts val="1400"/>
              <a:buNone/>
            </a:pPr>
            <a:r>
              <a:rPr lang="en-US" dirty="0"/>
              <a:t>An anonymous pipe can only connect processes that have a parent-child relationship. When you type commands at the shell, the shell is the parent that creates both commands, which is why this works. Internally, the standard output (stdout) of the first process is connected to the standard input (stdin) of the second. You request this with the vertical bar character, the pipe symbol.</a:t>
            </a:r>
          </a:p>
          <a:p>
            <a:pPr marL="0" lvl="0" indent="0" algn="l" rtl="0">
              <a:lnSpc>
                <a:spcPct val="100000"/>
              </a:lnSpc>
              <a:spcBef>
                <a:spcPts val="0"/>
              </a:spcBef>
              <a:spcAft>
                <a:spcPts val="600"/>
              </a:spcAft>
              <a:buSzPts val="1400"/>
              <a:buNone/>
            </a:pPr>
            <a:r>
              <a:rPr lang="en-US" dirty="0"/>
              <a:t>On the command line you can chain pipes as many times as you like. The slide's example is: ps -ux | grep xeyes | head -1 | tr -s " " | cut -d " " -f 3. Read left to right, it does the following:</a:t>
            </a:r>
          </a:p>
          <a:p>
            <a:pPr marL="0" lvl="0" indent="0" algn="l" rtl="0">
              <a:lnSpc>
                <a:spcPct val="100000"/>
              </a:lnSpc>
              <a:spcBef>
                <a:spcPts val="0"/>
              </a:spcBef>
              <a:spcAft>
                <a:spcPts val="600"/>
              </a:spcAft>
              <a:buSzPts val="1400"/>
              <a:buNone/>
            </a:pPr>
            <a:r>
              <a:rPr lang="en-US" dirty="0"/>
              <a:t>1. ps -ux lists all your processes.</a:t>
            </a:r>
          </a:p>
          <a:p>
            <a:pPr marL="0" lvl="0" indent="0" algn="l" rtl="0">
              <a:lnSpc>
                <a:spcPct val="100000"/>
              </a:lnSpc>
              <a:spcBef>
                <a:spcPts val="0"/>
              </a:spcBef>
              <a:spcAft>
                <a:spcPts val="600"/>
              </a:spcAft>
              <a:buSzPts val="1400"/>
              <a:buNone/>
            </a:pPr>
            <a:r>
              <a:rPr lang="en-US" dirty="0"/>
              <a:t>2. grep keeps only the lines containing "xeyes".</a:t>
            </a:r>
          </a:p>
          <a:p>
            <a:pPr marL="0" lvl="0" indent="0" algn="l" rtl="0">
              <a:lnSpc>
                <a:spcPct val="100000"/>
              </a:lnSpc>
              <a:spcBef>
                <a:spcPts val="0"/>
              </a:spcBef>
              <a:spcAft>
                <a:spcPts val="600"/>
              </a:spcAft>
              <a:buSzPts val="1400"/>
              <a:buNone/>
            </a:pPr>
            <a:r>
              <a:rPr lang="en-US" dirty="0"/>
              <a:t>3. head -1 keeps only the first of those lines.</a:t>
            </a:r>
          </a:p>
          <a:p>
            <a:pPr marL="0" lvl="0" indent="0" algn="l" rtl="0">
              <a:lnSpc>
                <a:spcPct val="100000"/>
              </a:lnSpc>
              <a:spcBef>
                <a:spcPts val="0"/>
              </a:spcBef>
              <a:spcAft>
                <a:spcPts val="600"/>
              </a:spcAft>
              <a:buSzPts val="1400"/>
              <a:buNone/>
            </a:pPr>
            <a:r>
              <a:rPr lang="en-US" dirty="0"/>
              <a:t>4. tr -s squeezes runs of spaces into a single space.</a:t>
            </a:r>
          </a:p>
          <a:p>
            <a:pPr marL="0" lvl="0" indent="0" algn="l" rtl="0">
              <a:lnSpc>
                <a:spcPct val="100000"/>
              </a:lnSpc>
              <a:spcBef>
                <a:spcPts val="0"/>
              </a:spcBef>
              <a:spcAft>
                <a:spcPts val="600"/>
              </a:spcAft>
              <a:buSzPts val="1400"/>
              <a:buNone/>
            </a:pPr>
            <a:r>
              <a:rPr lang="en-US" dirty="0"/>
              <a:t>5. cut splits each line on spaces and reports the third field.</a:t>
            </a:r>
          </a:p>
          <a:p>
            <a:pPr marL="0" lvl="0" indent="0" algn="l" rtl="0">
              <a:lnSpc>
                <a:spcPct val="100000"/>
              </a:lnSpc>
              <a:spcBef>
                <a:spcPts val="0"/>
              </a:spcBef>
              <a:spcAft>
                <a:spcPts val="600"/>
              </a:spcAft>
              <a:buSzPts val="1400"/>
              <a:buNone/>
            </a:pPr>
            <a:r>
              <a:rPr lang="en-US" dirty="0"/>
              <a:t>Quick check: the columns of ps -ux are USER, PID, %CPU, and so on. Which field would give you the PID instead? Also watch out for a common gotcha: the grep command itself contains "xeyes", so it can show up in its own results.</a:t>
            </a:r>
          </a:p>
          <a:p>
            <a:pPr marL="0" lvl="0" indent="0" algn="l" rtl="0">
              <a:lnSpc>
                <a:spcPct val="100000"/>
              </a:lnSpc>
              <a:spcBef>
                <a:spcPts val="0"/>
              </a:spcBef>
              <a:spcAft>
                <a:spcPts val="600"/>
              </a:spcAft>
              <a:buSzPts val="1400"/>
              <a:buNone/>
            </a:pPr>
            <a:r>
              <a:rPr lang="en-US" dirty="0"/>
              <a:t>Because a pipe only flows one way, sharing data among many robot processes needs something more flexible. The next slides lead to shared memory and semaphores.</a:t>
            </a:r>
          </a:p>
        </p:txBody>
      </p:sp>
      <p:sp>
        <p:nvSpPr>
          <p:cNvPr id="116" name="Google Shape;116;p29:notes">
            <a:extLst>
              <a:ext uri="{FF2B5EF4-FFF2-40B4-BE49-F238E27FC236}">
                <a16:creationId xmlns:a16="http://schemas.microsoft.com/office/drawing/2014/main" id="{8EEA1D5A-EFAD-8159-EF85-29A13610D2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0670401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8B588265-0405-48C3-2A94-B43E25C904FF}"/>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A1314C23-2A3A-9DB9-4C0A-72D1D396C1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divider titled "Thread Communication," shown in dark blue text on the orange Grainger Engineering background with faint hand-drawn math and chemistry sketches.</a:t>
            </a:r>
          </a:p>
          <a:p>
            <a:pPr marL="0" lvl="0" indent="0" algn="l" rtl="0">
              <a:spcBef>
                <a:spcPts val="0"/>
              </a:spcBef>
              <a:spcAft>
                <a:spcPts val="600"/>
              </a:spcAft>
              <a:buNone/>
            </a:pPr>
            <a:r>
              <a:rPr lang="en-US" dirty="0"/>
              <a:t>So far you have seen how separate processes talk to each other through signals and pipes. Threads inside one process share the same memory, so communication is easier, but it brings a new danger. Next you see how the robot's programs share data, and then why sharing memory can cause race conditions.</a:t>
            </a:r>
          </a:p>
        </p:txBody>
      </p:sp>
      <p:sp>
        <p:nvSpPr>
          <p:cNvPr id="102" name="Google Shape;102;p28:notes">
            <a:extLst>
              <a:ext uri="{FF2B5EF4-FFF2-40B4-BE49-F238E27FC236}">
                <a16:creationId xmlns:a16="http://schemas.microsoft.com/office/drawing/2014/main" id="{C0C9F4E0-F067-DBED-F9D1-956953CA5FB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0026263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FDC0A17-03C0-A0FB-9084-FD64470FD4A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54DC8D3-A0D7-4D04-8C18-39E47ACB4A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real software architecture running on the robot's Raspberry Pi: several separate processes that talk to each other through POSIX shared memory, a block of RAM that two processes can both map and read or write directly. In the diagram, blue boxes are processes, green boxes are named shared-memory regions with the variables inside them, and red circles are named semaphores.</a:t>
            </a:r>
          </a:p>
          <a:p>
            <a:pPr marL="0" lvl="0" indent="0" algn="l" rtl="0">
              <a:lnSpc>
                <a:spcPct val="100000"/>
              </a:lnSpc>
              <a:spcBef>
                <a:spcPts val="0"/>
              </a:spcBef>
              <a:spcAft>
                <a:spcPts val="600"/>
              </a:spcAft>
              <a:buSzPts val="1400"/>
              <a:buNone/>
            </a:pPr>
            <a:r>
              <a:rPr lang="en-US" dirty="0"/>
              <a:t>At the center is serial_COMandOpti, the central hub. It exchanges data with the Red Board F28379D over a two-way serial or UDP link. Above it, LVCOMApp, a TCP/IP server, writes /sharedmem-LVCOMApp-readfrom, which holds char data_char[32] and float data_flts[8], for the hub to read. The hub writes the same layout back into /sharedmem-LVCOMApp-sendto. On the right, LinuxCMDApp, a command-line control program, writes /sharedmem-LINUXCMDApp-recvfrom, holding 44 chars and 11 floats. Below the hub, it sends AstarApp, the path planner, the region /sharedmem-AstarApp-sendto-pose-obstacle, which holds the robot pose float x, y, the destination short destrow, destcol, and char mapCondensed[22]. AstarApp replies through /sharedmem-AstarApp-readfrom-new-path, which holds char read_path[81]. At the lower right, ladar_server reads the LiDAR on UART port ttyAMA2 and writes float ladar_dist[228] into /posix-shared-mem-ladar-dist.</a:t>
            </a:r>
          </a:p>
          <a:p>
            <a:pPr marL="0" lvl="0" indent="0" algn="l" rtl="0">
              <a:lnSpc>
                <a:spcPct val="100000"/>
              </a:lnSpc>
              <a:spcBef>
                <a:spcPts val="0"/>
              </a:spcBef>
              <a:spcAft>
                <a:spcPts val="600"/>
              </a:spcAft>
              <a:buSzPts val="1400"/>
              <a:buNone/>
            </a:pPr>
            <a:r>
              <a:rPr lang="en-US" dirty="0"/>
              <a:t>Every write follows the same pattern: after a process writes its region, it calls sem_post on the semaphore with the matching name, such as /sem-new-ladar-dist. The reader waits on that semaphore, so it knows fresh data is ready. Shared memory is fast, but it has no built-in signaling. The semaphores supply that signal.</a:t>
            </a:r>
          </a:p>
          <a:p>
            <a:pPr marL="0" lvl="0" indent="0" algn="l" rtl="0">
              <a:lnSpc>
                <a:spcPct val="100000"/>
              </a:lnSpc>
              <a:spcBef>
                <a:spcPts val="0"/>
              </a:spcBef>
              <a:spcAft>
                <a:spcPts val="600"/>
              </a:spcAft>
              <a:buSzPts val="1400"/>
              <a:buNone/>
            </a:pPr>
            <a:r>
              <a:rPr lang="en-US" dirty="0"/>
              <a:t>Unlike the one-way pipes from earlier, this design lets any process share data with any other. That flexibility raises a question: what happens if a reader and a writer touch the same region at the same moment? That is the race condition you look at next.</a:t>
            </a:r>
          </a:p>
        </p:txBody>
      </p:sp>
      <p:sp>
        <p:nvSpPr>
          <p:cNvPr id="116" name="Google Shape;116;p29:notes">
            <a:extLst>
              <a:ext uri="{FF2B5EF4-FFF2-40B4-BE49-F238E27FC236}">
                <a16:creationId xmlns:a16="http://schemas.microsoft.com/office/drawing/2014/main" id="{DC414165-AC52-5280-568A-156D2A1CD62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444397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CDB20DE-4D81-C41A-2CB7-A28803C78F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0902EAC-3CAF-CF96-81E7-A062ED69AD1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race conditions with a short C example. The text asks you to imagine several threads running this code at the same time. The code declares a global variable, int counter = 0, outside any function. Below it is a thread function, void* doSomeThing(void *arg). Inside, it declares int local_id, commented as a new, per-thread variable. It then runs counter += 1, followed by local_id = counter, commented as making a local copy of counter for this thread, and finally returns NULL. The slide ends with a warning: you must think at a very low level, because the operating system can switch between threads at every assembly instruction of the compiled code, not just between lines of C.</a:t>
            </a:r>
          </a:p>
          <a:p>
            <a:pPr marL="0" lvl="0" indent="0" algn="l" rtl="0">
              <a:lnSpc>
                <a:spcPct val="100000"/>
              </a:lnSpc>
              <a:spcBef>
                <a:spcPts val="0"/>
              </a:spcBef>
              <a:spcAft>
                <a:spcPts val="600"/>
              </a:spcAft>
              <a:buSzPts val="1400"/>
              <a:buNone/>
            </a:pPr>
            <a:r>
              <a:rPr lang="en-US" dirty="0"/>
              <a:t>The key distinction is where each variable lives. counter is global, so every thread shares the same memory location. local_id is declared inside the function, so it sits on each thread's own stack. The intent is that each thread gets a unique ID: the first thread sees 1, the second sees 2, and so on.</a:t>
            </a:r>
          </a:p>
          <a:p>
            <a:pPr marL="0" lvl="0" indent="0" algn="l" rtl="0">
              <a:lnSpc>
                <a:spcPct val="100000"/>
              </a:lnSpc>
              <a:spcBef>
                <a:spcPts val="0"/>
              </a:spcBef>
              <a:spcAft>
                <a:spcPts val="600"/>
              </a:spcAft>
              <a:buSzPts val="1400"/>
              <a:buNone/>
            </a:pPr>
            <a:r>
              <a:rPr lang="en-US" dirty="0"/>
              <a:t>The catch is that the scheduler does not respect your C line boundaries. Between counter += 1 and local_id = counter, another thread can run and change counter. Before you look at the next slide, try to find an ordering of two threads that gives both of them local_id = 2.</a:t>
            </a:r>
          </a:p>
          <a:p>
            <a:pPr marL="0" lvl="0" indent="0" algn="l" rtl="0">
              <a:lnSpc>
                <a:spcPct val="100000"/>
              </a:lnSpc>
              <a:spcBef>
                <a:spcPts val="0"/>
              </a:spcBef>
              <a:spcAft>
                <a:spcPts val="600"/>
              </a:spcAft>
              <a:buSzPts val="1400"/>
              <a:buNone/>
            </a:pPr>
            <a:r>
              <a:rPr lang="en-US" dirty="0"/>
              <a:t>This is the same concern behind the semaphores in the previous slide's shared-memory diagram. Whenever two processes or threads touch shared data, you have to ask what happens if they interleave. The next slide walks through exactly that failure.</a:t>
            </a:r>
          </a:p>
        </p:txBody>
      </p:sp>
      <p:sp>
        <p:nvSpPr>
          <p:cNvPr id="116" name="Google Shape;116;p29:notes">
            <a:extLst>
              <a:ext uri="{FF2B5EF4-FFF2-40B4-BE49-F238E27FC236}">
                <a16:creationId xmlns:a16="http://schemas.microsoft.com/office/drawing/2014/main" id="{EF9D19AE-0F45-1B01-48F5-67B2E39E5B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9447008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D7E8BA0-F96E-58D5-2221-0EBACFB71C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0826FF-FFBE-5D71-AD28-017BCD7AEAA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walks through, step by step, how the counter code from the previous slide goes wrong. At the top, in code font, is the snippet both threads execute: counter += 1, then local_id = counter. Below it is one possible interleaving, with the Thread 2 lines indented to show the CPU has switched away from Thread 1.</a:t>
            </a:r>
          </a:p>
          <a:p>
            <a:pPr marL="0" lvl="0" indent="0" algn="l" rtl="0">
              <a:lnSpc>
                <a:spcPct val="100000"/>
              </a:lnSpc>
              <a:spcBef>
                <a:spcPts val="0"/>
              </a:spcBef>
              <a:spcAft>
                <a:spcPts val="600"/>
              </a:spcAft>
              <a:buSzPts val="1400"/>
              <a:buNone/>
            </a:pPr>
            <a:r>
              <a:rPr lang="en-US" dirty="0"/>
              <a:t>Thread 1 runs counter += 1, so counter is now 1. Before Thread 1 can copy counter into its local_id, the operating system pauses it. Thread 2 then runs both lines: counter becomes 2, and its local_id is correctly 2. The CPU switches back to Thread 1, which now executes local_id = counter and also gets 2 instead of 1. The slide's comment says "mission failed." Two threads were meant to get unique IDs 1 and 2, but both got 2.</a:t>
            </a:r>
          </a:p>
          <a:p>
            <a:pPr marL="0" lvl="0" indent="0" algn="l" rtl="0">
              <a:lnSpc>
                <a:spcPct val="100000"/>
              </a:lnSpc>
              <a:spcBef>
                <a:spcPts val="0"/>
              </a:spcBef>
              <a:spcAft>
                <a:spcPts val="600"/>
              </a:spcAft>
              <a:buSzPts val="1400"/>
              <a:buNone/>
            </a:pPr>
            <a:r>
              <a:rPr lang="en-US" dirty="0"/>
              <a:t>This is a race condition: the result depends on the order in which instructions from different threads happen to run. The scheduler decides when to switch threads, and that timing varies from run to run. So the bug is intermittent. Your code can pass every test and still fail later, which makes these bugs hard to find.</a:t>
            </a:r>
          </a:p>
          <a:p>
            <a:pPr marL="0" lvl="0" indent="0" algn="l" rtl="0">
              <a:lnSpc>
                <a:spcPct val="100000"/>
              </a:lnSpc>
              <a:spcBef>
                <a:spcPts val="0"/>
              </a:spcBef>
              <a:spcAft>
                <a:spcPts val="600"/>
              </a:spcAft>
              <a:buSzPts val="1400"/>
              <a:buNone/>
            </a:pPr>
            <a:r>
              <a:rPr lang="en-US" dirty="0"/>
              <a:t>The slide ends by asking whether the Red Board can have this problem. Think about it before the answer: the F28379D has no operating system threads, but it does have interrupts. A timer or SPI interrupt service routine can preempt your main loop, or a lower-priority interrupt, partway through updating a shared global variable. That is the same hazard, so the answer is yes.</a:t>
            </a:r>
          </a:p>
          <a:p>
            <a:pPr marL="0" lvl="0" indent="0" algn="l" rtl="0">
              <a:lnSpc>
                <a:spcPct val="100000"/>
              </a:lnSpc>
              <a:spcBef>
                <a:spcPts val="0"/>
              </a:spcBef>
              <a:spcAft>
                <a:spcPts val="600"/>
              </a:spcAft>
              <a:buSzPts val="1400"/>
              <a:buNone/>
            </a:pPr>
            <a:r>
              <a:rPr lang="en-US" dirty="0"/>
              <a:t>Next, you see that even counter += 1 by itself is not a single, atomic operation.</a:t>
            </a:r>
          </a:p>
        </p:txBody>
      </p:sp>
      <p:sp>
        <p:nvSpPr>
          <p:cNvPr id="116" name="Google Shape;116;p29:notes">
            <a:extLst>
              <a:ext uri="{FF2B5EF4-FFF2-40B4-BE49-F238E27FC236}">
                <a16:creationId xmlns:a16="http://schemas.microsoft.com/office/drawing/2014/main" id="{2CC98982-122B-8CA9-7476-57712E45E1D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1677202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871FA5-FEFE-B0EE-D7BF-43508BC2246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B54B51F-C0A1-C3CD-23C0-6BB2290F848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names the root cause of the race condition from the last two slides: the operation was not atomic. An atomic operation is one the CPU carries out as a single, indivisible instruction, so no other thread can run in the middle of it. Most C statements are not atomic. The compiler turns them into a series of instructions, and the scheduler can switch threads between any two of them.</a:t>
            </a:r>
          </a:p>
          <a:p>
            <a:pPr marL="0" lvl="0" indent="0" algn="l" rtl="0">
              <a:lnSpc>
                <a:spcPct val="100000"/>
              </a:lnSpc>
              <a:spcBef>
                <a:spcPts val="0"/>
              </a:spcBef>
              <a:spcAft>
                <a:spcPts val="600"/>
              </a:spcAft>
              <a:buSzPts val="1400"/>
              <a:buNone/>
            </a:pPr>
            <a:r>
              <a:rPr lang="en-US" dirty="0"/>
              <a:t>The slide shows an even smaller example. A global variable is declared as int counter = 0, and a thread function doSomeThing does nothing except counter += 1, then return NULL. The slide asks what causes the race condition here. The answer is the "+= 1" itself, because it is not a single operation.</a:t>
            </a:r>
          </a:p>
          <a:p>
            <a:pPr marL="0" lvl="0" indent="0" algn="l" rtl="0">
              <a:lnSpc>
                <a:spcPct val="100000"/>
              </a:lnSpc>
              <a:spcBef>
                <a:spcPts val="0"/>
              </a:spcBef>
              <a:spcAft>
                <a:spcPts val="600"/>
              </a:spcAft>
              <a:buSzPts val="1400"/>
              <a:buNone/>
            </a:pPr>
            <a:r>
              <a:rPr lang="en-US" dirty="0"/>
              <a:t>The slide breaks it into pseudocode. First, int temp = counter + 1, where temp stands for a CPU register and counter is the value in memory. Second, counter = temp, which writes the register back out to memory. Together this is a read-modify-write sequence.</a:t>
            </a:r>
          </a:p>
          <a:p>
            <a:pPr marL="0" lvl="0" indent="0" algn="l" rtl="0">
              <a:lnSpc>
                <a:spcPct val="100000"/>
              </a:lnSpc>
              <a:spcBef>
                <a:spcPts val="0"/>
              </a:spcBef>
              <a:spcAft>
                <a:spcPts val="600"/>
              </a:spcAft>
              <a:buSzPts val="1400"/>
              <a:buNone/>
            </a:pPr>
            <a:r>
              <a:rPr lang="en-US" dirty="0"/>
              <a:t>Here is how it goes wrong with two threads. Thread 1 reads counter, which is 0, into its register and adds 1. Before it writes back, the CPU switches to Thread 2. Thread 2 also reads 0, adds 1, and writes 1. Thread 1 then resumes and writes its own 1. Both threads incremented, yet counter ends at 1 instead of 2. This is called a lost update. Because it depends on timing, it may appear only occasionally, which makes it hard to debug.</a:t>
            </a:r>
          </a:p>
          <a:p>
            <a:pPr marL="0" lvl="0" indent="0" algn="l" rtl="0">
              <a:lnSpc>
                <a:spcPct val="100000"/>
              </a:lnSpc>
              <a:spcBef>
                <a:spcPts val="0"/>
              </a:spcBef>
              <a:spcAft>
                <a:spcPts val="600"/>
              </a:spcAft>
              <a:buSzPts val="1400"/>
              <a:buNone/>
            </a:pPr>
            <a:r>
              <a:rPr lang="en-US" dirty="0"/>
              <a:t>This also answers the Red Board question from the previous slide. If an interrupt service routine and your main loop both modify the same global variable, the interrupt can land in the middle of a read-modify-write in the same way.</a:t>
            </a:r>
          </a:p>
          <a:p>
            <a:pPr marL="0" lvl="0" indent="0" algn="l" rtl="0">
              <a:lnSpc>
                <a:spcPct val="100000"/>
              </a:lnSpc>
              <a:spcBef>
                <a:spcPts val="0"/>
              </a:spcBef>
              <a:spcAft>
                <a:spcPts val="600"/>
              </a:spcAft>
              <a:buSzPts val="1400"/>
              <a:buNone/>
            </a:pPr>
            <a:r>
              <a:rPr lang="en-US" dirty="0"/>
              <a:t>Next you see the fix: a mutex, which protects a short critical section using a lock that is itself implemented with an atomic instruction.</a:t>
            </a:r>
          </a:p>
        </p:txBody>
      </p:sp>
      <p:sp>
        <p:nvSpPr>
          <p:cNvPr id="116" name="Google Shape;116;p29:notes">
            <a:extLst>
              <a:ext uri="{FF2B5EF4-FFF2-40B4-BE49-F238E27FC236}">
                <a16:creationId xmlns:a16="http://schemas.microsoft.com/office/drawing/2014/main" id="{D76CB638-AB92-A0FD-9BE7-B71AD058CC6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9976249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E08AB-8B36-C726-5DB7-F5C28DE63D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2700AC1-B62B-06AF-D593-404C4EE76F6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with key words in bold. It introduces the mutex, short for MUTual EXclusion, as the simplest way to lock and unlock access to the important sections of code that threads share.</a:t>
            </a:r>
          </a:p>
          <a:p>
            <a:pPr marL="0" lvl="0" indent="0" algn="l" rtl="0">
              <a:lnSpc>
                <a:spcPct val="100000"/>
              </a:lnSpc>
              <a:spcBef>
                <a:spcPts val="0"/>
              </a:spcBef>
              <a:spcAft>
                <a:spcPts val="600"/>
              </a:spcAft>
              <a:buSzPts val="1400"/>
              <a:buNone/>
            </a:pPr>
            <a:r>
              <a:rPr lang="en-US" dirty="0"/>
              <a:t>The slide's analogy is a restroom door. When you use the restroom, you lock the door. Anyone else who wants in must wait until you finish, unlock the door, and leave (after washing your hands). A mutex works the same way and has only two states: one or zero, on or off, locked or unlocked.</a:t>
            </a:r>
          </a:p>
          <a:p>
            <a:pPr marL="0" lvl="0" indent="0" algn="l" rtl="0">
              <a:lnSpc>
                <a:spcPct val="100000"/>
              </a:lnSpc>
              <a:spcBef>
                <a:spcPts val="0"/>
              </a:spcBef>
              <a:spcAft>
                <a:spcPts val="600"/>
              </a:spcAft>
              <a:buSzPts val="1400"/>
              <a:buNone/>
            </a:pPr>
            <a:r>
              <a:rPr lang="en-US" dirty="0"/>
              <a:t>This is the fix for the race condition from the last two slides. The problem there was that counter += 1 is not atomic: it is a read into a register, an add, and a write back, and the CPU can switch threads in between. The mutex works because the lock itself is implemented as a single atomic CPU instruction, so two threads can never both see the door as unlocked and grab it at the same moment. The protected region between lock and unlock is called the critical section.</a:t>
            </a:r>
          </a:p>
          <a:p>
            <a:pPr marL="0" lvl="0" indent="0" algn="l" rtl="0">
              <a:lnSpc>
                <a:spcPct val="100000"/>
              </a:lnSpc>
              <a:spcBef>
                <a:spcPts val="0"/>
              </a:spcBef>
              <a:spcAft>
                <a:spcPts val="600"/>
              </a:spcAft>
              <a:buSzPts val="1400"/>
              <a:buNone/>
            </a:pPr>
            <a:r>
              <a:rPr lang="en-US" dirty="0"/>
              <a:t>The slide gives two cautions.</a:t>
            </a:r>
          </a:p>
          <a:p>
            <a:pPr marL="0" lvl="0" indent="0" algn="l" rtl="0">
              <a:lnSpc>
                <a:spcPct val="100000"/>
              </a:lnSpc>
              <a:spcBef>
                <a:spcPts val="0"/>
              </a:spcBef>
              <a:spcAft>
                <a:spcPts val="600"/>
              </a:spcAft>
              <a:buSzPts val="1400"/>
              <a:buNone/>
            </a:pPr>
            <a:r>
              <a:rPr lang="en-US" dirty="0"/>
              <a:t>First, keep the critical section as short as possible. If you wrap your whole thread in the mutex, the threads simply take turns and run serially, and you lose all the benefit of parallelism.</a:t>
            </a:r>
          </a:p>
          <a:p>
            <a:pPr marL="0" lvl="0" indent="0" algn="l" rtl="0">
              <a:lnSpc>
                <a:spcPct val="100000"/>
              </a:lnSpc>
              <a:spcBef>
                <a:spcPts val="0"/>
              </a:spcBef>
              <a:spcAft>
                <a:spcPts val="600"/>
              </a:spcAft>
              <a:buSzPts val="1400"/>
              <a:buNone/>
            </a:pPr>
            <a:r>
              <a:rPr lang="en-US" dirty="0"/>
              <a:t>Second, a mutex does not prevent deadlock. In a deadlock, threads lock each other out and wait forever. A classic case is thread A holding lock 1 while waiting for lock 2, while thread B holds lock 2 and waits for lock 1.</a:t>
            </a:r>
          </a:p>
          <a:p>
            <a:pPr marL="0" lvl="0" indent="0" algn="l" rtl="0">
              <a:lnSpc>
                <a:spcPct val="100000"/>
              </a:lnSpc>
              <a:spcBef>
                <a:spcPts val="0"/>
              </a:spcBef>
              <a:spcAft>
                <a:spcPts val="600"/>
              </a:spcAft>
              <a:buSzPts val="1400"/>
              <a:buNone/>
            </a:pPr>
            <a:r>
              <a:rPr lang="en-US" dirty="0"/>
              <a:t>Quick check: where would you place the lock and unlock around counter += 1 and local_id = counter? The next slide shows exactly that with pthread_mutex_lock and pthread_mutex_unlock.</a:t>
            </a:r>
          </a:p>
        </p:txBody>
      </p:sp>
      <p:sp>
        <p:nvSpPr>
          <p:cNvPr id="116" name="Google Shape;116;p29:notes">
            <a:extLst>
              <a:ext uri="{FF2B5EF4-FFF2-40B4-BE49-F238E27FC236}">
                <a16:creationId xmlns:a16="http://schemas.microsoft.com/office/drawing/2014/main" id="{91DD36C8-9456-D3A8-21F6-9D5C01EB228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4095328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4EB19EB-65B6-7F40-4F5C-E63B9546512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E6F22DB-17F0-2D5B-0058-2122CA0E89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applies the mutex from the previous slide to the racy counter code. At the top are two globals: int counter, and a pthread_mutex_t named counter_lock. The thread function doSomeThing declares an unsigned long loop variable i set to 0 and an int local_id. It then calls pthread_mutex_lock(&amp;counter_lock), executes counter += 1, copies the result with local_id = counter, and calls pthread_mutex_unlock(&amp;counter_lock). After unlocking, it prints "Job %d started" with local_id, runs an empty for loop from 0 to 0xFFFFFFFF (about 4.3 billion iterations) to simulate work, prints "Job %d finished", and returns NULL.</a:t>
            </a:r>
          </a:p>
          <a:p>
            <a:pPr marL="0" lvl="0" indent="0" algn="l" rtl="0">
              <a:lnSpc>
                <a:spcPct val="100000"/>
              </a:lnSpc>
              <a:spcBef>
                <a:spcPts val="0"/>
              </a:spcBef>
              <a:spcAft>
                <a:spcPts val="600"/>
              </a:spcAft>
              <a:buSzPts val="1400"/>
              <a:buNone/>
            </a:pPr>
            <a:r>
              <a:rPr lang="en-US" dirty="0"/>
              <a:t>The key idea is that only the critical section is locked. The read-modify-write of counter happens while the thread holds the lock, so no other thread can interleave between the read and the write-back that slide 34 showed. Each thread then gets a unique ID.</a:t>
            </a:r>
          </a:p>
          <a:p>
            <a:pPr marL="0" lvl="0" indent="0" algn="l" rtl="0">
              <a:lnSpc>
                <a:spcPct val="100000"/>
              </a:lnSpc>
              <a:spcBef>
                <a:spcPts val="0"/>
              </a:spcBef>
              <a:spcAft>
                <a:spcPts val="600"/>
              </a:spcAft>
              <a:buSzPts val="1400"/>
              <a:buNone/>
            </a:pPr>
            <a:r>
              <a:rPr lang="en-US" dirty="0"/>
              <a:t>Notice why local_id exists. If the printf statements used counter directly, another thread could increment it before the print runs. The thread therefore takes a private copy while still holding the lock.</a:t>
            </a:r>
          </a:p>
          <a:p>
            <a:pPr marL="0" lvl="0" indent="0" algn="l" rtl="0">
              <a:lnSpc>
                <a:spcPct val="100000"/>
              </a:lnSpc>
              <a:spcBef>
                <a:spcPts val="0"/>
              </a:spcBef>
              <a:spcAft>
                <a:spcPts val="600"/>
              </a:spcAft>
              <a:buSzPts val="1400"/>
              <a:buNone/>
            </a:pPr>
            <a:r>
              <a:rPr lang="en-US" dirty="0"/>
              <a:t>The long loop and the prints are deliberately outside the lock, so all threads can run their "work" in parallel. Moving the loop inside the lock would make the threads run one after another, with no benefit from threading.</a:t>
            </a:r>
          </a:p>
          <a:p>
            <a:pPr marL="0" lvl="0" indent="0" algn="l" rtl="0">
              <a:lnSpc>
                <a:spcPct val="100000"/>
              </a:lnSpc>
              <a:spcBef>
                <a:spcPts val="0"/>
              </a:spcBef>
              <a:spcAft>
                <a:spcPts val="600"/>
              </a:spcAft>
              <a:buSzPts val="1400"/>
              <a:buNone/>
            </a:pPr>
            <a:r>
              <a:rPr lang="en-US" dirty="0"/>
              <a:t>A common mistake is forgetting to initialize the mutex before use, either with pthread_mutex_init or with PTHREAD_MUTEX_INITIALIZER. Another is returning early without unlocking, which leaves other threads waiting forever.</a:t>
            </a:r>
          </a:p>
          <a:p>
            <a:pPr marL="0" lvl="0" indent="0" algn="l" rtl="0">
              <a:lnSpc>
                <a:spcPct val="100000"/>
              </a:lnSpc>
              <a:spcBef>
                <a:spcPts val="0"/>
              </a:spcBef>
              <a:spcAft>
                <a:spcPts val="600"/>
              </a:spcAft>
              <a:buSzPts val="1400"/>
              <a:buNone/>
            </a:pPr>
            <a:r>
              <a:rPr lang="en-US" dirty="0"/>
              <a:t>Quick check: what output order would you expect from several threads, and what would change if the unlock came after the for loop?</a:t>
            </a:r>
          </a:p>
          <a:p>
            <a:pPr marL="0" lvl="0" indent="0" algn="l" rtl="0">
              <a:lnSpc>
                <a:spcPct val="100000"/>
              </a:lnSpc>
              <a:spcBef>
                <a:spcPts val="0"/>
              </a:spcBef>
              <a:spcAft>
                <a:spcPts val="600"/>
              </a:spcAft>
              <a:buSzPts val="1400"/>
              <a:buNone/>
            </a:pPr>
            <a:r>
              <a:rPr lang="en-US" dirty="0"/>
              <a:t>Next, semaphores extend this idea to producer-consumer problems.</a:t>
            </a:r>
          </a:p>
        </p:txBody>
      </p:sp>
      <p:sp>
        <p:nvSpPr>
          <p:cNvPr id="116" name="Google Shape;116;p29:notes">
            <a:extLst>
              <a:ext uri="{FF2B5EF4-FFF2-40B4-BE49-F238E27FC236}">
                <a16:creationId xmlns:a16="http://schemas.microsoft.com/office/drawing/2014/main" id="{0C2C8E55-0AB2-69E7-4E06-3FA75232E01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1596600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F26D02C-946D-1305-2037-5AD8A632AA4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BCC2E36-2E55-CD2D-09E9-1984E3456D2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semaphores, a step up from the mutex you just saw. It is all text on a plain white background. It says the mutex is nice and simple, but semaphores improve thread synchronization, and they are especially useful in what are called producer-consumer problems.</a:t>
            </a:r>
          </a:p>
          <a:p>
            <a:pPr marL="0" lvl="0" indent="0" algn="l" rtl="0">
              <a:lnSpc>
                <a:spcPct val="100000"/>
              </a:lnSpc>
              <a:spcBef>
                <a:spcPts val="0"/>
              </a:spcBef>
              <a:spcAft>
                <a:spcPts val="600"/>
              </a:spcAft>
              <a:buSzPts val="1400"/>
              <a:buNone/>
            </a:pPr>
            <a:r>
              <a:rPr lang="en-US" dirty="0"/>
              <a:t>The slide then defines the two roles. The producer is one or more threads that prepare data and place it into a limited amount of shared memory, for example an array. The consumer is the thread, or threads, that want to read that ready data. Two rules follow. Producers may write to the shared memory if there is an open spot; if not, they wait. Consumers may read if there is something there; if not, they wait.</a:t>
            </a:r>
          </a:p>
          <a:p>
            <a:pPr marL="0" lvl="0" indent="0" algn="l" rtl="0">
              <a:lnSpc>
                <a:spcPct val="100000"/>
              </a:lnSpc>
              <a:spcBef>
                <a:spcPts val="0"/>
              </a:spcBef>
              <a:spcAft>
                <a:spcPts val="600"/>
              </a:spcAft>
              <a:buSzPts val="1400"/>
              <a:buNone/>
            </a:pPr>
            <a:r>
              <a:rPr lang="en-US" dirty="0"/>
              <a:t>Here is why a mutex alone is not enough. A mutex has only two states, locked or unlocked, so it protects one critical section at a time. It cannot count how many slots in the buffer are full or empty. In a producer-consumer setup, that count is exactly what you need to track.</a:t>
            </a:r>
          </a:p>
          <a:p>
            <a:pPr marL="0" lvl="0" indent="0" algn="l" rtl="0">
              <a:lnSpc>
                <a:spcPct val="100000"/>
              </a:lnSpc>
              <a:spcBef>
                <a:spcPts val="0"/>
              </a:spcBef>
              <a:spcAft>
                <a:spcPts val="600"/>
              </a:spcAft>
              <a:buSzPts val="1400"/>
              <a:buNone/>
            </a:pPr>
            <a:r>
              <a:rPr lang="en-US" dirty="0"/>
              <a:t>A robot example: one thread receives LiDAR scans and drops them into a fixed-size array, while another thread pulls scans out to run SLAM. If the array fills up, the receiving thread must pause. If it empties, the SLAM thread must pause.</a:t>
            </a:r>
          </a:p>
          <a:p>
            <a:pPr marL="0" lvl="0" indent="0" algn="l" rtl="0">
              <a:lnSpc>
                <a:spcPct val="100000"/>
              </a:lnSpc>
              <a:spcBef>
                <a:spcPts val="0"/>
              </a:spcBef>
              <a:spcAft>
                <a:spcPts val="600"/>
              </a:spcAft>
              <a:buSzPts val="1400"/>
              <a:buNone/>
            </a:pPr>
            <a:r>
              <a:rPr lang="en-US" dirty="0"/>
              <a:t>Quick check: what should happen if a consumer reads from an empty buffer without waiting? It reads stale or garbage data.</a:t>
            </a:r>
          </a:p>
          <a:p>
            <a:pPr marL="0" lvl="0" indent="0" algn="l" rtl="0">
              <a:lnSpc>
                <a:spcPct val="100000"/>
              </a:lnSpc>
              <a:spcBef>
                <a:spcPts val="0"/>
              </a:spcBef>
              <a:spcAft>
                <a:spcPts val="600"/>
              </a:spcAft>
              <a:buSzPts val="1400"/>
              <a:buNone/>
            </a:pPr>
            <a:r>
              <a:rPr lang="en-US" dirty="0"/>
              <a:t>Next, you see why simply checking repeatedly with a mutex wastes CPU time, and how a semaphore avoids that.</a:t>
            </a:r>
          </a:p>
        </p:txBody>
      </p:sp>
      <p:sp>
        <p:nvSpPr>
          <p:cNvPr id="116" name="Google Shape;116;p29:notes">
            <a:extLst>
              <a:ext uri="{FF2B5EF4-FFF2-40B4-BE49-F238E27FC236}">
                <a16:creationId xmlns:a16="http://schemas.microsoft.com/office/drawing/2014/main" id="{BEBA7248-299B-3FD2-B623-A333BA107E3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149228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21B3885-6F20-B8CF-FB79-984700544B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45AF543-7A36-EE53-FF09-D36B9B135FD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with four short paragraphs under the title "Threads &amp; Processes – Semaphores." It states the goal for the producer-consumer setup from the last slide. A thread that wants to read an item from the shared array, or write one into it, should only do so when that is actually possible. If it is not possible, the thread should be paused, not constantly checking, until it is sure it can make progress. The tool for this is a new type of lock, the semaphore, which keeps track of who is waiting for what to happen. The bold terms are paused, semaphore, busy waiting and polling.</a:t>
            </a:r>
          </a:p>
          <a:p>
            <a:pPr marL="0" lvl="0" indent="0" algn="l" rtl="0">
              <a:lnSpc>
                <a:spcPct val="100000"/>
              </a:lnSpc>
              <a:spcBef>
                <a:spcPts val="0"/>
              </a:spcBef>
              <a:spcAft>
                <a:spcPts val="600"/>
              </a:spcAft>
              <a:buSzPts val="1400"/>
              <a:buNone/>
            </a:pPr>
            <a:r>
              <a:rPr lang="en-US" dirty="0"/>
              <a:t>Why not just use the mutex you already know? You could. A consumer could lock the mutex, look to see whether an array element has changed, unlock, and repeat. Locking and unlocking almost immediately over and over like this is called busy waiting, or polling. It hurts performance. The thread burns CPU time doing useless checks, and it keeps grabbing the lock that a producer needs in order to write the data.</a:t>
            </a:r>
          </a:p>
          <a:p>
            <a:pPr marL="0" lvl="0" indent="0" algn="l" rtl="0">
              <a:lnSpc>
                <a:spcPct val="100000"/>
              </a:lnSpc>
              <a:spcBef>
                <a:spcPts val="0"/>
              </a:spcBef>
              <a:spcAft>
                <a:spcPts val="600"/>
              </a:spcAft>
              <a:buSzPts val="1400"/>
              <a:buNone/>
            </a:pPr>
            <a:r>
              <a:rPr lang="en-US" dirty="0"/>
              <a:t>A semaphore fixes this. A waiting thread is put to sleep, and it is woken only when another thread signals that something has changed.</a:t>
            </a:r>
          </a:p>
          <a:p>
            <a:pPr marL="0" lvl="0" indent="0" algn="l" rtl="0">
              <a:lnSpc>
                <a:spcPct val="100000"/>
              </a:lnSpc>
              <a:spcBef>
                <a:spcPts val="0"/>
              </a:spcBef>
              <a:spcAft>
                <a:spcPts val="600"/>
              </a:spcAft>
              <a:buSzPts val="1400"/>
              <a:buNone/>
            </a:pPr>
            <a:r>
              <a:rPr lang="en-US" dirty="0"/>
              <a:t>Think of it this way on your Raspberry Pi. Suppose one thread is waiting for the next LiDAR scan. You want it asleep until the scan arrives, not spinning in a loop that steals time from your control code.</a:t>
            </a:r>
          </a:p>
          <a:p>
            <a:pPr marL="0" lvl="0" indent="0" algn="l" rtl="0">
              <a:lnSpc>
                <a:spcPct val="100000"/>
              </a:lnSpc>
              <a:spcBef>
                <a:spcPts val="0"/>
              </a:spcBef>
              <a:spcAft>
                <a:spcPts val="600"/>
              </a:spcAft>
              <a:buSzPts val="1400"/>
              <a:buNone/>
            </a:pPr>
            <a:r>
              <a:rPr lang="en-US" dirty="0"/>
              <a:t>Quick check: what is wasted when a consumer polls an empty array with a mutex? It wastes CPU cycles, and it also creates contention for the lock.</a:t>
            </a:r>
          </a:p>
          <a:p>
            <a:pPr marL="0" lvl="0" indent="0" algn="l" rtl="0">
              <a:lnSpc>
                <a:spcPct val="100000"/>
              </a:lnSpc>
              <a:spcBef>
                <a:spcPts val="0"/>
              </a:spcBef>
              <a:spcAft>
                <a:spcPts val="600"/>
              </a:spcAft>
              <a:buSzPts val="1400"/>
              <a:buNone/>
            </a:pPr>
            <a:r>
              <a:rPr lang="en-US" dirty="0"/>
              <a:t>Next, you see that a semaphore is really just a counter with two operations, wait and post.</a:t>
            </a:r>
          </a:p>
        </p:txBody>
      </p:sp>
      <p:sp>
        <p:nvSpPr>
          <p:cNvPr id="116" name="Google Shape;116;p29:notes">
            <a:extLst>
              <a:ext uri="{FF2B5EF4-FFF2-40B4-BE49-F238E27FC236}">
                <a16:creationId xmlns:a16="http://schemas.microsoft.com/office/drawing/2014/main" id="{5E2BD208-2C07-8A10-41DE-9EA3C618A4C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0560262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FA83EBA-7479-12EE-061D-01B081C947E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3747C51-0BAD-3914-FBE4-DCD31C0F1FA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defines a semaphore: simply a counter that can automatically pause and resume the threads that use it. It has only two operations. Wait continues if the counter is greater than 0 and decrements it by 1; otherwise the thread waits until the counter is greater than 0. Post increments the counter by 1 and causes one of the waiting threads to unpause. The slide notes that this can be used to wait for data to arrive.</a:t>
            </a:r>
          </a:p>
          <a:p>
            <a:pPr marL="0" lvl="0" indent="0" algn="l" rtl="0">
              <a:lnSpc>
                <a:spcPct val="100000"/>
              </a:lnSpc>
              <a:spcBef>
                <a:spcPts val="0"/>
              </a:spcBef>
              <a:spcAft>
                <a:spcPts val="600"/>
              </a:spcAft>
              <a:buSzPts val="1400"/>
              <a:buNone/>
            </a:pPr>
            <a:r>
              <a:rPr lang="en-US" dirty="0"/>
              <a:t>Below the text are two pseudocode functions. On the left, wait(semaphore v) runs a while(1) loop. Inside it, an atomic block checks if v &gt; 0; if so, it does v-- and returns. On the right, post(semaphore v) has an atomic block that does v++ and returns.</a:t>
            </a:r>
          </a:p>
          <a:p>
            <a:pPr marL="0" lvl="0" indent="0" algn="l" rtl="0">
              <a:lnSpc>
                <a:spcPct val="100000"/>
              </a:lnSpc>
              <a:spcBef>
                <a:spcPts val="0"/>
              </a:spcBef>
              <a:spcAft>
                <a:spcPts val="600"/>
              </a:spcAft>
              <a:buSzPts val="1400"/>
              <a:buNone/>
            </a:pPr>
            <a:r>
              <a:rPr lang="en-US" dirty="0"/>
              <a:t>"Atomic" means the check and the change happen as one indivisible step, so no other thread can sneak in between them. That is exactly what was missing in the race conditions we saw earlier.</a:t>
            </a:r>
          </a:p>
          <a:p>
            <a:pPr marL="0" lvl="0" indent="0" algn="l" rtl="0">
              <a:lnSpc>
                <a:spcPct val="100000"/>
              </a:lnSpc>
              <a:spcBef>
                <a:spcPts val="0"/>
              </a:spcBef>
              <a:spcAft>
                <a:spcPts val="600"/>
              </a:spcAft>
              <a:buSzPts val="1400"/>
              <a:buNone/>
            </a:pPr>
            <a:r>
              <a:rPr lang="en-US" dirty="0"/>
              <a:t>A common point of confusion: the while(1) loop here only shows the logic, which is "keep trying until v &gt; 0." A real semaphore does not spin. The operating system puts the waiting thread to sleep and wakes it on a post, which avoids the busy waiting described on the previous slide.</a:t>
            </a:r>
          </a:p>
          <a:p>
            <a:pPr marL="0" lvl="0" indent="0" algn="l" rtl="0">
              <a:lnSpc>
                <a:spcPct val="100000"/>
              </a:lnSpc>
              <a:spcBef>
                <a:spcPts val="0"/>
              </a:spcBef>
              <a:spcAft>
                <a:spcPts val="600"/>
              </a:spcAft>
              <a:buSzPts val="1400"/>
              <a:buNone/>
            </a:pPr>
            <a:r>
              <a:rPr lang="en-US" dirty="0"/>
              <a:t>Think of the counter as the number of items or free slots available. In a producer-consumer setup, the producer posts each time it adds data, and the consumer waits before reading.</a:t>
            </a:r>
          </a:p>
          <a:p>
            <a:pPr marL="0" lvl="0" indent="0" algn="l" rtl="0">
              <a:lnSpc>
                <a:spcPct val="100000"/>
              </a:lnSpc>
              <a:spcBef>
                <a:spcPts val="0"/>
              </a:spcBef>
              <a:spcAft>
                <a:spcPts val="600"/>
              </a:spcAft>
              <a:buSzPts val="1400"/>
              <a:buNone/>
            </a:pPr>
            <a:r>
              <a:rPr lang="en-US" dirty="0"/>
              <a:t>Quick check: if the counter starts at 0 and one thread calls wait, what happens? It blocks until someone posts.</a:t>
            </a:r>
          </a:p>
          <a:p>
            <a:pPr marL="0" lvl="0" indent="0" algn="l" rtl="0">
              <a:lnSpc>
                <a:spcPct val="100000"/>
              </a:lnSpc>
              <a:spcBef>
                <a:spcPts val="0"/>
              </a:spcBef>
              <a:spcAft>
                <a:spcPts val="600"/>
              </a:spcAft>
              <a:buSzPts val="1400"/>
              <a:buNone/>
            </a:pPr>
            <a:r>
              <a:rPr lang="en-US" dirty="0"/>
              <a:t>Next, you see this in real C code using sem_init, sem_wait and sem_post.</a:t>
            </a:r>
          </a:p>
        </p:txBody>
      </p:sp>
      <p:sp>
        <p:nvSpPr>
          <p:cNvPr id="116" name="Google Shape;116;p29:notes">
            <a:extLst>
              <a:ext uri="{FF2B5EF4-FFF2-40B4-BE49-F238E27FC236}">
                <a16:creationId xmlns:a16="http://schemas.microsoft.com/office/drawing/2014/main" id="{94EF1EC2-408D-7FA1-017D-B5BAE5358FF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46677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12D84CD-0BDC-19D8-2616-55B37C0E5B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C5AC9B-780C-44B0-57FB-65CAE55B6C6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puts the semaphore operations from the previous slide into a complete C program. The left column has the includes (stdio.h, pthread.h, semaphore.h, unistd.h), a global semaphore declared as sem_t signal_sem, and a function called worker_thread. The right column has main.</a:t>
            </a:r>
          </a:p>
          <a:p>
            <a:pPr marL="0" lvl="0" indent="0" algn="l" rtl="0">
              <a:lnSpc>
                <a:spcPct val="100000"/>
              </a:lnSpc>
              <a:spcBef>
                <a:spcPts val="0"/>
              </a:spcBef>
              <a:spcAft>
                <a:spcPts val="600"/>
              </a:spcAft>
              <a:buSzPts val="1400"/>
              <a:buNone/>
            </a:pPr>
            <a:r>
              <a:rPr lang="en-US" dirty="0"/>
              <a:t>Walk through main first. sem_init(&amp;signal_sem, 0, 0) takes three arguments: the semaphore's address, a "pshared" flag, and the starting count. The flag 0 means the semaphore is shared only among threads of this process. The count 0 means nothing is available yet.</a:t>
            </a:r>
          </a:p>
          <a:p>
            <a:pPr marL="0" lvl="0" indent="0" algn="l" rtl="0">
              <a:lnSpc>
                <a:spcPct val="100000"/>
              </a:lnSpc>
              <a:spcBef>
                <a:spcPts val="0"/>
              </a:spcBef>
              <a:spcAft>
                <a:spcPts val="600"/>
              </a:spcAft>
              <a:buSzPts val="1400"/>
              <a:buNone/>
            </a:pPr>
            <a:r>
              <a:rPr lang="en-US" dirty="0"/>
              <a:t>Main prints "Start reading." and then pthread_create launches worker_thread. Main prints "Waiting for sensor reading..." and calls sem_wait. Because the count is 0, main blocks there.</a:t>
            </a:r>
          </a:p>
          <a:p>
            <a:pPr marL="0" lvl="0" indent="0" algn="l" rtl="0">
              <a:lnSpc>
                <a:spcPct val="100000"/>
              </a:lnSpc>
              <a:spcBef>
                <a:spcPts val="0"/>
              </a:spcBef>
              <a:spcAft>
                <a:spcPts val="600"/>
              </a:spcAft>
              <a:buSzPts val="1400"/>
              <a:buNone/>
            </a:pPr>
            <a:r>
              <a:rPr lang="en-US" dirty="0"/>
              <a:t>Meanwhile the worker prints "Collected sensor data..." and sleeps 2 seconds to mimic a slow hardware read. It then prints "Finished reading." and calls sem_post, which raises the count to 1. That wakes main, whose sem_wait decrements the count back to 0 and returns, so main prints "Data collected, processing!". Finally pthread_join waits for the worker to exit, and sem_destroy releases the semaphore.</a:t>
            </a:r>
          </a:p>
          <a:p>
            <a:pPr marL="0" lvl="0" indent="0" algn="l" rtl="0">
              <a:lnSpc>
                <a:spcPct val="100000"/>
              </a:lnSpc>
              <a:spcBef>
                <a:spcPts val="0"/>
              </a:spcBef>
              <a:spcAft>
                <a:spcPts val="600"/>
              </a:spcAft>
              <a:buSzPts val="1400"/>
              <a:buNone/>
            </a:pPr>
            <a:r>
              <a:rPr lang="en-US" dirty="0"/>
              <a:t>Notice the order of the first prints. "Waiting for sensor reading..." and "Collected sensor data..." can appear in either order, because the scheduler decides which thread runs first. "Finished reading." always comes before "Data collected, processing!".</a:t>
            </a:r>
          </a:p>
          <a:p>
            <a:pPr marL="0" lvl="0" indent="0" algn="l" rtl="0">
              <a:lnSpc>
                <a:spcPct val="100000"/>
              </a:lnSpc>
              <a:spcBef>
                <a:spcPts val="0"/>
              </a:spcBef>
              <a:spcAft>
                <a:spcPts val="600"/>
              </a:spcAft>
              <a:buSzPts val="1400"/>
              <a:buNone/>
            </a:pPr>
            <a:r>
              <a:rPr lang="en-US" dirty="0"/>
              <a:t>Unlike the spin loop in the last slide's pseudocode, a real sem_wait puts the thread to sleep in the kernel. The waiting thread uses no CPU, so there is no busy waiting.</a:t>
            </a:r>
          </a:p>
          <a:p>
            <a:pPr marL="0" lvl="0" indent="0" algn="l" rtl="0">
              <a:lnSpc>
                <a:spcPct val="100000"/>
              </a:lnSpc>
              <a:spcBef>
                <a:spcPts val="0"/>
              </a:spcBef>
              <a:spcAft>
                <a:spcPts val="600"/>
              </a:spcAft>
              <a:buSzPts val="1400"/>
              <a:buNone/>
            </a:pPr>
            <a:r>
              <a:rPr lang="en-US" dirty="0"/>
              <a:t>A common mistake is initializing the count to 1. Quick check: what happens then? Main would not block, and it would "process" before the data exists. Remember to compile with -pthread.</a:t>
            </a:r>
          </a:p>
          <a:p>
            <a:pPr marL="0" lvl="0" indent="0" algn="l" rtl="0">
              <a:lnSpc>
                <a:spcPct val="100000"/>
              </a:lnSpc>
              <a:spcBef>
                <a:spcPts val="0"/>
              </a:spcBef>
              <a:spcAft>
                <a:spcPts val="600"/>
              </a:spcAft>
              <a:buSzPts val="1400"/>
              <a:buNone/>
            </a:pPr>
            <a:r>
              <a:rPr lang="en-US" dirty="0"/>
              <a:t>Next, you see how the robot's Linux processes use named semaphores in this same post-and-wait pattern.</a:t>
            </a:r>
          </a:p>
        </p:txBody>
      </p:sp>
      <p:sp>
        <p:nvSpPr>
          <p:cNvPr id="116" name="Google Shape;116;p29:notes">
            <a:extLst>
              <a:ext uri="{FF2B5EF4-FFF2-40B4-BE49-F238E27FC236}">
                <a16:creationId xmlns:a16="http://schemas.microsoft.com/office/drawing/2014/main" id="{0AE0D770-8069-BD05-56C0-7F8A6CCE43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3534891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3C06BF1-FD20-1AB5-A508-2A884E0F68D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82E0440-9347-F352-90F6-B5890219710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brings the whole lecture together: it shows how the processes running on the robot's Raspberry Pi actually talk to each other using POSIX shared memory and named semaphores.</a:t>
            </a:r>
          </a:p>
          <a:p>
            <a:pPr marL="0" lvl="0" indent="0" algn="l" rtl="0">
              <a:lnSpc>
                <a:spcPct val="100000"/>
              </a:lnSpc>
              <a:spcBef>
                <a:spcPts val="0"/>
              </a:spcBef>
              <a:spcAft>
                <a:spcPts val="600"/>
              </a:spcAft>
              <a:buSzPts val="1400"/>
              <a:buNone/>
            </a:pPr>
            <a:r>
              <a:rPr lang="en-US" dirty="0"/>
              <a:t>In the center is the hub process, serial_COMandOpti, which exchanges data with the RedBoard F28379D over serial or UDP. Around it are separate programs. LVCOMApp, a TCP/IP server, writes 32 chars and 8 floats into the shared memory region /sharedmem-LVCOMApp-readfrom for the hub. The hub sends the same sizes back through /sharedmem-LVCOMApp-sendto. LinuxCMDApp, a command-line control program, writes 44 chars and 11 floats into /sharedmem-LINUXCMDApp-recvfrom. The hub sends AstarApp, the path planner, a region holding float x and y (the robot pose), short destrow and destcol (the destination), and char mapCondensed[22]. AstarApp returns an 81-char path in /sharedmem-AstarApp-readfrom-new-path. Separately, ladar_server reads the LiDAR on UART ttyAMA2 and writes float ladar_dist[228] into /posix-shared-mem-ladar-dist.</a:t>
            </a:r>
          </a:p>
          <a:p>
            <a:pPr marL="0" lvl="0" indent="0" algn="l" rtl="0">
              <a:lnSpc>
                <a:spcPct val="100000"/>
              </a:lnSpc>
              <a:spcBef>
                <a:spcPts val="0"/>
              </a:spcBef>
              <a:spcAft>
                <a:spcPts val="600"/>
              </a:spcAft>
              <a:buSzPts val="1400"/>
              <a:buNone/>
            </a:pPr>
            <a:r>
              <a:rPr lang="en-US" dirty="0"/>
              <a:t>Each shared memory box has a red circle beside it, which is a named semaphore. A dashed red arrow marks sem_post from the writer. This is the same pattern as the previous code example. The writer fills the shared memory and then calls sem_post. The reader sits in sem_wait and uses no CPU until new data arrives.</a:t>
            </a:r>
          </a:p>
          <a:p>
            <a:pPr marL="0" lvl="0" indent="0" algn="l" rtl="0">
              <a:lnSpc>
                <a:spcPct val="100000"/>
              </a:lnSpc>
              <a:spcBef>
                <a:spcPts val="0"/>
              </a:spcBef>
              <a:spcAft>
                <a:spcPts val="600"/>
              </a:spcAft>
              <a:buSzPts val="1400"/>
              <a:buNone/>
            </a:pPr>
            <a:r>
              <a:rPr lang="en-US" dirty="0"/>
              <a:t>Why use separate processes? If the path planner crashes or runs slowly, the serial link to the RedBoard keeps running.</a:t>
            </a:r>
          </a:p>
          <a:p>
            <a:pPr marL="0" lvl="0" indent="0" algn="l" rtl="0">
              <a:lnSpc>
                <a:spcPct val="100000"/>
              </a:lnSpc>
              <a:spcBef>
                <a:spcPts val="0"/>
              </a:spcBef>
              <a:spcAft>
                <a:spcPts val="600"/>
              </a:spcAft>
              <a:buSzPts val="1400"/>
              <a:buNone/>
            </a:pPr>
            <a:r>
              <a:rPr lang="en-US" dirty="0"/>
              <a:t>A common mistake is to read shared memory without waiting on its semaphore, which gives you stale or half-written data.</a:t>
            </a:r>
          </a:p>
          <a:p>
            <a:pPr marL="0" lvl="0" indent="0" algn="l" rtl="0">
              <a:lnSpc>
                <a:spcPct val="100000"/>
              </a:lnSpc>
              <a:spcBef>
                <a:spcPts val="0"/>
              </a:spcBef>
              <a:spcAft>
                <a:spcPts val="600"/>
              </a:spcAft>
              <a:buSzPts val="1400"/>
              <a:buNone/>
            </a:pPr>
            <a:r>
              <a:rPr lang="en-US" dirty="0"/>
              <a:t>Quick check: which semaphore would the hub wait on before using a new A* path?</a:t>
            </a:r>
          </a:p>
        </p:txBody>
      </p:sp>
      <p:sp>
        <p:nvSpPr>
          <p:cNvPr id="116" name="Google Shape;116;p29:notes">
            <a:extLst>
              <a:ext uri="{FF2B5EF4-FFF2-40B4-BE49-F238E27FC236}">
                <a16:creationId xmlns:a16="http://schemas.microsoft.com/office/drawing/2014/main" id="{28BD611D-2E57-5409-7094-98DF75ED63E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4488575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shows the word "Questions?" in large white text on a dark blue background, with faint hand-drawn sketches of equations and diagrams behind it. The footer reads Systems Engineering and Grainger Engineering.</a:t>
            </a:r>
          </a:p>
          <a:p>
            <a:pPr marL="0" lvl="0" indent="0" algn="l" rtl="0">
              <a:spcBef>
                <a:spcPts val="0"/>
              </a:spcBef>
              <a:spcAft>
                <a:spcPts val="600"/>
              </a:spcAft>
              <a:buNone/>
            </a:pPr>
            <a:r>
              <a:rPr lang="en-US" dirty="0"/>
              <a:t>We have gone from threads and processes, through inter-process communication, race conditions and mutexes, to semaphores, and finally to the shared-memory design of the robot's Linux processes. Before we wrap up, ask about anything that is still unclear.</a:t>
            </a:r>
          </a:p>
          <a:p>
            <a:pPr marL="0" lvl="0" indent="0" algn="l" rtl="0">
              <a:spcBef>
                <a:spcPts val="0"/>
              </a:spcBef>
              <a:spcAft>
                <a:spcPts val="600"/>
              </a:spcAft>
              <a:buNone/>
            </a:pPr>
            <a:r>
              <a:rPr lang="en-US" dirty="0"/>
              <a:t>To check yourself: why does each hub write in that architecture use sem_post on a named semaphore?</a:t>
            </a: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closing slide marks the end of Lecture 13. It shows the Grainger College of Engineering logo, a navy block "I" beside the words "University of Illinois Urbana-Champaign," on an orange background with faint hand-drawn engineering sketches.</a:t>
            </a:r>
          </a:p>
          <a:p>
            <a:pPr marL="0" lvl="0" indent="0" algn="l" rtl="0">
              <a:spcBef>
                <a:spcPts val="0"/>
              </a:spcBef>
              <a:spcAft>
                <a:spcPts val="600"/>
              </a:spcAft>
              <a:buNone/>
            </a:pPr>
            <a:r>
              <a:rPr lang="en-US" dirty="0"/>
              <a:t>Today you covered threads and processes, inter-process communication, race conditions, mutexes, and semaphores. They come together in the robot's shared-memory architecture from slide 41, where each write is signaled with sem_post. Before you work on that code, review how named semaphores keep those processes synchronized.</a:t>
            </a: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3.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6.sv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8" Type="http://schemas.openxmlformats.org/officeDocument/2006/relationships/hyperlink" Target="https://kuleuven-diepenbeek.github.io/osc-course/ch6-tasks/" TargetMode="External"/><Relationship Id="rId3" Type="http://schemas.openxmlformats.org/officeDocument/2006/relationships/hyperlink" Target="https://youtu.be/7ge7u5VUSbE?si=O0Uba2lTkLotpd87" TargetMode="External"/><Relationship Id="rId7" Type="http://schemas.openxmlformats.org/officeDocument/2006/relationships/hyperlink" Target="https://youtu.be/5sw9XJokAqw?si=IvZqqokTP5nwP-uN"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hyperlink" Target="https://youtu.be/M9HHWFp84f0?si=NMBI0whrwmfuv7IA" TargetMode="External"/><Relationship Id="rId5" Type="http://schemas.openxmlformats.org/officeDocument/2006/relationships/hyperlink" Target="https://youtu.be/Y2mDwW2pMv4?si=BAZ74dU6Yn5dNik2" TargetMode="External"/><Relationship Id="rId4" Type="http://schemas.openxmlformats.org/officeDocument/2006/relationships/hyperlink" Target="https://youtu.be/LDhoD4IVElk?si=wzx11WVn2Ow84q__" TargetMode="External"/><Relationship Id="rId9"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hyperlink" Target="https://www.youtube.com/watch?v=7ge7u5VUSbE"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hyperlink" Target="https://www.youtube.com/watch?v=7ge7u5VUSbE"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hyperlink" Target="https://kuleuven-diepenbeek.github.io/osc-course/ch6-tasks/threads/" TargetMode="External"/><Relationship Id="rId4" Type="http://schemas.openxmlformats.org/officeDocument/2006/relationships/image" Target="../media/image12.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hyperlink" Target="https://kuleuven-diepenbeek.github.io/osc-course/ch6-tasks/threads/" TargetMode="External"/><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14.jpeg"/></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2.xml"/><Relationship Id="rId1" Type="http://schemas.openxmlformats.org/officeDocument/2006/relationships/video" Target="https://www.youtube.com/embed/hN2Yrf4tqTY?feature=oembed" TargetMode="External"/><Relationship Id="rId5" Type="http://schemas.openxmlformats.org/officeDocument/2006/relationships/image" Target="../media/image15.jpe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hyperlink" Target="https://kuleuven-diepenbeek.github.io/osc-course/ch6-tasks/interprocess/" TargetMode="External"/><Relationship Id="rId4" Type="http://schemas.openxmlformats.org/officeDocument/2006/relationships/image" Target="../media/image16.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6.svg"/><Relationship Id="rId4" Type="http://schemas.openxmlformats.org/officeDocument/2006/relationships/image" Target="../media/image5.png"/></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6.svg"/><Relationship Id="rId4" Type="http://schemas.openxmlformats.org/officeDocument/2006/relationships/image" Target="../media/image5.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 Id="rId5" Type="http://schemas.openxmlformats.org/officeDocument/2006/relationships/image" Target="../media/image6.svg"/><Relationship Id="rId4" Type="http://schemas.openxmlformats.org/officeDocument/2006/relationships/image" Target="../media/image5.png"/></Relationships>
</file>

<file path=ppt/slides/_rels/slide4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13: Thread &amp; Processes</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Wednesday, </a:t>
            </a:r>
            <a:r>
              <a:rPr lang="en-US" sz="1800" b="0" i="0" u="none" strike="noStrike" cap="none">
                <a:solidFill>
                  <a:schemeClr val="lt1"/>
                </a:solidFill>
                <a:latin typeface="Atkinson Hyperlegible Next"/>
                <a:ea typeface="Arial"/>
                <a:cs typeface="Arial"/>
                <a:sym typeface="Arial"/>
              </a:rPr>
              <a:t>March 4</a:t>
            </a:r>
            <a:r>
              <a:rPr lang="en-US" sz="1800" b="0" i="0" u="none" strike="noStrike" cap="none" baseline="30000">
                <a:solidFill>
                  <a:schemeClr val="lt1"/>
                </a:solidFill>
                <a:latin typeface="Atkinson Hyperlegible Next"/>
                <a:ea typeface="Arial"/>
                <a:cs typeface="Arial"/>
                <a:sym typeface="Arial"/>
              </a:rPr>
              <a:t>rd</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If you have </a:t>
            </a:r>
            <a:r>
              <a:rPr lang="en-US" sz="2400" dirty="0">
                <a:latin typeface="Atkinson Hyperlegible Next"/>
                <a:ea typeface="Arial"/>
                <a:cs typeface="Arial"/>
                <a:sym typeface="Arial"/>
              </a:rPr>
              <a:t>Timer </a:t>
            </a:r>
            <a:r>
              <a:rPr lang="en-US" sz="2400" dirty="0">
                <a:solidFill>
                  <a:schemeClr val="dk1"/>
                </a:solidFill>
                <a:latin typeface="Atkinson Hyperlegible Next"/>
                <a:ea typeface="Arial"/>
                <a:cs typeface="Arial"/>
                <a:sym typeface="Arial"/>
              </a:rPr>
              <a:t>0 </a:t>
            </a:r>
            <a:r>
              <a:rPr lang="en-US" sz="2400">
                <a:solidFill>
                  <a:schemeClr val="dk1"/>
                </a:solidFill>
                <a:latin typeface="Atkinson Hyperlegible Next"/>
                <a:ea typeface="Arial"/>
                <a:cs typeface="Arial"/>
                <a:sym typeface="Arial"/>
              </a:rPr>
              <a:t>and Timer 1 </a:t>
            </a:r>
            <a:r>
              <a:rPr lang="en-US" sz="2400" dirty="0">
                <a:solidFill>
                  <a:schemeClr val="dk1"/>
                </a:solidFill>
                <a:latin typeface="Atkinson Hyperlegible Next"/>
                <a:ea typeface="Arial"/>
                <a:cs typeface="Arial"/>
                <a:sym typeface="Arial"/>
              </a:rPr>
              <a:t>running at the exact same time in parallel and both are trying to write the robot’s position as (0, 1) and (1, 0) respectively to the same array. What is the worst-possible case that could happen?</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If you drive a car, why is it safer and more robust to separate the “where should I be” (localization) calculations from the “how much voltage goes to the steering motor” calculations rather than a single equation?</a:t>
            </a:r>
          </a:p>
          <a:p>
            <a:pPr marL="285750" indent="-28575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D83B27"/>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 </a:t>
            </a:r>
            <a:r>
              <a:rPr lang="en-US" sz="1800" dirty="0">
                <a:latin typeface="Atkinson Hyperlegible Next"/>
                <a:ea typeface="Arial"/>
                <a:cs typeface="Arial"/>
                <a:sym typeface="Arial"/>
              </a:rPr>
              <a:t>Starting Lab 4 this week. This a 2-week lab!</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3 </a:t>
            </a:r>
            <a:r>
              <a:rPr lang="en-US" sz="1800" dirty="0">
                <a:latin typeface="Atkinson Hyperlegible Next"/>
                <a:ea typeface="Arial"/>
                <a:cs typeface="Arial"/>
                <a:sym typeface="Arial"/>
              </a:rPr>
              <a:t>Ex 1, 2, 3 &amp; 4 are due </a:t>
            </a:r>
            <a:r>
              <a:rPr lang="en-US" sz="1800" b="1" dirty="0">
                <a:latin typeface="Atkinson Hyperlegible Next"/>
                <a:ea typeface="Arial"/>
                <a:cs typeface="Arial"/>
                <a:sym typeface="Arial"/>
              </a:rPr>
              <a:t>March 10,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3 </a:t>
            </a:r>
            <a:r>
              <a:rPr lang="en-US" sz="1800" dirty="0">
                <a:latin typeface="Atkinson Hyperlegible Next"/>
                <a:ea typeface="Arial"/>
                <a:cs typeface="Arial"/>
                <a:sym typeface="Arial"/>
              </a:rPr>
              <a:t>Ex 5 are due </a:t>
            </a:r>
            <a:r>
              <a:rPr lang="en-US" sz="1800" b="1" dirty="0">
                <a:latin typeface="Atkinson Hyperlegible Next"/>
                <a:ea typeface="Arial"/>
                <a:cs typeface="Arial"/>
                <a:sym typeface="Arial"/>
              </a:rPr>
              <a:t>March 24,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a:t>
            </a:r>
            <a:r>
              <a:rPr lang="en-US" sz="1800" dirty="0">
                <a:latin typeface="Atkinson Hyperlegible Next"/>
                <a:ea typeface="Arial"/>
                <a:cs typeface="Arial"/>
                <a:sym typeface="Arial"/>
                <a:hlinkClick r:id="rId3"/>
              </a:rPr>
              <a:t>homework 3</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March 25, 9AM</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C1E3F16-51B8-D6F1-19AB-BA1ABDCC62F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515E8F3-0462-CB05-C21D-FC15F80BCB2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In future labs we will be using a more powerful microcontroller for doing some heavy computation such as handling camera image data and doing processing on this.</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To be able to handle that data throughput we need to use something more complex, i.e., the Raspberry Pi.</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The Raspberry Pi is a multi-core Linux system with a lot more RAM.</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However, the Raspberry Pi more complex due to its modern architectural design choices so we need to somewhat understand it.</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DCB1917-1370-A159-B9DC-6784B90EA71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FEE165A-FCBC-8CD6-8E35-88D0B333B6E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F860878-B682-0DB8-49BB-7CEF2E42A44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BFBD843-989C-2597-7AFC-09E8F377A0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E0F93CE-EF9D-B3FE-A832-9A342F6D3F1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9F47145-4C77-7029-4B40-A02A399E087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12812F-DFEF-800A-935B-A143C252A07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00371D-69A1-F6FC-3FB5-85516FE5FB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975940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D7BC157-8A41-4DF8-AEEF-64F967687CB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AE76569-0434-BD15-BF68-B146E1ECD55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CE82387-3A23-510F-6229-576AB040760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D2166D4-488E-3F4A-7ADC-179321B143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187C4B0-4074-0634-90E9-C68EDCA5A4E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4755BB9-4080-D556-144A-DE4D2EA960D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E6D37AD-2F3D-8000-8DA4-ABAA9DADE63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CD98D6-4927-DDDF-71E2-470A5A5A68E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361EF20-DBD4-57ED-374B-BECBBF5FB86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4" name="Graphic 23" descr="Block diagram of processes linked by POSIX shared memory. A central hub process, serial_COMandOpti, exchanges data with the RedBoard F28379D over serial or UDP. LVCOMApp (TCP/IP server) and the hub trade 32 chars and 8 floats each way. LinuxCMDApp (CLI) sends the hub 44 chars and 11 floats. The hub sends AstarApp (path planner) robot pose, destination row and column, and a condensed map, and receives an 81-char path. ladar_server (UART) writes 228 lidar distances. Every write is signaled with sem_post on a matching named semaphore.">
            <a:extLst>
              <a:ext uri="{FF2B5EF4-FFF2-40B4-BE49-F238E27FC236}">
                <a16:creationId xmlns:a16="http://schemas.microsoft.com/office/drawing/2014/main" id="{24356165-11B7-5CA3-9C3C-2FF29D036AC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458918" y="1003086"/>
            <a:ext cx="6380162" cy="5501654"/>
          </a:xfrm>
          <a:prstGeom prst="rect">
            <a:avLst/>
          </a:prstGeom>
        </p:spPr>
      </p:pic>
    </p:spTree>
    <p:extLst>
      <p:ext uri="{BB962C8B-B14F-4D97-AF65-F5344CB8AC3E}">
        <p14:creationId xmlns:p14="http://schemas.microsoft.com/office/powerpoint/2010/main" val="30942009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Threads &amp; Processes</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CDC7B9E-D6B5-719A-3445-F657AFC037D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BE9B5E6-C9EC-AFE4-C086-3C272A6F12E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latin typeface="Atkinson Hyperlegible Next"/>
                <a:ea typeface="Arial"/>
                <a:cs typeface="Arial"/>
                <a:sym typeface="Arial"/>
              </a:rPr>
              <a:t>Warning</a:t>
            </a:r>
            <a:r>
              <a:rPr lang="en-US" sz="1800" dirty="0">
                <a:latin typeface="Atkinson Hyperlegible Next"/>
                <a:ea typeface="Arial"/>
                <a:cs typeface="Arial"/>
                <a:sym typeface="Arial"/>
              </a:rPr>
              <a:t>: This lecture is going to be very high level of what threads and processes are. </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There is an incredibly big rabbit hole of complexity. If you want to really understand things properly. I would highly recommend the following videos in order:</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342900" lvl="0">
              <a:lnSpc>
                <a:spcPct val="100000"/>
              </a:lnSpc>
              <a:spcBef>
                <a:spcPts val="0"/>
              </a:spcBef>
              <a:buSzPct val="100000"/>
              <a:buAutoNum type="arabicParenR"/>
            </a:pPr>
            <a:r>
              <a:rPr lang="en-US" sz="1400" dirty="0">
                <a:latin typeface="Atkinson Hyperlegible Next"/>
                <a:ea typeface="Arial"/>
                <a:cs typeface="Arial"/>
                <a:sym typeface="Arial"/>
              </a:rPr>
              <a:t>The definition of a process vs a program (8 min): </a:t>
            </a:r>
            <a:r>
              <a:rPr lang="en-US" sz="1400" dirty="0">
                <a:latin typeface="Atkinson Hyperlegible Next"/>
                <a:ea typeface="Arial"/>
                <a:cs typeface="Arial"/>
                <a:sym typeface="Arial"/>
                <a:hlinkClick r:id="rId3"/>
              </a:rPr>
              <a:t>https://youtu.be/7ge7u5VUSbE?si=O0Uba2lTkLotpd87</a:t>
            </a:r>
            <a:r>
              <a:rPr lang="en-US" sz="1400" dirty="0">
                <a:latin typeface="Atkinson Hyperlegible Next"/>
                <a:ea typeface="Arial"/>
                <a:cs typeface="Arial"/>
                <a:sym typeface="Arial"/>
              </a:rPr>
              <a:t> </a:t>
            </a:r>
          </a:p>
          <a:p>
            <a:pPr marL="342900" lvl="0">
              <a:lnSpc>
                <a:spcPct val="100000"/>
              </a:lnSpc>
              <a:spcBef>
                <a:spcPts val="0"/>
              </a:spcBef>
              <a:buSzPct val="100000"/>
              <a:buAutoNum type="arabicParenR"/>
            </a:pPr>
            <a:r>
              <a:rPr lang="en-US" sz="1400" dirty="0">
                <a:latin typeface="Atkinson Hyperlegible Next"/>
                <a:ea typeface="Arial"/>
                <a:cs typeface="Arial"/>
                <a:sym typeface="Arial"/>
              </a:rPr>
              <a:t>What a process actual and how it works (16 min): </a:t>
            </a:r>
            <a:r>
              <a:rPr lang="en-US" sz="1400" dirty="0">
                <a:latin typeface="Atkinson Hyperlegible Next"/>
                <a:ea typeface="Arial"/>
                <a:cs typeface="Arial"/>
                <a:sym typeface="Arial"/>
                <a:hlinkClick r:id="rId4"/>
              </a:rPr>
              <a:t>https://youtu.be/LDhoD4IVElk?si=wzx11WVn2Ow84q__</a:t>
            </a:r>
            <a:r>
              <a:rPr lang="en-US" sz="1400" dirty="0">
                <a:latin typeface="Atkinson Hyperlegible Next"/>
                <a:ea typeface="Arial"/>
                <a:cs typeface="Arial"/>
                <a:sym typeface="Arial"/>
              </a:rPr>
              <a:t> </a:t>
            </a:r>
          </a:p>
          <a:p>
            <a:pPr marL="342900" lvl="0">
              <a:lnSpc>
                <a:spcPct val="100000"/>
              </a:lnSpc>
              <a:spcBef>
                <a:spcPts val="0"/>
              </a:spcBef>
              <a:buSzPct val="100000"/>
              <a:buAutoNum type="arabicParenR"/>
            </a:pPr>
            <a:r>
              <a:rPr lang="en-US" sz="1400" dirty="0">
                <a:latin typeface="Atkinson Hyperlegible Next"/>
                <a:ea typeface="Arial"/>
                <a:cs typeface="Arial"/>
                <a:sym typeface="Arial"/>
              </a:rPr>
              <a:t>IPC to share memory between processes (14 min): </a:t>
            </a:r>
            <a:r>
              <a:rPr lang="en-US" sz="1400" dirty="0">
                <a:latin typeface="Atkinson Hyperlegible Next"/>
                <a:ea typeface="Arial"/>
                <a:cs typeface="Arial"/>
                <a:sym typeface="Arial"/>
                <a:hlinkClick r:id="rId5"/>
              </a:rPr>
              <a:t>https://youtu.be/Y2mDwW2pMv4?si=BAZ74dU6Yn5dNik2</a:t>
            </a:r>
            <a:r>
              <a:rPr lang="en-US" sz="1400" dirty="0">
                <a:latin typeface="Atkinson Hyperlegible Next"/>
                <a:ea typeface="Arial"/>
                <a:cs typeface="Arial"/>
                <a:sym typeface="Arial"/>
              </a:rPr>
              <a:t> </a:t>
            </a:r>
          </a:p>
          <a:p>
            <a:pPr marL="342900" lvl="0">
              <a:lnSpc>
                <a:spcPct val="100000"/>
              </a:lnSpc>
              <a:spcBef>
                <a:spcPts val="0"/>
              </a:spcBef>
              <a:buSzPct val="100000"/>
              <a:buAutoNum type="arabicParenR"/>
            </a:pPr>
            <a:r>
              <a:rPr lang="en-US" sz="1400" dirty="0">
                <a:latin typeface="Atkinson Hyperlegible Next"/>
                <a:ea typeface="Arial"/>
                <a:cs typeface="Arial"/>
                <a:sym typeface="Arial"/>
              </a:rPr>
              <a:t>What are threads, and how they work on single core processors (16 min): </a:t>
            </a:r>
            <a:r>
              <a:rPr lang="en-US" sz="1400" dirty="0">
                <a:latin typeface="Atkinson Hyperlegible Next"/>
                <a:ea typeface="Arial"/>
                <a:cs typeface="Arial"/>
                <a:sym typeface="Arial"/>
                <a:hlinkClick r:id="rId6"/>
              </a:rPr>
              <a:t>https://youtu.be/M9HHWFp84f0?si=NMBI0whrwmfuv7IA</a:t>
            </a:r>
            <a:r>
              <a:rPr lang="en-US" sz="1400" dirty="0">
                <a:latin typeface="Atkinson Hyperlegible Next"/>
                <a:ea typeface="Arial"/>
                <a:cs typeface="Arial"/>
                <a:sym typeface="Arial"/>
              </a:rPr>
              <a:t> </a:t>
            </a:r>
          </a:p>
          <a:p>
            <a:pPr marL="342900" lvl="0">
              <a:lnSpc>
                <a:spcPct val="100000"/>
              </a:lnSpc>
              <a:spcBef>
                <a:spcPts val="0"/>
              </a:spcBef>
              <a:buSzPct val="100000"/>
              <a:buAutoNum type="arabicParenR"/>
            </a:pPr>
            <a:r>
              <a:rPr lang="en-US" sz="1400" dirty="0">
                <a:latin typeface="Atkinson Hyperlegible Next"/>
                <a:ea typeface="Arial"/>
                <a:cs typeface="Arial"/>
                <a:sym typeface="Arial"/>
              </a:rPr>
              <a:t>Threads on multicore systems (11 min): </a:t>
            </a:r>
            <a:r>
              <a:rPr lang="en-US" sz="1400" dirty="0">
                <a:latin typeface="Atkinson Hyperlegible Next"/>
                <a:ea typeface="Arial"/>
                <a:cs typeface="Arial"/>
                <a:sym typeface="Arial"/>
                <a:hlinkClick r:id="rId7"/>
              </a:rPr>
              <a:t>https://youtu.be/5sw9XJokAqw?si=IvZqqokTP5nwP-uN</a:t>
            </a:r>
            <a:r>
              <a:rPr lang="en-US" sz="1400" dirty="0">
                <a:latin typeface="Atkinson Hyperlegible Next"/>
                <a:ea typeface="Arial"/>
                <a:cs typeface="Arial"/>
                <a:sym typeface="Arial"/>
              </a:rPr>
              <a:t> </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Total of 65 minutes.</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You can also practice and get additional details reading </a:t>
            </a:r>
            <a:r>
              <a:rPr lang="en-US" sz="1800" dirty="0">
                <a:latin typeface="Atkinson Hyperlegible Next"/>
                <a:ea typeface="Arial"/>
                <a:cs typeface="Arial"/>
                <a:sym typeface="Arial"/>
                <a:hlinkClick r:id="rId8"/>
              </a:rPr>
              <a:t>https://kuleuven-diepenbeek.github.io/osc-course/ch6-tasks/</a:t>
            </a:r>
            <a:r>
              <a:rPr lang="en-US" sz="1800" dirty="0">
                <a:latin typeface="Atkinson Hyperlegible Next"/>
                <a:ea typeface="Arial"/>
                <a:cs typeface="Arial"/>
                <a:sym typeface="Arial"/>
              </a:rPr>
              <a:t> </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61FC49C-363E-1518-EE0D-C14A627E317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BF29CFC-3BD9-4907-763D-FB88C6A806E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433AF55-A704-8553-EC43-9D0B3310F4C5}"/>
              </a:ext>
            </a:extLst>
          </p:cNvPr>
          <p:cNvPicPr preferRelativeResize="0"/>
          <p:nvPr/>
        </p:nvPicPr>
        <p:blipFill rotWithShape="1">
          <a:blip r:embed="rId9">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4B20395-0C2D-3C9F-6648-70856BB2BCD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1271828-7934-3E1E-F124-3E54CF680D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1B99320-8820-0C63-606D-4B46BD57687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C6BF32-0FA1-2108-8A9F-817D5749B8B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6AC8476-45AE-98F4-6925-AA0D1B82A9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888029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027581C-0D73-7C46-C865-34BA9EBE48F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E77D6BC-02F8-AA14-11B6-3152B2A5C6D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A </a:t>
            </a:r>
            <a:r>
              <a:rPr lang="en-US" sz="3200" b="1" dirty="0">
                <a:latin typeface="Atkinson Hyperlegible Next"/>
                <a:ea typeface="Arial"/>
                <a:cs typeface="Arial"/>
                <a:sym typeface="Arial"/>
              </a:rPr>
              <a:t>process</a:t>
            </a:r>
            <a:r>
              <a:rPr lang="en-US" sz="3200" dirty="0">
                <a:latin typeface="Atkinson Hyperlegible Next"/>
                <a:ea typeface="Arial"/>
                <a:cs typeface="Arial"/>
                <a:sym typeface="Arial"/>
              </a:rPr>
              <a:t> is, informally “a program in execution”. </a:t>
            </a:r>
          </a:p>
          <a:p>
            <a:pPr marL="0" lvl="0" indent="0" algn="l" rtl="0">
              <a:lnSpc>
                <a:spcPct val="100000"/>
              </a:lnSpc>
              <a:spcBef>
                <a:spcPts val="0"/>
              </a:spcBef>
              <a:spcAft>
                <a:spcPts val="0"/>
              </a:spcAft>
              <a:buSzPts val="3000"/>
              <a:buNone/>
            </a:pPr>
            <a:endParaRPr lang="en-US" sz="3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A </a:t>
            </a:r>
            <a:r>
              <a:rPr lang="en-US" sz="3200" b="1" dirty="0">
                <a:latin typeface="Atkinson Hyperlegible Next"/>
                <a:ea typeface="Arial"/>
                <a:cs typeface="Arial"/>
                <a:sym typeface="Arial"/>
              </a:rPr>
              <a:t>program</a:t>
            </a:r>
            <a:r>
              <a:rPr lang="en-US" sz="3200" dirty="0">
                <a:latin typeface="Atkinson Hyperlegible Next"/>
                <a:ea typeface="Arial"/>
                <a:cs typeface="Arial"/>
                <a:sym typeface="Arial"/>
              </a:rPr>
              <a:t> is a set of CPU instructions and the data necessary for its task. Which is essential an executable file. It stays in your file storage waiting to be run.</a:t>
            </a:r>
          </a:p>
          <a:p>
            <a:pPr marL="0" lvl="0" indent="0" algn="l" rtl="0">
              <a:lnSpc>
                <a:spcPct val="100000"/>
              </a:lnSpc>
              <a:spcBef>
                <a:spcPts val="0"/>
              </a:spcBef>
              <a:spcAft>
                <a:spcPts val="0"/>
              </a:spcAft>
              <a:buSzPts val="3000"/>
              <a:buNone/>
            </a:pPr>
            <a:endParaRPr lang="en-US" sz="3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When you run the program, it needs more than that data to be able to run its task which are placed in the heap and the stack, which change dynamically in size.</a:t>
            </a:r>
          </a:p>
        </p:txBody>
      </p:sp>
      <p:sp>
        <p:nvSpPr>
          <p:cNvPr id="119" name="Google Shape;119;p29">
            <a:extLst>
              <a:ext uri="{FF2B5EF4-FFF2-40B4-BE49-F238E27FC236}">
                <a16:creationId xmlns:a16="http://schemas.microsoft.com/office/drawing/2014/main" id="{14BD2305-77FA-E77F-A511-0493B667A3E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0AC1D3F-8AA9-CA78-35CF-0E9F211B776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14C71DC-B7DD-738E-7898-466BB5025B4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D3CAAF-E763-2C68-9755-2C0C91B2BA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BB86B1E-A333-F1FE-7CCE-39F1B51521D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486BC27-F47C-06F2-49E1-D894C4FF272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C3CE2B-9B53-9296-1D1B-B393FB891E2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03026E3-F689-3B04-8116-FCB56A9744A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542064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172D26C-2C3C-2081-130C-403B33B5FEA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FE96C07-C21C-4B93-80D8-ED1EB2BEED7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000" dirty="0">
                <a:latin typeface="Atkinson Hyperlegible Next"/>
                <a:ea typeface="Arial"/>
                <a:cs typeface="Arial"/>
                <a:sym typeface="Arial"/>
              </a:rPr>
              <a:t>The combination of a code, data, stack, heap, and some extra information the information is the </a:t>
            </a:r>
            <a:r>
              <a:rPr lang="en-US" sz="2000" b="1" dirty="0">
                <a:latin typeface="Atkinson Hyperlegible Next"/>
                <a:ea typeface="Arial"/>
                <a:cs typeface="Arial"/>
                <a:sym typeface="Arial"/>
              </a:rPr>
              <a:t>process</a:t>
            </a:r>
            <a:r>
              <a:rPr lang="en-US" sz="2000" dirty="0">
                <a:latin typeface="Atkinson Hyperlegible Next"/>
                <a:ea typeface="Arial"/>
                <a:cs typeface="Arial"/>
                <a:sym typeface="Arial"/>
              </a:rPr>
              <a:t>.</a:t>
            </a:r>
          </a:p>
          <a:p>
            <a:pPr marL="0" lvl="0" indent="0">
              <a:lnSpc>
                <a:spcPct val="100000"/>
              </a:lnSpc>
              <a:spcBef>
                <a:spcPts val="0"/>
              </a:spcBef>
              <a:buSzPts val="3000"/>
              <a:buNone/>
            </a:pPr>
            <a:endParaRPr lang="en-US" sz="2000" dirty="0">
              <a:latin typeface="Atkinson Hyperlegible Next"/>
              <a:ea typeface="Arial"/>
              <a:cs typeface="Arial"/>
              <a:sym typeface="Arial"/>
            </a:endParaRPr>
          </a:p>
          <a:p>
            <a:pPr marL="0" lvl="0" indent="0">
              <a:lnSpc>
                <a:spcPct val="100000"/>
              </a:lnSpc>
              <a:spcBef>
                <a:spcPts val="0"/>
              </a:spcBef>
              <a:buSzPts val="3000"/>
              <a:buNone/>
            </a:pPr>
            <a:r>
              <a:rPr lang="en-US" sz="2000" dirty="0">
                <a:latin typeface="Atkinson Hyperlegible Next"/>
                <a:ea typeface="Arial"/>
                <a:cs typeface="Arial"/>
                <a:sym typeface="Arial"/>
              </a:rPr>
              <a:t>Whenever you think of opening Google Chrome, </a:t>
            </a:r>
            <a:r>
              <a:rPr lang="en-US" sz="2000" dirty="0" err="1">
                <a:latin typeface="Atkinson Hyperlegible Next"/>
                <a:ea typeface="Arial"/>
                <a:cs typeface="Arial"/>
                <a:sym typeface="Arial"/>
              </a:rPr>
              <a:t>VSCode</a:t>
            </a:r>
            <a:r>
              <a:rPr lang="en-US" sz="2000" dirty="0">
                <a:latin typeface="Atkinson Hyperlegible Next"/>
                <a:ea typeface="Arial"/>
                <a:cs typeface="Arial"/>
                <a:sym typeface="Arial"/>
              </a:rPr>
              <a:t>, </a:t>
            </a:r>
            <a:r>
              <a:rPr lang="en-US" sz="2000" dirty="0" err="1">
                <a:latin typeface="Atkinson Hyperlegible Next"/>
                <a:ea typeface="Arial"/>
                <a:cs typeface="Arial"/>
                <a:sym typeface="Arial"/>
              </a:rPr>
              <a:t>CodeComposer</a:t>
            </a:r>
            <a:r>
              <a:rPr lang="en-US" sz="2000" dirty="0">
                <a:latin typeface="Atkinson Hyperlegible Next"/>
                <a:ea typeface="Arial"/>
                <a:cs typeface="Arial"/>
                <a:sym typeface="Arial"/>
              </a:rPr>
              <a:t> and the likes. You are starting a process from a program.</a:t>
            </a:r>
          </a:p>
          <a:p>
            <a:pPr marL="0" lvl="0" indent="0">
              <a:lnSpc>
                <a:spcPct val="100000"/>
              </a:lnSpc>
              <a:spcBef>
                <a:spcPts val="0"/>
              </a:spcBef>
              <a:buSzPts val="3000"/>
              <a:buNone/>
            </a:pPr>
            <a:endParaRPr lang="en-US" sz="2000" dirty="0">
              <a:latin typeface="Atkinson Hyperlegible Next"/>
              <a:ea typeface="Arial"/>
              <a:cs typeface="Arial"/>
              <a:sym typeface="Arial"/>
            </a:endParaRPr>
          </a:p>
          <a:p>
            <a:pPr marL="0" lvl="0" indent="0">
              <a:lnSpc>
                <a:spcPct val="100000"/>
              </a:lnSpc>
              <a:spcBef>
                <a:spcPts val="0"/>
              </a:spcBef>
              <a:buSzPts val="3000"/>
              <a:buNone/>
            </a:pPr>
            <a:r>
              <a:rPr lang="en-US" sz="2000" dirty="0">
                <a:latin typeface="Atkinson Hyperlegible Next"/>
                <a:ea typeface="Arial"/>
                <a:cs typeface="Arial"/>
                <a:sym typeface="Arial"/>
              </a:rPr>
              <a:t>The “.exe” represents the program and then an instance of </a:t>
            </a:r>
            <a:r>
              <a:rPr lang="en-US" sz="2000" dirty="0" err="1">
                <a:latin typeface="Atkinson Hyperlegible Next"/>
                <a:ea typeface="Arial"/>
                <a:cs typeface="Arial"/>
                <a:sym typeface="Arial"/>
              </a:rPr>
              <a:t>VSCode</a:t>
            </a:r>
            <a:r>
              <a:rPr lang="en-US" sz="2000" dirty="0">
                <a:latin typeface="Atkinson Hyperlegible Next"/>
                <a:ea typeface="Arial"/>
                <a:cs typeface="Arial"/>
                <a:sym typeface="Arial"/>
              </a:rPr>
              <a:t> represents a process. As you add more tabs or write more code, the editor’s heap / stack size increases, differing from the initial program.</a:t>
            </a:r>
          </a:p>
          <a:p>
            <a:pPr marL="0" lvl="0" indent="0">
              <a:lnSpc>
                <a:spcPct val="100000"/>
              </a:lnSpc>
              <a:spcBef>
                <a:spcPts val="0"/>
              </a:spcBef>
              <a:buSzPts val="3000"/>
              <a:buNone/>
            </a:pPr>
            <a:endParaRPr lang="en-US" sz="2000" dirty="0">
              <a:latin typeface="Atkinson Hyperlegible Next"/>
              <a:ea typeface="Arial"/>
              <a:cs typeface="Arial"/>
              <a:sym typeface="Arial"/>
            </a:endParaRPr>
          </a:p>
          <a:p>
            <a:pPr marL="0" lvl="0" indent="0">
              <a:lnSpc>
                <a:spcPct val="100000"/>
              </a:lnSpc>
              <a:spcBef>
                <a:spcPts val="0"/>
              </a:spcBef>
              <a:buSzPts val="3000"/>
              <a:buNone/>
            </a:pPr>
            <a:r>
              <a:rPr lang="en-US" sz="2000" dirty="0">
                <a:latin typeface="Atkinson Hyperlegible Next"/>
                <a:ea typeface="Arial"/>
                <a:cs typeface="Arial"/>
                <a:sym typeface="Arial"/>
              </a:rPr>
              <a:t>The CPU then cycles between the running process and switches the context that it is looking at.</a:t>
            </a:r>
          </a:p>
        </p:txBody>
      </p:sp>
      <p:sp>
        <p:nvSpPr>
          <p:cNvPr id="119" name="Google Shape;119;p29">
            <a:extLst>
              <a:ext uri="{FF2B5EF4-FFF2-40B4-BE49-F238E27FC236}">
                <a16:creationId xmlns:a16="http://schemas.microsoft.com/office/drawing/2014/main" id="{805DFAE5-41EE-DB8D-16EE-D5C6C012973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1164221-BA2C-349A-C9C0-67EEA69B908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52F6AB1-51F2-AF4D-C6A4-4EB0D776D99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94E866C-BC44-6B27-D499-E88AC40BCB5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2CDFEB3-EAFC-1F22-B18A-D71B10E47A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2FE79E9-DB19-FCEE-AF8A-96BD7084460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7C13BDD-4B10-5A31-C51E-D465326CA5E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5067003-C25F-1B7F-3924-73BFE06AA2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8747519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0FD7469-3CA5-9518-72BC-5E6DE842CD5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F032B92-4308-ABB7-D3D7-9FBE166434E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1B783E3-58F6-C252-65FF-A86041805A5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AF31709-F770-CD0E-8D90-D8A6C9396F6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5727398-17D9-D751-7597-00F93E2FBF5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7C3F289-57A7-7D94-BBD2-E4B93E50045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6F82AB-37C8-61D1-296A-1358F0EAFED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9EA997C-47D2-DBCA-068C-CBA8FD4C935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373F726-913D-50C3-C3A9-9781F676F75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37FA345C-4752-80EA-4EE5-96ACE5EA7976}"/>
              </a:ext>
            </a:extLst>
          </p:cNvPr>
          <p:cNvSpPr>
            <a:spLocks noGrp="1"/>
          </p:cNvSpPr>
          <p:nvPr>
            <p:ph type="body" idx="1"/>
          </p:nvPr>
        </p:nvSpPr>
        <p:spPr>
          <a:xfrm>
            <a:off x="4571422" y="6210300"/>
            <a:ext cx="3049156" cy="391237"/>
          </a:xfrm>
        </p:spPr>
        <p:txBody>
          <a:bodyPr>
            <a:normAutofit/>
          </a:bodyPr>
          <a:lstStyle/>
          <a:p>
            <a:pPr marL="114300" indent="0" algn="ctr">
              <a:buNone/>
            </a:pPr>
            <a:r>
              <a:rPr lang="en-US" sz="1000" dirty="0">
                <a:hlinkClick r:id="rId4"/>
              </a:rPr>
              <a:t>https://www.youtube.com/watch?v=7ge7u5VUSbE</a:t>
            </a:r>
            <a:r>
              <a:rPr lang="en-US" sz="1000" dirty="0"/>
              <a:t> </a:t>
            </a:r>
          </a:p>
        </p:txBody>
      </p:sp>
      <p:pic>
        <p:nvPicPr>
          <p:cNvPr id="5" name="Picture 4" descr="Diagram: memory layout of a process, shown as a vertical column divided top to bottom into four regions: text, data, heap, and stack, with unused memory above and below. Text and data are bracketed together and highlighted as the program, while heap and stack are separate regions outside the program portion. The heap is the largest region.">
            <a:extLst>
              <a:ext uri="{FF2B5EF4-FFF2-40B4-BE49-F238E27FC236}">
                <a16:creationId xmlns:a16="http://schemas.microsoft.com/office/drawing/2014/main" id="{A38C60A1-C66E-CE47-28E4-763F4132E6BF}"/>
              </a:ext>
            </a:extLst>
          </p:cNvPr>
          <p:cNvPicPr>
            <a:picLocks noChangeAspect="1"/>
          </p:cNvPicPr>
          <p:nvPr/>
        </p:nvPicPr>
        <p:blipFill>
          <a:blip r:embed="rId5"/>
          <a:srcRect/>
          <a:stretch/>
        </p:blipFill>
        <p:spPr>
          <a:xfrm>
            <a:off x="6980996" y="899495"/>
            <a:ext cx="4712167" cy="5420764"/>
          </a:xfrm>
          <a:prstGeom prst="rect">
            <a:avLst/>
          </a:prstGeom>
        </p:spPr>
      </p:pic>
      <p:pic>
        <p:nvPicPr>
          <p:cNvPr id="4" name="Picture 3" descr="Diagram: an executable file shown as a column of 8-bit binary words, split into two sections. The upper ten words are bracketed as CPU instructions and the lower five words as data. A larger bracket around both labels the whole as an executable file, illustrating that a program on disk is machine instructions plus data, all stored as binary.">
            <a:extLst>
              <a:ext uri="{FF2B5EF4-FFF2-40B4-BE49-F238E27FC236}">
                <a16:creationId xmlns:a16="http://schemas.microsoft.com/office/drawing/2014/main" id="{5AAA68F8-9D75-7853-D652-AFBB9C534ED2}"/>
              </a:ext>
            </a:extLst>
          </p:cNvPr>
          <p:cNvPicPr>
            <a:picLocks noChangeAspect="1"/>
          </p:cNvPicPr>
          <p:nvPr/>
        </p:nvPicPr>
        <p:blipFill>
          <a:blip r:embed="rId6"/>
          <a:stretch>
            <a:fillRect/>
          </a:stretch>
        </p:blipFill>
        <p:spPr>
          <a:xfrm>
            <a:off x="95693" y="1961024"/>
            <a:ext cx="6885303" cy="3303126"/>
          </a:xfrm>
          <a:prstGeom prst="rect">
            <a:avLst/>
          </a:prstGeom>
        </p:spPr>
      </p:pic>
    </p:spTree>
    <p:extLst>
      <p:ext uri="{BB962C8B-B14F-4D97-AF65-F5344CB8AC3E}">
        <p14:creationId xmlns:p14="http://schemas.microsoft.com/office/powerpoint/2010/main" val="26009294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0BC310-7EE0-0780-9A81-003DCFCB0A0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23FB07C-5ED3-7B91-60D7-D3DFD4C2D7C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3A6B4A9-6919-E3FE-71A9-5A9EF61805A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B78BA1D-4C81-9ED9-E2EC-49F3177C380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F8C6808-E087-E9C0-2384-98DB040D048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8159048-8A6D-BE9C-80CA-2EDB775345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8CD1EC3-C513-982E-BB8E-C01DD38D1C9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7B46D53-5A72-FCB7-E384-6BCB5972093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C7F32A-2B33-152F-D0C0-4B4F11ECE8D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58591162-ECC0-2633-3413-7FEC7AAB29E7}"/>
              </a:ext>
            </a:extLst>
          </p:cNvPr>
          <p:cNvSpPr>
            <a:spLocks noGrp="1"/>
          </p:cNvSpPr>
          <p:nvPr>
            <p:ph type="body" idx="1"/>
          </p:nvPr>
        </p:nvSpPr>
        <p:spPr>
          <a:xfrm>
            <a:off x="4571422" y="6210300"/>
            <a:ext cx="3049156" cy="391237"/>
          </a:xfrm>
        </p:spPr>
        <p:txBody>
          <a:bodyPr>
            <a:normAutofit/>
          </a:bodyPr>
          <a:lstStyle/>
          <a:p>
            <a:pPr marL="114300" indent="0" algn="ctr">
              <a:buNone/>
            </a:pPr>
            <a:r>
              <a:rPr lang="en-US" sz="1000" dirty="0">
                <a:hlinkClick r:id="rId4"/>
              </a:rPr>
              <a:t>https://www.youtube.com/watch?v=7ge7u5VUSbE</a:t>
            </a:r>
            <a:r>
              <a:rPr lang="en-US" sz="1000" dirty="0"/>
              <a:t> </a:t>
            </a:r>
          </a:p>
        </p:txBody>
      </p:sp>
      <p:pic>
        <p:nvPicPr>
          <p:cNvPr id="5" name="Picture 4" descr="Screenshot from the linked video: a memory column holds two separate process memory regions with unused memory above, between, and below them. Each region contains, top to bottom, TEXT (executable code), then DATA, HEAP, and STACK (labeled process data). Process 1's region is larger mainly because its heap is much bigger than Process 2's. On the left, the video creator's script notes explain that text and data are fixed-size, while heap and stack hold runtime data, making a loaded program a process.">
            <a:extLst>
              <a:ext uri="{FF2B5EF4-FFF2-40B4-BE49-F238E27FC236}">
                <a16:creationId xmlns:a16="http://schemas.microsoft.com/office/drawing/2014/main" id="{F96529A1-B40E-A8F2-D80D-74408277B80A}"/>
              </a:ext>
            </a:extLst>
          </p:cNvPr>
          <p:cNvPicPr>
            <a:picLocks noChangeAspect="1"/>
          </p:cNvPicPr>
          <p:nvPr/>
        </p:nvPicPr>
        <p:blipFill>
          <a:blip r:embed="rId5"/>
          <a:stretch>
            <a:fillRect/>
          </a:stretch>
        </p:blipFill>
        <p:spPr>
          <a:xfrm>
            <a:off x="1136873" y="906290"/>
            <a:ext cx="9918254" cy="5420764"/>
          </a:xfrm>
          <a:prstGeom prst="rect">
            <a:avLst/>
          </a:prstGeom>
        </p:spPr>
      </p:pic>
    </p:spTree>
    <p:extLst>
      <p:ext uri="{BB962C8B-B14F-4D97-AF65-F5344CB8AC3E}">
        <p14:creationId xmlns:p14="http://schemas.microsoft.com/office/powerpoint/2010/main" val="6888321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A200502-3639-1A9A-55C7-EC77CF23B27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71DFD30-25DD-F697-8DDE-A5D26001B96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A </a:t>
            </a:r>
            <a:r>
              <a:rPr lang="en-US" b="1" dirty="0">
                <a:latin typeface="Atkinson Hyperlegible Next"/>
                <a:ea typeface="Arial"/>
                <a:cs typeface="Arial"/>
                <a:sym typeface="Arial"/>
              </a:rPr>
              <a:t>thread</a:t>
            </a:r>
            <a:r>
              <a:rPr lang="en-US" dirty="0">
                <a:latin typeface="Atkinson Hyperlegible Next"/>
                <a:ea typeface="Arial"/>
                <a:cs typeface="Arial"/>
                <a:sym typeface="Arial"/>
              </a:rPr>
              <a:t> is the smallest unit of a process.</a:t>
            </a:r>
          </a:p>
          <a:p>
            <a:pPr marL="0" lvl="0" indent="0" algn="l" rtl="0">
              <a:lnSpc>
                <a:spcPct val="100000"/>
              </a:lnSpc>
              <a:spcBef>
                <a:spcPts val="0"/>
              </a:spcBef>
              <a:spcAft>
                <a:spcPts val="0"/>
              </a:spcAft>
              <a:buSzPts val="3000"/>
              <a:buNone/>
            </a:pPr>
            <a:endParaRPr lang="en-US" b="1"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A thread executes a sequence of operations for a process. Each threads maintains the same code, heap and data from the process; however, they have their own registers, program counter and stack.</a:t>
            </a:r>
          </a:p>
          <a:p>
            <a:pPr marL="0" lvl="0" indent="0" algn="l" rtl="0">
              <a:lnSpc>
                <a:spcPct val="100000"/>
              </a:lnSpc>
              <a:spcBef>
                <a:spcPts val="0"/>
              </a:spcBef>
              <a:spcAft>
                <a:spcPts val="0"/>
              </a:spcAft>
              <a:buSzPts val="3000"/>
              <a:buNone/>
            </a:pPr>
            <a:endParaRPr lang="en-US"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Every process runs initially on a single-threaded way with the “main” thread.</a:t>
            </a:r>
          </a:p>
          <a:p>
            <a:pPr marL="0" lvl="0" indent="0" algn="l" rtl="0">
              <a:lnSpc>
                <a:spcPct val="100000"/>
              </a:lnSpc>
              <a:spcBef>
                <a:spcPts val="0"/>
              </a:spcBef>
              <a:spcAft>
                <a:spcPts val="0"/>
              </a:spcAft>
              <a:buSzPts val="3000"/>
              <a:buNone/>
            </a:pPr>
            <a:endParaRPr lang="en-US"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However, it is possible to dynamically allocate the number of threads for your application to make it </a:t>
            </a:r>
            <a:r>
              <a:rPr lang="en-US" b="1" dirty="0">
                <a:latin typeface="Atkinson Hyperlegible Next"/>
                <a:ea typeface="Arial"/>
                <a:cs typeface="Arial"/>
                <a:sym typeface="Arial"/>
              </a:rPr>
              <a:t>multi-thread.</a:t>
            </a:r>
          </a:p>
          <a:p>
            <a:pPr marL="0" lvl="0" indent="0" algn="l" rtl="0">
              <a:lnSpc>
                <a:spcPct val="100000"/>
              </a:lnSpc>
              <a:spcBef>
                <a:spcPts val="0"/>
              </a:spcBef>
              <a:spcAft>
                <a:spcPts val="0"/>
              </a:spcAft>
              <a:buSzPts val="3000"/>
              <a:buNone/>
            </a:pPr>
            <a:endParaRPr lang="en-US" b="1" dirty="0">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51C42516-5CEF-BC0E-08B1-7AB3B60EC4C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97E63E3-B960-F099-C261-4DC130638B1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445F871-8C07-CF8A-8568-FAAD6CE6465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7589556-C3AF-1ED3-C700-ED0E564809E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2A9681E-5020-AF42-D1E1-1059D8DB1AD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F69E32D-4542-0DE5-7EE5-92A3FB63AFE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CDD48A8-5CFB-4542-FF02-165004FC00C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BB455E8-9321-B18F-3C9E-B9EFE42AA4A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328725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1B59B00-D6EF-F0D7-21D0-BFA95D3D412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4AE6B84-C700-5891-204F-CA0AFF61CC2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1800" dirty="0">
                <a:latin typeface="Atkinson Hyperlegible Next"/>
                <a:ea typeface="Arial"/>
                <a:cs typeface="Arial"/>
                <a:sym typeface="Arial"/>
              </a:rPr>
              <a:t>Depending on your CPU and how many cores you have you will be able to parallelize how many threads can run at once.</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A CPU with 4 cores allows you to run 4 threads in parallel, while a CPU with 8 cores allows you to run 8 in parallel.</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What happens if you have more threads than cores, i.e., 1 core and wanting to use 8 threads?</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Would we want to wait for one thread to finish before continuing another one? What happens if you must wait for a large file transfer to happen?</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This is where scheduler works!</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Essentially every thread is given a tiny bit of time to execute an instruction and then you cycle to the next thread, and you do this so fast it seems like you are running in parallel.</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5457ADC6-FFBE-6253-9999-75212DD9AAF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576121-230D-2464-9681-6B0CC23EE82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AE277A3-1714-E0D2-F651-71CA1BBA182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C18E01-E767-DF0D-3F9C-103F5CB917B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17F050-8F87-EA04-E93A-3CA6B58CF9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4E13783-41DC-87A9-0FA7-6CBF4C29E04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377E984-575E-49C4-3652-474C97C013A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D1830A-B7F4-0F65-1F60-47D85DCFBEB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801101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3F3B881-52D9-0E19-407D-A9065F80C0D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245E6A9-0E32-A998-7B3E-6951EC919B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400" dirty="0">
                <a:latin typeface="Atkinson Hyperlegible Next"/>
                <a:ea typeface="Arial"/>
                <a:cs typeface="Arial"/>
                <a:sym typeface="Arial"/>
              </a:rPr>
              <a:t>The Red Board is a dual-core microcontroller; however, we only use one CPU1. </a:t>
            </a:r>
          </a:p>
          <a:p>
            <a:pPr marL="0" lvl="0" indent="0">
              <a:lnSpc>
                <a:spcPct val="100000"/>
              </a:lnSpc>
              <a:spcBef>
                <a:spcPts val="0"/>
              </a:spcBef>
              <a:buSzPts val="3000"/>
              <a:buNone/>
            </a:pPr>
            <a:endParaRPr lang="en-US" sz="2400" dirty="0">
              <a:latin typeface="Atkinson Hyperlegible Next"/>
              <a:ea typeface="Arial"/>
              <a:cs typeface="Arial"/>
              <a:sym typeface="Arial"/>
            </a:endParaRPr>
          </a:p>
          <a:p>
            <a:pPr marL="0" lvl="0" indent="0">
              <a:lnSpc>
                <a:spcPct val="100000"/>
              </a:lnSpc>
              <a:spcBef>
                <a:spcPts val="0"/>
              </a:spcBef>
              <a:buSzPts val="3000"/>
              <a:buNone/>
            </a:pPr>
            <a:r>
              <a:rPr lang="en-US" sz="2400" dirty="0">
                <a:latin typeface="Atkinson Hyperlegible Next"/>
                <a:ea typeface="Arial"/>
                <a:cs typeface="Arial"/>
                <a:sym typeface="Arial"/>
              </a:rPr>
              <a:t>So many threads can it have running in parallel?</a:t>
            </a:r>
          </a:p>
          <a:p>
            <a:pPr marL="0" lvl="0" indent="0">
              <a:lnSpc>
                <a:spcPct val="100000"/>
              </a:lnSpc>
              <a:spcBef>
                <a:spcPts val="0"/>
              </a:spcBef>
              <a:buSzPts val="3000"/>
              <a:buNone/>
            </a:pPr>
            <a:endParaRPr lang="en-US" sz="2400" dirty="0">
              <a:latin typeface="Atkinson Hyperlegible Next"/>
              <a:ea typeface="Arial"/>
              <a:cs typeface="Arial"/>
              <a:sym typeface="Arial"/>
            </a:endParaRPr>
          </a:p>
          <a:p>
            <a:pPr marL="0" lvl="0" indent="0">
              <a:lnSpc>
                <a:spcPct val="100000"/>
              </a:lnSpc>
              <a:spcBef>
                <a:spcPts val="0"/>
              </a:spcBef>
              <a:buSzPts val="3000"/>
              <a:buNone/>
            </a:pPr>
            <a:r>
              <a:rPr lang="en-US" sz="2400" dirty="0">
                <a:latin typeface="Atkinson Hyperlegible Next"/>
                <a:ea typeface="Arial"/>
                <a:cs typeface="Arial"/>
                <a:sym typeface="Arial"/>
              </a:rPr>
              <a:t>Are the CPU timers / interrupts running truly parallelly?</a:t>
            </a:r>
          </a:p>
          <a:p>
            <a:pPr marL="0" lvl="0" indent="0">
              <a:lnSpc>
                <a:spcPct val="100000"/>
              </a:lnSpc>
              <a:spcBef>
                <a:spcPts val="0"/>
              </a:spcBef>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CE56AFB-64BF-81B5-7D80-788EE92EF3F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57CACCD-0244-A29F-829E-B69A0FDB441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D918222-CAB1-6269-5721-31D0D97047B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E4ACBA-84A7-236E-F5BA-A2984A94DD5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B68BEA0-C6CA-9126-05A1-7EC7B4CFCC4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8B7E443-394E-E6E3-91D1-08EE9217003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29F2263-A5B6-66DE-5CF9-B1763587E3D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A2821EB-21E6-2A9B-4CDB-6D8F921596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4406305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400F81-190C-10B8-19CF-AE1DC57AE6A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EBA741E-ED86-0AE0-7182-423C775696C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2D9F3AE-9355-E514-569B-D847103E087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6B07BB9-E588-6A8E-D92A-E0B7EE49EC6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63B9D90-4A9A-EB4A-2777-B5432363187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84D254D-AD17-7A34-EC0D-8705FCAE19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A3D4AF4-A1B9-F545-DFB3-D55DD238EC5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7EB9B0-5697-AD4F-FA6D-C149D9F9B92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DDA4DC6-A2B0-B379-634F-48C0D8E4E10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050" name="Picture 2" descr="Diagram: two single-threaded processes side by side, each completely separate. Each process has its own code, heap and files, plus one thread with its own registers, program counter and stack. Nothing is shared between the two processes.">
            <a:extLst>
              <a:ext uri="{FF2B5EF4-FFF2-40B4-BE49-F238E27FC236}">
                <a16:creationId xmlns:a16="http://schemas.microsoft.com/office/drawing/2014/main" id="{20166750-1C13-A3FF-99A1-2CB80308C6D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54213" y="922910"/>
            <a:ext cx="8283574" cy="5432405"/>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5077D9F8-86E6-5C54-B537-789C20BB0E86}"/>
              </a:ext>
            </a:extLst>
          </p:cNvPr>
          <p:cNvSpPr txBox="1"/>
          <p:nvPr/>
        </p:nvSpPr>
        <p:spPr>
          <a:xfrm>
            <a:off x="4083050" y="6374350"/>
            <a:ext cx="4025900" cy="246221"/>
          </a:xfrm>
          <a:prstGeom prst="rect">
            <a:avLst/>
          </a:prstGeom>
          <a:noFill/>
        </p:spPr>
        <p:txBody>
          <a:bodyPr wrap="square">
            <a:spAutoFit/>
          </a:bodyPr>
          <a:lstStyle/>
          <a:p>
            <a:pPr algn="ctr"/>
            <a:r>
              <a:rPr lang="en-US" sz="1000" dirty="0">
                <a:hlinkClick r:id="rId5"/>
              </a:rPr>
              <a:t>https://kuleuven-diepenbeek.github.io/osc-course/ch6-tasks/threads/</a:t>
            </a:r>
            <a:r>
              <a:rPr lang="en-US" sz="1000" dirty="0"/>
              <a:t> </a:t>
            </a:r>
          </a:p>
        </p:txBody>
      </p:sp>
    </p:spTree>
    <p:extLst>
      <p:ext uri="{BB962C8B-B14F-4D97-AF65-F5344CB8AC3E}">
        <p14:creationId xmlns:p14="http://schemas.microsoft.com/office/powerpoint/2010/main" val="400595238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2875419-CB39-E27B-93D2-861F80D9A78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55CD41E-7D88-EE19-E0C8-CC71F49C9EF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4EFDCF7-28B4-BF76-576B-4EB19CDB9CB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345E457-25D4-2AF4-DD95-7638ED3B4C2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332B446-1E9A-02EA-E1A1-00A63245A11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C6B459A-1000-2B70-B199-9F6CAB1207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4DCB6D7-0307-270B-DFCA-CEC2556B905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206E725-EB96-2247-D880-6430B93711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38277B9-EEA6-A80C-84E2-D8D36DD20A1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050" name="Picture 2" descr="Diagram comparing two processes. Left, a single-threaded process: code, heap, and files sit above one set of registers, program counter, and stack, used by a single thread. Right, a multithreaded process with 3 threads: the code, heap, and files are shared by all threads, but each thread has its own registers, program counter, and stack.">
            <a:extLst>
              <a:ext uri="{FF2B5EF4-FFF2-40B4-BE49-F238E27FC236}">
                <a16:creationId xmlns:a16="http://schemas.microsoft.com/office/drawing/2014/main" id="{B062A763-D041-A592-9822-74D17B82A0DA}"/>
              </a:ext>
            </a:extLst>
          </p:cNvPr>
          <p:cNvPicPr>
            <a:picLocks noChangeAspect="1" noChangeArrowheads="1"/>
          </p:cNvPicPr>
          <p:nvPr/>
        </p:nvPicPr>
        <p:blipFill>
          <a:blip r:embed="rId4"/>
          <a:srcRect/>
          <a:stretch/>
        </p:blipFill>
        <p:spPr bwMode="auto">
          <a:xfrm>
            <a:off x="1954213" y="925673"/>
            <a:ext cx="8283574" cy="5426878"/>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3E80316-9C0D-FE81-263D-AD8D7AF326A9}"/>
              </a:ext>
            </a:extLst>
          </p:cNvPr>
          <p:cNvSpPr txBox="1"/>
          <p:nvPr/>
        </p:nvSpPr>
        <p:spPr>
          <a:xfrm>
            <a:off x="4083050" y="6374350"/>
            <a:ext cx="4025900" cy="246221"/>
          </a:xfrm>
          <a:prstGeom prst="rect">
            <a:avLst/>
          </a:prstGeom>
          <a:noFill/>
        </p:spPr>
        <p:txBody>
          <a:bodyPr wrap="square">
            <a:spAutoFit/>
          </a:bodyPr>
          <a:lstStyle/>
          <a:p>
            <a:pPr algn="ctr"/>
            <a:r>
              <a:rPr lang="en-US" sz="1000" dirty="0">
                <a:hlinkClick r:id="rId5"/>
              </a:rPr>
              <a:t>https://kuleuven-diepenbeek.github.io/osc-course/ch6-tasks/threads/</a:t>
            </a:r>
            <a:r>
              <a:rPr lang="en-US" sz="1000" dirty="0"/>
              <a:t> </a:t>
            </a:r>
          </a:p>
        </p:txBody>
      </p:sp>
    </p:spTree>
    <p:extLst>
      <p:ext uri="{BB962C8B-B14F-4D97-AF65-F5344CB8AC3E}">
        <p14:creationId xmlns:p14="http://schemas.microsoft.com/office/powerpoint/2010/main" val="19635063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50AE08-6DBA-EAE6-1365-496C921E6F4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6D6AFE9-6C46-69F9-32E4-F34E4E424638}"/>
              </a:ext>
            </a:extLst>
          </p:cNvPr>
          <p:cNvSpPr txBox="1">
            <a:spLocks noGrp="1"/>
          </p:cNvSpPr>
          <p:nvPr>
            <p:ph type="body" idx="1"/>
          </p:nvPr>
        </p:nvSpPr>
        <p:spPr>
          <a:xfrm>
            <a:off x="376809" y="1334279"/>
            <a:ext cx="4646041" cy="4821102"/>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900" dirty="0">
                <a:solidFill>
                  <a:srgbClr val="7F0055"/>
                </a:solidFill>
                <a:latin typeface="Consolas" panose="020B0609020204030204" pitchFamily="49" charset="0"/>
              </a:rPr>
              <a:t>#include</a:t>
            </a:r>
            <a:r>
              <a:rPr lang="en-US" sz="900" dirty="0">
                <a:solidFill>
                  <a:srgbClr val="000000"/>
                </a:solidFill>
                <a:latin typeface="Consolas" panose="020B0609020204030204" pitchFamily="49" charset="0"/>
              </a:rPr>
              <a:t> </a:t>
            </a:r>
            <a:r>
              <a:rPr lang="en-US" sz="900" dirty="0">
                <a:solidFill>
                  <a:srgbClr val="2A00FF"/>
                </a:solidFill>
                <a:latin typeface="Consolas" panose="020B0609020204030204" pitchFamily="49" charset="0"/>
              </a:rPr>
              <a:t>&lt;</a:t>
            </a:r>
            <a:r>
              <a:rPr lang="en-US" sz="900" dirty="0" err="1">
                <a:solidFill>
                  <a:srgbClr val="2A00FF"/>
                </a:solidFill>
                <a:latin typeface="Consolas" panose="020B0609020204030204" pitchFamily="49" charset="0"/>
              </a:rPr>
              <a:t>stdio.h</a:t>
            </a:r>
            <a:r>
              <a:rPr lang="en-US" sz="900" dirty="0">
                <a:solidFill>
                  <a:srgbClr val="2A00FF"/>
                </a:solidFill>
                <a:latin typeface="Consolas" panose="020B0609020204030204" pitchFamily="49" charset="0"/>
              </a:rPr>
              <a:t>&gt;</a:t>
            </a:r>
          </a:p>
          <a:p>
            <a:pPr marL="114300" indent="0">
              <a:spcBef>
                <a:spcPts val="0"/>
              </a:spcBef>
              <a:buNone/>
            </a:pPr>
            <a:r>
              <a:rPr lang="en-US" sz="900" dirty="0">
                <a:solidFill>
                  <a:srgbClr val="7F0055"/>
                </a:solidFill>
                <a:latin typeface="Consolas" panose="020B0609020204030204" pitchFamily="49" charset="0"/>
              </a:rPr>
              <a:t>#include</a:t>
            </a:r>
            <a:r>
              <a:rPr lang="en-US" sz="900" dirty="0">
                <a:solidFill>
                  <a:srgbClr val="000000"/>
                </a:solidFill>
                <a:latin typeface="Consolas" panose="020B0609020204030204" pitchFamily="49" charset="0"/>
              </a:rPr>
              <a:t> </a:t>
            </a:r>
            <a:r>
              <a:rPr lang="en-US" sz="900" dirty="0">
                <a:solidFill>
                  <a:srgbClr val="2A00FF"/>
                </a:solidFill>
                <a:latin typeface="Consolas" panose="020B0609020204030204" pitchFamily="49" charset="0"/>
              </a:rPr>
              <a:t>&lt;</a:t>
            </a:r>
            <a:r>
              <a:rPr lang="en-US" sz="900" dirty="0" err="1">
                <a:solidFill>
                  <a:srgbClr val="2A00FF"/>
                </a:solidFill>
                <a:latin typeface="Consolas" panose="020B0609020204030204" pitchFamily="49" charset="0"/>
              </a:rPr>
              <a:t>string.h</a:t>
            </a:r>
            <a:r>
              <a:rPr lang="en-US" sz="900" dirty="0">
                <a:solidFill>
                  <a:srgbClr val="2A00FF"/>
                </a:solidFill>
                <a:latin typeface="Consolas" panose="020B0609020204030204" pitchFamily="49" charset="0"/>
              </a:rPr>
              <a:t>&gt;</a:t>
            </a:r>
          </a:p>
          <a:p>
            <a:pPr marL="114300" indent="0">
              <a:spcBef>
                <a:spcPts val="0"/>
              </a:spcBef>
              <a:buNone/>
            </a:pPr>
            <a:r>
              <a:rPr lang="en-US" sz="900" dirty="0">
                <a:solidFill>
                  <a:srgbClr val="7F0055"/>
                </a:solidFill>
                <a:latin typeface="Consolas" panose="020B0609020204030204" pitchFamily="49" charset="0"/>
              </a:rPr>
              <a:t>#include</a:t>
            </a:r>
            <a:r>
              <a:rPr lang="en-US" sz="900" dirty="0">
                <a:solidFill>
                  <a:srgbClr val="000000"/>
                </a:solidFill>
                <a:latin typeface="Consolas" panose="020B0609020204030204" pitchFamily="49" charset="0"/>
              </a:rPr>
              <a:t> </a:t>
            </a:r>
            <a:r>
              <a:rPr lang="en-US" sz="900" dirty="0">
                <a:solidFill>
                  <a:srgbClr val="2A00FF"/>
                </a:solidFill>
                <a:latin typeface="Consolas" panose="020B0609020204030204" pitchFamily="49" charset="0"/>
              </a:rPr>
              <a:t>&lt;</a:t>
            </a:r>
            <a:r>
              <a:rPr lang="en-US" sz="900" dirty="0" err="1">
                <a:solidFill>
                  <a:srgbClr val="2A00FF"/>
                </a:solidFill>
                <a:latin typeface="Consolas" panose="020B0609020204030204" pitchFamily="49" charset="0"/>
              </a:rPr>
              <a:t>pthread.h</a:t>
            </a:r>
            <a:r>
              <a:rPr lang="en-US" sz="900" dirty="0">
                <a:solidFill>
                  <a:srgbClr val="2A00FF"/>
                </a:solidFill>
                <a:latin typeface="Consolas" panose="020B0609020204030204" pitchFamily="49" charset="0"/>
              </a:rPr>
              <a:t>&gt;</a:t>
            </a:r>
          </a:p>
          <a:p>
            <a:pPr marL="114300" indent="0">
              <a:spcBef>
                <a:spcPts val="0"/>
              </a:spcBef>
              <a:buNone/>
            </a:pPr>
            <a:r>
              <a:rPr lang="en-US" sz="900" dirty="0">
                <a:solidFill>
                  <a:srgbClr val="7F0055"/>
                </a:solidFill>
                <a:latin typeface="Consolas" panose="020B0609020204030204" pitchFamily="49" charset="0"/>
              </a:rPr>
              <a:t>#include</a:t>
            </a:r>
            <a:r>
              <a:rPr lang="en-US" sz="900" dirty="0">
                <a:solidFill>
                  <a:srgbClr val="000000"/>
                </a:solidFill>
                <a:latin typeface="Consolas" panose="020B0609020204030204" pitchFamily="49" charset="0"/>
              </a:rPr>
              <a:t> </a:t>
            </a:r>
            <a:r>
              <a:rPr lang="en-US" sz="900" dirty="0">
                <a:solidFill>
                  <a:srgbClr val="2A00FF"/>
                </a:solidFill>
                <a:latin typeface="Consolas" panose="020B0609020204030204" pitchFamily="49" charset="0"/>
              </a:rPr>
              <a:t>&lt;</a:t>
            </a:r>
            <a:r>
              <a:rPr lang="en-US" sz="900" dirty="0" err="1">
                <a:solidFill>
                  <a:srgbClr val="2A00FF"/>
                </a:solidFill>
                <a:latin typeface="Consolas" panose="020B0609020204030204" pitchFamily="49" charset="0"/>
              </a:rPr>
              <a:t>stdlib.h</a:t>
            </a:r>
            <a:r>
              <a:rPr lang="en-US" sz="900" dirty="0">
                <a:solidFill>
                  <a:srgbClr val="2A00FF"/>
                </a:solidFill>
                <a:latin typeface="Consolas" panose="020B0609020204030204" pitchFamily="49" charset="0"/>
              </a:rPr>
              <a:t>&gt;</a:t>
            </a:r>
          </a:p>
          <a:p>
            <a:pPr marL="114300" indent="0">
              <a:spcBef>
                <a:spcPts val="0"/>
              </a:spcBef>
              <a:buNone/>
            </a:pPr>
            <a:r>
              <a:rPr lang="en-US" sz="900" dirty="0">
                <a:solidFill>
                  <a:srgbClr val="7F0055"/>
                </a:solidFill>
                <a:latin typeface="Consolas" panose="020B0609020204030204" pitchFamily="49" charset="0"/>
              </a:rPr>
              <a:t>#include</a:t>
            </a:r>
            <a:r>
              <a:rPr lang="en-US" sz="900" dirty="0">
                <a:solidFill>
                  <a:srgbClr val="000000"/>
                </a:solidFill>
                <a:latin typeface="Consolas" panose="020B0609020204030204" pitchFamily="49" charset="0"/>
              </a:rPr>
              <a:t> </a:t>
            </a:r>
            <a:r>
              <a:rPr lang="en-US" sz="900" dirty="0">
                <a:solidFill>
                  <a:srgbClr val="2A00FF"/>
                </a:solidFill>
                <a:latin typeface="Consolas" panose="020B0609020204030204" pitchFamily="49" charset="0"/>
              </a:rPr>
              <a:t>&lt;</a:t>
            </a:r>
            <a:r>
              <a:rPr lang="en-US" sz="900" dirty="0" err="1">
                <a:solidFill>
                  <a:srgbClr val="2A00FF"/>
                </a:solidFill>
                <a:latin typeface="Consolas" panose="020B0609020204030204" pitchFamily="49" charset="0"/>
              </a:rPr>
              <a:t>unistd.h</a:t>
            </a:r>
            <a:r>
              <a:rPr lang="en-US" sz="900" dirty="0">
                <a:solidFill>
                  <a:srgbClr val="2A00FF"/>
                </a:solidFill>
                <a:latin typeface="Consolas" panose="020B0609020204030204" pitchFamily="49" charset="0"/>
              </a:rPr>
              <a:t>&gt;</a:t>
            </a:r>
          </a:p>
          <a:p>
            <a:pPr marL="114300" indent="0">
              <a:spcBef>
                <a:spcPts val="0"/>
              </a:spcBef>
              <a:buNone/>
            </a:pPr>
            <a:endParaRPr lang="en-US" sz="900" dirty="0">
              <a:latin typeface="Consolas" panose="020B0609020204030204" pitchFamily="49" charset="0"/>
            </a:endParaRPr>
          </a:p>
          <a:p>
            <a:pPr marL="114300" indent="0">
              <a:spcBef>
                <a:spcPts val="0"/>
              </a:spcBef>
              <a:buNone/>
            </a:pPr>
            <a:r>
              <a:rPr lang="en-US" sz="900" dirty="0">
                <a:solidFill>
                  <a:srgbClr val="7F0055"/>
                </a:solidFill>
                <a:latin typeface="Consolas" panose="020B0609020204030204" pitchFamily="49" charset="0"/>
              </a:rPr>
              <a:t>int</a:t>
            </a:r>
            <a:r>
              <a:rPr lang="en-US" sz="900" dirty="0">
                <a:solidFill>
                  <a:srgbClr val="000000"/>
                </a:solidFill>
                <a:latin typeface="Consolas" panose="020B0609020204030204" pitchFamily="49" charset="0"/>
              </a:rPr>
              <a:t> counter;</a:t>
            </a:r>
          </a:p>
          <a:p>
            <a:pPr marL="114300" indent="0">
              <a:spcBef>
                <a:spcPts val="0"/>
              </a:spcBef>
              <a:buNone/>
            </a:pPr>
            <a:endParaRPr lang="en-US" sz="900" dirty="0">
              <a:latin typeface="Consolas" panose="020B0609020204030204" pitchFamily="49" charset="0"/>
            </a:endParaRPr>
          </a:p>
          <a:p>
            <a:pPr marL="114300" indent="0">
              <a:spcBef>
                <a:spcPts val="0"/>
              </a:spcBef>
              <a:buNone/>
            </a:pPr>
            <a:r>
              <a:rPr lang="en-US" sz="900" dirty="0">
                <a:solidFill>
                  <a:srgbClr val="7F0055"/>
                </a:solidFill>
                <a:latin typeface="Consolas" panose="020B0609020204030204" pitchFamily="49" charset="0"/>
              </a:rPr>
              <a:t>void</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startThreadJob</a:t>
            </a:r>
            <a:r>
              <a:rPr lang="en-US" sz="900" dirty="0">
                <a:solidFill>
                  <a:srgbClr val="000000"/>
                </a:solidFill>
                <a:latin typeface="Consolas" panose="020B0609020204030204" pitchFamily="49" charset="0"/>
              </a:rPr>
              <a:t>() {</a:t>
            </a:r>
          </a:p>
          <a:p>
            <a:pPr marL="114300" indent="0">
              <a:spcBef>
                <a:spcPts val="0"/>
              </a:spcBef>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unsigned</a:t>
            </a: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long</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 = 0;</a:t>
            </a:r>
          </a:p>
          <a:p>
            <a:pPr marL="114300" indent="0">
              <a:spcBef>
                <a:spcPts val="0"/>
              </a:spcBef>
              <a:buNone/>
            </a:pPr>
            <a:r>
              <a:rPr lang="en-US" sz="900" dirty="0">
                <a:solidFill>
                  <a:srgbClr val="000000"/>
                </a:solidFill>
                <a:latin typeface="Consolas" panose="020B0609020204030204" pitchFamily="49" charset="0"/>
              </a:rPr>
              <a:t>    counter += 1;</a:t>
            </a:r>
          </a:p>
          <a:p>
            <a:pPr marL="114300" indent="0">
              <a:spcBef>
                <a:spcPts val="0"/>
              </a:spcBef>
              <a:buNone/>
            </a:pPr>
            <a:endParaRPr lang="en-US" sz="900" dirty="0">
              <a:latin typeface="Consolas" panose="020B0609020204030204" pitchFamily="49" charset="0"/>
            </a:endParaRPr>
          </a:p>
          <a:p>
            <a:pPr marL="114300" indent="0">
              <a:spcBef>
                <a:spcPts val="0"/>
              </a:spcBef>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printf</a:t>
            </a:r>
            <a:r>
              <a:rPr lang="en-US" sz="900" dirty="0">
                <a:solidFill>
                  <a:srgbClr val="000000"/>
                </a:solidFill>
                <a:latin typeface="Consolas" panose="020B0609020204030204" pitchFamily="49" charset="0"/>
              </a:rPr>
              <a:t>(</a:t>
            </a:r>
            <a:r>
              <a:rPr lang="en-US" sz="900" dirty="0">
                <a:solidFill>
                  <a:srgbClr val="2A00FF"/>
                </a:solidFill>
                <a:latin typeface="Consolas" panose="020B0609020204030204" pitchFamily="49" charset="0"/>
              </a:rPr>
              <a:t>"  Job %d started\n"</a:t>
            </a:r>
            <a:r>
              <a:rPr lang="en-US" sz="900" dirty="0">
                <a:solidFill>
                  <a:srgbClr val="000000"/>
                </a:solidFill>
                <a:latin typeface="Consolas" panose="020B0609020204030204" pitchFamily="49" charset="0"/>
              </a:rPr>
              <a:t>, counter);</a:t>
            </a:r>
          </a:p>
          <a:p>
            <a:pPr marL="114300" indent="0">
              <a:spcBef>
                <a:spcPts val="0"/>
              </a:spcBef>
              <a:buNone/>
            </a:pPr>
            <a:r>
              <a:rPr lang="nn-NO" sz="900" dirty="0">
                <a:solidFill>
                  <a:srgbClr val="000000"/>
                </a:solidFill>
                <a:latin typeface="Consolas" panose="020B0609020204030204" pitchFamily="49" charset="0"/>
              </a:rPr>
              <a:t>    </a:t>
            </a:r>
            <a:r>
              <a:rPr lang="nn-NO" sz="900" dirty="0">
                <a:solidFill>
                  <a:srgbClr val="7F0055"/>
                </a:solidFill>
                <a:latin typeface="Consolas" panose="020B0609020204030204" pitchFamily="49" charset="0"/>
              </a:rPr>
              <a:t>for</a:t>
            </a:r>
            <a:r>
              <a:rPr lang="nn-NO" sz="900" dirty="0">
                <a:solidFill>
                  <a:srgbClr val="000000"/>
                </a:solidFill>
                <a:latin typeface="Consolas" panose="020B0609020204030204" pitchFamily="49" charset="0"/>
              </a:rPr>
              <a:t>(i=0; i&lt;(0xFFFFFFFF); i++) {</a:t>
            </a:r>
          </a:p>
          <a:p>
            <a:pPr marL="114300" indent="0">
              <a:spcBef>
                <a:spcPts val="0"/>
              </a:spcBef>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do nothing</a:t>
            </a:r>
          </a:p>
          <a:p>
            <a:pPr marL="114300" indent="0">
              <a:spcBef>
                <a:spcPts val="0"/>
              </a:spcBef>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this is just here to keep the thread running for a while!</a:t>
            </a:r>
          </a:p>
          <a:p>
            <a:pPr marL="114300" indent="0">
              <a:spcBef>
                <a:spcPts val="0"/>
              </a:spcBef>
              <a:buNone/>
            </a:pPr>
            <a:r>
              <a:rPr lang="en-US" sz="900" dirty="0">
                <a:solidFill>
                  <a:srgbClr val="000000"/>
                </a:solidFill>
                <a:latin typeface="Consolas" panose="020B0609020204030204" pitchFamily="49" charset="0"/>
              </a:rPr>
              <a:t>    }</a:t>
            </a:r>
          </a:p>
          <a:p>
            <a:pPr marL="114300" indent="0">
              <a:spcBef>
                <a:spcPts val="0"/>
              </a:spcBef>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printf</a:t>
            </a:r>
            <a:r>
              <a:rPr lang="en-US" sz="900" dirty="0">
                <a:solidFill>
                  <a:srgbClr val="000000"/>
                </a:solidFill>
                <a:latin typeface="Consolas" panose="020B0609020204030204" pitchFamily="49" charset="0"/>
              </a:rPr>
              <a:t>(</a:t>
            </a:r>
            <a:r>
              <a:rPr lang="en-US" sz="900" dirty="0">
                <a:solidFill>
                  <a:srgbClr val="2A00FF"/>
                </a:solidFill>
                <a:latin typeface="Consolas" panose="020B0609020204030204" pitchFamily="49" charset="0"/>
              </a:rPr>
              <a:t>"  Job %d finished\n"</a:t>
            </a:r>
            <a:r>
              <a:rPr lang="en-US" sz="900" dirty="0">
                <a:solidFill>
                  <a:srgbClr val="000000"/>
                </a:solidFill>
                <a:latin typeface="Consolas" panose="020B0609020204030204" pitchFamily="49" charset="0"/>
              </a:rPr>
              <a:t>, counter);</a:t>
            </a:r>
          </a:p>
          <a:p>
            <a:pPr marL="114300" indent="0">
              <a:spcBef>
                <a:spcPts val="0"/>
              </a:spcBef>
              <a:buNone/>
            </a:pPr>
            <a:endParaRPr lang="en-US" sz="900" dirty="0">
              <a:latin typeface="Consolas" panose="020B0609020204030204" pitchFamily="49" charset="0"/>
            </a:endParaRPr>
          </a:p>
          <a:p>
            <a:pPr marL="114300" indent="0">
              <a:spcBef>
                <a:spcPts val="0"/>
              </a:spcBef>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return</a:t>
            </a:r>
            <a:r>
              <a:rPr lang="en-US" sz="900" dirty="0">
                <a:solidFill>
                  <a:srgbClr val="000000"/>
                </a:solidFill>
                <a:latin typeface="Consolas" panose="020B0609020204030204" pitchFamily="49" charset="0"/>
              </a:rPr>
              <a:t> NULL;</a:t>
            </a:r>
          </a:p>
          <a:p>
            <a:pPr marL="114300" indent="0">
              <a:spcBef>
                <a:spcPts val="0"/>
              </a:spcBef>
              <a:buNone/>
            </a:pPr>
            <a:r>
              <a:rPr lang="en-US" sz="900" dirty="0">
                <a:solidFill>
                  <a:srgbClr val="000000"/>
                </a:solidFill>
                <a:latin typeface="Consolas" panose="020B0609020204030204" pitchFamily="49" charset="0"/>
              </a:rPr>
              <a:t>}</a:t>
            </a:r>
          </a:p>
        </p:txBody>
      </p:sp>
      <p:sp>
        <p:nvSpPr>
          <p:cNvPr id="119" name="Google Shape;119;p29">
            <a:extLst>
              <a:ext uri="{FF2B5EF4-FFF2-40B4-BE49-F238E27FC236}">
                <a16:creationId xmlns:a16="http://schemas.microsoft.com/office/drawing/2014/main" id="{A95E0A6D-24DE-B47B-8803-F025A866E93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F2BA10F-CC93-8DEA-03FC-EAB2694E0CB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D117CDF-79BB-B397-E54A-1D28E4F9AC7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7F7BB6D-A67A-8A79-A469-26EFC10BE8C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AD94DA0-2101-4728-FA19-C272097D31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FDFF56B-FCD3-1FC7-DAD1-71FA5963475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F0785CA-2B8B-BDA1-B962-36A4EAA0FC6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9FCDFBE-32EF-9F7C-F2F7-14B10D5061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Google Shape;118;p29">
            <a:extLst>
              <a:ext uri="{FF2B5EF4-FFF2-40B4-BE49-F238E27FC236}">
                <a16:creationId xmlns:a16="http://schemas.microsoft.com/office/drawing/2014/main" id="{2FCA9763-1510-5358-FE56-7E57E94534E4}"/>
              </a:ext>
            </a:extLst>
          </p:cNvPr>
          <p:cNvSpPr txBox="1">
            <a:spLocks/>
          </p:cNvSpPr>
          <p:nvPr/>
        </p:nvSpPr>
        <p:spPr>
          <a:xfrm>
            <a:off x="5022850" y="1334279"/>
            <a:ext cx="6997700" cy="482110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114300" indent="0">
              <a:spcBef>
                <a:spcPts val="0"/>
              </a:spcBef>
              <a:buFont typeface="Arial"/>
              <a:buNone/>
            </a:pPr>
            <a:r>
              <a:rPr lang="en-US" sz="900" dirty="0">
                <a:solidFill>
                  <a:srgbClr val="7F0055"/>
                </a:solidFill>
                <a:latin typeface="Consolas" panose="020B0609020204030204" pitchFamily="49" charset="0"/>
              </a:rPr>
              <a:t>int</a:t>
            </a:r>
            <a:r>
              <a:rPr lang="en-US" sz="900" dirty="0">
                <a:solidFill>
                  <a:srgbClr val="000000"/>
                </a:solidFill>
                <a:latin typeface="Consolas" panose="020B0609020204030204" pitchFamily="49" charset="0"/>
              </a:rPr>
              <a:t> main(</a:t>
            </a:r>
            <a:r>
              <a:rPr lang="en-US" sz="900" dirty="0">
                <a:solidFill>
                  <a:srgbClr val="7F0055"/>
                </a:solidFill>
                <a:latin typeface="Consolas" panose="020B0609020204030204" pitchFamily="49" charset="0"/>
              </a:rPr>
              <a:t>void</a:t>
            </a:r>
            <a:r>
              <a:rPr lang="en-US" sz="900" dirty="0">
                <a:solidFill>
                  <a:srgbClr val="000000"/>
                </a:solidFill>
                <a:latin typeface="Consolas" panose="020B0609020204030204" pitchFamily="49" charset="0"/>
              </a:rPr>
              <a:t>) {</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int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 = 0, err;</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pthread_t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tid</a:t>
            </a:r>
            <a:r>
              <a:rPr lang="en-US" sz="900" dirty="0">
                <a:solidFill>
                  <a:srgbClr val="000000"/>
                </a:solidFill>
                <a:latin typeface="Consolas" panose="020B0609020204030204" pitchFamily="49" charset="0"/>
              </a:rPr>
              <a:t>[2];</a:t>
            </a:r>
          </a:p>
          <a:p>
            <a:pPr marL="114300" indent="0">
              <a:spcBef>
                <a:spcPts val="0"/>
              </a:spcBef>
              <a:buFont typeface="Arial"/>
              <a:buNone/>
            </a:pPr>
            <a:r>
              <a:rPr lang="en-US" sz="900" dirty="0">
                <a:solidFill>
                  <a:srgbClr val="000000"/>
                </a:solidFill>
                <a:latin typeface="Consolas" panose="020B0609020204030204" pitchFamily="49" charset="0"/>
              </a:rPr>
              <a:t>  counter = 0;</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while</a:t>
            </a:r>
            <a:r>
              <a:rPr lang="en-US" sz="900" dirty="0">
                <a:solidFill>
                  <a:srgbClr val="000000"/>
                </a:solidFill>
                <a:latin typeface="Consolas" panose="020B0609020204030204" pitchFamily="49" charset="0"/>
              </a:rPr>
              <a:t>(</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 &lt; 2) {</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a:t>
            </a:r>
            <a:r>
              <a:rPr lang="en-US" sz="900" dirty="0" err="1">
                <a:solidFill>
                  <a:srgbClr val="3F7F5F"/>
                </a:solidFill>
                <a:latin typeface="Consolas" panose="020B0609020204030204" pitchFamily="49" charset="0"/>
              </a:rPr>
              <a:t>pthread_create</a:t>
            </a:r>
            <a:r>
              <a:rPr lang="en-US" sz="900" dirty="0">
                <a:solidFill>
                  <a:srgbClr val="3F7F5F"/>
                </a:solidFill>
                <a:latin typeface="Consolas" panose="020B0609020204030204" pitchFamily="49" charset="0"/>
              </a:rPr>
              <a:t> has 4 parameters:</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1. pointer to </a:t>
            </a:r>
            <a:r>
              <a:rPr lang="en-US" sz="900" dirty="0" err="1">
                <a:solidFill>
                  <a:srgbClr val="3F7F5F"/>
                </a:solidFill>
                <a:latin typeface="Consolas" panose="020B0609020204030204" pitchFamily="49" charset="0"/>
              </a:rPr>
              <a:t>pthread_t</a:t>
            </a:r>
            <a:r>
              <a:rPr lang="en-US" sz="900" dirty="0">
                <a:solidFill>
                  <a:srgbClr val="3F7F5F"/>
                </a:solidFill>
                <a:latin typeface="Consolas" panose="020B0609020204030204" pitchFamily="49" charset="0"/>
              </a:rPr>
              <a:t>, needed to keep thread state</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2. configuration arguments for the thread (passing NULL means we use the defaults here)</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3. pointer to the function that will run in a separate thread</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4. parameters to pass to the thread (no arguments for </a:t>
            </a:r>
            <a:r>
              <a:rPr lang="en-US" sz="900" dirty="0" err="1">
                <a:solidFill>
                  <a:srgbClr val="3F7F5F"/>
                </a:solidFill>
                <a:latin typeface="Consolas" panose="020B0609020204030204" pitchFamily="49" charset="0"/>
              </a:rPr>
              <a:t>startThreadJob</a:t>
            </a:r>
            <a:r>
              <a:rPr lang="en-US" sz="900" dirty="0">
                <a:solidFill>
                  <a:srgbClr val="3F7F5F"/>
                </a:solidFill>
                <a:latin typeface="Consolas" panose="020B0609020204030204" pitchFamily="49" charset="0"/>
              </a:rPr>
              <a:t>, so we pass NULL)</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err = </a:t>
            </a:r>
            <a:r>
              <a:rPr lang="en-US" sz="900" dirty="0" err="1">
                <a:solidFill>
                  <a:srgbClr val="000000"/>
                </a:solidFill>
                <a:latin typeface="Consolas" panose="020B0609020204030204" pitchFamily="49" charset="0"/>
              </a:rPr>
              <a:t>pthread_create</a:t>
            </a:r>
            <a:r>
              <a:rPr lang="en-US" sz="900" dirty="0">
                <a:solidFill>
                  <a:srgbClr val="000000"/>
                </a:solidFill>
                <a:latin typeface="Consolas" panose="020B0609020204030204" pitchFamily="49" charset="0"/>
              </a:rPr>
              <a:t>( &amp;(</a:t>
            </a:r>
            <a:r>
              <a:rPr lang="en-US" sz="900" dirty="0" err="1">
                <a:solidFill>
                  <a:srgbClr val="000000"/>
                </a:solidFill>
                <a:latin typeface="Consolas" panose="020B0609020204030204" pitchFamily="49" charset="0"/>
              </a:rPr>
              <a:t>tid</a:t>
            </a:r>
            <a:r>
              <a:rPr lang="en-US" sz="900" dirty="0">
                <a:solidFill>
                  <a:srgbClr val="000000"/>
                </a:solidFill>
                <a:latin typeface="Consolas" panose="020B0609020204030204" pitchFamily="49" charset="0"/>
              </a:rPr>
              <a:t>[</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 NULL, </a:t>
            </a:r>
            <a:r>
              <a:rPr lang="en-US" sz="900" dirty="0" err="1">
                <a:solidFill>
                  <a:srgbClr val="000000"/>
                </a:solidFill>
                <a:latin typeface="Consolas" panose="020B0609020204030204" pitchFamily="49" charset="0"/>
              </a:rPr>
              <a:t>startThreadJob</a:t>
            </a:r>
            <a:r>
              <a:rPr lang="en-US" sz="900" dirty="0">
                <a:solidFill>
                  <a:srgbClr val="000000"/>
                </a:solidFill>
                <a:latin typeface="Consolas" panose="020B0609020204030204" pitchFamily="49" charset="0"/>
              </a:rPr>
              <a:t>, NULL );</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if</a:t>
            </a:r>
            <a:r>
              <a:rPr lang="en-US" sz="900" dirty="0">
                <a:solidFill>
                  <a:srgbClr val="000000"/>
                </a:solidFill>
                <a:latin typeface="Consolas" panose="020B0609020204030204" pitchFamily="49" charset="0"/>
              </a:rPr>
              <a:t> (err != 0) {</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printf</a:t>
            </a:r>
            <a:r>
              <a:rPr lang="en-US" sz="900" dirty="0">
                <a:solidFill>
                  <a:srgbClr val="000000"/>
                </a:solidFill>
                <a:latin typeface="Consolas" panose="020B0609020204030204" pitchFamily="49" charset="0"/>
              </a:rPr>
              <a:t>(</a:t>
            </a:r>
            <a:r>
              <a:rPr lang="en-US" sz="900" dirty="0">
                <a:solidFill>
                  <a:srgbClr val="2A00FF"/>
                </a:solidFill>
                <a:latin typeface="Consolas" panose="020B0609020204030204" pitchFamily="49" charset="0"/>
              </a:rPr>
              <a:t>"\</a:t>
            </a:r>
            <a:r>
              <a:rPr lang="en-US" sz="900" dirty="0" err="1">
                <a:solidFill>
                  <a:srgbClr val="2A00FF"/>
                </a:solidFill>
                <a:latin typeface="Consolas" panose="020B0609020204030204" pitchFamily="49" charset="0"/>
              </a:rPr>
              <a:t>ncan't</a:t>
            </a:r>
            <a:r>
              <a:rPr lang="en-US" sz="900" dirty="0">
                <a:solidFill>
                  <a:srgbClr val="2A00FF"/>
                </a:solidFill>
                <a:latin typeface="Consolas" panose="020B0609020204030204" pitchFamily="49" charset="0"/>
              </a:rPr>
              <a:t> create thread :[%s]"</a:t>
            </a:r>
            <a:r>
              <a:rPr lang="en-US" sz="900" dirty="0">
                <a:solidFill>
                  <a:srgbClr val="000000"/>
                </a:solidFill>
                <a:latin typeface="Consolas" panose="020B0609020204030204" pitchFamily="49" charset="0"/>
              </a:rPr>
              <a:t>, </a:t>
            </a:r>
            <a:r>
              <a:rPr lang="en-US" sz="900" dirty="0" err="1">
                <a:solidFill>
                  <a:srgbClr val="642880"/>
                </a:solidFill>
                <a:latin typeface="Consolas" panose="020B0609020204030204" pitchFamily="49" charset="0"/>
              </a:rPr>
              <a:t>strerror</a:t>
            </a:r>
            <a:r>
              <a:rPr lang="en-US" sz="900" dirty="0">
                <a:solidFill>
                  <a:srgbClr val="000000"/>
                </a:solidFill>
                <a:latin typeface="Consolas" panose="020B0609020204030204" pitchFamily="49" charset="0"/>
              </a:rPr>
              <a:t>(err));</a:t>
            </a:r>
          </a:p>
          <a:p>
            <a:pPr marL="114300" indent="0">
              <a:spcBef>
                <a:spcPts val="0"/>
              </a:spcBef>
              <a:buFont typeface="Arial"/>
              <a:buNone/>
            </a:pPr>
            <a:r>
              <a:rPr lang="en-US" sz="900" dirty="0">
                <a:solidFill>
                  <a:srgbClr val="000000"/>
                </a:solidFill>
                <a:latin typeface="Consolas" panose="020B0609020204030204" pitchFamily="49" charset="0"/>
              </a:rPr>
              <a:t>    }</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a:t>
            </a:r>
          </a:p>
          <a:p>
            <a:pPr marL="114300" indent="0">
              <a:spcBef>
                <a:spcPts val="0"/>
              </a:spcBef>
              <a:buFont typeface="Arial"/>
              <a:buNone/>
            </a:pPr>
            <a:r>
              <a:rPr lang="en-US" sz="900" dirty="0">
                <a:solidFill>
                  <a:srgbClr val="000000"/>
                </a:solidFill>
                <a:latin typeface="Consolas" panose="020B0609020204030204" pitchFamily="49" charset="0"/>
              </a:rPr>
              <a:t>  }</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a:t>
            </a:r>
            <a:r>
              <a:rPr lang="en-US" sz="900" dirty="0" err="1">
                <a:solidFill>
                  <a:srgbClr val="3F7F5F"/>
                </a:solidFill>
                <a:latin typeface="Consolas" panose="020B0609020204030204" pitchFamily="49" charset="0"/>
              </a:rPr>
              <a:t>pthread_join</a:t>
            </a:r>
            <a:r>
              <a:rPr lang="en-US" sz="900" dirty="0">
                <a:solidFill>
                  <a:srgbClr val="3F7F5F"/>
                </a:solidFill>
                <a:latin typeface="Consolas" panose="020B0609020204030204" pitchFamily="49" charset="0"/>
              </a:rPr>
              <a:t> pauses the current thread until the thread in the first argument is terminated</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Note that the "main" function automatically also executes in a thread, which we often call the "main thread".</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If the joined thread was already terminated, </a:t>
            </a:r>
            <a:r>
              <a:rPr lang="en-US" sz="900" dirty="0" err="1">
                <a:solidFill>
                  <a:srgbClr val="3F7F5F"/>
                </a:solidFill>
                <a:latin typeface="Consolas" panose="020B0609020204030204" pitchFamily="49" charset="0"/>
              </a:rPr>
              <a:t>pthread_join</a:t>
            </a:r>
            <a:r>
              <a:rPr lang="en-US" sz="900" dirty="0">
                <a:solidFill>
                  <a:srgbClr val="3F7F5F"/>
                </a:solidFill>
                <a:latin typeface="Consolas" panose="020B0609020204030204" pitchFamily="49" charset="0"/>
              </a:rPr>
              <a:t> returns immediately</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The second argument can be used to store the return value of the thread</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Our thread currently doesn't return anything, so we pass NULL</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pthread_join</a:t>
            </a:r>
            <a:r>
              <a:rPr lang="en-US" sz="900" dirty="0">
                <a:solidFill>
                  <a:srgbClr val="000000"/>
                </a:solidFill>
                <a:latin typeface="Consolas" panose="020B0609020204030204" pitchFamily="49" charset="0"/>
              </a:rPr>
              <a:t>(</a:t>
            </a:r>
            <a:r>
              <a:rPr lang="en-US" sz="900" dirty="0" err="1">
                <a:solidFill>
                  <a:srgbClr val="000000"/>
                </a:solidFill>
                <a:latin typeface="Consolas" panose="020B0609020204030204" pitchFamily="49" charset="0"/>
              </a:rPr>
              <a:t>tid</a:t>
            </a:r>
            <a:r>
              <a:rPr lang="en-US" sz="900" dirty="0">
                <a:solidFill>
                  <a:srgbClr val="000000"/>
                </a:solidFill>
                <a:latin typeface="Consolas" panose="020B0609020204030204" pitchFamily="49" charset="0"/>
              </a:rPr>
              <a:t>[0], NULL);</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pthread_join</a:t>
            </a:r>
            <a:r>
              <a:rPr lang="en-US" sz="900" dirty="0">
                <a:solidFill>
                  <a:srgbClr val="000000"/>
                </a:solidFill>
                <a:latin typeface="Consolas" panose="020B0609020204030204" pitchFamily="49" charset="0"/>
              </a:rPr>
              <a:t>(</a:t>
            </a:r>
            <a:r>
              <a:rPr lang="en-US" sz="900" dirty="0" err="1">
                <a:solidFill>
                  <a:srgbClr val="000000"/>
                </a:solidFill>
                <a:latin typeface="Consolas" panose="020B0609020204030204" pitchFamily="49" charset="0"/>
              </a:rPr>
              <a:t>tid</a:t>
            </a:r>
            <a:r>
              <a:rPr lang="en-US" sz="900" dirty="0">
                <a:solidFill>
                  <a:srgbClr val="000000"/>
                </a:solidFill>
                <a:latin typeface="Consolas" panose="020B0609020204030204" pitchFamily="49" charset="0"/>
              </a:rPr>
              <a:t>[1], NULL);</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return</a:t>
            </a:r>
            <a:r>
              <a:rPr lang="en-US" sz="900" dirty="0">
                <a:solidFill>
                  <a:srgbClr val="000000"/>
                </a:solidFill>
                <a:latin typeface="Consolas" panose="020B0609020204030204" pitchFamily="49" charset="0"/>
              </a:rPr>
              <a:t> 0;</a:t>
            </a:r>
          </a:p>
          <a:p>
            <a:pPr marL="114300" indent="0">
              <a:spcBef>
                <a:spcPts val="0"/>
              </a:spcBef>
              <a:buFont typeface="Arial"/>
              <a:buNone/>
            </a:pPr>
            <a:r>
              <a:rPr lang="en-US" sz="900" dirty="0">
                <a:solidFill>
                  <a:srgbClr val="000000"/>
                </a:solidFill>
                <a:latin typeface="Consolas" panose="020B0609020204030204" pitchFamily="49" charset="0"/>
              </a:rPr>
              <a:t>}</a:t>
            </a:r>
          </a:p>
        </p:txBody>
      </p:sp>
    </p:spTree>
    <p:extLst>
      <p:ext uri="{BB962C8B-B14F-4D97-AF65-F5344CB8AC3E}">
        <p14:creationId xmlns:p14="http://schemas.microsoft.com/office/powerpoint/2010/main" val="2804492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DA55757-A327-A5D6-952F-7CE5AD5249B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955A215-3934-CA42-7907-DC9F96A860D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8F69CFB-6DAF-66EA-E5F0-C688EB06F11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A04F106-790B-271A-784B-90164137147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30207B-E75A-3313-F7EF-F33E89D58B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A31649-87D0-FD3E-CB4A-E1B29FBC13A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43C05DA-F32C-E8F3-C5AC-1E29330857B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1414061-DE54-8416-4239-CE7CE34CF9B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58F4D0D-0D81-9990-54AA-98D98116B9D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6" name="Picture 2" descr="Infographic: a program is a file of instructions on disk, such as Microsoft Word.app in an applications folder. When run, it becomes a process in RAM, shown in Task Manager as Microsoft Word using 0% CPU and 158.1 MB memory alongside Firefox and Chrome. Flow: (1) program on disk holds instructions 1 through n; (2) one program can launch several processes in RAM; (3) each process contains one or more threads.">
            <a:extLst>
              <a:ext uri="{FF2B5EF4-FFF2-40B4-BE49-F238E27FC236}">
                <a16:creationId xmlns:a16="http://schemas.microsoft.com/office/drawing/2014/main" id="{848AF4E3-252A-1573-3205-F1DAD91D90E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228488" y="916065"/>
            <a:ext cx="5206670" cy="54927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0327291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1DE2C01-BF12-F9A9-F2D5-BE432B36E344}"/>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537078B-C1EE-7C80-287B-96FA9744819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AEA4B8C-CDFA-AE65-40FA-A3BE6D030B2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D8B996F-2979-8459-B470-C5C247B72F7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FD7611C-F3AB-05C1-E919-4BA645ABAA2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5530D25-0140-4ACB-A2B2-481ACFDA469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1020A9-249C-948F-62EE-3117838A28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6CB427B-78CB-482F-9D36-52B48DFC82E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33CDFC-E59B-2DD8-1081-42BC130058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Online Media 5" title="What is a Thread? | Threads, Process, Program, Parallelism and Scheduler Explained | Geekific" descr="YouTube video: What is a Thread? | Threads, Process, Program, Parallelism and Scheduler Explained | Geekific (Geekific)">
            <a:hlinkClick r:id="" action="ppaction://media"/>
            <a:extLst>
              <a:ext uri="{FF2B5EF4-FFF2-40B4-BE49-F238E27FC236}">
                <a16:creationId xmlns:a16="http://schemas.microsoft.com/office/drawing/2014/main" id="{EBE6570E-94DE-EAE5-C00B-EDF84219689C}"/>
              </a:ext>
            </a:extLst>
          </p:cNvPr>
          <p:cNvPicPr>
            <a:picLocks noRot="1" noChangeAspect="1"/>
          </p:cNvPicPr>
          <p:nvPr>
            <a:videoFile r:link="rId1"/>
          </p:nvPr>
        </p:nvPicPr>
        <p:blipFill>
          <a:blip r:embed="rId5"/>
          <a:stretch>
            <a:fillRect/>
          </a:stretch>
        </p:blipFill>
        <p:spPr>
          <a:xfrm>
            <a:off x="1226523" y="983446"/>
            <a:ext cx="9738954" cy="5502522"/>
          </a:xfrm>
          <a:prstGeom prst="rect">
            <a:avLst/>
          </a:prstGeom>
        </p:spPr>
      </p:pic>
    </p:spTree>
    <p:extLst>
      <p:ext uri="{BB962C8B-B14F-4D97-AF65-F5344CB8AC3E}">
        <p14:creationId xmlns:p14="http://schemas.microsoft.com/office/powerpoint/2010/main" val="30731631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F760ED8-C08B-00BC-B777-A879BB431FF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A6CC8D4-DE29-1569-4D06-8A07CCE12C6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500" dirty="0">
                <a:latin typeface="Atkinson Hyperlegible Next"/>
                <a:ea typeface="Arial"/>
                <a:cs typeface="Arial"/>
                <a:sym typeface="Arial"/>
              </a:rPr>
              <a:t>Why would we want multi-processes?</a:t>
            </a:r>
          </a:p>
          <a:p>
            <a:pPr marL="0" lvl="0" indent="0" algn="l" rtl="0">
              <a:lnSpc>
                <a:spcPct val="100000"/>
              </a:lnSpc>
              <a:spcBef>
                <a:spcPts val="0"/>
              </a:spcBef>
              <a:spcAft>
                <a:spcPts val="0"/>
              </a:spcAft>
              <a:buSzPts val="3000"/>
              <a:buNone/>
            </a:pPr>
            <a:endParaRPr lang="en-US" sz="1500" dirty="0">
              <a:latin typeface="Atkinson Hyperlegible Next"/>
              <a:ea typeface="Arial"/>
              <a:cs typeface="Arial"/>
              <a:sym typeface="Arial"/>
            </a:endParaRPr>
          </a:p>
          <a:p>
            <a:pPr marL="285750" indent="-285750">
              <a:lnSpc>
                <a:spcPct val="100000"/>
              </a:lnSpc>
              <a:spcBef>
                <a:spcPts val="0"/>
              </a:spcBef>
              <a:buSzPts val="3000"/>
            </a:pPr>
            <a:r>
              <a:rPr lang="en-US" sz="1500" b="1" dirty="0">
                <a:latin typeface="Atkinson Hyperlegible Next"/>
                <a:ea typeface="Arial"/>
                <a:cs typeface="Arial"/>
                <a:sym typeface="Arial"/>
              </a:rPr>
              <a:t>Fault Isolation and Robustness</a:t>
            </a:r>
            <a:r>
              <a:rPr lang="en-US" sz="1500" dirty="0">
                <a:latin typeface="Atkinson Hyperlegible Next"/>
                <a:ea typeface="Arial"/>
                <a:cs typeface="Arial"/>
                <a:sym typeface="Arial"/>
              </a:rPr>
              <a:t>: Each process resides in its own isolated virtual address space. If a process experiences an error, it typically cannot corrupt the heap or stack of an unrelated process. This ensures that a failure in one process does not cause everything else to fail.</a:t>
            </a:r>
          </a:p>
          <a:p>
            <a:pPr marL="285750" indent="-285750">
              <a:lnSpc>
                <a:spcPct val="100000"/>
              </a:lnSpc>
              <a:spcBef>
                <a:spcPts val="0"/>
              </a:spcBef>
              <a:buSzPts val="3000"/>
            </a:pPr>
            <a:r>
              <a:rPr lang="en-US" sz="1500" b="1" dirty="0">
                <a:latin typeface="Atkinson Hyperlegible Next"/>
                <a:ea typeface="Arial"/>
                <a:cs typeface="Arial"/>
                <a:sym typeface="Arial"/>
              </a:rPr>
              <a:t>Scalability Across Distributed Systems</a:t>
            </a:r>
            <a:r>
              <a:rPr lang="en-US" sz="1500" dirty="0">
                <a:latin typeface="Atkinson Hyperlegible Next"/>
                <a:ea typeface="Arial"/>
                <a:cs typeface="Arial"/>
                <a:sym typeface="Arial"/>
              </a:rPr>
              <a:t>: While threads are inherently limited to a single physical machine (as they rely on shared local memory), processes can easily be distributed across a cluster or a network of machines. This allows for scaling across different hardware.</a:t>
            </a:r>
          </a:p>
          <a:p>
            <a:pPr marL="285750" indent="-285750">
              <a:lnSpc>
                <a:spcPct val="100000"/>
              </a:lnSpc>
              <a:spcBef>
                <a:spcPts val="0"/>
              </a:spcBef>
              <a:buSzPts val="3000"/>
            </a:pPr>
            <a:r>
              <a:rPr lang="en-US" sz="1500" b="1" dirty="0">
                <a:latin typeface="Atkinson Hyperlegible Next"/>
                <a:ea typeface="Arial"/>
                <a:cs typeface="Arial"/>
                <a:sym typeface="Arial"/>
              </a:rPr>
              <a:t>Security and Privilege Separation</a:t>
            </a:r>
            <a:r>
              <a:rPr lang="en-US" sz="1500" dirty="0">
                <a:latin typeface="Atkinson Hyperlegible Next"/>
                <a:ea typeface="Arial"/>
                <a:cs typeface="Arial"/>
                <a:sym typeface="Arial"/>
              </a:rPr>
              <a:t>: Multi-processing allows for the strict application of the Principle of Least Privilege. Different processes can be executed with distinct user permissions or security contexts. For instance, in a browser architecture, the rendering engine might run with restricted sandboxed privileges, while a kernel-level driver or system service runs with elevated permissions, preventing malicious content from escalating access.</a:t>
            </a:r>
          </a:p>
          <a:p>
            <a:pPr marL="285750" indent="-285750">
              <a:lnSpc>
                <a:spcPct val="100000"/>
              </a:lnSpc>
              <a:spcBef>
                <a:spcPts val="0"/>
              </a:spcBef>
              <a:buSzPts val="3000"/>
            </a:pPr>
            <a:r>
              <a:rPr lang="en-US" sz="1500" b="1" dirty="0">
                <a:latin typeface="Atkinson Hyperlegible Next"/>
                <a:ea typeface="Arial"/>
                <a:cs typeface="Arial"/>
                <a:sym typeface="Arial"/>
              </a:rPr>
              <a:t>Enhanced Security and Isolation</a:t>
            </a:r>
            <a:r>
              <a:rPr lang="en-US" sz="1500" dirty="0">
                <a:latin typeface="Atkinson Hyperlegible Next"/>
                <a:ea typeface="Arial"/>
                <a:cs typeface="Arial"/>
                <a:sym typeface="Arial"/>
              </a:rPr>
              <a:t>: Because processes do not share memory by default, one process cannot accidentally (or maliciously) read or overwrite the data of another. This "sandboxing" is critical for executing untrusted code or separating sensitive cryptographic operations from general UI logic.</a:t>
            </a:r>
          </a:p>
          <a:p>
            <a:pPr marL="285750" indent="-285750">
              <a:lnSpc>
                <a:spcPct val="100000"/>
              </a:lnSpc>
              <a:spcBef>
                <a:spcPts val="0"/>
              </a:spcBef>
              <a:buSzPts val="3000"/>
            </a:pPr>
            <a:r>
              <a:rPr lang="en-US" sz="1500" b="1" dirty="0">
                <a:latin typeface="Atkinson Hyperlegible Next"/>
                <a:ea typeface="Arial"/>
                <a:cs typeface="Arial"/>
                <a:sym typeface="Arial"/>
              </a:rPr>
              <a:t>True Hardware Parallelism (CPU-Bound Tasks): </a:t>
            </a:r>
            <a:r>
              <a:rPr lang="en-US" sz="1500" dirty="0">
                <a:latin typeface="Atkinson Hyperlegible Next"/>
                <a:ea typeface="Arial"/>
                <a:cs typeface="Arial"/>
                <a:sym typeface="Arial"/>
              </a:rPr>
              <a:t>In many interpreted languages (notably Python with its Global Interpreter Lock), threads cannot run in parallel on multiple cores (less true recently). Multiprocessing bypasses these software-level locks by giving each process its own instance of the interpreter and its own memory space, allowing N processes to utilize N CPU cores simultaneously.</a:t>
            </a:r>
          </a:p>
        </p:txBody>
      </p:sp>
      <p:sp>
        <p:nvSpPr>
          <p:cNvPr id="119" name="Google Shape;119;p29">
            <a:extLst>
              <a:ext uri="{FF2B5EF4-FFF2-40B4-BE49-F238E27FC236}">
                <a16:creationId xmlns:a16="http://schemas.microsoft.com/office/drawing/2014/main" id="{C49C8ADC-17C0-7468-AE44-4220CDEDB07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5E3ABE1-D841-8927-749C-FFDDED5E892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5BE942C-5DBA-2470-F49F-6EE31A707F6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AA94207-78DF-8C74-C261-B53964528B6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964A86D-95DB-5ED1-62EE-A438AE4C2ED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7293ADE-4ADA-745C-F438-2AFAD36B5D6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F91699E-F680-933B-6C41-29B85342FFE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896567E-9466-E0BE-8DC5-6C8A54D87D5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241948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60AEE1A-6E16-C04C-DCE2-C2BF90E9F82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D0F86C5-AE56-89EA-D466-2161DFF45D4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Why would we want multi-threading?</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b="1" dirty="0">
                <a:latin typeface="Atkinson Hyperlegible Next"/>
                <a:ea typeface="Arial"/>
                <a:cs typeface="Arial"/>
                <a:sym typeface="Arial"/>
              </a:rPr>
              <a:t>Responsiveness</a:t>
            </a:r>
            <a:r>
              <a:rPr lang="en-US" sz="1800" dirty="0">
                <a:latin typeface="Atkinson Hyperlegible Next"/>
                <a:ea typeface="Arial"/>
                <a:cs typeface="Arial"/>
                <a:sym typeface="Arial"/>
              </a:rPr>
              <a:t>: When a single program is broken into multiple threads, the experience feels more responsive. Dedicated threads can be created to handle user requires, while other threads can process data in the background.</a:t>
            </a:r>
          </a:p>
          <a:p>
            <a:pPr marL="285750" indent="-285750">
              <a:lnSpc>
                <a:spcPct val="100000"/>
              </a:lnSpc>
              <a:spcBef>
                <a:spcPts val="0"/>
              </a:spcBef>
              <a:buSzPts val="3000"/>
            </a:pPr>
            <a:r>
              <a:rPr lang="en-US" sz="1800" b="1" dirty="0">
                <a:latin typeface="Atkinson Hyperlegible Next"/>
                <a:ea typeface="Arial"/>
                <a:cs typeface="Arial"/>
                <a:sym typeface="Arial"/>
              </a:rPr>
              <a:t>Resource sharing</a:t>
            </a:r>
            <a:r>
              <a:rPr lang="en-US" sz="1800" dirty="0">
                <a:latin typeface="Atkinson Hyperlegible Next"/>
                <a:ea typeface="Arial"/>
                <a:cs typeface="Arial"/>
                <a:sym typeface="Arial"/>
              </a:rPr>
              <a:t>: Programs that have multiple threads typically want some sort of communication between these threads. This is done more easily between threads than between processes, as threads implicitly share memory via their heap</a:t>
            </a:r>
          </a:p>
          <a:p>
            <a:pPr marL="285750" indent="-285750">
              <a:lnSpc>
                <a:spcPct val="100000"/>
              </a:lnSpc>
              <a:spcBef>
                <a:spcPts val="0"/>
              </a:spcBef>
              <a:buSzPts val="3000"/>
            </a:pPr>
            <a:r>
              <a:rPr lang="en-US" sz="1800" b="1" dirty="0">
                <a:latin typeface="Atkinson Hyperlegible Next"/>
                <a:ea typeface="Arial"/>
                <a:cs typeface="Arial"/>
                <a:sym typeface="Arial"/>
              </a:rPr>
              <a:t>Economy</a:t>
            </a:r>
            <a:r>
              <a:rPr lang="en-US" sz="1800" dirty="0">
                <a:latin typeface="Atkinson Hyperlegible Next"/>
                <a:ea typeface="Arial"/>
                <a:cs typeface="Arial"/>
                <a:sym typeface="Arial"/>
              </a:rPr>
              <a:t>: Context switching becomes cheaper when switching between threads in comparison to switching between processes. This is because less per-thread state needs to be tracked, in comparison to more per-process state.</a:t>
            </a:r>
          </a:p>
          <a:p>
            <a:pPr marL="285750" indent="-285750">
              <a:lnSpc>
                <a:spcPct val="100000"/>
              </a:lnSpc>
              <a:spcBef>
                <a:spcPts val="0"/>
              </a:spcBef>
              <a:buSzPts val="3000"/>
            </a:pPr>
            <a:r>
              <a:rPr lang="en-US" sz="1800" b="1" dirty="0">
                <a:latin typeface="Atkinson Hyperlegible Next"/>
                <a:ea typeface="Arial"/>
                <a:cs typeface="Arial"/>
                <a:sym typeface="Arial"/>
              </a:rPr>
              <a:t>Scalability</a:t>
            </a:r>
            <a:r>
              <a:rPr lang="en-US" sz="1800" dirty="0">
                <a:latin typeface="Atkinson Hyperlegible Next"/>
                <a:ea typeface="Arial"/>
                <a:cs typeface="Arial"/>
                <a:sym typeface="Arial"/>
              </a:rPr>
              <a:t>: Multiple threads can run in parallel on multi-core systems in contrast to a single threaded process.</a:t>
            </a:r>
          </a:p>
          <a:p>
            <a:pPr marL="285750" indent="-285750">
              <a:lnSpc>
                <a:spcPct val="100000"/>
              </a:lnSpc>
              <a:spcBef>
                <a:spcPts val="0"/>
              </a:spcBef>
              <a:buSzPts val="3000"/>
            </a:pP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519B977-D5D1-EE71-2F31-7B1FDF8380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A867D59-B9A5-392D-009E-C84B453879F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57C66E3-4D5D-483F-3A4C-43AA84C994D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5D4CE6-72AD-BDA5-32DD-37699A13DF2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7D14472-510E-3470-0EA1-2A15BB8DC04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AC49256-7968-0657-2F23-D188F59100E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4A8244F-F728-EFC0-4BAF-E4A69F87679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C94523D-FB52-430D-EA5D-8006623105C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84089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30F6BBEC-4988-4915-E42A-39BB9CF91CD5}"/>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A2DFA212-059E-CB3C-E1BA-2FDD9AEE6EA0}"/>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Processes Communication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F8A3ED65-D70E-EC31-7FDD-3901AABA087A}"/>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5E17733B-C34F-6D63-0629-EE7B6A39AD2F}"/>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934F22F-0577-A195-33E8-8D57147E162E}"/>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8BFB92C0-6EF3-9207-CED5-E4574A4E3113}"/>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D0770229-022C-FC3C-29B9-FCF243C5C4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D91ED6A3-FC8E-B1F6-ADA9-4739A0CDC59C}"/>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ABC97FFB-B3CC-46AA-8568-55D778E0B32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1C188850-1896-A873-577C-D82B70B860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F4AF8FC0-E20A-8C16-88CA-F5552F4D249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2287642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08545A2-F00A-2C03-A339-95D1168B178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37DC788-6CFF-C6A9-8FC3-069C19C9BE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tkinson Hyperlegible Next"/>
                <a:ea typeface="Arial"/>
                <a:cs typeface="Arial"/>
                <a:sym typeface="Arial"/>
              </a:rPr>
              <a:t>Each process resides in its own isolated virtual address space. While isolation is useful for security sometimes you need to communication information</a:t>
            </a:r>
          </a:p>
          <a:p>
            <a:pPr marL="285750" indent="-285750">
              <a:lnSpc>
                <a:spcPct val="100000"/>
              </a:lnSpc>
              <a:spcBef>
                <a:spcPts val="0"/>
              </a:spcBef>
              <a:buSzPts val="3000"/>
            </a:pPr>
            <a:r>
              <a:rPr lang="en-US" sz="1800" dirty="0">
                <a:latin typeface="Atkinson Hyperlegible Next"/>
                <a:ea typeface="Arial"/>
                <a:cs typeface="Arial"/>
                <a:sym typeface="Arial"/>
              </a:rPr>
              <a:t>To communicate information between processes you either do it through 2 methods:</a:t>
            </a:r>
          </a:p>
          <a:p>
            <a:pPr marL="285750" indent="-285750">
              <a:lnSpc>
                <a:spcPct val="100000"/>
              </a:lnSpc>
              <a:spcBef>
                <a:spcPts val="0"/>
              </a:spcBef>
              <a:buSzPts val="3000"/>
            </a:pPr>
            <a:r>
              <a:rPr lang="en-US" sz="1800" b="1" dirty="0">
                <a:latin typeface="Atkinson Hyperlegible Next"/>
                <a:ea typeface="Arial"/>
                <a:cs typeface="Arial"/>
                <a:sym typeface="Arial"/>
              </a:rPr>
              <a:t>Shared Memory</a:t>
            </a:r>
            <a:r>
              <a:rPr lang="en-US" sz="1800" dirty="0">
                <a:latin typeface="Atkinson Hyperlegible Next"/>
                <a:ea typeface="Arial"/>
                <a:cs typeface="Arial"/>
                <a:sym typeface="Arial"/>
              </a:rPr>
              <a:t>:</a:t>
            </a:r>
          </a:p>
          <a:p>
            <a:pPr marL="742950" lvl="1" indent="-285750">
              <a:lnSpc>
                <a:spcPct val="100000"/>
              </a:lnSpc>
              <a:spcBef>
                <a:spcPts val="0"/>
              </a:spcBef>
              <a:buSzPts val="3000"/>
            </a:pPr>
            <a:r>
              <a:rPr lang="en-US" sz="1800" dirty="0">
                <a:latin typeface="Atkinson Hyperlegible Next"/>
                <a:ea typeface="Arial"/>
                <a:cs typeface="Arial"/>
                <a:sym typeface="Arial"/>
              </a:rPr>
              <a:t>Maps a singular physical memory block into the virtual address spaces of distinct processes</a:t>
            </a:r>
          </a:p>
          <a:p>
            <a:pPr marL="285750" indent="-285750">
              <a:lnSpc>
                <a:spcPct val="100000"/>
              </a:lnSpc>
              <a:spcBef>
                <a:spcPts val="0"/>
              </a:spcBef>
              <a:buSzPts val="3000"/>
            </a:pPr>
            <a:r>
              <a:rPr lang="en-US" sz="1800" b="1" dirty="0">
                <a:latin typeface="Atkinson Hyperlegible Next"/>
                <a:ea typeface="Arial"/>
                <a:cs typeface="Arial"/>
                <a:sym typeface="Arial"/>
              </a:rPr>
              <a:t>Message Passing </a:t>
            </a:r>
            <a:r>
              <a:rPr lang="en-US" sz="1800" dirty="0">
                <a:latin typeface="Atkinson Hyperlegible Next"/>
                <a:ea typeface="Arial"/>
                <a:cs typeface="Arial"/>
                <a:sym typeface="Arial"/>
              </a:rPr>
              <a:t>(Signals / Pipes): </a:t>
            </a:r>
          </a:p>
          <a:p>
            <a:pPr marL="742950" lvl="1" indent="-285750">
              <a:lnSpc>
                <a:spcPct val="100000"/>
              </a:lnSpc>
              <a:spcBef>
                <a:spcPts val="0"/>
              </a:spcBef>
              <a:buSzPts val="3000"/>
            </a:pPr>
            <a:r>
              <a:rPr lang="en-US" sz="1800" dirty="0">
                <a:latin typeface="Atkinson Hyperlegible Next"/>
                <a:ea typeface="Arial"/>
                <a:cs typeface="Arial"/>
                <a:sym typeface="Arial"/>
              </a:rPr>
              <a:t>OS-mediated streams or interrupts.</a:t>
            </a:r>
          </a:p>
        </p:txBody>
      </p:sp>
      <p:sp>
        <p:nvSpPr>
          <p:cNvPr id="119" name="Google Shape;119;p29">
            <a:extLst>
              <a:ext uri="{FF2B5EF4-FFF2-40B4-BE49-F238E27FC236}">
                <a16:creationId xmlns:a16="http://schemas.microsoft.com/office/drawing/2014/main" id="{46AA7A39-9BA5-4291-1340-D3872F779F7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E7AE6FC-A472-FC03-9707-4A9980B3D78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IPC – Inter-Process Communication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9248190-5465-87D5-4D29-047484CB60C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93CE6F8-3F4A-7596-3DA7-781E5F2A43F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2D8AC77-733B-7F1D-05BD-521B8F43E0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485BA1F-B49F-761A-FDB4-73FE669EC11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C8EF800-9CA2-20C3-E8AB-20D125119D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3BCB577-79E8-100A-1BED-B0222A171D2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074" name="Picture 2" descr="Two memory-layout diagrams comparing IPC methods. Left, message passing: process A and process B at the top of memory each send arrows down to a message queue in the kernel region, holding messages m sub 0 through m sub n, so data travels through the OS. Right, shared memory: a shared memory region sits between process A and process B, and both point directly into it, with the kernel separate below and not in the data path.">
            <a:extLst>
              <a:ext uri="{FF2B5EF4-FFF2-40B4-BE49-F238E27FC236}">
                <a16:creationId xmlns:a16="http://schemas.microsoft.com/office/drawing/2014/main" id="{04DBDED2-FC79-A6C7-F177-0D9C747FF47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36623" y="3295459"/>
            <a:ext cx="5257771" cy="2986809"/>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17643626-40C3-2FAD-FA0F-477A0CAD0EF3}"/>
              </a:ext>
            </a:extLst>
          </p:cNvPr>
          <p:cNvSpPr txBox="1"/>
          <p:nvPr/>
        </p:nvSpPr>
        <p:spPr>
          <a:xfrm>
            <a:off x="3940175" y="6320337"/>
            <a:ext cx="4311650" cy="246221"/>
          </a:xfrm>
          <a:prstGeom prst="rect">
            <a:avLst/>
          </a:prstGeom>
          <a:noFill/>
        </p:spPr>
        <p:txBody>
          <a:bodyPr wrap="square">
            <a:spAutoFit/>
          </a:bodyPr>
          <a:lstStyle/>
          <a:p>
            <a:pPr algn="ctr"/>
            <a:r>
              <a:rPr lang="en-US" sz="1000" dirty="0">
                <a:hlinkClick r:id="rId5"/>
              </a:rPr>
              <a:t>https://kuleuven-diepenbeek.github.io/osc-course/ch6-tasks/interprocess/</a:t>
            </a:r>
            <a:r>
              <a:rPr lang="en-US" sz="1000" dirty="0"/>
              <a:t> </a:t>
            </a:r>
          </a:p>
        </p:txBody>
      </p:sp>
    </p:spTree>
    <p:extLst>
      <p:ext uri="{BB962C8B-B14F-4D97-AF65-F5344CB8AC3E}">
        <p14:creationId xmlns:p14="http://schemas.microsoft.com/office/powerpoint/2010/main" val="14538588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6174C9-659F-D23D-6E1B-459A2AAE6DB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1DC9333-B35F-96FC-102E-6B42101C8FCA}"/>
              </a:ext>
            </a:extLst>
          </p:cNvPr>
          <p:cNvSpPr txBox="1">
            <a:spLocks noGrp="1"/>
          </p:cNvSpPr>
          <p:nvPr>
            <p:ph type="body" idx="1"/>
          </p:nvPr>
        </p:nvSpPr>
        <p:spPr>
          <a:xfrm>
            <a:off x="376809" y="1149900"/>
            <a:ext cx="5046091" cy="5005481"/>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1000" dirty="0">
                <a:solidFill>
                  <a:srgbClr val="3F7F5F"/>
                </a:solidFill>
                <a:latin typeface="Consolas" panose="020B0609020204030204" pitchFamily="49" charset="0"/>
              </a:rPr>
              <a:t>// Producer (a process which puts data inside of the shared memory)</a:t>
            </a:r>
          </a:p>
          <a:p>
            <a:pPr marL="114300" indent="0">
              <a:spcBef>
                <a:spcPts val="0"/>
              </a:spcBef>
              <a:buNone/>
            </a:pPr>
            <a:endParaRPr lang="en-US" sz="1000" dirty="0">
              <a:solidFill>
                <a:srgbClr val="7F0055"/>
              </a:solidFill>
              <a:latin typeface="Consolas" panose="020B0609020204030204" pitchFamily="49" charset="0"/>
            </a:endParaRPr>
          </a:p>
          <a:p>
            <a:pPr marL="114300" indent="0">
              <a:spcBef>
                <a:spcPts val="0"/>
              </a:spcBef>
              <a:buNone/>
            </a:pPr>
            <a:endParaRPr lang="en-US" sz="1000" dirty="0">
              <a:solidFill>
                <a:srgbClr val="7F0055"/>
              </a:solidFill>
              <a:latin typeface="Consolas" panose="020B0609020204030204" pitchFamily="49" charset="0"/>
            </a:endParaRP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stdio.h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stdlib.h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string.h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fcntl.h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unistd.h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&lt;sys/</a:t>
            </a:r>
            <a:r>
              <a:rPr lang="en-US" sz="1000" dirty="0" err="1">
                <a:solidFill>
                  <a:srgbClr val="2A00FF"/>
                </a:solidFill>
                <a:latin typeface="Consolas" panose="020B0609020204030204" pitchFamily="49" charset="0"/>
              </a:rPr>
              <a:t>shm.h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&lt;sys/</a:t>
            </a:r>
            <a:r>
              <a:rPr lang="en-US" sz="1000" dirty="0" err="1">
                <a:solidFill>
                  <a:srgbClr val="2A00FF"/>
                </a:solidFill>
                <a:latin typeface="Consolas" panose="020B0609020204030204" pitchFamily="49" charset="0"/>
              </a:rPr>
              <a:t>mman.h</a:t>
            </a:r>
            <a:r>
              <a:rPr lang="en-US" sz="1000" dirty="0">
                <a:solidFill>
                  <a:srgbClr val="2A00FF"/>
                </a:solidFill>
                <a:latin typeface="Consolas" panose="020B0609020204030204" pitchFamily="49" charset="0"/>
              </a:rPr>
              <a:t>&gt;</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main() {</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SIZE = 4096; </a:t>
            </a:r>
            <a:r>
              <a:rPr lang="en-US" sz="1000" dirty="0">
                <a:solidFill>
                  <a:srgbClr val="3F7F5F"/>
                </a:solidFill>
                <a:latin typeface="Consolas" panose="020B0609020204030204" pitchFamily="49" charset="0"/>
              </a:rPr>
              <a:t>/* </a:t>
            </a:r>
            <a:r>
              <a:rPr lang="en-US" sz="1000" dirty="0" err="1">
                <a:solidFill>
                  <a:srgbClr val="3F7F5F"/>
                </a:solidFill>
                <a:latin typeface="Consolas" panose="020B0609020204030204" pitchFamily="49" charset="0"/>
              </a:rPr>
              <a:t>buffersize</a:t>
            </a:r>
            <a:r>
              <a:rPr lang="en-US" sz="1000" dirty="0">
                <a:solidFill>
                  <a:srgbClr val="3F7F5F"/>
                </a:solidFill>
                <a:latin typeface="Consolas" panose="020B0609020204030204" pitchFamily="49" charset="0"/>
              </a:rPr>
              <a:t> (bytes) */</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char</a:t>
            </a:r>
            <a:r>
              <a:rPr lang="en-US" sz="1000" dirty="0">
                <a:solidFill>
                  <a:srgbClr val="000000"/>
                </a:solidFill>
                <a:latin typeface="Consolas" panose="020B0609020204030204" pitchFamily="49" charset="0"/>
              </a:rPr>
              <a:t> *name = </a:t>
            </a:r>
            <a:r>
              <a:rPr lang="en-US" sz="1000" dirty="0">
                <a:solidFill>
                  <a:srgbClr val="2A00FF"/>
                </a:solidFill>
                <a:latin typeface="Consolas" panose="020B0609020204030204" pitchFamily="49" charset="0"/>
              </a:rPr>
              <a:t>"OS"</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shared memory object name */</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char</a:t>
            </a:r>
            <a:r>
              <a:rPr lang="en-US" sz="1000" dirty="0">
                <a:solidFill>
                  <a:srgbClr val="000000"/>
                </a:solidFill>
                <a:latin typeface="Consolas" panose="020B0609020204030204" pitchFamily="49" charset="0"/>
              </a:rPr>
              <a:t> *data_0 = </a:t>
            </a:r>
            <a:r>
              <a:rPr lang="en-US" sz="1000" dirty="0">
                <a:solidFill>
                  <a:srgbClr val="2A00FF"/>
                </a:solidFill>
                <a:latin typeface="Consolas" panose="020B0609020204030204" pitchFamily="49" charset="0"/>
              </a:rPr>
              <a:t>"Hello"</a:t>
            </a:r>
            <a:r>
              <a:rPr lang="en-US" sz="1000" dirty="0">
                <a:solidFill>
                  <a:srgbClr val="000000"/>
                </a:solidFill>
                <a:latin typeface="Consolas" panose="020B0609020204030204" pitchFamily="49" charset="0"/>
              </a:rPr>
              <a:t>;</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char</a:t>
            </a:r>
            <a:r>
              <a:rPr lang="en-US" sz="1000" dirty="0">
                <a:solidFill>
                  <a:srgbClr val="000000"/>
                </a:solidFill>
                <a:latin typeface="Consolas" panose="020B0609020204030204" pitchFamily="49" charset="0"/>
              </a:rPr>
              <a:t> *data_1 = </a:t>
            </a:r>
            <a:r>
              <a:rPr lang="en-US" sz="1000" dirty="0">
                <a:solidFill>
                  <a:srgbClr val="2A00FF"/>
                </a:solidFill>
                <a:latin typeface="Consolas" panose="020B0609020204030204" pitchFamily="49" charset="0"/>
              </a:rPr>
              <a:t>"World!"</a:t>
            </a:r>
            <a:r>
              <a:rPr lang="en-US" sz="1000" dirty="0">
                <a:solidFill>
                  <a:srgbClr val="000000"/>
                </a:solidFill>
                <a:latin typeface="Consolas" panose="020B0609020204030204" pitchFamily="49" charset="0"/>
              </a:rPr>
              <a:t>;</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shared memory file descriptor */</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void</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create the shared memory file descriptor */</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shm_open</a:t>
            </a:r>
            <a:r>
              <a:rPr lang="en-US" sz="1000" dirty="0">
                <a:solidFill>
                  <a:srgbClr val="000000"/>
                </a:solidFill>
                <a:latin typeface="Consolas" panose="020B0609020204030204" pitchFamily="49" charset="0"/>
              </a:rPr>
              <a:t>(name, O_CREAT | O_RDWR, 0666);</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configure the size of the shared memory file */</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ftruncate</a:t>
            </a:r>
            <a:r>
              <a:rPr lang="en-US" sz="1000" dirty="0">
                <a:solidFill>
                  <a:srgbClr val="000000"/>
                </a:solidFill>
                <a:latin typeface="Consolas" panose="020B0609020204030204" pitchFamily="49" charset="0"/>
              </a:rPr>
              <a:t>(</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SIZE);</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memory map the shared memory file */</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mmap</a:t>
            </a:r>
            <a:r>
              <a:rPr lang="en-US" sz="1000" dirty="0">
                <a:solidFill>
                  <a:srgbClr val="000000"/>
                </a:solidFill>
                <a:latin typeface="Consolas" panose="020B0609020204030204" pitchFamily="49" charset="0"/>
              </a:rPr>
              <a:t>(0, SIZE, PROT_WRITE, MAP_SHARED,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0);</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write to the shared memory file */</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sprintf</a:t>
            </a:r>
            <a:r>
              <a:rPr lang="en-US" sz="1000" dirty="0">
                <a:solidFill>
                  <a:srgbClr val="000000"/>
                </a:solidFill>
                <a:latin typeface="Consolas" panose="020B0609020204030204" pitchFamily="49" charset="0"/>
              </a:rPr>
              <a:t>(ptr,</a:t>
            </a:r>
            <a:r>
              <a:rPr lang="en-US" sz="1000" dirty="0">
                <a:solidFill>
                  <a:srgbClr val="2A00FF"/>
                </a:solidFill>
                <a:latin typeface="Consolas" panose="020B0609020204030204" pitchFamily="49" charset="0"/>
              </a:rPr>
              <a:t>"%s"</a:t>
            </a:r>
            <a:r>
              <a:rPr lang="en-US" sz="1000" dirty="0">
                <a:solidFill>
                  <a:srgbClr val="000000"/>
                </a:solidFill>
                <a:latin typeface="Consolas" panose="020B0609020204030204" pitchFamily="49" charset="0"/>
              </a:rPr>
              <a:t>,data_0);</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 += </a:t>
            </a:r>
            <a:r>
              <a:rPr lang="en-US" sz="1000" dirty="0" err="1">
                <a:solidFill>
                  <a:srgbClr val="642880"/>
                </a:solidFill>
                <a:latin typeface="Consolas" panose="020B0609020204030204" pitchFamily="49" charset="0"/>
              </a:rPr>
              <a:t>strlen</a:t>
            </a:r>
            <a:r>
              <a:rPr lang="en-US" sz="1000" dirty="0">
                <a:solidFill>
                  <a:srgbClr val="000000"/>
                </a:solidFill>
                <a:latin typeface="Consolas" panose="020B0609020204030204" pitchFamily="49" charset="0"/>
              </a:rPr>
              <a:t>(data_0);</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sprintf</a:t>
            </a:r>
            <a:r>
              <a:rPr lang="en-US" sz="1000" dirty="0">
                <a:solidFill>
                  <a:srgbClr val="000000"/>
                </a:solidFill>
                <a:latin typeface="Consolas" panose="020B0609020204030204" pitchFamily="49" charset="0"/>
              </a:rPr>
              <a:t>(ptr,</a:t>
            </a:r>
            <a:r>
              <a:rPr lang="en-US" sz="1000" dirty="0">
                <a:solidFill>
                  <a:srgbClr val="2A00FF"/>
                </a:solidFill>
                <a:latin typeface="Consolas" panose="020B0609020204030204" pitchFamily="49" charset="0"/>
              </a:rPr>
              <a:t>"%s"</a:t>
            </a:r>
            <a:r>
              <a:rPr lang="en-US" sz="1000" dirty="0">
                <a:solidFill>
                  <a:srgbClr val="000000"/>
                </a:solidFill>
                <a:latin typeface="Consolas" panose="020B0609020204030204" pitchFamily="49" charset="0"/>
              </a:rPr>
              <a:t>,data_1);</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 += </a:t>
            </a:r>
            <a:r>
              <a:rPr lang="en-US" sz="1000" dirty="0" err="1">
                <a:solidFill>
                  <a:srgbClr val="642880"/>
                </a:solidFill>
                <a:latin typeface="Consolas" panose="020B0609020204030204" pitchFamily="49" charset="0"/>
              </a:rPr>
              <a:t>strlen</a:t>
            </a:r>
            <a:r>
              <a:rPr lang="en-US" sz="1000" dirty="0">
                <a:solidFill>
                  <a:srgbClr val="000000"/>
                </a:solidFill>
                <a:latin typeface="Consolas" panose="020B0609020204030204" pitchFamily="49" charset="0"/>
              </a:rPr>
              <a:t>(data_1);</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return</a:t>
            </a:r>
            <a:r>
              <a:rPr lang="en-US" sz="1000" dirty="0">
                <a:solidFill>
                  <a:srgbClr val="000000"/>
                </a:solidFill>
                <a:latin typeface="Consolas" panose="020B0609020204030204" pitchFamily="49" charset="0"/>
              </a:rPr>
              <a:t> 0;</a:t>
            </a:r>
          </a:p>
          <a:p>
            <a:pPr marL="114300" indent="0">
              <a:spcBef>
                <a:spcPts val="0"/>
              </a:spcBef>
              <a:buNone/>
            </a:pPr>
            <a:r>
              <a:rPr lang="en-US" sz="1000" dirty="0">
                <a:solidFill>
                  <a:srgbClr val="000000"/>
                </a:solidFill>
                <a:latin typeface="Consolas" panose="020B0609020204030204" pitchFamily="49" charset="0"/>
              </a:rPr>
              <a:t>}</a:t>
            </a:r>
            <a:endParaRPr lang="en-US" sz="9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9C9B95C-87A2-8436-924A-824EBF85C9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4DA4641-6C69-F20F-A64A-314C89D55F4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IPC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CBFFD03-353E-3B00-C789-7D492571B9A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53F2924-3534-92C7-D7BA-455D5F11490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B6C5CE7-EEA5-7112-4500-16D647B04ED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49BD167-ECA1-9B63-C328-3CDD4DEC40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01C97F3-E2A1-A527-AF6F-66F8779D034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081A17D-9CAA-1677-0569-A1E874114C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Google Shape;118;p29">
            <a:extLst>
              <a:ext uri="{FF2B5EF4-FFF2-40B4-BE49-F238E27FC236}">
                <a16:creationId xmlns:a16="http://schemas.microsoft.com/office/drawing/2014/main" id="{0BAF0EFD-B201-F8A4-F9C9-0C702C45600E}"/>
              </a:ext>
            </a:extLst>
          </p:cNvPr>
          <p:cNvSpPr txBox="1">
            <a:spLocks/>
          </p:cNvSpPr>
          <p:nvPr/>
        </p:nvSpPr>
        <p:spPr>
          <a:xfrm>
            <a:off x="5835651" y="1149900"/>
            <a:ext cx="5718558" cy="5005481"/>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114300" indent="0">
              <a:spcBef>
                <a:spcPts val="0"/>
              </a:spcBef>
              <a:buNone/>
            </a:pPr>
            <a:r>
              <a:rPr lang="en-US" sz="1000" dirty="0">
                <a:solidFill>
                  <a:srgbClr val="3F7F5F"/>
                </a:solidFill>
                <a:latin typeface="Consolas" panose="020B0609020204030204" pitchFamily="49" charset="0"/>
              </a:rPr>
              <a:t>// CONSUMER  (which uses the data it gets from the producer)</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stdio.h</a:t>
            </a:r>
            <a:r>
              <a:rPr lang="en-US" sz="1000" dirty="0">
                <a:solidFill>
                  <a:srgbClr val="2A00FF"/>
                </a:solidFill>
                <a:latin typeface="Consolas" panose="020B0609020204030204" pitchFamily="49" charset="0"/>
              </a:rPr>
              <a:t>&gt;</a:t>
            </a: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stdlib.h</a:t>
            </a:r>
            <a:r>
              <a:rPr lang="en-US" sz="1000" dirty="0">
                <a:solidFill>
                  <a:srgbClr val="2A00FF"/>
                </a:solidFill>
                <a:latin typeface="Consolas" panose="020B0609020204030204" pitchFamily="49" charset="0"/>
              </a:rPr>
              <a:t>&gt;</a:t>
            </a: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fcntl.h</a:t>
            </a:r>
            <a:r>
              <a:rPr lang="en-US" sz="1000" dirty="0">
                <a:solidFill>
                  <a:srgbClr val="2A00FF"/>
                </a:solidFill>
                <a:latin typeface="Consolas" panose="020B0609020204030204" pitchFamily="49" charset="0"/>
              </a:rPr>
              <a:t>&gt;</a:t>
            </a: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unistd.h</a:t>
            </a:r>
            <a:r>
              <a:rPr lang="en-US" sz="1000" dirty="0">
                <a:solidFill>
                  <a:srgbClr val="2A00FF"/>
                </a:solidFill>
                <a:latin typeface="Consolas" panose="020B0609020204030204" pitchFamily="49" charset="0"/>
              </a:rPr>
              <a:t>&gt;</a:t>
            </a: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&lt;sys/</a:t>
            </a:r>
            <a:r>
              <a:rPr lang="en-US" sz="1000" dirty="0" err="1">
                <a:solidFill>
                  <a:srgbClr val="2A00FF"/>
                </a:solidFill>
                <a:latin typeface="Consolas" panose="020B0609020204030204" pitchFamily="49" charset="0"/>
              </a:rPr>
              <a:t>shm.h</a:t>
            </a:r>
            <a:r>
              <a:rPr lang="en-US" sz="1000" dirty="0">
                <a:solidFill>
                  <a:srgbClr val="2A00FF"/>
                </a:solidFill>
                <a:latin typeface="Consolas" panose="020B0609020204030204" pitchFamily="49" charset="0"/>
              </a:rPr>
              <a:t>&gt;</a:t>
            </a: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&lt;sys/</a:t>
            </a:r>
            <a:r>
              <a:rPr lang="en-US" sz="1000" dirty="0" err="1">
                <a:solidFill>
                  <a:srgbClr val="2A00FF"/>
                </a:solidFill>
                <a:latin typeface="Consolas" panose="020B0609020204030204" pitchFamily="49" charset="0"/>
              </a:rPr>
              <a:t>mman.h</a:t>
            </a:r>
            <a:r>
              <a:rPr lang="en-US" sz="1000" dirty="0">
                <a:solidFill>
                  <a:srgbClr val="2A00FF"/>
                </a:solidFill>
                <a:latin typeface="Consolas" panose="020B0609020204030204" pitchFamily="49" charset="0"/>
              </a:rPr>
              <a:t>&gt;</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main()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SIZE = 4096; </a:t>
            </a:r>
            <a:r>
              <a:rPr lang="en-US" sz="1000" dirty="0">
                <a:solidFill>
                  <a:srgbClr val="3F7F5F"/>
                </a:solidFill>
                <a:latin typeface="Consolas" panose="020B0609020204030204" pitchFamily="49" charset="0"/>
              </a:rPr>
              <a:t>/* </a:t>
            </a:r>
            <a:r>
              <a:rPr lang="en-US" sz="1000" dirty="0" err="1">
                <a:solidFill>
                  <a:srgbClr val="3F7F5F"/>
                </a:solidFill>
                <a:latin typeface="Consolas" panose="020B0609020204030204" pitchFamily="49" charset="0"/>
              </a:rPr>
              <a:t>buffersize</a:t>
            </a:r>
            <a:r>
              <a:rPr lang="en-US" sz="1000" dirty="0">
                <a:solidFill>
                  <a:srgbClr val="3F7F5F"/>
                </a:solidFill>
                <a:latin typeface="Consolas" panose="020B0609020204030204" pitchFamily="49" charset="0"/>
              </a:rPr>
              <a:t> (bytes)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char</a:t>
            </a:r>
            <a:r>
              <a:rPr lang="en-US" sz="1000" dirty="0">
                <a:solidFill>
                  <a:srgbClr val="000000"/>
                </a:solidFill>
                <a:latin typeface="Consolas" panose="020B0609020204030204" pitchFamily="49" charset="0"/>
              </a:rPr>
              <a:t> *name = </a:t>
            </a:r>
            <a:r>
              <a:rPr lang="en-US" sz="1000" dirty="0">
                <a:solidFill>
                  <a:srgbClr val="2A00FF"/>
                </a:solidFill>
                <a:latin typeface="Consolas" panose="020B0609020204030204" pitchFamily="49" charset="0"/>
              </a:rPr>
              <a:t>"OS"</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shared memory object name */</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file descriptor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void</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open the shared memory file */</a:t>
            </a:r>
          </a:p>
          <a:p>
            <a:pPr marL="114300" indent="0" algn="l">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shm_open</a:t>
            </a:r>
            <a:r>
              <a:rPr lang="en-US" sz="1000" dirty="0">
                <a:solidFill>
                  <a:srgbClr val="000000"/>
                </a:solidFill>
                <a:latin typeface="Consolas" panose="020B0609020204030204" pitchFamily="49" charset="0"/>
              </a:rPr>
              <a:t>(name, O_RDONLY, 0666);</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memory map the shared memory file */</a:t>
            </a:r>
          </a:p>
          <a:p>
            <a:pPr marL="114300" indent="0" algn="l">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mmap</a:t>
            </a:r>
            <a:r>
              <a:rPr lang="en-US" sz="1000" dirty="0">
                <a:solidFill>
                  <a:srgbClr val="000000"/>
                </a:solidFill>
                <a:latin typeface="Consolas" panose="020B0609020204030204" pitchFamily="49" charset="0"/>
              </a:rPr>
              <a:t>(0, SIZE, PROT_READ, MAP_SHARED,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0);</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read from the shared memory file */</a:t>
            </a:r>
          </a:p>
          <a:p>
            <a:pPr marL="114300" indent="0" algn="l">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printf</a:t>
            </a:r>
            <a:r>
              <a:rPr lang="en-US" sz="1000" dirty="0">
                <a:solidFill>
                  <a:srgbClr val="000000"/>
                </a:solidFill>
                <a:latin typeface="Consolas" panose="020B0609020204030204" pitchFamily="49" charset="0"/>
              </a:rPr>
              <a:t>(</a:t>
            </a:r>
            <a:r>
              <a:rPr lang="en-US" sz="1000" dirty="0">
                <a:solidFill>
                  <a:srgbClr val="2A00FF"/>
                </a:solidFill>
                <a:latin typeface="Consolas" panose="020B0609020204030204" pitchFamily="49" charset="0"/>
              </a:rPr>
              <a:t>"%s"</a:t>
            </a:r>
            <a:r>
              <a:rPr lang="en-US" sz="1000" dirty="0">
                <a:solidFill>
                  <a:srgbClr val="000000"/>
                </a:solidFill>
                <a:latin typeface="Consolas" panose="020B0609020204030204" pitchFamily="49" charset="0"/>
              </a:rPr>
              <a:t>,(</a:t>
            </a:r>
            <a:r>
              <a:rPr lang="en-US" sz="1000" dirty="0">
                <a:solidFill>
                  <a:srgbClr val="7F0055"/>
                </a:solidFill>
                <a:latin typeface="Consolas" panose="020B0609020204030204" pitchFamily="49" charset="0"/>
              </a:rPr>
              <a:t>char</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remove the shared memory file */</a:t>
            </a:r>
          </a:p>
          <a:p>
            <a:pPr marL="114300" indent="0" algn="l">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shm_unlink</a:t>
            </a:r>
            <a:r>
              <a:rPr lang="en-US" sz="1000" dirty="0">
                <a:solidFill>
                  <a:srgbClr val="000000"/>
                </a:solidFill>
                <a:latin typeface="Consolas" panose="020B0609020204030204" pitchFamily="49" charset="0"/>
              </a:rPr>
              <a:t>(name);</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return</a:t>
            </a:r>
            <a:r>
              <a:rPr lang="en-US" sz="1000" dirty="0">
                <a:solidFill>
                  <a:srgbClr val="000000"/>
                </a:solidFill>
                <a:latin typeface="Consolas" panose="020B0609020204030204" pitchFamily="49" charset="0"/>
              </a:rPr>
              <a:t> 0;</a:t>
            </a:r>
          </a:p>
          <a:p>
            <a:pPr marL="114300" indent="0" algn="l">
              <a:spcBef>
                <a:spcPts val="0"/>
              </a:spcBef>
              <a:buNone/>
            </a:pPr>
            <a:r>
              <a:rPr lang="en-US" sz="1000" dirty="0">
                <a:solidFill>
                  <a:srgbClr val="000000"/>
                </a:solidFill>
                <a:latin typeface="Consolas" panose="020B0609020204030204" pitchFamily="49" charset="0"/>
              </a:rPr>
              <a:t>}</a:t>
            </a:r>
            <a:endParaRPr lang="en-US" sz="900" dirty="0">
              <a:latin typeface="Atkinson Hyperlegible Next"/>
              <a:ea typeface="Arial"/>
              <a:cs typeface="Arial"/>
              <a:sym typeface="Arial"/>
            </a:endParaRPr>
          </a:p>
        </p:txBody>
      </p:sp>
    </p:spTree>
    <p:extLst>
      <p:ext uri="{BB962C8B-B14F-4D97-AF65-F5344CB8AC3E}">
        <p14:creationId xmlns:p14="http://schemas.microsoft.com/office/powerpoint/2010/main" val="9085334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5425E5-0578-ADDB-268A-B43E45C5DC2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56E9D83-C75E-6C17-C85A-76F31A59826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57C01A0-51D8-EAA5-10D3-51D4D67738E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76308E5-EA1E-9F96-CE1E-F3014600DE0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0F753F-DA2B-6697-21C8-2463AF2B569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3209A51-1859-7770-0A22-9714DC6A496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DB3EC6-2C39-CFF3-65B5-F8FA4ED2B63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044D30-134C-A61D-18A8-62045A32847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2AF7925-0989-B538-9DF5-77960C2AE17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4" name="Graphic 23" descr="Block diagram of processes linked by POSIX shared memory. A central hub process, serial_COMandOpti, exchanges data with the RedBoard F28379D over serial or UDP. LVCOMApp (TCP/IP server) and the hub trade 32 chars and 8 floats each way. LinuxCMDApp (CLI) sends the hub 44 chars and 11 floats. The hub sends AstarApp (path planner) robot pose, destination row and column, and a condensed map, and receives an 81-char path. ladar_server (UART) writes 228 lidar distances. Every write is signaled with sem_post on a matching named semaphore.">
            <a:extLst>
              <a:ext uri="{FF2B5EF4-FFF2-40B4-BE49-F238E27FC236}">
                <a16:creationId xmlns:a16="http://schemas.microsoft.com/office/drawing/2014/main" id="{84B40BA0-6200-7012-2665-31C9F569C49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458918" y="1003086"/>
            <a:ext cx="6380162" cy="5501654"/>
          </a:xfrm>
          <a:prstGeom prst="rect">
            <a:avLst/>
          </a:prstGeom>
        </p:spPr>
      </p:pic>
    </p:spTree>
    <p:extLst>
      <p:ext uri="{BB962C8B-B14F-4D97-AF65-F5344CB8AC3E}">
        <p14:creationId xmlns:p14="http://schemas.microsoft.com/office/powerpoint/2010/main" val="23459477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E4655BB-9D4A-4AAB-9FA3-4464C59C2F5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CD7DC9E-CFF4-AC5A-9325-A256F01EB52C}"/>
              </a:ext>
            </a:extLst>
          </p:cNvPr>
          <p:cNvSpPr txBox="1">
            <a:spLocks noGrp="1"/>
          </p:cNvSpPr>
          <p:nvPr>
            <p:ph type="body" idx="1"/>
          </p:nvPr>
        </p:nvSpPr>
        <p:spPr>
          <a:xfrm>
            <a:off x="376809" y="1334279"/>
            <a:ext cx="11177401" cy="515169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tkinson Hyperlegible Next"/>
                <a:ea typeface="Arial"/>
                <a:cs typeface="Arial"/>
                <a:sym typeface="Arial"/>
              </a:rPr>
              <a:t>The message passing is split into 2 different mechanism </a:t>
            </a:r>
            <a:r>
              <a:rPr lang="en-US" sz="1800" b="1" dirty="0">
                <a:latin typeface="Atkinson Hyperlegible Next"/>
                <a:ea typeface="Arial"/>
                <a:cs typeface="Arial"/>
                <a:sym typeface="Arial"/>
              </a:rPr>
              <a:t>signals </a:t>
            </a:r>
            <a:r>
              <a:rPr lang="en-US" sz="1800" dirty="0">
                <a:latin typeface="Atkinson Hyperlegible Next"/>
                <a:ea typeface="Arial"/>
                <a:cs typeface="Arial"/>
                <a:sym typeface="Arial"/>
              </a:rPr>
              <a:t>and </a:t>
            </a:r>
            <a:r>
              <a:rPr lang="en-US" sz="1800" b="1" dirty="0">
                <a:latin typeface="Atkinson Hyperlegible Next"/>
                <a:ea typeface="Arial"/>
                <a:cs typeface="Arial"/>
                <a:sym typeface="Arial"/>
              </a:rPr>
              <a:t>pipes</a:t>
            </a:r>
            <a:r>
              <a:rPr lang="en-US" sz="1800" dirty="0">
                <a:latin typeface="Atkinson Hyperlegible Next"/>
                <a:ea typeface="Arial"/>
                <a:cs typeface="Arial"/>
                <a:sym typeface="Arial"/>
              </a:rPr>
              <a:t> </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b="1" dirty="0">
                <a:latin typeface="Atkinson Hyperlegible Next"/>
                <a:ea typeface="Arial"/>
                <a:cs typeface="Arial"/>
                <a:sym typeface="Arial"/>
              </a:rPr>
              <a:t>Signals</a:t>
            </a:r>
            <a:r>
              <a:rPr lang="en-US" sz="1800" dirty="0">
                <a:latin typeface="Atkinson Hyperlegible Next"/>
                <a:ea typeface="Arial"/>
                <a:cs typeface="Arial"/>
                <a:sym typeface="Arial"/>
              </a:rPr>
              <a:t> are the cheapest form of IPC. They literally allow one process to send a signal (a code) to another process, using the function kill() (terminates a running program). </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114300" indent="0">
              <a:spcBef>
                <a:spcPts val="0"/>
              </a:spcBef>
              <a:buNone/>
            </a:pPr>
            <a:r>
              <a:rPr lang="en-US" sz="1400" dirty="0">
                <a:solidFill>
                  <a:srgbClr val="000000"/>
                </a:solidFill>
                <a:latin typeface="Consolas" panose="020B0609020204030204" pitchFamily="49" charset="0"/>
              </a:rPr>
              <a:t>kill -L</a:t>
            </a:r>
          </a:p>
          <a:p>
            <a:pPr marL="114300" indent="0">
              <a:spcBef>
                <a:spcPts val="0"/>
              </a:spcBef>
              <a:buNone/>
            </a:pPr>
            <a:r>
              <a:rPr lang="en-US" sz="1400" dirty="0">
                <a:solidFill>
                  <a:srgbClr val="000000"/>
                </a:solidFill>
                <a:latin typeface="Consolas" panose="020B0609020204030204" pitchFamily="49" charset="0"/>
              </a:rPr>
              <a:t> 1) SIGHUP       2) SIGINT       3) SIGQUIT      4) SIGILL       5) SIGTRAP</a:t>
            </a:r>
          </a:p>
          <a:p>
            <a:pPr marL="114300" indent="0">
              <a:spcBef>
                <a:spcPts val="0"/>
              </a:spcBef>
              <a:buNone/>
            </a:pPr>
            <a:r>
              <a:rPr lang="en-US" sz="1400" dirty="0">
                <a:solidFill>
                  <a:srgbClr val="000000"/>
                </a:solidFill>
                <a:latin typeface="Consolas" panose="020B0609020204030204" pitchFamily="49" charset="0"/>
              </a:rPr>
              <a:t> 6) SIGABRT      7) SIGBUS       8) SIGFPE       9) SIGKILL     10) SIGUSR1</a:t>
            </a:r>
          </a:p>
          <a:p>
            <a:pPr marL="114300" indent="0">
              <a:spcBef>
                <a:spcPts val="0"/>
              </a:spcBef>
              <a:buNone/>
            </a:pPr>
            <a:r>
              <a:rPr lang="da-DK" sz="1400" dirty="0">
                <a:solidFill>
                  <a:srgbClr val="000000"/>
                </a:solidFill>
                <a:latin typeface="Consolas" panose="020B0609020204030204" pitchFamily="49" charset="0"/>
              </a:rPr>
              <a:t>11) SIGSEGV     12) SIGUSR2     13) SIGPIPE     14) SIGALRM     15) SIGTERM</a:t>
            </a:r>
          </a:p>
          <a:p>
            <a:pPr marL="114300" indent="0">
              <a:spcBef>
                <a:spcPts val="0"/>
              </a:spcBef>
              <a:buNone/>
            </a:pPr>
            <a:r>
              <a:rPr lang="da-DK" sz="1400" dirty="0">
                <a:solidFill>
                  <a:srgbClr val="000000"/>
                </a:solidFill>
                <a:latin typeface="Consolas" panose="020B0609020204030204" pitchFamily="49" charset="0"/>
              </a:rPr>
              <a:t>16) SIGSTKFLT   17) SIGCHLD     18) SIGCONT     19) SIGSTOP     20) SIGTSTP</a:t>
            </a:r>
          </a:p>
          <a:p>
            <a:pPr marL="114300" indent="0">
              <a:spcBef>
                <a:spcPts val="0"/>
              </a:spcBef>
              <a:buNone/>
            </a:pPr>
            <a:r>
              <a:rPr lang="en-US" sz="1400" dirty="0">
                <a:solidFill>
                  <a:srgbClr val="000000"/>
                </a:solidFill>
                <a:latin typeface="Consolas" panose="020B0609020204030204" pitchFamily="49" charset="0"/>
              </a:rPr>
              <a:t>21) SIGTTIN     22) SIGTTOU     23) SIGURG      24) SIGXCPU     25) SIGXFSZ</a:t>
            </a:r>
          </a:p>
          <a:p>
            <a:pPr marL="114300" indent="0">
              <a:spcBef>
                <a:spcPts val="0"/>
              </a:spcBef>
              <a:buNone/>
            </a:pPr>
            <a:r>
              <a:rPr lang="en-US" sz="1400" dirty="0">
                <a:solidFill>
                  <a:srgbClr val="000000"/>
                </a:solidFill>
                <a:latin typeface="Consolas" panose="020B0609020204030204" pitchFamily="49" charset="0"/>
              </a:rPr>
              <a:t>26) SIGVTALRM   27) SIGPROF     28) SIGWINCH    29) SIGIO       30) SIGPWR</a:t>
            </a:r>
          </a:p>
          <a:p>
            <a:pPr marL="114300" indent="0">
              <a:spcBef>
                <a:spcPts val="0"/>
              </a:spcBef>
              <a:buNone/>
            </a:pPr>
            <a:r>
              <a:rPr lang="sv-SE" sz="1400" dirty="0">
                <a:solidFill>
                  <a:srgbClr val="000000"/>
                </a:solidFill>
                <a:latin typeface="Consolas" panose="020B0609020204030204" pitchFamily="49" charset="0"/>
              </a:rPr>
              <a:t>31) SIGSYS      34) SIGRTMIN    35) SIGRTMIN+1  36) SIGRTMIN+2  37) SIGRTMIN+3</a:t>
            </a:r>
          </a:p>
          <a:p>
            <a:pPr marL="114300" indent="0">
              <a:spcBef>
                <a:spcPts val="0"/>
              </a:spcBef>
              <a:buNone/>
            </a:pPr>
            <a:r>
              <a:rPr lang="sv-SE" sz="1400" dirty="0">
                <a:solidFill>
                  <a:srgbClr val="000000"/>
                </a:solidFill>
                <a:latin typeface="Consolas" panose="020B0609020204030204" pitchFamily="49" charset="0"/>
              </a:rPr>
              <a:t>38) SIGRTMIN+4  39) SIGRTMIN+5  40) SIGRTMIN+6  41) SIGRTMIN+7  42) SIGRTMIN+8</a:t>
            </a:r>
          </a:p>
          <a:p>
            <a:pPr marL="114300" indent="0">
              <a:spcBef>
                <a:spcPts val="0"/>
              </a:spcBef>
              <a:buNone/>
            </a:pPr>
            <a:r>
              <a:rPr lang="sv-SE" sz="1400" dirty="0">
                <a:solidFill>
                  <a:srgbClr val="000000"/>
                </a:solidFill>
                <a:latin typeface="Consolas" panose="020B0609020204030204" pitchFamily="49" charset="0"/>
              </a:rPr>
              <a:t>43) SIGRTMIN+9  44) SIGRTMIN+10 45) SIGRTMIN+11 46) SIGRTMIN+12 47) SIGRTMIN+13</a:t>
            </a:r>
          </a:p>
          <a:p>
            <a:pPr marL="114300" indent="0">
              <a:spcBef>
                <a:spcPts val="0"/>
              </a:spcBef>
              <a:buNone/>
            </a:pPr>
            <a:r>
              <a:rPr lang="en-US" sz="1400" dirty="0">
                <a:solidFill>
                  <a:srgbClr val="000000"/>
                </a:solidFill>
                <a:latin typeface="Consolas" panose="020B0609020204030204" pitchFamily="49" charset="0"/>
              </a:rPr>
              <a:t>48) SIGRTMIN+14 49) SIGRTMIN+15 50) SIGRTMAX-14 51) SIGRTMAX-13 52) SIGRTMAX-12</a:t>
            </a:r>
          </a:p>
          <a:p>
            <a:pPr marL="114300" indent="0">
              <a:spcBef>
                <a:spcPts val="0"/>
              </a:spcBef>
              <a:buNone/>
            </a:pPr>
            <a:r>
              <a:rPr lang="en-US" sz="1400" dirty="0">
                <a:solidFill>
                  <a:srgbClr val="000000"/>
                </a:solidFill>
                <a:latin typeface="Consolas" panose="020B0609020204030204" pitchFamily="49" charset="0"/>
              </a:rPr>
              <a:t>53) SIGRTMAX-11 54) SIGRTMAX-10 55) SIGRTMAX-9  56) SIGRTMAX-8  57) SIGRTMAX-7</a:t>
            </a:r>
          </a:p>
          <a:p>
            <a:pPr marL="114300" indent="0">
              <a:spcBef>
                <a:spcPts val="0"/>
              </a:spcBef>
              <a:buNone/>
            </a:pPr>
            <a:r>
              <a:rPr lang="en-US" sz="1400" dirty="0">
                <a:solidFill>
                  <a:srgbClr val="000000"/>
                </a:solidFill>
                <a:latin typeface="Consolas" panose="020B0609020204030204" pitchFamily="49" charset="0"/>
              </a:rPr>
              <a:t>58) SIGRTMAX-6  59) SIGRTMAX-5  60) SIGRTMAX-4  61) SIGRTMAX-3  62) SIGRTMAX-2</a:t>
            </a:r>
          </a:p>
          <a:p>
            <a:pPr marL="114300" indent="0">
              <a:spcBef>
                <a:spcPts val="0"/>
              </a:spcBef>
              <a:buNone/>
            </a:pPr>
            <a:r>
              <a:rPr lang="en-US" sz="1400" dirty="0">
                <a:solidFill>
                  <a:srgbClr val="000000"/>
                </a:solidFill>
                <a:latin typeface="Consolas" panose="020B0609020204030204" pitchFamily="49" charset="0"/>
              </a:rPr>
              <a:t>63) SIGRTMAX-1  64) SIGRTMAX </a:t>
            </a: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425765B2-AB67-5699-F622-C0522796A3B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FC58158-B1C5-DE22-AD8B-F75A63D79E9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IPC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9C1BEC6-95B0-4A13-4C60-50FE23553CB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C64B337-3633-E063-CBEE-3260F288EA8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4D3251-E56F-D486-E026-240DA36A00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1A71CEB-1850-2416-78A1-B6B4A8632AF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C4D2C72-208B-3480-4435-2AD76AFD238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727B41C-1BD8-F3A9-F3E1-279CFB70E0B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621641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33F6011-854A-59AA-A7F0-760F4083F7F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DA39528-4BD1-8739-4AD5-2B3F967C626B}"/>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1600" dirty="0">
                <a:solidFill>
                  <a:srgbClr val="7F0055"/>
                </a:solidFill>
                <a:latin typeface="Consolas" panose="020B0609020204030204" pitchFamily="49" charset="0"/>
              </a:rPr>
              <a:t>#include</a:t>
            </a:r>
            <a:r>
              <a:rPr lang="en-US" sz="1600" dirty="0">
                <a:solidFill>
                  <a:srgbClr val="000000"/>
                </a:solidFill>
                <a:latin typeface="Consolas" panose="020B0609020204030204" pitchFamily="49" charset="0"/>
              </a:rPr>
              <a:t> </a:t>
            </a:r>
            <a:r>
              <a:rPr lang="en-US" sz="1600" dirty="0">
                <a:solidFill>
                  <a:srgbClr val="2A00FF"/>
                </a:solidFill>
                <a:latin typeface="Consolas" panose="020B0609020204030204" pitchFamily="49" charset="0"/>
              </a:rPr>
              <a:t>&lt;</a:t>
            </a:r>
            <a:r>
              <a:rPr lang="en-US" sz="1600" dirty="0" err="1">
                <a:solidFill>
                  <a:srgbClr val="2A00FF"/>
                </a:solidFill>
                <a:latin typeface="Consolas" panose="020B0609020204030204" pitchFamily="49" charset="0"/>
              </a:rPr>
              <a:t>stdio.h</a:t>
            </a:r>
            <a:r>
              <a:rPr lang="en-US" sz="1600" dirty="0">
                <a:solidFill>
                  <a:srgbClr val="2A00FF"/>
                </a:solidFill>
                <a:latin typeface="Consolas" panose="020B0609020204030204" pitchFamily="49" charset="0"/>
              </a:rPr>
              <a:t>&gt;</a:t>
            </a:r>
          </a:p>
          <a:p>
            <a:pPr marL="114300" indent="0" algn="l">
              <a:spcBef>
                <a:spcPts val="0"/>
              </a:spcBef>
              <a:buNone/>
            </a:pPr>
            <a:r>
              <a:rPr lang="en-US" sz="1600" dirty="0">
                <a:solidFill>
                  <a:srgbClr val="7F0055"/>
                </a:solidFill>
                <a:latin typeface="Consolas" panose="020B0609020204030204" pitchFamily="49" charset="0"/>
              </a:rPr>
              <a:t>#include</a:t>
            </a:r>
            <a:r>
              <a:rPr lang="en-US" sz="1600" dirty="0">
                <a:solidFill>
                  <a:srgbClr val="000000"/>
                </a:solidFill>
                <a:latin typeface="Consolas" panose="020B0609020204030204" pitchFamily="49" charset="0"/>
              </a:rPr>
              <a:t> </a:t>
            </a:r>
            <a:r>
              <a:rPr lang="en-US" sz="1600" dirty="0">
                <a:solidFill>
                  <a:srgbClr val="2A00FF"/>
                </a:solidFill>
                <a:latin typeface="Consolas" panose="020B0609020204030204" pitchFamily="49" charset="0"/>
              </a:rPr>
              <a:t>&lt;</a:t>
            </a:r>
            <a:r>
              <a:rPr lang="en-US" sz="1600" dirty="0" err="1">
                <a:solidFill>
                  <a:srgbClr val="2A00FF"/>
                </a:solidFill>
                <a:latin typeface="Consolas" panose="020B0609020204030204" pitchFamily="49" charset="0"/>
              </a:rPr>
              <a:t>stdlib.h</a:t>
            </a:r>
            <a:r>
              <a:rPr lang="en-US" sz="1600" dirty="0">
                <a:solidFill>
                  <a:srgbClr val="2A00FF"/>
                </a:solidFill>
                <a:latin typeface="Consolas" panose="020B0609020204030204" pitchFamily="49" charset="0"/>
              </a:rPr>
              <a:t>&gt;</a:t>
            </a:r>
          </a:p>
          <a:p>
            <a:pPr marL="114300" indent="0" algn="l">
              <a:spcBef>
                <a:spcPts val="0"/>
              </a:spcBef>
              <a:buNone/>
            </a:pPr>
            <a:r>
              <a:rPr lang="en-US" sz="1600" dirty="0">
                <a:solidFill>
                  <a:srgbClr val="7F0055"/>
                </a:solidFill>
                <a:latin typeface="Consolas" panose="020B0609020204030204" pitchFamily="49" charset="0"/>
              </a:rPr>
              <a:t>#include</a:t>
            </a:r>
            <a:r>
              <a:rPr lang="en-US" sz="1600" dirty="0">
                <a:solidFill>
                  <a:srgbClr val="000000"/>
                </a:solidFill>
                <a:latin typeface="Consolas" panose="020B0609020204030204" pitchFamily="49" charset="0"/>
              </a:rPr>
              <a:t> </a:t>
            </a:r>
            <a:r>
              <a:rPr lang="en-US" sz="1600" dirty="0">
                <a:solidFill>
                  <a:srgbClr val="2A00FF"/>
                </a:solidFill>
                <a:latin typeface="Consolas" panose="020B0609020204030204" pitchFamily="49" charset="0"/>
              </a:rPr>
              <a:t>&lt;</a:t>
            </a:r>
            <a:r>
              <a:rPr lang="en-US" sz="1600" dirty="0" err="1">
                <a:solidFill>
                  <a:srgbClr val="2A00FF"/>
                </a:solidFill>
                <a:latin typeface="Consolas" panose="020B0609020204030204" pitchFamily="49" charset="0"/>
              </a:rPr>
              <a:t>signal.h</a:t>
            </a:r>
            <a:r>
              <a:rPr lang="en-US" sz="1600" dirty="0">
                <a:solidFill>
                  <a:srgbClr val="2A00FF"/>
                </a:solidFill>
                <a:latin typeface="Consolas" panose="020B0609020204030204" pitchFamily="49" charset="0"/>
              </a:rPr>
              <a:t>&gt;</a:t>
            </a:r>
          </a:p>
          <a:p>
            <a:pPr marL="114300" indent="0" algn="l">
              <a:spcBef>
                <a:spcPts val="0"/>
              </a:spcBef>
              <a:buNone/>
            </a:pPr>
            <a:endParaRPr lang="en-US" sz="1600" dirty="0">
              <a:latin typeface="Consolas" panose="020B0609020204030204" pitchFamily="49" charset="0"/>
            </a:endParaRPr>
          </a:p>
          <a:p>
            <a:pPr marL="114300" indent="0" algn="l">
              <a:spcBef>
                <a:spcPts val="0"/>
              </a:spcBef>
              <a:buNone/>
            </a:pPr>
            <a:r>
              <a:rPr lang="en-US" sz="1600" dirty="0">
                <a:solidFill>
                  <a:srgbClr val="3F7F5F"/>
                </a:solidFill>
                <a:latin typeface="Consolas" panose="020B0609020204030204" pitchFamily="49" charset="0"/>
              </a:rPr>
              <a:t>// Signal handler function</a:t>
            </a:r>
          </a:p>
          <a:p>
            <a:pPr marL="114300" indent="0" algn="l">
              <a:spcBef>
                <a:spcPts val="0"/>
              </a:spcBef>
              <a:buNone/>
            </a:pPr>
            <a:r>
              <a:rPr lang="en-US" sz="1600" dirty="0">
                <a:solidFill>
                  <a:srgbClr val="7F0055"/>
                </a:solidFill>
                <a:latin typeface="Consolas" panose="020B0609020204030204" pitchFamily="49" charset="0"/>
              </a:rPr>
              <a:t>void</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signalHandler</a:t>
            </a:r>
            <a:r>
              <a:rPr lang="en-US" sz="1600" dirty="0">
                <a:solidFill>
                  <a:srgbClr val="000000"/>
                </a:solidFill>
                <a:latin typeface="Consolas" panose="020B0609020204030204" pitchFamily="49" charset="0"/>
              </a:rPr>
              <a:t>(</a:t>
            </a:r>
            <a:r>
              <a:rPr lang="en-US" sz="1600" dirty="0">
                <a:solidFill>
                  <a:srgbClr val="7F0055"/>
                </a:solidFill>
                <a:latin typeface="Consolas" panose="020B0609020204030204" pitchFamily="49" charset="0"/>
              </a:rPr>
              <a:t>int</a:t>
            </a:r>
            <a:r>
              <a:rPr lang="en-US" sz="1600" dirty="0">
                <a:solidFill>
                  <a:srgbClr val="000000"/>
                </a:solidFill>
                <a:latin typeface="Consolas" panose="020B0609020204030204" pitchFamily="49" charset="0"/>
              </a:rPr>
              <a:t> sig) {</a:t>
            </a:r>
          </a:p>
          <a:p>
            <a:pPr marL="114300" indent="0" algn="l">
              <a:spcBef>
                <a:spcPts val="0"/>
              </a:spcBef>
              <a:buNone/>
            </a:pP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printf</a:t>
            </a:r>
            <a:r>
              <a:rPr lang="en-US" sz="1600" dirty="0">
                <a:solidFill>
                  <a:srgbClr val="000000"/>
                </a:solidFill>
                <a:latin typeface="Consolas" panose="020B0609020204030204" pitchFamily="49" charset="0"/>
              </a:rPr>
              <a:t>(</a:t>
            </a:r>
            <a:r>
              <a:rPr lang="en-US" sz="1600" dirty="0">
                <a:solidFill>
                  <a:srgbClr val="2A00FF"/>
                </a:solidFill>
                <a:latin typeface="Consolas" panose="020B0609020204030204" pitchFamily="49" charset="0"/>
              </a:rPr>
              <a:t>"Interrupt handled: %d"</a:t>
            </a:r>
            <a:r>
              <a:rPr lang="en-US" sz="1600" dirty="0">
                <a:solidFill>
                  <a:srgbClr val="000000"/>
                </a:solidFill>
                <a:latin typeface="Consolas" panose="020B0609020204030204" pitchFamily="49" charset="0"/>
              </a:rPr>
              <a:t>, sig);</a:t>
            </a:r>
          </a:p>
          <a:p>
            <a:pPr marL="114300" indent="0" algn="l">
              <a:spcBef>
                <a:spcPts val="0"/>
              </a:spcBef>
              <a:buNone/>
            </a:pPr>
            <a:r>
              <a:rPr lang="en-US" sz="1600" dirty="0">
                <a:solidFill>
                  <a:srgbClr val="000000"/>
                </a:solidFill>
                <a:latin typeface="Consolas" panose="020B0609020204030204" pitchFamily="49" charset="0"/>
              </a:rPr>
              <a:t>    </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Optionally exit the program after handling</a:t>
            </a:r>
          </a:p>
          <a:p>
            <a:pPr marL="114300" indent="0" algn="l">
              <a:spcBef>
                <a:spcPts val="0"/>
              </a:spcBef>
              <a:buNone/>
            </a:pPr>
            <a:r>
              <a:rPr lang="en-US" sz="1600" dirty="0">
                <a:solidFill>
                  <a:srgbClr val="000000"/>
                </a:solidFill>
                <a:latin typeface="Consolas" panose="020B0609020204030204" pitchFamily="49" charset="0"/>
              </a:rPr>
              <a:t>    exit(sig);</a:t>
            </a:r>
          </a:p>
          <a:p>
            <a:pPr marL="114300" indent="0" algn="l">
              <a:spcBef>
                <a:spcPts val="0"/>
              </a:spcBef>
              <a:buNone/>
            </a:pPr>
            <a:r>
              <a:rPr lang="en-US" sz="1600" dirty="0">
                <a:solidFill>
                  <a:srgbClr val="000000"/>
                </a:solidFill>
                <a:latin typeface="Consolas" panose="020B0609020204030204" pitchFamily="49" charset="0"/>
              </a:rPr>
              <a:t>}</a:t>
            </a:r>
          </a:p>
          <a:p>
            <a:pPr marL="114300" indent="0" algn="l">
              <a:spcBef>
                <a:spcPts val="0"/>
              </a:spcBef>
              <a:buNone/>
            </a:pPr>
            <a:endParaRPr lang="en-US" sz="1600" dirty="0">
              <a:latin typeface="Consolas" panose="020B0609020204030204" pitchFamily="49" charset="0"/>
            </a:endParaRPr>
          </a:p>
          <a:p>
            <a:pPr marL="114300" indent="0" algn="l">
              <a:spcBef>
                <a:spcPts val="0"/>
              </a:spcBef>
              <a:buNone/>
            </a:pPr>
            <a:r>
              <a:rPr lang="en-US" sz="1600" dirty="0">
                <a:solidFill>
                  <a:srgbClr val="7F0055"/>
                </a:solidFill>
                <a:latin typeface="Consolas" panose="020B0609020204030204" pitchFamily="49" charset="0"/>
              </a:rPr>
              <a:t>int</a:t>
            </a:r>
            <a:r>
              <a:rPr lang="en-US" sz="1600" dirty="0">
                <a:solidFill>
                  <a:srgbClr val="000000"/>
                </a:solidFill>
                <a:latin typeface="Consolas" panose="020B0609020204030204" pitchFamily="49" charset="0"/>
              </a:rPr>
              <a:t> main() {</a:t>
            </a:r>
          </a:p>
          <a:p>
            <a:pPr marL="114300" indent="0" algn="l">
              <a:spcBef>
                <a:spcPts val="0"/>
              </a:spcBef>
              <a:buNone/>
            </a:pPr>
            <a:r>
              <a:rPr lang="en-US" sz="1600" dirty="0">
                <a:solidFill>
                  <a:srgbClr val="000000"/>
                </a:solidFill>
                <a:latin typeface="Consolas" panose="020B0609020204030204" pitchFamily="49" charset="0"/>
              </a:rPr>
              <a:t>    </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Handle signal</a:t>
            </a:r>
          </a:p>
          <a:p>
            <a:pPr marL="114300" indent="0" algn="l">
              <a:spcBef>
                <a:spcPts val="0"/>
              </a:spcBef>
              <a:buNone/>
            </a:pPr>
            <a:r>
              <a:rPr lang="en-US" sz="1600" dirty="0">
                <a:solidFill>
                  <a:srgbClr val="000000"/>
                </a:solidFill>
                <a:latin typeface="Consolas" panose="020B0609020204030204" pitchFamily="49" charset="0"/>
              </a:rPr>
              <a:t>    signal(SIGINT, </a:t>
            </a:r>
            <a:r>
              <a:rPr lang="en-US" sz="1600" dirty="0" err="1">
                <a:solidFill>
                  <a:srgbClr val="000000"/>
                </a:solidFill>
                <a:latin typeface="Consolas" panose="020B0609020204030204" pitchFamily="49" charset="0"/>
              </a:rPr>
              <a:t>signalHandler</a:t>
            </a:r>
            <a:r>
              <a:rPr lang="en-US" sz="1600" dirty="0">
                <a:solidFill>
                  <a:srgbClr val="000000"/>
                </a:solidFill>
                <a:latin typeface="Consolas" panose="020B0609020204030204" pitchFamily="49" charset="0"/>
              </a:rPr>
              <a:t>);</a:t>
            </a:r>
          </a:p>
          <a:p>
            <a:pPr marL="114300" indent="0" algn="l">
              <a:spcBef>
                <a:spcPts val="0"/>
              </a:spcBef>
              <a:buNone/>
            </a:pPr>
            <a:r>
              <a:rPr lang="en-US" sz="1600" dirty="0">
                <a:solidFill>
                  <a:srgbClr val="000000"/>
                </a:solidFill>
                <a:latin typeface="Consolas" panose="020B0609020204030204" pitchFamily="49" charset="0"/>
              </a:rPr>
              <a:t>    </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Automatically generate a signal</a:t>
            </a:r>
          </a:p>
          <a:p>
            <a:pPr marL="114300" indent="0" algn="l">
              <a:spcBef>
                <a:spcPts val="0"/>
              </a:spcBef>
              <a:buNone/>
            </a:pPr>
            <a:r>
              <a:rPr lang="en-US" sz="1600" dirty="0">
                <a:solidFill>
                  <a:srgbClr val="000000"/>
                </a:solidFill>
                <a:latin typeface="Consolas" panose="020B0609020204030204" pitchFamily="49" charset="0"/>
              </a:rPr>
              <a:t>    raise(SIGINT);</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return</a:t>
            </a:r>
            <a:r>
              <a:rPr lang="en-US" sz="1600" dirty="0">
                <a:solidFill>
                  <a:srgbClr val="000000"/>
                </a:solidFill>
                <a:latin typeface="Consolas" panose="020B0609020204030204" pitchFamily="49" charset="0"/>
              </a:rPr>
              <a:t> 0;</a:t>
            </a:r>
          </a:p>
          <a:p>
            <a:pPr marL="114300" indent="0" algn="l">
              <a:spcBef>
                <a:spcPts val="0"/>
              </a:spcBef>
              <a:buNone/>
            </a:pPr>
            <a:r>
              <a:rPr lang="en-US" sz="1600" dirty="0">
                <a:solidFill>
                  <a:srgbClr val="000000"/>
                </a:solidFill>
                <a:latin typeface="Consolas" panose="020B0609020204030204" pitchFamily="49" charset="0"/>
              </a:rPr>
              <a:t>}</a:t>
            </a:r>
            <a:endParaRPr lang="en-US" sz="1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83D2443-A1F1-DD7C-9C06-5FB7CD512DD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DD929BA-2F8E-40E7-6463-1F16FEB12C2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IPC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BE3A127-C5F8-669B-1CDC-0A439207A80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55EB343-BA7C-3564-E129-EA6E6FA14D0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26A45D6-492C-EB1A-59F0-1199B9C1E9F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60F5198-F1EC-7803-B2CC-BD7194DE2A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7D305EF-8E42-6813-A1B7-D5DDFA174E9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27F35E2-6C20-62FA-557B-C4587AD1A3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8509005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5F2538-E596-2714-4884-B26E68DE09B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2191BB5-3C18-CA38-46D2-052C455D40AE}"/>
              </a:ext>
            </a:extLst>
          </p:cNvPr>
          <p:cNvSpPr txBox="1">
            <a:spLocks noGrp="1"/>
          </p:cNvSpPr>
          <p:nvPr>
            <p:ph type="body" idx="1"/>
          </p:nvPr>
        </p:nvSpPr>
        <p:spPr>
          <a:xfrm>
            <a:off x="376809" y="1334279"/>
            <a:ext cx="11177401" cy="515169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600" b="1" dirty="0">
                <a:latin typeface="Atkinson Hyperlegible Next"/>
                <a:ea typeface="Arial"/>
                <a:cs typeface="Arial"/>
                <a:sym typeface="Arial"/>
              </a:rPr>
              <a:t>Anonymous pipes </a:t>
            </a:r>
            <a:r>
              <a:rPr lang="en-US" sz="1600" dirty="0">
                <a:latin typeface="Atkinson Hyperlegible Next"/>
                <a:ea typeface="Arial"/>
                <a:cs typeface="Arial"/>
                <a:sym typeface="Arial"/>
              </a:rPr>
              <a:t>are like waterslides. (Named pipes are not often used)</a:t>
            </a:r>
          </a:p>
          <a:p>
            <a:pPr marL="0" indent="0">
              <a:lnSpc>
                <a:spcPct val="100000"/>
              </a:lnSpc>
              <a:spcBef>
                <a:spcPts val="0"/>
              </a:spcBef>
              <a:buSzPts val="3000"/>
              <a:buNone/>
            </a:pPr>
            <a:endParaRPr lang="en-US" sz="1600" dirty="0">
              <a:latin typeface="Atkinson Hyperlegible Next"/>
              <a:ea typeface="Arial"/>
              <a:cs typeface="Arial"/>
              <a:sym typeface="Arial"/>
            </a:endParaRPr>
          </a:p>
          <a:p>
            <a:pPr marL="0" indent="0">
              <a:lnSpc>
                <a:spcPct val="100000"/>
              </a:lnSpc>
              <a:spcBef>
                <a:spcPts val="0"/>
              </a:spcBef>
              <a:buSzPts val="3000"/>
              <a:buNone/>
            </a:pPr>
            <a:r>
              <a:rPr lang="en-US" sz="1600" dirty="0">
                <a:latin typeface="Atkinson Hyperlegible Next"/>
                <a:ea typeface="Arial"/>
                <a:cs typeface="Arial"/>
                <a:sym typeface="Arial"/>
              </a:rPr>
              <a:t>You can put some data on it on one end (the top of the slide) and it comes out the other (the bottom), but it’s not possible to go up the waterslide from the bottom. </a:t>
            </a:r>
          </a:p>
          <a:p>
            <a:pPr marL="0" indent="0">
              <a:lnSpc>
                <a:spcPct val="100000"/>
              </a:lnSpc>
              <a:spcBef>
                <a:spcPts val="0"/>
              </a:spcBef>
              <a:buSzPts val="3000"/>
              <a:buNone/>
            </a:pPr>
            <a:endParaRPr lang="en-US" sz="1600" dirty="0">
              <a:latin typeface="Atkinson Hyperlegible Next"/>
              <a:ea typeface="Arial"/>
              <a:cs typeface="Arial"/>
              <a:sym typeface="Arial"/>
            </a:endParaRPr>
          </a:p>
          <a:p>
            <a:pPr marL="0" indent="0">
              <a:lnSpc>
                <a:spcPct val="100000"/>
              </a:lnSpc>
              <a:spcBef>
                <a:spcPts val="0"/>
              </a:spcBef>
              <a:buSzPts val="3000"/>
              <a:buNone/>
            </a:pPr>
            <a:r>
              <a:rPr lang="en-US" sz="1600" dirty="0">
                <a:latin typeface="Atkinson Hyperlegible Next"/>
                <a:ea typeface="Arial"/>
                <a:cs typeface="Arial"/>
                <a:sym typeface="Arial"/>
              </a:rPr>
              <a:t>One process can write into the pipe, while the other can read from of the pipe. We write to a “virtual file” in memory. </a:t>
            </a:r>
          </a:p>
          <a:p>
            <a:pPr marL="0" indent="0">
              <a:lnSpc>
                <a:spcPct val="100000"/>
              </a:lnSpc>
              <a:spcBef>
                <a:spcPts val="0"/>
              </a:spcBef>
              <a:buSzPts val="3000"/>
              <a:buNone/>
            </a:pPr>
            <a:endParaRPr lang="en-US" sz="1600" dirty="0">
              <a:latin typeface="Atkinson Hyperlegible Next"/>
              <a:ea typeface="Arial"/>
              <a:cs typeface="Arial"/>
              <a:sym typeface="Arial"/>
            </a:endParaRPr>
          </a:p>
          <a:p>
            <a:pPr marL="0" indent="0">
              <a:lnSpc>
                <a:spcPct val="100000"/>
              </a:lnSpc>
              <a:spcBef>
                <a:spcPts val="0"/>
              </a:spcBef>
              <a:buSzPts val="3000"/>
              <a:buNone/>
            </a:pPr>
            <a:r>
              <a:rPr lang="en-US" sz="1600" dirty="0">
                <a:latin typeface="Atkinson Hyperlegible Next"/>
                <a:ea typeface="Arial"/>
                <a:cs typeface="Arial"/>
                <a:sym typeface="Arial"/>
              </a:rPr>
              <a:t>This type of pipe can only be created between two processes that have parent-child relationship. </a:t>
            </a:r>
          </a:p>
          <a:p>
            <a:pPr marL="0" indent="0">
              <a:lnSpc>
                <a:spcPct val="100000"/>
              </a:lnSpc>
              <a:spcBef>
                <a:spcPts val="0"/>
              </a:spcBef>
              <a:buSzPts val="3000"/>
              <a:buNone/>
            </a:pPr>
            <a:r>
              <a:rPr lang="en-US" sz="1600" dirty="0">
                <a:latin typeface="Atkinson Hyperlegible Next"/>
                <a:ea typeface="Arial"/>
                <a:cs typeface="Arial"/>
                <a:sym typeface="Arial"/>
              </a:rPr>
              <a:t>What happens internally is that the </a:t>
            </a:r>
            <a:r>
              <a:rPr lang="en-US" sz="1600" dirty="0" err="1">
                <a:latin typeface="Atkinson Hyperlegible Next"/>
                <a:ea typeface="Arial"/>
                <a:cs typeface="Arial"/>
                <a:sym typeface="Arial"/>
              </a:rPr>
              <a:t>stdout</a:t>
            </a:r>
            <a:r>
              <a:rPr lang="en-US" sz="1600" dirty="0">
                <a:latin typeface="Atkinson Hyperlegible Next"/>
                <a:ea typeface="Arial"/>
                <a:cs typeface="Arial"/>
                <a:sym typeface="Arial"/>
              </a:rPr>
              <a:t> of the first process is mapped to the stdin of the second process. </a:t>
            </a:r>
          </a:p>
          <a:p>
            <a:pPr marL="0" indent="0">
              <a:lnSpc>
                <a:spcPct val="100000"/>
              </a:lnSpc>
              <a:spcBef>
                <a:spcPts val="0"/>
              </a:spcBef>
              <a:buSzPts val="3000"/>
              <a:buNone/>
            </a:pPr>
            <a:endParaRPr lang="en-US" sz="1600" dirty="0">
              <a:latin typeface="Atkinson Hyperlegible Next"/>
              <a:ea typeface="Arial"/>
              <a:cs typeface="Arial"/>
              <a:sym typeface="Arial"/>
            </a:endParaRPr>
          </a:p>
          <a:p>
            <a:pPr marL="0" indent="0">
              <a:lnSpc>
                <a:spcPct val="100000"/>
              </a:lnSpc>
              <a:spcBef>
                <a:spcPts val="0"/>
              </a:spcBef>
              <a:buSzPts val="3000"/>
              <a:buNone/>
            </a:pPr>
            <a:r>
              <a:rPr lang="en-US" sz="1600" dirty="0">
                <a:latin typeface="Atkinson Hyperlegible Next"/>
                <a:ea typeface="Arial"/>
                <a:cs typeface="Arial"/>
                <a:sym typeface="Arial"/>
              </a:rPr>
              <a:t>For this, we use the | (pipe) character.</a:t>
            </a:r>
          </a:p>
          <a:p>
            <a:pPr marL="0" indent="0">
              <a:lnSpc>
                <a:spcPct val="100000"/>
              </a:lnSpc>
              <a:spcBef>
                <a:spcPts val="0"/>
              </a:spcBef>
              <a:buSzPts val="3000"/>
              <a:buNone/>
            </a:pPr>
            <a:endParaRPr lang="en-US" sz="1600" dirty="0">
              <a:latin typeface="Atkinson Hyperlegible Next"/>
              <a:ea typeface="Arial"/>
              <a:cs typeface="Arial"/>
              <a:sym typeface="Arial"/>
            </a:endParaRPr>
          </a:p>
          <a:p>
            <a:pPr marL="0" indent="0">
              <a:lnSpc>
                <a:spcPct val="100000"/>
              </a:lnSpc>
              <a:spcBef>
                <a:spcPts val="0"/>
              </a:spcBef>
              <a:buSzPts val="3000"/>
              <a:buNone/>
            </a:pPr>
            <a:r>
              <a:rPr lang="en-US" sz="1600" dirty="0">
                <a:latin typeface="Atkinson Hyperlegible Next"/>
                <a:ea typeface="Arial"/>
                <a:cs typeface="Arial"/>
                <a:sym typeface="Arial"/>
              </a:rPr>
              <a:t>When using the CLI, anonymous pipes are a very powerful tool for chaining different commands. The output of the first command will be the input for the next command. This can be chained multiple times:</a:t>
            </a:r>
          </a:p>
          <a:p>
            <a:pPr marL="0" indent="0">
              <a:lnSpc>
                <a:spcPct val="100000"/>
              </a:lnSpc>
              <a:spcBef>
                <a:spcPts val="0"/>
              </a:spcBef>
              <a:buSzPts val="3000"/>
              <a:buNone/>
            </a:pPr>
            <a:endParaRPr lang="en-US" sz="1600" dirty="0">
              <a:latin typeface="Atkinson Hyperlegible Next"/>
              <a:ea typeface="Arial"/>
              <a:cs typeface="Arial"/>
              <a:sym typeface="Arial"/>
            </a:endParaRPr>
          </a:p>
          <a:p>
            <a:pPr marL="0" indent="0" algn="ctr">
              <a:lnSpc>
                <a:spcPct val="100000"/>
              </a:lnSpc>
              <a:spcBef>
                <a:spcPts val="0"/>
              </a:spcBef>
              <a:buSzPts val="3000"/>
              <a:buNone/>
            </a:pPr>
            <a:r>
              <a:rPr lang="en-US" sz="1600" dirty="0" err="1">
                <a:latin typeface="Atkinson Hyperlegible Next"/>
                <a:ea typeface="Arial"/>
                <a:cs typeface="Arial"/>
                <a:sym typeface="Arial"/>
              </a:rPr>
              <a:t>ps</a:t>
            </a:r>
            <a:r>
              <a:rPr lang="en-US" sz="1600" dirty="0">
                <a:latin typeface="Atkinson Hyperlegible Next"/>
                <a:ea typeface="Arial"/>
                <a:cs typeface="Arial"/>
                <a:sym typeface="Arial"/>
              </a:rPr>
              <a:t> -</a:t>
            </a:r>
            <a:r>
              <a:rPr lang="en-US" sz="1600" dirty="0" err="1">
                <a:latin typeface="Atkinson Hyperlegible Next"/>
                <a:ea typeface="Arial"/>
                <a:cs typeface="Arial"/>
                <a:sym typeface="Arial"/>
              </a:rPr>
              <a:t>ux</a:t>
            </a:r>
            <a:r>
              <a:rPr lang="en-US" sz="1600" dirty="0">
                <a:latin typeface="Atkinson Hyperlegible Next"/>
                <a:ea typeface="Arial"/>
                <a:cs typeface="Arial"/>
                <a:sym typeface="Arial"/>
              </a:rPr>
              <a:t> | grep </a:t>
            </a:r>
            <a:r>
              <a:rPr lang="en-US" sz="1600" dirty="0" err="1">
                <a:latin typeface="Atkinson Hyperlegible Next"/>
                <a:ea typeface="Arial"/>
                <a:cs typeface="Arial"/>
                <a:sym typeface="Arial"/>
              </a:rPr>
              <a:t>xeyes</a:t>
            </a:r>
            <a:r>
              <a:rPr lang="en-US" sz="1600" dirty="0">
                <a:latin typeface="Atkinson Hyperlegible Next"/>
                <a:ea typeface="Arial"/>
                <a:cs typeface="Arial"/>
                <a:sym typeface="Arial"/>
              </a:rPr>
              <a:t> | head -1 | tr -s " " | cut -d " " -f 3</a:t>
            </a:r>
          </a:p>
          <a:p>
            <a:pPr marL="0" indent="0" algn="ctr">
              <a:lnSpc>
                <a:spcPct val="100000"/>
              </a:lnSpc>
              <a:spcBef>
                <a:spcPts val="0"/>
              </a:spcBef>
              <a:buSzPts val="3000"/>
              <a:buNone/>
            </a:pPr>
            <a:endParaRPr lang="en-US" sz="1600" dirty="0">
              <a:latin typeface="Atkinson Hyperlegible Next"/>
              <a:ea typeface="Arial"/>
              <a:cs typeface="Arial"/>
              <a:sym typeface="Arial"/>
            </a:endParaRPr>
          </a:p>
          <a:p>
            <a:pPr marL="0" indent="0" algn="ctr">
              <a:lnSpc>
                <a:spcPct val="100000"/>
              </a:lnSpc>
              <a:spcBef>
                <a:spcPts val="0"/>
              </a:spcBef>
              <a:buSzPts val="3000"/>
              <a:buNone/>
            </a:pPr>
            <a:r>
              <a:rPr lang="en-US" sz="1600" dirty="0">
                <a:latin typeface="Atkinson Hyperlegible Next"/>
                <a:ea typeface="Arial"/>
                <a:cs typeface="Arial"/>
                <a:sym typeface="Arial"/>
              </a:rPr>
              <a:t>List of all my processes | filter only lines that contain “</a:t>
            </a:r>
            <a:r>
              <a:rPr lang="en-US" sz="1600" dirty="0" err="1">
                <a:latin typeface="Atkinson Hyperlegible Next"/>
                <a:ea typeface="Arial"/>
                <a:cs typeface="Arial"/>
                <a:sym typeface="Arial"/>
              </a:rPr>
              <a:t>xeyes</a:t>
            </a:r>
            <a:r>
              <a:rPr lang="en-US" sz="1600" dirty="0">
                <a:latin typeface="Atkinson Hyperlegible Next"/>
                <a:ea typeface="Arial"/>
                <a:cs typeface="Arial"/>
                <a:sym typeface="Arial"/>
              </a:rPr>
              <a:t>” | filter only the first line | squish all consecutive spaces together to a single space | split the input on a space, report the third field</a:t>
            </a:r>
          </a:p>
          <a:p>
            <a:pPr marL="285750" indent="-285750">
              <a:lnSpc>
                <a:spcPct val="100000"/>
              </a:lnSpc>
              <a:spcBef>
                <a:spcPts val="0"/>
              </a:spcBef>
              <a:buSzPts val="3000"/>
            </a:pPr>
            <a:endParaRPr lang="en-US" sz="16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E253ABFA-8C9C-5779-9B97-9386C5DB6FD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FD64DF3-6C45-D634-94DF-7268AF045D4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IPC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4815D04-438F-EB87-EC06-03789CA85BC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8FC9A8-3001-67F4-4493-FB26C13C54E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DA74FBF-0EE3-68A8-2371-66780B59900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4E7D277-8117-9D05-7290-BF4CF0B6476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EEB52AC-9A6A-4BAD-1CD3-F9F3561B572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6CE004B-0286-9372-096A-CD8C5C38AD4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238833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E6A97ED-7A8D-F444-48EE-00F62F3969AA}"/>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CD798DFC-D36B-BED0-4CBF-807A4C028985}"/>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Thread Communication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5FF6CBBF-F19D-1BBF-AC51-6EB7D37D5776}"/>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055EEFCC-1FF9-5E73-C2EE-6B2BE94E7C51}"/>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26E63D6-6CE5-E14C-6A2E-552034232D8D}"/>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96E1A6AB-49EC-31E5-A764-642B981EEF34}"/>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CB6F7C1-A310-E16F-C23D-1BE914D0D3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88DB588B-9AB0-2DED-106C-097935E3EC21}"/>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52AEA352-3AE1-4C99-9B05-AB4C20CA05D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8C883572-8F90-451A-3156-AF684822350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A6C19615-3534-1A8C-5059-862962C2D38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5980192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073629F-F4E2-76C2-947A-28656AC2CC1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BE104D8-0D73-972B-7C50-7D832A26B76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5DD2777-1660-1AA5-1FC0-C686DF7BB3B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4C7D756-BD1C-4B20-F4CF-807C721C4C9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0C8898-89F6-3854-8730-F02175388F3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95EA277-6B73-266B-0B22-5DF811090D8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65AA4C5-3C8D-AC37-6970-AADFAA69CCD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6DF0432-47B7-B1A8-0B93-2410F595EE2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6EAEE98-9CD1-0CA1-121C-0E779E25860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4" name="Graphic 23" descr="Block diagram of processes linked by POSIX shared memory. A central hub process, serial_COMandOpti, exchanges data with the RedBoard F28379D over serial or UDP. LVCOMApp (TCP/IP server) and the hub trade 32 chars and 8 floats each way. LinuxCMDApp (CLI) sends the hub 44 chars and 11 floats. The hub sends AstarApp (path planner) robot pose, destination row and column, and a condensed map, and receives an 81-char path. ladar_server (UART) writes 228 lidar distances. Every write is signaled with sem_post on a matching named semaphore.">
            <a:extLst>
              <a:ext uri="{FF2B5EF4-FFF2-40B4-BE49-F238E27FC236}">
                <a16:creationId xmlns:a16="http://schemas.microsoft.com/office/drawing/2014/main" id="{D88A1901-4402-8DD6-6D8F-007EA8BCF76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905919" y="1003086"/>
            <a:ext cx="6380162" cy="5501654"/>
          </a:xfrm>
          <a:prstGeom prst="rect">
            <a:avLst/>
          </a:prstGeom>
        </p:spPr>
      </p:pic>
    </p:spTree>
    <p:extLst>
      <p:ext uri="{BB962C8B-B14F-4D97-AF65-F5344CB8AC3E}">
        <p14:creationId xmlns:p14="http://schemas.microsoft.com/office/powerpoint/2010/main" val="49317975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5900546-334A-DA7E-4C78-CB8CE3BF8AA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E32C7D9-9890-5843-5C13-B5F5F5E9562E}"/>
              </a:ext>
            </a:extLst>
          </p:cNvPr>
          <p:cNvSpPr txBox="1">
            <a:spLocks noGrp="1"/>
          </p:cNvSpPr>
          <p:nvPr>
            <p:ph type="body" idx="1"/>
          </p:nvPr>
        </p:nvSpPr>
        <p:spPr>
          <a:xfrm>
            <a:off x="376809" y="1334279"/>
            <a:ext cx="11177401" cy="515169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Race conditions, imagine you have the following code where I have multiple threads running at the same time?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114300" indent="0">
              <a:spcBef>
                <a:spcPts val="0"/>
              </a:spcBef>
              <a:buNone/>
            </a:pPr>
            <a:r>
              <a:rPr lang="en-US" sz="2000" dirty="0">
                <a:solidFill>
                  <a:srgbClr val="7F0055"/>
                </a:solidFill>
                <a:latin typeface="Consolas" panose="020B0609020204030204" pitchFamily="49" charset="0"/>
              </a:rPr>
              <a:t>int</a:t>
            </a:r>
            <a:r>
              <a:rPr lang="en-US" sz="2000" dirty="0">
                <a:solidFill>
                  <a:srgbClr val="000000"/>
                </a:solidFill>
                <a:latin typeface="Consolas" panose="020B0609020204030204" pitchFamily="49" charset="0"/>
              </a:rPr>
              <a:t> counter = 0;</a:t>
            </a:r>
          </a:p>
          <a:p>
            <a:pPr marL="114300" indent="0">
              <a:spcBef>
                <a:spcPts val="0"/>
              </a:spcBef>
              <a:buNone/>
            </a:pPr>
            <a:endParaRPr lang="en-US" sz="2000" dirty="0">
              <a:latin typeface="Consolas" panose="020B0609020204030204" pitchFamily="49" charset="0"/>
            </a:endParaRPr>
          </a:p>
          <a:p>
            <a:pPr marL="114300" indent="0">
              <a:spcBef>
                <a:spcPts val="0"/>
              </a:spcBef>
              <a:buNone/>
            </a:pPr>
            <a:r>
              <a:rPr lang="en-US" sz="2000" dirty="0">
                <a:solidFill>
                  <a:srgbClr val="7F0055"/>
                </a:solidFill>
                <a:latin typeface="Consolas" panose="020B0609020204030204" pitchFamily="49" charset="0"/>
              </a:rPr>
              <a:t>void</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doSomeThing</a:t>
            </a:r>
            <a:r>
              <a:rPr lang="en-US" sz="2000" dirty="0">
                <a:solidFill>
                  <a:srgbClr val="000000"/>
                </a:solidFill>
                <a:latin typeface="Consolas" panose="020B0609020204030204" pitchFamily="49" charset="0"/>
              </a:rPr>
              <a:t>(</a:t>
            </a:r>
            <a:r>
              <a:rPr lang="en-US" sz="2000" dirty="0">
                <a:solidFill>
                  <a:srgbClr val="7F0055"/>
                </a:solidFill>
                <a:latin typeface="Consolas" panose="020B0609020204030204" pitchFamily="49" charset="0"/>
              </a:rPr>
              <a:t>void</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arg</a:t>
            </a:r>
            <a:r>
              <a:rPr lang="en-US" sz="2000" dirty="0">
                <a:solidFill>
                  <a:srgbClr val="000000"/>
                </a:solidFill>
                <a:latin typeface="Consolas" panose="020B0609020204030204" pitchFamily="49" charset="0"/>
              </a:rPr>
              <a:t>) {</a:t>
            </a:r>
            <a:endParaRPr lang="en-US" sz="2000" dirty="0">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int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a:t>
            </a:r>
            <a:r>
              <a:rPr lang="en-US" sz="2000" dirty="0">
                <a:solidFill>
                  <a:srgbClr val="3F7F5F"/>
                </a:solidFill>
                <a:latin typeface="Consolas" panose="020B0609020204030204" pitchFamily="49" charset="0"/>
              </a:rPr>
              <a:t>// new, per-thread variable                                    </a:t>
            </a:r>
          </a:p>
          <a:p>
            <a:pPr marL="114300" indent="0">
              <a:spcBef>
                <a:spcPts val="0"/>
              </a:spcBef>
              <a:buNone/>
            </a:pPr>
            <a:r>
              <a:rPr lang="en-US" sz="2000" dirty="0">
                <a:solidFill>
                  <a:srgbClr val="000000"/>
                </a:solidFill>
                <a:latin typeface="Consolas" panose="020B0609020204030204" pitchFamily="49" charset="0"/>
              </a:rPr>
              <a:t>    counter += 1;</a:t>
            </a: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 counter; </a:t>
            </a:r>
            <a:r>
              <a:rPr lang="en-US" sz="2000" dirty="0">
                <a:solidFill>
                  <a:srgbClr val="3F7F5F"/>
                </a:solidFill>
                <a:latin typeface="Consolas" panose="020B0609020204030204" pitchFamily="49" charset="0"/>
              </a:rPr>
              <a:t>// make a local copy of counter for this thread                                </a:t>
            </a:r>
          </a:p>
          <a:p>
            <a:pPr marL="114300" indent="0">
              <a:spcBef>
                <a:spcPts val="0"/>
              </a:spcBef>
              <a:buNone/>
            </a:pPr>
            <a:endParaRPr lang="en-US" sz="2000" dirty="0">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return</a:t>
            </a:r>
            <a:r>
              <a:rPr lang="en-US" sz="2000" dirty="0">
                <a:solidFill>
                  <a:srgbClr val="000000"/>
                </a:solidFill>
                <a:latin typeface="Consolas" panose="020B0609020204030204" pitchFamily="49" charset="0"/>
              </a:rPr>
              <a:t> NULL;</a:t>
            </a:r>
          </a:p>
          <a:p>
            <a:pPr marL="114300" indent="0">
              <a:spcBef>
                <a:spcPts val="0"/>
              </a:spcBef>
              <a:buNone/>
            </a:pPr>
            <a:r>
              <a:rPr lang="en-US" sz="2000" dirty="0">
                <a:solidFill>
                  <a:srgbClr val="000000"/>
                </a:solidFill>
                <a:latin typeface="Consolas" panose="020B0609020204030204" pitchFamily="49" charset="0"/>
              </a:rPr>
              <a:t>}</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latin typeface="Atkinson Hyperlegible Next"/>
                <a:ea typeface="Arial"/>
                <a:cs typeface="Arial"/>
                <a:sym typeface="Arial"/>
              </a:rPr>
              <a:t>We must think very low level, can potentially switch between different thread at each assembly instruction (the compiled version of this C code, between C and binary code)!</a:t>
            </a:r>
          </a:p>
        </p:txBody>
      </p:sp>
      <p:sp>
        <p:nvSpPr>
          <p:cNvPr id="119" name="Google Shape;119;p29">
            <a:extLst>
              <a:ext uri="{FF2B5EF4-FFF2-40B4-BE49-F238E27FC236}">
                <a16:creationId xmlns:a16="http://schemas.microsoft.com/office/drawing/2014/main" id="{E3D3AE52-DA07-6770-F743-709CB4689A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08C4A01-AA90-88E3-4B6F-2B0E035F6CE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Race Conditions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584AAFF-8B5F-B2EB-F641-85C10F83E89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B2AB25E-AD1E-DEC1-2EAF-4F215314BCF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59AFED5-3AAA-A4E8-6531-5B6DC29D643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BC377D-242C-3F61-91FD-E374DCB7B7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6241C91-E93A-C359-4475-E0F2FA3F53B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FA71178-FC38-03FC-BECF-C1DA122998A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3625191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BE3D30B-08A6-3930-103C-05A18333127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13038FE-A992-A0D4-151A-11229124AB4E}"/>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1600" dirty="0">
                <a:latin typeface="Atkinson Hyperlegible Next"/>
                <a:ea typeface="Arial"/>
                <a:cs typeface="Arial"/>
                <a:sym typeface="Arial"/>
              </a:rPr>
              <a:t>The problem is the following:</a:t>
            </a:r>
          </a:p>
          <a:p>
            <a:pPr marL="114300" indent="0">
              <a:spcBef>
                <a:spcPts val="0"/>
              </a:spcBef>
              <a:buNone/>
            </a:pPr>
            <a:endParaRPr lang="en-US" sz="1600" dirty="0">
              <a:latin typeface="Atkinson Hyperlegible Next"/>
              <a:ea typeface="Arial"/>
              <a:cs typeface="Arial"/>
              <a:sym typeface="Arial"/>
            </a:endParaRPr>
          </a:p>
          <a:p>
            <a:pPr marL="114300" indent="0" algn="l">
              <a:spcBef>
                <a:spcPts val="0"/>
              </a:spcBef>
              <a:buNone/>
            </a:pPr>
            <a:r>
              <a:rPr lang="en-US" sz="1600" dirty="0">
                <a:solidFill>
                  <a:srgbClr val="3F7F5F"/>
                </a:solidFill>
                <a:latin typeface="Consolas" panose="020B0609020204030204" pitchFamily="49" charset="0"/>
              </a:rPr>
              <a:t>// Code that both threads will execute:</a:t>
            </a:r>
          </a:p>
          <a:p>
            <a:pPr marL="114300" indent="0" algn="l">
              <a:spcBef>
                <a:spcPts val="0"/>
              </a:spcBef>
              <a:buNone/>
            </a:pPr>
            <a:r>
              <a:rPr lang="en-US" sz="1600" dirty="0">
                <a:solidFill>
                  <a:srgbClr val="000000"/>
                </a:solidFill>
                <a:latin typeface="Consolas" panose="020B0609020204030204" pitchFamily="49" charset="0"/>
              </a:rPr>
              <a:t>counter += 1;</a:t>
            </a:r>
          </a:p>
          <a:p>
            <a:pPr marL="114300" indent="0" algn="l">
              <a:spcBef>
                <a:spcPts val="0"/>
              </a:spcBef>
              <a:buNone/>
            </a:pPr>
            <a:r>
              <a:rPr lang="en-US" sz="1600" dirty="0" err="1">
                <a:solidFill>
                  <a:srgbClr val="000000"/>
                </a:solidFill>
                <a:latin typeface="Consolas" panose="020B0609020204030204" pitchFamily="49" charset="0"/>
              </a:rPr>
              <a:t>local_id</a:t>
            </a:r>
            <a:r>
              <a:rPr lang="en-US" sz="1600" dirty="0">
                <a:solidFill>
                  <a:srgbClr val="000000"/>
                </a:solidFill>
                <a:latin typeface="Consolas" panose="020B0609020204030204" pitchFamily="49" charset="0"/>
              </a:rPr>
              <a:t> = counter;</a:t>
            </a:r>
          </a:p>
          <a:p>
            <a:pPr marL="114300" indent="0" algn="l">
              <a:spcBef>
                <a:spcPts val="0"/>
              </a:spcBef>
              <a:buNone/>
            </a:pPr>
            <a:r>
              <a:rPr lang="en-US" sz="1600" dirty="0">
                <a:solidFill>
                  <a:srgbClr val="3F7F5F"/>
                </a:solidFill>
                <a:latin typeface="Consolas" panose="020B0609020204030204" pitchFamily="49" charset="0"/>
              </a:rPr>
              <a:t>// -----------------------------------</a:t>
            </a:r>
          </a:p>
          <a:p>
            <a:pPr marL="114300" indent="0" algn="l">
              <a:spcBef>
                <a:spcPts val="0"/>
              </a:spcBef>
              <a:buNone/>
            </a:pPr>
            <a:endParaRPr lang="en-US" sz="1600" dirty="0">
              <a:latin typeface="Consolas" panose="020B0609020204030204" pitchFamily="49" charset="0"/>
            </a:endParaRPr>
          </a:p>
          <a:p>
            <a:pPr marL="114300" indent="0" algn="l">
              <a:spcBef>
                <a:spcPts val="0"/>
              </a:spcBef>
              <a:buNone/>
            </a:pPr>
            <a:r>
              <a:rPr lang="en-US" sz="1600" dirty="0">
                <a:solidFill>
                  <a:srgbClr val="3F7F5F"/>
                </a:solidFill>
                <a:latin typeface="Consolas" panose="020B0609020204030204" pitchFamily="49" charset="0"/>
              </a:rPr>
              <a:t>// Thread 1</a:t>
            </a:r>
          </a:p>
          <a:p>
            <a:pPr marL="114300" indent="0" algn="l">
              <a:spcBef>
                <a:spcPts val="0"/>
              </a:spcBef>
              <a:buNone/>
            </a:pPr>
            <a:r>
              <a:rPr lang="en-US" sz="1600" dirty="0">
                <a:solidFill>
                  <a:srgbClr val="000000"/>
                </a:solidFill>
                <a:latin typeface="Consolas" panose="020B0609020204030204" pitchFamily="49" charset="0"/>
              </a:rPr>
              <a:t>counter += 1; </a:t>
            </a:r>
            <a:r>
              <a:rPr lang="en-US" sz="1600" dirty="0">
                <a:solidFill>
                  <a:srgbClr val="3F7F5F"/>
                </a:solidFill>
                <a:latin typeface="Consolas" panose="020B0609020204030204" pitchFamily="49" charset="0"/>
              </a:rPr>
              <a:t>// after this, counter == 1</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Before Thread 1 can execute </a:t>
            </a:r>
            <a:r>
              <a:rPr lang="en-US" sz="1600" dirty="0" err="1">
                <a:solidFill>
                  <a:srgbClr val="3F7F5F"/>
                </a:solidFill>
                <a:latin typeface="Consolas" panose="020B0609020204030204" pitchFamily="49" charset="0"/>
              </a:rPr>
              <a:t>local_id</a:t>
            </a:r>
            <a:r>
              <a:rPr lang="en-US" sz="1600" dirty="0">
                <a:solidFill>
                  <a:srgbClr val="3F7F5F"/>
                </a:solidFill>
                <a:latin typeface="Consolas" panose="020B0609020204030204" pitchFamily="49" charset="0"/>
              </a:rPr>
              <a:t> = counter, it is paused by the CPU</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Thread 2</a:t>
            </a:r>
          </a:p>
          <a:p>
            <a:pPr marL="114300" indent="0" algn="l">
              <a:spcBef>
                <a:spcPts val="0"/>
              </a:spcBef>
              <a:buNone/>
            </a:pPr>
            <a:r>
              <a:rPr lang="en-US" sz="1600" dirty="0">
                <a:solidFill>
                  <a:srgbClr val="000000"/>
                </a:solidFill>
                <a:latin typeface="Consolas" panose="020B0609020204030204" pitchFamily="49" charset="0"/>
              </a:rPr>
              <a:t>    counter += 1; </a:t>
            </a:r>
            <a:r>
              <a:rPr lang="en-US" sz="1600" dirty="0">
                <a:solidFill>
                  <a:srgbClr val="3F7F5F"/>
                </a:solidFill>
                <a:latin typeface="Consolas" panose="020B0609020204030204" pitchFamily="49" charset="0"/>
              </a:rPr>
              <a:t>// after this, counter == 2</a:t>
            </a:r>
          </a:p>
          <a:p>
            <a:pPr marL="114300" indent="0" algn="l">
              <a:spcBef>
                <a:spcPts val="0"/>
              </a:spcBef>
              <a:buNone/>
            </a:pP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local_id</a:t>
            </a:r>
            <a:r>
              <a:rPr lang="en-US" sz="1600" dirty="0">
                <a:solidFill>
                  <a:srgbClr val="000000"/>
                </a:solidFill>
                <a:latin typeface="Consolas" panose="020B0609020204030204" pitchFamily="49" charset="0"/>
              </a:rPr>
              <a:t> = counter; </a:t>
            </a:r>
            <a:r>
              <a:rPr lang="en-US" sz="1600" dirty="0">
                <a:solidFill>
                  <a:srgbClr val="3F7F5F"/>
                </a:solidFill>
                <a:latin typeface="Consolas" panose="020B0609020204030204" pitchFamily="49" charset="0"/>
              </a:rPr>
              <a:t>// thus, in Thread 2, </a:t>
            </a:r>
            <a:r>
              <a:rPr lang="en-US" sz="1600" dirty="0" err="1">
                <a:solidFill>
                  <a:srgbClr val="3F7F5F"/>
                </a:solidFill>
                <a:latin typeface="Consolas" panose="020B0609020204030204" pitchFamily="49" charset="0"/>
              </a:rPr>
              <a:t>local_id</a:t>
            </a:r>
            <a:r>
              <a:rPr lang="en-US" sz="1600" dirty="0">
                <a:solidFill>
                  <a:srgbClr val="3F7F5F"/>
                </a:solidFill>
                <a:latin typeface="Consolas" panose="020B0609020204030204" pitchFamily="49" charset="0"/>
              </a:rPr>
              <a:t> is correctly 2</a:t>
            </a:r>
          </a:p>
          <a:p>
            <a:pPr marL="114300" indent="0" algn="l">
              <a:spcBef>
                <a:spcPts val="0"/>
              </a:spcBef>
              <a:buNone/>
            </a:pPr>
            <a:r>
              <a:rPr lang="en-US" sz="1600" dirty="0">
                <a:solidFill>
                  <a:srgbClr val="3F7F5F"/>
                </a:solidFill>
                <a:latin typeface="Consolas" panose="020B0609020204030204" pitchFamily="49" charset="0"/>
              </a:rPr>
              <a:t>// Here, the CPU switches back to Thread 1</a:t>
            </a:r>
          </a:p>
          <a:p>
            <a:pPr marL="114300" indent="0" algn="l">
              <a:spcBef>
                <a:spcPts val="0"/>
              </a:spcBef>
              <a:buNone/>
            </a:pPr>
            <a:r>
              <a:rPr lang="en-US" sz="1600" dirty="0">
                <a:solidFill>
                  <a:srgbClr val="3F7F5F"/>
                </a:solidFill>
                <a:latin typeface="Consolas" panose="020B0609020204030204" pitchFamily="49" charset="0"/>
              </a:rPr>
              <a:t>// Thread 1</a:t>
            </a:r>
          </a:p>
          <a:p>
            <a:pPr marL="114300" indent="0" algn="l">
              <a:spcBef>
                <a:spcPts val="0"/>
              </a:spcBef>
              <a:buNone/>
            </a:pPr>
            <a:r>
              <a:rPr lang="en-US" sz="1600" dirty="0" err="1">
                <a:solidFill>
                  <a:srgbClr val="000000"/>
                </a:solidFill>
                <a:latin typeface="Consolas" panose="020B0609020204030204" pitchFamily="49" charset="0"/>
              </a:rPr>
              <a:t>local_id</a:t>
            </a:r>
            <a:r>
              <a:rPr lang="en-US" sz="1600" dirty="0">
                <a:solidFill>
                  <a:srgbClr val="000000"/>
                </a:solidFill>
                <a:latin typeface="Consolas" panose="020B0609020204030204" pitchFamily="49" charset="0"/>
              </a:rPr>
              <a:t> = counter; </a:t>
            </a:r>
            <a:r>
              <a:rPr lang="en-US" sz="1600" dirty="0">
                <a:solidFill>
                  <a:srgbClr val="3F7F5F"/>
                </a:solidFill>
                <a:latin typeface="Consolas" panose="020B0609020204030204" pitchFamily="49" charset="0"/>
              </a:rPr>
              <a:t>// now, </a:t>
            </a:r>
            <a:r>
              <a:rPr lang="en-US" sz="1600" dirty="0" err="1">
                <a:solidFill>
                  <a:srgbClr val="3F7F5F"/>
                </a:solidFill>
                <a:latin typeface="Consolas" panose="020B0609020204030204" pitchFamily="49" charset="0"/>
              </a:rPr>
              <a:t>local_id</a:t>
            </a:r>
            <a:r>
              <a:rPr lang="en-US" sz="1600" dirty="0">
                <a:solidFill>
                  <a:srgbClr val="3F7F5F"/>
                </a:solidFill>
                <a:latin typeface="Consolas" panose="020B0609020204030204" pitchFamily="49" charset="0"/>
              </a:rPr>
              <a:t> is still 2, instead of 1... mission failed</a:t>
            </a:r>
            <a:endParaRPr lang="en-US" sz="1600" dirty="0">
              <a:solidFill>
                <a:srgbClr val="3F7F5F"/>
              </a:solidFill>
              <a:latin typeface="Consolas" panose="020B0609020204030204" pitchFamily="49" charset="0"/>
              <a:ea typeface="Arial"/>
              <a:cs typeface="Arial"/>
              <a:sym typeface="Arial"/>
            </a:endParaRPr>
          </a:p>
          <a:p>
            <a:pPr marL="114300" indent="0" algn="l">
              <a:spcBef>
                <a:spcPts val="0"/>
              </a:spcBef>
              <a:buNone/>
            </a:pPr>
            <a:endParaRPr lang="en-US" sz="1600" dirty="0">
              <a:solidFill>
                <a:srgbClr val="3F7F5F"/>
              </a:solidFill>
              <a:latin typeface="Consolas" panose="020B0609020204030204" pitchFamily="49" charset="0"/>
              <a:ea typeface="Arial"/>
              <a:cs typeface="Arial"/>
              <a:sym typeface="Arial"/>
            </a:endParaRPr>
          </a:p>
          <a:p>
            <a:pPr marL="114300" indent="0">
              <a:spcBef>
                <a:spcPts val="0"/>
              </a:spcBef>
              <a:buNone/>
            </a:pPr>
            <a:r>
              <a:rPr lang="en-US" sz="1600" dirty="0">
                <a:latin typeface="Atkinson Hyperlegible Next"/>
                <a:ea typeface="Arial"/>
                <a:cs typeface="Arial"/>
                <a:sym typeface="Arial"/>
              </a:rPr>
              <a:t>This is called a race condition! </a:t>
            </a:r>
          </a:p>
          <a:p>
            <a:pPr marL="114300" indent="0">
              <a:spcBef>
                <a:spcPts val="0"/>
              </a:spcBef>
              <a:buNone/>
            </a:pPr>
            <a:endParaRPr lang="en-US" sz="1600" dirty="0">
              <a:latin typeface="Atkinson Hyperlegible Next"/>
              <a:ea typeface="Arial"/>
              <a:cs typeface="Arial"/>
              <a:sym typeface="Arial"/>
            </a:endParaRPr>
          </a:p>
          <a:p>
            <a:pPr marL="114300" indent="0">
              <a:spcBef>
                <a:spcPts val="0"/>
              </a:spcBef>
              <a:buNone/>
            </a:pPr>
            <a:r>
              <a:rPr lang="en-US" sz="1600" dirty="0">
                <a:latin typeface="Atkinson Hyperlegible Next"/>
                <a:ea typeface="Arial"/>
                <a:cs typeface="Arial"/>
                <a:sym typeface="Arial"/>
              </a:rPr>
              <a:t>This happens when you the ordering of instructions is not what you expect! There is some randomness in the instruction call ordering, so you might not always get this problem.</a:t>
            </a:r>
          </a:p>
          <a:p>
            <a:pPr marL="114300" indent="0">
              <a:spcBef>
                <a:spcPts val="0"/>
              </a:spcBef>
              <a:buNone/>
            </a:pPr>
            <a:endParaRPr lang="en-US" sz="1600" dirty="0">
              <a:latin typeface="Atkinson Hyperlegible Next"/>
              <a:ea typeface="Arial"/>
              <a:cs typeface="Arial"/>
              <a:sym typeface="Arial"/>
            </a:endParaRPr>
          </a:p>
          <a:p>
            <a:pPr marL="114300" indent="0">
              <a:spcBef>
                <a:spcPts val="0"/>
              </a:spcBef>
              <a:buNone/>
            </a:pPr>
            <a:r>
              <a:rPr lang="en-US" sz="1600" dirty="0">
                <a:latin typeface="Atkinson Hyperlegible Next"/>
                <a:ea typeface="Arial"/>
                <a:cs typeface="Arial"/>
                <a:sym typeface="Arial"/>
              </a:rPr>
              <a:t>Can the Red Board also have this problem?</a:t>
            </a:r>
          </a:p>
        </p:txBody>
      </p:sp>
      <p:sp>
        <p:nvSpPr>
          <p:cNvPr id="119" name="Google Shape;119;p29">
            <a:extLst>
              <a:ext uri="{FF2B5EF4-FFF2-40B4-BE49-F238E27FC236}">
                <a16:creationId xmlns:a16="http://schemas.microsoft.com/office/drawing/2014/main" id="{23A650AE-B18E-D067-7966-B418CFFA831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4F60FEE-7AAB-3F29-23F3-26BF52BAEC0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Threads &amp; Processes – Race Conditions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CD4400F-2B97-8E18-20E3-497F031BFE0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E9AAD61-A1E0-1647-005B-6C2858C898F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EC4F01-F8A9-A646-4789-DAFDCABE59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BA66F1A-3979-85EA-EB52-D7613C533D7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3DCA874-3AFB-ABC6-B25A-038696D79F4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AC19CA4-74A5-5821-9FED-81E96B50D7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196221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18">
                                            <p:txEl>
                                              <p:pRg st="17" end="17"/>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18">
                                            <p:txEl>
                                              <p:pRg st="19" end="19"/>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18">
                                            <p:txEl>
                                              <p:pRg st="21" end="2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94F7083-A0FA-CA15-41BF-C25B410AD08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84C4D67-F90E-F49C-559F-D2394FE400C2}"/>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1600" dirty="0">
                <a:latin typeface="Atkinson Hyperlegible Next"/>
                <a:ea typeface="Arial"/>
                <a:cs typeface="Arial"/>
                <a:sym typeface="Arial"/>
              </a:rPr>
              <a:t>The problem is that what we just did was not an </a:t>
            </a:r>
            <a:r>
              <a:rPr lang="en-US" sz="1600" b="1" dirty="0">
                <a:latin typeface="Atkinson Hyperlegible Next"/>
                <a:ea typeface="Arial"/>
                <a:cs typeface="Arial"/>
                <a:sym typeface="Arial"/>
              </a:rPr>
              <a:t>atomic operation</a:t>
            </a:r>
            <a:r>
              <a:rPr lang="en-US" sz="1600" dirty="0">
                <a:latin typeface="Atkinson Hyperlegible Next"/>
                <a:ea typeface="Arial"/>
                <a:cs typeface="Arial"/>
                <a:sym typeface="Arial"/>
              </a:rPr>
              <a:t> . This means that internally, it is not implemented with a single CPU instruction but rather out of a series of different operations / instructions.</a:t>
            </a:r>
          </a:p>
          <a:p>
            <a:pPr marL="114300" indent="0">
              <a:spcBef>
                <a:spcPts val="0"/>
              </a:spcBef>
              <a:buNone/>
            </a:pPr>
            <a:endParaRPr lang="en-US" sz="1600" b="1" dirty="0">
              <a:latin typeface="Atkinson Hyperlegible Next"/>
              <a:ea typeface="Arial"/>
              <a:cs typeface="Arial"/>
              <a:sym typeface="Arial"/>
            </a:endParaRPr>
          </a:p>
          <a:p>
            <a:pPr marL="114300" indent="0">
              <a:spcBef>
                <a:spcPts val="0"/>
              </a:spcBef>
              <a:buNone/>
            </a:pPr>
            <a:r>
              <a:rPr lang="en-US" sz="1600" dirty="0">
                <a:latin typeface="Atkinson Hyperlegible Next"/>
                <a:ea typeface="Arial"/>
                <a:cs typeface="Arial"/>
                <a:sym typeface="Arial"/>
              </a:rPr>
              <a:t>Even simple, unassuming code can cause a race condition. For example, the following causes a race condition,</a:t>
            </a:r>
          </a:p>
          <a:p>
            <a:pPr marL="114300" indent="0">
              <a:spcBef>
                <a:spcPts val="0"/>
              </a:spcBef>
              <a:buNone/>
            </a:pPr>
            <a:endParaRPr lang="en-US" sz="1600" dirty="0">
              <a:latin typeface="Atkinson Hyperlegible Next"/>
              <a:ea typeface="Arial"/>
              <a:cs typeface="Arial"/>
              <a:sym typeface="Arial"/>
            </a:endParaRPr>
          </a:p>
          <a:p>
            <a:pPr marL="114300" lvl="0" indent="0">
              <a:spcBef>
                <a:spcPts val="0"/>
              </a:spcBef>
              <a:buClr>
                <a:srgbClr val="000000"/>
              </a:buClr>
              <a:buNone/>
            </a:pPr>
            <a:r>
              <a:rPr lang="en-US" sz="1600" dirty="0">
                <a:solidFill>
                  <a:srgbClr val="7F0055"/>
                </a:solidFill>
                <a:latin typeface="Consolas" panose="020B0609020204030204" pitchFamily="49" charset="0"/>
              </a:rPr>
              <a:t>int</a:t>
            </a:r>
            <a:r>
              <a:rPr lang="en-US" sz="1600" dirty="0">
                <a:solidFill>
                  <a:srgbClr val="000000"/>
                </a:solidFill>
                <a:latin typeface="Consolas" panose="020B0609020204030204" pitchFamily="49" charset="0"/>
              </a:rPr>
              <a:t> counter = 0;</a:t>
            </a:r>
          </a:p>
          <a:p>
            <a:pPr marL="114300" lvl="0" indent="0">
              <a:spcBef>
                <a:spcPts val="0"/>
              </a:spcBef>
              <a:buClr>
                <a:srgbClr val="000000"/>
              </a:buClr>
              <a:buNone/>
            </a:pPr>
            <a:endParaRPr lang="en-US" sz="1600" dirty="0">
              <a:solidFill>
                <a:srgbClr val="000000"/>
              </a:solidFill>
              <a:latin typeface="Consolas" panose="020B0609020204030204" pitchFamily="49" charset="0"/>
            </a:endParaRPr>
          </a:p>
          <a:p>
            <a:pPr marL="114300" lvl="0" indent="0">
              <a:spcBef>
                <a:spcPts val="0"/>
              </a:spcBef>
              <a:buClr>
                <a:srgbClr val="000000"/>
              </a:buClr>
              <a:buNone/>
            </a:pPr>
            <a:r>
              <a:rPr lang="en-US" sz="1600" dirty="0">
                <a:solidFill>
                  <a:srgbClr val="7F0055"/>
                </a:solidFill>
                <a:latin typeface="Consolas" panose="020B0609020204030204" pitchFamily="49" charset="0"/>
              </a:rPr>
              <a:t>void</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doSomeThing</a:t>
            </a:r>
            <a:r>
              <a:rPr lang="en-US" sz="1600" dirty="0">
                <a:solidFill>
                  <a:srgbClr val="000000"/>
                </a:solidFill>
                <a:latin typeface="Consolas" panose="020B0609020204030204" pitchFamily="49" charset="0"/>
              </a:rPr>
              <a:t>(</a:t>
            </a:r>
            <a:r>
              <a:rPr lang="en-US" sz="1600" dirty="0">
                <a:solidFill>
                  <a:srgbClr val="7F0055"/>
                </a:solidFill>
                <a:latin typeface="Consolas" panose="020B0609020204030204" pitchFamily="49" charset="0"/>
              </a:rPr>
              <a:t>void</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arg</a:t>
            </a:r>
            <a:r>
              <a:rPr lang="en-US" sz="1600" dirty="0">
                <a:solidFill>
                  <a:srgbClr val="000000"/>
                </a:solidFill>
                <a:latin typeface="Consolas" panose="020B0609020204030204" pitchFamily="49" charset="0"/>
              </a:rPr>
              <a:t>) {</a:t>
            </a:r>
          </a:p>
          <a:p>
            <a:pPr marL="114300" lvl="0" indent="0">
              <a:spcBef>
                <a:spcPts val="0"/>
              </a:spcBef>
              <a:buClr>
                <a:srgbClr val="000000"/>
              </a:buClr>
              <a:buNone/>
            </a:pPr>
            <a:r>
              <a:rPr lang="en-US" sz="1600" dirty="0">
                <a:solidFill>
                  <a:srgbClr val="000000"/>
                </a:solidFill>
                <a:latin typeface="Consolas" panose="020B0609020204030204" pitchFamily="49" charset="0"/>
              </a:rPr>
              <a:t>    counter += 1;</a:t>
            </a:r>
          </a:p>
          <a:p>
            <a:pPr marL="114300" lvl="0" indent="0">
              <a:spcBef>
                <a:spcPts val="0"/>
              </a:spcBef>
              <a:buClr>
                <a:srgbClr val="000000"/>
              </a:buClr>
              <a:buNone/>
            </a:pPr>
            <a:r>
              <a:rPr lang="en-US" sz="1600" dirty="0">
                <a:solidFill>
                  <a:srgbClr val="000000"/>
                </a:solidFill>
                <a:latin typeface="Consolas" panose="020B0609020204030204" pitchFamily="49" charset="0"/>
              </a:rPr>
              <a:t>    </a:t>
            </a:r>
          </a:p>
          <a:p>
            <a:pPr marL="114300" lvl="0" indent="0">
              <a:spcBef>
                <a:spcPts val="0"/>
              </a:spcBef>
              <a:buClr>
                <a:srgbClr val="000000"/>
              </a:buClr>
              <a:buNone/>
            </a:pP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return</a:t>
            </a:r>
            <a:r>
              <a:rPr lang="en-US" sz="1600" dirty="0">
                <a:solidFill>
                  <a:srgbClr val="000000"/>
                </a:solidFill>
                <a:latin typeface="Consolas" panose="020B0609020204030204" pitchFamily="49" charset="0"/>
              </a:rPr>
              <a:t> NULL;</a:t>
            </a:r>
          </a:p>
          <a:p>
            <a:pPr marL="114300" lvl="0" indent="0">
              <a:spcBef>
                <a:spcPts val="0"/>
              </a:spcBef>
              <a:buClr>
                <a:srgbClr val="000000"/>
              </a:buClr>
              <a:buNone/>
            </a:pPr>
            <a:r>
              <a:rPr lang="en-US" sz="1600" dirty="0">
                <a:solidFill>
                  <a:srgbClr val="000000"/>
                </a:solidFill>
                <a:latin typeface="Consolas" panose="020B0609020204030204" pitchFamily="49" charset="0"/>
              </a:rPr>
              <a:t>}</a:t>
            </a:r>
          </a:p>
          <a:p>
            <a:pPr marL="114300" indent="0">
              <a:spcBef>
                <a:spcPts val="0"/>
              </a:spcBef>
              <a:buNone/>
            </a:pPr>
            <a:endParaRPr lang="en-US" sz="1600" b="1" dirty="0">
              <a:latin typeface="Atkinson Hyperlegible Next"/>
              <a:ea typeface="Arial"/>
              <a:cs typeface="Arial"/>
              <a:sym typeface="Arial"/>
            </a:endParaRPr>
          </a:p>
          <a:p>
            <a:pPr marL="114300" indent="0">
              <a:spcBef>
                <a:spcPts val="0"/>
              </a:spcBef>
              <a:buNone/>
            </a:pPr>
            <a:r>
              <a:rPr lang="en-US" sz="1600" dirty="0">
                <a:latin typeface="Atkinson Hyperlegible Next"/>
                <a:ea typeface="Arial"/>
                <a:cs typeface="Arial"/>
                <a:sym typeface="Arial"/>
              </a:rPr>
              <a:t>What is causing the race condition in this case?</a:t>
            </a:r>
          </a:p>
          <a:p>
            <a:pPr marL="114300" indent="0">
              <a:spcBef>
                <a:spcPts val="0"/>
              </a:spcBef>
              <a:buNone/>
            </a:pPr>
            <a:endParaRPr lang="en-US" sz="1600" dirty="0">
              <a:latin typeface="Atkinson Hyperlegible Next"/>
              <a:ea typeface="Arial"/>
              <a:cs typeface="Arial"/>
              <a:sym typeface="Arial"/>
            </a:endParaRPr>
          </a:p>
          <a:p>
            <a:pPr marL="114300" indent="0">
              <a:spcBef>
                <a:spcPts val="0"/>
              </a:spcBef>
              <a:buNone/>
            </a:pPr>
            <a:r>
              <a:rPr lang="en-US" sz="1600" dirty="0">
                <a:latin typeface="Atkinson Hyperlegible Next"/>
                <a:ea typeface="Arial"/>
                <a:cs typeface="Arial"/>
                <a:sym typeface="Arial"/>
              </a:rPr>
              <a:t>The “+= 1”, is causing the race condition! Since that is not a single operation!</a:t>
            </a:r>
          </a:p>
          <a:p>
            <a:pPr marL="114300" indent="0">
              <a:spcBef>
                <a:spcPts val="0"/>
              </a:spcBef>
              <a:buNone/>
            </a:pPr>
            <a:endParaRPr lang="en-US" sz="1600" dirty="0">
              <a:latin typeface="Atkinson Hyperlegible Next"/>
              <a:ea typeface="Arial"/>
              <a:cs typeface="Arial"/>
              <a:sym typeface="Arial"/>
            </a:endParaRPr>
          </a:p>
          <a:p>
            <a:pPr marL="114300" indent="0">
              <a:spcBef>
                <a:spcPts val="0"/>
              </a:spcBef>
              <a:buNone/>
            </a:pPr>
            <a:r>
              <a:rPr lang="en-US" sz="1600" dirty="0">
                <a:solidFill>
                  <a:srgbClr val="3F7F5F"/>
                </a:solidFill>
                <a:latin typeface="Consolas" panose="020B0609020204030204" pitchFamily="49" charset="0"/>
              </a:rPr>
              <a:t>// In simple pseudocode, counter += 1 or counter++ looks like this:</a:t>
            </a:r>
          </a:p>
          <a:p>
            <a:pPr marL="114300" indent="0">
              <a:spcBef>
                <a:spcPts val="0"/>
              </a:spcBef>
              <a:buNone/>
            </a:pPr>
            <a:r>
              <a:rPr lang="en-US" sz="1600" dirty="0">
                <a:solidFill>
                  <a:srgbClr val="7F0055"/>
                </a:solidFill>
                <a:latin typeface="Consolas" panose="020B0609020204030204" pitchFamily="49" charset="0"/>
              </a:rPr>
              <a:t>int</a:t>
            </a:r>
            <a:r>
              <a:rPr lang="en-US" sz="1600" dirty="0">
                <a:solidFill>
                  <a:srgbClr val="000000"/>
                </a:solidFill>
                <a:latin typeface="Consolas" panose="020B0609020204030204" pitchFamily="49" charset="0"/>
              </a:rPr>
              <a:t> temp = counter + 1; </a:t>
            </a:r>
            <a:r>
              <a:rPr lang="en-US" sz="1600" dirty="0">
                <a:solidFill>
                  <a:srgbClr val="3F7F5F"/>
                </a:solidFill>
                <a:latin typeface="Consolas" panose="020B0609020204030204" pitchFamily="49" charset="0"/>
              </a:rPr>
              <a:t>// temp is for example the CPU register here, and "counter" is the value in memory</a:t>
            </a:r>
          </a:p>
          <a:p>
            <a:pPr marL="114300" indent="0">
              <a:spcBef>
                <a:spcPts val="0"/>
              </a:spcBef>
              <a:buNone/>
            </a:pPr>
            <a:r>
              <a:rPr lang="en-US" sz="1600" dirty="0">
                <a:solidFill>
                  <a:srgbClr val="000000"/>
                </a:solidFill>
                <a:latin typeface="Consolas" panose="020B0609020204030204" pitchFamily="49" charset="0"/>
              </a:rPr>
              <a:t>counter = temp; </a:t>
            </a:r>
            <a:r>
              <a:rPr lang="en-US" sz="1600" dirty="0">
                <a:solidFill>
                  <a:srgbClr val="3F7F5F"/>
                </a:solidFill>
                <a:latin typeface="Consolas" panose="020B0609020204030204" pitchFamily="49" charset="0"/>
              </a:rPr>
              <a:t>// the register value is written back out to the memory</a:t>
            </a:r>
            <a:endParaRPr lang="en-US" sz="16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864D63EF-1783-BC87-1483-E474BD37F08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9147C4E-1AE2-15B6-70BA-E39B82DC51D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9B7B4D0-FF97-B989-B85C-2D286FE20A8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B1BF02F-A039-DC66-4F85-F26E38873E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BDAC947-BA6A-13E9-E62F-BB39A28C69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C2C746F-FDA2-26BD-0BAE-8A6D1C7E1C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2CF23F3-476E-B9BA-6DD9-DFA7F5DA898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D2F55E7-9A40-F632-D5EA-EF5F5EA5AC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62429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16" end="1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17" end="1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18" end="1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A9B265-FA35-670C-4365-8BB9310B7F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C965076-64D3-FA57-A476-11E477FFF3AE}"/>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1900" dirty="0">
                <a:latin typeface="Atkinson Hyperlegible Next"/>
                <a:ea typeface="Arial"/>
                <a:cs typeface="Arial"/>
                <a:sym typeface="Arial"/>
              </a:rPr>
              <a:t>We need a way to secure the important sections in a thread such that you can </a:t>
            </a:r>
            <a:r>
              <a:rPr lang="en-US" sz="1900" b="1" dirty="0">
                <a:latin typeface="Atkinson Hyperlegible Next"/>
                <a:ea typeface="Arial"/>
                <a:cs typeface="Arial"/>
                <a:sym typeface="Arial"/>
              </a:rPr>
              <a:t>lock </a:t>
            </a:r>
            <a:r>
              <a:rPr lang="en-US" sz="1900" dirty="0">
                <a:latin typeface="Atkinson Hyperlegible Next"/>
                <a:ea typeface="Arial"/>
                <a:cs typeface="Arial"/>
                <a:sym typeface="Arial"/>
              </a:rPr>
              <a:t>and </a:t>
            </a:r>
            <a:r>
              <a:rPr lang="en-US" sz="1900" b="1" dirty="0">
                <a:latin typeface="Atkinson Hyperlegible Next"/>
                <a:ea typeface="Arial"/>
                <a:cs typeface="Arial"/>
                <a:sym typeface="Arial"/>
              </a:rPr>
              <a:t>unlock </a:t>
            </a:r>
            <a:r>
              <a:rPr lang="en-US" sz="1900" dirty="0">
                <a:latin typeface="Atkinson Hyperlegible Next"/>
                <a:ea typeface="Arial"/>
                <a:cs typeface="Arial"/>
                <a:sym typeface="Arial"/>
              </a:rPr>
              <a:t>access for pieces of code for the threads.</a:t>
            </a:r>
          </a:p>
          <a:p>
            <a:pPr marL="114300" indent="0">
              <a:spcBef>
                <a:spcPts val="0"/>
              </a:spcBef>
              <a:buNone/>
            </a:pPr>
            <a:endParaRPr lang="en-US" sz="1900" b="1" dirty="0">
              <a:latin typeface="Atkinson Hyperlegible Next"/>
              <a:ea typeface="Arial"/>
              <a:cs typeface="Arial"/>
              <a:sym typeface="Arial"/>
            </a:endParaRPr>
          </a:p>
          <a:p>
            <a:pPr marL="114300" indent="0">
              <a:spcBef>
                <a:spcPts val="0"/>
              </a:spcBef>
              <a:buNone/>
            </a:pPr>
            <a:r>
              <a:rPr lang="en-US" sz="1900" dirty="0">
                <a:latin typeface="Atkinson Hyperlegible Next"/>
                <a:ea typeface="Arial"/>
                <a:cs typeface="Arial"/>
                <a:sym typeface="Arial"/>
              </a:rPr>
              <a:t>The simplest method is called the </a:t>
            </a:r>
            <a:r>
              <a:rPr lang="en-US" sz="1900" b="1" dirty="0">
                <a:latin typeface="Atkinson Hyperlegible Next"/>
                <a:ea typeface="Arial"/>
                <a:cs typeface="Arial"/>
                <a:sym typeface="Arial"/>
              </a:rPr>
              <a:t>mutex</a:t>
            </a:r>
            <a:r>
              <a:rPr lang="en-US" sz="1900" dirty="0">
                <a:latin typeface="Atkinson Hyperlegible Next"/>
                <a:ea typeface="Arial"/>
                <a:cs typeface="Arial"/>
                <a:sym typeface="Arial"/>
              </a:rPr>
              <a:t> (</a:t>
            </a:r>
            <a:r>
              <a:rPr lang="en-US" sz="1900" b="1" dirty="0">
                <a:latin typeface="Atkinson Hyperlegible Next"/>
                <a:ea typeface="Arial"/>
                <a:cs typeface="Arial"/>
                <a:sym typeface="Arial"/>
              </a:rPr>
              <a:t>Mut</a:t>
            </a:r>
            <a:r>
              <a:rPr lang="en-US" sz="1900" dirty="0">
                <a:latin typeface="Atkinson Hyperlegible Next"/>
                <a:ea typeface="Arial"/>
                <a:cs typeface="Arial"/>
                <a:sym typeface="Arial"/>
              </a:rPr>
              <a:t>ual </a:t>
            </a:r>
            <a:r>
              <a:rPr lang="en-US" sz="1900" b="1" dirty="0">
                <a:latin typeface="Atkinson Hyperlegible Next"/>
                <a:ea typeface="Arial"/>
                <a:cs typeface="Arial"/>
                <a:sym typeface="Arial"/>
              </a:rPr>
              <a:t>Ex</a:t>
            </a:r>
            <a:r>
              <a:rPr lang="en-US" sz="1900" dirty="0">
                <a:latin typeface="Atkinson Hyperlegible Next"/>
                <a:ea typeface="Arial"/>
                <a:cs typeface="Arial"/>
                <a:sym typeface="Arial"/>
              </a:rPr>
              <a:t>clusion). </a:t>
            </a:r>
          </a:p>
          <a:p>
            <a:pPr marL="114300" indent="0">
              <a:spcBef>
                <a:spcPts val="0"/>
              </a:spcBef>
              <a:buNone/>
            </a:pPr>
            <a:endParaRPr lang="en-US" sz="1900" dirty="0">
              <a:latin typeface="Atkinson Hyperlegible Next"/>
              <a:ea typeface="Arial"/>
              <a:cs typeface="Arial"/>
              <a:sym typeface="Arial"/>
            </a:endParaRPr>
          </a:p>
          <a:p>
            <a:pPr marL="114300" indent="0">
              <a:spcBef>
                <a:spcPts val="0"/>
              </a:spcBef>
              <a:buNone/>
            </a:pPr>
            <a:endParaRPr lang="en-US" sz="1900" dirty="0">
              <a:latin typeface="Atkinson Hyperlegible Next"/>
              <a:ea typeface="Arial"/>
              <a:cs typeface="Arial"/>
              <a:sym typeface="Arial"/>
            </a:endParaRPr>
          </a:p>
          <a:p>
            <a:pPr marL="114300" indent="0">
              <a:spcBef>
                <a:spcPts val="0"/>
              </a:spcBef>
              <a:buNone/>
            </a:pPr>
            <a:r>
              <a:rPr lang="en-US" sz="1900" dirty="0">
                <a:latin typeface="Atkinson Hyperlegible Next"/>
                <a:ea typeface="Arial"/>
                <a:cs typeface="Arial"/>
                <a:sym typeface="Arial"/>
              </a:rPr>
              <a:t>The behavior can be seen as the lock on a restroom door. If you are using the restroom, you </a:t>
            </a:r>
            <a:r>
              <a:rPr lang="en-US" sz="1900" b="1" dirty="0">
                <a:latin typeface="Atkinson Hyperlegible Next"/>
                <a:ea typeface="Arial"/>
                <a:cs typeface="Arial"/>
                <a:sym typeface="Arial"/>
              </a:rPr>
              <a:t>lock</a:t>
            </a:r>
            <a:r>
              <a:rPr lang="en-US" sz="1900" dirty="0">
                <a:latin typeface="Atkinson Hyperlegible Next"/>
                <a:ea typeface="Arial"/>
                <a:cs typeface="Arial"/>
                <a:sym typeface="Arial"/>
              </a:rPr>
              <a:t> the door. Others that want to occupy the restroom must </a:t>
            </a:r>
            <a:r>
              <a:rPr lang="en-US" sz="1900" b="1" dirty="0">
                <a:latin typeface="Atkinson Hyperlegible Next"/>
                <a:ea typeface="Arial"/>
                <a:cs typeface="Arial"/>
                <a:sym typeface="Arial"/>
              </a:rPr>
              <a:t>wait</a:t>
            </a:r>
            <a:r>
              <a:rPr lang="en-US" sz="1900" dirty="0">
                <a:latin typeface="Atkinson Hyperlegible Next"/>
                <a:ea typeface="Arial"/>
                <a:cs typeface="Arial"/>
                <a:sym typeface="Arial"/>
              </a:rPr>
              <a:t> until you’re finished and you </a:t>
            </a:r>
            <a:r>
              <a:rPr lang="en-US" sz="1900" b="1" dirty="0">
                <a:latin typeface="Atkinson Hyperlegible Next"/>
                <a:ea typeface="Arial"/>
                <a:cs typeface="Arial"/>
                <a:sym typeface="Arial"/>
              </a:rPr>
              <a:t>unlock</a:t>
            </a:r>
            <a:r>
              <a:rPr lang="en-US" sz="1900" dirty="0">
                <a:latin typeface="Atkinson Hyperlegible Next"/>
                <a:ea typeface="Arial"/>
                <a:cs typeface="Arial"/>
                <a:sym typeface="Arial"/>
              </a:rPr>
              <a:t> the door (and get out, after washing your hands). </a:t>
            </a:r>
          </a:p>
          <a:p>
            <a:pPr marL="114300" indent="0">
              <a:spcBef>
                <a:spcPts val="0"/>
              </a:spcBef>
              <a:buNone/>
            </a:pPr>
            <a:endParaRPr lang="en-US" sz="1900" dirty="0">
              <a:latin typeface="Atkinson Hyperlegible Next"/>
              <a:ea typeface="Arial"/>
              <a:cs typeface="Arial"/>
              <a:sym typeface="Arial"/>
            </a:endParaRPr>
          </a:p>
          <a:p>
            <a:pPr marL="114300" indent="0">
              <a:spcBef>
                <a:spcPts val="0"/>
              </a:spcBef>
              <a:buNone/>
            </a:pPr>
            <a:r>
              <a:rPr lang="en-US" sz="1900" dirty="0">
                <a:latin typeface="Atkinson Hyperlegible Next"/>
                <a:ea typeface="Arial"/>
                <a:cs typeface="Arial"/>
                <a:sym typeface="Arial"/>
              </a:rPr>
              <a:t>Hence, the mutex has only </a:t>
            </a:r>
            <a:r>
              <a:rPr lang="en-US" sz="1900" b="1" dirty="0">
                <a:latin typeface="Atkinson Hyperlegible Next"/>
                <a:ea typeface="Arial"/>
                <a:cs typeface="Arial"/>
                <a:sym typeface="Arial"/>
              </a:rPr>
              <a:t>two states</a:t>
            </a:r>
            <a:r>
              <a:rPr lang="en-US" sz="1900" dirty="0">
                <a:latin typeface="Atkinson Hyperlegible Next"/>
                <a:ea typeface="Arial"/>
                <a:cs typeface="Arial"/>
                <a:sym typeface="Arial"/>
              </a:rPr>
              <a:t>: one or zero, on or off, locked or unlocked.</a:t>
            </a:r>
          </a:p>
          <a:p>
            <a:pPr marL="114300" indent="0">
              <a:spcBef>
                <a:spcPts val="0"/>
              </a:spcBef>
              <a:buNone/>
            </a:pPr>
            <a:endParaRPr lang="en-US" sz="1900" dirty="0">
              <a:latin typeface="Atkinson Hyperlegible Next"/>
              <a:ea typeface="Arial"/>
              <a:cs typeface="Arial"/>
              <a:sym typeface="Arial"/>
            </a:endParaRPr>
          </a:p>
          <a:p>
            <a:pPr marL="114300" indent="0">
              <a:spcBef>
                <a:spcPts val="0"/>
              </a:spcBef>
              <a:buNone/>
            </a:pPr>
            <a:r>
              <a:rPr lang="en-US" sz="1900" dirty="0">
                <a:latin typeface="Atkinson Hyperlegible Next"/>
                <a:ea typeface="Arial"/>
                <a:cs typeface="Arial"/>
                <a:sym typeface="Arial"/>
              </a:rPr>
              <a:t>Internally the mutex is implemented as a single, atomic CPU instruction!</a:t>
            </a:r>
          </a:p>
          <a:p>
            <a:pPr marL="114300" indent="0">
              <a:spcBef>
                <a:spcPts val="0"/>
              </a:spcBef>
              <a:buNone/>
            </a:pPr>
            <a:endParaRPr lang="en-US" sz="1900" dirty="0">
              <a:latin typeface="Atkinson Hyperlegible Next"/>
              <a:ea typeface="Arial"/>
              <a:cs typeface="Arial"/>
              <a:sym typeface="Arial"/>
            </a:endParaRPr>
          </a:p>
          <a:p>
            <a:pPr marL="114300" indent="0">
              <a:spcBef>
                <a:spcPts val="0"/>
              </a:spcBef>
              <a:buNone/>
            </a:pPr>
            <a:r>
              <a:rPr lang="en-US" sz="1900" dirty="0">
                <a:latin typeface="Atkinson Hyperlegible Next"/>
                <a:ea typeface="Arial"/>
                <a:cs typeface="Arial"/>
                <a:sym typeface="Arial"/>
              </a:rPr>
              <a:t>The number of code / instructions between locking and unlocking a mutex should be kept to a minimum. If you put your whole thread inside the mutex then you are just making all your threads run in serial again! Losing all the parallelization benefits!</a:t>
            </a:r>
          </a:p>
          <a:p>
            <a:pPr marL="114300" indent="0">
              <a:spcBef>
                <a:spcPts val="0"/>
              </a:spcBef>
              <a:buNone/>
            </a:pPr>
            <a:endParaRPr lang="en-US" sz="1900" dirty="0">
              <a:latin typeface="Atkinson Hyperlegible Next"/>
              <a:ea typeface="Arial"/>
              <a:cs typeface="Arial"/>
              <a:sym typeface="Arial"/>
            </a:endParaRPr>
          </a:p>
          <a:p>
            <a:pPr marL="114300" indent="0">
              <a:spcBef>
                <a:spcPts val="0"/>
              </a:spcBef>
              <a:buNone/>
            </a:pPr>
            <a:r>
              <a:rPr lang="en-US" sz="1900" dirty="0">
                <a:latin typeface="Atkinson Hyperlegible Next"/>
                <a:ea typeface="Arial"/>
                <a:cs typeface="Arial"/>
                <a:sym typeface="Arial"/>
              </a:rPr>
              <a:t>You can still have a Deadlock problem (where threads lock each other out causing infinite waiting)</a:t>
            </a:r>
          </a:p>
        </p:txBody>
      </p:sp>
      <p:sp>
        <p:nvSpPr>
          <p:cNvPr id="119" name="Google Shape;119;p29">
            <a:extLst>
              <a:ext uri="{FF2B5EF4-FFF2-40B4-BE49-F238E27FC236}">
                <a16:creationId xmlns:a16="http://schemas.microsoft.com/office/drawing/2014/main" id="{36CA3B53-45A1-D29E-A7E9-9E5E05646B2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7C8BF39-828B-4C6F-E7BA-5092DA6E175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Mutex and Locking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FBF0087-BFE9-AEA9-70BF-2FCFD6A4632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AE8496F-5AF1-9A97-C0AC-87BF987270D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1D2C84F-EA04-E44F-7691-21695C23B03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FF01C05-5F65-ECB1-18EB-ACD9268C000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262ED94-5843-F2BA-D096-77674D63CE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E487E1-750C-89EE-8589-8D36E042D95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076742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B780BCA-B828-1808-5290-C1F70F83D24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80572AB-02FC-3A4F-23A1-82E19C66B9FD}"/>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2000" dirty="0">
                <a:solidFill>
                  <a:srgbClr val="7F0055"/>
                </a:solidFill>
                <a:latin typeface="Consolas" panose="020B0609020204030204" pitchFamily="49" charset="0"/>
              </a:rPr>
              <a:t>int</a:t>
            </a:r>
            <a:r>
              <a:rPr lang="en-US" sz="2000" dirty="0">
                <a:solidFill>
                  <a:srgbClr val="000000"/>
                </a:solidFill>
                <a:latin typeface="Consolas" panose="020B0609020204030204" pitchFamily="49" charset="0"/>
              </a:rPr>
              <a:t> counter;</a:t>
            </a:r>
          </a:p>
          <a:p>
            <a:pPr marL="114300" indent="0">
              <a:spcBef>
                <a:spcPts val="0"/>
              </a:spcBef>
              <a:buNone/>
            </a:pPr>
            <a:r>
              <a:rPr lang="en-US" sz="2000" dirty="0" err="1">
                <a:solidFill>
                  <a:srgbClr val="000000"/>
                </a:solidFill>
                <a:latin typeface="Consolas" panose="020B0609020204030204" pitchFamily="49" charset="0"/>
              </a:rPr>
              <a:t>pthread_mutex_t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counter_lock</a:t>
            </a:r>
            <a:r>
              <a:rPr lang="en-US" sz="2000" dirty="0">
                <a:solidFill>
                  <a:srgbClr val="000000"/>
                </a:solidFill>
                <a:latin typeface="Consolas" panose="020B0609020204030204" pitchFamily="49" charset="0"/>
              </a:rPr>
              <a:t>;</a:t>
            </a:r>
          </a:p>
          <a:p>
            <a:pPr marL="114300" indent="0">
              <a:spcBef>
                <a:spcPts val="0"/>
              </a:spcBef>
              <a:buNone/>
            </a:pPr>
            <a:r>
              <a:rPr lang="en-US" sz="2000" dirty="0">
                <a:solidFill>
                  <a:srgbClr val="000000"/>
                </a:solidFill>
                <a:latin typeface="Consolas" panose="020B0609020204030204" pitchFamily="49" charset="0"/>
              </a:rPr>
              <a:t>                </a:t>
            </a:r>
            <a:endParaRPr lang="en-US" sz="2000" dirty="0">
              <a:latin typeface="Consolas" panose="020B0609020204030204" pitchFamily="49" charset="0"/>
            </a:endParaRPr>
          </a:p>
          <a:p>
            <a:pPr marL="114300" indent="0">
              <a:spcBef>
                <a:spcPts val="0"/>
              </a:spcBef>
              <a:buNone/>
            </a:pPr>
            <a:r>
              <a:rPr lang="en-US" sz="2000" dirty="0">
                <a:solidFill>
                  <a:srgbClr val="7F0055"/>
                </a:solidFill>
                <a:latin typeface="Consolas" panose="020B0609020204030204" pitchFamily="49" charset="0"/>
              </a:rPr>
              <a:t>void</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doSomeThing</a:t>
            </a:r>
            <a:r>
              <a:rPr lang="en-US" sz="2000" dirty="0">
                <a:solidFill>
                  <a:srgbClr val="000000"/>
                </a:solidFill>
                <a:latin typeface="Consolas" panose="020B0609020204030204" pitchFamily="49" charset="0"/>
              </a:rPr>
              <a:t>(</a:t>
            </a:r>
            <a:r>
              <a:rPr lang="en-US" sz="2000" dirty="0">
                <a:solidFill>
                  <a:srgbClr val="7F0055"/>
                </a:solidFill>
                <a:latin typeface="Consolas" panose="020B0609020204030204" pitchFamily="49" charset="0"/>
              </a:rPr>
              <a:t>void</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arg</a:t>
            </a:r>
            <a:r>
              <a:rPr lang="en-US" sz="2000" dirty="0">
                <a:solidFill>
                  <a:srgbClr val="000000"/>
                </a:solidFill>
                <a:latin typeface="Consolas" panose="020B0609020204030204" pitchFamily="49" charset="0"/>
              </a:rPr>
              <a:t>) {</a:t>
            </a:r>
          </a:p>
          <a:p>
            <a:pPr marL="114300" indent="0">
              <a:spcBef>
                <a:spcPts val="0"/>
              </a:spcBef>
              <a:buNone/>
            </a:pP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unsigned</a:t>
            </a: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long</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i</a:t>
            </a:r>
            <a:r>
              <a:rPr lang="en-US" sz="2000" dirty="0">
                <a:solidFill>
                  <a:srgbClr val="000000"/>
                </a:solidFill>
                <a:latin typeface="Consolas" panose="020B0609020204030204" pitchFamily="49" charset="0"/>
              </a:rPr>
              <a:t> = 0;</a:t>
            </a:r>
          </a:p>
          <a:p>
            <a:pPr marL="114300" indent="0">
              <a:spcBef>
                <a:spcPts val="0"/>
              </a:spcBef>
              <a:buNone/>
            </a:pPr>
            <a:endParaRPr lang="en-US" sz="2000" dirty="0">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int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a:t>
            </a:r>
            <a:endParaRPr lang="en-US" sz="2000" dirty="0">
              <a:solidFill>
                <a:srgbClr val="3F7F5F"/>
              </a:solidFill>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pthread_mutex_lock</a:t>
            </a:r>
            <a:r>
              <a:rPr lang="en-US" sz="2000" dirty="0">
                <a:solidFill>
                  <a:srgbClr val="000000"/>
                </a:solidFill>
                <a:latin typeface="Consolas" panose="020B0609020204030204" pitchFamily="49" charset="0"/>
              </a:rPr>
              <a:t>(&amp;</a:t>
            </a:r>
            <a:r>
              <a:rPr lang="en-US" sz="2000" dirty="0" err="1">
                <a:solidFill>
                  <a:srgbClr val="000000"/>
                </a:solidFill>
                <a:latin typeface="Consolas" panose="020B0609020204030204" pitchFamily="49" charset="0"/>
              </a:rPr>
              <a:t>counter_lock</a:t>
            </a:r>
            <a:r>
              <a:rPr lang="en-US" sz="2000" dirty="0">
                <a:solidFill>
                  <a:srgbClr val="000000"/>
                </a:solidFill>
                <a:latin typeface="Consolas" panose="020B0609020204030204" pitchFamily="49" charset="0"/>
              </a:rPr>
              <a:t>);          </a:t>
            </a:r>
            <a:endParaRPr lang="en-US" sz="2000" dirty="0">
              <a:solidFill>
                <a:srgbClr val="3F7F5F"/>
              </a:solidFill>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counter += 1;</a:t>
            </a: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 counter;                         </a:t>
            </a:r>
            <a:endParaRPr lang="en-US" sz="2000" dirty="0">
              <a:solidFill>
                <a:srgbClr val="3F7F5F"/>
              </a:solidFill>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pthread_mutex_unlock</a:t>
            </a:r>
            <a:r>
              <a:rPr lang="en-US" sz="2000" dirty="0">
                <a:solidFill>
                  <a:srgbClr val="000000"/>
                </a:solidFill>
                <a:latin typeface="Consolas" panose="020B0609020204030204" pitchFamily="49" charset="0"/>
              </a:rPr>
              <a:t>(&amp;</a:t>
            </a:r>
            <a:r>
              <a:rPr lang="en-US" sz="2000" dirty="0" err="1">
                <a:solidFill>
                  <a:srgbClr val="000000"/>
                </a:solidFill>
                <a:latin typeface="Consolas" panose="020B0609020204030204" pitchFamily="49" charset="0"/>
              </a:rPr>
              <a:t>counter_lock</a:t>
            </a:r>
            <a:r>
              <a:rPr lang="en-US" sz="2000" dirty="0">
                <a:solidFill>
                  <a:srgbClr val="000000"/>
                </a:solidFill>
                <a:latin typeface="Consolas" panose="020B0609020204030204" pitchFamily="49" charset="0"/>
              </a:rPr>
              <a:t>);        </a:t>
            </a:r>
            <a:endParaRPr lang="en-US" sz="2000" dirty="0">
              <a:solidFill>
                <a:srgbClr val="3F7F5F"/>
              </a:solidFill>
              <a:latin typeface="Consolas" panose="020B0609020204030204" pitchFamily="49" charset="0"/>
            </a:endParaRPr>
          </a:p>
          <a:p>
            <a:pPr marL="114300" indent="0">
              <a:spcBef>
                <a:spcPts val="0"/>
              </a:spcBef>
              <a:buNone/>
            </a:pPr>
            <a:endParaRPr lang="en-US" sz="2000" dirty="0">
              <a:latin typeface="Consolas" panose="020B0609020204030204" pitchFamily="49" charset="0"/>
            </a:endParaRPr>
          </a:p>
          <a:p>
            <a:pPr marL="114300" indent="0">
              <a:spcBef>
                <a:spcPts val="0"/>
              </a:spcBef>
              <a:buNone/>
            </a:pPr>
            <a:endParaRPr lang="en-US" sz="2000" dirty="0">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printf</a:t>
            </a:r>
            <a:r>
              <a:rPr lang="en-US" sz="2000" dirty="0">
                <a:solidFill>
                  <a:srgbClr val="000000"/>
                </a:solidFill>
                <a:latin typeface="Consolas" panose="020B0609020204030204" pitchFamily="49" charset="0"/>
              </a:rPr>
              <a:t>(</a:t>
            </a:r>
            <a:r>
              <a:rPr lang="en-US" sz="2000" dirty="0">
                <a:solidFill>
                  <a:srgbClr val="2A00FF"/>
                </a:solidFill>
                <a:latin typeface="Consolas" panose="020B0609020204030204" pitchFamily="49" charset="0"/>
              </a:rPr>
              <a:t>"  Job %d started\n"</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a:t>
            </a:r>
            <a:endParaRPr lang="en-US" sz="2000" dirty="0">
              <a:solidFill>
                <a:srgbClr val="3F7F5F"/>
              </a:solidFill>
              <a:latin typeface="Consolas" panose="020B0609020204030204" pitchFamily="49" charset="0"/>
            </a:endParaRPr>
          </a:p>
          <a:p>
            <a:pPr marL="114300" indent="0">
              <a:spcBef>
                <a:spcPts val="0"/>
              </a:spcBef>
              <a:buNone/>
            </a:pPr>
            <a:r>
              <a:rPr lang="nn-NO" sz="2000" dirty="0">
                <a:solidFill>
                  <a:srgbClr val="000000"/>
                </a:solidFill>
                <a:latin typeface="Consolas" panose="020B0609020204030204" pitchFamily="49" charset="0"/>
              </a:rPr>
              <a:t>    </a:t>
            </a:r>
            <a:r>
              <a:rPr lang="nn-NO" sz="2000" dirty="0">
                <a:solidFill>
                  <a:srgbClr val="7F0055"/>
                </a:solidFill>
                <a:latin typeface="Consolas" panose="020B0609020204030204" pitchFamily="49" charset="0"/>
              </a:rPr>
              <a:t>for</a:t>
            </a:r>
            <a:r>
              <a:rPr lang="nn-NO" sz="2000" dirty="0">
                <a:solidFill>
                  <a:srgbClr val="000000"/>
                </a:solidFill>
                <a:latin typeface="Consolas" panose="020B0609020204030204" pitchFamily="49" charset="0"/>
              </a:rPr>
              <a:t>(i=0; i&lt;(0xFFFFFFFF);i++);</a:t>
            </a: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printf</a:t>
            </a:r>
            <a:r>
              <a:rPr lang="en-US" sz="2000" dirty="0">
                <a:solidFill>
                  <a:srgbClr val="000000"/>
                </a:solidFill>
                <a:latin typeface="Consolas" panose="020B0609020204030204" pitchFamily="49" charset="0"/>
              </a:rPr>
              <a:t>(</a:t>
            </a:r>
            <a:r>
              <a:rPr lang="en-US" sz="2000" dirty="0">
                <a:solidFill>
                  <a:srgbClr val="2A00FF"/>
                </a:solidFill>
                <a:latin typeface="Consolas" panose="020B0609020204030204" pitchFamily="49" charset="0"/>
              </a:rPr>
              <a:t>"  Job %d finished\n"</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a:t>
            </a:r>
            <a:endParaRPr lang="en-US" sz="2000" dirty="0">
              <a:solidFill>
                <a:srgbClr val="3F7F5F"/>
              </a:solidFill>
              <a:latin typeface="Consolas" panose="020B0609020204030204" pitchFamily="49" charset="0"/>
            </a:endParaRPr>
          </a:p>
          <a:p>
            <a:pPr marL="114300" indent="0">
              <a:spcBef>
                <a:spcPts val="0"/>
              </a:spcBef>
              <a:buNone/>
            </a:pPr>
            <a:endParaRPr lang="en-US" sz="2000" dirty="0">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return</a:t>
            </a:r>
            <a:r>
              <a:rPr lang="en-US" sz="2000" dirty="0">
                <a:solidFill>
                  <a:srgbClr val="000000"/>
                </a:solidFill>
                <a:latin typeface="Consolas" panose="020B0609020204030204" pitchFamily="49" charset="0"/>
              </a:rPr>
              <a:t> NULL;</a:t>
            </a:r>
          </a:p>
          <a:p>
            <a:pPr marL="114300" indent="0">
              <a:spcBef>
                <a:spcPts val="0"/>
              </a:spcBef>
              <a:buNone/>
            </a:pPr>
            <a:r>
              <a:rPr lang="en-US" sz="2000" dirty="0">
                <a:solidFill>
                  <a:srgbClr val="000000"/>
                </a:solidFill>
                <a:latin typeface="Consolas" panose="020B0609020204030204" pitchFamily="49" charset="0"/>
              </a:rPr>
              <a:t>}</a:t>
            </a: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FC492D4-8D55-50D7-3FEF-84C49258198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E89AA3A-7BB3-8499-CC43-CBCEB417897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Mutex and Locking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6615CB1-8FEC-7BBD-C036-EEC56D0F18A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2174D3-E5E3-3F3A-B9DC-47D1BB66BA5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9B1ECBA-1ED0-2D16-166A-C5CBACF142F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D706337-1EFE-67BC-165F-D3B627B63E5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02A726-BE2F-C5DB-14A8-1572DCEBDDE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68C3F4F-47AD-4180-3476-D2B5E7D0389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2402813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0232C7B-1E6E-9AAC-EE8C-4B2EAC447D2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60497DF-F6A2-65E6-948E-A95986F0BDFD}"/>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2000" dirty="0">
                <a:latin typeface="Atkinson Hyperlegible Next"/>
                <a:ea typeface="Arial"/>
                <a:cs typeface="Arial"/>
                <a:sym typeface="Arial"/>
              </a:rPr>
              <a:t>While the mutex is nice and simple, we can improve the thread synchronization </a:t>
            </a:r>
            <a:r>
              <a:rPr lang="en-US" sz="2000" dirty="0" err="1">
                <a:latin typeface="Atkinson Hyperlegible Next"/>
                <a:ea typeface="Arial"/>
                <a:cs typeface="Arial"/>
                <a:sym typeface="Arial"/>
              </a:rPr>
              <a:t>techniuques</a:t>
            </a:r>
            <a:r>
              <a:rPr lang="en-US" sz="2000" dirty="0">
                <a:latin typeface="Atkinson Hyperlegible Next"/>
                <a:ea typeface="Arial"/>
                <a:cs typeface="Arial"/>
                <a:sym typeface="Arial"/>
              </a:rPr>
              <a:t> using Semaphores!</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This technique is useful in </a:t>
            </a:r>
            <a:r>
              <a:rPr lang="en-US" sz="2000" b="1" dirty="0">
                <a:latin typeface="Atkinson Hyperlegible Next"/>
                <a:ea typeface="Arial"/>
                <a:cs typeface="Arial"/>
                <a:sym typeface="Arial"/>
              </a:rPr>
              <a:t>producer-consumer </a:t>
            </a:r>
            <a:r>
              <a:rPr lang="en-US" sz="2000" dirty="0">
                <a:latin typeface="Atkinson Hyperlegible Next"/>
                <a:ea typeface="Arial"/>
                <a:cs typeface="Arial"/>
                <a:sym typeface="Arial"/>
              </a:rPr>
              <a:t>problems.</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producer </a:t>
            </a:r>
            <a:r>
              <a:rPr lang="en-US" sz="2000" dirty="0">
                <a:latin typeface="Atkinson Hyperlegible Next"/>
                <a:ea typeface="Arial"/>
                <a:cs typeface="Arial"/>
                <a:sym typeface="Arial"/>
              </a:rPr>
              <a:t>has 1 or more threads to prepare data and put it in a limited amount of shared memory (an array for example)</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consumer </a:t>
            </a:r>
            <a:r>
              <a:rPr lang="en-US" sz="2000" dirty="0">
                <a:latin typeface="Atkinson Hyperlegible Next"/>
                <a:ea typeface="Arial"/>
                <a:cs typeface="Arial"/>
                <a:sym typeface="Arial"/>
              </a:rPr>
              <a:t>wants to be able to read that ready data.</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Now we want to have multiple producers be able to write to that shared memory at a given time if there is an open spot. If not wait!</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Similarly, the consumers can read data from the shared memory if there is something there. If not wait!</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2F75C06-E8A3-BEA1-2F84-012F3F90494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3C1836E-A577-CA56-50CC-EAB011C3373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Semaphores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EB1FF7A-8257-D77B-D77B-84C40DEE0BD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EDB2D09-5BBF-2D6C-E245-6A02A0CE4EC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73DFB47-24F5-57ED-5205-00E57DF002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F62637-7727-87C7-C8B0-ECA65D05143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4BEB016-BDF8-B526-4E21-758130A0AB0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26C5D2D-C321-DE00-701E-D2C0816D8A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20252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6F3B170-E45D-18FB-7E6C-AFF60870E6E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DE98EDF-6562-34EE-E6A0-65BE69213D47}"/>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2000" dirty="0">
                <a:latin typeface="Atkinson Hyperlegible Next"/>
                <a:ea typeface="Arial"/>
                <a:cs typeface="Arial"/>
                <a:sym typeface="Arial"/>
              </a:rPr>
              <a:t>We want threads that want to read/write an item from/to the array can only do so if it is possible. </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If not, the thread should be </a:t>
            </a:r>
            <a:r>
              <a:rPr lang="en-US" sz="2000" b="1" dirty="0">
                <a:latin typeface="Atkinson Hyperlegible Next"/>
                <a:ea typeface="Arial"/>
                <a:cs typeface="Arial"/>
                <a:sym typeface="Arial"/>
              </a:rPr>
              <a:t>paused</a:t>
            </a:r>
            <a:r>
              <a:rPr lang="en-US" sz="2000" dirty="0">
                <a:latin typeface="Atkinson Hyperlegible Next"/>
                <a:ea typeface="Arial"/>
                <a:cs typeface="Arial"/>
                <a:sym typeface="Arial"/>
              </a:rPr>
              <a:t> until it’s sure that it can make progress, instead of constantly checking. </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To do this, we need a new type of lock that keeps track of who’s waiting for what to happen, which is called the </a:t>
            </a:r>
            <a:r>
              <a:rPr lang="en-US" sz="2000" b="1" dirty="0">
                <a:latin typeface="Atkinson Hyperlegible Next"/>
                <a:ea typeface="Arial"/>
                <a:cs typeface="Arial"/>
                <a:sym typeface="Arial"/>
              </a:rPr>
              <a:t>semaphore</a:t>
            </a:r>
            <a:r>
              <a:rPr lang="en-US" sz="2000" dirty="0">
                <a:latin typeface="Atkinson Hyperlegible Next"/>
                <a:ea typeface="Arial"/>
                <a:cs typeface="Arial"/>
                <a:sym typeface="Arial"/>
              </a:rPr>
              <a:t>.</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We could have a mutex</a:t>
            </a:r>
            <a:r>
              <a:rPr lang="en-US" sz="2000" b="1" dirty="0">
                <a:latin typeface="Atkinson Hyperlegible Next"/>
                <a:ea typeface="Arial"/>
                <a:cs typeface="Arial"/>
                <a:sym typeface="Arial"/>
              </a:rPr>
              <a:t> </a:t>
            </a:r>
            <a:r>
              <a:rPr lang="en-US" sz="2000" dirty="0">
                <a:latin typeface="Atkinson Hyperlegible Next"/>
                <a:ea typeface="Arial"/>
                <a:cs typeface="Arial"/>
                <a:sym typeface="Arial"/>
              </a:rPr>
              <a:t>and check if the specific element has been changed or not; however, having a mutex locking and unlocking almost immediately to check that element, is called </a:t>
            </a:r>
            <a:r>
              <a:rPr lang="en-US" sz="2000" b="1" dirty="0">
                <a:latin typeface="Atkinson Hyperlegible Next"/>
                <a:ea typeface="Arial"/>
                <a:cs typeface="Arial"/>
                <a:sym typeface="Arial"/>
              </a:rPr>
              <a:t>busy waiting </a:t>
            </a:r>
            <a:r>
              <a:rPr lang="en-US" sz="2000" dirty="0">
                <a:latin typeface="Atkinson Hyperlegible Next"/>
                <a:ea typeface="Arial"/>
                <a:cs typeface="Arial"/>
                <a:sym typeface="Arial"/>
              </a:rPr>
              <a:t>or </a:t>
            </a:r>
            <a:r>
              <a:rPr lang="en-US" sz="2000" b="1" dirty="0">
                <a:latin typeface="Atkinson Hyperlegible Next"/>
                <a:ea typeface="Arial"/>
                <a:cs typeface="Arial"/>
                <a:sym typeface="Arial"/>
              </a:rPr>
              <a:t>polling </a:t>
            </a:r>
            <a:r>
              <a:rPr lang="en-US" sz="2000" dirty="0">
                <a:latin typeface="Atkinson Hyperlegible Next"/>
                <a:ea typeface="Arial"/>
                <a:cs typeface="Arial"/>
                <a:sym typeface="Arial"/>
              </a:rPr>
              <a:t>and is bad for performance as you’re doing a lot of unnecessary work.</a:t>
            </a:r>
          </a:p>
        </p:txBody>
      </p:sp>
      <p:sp>
        <p:nvSpPr>
          <p:cNvPr id="119" name="Google Shape;119;p29">
            <a:extLst>
              <a:ext uri="{FF2B5EF4-FFF2-40B4-BE49-F238E27FC236}">
                <a16:creationId xmlns:a16="http://schemas.microsoft.com/office/drawing/2014/main" id="{6BFCC886-9E0B-37CA-3D34-91DA58DD407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CCCD10D-8804-CFD7-BCD5-AE3ABD64D71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Semaphores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0FCCECB-CB1C-F739-7C02-736C2806833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EC79E67-BD50-95F6-62E6-E0E68B7958C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50E1596-2743-B95B-9884-C7E2BA6DC1B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5836CF8-B3EB-94FC-DCF8-6F7BB891022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4B09A1-5FDC-6F95-0D2B-43CFCCFB780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E944576-7A7C-E1CE-317F-A84656F2559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461977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5A7ABA6-4CA5-08D8-87E9-D5C3D223E92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187F383-92CB-C55A-70E1-03475039BECD}"/>
              </a:ext>
            </a:extLst>
          </p:cNvPr>
          <p:cNvSpPr txBox="1">
            <a:spLocks noGrp="1"/>
          </p:cNvSpPr>
          <p:nvPr>
            <p:ph type="body" idx="1"/>
          </p:nvPr>
        </p:nvSpPr>
        <p:spPr>
          <a:xfrm>
            <a:off x="376809" y="1102041"/>
            <a:ext cx="11177401" cy="2739709"/>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2000" dirty="0">
                <a:latin typeface="Atkinson Hyperlegible Next"/>
                <a:ea typeface="Arial"/>
                <a:cs typeface="Arial"/>
                <a:sym typeface="Arial"/>
              </a:rPr>
              <a:t>Semaphores are simply a counter, but one that can automatically pause/resume threads that use it.</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It only has 2 operations (below is pseudocode for the functions):</a:t>
            </a:r>
          </a:p>
          <a:p>
            <a:pPr>
              <a:spcBef>
                <a:spcPts val="0"/>
              </a:spcBef>
            </a:pPr>
            <a:r>
              <a:rPr lang="en-US" sz="2000" b="1" dirty="0">
                <a:latin typeface="Atkinson Hyperlegible Next"/>
                <a:ea typeface="Arial"/>
                <a:cs typeface="Arial"/>
                <a:sym typeface="Arial"/>
              </a:rPr>
              <a:t>Wait</a:t>
            </a:r>
            <a:r>
              <a:rPr lang="en-US" sz="2000" dirty="0">
                <a:latin typeface="Atkinson Hyperlegible Next"/>
                <a:ea typeface="Arial"/>
                <a:cs typeface="Arial"/>
                <a:sym typeface="Arial"/>
              </a:rPr>
              <a:t>: continues if counter &gt; 0 and decrements it by 1. If not waits until counter &gt; 0</a:t>
            </a:r>
          </a:p>
          <a:p>
            <a:pPr>
              <a:spcBef>
                <a:spcPts val="0"/>
              </a:spcBef>
            </a:pPr>
            <a:r>
              <a:rPr lang="en-US" sz="2000" b="1" dirty="0">
                <a:latin typeface="Atkinson Hyperlegible Next"/>
                <a:ea typeface="Arial"/>
                <a:cs typeface="Arial"/>
                <a:sym typeface="Arial"/>
              </a:rPr>
              <a:t>Post</a:t>
            </a:r>
            <a:r>
              <a:rPr lang="en-US" sz="2000" dirty="0">
                <a:latin typeface="Atkinson Hyperlegible Next"/>
                <a:ea typeface="Arial"/>
                <a:cs typeface="Arial"/>
                <a:sym typeface="Arial"/>
              </a:rPr>
              <a:t>: increments counter by 1. Causes 1 of the waiting threads to un pause.</a:t>
            </a:r>
          </a:p>
          <a:p>
            <a:pPr>
              <a:spcBef>
                <a:spcPts val="0"/>
              </a:spcBef>
            </a:pPr>
            <a:endParaRPr lang="en-US" sz="2000" dirty="0">
              <a:latin typeface="Atkinson Hyperlegible Next"/>
              <a:ea typeface="Arial"/>
              <a:cs typeface="Arial"/>
              <a:sym typeface="Arial"/>
            </a:endParaRPr>
          </a:p>
          <a:p>
            <a:pPr>
              <a:spcBef>
                <a:spcPts val="0"/>
              </a:spcBef>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Can be used to help wait for data to arrive.</a:t>
            </a:r>
          </a:p>
        </p:txBody>
      </p:sp>
      <p:sp>
        <p:nvSpPr>
          <p:cNvPr id="119" name="Google Shape;119;p29">
            <a:extLst>
              <a:ext uri="{FF2B5EF4-FFF2-40B4-BE49-F238E27FC236}">
                <a16:creationId xmlns:a16="http://schemas.microsoft.com/office/drawing/2014/main" id="{6862C4E3-56C9-9168-C0D9-6C8DCD5EC5A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52A489C-D41D-D059-343A-477E1C8EC21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Semaphores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88D1C78-1392-F604-9278-70DC11D88DA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69B7C0B-B8D5-E155-1437-4828FD5D01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07D87A6-A1F2-FA60-A707-E34C05A4E52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40DE081-13CC-6CBE-2202-640F2FD2FC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98CF33E-0979-777A-53FB-0B7976F46C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D83369B-661C-EDCB-23A7-97BBD13984E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TextBox 1">
            <a:extLst>
              <a:ext uri="{FF2B5EF4-FFF2-40B4-BE49-F238E27FC236}">
                <a16:creationId xmlns:a16="http://schemas.microsoft.com/office/drawing/2014/main" id="{E9589303-49D8-01EC-CFC0-8865BB2716DD}"/>
              </a:ext>
            </a:extLst>
          </p:cNvPr>
          <p:cNvSpPr txBox="1"/>
          <p:nvPr/>
        </p:nvSpPr>
        <p:spPr>
          <a:xfrm>
            <a:off x="376807" y="3956975"/>
            <a:ext cx="5092700" cy="2246769"/>
          </a:xfrm>
          <a:prstGeom prst="rect">
            <a:avLst/>
          </a:prstGeom>
          <a:noFill/>
        </p:spPr>
        <p:txBody>
          <a:bodyPr wrap="square" rtlCol="0">
            <a:spAutoFit/>
          </a:bodyPr>
          <a:lstStyle/>
          <a:p>
            <a:pPr algn="l"/>
            <a:r>
              <a:rPr lang="en-US" sz="1400" dirty="0">
                <a:solidFill>
                  <a:srgbClr val="000000"/>
                </a:solidFill>
                <a:latin typeface="Consolas" panose="020B0609020204030204" pitchFamily="49" charset="0"/>
              </a:rPr>
              <a:t>wait(semaphore v){</a:t>
            </a:r>
          </a:p>
          <a:p>
            <a:pPr algn="l"/>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while</a:t>
            </a:r>
            <a:r>
              <a:rPr lang="en-US" sz="1400" dirty="0">
                <a:solidFill>
                  <a:srgbClr val="000000"/>
                </a:solidFill>
                <a:latin typeface="Consolas" panose="020B0609020204030204" pitchFamily="49" charset="0"/>
              </a:rPr>
              <a:t>(1){</a:t>
            </a:r>
          </a:p>
          <a:p>
            <a:pPr algn="l"/>
            <a:r>
              <a:rPr lang="en-US" sz="1400" dirty="0">
                <a:solidFill>
                  <a:srgbClr val="000000"/>
                </a:solidFill>
                <a:latin typeface="Consolas" panose="020B0609020204030204" pitchFamily="49" charset="0"/>
              </a:rPr>
              <a:t>        atomic {</a:t>
            </a:r>
          </a:p>
          <a:p>
            <a:pPr algn="l"/>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if</a:t>
            </a:r>
            <a:r>
              <a:rPr lang="en-US" sz="1400" dirty="0">
                <a:solidFill>
                  <a:srgbClr val="000000"/>
                </a:solidFill>
                <a:latin typeface="Consolas" panose="020B0609020204030204" pitchFamily="49" charset="0"/>
              </a:rPr>
              <a:t> (v &gt; 0){</a:t>
            </a:r>
          </a:p>
          <a:p>
            <a:pPr algn="l"/>
            <a:r>
              <a:rPr lang="en-US" sz="1400" dirty="0">
                <a:solidFill>
                  <a:srgbClr val="000000"/>
                </a:solidFill>
                <a:latin typeface="Consolas" panose="020B0609020204030204" pitchFamily="49" charset="0"/>
              </a:rPr>
              <a:t>                v--;</a:t>
            </a:r>
          </a:p>
          <a:p>
            <a:pPr algn="l"/>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return</a:t>
            </a:r>
            <a:r>
              <a:rPr lang="en-US" sz="1400" dirty="0">
                <a:solidFill>
                  <a:srgbClr val="000000"/>
                </a:solidFill>
                <a:latin typeface="Consolas" panose="020B0609020204030204" pitchFamily="49" charset="0"/>
              </a:rPr>
              <a:t>;</a:t>
            </a:r>
          </a:p>
          <a:p>
            <a:pPr algn="l"/>
            <a:r>
              <a:rPr lang="en-US" sz="1400" dirty="0">
                <a:solidFill>
                  <a:srgbClr val="000000"/>
                </a:solidFill>
                <a:latin typeface="Consolas" panose="020B0609020204030204" pitchFamily="49" charset="0"/>
              </a:rPr>
              <a:t>            }</a:t>
            </a:r>
          </a:p>
          <a:p>
            <a:pPr algn="l"/>
            <a:r>
              <a:rPr lang="en-US" sz="1400" dirty="0">
                <a:solidFill>
                  <a:srgbClr val="000000"/>
                </a:solidFill>
                <a:latin typeface="Consolas" panose="020B0609020204030204" pitchFamily="49" charset="0"/>
              </a:rPr>
              <a:t>        }</a:t>
            </a:r>
          </a:p>
          <a:p>
            <a:pPr algn="l"/>
            <a:r>
              <a:rPr lang="en-US" sz="1400" dirty="0">
                <a:solidFill>
                  <a:srgbClr val="000000"/>
                </a:solidFill>
                <a:latin typeface="Consolas" panose="020B0609020204030204" pitchFamily="49" charset="0"/>
              </a:rPr>
              <a:t>    }</a:t>
            </a:r>
          </a:p>
          <a:p>
            <a:pPr algn="l"/>
            <a:r>
              <a:rPr lang="en-US" sz="1400" dirty="0">
                <a:solidFill>
                  <a:srgbClr val="000000"/>
                </a:solidFill>
                <a:latin typeface="Consolas" panose="020B0609020204030204" pitchFamily="49" charset="0"/>
              </a:rPr>
              <a:t>}</a:t>
            </a:r>
            <a:endParaRPr lang="en-US" dirty="0"/>
          </a:p>
        </p:txBody>
      </p:sp>
      <p:sp>
        <p:nvSpPr>
          <p:cNvPr id="3" name="TextBox 2">
            <a:extLst>
              <a:ext uri="{FF2B5EF4-FFF2-40B4-BE49-F238E27FC236}">
                <a16:creationId xmlns:a16="http://schemas.microsoft.com/office/drawing/2014/main" id="{07588F99-D0F2-6FB1-45E7-5F793EFB604E}"/>
              </a:ext>
            </a:extLst>
          </p:cNvPr>
          <p:cNvSpPr txBox="1"/>
          <p:nvPr/>
        </p:nvSpPr>
        <p:spPr>
          <a:xfrm>
            <a:off x="5831823" y="3956975"/>
            <a:ext cx="5863308" cy="1384995"/>
          </a:xfrm>
          <a:prstGeom prst="rect">
            <a:avLst/>
          </a:prstGeom>
          <a:noFill/>
        </p:spPr>
        <p:txBody>
          <a:bodyPr wrap="square" rtlCol="0">
            <a:spAutoFit/>
          </a:bodyPr>
          <a:lstStyle/>
          <a:p>
            <a:pPr algn="l"/>
            <a:r>
              <a:rPr lang="en-US" sz="1400" dirty="0">
                <a:solidFill>
                  <a:srgbClr val="000000"/>
                </a:solidFill>
                <a:latin typeface="Consolas" panose="020B0609020204030204" pitchFamily="49" charset="0"/>
              </a:rPr>
              <a:t>post(semaphore v){</a:t>
            </a:r>
          </a:p>
          <a:p>
            <a:pPr algn="l"/>
            <a:r>
              <a:rPr lang="en-US" sz="1400" dirty="0">
                <a:solidFill>
                  <a:srgbClr val="000000"/>
                </a:solidFill>
                <a:latin typeface="Consolas" panose="020B0609020204030204" pitchFamily="49" charset="0"/>
              </a:rPr>
              <a:t>    atomic {</a:t>
            </a:r>
          </a:p>
          <a:p>
            <a:pPr algn="l"/>
            <a:r>
              <a:rPr lang="en-US" sz="1400" dirty="0">
                <a:solidFill>
                  <a:srgbClr val="000000"/>
                </a:solidFill>
                <a:latin typeface="Consolas" panose="020B0609020204030204" pitchFamily="49" charset="0"/>
              </a:rPr>
              <a:t>        v++;</a:t>
            </a:r>
          </a:p>
          <a:p>
            <a:pPr algn="l"/>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return</a:t>
            </a:r>
            <a:r>
              <a:rPr lang="en-US" sz="1400" dirty="0">
                <a:solidFill>
                  <a:srgbClr val="000000"/>
                </a:solidFill>
                <a:latin typeface="Consolas" panose="020B0609020204030204" pitchFamily="49" charset="0"/>
              </a:rPr>
              <a:t>;</a:t>
            </a:r>
          </a:p>
          <a:p>
            <a:pPr algn="l"/>
            <a:r>
              <a:rPr lang="en-US" sz="1400" dirty="0">
                <a:solidFill>
                  <a:srgbClr val="000000"/>
                </a:solidFill>
                <a:latin typeface="Consolas" panose="020B0609020204030204" pitchFamily="49" charset="0"/>
              </a:rPr>
              <a:t>    }</a:t>
            </a:r>
          </a:p>
          <a:p>
            <a:pPr algn="l"/>
            <a:r>
              <a:rPr lang="en-US" sz="1400" dirty="0">
                <a:solidFill>
                  <a:srgbClr val="000000"/>
                </a:solidFill>
                <a:latin typeface="Consolas" panose="020B0609020204030204" pitchFamily="49" charset="0"/>
              </a:rPr>
              <a:t>}</a:t>
            </a:r>
            <a:endParaRPr lang="en-US" dirty="0"/>
          </a:p>
        </p:txBody>
      </p:sp>
    </p:spTree>
    <p:extLst>
      <p:ext uri="{BB962C8B-B14F-4D97-AF65-F5344CB8AC3E}">
        <p14:creationId xmlns:p14="http://schemas.microsoft.com/office/powerpoint/2010/main" val="3983115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FCB9E41-BFF9-4BF7-F274-5225384B360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E2C6798-DF0E-E16D-5CA7-FB33C2D7F5D1}"/>
              </a:ext>
            </a:extLst>
          </p:cNvPr>
          <p:cNvSpPr txBox="1">
            <a:spLocks noGrp="1"/>
          </p:cNvSpPr>
          <p:nvPr>
            <p:ph type="body" idx="1"/>
          </p:nvPr>
        </p:nvSpPr>
        <p:spPr>
          <a:xfrm>
            <a:off x="376809" y="1102041"/>
            <a:ext cx="5719191" cy="5383930"/>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1400" dirty="0">
                <a:solidFill>
                  <a:srgbClr val="7F0055"/>
                </a:solidFill>
                <a:latin typeface="Consolas" panose="020B0609020204030204" pitchFamily="49" charset="0"/>
              </a:rPr>
              <a:t>#include</a:t>
            </a:r>
            <a:r>
              <a:rPr lang="en-US" sz="1400" dirty="0">
                <a:solidFill>
                  <a:srgbClr val="000000"/>
                </a:solidFill>
                <a:latin typeface="Consolas" panose="020B0609020204030204" pitchFamily="49" charset="0"/>
              </a:rPr>
              <a:t> </a:t>
            </a:r>
            <a:r>
              <a:rPr lang="en-US" sz="1400" dirty="0">
                <a:solidFill>
                  <a:srgbClr val="2A00FF"/>
                </a:solidFill>
                <a:latin typeface="Consolas" panose="020B0609020204030204" pitchFamily="49" charset="0"/>
              </a:rPr>
              <a:t>&lt;</a:t>
            </a:r>
            <a:r>
              <a:rPr lang="en-US" sz="1400" dirty="0" err="1">
                <a:solidFill>
                  <a:srgbClr val="2A00FF"/>
                </a:solidFill>
                <a:latin typeface="Consolas" panose="020B0609020204030204" pitchFamily="49" charset="0"/>
              </a:rPr>
              <a:t>stdio.h</a:t>
            </a:r>
            <a:r>
              <a:rPr lang="en-US" sz="1400" dirty="0">
                <a:solidFill>
                  <a:srgbClr val="2A00FF"/>
                </a:solidFill>
                <a:latin typeface="Consolas" panose="020B0609020204030204" pitchFamily="49" charset="0"/>
              </a:rPr>
              <a:t>&gt;</a:t>
            </a:r>
          </a:p>
          <a:p>
            <a:pPr marL="114300" indent="0" algn="l">
              <a:spcBef>
                <a:spcPts val="0"/>
              </a:spcBef>
              <a:buNone/>
            </a:pPr>
            <a:r>
              <a:rPr lang="en-US" sz="1400" dirty="0">
                <a:solidFill>
                  <a:srgbClr val="7F0055"/>
                </a:solidFill>
                <a:latin typeface="Consolas" panose="020B0609020204030204" pitchFamily="49" charset="0"/>
              </a:rPr>
              <a:t>#include</a:t>
            </a:r>
            <a:r>
              <a:rPr lang="en-US" sz="1400" dirty="0">
                <a:solidFill>
                  <a:srgbClr val="000000"/>
                </a:solidFill>
                <a:latin typeface="Consolas" panose="020B0609020204030204" pitchFamily="49" charset="0"/>
              </a:rPr>
              <a:t> </a:t>
            </a:r>
            <a:r>
              <a:rPr lang="en-US" sz="1400" dirty="0">
                <a:solidFill>
                  <a:srgbClr val="2A00FF"/>
                </a:solidFill>
                <a:latin typeface="Consolas" panose="020B0609020204030204" pitchFamily="49" charset="0"/>
              </a:rPr>
              <a:t>&lt;</a:t>
            </a:r>
            <a:r>
              <a:rPr lang="en-US" sz="1400" dirty="0" err="1">
                <a:solidFill>
                  <a:srgbClr val="2A00FF"/>
                </a:solidFill>
                <a:latin typeface="Consolas" panose="020B0609020204030204" pitchFamily="49" charset="0"/>
              </a:rPr>
              <a:t>pthread.h</a:t>
            </a:r>
            <a:r>
              <a:rPr lang="en-US" sz="1400" dirty="0">
                <a:solidFill>
                  <a:srgbClr val="2A00FF"/>
                </a:solidFill>
                <a:latin typeface="Consolas" panose="020B0609020204030204" pitchFamily="49" charset="0"/>
              </a:rPr>
              <a:t>&gt;</a:t>
            </a:r>
          </a:p>
          <a:p>
            <a:pPr marL="114300" indent="0" algn="l">
              <a:spcBef>
                <a:spcPts val="0"/>
              </a:spcBef>
              <a:buNone/>
            </a:pPr>
            <a:r>
              <a:rPr lang="en-US" sz="1400" dirty="0">
                <a:solidFill>
                  <a:srgbClr val="7F0055"/>
                </a:solidFill>
                <a:latin typeface="Consolas" panose="020B0609020204030204" pitchFamily="49" charset="0"/>
              </a:rPr>
              <a:t>#include</a:t>
            </a:r>
            <a:r>
              <a:rPr lang="en-US" sz="1400" dirty="0">
                <a:solidFill>
                  <a:srgbClr val="000000"/>
                </a:solidFill>
                <a:latin typeface="Consolas" panose="020B0609020204030204" pitchFamily="49" charset="0"/>
              </a:rPr>
              <a:t> </a:t>
            </a:r>
            <a:r>
              <a:rPr lang="en-US" sz="1400" dirty="0">
                <a:solidFill>
                  <a:srgbClr val="2A00FF"/>
                </a:solidFill>
                <a:latin typeface="Consolas" panose="020B0609020204030204" pitchFamily="49" charset="0"/>
              </a:rPr>
              <a:t>&lt;</a:t>
            </a:r>
            <a:r>
              <a:rPr lang="en-US" sz="1400" dirty="0" err="1">
                <a:solidFill>
                  <a:srgbClr val="2A00FF"/>
                </a:solidFill>
                <a:latin typeface="Consolas" panose="020B0609020204030204" pitchFamily="49" charset="0"/>
              </a:rPr>
              <a:t>semaphore.h</a:t>
            </a:r>
            <a:r>
              <a:rPr lang="en-US" sz="1400" dirty="0">
                <a:solidFill>
                  <a:srgbClr val="2A00FF"/>
                </a:solidFill>
                <a:latin typeface="Consolas" panose="020B0609020204030204" pitchFamily="49" charset="0"/>
              </a:rPr>
              <a:t>&gt;</a:t>
            </a:r>
          </a:p>
          <a:p>
            <a:pPr marL="114300" indent="0" algn="l">
              <a:spcBef>
                <a:spcPts val="0"/>
              </a:spcBef>
              <a:buNone/>
            </a:pPr>
            <a:r>
              <a:rPr lang="en-US" sz="1400" dirty="0">
                <a:solidFill>
                  <a:srgbClr val="7F0055"/>
                </a:solidFill>
                <a:latin typeface="Consolas" panose="020B0609020204030204" pitchFamily="49" charset="0"/>
              </a:rPr>
              <a:t>#include</a:t>
            </a:r>
            <a:r>
              <a:rPr lang="en-US" sz="1400" dirty="0">
                <a:solidFill>
                  <a:srgbClr val="000000"/>
                </a:solidFill>
                <a:latin typeface="Consolas" panose="020B0609020204030204" pitchFamily="49" charset="0"/>
              </a:rPr>
              <a:t> </a:t>
            </a:r>
            <a:r>
              <a:rPr lang="en-US" sz="1400" dirty="0">
                <a:solidFill>
                  <a:srgbClr val="2A00FF"/>
                </a:solidFill>
                <a:latin typeface="Consolas" panose="020B0609020204030204" pitchFamily="49" charset="0"/>
              </a:rPr>
              <a:t>&lt;</a:t>
            </a:r>
            <a:r>
              <a:rPr lang="en-US" sz="1400" dirty="0" err="1">
                <a:solidFill>
                  <a:srgbClr val="2A00FF"/>
                </a:solidFill>
                <a:latin typeface="Consolas" panose="020B0609020204030204" pitchFamily="49" charset="0"/>
              </a:rPr>
              <a:t>unistd.h</a:t>
            </a:r>
            <a:r>
              <a:rPr lang="en-US" sz="1400" dirty="0">
                <a:solidFill>
                  <a:srgbClr val="2A00FF"/>
                </a:solidFill>
                <a:latin typeface="Consolas" panose="020B0609020204030204" pitchFamily="49" charset="0"/>
              </a:rPr>
              <a:t>&gt;</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err="1">
                <a:solidFill>
                  <a:srgbClr val="000000"/>
                </a:solidFill>
                <a:latin typeface="Consolas" panose="020B0609020204030204" pitchFamily="49" charset="0"/>
              </a:rPr>
              <a:t>sem_t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signal_sem</a:t>
            </a:r>
            <a:r>
              <a:rPr lang="en-US" sz="1400" dirty="0">
                <a:solidFill>
                  <a:srgbClr val="000000"/>
                </a:solidFill>
                <a:latin typeface="Consolas" panose="020B0609020204030204" pitchFamily="49" charset="0"/>
              </a:rPr>
              <a:t>;</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worker_thread</a:t>
            </a:r>
            <a:r>
              <a:rPr lang="en-US" sz="1400" dirty="0">
                <a:solidFill>
                  <a:srgbClr val="000000"/>
                </a:solidFill>
                <a:latin typeface="Consolas" panose="020B0609020204030204" pitchFamily="49" charset="0"/>
              </a:rPr>
              <a:t>(</a:t>
            </a: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arg</a:t>
            </a: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printf</a:t>
            </a:r>
            <a:r>
              <a:rPr lang="en-US" sz="1400" dirty="0">
                <a:solidFill>
                  <a:srgbClr val="000000"/>
                </a:solidFill>
                <a:latin typeface="Consolas" panose="020B0609020204030204" pitchFamily="49" charset="0"/>
              </a:rPr>
              <a:t>(</a:t>
            </a:r>
            <a:r>
              <a:rPr lang="en-US" sz="1400" dirty="0">
                <a:solidFill>
                  <a:srgbClr val="2A00FF"/>
                </a:solidFill>
                <a:latin typeface="Consolas" panose="020B0609020204030204" pitchFamily="49" charset="0"/>
              </a:rPr>
              <a:t>"Collected sensor data...\n"</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sleep(2); </a:t>
            </a:r>
            <a:r>
              <a:rPr lang="en-US" sz="1400" dirty="0">
                <a:solidFill>
                  <a:srgbClr val="3F7F5F"/>
                </a:solidFill>
                <a:latin typeface="Consolas" panose="020B0609020204030204" pitchFamily="49" charset="0"/>
              </a:rPr>
              <a:t>// Simulate the time it takes to read hardware sensors</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printf</a:t>
            </a:r>
            <a:r>
              <a:rPr lang="en-US" sz="1400" dirty="0">
                <a:solidFill>
                  <a:srgbClr val="000000"/>
                </a:solidFill>
                <a:latin typeface="Consolas" panose="020B0609020204030204" pitchFamily="49" charset="0"/>
              </a:rPr>
              <a:t>(</a:t>
            </a:r>
            <a:r>
              <a:rPr lang="en-US" sz="1400" dirty="0">
                <a:solidFill>
                  <a:srgbClr val="2A00FF"/>
                </a:solidFill>
                <a:latin typeface="Consolas" panose="020B0609020204030204" pitchFamily="49" charset="0"/>
              </a:rPr>
              <a:t>"Finished reading.\n"</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sem_post</a:t>
            </a:r>
            <a:r>
              <a:rPr lang="en-US" sz="1400" dirty="0">
                <a:solidFill>
                  <a:srgbClr val="000000"/>
                </a:solidFill>
                <a:latin typeface="Consolas" panose="020B0609020204030204" pitchFamily="49" charset="0"/>
              </a:rPr>
              <a:t>(&amp;</a:t>
            </a:r>
            <a:r>
              <a:rPr lang="en-US" sz="1400" dirty="0" err="1">
                <a:solidFill>
                  <a:srgbClr val="000000"/>
                </a:solidFill>
                <a:latin typeface="Consolas" panose="020B0609020204030204" pitchFamily="49" charset="0"/>
              </a:rPr>
              <a:t>signal_sem</a:t>
            </a: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Increments S to 1. Unblocks the main thread.</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return</a:t>
            </a:r>
            <a:r>
              <a:rPr lang="en-US" sz="1400" dirty="0">
                <a:solidFill>
                  <a:srgbClr val="000000"/>
                </a:solidFill>
                <a:latin typeface="Consolas" panose="020B0609020204030204" pitchFamily="49" charset="0"/>
              </a:rPr>
              <a:t> NULL;</a:t>
            </a:r>
          </a:p>
          <a:p>
            <a:pPr marL="114300" indent="0" algn="l">
              <a:spcBef>
                <a:spcPts val="0"/>
              </a:spcBef>
              <a:buNone/>
            </a:pPr>
            <a:r>
              <a:rPr lang="en-US" sz="1400" dirty="0">
                <a:solidFill>
                  <a:srgbClr val="000000"/>
                </a:solidFill>
                <a:latin typeface="Consolas" panose="020B0609020204030204" pitchFamily="49" charset="0"/>
              </a:rPr>
              <a:t>}</a:t>
            </a:r>
            <a:endParaRPr lang="en-US" sz="1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4D204AE4-3FEA-195B-E0D9-C391C340D2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BC01E03-8875-E2D3-2350-39198CDEC4B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Semaphores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B154DB5-CD58-4434-F191-01097D39CD1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0D42B9E-6253-FD13-1E67-A81F18FFDBB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4E5EFF0-CF35-0AE4-E27D-2F823D11151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5232FEE-D10F-97CE-B85A-432DA7DFE4E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67DABAD-4F64-34E1-77AC-348A955777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CF5A0BA-38E5-12F1-87E3-6A525A34F9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Google Shape;118;p29">
            <a:extLst>
              <a:ext uri="{FF2B5EF4-FFF2-40B4-BE49-F238E27FC236}">
                <a16:creationId xmlns:a16="http://schemas.microsoft.com/office/drawing/2014/main" id="{7E72868E-A9A6-1092-10E4-C50FD4A37B07}"/>
              </a:ext>
            </a:extLst>
          </p:cNvPr>
          <p:cNvSpPr txBox="1">
            <a:spLocks/>
          </p:cNvSpPr>
          <p:nvPr/>
        </p:nvSpPr>
        <p:spPr>
          <a:xfrm>
            <a:off x="6096000" y="1102041"/>
            <a:ext cx="5969000" cy="5383930"/>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114300" indent="0" algn="l">
              <a:spcBef>
                <a:spcPts val="0"/>
              </a:spcBef>
              <a:buNone/>
            </a:pPr>
            <a:r>
              <a:rPr lang="en-US" sz="1400" dirty="0">
                <a:solidFill>
                  <a:srgbClr val="7F0055"/>
                </a:solidFill>
                <a:latin typeface="Consolas" panose="020B0609020204030204" pitchFamily="49" charset="0"/>
              </a:rPr>
              <a:t>int</a:t>
            </a:r>
            <a:r>
              <a:rPr lang="en-US" sz="1400" dirty="0">
                <a:solidFill>
                  <a:srgbClr val="000000"/>
                </a:solidFill>
                <a:latin typeface="Consolas" panose="020B0609020204030204" pitchFamily="49" charset="0"/>
              </a:rPr>
              <a:t> main()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pthread_t</a:t>
            </a:r>
            <a:r>
              <a:rPr lang="en-US" sz="1400" dirty="0">
                <a:solidFill>
                  <a:srgbClr val="000000"/>
                </a:solidFill>
                <a:latin typeface="Consolas" panose="020B0609020204030204" pitchFamily="49" charset="0"/>
              </a:rPr>
              <a:t> thread;</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Initialize the semaphore to 0</a:t>
            </a:r>
          </a:p>
          <a:p>
            <a:pPr marL="114300" indent="0" algn="l">
              <a:spcBef>
                <a:spcPts val="0"/>
              </a:spcBef>
              <a:buNone/>
            </a:pPr>
            <a:r>
              <a:rPr lang="pt-BR" sz="1400" dirty="0">
                <a:solidFill>
                  <a:srgbClr val="000000"/>
                </a:solidFill>
                <a:latin typeface="Consolas" panose="020B0609020204030204" pitchFamily="49" charset="0"/>
              </a:rPr>
              <a:t>    sem_init(&amp;signal_sem, 0, 0); </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printf</a:t>
            </a:r>
            <a:r>
              <a:rPr lang="en-US" sz="1400" dirty="0">
                <a:solidFill>
                  <a:srgbClr val="000000"/>
                </a:solidFill>
                <a:latin typeface="Consolas" panose="020B0609020204030204" pitchFamily="49" charset="0"/>
              </a:rPr>
              <a:t>(</a:t>
            </a:r>
            <a:r>
              <a:rPr lang="en-US" sz="1400" dirty="0">
                <a:solidFill>
                  <a:srgbClr val="2A00FF"/>
                </a:solidFill>
                <a:latin typeface="Consolas" panose="020B0609020204030204" pitchFamily="49" charset="0"/>
              </a:rPr>
              <a:t>"Start reading.\n"</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pthread_create</a:t>
            </a:r>
            <a:r>
              <a:rPr lang="en-US" sz="1400" dirty="0">
                <a:solidFill>
                  <a:srgbClr val="000000"/>
                </a:solidFill>
                <a:latin typeface="Consolas" panose="020B0609020204030204" pitchFamily="49" charset="0"/>
              </a:rPr>
              <a:t>(&amp;thread, NULL, </a:t>
            </a:r>
            <a:r>
              <a:rPr lang="en-US" sz="1400" dirty="0" err="1">
                <a:solidFill>
                  <a:srgbClr val="000000"/>
                </a:solidFill>
                <a:latin typeface="Consolas" panose="020B0609020204030204" pitchFamily="49" charset="0"/>
              </a:rPr>
              <a:t>worker_thread</a:t>
            </a:r>
            <a:r>
              <a:rPr lang="en-US" sz="1400" dirty="0">
                <a:solidFill>
                  <a:srgbClr val="000000"/>
                </a:solidFill>
                <a:latin typeface="Consolas" panose="020B0609020204030204" pitchFamily="49" charset="0"/>
              </a:rPr>
              <a:t>, NULL);</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printf</a:t>
            </a:r>
            <a:r>
              <a:rPr lang="en-US" sz="1400" dirty="0">
                <a:solidFill>
                  <a:srgbClr val="000000"/>
                </a:solidFill>
                <a:latin typeface="Consolas" panose="020B0609020204030204" pitchFamily="49" charset="0"/>
              </a:rPr>
              <a:t>(</a:t>
            </a:r>
            <a:r>
              <a:rPr lang="en-US" sz="1400" dirty="0">
                <a:solidFill>
                  <a:srgbClr val="2A00FF"/>
                </a:solidFill>
                <a:latin typeface="Consolas" panose="020B0609020204030204" pitchFamily="49" charset="0"/>
              </a:rPr>
              <a:t>"Waiting for sensor reading...\n"</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Attempt to decrement S. Since S is 0, the CPU strictly blocks here.</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sem_wait</a:t>
            </a:r>
            <a:r>
              <a:rPr lang="en-US" sz="1400" dirty="0">
                <a:solidFill>
                  <a:srgbClr val="000000"/>
                </a:solidFill>
                <a:latin typeface="Consolas" panose="020B0609020204030204" pitchFamily="49" charset="0"/>
              </a:rPr>
              <a:t>(&amp;</a:t>
            </a:r>
            <a:r>
              <a:rPr lang="en-US" sz="1400" dirty="0" err="1">
                <a:solidFill>
                  <a:srgbClr val="000000"/>
                </a:solidFill>
                <a:latin typeface="Consolas" panose="020B0609020204030204" pitchFamily="49" charset="0"/>
              </a:rPr>
              <a:t>signal_sem</a:t>
            </a: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printf</a:t>
            </a:r>
            <a:r>
              <a:rPr lang="en-US" sz="1400" dirty="0">
                <a:solidFill>
                  <a:srgbClr val="000000"/>
                </a:solidFill>
                <a:latin typeface="Consolas" panose="020B0609020204030204" pitchFamily="49" charset="0"/>
              </a:rPr>
              <a:t>(</a:t>
            </a:r>
            <a:r>
              <a:rPr lang="en-US" sz="1400" dirty="0">
                <a:solidFill>
                  <a:srgbClr val="2A00FF"/>
                </a:solidFill>
                <a:latin typeface="Consolas" panose="020B0609020204030204" pitchFamily="49" charset="0"/>
              </a:rPr>
              <a:t>"Data collected, processing!\n"</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Clean up memory</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pthread_join</a:t>
            </a:r>
            <a:r>
              <a:rPr lang="en-US" sz="1400" dirty="0">
                <a:solidFill>
                  <a:srgbClr val="000000"/>
                </a:solidFill>
                <a:latin typeface="Consolas" panose="020B0609020204030204" pitchFamily="49" charset="0"/>
              </a:rPr>
              <a:t>(thread, NULL);</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sem_destroy</a:t>
            </a:r>
            <a:r>
              <a:rPr lang="en-US" sz="1400" dirty="0">
                <a:solidFill>
                  <a:srgbClr val="000000"/>
                </a:solidFill>
                <a:latin typeface="Consolas" panose="020B0609020204030204" pitchFamily="49" charset="0"/>
              </a:rPr>
              <a:t>(&amp;</a:t>
            </a:r>
            <a:r>
              <a:rPr lang="en-US" sz="1400" dirty="0" err="1">
                <a:solidFill>
                  <a:srgbClr val="000000"/>
                </a:solidFill>
                <a:latin typeface="Consolas" panose="020B0609020204030204" pitchFamily="49" charset="0"/>
              </a:rPr>
              <a:t>signal_sem</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return</a:t>
            </a:r>
            <a:r>
              <a:rPr lang="en-US" sz="1400" dirty="0">
                <a:solidFill>
                  <a:srgbClr val="000000"/>
                </a:solidFill>
                <a:latin typeface="Consolas" panose="020B0609020204030204" pitchFamily="49" charset="0"/>
              </a:rPr>
              <a:t> 0;</a:t>
            </a:r>
          </a:p>
          <a:p>
            <a:pPr marL="114300" indent="0" algn="l">
              <a:spcBef>
                <a:spcPts val="0"/>
              </a:spcBef>
              <a:buNone/>
            </a:pPr>
            <a:r>
              <a:rPr lang="en-US" sz="1400" dirty="0">
                <a:solidFill>
                  <a:srgbClr val="000000"/>
                </a:solidFill>
                <a:latin typeface="Consolas" panose="020B0609020204030204" pitchFamily="49" charset="0"/>
              </a:rPr>
              <a:t>}</a:t>
            </a:r>
            <a:endParaRPr lang="en-US" sz="1200" dirty="0">
              <a:latin typeface="Atkinson Hyperlegible Next"/>
              <a:ea typeface="Arial"/>
              <a:cs typeface="Arial"/>
              <a:sym typeface="Arial"/>
            </a:endParaRPr>
          </a:p>
        </p:txBody>
      </p:sp>
    </p:spTree>
    <p:extLst>
      <p:ext uri="{BB962C8B-B14F-4D97-AF65-F5344CB8AC3E}">
        <p14:creationId xmlns:p14="http://schemas.microsoft.com/office/powerpoint/2010/main" val="254246432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897E4C6-E73B-25B0-F9B0-88BA2135A2C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921BC4F-051D-CE20-B281-ACAC1BA8328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D1E7C40-F5BF-C0BB-0266-0E7802DFC34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FAF09F9-5A29-4866-DC2F-B409F8973DE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55BA90-9DFF-E061-6389-93D86FB6828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3A370CE-983B-F87C-792F-5D444472215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F3E942D-81F1-6A44-B6F8-90936AA121A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A86ED24-DB6A-F6B2-A0A5-31D0803C035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F7CEF53-FF4D-436F-ED69-1BDAFD24681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4" name="Graphic 23" descr="Block diagram of processes linked by POSIX shared memory. A central hub process, serial_COMandOpti, exchanges data with the RedBoard F28379D over serial or UDP. LVCOMApp (TCP/IP server) and the hub trade 32 chars and 8 floats each way. LinuxCMDApp (CLI) sends the hub 44 chars and 11 floats. The hub sends AstarApp (path planner) robot pose, destination row and column, and a condensed map, and receives an 81-char path. ladar_server (UART) writes 228 lidar distances. Every write is signaled with sem_post on a matching named semaphore.">
            <a:extLst>
              <a:ext uri="{FF2B5EF4-FFF2-40B4-BE49-F238E27FC236}">
                <a16:creationId xmlns:a16="http://schemas.microsoft.com/office/drawing/2014/main" id="{1318D75A-6E38-B719-46F0-F70CD629CBA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458918" y="1003086"/>
            <a:ext cx="6380162" cy="5501654"/>
          </a:xfrm>
          <a:prstGeom prst="rect">
            <a:avLst/>
          </a:prstGeom>
        </p:spPr>
      </p:pic>
    </p:spTree>
    <p:extLst>
      <p:ext uri="{BB962C8B-B14F-4D97-AF65-F5344CB8AC3E}">
        <p14:creationId xmlns:p14="http://schemas.microsoft.com/office/powerpoint/2010/main" val="171113927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13</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355</TotalTime>
  <Words>4671</Words>
  <Application>Microsoft Office PowerPoint</Application>
  <PresentationFormat>Widescreen</PresentationFormat>
  <Paragraphs>572</Paragraphs>
  <Slides>43</Slides>
  <Notes>43</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43</vt:i4>
      </vt:variant>
    </vt:vector>
  </HeadingPairs>
  <TitlesOfParts>
    <vt:vector size="47"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202</cp:revision>
  <dcterms:created xsi:type="dcterms:W3CDTF">2019-01-14T22:06:33Z</dcterms:created>
  <dcterms:modified xsi:type="dcterms:W3CDTF">2026-03-04T14:51:55Z</dcterms:modified>
</cp:coreProperties>
</file>