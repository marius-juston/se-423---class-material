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310" r:id="rId3"/>
    <p:sldId id="257" r:id="rId4"/>
    <p:sldId id="258" r:id="rId5"/>
    <p:sldId id="318" r:id="rId6"/>
    <p:sldId id="317" r:id="rId7"/>
    <p:sldId id="319" r:id="rId8"/>
    <p:sldId id="320" r:id="rId9"/>
    <p:sldId id="272" r:id="rId10"/>
    <p:sldId id="316" r:id="rId11"/>
    <p:sldId id="321" r:id="rId12"/>
    <p:sldId id="311" r:id="rId13"/>
    <p:sldId id="314" r:id="rId14"/>
    <p:sldId id="273" r:id="rId15"/>
    <p:sldId id="276" r:id="rId16"/>
    <p:sldId id="292" r:id="rId17"/>
    <p:sldId id="293" r:id="rId18"/>
    <p:sldId id="278" r:id="rId19"/>
    <p:sldId id="295" r:id="rId20"/>
    <p:sldId id="296" r:id="rId21"/>
    <p:sldId id="309" r:id="rId22"/>
    <p:sldId id="297" r:id="rId23"/>
    <p:sldId id="298" r:id="rId24"/>
    <p:sldId id="306" r:id="rId25"/>
    <p:sldId id="299" r:id="rId26"/>
    <p:sldId id="300" r:id="rId27"/>
    <p:sldId id="303" r:id="rId28"/>
    <p:sldId id="301" r:id="rId29"/>
    <p:sldId id="305" r:id="rId30"/>
    <p:sldId id="304" r:id="rId31"/>
    <p:sldId id="302" r:id="rId32"/>
    <p:sldId id="307" r:id="rId33"/>
    <p:sldId id="259" r:id="rId34"/>
    <p:sldId id="275" r:id="rId35"/>
    <p:sldId id="260" r:id="rId36"/>
    <p:sldId id="261" r:id="rId37"/>
    <p:sldId id="262" r:id="rId38"/>
    <p:sldId id="263" r:id="rId39"/>
    <p:sldId id="264" r:id="rId40"/>
    <p:sldId id="265" r:id="rId41"/>
    <p:sldId id="266" r:id="rId42"/>
    <p:sldId id="267" r:id="rId43"/>
    <p:sldId id="268" r:id="rId44"/>
    <p:sldId id="269" r:id="rId45"/>
    <p:sldId id="271" r:id="rId46"/>
    <p:sldId id="270" r:id="rId4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614"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560CD-FFDE-70C6-6183-A453F3E98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7E4E91-ED9F-DE16-BEB6-F07455961A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63A7F12-DA54-6672-271A-7F884E56D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943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4E0377E-C3EE-D389-1594-9ED4D409097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8D2906-81BC-3D09-9BB6-5BCE7A2CCE0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92E9816-541E-6FCE-347D-6621B2951C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5892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349AB9-A446-172C-7A10-0B27829069B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0D74746-7217-5B25-CE88-4298ED3AAB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CF16BF7-4ADB-CC2E-654E-E3EC95828F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8682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1D6FE26-83F9-9A20-3441-0C5E729FCCA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948DC94-2420-6FB7-B0BE-3B5D8B1246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13B3F84-5A0C-5EDA-650D-E9570868C0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753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1F31EE0-41D2-9C82-E357-A9BD21412F5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B90D146-37D7-5996-AB67-58F55CCB41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1E9793B-DDA0-B85F-18B2-37DB07258A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621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411E4ED-19E4-7608-BE2A-340168B38B1B}"/>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526928A2-5AC4-1158-2297-867638CA89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6441322D-BF1B-3142-E6F5-FFA8CC7E78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8127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782FB59-994A-5336-C77A-D5305E305FF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E2C22C0-160E-2563-7B24-BDF9060E50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96BA5D0-9BB1-ABFB-30A1-578E8182F8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3958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DFA005B-CE15-A72F-88C4-CDC61FC33E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B0CE3A-8FFE-C35A-3B6C-307082458B7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21B3881-0EED-F84F-8A59-59ED483B0D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6436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9DC7A3-AD56-3080-9D3F-124F82EE66DA}"/>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81156DBF-8A26-6ED8-C91E-780E740E52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ED8AC091-DD33-0E14-E08B-8BA2B0F66D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7625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E6A61E7-2DE2-7EDE-A3A7-141B1F2940F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C89041D-D19E-B7AF-032A-27E53AA12A5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EA4D53B-E0E0-E15F-DB39-885BA7E5A7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853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BC75C91-B444-C665-7F4C-906A3966E159}"/>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E228908D-10F7-C0DE-BF55-CE7B890FFE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2C080AE0-AC59-AD43-831A-6B3B0C8571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5002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3F561ED4-5379-C903-E4C1-A233DBDFEA41}"/>
            </a:ext>
          </a:extLst>
        </p:cNvPr>
        <p:cNvGrpSpPr/>
        <p:nvPr/>
      </p:nvGrpSpPr>
      <p:grpSpPr>
        <a:xfrm>
          <a:off x="0" y="0"/>
          <a:ext cx="0" cy="0"/>
          <a:chOff x="0" y="0"/>
          <a:chExt cx="0" cy="0"/>
        </a:xfrm>
      </p:grpSpPr>
      <p:sp>
        <p:nvSpPr>
          <p:cNvPr id="206" name="Google Shape;206;p8:notes">
            <a:extLst>
              <a:ext uri="{FF2B5EF4-FFF2-40B4-BE49-F238E27FC236}">
                <a16:creationId xmlns:a16="http://schemas.microsoft.com/office/drawing/2014/main" id="{7710E61D-4456-AB8E-6035-2E18B1F267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a:extLst>
              <a:ext uri="{FF2B5EF4-FFF2-40B4-BE49-F238E27FC236}">
                <a16:creationId xmlns:a16="http://schemas.microsoft.com/office/drawing/2014/main" id="{80B29318-BA0C-53E4-3218-E176948876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4582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868A8AE-3822-5138-D4AB-80720FACD54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188A369-6B99-117F-1BAE-0A0CD3BE4C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1" dirty="0"/>
              <a:t>SYSCLKOUT</a:t>
            </a:r>
            <a:r>
              <a:rPr lang="en-US" dirty="0"/>
              <a:t> is the system clock (e.g., 200 MHz).</a:t>
            </a:r>
          </a:p>
          <a:p>
            <a:r>
              <a:rPr lang="en-US" b="1" dirty="0"/>
              <a:t>TCR.4</a:t>
            </a:r>
            <a:r>
              <a:rPr lang="en-US" dirty="0"/>
              <a:t> is the </a:t>
            </a:r>
            <a:r>
              <a:rPr lang="en-US" i="1" dirty="0"/>
              <a:t>Timer Control Register bit</a:t>
            </a:r>
            <a:r>
              <a:rPr lang="en-US" dirty="0"/>
              <a:t> that enables or disables counting.</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The timer only receives clock pulses when software sets the START bit. This is why timers do </a:t>
            </a:r>
            <a:r>
              <a:rPr lang="en-US" i="1" dirty="0"/>
              <a:t>nothing</a:t>
            </a:r>
            <a:r>
              <a:rPr lang="en-US" dirty="0"/>
              <a:t> until you explicitly enable them in software.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r>
              <a:rPr lang="en-US" b="1" dirty="0"/>
              <a:t>16-bit Divide-Down (TDDRH:TDDR)</a:t>
            </a:r>
          </a:p>
          <a:p>
            <a:r>
              <a:rPr lang="en-US" dirty="0"/>
              <a:t>This block divides the incoming clock frequency.</a:t>
            </a:r>
          </a:p>
          <a:p>
            <a:r>
              <a:rPr lang="en-US" dirty="0"/>
              <a:t>This allows the timer to operate at manageable speeds</a:t>
            </a:r>
          </a:p>
          <a:p>
            <a:endParaRPr lang="en-US" dirty="0"/>
          </a:p>
          <a:p>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16-bit </a:t>
            </a:r>
            <a:r>
              <a:rPr lang="en-US" b="1" dirty="0" err="1"/>
              <a:t>Prescale</a:t>
            </a:r>
            <a:r>
              <a:rPr lang="en-US" b="1" dirty="0"/>
              <a:t> Counter (PSCH:PSC)</a:t>
            </a:r>
          </a:p>
          <a:p>
            <a:r>
              <a:rPr lang="en-US" dirty="0"/>
              <a:t>This is an additional counter that:</a:t>
            </a:r>
          </a:p>
          <a:p>
            <a:r>
              <a:rPr lang="en-US" dirty="0"/>
              <a:t>Counts down</a:t>
            </a:r>
          </a:p>
          <a:p>
            <a:r>
              <a:rPr lang="en-US" dirty="0"/>
              <a:t>Generates a </a:t>
            </a:r>
            <a:r>
              <a:rPr lang="en-US" b="1" dirty="0"/>
              <a:t>borrow</a:t>
            </a:r>
            <a:r>
              <a:rPr lang="en-US" dirty="0"/>
              <a:t> when it underflows</a:t>
            </a:r>
          </a:p>
          <a:p>
            <a:r>
              <a:rPr lang="en-US" dirty="0"/>
              <a:t>That borrow is what advances the main 32-bit timer.</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The </a:t>
            </a:r>
            <a:r>
              <a:rPr lang="en-US" dirty="0" err="1"/>
              <a:t>prescaler</a:t>
            </a:r>
            <a:r>
              <a:rPr lang="en-US" dirty="0"/>
              <a:t> slows time down before it reaches the main timer counter.</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sv-SE" b="1" dirty="0"/>
              <a:t>32-bit Period Register (PRDH:PRD)</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the value the timer reloads </a:t>
            </a:r>
            <a:r>
              <a:rPr lang="en-US" b="1" dirty="0"/>
              <a:t>from</a:t>
            </a:r>
            <a:r>
              <a:rPr lang="en-US" dirty="0"/>
              <a:t>.</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r>
              <a:rPr lang="en-US" b="1" dirty="0"/>
              <a:t>32-bit Counter (TIMH:TIM)</a:t>
            </a:r>
          </a:p>
          <a:p>
            <a:r>
              <a:rPr lang="en-US" dirty="0"/>
              <a:t>This is the </a:t>
            </a:r>
            <a:r>
              <a:rPr lang="en-US" b="1" dirty="0"/>
              <a:t>actual counter</a:t>
            </a:r>
            <a:r>
              <a:rPr lang="en-US" dirty="0"/>
              <a:t>:</a:t>
            </a:r>
          </a:p>
          <a:p>
            <a:r>
              <a:rPr lang="en-US" dirty="0"/>
              <a:t>Decrements every </a:t>
            </a:r>
            <a:r>
              <a:rPr lang="en-US" dirty="0" err="1"/>
              <a:t>prescaled</a:t>
            </a:r>
            <a:r>
              <a:rPr lang="en-US" dirty="0"/>
              <a:t> clock tick</a:t>
            </a:r>
          </a:p>
          <a:p>
            <a:r>
              <a:rPr lang="en-US" dirty="0"/>
              <a:t>When it reaches zero:</a:t>
            </a:r>
          </a:p>
          <a:p>
            <a:pPr lvl="0"/>
            <a:r>
              <a:rPr lang="en-US" dirty="0"/>
              <a:t>A borrow occurs</a:t>
            </a:r>
          </a:p>
          <a:p>
            <a:pPr lvl="0"/>
            <a:r>
              <a:rPr lang="en-US" dirty="0"/>
              <a:t>An interrupt is generated</a:t>
            </a:r>
          </a:p>
          <a:p>
            <a:pPr lvl="0"/>
            <a:r>
              <a:rPr lang="en-US" dirty="0"/>
              <a:t>The counter reloads from PRD</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endParaRPr lang="en-US" dirty="0"/>
          </a:p>
          <a:p>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75C88DC5-6882-AE62-38F7-1B560EA420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3272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8C5D6C7-5422-60D4-9BF9-2EAA80BE193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DC76DDE-0BD6-A46A-932A-9C7A9A7436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dirty="0"/>
              <a:t>Timer 0</a:t>
            </a:r>
          </a:p>
          <a:p>
            <a:r>
              <a:rPr lang="en-US" dirty="0"/>
              <a:t>TINT0</a:t>
            </a:r>
          </a:p>
          <a:p>
            <a:r>
              <a:rPr lang="en-US" dirty="0"/>
              <a:t>INT1–INT12 via PIE</a:t>
            </a:r>
          </a:p>
          <a:p>
            <a:pPr marL="0" lvl="0" indent="0" algn="l" rtl="0">
              <a:lnSpc>
                <a:spcPct val="100000"/>
              </a:lnSpc>
              <a:spcBef>
                <a:spcPts val="0"/>
              </a:spcBef>
              <a:spcAft>
                <a:spcPts val="0"/>
              </a:spcAft>
              <a:buSzPts val="1400"/>
              <a:buNone/>
            </a:pPr>
            <a:endParaRPr lang="en-US" dirty="0"/>
          </a:p>
          <a:p>
            <a:r>
              <a:rPr lang="en-US" dirty="0"/>
              <a:t>Timer 1</a:t>
            </a:r>
          </a:p>
          <a:p>
            <a:r>
              <a:rPr lang="en-US" dirty="0"/>
              <a:t>TINT1</a:t>
            </a:r>
          </a:p>
          <a:p>
            <a:r>
              <a:rPr lang="en-US" dirty="0"/>
              <a:t>INT13 (direct)</a:t>
            </a:r>
          </a:p>
          <a:p>
            <a:endParaRPr lang="en-US" dirty="0"/>
          </a:p>
          <a:p>
            <a:r>
              <a:rPr lang="en-US" dirty="0"/>
              <a:t>Timer 2</a:t>
            </a:r>
          </a:p>
          <a:p>
            <a:r>
              <a:rPr lang="en-US" dirty="0"/>
              <a:t>TINT2</a:t>
            </a:r>
          </a:p>
          <a:p>
            <a:r>
              <a:rPr lang="en-US" dirty="0"/>
              <a:t>INT14 (direct)</a:t>
            </a:r>
          </a:p>
          <a:p>
            <a:endParaRPr lang="en-US" dirty="0"/>
          </a:p>
          <a:p>
            <a:endParaRPr lang="en-US" dirty="0"/>
          </a:p>
          <a:p>
            <a:r>
              <a:rPr lang="en-US" dirty="0"/>
              <a:t>The </a:t>
            </a:r>
            <a:r>
              <a:rPr lang="en-US" b="1" dirty="0"/>
              <a:t>Peripheral Interrupt Expansion (PIE)</a:t>
            </a:r>
            <a:r>
              <a:rPr lang="en-US" dirty="0"/>
              <a:t> is an interrupt router.</a:t>
            </a:r>
          </a:p>
          <a:p>
            <a:r>
              <a:rPr lang="en-US" dirty="0"/>
              <a:t>It:</a:t>
            </a:r>
          </a:p>
          <a:p>
            <a:r>
              <a:rPr lang="en-US" dirty="0"/>
              <a:t>Takes many peripheral interrupts</a:t>
            </a:r>
          </a:p>
          <a:p>
            <a:r>
              <a:rPr lang="en-US" dirty="0"/>
              <a:t>Maps them to CPU interrupt vectors</a:t>
            </a:r>
          </a:p>
          <a:p>
            <a:r>
              <a:rPr lang="en-US" dirty="0"/>
              <a:t>Timer 0 is routed through the PIE because:</a:t>
            </a:r>
          </a:p>
          <a:p>
            <a:r>
              <a:rPr lang="en-US" dirty="0"/>
              <a:t>It is commonly used for application-level tasks</a:t>
            </a:r>
          </a:p>
          <a:p>
            <a:r>
              <a:rPr lang="en-US" dirty="0"/>
              <a:t>It supports prioritization and masking</a:t>
            </a:r>
          </a:p>
          <a:p>
            <a:endParaRPr lang="en-US" dirty="0"/>
          </a:p>
          <a:p>
            <a:endParaRPr lang="en-US" dirty="0"/>
          </a:p>
          <a:p>
            <a:endParaRPr lang="en-US" dirty="0"/>
          </a:p>
          <a:p>
            <a:r>
              <a:rPr lang="en-US" b="1" dirty="0"/>
              <a:t>Software Consequence</a:t>
            </a:r>
          </a:p>
          <a:p>
            <a:r>
              <a:rPr lang="en-US" dirty="0"/>
              <a:t>To use Timer 0:</a:t>
            </a:r>
          </a:p>
          <a:p>
            <a:r>
              <a:rPr lang="en-US" dirty="0"/>
              <a:t>Enable the timer interrupt</a:t>
            </a:r>
          </a:p>
          <a:p>
            <a:r>
              <a:rPr lang="en-US" dirty="0"/>
              <a:t>Enable the PIE group</a:t>
            </a:r>
          </a:p>
          <a:p>
            <a:r>
              <a:rPr lang="en-US" dirty="0"/>
              <a:t>Enable the CPU interrupt</a:t>
            </a:r>
          </a:p>
          <a:p>
            <a:r>
              <a:rPr lang="en-US" dirty="0"/>
              <a:t>Acknowledge the PIE inside the ISR</a:t>
            </a:r>
          </a:p>
          <a:p>
            <a:r>
              <a:rPr lang="en-US" dirty="0"/>
              <a:t>This makes Timer 0 ideal for:</a:t>
            </a:r>
          </a:p>
          <a:p>
            <a:r>
              <a:rPr lang="en-US" dirty="0"/>
              <a:t>Control loops</a:t>
            </a:r>
          </a:p>
          <a:p>
            <a:r>
              <a:rPr lang="en-US" dirty="0"/>
              <a:t>Scheduling</a:t>
            </a:r>
          </a:p>
          <a:p>
            <a:r>
              <a:rPr lang="en-US" dirty="0"/>
              <a:t>RTOS ticks</a:t>
            </a:r>
          </a:p>
          <a:p>
            <a:endParaRPr lang="en-US" dirty="0"/>
          </a:p>
          <a:p>
            <a:endParaRPr lang="en-US" dirty="0"/>
          </a:p>
          <a:p>
            <a:r>
              <a:rPr lang="en-US" b="1" dirty="0"/>
              <a:t>Timers 1 and 2 Bypass the PIE</a:t>
            </a:r>
          </a:p>
          <a:p>
            <a:r>
              <a:rPr lang="en-US" dirty="0"/>
              <a:t>Timer 1 → </a:t>
            </a:r>
            <a:r>
              <a:rPr lang="en-US" b="1" dirty="0"/>
              <a:t>INT13</a:t>
            </a:r>
            <a:br>
              <a:rPr lang="en-US" dirty="0"/>
            </a:br>
            <a:r>
              <a:rPr lang="en-US" dirty="0"/>
              <a:t>Timer 2 → </a:t>
            </a:r>
            <a:r>
              <a:rPr lang="en-US" b="1" dirty="0"/>
              <a:t>INT14</a:t>
            </a:r>
            <a:endParaRPr lang="en-US" dirty="0"/>
          </a:p>
          <a:p>
            <a:r>
              <a:rPr lang="en-US" dirty="0"/>
              <a:t>These are </a:t>
            </a:r>
            <a:r>
              <a:rPr lang="en-US" b="1" dirty="0"/>
              <a:t>dedicated CPU interrupts</a:t>
            </a:r>
            <a:r>
              <a:rPr lang="en-US" dirty="0"/>
              <a:t>.</a:t>
            </a:r>
          </a:p>
          <a:p>
            <a:r>
              <a:rPr lang="en-US" b="1" dirty="0"/>
              <a:t>Why?</a:t>
            </a:r>
          </a:p>
          <a:p>
            <a:r>
              <a:rPr lang="en-US" dirty="0"/>
              <a:t>They are intended for:</a:t>
            </a:r>
          </a:p>
          <a:p>
            <a:r>
              <a:rPr lang="en-US" dirty="0"/>
              <a:t>High-priority system tasks</a:t>
            </a:r>
          </a:p>
          <a:p>
            <a:r>
              <a:rPr lang="en-US" dirty="0"/>
              <a:t>Real-time services</a:t>
            </a:r>
          </a:p>
          <a:p>
            <a:r>
              <a:rPr lang="en-US" dirty="0"/>
              <a:t>Deterministic timing</a:t>
            </a:r>
          </a:p>
          <a:p>
            <a:r>
              <a:rPr lang="en-US" dirty="0"/>
              <a:t>They:</a:t>
            </a:r>
          </a:p>
          <a:p>
            <a:r>
              <a:rPr lang="en-US" dirty="0"/>
              <a:t>Have lower latency</a:t>
            </a:r>
          </a:p>
          <a:p>
            <a:r>
              <a:rPr lang="en-US" dirty="0"/>
              <a:t>Are simpler to configure</a:t>
            </a:r>
          </a:p>
          <a:p>
            <a:r>
              <a:rPr lang="en-US" dirty="0"/>
              <a:t>Are harder to misuse accidentally</a:t>
            </a:r>
          </a:p>
          <a:p>
            <a:endParaRPr lang="en-US" dirty="0"/>
          </a:p>
          <a:p>
            <a:endParaRPr lang="en-US" dirty="0"/>
          </a:p>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42FD8C5D-9C20-C91C-AC9B-D65DAB800F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2512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2F2184-9FB7-A11D-0486-AF824C21395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30D5EB9-33B5-3D1A-4B5B-9B28FEDFB8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2F31F9D-184D-59D1-0F54-9FCA3017F1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381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3DEA4DA-CCCE-D8EA-924D-F07E23C624F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EB99CDD-0838-9E4D-BDB9-A17D8F5B0D5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70FE82D-C8FB-9E16-D184-BA7D7B747C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6592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BECDE3-FF4C-F313-A85B-DED324E491C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DF6ECF-81D4-BEB5-48D9-557B68E423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D888271-F5D0-1640-E548-4CA979CC9C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749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B8A0C4-8909-3EB8-4260-D12491C850F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405DB68-AC86-CF00-B219-0B858794F3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F3B4B3F-E782-1288-E692-33064A3AB6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07181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38E99EC-CE54-9208-4BC9-E032AA385C3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7CAEE8E-827E-7CA0-BFF9-FBA51CB3AE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3CE08FE-E338-0FA7-A7CB-6430587453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049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9655B7B-7CCE-C2C1-90A9-79A8A02C94A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6DFC710-A871-8C0D-F7B0-D0D9E88DAE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5226C3D-24CB-75A7-B0CF-0D4DC855D2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302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17FF8A7-7E61-A73B-887C-0FFD9B80AFF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6B48F66-1182-5FB4-4F34-8316DE8768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BE5F8B8-3993-EDBA-A5C8-7D3A7B1EFD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16848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611B661-EBBB-05D3-30CF-9A8B38B3895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9C927B6-3C41-857B-C2C9-8C35281423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B4DA749-2C54-C5DC-6A10-13253A3679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9410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E823BC0-64F1-F0EE-7C54-AF95E487436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4DC7DC1-43C8-5144-5FF3-C970AB2929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373C296-B17D-88D8-693D-F10C22595E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7645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C36CF7C-5474-FC11-B931-98A72C3EBDE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AC6D55F-4AF9-2152-4788-B9EB594460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395D3D1-4F07-DF69-541E-36566B4819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9648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BC4DEED-05CA-1CA7-93FC-43AAD27BAFC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A368CB5-9008-F7D6-752C-0C88B08436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A30BA9F-A721-9B13-415B-AB9EC27338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2372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2FD1D61-F0AE-5744-7519-AFC0388E7A5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560DF51-A461-2A8C-165C-F0C5C7ECF7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800BB09-BF75-90A2-95C6-8B39BB5FDC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74409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CE65EDC-D04C-F155-1FB2-D1FBBE1410D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AF1CAD8-6898-F42A-5CED-73AC92BC26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5C29963-1654-D378-17E3-F968CE5759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17516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DEFBD22-A77F-0AEC-7F14-C48FC07147E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C33ECDC-9F3F-09B4-4EB2-9490EE6B5D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FD19D86-F7CA-5951-81C4-F875CF36BF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86533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869350-3FCC-EC15-0842-BE12FA6D132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0420AE0-5C6A-5313-C464-0B57553254F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B8FB850-47FB-ECEA-F289-A537815929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9801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55BC61-70BD-4E31-0D8C-67B34D524F3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E5A5C99-0318-DB89-05F1-24AAE66F700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285D348-ADBE-DD91-83B4-11ED9AB844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95353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Homeworks/HW1.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LabVIEW1.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N4J3ahpWZhk?feature=oembed" TargetMode="External"/><Relationship Id="rId6" Type="http://schemas.openxmlformats.org/officeDocument/2006/relationships/image" Target="../media/image10.jpeg"/><Relationship Id="rId5" Type="http://schemas.openxmlformats.org/officeDocument/2006/relationships/image" Target="../media/image3.png"/><Relationship Id="rId4" Type="http://schemas.openxmlformats.org/officeDocument/2006/relationships/hyperlink" Target="https://www.youtube.com/watch?v=lKTsv6iVxV4"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www.ascii-code.co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ideo" Target="https://www.youtube.com/embed/G7bqvpAw7HE?feature=oembed" TargetMode="External"/><Relationship Id="rId5" Type="http://schemas.openxmlformats.org/officeDocument/2006/relationships/image" Target="../media/image13.jpe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COECSL/SE423Spring26/blob/main/C2000Ware_4_01_00_00/device_support/f2837xd/common/source/F2837xD_PieVect.c"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txBox="1"/>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spcBef>
                <a:spcPts val="600"/>
              </a:spcBef>
              <a:buSzPts val="4500"/>
            </a:pPr>
            <a:r>
              <a:rPr lang="en-US" sz="4500" b="1" dirty="0">
                <a:solidFill>
                  <a:schemeClr val="lt1"/>
                </a:solidFill>
              </a:rPr>
              <a:t>SE 423: Introduction to Mechatronics</a:t>
            </a:r>
            <a:endParaRPr lang="en-US" sz="4500" dirty="0"/>
          </a:p>
          <a:p>
            <a:pPr marL="0" marR="0" lvl="0" indent="0" algn="ctr" rtl="0">
              <a:lnSpc>
                <a:spcPct val="100000"/>
              </a:lnSpc>
              <a:spcBef>
                <a:spcPts val="600"/>
              </a:spcBef>
              <a:spcAft>
                <a:spcPts val="0"/>
              </a:spcAft>
              <a:buNone/>
            </a:pPr>
            <a:r>
              <a:rPr lang="en-US" sz="2500" dirty="0">
                <a:solidFill>
                  <a:schemeClr val="lt1"/>
                </a:solidFill>
              </a:rPr>
              <a:t>Lecture 4: </a:t>
            </a:r>
            <a:endParaRPr dirty="0"/>
          </a:p>
          <a:p>
            <a:pPr marL="0" marR="0" lvl="0" indent="0" algn="ctr" rtl="0">
              <a:lnSpc>
                <a:spcPct val="100000"/>
              </a:lnSpc>
              <a:spcBef>
                <a:spcPts val="600"/>
              </a:spcBef>
              <a:spcAft>
                <a:spcPts val="0"/>
              </a:spcAft>
              <a:buNone/>
            </a:pPr>
            <a:endParaRPr sz="1800" b="0" i="0" u="none" strike="noStrike" cap="none" dirty="0">
              <a:solidFill>
                <a:schemeClr val="lt1"/>
              </a:solidFill>
              <a:latin typeface="Arial"/>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rial"/>
                <a:ea typeface="Arial"/>
                <a:cs typeface="Arial"/>
                <a:sym typeface="Arial"/>
              </a:rPr>
              <a:t>Marius Juston</a:t>
            </a:r>
            <a:endParaRPr sz="1800" b="0" i="0" u="none" strike="noStrike" cap="none" dirty="0">
              <a:solidFill>
                <a:srgbClr val="000000"/>
              </a:solidFill>
              <a:latin typeface="Arial"/>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rial"/>
                <a:ea typeface="Arial"/>
                <a:cs typeface="Arial"/>
                <a:sym typeface="Arial"/>
              </a:rPr>
              <a:t>Monday, February 2</a:t>
            </a:r>
            <a:r>
              <a:rPr lang="en-US" sz="1800" b="0" i="0" u="none" strike="noStrike" cap="none" baseline="30000" dirty="0">
                <a:solidFill>
                  <a:schemeClr val="lt1"/>
                </a:solidFill>
                <a:latin typeface="Arial"/>
                <a:ea typeface="Arial"/>
                <a:cs typeface="Arial"/>
                <a:sym typeface="Arial"/>
              </a:rPr>
              <a:t>nd</a:t>
            </a:r>
            <a:r>
              <a:rPr lang="en-US" sz="1800" b="0" i="0" u="none" strike="noStrike" cap="none" dirty="0">
                <a:solidFill>
                  <a:schemeClr val="lt1"/>
                </a:solidFill>
                <a:latin typeface="Arial"/>
                <a:ea typeface="Arial"/>
                <a:cs typeface="Arial"/>
                <a:sym typeface="Arial"/>
              </a:rPr>
              <a:t>, 2026</a:t>
            </a:r>
            <a:endParaRPr sz="1800" b="0" i="0" u="none" strike="noStrike" cap="none" dirty="0">
              <a:solidFill>
                <a:schemeClr val="lt1"/>
              </a:solidFill>
              <a:latin typeface="Arial"/>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1D3E48-EB5B-86EE-C4D9-54116487B2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CC2F8C-3A4A-AD98-3682-D9499379E41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rial"/>
                <a:ea typeface="Arial"/>
                <a:cs typeface="Arial"/>
                <a:sym typeface="Arial"/>
              </a:rPr>
              <a:t>Office Hours:</a:t>
            </a:r>
            <a:endParaRPr lang="en-US" sz="2600" b="1" dirty="0">
              <a:solidFill>
                <a:srgbClr val="E84B36"/>
              </a:solidFill>
              <a:latin typeface="Arial"/>
              <a:ea typeface="Arial"/>
              <a:cs typeface="Arial"/>
              <a:sym typeface="Arial"/>
            </a:endParaRPr>
          </a:p>
          <a:p>
            <a:pPr marL="285750" indent="-285750">
              <a:lnSpc>
                <a:spcPct val="100000"/>
              </a:lnSpc>
              <a:spcBef>
                <a:spcPts val="0"/>
              </a:spcBef>
              <a:buSzPts val="3000"/>
            </a:pPr>
            <a:r>
              <a:rPr lang="en-US" sz="1800" b="1" dirty="0">
                <a:solidFill>
                  <a:schemeClr val="dk1"/>
                </a:solidFill>
                <a:latin typeface="Arial"/>
                <a:ea typeface="Arial"/>
                <a:cs typeface="Arial"/>
                <a:sym typeface="Arial"/>
              </a:rPr>
              <a:t>Monday: </a:t>
            </a:r>
            <a:r>
              <a:rPr lang="en-US" sz="1800" dirty="0">
                <a:solidFill>
                  <a:schemeClr val="dk1"/>
                </a:solidFill>
                <a:latin typeface="Arial"/>
                <a:ea typeface="Arial"/>
                <a:cs typeface="Arial"/>
                <a:sym typeface="Arial"/>
              </a:rPr>
              <a:t>4-6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Neel</a:t>
            </a:r>
          </a:p>
          <a:p>
            <a:pPr marL="285750" indent="-285750">
              <a:lnSpc>
                <a:spcPct val="100000"/>
              </a:lnSpc>
              <a:spcBef>
                <a:spcPts val="0"/>
              </a:spcBef>
              <a:buSzPts val="3000"/>
            </a:pPr>
            <a:r>
              <a:rPr lang="en-US" sz="1800" b="1" dirty="0">
                <a:latin typeface="Arial"/>
                <a:ea typeface="Arial"/>
                <a:cs typeface="Arial"/>
                <a:sym typeface="Arial"/>
              </a:rPr>
              <a:t>Tuesday: </a:t>
            </a:r>
            <a:r>
              <a:rPr lang="en-US" sz="1800" dirty="0">
                <a:latin typeface="Arial"/>
                <a:ea typeface="Arial"/>
                <a:cs typeface="Arial"/>
                <a:sym typeface="Arial"/>
              </a:rPr>
              <a:t>11-1 PM</a:t>
            </a:r>
            <a:r>
              <a:rPr lang="en-US" sz="1800" b="1" dirty="0">
                <a:latin typeface="Arial"/>
                <a:ea typeface="Arial"/>
                <a:cs typeface="Arial"/>
                <a:sym typeface="Arial"/>
              </a:rPr>
              <a:t>, </a:t>
            </a:r>
            <a:r>
              <a:rPr lang="en-US" sz="1800" dirty="0">
                <a:latin typeface="Arial"/>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latin typeface="Arial"/>
                <a:ea typeface="Arial"/>
                <a:cs typeface="Arial"/>
                <a:sym typeface="Arial"/>
              </a:rPr>
              <a:t>1-3 PM</a:t>
            </a:r>
            <a:r>
              <a:rPr lang="en-US" sz="1800" b="1" dirty="0">
                <a:latin typeface="Arial"/>
                <a:ea typeface="Arial"/>
                <a:cs typeface="Arial"/>
                <a:sym typeface="Arial"/>
              </a:rPr>
              <a:t>, </a:t>
            </a:r>
            <a:r>
              <a:rPr lang="en-US" sz="1800" dirty="0">
                <a:latin typeface="Arial"/>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solidFill>
                  <a:schemeClr val="dk1"/>
                </a:solidFill>
                <a:latin typeface="Arial"/>
                <a:ea typeface="Arial"/>
                <a:cs typeface="Arial"/>
                <a:sym typeface="Arial"/>
              </a:rPr>
              <a:t>2-5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Dan &amp; Marius</a:t>
            </a:r>
          </a:p>
          <a:p>
            <a:pPr marL="285750" indent="-285750">
              <a:lnSpc>
                <a:spcPct val="100000"/>
              </a:lnSpc>
              <a:spcBef>
                <a:spcPts val="0"/>
              </a:spcBef>
              <a:buSzPts val="3000"/>
            </a:pPr>
            <a:endParaRPr lang="en-US" sz="1800" b="1" dirty="0">
              <a:latin typeface="Arial"/>
              <a:ea typeface="Arial"/>
              <a:cs typeface="Arial"/>
              <a:sym typeface="Arial"/>
            </a:endParaRPr>
          </a:p>
          <a:p>
            <a:pPr marL="0" indent="0">
              <a:lnSpc>
                <a:spcPct val="100000"/>
              </a:lnSpc>
              <a:spcBef>
                <a:spcPts val="0"/>
              </a:spcBef>
              <a:buSzPts val="3000"/>
              <a:buNone/>
            </a:pPr>
            <a:r>
              <a:rPr lang="en-US" sz="1800" b="1" dirty="0">
                <a:solidFill>
                  <a:srgbClr val="E84B36"/>
                </a:solidFill>
                <a:latin typeface="Arial"/>
                <a:ea typeface="Arial"/>
                <a:cs typeface="Arial"/>
                <a:sym typeface="Arial"/>
              </a:rPr>
              <a:t>Lab: </a:t>
            </a:r>
            <a:r>
              <a:rPr lang="en-US" sz="1800" dirty="0">
                <a:latin typeface="Arial"/>
                <a:ea typeface="Arial"/>
                <a:cs typeface="Arial"/>
                <a:sym typeface="Arial"/>
              </a:rPr>
              <a:t>Starting Lab 2 this week. This is also a 1-week lab!</a:t>
            </a:r>
            <a:endParaRPr lang="en-US" sz="1800" dirty="0">
              <a:solidFill>
                <a:srgbClr val="E84B36"/>
              </a:solidFill>
              <a:latin typeface="Arial"/>
              <a:ea typeface="Arial"/>
              <a:cs typeface="Arial"/>
              <a:sym typeface="Arial"/>
            </a:endParaRPr>
          </a:p>
          <a:p>
            <a:pPr marL="0" indent="0">
              <a:lnSpc>
                <a:spcPct val="100000"/>
              </a:lnSpc>
              <a:spcBef>
                <a:spcPts val="0"/>
              </a:spcBef>
              <a:buSzPts val="3000"/>
              <a:buNone/>
            </a:pPr>
            <a:endParaRPr lang="en-US" sz="1800" b="1" dirty="0">
              <a:solidFill>
                <a:srgbClr val="E84B36"/>
              </a:solidFill>
              <a:latin typeface="Arial"/>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rial"/>
                <a:ea typeface="Arial"/>
                <a:cs typeface="Arial"/>
                <a:sym typeface="Arial"/>
              </a:rPr>
              <a:t>Homeworks</a:t>
            </a:r>
            <a:r>
              <a:rPr lang="en-US" sz="1800" b="1" dirty="0">
                <a:solidFill>
                  <a:srgbClr val="E84B36"/>
                </a:solidFill>
                <a:latin typeface="Arial"/>
                <a:ea typeface="Arial"/>
                <a:cs typeface="Arial"/>
                <a:sym typeface="Arial"/>
              </a:rPr>
              <a:t> (This week):</a:t>
            </a:r>
          </a:p>
          <a:p>
            <a:pPr marL="285750" indent="-285750">
              <a:lnSpc>
                <a:spcPct val="100000"/>
              </a:lnSpc>
              <a:spcBef>
                <a:spcPts val="0"/>
              </a:spcBef>
              <a:buSzPts val="3000"/>
            </a:pPr>
            <a:r>
              <a:rPr lang="en-US" sz="1800" dirty="0">
                <a:latin typeface="Arial"/>
                <a:ea typeface="Arial"/>
                <a:cs typeface="Arial"/>
                <a:sym typeface="Arial"/>
              </a:rPr>
              <a:t>All check-offs for </a:t>
            </a:r>
            <a:r>
              <a:rPr lang="en-US" sz="1800" dirty="0">
                <a:latin typeface="Arial"/>
                <a:ea typeface="Arial"/>
                <a:cs typeface="Arial"/>
                <a:sym typeface="Arial"/>
                <a:hlinkClick r:id="rId3"/>
              </a:rPr>
              <a:t>homework 1</a:t>
            </a:r>
            <a:r>
              <a:rPr lang="en-US" sz="1800" dirty="0">
                <a:latin typeface="Arial"/>
                <a:ea typeface="Arial"/>
                <a:cs typeface="Arial"/>
                <a:sym typeface="Arial"/>
              </a:rPr>
              <a:t> are due </a:t>
            </a:r>
            <a:r>
              <a:rPr lang="en-US" sz="1800" b="1" dirty="0">
                <a:latin typeface="Arial"/>
                <a:ea typeface="Arial"/>
                <a:cs typeface="Arial"/>
                <a:sym typeface="Arial"/>
              </a:rPr>
              <a:t>February 3, 5PM (The end of office hours)</a:t>
            </a:r>
            <a:endParaRPr lang="en-US" sz="1400" b="1" dirty="0">
              <a:latin typeface="Arial"/>
              <a:ea typeface="Arial"/>
              <a:cs typeface="Arial"/>
              <a:sym typeface="Arial"/>
            </a:endParaRPr>
          </a:p>
          <a:p>
            <a:pPr marL="285750" indent="-285750">
              <a:lnSpc>
                <a:spcPct val="100000"/>
              </a:lnSpc>
              <a:spcBef>
                <a:spcPts val="0"/>
              </a:spcBef>
              <a:buSzPts val="3000"/>
            </a:pPr>
            <a:r>
              <a:rPr lang="en-US" sz="1800" dirty="0">
                <a:latin typeface="Arial"/>
                <a:ea typeface="Arial"/>
                <a:cs typeface="Arial"/>
                <a:sym typeface="Arial"/>
              </a:rPr>
              <a:t>Answers and code submissions for homework 1 are due </a:t>
            </a:r>
            <a:r>
              <a:rPr lang="en-US" sz="1800" b="1" dirty="0">
                <a:latin typeface="Arial"/>
                <a:ea typeface="Arial"/>
                <a:cs typeface="Arial"/>
                <a:sym typeface="Arial"/>
              </a:rPr>
              <a:t>February 4, 9AM</a:t>
            </a:r>
          </a:p>
          <a:p>
            <a:pPr marL="285750" indent="-285750">
              <a:lnSpc>
                <a:spcPct val="100000"/>
              </a:lnSpc>
              <a:spcBef>
                <a:spcPts val="0"/>
              </a:spcBef>
              <a:buSzPts val="3000"/>
            </a:pPr>
            <a:endParaRPr lang="en-US" sz="1800" dirty="0">
              <a:latin typeface="Arial"/>
              <a:ea typeface="Arial"/>
              <a:cs typeface="Arial"/>
              <a:sym typeface="Arial"/>
            </a:endParaRPr>
          </a:p>
          <a:p>
            <a:pPr marL="0" indent="0">
              <a:lnSpc>
                <a:spcPct val="100000"/>
              </a:lnSpc>
              <a:spcBef>
                <a:spcPts val="0"/>
              </a:spcBef>
              <a:buSzPts val="3000"/>
              <a:buNone/>
            </a:pPr>
            <a:r>
              <a:rPr lang="en-US" sz="1800" b="1" dirty="0">
                <a:solidFill>
                  <a:srgbClr val="E84B36"/>
                </a:solidFill>
                <a:latin typeface="Arial"/>
                <a:ea typeface="Arial"/>
                <a:cs typeface="Arial"/>
                <a:sym typeface="Arial"/>
              </a:rPr>
              <a:t>LabVIEW (This week):</a:t>
            </a:r>
          </a:p>
          <a:p>
            <a:pPr marL="285750" indent="-285750">
              <a:lnSpc>
                <a:spcPct val="100000"/>
              </a:lnSpc>
              <a:spcBef>
                <a:spcPts val="0"/>
              </a:spcBef>
              <a:buSzPts val="3000"/>
            </a:pPr>
            <a:r>
              <a:rPr lang="en-US" sz="1800" dirty="0">
                <a:latin typeface="Arial"/>
                <a:ea typeface="Arial"/>
                <a:cs typeface="Arial"/>
                <a:sym typeface="Arial"/>
              </a:rPr>
              <a:t>All check-offs for </a:t>
            </a:r>
            <a:r>
              <a:rPr lang="en-US" sz="1800" dirty="0">
                <a:latin typeface="Arial"/>
                <a:ea typeface="Arial"/>
                <a:cs typeface="Arial"/>
                <a:sym typeface="Arial"/>
                <a:hlinkClick r:id="rId4"/>
              </a:rPr>
              <a:t>LabVIEW 1</a:t>
            </a:r>
            <a:r>
              <a:rPr lang="en-US" sz="1800" dirty="0">
                <a:latin typeface="Arial"/>
                <a:ea typeface="Arial"/>
                <a:cs typeface="Arial"/>
                <a:sym typeface="Arial"/>
              </a:rPr>
              <a:t> are  due </a:t>
            </a:r>
            <a:r>
              <a:rPr lang="en-US" sz="1800" b="1" dirty="0">
                <a:latin typeface="Arial"/>
                <a:ea typeface="Arial"/>
                <a:cs typeface="Arial"/>
                <a:sym typeface="Arial"/>
              </a:rPr>
              <a:t>February 5, 5PM</a:t>
            </a:r>
          </a:p>
          <a:p>
            <a:pPr marL="285750" indent="-285750">
              <a:lnSpc>
                <a:spcPct val="100000"/>
              </a:lnSpc>
              <a:spcBef>
                <a:spcPts val="0"/>
              </a:spcBef>
              <a:buSzPts val="3000"/>
            </a:pPr>
            <a:endParaRPr lang="en-US" sz="1800" b="1" dirty="0">
              <a:latin typeface="Arial"/>
              <a:ea typeface="Arial"/>
              <a:cs typeface="Arial"/>
              <a:sym typeface="Arial"/>
            </a:endParaRPr>
          </a:p>
          <a:p>
            <a:pPr marL="0" indent="0">
              <a:lnSpc>
                <a:spcPct val="100000"/>
              </a:lnSpc>
              <a:spcBef>
                <a:spcPts val="0"/>
              </a:spcBef>
              <a:buSzPts val="3000"/>
              <a:buNone/>
            </a:pPr>
            <a:r>
              <a:rPr lang="en-US" sz="1800" b="1" dirty="0">
                <a:solidFill>
                  <a:srgbClr val="E84B36"/>
                </a:solidFill>
                <a:latin typeface="Arial"/>
                <a:ea typeface="Arial"/>
                <a:cs typeface="Arial"/>
                <a:sym typeface="Arial"/>
              </a:rPr>
              <a:t>FIRST ASSIGNMENTS ARE DUE THIS WEEK!</a:t>
            </a:r>
            <a:endParaRPr lang="en-US" sz="1800" b="1" dirty="0">
              <a:latin typeface="Arial"/>
              <a:ea typeface="Arial"/>
              <a:cs typeface="Arial"/>
              <a:sym typeface="Arial"/>
            </a:endParaRPr>
          </a:p>
        </p:txBody>
      </p:sp>
      <p:sp>
        <p:nvSpPr>
          <p:cNvPr id="119" name="Google Shape;119;p29">
            <a:extLst>
              <a:ext uri="{FF2B5EF4-FFF2-40B4-BE49-F238E27FC236}">
                <a16:creationId xmlns:a16="http://schemas.microsoft.com/office/drawing/2014/main" id="{19848B8C-9075-59EA-79FA-AF5B8BFAF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AE21486-AEEC-E367-96A5-81B49AD32D6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Reminders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8CCE647-4D9B-354D-A2E9-718CA28CD750}"/>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C87A64-580A-4863-38B3-4D1504C83F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649EAB-2DB3-2DA4-9AD9-5D94AEE695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1F8E2C-2780-2776-E8ED-542B082247F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628D6E-10A9-03E9-659C-F8F2D0023C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EB3CD3-0F72-FD08-8FA5-00AD37965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79584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27"/>
          <p:cNvSpPr txBox="1"/>
          <p:nvPr/>
        </p:nvSpPr>
        <p:spPr>
          <a:xfrm>
            <a:off x="2206906" y="21768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rial"/>
                <a:ea typeface="Arial"/>
                <a:cs typeface="Arial"/>
                <a:sym typeface="Arial"/>
              </a:rPr>
              <a:t>Questions?</a:t>
            </a:r>
            <a:endParaRPr sz="1400" b="0" i="0" u="none" strike="noStrike" cap="none" dirty="0">
              <a:solidFill>
                <a:srgbClr val="000000"/>
              </a:solidFill>
              <a:latin typeface="Arial"/>
              <a:ea typeface="Arial"/>
              <a:cs typeface="Arial"/>
              <a:sym typeface="Arial"/>
            </a:endParaRPr>
          </a:p>
        </p:txBody>
      </p:sp>
      <p:sp>
        <p:nvSpPr>
          <p:cNvPr id="90" name="Google Shape;90;p27"/>
          <p:cNvSpPr txBox="1"/>
          <p:nvPr/>
        </p:nvSpPr>
        <p:spPr>
          <a:xfrm>
            <a:off x="1441528" y="3918030"/>
            <a:ext cx="9308941" cy="954067"/>
          </a:xfrm>
          <a:prstGeom prst="rect">
            <a:avLst/>
          </a:prstGeom>
          <a:noFill/>
          <a:ln>
            <a:noFill/>
          </a:ln>
        </p:spPr>
        <p:txBody>
          <a:bodyPr spcFirstLastPara="1" wrap="square" lIns="91425" tIns="45700" rIns="91425" bIns="45700" anchor="t" anchorCtr="0">
            <a:spAutoFit/>
          </a:bodyPr>
          <a:lstStyle/>
          <a:p>
            <a:pPr lvl="0" algn="ctr">
              <a:buSzPts val="2800"/>
            </a:pPr>
            <a:r>
              <a:rPr lang="en-US" sz="2800" dirty="0">
                <a:solidFill>
                  <a:schemeClr val="lt1"/>
                </a:solidFill>
              </a:rPr>
              <a:t>Homework, Lab, LabVIEW, quiz questions?</a:t>
            </a:r>
          </a:p>
          <a:p>
            <a:pPr lvl="0" algn="ctr">
              <a:buSzPts val="2800"/>
            </a:pPr>
            <a:r>
              <a:rPr lang="en-US" sz="2800" dirty="0">
                <a:solidFill>
                  <a:schemeClr val="lt1"/>
                </a:solidFill>
              </a:rPr>
              <a:t>(Enjoyed the first actual lab?)</a:t>
            </a:r>
          </a:p>
        </p:txBody>
      </p:sp>
      <p:grpSp>
        <p:nvGrpSpPr>
          <p:cNvPr id="91" name="Google Shape;91;p27"/>
          <p:cNvGrpSpPr/>
          <p:nvPr/>
        </p:nvGrpSpPr>
        <p:grpSpPr>
          <a:xfrm>
            <a:off x="3943790" y="33627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Integers</a:t>
            </a:r>
            <a:endParaRPr sz="1800" b="0" i="0" u="none" strike="noStrike" cap="none" dirty="0">
              <a:solidFill>
                <a:srgbClr val="15264B"/>
              </a:solidFill>
              <a:latin typeface="Arial"/>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3A3FC4B-CF21-1C7F-EC99-5A5E6E6D778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A6482A6-4489-9703-8A08-103B7D4C8C9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dirty="0">
                <a:solidFill>
                  <a:srgbClr val="000000"/>
                </a:solidFill>
                <a:latin typeface="+mj-lt"/>
                <a:ea typeface="Arial"/>
                <a:cs typeface="Arial"/>
                <a:sym typeface="Arial"/>
              </a:rPr>
              <a:t>The C2000 MCU is a 32-bit CPU, meaning its registers and Arithmetic Logic Unit (ALU) are optimized for 32-bit operations, though it can also handle 16-bit data types. As seen in the Homework the minimum data size is 16-bits!</a:t>
            </a:r>
          </a:p>
          <a:p>
            <a:pPr marL="114300" indent="0" algn="l">
              <a:buNone/>
            </a:pPr>
            <a:r>
              <a:rPr lang="en-US" sz="1800" dirty="0">
                <a:solidFill>
                  <a:srgbClr val="000000"/>
                </a:solidFill>
                <a:latin typeface="+mj-lt"/>
                <a:ea typeface="Arial"/>
                <a:cs typeface="Arial"/>
                <a:sym typeface="Arial"/>
              </a:rPr>
              <a:t>In most programming classes you will have learned that 1-byte = 8-bits; however, in the C2000, given that TMS320C28x char is 16 bits and the ANSI/ISO (C programming standard) further stipulates that when </a:t>
            </a:r>
            <a:r>
              <a:rPr lang="en-US" sz="1800" dirty="0" err="1">
                <a:solidFill>
                  <a:srgbClr val="000000"/>
                </a:solidFill>
                <a:latin typeface="+mj-lt"/>
                <a:ea typeface="Arial"/>
                <a:cs typeface="Arial"/>
                <a:sym typeface="Arial"/>
              </a:rPr>
              <a:t>sizeof</a:t>
            </a:r>
            <a:r>
              <a:rPr lang="en-US" sz="1800" dirty="0">
                <a:solidFill>
                  <a:srgbClr val="000000"/>
                </a:solidFill>
                <a:latin typeface="+mj-lt"/>
                <a:ea typeface="Arial"/>
                <a:cs typeface="Arial"/>
                <a:sym typeface="Arial"/>
              </a:rPr>
              <a:t> is applied to char, the result is 1. So, 1-byte = 16-bits for this system!!!</a:t>
            </a:r>
          </a:p>
          <a:p>
            <a:pPr marL="114300" indent="0" algn="l">
              <a:buNone/>
            </a:pPr>
            <a:endParaRPr lang="en-US" sz="1800" dirty="0">
              <a:solidFill>
                <a:srgbClr val="000000"/>
              </a:solidFill>
              <a:latin typeface="+mj-lt"/>
              <a:ea typeface="Arial"/>
              <a:cs typeface="Arial"/>
              <a:sym typeface="Arial"/>
            </a:endParaRPr>
          </a:p>
          <a:p>
            <a:pPr marL="114300" indent="0" algn="l">
              <a:buNone/>
            </a:pPr>
            <a:endParaRPr lang="en-US" sz="1800" dirty="0">
              <a:solidFill>
                <a:srgbClr val="000000"/>
              </a:solidFill>
              <a:latin typeface="+mj-lt"/>
              <a:ea typeface="Arial"/>
              <a:cs typeface="Arial"/>
              <a:sym typeface="Arial"/>
            </a:endParaRPr>
          </a:p>
        </p:txBody>
      </p:sp>
      <p:sp>
        <p:nvSpPr>
          <p:cNvPr id="119" name="Google Shape;119;p29">
            <a:extLst>
              <a:ext uri="{FF2B5EF4-FFF2-40B4-BE49-F238E27FC236}">
                <a16:creationId xmlns:a16="http://schemas.microsoft.com/office/drawing/2014/main" id="{944E3693-7D40-FD31-07A8-FD83983C89A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6613405-86CF-9692-79DF-BB4D845C822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Integers Size</a:t>
            </a:r>
          </a:p>
        </p:txBody>
      </p:sp>
      <p:pic>
        <p:nvPicPr>
          <p:cNvPr id="121" name="Google Shape;121;p29">
            <a:extLst>
              <a:ext uri="{FF2B5EF4-FFF2-40B4-BE49-F238E27FC236}">
                <a16:creationId xmlns:a16="http://schemas.microsoft.com/office/drawing/2014/main" id="{C9F4CD90-ABFE-937F-3370-800E5D7DC17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E3935CE-6432-60EF-0F26-699A49700B1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1F6032-A24F-6027-4422-E1ED48EF17C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BF596AC-CBDC-E063-3D4F-5F5733A5DBB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0861818-1AE8-2377-73A4-E99004EF1C4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AAEE599-BC0C-B20E-D572-C88DF0F2977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9BAA2648-F65D-2E1E-0B39-1AE36F6C49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43287" y="3167592"/>
            <a:ext cx="5305425" cy="3224673"/>
          </a:xfrm>
          <a:prstGeom prst="rect">
            <a:avLst/>
          </a:prstGeom>
        </p:spPr>
      </p:pic>
    </p:spTree>
    <p:extLst>
      <p:ext uri="{BB962C8B-B14F-4D97-AF65-F5344CB8AC3E}">
        <p14:creationId xmlns:p14="http://schemas.microsoft.com/office/powerpoint/2010/main" val="1429355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2E622BE-CD08-849D-8261-1C23C691060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1866032-999D-A37A-F783-918B701D9B9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dirty="0">
                <a:solidFill>
                  <a:srgbClr val="000000"/>
                </a:solidFill>
                <a:latin typeface="+mj-lt"/>
                <a:ea typeface="Arial"/>
                <a:cs typeface="Arial"/>
                <a:sym typeface="Arial"/>
              </a:rPr>
              <a:t>How do we represent negative numbers in a system that only understands 0 and 1?</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What is the problem with just setting a single bit to represent positive or negative?</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The problem is that you just use a single bit to define the positive or negative, i.e.</a:t>
            </a:r>
          </a:p>
          <a:p>
            <a:pPr marL="114300" indent="0" algn="ctr">
              <a:buNone/>
            </a:pPr>
            <a:r>
              <a:rPr lang="en-US" sz="1800" dirty="0">
                <a:solidFill>
                  <a:srgbClr val="000000"/>
                </a:solidFill>
                <a:latin typeface="+mj-lt"/>
                <a:ea typeface="Arial"/>
                <a:cs typeface="Arial"/>
                <a:sym typeface="Arial"/>
              </a:rPr>
              <a:t>0b101 = -1 vs 0b001 = 1</a:t>
            </a:r>
          </a:p>
          <a:p>
            <a:pPr marL="114300" indent="0">
              <a:buNone/>
            </a:pPr>
            <a:r>
              <a:rPr lang="en-US" sz="1800" dirty="0">
                <a:solidFill>
                  <a:srgbClr val="000000"/>
                </a:solidFill>
                <a:latin typeface="+mj-lt"/>
                <a:ea typeface="Arial"/>
                <a:cs typeface="Arial"/>
                <a:sym typeface="Arial"/>
              </a:rPr>
              <a:t>What happens at 0?</a:t>
            </a:r>
          </a:p>
          <a:p>
            <a:pPr marL="114300" indent="0" algn="ctr">
              <a:buNone/>
            </a:pPr>
            <a:r>
              <a:rPr lang="en-US" sz="1800" dirty="0">
                <a:solidFill>
                  <a:srgbClr val="000000"/>
                </a:solidFill>
                <a:latin typeface="+mj-lt"/>
                <a:ea typeface="Arial"/>
                <a:cs typeface="Arial"/>
                <a:sym typeface="Arial"/>
              </a:rPr>
              <a:t>0b100 = -0 vs 0vb000 = 0</a:t>
            </a:r>
          </a:p>
          <a:p>
            <a:pPr marL="114300" indent="0" algn="ctr">
              <a:buNone/>
            </a:pPr>
            <a:endParaRPr lang="en-US" sz="1800" dirty="0">
              <a:solidFill>
                <a:srgbClr val="000000"/>
              </a:solidFill>
              <a:latin typeface="+mj-lt"/>
              <a:ea typeface="Arial"/>
              <a:cs typeface="Arial"/>
              <a:sym typeface="Arial"/>
            </a:endParaRPr>
          </a:p>
          <a:p>
            <a:pPr marL="114300" indent="0">
              <a:buNone/>
            </a:pPr>
            <a:r>
              <a:rPr lang="en-US" sz="1800" dirty="0">
                <a:solidFill>
                  <a:srgbClr val="000000"/>
                </a:solidFill>
                <a:latin typeface="+mj-lt"/>
                <a:ea typeface="Arial"/>
                <a:cs typeface="Arial"/>
                <a:sym typeface="Arial"/>
              </a:rPr>
              <a:t>Which doesn’t make much sense, we waste a single number for a -0!</a:t>
            </a:r>
          </a:p>
          <a:p>
            <a:pPr marL="114300" indent="0" algn="l">
              <a:buNone/>
            </a:pPr>
            <a:endParaRPr lang="en-US" sz="1800" dirty="0">
              <a:solidFill>
                <a:srgbClr val="000000"/>
              </a:solidFill>
              <a:latin typeface="+mj-lt"/>
              <a:ea typeface="Arial"/>
              <a:cs typeface="Arial"/>
              <a:sym typeface="Arial"/>
            </a:endParaRPr>
          </a:p>
          <a:p>
            <a:pPr marL="114300" indent="0" algn="l">
              <a:buNone/>
            </a:pPr>
            <a:endParaRPr lang="en-US" sz="1800" dirty="0">
              <a:solidFill>
                <a:srgbClr val="000000"/>
              </a:solidFill>
              <a:latin typeface="+mj-lt"/>
              <a:ea typeface="Arial"/>
              <a:cs typeface="Arial"/>
              <a:sym typeface="Arial"/>
            </a:endParaRPr>
          </a:p>
        </p:txBody>
      </p:sp>
      <p:sp>
        <p:nvSpPr>
          <p:cNvPr id="119" name="Google Shape;119;p29">
            <a:extLst>
              <a:ext uri="{FF2B5EF4-FFF2-40B4-BE49-F238E27FC236}">
                <a16:creationId xmlns:a16="http://schemas.microsoft.com/office/drawing/2014/main" id="{5FFAE6A1-498F-3084-57EF-F9D64721F6D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B9E0FDA-D274-0806-BBEF-574277F281C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Signed Integers</a:t>
            </a:r>
          </a:p>
        </p:txBody>
      </p:sp>
      <p:pic>
        <p:nvPicPr>
          <p:cNvPr id="121" name="Google Shape;121;p29">
            <a:extLst>
              <a:ext uri="{FF2B5EF4-FFF2-40B4-BE49-F238E27FC236}">
                <a16:creationId xmlns:a16="http://schemas.microsoft.com/office/drawing/2014/main" id="{E43A7A43-35E6-A73B-6FE7-A7F44A73C53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B6F8162-BBE4-C8E1-4070-CA6DD5598E2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8EE407B-E018-51FA-3500-0CAFA7564B2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4E66921-6559-E792-814A-D15CFA1273F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54B86B0-0ACA-1ECA-9A89-16D3B2EC7A0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87ADE80-F121-13D6-92F8-A69D94C329C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96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DF9773F-9ADB-3853-068F-E7311A419F4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F343EA2B-7FC8-3D56-E16E-F2CA4E64A03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dirty="0">
                    <a:solidFill>
                      <a:srgbClr val="000000"/>
                    </a:solidFill>
                    <a:latin typeface="+mj-lt"/>
                    <a:ea typeface="Arial"/>
                    <a:cs typeface="Arial"/>
                    <a:sym typeface="Arial"/>
                  </a:rPr>
                  <a:t>This utilizes Modular Arithmetic to derive that:</a:t>
                </a:r>
              </a:p>
              <a:p>
                <a:pPr marL="114300" indent="0" algn="l">
                  <a:buNone/>
                </a:pPr>
                <a14:m>
                  <m:oMathPara xmlns:m="http://schemas.openxmlformats.org/officeDocument/2006/math">
                    <m:oMathParaPr>
                      <m:jc m:val="centerGroup"/>
                    </m:oMathParaPr>
                    <m:oMath xmlns:m="http://schemas.openxmlformats.org/officeDocument/2006/math">
                      <m:r>
                        <a:rPr lang="en-US" sz="1800" b="0" i="1" smtClean="0">
                          <a:solidFill>
                            <a:srgbClr val="000000"/>
                          </a:solidFill>
                          <a:latin typeface="Cambria Math" panose="02040503050406030204" pitchFamily="18" charset="0"/>
                          <a:ea typeface="Arial"/>
                          <a:cs typeface="Arial"/>
                          <a:sym typeface="Arial"/>
                        </a:rPr>
                        <m:t>-</m:t>
                      </m:r>
                      <m:r>
                        <m:rPr>
                          <m:sty m:val="p"/>
                        </m:rPr>
                        <a:rPr lang="en-US" sz="1800" b="0" i="1" smtClean="0">
                          <a:solidFill>
                            <a:srgbClr val="000000"/>
                          </a:solidFill>
                          <a:latin typeface="Cambria Math" panose="02040503050406030204" pitchFamily="18" charset="0"/>
                          <a:ea typeface="Arial"/>
                          <a:cs typeface="Arial"/>
                          <a:sym typeface="Arial"/>
                        </a:rPr>
                        <m:t>x</m:t>
                      </m:r>
                      <m:r>
                        <a:rPr lang="en-US" sz="1800" b="0" i="1" smtClean="0">
                          <a:solidFill>
                            <a:srgbClr val="000000"/>
                          </a:solidFill>
                          <a:latin typeface="Cambria Math" panose="02040503050406030204" pitchFamily="18" charset="0"/>
                          <a:ea typeface="Arial"/>
                          <a:cs typeface="Arial"/>
                          <a:sym typeface="Arial"/>
                        </a:rPr>
                        <m:t> = ~</m:t>
                      </m:r>
                      <m:r>
                        <m:rPr>
                          <m:sty m:val="p"/>
                        </m:rPr>
                        <a:rPr lang="en-US" sz="1800" b="0" i="1" smtClean="0">
                          <a:solidFill>
                            <a:srgbClr val="000000"/>
                          </a:solidFill>
                          <a:latin typeface="Cambria Math" panose="02040503050406030204" pitchFamily="18" charset="0"/>
                          <a:ea typeface="Cambria Math" panose="02040503050406030204" pitchFamily="18" charset="0"/>
                          <a:cs typeface="Arial"/>
                          <a:sym typeface="Arial"/>
                        </a:rPr>
                        <m:t>x</m:t>
                      </m:r>
                      <m:r>
                        <a:rPr lang="en-US" sz="1800" b="0" i="1" smtClean="0">
                          <a:solidFill>
                            <a:srgbClr val="000000"/>
                          </a:solidFill>
                          <a:latin typeface="Cambria Math" panose="02040503050406030204" pitchFamily="18" charset="0"/>
                          <a:ea typeface="Cambria Math" panose="02040503050406030204" pitchFamily="18" charset="0"/>
                          <a:cs typeface="Arial"/>
                          <a:sym typeface="Arial"/>
                        </a:rPr>
                        <m:t>+1</m:t>
                      </m:r>
                    </m:oMath>
                  </m:oMathPara>
                </a14:m>
                <a:endParaRPr lang="en-US" sz="1800" dirty="0">
                  <a:solidFill>
                    <a:srgbClr val="000000"/>
                  </a:solidFill>
                  <a:latin typeface="+mj-lt"/>
                  <a:ea typeface="Arial"/>
                  <a:cs typeface="Arial"/>
                  <a:sym typeface="Arial"/>
                </a:endParaRP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Extremely simple and CPU operation wisely efficient!</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Achieves full range of:</a:t>
                </a:r>
              </a:p>
              <a:p>
                <a:pPr marL="114300" indent="0" algn="l">
                  <a:buNone/>
                </a:pPr>
                <a14:m>
                  <m:oMathPara xmlns:m="http://schemas.openxmlformats.org/officeDocument/2006/math">
                    <m:oMathParaPr>
                      <m:jc m:val="centerGroup"/>
                    </m:oMathParaPr>
                    <m:oMath xmlns:m="http://schemas.openxmlformats.org/officeDocument/2006/math">
                      <m:r>
                        <a:rPr lang="en-US" sz="1800" b="0" i="1" smtClean="0">
                          <a:solidFill>
                            <a:srgbClr val="000000"/>
                          </a:solidFill>
                          <a:latin typeface="Cambria Math" panose="02040503050406030204" pitchFamily="18" charset="0"/>
                          <a:ea typeface="Arial"/>
                          <a:cs typeface="Arial"/>
                          <a:sym typeface="Arial"/>
                        </a:rPr>
                        <m:t>[</m:t>
                      </m:r>
                      <m:sSup>
                        <m:sSupPr>
                          <m:ctrlPr>
                            <a:rPr lang="en-US" sz="1800" b="0" i="1" smtClean="0">
                              <a:solidFill>
                                <a:srgbClr val="000000"/>
                              </a:solidFill>
                              <a:latin typeface="Cambria Math" panose="02040503050406030204" pitchFamily="18" charset="0"/>
                              <a:cs typeface="Arial"/>
                              <a:sym typeface="Arial"/>
                            </a:rPr>
                          </m:ctrlPr>
                        </m:sSupPr>
                        <m:e>
                          <m:r>
                            <a:rPr lang="en-US" sz="1800" b="0" i="1" smtClean="0">
                              <a:solidFill>
                                <a:srgbClr val="000000"/>
                              </a:solidFill>
                              <a:latin typeface="Cambria Math" panose="02040503050406030204" pitchFamily="18" charset="0"/>
                              <a:cs typeface="Arial"/>
                              <a:sym typeface="Arial"/>
                            </a:rPr>
                            <m:t>-2</m:t>
                          </m:r>
                        </m:e>
                        <m:sup>
                          <m:r>
                            <m:rPr>
                              <m:sty m:val="p"/>
                            </m:rPr>
                            <a:rPr lang="en-US" sz="1800" b="0" i="1" smtClean="0">
                              <a:solidFill>
                                <a:srgbClr val="000000"/>
                              </a:solidFill>
                              <a:latin typeface="Cambria Math" panose="02040503050406030204" pitchFamily="18" charset="0"/>
                              <a:cs typeface="Arial"/>
                              <a:sym typeface="Arial"/>
                            </a:rPr>
                            <m:t>N</m:t>
                          </m:r>
                          <m:r>
                            <a:rPr lang="en-US" sz="1800" b="0" i="1" smtClean="0">
                              <a:solidFill>
                                <a:srgbClr val="000000"/>
                              </a:solidFill>
                              <a:latin typeface="Cambria Math" panose="02040503050406030204" pitchFamily="18" charset="0"/>
                              <a:cs typeface="Arial"/>
                              <a:sym typeface="Arial"/>
                            </a:rPr>
                            <m:t>-1</m:t>
                          </m:r>
                        </m:sup>
                      </m:sSup>
                      <m:r>
                        <a:rPr lang="en-US" sz="1800" b="0" i="1" smtClean="0">
                          <a:solidFill>
                            <a:srgbClr val="000000"/>
                          </a:solidFill>
                          <a:latin typeface="Cambria Math" panose="02040503050406030204" pitchFamily="18" charset="0"/>
                          <a:cs typeface="Arial"/>
                          <a:sym typeface="Arial"/>
                        </a:rPr>
                        <m:t>,</m:t>
                      </m:r>
                      <m:sSup>
                        <m:sSupPr>
                          <m:ctrlPr>
                            <a:rPr lang="en-US" sz="1800" b="0" i="1" smtClean="0">
                              <a:solidFill>
                                <a:srgbClr val="000000"/>
                              </a:solidFill>
                              <a:latin typeface="Cambria Math" panose="02040503050406030204" pitchFamily="18" charset="0"/>
                              <a:cs typeface="Arial"/>
                              <a:sym typeface="Arial"/>
                            </a:rPr>
                          </m:ctrlPr>
                        </m:sSupPr>
                        <m:e>
                          <m:r>
                            <a:rPr lang="en-US" sz="1800" b="0" i="1" smtClean="0">
                              <a:solidFill>
                                <a:srgbClr val="000000"/>
                              </a:solidFill>
                              <a:latin typeface="Cambria Math" panose="02040503050406030204" pitchFamily="18" charset="0"/>
                              <a:cs typeface="Arial"/>
                              <a:sym typeface="Arial"/>
                            </a:rPr>
                            <m:t>2</m:t>
                          </m:r>
                        </m:e>
                        <m:sup>
                          <m:r>
                            <m:rPr>
                              <m:sty m:val="p"/>
                            </m:rPr>
                            <a:rPr lang="en-US" sz="1800" b="0" i="1" smtClean="0">
                              <a:solidFill>
                                <a:srgbClr val="000000"/>
                              </a:solidFill>
                              <a:latin typeface="Cambria Math" panose="02040503050406030204" pitchFamily="18" charset="0"/>
                              <a:cs typeface="Arial"/>
                              <a:sym typeface="Arial"/>
                            </a:rPr>
                            <m:t>N</m:t>
                          </m:r>
                          <m:r>
                            <a:rPr lang="en-US" sz="1800" b="0" i="1" smtClean="0">
                              <a:solidFill>
                                <a:srgbClr val="000000"/>
                              </a:solidFill>
                              <a:latin typeface="Cambria Math" panose="02040503050406030204" pitchFamily="18" charset="0"/>
                              <a:cs typeface="Arial"/>
                              <a:sym typeface="Arial"/>
                            </a:rPr>
                            <m:t>-1</m:t>
                          </m:r>
                        </m:sup>
                      </m:sSup>
                      <m:r>
                        <a:rPr lang="en-US" sz="1800" b="0" i="1" smtClean="0">
                          <a:solidFill>
                            <a:srgbClr val="000000"/>
                          </a:solidFill>
                          <a:latin typeface="Cambria Math" panose="02040503050406030204" pitchFamily="18" charset="0"/>
                          <a:cs typeface="Arial"/>
                          <a:sym typeface="Arial"/>
                        </a:rPr>
                        <m:t>-1</m:t>
                      </m:r>
                      <m:r>
                        <a:rPr lang="en-US" sz="1800" b="0" i="1" smtClean="0">
                          <a:solidFill>
                            <a:srgbClr val="000000"/>
                          </a:solidFill>
                          <a:latin typeface="Cambria Math" panose="02040503050406030204" pitchFamily="18" charset="0"/>
                          <a:ea typeface="Arial"/>
                          <a:cs typeface="Arial"/>
                          <a:sym typeface="Arial"/>
                        </a:rPr>
                        <m:t>]</m:t>
                      </m:r>
                    </m:oMath>
                  </m:oMathPara>
                </a14:m>
                <a:endParaRPr lang="en-US" sz="1800" dirty="0">
                  <a:solidFill>
                    <a:srgbClr val="000000"/>
                  </a:solidFill>
                  <a:latin typeface="+mj-lt"/>
                  <a:ea typeface="Arial"/>
                  <a:cs typeface="Arial"/>
                  <a:sym typeface="Arial"/>
                </a:endParaRP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Most significant bit ( the left-most bit in this case ), represents the sign (0=positive, 1=negative)</a:t>
                </a:r>
              </a:p>
            </p:txBody>
          </p:sp>
        </mc:Choice>
        <mc:Fallback>
          <p:sp>
            <p:nvSpPr>
              <p:cNvPr id="118" name="Google Shape;118;p29">
                <a:extLst>
                  <a:ext uri="{FF2B5EF4-FFF2-40B4-BE49-F238E27FC236}">
                    <a16:creationId xmlns:a16="http://schemas.microsoft.com/office/drawing/2014/main" id="{F343EA2B-7FC8-3D56-E16E-F2CA4E64A03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9C8A2C6-6DB4-E61F-62A4-12CF73E5099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77EE9DB-AC23-0AE4-744B-58D956CA18A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2’s Complement</a:t>
            </a:r>
            <a:endParaRPr lang="en-US"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54A65CF-973D-8A16-C9CE-8DCD6C8E328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B5A2D39-DF0B-7164-1A47-6B0EC5E5971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3CC6E4D-F357-445F-192B-B307C8CE107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B7E8EA-E0EB-48A9-0EC8-6DE79C88615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B939B70-8533-AAD5-2DC8-6A06325F0F4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8B4C190-B713-D66F-C663-4E6567AABC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02095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E341CDF-EDF4-6665-95C1-2273F92B324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78A8B4D-9386-8FC3-9EB4-C728D8D770CF}"/>
              </a:ext>
            </a:extLst>
          </p:cNvPr>
          <p:cNvSpPr txBox="1">
            <a:spLocks noGrp="1"/>
          </p:cNvSpPr>
          <p:nvPr>
            <p:ph type="body" idx="1"/>
          </p:nvPr>
        </p:nvSpPr>
        <p:spPr>
          <a:xfrm>
            <a:off x="376807" y="5977901"/>
            <a:ext cx="11177401" cy="546139"/>
          </a:xfrm>
          <a:prstGeom prst="rect">
            <a:avLst/>
          </a:prstGeom>
          <a:noFill/>
          <a:ln>
            <a:noFill/>
          </a:ln>
        </p:spPr>
        <p:txBody>
          <a:bodyPr spcFirstLastPara="1" wrap="square" lIns="91425" tIns="45700" rIns="91425" bIns="45700" anchor="t" anchorCtr="0">
            <a:noAutofit/>
          </a:bodyPr>
          <a:lstStyle/>
          <a:p>
            <a:pPr marL="114300" indent="0">
              <a:buNone/>
            </a:pPr>
            <a:r>
              <a:rPr lang="en-US" sz="1800" dirty="0">
                <a:solidFill>
                  <a:srgbClr val="000000"/>
                </a:solidFill>
                <a:latin typeface="+mj-lt"/>
                <a:ea typeface="Arial"/>
                <a:cs typeface="Arial"/>
                <a:sym typeface="Arial"/>
              </a:rPr>
              <a:t>Additional resource: </a:t>
            </a:r>
            <a:r>
              <a:rPr lang="en-US" sz="1800" dirty="0">
                <a:solidFill>
                  <a:srgbClr val="000000"/>
                </a:solidFill>
                <a:latin typeface="+mj-lt"/>
                <a:ea typeface="Arial"/>
                <a:cs typeface="Arial"/>
                <a:sym typeface="Arial"/>
                <a:hlinkClick r:id="rId4"/>
              </a:rPr>
              <a:t>https://www.youtube.com/watch?v=lKTsv6iVxV4</a:t>
            </a:r>
            <a:r>
              <a:rPr lang="en-US" sz="1800" dirty="0">
                <a:solidFill>
                  <a:srgbClr val="000000"/>
                </a:solidFill>
                <a:latin typeface="+mj-lt"/>
                <a:ea typeface="Arial"/>
                <a:cs typeface="Arial"/>
                <a:sym typeface="Arial"/>
              </a:rPr>
              <a:t> </a:t>
            </a:r>
          </a:p>
        </p:txBody>
      </p:sp>
      <p:sp>
        <p:nvSpPr>
          <p:cNvPr id="119" name="Google Shape;119;p29">
            <a:extLst>
              <a:ext uri="{FF2B5EF4-FFF2-40B4-BE49-F238E27FC236}">
                <a16:creationId xmlns:a16="http://schemas.microsoft.com/office/drawing/2014/main" id="{75C53545-6CC3-88FA-4E80-BE7836DB568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E3AA4A8-7A56-3FC7-DC43-11003068627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2’s Complement</a:t>
            </a:r>
            <a:endParaRPr lang="en-US"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E6EA696-EF53-ACCB-1EDA-26487407B46B}"/>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D85C805-79B3-B8FF-B9F6-1AFFF6A79F1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D7B2392-832B-BC38-0A90-D2E904C58A9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95AE4E7-F95F-E29B-C37C-A9F727F6DEB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1A5329-EB01-8614-4DA0-7C2290BB1E1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8F548EF-A476-B54F-638A-C363926AB03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2" name="Online Media 1" title="Two's Complement">
            <a:hlinkClick r:id="" action="ppaction://media"/>
            <a:extLst>
              <a:ext uri="{FF2B5EF4-FFF2-40B4-BE49-F238E27FC236}">
                <a16:creationId xmlns:a16="http://schemas.microsoft.com/office/drawing/2014/main" id="{A31E2EA5-3D6A-F4A7-8330-B2AEB75284BE}"/>
              </a:ext>
            </a:extLst>
          </p:cNvPr>
          <p:cNvPicPr>
            <a:picLocks noRot="1" noChangeAspect="1"/>
          </p:cNvPicPr>
          <p:nvPr>
            <a:videoFile r:link="rId1"/>
          </p:nvPr>
        </p:nvPicPr>
        <p:blipFill>
          <a:blip r:embed="rId6"/>
          <a:stretch>
            <a:fillRect/>
          </a:stretch>
        </p:blipFill>
        <p:spPr>
          <a:xfrm>
            <a:off x="1673225" y="983446"/>
            <a:ext cx="8845550" cy="4997748"/>
          </a:xfrm>
          <a:prstGeom prst="rect">
            <a:avLst/>
          </a:prstGeom>
        </p:spPr>
      </p:pic>
    </p:spTree>
    <p:extLst>
      <p:ext uri="{BB962C8B-B14F-4D97-AF65-F5344CB8AC3E}">
        <p14:creationId xmlns:p14="http://schemas.microsoft.com/office/powerpoint/2010/main" val="130559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9A138B3A-4418-9CA0-AC97-08A916818E54}"/>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61A12E8A-57AF-8F05-746C-4FCFD2E29EAB}"/>
              </a:ext>
            </a:extLst>
          </p:cNvPr>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String</a:t>
            </a:r>
            <a:endParaRPr sz="1800" b="0" i="0" u="none" strike="noStrike" cap="none" dirty="0">
              <a:solidFill>
                <a:srgbClr val="15264B"/>
              </a:solidFill>
              <a:latin typeface="Arial"/>
              <a:ea typeface="Arial"/>
              <a:cs typeface="Arial"/>
              <a:sym typeface="Arial"/>
            </a:endParaRPr>
          </a:p>
        </p:txBody>
      </p:sp>
      <p:grpSp>
        <p:nvGrpSpPr>
          <p:cNvPr id="105" name="Google Shape;105;p28">
            <a:extLst>
              <a:ext uri="{FF2B5EF4-FFF2-40B4-BE49-F238E27FC236}">
                <a16:creationId xmlns:a16="http://schemas.microsoft.com/office/drawing/2014/main" id="{A1F11244-6D5E-10F6-37A8-94964F96E0A5}"/>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44A730B8-9546-01DD-5CA6-DBAB9AD93980}"/>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F7C9731A-487C-DF46-E097-14D4305CFE52}"/>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BFE11B11-926E-9FA0-1875-BDC105293684}"/>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9EF74796-E46B-54D3-2524-08443B17213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19E2E8EC-226F-5841-83CD-A0F3A84A4EF7}"/>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460E98CF-19BC-D839-69DA-8A90A454733C}"/>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99E437AD-3175-9C44-A1C0-D52B627B3AD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EC21F35E-B2D4-32D5-50F1-5CA13A51BA2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4184397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D70F2E5-8D10-3C32-4359-0572789D10F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4068674-B3D4-DD4F-F785-521027B0573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dirty="0">
                <a:solidFill>
                  <a:srgbClr val="000000"/>
                </a:solidFill>
                <a:latin typeface="+mj-lt"/>
                <a:ea typeface="Arial"/>
                <a:cs typeface="Arial"/>
                <a:sym typeface="Arial"/>
              </a:rPr>
              <a:t>Remember that everything in the CPU is binary. So how do we define what a `a`, `b`, `&lt;` represents as a character?</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The </a:t>
            </a:r>
            <a:r>
              <a:rPr lang="en-US" sz="1800" dirty="0">
                <a:solidFill>
                  <a:srgbClr val="000000"/>
                </a:solidFill>
                <a:latin typeface="+mj-lt"/>
                <a:ea typeface="Arial"/>
                <a:cs typeface="Arial"/>
                <a:sym typeface="Arial"/>
                <a:hlinkClick r:id="rId3"/>
              </a:rPr>
              <a:t>ASCII character set</a:t>
            </a:r>
            <a:r>
              <a:rPr lang="en-US" sz="1800" dirty="0">
                <a:solidFill>
                  <a:srgbClr val="000000"/>
                </a:solidFill>
                <a:latin typeface="+mj-lt"/>
                <a:ea typeface="Arial"/>
                <a:cs typeface="Arial"/>
                <a:sym typeface="Arial"/>
              </a:rPr>
              <a:t>! It is a 7-bit mapping, 0-127, with a 8-bit character extended edition (not the same as UNICODE).</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In C a character is a single letter and represented as `x`, you CANNOT use “x” for a character in C, in Python there is no such thing as a char, just strings!</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Strings “</a:t>
            </a:r>
            <a:r>
              <a:rPr lang="en-US" sz="1800" dirty="0" err="1">
                <a:solidFill>
                  <a:srgbClr val="000000"/>
                </a:solidFill>
                <a:latin typeface="+mj-lt"/>
                <a:ea typeface="Arial"/>
                <a:cs typeface="Arial"/>
                <a:sym typeface="Arial"/>
              </a:rPr>
              <a:t>abcd</a:t>
            </a:r>
            <a:r>
              <a:rPr lang="en-US" sz="1800" dirty="0">
                <a:solidFill>
                  <a:srgbClr val="000000"/>
                </a:solidFill>
                <a:latin typeface="+mj-lt"/>
                <a:ea typeface="Arial"/>
                <a:cs typeface="Arial"/>
                <a:sym typeface="Arial"/>
              </a:rPr>
              <a:t>” in C represent an array of characters char*. The most important character is 0x00 (NULL), which represents a sentence stopper.</a:t>
            </a:r>
          </a:p>
          <a:p>
            <a:pPr marL="114300" indent="0" algn="l">
              <a:buNone/>
            </a:pPr>
            <a:r>
              <a:rPr lang="en-US" sz="1800" dirty="0">
                <a:solidFill>
                  <a:srgbClr val="000000"/>
                </a:solidFill>
                <a:latin typeface="+mj-lt"/>
                <a:ea typeface="Arial"/>
                <a:cs typeface="Arial"/>
                <a:sym typeface="Arial"/>
              </a:rPr>
              <a:t>In C, a string is a contiguous (where the points are sequentially next to each other) block of memory containing ASCII character, terminated with NULL. Without it the CPU would read forever until a </a:t>
            </a:r>
            <a:r>
              <a:rPr lang="en-US" sz="1800" dirty="0" err="1">
                <a:solidFill>
                  <a:srgbClr val="000000"/>
                </a:solidFill>
                <a:latin typeface="+mj-lt"/>
                <a:ea typeface="Arial"/>
                <a:cs typeface="Arial"/>
                <a:sym typeface="Arial"/>
              </a:rPr>
              <a:t>segfaul</a:t>
            </a:r>
            <a:r>
              <a:rPr lang="en-US" sz="1800" dirty="0">
                <a:solidFill>
                  <a:srgbClr val="000000"/>
                </a:solidFill>
                <a:latin typeface="+mj-lt"/>
                <a:ea typeface="Arial"/>
                <a:cs typeface="Arial"/>
                <a:sym typeface="Arial"/>
              </a:rPr>
              <a:t> occurs (reading restricted memory)!</a:t>
            </a:r>
          </a:p>
        </p:txBody>
      </p:sp>
      <p:sp>
        <p:nvSpPr>
          <p:cNvPr id="119" name="Google Shape;119;p29">
            <a:extLst>
              <a:ext uri="{FF2B5EF4-FFF2-40B4-BE49-F238E27FC236}">
                <a16:creationId xmlns:a16="http://schemas.microsoft.com/office/drawing/2014/main" id="{E8182E67-5F5B-42B5-4EEF-74FDC0BE333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49E7C6C-CECC-9339-CAF2-5AFFD25B43A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ASCII</a:t>
            </a:r>
            <a:endParaRPr lang="en-US"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A1AA2BC-4CE2-A6EA-D34F-1216BE76B48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F32DE54-428B-296C-A4FB-7B7A5298AE7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DAB96FD-0EBF-AC73-7837-9E761F428BF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C64CB15-95D4-CB30-8C02-223C6A977C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9667D9C-8B23-D937-A10D-A0A26E0F578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27E6D07-92AE-F47F-3664-08E7430444C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958132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23FFC7-CA39-5A62-A2AD-090BCB03343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02666BF-2391-C8EA-DA12-B36E0459665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BFF9EBA-4840-AB3D-E96B-01253939762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ASCII</a:t>
            </a:r>
            <a:endParaRPr lang="en-US"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93BCD8F-F5A9-DE84-A8A9-AFF5D85B26C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3FA63ED-15A9-1CBA-7618-0D646D007BF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EA6A522-5ACE-9C2C-5C46-A82611B46F2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6AEEB56-12C3-DA5E-FE7F-CF8EFE746D8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B5E445C-6764-3C66-ED4A-B25B8B91EDB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7AAA223-0345-243D-EA0B-F20DFECD22A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96499553-C037-25AF-B583-E191377BF6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67036" y="916114"/>
            <a:ext cx="8257927" cy="5492701"/>
          </a:xfrm>
          <a:prstGeom prst="rect">
            <a:avLst/>
          </a:prstGeom>
        </p:spPr>
      </p:pic>
    </p:spTree>
    <p:extLst>
      <p:ext uri="{BB962C8B-B14F-4D97-AF65-F5344CB8AC3E}">
        <p14:creationId xmlns:p14="http://schemas.microsoft.com/office/powerpoint/2010/main" val="1435051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6FD07299-559B-A5AB-7DF9-9D63B6AB97B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DCE0D92C-BF8A-7501-2AB2-603A9401B09B}"/>
              </a:ext>
            </a:extLst>
          </p:cNvPr>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RS-232 Serial Port</a:t>
            </a:r>
            <a:endParaRPr sz="1800" b="0" i="0" u="none" strike="noStrike" cap="none" dirty="0">
              <a:solidFill>
                <a:srgbClr val="15264B"/>
              </a:solidFill>
              <a:latin typeface="Arial"/>
              <a:ea typeface="Arial"/>
              <a:cs typeface="Arial"/>
              <a:sym typeface="Arial"/>
            </a:endParaRPr>
          </a:p>
        </p:txBody>
      </p:sp>
      <p:grpSp>
        <p:nvGrpSpPr>
          <p:cNvPr id="105" name="Google Shape;105;p28">
            <a:extLst>
              <a:ext uri="{FF2B5EF4-FFF2-40B4-BE49-F238E27FC236}">
                <a16:creationId xmlns:a16="http://schemas.microsoft.com/office/drawing/2014/main" id="{39A197A7-8A87-AA44-1943-1CCADBC5BB36}"/>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D01D9C55-9EF6-4F9D-F5FC-E998D86D916F}"/>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8B90B4AB-DF98-6CFF-ACDC-6E9373C0339A}"/>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40F1E137-F80F-92C4-B987-0E35742E301E}"/>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10F16DAA-08B2-E327-D494-0098E7ABCA0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C3451E02-CF1C-E345-2B0E-C9A8E5F7EF8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B6874819-859C-C5FD-3075-B738B5E4DF72}"/>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C69B4B3B-8024-A7B9-BD00-D0DC3FA450C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AC240073-9B31-65EF-0C32-B5FFDB6F98C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190561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BED6899-427F-78A3-1331-977F5334EDF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D02D86E-B61A-1D5B-F4F7-02DBC5E0314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endParaRPr lang="en-US" sz="1800" dirty="0">
              <a:solidFill>
                <a:srgbClr val="000000"/>
              </a:solidFill>
              <a:latin typeface="+mj-lt"/>
              <a:ea typeface="Arial"/>
              <a:cs typeface="Arial"/>
              <a:sym typeface="Arial"/>
            </a:endParaRPr>
          </a:p>
        </p:txBody>
      </p:sp>
      <p:sp>
        <p:nvSpPr>
          <p:cNvPr id="119" name="Google Shape;119;p29">
            <a:extLst>
              <a:ext uri="{FF2B5EF4-FFF2-40B4-BE49-F238E27FC236}">
                <a16:creationId xmlns:a16="http://schemas.microsoft.com/office/drawing/2014/main" id="{5DDF8E1B-2303-D5F4-7BB6-3FF62B853EF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4278C2E-9A79-F4E3-BB85-49112304ABD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Debugging</a:t>
            </a:r>
          </a:p>
        </p:txBody>
      </p:sp>
      <p:pic>
        <p:nvPicPr>
          <p:cNvPr id="121" name="Google Shape;121;p29">
            <a:extLst>
              <a:ext uri="{FF2B5EF4-FFF2-40B4-BE49-F238E27FC236}">
                <a16:creationId xmlns:a16="http://schemas.microsoft.com/office/drawing/2014/main" id="{2484E4D9-3D6F-6AE2-324F-2EC04DE4783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2632155-CACE-974A-7973-B2601A0AA8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430420E-9085-0183-49EA-17BB7FD6EDA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C5861F-0F5A-7828-5F99-01BAA712F3C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A13ED68-497B-7D24-CFE2-A57822ABAF1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97274A1-A28F-1AA1-8BC6-687B5A283E3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356902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51C663AF-3AAF-0A41-C71A-0E4F2D69C622}"/>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3DE3B0C5-7A0F-2D25-043A-FC4CC1B2710F}"/>
              </a:ext>
            </a:extLst>
          </p:cNvPr>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CPU Interrupts</a:t>
            </a:r>
            <a:endParaRPr sz="1800" b="0" i="0" u="none" strike="noStrike" cap="none" dirty="0">
              <a:solidFill>
                <a:srgbClr val="15264B"/>
              </a:solidFill>
              <a:latin typeface="Arial"/>
              <a:ea typeface="Arial"/>
              <a:cs typeface="Arial"/>
              <a:sym typeface="Arial"/>
            </a:endParaRPr>
          </a:p>
        </p:txBody>
      </p:sp>
      <p:grpSp>
        <p:nvGrpSpPr>
          <p:cNvPr id="105" name="Google Shape;105;p28">
            <a:extLst>
              <a:ext uri="{FF2B5EF4-FFF2-40B4-BE49-F238E27FC236}">
                <a16:creationId xmlns:a16="http://schemas.microsoft.com/office/drawing/2014/main" id="{89F00136-A6A8-8F83-5010-C8514C10583F}"/>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0D800FD2-4CB3-2D15-F80A-1CE445B8D1C5}"/>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E41F0AED-C248-48FB-A2A5-3389CFC5FC05}"/>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10125F82-C1EA-FFE6-39CC-ADF77344AB6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60C08DA3-97BD-646F-5C95-79CF4427978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DF5076AF-585B-FD47-BB71-FDA7F18F294C}"/>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900032FC-9D5E-4962-5F8E-3459C8BAB113}"/>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40505DE5-7461-8003-586A-3BD0706E18B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98F70C2D-8597-236E-F5F6-5B9F29271B5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791857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A681C029-6F50-1794-97AA-EC9F425F5CAE}"/>
            </a:ext>
          </a:extLst>
        </p:cNvPr>
        <p:cNvGrpSpPr/>
        <p:nvPr/>
      </p:nvGrpSpPr>
      <p:grpSpPr>
        <a:xfrm>
          <a:off x="0" y="0"/>
          <a:ext cx="0" cy="0"/>
          <a:chOff x="0" y="0"/>
          <a:chExt cx="0" cy="0"/>
        </a:xfrm>
      </p:grpSpPr>
      <p:sp>
        <p:nvSpPr>
          <p:cNvPr id="212" name="Google Shape;212;p8">
            <a:extLst>
              <a:ext uri="{FF2B5EF4-FFF2-40B4-BE49-F238E27FC236}">
                <a16:creationId xmlns:a16="http://schemas.microsoft.com/office/drawing/2014/main" id="{E3CED0E4-0F38-E25F-6CA8-EE310372CD9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13" name="Google Shape;213;p8">
            <a:extLst>
              <a:ext uri="{FF2B5EF4-FFF2-40B4-BE49-F238E27FC236}">
                <a16:creationId xmlns:a16="http://schemas.microsoft.com/office/drawing/2014/main" id="{AF546C7C-2CD1-8415-A28D-B4E898793D1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CPU Interrupts ( Modern computers )</a:t>
            </a:r>
            <a:endParaRPr sz="2400" b="0" i="0" u="none" strike="noStrike" cap="none" dirty="0">
              <a:solidFill>
                <a:schemeClr val="lt1"/>
              </a:solidFill>
              <a:latin typeface="Arial"/>
              <a:ea typeface="Arial"/>
              <a:cs typeface="Arial"/>
              <a:sym typeface="Arial"/>
            </a:endParaRPr>
          </a:p>
        </p:txBody>
      </p:sp>
      <p:pic>
        <p:nvPicPr>
          <p:cNvPr id="214" name="Google Shape;214;p8">
            <a:extLst>
              <a:ext uri="{FF2B5EF4-FFF2-40B4-BE49-F238E27FC236}">
                <a16:creationId xmlns:a16="http://schemas.microsoft.com/office/drawing/2014/main" id="{2A553B05-71CC-4D13-52F9-D66660A5279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15" name="Google Shape;215;p8">
            <a:extLst>
              <a:ext uri="{FF2B5EF4-FFF2-40B4-BE49-F238E27FC236}">
                <a16:creationId xmlns:a16="http://schemas.microsoft.com/office/drawing/2014/main" id="{7C6EFF55-193B-57C5-B5DC-6916B44D7DE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16" name="Google Shape;216;p8">
            <a:extLst>
              <a:ext uri="{FF2B5EF4-FFF2-40B4-BE49-F238E27FC236}">
                <a16:creationId xmlns:a16="http://schemas.microsoft.com/office/drawing/2014/main" id="{7AB12AC4-5C55-A2D7-0F08-DF1D27930C4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17" name="Google Shape;217;p8">
            <a:extLst>
              <a:ext uri="{FF2B5EF4-FFF2-40B4-BE49-F238E27FC236}">
                <a16:creationId xmlns:a16="http://schemas.microsoft.com/office/drawing/2014/main" id="{763D10EE-C0BE-4572-ACB7-A782185F6291}"/>
              </a:ext>
            </a:extLst>
          </p:cNvPr>
          <p:cNvGrpSpPr/>
          <p:nvPr/>
        </p:nvGrpSpPr>
        <p:grpSpPr>
          <a:xfrm>
            <a:off x="4066674" y="6601537"/>
            <a:ext cx="5233412" cy="70446"/>
            <a:chOff x="4033424" y="6601537"/>
            <a:chExt cx="5233412" cy="70446"/>
          </a:xfrm>
        </p:grpSpPr>
        <p:cxnSp>
          <p:nvCxnSpPr>
            <p:cNvPr id="218" name="Google Shape;218;p8">
              <a:extLst>
                <a:ext uri="{FF2B5EF4-FFF2-40B4-BE49-F238E27FC236}">
                  <a16:creationId xmlns:a16="http://schemas.microsoft.com/office/drawing/2014/main" id="{1432F826-CF47-10C2-875B-609CB424B7D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19" name="Google Shape;219;p8">
              <a:extLst>
                <a:ext uri="{FF2B5EF4-FFF2-40B4-BE49-F238E27FC236}">
                  <a16:creationId xmlns:a16="http://schemas.microsoft.com/office/drawing/2014/main" id="{CAB19178-AD87-C4AB-B822-988463F5EBF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2" name="Online Media 1" title="How Interrupts Work in Modern Computers">
            <a:hlinkClick r:id="" action="ppaction://media"/>
            <a:extLst>
              <a:ext uri="{FF2B5EF4-FFF2-40B4-BE49-F238E27FC236}">
                <a16:creationId xmlns:a16="http://schemas.microsoft.com/office/drawing/2014/main" id="{8BAFC627-A381-2F4E-5916-F6809F21170A}"/>
              </a:ext>
            </a:extLst>
          </p:cNvPr>
          <p:cNvPicPr>
            <a:picLocks noRot="1" noChangeAspect="1"/>
          </p:cNvPicPr>
          <p:nvPr>
            <a:videoFile r:link="rId1"/>
          </p:nvPr>
        </p:nvPicPr>
        <p:blipFill>
          <a:blip r:embed="rId5"/>
          <a:stretch>
            <a:fillRect/>
          </a:stretch>
        </p:blipFill>
        <p:spPr>
          <a:xfrm>
            <a:off x="1371776" y="983445"/>
            <a:ext cx="9448447" cy="5338385"/>
          </a:xfrm>
          <a:prstGeom prst="rect">
            <a:avLst/>
          </a:prstGeom>
        </p:spPr>
      </p:pic>
    </p:spTree>
    <p:extLst>
      <p:ext uri="{BB962C8B-B14F-4D97-AF65-F5344CB8AC3E}">
        <p14:creationId xmlns:p14="http://schemas.microsoft.com/office/powerpoint/2010/main" val="92064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DB91D7D-A22B-2E01-EF3E-8AAADBCA2A6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9513E68-F5B4-D4AA-7617-A64412922F3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5A271FF-5C0A-6931-09C6-6E892192E4C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Hardware Interrupts (Timer)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CD01B28-2810-7D4B-EF46-09359AE8F9E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06E48CF-02C4-3786-C624-CAEB9610B6E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3C91540-A329-CFE6-AD20-0CCFBB5C952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15780B7-AD26-AD57-99CF-8F2AE6F14DB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E6F5EFE-425A-57F5-B80B-2ED738F3EF2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1BDFBF8-D2A1-B826-2D56-4A845EFF475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5" name="Graphic 4">
            <a:extLst>
              <a:ext uri="{FF2B5EF4-FFF2-40B4-BE49-F238E27FC236}">
                <a16:creationId xmlns:a16="http://schemas.microsoft.com/office/drawing/2014/main" id="{0073D16F-1F5B-03A8-350C-E201DDF86EF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4936" y="1403473"/>
            <a:ext cx="10931900" cy="4508500"/>
          </a:xfrm>
          <a:prstGeom prst="rect">
            <a:avLst/>
          </a:prstGeom>
        </p:spPr>
      </p:pic>
      <p:cxnSp>
        <p:nvCxnSpPr>
          <p:cNvPr id="7" name="Straight Arrow Connector 6">
            <a:extLst>
              <a:ext uri="{FF2B5EF4-FFF2-40B4-BE49-F238E27FC236}">
                <a16:creationId xmlns:a16="http://schemas.microsoft.com/office/drawing/2014/main" id="{65E7B09A-B3ED-A424-09DB-27F506A3B4A7}"/>
              </a:ext>
            </a:extLst>
          </p:cNvPr>
          <p:cNvCxnSpPr>
            <a:cxnSpLocks/>
            <a:stCxn id="12" idx="2"/>
          </p:cNvCxnSpPr>
          <p:nvPr/>
        </p:nvCxnSpPr>
        <p:spPr>
          <a:xfrm>
            <a:off x="3137618" y="1488344"/>
            <a:ext cx="451402" cy="10111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E0B4787-1659-1F7B-FFBB-C958229C8F0D}"/>
              </a:ext>
            </a:extLst>
          </p:cNvPr>
          <p:cNvCxnSpPr>
            <a:cxnSpLocks/>
            <a:stCxn id="12" idx="2"/>
          </p:cNvCxnSpPr>
          <p:nvPr/>
        </p:nvCxnSpPr>
        <p:spPr>
          <a:xfrm>
            <a:off x="3137618" y="1488344"/>
            <a:ext cx="2455462" cy="108826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60C3DC5-06BB-8795-9BF9-E418AF8CB8E4}"/>
              </a:ext>
            </a:extLst>
          </p:cNvPr>
          <p:cNvSpPr txBox="1"/>
          <p:nvPr/>
        </p:nvSpPr>
        <p:spPr>
          <a:xfrm>
            <a:off x="2872160" y="1119012"/>
            <a:ext cx="530915" cy="369332"/>
          </a:xfrm>
          <a:prstGeom prst="rect">
            <a:avLst/>
          </a:prstGeom>
          <a:noFill/>
        </p:spPr>
        <p:txBody>
          <a:bodyPr wrap="none" rtlCol="0">
            <a:spAutoFit/>
          </a:bodyPr>
          <a:lstStyle/>
          <a:p>
            <a:r>
              <a:rPr lang="en-US" sz="1800" dirty="0"/>
              <a:t>OR</a:t>
            </a:r>
          </a:p>
        </p:txBody>
      </p:sp>
      <p:sp>
        <p:nvSpPr>
          <p:cNvPr id="13" name="TextBox 12">
            <a:extLst>
              <a:ext uri="{FF2B5EF4-FFF2-40B4-BE49-F238E27FC236}">
                <a16:creationId xmlns:a16="http://schemas.microsoft.com/office/drawing/2014/main" id="{0F34C39A-A5B3-4719-51D3-59EFDDFBA8E1}"/>
              </a:ext>
            </a:extLst>
          </p:cNvPr>
          <p:cNvSpPr txBox="1"/>
          <p:nvPr/>
        </p:nvSpPr>
        <p:spPr>
          <a:xfrm>
            <a:off x="3067085" y="3189019"/>
            <a:ext cx="671979" cy="369332"/>
          </a:xfrm>
          <a:prstGeom prst="rect">
            <a:avLst/>
          </a:prstGeom>
          <a:noFill/>
        </p:spPr>
        <p:txBody>
          <a:bodyPr wrap="none" rtlCol="0">
            <a:spAutoFit/>
          </a:bodyPr>
          <a:lstStyle/>
          <a:p>
            <a:r>
              <a:rPr lang="en-US" sz="1800" dirty="0"/>
              <a:t>AND</a:t>
            </a:r>
          </a:p>
        </p:txBody>
      </p:sp>
      <p:cxnSp>
        <p:nvCxnSpPr>
          <p:cNvPr id="14" name="Straight Arrow Connector 13">
            <a:extLst>
              <a:ext uri="{FF2B5EF4-FFF2-40B4-BE49-F238E27FC236}">
                <a16:creationId xmlns:a16="http://schemas.microsoft.com/office/drawing/2014/main" id="{4FC930C6-79A9-D8F5-9AC7-95B3C5F621F1}"/>
              </a:ext>
            </a:extLst>
          </p:cNvPr>
          <p:cNvCxnSpPr>
            <a:cxnSpLocks/>
            <a:stCxn id="13" idx="2"/>
          </p:cNvCxnSpPr>
          <p:nvPr/>
        </p:nvCxnSpPr>
        <p:spPr>
          <a:xfrm>
            <a:off x="3403075" y="3558351"/>
            <a:ext cx="185945" cy="8993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6649C05-FA19-F219-E8EB-07FCACFEA66A}"/>
              </a:ext>
            </a:extLst>
          </p:cNvPr>
          <p:cNvSpPr txBox="1"/>
          <p:nvPr/>
        </p:nvSpPr>
        <p:spPr>
          <a:xfrm>
            <a:off x="2200181" y="4979719"/>
            <a:ext cx="671979" cy="369332"/>
          </a:xfrm>
          <a:prstGeom prst="rect">
            <a:avLst/>
          </a:prstGeom>
          <a:noFill/>
        </p:spPr>
        <p:txBody>
          <a:bodyPr wrap="none" rtlCol="0">
            <a:spAutoFit/>
          </a:bodyPr>
          <a:lstStyle/>
          <a:p>
            <a:r>
              <a:rPr lang="en-US" sz="1800" dirty="0"/>
              <a:t>NOT</a:t>
            </a:r>
          </a:p>
        </p:txBody>
      </p:sp>
      <p:cxnSp>
        <p:nvCxnSpPr>
          <p:cNvPr id="21" name="Straight Arrow Connector 20">
            <a:extLst>
              <a:ext uri="{FF2B5EF4-FFF2-40B4-BE49-F238E27FC236}">
                <a16:creationId xmlns:a16="http://schemas.microsoft.com/office/drawing/2014/main" id="{7A251EBD-D8EE-BBA8-0EA8-8B98F08FE1BD}"/>
              </a:ext>
            </a:extLst>
          </p:cNvPr>
          <p:cNvCxnSpPr>
            <a:cxnSpLocks/>
            <a:stCxn id="20" idx="0"/>
          </p:cNvCxnSpPr>
          <p:nvPr/>
        </p:nvCxnSpPr>
        <p:spPr>
          <a:xfrm flipV="1">
            <a:off x="2536171" y="4579094"/>
            <a:ext cx="466109" cy="4006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761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953FF48-2567-36DF-0E08-872F3456FEE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5A3964E-F300-5874-C505-98DA49C7D1E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7C289BE-F442-1AFA-5A9F-F46ACDF9B8B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buSzPts val="2400"/>
            </a:pPr>
            <a:r>
              <a:rPr lang="en-US" sz="2400" dirty="0">
                <a:solidFill>
                  <a:schemeClr val="lt1"/>
                </a:solidFill>
              </a:rPr>
              <a:t>Hardware Interrupts (Timer)</a:t>
            </a:r>
          </a:p>
        </p:txBody>
      </p:sp>
      <p:pic>
        <p:nvPicPr>
          <p:cNvPr id="121" name="Google Shape;121;p29">
            <a:extLst>
              <a:ext uri="{FF2B5EF4-FFF2-40B4-BE49-F238E27FC236}">
                <a16:creationId xmlns:a16="http://schemas.microsoft.com/office/drawing/2014/main" id="{1F492385-0078-432E-BA25-52EF8191B28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C66DA96-0358-524C-453E-587CB945BB3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5A910AD-7E91-D4AA-5C35-5E6FF9168A0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30E51EB-A661-4A04-7D7C-2CF15D53CFA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EF036B1-9043-9AA4-FF3E-C616B36FA3A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57288E5-6EC6-70D1-18E6-CC3127D03C5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6" name="Graphic 5">
            <a:extLst>
              <a:ext uri="{FF2B5EF4-FFF2-40B4-BE49-F238E27FC236}">
                <a16:creationId xmlns:a16="http://schemas.microsoft.com/office/drawing/2014/main" id="{2BCB83CC-7AC6-B0A5-00FA-C78A00ADEF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540" y="1039363"/>
            <a:ext cx="10408920" cy="5282472"/>
          </a:xfrm>
          <a:prstGeom prst="rect">
            <a:avLst/>
          </a:prstGeom>
        </p:spPr>
      </p:pic>
    </p:spTree>
    <p:extLst>
      <p:ext uri="{BB962C8B-B14F-4D97-AF65-F5344CB8AC3E}">
        <p14:creationId xmlns:p14="http://schemas.microsoft.com/office/powerpoint/2010/main" val="2067667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B89B3A6-6795-B39D-C724-64E722D33F0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DE8C91B-EA8D-7DB8-8B8C-BEEBE28B8CC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600" dirty="0">
                <a:solidFill>
                  <a:srgbClr val="000000"/>
                </a:solidFill>
                <a:latin typeface="Consolas" panose="020B0609020204030204" pitchFamily="49" charset="0"/>
              </a:rPr>
              <a:t>EALLOW;</a:t>
            </a:r>
          </a:p>
          <a:p>
            <a:pPr marL="114300" indent="0" algn="l">
              <a:buNone/>
            </a:pPr>
            <a:r>
              <a:rPr lang="en-US" sz="1600" dirty="0">
                <a:solidFill>
                  <a:srgbClr val="000000"/>
                </a:solidFill>
                <a:latin typeface="Consolas" panose="020B0609020204030204" pitchFamily="49" charset="0"/>
              </a:rPr>
              <a:t>PieVectTable.</a:t>
            </a:r>
            <a:r>
              <a:rPr lang="en-US" sz="1600" dirty="0">
                <a:solidFill>
                  <a:srgbClr val="0000C0"/>
                </a:solidFill>
                <a:latin typeface="Consolas" panose="020B0609020204030204" pitchFamily="49" charset="0"/>
              </a:rPr>
              <a:t>TIMER0_INT</a:t>
            </a:r>
            <a:r>
              <a:rPr lang="en-US" sz="1600" dirty="0">
                <a:solidFill>
                  <a:srgbClr val="000000"/>
                </a:solidFill>
                <a:latin typeface="Consolas" panose="020B0609020204030204" pitchFamily="49" charset="0"/>
              </a:rPr>
              <a:t> = &amp;cpu_timer0_isr;</a:t>
            </a:r>
          </a:p>
          <a:p>
            <a:pPr marL="114300" indent="0" algn="l">
              <a:buNone/>
            </a:pPr>
            <a:r>
              <a:rPr lang="en-US" sz="1600" dirty="0">
                <a:solidFill>
                  <a:srgbClr val="000000"/>
                </a:solidFill>
                <a:latin typeface="Consolas" panose="020B0609020204030204" pitchFamily="49" charset="0"/>
              </a:rPr>
              <a:t>PieVectTable.</a:t>
            </a:r>
            <a:r>
              <a:rPr lang="en-US" sz="1600" dirty="0">
                <a:solidFill>
                  <a:srgbClr val="0000C0"/>
                </a:solidFill>
                <a:latin typeface="Consolas" panose="020B0609020204030204" pitchFamily="49" charset="0"/>
              </a:rPr>
              <a:t>TIMER2_INT</a:t>
            </a:r>
            <a:r>
              <a:rPr lang="en-US" sz="1600" dirty="0">
                <a:solidFill>
                  <a:srgbClr val="000000"/>
                </a:solidFill>
                <a:latin typeface="Consolas" panose="020B0609020204030204" pitchFamily="49" charset="0"/>
              </a:rPr>
              <a:t> = &amp;cpu_timer2_isr;</a:t>
            </a:r>
          </a:p>
          <a:p>
            <a:pPr marL="114300" indent="0" algn="l">
              <a:buNone/>
            </a:pPr>
            <a:r>
              <a:rPr lang="en-US" sz="1600" dirty="0">
                <a:solidFill>
                  <a:srgbClr val="000000"/>
                </a:solidFill>
                <a:latin typeface="Consolas" panose="020B0609020204030204" pitchFamily="49" charset="0"/>
              </a:rPr>
              <a:t>PieVectTable.</a:t>
            </a:r>
            <a:r>
              <a:rPr lang="en-US" sz="1600" dirty="0">
                <a:solidFill>
                  <a:srgbClr val="0000C0"/>
                </a:solidFill>
                <a:latin typeface="Consolas" panose="020B0609020204030204" pitchFamily="49" charset="0"/>
              </a:rPr>
              <a:t>TIMER1_INT</a:t>
            </a:r>
            <a:r>
              <a:rPr lang="en-US" sz="1600" dirty="0">
                <a:solidFill>
                  <a:srgbClr val="000000"/>
                </a:solidFill>
                <a:latin typeface="Consolas" panose="020B0609020204030204" pitchFamily="49" charset="0"/>
              </a:rPr>
              <a:t> = &amp;cpu_timer1_isr;</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SCIA_RX_INT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RXAINT_recv_ready</a:t>
            </a:r>
            <a:r>
              <a:rPr lang="en-US" sz="1600" dirty="0">
                <a:solidFill>
                  <a:srgbClr val="000000"/>
                </a:solidFill>
                <a:latin typeface="Consolas" panose="020B0609020204030204" pitchFamily="49" charset="0"/>
              </a:rPr>
              <a:t>;</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SCIB_RX_INT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RXBINT_recv_ready</a:t>
            </a:r>
            <a:r>
              <a:rPr lang="en-US" sz="1600" dirty="0">
                <a:solidFill>
                  <a:srgbClr val="000000"/>
                </a:solidFill>
                <a:latin typeface="Consolas" panose="020B0609020204030204" pitchFamily="49" charset="0"/>
              </a:rPr>
              <a:t>;</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SCIC_RX_INT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RXCINT_recv_ready</a:t>
            </a:r>
            <a:r>
              <a:rPr lang="en-US" sz="1600" dirty="0">
                <a:solidFill>
                  <a:srgbClr val="000000"/>
                </a:solidFill>
                <a:latin typeface="Consolas" panose="020B0609020204030204" pitchFamily="49" charset="0"/>
              </a:rPr>
              <a:t>;</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SCID_RX_INT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RXDINT_recv_ready</a:t>
            </a:r>
            <a:r>
              <a:rPr lang="en-US" sz="1600" dirty="0">
                <a:solidFill>
                  <a:srgbClr val="000000"/>
                </a:solidFill>
                <a:latin typeface="Consolas" panose="020B0609020204030204" pitchFamily="49" charset="0"/>
              </a:rPr>
              <a:t>;</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SCIA_TX_INT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TXAINT_data_sent</a:t>
            </a:r>
            <a:r>
              <a:rPr lang="en-US" sz="1600" dirty="0">
                <a:solidFill>
                  <a:srgbClr val="000000"/>
                </a:solidFill>
                <a:latin typeface="Consolas" panose="020B0609020204030204" pitchFamily="49" charset="0"/>
              </a:rPr>
              <a:t>;</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SCIB_TX_INT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TXBINT_data_sent</a:t>
            </a:r>
            <a:r>
              <a:rPr lang="en-US" sz="1600" dirty="0">
                <a:solidFill>
                  <a:srgbClr val="000000"/>
                </a:solidFill>
                <a:latin typeface="Consolas" panose="020B0609020204030204" pitchFamily="49" charset="0"/>
              </a:rPr>
              <a:t>;</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SCIC_TX_INT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TXCINT_data_sent</a:t>
            </a:r>
            <a:r>
              <a:rPr lang="en-US" sz="1600" dirty="0">
                <a:solidFill>
                  <a:srgbClr val="000000"/>
                </a:solidFill>
                <a:latin typeface="Consolas" panose="020B0609020204030204" pitchFamily="49" charset="0"/>
              </a:rPr>
              <a:t>;</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SCID_TX_INT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TXDINT_data_sent</a:t>
            </a:r>
            <a:r>
              <a:rPr lang="en-US" sz="1600" dirty="0">
                <a:solidFill>
                  <a:srgbClr val="000000"/>
                </a:solidFill>
                <a:latin typeface="Consolas" panose="020B0609020204030204" pitchFamily="49" charset="0"/>
              </a:rPr>
              <a:t>;</a:t>
            </a:r>
          </a:p>
          <a:p>
            <a:pPr marL="114300" indent="0" algn="l">
              <a:buNone/>
            </a:pPr>
            <a:r>
              <a:rPr lang="en-US" sz="1600" dirty="0">
                <a:solidFill>
                  <a:srgbClr val="000000"/>
                </a:solidFill>
                <a:latin typeface="Consolas" panose="020B0609020204030204" pitchFamily="49" charset="0"/>
              </a:rPr>
              <a:t>EDIS;</a:t>
            </a:r>
            <a:endParaRPr sz="1100" b="1"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1C784733-3929-6FF7-87A7-ECE4DC189F7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FE63E52-2675-8D4C-781C-97DC1B2E5B9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Hardware Interrupts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D6AB79A-DC9B-79CD-D40E-69D429F4ED2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9832BC7-CF79-F9FB-329B-B189CA11A8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B881EE-FC74-DFD0-E661-90954C2AD01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D0D1522-8B28-979C-43FD-A1AB89C107D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340A769-5B1B-176A-21CD-BE9FB0F8603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63BD6C9-2515-6629-381D-155AE514C80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376823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F8D3C47-40C0-85A6-9B94-7D3CD76D027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39AA9C4-039E-3580-09FE-F556FAB2044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600" dirty="0">
                <a:solidFill>
                  <a:srgbClr val="000000"/>
                </a:solidFill>
                <a:latin typeface="Consolas" panose="020B0609020204030204" pitchFamily="49" charset="0"/>
              </a:rPr>
              <a:t>EALLOW;</a:t>
            </a:r>
          </a:p>
          <a:p>
            <a:pPr marL="114300" indent="0" algn="l">
              <a:buNone/>
            </a:pPr>
            <a:r>
              <a:rPr lang="en-US" sz="1600" dirty="0" err="1">
                <a:solidFill>
                  <a:srgbClr val="000000"/>
                </a:solidFill>
                <a:latin typeface="Consolas" panose="020B0609020204030204" pitchFamily="49" charset="0"/>
              </a:rPr>
              <a:t>PieVectTable.</a:t>
            </a:r>
            <a:r>
              <a:rPr lang="en-US" sz="1600" dirty="0" err="1">
                <a:solidFill>
                  <a:srgbClr val="0000C0"/>
                </a:solidFill>
                <a:latin typeface="Consolas" panose="020B0609020204030204" pitchFamily="49" charset="0"/>
              </a:rPr>
              <a:t>EMIF_ERROR_INT</a:t>
            </a:r>
            <a:r>
              <a:rPr lang="en-US" sz="1600" dirty="0">
                <a:solidFill>
                  <a:srgbClr val="000000"/>
                </a:solidFill>
                <a:latin typeface="Consolas" panose="020B0609020204030204" pitchFamily="49" charset="0"/>
              </a:rPr>
              <a:t> = &amp;</a:t>
            </a:r>
            <a:r>
              <a:rPr lang="en-US" sz="1600" dirty="0" err="1">
                <a:solidFill>
                  <a:srgbClr val="000000"/>
                </a:solidFill>
                <a:latin typeface="Consolas" panose="020B0609020204030204" pitchFamily="49" charset="0"/>
              </a:rPr>
              <a:t>SWI_isr</a:t>
            </a:r>
            <a:r>
              <a:rPr lang="en-US" sz="1600" dirty="0">
                <a:solidFill>
                  <a:srgbClr val="000000"/>
                </a:solidFill>
                <a:latin typeface="Consolas" panose="020B0609020204030204" pitchFamily="49" charset="0"/>
              </a:rPr>
              <a:t>;</a:t>
            </a:r>
          </a:p>
          <a:p>
            <a:pPr marL="114300" indent="0" algn="l">
              <a:buNone/>
            </a:pPr>
            <a:r>
              <a:rPr lang="en-US" sz="1600" dirty="0">
                <a:solidFill>
                  <a:srgbClr val="000000"/>
                </a:solidFill>
                <a:latin typeface="Consolas" panose="020B0609020204030204" pitchFamily="49" charset="0"/>
              </a:rPr>
              <a:t>EDIS;</a:t>
            </a:r>
          </a:p>
          <a:p>
            <a:pPr marL="114300" indent="0" algn="l">
              <a:buNone/>
            </a:pPr>
            <a:endParaRPr lang="en-US" sz="1600" b="1" dirty="0">
              <a:solidFill>
                <a:srgbClr val="000000"/>
              </a:solidFill>
              <a:latin typeface="Consolas" panose="020B0609020204030204" pitchFamily="49" charset="0"/>
              <a:ea typeface="Arial"/>
              <a:cs typeface="Arial"/>
              <a:sym typeface="Arial"/>
            </a:endParaRPr>
          </a:p>
        </p:txBody>
      </p:sp>
      <p:sp>
        <p:nvSpPr>
          <p:cNvPr id="119" name="Google Shape;119;p29">
            <a:extLst>
              <a:ext uri="{FF2B5EF4-FFF2-40B4-BE49-F238E27FC236}">
                <a16:creationId xmlns:a16="http://schemas.microsoft.com/office/drawing/2014/main" id="{292EE1BB-0736-B591-C72A-12609367191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FB6AE82-5683-91B1-2340-05513633CEE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Software Interrupts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E465D84-A9D7-B958-D203-597D43F2804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785B1CB-312D-9AAD-CF06-0AA99FB04BF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1D07EE4-3978-1129-95C4-219EF35C718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E235CFA-AFF5-7774-52EE-6026E17F77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9ABC924-4EC7-5FCF-CD27-BEB3743D849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7C4A103-81A9-389B-6193-FC6B282D361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937586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4CDBB05-9786-9928-EB77-04E8D72333B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3D5E23D-92F3-EED8-E8C7-DB7237DFC7C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dirty="0">
                <a:solidFill>
                  <a:srgbClr val="000000"/>
                </a:solidFill>
                <a:latin typeface="+mj-lt"/>
              </a:rPr>
              <a:t>All the interrupt options are available inside the PIE Vector Table inside </a:t>
            </a:r>
            <a:r>
              <a:rPr lang="en-US" sz="1800" dirty="0">
                <a:solidFill>
                  <a:srgbClr val="000000"/>
                </a:solidFill>
                <a:latin typeface="+mj-lt"/>
                <a:hlinkClick r:id="rId3"/>
              </a:rPr>
              <a:t>F2837xD_pievect.h</a:t>
            </a:r>
            <a:endParaRPr lang="en-US" sz="1800" dirty="0">
              <a:solidFill>
                <a:srgbClr val="000000"/>
              </a:solidFill>
              <a:latin typeface="+mj-lt"/>
            </a:endParaRPr>
          </a:p>
          <a:p>
            <a:pPr marL="114300" indent="0" algn="l">
              <a:buNone/>
            </a:pPr>
            <a:r>
              <a:rPr lang="en-US" sz="1800" dirty="0">
                <a:solidFill>
                  <a:srgbClr val="000000"/>
                </a:solidFill>
                <a:latin typeface="+mj-lt"/>
              </a:rPr>
              <a:t>Table 3-2 shows the PIE group and channel assignments for each peripheral interrupt. Each row is a group, and each column is a channel within that group. When multiple interrupts are pending, the lowest-numbered channel is the lowest-numbered group is serviced first. Thus, the interrupts at the top of the table have the highest priority, and the interrupts at the bottom have the lowest priority.</a:t>
            </a:r>
          </a:p>
          <a:p>
            <a:pPr marL="114300" indent="0" algn="l">
              <a:buNone/>
            </a:pPr>
            <a:endParaRPr lang="en-US" sz="1800" dirty="0">
              <a:solidFill>
                <a:srgbClr val="000000"/>
              </a:solidFill>
              <a:latin typeface="+mj-lt"/>
            </a:endParaRPr>
          </a:p>
          <a:p>
            <a:pPr marL="114300" indent="0" algn="l">
              <a:buNone/>
            </a:pPr>
            <a:endParaRPr lang="en-US" sz="1800" b="1" dirty="0">
              <a:solidFill>
                <a:srgbClr val="000000"/>
              </a:solidFill>
              <a:latin typeface="+mj-lt"/>
              <a:ea typeface="Arial"/>
              <a:cs typeface="Arial"/>
              <a:sym typeface="Arial"/>
            </a:endParaRPr>
          </a:p>
          <a:p>
            <a:pPr marL="114300" indent="0" algn="l">
              <a:buNone/>
            </a:pPr>
            <a:endParaRPr lang="en-US" sz="1800" b="1" dirty="0">
              <a:solidFill>
                <a:srgbClr val="000000"/>
              </a:solidFill>
              <a:latin typeface="+mj-lt"/>
              <a:ea typeface="Arial"/>
              <a:cs typeface="Arial"/>
              <a:sym typeface="Arial"/>
            </a:endParaRPr>
          </a:p>
        </p:txBody>
      </p:sp>
      <p:sp>
        <p:nvSpPr>
          <p:cNvPr id="119" name="Google Shape;119;p29">
            <a:extLst>
              <a:ext uri="{FF2B5EF4-FFF2-40B4-BE49-F238E27FC236}">
                <a16:creationId xmlns:a16="http://schemas.microsoft.com/office/drawing/2014/main" id="{84AE822D-CBEF-518E-3B52-2CE480D18E3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0FBC4D0-1B5A-1761-43B8-88C3A403339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D53A18E-802E-943B-BA7B-10C637CB944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B813FD3-8B4E-4038-70C2-B2D419CC289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C5D14EA-2459-F445-B0E5-07F5F5C4C74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15E3BC6-6E43-E525-D41A-AC2CB4E6AC5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273D78C-6ACF-2894-7C9A-67D9435B1B8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03F8E99-24AE-4A29-711F-B1E994C2EA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02135911-0C67-578A-04CE-DE041BC2C82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4644" y="2878305"/>
            <a:ext cx="10162711" cy="3530506"/>
          </a:xfrm>
          <a:prstGeom prst="rect">
            <a:avLst/>
          </a:prstGeom>
        </p:spPr>
      </p:pic>
    </p:spTree>
    <p:extLst>
      <p:ext uri="{BB962C8B-B14F-4D97-AF65-F5344CB8AC3E}">
        <p14:creationId xmlns:p14="http://schemas.microsoft.com/office/powerpoint/2010/main" val="3403518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1833C6B-A8C1-EC0C-0B7F-16BDFAAB8D3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D488CB0-9EF8-9018-D5A8-48F69A940A1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600" dirty="0">
                <a:solidFill>
                  <a:srgbClr val="3F7F5F"/>
                </a:solidFill>
                <a:latin typeface="Consolas" panose="020B0609020204030204" pitchFamily="49" charset="0"/>
              </a:rPr>
              <a:t>// Enable CPU int1 which is connected to CPU-Timer 0, CPU int13</a:t>
            </a:r>
          </a:p>
          <a:p>
            <a:pPr marL="114300" indent="0" algn="l">
              <a:buNone/>
            </a:pPr>
            <a:r>
              <a:rPr lang="en-US" sz="1600" dirty="0">
                <a:solidFill>
                  <a:srgbClr val="3F7F5F"/>
                </a:solidFill>
                <a:latin typeface="Consolas" panose="020B0609020204030204" pitchFamily="49" charset="0"/>
              </a:rPr>
              <a:t>// which is connected to CPU-Timer 1, and CPU int 14, which is connected</a:t>
            </a:r>
          </a:p>
          <a:p>
            <a:pPr marL="114300" indent="0" algn="l">
              <a:buNone/>
            </a:pPr>
            <a:r>
              <a:rPr lang="en-US" sz="1600" dirty="0">
                <a:solidFill>
                  <a:srgbClr val="3F7F5F"/>
                </a:solidFill>
                <a:latin typeface="Consolas" panose="020B0609020204030204" pitchFamily="49" charset="0"/>
              </a:rPr>
              <a:t>// to CPU-Timer 2:  int 12 is for the SWI.  </a:t>
            </a:r>
          </a:p>
          <a:p>
            <a:pPr marL="114300" indent="0" algn="l">
              <a:buNone/>
            </a:pPr>
            <a:r>
              <a:rPr lang="en-US" sz="1600" dirty="0">
                <a:solidFill>
                  <a:srgbClr val="000000"/>
                </a:solidFill>
                <a:latin typeface="Consolas" panose="020B0609020204030204" pitchFamily="49" charset="0"/>
              </a:rPr>
              <a:t>IER |= M_INT1;</a:t>
            </a:r>
          </a:p>
          <a:p>
            <a:pPr marL="114300" indent="0" algn="l">
              <a:buNone/>
            </a:pPr>
            <a:r>
              <a:rPr lang="en-US" sz="1600" dirty="0">
                <a:solidFill>
                  <a:srgbClr val="000000"/>
                </a:solidFill>
                <a:latin typeface="Consolas" panose="020B0609020204030204" pitchFamily="49" charset="0"/>
              </a:rPr>
              <a:t>IER |= M_INT8;  </a:t>
            </a:r>
            <a:r>
              <a:rPr lang="en-US" sz="1600" dirty="0">
                <a:solidFill>
                  <a:srgbClr val="3F7F5F"/>
                </a:solidFill>
                <a:latin typeface="Consolas" panose="020B0609020204030204" pitchFamily="49" charset="0"/>
              </a:rPr>
              <a:t>// SCIC SCID</a:t>
            </a:r>
          </a:p>
          <a:p>
            <a:pPr marL="114300" indent="0" algn="l">
              <a:buNone/>
            </a:pPr>
            <a:r>
              <a:rPr lang="en-US" sz="1600" dirty="0">
                <a:solidFill>
                  <a:srgbClr val="000000"/>
                </a:solidFill>
                <a:latin typeface="Consolas" panose="020B0609020204030204" pitchFamily="49" charset="0"/>
              </a:rPr>
              <a:t>IER |= M_INT9;  </a:t>
            </a:r>
            <a:r>
              <a:rPr lang="en-US" sz="1600" dirty="0">
                <a:solidFill>
                  <a:srgbClr val="3F7F5F"/>
                </a:solidFill>
                <a:latin typeface="Consolas" panose="020B0609020204030204" pitchFamily="49" charset="0"/>
              </a:rPr>
              <a:t>// SCIA</a:t>
            </a:r>
          </a:p>
          <a:p>
            <a:pPr marL="114300" indent="0" algn="l">
              <a:buNone/>
            </a:pPr>
            <a:r>
              <a:rPr lang="en-US" sz="1600" dirty="0">
                <a:solidFill>
                  <a:srgbClr val="000000"/>
                </a:solidFill>
                <a:latin typeface="Consolas" panose="020B0609020204030204" pitchFamily="49" charset="0"/>
              </a:rPr>
              <a:t>IER |= M_INT12;</a:t>
            </a:r>
          </a:p>
          <a:p>
            <a:pPr marL="114300" indent="0" algn="l">
              <a:buNone/>
            </a:pPr>
            <a:r>
              <a:rPr lang="en-US" sz="1600" dirty="0">
                <a:solidFill>
                  <a:srgbClr val="000000"/>
                </a:solidFill>
                <a:latin typeface="Consolas" panose="020B0609020204030204" pitchFamily="49" charset="0"/>
              </a:rPr>
              <a:t>IER |= M_INT13;</a:t>
            </a:r>
          </a:p>
          <a:p>
            <a:pPr marL="114300" indent="0" algn="l">
              <a:buNone/>
            </a:pPr>
            <a:r>
              <a:rPr lang="en-US" sz="1600" dirty="0">
                <a:solidFill>
                  <a:srgbClr val="000000"/>
                </a:solidFill>
                <a:latin typeface="Consolas" panose="020B0609020204030204" pitchFamily="49" charset="0"/>
              </a:rPr>
              <a:t>IER |= M_INT14;</a:t>
            </a:r>
          </a:p>
          <a:p>
            <a:pPr algn="l"/>
            <a:endParaRPr lang="en-US" sz="1600" dirty="0">
              <a:latin typeface="Consolas" panose="020B0609020204030204" pitchFamily="49" charset="0"/>
            </a:endParaRPr>
          </a:p>
          <a:p>
            <a:pPr marL="114300" indent="0" algn="l">
              <a:buNone/>
            </a:pPr>
            <a:r>
              <a:rPr lang="en-US" sz="1600" dirty="0">
                <a:solidFill>
                  <a:srgbClr val="3F7F5F"/>
                </a:solidFill>
                <a:latin typeface="Consolas" panose="020B0609020204030204" pitchFamily="49" charset="0"/>
              </a:rPr>
              <a:t>// Enable TINT0 in the PIE: Group 1 interrupt 7</a:t>
            </a:r>
          </a:p>
          <a:p>
            <a:pPr marL="114300" indent="0" algn="l">
              <a:buNone/>
            </a:pPr>
            <a:r>
              <a:rPr lang="en-US" sz="1600" dirty="0">
                <a:solidFill>
                  <a:srgbClr val="000000"/>
                </a:solidFill>
                <a:latin typeface="Consolas" panose="020B0609020204030204" pitchFamily="49" charset="0"/>
              </a:rPr>
              <a:t>PieCtrlRegs.</a:t>
            </a:r>
            <a:r>
              <a:rPr lang="en-US" sz="1600" dirty="0">
                <a:solidFill>
                  <a:srgbClr val="0000C0"/>
                </a:solidFill>
                <a:latin typeface="Consolas" panose="020B0609020204030204" pitchFamily="49" charset="0"/>
              </a:rPr>
              <a:t>PIEIER1</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INTx7</a:t>
            </a:r>
            <a:r>
              <a:rPr lang="en-US" sz="1600" dirty="0">
                <a:solidFill>
                  <a:srgbClr val="000000"/>
                </a:solidFill>
                <a:latin typeface="Consolas" panose="020B0609020204030204" pitchFamily="49" charset="0"/>
              </a:rPr>
              <a:t> = 1;</a:t>
            </a:r>
          </a:p>
          <a:p>
            <a:pPr marL="114300" indent="0" algn="l">
              <a:buNone/>
            </a:pPr>
            <a:r>
              <a:rPr lang="en-US" sz="1600" dirty="0">
                <a:solidFill>
                  <a:srgbClr val="3F7F5F"/>
                </a:solidFill>
                <a:latin typeface="Consolas" panose="020B0609020204030204" pitchFamily="49" charset="0"/>
              </a:rPr>
              <a:t>// Enable SWI in the PIE: Group 12 interrupt 9</a:t>
            </a:r>
          </a:p>
          <a:p>
            <a:pPr marL="114300" indent="0" algn="l">
              <a:buNone/>
            </a:pPr>
            <a:r>
              <a:rPr lang="en-US" sz="1600" dirty="0">
                <a:solidFill>
                  <a:srgbClr val="000000"/>
                </a:solidFill>
                <a:latin typeface="Consolas" panose="020B0609020204030204" pitchFamily="49" charset="0"/>
              </a:rPr>
              <a:t>PieCtrlRegs.</a:t>
            </a:r>
            <a:r>
              <a:rPr lang="en-US" sz="1600" dirty="0">
                <a:solidFill>
                  <a:srgbClr val="0000C0"/>
                </a:solidFill>
                <a:latin typeface="Consolas" panose="020B0609020204030204" pitchFamily="49" charset="0"/>
              </a:rPr>
              <a:t>PIEIER12</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INTx9</a:t>
            </a:r>
            <a:r>
              <a:rPr lang="en-US" sz="1600" dirty="0">
                <a:solidFill>
                  <a:srgbClr val="000000"/>
                </a:solidFill>
                <a:latin typeface="Consolas" panose="020B0609020204030204" pitchFamily="49" charset="0"/>
              </a:rPr>
              <a:t> = 1;</a:t>
            </a:r>
            <a:endParaRPr sz="1100" b="1"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3B433443-4849-8792-FA11-2C03B8D46D6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6C4FA8C-EBDD-72B3-668D-D9C1F4D0002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Enabling Interrupts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9BDEC4BC-D9A6-861A-E49D-222EEE01D4A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D02CCBB-AD41-C0E7-66E6-F7530F0B05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B33519D-5259-E040-1CF2-D4DB5F77CD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B975808-2295-1759-3850-4D567A4E79B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8AFFA9A-46E1-0DA3-9A49-0534A24CC55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DE893F7-8FAC-FE4F-EB5A-C5256C56F0D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966840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C28F45F-83F3-5C4E-357D-6C126EA42A8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02645E8-578E-187B-B08C-B652C7FD97D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TIMER0_INT, TIMER1_INT, TIMER2_INT</a:t>
            </a:r>
            <a:r>
              <a:rPr lang="en-US" sz="1800" dirty="0">
                <a:solidFill>
                  <a:srgbClr val="000000"/>
                </a:solidFill>
                <a:latin typeface="+mj-lt"/>
                <a:ea typeface="Arial"/>
                <a:cs typeface="Arial"/>
                <a:sym typeface="Arial"/>
              </a:rPr>
              <a:t>: </a:t>
            </a:r>
          </a:p>
          <a:p>
            <a:pPr marL="114300" indent="0" algn="l">
              <a:buNone/>
            </a:pPr>
            <a:r>
              <a:rPr lang="en-US" sz="1800" dirty="0">
                <a:solidFill>
                  <a:srgbClr val="000000"/>
                </a:solidFill>
                <a:latin typeface="+mj-lt"/>
                <a:ea typeface="Arial"/>
                <a:cs typeface="Arial"/>
                <a:sym typeface="Arial"/>
              </a:rPr>
              <a:t>The standard CPU countdown timers.</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RTOS_INT</a:t>
            </a:r>
            <a:r>
              <a:rPr lang="en-US" sz="1800" dirty="0">
                <a:solidFill>
                  <a:srgbClr val="000000"/>
                </a:solidFill>
                <a:latin typeface="+mj-lt"/>
                <a:ea typeface="Arial"/>
                <a:cs typeface="Arial"/>
                <a:sym typeface="Arial"/>
              </a:rPr>
              <a:t>: </a:t>
            </a:r>
          </a:p>
          <a:p>
            <a:pPr marL="114300" indent="0" algn="l">
              <a:buNone/>
            </a:pPr>
            <a:r>
              <a:rPr lang="en-US" sz="1800" dirty="0">
                <a:solidFill>
                  <a:srgbClr val="000000"/>
                </a:solidFill>
                <a:latin typeface="+mj-lt"/>
                <a:ea typeface="Arial"/>
                <a:cs typeface="Arial"/>
                <a:sym typeface="Arial"/>
              </a:rPr>
              <a:t>A dedicated interrupt line for Real-Time Operating System context switching.</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WAKE_INT</a:t>
            </a:r>
            <a:r>
              <a:rPr lang="en-US" sz="1800" dirty="0">
                <a:solidFill>
                  <a:srgbClr val="000000"/>
                </a:solidFill>
                <a:latin typeface="+mj-lt"/>
                <a:ea typeface="Arial"/>
                <a:cs typeface="Arial"/>
                <a:sym typeface="Arial"/>
              </a:rPr>
              <a:t>: </a:t>
            </a:r>
          </a:p>
          <a:p>
            <a:pPr marL="114300" indent="0" algn="l">
              <a:buNone/>
            </a:pPr>
            <a:r>
              <a:rPr lang="en-US" sz="1800" dirty="0">
                <a:solidFill>
                  <a:srgbClr val="000000"/>
                </a:solidFill>
                <a:latin typeface="+mj-lt"/>
                <a:ea typeface="Arial"/>
                <a:cs typeface="Arial"/>
                <a:sym typeface="Arial"/>
              </a:rPr>
              <a:t>Wakes the CPU from Low-Power (IDLE/STANDBY) modes.</a:t>
            </a:r>
          </a:p>
        </p:txBody>
      </p:sp>
      <p:sp>
        <p:nvSpPr>
          <p:cNvPr id="119" name="Google Shape;119;p29">
            <a:extLst>
              <a:ext uri="{FF2B5EF4-FFF2-40B4-BE49-F238E27FC236}">
                <a16:creationId xmlns:a16="http://schemas.microsoft.com/office/drawing/2014/main" id="{1E65A2D5-761D-3EF3-6C6A-D07A4FA91B7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FB7B828-B2AF-778A-F786-055CC87CD97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Timers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9AEAB9A-904E-6778-E128-F355E6646E3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8DD656A-1C07-FB7E-434B-D13031EB58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3A29ABD-33A9-F692-4D94-6CEC232A053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B63C0E9-F38E-88DB-7D99-1E5AE8732D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CEC1C0-6AEC-D09A-891A-09D352EE70A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FDDE961-E21D-9DF6-9ACA-258673E5220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119292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C608DA3-C8E1-A2DB-85BB-1E81082C8A9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4F726D0-3A66-F037-5D3C-397F6F17D26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500" b="1" dirty="0">
                <a:solidFill>
                  <a:srgbClr val="000000"/>
                </a:solidFill>
                <a:latin typeface="+mj-lt"/>
                <a:ea typeface="Arial"/>
                <a:cs typeface="Arial"/>
                <a:sym typeface="Arial"/>
              </a:rPr>
              <a:t>ADCA1_INT </a:t>
            </a:r>
            <a:r>
              <a:rPr lang="en-US" sz="1500" dirty="0">
                <a:solidFill>
                  <a:srgbClr val="000000"/>
                </a:solidFill>
                <a:latin typeface="+mj-lt"/>
                <a:ea typeface="Arial"/>
                <a:cs typeface="Arial"/>
                <a:sym typeface="Arial"/>
              </a:rPr>
              <a:t>through </a:t>
            </a:r>
            <a:r>
              <a:rPr lang="en-US" sz="1500" b="1" dirty="0">
                <a:solidFill>
                  <a:srgbClr val="000000"/>
                </a:solidFill>
                <a:latin typeface="+mj-lt"/>
                <a:ea typeface="Arial"/>
                <a:cs typeface="Arial"/>
                <a:sym typeface="Arial"/>
              </a:rPr>
              <a:t>ADCD4_INT </a:t>
            </a:r>
            <a:r>
              <a:rPr lang="en-US" sz="1500" dirty="0">
                <a:solidFill>
                  <a:srgbClr val="000000"/>
                </a:solidFill>
                <a:latin typeface="+mj-lt"/>
                <a:ea typeface="Arial"/>
                <a:cs typeface="Arial"/>
                <a:sym typeface="Arial"/>
              </a:rPr>
              <a:t>(The ADCs):</a:t>
            </a:r>
          </a:p>
          <a:p>
            <a:pPr marL="114300" indent="0" algn="l">
              <a:buNone/>
            </a:pPr>
            <a:r>
              <a:rPr lang="en-US" sz="1500" dirty="0">
                <a:solidFill>
                  <a:srgbClr val="000000"/>
                </a:solidFill>
                <a:latin typeface="+mj-lt"/>
                <a:ea typeface="Arial"/>
                <a:cs typeface="Arial"/>
                <a:sym typeface="Arial"/>
              </a:rPr>
              <a:t>These trigger when the Analog-to-Digital Converter finishes a batch of conversions.</a:t>
            </a:r>
          </a:p>
          <a:p>
            <a:pPr marL="114300" indent="0" algn="l">
              <a:buNone/>
            </a:pPr>
            <a:r>
              <a:rPr lang="en-US" sz="1500" dirty="0">
                <a:solidFill>
                  <a:srgbClr val="000000"/>
                </a:solidFill>
                <a:latin typeface="+mj-lt"/>
                <a:ea typeface="Arial"/>
                <a:cs typeface="Arial"/>
                <a:sym typeface="Arial"/>
              </a:rPr>
              <a:t>Classification: </a:t>
            </a:r>
            <a:r>
              <a:rPr lang="en-US" sz="1500" b="1" dirty="0" err="1">
                <a:solidFill>
                  <a:srgbClr val="000000"/>
                </a:solidFill>
                <a:latin typeface="+mj-lt"/>
                <a:ea typeface="Arial"/>
                <a:cs typeface="Arial"/>
                <a:sym typeface="Arial"/>
              </a:rPr>
              <a:t>ADCx_EVT_INT</a:t>
            </a:r>
            <a:r>
              <a:rPr lang="en-US" sz="1500" dirty="0">
                <a:solidFill>
                  <a:srgbClr val="000000"/>
                </a:solidFill>
                <a:latin typeface="+mj-lt"/>
                <a:ea typeface="Arial"/>
                <a:cs typeface="Arial"/>
                <a:sym typeface="Arial"/>
              </a:rPr>
              <a:t> (Threshold event), </a:t>
            </a:r>
            <a:r>
              <a:rPr lang="en-US" sz="1500" b="1" dirty="0">
                <a:solidFill>
                  <a:srgbClr val="000000"/>
                </a:solidFill>
                <a:latin typeface="+mj-lt"/>
                <a:ea typeface="Arial"/>
                <a:cs typeface="Arial"/>
                <a:sym typeface="Arial"/>
              </a:rPr>
              <a:t>ADCx1_INT </a:t>
            </a:r>
            <a:r>
              <a:rPr lang="en-US" sz="1500" dirty="0">
                <a:solidFill>
                  <a:srgbClr val="000000"/>
                </a:solidFill>
                <a:latin typeface="+mj-lt"/>
                <a:ea typeface="Arial"/>
                <a:cs typeface="Arial"/>
                <a:sym typeface="Arial"/>
              </a:rPr>
              <a:t>(High Priority Loop), </a:t>
            </a:r>
            <a:r>
              <a:rPr lang="en-US" sz="1500" b="1" dirty="0">
                <a:solidFill>
                  <a:srgbClr val="000000"/>
                </a:solidFill>
                <a:latin typeface="+mj-lt"/>
                <a:ea typeface="Arial"/>
                <a:cs typeface="Arial"/>
                <a:sym typeface="Arial"/>
              </a:rPr>
              <a:t>ADCx2/3/4_INT </a:t>
            </a:r>
            <a:r>
              <a:rPr lang="en-US" sz="1500" dirty="0">
                <a:solidFill>
                  <a:srgbClr val="000000"/>
                </a:solidFill>
                <a:latin typeface="+mj-lt"/>
                <a:ea typeface="Arial"/>
                <a:cs typeface="Arial"/>
                <a:sym typeface="Arial"/>
              </a:rPr>
              <a:t>(Lower priority monitoring).</a:t>
            </a:r>
          </a:p>
          <a:p>
            <a:pPr marL="114300" indent="0" algn="l">
              <a:buNone/>
            </a:pPr>
            <a:endParaRPr lang="en-US" sz="1500" dirty="0">
              <a:solidFill>
                <a:srgbClr val="000000"/>
              </a:solidFill>
              <a:latin typeface="+mj-lt"/>
              <a:ea typeface="Arial"/>
              <a:cs typeface="Arial"/>
              <a:sym typeface="Arial"/>
            </a:endParaRPr>
          </a:p>
          <a:p>
            <a:pPr marL="114300" indent="0" algn="l">
              <a:buNone/>
            </a:pPr>
            <a:r>
              <a:rPr lang="en-US" sz="1500" b="1" dirty="0">
                <a:solidFill>
                  <a:srgbClr val="000000"/>
                </a:solidFill>
                <a:latin typeface="+mj-lt"/>
                <a:ea typeface="Arial"/>
                <a:cs typeface="Arial"/>
                <a:sym typeface="Arial"/>
              </a:rPr>
              <a:t>EQEP1_INT, EQEP2_INT, EQEP3_INT</a:t>
            </a:r>
            <a:r>
              <a:rPr lang="en-US" sz="1500" dirty="0">
                <a:solidFill>
                  <a:srgbClr val="000000"/>
                </a:solidFill>
                <a:latin typeface="+mj-lt"/>
                <a:ea typeface="Arial"/>
                <a:cs typeface="Arial"/>
                <a:sym typeface="Arial"/>
              </a:rPr>
              <a:t>:</a:t>
            </a:r>
          </a:p>
          <a:p>
            <a:pPr marL="114300" indent="0" algn="l">
              <a:buNone/>
            </a:pPr>
            <a:r>
              <a:rPr lang="en-US" sz="1500" dirty="0">
                <a:solidFill>
                  <a:srgbClr val="000000"/>
                </a:solidFill>
                <a:latin typeface="+mj-lt"/>
                <a:ea typeface="Arial"/>
                <a:cs typeface="Arial"/>
                <a:sym typeface="Arial"/>
              </a:rPr>
              <a:t>Enhanced Quadrature Encoder Pulse. These trigger on position events (e.g., Index pulse or Unit Timeout) from a motor encoder. Crucial for speed calculations.</a:t>
            </a:r>
          </a:p>
          <a:p>
            <a:pPr marL="114300" indent="0" algn="l">
              <a:buNone/>
            </a:pPr>
            <a:endParaRPr lang="en-US" sz="1500" dirty="0">
              <a:solidFill>
                <a:srgbClr val="000000"/>
              </a:solidFill>
              <a:latin typeface="+mj-lt"/>
              <a:ea typeface="Arial"/>
              <a:cs typeface="Arial"/>
              <a:sym typeface="Arial"/>
            </a:endParaRPr>
          </a:p>
          <a:p>
            <a:pPr marL="114300" indent="0" algn="l">
              <a:buNone/>
            </a:pPr>
            <a:r>
              <a:rPr lang="en-US" sz="1500" b="1" dirty="0">
                <a:solidFill>
                  <a:srgbClr val="000000"/>
                </a:solidFill>
                <a:latin typeface="+mj-lt"/>
                <a:ea typeface="Arial"/>
                <a:cs typeface="Arial"/>
                <a:sym typeface="Arial"/>
              </a:rPr>
              <a:t>ECAP1_INT </a:t>
            </a:r>
            <a:r>
              <a:rPr lang="en-US" sz="1500" dirty="0">
                <a:solidFill>
                  <a:srgbClr val="000000"/>
                </a:solidFill>
                <a:latin typeface="+mj-lt"/>
                <a:ea typeface="Arial"/>
                <a:cs typeface="Arial"/>
                <a:sym typeface="Arial"/>
              </a:rPr>
              <a:t>through </a:t>
            </a:r>
            <a:r>
              <a:rPr lang="en-US" sz="1500" b="1" dirty="0">
                <a:solidFill>
                  <a:srgbClr val="000000"/>
                </a:solidFill>
                <a:latin typeface="+mj-lt"/>
                <a:ea typeface="Arial"/>
                <a:cs typeface="Arial"/>
                <a:sym typeface="Arial"/>
              </a:rPr>
              <a:t>ECAP6_INT</a:t>
            </a:r>
            <a:r>
              <a:rPr lang="en-US" sz="1500" dirty="0">
                <a:solidFill>
                  <a:srgbClr val="000000"/>
                </a:solidFill>
                <a:latin typeface="+mj-lt"/>
                <a:ea typeface="Arial"/>
                <a:cs typeface="Arial"/>
                <a:sym typeface="Arial"/>
              </a:rPr>
              <a:t>:</a:t>
            </a:r>
          </a:p>
          <a:p>
            <a:pPr marL="114300" indent="0" algn="l">
              <a:buNone/>
            </a:pPr>
            <a:r>
              <a:rPr lang="en-US" sz="1500" dirty="0">
                <a:solidFill>
                  <a:srgbClr val="000000"/>
                </a:solidFill>
                <a:latin typeface="+mj-lt"/>
                <a:ea typeface="Arial"/>
                <a:cs typeface="Arial"/>
                <a:sym typeface="Arial"/>
              </a:rPr>
              <a:t>Enhanced Capture. Used to measure the width of incoming pulses (e.g., measuring the frequency of an incoming PWM signal from another sensor).</a:t>
            </a:r>
          </a:p>
          <a:p>
            <a:pPr marL="114300" indent="0" algn="l">
              <a:buNone/>
            </a:pPr>
            <a:endParaRPr lang="en-US" sz="1500" dirty="0">
              <a:solidFill>
                <a:srgbClr val="000000"/>
              </a:solidFill>
              <a:latin typeface="+mj-lt"/>
              <a:ea typeface="Arial"/>
              <a:cs typeface="Arial"/>
              <a:sym typeface="Arial"/>
            </a:endParaRPr>
          </a:p>
          <a:p>
            <a:pPr marL="114300" indent="0" algn="l">
              <a:buNone/>
            </a:pPr>
            <a:r>
              <a:rPr lang="en-US" sz="1500" b="1" dirty="0">
                <a:solidFill>
                  <a:srgbClr val="000000"/>
                </a:solidFill>
                <a:latin typeface="+mj-lt"/>
                <a:ea typeface="Arial"/>
                <a:cs typeface="Arial"/>
                <a:sym typeface="Arial"/>
              </a:rPr>
              <a:t>SD1_INT</a:t>
            </a:r>
            <a:r>
              <a:rPr lang="en-US" sz="1500" dirty="0">
                <a:solidFill>
                  <a:srgbClr val="000000"/>
                </a:solidFill>
                <a:latin typeface="+mj-lt"/>
                <a:ea typeface="Arial"/>
                <a:cs typeface="Arial"/>
                <a:sym typeface="Arial"/>
              </a:rPr>
              <a:t>, </a:t>
            </a:r>
            <a:r>
              <a:rPr lang="en-US" sz="1500" b="1" dirty="0">
                <a:solidFill>
                  <a:srgbClr val="000000"/>
                </a:solidFill>
                <a:latin typeface="+mj-lt"/>
                <a:ea typeface="Arial"/>
                <a:cs typeface="Arial"/>
                <a:sym typeface="Arial"/>
              </a:rPr>
              <a:t>SD2_INT</a:t>
            </a:r>
            <a:r>
              <a:rPr lang="en-US" sz="1500" dirty="0">
                <a:solidFill>
                  <a:srgbClr val="000000"/>
                </a:solidFill>
                <a:latin typeface="+mj-lt"/>
                <a:ea typeface="Arial"/>
                <a:cs typeface="Arial"/>
                <a:sym typeface="Arial"/>
              </a:rPr>
              <a:t>:</a:t>
            </a:r>
          </a:p>
          <a:p>
            <a:pPr marL="114300" indent="0" algn="l">
              <a:buNone/>
            </a:pPr>
            <a:r>
              <a:rPr lang="en-US" sz="1500" dirty="0">
                <a:solidFill>
                  <a:srgbClr val="000000"/>
                </a:solidFill>
                <a:latin typeface="+mj-lt"/>
                <a:ea typeface="Arial"/>
                <a:cs typeface="Arial"/>
                <a:sym typeface="Arial"/>
              </a:rPr>
              <a:t>Sigma-Delta Filter. These define interrupts for high-fidelity, isolated current sensing, typically used in high-voltage motor drives.</a:t>
            </a:r>
          </a:p>
        </p:txBody>
      </p:sp>
      <p:sp>
        <p:nvSpPr>
          <p:cNvPr id="119" name="Google Shape;119;p29">
            <a:extLst>
              <a:ext uri="{FF2B5EF4-FFF2-40B4-BE49-F238E27FC236}">
                <a16:creationId xmlns:a16="http://schemas.microsoft.com/office/drawing/2014/main" id="{E3AC03E4-798D-1815-3C9B-F0594D8BEEC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0AD546B-6723-5D91-D15F-389CDCFDFC9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Sensors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ABD69EB-5504-9CC4-BE9A-FD304E7A211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CE25036-B3CB-303D-A10D-0C98BDC5E53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A1D91E1-03A4-19AD-D2A1-920187B100C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01ED1EE-8F15-4E59-8859-8199E215135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ABD2FAF-ACF7-7F9E-99E7-DDDEF7B8A46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A15AA5C-ED34-3BFA-0958-3D0DC507041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511617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9889B27-FEE2-7B47-082B-358EDAC3C01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2CEF638-5F6F-7177-7067-5C0D4BA9BBC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XINT1_INT</a:t>
            </a:r>
            <a:r>
              <a:rPr lang="en-US" sz="1800" dirty="0">
                <a:solidFill>
                  <a:srgbClr val="000000"/>
                </a:solidFill>
                <a:latin typeface="+mj-lt"/>
                <a:ea typeface="Arial"/>
                <a:cs typeface="Arial"/>
                <a:sym typeface="Arial"/>
              </a:rPr>
              <a:t> through </a:t>
            </a:r>
            <a:r>
              <a:rPr lang="en-US" sz="1800" b="1" dirty="0">
                <a:solidFill>
                  <a:srgbClr val="000000"/>
                </a:solidFill>
                <a:latin typeface="+mj-lt"/>
                <a:ea typeface="Arial"/>
                <a:cs typeface="Arial"/>
                <a:sym typeface="Arial"/>
              </a:rPr>
              <a:t>XINT5_INT </a:t>
            </a:r>
            <a:r>
              <a:rPr lang="en-US" sz="1800" dirty="0">
                <a:solidFill>
                  <a:srgbClr val="000000"/>
                </a:solidFill>
                <a:latin typeface="+mj-lt"/>
                <a:ea typeface="Arial"/>
                <a:cs typeface="Arial"/>
                <a:sym typeface="Arial"/>
              </a:rPr>
              <a:t>(External Interrupts):</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dirty="0">
                <a:solidFill>
                  <a:srgbClr val="000000"/>
                </a:solidFill>
                <a:latin typeface="+mj-lt"/>
                <a:ea typeface="Arial"/>
                <a:cs typeface="Arial"/>
                <a:sym typeface="Arial"/>
              </a:rPr>
              <a:t>These are triggered by voltage transitions (Rising Edge, Falling Edge, or Both) on physical pins. These vectors represent the C2000's direct interface with the outside world via General Purpose Input/Output (GPIO) pins.</a:t>
            </a:r>
          </a:p>
        </p:txBody>
      </p:sp>
      <p:sp>
        <p:nvSpPr>
          <p:cNvPr id="119" name="Google Shape;119;p29">
            <a:extLst>
              <a:ext uri="{FF2B5EF4-FFF2-40B4-BE49-F238E27FC236}">
                <a16:creationId xmlns:a16="http://schemas.microsoft.com/office/drawing/2014/main" id="{DEEE6658-A123-FABF-8884-D21E57C8492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DF43896-C43D-D01A-8A39-1B577A281B2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External Hardware Events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EA1A74F-1512-2C1A-92A4-2038CCEF1E4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91ACD82-BF4D-A68B-A03E-81DAA90C934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7584552-BAEA-E9D3-0A48-56EF91F6DCA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FF816BE-E46A-FF2B-4466-AEFAD483466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D3F6031-A70C-E5B4-3123-F05B8BD7C8D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5CE60DD-3131-49A8-8717-DBEAB0F6C62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073734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DDEFC22-4770-B470-5C81-ABC5CB5758F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883C3E3-414F-6D46-7F37-F648073BBC9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EPWM1_TZ_INT </a:t>
            </a:r>
            <a:r>
              <a:rPr lang="en-US" sz="1800" dirty="0">
                <a:solidFill>
                  <a:srgbClr val="000000"/>
                </a:solidFill>
                <a:latin typeface="+mj-lt"/>
                <a:ea typeface="Arial"/>
                <a:cs typeface="Arial"/>
                <a:sym typeface="Arial"/>
              </a:rPr>
              <a:t>through </a:t>
            </a:r>
            <a:r>
              <a:rPr lang="en-US" sz="1800" b="1" dirty="0">
                <a:solidFill>
                  <a:srgbClr val="000000"/>
                </a:solidFill>
                <a:latin typeface="+mj-lt"/>
                <a:ea typeface="Arial"/>
                <a:cs typeface="Arial"/>
                <a:sym typeface="Arial"/>
              </a:rPr>
              <a:t>EPWM12_TZ_INT </a:t>
            </a:r>
            <a:r>
              <a:rPr lang="en-US" sz="1800" dirty="0">
                <a:solidFill>
                  <a:srgbClr val="000000"/>
                </a:solidFill>
                <a:latin typeface="+mj-lt"/>
                <a:ea typeface="Arial"/>
                <a:cs typeface="Arial"/>
                <a:sym typeface="Arial"/>
              </a:rPr>
              <a:t>(Trip Zones):</a:t>
            </a:r>
          </a:p>
          <a:p>
            <a:pPr marL="114300" indent="0" algn="l">
              <a:buNone/>
            </a:pPr>
            <a:r>
              <a:rPr lang="en-US" sz="1800" dirty="0">
                <a:solidFill>
                  <a:srgbClr val="000000"/>
                </a:solidFill>
                <a:latin typeface="+mj-lt"/>
                <a:ea typeface="Arial"/>
                <a:cs typeface="Arial"/>
                <a:sym typeface="Arial"/>
              </a:rPr>
              <a:t>Highest Priority Control Interrupts. These fire when a hardware comparator (CMPSS) detects an over-current or over-voltage event. The PWM hardware shuts off instantly (nanoseconds) and then informs the CPU via this interrupt.</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EPWM1_INT </a:t>
            </a:r>
            <a:r>
              <a:rPr lang="en-US" sz="1800" dirty="0">
                <a:solidFill>
                  <a:srgbClr val="000000"/>
                </a:solidFill>
                <a:latin typeface="+mj-lt"/>
                <a:ea typeface="Arial"/>
                <a:cs typeface="Arial"/>
                <a:sym typeface="Arial"/>
              </a:rPr>
              <a:t>through </a:t>
            </a:r>
            <a:r>
              <a:rPr lang="en-US" sz="1800" b="1" dirty="0">
                <a:solidFill>
                  <a:srgbClr val="000000"/>
                </a:solidFill>
                <a:latin typeface="+mj-lt"/>
                <a:ea typeface="Arial"/>
                <a:cs typeface="Arial"/>
                <a:sym typeface="Arial"/>
              </a:rPr>
              <a:t>EPWM12_INT</a:t>
            </a:r>
            <a:r>
              <a:rPr lang="en-US" sz="1800" dirty="0">
                <a:solidFill>
                  <a:srgbClr val="000000"/>
                </a:solidFill>
                <a:latin typeface="+mj-lt"/>
                <a:ea typeface="Arial"/>
                <a:cs typeface="Arial"/>
                <a:sym typeface="Arial"/>
              </a:rPr>
              <a:t>:</a:t>
            </a:r>
          </a:p>
          <a:p>
            <a:pPr marL="114300" indent="0" algn="l">
              <a:buNone/>
            </a:pPr>
            <a:r>
              <a:rPr lang="en-US" sz="1800" dirty="0">
                <a:solidFill>
                  <a:srgbClr val="000000"/>
                </a:solidFill>
                <a:latin typeface="+mj-lt"/>
                <a:ea typeface="Arial"/>
                <a:cs typeface="Arial"/>
                <a:sym typeface="Arial"/>
              </a:rPr>
              <a:t>Standard PWM interrupts, usually triggered at TBCTR = 0 or TBCTR = PRD. Used to update duty cycles for the next cycle.</a:t>
            </a:r>
          </a:p>
        </p:txBody>
      </p:sp>
      <p:sp>
        <p:nvSpPr>
          <p:cNvPr id="119" name="Google Shape;119;p29">
            <a:extLst>
              <a:ext uri="{FF2B5EF4-FFF2-40B4-BE49-F238E27FC236}">
                <a16:creationId xmlns:a16="http://schemas.microsoft.com/office/drawing/2014/main" id="{A7187A07-E8FA-9F19-2895-AD718EE0EAA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FA1A05B-F53B-64E1-8BB6-5C59519DC9E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Actuation ( will go into more details later)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5508B9A-6681-5DA1-450B-D49C61586E1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A0A6D5-FECC-03ED-6F7E-BB697F98932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F523D3D-848E-715F-A856-4CD94D6B2C3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A5E3A7B-3702-C3F9-F1B6-43C9CA08C08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E4CBE9-B2DE-F251-C8C4-3C2455B4D02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AF6BB37-E1C1-8F3A-B491-AB260564577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059742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58326CA-06AE-7242-B268-C2981C90B64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9957F15-3FAE-1CAF-3065-97DBC2E4BDD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200" b="1" dirty="0">
                <a:solidFill>
                  <a:srgbClr val="000000"/>
                </a:solidFill>
                <a:latin typeface="+mj-lt"/>
                <a:ea typeface="Arial"/>
                <a:cs typeface="Arial"/>
                <a:sym typeface="Arial"/>
              </a:rPr>
              <a:t>SPIA/B/C_RX_INT &amp; SPIA/B/C_TX_INT: </a:t>
            </a:r>
          </a:p>
          <a:p>
            <a:pPr marL="114300" indent="0" algn="l">
              <a:buNone/>
            </a:pPr>
            <a:r>
              <a:rPr lang="en-US" sz="1200" dirty="0">
                <a:solidFill>
                  <a:srgbClr val="000000"/>
                </a:solidFill>
                <a:latin typeface="+mj-lt"/>
                <a:ea typeface="Arial"/>
                <a:cs typeface="Arial"/>
                <a:sym typeface="Arial"/>
              </a:rPr>
              <a:t>Synchronous Serial Interface (High speed sensors/DACs).</a:t>
            </a:r>
          </a:p>
          <a:p>
            <a:pPr marL="114300" indent="0" algn="l">
              <a:buNone/>
            </a:pPr>
            <a:endParaRPr lang="en-US" sz="1200" dirty="0">
              <a:solidFill>
                <a:srgbClr val="000000"/>
              </a:solidFill>
              <a:latin typeface="+mj-lt"/>
              <a:ea typeface="Arial"/>
              <a:cs typeface="Arial"/>
              <a:sym typeface="Arial"/>
            </a:endParaRPr>
          </a:p>
          <a:p>
            <a:pPr marL="114300" indent="0" algn="l">
              <a:buNone/>
            </a:pPr>
            <a:r>
              <a:rPr lang="en-US" sz="1200" b="1" dirty="0">
                <a:solidFill>
                  <a:srgbClr val="000000"/>
                </a:solidFill>
                <a:latin typeface="+mj-lt"/>
                <a:ea typeface="Arial"/>
                <a:cs typeface="Arial"/>
                <a:sym typeface="Arial"/>
              </a:rPr>
              <a:t>I2CA/B_INT &amp; FIFO_INT: </a:t>
            </a:r>
          </a:p>
          <a:p>
            <a:pPr marL="114300" indent="0" algn="l">
              <a:buNone/>
            </a:pPr>
            <a:r>
              <a:rPr lang="en-US" sz="1200" dirty="0">
                <a:solidFill>
                  <a:srgbClr val="000000"/>
                </a:solidFill>
                <a:latin typeface="+mj-lt"/>
                <a:ea typeface="Arial"/>
                <a:cs typeface="Arial"/>
                <a:sym typeface="Arial"/>
              </a:rPr>
              <a:t>Inter-Integrated Circuit (EEPROMs, temperature sensors).</a:t>
            </a:r>
          </a:p>
          <a:p>
            <a:pPr marL="114300" indent="0" algn="l">
              <a:buNone/>
            </a:pPr>
            <a:endParaRPr lang="en-US" sz="1200" dirty="0">
              <a:solidFill>
                <a:srgbClr val="000000"/>
              </a:solidFill>
              <a:latin typeface="+mj-lt"/>
              <a:ea typeface="Arial"/>
              <a:cs typeface="Arial"/>
              <a:sym typeface="Arial"/>
            </a:endParaRPr>
          </a:p>
          <a:p>
            <a:pPr marL="114300" indent="0" algn="l">
              <a:buNone/>
            </a:pPr>
            <a:r>
              <a:rPr lang="en-US" sz="1200" b="1" dirty="0">
                <a:solidFill>
                  <a:srgbClr val="000000"/>
                </a:solidFill>
                <a:latin typeface="+mj-lt"/>
                <a:ea typeface="Arial"/>
                <a:cs typeface="Arial"/>
                <a:sym typeface="Arial"/>
              </a:rPr>
              <a:t>SCIA/B/C/D_RX_INT &amp; TX_INT</a:t>
            </a:r>
            <a:r>
              <a:rPr lang="en-US" sz="1200" dirty="0">
                <a:solidFill>
                  <a:srgbClr val="000000"/>
                </a:solidFill>
                <a:latin typeface="+mj-lt"/>
                <a:ea typeface="Arial"/>
                <a:cs typeface="Arial"/>
                <a:sym typeface="Arial"/>
              </a:rPr>
              <a:t>: </a:t>
            </a:r>
          </a:p>
          <a:p>
            <a:pPr marL="114300" indent="0" algn="l">
              <a:buNone/>
            </a:pPr>
            <a:r>
              <a:rPr lang="en-US" sz="1200" dirty="0">
                <a:solidFill>
                  <a:srgbClr val="000000"/>
                </a:solidFill>
                <a:latin typeface="+mj-lt"/>
                <a:ea typeface="Arial"/>
                <a:cs typeface="Arial"/>
                <a:sym typeface="Arial"/>
              </a:rPr>
              <a:t>UART (RS-232, discussed in the lecture). Connecting to PC/MATLAB.</a:t>
            </a:r>
          </a:p>
          <a:p>
            <a:pPr marL="114300" indent="0" algn="l">
              <a:buNone/>
            </a:pPr>
            <a:endParaRPr lang="en-US" sz="1200" dirty="0">
              <a:solidFill>
                <a:srgbClr val="000000"/>
              </a:solidFill>
              <a:latin typeface="+mj-lt"/>
              <a:ea typeface="Arial"/>
              <a:cs typeface="Arial"/>
              <a:sym typeface="Arial"/>
            </a:endParaRPr>
          </a:p>
          <a:p>
            <a:pPr marL="114300" indent="0" algn="l">
              <a:buNone/>
            </a:pPr>
            <a:r>
              <a:rPr lang="en-US" sz="1200" b="1" dirty="0">
                <a:solidFill>
                  <a:srgbClr val="000000"/>
                </a:solidFill>
                <a:latin typeface="+mj-lt"/>
                <a:ea typeface="Arial"/>
                <a:cs typeface="Arial"/>
                <a:sym typeface="Arial"/>
              </a:rPr>
              <a:t>CANA0/1_INT &amp; CANB0/1_INT</a:t>
            </a:r>
            <a:r>
              <a:rPr lang="en-US" sz="1200" dirty="0">
                <a:solidFill>
                  <a:srgbClr val="000000"/>
                </a:solidFill>
                <a:latin typeface="+mj-lt"/>
                <a:ea typeface="Arial"/>
                <a:cs typeface="Arial"/>
                <a:sym typeface="Arial"/>
              </a:rPr>
              <a:t>: </a:t>
            </a:r>
          </a:p>
          <a:p>
            <a:pPr marL="114300" indent="0" algn="l">
              <a:buNone/>
            </a:pPr>
            <a:r>
              <a:rPr lang="en-US" sz="1200" dirty="0">
                <a:solidFill>
                  <a:srgbClr val="000000"/>
                </a:solidFill>
                <a:latin typeface="+mj-lt"/>
                <a:ea typeface="Arial"/>
                <a:cs typeface="Arial"/>
                <a:sym typeface="Arial"/>
              </a:rPr>
              <a:t>Controller Area Network. The standard automotive bus for communicating with other ECUs.</a:t>
            </a:r>
          </a:p>
          <a:p>
            <a:pPr marL="114300" indent="0" algn="l">
              <a:buNone/>
            </a:pPr>
            <a:endParaRPr lang="en-US" sz="1200" dirty="0">
              <a:solidFill>
                <a:srgbClr val="000000"/>
              </a:solidFill>
              <a:latin typeface="+mj-lt"/>
              <a:ea typeface="Arial"/>
              <a:cs typeface="Arial"/>
              <a:sym typeface="Arial"/>
            </a:endParaRPr>
          </a:p>
          <a:p>
            <a:pPr marL="114300" indent="0" algn="l">
              <a:buNone/>
            </a:pPr>
            <a:r>
              <a:rPr lang="en-US" sz="1200" b="1" dirty="0">
                <a:solidFill>
                  <a:srgbClr val="000000"/>
                </a:solidFill>
                <a:latin typeface="+mj-lt"/>
                <a:ea typeface="Arial"/>
                <a:cs typeface="Arial"/>
                <a:sym typeface="Arial"/>
              </a:rPr>
              <a:t>MCBSPA/B_RX_INT &amp; TX_INT</a:t>
            </a:r>
            <a:r>
              <a:rPr lang="en-US" sz="1200" dirty="0">
                <a:solidFill>
                  <a:srgbClr val="000000"/>
                </a:solidFill>
                <a:latin typeface="+mj-lt"/>
                <a:ea typeface="Arial"/>
                <a:cs typeface="Arial"/>
                <a:sym typeface="Arial"/>
              </a:rPr>
              <a:t>: Multichannel Buffered Serial Port. (Legacy Audio/DSP protocol).</a:t>
            </a:r>
          </a:p>
          <a:p>
            <a:pPr marL="114300" indent="0" algn="l">
              <a:buNone/>
            </a:pPr>
            <a:endParaRPr lang="en-US" sz="1200" dirty="0">
              <a:solidFill>
                <a:srgbClr val="000000"/>
              </a:solidFill>
              <a:latin typeface="+mj-lt"/>
              <a:ea typeface="Arial"/>
              <a:cs typeface="Arial"/>
              <a:sym typeface="Arial"/>
            </a:endParaRPr>
          </a:p>
          <a:p>
            <a:pPr marL="114300" indent="0" algn="l">
              <a:buNone/>
            </a:pPr>
            <a:r>
              <a:rPr lang="en-US" sz="1200" b="1" dirty="0">
                <a:solidFill>
                  <a:srgbClr val="000000"/>
                </a:solidFill>
                <a:latin typeface="+mj-lt"/>
                <a:ea typeface="Arial"/>
                <a:cs typeface="Arial"/>
                <a:sym typeface="Arial"/>
              </a:rPr>
              <a:t>USBA_INT</a:t>
            </a:r>
            <a:r>
              <a:rPr lang="en-US" sz="1200" dirty="0">
                <a:solidFill>
                  <a:srgbClr val="000000"/>
                </a:solidFill>
                <a:latin typeface="+mj-lt"/>
                <a:ea typeface="Arial"/>
                <a:cs typeface="Arial"/>
                <a:sym typeface="Arial"/>
              </a:rPr>
              <a:t>: </a:t>
            </a:r>
          </a:p>
          <a:p>
            <a:pPr marL="114300" indent="0" algn="l">
              <a:buNone/>
            </a:pPr>
            <a:r>
              <a:rPr lang="en-US" sz="1200" dirty="0">
                <a:solidFill>
                  <a:srgbClr val="000000"/>
                </a:solidFill>
                <a:latin typeface="+mj-lt"/>
                <a:ea typeface="Arial"/>
                <a:cs typeface="Arial"/>
                <a:sym typeface="Arial"/>
              </a:rPr>
              <a:t>Universal Serial Bus (Bulk data transfer).</a:t>
            </a:r>
          </a:p>
        </p:txBody>
      </p:sp>
      <p:sp>
        <p:nvSpPr>
          <p:cNvPr id="119" name="Google Shape;119;p29">
            <a:extLst>
              <a:ext uri="{FF2B5EF4-FFF2-40B4-BE49-F238E27FC236}">
                <a16:creationId xmlns:a16="http://schemas.microsoft.com/office/drawing/2014/main" id="{260326A5-E6F6-9203-A4D8-3BC8619D718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322087B-3C34-DF77-0331-45713A19CC6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Communication (RX = receive, TX = transmit)</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0BC5917-C285-4812-58BD-C917094DCB4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09AB709-0B12-DE80-1632-B7BDAFA5B97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A61209B-3130-AAC2-E742-D3EC9260757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DC19885-7D23-0E43-B1A9-1446EBC9065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ECE9CDC-139E-01A8-CAAE-54B15B586AE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AE1741C-3BCE-C103-A510-9B449717F7C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438097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BE32031-60D4-9DA6-C46D-4DFA547BD6B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141F2F11-74AB-3591-BEF0-29FEEC82E5D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400" b="1" dirty="0">
                    <a:solidFill>
                      <a:srgbClr val="000000"/>
                    </a:solidFill>
                    <a:latin typeface="+mj-lt"/>
                    <a:ea typeface="Arial"/>
                    <a:cs typeface="Arial"/>
                    <a:sym typeface="Arial"/>
                  </a:rPr>
                  <a:t>NMI_INT </a:t>
                </a:r>
                <a:r>
                  <a:rPr lang="en-US" sz="1400" dirty="0">
                    <a:solidFill>
                      <a:srgbClr val="000000"/>
                    </a:solidFill>
                    <a:latin typeface="+mj-lt"/>
                    <a:ea typeface="Arial"/>
                    <a:cs typeface="Arial"/>
                    <a:sym typeface="Arial"/>
                  </a:rPr>
                  <a:t>(Non-Maskable Interrupt): </a:t>
                </a:r>
              </a:p>
              <a:p>
                <a:pPr marL="114300" indent="0" algn="l">
                  <a:buNone/>
                </a:pPr>
                <a:r>
                  <a:rPr lang="en-US" sz="1400" dirty="0">
                    <a:solidFill>
                      <a:srgbClr val="000000"/>
                    </a:solidFill>
                    <a:latin typeface="+mj-lt"/>
                    <a:ea typeface="Arial"/>
                    <a:cs typeface="Arial"/>
                    <a:sym typeface="Arial"/>
                  </a:rPr>
                  <a:t>The only interrupt that cannot be ignored by the CPU. Used for critical hardware failures.</a:t>
                </a:r>
              </a:p>
              <a:p>
                <a:pPr marL="114300" indent="0" algn="l">
                  <a:buNone/>
                </a:pPr>
                <a:r>
                  <a:rPr lang="en-US" sz="1400" b="1" dirty="0">
                    <a:solidFill>
                      <a:srgbClr val="000000"/>
                    </a:solidFill>
                    <a:latin typeface="+mj-lt"/>
                    <a:ea typeface="Arial"/>
                    <a:cs typeface="Arial"/>
                    <a:sym typeface="Arial"/>
                  </a:rPr>
                  <a:t>ILLEGAL_INT: </a:t>
                </a:r>
              </a:p>
              <a:p>
                <a:pPr marL="114300" indent="0" algn="l">
                  <a:buNone/>
                </a:pPr>
                <a:r>
                  <a:rPr lang="en-US" sz="1400" dirty="0">
                    <a:solidFill>
                      <a:srgbClr val="000000"/>
                    </a:solidFill>
                    <a:latin typeface="+mj-lt"/>
                    <a:ea typeface="Arial"/>
                    <a:cs typeface="Arial"/>
                    <a:sym typeface="Arial"/>
                  </a:rPr>
                  <a:t>Triggered if the CPU attempts to decode an opcode that does not exist. (Common pointer corruption symptom).</a:t>
                </a:r>
              </a:p>
              <a:p>
                <a:pPr marL="114300" indent="0" algn="l">
                  <a:buNone/>
                </a:pPr>
                <a:r>
                  <a:rPr lang="en-US" sz="1400" b="1" dirty="0">
                    <a:solidFill>
                      <a:srgbClr val="000000"/>
                    </a:solidFill>
                    <a:latin typeface="+mj-lt"/>
                    <a:ea typeface="Arial"/>
                    <a:cs typeface="Arial"/>
                    <a:sym typeface="Arial"/>
                  </a:rPr>
                  <a:t>EMIF_ERROR_INT: </a:t>
                </a:r>
              </a:p>
              <a:p>
                <a:pPr marL="114300" indent="0" algn="l">
                  <a:buNone/>
                </a:pPr>
                <a:r>
                  <a:rPr lang="en-US" sz="1400" dirty="0">
                    <a:solidFill>
                      <a:srgbClr val="000000"/>
                    </a:solidFill>
                    <a:latin typeface="+mj-lt"/>
                    <a:ea typeface="Arial"/>
                    <a:cs typeface="Arial"/>
                    <a:sym typeface="Arial"/>
                  </a:rPr>
                  <a:t>External Memory Interface error. Indicates a hardware timing violation or disconnect with external RAM/Flash.</a:t>
                </a:r>
              </a:p>
              <a:p>
                <a:pPr marL="114300" indent="0" algn="l">
                  <a:buNone/>
                </a:pPr>
                <a:r>
                  <a:rPr lang="en-US" sz="1400" b="1" dirty="0">
                    <a:solidFill>
                      <a:srgbClr val="000000"/>
                    </a:solidFill>
                    <a:latin typeface="+mj-lt"/>
                    <a:ea typeface="Arial"/>
                    <a:cs typeface="Arial"/>
                    <a:sym typeface="Arial"/>
                  </a:rPr>
                  <a:t>RAM_CORRECTABLE_ERROR_INT / FLASH_CORRECTABLE_ERROR_INT: </a:t>
                </a:r>
              </a:p>
              <a:p>
                <a:pPr marL="114300" indent="0" algn="l">
                  <a:buNone/>
                </a:pPr>
                <a:r>
                  <a:rPr lang="en-US" sz="1400" dirty="0">
                    <a:solidFill>
                      <a:srgbClr val="000000"/>
                    </a:solidFill>
                    <a:latin typeface="+mj-lt"/>
                    <a:ea typeface="Arial"/>
                    <a:cs typeface="Arial"/>
                    <a:sym typeface="Arial"/>
                  </a:rPr>
                  <a:t>The ECC (Error Correction Code) logic detected a bit-flip but fixed it. The ISR usually logs this event for predictive maintenance.</a:t>
                </a:r>
              </a:p>
              <a:p>
                <a:pPr marL="114300" indent="0" algn="l">
                  <a:buNone/>
                </a:pPr>
                <a:r>
                  <a:rPr lang="en-US" sz="1400" b="1" dirty="0">
                    <a:solidFill>
                      <a:srgbClr val="000000"/>
                    </a:solidFill>
                    <a:latin typeface="+mj-lt"/>
                    <a:ea typeface="Arial"/>
                    <a:cs typeface="Arial"/>
                    <a:sym typeface="Arial"/>
                  </a:rPr>
                  <a:t>RAM_ACCESS_VIOLATION_INT: </a:t>
                </a:r>
              </a:p>
              <a:p>
                <a:pPr marL="114300" indent="0" algn="l">
                  <a:buNone/>
                </a:pPr>
                <a:r>
                  <a:rPr lang="en-US" sz="1400" dirty="0">
                    <a:solidFill>
                      <a:srgbClr val="000000"/>
                    </a:solidFill>
                    <a:latin typeface="+mj-lt"/>
                    <a:ea typeface="Arial"/>
                    <a:cs typeface="Arial"/>
                    <a:sym typeface="Arial"/>
                  </a:rPr>
                  <a:t>The CPU tried to write to a protected memory region.</a:t>
                </a:r>
              </a:p>
              <a:p>
                <a:pPr marL="114300" indent="0" algn="l">
                  <a:buNone/>
                </a:pPr>
                <a:r>
                  <a:rPr lang="en-US" sz="1400" b="1" dirty="0">
                    <a:solidFill>
                      <a:srgbClr val="000000"/>
                    </a:solidFill>
                    <a:latin typeface="+mj-lt"/>
                    <a:ea typeface="Arial"/>
                    <a:cs typeface="Arial"/>
                    <a:sym typeface="Arial"/>
                  </a:rPr>
                  <a:t>SYS_PLL_SLIP_INT / AUX_PLL_SLIP_INT: </a:t>
                </a:r>
              </a:p>
              <a:p>
                <a:pPr marL="114300" indent="0" algn="l">
                  <a:buNone/>
                </a:pPr>
                <a:r>
                  <a:rPr lang="en-US" sz="1400" dirty="0">
                    <a:solidFill>
                      <a:srgbClr val="000000"/>
                    </a:solidFill>
                    <a:latin typeface="+mj-lt"/>
                    <a:ea typeface="Arial"/>
                    <a:cs typeface="Arial"/>
                    <a:sym typeface="Arial"/>
                  </a:rPr>
                  <a:t>The Phase Locked Loop (clock generator) has lost its lock. The CPU clock is unstable. The system must immediately halt PWM generation to prevent blowing up power electronics.</a:t>
                </a:r>
              </a:p>
              <a:p>
                <a:pPr marL="114300" indent="0" algn="l">
                  <a:buNone/>
                </a:pPr>
                <a:r>
                  <a:rPr lang="en-US" sz="1400" b="1" dirty="0">
                    <a:solidFill>
                      <a:srgbClr val="000000"/>
                    </a:solidFill>
                    <a:latin typeface="+mj-lt"/>
                    <a:ea typeface="Arial"/>
                    <a:cs typeface="Arial"/>
                    <a:sym typeface="Arial"/>
                  </a:rPr>
                  <a:t>FPU_OVERFLOW_INT / FPU_UNDERFLOW_INT: </a:t>
                </a:r>
              </a:p>
              <a:p>
                <a:pPr marL="114300" indent="0" algn="l">
                  <a:buNone/>
                </a:pPr>
                <a:r>
                  <a:rPr lang="en-US" sz="1400" dirty="0">
                    <a:solidFill>
                      <a:srgbClr val="000000"/>
                    </a:solidFill>
                    <a:latin typeface="+mj-lt"/>
                    <a:ea typeface="Arial"/>
                    <a:cs typeface="Arial"/>
                    <a:sym typeface="Arial"/>
                  </a:rPr>
                  <a:t>The Floating-Point Unit calculated a value exceeding IEEE-754 limits (creating </a:t>
                </a:r>
                <a14:m>
                  <m:oMath xmlns:m="http://schemas.openxmlformats.org/officeDocument/2006/math">
                    <m:r>
                      <a:rPr lang="en-US" sz="1400" i="1" smtClean="0">
                        <a:solidFill>
                          <a:srgbClr val="000000"/>
                        </a:solidFill>
                        <a:latin typeface="+mj-lt"/>
                        <a:ea typeface="Cambria Math" panose="02040503050406030204" pitchFamily="18" charset="0"/>
                        <a:cs typeface="Arial"/>
                        <a:sym typeface="Arial"/>
                      </a:rPr>
                      <m:t>±∞</m:t>
                    </m:r>
                  </m:oMath>
                </a14:m>
                <a:r>
                  <a:rPr lang="en-US" sz="1400" dirty="0">
                    <a:solidFill>
                      <a:srgbClr val="000000"/>
                    </a:solidFill>
                    <a:latin typeface="+mj-lt"/>
                    <a:ea typeface="Arial"/>
                    <a:cs typeface="Arial"/>
                    <a:sym typeface="Arial"/>
                  </a:rPr>
                  <a:t> or </a:t>
                </a:r>
                <a14:m>
                  <m:oMath xmlns:m="http://schemas.openxmlformats.org/officeDocument/2006/math">
                    <m:r>
                      <m:rPr>
                        <m:sty m:val="p"/>
                      </m:rPr>
                      <a:rPr lang="en-US" sz="1400" b="0" i="1" smtClean="0">
                        <a:solidFill>
                          <a:srgbClr val="000000"/>
                        </a:solidFill>
                        <a:latin typeface="+mj-lt"/>
                        <a:ea typeface="Arial"/>
                        <a:cs typeface="Arial"/>
                        <a:sym typeface="Arial"/>
                      </a:rPr>
                      <m:t>NaN</m:t>
                    </m:r>
                  </m:oMath>
                </a14:m>
                <a:r>
                  <a:rPr lang="en-US" sz="1400" dirty="0">
                    <a:solidFill>
                      <a:srgbClr val="000000"/>
                    </a:solidFill>
                    <a:latin typeface="+mj-lt"/>
                    <a:ea typeface="Arial"/>
                    <a:cs typeface="Arial"/>
                    <a:sym typeface="Arial"/>
                  </a:rPr>
                  <a:t>)</a:t>
                </a:r>
              </a:p>
            </p:txBody>
          </p:sp>
        </mc:Choice>
        <mc:Fallback>
          <p:sp>
            <p:nvSpPr>
              <p:cNvPr id="118" name="Google Shape;118;p29">
                <a:extLst>
                  <a:ext uri="{FF2B5EF4-FFF2-40B4-BE49-F238E27FC236}">
                    <a16:creationId xmlns:a16="http://schemas.microsoft.com/office/drawing/2014/main" id="{141F2F11-74AB-3591-BEF0-29FEEC82E5D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r="-65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0F31AEF-72CC-F398-6FE6-1BD7D0F3FEF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B737F52-8011-02F6-21FC-9F2BF8892F5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Errors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A931B7D-C8DF-BB42-7EFC-2E3FD7B1B3A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4A6A01F-9244-4D88-3283-06D8EBD4AAD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DFDBED9-2BB1-F64E-8FA9-E692A4FEA45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75E3F8-32EE-0DB3-FD11-2325CFF936E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9AFB9E6-5669-BB54-306A-A874786082F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B798CCC-7A4C-173B-E5B3-57A9144CEE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288168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96117B9-A2E8-BE0D-BC05-632B7FEE90A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DE43706-221B-8043-1928-494C568D2F8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DMA_CH1_INT through DMA_CH6_INT:</a:t>
            </a:r>
          </a:p>
          <a:p>
            <a:pPr marL="114300" indent="0" algn="l">
              <a:buNone/>
            </a:pPr>
            <a:r>
              <a:rPr lang="en-US" sz="1800" dirty="0">
                <a:solidFill>
                  <a:srgbClr val="000000"/>
                </a:solidFill>
                <a:latin typeface="+mj-lt"/>
                <a:ea typeface="Arial"/>
                <a:cs typeface="Arial"/>
                <a:sym typeface="Arial"/>
              </a:rPr>
              <a:t>Direct Memory Access. Triggers when a large block of memory (e.g., an ADC buffer) has been moved without CPU intervention.</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IPC0_INT through IPC3_INT:</a:t>
            </a:r>
          </a:p>
          <a:p>
            <a:pPr marL="114300" indent="0" algn="l">
              <a:buNone/>
            </a:pPr>
            <a:r>
              <a:rPr lang="en-US" sz="1800" dirty="0">
                <a:solidFill>
                  <a:srgbClr val="000000"/>
                </a:solidFill>
                <a:latin typeface="+mj-lt"/>
                <a:ea typeface="Arial"/>
                <a:cs typeface="Arial"/>
                <a:sym typeface="Arial"/>
              </a:rPr>
              <a:t>Inter-Processor Communication. This device is Dual Core (CPU1 and CPU2). These interrupts are the "phone lines" allowing CPU1 to signal CPU2.</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VCU_INT: </a:t>
            </a:r>
          </a:p>
          <a:p>
            <a:pPr marL="114300" indent="0" algn="l">
              <a:buNone/>
            </a:pPr>
            <a:r>
              <a:rPr lang="en-US" sz="1800" dirty="0">
                <a:solidFill>
                  <a:srgbClr val="000000"/>
                </a:solidFill>
                <a:latin typeface="+mj-lt"/>
                <a:ea typeface="Arial"/>
                <a:cs typeface="Arial"/>
                <a:sym typeface="Arial"/>
              </a:rPr>
              <a:t>Viterbi Complex Unit. An accelerator for vibration analysis (FFT) and communications encoding.</a:t>
            </a:r>
          </a:p>
        </p:txBody>
      </p:sp>
      <p:sp>
        <p:nvSpPr>
          <p:cNvPr id="119" name="Google Shape;119;p29">
            <a:extLst>
              <a:ext uri="{FF2B5EF4-FFF2-40B4-BE49-F238E27FC236}">
                <a16:creationId xmlns:a16="http://schemas.microsoft.com/office/drawing/2014/main" id="{A6B9506E-3703-BC4B-7920-C2A5EA4833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86DD147-DA73-A91D-EB5D-097389BF962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CPU Accelerator</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A73994F-7C35-F109-8704-159857A99C1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6F0154E-CDCA-FA5A-A682-FEF32AB7030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6E30BAB-107D-DEBB-695D-8F016D4FC14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CB00805-0C41-E612-8B2E-D06C21C28A6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561404A-2889-0D7A-CE38-705F9B05A17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CDCC1E6-EC93-EA19-076F-10BCF06E4B8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992703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78D4E41-206D-FC56-FB14-CB7EED4F470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A6EED86-5218-3E0F-0027-AC5C1485558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CLA_OVERFLOW_INT / CLA_UNDERFLOW_INT: </a:t>
            </a:r>
          </a:p>
          <a:p>
            <a:pPr marL="114300" indent="0" algn="l">
              <a:buNone/>
            </a:pPr>
            <a:r>
              <a:rPr lang="en-US" sz="1800" dirty="0">
                <a:solidFill>
                  <a:srgbClr val="000000"/>
                </a:solidFill>
                <a:latin typeface="+mj-lt"/>
                <a:ea typeface="Arial"/>
                <a:cs typeface="Arial"/>
                <a:sym typeface="Arial"/>
              </a:rPr>
              <a:t>Mathematical errors specifically within the CLA core.</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CLA1_1_INT </a:t>
            </a:r>
            <a:r>
              <a:rPr lang="en-US" sz="1800" dirty="0">
                <a:solidFill>
                  <a:srgbClr val="000000"/>
                </a:solidFill>
                <a:latin typeface="+mj-lt"/>
                <a:ea typeface="Arial"/>
                <a:cs typeface="Arial"/>
                <a:sym typeface="Arial"/>
              </a:rPr>
              <a:t>through </a:t>
            </a:r>
            <a:r>
              <a:rPr lang="en-US" sz="1800" b="1" dirty="0">
                <a:solidFill>
                  <a:srgbClr val="000000"/>
                </a:solidFill>
                <a:latin typeface="+mj-lt"/>
                <a:ea typeface="Arial"/>
                <a:cs typeface="Arial"/>
                <a:sym typeface="Arial"/>
              </a:rPr>
              <a:t>CLA1_8_INT:</a:t>
            </a:r>
          </a:p>
          <a:p>
            <a:pPr marL="114300" indent="0" algn="l">
              <a:buNone/>
            </a:pPr>
            <a:r>
              <a:rPr lang="en-US" sz="1800" dirty="0">
                <a:solidFill>
                  <a:srgbClr val="000000"/>
                </a:solidFill>
                <a:latin typeface="+mj-lt"/>
                <a:ea typeface="Arial"/>
                <a:cs typeface="Arial"/>
                <a:sym typeface="Arial"/>
              </a:rPr>
              <a:t>The Control Law Accelerator (CLA) is an independent 32-bit floating-point math engine. Called once a floating point operation is done.</a:t>
            </a:r>
          </a:p>
          <a:p>
            <a:pPr marL="114300" indent="0" algn="l">
              <a:buNone/>
            </a:pPr>
            <a:endParaRPr lang="en-US" sz="1800" b="1" dirty="0">
              <a:solidFill>
                <a:srgbClr val="000000"/>
              </a:solidFill>
              <a:latin typeface="+mj-lt"/>
              <a:ea typeface="Arial"/>
              <a:cs typeface="Arial"/>
              <a:sym typeface="Arial"/>
            </a:endParaRPr>
          </a:p>
        </p:txBody>
      </p:sp>
      <p:sp>
        <p:nvSpPr>
          <p:cNvPr id="119" name="Google Shape;119;p29">
            <a:extLst>
              <a:ext uri="{FF2B5EF4-FFF2-40B4-BE49-F238E27FC236}">
                <a16:creationId xmlns:a16="http://schemas.microsoft.com/office/drawing/2014/main" id="{F5DE1C6F-FFD3-BFD4-3881-D904D8BA40E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F4C3549-17F2-2818-6E6D-58176E0DD74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CPU Accelerator – CLA ( floating point engine )</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0A15143-789C-87F0-ABAE-DA2BD4043DE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85573CA-9B8F-E5FC-ECE5-9CEEF8A2788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B3DF91C-9701-637F-63F1-D93E5970EA2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EC54711-3B16-85F5-093E-69793F2CD49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4B37E7F-653E-4813-3C8C-A6C0C8AD1C7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2EE5F1D-0650-6F1D-90B9-87E449FA8CA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342577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FA70FF4-F952-0527-1DD4-2AD259E139C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045E20E-5695-D69A-D45F-FE0A594C66E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UPPA_INT: </a:t>
            </a:r>
            <a:r>
              <a:rPr lang="en-US" sz="1800" dirty="0">
                <a:solidFill>
                  <a:srgbClr val="000000"/>
                </a:solidFill>
                <a:latin typeface="+mj-lt"/>
                <a:ea typeface="Arial"/>
                <a:cs typeface="Arial"/>
                <a:sym typeface="Arial"/>
              </a:rPr>
              <a:t>Parallel Interface Communication</a:t>
            </a:r>
          </a:p>
          <a:p>
            <a:pPr marL="114300" indent="0" algn="l">
              <a:buNone/>
            </a:pPr>
            <a:r>
              <a:rPr lang="en-US" sz="1800" dirty="0">
                <a:solidFill>
                  <a:srgbClr val="000000"/>
                </a:solidFill>
                <a:latin typeface="+mj-lt"/>
                <a:ea typeface="Arial"/>
                <a:cs typeface="Arial"/>
                <a:sym typeface="Arial"/>
              </a:rPr>
              <a:t>This is a high-speed, multi-channel parallel bus often used to interface with high-speed ADCs or FPGAs</a:t>
            </a:r>
          </a:p>
        </p:txBody>
      </p:sp>
      <p:sp>
        <p:nvSpPr>
          <p:cNvPr id="119" name="Google Shape;119;p29">
            <a:extLst>
              <a:ext uri="{FF2B5EF4-FFF2-40B4-BE49-F238E27FC236}">
                <a16:creationId xmlns:a16="http://schemas.microsoft.com/office/drawing/2014/main" id="{CC060E49-AEB5-A798-BC37-1BEDFB8C88B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51EDF81-EFFF-4948-9B0C-4D50957A017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High-Speed Peripherals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8B3B07D-F39A-011B-3959-71B0D7532B8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D735D05-E9EA-B1B2-25AD-831FFE75CD8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3DA9C21-C7EE-106C-C23A-759A8B7E2BD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5C8C44D-329C-A053-1A68-E0B6152FCEF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907343F-D90D-8054-9F3F-923489EF8A0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F558C43-630D-74E6-7104-E884E88BF68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3669203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6C26294-A118-45ED-54A5-7AC73F111FE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C9DB61D8-4B5B-654D-0542-CDCD78B2F03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PIE1_RESERVED_INT </a:t>
                </a:r>
                <a:r>
                  <a:rPr lang="en-US" sz="1800" dirty="0">
                    <a:solidFill>
                      <a:srgbClr val="000000"/>
                    </a:solidFill>
                    <a:latin typeface="+mj-lt"/>
                    <a:ea typeface="Arial"/>
                    <a:cs typeface="Arial"/>
                    <a:sym typeface="Arial"/>
                  </a:rPr>
                  <a:t>through</a:t>
                </a:r>
                <a:r>
                  <a:rPr lang="en-US" sz="1800" b="1" dirty="0">
                    <a:solidFill>
                      <a:srgbClr val="000000"/>
                    </a:solidFill>
                    <a:latin typeface="+mj-lt"/>
                    <a:ea typeface="Arial"/>
                    <a:cs typeface="Arial"/>
                    <a:sym typeface="Arial"/>
                  </a:rPr>
                  <a:t> PIE88_RESERVED_INT:</a:t>
                </a:r>
              </a:p>
              <a:p>
                <a:pPr marL="114300" indent="0" algn="l">
                  <a:buNone/>
                </a:pPr>
                <a:r>
                  <a:rPr lang="en-US" sz="1800" dirty="0">
                    <a:solidFill>
                      <a:srgbClr val="000000"/>
                    </a:solidFill>
                    <a:latin typeface="+mj-lt"/>
                    <a:ea typeface="Arial"/>
                    <a:cs typeface="Arial"/>
                    <a:sym typeface="Arial"/>
                  </a:rPr>
                  <a:t>The hardware architecture allocates a </a:t>
                </a:r>
                <a14:m>
                  <m:oMath xmlns:m="http://schemas.openxmlformats.org/officeDocument/2006/math">
                    <m:r>
                      <a:rPr lang="en-US" sz="1800" b="0" i="1" smtClean="0">
                        <a:solidFill>
                          <a:srgbClr val="000000"/>
                        </a:solidFill>
                        <a:latin typeface="Cambria Math" panose="02040503050406030204" pitchFamily="18" charset="0"/>
                        <a:ea typeface="Arial"/>
                        <a:cs typeface="Arial"/>
                        <a:sym typeface="Arial"/>
                      </a:rPr>
                      <m:t>12</m:t>
                    </m:r>
                    <m:r>
                      <a:rPr lang="en-US" sz="1800" b="0" i="1" smtClean="0">
                        <a:solidFill>
                          <a:srgbClr val="000000"/>
                        </a:solidFill>
                        <a:latin typeface="Cambria Math" panose="02040503050406030204" pitchFamily="18" charset="0"/>
                        <a:ea typeface="Cambria Math" panose="02040503050406030204" pitchFamily="18" charset="0"/>
                        <a:cs typeface="Arial"/>
                        <a:sym typeface="Arial"/>
                      </a:rPr>
                      <m:t>×16</m:t>
                    </m:r>
                  </m:oMath>
                </a14:m>
                <a:r>
                  <a:rPr lang="en-US" sz="1800" dirty="0">
                    <a:solidFill>
                      <a:srgbClr val="000000"/>
                    </a:solidFill>
                    <a:latin typeface="+mj-lt"/>
                    <a:ea typeface="Arial"/>
                    <a:cs typeface="Arial"/>
                    <a:sym typeface="Arial"/>
                  </a:rPr>
                  <a:t> grid, but not every slot is connected to a peripheral in this specific chip. These must be mapped to a "Default ISR" that essentially does nothing, to prevent system crashes if noise triggers a phantom interrupt.</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USER1_INT </a:t>
                </a:r>
                <a:r>
                  <a:rPr lang="en-US" sz="1800" dirty="0">
                    <a:solidFill>
                      <a:srgbClr val="000000"/>
                    </a:solidFill>
                    <a:latin typeface="+mj-lt"/>
                    <a:ea typeface="Arial"/>
                    <a:cs typeface="Arial"/>
                    <a:sym typeface="Arial"/>
                  </a:rPr>
                  <a:t>through</a:t>
                </a:r>
                <a:r>
                  <a:rPr lang="en-US" sz="1800" b="1" dirty="0">
                    <a:solidFill>
                      <a:srgbClr val="000000"/>
                    </a:solidFill>
                    <a:latin typeface="+mj-lt"/>
                    <a:ea typeface="Arial"/>
                    <a:cs typeface="Arial"/>
                    <a:sym typeface="Arial"/>
                  </a:rPr>
                  <a:t> USER12_INT:</a:t>
                </a:r>
              </a:p>
              <a:p>
                <a:pPr marL="114300" indent="0" algn="l">
                  <a:buNone/>
                </a:pPr>
                <a:r>
                  <a:rPr lang="en-US" sz="1800" dirty="0">
                    <a:solidFill>
                      <a:srgbClr val="000000"/>
                    </a:solidFill>
                    <a:latin typeface="+mj-lt"/>
                    <a:ea typeface="Arial"/>
                    <a:cs typeface="Arial"/>
                    <a:sym typeface="Arial"/>
                  </a:rPr>
                  <a:t>These are software traps. You can trigger these manually in code using the assembly instruction TRAP #20. They are often used by RTOS kernels to implement system calls.</a:t>
                </a:r>
              </a:p>
            </p:txBody>
          </p:sp>
        </mc:Choice>
        <mc:Fallback>
          <p:sp>
            <p:nvSpPr>
              <p:cNvPr id="118" name="Google Shape;118;p29">
                <a:extLst>
                  <a:ext uri="{FF2B5EF4-FFF2-40B4-BE49-F238E27FC236}">
                    <a16:creationId xmlns:a16="http://schemas.microsoft.com/office/drawing/2014/main" id="{C9DB61D8-4B5B-654D-0542-CDCD78B2F03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6353D75-CA3D-BAB7-4832-5F94E5877F1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93CB4D7-6667-45E8-CD9F-A7BD44D295F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a:t>
            </a:r>
            <a:r>
              <a:rPr lang="en-US" sz="2400" b="0" i="0" u="none" strike="noStrike" cap="none" dirty="0" err="1">
                <a:solidFill>
                  <a:schemeClr val="lt1"/>
                </a:solidFill>
                <a:latin typeface="Arial"/>
                <a:ea typeface="Arial"/>
                <a:cs typeface="Arial"/>
                <a:sym typeface="Arial"/>
              </a:rPr>
              <a:t>Placerholder</a:t>
            </a:r>
            <a:r>
              <a:rPr lang="en-US" sz="2400" dirty="0" err="1">
                <a:solidFill>
                  <a:schemeClr val="lt1"/>
                </a:solidFill>
              </a:rPr>
              <a:t>s</a:t>
            </a:r>
            <a:r>
              <a:rPr lang="en-US" sz="2400" dirty="0">
                <a:solidFill>
                  <a:schemeClr val="lt1"/>
                </a:solidFill>
              </a:rPr>
              <a:t> </a:t>
            </a:r>
            <a:r>
              <a:rPr lang="en-US" sz="2400" b="0" i="0" u="none" strike="noStrike" cap="none" dirty="0">
                <a:solidFill>
                  <a:schemeClr val="lt1"/>
                </a:solidFill>
                <a:latin typeface="Arial"/>
                <a:ea typeface="Arial"/>
                <a:cs typeface="Arial"/>
                <a:sym typeface="Arial"/>
              </a:rPr>
              <a:t>&amp; User Definitions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32E4110-EB88-8BC0-2D15-022EC278194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C6B338-0CD1-87C8-C921-8021E0791D6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B22DD30-A6F8-141C-64AE-379A831509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23B9A4D-110C-CBA1-56A9-A287FBBFA01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CE3F0FA-933D-8D8B-819A-D025543E892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B5EF7CE-6A51-59B4-97F4-4E4B7A16E18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329996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06C4200-D46E-19D7-E9FE-66DDAD08AF1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194A8DC-5D48-C7A4-AD81-A36DEBA49BC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ea typeface="Arial"/>
                <a:cs typeface="Arial"/>
                <a:sym typeface="Arial"/>
              </a:rPr>
              <a:t>DATALOG_INT </a:t>
            </a:r>
            <a:r>
              <a:rPr lang="en-US" sz="1800" dirty="0">
                <a:solidFill>
                  <a:srgbClr val="000000"/>
                </a:solidFill>
                <a:latin typeface="+mj-lt"/>
                <a:ea typeface="Arial"/>
                <a:cs typeface="Arial"/>
                <a:sym typeface="Arial"/>
              </a:rPr>
              <a:t>(Datalogging Interrupt):</a:t>
            </a:r>
          </a:p>
          <a:p>
            <a:pPr marL="114300" indent="0" algn="l">
              <a:buNone/>
            </a:pPr>
            <a:r>
              <a:rPr lang="en-US" sz="1800" dirty="0">
                <a:solidFill>
                  <a:srgbClr val="000000"/>
                </a:solidFill>
                <a:latin typeface="+mj-lt"/>
                <a:ea typeface="Arial"/>
                <a:cs typeface="Arial"/>
                <a:sym typeface="Arial"/>
              </a:rPr>
              <a:t>Used primarily by TI's data-logging modules to trigger a capture of internal variables at a specific sample rate. Helpful for logging data for visualization.</a:t>
            </a:r>
          </a:p>
          <a:p>
            <a:pPr marL="114300" indent="0" algn="l">
              <a:buNone/>
            </a:pPr>
            <a:endParaRPr lang="en-US" sz="1800" dirty="0">
              <a:solidFill>
                <a:srgbClr val="000000"/>
              </a:solidFill>
              <a:latin typeface="+mj-lt"/>
              <a:ea typeface="Arial"/>
              <a:cs typeface="Arial"/>
              <a:sym typeface="Arial"/>
            </a:endParaRPr>
          </a:p>
          <a:p>
            <a:pPr marL="114300" indent="0" algn="l">
              <a:buNone/>
            </a:pPr>
            <a:r>
              <a:rPr lang="en-US" sz="1800" b="1" dirty="0">
                <a:solidFill>
                  <a:srgbClr val="000000"/>
                </a:solidFill>
                <a:latin typeface="+mj-lt"/>
                <a:ea typeface="Arial"/>
                <a:cs typeface="Arial"/>
                <a:sym typeface="Arial"/>
              </a:rPr>
              <a:t>EMU_INT:</a:t>
            </a:r>
          </a:p>
          <a:p>
            <a:pPr marL="114300" indent="0" algn="l">
              <a:buNone/>
            </a:pPr>
            <a:r>
              <a:rPr lang="en-US" sz="1800" dirty="0">
                <a:solidFill>
                  <a:srgbClr val="000000"/>
                </a:solidFill>
                <a:latin typeface="+mj-lt"/>
                <a:ea typeface="Arial"/>
                <a:cs typeface="Arial"/>
                <a:sym typeface="Arial"/>
              </a:rPr>
              <a:t>Triggered by the on-chip debug logic (JTAG). This handles hardware breakpoints or software "Halt" commands. It allows the CPU to enter a suspended state while maintaining the integrity of the peripheral registers.</a:t>
            </a:r>
          </a:p>
        </p:txBody>
      </p:sp>
      <p:sp>
        <p:nvSpPr>
          <p:cNvPr id="119" name="Google Shape;119;p29">
            <a:extLst>
              <a:ext uri="{FF2B5EF4-FFF2-40B4-BE49-F238E27FC236}">
                <a16:creationId xmlns:a16="http://schemas.microsoft.com/office/drawing/2014/main" id="{636E31B0-5B61-13D7-D2E3-C1818BFB50D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80C931C-2FC2-A101-496F-F397D03553B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Interrupts – Debugging</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EAD6BFD-ADBC-40D0-F962-E54C4EECCAF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FBE4C96-05FF-F005-D417-A79FE327409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52A0A0-682E-1707-EB4C-B0A112A2A26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7EA33A3-21BC-56B3-48C9-97F05C71693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5012E55-08FE-C420-0DC0-D3204677BD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F4BB7D7-AEF5-4781-9224-12D348087A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967458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rial"/>
                <a:ea typeface="Arial"/>
                <a:cs typeface="Arial"/>
                <a:sym typeface="Arial"/>
              </a:rPr>
              <a:t>Lorem Ipsum Dolor Sit Amet Consectetur Adipiscing</a:t>
            </a:r>
            <a:endParaRPr sz="2600" b="1">
              <a:solidFill>
                <a:srgbClr val="E84B36"/>
              </a:solidFill>
              <a:latin typeface="Arial"/>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2000"/>
              <a:buNone/>
            </a:pPr>
            <a:r>
              <a:rPr lang="en-US" sz="1800">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rial"/>
                <a:ea typeface="Arial"/>
                <a:cs typeface="Arial"/>
                <a:sym typeface="Arial"/>
              </a:rPr>
              <a:t>Lorem Ipsum Dolor Sit Amet Consectetur Adipiscing</a:t>
            </a:r>
            <a:endParaRPr sz="2000" b="1">
              <a:solidFill>
                <a:srgbClr val="15264B"/>
              </a:solidFill>
              <a:latin typeface="Arial"/>
              <a:ea typeface="Arial"/>
              <a:cs typeface="Arial"/>
              <a:sym typeface="Arial"/>
            </a:endParaRPr>
          </a:p>
          <a:p>
            <a:pPr marL="0" lvl="0" indent="0" algn="l" rtl="0">
              <a:lnSpc>
                <a:spcPct val="100000"/>
              </a:lnSpc>
              <a:spcBef>
                <a:spcPts val="0"/>
              </a:spcBef>
              <a:spcAft>
                <a:spcPts val="0"/>
              </a:spcAft>
              <a:buSzPts val="3000"/>
              <a:buNone/>
            </a:pPr>
            <a:endParaRPr sz="1800" b="1">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1800">
                <a:latin typeface="Arial"/>
                <a:ea typeface="Arial"/>
                <a:cs typeface="Arial"/>
                <a:sym typeface="Arial"/>
              </a:rPr>
              <a:t>Lorem ipsum dolor sit amet, consectetur adipiscing elit, sed do eiusmod tempor incididunt ut labore et dolore magna aliqua.</a:t>
            </a:r>
            <a:endParaRPr sz="1800" b="1">
              <a:solidFill>
                <a:schemeClr val="dk1"/>
              </a:solidFill>
              <a:latin typeface="Arial"/>
              <a:ea typeface="Arial"/>
              <a:cs typeface="Arial"/>
              <a:sym typeface="Arial"/>
            </a:endParaRP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21" name="Google Shape;121;p29"/>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4459F24-83D4-FE08-8E5D-977E6D0426B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59685D9-5A54-CB96-729F-2E71E83029A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rial"/>
                <a:ea typeface="Arial"/>
                <a:cs typeface="Arial"/>
                <a:sym typeface="Arial"/>
              </a:rPr>
              <a:t>Lorem Ipsum Dolor Sit Amet Consectetur Adipiscing</a:t>
            </a:r>
            <a:endParaRPr sz="2600" b="1">
              <a:solidFill>
                <a:srgbClr val="E84B36"/>
              </a:solidFill>
              <a:latin typeface="Arial"/>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2000"/>
              <a:buNone/>
            </a:pPr>
            <a:r>
              <a:rPr lang="en-US" sz="1800">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rial"/>
                <a:ea typeface="Arial"/>
                <a:cs typeface="Arial"/>
                <a:sym typeface="Arial"/>
              </a:rPr>
              <a:t>Lorem Ipsum Dolor Sit Amet Consectetur Adipiscing</a:t>
            </a:r>
            <a:endParaRPr sz="2000" b="1">
              <a:solidFill>
                <a:srgbClr val="15264B"/>
              </a:solidFill>
              <a:latin typeface="Arial"/>
              <a:ea typeface="Arial"/>
              <a:cs typeface="Arial"/>
              <a:sym typeface="Arial"/>
            </a:endParaRPr>
          </a:p>
          <a:p>
            <a:pPr marL="0" lvl="0" indent="0" algn="l" rtl="0">
              <a:lnSpc>
                <a:spcPct val="100000"/>
              </a:lnSpc>
              <a:spcBef>
                <a:spcPts val="0"/>
              </a:spcBef>
              <a:spcAft>
                <a:spcPts val="0"/>
              </a:spcAft>
              <a:buSzPts val="3000"/>
              <a:buNone/>
            </a:pPr>
            <a:endParaRPr sz="1800" b="1">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1800">
                <a:latin typeface="Arial"/>
                <a:ea typeface="Arial"/>
                <a:cs typeface="Arial"/>
                <a:sym typeface="Arial"/>
              </a:rPr>
              <a:t>Lorem ipsum dolor sit amet, consectetur adipiscing elit, sed do eiusmod tempor incididunt ut labore et dolore magna aliqua.</a:t>
            </a:r>
            <a:endParaRPr sz="1800" b="1">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2867329A-BDB5-9707-AC8E-68A037F6492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51121375-796A-3DE6-21FE-9D4A8FB4079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17FD58F-219F-71FD-99A9-ED880D49610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C384F55-8559-1B41-6BF6-D99315A70FD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10BEAF2-38C0-86DE-11C2-F48CEC59CB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3949BA1-A46C-0CD5-980C-A486DA06B6F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CBC8E5B-9667-DC1F-F021-4367501A765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2573A40-3DA3-5EED-8E57-B4863D69123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853610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0"/>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32" name="Google Shape;132;p30"/>
          <p:cNvSpPr txBox="1"/>
          <p:nvPr/>
        </p:nvSpPr>
        <p:spPr>
          <a:xfrm>
            <a:off x="376810"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rial"/>
              <a:ea typeface="Arial"/>
              <a:cs typeface="Arial"/>
              <a:sym typeface="Arial"/>
            </a:endParaRPr>
          </a:p>
        </p:txBody>
      </p:sp>
      <p:sp>
        <p:nvSpPr>
          <p:cNvPr id="133" name="Google Shape;133;p30"/>
          <p:cNvSpPr txBox="1"/>
          <p:nvPr/>
        </p:nvSpPr>
        <p:spPr>
          <a:xfrm>
            <a:off x="6158774"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rial"/>
              <a:ea typeface="Arial"/>
              <a:cs typeface="Arial"/>
              <a:sym typeface="Arial"/>
            </a:endParaRPr>
          </a:p>
        </p:txBody>
      </p:sp>
      <p:sp>
        <p:nvSpPr>
          <p:cNvPr id="134" name="Google Shape;134;p30"/>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35" name="Google Shape;135;p30"/>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36" name="Google Shape;136;p30"/>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37" name="Google Shape;137;p30"/>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38" name="Google Shape;138;p30"/>
          <p:cNvGrpSpPr/>
          <p:nvPr/>
        </p:nvGrpSpPr>
        <p:grpSpPr>
          <a:xfrm>
            <a:off x="4066674" y="6601537"/>
            <a:ext cx="5233412" cy="70446"/>
            <a:chOff x="4033424" y="6601537"/>
            <a:chExt cx="5233412" cy="70446"/>
          </a:xfrm>
        </p:grpSpPr>
        <p:cxnSp>
          <p:nvCxnSpPr>
            <p:cNvPr id="139" name="Google Shape;139;p30"/>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40" name="Google Shape;140;p30"/>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1"/>
          <p:cNvSpPr/>
          <p:nvPr/>
        </p:nvSpPr>
        <p:spPr>
          <a:xfrm>
            <a:off x="47556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 name="Google Shape;146;p31"/>
          <p:cNvSpPr txBox="1"/>
          <p:nvPr/>
        </p:nvSpPr>
        <p:spPr>
          <a:xfrm>
            <a:off x="149411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47" name="Google Shape;147;p31"/>
          <p:cNvSpPr/>
          <p:nvPr/>
        </p:nvSpPr>
        <p:spPr>
          <a:xfrm>
            <a:off x="47556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8" name="Google Shape;148;p31"/>
          <p:cNvSpPr txBox="1"/>
          <p:nvPr/>
        </p:nvSpPr>
        <p:spPr>
          <a:xfrm>
            <a:off x="149411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49" name="Google Shape;149;p31"/>
          <p:cNvSpPr txBox="1"/>
          <p:nvPr/>
        </p:nvSpPr>
        <p:spPr>
          <a:xfrm>
            <a:off x="5122548" y="1334279"/>
            <a:ext cx="6686464"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50" name="Google Shape;150;p31"/>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51" name="Google Shape;151;p31"/>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52" name="Google Shape;152;p31"/>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53" name="Google Shape;153;p31"/>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54" name="Google Shape;154;p31"/>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55" name="Google Shape;155;p31"/>
          <p:cNvGrpSpPr/>
          <p:nvPr/>
        </p:nvGrpSpPr>
        <p:grpSpPr>
          <a:xfrm>
            <a:off x="4066674" y="6601537"/>
            <a:ext cx="5233412" cy="70446"/>
            <a:chOff x="4033424" y="6601537"/>
            <a:chExt cx="5233412" cy="70446"/>
          </a:xfrm>
        </p:grpSpPr>
        <p:cxnSp>
          <p:nvCxnSpPr>
            <p:cNvPr id="156" name="Google Shape;156;p31"/>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57" name="Google Shape;157;p31"/>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
          <p:cNvSpPr/>
          <p:nvPr/>
        </p:nvSpPr>
        <p:spPr>
          <a:xfrm>
            <a:off x="747545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3" name="Google Shape;163;p7"/>
          <p:cNvSpPr txBox="1"/>
          <p:nvPr/>
        </p:nvSpPr>
        <p:spPr>
          <a:xfrm>
            <a:off x="849400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64" name="Google Shape;164;p7"/>
          <p:cNvSpPr/>
          <p:nvPr/>
        </p:nvSpPr>
        <p:spPr>
          <a:xfrm>
            <a:off x="747545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p7"/>
          <p:cNvSpPr txBox="1"/>
          <p:nvPr/>
        </p:nvSpPr>
        <p:spPr>
          <a:xfrm>
            <a:off x="849400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66" name="Google Shape;166;p7"/>
          <p:cNvSpPr txBox="1">
            <a:spLocks noGrp="1"/>
          </p:cNvSpPr>
          <p:nvPr>
            <p:ph type="body" idx="1"/>
          </p:nvPr>
        </p:nvSpPr>
        <p:spPr>
          <a:xfrm>
            <a:off x="376810" y="1334279"/>
            <a:ext cx="6686464"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rial"/>
                <a:ea typeface="Arial"/>
                <a:cs typeface="Arial"/>
                <a:sym typeface="Arial"/>
              </a:rPr>
              <a:t>Lorem Ipsum Dolor Sit Amet Consectetur Adipiscing</a:t>
            </a:r>
            <a:endParaRPr sz="2600" b="1">
              <a:solidFill>
                <a:srgbClr val="E84B36"/>
              </a:solidFill>
              <a:latin typeface="Arial"/>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2000"/>
              <a:buNone/>
            </a:pPr>
            <a:r>
              <a:rPr lang="en-US" sz="1800">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rial"/>
                <a:ea typeface="Arial"/>
                <a:cs typeface="Arial"/>
                <a:sym typeface="Arial"/>
              </a:rPr>
              <a:t>Lorem Ipsum Dolor Sit Amet Consectetur Adipiscing</a:t>
            </a:r>
            <a:endParaRPr sz="2000" b="1">
              <a:solidFill>
                <a:srgbClr val="15264B"/>
              </a:solidFill>
            </a:endParaRPr>
          </a:p>
          <a:p>
            <a:pPr marL="0" lvl="0" indent="0" algn="l" rtl="0">
              <a:lnSpc>
                <a:spcPct val="100000"/>
              </a:lnSpc>
              <a:spcBef>
                <a:spcPts val="0"/>
              </a:spcBef>
              <a:spcAft>
                <a:spcPts val="0"/>
              </a:spcAft>
              <a:buSzPts val="3000"/>
              <a:buNone/>
            </a:pPr>
            <a:endParaRPr sz="1800" b="1">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1800">
                <a:latin typeface="Arial"/>
                <a:ea typeface="Arial"/>
                <a:cs typeface="Arial"/>
                <a:sym typeface="Arial"/>
              </a:rPr>
              <a:t>Lorem ipsum dolor sit amet, consectetur adipiscing elit, sed do eiusmod tempor incididunt ut labore et dolore magna aliqua.</a:t>
            </a:r>
            <a:endParaRPr sz="1800" b="1">
              <a:solidFill>
                <a:schemeClr val="dk1"/>
              </a:solidFill>
              <a:latin typeface="Arial"/>
              <a:ea typeface="Arial"/>
              <a:cs typeface="Arial"/>
              <a:sym typeface="Arial"/>
            </a:endParaRPr>
          </a:p>
        </p:txBody>
      </p:sp>
      <p:sp>
        <p:nvSpPr>
          <p:cNvPr id="167" name="Google Shape;167;p7"/>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68" name="Google Shape;168;p7"/>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69" name="Google Shape;169;p7"/>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70" name="Google Shape;170;p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71" name="Google Shape;171;p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72" name="Google Shape;172;p7"/>
          <p:cNvGrpSpPr/>
          <p:nvPr/>
        </p:nvGrpSpPr>
        <p:grpSpPr>
          <a:xfrm>
            <a:off x="4066674" y="6601537"/>
            <a:ext cx="5233412" cy="70446"/>
            <a:chOff x="4033424" y="6601537"/>
            <a:chExt cx="5233412" cy="70446"/>
          </a:xfrm>
        </p:grpSpPr>
        <p:cxnSp>
          <p:nvCxnSpPr>
            <p:cNvPr id="173" name="Google Shape;173;p7"/>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74" name="Google Shape;174;p7"/>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p:nvPr/>
        </p:nvSpPr>
        <p:spPr>
          <a:xfrm>
            <a:off x="43119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0" name="Google Shape;180;p32"/>
          <p:cNvSpPr txBox="1"/>
          <p:nvPr/>
        </p:nvSpPr>
        <p:spPr>
          <a:xfrm>
            <a:off x="146927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81" name="Google Shape;181;p32"/>
          <p:cNvSpPr txBox="1"/>
          <p:nvPr/>
        </p:nvSpPr>
        <p:spPr>
          <a:xfrm>
            <a:off x="5131837"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82" name="Google Shape;182;p32"/>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83" name="Google Shape;183;p32"/>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84" name="Google Shape;184;p32"/>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85" name="Google Shape;185;p32"/>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86" name="Google Shape;186;p32"/>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87" name="Google Shape;187;p32"/>
          <p:cNvGrpSpPr/>
          <p:nvPr/>
        </p:nvGrpSpPr>
        <p:grpSpPr>
          <a:xfrm>
            <a:off x="4066674" y="6601537"/>
            <a:ext cx="5233412" cy="70446"/>
            <a:chOff x="4033424" y="6601537"/>
            <a:chExt cx="5233412" cy="70446"/>
          </a:xfrm>
        </p:grpSpPr>
        <p:cxnSp>
          <p:nvCxnSpPr>
            <p:cNvPr id="188" name="Google Shape;188;p32"/>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89" name="Google Shape;189;p32"/>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p:nvPr/>
        </p:nvSpPr>
        <p:spPr>
          <a:xfrm>
            <a:off x="745235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 name="Google Shape;195;p33"/>
          <p:cNvSpPr txBox="1"/>
          <p:nvPr/>
        </p:nvSpPr>
        <p:spPr>
          <a:xfrm>
            <a:off x="849043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96" name="Google Shape;196;p33"/>
          <p:cNvSpPr txBox="1"/>
          <p:nvPr/>
        </p:nvSpPr>
        <p:spPr>
          <a:xfrm>
            <a:off x="376808"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97" name="Google Shape;197;p33"/>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8" name="Google Shape;198;p33"/>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99" name="Google Shape;199;p33"/>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00" name="Google Shape;200;p33"/>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01" name="Google Shape;201;p33"/>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02" name="Google Shape;202;p33"/>
          <p:cNvGrpSpPr/>
          <p:nvPr/>
        </p:nvGrpSpPr>
        <p:grpSpPr>
          <a:xfrm>
            <a:off x="4066674" y="6601537"/>
            <a:ext cx="5233412" cy="70446"/>
            <a:chOff x="4033424" y="6601537"/>
            <a:chExt cx="5233412" cy="70446"/>
          </a:xfrm>
        </p:grpSpPr>
        <p:cxnSp>
          <p:nvCxnSpPr>
            <p:cNvPr id="203" name="Google Shape;203;p33"/>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04" name="Google Shape;204;p33"/>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
          <p:cNvSpPr/>
          <p:nvPr/>
        </p:nvSpPr>
        <p:spPr>
          <a:xfrm>
            <a:off x="2266934" y="1458134"/>
            <a:ext cx="7658130" cy="3688423"/>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0" name="Google Shape;210;p8"/>
          <p:cNvSpPr txBox="1"/>
          <p:nvPr/>
        </p:nvSpPr>
        <p:spPr>
          <a:xfrm>
            <a:off x="4548417" y="3123892"/>
            <a:ext cx="3095164"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CHART / GRAPH</a:t>
            </a:r>
            <a:endParaRPr sz="1400" b="0" i="0" u="none" strike="noStrike" cap="none">
              <a:solidFill>
                <a:srgbClr val="000000"/>
              </a:solidFill>
              <a:latin typeface="Arial"/>
              <a:ea typeface="Arial"/>
              <a:cs typeface="Arial"/>
              <a:sym typeface="Arial"/>
            </a:endParaRPr>
          </a:p>
        </p:txBody>
      </p:sp>
      <p:sp>
        <p:nvSpPr>
          <p:cNvPr id="211" name="Google Shape;211;p8"/>
          <p:cNvSpPr txBox="1"/>
          <p:nvPr/>
        </p:nvSpPr>
        <p:spPr>
          <a:xfrm>
            <a:off x="583914" y="5464730"/>
            <a:ext cx="11024170" cy="6541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1600" b="0" i="0" u="none" strike="noStrike" cap="none">
                <a:solidFill>
                  <a:schemeClr val="dk1"/>
                </a:solidFill>
                <a:latin typeface="Arial"/>
                <a:ea typeface="Arial"/>
                <a:cs typeface="Arial"/>
                <a:sym typeface="Arial"/>
              </a:rPr>
              <a:t>(Short commentary or relevant information about the contents of the chart/graph.)</a:t>
            </a:r>
            <a:endParaRPr sz="1600" b="0" i="0" u="none" strike="noStrike" cap="none">
              <a:solidFill>
                <a:srgbClr val="000000"/>
              </a:solidFill>
              <a:latin typeface="Arial"/>
              <a:ea typeface="Arial"/>
              <a:cs typeface="Arial"/>
              <a:sym typeface="Arial"/>
            </a:endParaRPr>
          </a:p>
        </p:txBody>
      </p:sp>
      <p:sp>
        <p:nvSpPr>
          <p:cNvPr id="212" name="Google Shape;212;p8"/>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13" name="Google Shape;213;p8"/>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214" name="Google Shape;214;p8"/>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15" name="Google Shape;215;p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16" name="Google Shape;216;p8"/>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17" name="Google Shape;217;p8"/>
          <p:cNvGrpSpPr/>
          <p:nvPr/>
        </p:nvGrpSpPr>
        <p:grpSpPr>
          <a:xfrm>
            <a:off x="4066674" y="6601537"/>
            <a:ext cx="5233412" cy="70446"/>
            <a:chOff x="4033424" y="6601537"/>
            <a:chExt cx="5233412" cy="70446"/>
          </a:xfrm>
        </p:grpSpPr>
        <p:cxnSp>
          <p:nvCxnSpPr>
            <p:cNvPr id="218" name="Google Shape;218;p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19" name="Google Shape;219;p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p:nvPr/>
        </p:nvSpPr>
        <p:spPr>
          <a:xfrm>
            <a:off x="1" y="0"/>
            <a:ext cx="12191998" cy="461738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5" name="Google Shape;225;p34"/>
          <p:cNvSpPr txBox="1"/>
          <p:nvPr/>
        </p:nvSpPr>
        <p:spPr>
          <a:xfrm>
            <a:off x="3513296" y="2308693"/>
            <a:ext cx="5140526"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(Send to back so Block I is not covered.)</a:t>
            </a:r>
            <a:endParaRPr sz="1400" b="0" i="0" u="none" strike="noStrike" cap="none">
              <a:solidFill>
                <a:srgbClr val="000000"/>
              </a:solidFill>
              <a:latin typeface="Arial"/>
              <a:ea typeface="Arial"/>
              <a:cs typeface="Arial"/>
              <a:sym typeface="Arial"/>
            </a:endParaRPr>
          </a:p>
        </p:txBody>
      </p:sp>
      <p:sp>
        <p:nvSpPr>
          <p:cNvPr id="226" name="Google Shape;226;p34"/>
          <p:cNvSpPr txBox="1"/>
          <p:nvPr/>
        </p:nvSpPr>
        <p:spPr>
          <a:xfrm>
            <a:off x="376810" y="5050453"/>
            <a:ext cx="11177400" cy="9534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rial"/>
                <a:ea typeface="Arial"/>
                <a:cs typeface="Arial"/>
                <a:sym typeface="Arial"/>
              </a:rPr>
              <a:t>(Text here relevant to the photo for a larger call out on a given idea or message.) </a:t>
            </a:r>
            <a:endParaRPr/>
          </a:p>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rial"/>
                <a:ea typeface="Arial"/>
                <a:cs typeface="Arial"/>
                <a:sym typeface="Arial"/>
              </a:rPr>
              <a:t>(Keep this text simple and short on one or two lines.)</a:t>
            </a:r>
            <a:endParaRPr sz="2200" b="0" i="0" u="none" strike="noStrike" cap="none">
              <a:solidFill>
                <a:srgbClr val="000000"/>
              </a:solidFill>
              <a:latin typeface="Arial"/>
              <a:ea typeface="Arial"/>
              <a:cs typeface="Arial"/>
              <a:sym typeface="Arial"/>
            </a:endParaRPr>
          </a:p>
        </p:txBody>
      </p:sp>
      <p:pic>
        <p:nvPicPr>
          <p:cNvPr id="227" name="Google Shape;227;p34"/>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28" name="Google Shape;228;p34"/>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29" name="Google Shape;229;p34"/>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30" name="Google Shape;230;p34"/>
          <p:cNvGrpSpPr/>
          <p:nvPr/>
        </p:nvGrpSpPr>
        <p:grpSpPr>
          <a:xfrm>
            <a:off x="4066674" y="6601537"/>
            <a:ext cx="5233412" cy="70446"/>
            <a:chOff x="4033424" y="6601537"/>
            <a:chExt cx="5233412" cy="70446"/>
          </a:xfrm>
        </p:grpSpPr>
        <p:cxnSp>
          <p:nvCxnSpPr>
            <p:cNvPr id="231" name="Google Shape;231;p34"/>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32" name="Google Shape;232;p34"/>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Shape 236"/>
        <p:cNvGrpSpPr/>
        <p:nvPr/>
      </p:nvGrpSpPr>
      <p:grpSpPr>
        <a:xfrm>
          <a:off x="0" y="0"/>
          <a:ext cx="0" cy="0"/>
          <a:chOff x="0" y="0"/>
          <a:chExt cx="0" cy="0"/>
        </a:xfrm>
      </p:grpSpPr>
      <p:sp>
        <p:nvSpPr>
          <p:cNvPr id="237" name="Google Shape;237;p35"/>
          <p:cNvSpPr txBox="1"/>
          <p:nvPr/>
        </p:nvSpPr>
        <p:spPr>
          <a:xfrm>
            <a:off x="5131837" y="1010620"/>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Lorem ipsum dolor sit amet consectetur adipiscing elit</a:t>
            </a:r>
            <a:endParaRPr sz="26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chemeClr val="lt1"/>
                </a:solidFill>
                <a:latin typeface="Arial"/>
                <a:ea typeface="Arial"/>
                <a:cs typeface="Arial"/>
                <a:sym typeface="Arial"/>
              </a:rPr>
              <a:t>Lorem ipsum dolor sit amet consectetur adipiscing</a:t>
            </a:r>
            <a:endParaRPr sz="20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rial"/>
              <a:ea typeface="Arial"/>
              <a:cs typeface="Arial"/>
              <a:sym typeface="Arial"/>
            </a:endParaRPr>
          </a:p>
        </p:txBody>
      </p:sp>
      <p:sp>
        <p:nvSpPr>
          <p:cNvPr id="238" name="Google Shape;238;p35"/>
          <p:cNvSpPr/>
          <p:nvPr/>
        </p:nvSpPr>
        <p:spPr>
          <a:xfrm>
            <a:off x="420782" y="344953"/>
            <a:ext cx="4109890" cy="595424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9" name="Google Shape;239;p35"/>
          <p:cNvSpPr txBox="1"/>
          <p:nvPr/>
        </p:nvSpPr>
        <p:spPr>
          <a:xfrm>
            <a:off x="1335481" y="323650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a:t>
            </a:r>
            <a:endParaRPr sz="1400" b="0" i="0" u="none" strike="noStrike" cap="none">
              <a:solidFill>
                <a:srgbClr val="000000"/>
              </a:solidFill>
              <a:latin typeface="Arial"/>
              <a:ea typeface="Arial"/>
              <a:cs typeface="Arial"/>
              <a:sym typeface="Arial"/>
            </a:endParaRPr>
          </a:p>
        </p:txBody>
      </p:sp>
      <p:pic>
        <p:nvPicPr>
          <p:cNvPr id="240" name="Google Shape;240;p35"/>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41" name="Google Shape;241;p35"/>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42" name="Google Shape;242;p35"/>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43" name="Google Shape;243;p35"/>
          <p:cNvGrpSpPr/>
          <p:nvPr/>
        </p:nvGrpSpPr>
        <p:grpSpPr>
          <a:xfrm>
            <a:off x="4066674" y="6601537"/>
            <a:ext cx="5233412" cy="70446"/>
            <a:chOff x="4033424" y="6601537"/>
            <a:chExt cx="5233412" cy="70446"/>
          </a:xfrm>
        </p:grpSpPr>
        <p:cxnSp>
          <p:nvCxnSpPr>
            <p:cNvPr id="244" name="Google Shape;244;p35"/>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45" name="Google Shape;245;p35"/>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6" descr="Text, letter, whiteboard&#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1" name="Google Shape;251;p36"/>
          <p:cNvSpPr/>
          <p:nvPr/>
        </p:nvSpPr>
        <p:spPr>
          <a:xfrm>
            <a:off x="0" y="0"/>
            <a:ext cx="6096000" cy="68580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2" name="Google Shape;252;p36"/>
          <p:cNvSpPr txBox="1"/>
          <p:nvPr/>
        </p:nvSpPr>
        <p:spPr>
          <a:xfrm>
            <a:off x="591671" y="3581984"/>
            <a:ext cx="4867835" cy="19389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(Slide the blue box and the text left or right to fit over your background image. Use this text box for a call out or caption to the image.)</a:t>
            </a:r>
            <a:endParaRPr sz="2400" b="1" i="0" u="none" strike="noStrike" cap="none">
              <a:solidFill>
                <a:schemeClr val="lt1"/>
              </a:solidFill>
              <a:latin typeface="Arial"/>
              <a:ea typeface="Arial"/>
              <a:cs typeface="Arial"/>
              <a:sym typeface="Arial"/>
            </a:endParaRPr>
          </a:p>
        </p:txBody>
      </p:sp>
      <p:sp>
        <p:nvSpPr>
          <p:cNvPr id="253" name="Google Shape;253;p36"/>
          <p:cNvSpPr txBox="1"/>
          <p:nvPr/>
        </p:nvSpPr>
        <p:spPr>
          <a:xfrm>
            <a:off x="701965" y="1422585"/>
            <a:ext cx="4608944"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IMAGE</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(Use a photo for the entire slide like the example shown here. Send the photo to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the back so the Block I and footer text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is not covered.)</a:t>
            </a:r>
            <a:endParaRPr sz="1400" b="0" i="0" u="none" strike="noStrike" cap="none">
              <a:solidFill>
                <a:schemeClr val="lt1"/>
              </a:solidFill>
              <a:latin typeface="Arial"/>
              <a:ea typeface="Arial"/>
              <a:cs typeface="Arial"/>
              <a:sym typeface="Arial"/>
            </a:endParaRPr>
          </a:p>
        </p:txBody>
      </p:sp>
      <p:pic>
        <p:nvPicPr>
          <p:cNvPr id="254" name="Google Shape;254;p36"/>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55" name="Google Shape;255;p36"/>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56" name="Google Shape;256;p36"/>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57" name="Google Shape;257;p36"/>
          <p:cNvGrpSpPr/>
          <p:nvPr/>
        </p:nvGrpSpPr>
        <p:grpSpPr>
          <a:xfrm>
            <a:off x="4066674" y="6601537"/>
            <a:ext cx="5233412" cy="70446"/>
            <a:chOff x="4033424" y="6601537"/>
            <a:chExt cx="5233412" cy="70446"/>
          </a:xfrm>
        </p:grpSpPr>
        <p:cxnSp>
          <p:nvCxnSpPr>
            <p:cNvPr id="258" name="Google Shape;258;p36"/>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59" name="Google Shape;259;p36"/>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p:cNvGrpSpPr/>
        <p:nvPr/>
      </p:nvGrpSpPr>
      <p:grpSpPr>
        <a:xfrm>
          <a:off x="0" y="0"/>
          <a:ext cx="0" cy="0"/>
          <a:chOff x="0" y="0"/>
          <a:chExt cx="0" cy="0"/>
        </a:xfrm>
      </p:grpSpPr>
      <p:sp>
        <p:nvSpPr>
          <p:cNvPr id="264" name="Google Shape;264;p37"/>
          <p:cNvSpPr txBox="1"/>
          <p:nvPr/>
        </p:nvSpPr>
        <p:spPr>
          <a:xfrm>
            <a:off x="2275515" y="1778140"/>
            <a:ext cx="7640969" cy="433420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(Closing slide option. Suggestions for last slide)</a:t>
            </a: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26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Summary</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Thank You</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Questions</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Contact Information</a:t>
            </a:r>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rial"/>
              <a:ea typeface="Arial"/>
              <a:cs typeface="Arial"/>
              <a:sym typeface="Arial"/>
            </a:endParaRPr>
          </a:p>
        </p:txBody>
      </p:sp>
      <p:pic>
        <p:nvPicPr>
          <p:cNvPr id="265" name="Google Shape;265;p3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67" name="Google Shape;267;p3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p:cNvGrpSpPr/>
          <p:nvPr/>
        </p:nvGrpSpPr>
        <p:grpSpPr>
          <a:xfrm>
            <a:off x="4066674" y="6601537"/>
            <a:ext cx="5233412" cy="70446"/>
            <a:chOff x="4033424" y="6601537"/>
            <a:chExt cx="5233412" cy="70446"/>
          </a:xfrm>
        </p:grpSpPr>
        <p:cxnSp>
          <p:nvCxnSpPr>
            <p:cNvPr id="269" name="Google Shape;269;p3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txBox="1"/>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r>
              <a:rPr lang="en-US" sz="6600" b="1" dirty="0">
                <a:solidFill>
                  <a:schemeClr val="lt1"/>
                </a:solidFill>
              </a:rPr>
              <a:t>Questions</a:t>
            </a:r>
            <a:r>
              <a:rPr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490</TotalTime>
  <Words>3607</Words>
  <Application>Microsoft Office PowerPoint</Application>
  <PresentationFormat>Widescreen</PresentationFormat>
  <Paragraphs>462</Paragraphs>
  <Slides>46</Slides>
  <Notes>46</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Cambria Math</vt:lpstr>
      <vt:lpstr>Consolas</vt:lpstr>
      <vt:lpstr>Helvetica Neue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96</cp:revision>
  <dcterms:created xsi:type="dcterms:W3CDTF">2019-01-14T22:06:33Z</dcterms:created>
  <dcterms:modified xsi:type="dcterms:W3CDTF">2026-01-31T06:28:52Z</dcterms:modified>
</cp:coreProperties>
</file>