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8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3.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sv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18: Path planning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Last lecture we said we used “BFS”, what does it stand for? What type of data structure is this most commonly used?</a:t>
            </a:r>
          </a:p>
          <a:p>
            <a:pPr marL="285750" indent="-285750">
              <a:lnSpc>
                <a:spcPct val="100000"/>
              </a:lnSpc>
              <a:spcBef>
                <a:spcPts val="0"/>
              </a:spcBef>
              <a:buSzPts val="3000"/>
            </a:pPr>
            <a:r>
              <a:rPr lang="en-US" sz="2400" dirty="0">
                <a:solidFill>
                  <a:schemeClr val="dk1"/>
                </a:solidFill>
                <a:latin typeface="Arial"/>
                <a:ea typeface="Arial"/>
                <a:cs typeface="Arial"/>
                <a:sym typeface="Arial"/>
              </a:rPr>
              <a:t>Open on the </a:t>
            </a:r>
            <a:r>
              <a:rPr lang="en-US" sz="2400" dirty="0">
                <a:latin typeface="Arial"/>
                <a:ea typeface="Arial"/>
                <a:cs typeface="Arial"/>
                <a:sym typeface="Arial"/>
              </a:rPr>
              <a:t>lecture’s website the path planning visualization that was made for this lecture (</a:t>
            </a:r>
            <a:r>
              <a:rPr lang="en-US" sz="2400" dirty="0">
                <a:latin typeface="Arial"/>
                <a:ea typeface="Arial"/>
                <a:cs typeface="Arial"/>
                <a:sym typeface="Arial"/>
                <a:hlinkClick r:id="rId3"/>
              </a:rPr>
              <a:t>https://marius-juston.github.io/SE-423---Class-Material/path_planning.html</a:t>
            </a:r>
            <a:r>
              <a:rPr lang="en-US" sz="2400" dirty="0">
                <a:latin typeface="Arial"/>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rial"/>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2 and 3 are due </a:t>
            </a:r>
            <a:r>
              <a:rPr lang="en-US" sz="1800" b="1" dirty="0">
                <a:latin typeface="Arial"/>
                <a:ea typeface="Arial"/>
                <a:cs typeface="Arial"/>
                <a:sym typeface="Arial"/>
              </a:rPr>
              <a:t>March 31,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4</a:t>
            </a:r>
            <a:r>
              <a:rPr lang="en-US" sz="1800" dirty="0">
                <a:latin typeface="Arial"/>
                <a:ea typeface="Arial"/>
                <a:cs typeface="Arial"/>
                <a:sym typeface="Arial"/>
              </a:rPr>
              <a:t> Ex 4 are due </a:t>
            </a:r>
            <a:r>
              <a:rPr lang="en-US" sz="1800" b="1" dirty="0">
                <a:latin typeface="Arial"/>
                <a:ea typeface="Arial"/>
                <a:cs typeface="Arial"/>
                <a:sym typeface="Arial"/>
              </a:rPr>
              <a:t>April 7, 5PM (The end of office hours)</a:t>
            </a:r>
          </a:p>
          <a:p>
            <a:pPr marL="285750" indent="-285750">
              <a:lnSpc>
                <a:spcPct val="100000"/>
              </a:lnSpc>
              <a:spcBef>
                <a:spcPts val="0"/>
              </a:spcBef>
              <a:buSzPts val="3000"/>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4</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342900">
              <a:lnSpc>
                <a:spcPct val="100000"/>
              </a:lnSpc>
              <a:spcBef>
                <a:spcPts val="0"/>
              </a:spcBef>
              <a:buSzPts val="3000"/>
            </a:pPr>
            <a:r>
              <a:rPr lang="en-US" sz="2350" dirty="0">
                <a:latin typeface="Arial"/>
                <a:ea typeface="Arial"/>
                <a:cs typeface="Arial"/>
                <a:sym typeface="Arial"/>
                <a:hlinkClick r:id="rId3"/>
              </a:rPr>
              <a:t>https://theory.stanford.edu/~amitp/GameProgramming/MapRepresentations.html</a:t>
            </a:r>
            <a:r>
              <a:rPr lang="en-US" sz="2350" dirty="0">
                <a:latin typeface="Arial"/>
                <a:ea typeface="Arial"/>
                <a:cs typeface="Arial"/>
                <a:sym typeface="Arial"/>
              </a:rPr>
              <a:t> </a:t>
            </a:r>
            <a:endParaRPr lang="en-US" sz="2350"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hlinkClick r:id="rId4"/>
              </a:rPr>
              <a:t>https://www.redblobgames.com/pathfinding/a-star/introduction.html</a:t>
            </a:r>
            <a:r>
              <a:rPr lang="en-US" sz="2400" dirty="0">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Preface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Graphs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rial"/>
                    <a:ea typeface="Arial"/>
                    <a:cs typeface="Arial"/>
                    <a:sym typeface="Arial"/>
                  </a:rPr>
                  <a:t>Edges - E: Paths or transitions between nodes</a:t>
                </a:r>
              </a:p>
              <a:p>
                <a:pPr marL="342900">
                  <a:lnSpc>
                    <a:spcPct val="100000"/>
                  </a:lnSpc>
                  <a:spcBef>
                    <a:spcPts val="0"/>
                  </a:spcBef>
                  <a:buSzPts val="3000"/>
                </a:pPr>
                <a:r>
                  <a:rPr lang="en-US" sz="2400" dirty="0">
                    <a:latin typeface="Arial"/>
                    <a:ea typeface="Arial"/>
                    <a:cs typeface="Arial"/>
                    <a:sym typeface="Arial"/>
                  </a:rPr>
                  <a:t>Vertices (Nodes) - V: Locations, states, or positions in space</a:t>
                </a:r>
              </a:p>
              <a:p>
                <a:pPr marL="342900">
                  <a:lnSpc>
                    <a:spcPct val="100000"/>
                  </a:lnSpc>
                  <a:spcBef>
                    <a:spcPts val="0"/>
                  </a:spcBef>
                  <a:buSzPts val="3000"/>
                </a:pPr>
                <a:r>
                  <a:rPr lang="en-US" sz="2400" dirty="0">
                    <a:latin typeface="Arial"/>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1B775A8-68D4-B1F8-F2D5-F470BC3EDAD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rial"/>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B92C4461-3DAC-027F-FD82-FA79FA94E3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342900">
              <a:lnSpc>
                <a:spcPct val="100000"/>
              </a:lnSpc>
              <a:spcBef>
                <a:spcPts val="0"/>
              </a:spcBef>
              <a:buSzPts val="3000"/>
            </a:pPr>
            <a:r>
              <a:rPr lang="en-US" sz="2400" dirty="0">
                <a:latin typeface="Arial"/>
                <a:ea typeface="Arial"/>
                <a:cs typeface="Arial"/>
                <a:sym typeface="Arial"/>
              </a:rPr>
              <a:t>A directed graph has edges that have a direction, you can only go from “a” to “b” and not “b” to “a”</a:t>
            </a:r>
          </a:p>
        </p:txBody>
      </p:sp>
      <p:pic>
        <p:nvPicPr>
          <p:cNvPr id="7" name="Graphic 6">
            <a:extLst>
              <a:ext uri="{FF2B5EF4-FFF2-40B4-BE49-F238E27FC236}">
                <a16:creationId xmlns:a16="http://schemas.microsoft.com/office/drawing/2014/main" id="{698375AB-26D4-42E2-7EE1-76E199CEBC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lgn="ctr">
              <a:lnSpc>
                <a:spcPct val="100000"/>
              </a:lnSpc>
              <a:spcBef>
                <a:spcPts val="0"/>
              </a:spcBef>
              <a:buSzPts val="3000"/>
              <a:buNone/>
            </a:pPr>
            <a:r>
              <a:rPr lang="en-US" sz="2400" dirty="0">
                <a:latin typeface="Arial"/>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Map Representation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rial"/>
                <a:ea typeface="Arial"/>
                <a:cs typeface="Arial"/>
                <a:sym typeface="Arial"/>
              </a:rPr>
              <a:t>2D map</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rial"/>
                <a:ea typeface="Arial"/>
                <a:cs typeface="Arial"/>
                <a:sym typeface="Arial"/>
              </a:rPr>
              <a:t>square</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triangular</a:t>
            </a:r>
            <a:r>
              <a:rPr lang="en-US" sz="2400" dirty="0">
                <a:solidFill>
                  <a:schemeClr val="dk1"/>
                </a:solidFill>
                <a:latin typeface="Arial"/>
                <a:ea typeface="Arial"/>
                <a:cs typeface="Arial"/>
                <a:sym typeface="Arial"/>
              </a:rPr>
              <a:t>, and </a:t>
            </a:r>
            <a:r>
              <a:rPr lang="en-US" sz="2400" b="1" dirty="0">
                <a:solidFill>
                  <a:schemeClr val="dk1"/>
                </a:solidFill>
                <a:latin typeface="Arial"/>
                <a:ea typeface="Arial"/>
                <a:cs typeface="Arial"/>
                <a:sym typeface="Arial"/>
              </a:rPr>
              <a:t>hexagonal</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B66694E-3611-A63F-B31B-2C03C8C55A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rial"/>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16C6903-85C2-2428-2452-0AD555162D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FF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rial"/>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rial"/>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rial"/>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So, we choose those corners as the key “</a:t>
            </a:r>
            <a:r>
              <a:rPr lang="en-US" sz="2400" b="1" dirty="0">
                <a:solidFill>
                  <a:schemeClr val="dk1"/>
                </a:solidFill>
                <a:latin typeface="Arial"/>
                <a:ea typeface="Arial"/>
                <a:cs typeface="Arial"/>
                <a:sym typeface="Arial"/>
              </a:rPr>
              <a:t>navigation points</a:t>
            </a:r>
            <a:r>
              <a:rPr lang="en-US" sz="2400" dirty="0">
                <a:solidFill>
                  <a:schemeClr val="dk1"/>
                </a:solidFill>
                <a:latin typeface="Arial"/>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204D41CB-C77A-305A-D2CF-F57C09B9D67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In addition to the navigation points, we need to know which points are </a:t>
            </a:r>
            <a:r>
              <a:rPr lang="en-US" sz="2400" b="1" dirty="0">
                <a:solidFill>
                  <a:schemeClr val="dk1"/>
                </a:solidFill>
                <a:latin typeface="Arial"/>
                <a:ea typeface="Arial"/>
                <a:cs typeface="Arial"/>
                <a:sym typeface="Arial"/>
              </a:rPr>
              <a:t>connected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simple algorithm is to build a </a:t>
            </a:r>
            <a:r>
              <a:rPr lang="en-US" sz="2400" b="1" dirty="0">
                <a:solidFill>
                  <a:schemeClr val="dk1"/>
                </a:solidFill>
                <a:latin typeface="Arial"/>
                <a:ea typeface="Arial"/>
                <a:cs typeface="Arial"/>
                <a:sym typeface="Arial"/>
              </a:rPr>
              <a:t>visibility graph</a:t>
            </a:r>
            <a:r>
              <a:rPr lang="en-US" sz="2400" dirty="0">
                <a:solidFill>
                  <a:schemeClr val="dk1"/>
                </a:solidFill>
                <a:latin typeface="Arial"/>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third piece of information we needs is travel times between the points. That will be </a:t>
            </a:r>
            <a:r>
              <a:rPr lang="en-US" sz="2400" b="1" dirty="0">
                <a:solidFill>
                  <a:schemeClr val="dk1"/>
                </a:solidFill>
                <a:latin typeface="Arial"/>
                <a:ea typeface="Arial"/>
                <a:cs typeface="Arial"/>
                <a:sym typeface="Arial"/>
              </a:rPr>
              <a:t>Manhattan distance </a:t>
            </a:r>
            <a:r>
              <a:rPr lang="en-US" sz="2400" dirty="0">
                <a:solidFill>
                  <a:schemeClr val="dk1"/>
                </a:solidFill>
                <a:latin typeface="Arial"/>
                <a:ea typeface="Arial"/>
                <a:cs typeface="Arial"/>
                <a:sym typeface="Arial"/>
              </a:rPr>
              <a:t>or </a:t>
            </a:r>
            <a:r>
              <a:rPr lang="en-US" sz="2400" b="1" dirty="0">
                <a:solidFill>
                  <a:schemeClr val="dk1"/>
                </a:solidFill>
                <a:latin typeface="Arial"/>
                <a:ea typeface="Arial"/>
                <a:cs typeface="Arial"/>
                <a:sym typeface="Arial"/>
              </a:rPr>
              <a:t>diagonal grid </a:t>
            </a:r>
            <a:r>
              <a:rPr lang="en-US" sz="2400" dirty="0">
                <a:solidFill>
                  <a:schemeClr val="dk1"/>
                </a:solidFill>
                <a:latin typeface="Arial"/>
                <a:ea typeface="Arial"/>
                <a:cs typeface="Arial"/>
                <a:sym typeface="Arial"/>
              </a:rPr>
              <a:t>distance if your units move on a grid, or </a:t>
            </a:r>
            <a:r>
              <a:rPr lang="en-US" sz="2400" b="1" dirty="0">
                <a:solidFill>
                  <a:schemeClr val="dk1"/>
                </a:solidFill>
                <a:latin typeface="Arial"/>
                <a:ea typeface="Arial"/>
                <a:cs typeface="Arial"/>
                <a:sym typeface="Arial"/>
              </a:rPr>
              <a:t>straight-line </a:t>
            </a:r>
            <a:r>
              <a:rPr lang="en-US" sz="2400" dirty="0">
                <a:solidFill>
                  <a:schemeClr val="dk1"/>
                </a:solidFill>
                <a:latin typeface="Arial"/>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Because we work on </a:t>
            </a:r>
            <a:r>
              <a:rPr lang="en-US" sz="2400" dirty="0">
                <a:latin typeface="Arial"/>
                <a:ea typeface="Arial"/>
                <a:cs typeface="Arial"/>
                <a:sym typeface="Arial"/>
              </a:rPr>
              <a:t>rectangular </a:t>
            </a:r>
            <a:r>
              <a:rPr lang="en-US" sz="2400" dirty="0">
                <a:solidFill>
                  <a:schemeClr val="dk1"/>
                </a:solidFill>
                <a:latin typeface="Arial"/>
                <a:ea typeface="Arial"/>
                <a:cs typeface="Arial"/>
                <a:sym typeface="Arial"/>
              </a:rPr>
              <a:t>grids, we can define different </a:t>
            </a:r>
            <a:r>
              <a:rPr lang="en-US" sz="2400" b="1" dirty="0">
                <a:solidFill>
                  <a:schemeClr val="dk1"/>
                </a:solidFill>
                <a:latin typeface="Arial"/>
                <a:ea typeface="Arial"/>
                <a:cs typeface="Arial"/>
                <a:sym typeface="Arial"/>
              </a:rPr>
              <a:t>distance metrics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C0588D9-6262-9FE0-4B67-28BF44C0D0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FF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FF0000"/>
                    </a:solidFill>
                  </a:rPr>
                  <a:t>), all the others are the same distance (12)</a:t>
                </a:r>
              </a:p>
              <a:p>
                <a:endParaRPr lang="en-US" sz="1800" dirty="0">
                  <a:solidFill>
                    <a:srgbClr val="FF0000"/>
                  </a:solidFill>
                </a:endParaRPr>
              </a:p>
              <a:p>
                <a:r>
                  <a:rPr lang="en-US" sz="1800" dirty="0">
                    <a:solidFill>
                      <a:srgbClr val="FF0000"/>
                    </a:solidFill>
                  </a:rPr>
                  <a:t>The red, blue and yellow, since we cannot move diagonally</a:t>
                </a:r>
              </a:p>
            </p:txBody>
          </p:sp>
        </mc:Choice>
        <mc:Fallback>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5"/>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most common distance metrics in path planning are </a:t>
                </a:r>
                <a:r>
                  <a:rPr lang="en-US" sz="2400" b="1" dirty="0">
                    <a:solidFill>
                      <a:schemeClr val="dk1"/>
                    </a:solidFill>
                    <a:latin typeface="Arial"/>
                    <a:ea typeface="Arial"/>
                    <a:cs typeface="Arial"/>
                    <a:sym typeface="Arial"/>
                  </a:rPr>
                  <a:t>Euclidian</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Or </a:t>
                </a:r>
                <a:r>
                  <a:rPr lang="en-US" sz="2400" b="1" dirty="0">
                    <a:latin typeface="Arial"/>
                    <a:ea typeface="Arial"/>
                    <a:cs typeface="Arial"/>
                    <a:sym typeface="Arial"/>
                  </a:rPr>
                  <a:t>Manhattan</a:t>
                </a:r>
                <a:r>
                  <a:rPr lang="en-US" sz="2400" dirty="0">
                    <a:latin typeface="Arial"/>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have the most representative path planner you need to ensure the correct distance metric for your grid / task.</a:t>
                </a:r>
              </a:p>
            </p:txBody>
          </p:sp>
        </mc:Choice>
        <mc:Fallback>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Graphs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Path Planning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Once we have a graph representation of the environment, we now want to find the </a:t>
            </a:r>
            <a:r>
              <a:rPr lang="en-US" sz="2400" b="1" dirty="0">
                <a:solidFill>
                  <a:schemeClr val="dk1"/>
                </a:solidFill>
                <a:latin typeface="Arial"/>
                <a:ea typeface="Arial"/>
                <a:cs typeface="Arial"/>
                <a:sym typeface="Arial"/>
              </a:rPr>
              <a:t>“shortest” path</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Go up climb up a mountain to </a:t>
            </a:r>
            <a:r>
              <a:rPr lang="en-US" sz="2400" dirty="0">
                <a:latin typeface="Arial"/>
                <a:ea typeface="Arial"/>
                <a:cs typeface="Arial"/>
                <a:sym typeface="Arial"/>
              </a:rPr>
              <a:t>go to the other side of it instead of just going around it</a:t>
            </a:r>
            <a:r>
              <a:rPr lang="en-US" sz="2400" dirty="0">
                <a:solidFill>
                  <a:schemeClr val="dk1"/>
                </a:solidFill>
                <a:latin typeface="Arial"/>
                <a:ea typeface="Arial"/>
                <a:cs typeface="Arial"/>
                <a:sym typeface="Arial"/>
              </a:rPr>
              <a:t>.</a:t>
            </a:r>
          </a:p>
          <a:p>
            <a:pPr marL="342900">
              <a:lnSpc>
                <a:spcPct val="100000"/>
              </a:lnSpc>
              <a:spcBef>
                <a:spcPts val="0"/>
              </a:spcBef>
              <a:buSzPts val="3000"/>
            </a:pPr>
            <a:r>
              <a:rPr lang="en-US" sz="2400" dirty="0">
                <a:latin typeface="Arial"/>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What we actually want is the </a:t>
            </a:r>
            <a:r>
              <a:rPr lang="en-US" sz="2400" b="1" dirty="0">
                <a:latin typeface="Arial"/>
                <a:ea typeface="Arial"/>
                <a:cs typeface="Arial"/>
                <a:sym typeface="Arial"/>
              </a:rPr>
              <a:t>lowest-cost path!</a:t>
            </a:r>
            <a:endParaRPr lang="en-US" sz="2400" b="1" dirty="0">
              <a:solidFill>
                <a:schemeClr val="dk1"/>
              </a:solidFill>
              <a:latin typeface="Arial"/>
              <a:ea typeface="Arial"/>
              <a:cs typeface="Arial"/>
              <a:sym typeface="Arial"/>
            </a:endParaRPr>
          </a:p>
          <a:p>
            <a:pPr marL="34290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 key idea for all of these algorithms is that we keep track of an expanding ring called the </a:t>
            </a:r>
            <a:r>
              <a:rPr lang="en-US" sz="2400" b="1" dirty="0">
                <a:solidFill>
                  <a:schemeClr val="dk1"/>
                </a:solidFill>
                <a:latin typeface="Arial"/>
                <a:ea typeface="Arial"/>
                <a:cs typeface="Arial"/>
                <a:sym typeface="Arial"/>
              </a:rPr>
              <a:t>frontier</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It is incredibly simple to implement </a:t>
            </a:r>
            <a:r>
              <a:rPr lang="en-US" sz="2400" b="1" dirty="0">
                <a:solidFill>
                  <a:schemeClr val="dk1"/>
                </a:solidFill>
                <a:latin typeface="Arial"/>
                <a:ea typeface="Arial"/>
                <a:cs typeface="Arial"/>
                <a:sym typeface="Arial"/>
              </a:rPr>
              <a:t>BFS</a:t>
            </a:r>
            <a:r>
              <a:rPr lang="en-US" sz="2400" dirty="0">
                <a:solidFill>
                  <a:schemeClr val="dk1"/>
                </a:solidFill>
                <a:latin typeface="Arial"/>
                <a:ea typeface="Arial"/>
                <a:cs typeface="Arial"/>
                <a:sym typeface="Arial"/>
              </a:rPr>
              <a:t>, only 10 lines of code!</a:t>
            </a:r>
          </a:p>
          <a:p>
            <a:pPr marL="0" indent="0">
              <a:lnSpc>
                <a:spcPct val="100000"/>
              </a:lnSpc>
              <a:spcBef>
                <a:spcPts val="0"/>
              </a:spcBef>
              <a:buSzPts val="3000"/>
              <a:buNone/>
            </a:pPr>
            <a:endParaRPr lang="en-US" sz="2400" dirty="0">
              <a:latin typeface="Arial"/>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But how do we find the shortest path?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That’s because Breadth First Search can be used for a lot more than just finding paths; </a:t>
            </a:r>
            <a:r>
              <a:rPr lang="en-US" sz="2400" dirty="0">
                <a:latin typeface="Arial"/>
                <a:ea typeface="Arial"/>
                <a:cs typeface="Arial"/>
                <a:sym typeface="Arial"/>
              </a:rPr>
              <a:t>for example, in the previous lecture it was used for connected component finding for “blob” search</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rial"/>
                <a:ea typeface="Arial"/>
                <a:cs typeface="Arial"/>
                <a:sym typeface="Arial"/>
              </a:rPr>
              <a:t>reached</a:t>
            </a:r>
            <a:r>
              <a:rPr lang="en-US" sz="2400" dirty="0">
                <a:solidFill>
                  <a:schemeClr val="dk1"/>
                </a:solidFill>
                <a:latin typeface="Arial"/>
                <a:ea typeface="Arial"/>
                <a:cs typeface="Arial"/>
                <a:sym typeface="Arial"/>
              </a:rPr>
              <a:t> set to a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5C85D6"/>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339966"/>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5C85D6"/>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Now </a:t>
            </a:r>
            <a:r>
              <a:rPr lang="en-US" sz="2400" b="1" dirty="0" err="1">
                <a:solidFill>
                  <a:schemeClr val="dk1"/>
                </a:solidFill>
                <a:latin typeface="Arial"/>
                <a:ea typeface="Arial"/>
                <a:cs typeface="Arial"/>
                <a:sym typeface="Arial"/>
              </a:rPr>
              <a:t>came_from</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 form a “flow field” and act like “</a:t>
            </a:r>
            <a:r>
              <a:rPr lang="en-US" sz="2400" b="1" dirty="0">
                <a:solidFill>
                  <a:schemeClr val="dk1"/>
                </a:solidFill>
                <a:latin typeface="Arial"/>
                <a:ea typeface="Arial"/>
                <a:cs typeface="Arial"/>
                <a:sym typeface="Arial"/>
              </a:rPr>
              <a:t>breadcrumbs</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5C85D6"/>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BFS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We’ve found paths from one location to </a:t>
            </a:r>
            <a:r>
              <a:rPr lang="en-US" sz="2400" b="1" dirty="0">
                <a:solidFill>
                  <a:schemeClr val="dk1"/>
                </a:solidFill>
                <a:latin typeface="Arial"/>
                <a:ea typeface="Arial"/>
                <a:cs typeface="Arial"/>
                <a:sym typeface="Arial"/>
              </a:rPr>
              <a:t>all other locations</a:t>
            </a:r>
            <a:r>
              <a:rPr lang="en-US" sz="2400" dirty="0">
                <a:solidFill>
                  <a:schemeClr val="dk1"/>
                </a:solidFill>
                <a:latin typeface="Arial"/>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can </a:t>
            </a:r>
            <a:r>
              <a:rPr lang="en-US" sz="2400" b="1" dirty="0">
                <a:solidFill>
                  <a:schemeClr val="dk1"/>
                </a:solidFill>
                <a:latin typeface="Arial"/>
                <a:ea typeface="Arial"/>
                <a:cs typeface="Arial"/>
                <a:sym typeface="Arial"/>
              </a:rPr>
              <a:t>stop</a:t>
            </a:r>
            <a:r>
              <a:rPr lang="en-US" sz="2400" dirty="0">
                <a:solidFill>
                  <a:schemeClr val="dk1"/>
                </a:solidFill>
                <a:latin typeface="Arial"/>
                <a:ea typeface="Arial"/>
                <a:cs typeface="Arial"/>
                <a:sym typeface="Arial"/>
              </a:rPr>
              <a:t> expanding the frontier as soon as we’ve </a:t>
            </a:r>
            <a:r>
              <a:rPr lang="en-US" sz="2400" b="1" dirty="0">
                <a:solidFill>
                  <a:schemeClr val="dk1"/>
                </a:solidFill>
                <a:latin typeface="Arial"/>
                <a:ea typeface="Arial"/>
                <a:cs typeface="Arial"/>
                <a:sym typeface="Arial"/>
              </a:rPr>
              <a:t>found our goal!</a:t>
            </a:r>
          </a:p>
          <a:p>
            <a:pPr marL="0" indent="0">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Distance limit</a:t>
            </a:r>
          </a:p>
          <a:p>
            <a:pPr marL="342900">
              <a:lnSpc>
                <a:spcPct val="100000"/>
              </a:lnSpc>
              <a:spcBef>
                <a:spcPts val="0"/>
              </a:spcBef>
              <a:buSzPts val="3000"/>
            </a:pPr>
            <a:r>
              <a:rPr lang="en-US" sz="2400" dirty="0">
                <a:latin typeface="Arial"/>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rial"/>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Early Exit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So far, we’ve made steps have the same “</a:t>
                </a:r>
                <a:r>
                  <a:rPr lang="en-US" sz="2400" b="1" dirty="0">
                    <a:latin typeface="Arial"/>
                    <a:ea typeface="Arial"/>
                    <a:cs typeface="Arial"/>
                    <a:sym typeface="Arial"/>
                  </a:rPr>
                  <a:t>cost</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rial"/>
                    <a:ea typeface="Arial"/>
                    <a:cs typeface="Arial"/>
                    <a:sym typeface="Arial"/>
                  </a:rPr>
                  <a:t> ).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need to track movement costs, so let’s add a new variable, </a:t>
            </a:r>
            <a:r>
              <a:rPr lang="en-US" sz="2400" b="1" dirty="0" err="1">
                <a:solidFill>
                  <a:schemeClr val="dk1"/>
                </a:solidFill>
                <a:latin typeface="Arial"/>
                <a:ea typeface="Arial"/>
                <a:cs typeface="Arial"/>
                <a:sym typeface="Arial"/>
              </a:rPr>
              <a:t>cost_so_far</a:t>
            </a:r>
            <a:r>
              <a:rPr lang="en-US" sz="2400" dirty="0">
                <a:solidFill>
                  <a:schemeClr val="dk1"/>
                </a:solidFill>
                <a:latin typeface="Arial"/>
                <a:ea typeface="Arial"/>
                <a:cs typeface="Arial"/>
                <a:sym typeface="Arial"/>
              </a:rPr>
              <a:t>. This stores the total movement cost from the start location, also called a “</a:t>
            </a:r>
            <a:r>
              <a:rPr lang="en-US" sz="2400" b="1" dirty="0">
                <a:solidFill>
                  <a:schemeClr val="dk1"/>
                </a:solidFill>
                <a:latin typeface="Arial"/>
                <a:ea typeface="Arial"/>
                <a:cs typeface="Arial"/>
                <a:sym typeface="Arial"/>
              </a:rPr>
              <a:t>distance field</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We want to take the movement costs into account when deciding how to evaluate locations; let’s turn our queue into a </a:t>
            </a:r>
            <a:r>
              <a:rPr lang="en-US" sz="2400" b="1" dirty="0">
                <a:solidFill>
                  <a:schemeClr val="dk1"/>
                </a:solidFill>
                <a:latin typeface="Arial"/>
                <a:ea typeface="Arial"/>
                <a:cs typeface="Arial"/>
                <a:sym typeface="Arial"/>
              </a:rPr>
              <a:t>priority queue</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A </a:t>
            </a:r>
            <a:r>
              <a:rPr lang="en-US" sz="2400" b="1" dirty="0">
                <a:solidFill>
                  <a:schemeClr val="dk1"/>
                </a:solidFill>
                <a:latin typeface="Arial"/>
                <a:ea typeface="Arial"/>
                <a:cs typeface="Arial"/>
                <a:sym typeface="Arial"/>
              </a:rPr>
              <a:t>priority queue </a:t>
            </a:r>
            <a:r>
              <a:rPr lang="en-US" sz="2400" dirty="0">
                <a:solidFill>
                  <a:schemeClr val="dk1"/>
                </a:solidFill>
                <a:latin typeface="Arial"/>
                <a:ea typeface="Arial"/>
                <a:cs typeface="Arial"/>
                <a:sym typeface="Arial"/>
              </a:rPr>
              <a:t>(min priority queue), is like a </a:t>
            </a:r>
            <a:r>
              <a:rPr lang="en-US" sz="2400" b="1" dirty="0">
                <a:solidFill>
                  <a:schemeClr val="dk1"/>
                </a:solidFill>
                <a:latin typeface="Arial"/>
                <a:ea typeface="Arial"/>
                <a:cs typeface="Arial"/>
                <a:sym typeface="Arial"/>
              </a:rPr>
              <a:t>queue</a:t>
            </a:r>
            <a:r>
              <a:rPr lang="en-US" sz="2400" dirty="0">
                <a:solidFill>
                  <a:schemeClr val="dk1"/>
                </a:solidFill>
                <a:latin typeface="Arial"/>
                <a:ea typeface="Arial"/>
                <a:cs typeface="Arial"/>
                <a:sym typeface="Arial"/>
              </a:rPr>
              <a:t> but instead of first-in-first-out, you get lowest-cost-out! This changes how the </a:t>
            </a:r>
            <a:r>
              <a:rPr lang="en-US" sz="2400" b="1" dirty="0">
                <a:solidFill>
                  <a:schemeClr val="dk1"/>
                </a:solidFill>
                <a:latin typeface="Arial"/>
                <a:ea typeface="Arial"/>
                <a:cs typeface="Arial"/>
                <a:sym typeface="Arial"/>
              </a:rPr>
              <a:t>frontier </a:t>
            </a:r>
            <a:r>
              <a:rPr lang="en-US" sz="2400" dirty="0">
                <a:solidFill>
                  <a:schemeClr val="dk1"/>
                </a:solidFill>
                <a:latin typeface="Arial"/>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Dijkstra’s Algorithm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Less obviously, we may end up </a:t>
            </a:r>
            <a:r>
              <a:rPr lang="en-US" sz="2400" b="1" dirty="0">
                <a:solidFill>
                  <a:schemeClr val="dk1"/>
                </a:solidFill>
                <a:latin typeface="Arial"/>
                <a:ea typeface="Arial"/>
                <a:cs typeface="Arial"/>
                <a:sym typeface="Arial"/>
              </a:rPr>
              <a:t>visiting a location multiple times</a:t>
            </a:r>
            <a:r>
              <a:rPr lang="en-US" sz="2400" dirty="0">
                <a:solidFill>
                  <a:schemeClr val="dk1"/>
                </a:solidFill>
                <a:latin typeface="Arial"/>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rial"/>
                <a:ea typeface="Arial"/>
                <a:cs typeface="Arial"/>
                <a:sym typeface="Arial"/>
              </a:rPr>
              <a:t>better than the best previous path</a:t>
            </a:r>
            <a:r>
              <a:rPr lang="en-US" sz="2400" dirty="0">
                <a:solidFill>
                  <a:schemeClr val="dk1"/>
                </a:solidFill>
                <a:latin typeface="Arial"/>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1AB14D8B-94E4-C45C-CA35-ED195E5479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5C85D6"/>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Heuristic sear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With Breadth First Search and Dijkstra’s Algorithm, the frontier expands in </a:t>
            </a:r>
            <a:r>
              <a:rPr lang="en-US" sz="2400" b="1" dirty="0">
                <a:solidFill>
                  <a:schemeClr val="dk1"/>
                </a:solidFill>
                <a:latin typeface="Arial"/>
                <a:ea typeface="Arial"/>
                <a:cs typeface="Arial"/>
                <a:sym typeface="Arial"/>
              </a:rPr>
              <a:t>all</a:t>
            </a:r>
            <a:r>
              <a:rPr lang="en-US" sz="2400" dirty="0">
                <a:solidFill>
                  <a:schemeClr val="dk1"/>
                </a:solidFill>
                <a:latin typeface="Arial"/>
                <a:ea typeface="Arial"/>
                <a:cs typeface="Arial"/>
                <a:sym typeface="Arial"/>
              </a:rPr>
              <a:t> directions.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Why might that be a problem?</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This is a reasonable choice if you’re trying to find a path to </a:t>
            </a:r>
            <a:r>
              <a:rPr lang="en-US" sz="2400" b="1" dirty="0">
                <a:solidFill>
                  <a:schemeClr val="dk1"/>
                </a:solidFill>
                <a:latin typeface="Arial"/>
                <a:ea typeface="Arial"/>
                <a:cs typeface="Arial"/>
                <a:sym typeface="Arial"/>
              </a:rPr>
              <a:t>all </a:t>
            </a:r>
            <a:r>
              <a:rPr lang="en-US" sz="2400" dirty="0">
                <a:solidFill>
                  <a:schemeClr val="dk1"/>
                </a:solidFill>
                <a:latin typeface="Arial"/>
                <a:ea typeface="Arial"/>
                <a:cs typeface="Arial"/>
                <a:sym typeface="Arial"/>
              </a:rPr>
              <a:t>locations</a:t>
            </a:r>
            <a:r>
              <a:rPr lang="en-US" sz="2400" b="1" dirty="0">
                <a:solidFill>
                  <a:schemeClr val="dk1"/>
                </a:solidFill>
                <a:latin typeface="Arial"/>
                <a:ea typeface="Arial"/>
                <a:cs typeface="Arial"/>
                <a:sym typeface="Arial"/>
              </a:rPr>
              <a:t> </a:t>
            </a:r>
            <a:r>
              <a:rPr lang="en-US" sz="2400" dirty="0">
                <a:solidFill>
                  <a:schemeClr val="dk1"/>
                </a:solidFill>
                <a:latin typeface="Arial"/>
                <a:ea typeface="Arial"/>
                <a:cs typeface="Arial"/>
                <a:sym typeface="Arial"/>
              </a:rPr>
              <a:t>or to </a:t>
            </a:r>
            <a:r>
              <a:rPr lang="en-US" sz="2400" b="1" dirty="0">
                <a:solidFill>
                  <a:schemeClr val="dk1"/>
                </a:solidFill>
                <a:latin typeface="Arial"/>
                <a:ea typeface="Arial"/>
                <a:cs typeface="Arial"/>
                <a:sym typeface="Arial"/>
              </a:rPr>
              <a:t>many </a:t>
            </a:r>
            <a:r>
              <a:rPr lang="en-US" sz="2400" dirty="0">
                <a:solidFill>
                  <a:schemeClr val="dk1"/>
                </a:solidFill>
                <a:latin typeface="Arial"/>
                <a:ea typeface="Arial"/>
                <a:cs typeface="Arial"/>
                <a:sym typeface="Arial"/>
              </a:rPr>
              <a:t>locations.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However, a common case is to </a:t>
            </a:r>
            <a:r>
              <a:rPr lang="en-US" sz="2400" b="1" dirty="0">
                <a:solidFill>
                  <a:schemeClr val="dk1"/>
                </a:solidFill>
                <a:latin typeface="Arial"/>
                <a:ea typeface="Arial"/>
                <a:cs typeface="Arial"/>
                <a:sym typeface="Arial"/>
              </a:rPr>
              <a:t>find a path to only one location</a:t>
            </a:r>
            <a:r>
              <a:rPr lang="en-US" sz="2400" dirty="0">
                <a:solidFill>
                  <a:schemeClr val="dk1"/>
                </a:solidFill>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Let’s make the frontier expand </a:t>
            </a:r>
            <a:r>
              <a:rPr lang="en-US" sz="2400" b="1" dirty="0">
                <a:solidFill>
                  <a:schemeClr val="dk1"/>
                </a:solidFill>
                <a:latin typeface="Arial"/>
                <a:ea typeface="Arial"/>
                <a:cs typeface="Arial"/>
                <a:sym typeface="Arial"/>
              </a:rPr>
              <a:t>towards the goal </a:t>
            </a:r>
            <a:r>
              <a:rPr lang="en-US" sz="2400" dirty="0">
                <a:solidFill>
                  <a:schemeClr val="dk1"/>
                </a:solidFill>
                <a:latin typeface="Arial"/>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We need to </a:t>
            </a:r>
            <a:r>
              <a:rPr lang="en-US" sz="2400" b="1" dirty="0">
                <a:latin typeface="Arial"/>
                <a:ea typeface="Arial"/>
                <a:cs typeface="Arial"/>
                <a:sym typeface="Arial"/>
              </a:rPr>
              <a:t>guide</a:t>
            </a:r>
            <a:r>
              <a:rPr lang="en-US" sz="2400" dirty="0">
                <a:latin typeface="Arial"/>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In Dijkstra’s Algorithm we used the actual </a:t>
            </a:r>
            <a:r>
              <a:rPr lang="en-US" sz="2400" b="1" dirty="0">
                <a:solidFill>
                  <a:schemeClr val="dk1"/>
                </a:solidFill>
                <a:latin typeface="Arial"/>
                <a:ea typeface="Arial"/>
                <a:cs typeface="Arial"/>
                <a:sym typeface="Arial"/>
              </a:rPr>
              <a:t>distance from the start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Here instead, in Greedy Best First Search, we’ll use the </a:t>
            </a:r>
            <a:r>
              <a:rPr lang="en-US" sz="2400" b="1" dirty="0">
                <a:solidFill>
                  <a:schemeClr val="dk1"/>
                </a:solidFill>
                <a:latin typeface="Arial"/>
                <a:ea typeface="Arial"/>
                <a:cs typeface="Arial"/>
                <a:sym typeface="Arial"/>
              </a:rPr>
              <a:t>estimated distance to the goal </a:t>
            </a:r>
            <a:r>
              <a:rPr lang="en-US" sz="2400" dirty="0">
                <a:solidFill>
                  <a:schemeClr val="dk1"/>
                </a:solidFill>
                <a:latin typeface="Arial"/>
                <a:ea typeface="Arial"/>
                <a:cs typeface="Arial"/>
                <a:sym typeface="Arial"/>
              </a:rPr>
              <a:t>for the priority queue ordering.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5C85D6"/>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339966"/>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339966"/>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5C85D6"/>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problem is that the paths aren’t as good, they are not </a:t>
            </a:r>
            <a:r>
              <a:rPr lang="en-US" sz="2400" b="1" dirty="0">
                <a:latin typeface="Arial"/>
                <a:ea typeface="Arial"/>
                <a:cs typeface="Arial"/>
                <a:sym typeface="Arial"/>
              </a:rPr>
              <a:t>optimally the shortest </a:t>
            </a:r>
            <a:r>
              <a:rPr lang="en-US" sz="2400" dirty="0">
                <a:latin typeface="Arial"/>
                <a:ea typeface="Arial"/>
                <a:cs typeface="Arial"/>
                <a:sym typeface="Arial"/>
              </a:rPr>
              <a:t>path like Dijkstra's and BFS.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we fix this? </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r>
              <a:rPr lang="en-US" sz="2400" dirty="0">
                <a:latin typeface="Arial"/>
                <a:ea typeface="Arial"/>
                <a:cs typeface="Arial"/>
                <a:sym typeface="Arial"/>
              </a:rPr>
              <a:t>Yes!</a:t>
            </a: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Here comes the magical A* algorithm!</a:t>
            </a: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rial"/>
                <a:ea typeface="Arial"/>
                <a:cs typeface="Arial"/>
                <a:sym typeface="Arial"/>
              </a:rPr>
              <a:t>Dijkstra’s</a:t>
            </a:r>
            <a:r>
              <a:rPr lang="en-US" sz="2400" dirty="0">
                <a:latin typeface="Arial"/>
                <a:ea typeface="Arial"/>
                <a:cs typeface="Arial"/>
                <a:sym typeface="Arial"/>
              </a:rPr>
              <a:t> Algorithm works well to find the </a:t>
            </a:r>
            <a:r>
              <a:rPr lang="en-US" sz="2400" b="1" dirty="0">
                <a:latin typeface="Arial"/>
                <a:ea typeface="Arial"/>
                <a:cs typeface="Arial"/>
                <a:sym typeface="Arial"/>
              </a:rPr>
              <a:t>shortest path</a:t>
            </a:r>
            <a:r>
              <a:rPr lang="en-US" sz="2400" dirty="0">
                <a:latin typeface="Arial"/>
                <a:ea typeface="Arial"/>
                <a:cs typeface="Arial"/>
                <a:sym typeface="Arial"/>
              </a:rPr>
              <a:t>, but it wastes time </a:t>
            </a:r>
            <a:r>
              <a:rPr lang="en-US" sz="2400" b="1" dirty="0">
                <a:latin typeface="Arial"/>
                <a:ea typeface="Arial"/>
                <a:cs typeface="Arial"/>
                <a:sym typeface="Arial"/>
              </a:rPr>
              <a:t>exploring in directions that aren’t promising</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Greedy Best First Search </a:t>
            </a:r>
            <a:r>
              <a:rPr lang="en-US" sz="2400" dirty="0">
                <a:latin typeface="Arial"/>
                <a:ea typeface="Arial"/>
                <a:cs typeface="Arial"/>
                <a:sym typeface="Arial"/>
              </a:rPr>
              <a:t>explores in </a:t>
            </a:r>
            <a:r>
              <a:rPr lang="en-US" sz="2400" b="1" dirty="0">
                <a:latin typeface="Arial"/>
                <a:ea typeface="Arial"/>
                <a:cs typeface="Arial"/>
                <a:sym typeface="Arial"/>
              </a:rPr>
              <a:t>promising directions, </a:t>
            </a:r>
            <a:r>
              <a:rPr lang="en-US" sz="2400" dirty="0">
                <a:latin typeface="Arial"/>
                <a:ea typeface="Arial"/>
                <a:cs typeface="Arial"/>
                <a:sym typeface="Arial"/>
              </a:rPr>
              <a:t>but it may </a:t>
            </a:r>
            <a:r>
              <a:rPr lang="en-US" sz="2400" b="1" dirty="0">
                <a:latin typeface="Arial"/>
                <a:ea typeface="Arial"/>
                <a:cs typeface="Arial"/>
                <a:sym typeface="Arial"/>
              </a:rPr>
              <a:t>not find the shortest path</a:t>
            </a:r>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 A* algorithm uses both the </a:t>
            </a:r>
            <a:r>
              <a:rPr lang="en-US" sz="2400" b="1" dirty="0">
                <a:latin typeface="Arial"/>
                <a:ea typeface="Arial"/>
                <a:cs typeface="Arial"/>
                <a:sym typeface="Arial"/>
              </a:rPr>
              <a:t>actual distance</a:t>
            </a:r>
            <a:r>
              <a:rPr lang="en-US" sz="2400" dirty="0">
                <a:latin typeface="Arial"/>
                <a:ea typeface="Arial"/>
                <a:cs typeface="Arial"/>
                <a:sym typeface="Arial"/>
              </a:rPr>
              <a:t> from the start and the </a:t>
            </a:r>
            <a:r>
              <a:rPr lang="en-US" sz="2400" b="1" dirty="0">
                <a:latin typeface="Arial"/>
                <a:ea typeface="Arial"/>
                <a:cs typeface="Arial"/>
                <a:sym typeface="Arial"/>
              </a:rPr>
              <a:t>estimated distance</a:t>
            </a:r>
            <a:r>
              <a:rPr lang="en-US" sz="2400" dirty="0">
                <a:latin typeface="Arial"/>
                <a:ea typeface="Arial"/>
                <a:cs typeface="Arial"/>
                <a:sym typeface="Arial"/>
              </a:rPr>
              <a:t> to the goal.</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It is extremely similar to Dijkstra’s.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5C85D6"/>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339966"/>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339966"/>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5C85D6"/>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is the best of both worlds.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And … that’s it! That’s the A* algorithm.</a:t>
            </a:r>
          </a:p>
          <a:p>
            <a:pPr marL="0" indent="0">
              <a:lnSpc>
                <a:spcPct val="100000"/>
              </a:lnSpc>
              <a:spcBef>
                <a:spcPts val="0"/>
              </a:spcBef>
              <a:buSzPts val="3000"/>
              <a:buNone/>
            </a:pPr>
            <a:endParaRPr lang="en-US" sz="24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rial"/>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to the goal.</a:t>
                </a:r>
              </a:p>
            </p:txBody>
          </p:sp>
        </mc:Choice>
        <mc:Fallback>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rial"/>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Now, suppose A* is about to </a:t>
                </a:r>
                <a:r>
                  <a:rPr lang="en-US" sz="2400" b="1" dirty="0">
                    <a:latin typeface="Arial"/>
                    <a:ea typeface="Arial"/>
                    <a:cs typeface="Arial"/>
                    <a:sym typeface="Arial"/>
                  </a:rPr>
                  <a:t>terminate</a:t>
                </a:r>
                <a:r>
                  <a:rPr lang="en-US" sz="2400" dirty="0">
                    <a:latin typeface="Arial"/>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For A* to be optimal, we must prove that the algorithm will </a:t>
                </a:r>
                <a:r>
                  <a:rPr lang="en-US" sz="2400" b="1" dirty="0">
                    <a:latin typeface="Arial"/>
                    <a:ea typeface="Arial"/>
                    <a:cs typeface="Arial"/>
                    <a:sym typeface="Arial"/>
                  </a:rPr>
                  <a:t>always find </a:t>
                </a:r>
                <a:r>
                  <a:rPr lang="en-US" sz="2400" dirty="0">
                    <a:latin typeface="Arial"/>
                    <a:ea typeface="Arial"/>
                    <a:cs typeface="Arial"/>
                    <a:sym typeface="Arial"/>
                  </a:rPr>
                  <a:t>and expand a node on the optimal path </a:t>
                </a:r>
                <a:r>
                  <a:rPr lang="en-US" sz="2400" b="1" dirty="0">
                    <a:latin typeface="Arial"/>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Frontier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rial"/>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This could happen if you have disconnected graphs and your start and end nodes are in different connected components.</a:t>
                </a:r>
              </a:p>
            </p:txBody>
          </p:sp>
        </mc:Choice>
        <mc:Fallback>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rial"/>
                    <a:ea typeface="Arial"/>
                    <a:cs typeface="Arial"/>
                    <a:sym typeface="Arial"/>
                  </a:rPr>
                  <a:t>Heuristic underestimation assumption</a:t>
                </a:r>
                <a:r>
                  <a:rPr lang="en-US" sz="2400" dirty="0">
                    <a:latin typeface="Arial"/>
                    <a:ea typeface="Arial"/>
                    <a:cs typeface="Arial"/>
                    <a:sym typeface="Arial"/>
                  </a:rPr>
                  <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a:t>
                </a:r>
                <a:r>
                  <a:rPr lang="en-US" sz="2400" b="1" dirty="0">
                    <a:latin typeface="Arial"/>
                    <a:ea typeface="Arial"/>
                    <a:cs typeface="Arial"/>
                    <a:sym typeface="Arial"/>
                  </a:rPr>
                  <a:t>admissible</a:t>
                </a:r>
                <a:r>
                  <a:rPr lang="en-US" sz="2400" dirty="0">
                    <a:latin typeface="Arial"/>
                    <a:ea typeface="Arial"/>
                    <a:cs typeface="Arial"/>
                    <a:sym typeface="Arial"/>
                  </a:rPr>
                  <a:t>, it satisfies: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to the goal.</a:t>
                </a:r>
              </a:p>
            </p:txBody>
          </p:sp>
        </mc:Choice>
        <mc:Fallback>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rial"/>
                    <a:ea typeface="Arial"/>
                    <a:cs typeface="Arial"/>
                    <a:sym typeface="Arial"/>
                  </a:rPr>
                  <a:t> is on the optimal path, we know that: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rial"/>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(the optimal cost).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rial"/>
                    <a:ea typeface="Arial"/>
                    <a:cs typeface="Arial"/>
                    <a:sym typeface="Arial"/>
                  </a:rPr>
                  <a:t>. </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rial"/>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rial"/>
                  <a:ea typeface="Arial"/>
                  <a:cs typeface="Arial"/>
                  <a:sym typeface="Arial"/>
                </a:endParaRP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Since A* always expands the node with the </a:t>
                </a:r>
                <a:r>
                  <a:rPr lang="en-US" sz="2400" b="1" dirty="0">
                    <a:latin typeface="Arial"/>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rial"/>
                    <a:ea typeface="Arial"/>
                    <a:cs typeface="Arial"/>
                    <a:sym typeface="Arial"/>
                  </a:rPr>
                  <a:t>-value first</a:t>
                </a:r>
                <a:r>
                  <a:rPr lang="en-US" sz="2400" dirty="0">
                    <a:latin typeface="Arial"/>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rial"/>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rial"/>
                    <a:ea typeface="Arial"/>
                    <a:cs typeface="Arial"/>
                    <a:sym typeface="Arial"/>
                  </a:rPr>
                  <a:t>. This ensures the optimal path is found first.</a:t>
                </a:r>
              </a:p>
            </p:txBody>
          </p:sp>
        </mc:Choice>
        <mc:Fallback>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Path Planning – Movement Cost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2182</TotalTime>
  <Words>3660</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235</cp:revision>
  <dcterms:created xsi:type="dcterms:W3CDTF">2019-01-14T22:06:33Z</dcterms:created>
  <dcterms:modified xsi:type="dcterms:W3CDTF">2026-03-30T08:05:35Z</dcterms:modified>
</cp:coreProperties>
</file>