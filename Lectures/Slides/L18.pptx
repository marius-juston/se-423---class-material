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54"/>
  </p:notesMasterIdLst>
  <p:sldIdLst>
    <p:sldId id="256" r:id="rId2"/>
    <p:sldId id="417" r:id="rId3"/>
    <p:sldId id="413" r:id="rId4"/>
    <p:sldId id="272" r:id="rId5"/>
    <p:sldId id="258" r:id="rId6"/>
    <p:sldId id="418" r:id="rId7"/>
    <p:sldId id="422" r:id="rId8"/>
    <p:sldId id="419" r:id="rId9"/>
    <p:sldId id="421" r:id="rId10"/>
    <p:sldId id="423" r:id="rId11"/>
    <p:sldId id="425" r:id="rId12"/>
    <p:sldId id="424" r:id="rId13"/>
    <p:sldId id="426" r:id="rId14"/>
    <p:sldId id="428" r:id="rId15"/>
    <p:sldId id="427" r:id="rId16"/>
    <p:sldId id="435" r:id="rId17"/>
    <p:sldId id="429" r:id="rId18"/>
    <p:sldId id="430" r:id="rId19"/>
    <p:sldId id="436" r:id="rId20"/>
    <p:sldId id="431" r:id="rId21"/>
    <p:sldId id="432" r:id="rId22"/>
    <p:sldId id="434" r:id="rId23"/>
    <p:sldId id="437" r:id="rId24"/>
    <p:sldId id="438" r:id="rId25"/>
    <p:sldId id="439" r:id="rId26"/>
    <p:sldId id="440" r:id="rId27"/>
    <p:sldId id="441" r:id="rId28"/>
    <p:sldId id="442" r:id="rId29"/>
    <p:sldId id="443" r:id="rId30"/>
    <p:sldId id="444" r:id="rId31"/>
    <p:sldId id="445" r:id="rId32"/>
    <p:sldId id="446" r:id="rId33"/>
    <p:sldId id="447" r:id="rId34"/>
    <p:sldId id="461" r:id="rId35"/>
    <p:sldId id="448" r:id="rId36"/>
    <p:sldId id="449" r:id="rId37"/>
    <p:sldId id="450" r:id="rId38"/>
    <p:sldId id="451" r:id="rId39"/>
    <p:sldId id="452" r:id="rId40"/>
    <p:sldId id="453" r:id="rId41"/>
    <p:sldId id="455" r:id="rId42"/>
    <p:sldId id="456" r:id="rId43"/>
    <p:sldId id="457" r:id="rId44"/>
    <p:sldId id="458" r:id="rId45"/>
    <p:sldId id="459" r:id="rId46"/>
    <p:sldId id="460" r:id="rId47"/>
    <p:sldId id="462" r:id="rId48"/>
    <p:sldId id="463" r:id="rId49"/>
    <p:sldId id="464" r:id="rId50"/>
    <p:sldId id="465" r:id="rId51"/>
    <p:sldId id="271" r:id="rId52"/>
    <p:sldId id="270" r:id="rId5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298137B-7DAA-9A50-71C4-FC55CDC8CD0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37DB962-8E1D-D8B2-EA44-B0D388CE43A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0FFEDAA-13A7-8EF9-E3D2-6527A8F5718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38960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B52DF61E-9F42-FAC1-29A0-E9717555BF39}"/>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AAE7C477-EFA5-B1D0-3C00-242A00558CE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79EA993E-9FFE-B09C-BE3C-C6B7EDAE141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72877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550EDD1-52CE-344C-711B-8FF6DF309E6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902D2D7-EFD8-0EDC-0AEB-B8C2846146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6B1CB7C-3314-95B9-DC5D-93CAEF8FAD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58891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8E2326F-F8A0-08E4-53CA-90DFFFC24C3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D97ABB5-5A9A-EE5D-06FA-1C8ECE0EE8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73D710D-2C9E-330C-F7EC-10E06DFF1E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139988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721F8247-2C3A-A56C-6D5B-33D88966441B}"/>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9287E0FD-E954-4785-E6C6-AE11C75556A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E681371F-2D7E-E22B-F77B-ACD245C393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1342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D244B4A-39CE-48AF-9EC3-B3249354D63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BE11CA8-DCBB-25F4-08DF-898A87AB01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C6E9503-7A3F-7A63-DD09-51EF4A0D73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16454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AB6B31B-AED5-C849-3B6D-C1C59275DE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C4832CD-9783-41D1-F76C-D01BC3193F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9CED803-EE6A-DB5B-4614-4FD84C4E1DA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8424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E8D75F9-7E7A-41AE-886C-4C1C3C65A0F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25F4561-AFEA-E686-9AE0-246DDF7561D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C46F2C9-9CEF-8F21-4452-05EE44FE80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936129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681A38C-D095-3976-F979-C2F3A95D8F0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E19663B-5B46-DE6B-7435-89D98C414FD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C93E262-7AA0-C2B9-4CC3-1A6CDCFAA4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37719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13B9DA3-AD17-C6A7-6620-5CB7B70CD1D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BA7A7E6-DD7D-5997-4A18-F9859AAF75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1AD96A1-3FB6-FBFC-8841-F7D833169C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748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7FCFE1E-CEDF-B697-8DB3-31B267130A6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87DFA60-72B4-3106-A3DF-486ECF35A83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3685B58-A626-FF65-F366-6B63A3AF46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075530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BEAAD48-5D89-3DCB-FAAD-11A96C3F2C2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3804851-A7D7-801C-1DF4-43A12BD965B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0F5FFA8-356E-4775-98B2-DD6FC87F90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6594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0C2729E-A6C1-D765-3280-6328BC97D70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F993933-49FD-B006-0FF4-458F2B2D78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A6EC498-1044-F5ED-F3A4-B878E239BE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224002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61420EC-F113-E999-857E-5F7A66B7A24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A3B583D-8AFD-1574-7D13-F9EC45B5344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E93129A-BC8A-1B0A-52CA-AE5384154DB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7057566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5075C49-A849-711D-9B3E-AACB2470E36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B0212B1-80E5-29B2-AF04-A42883A8986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D1467B0-0E22-DF1A-A977-B9C15F97F9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298523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8C67648-0DCC-346A-5F69-A359F6E21A5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8DC563B-BAAB-60B3-8028-8F244508C5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7195D03-C3A4-D20E-276D-EB07C5D5DC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76020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B15DF47-5B09-6B9B-EE93-E66B06E799F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82D0E3E-F1C6-FFB2-B9AF-340D463C5F2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0894638-22F3-23DF-253A-9186E2EE5B7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42636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59F2F83B-BB5E-3D49-9459-BA48FCC03D9D}"/>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8FD8CFA8-E423-D34B-D844-E77C17AAD11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CFBD9E1D-61FD-4B8D-17FA-7EA238E8F3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75664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FE9F815-5E43-E970-93C1-7BA48B99DF6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56CC30D-D496-4ABB-51B9-7BD561838CA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ECAA637-5899-EE3E-56D7-D7AB3CC795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902341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B088EE7-A1F0-9587-A03A-AFE5A236E89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F92E06F-3766-7BBB-17AA-190ED3742B9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2476375-DACE-BCBF-940D-A230EA331B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794132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D1FC71F-0FAA-C7E6-994F-F522FADBAFF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6A77A47-C476-1E4B-BBF3-AB6BAD8FD5E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0D3D998-57BF-A9E0-F51D-F9D97012376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374651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FC50D38-39D7-DD09-5955-DD3974D8A6B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493908F-C046-644C-430F-FFB8D0F2C77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2BEB5E5-B869-BE99-5192-20D2B2FAAE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9946042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204A9A2-52E5-7F50-8205-29137CF120B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898ED18-734C-C860-5F22-C11FA5572E9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0BD9A0F-ADD0-F84E-BD16-791A03753A9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46849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49024B6-AA1F-905D-ECC8-F98BDEF1DD9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D4A82F7-E471-FF0E-36AE-70EF562F05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FCDB0C3-565A-8B4D-27B1-0CECE422BE8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94133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967064D-E4BF-86CD-F9B7-CD839774B91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FD925F6-7644-A64C-1DEF-18508E23F4A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CDDB32A-4218-56F9-4C2D-9373DFD39D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1130697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D55C4BE-9ED4-C954-E5B5-3D9DADA77624}"/>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2190469-3C83-7700-F3BE-9EEFB7724B7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8CE45EB-B57E-E73E-9F2F-E9ADC26AE6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207376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28DE1D3-30CC-FB83-D97A-8B646A4285D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7B9B929-2031-F40E-D864-E618DE9BC83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AA53037-58E0-CA03-5E6D-68C8A1F5F83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34223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5A22937-80C0-10ED-4B3E-54B5BC27CD7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1E7816B-9CBC-5511-2334-574F5B2A006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8E163C2-6569-A687-6144-1BF4A35909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393047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65C26D0-BDB1-6630-DEEA-269353B31B3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1733A3B-C2E2-20CD-9428-0C8154AD631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228ACB4-67DA-29A0-C502-4CCEB0584DD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775552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736453A-F609-E0B3-52D7-981F49EAF82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817E794-0D56-1039-3A2C-E7DDCB964F6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360FDFD-BB15-6861-06A0-C83F7412453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1052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7EBDB39-5519-B305-C34C-013F9A278F2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BB3D1C2-68C7-F274-92EF-76838199798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9CCBF56-EA66-2B95-EC0A-224308DE60B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602659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55C7D34-291B-A4CC-5F69-5135514B8FDD}"/>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A38D9C18-C51B-14CD-D41A-30A0834409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18EE77F1-6D6A-E1E3-3DF2-E83C03A08F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84163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63D324C-4B96-48DF-70A7-FB884603714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AB9F67E-AE48-BBAE-820D-31232ADF8D5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1FB5E58-699C-04C9-9198-F077AF3118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058796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E7B3D53-03A0-42B9-7A6B-5AC83E089917}"/>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DF5689B-B42A-C047-8E36-D312C78500D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C86A67C0-86E4-341F-5241-E3AB7BA3F0B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74913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936B291-28F2-DDD7-55AD-C9ECA14E6B0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5FBA216-1CD0-DA36-8AD8-AD4C9A47954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2D95F22-58AF-8510-1AAF-51DA874690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796806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14B829E-F56A-70C5-98CB-C880D0699DE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73A3C85-3339-B623-2D50-E9C81C8C425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006040C-D776-EE0B-5FDD-88A07F6D400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0022460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13E6B8F-F7CF-67B6-1797-3EB756E0CDA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4EC9891-DB71-F078-2EBF-45BE90AD114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B687BAB-3C21-8686-B765-2FB92DF7C59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418350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053A69F-0022-EA98-C393-F5327BEBE4B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E8E9231-81C7-F5E2-7CEC-CD2D1A11770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1659C74-E153-3AFB-3FAB-6349170408F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049863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FBA3D8D-9D44-23F2-8C9D-652AAAD9864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2CFF9F4-0846-6C6B-AE4C-014E465D6E3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2D6CE9D-29F9-B831-7F9A-F013258521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30547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B732888-1E07-F7DB-B444-B0303978BCE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5F21EB0-94F2-D1FA-6BF4-355F68AEF98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062AE10-4629-28F3-D814-0E9DF8D1325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1183457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E700F77-C58D-CF79-E853-D9E5936FC6F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C02B2A7-3857-C91F-9AA9-11ACA6EC065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24712245-1DDC-832C-3F76-407B4F0117B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234877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2F40BAF-4809-F27D-F879-5F37517B9F1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9602B94-D9EA-58D0-C969-E4EE6DE388D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89CDD96-BA21-16B8-8004-4C1237E2662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322665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B4E47ACE-647D-4CFF-7163-3915B67F9B5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00FA665-4088-BBFA-38C2-C3FC34E26D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35981082-A77E-6DCB-22A7-738474C3B7F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755503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913510E-E192-5AEC-24EE-F323FC69533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3059DB1-B824-870A-C60D-3529717E075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6F6EA1E-6C46-4A4A-FB22-7D5E1BFCEE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165531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2763A7E-4C22-B3D6-84CE-3F3F82F416C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23395B3-DA98-7446-AD24-F69F0E944F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F18646A-61C9-FFB7-19E0-0EC5F9C9C9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6079329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hyperlink" Target="https://marius-juston.github.io/SE-423---Class-Material/path_planning.html"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4.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theory.stanford.edu/~amitp/GameProgramming/MapRepresentations.htm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redblobgames.com/pathfinding/a-star/introduction.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3.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7.sv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21.sv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18: Path planning</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tkinson Hyperlegible Next"/>
                <a:ea typeface="Arial"/>
                <a:cs typeface="Arial"/>
                <a:sym typeface="Arial"/>
              </a:rPr>
              <a:t>Monday, March 30</a:t>
            </a:r>
            <a:r>
              <a:rPr lang="en-US" sz="1800" b="0" i="0" u="none" strike="noStrike" cap="none" baseline="30000">
                <a:solidFill>
                  <a:schemeClr val="lt1"/>
                </a:solidFill>
                <a:latin typeface="Atkinson Hyperlegible Next"/>
                <a:ea typeface="Arial"/>
                <a:cs typeface="Arial"/>
                <a:sym typeface="Arial"/>
              </a:rPr>
              <a:t>th</a:t>
            </a:r>
            <a:r>
              <a:rPr lang="en-US" sz="1800">
                <a:solidFill>
                  <a:schemeClr val="lt1"/>
                </a:solidFil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Last lecture we said we used “BFS”, what does it stand for? What did we use it for?</a:t>
            </a: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Open on the </a:t>
            </a:r>
            <a:r>
              <a:rPr lang="en-US" sz="2400" dirty="0">
                <a:latin typeface="Atkinson Hyperlegible Next"/>
                <a:ea typeface="Arial"/>
                <a:cs typeface="Arial"/>
                <a:sym typeface="Arial"/>
              </a:rPr>
              <a:t>lecture’s website the path planning visualization that was made for this lecture (</a:t>
            </a:r>
            <a:r>
              <a:rPr lang="en-US" sz="2400" dirty="0">
                <a:latin typeface="Atkinson Hyperlegible Next"/>
                <a:ea typeface="Arial"/>
                <a:cs typeface="Arial"/>
                <a:sym typeface="Arial"/>
                <a:hlinkClick r:id="rId3"/>
              </a:rPr>
              <a:t>https://marius-juston.github.io/SE-423---Class-Material/path_planning.html</a:t>
            </a:r>
            <a:r>
              <a:rPr lang="en-US" sz="2400" dirty="0">
                <a:latin typeface="Atkinson Hyperlegible Next"/>
                <a:ea typeface="Arial"/>
                <a:cs typeface="Arial"/>
                <a:sym typeface="Arial"/>
              </a:rPr>
              <a:t>), play around and draw some things and press the run button. You don’t need to understand what A* Search, BFS, Dijkstra's is yet, but I would recommend having this up during lecture so that you can see the different algorithms.</a:t>
            </a: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1984774-B7FA-53FC-ECBE-3FFBD377F55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 </a:t>
            </a:r>
            <a:r>
              <a:rPr lang="en-US" sz="1800" dirty="0">
                <a:latin typeface="Atkinson Hyperlegible Next"/>
                <a:ea typeface="Arial"/>
                <a:cs typeface="Arial"/>
                <a:sym typeface="Arial"/>
              </a:rPr>
              <a:t>Starting Lab 6 this week. This a 3-week lab!</a:t>
            </a:r>
          </a:p>
          <a:p>
            <a:pPr marL="285750" indent="-285750">
              <a:lnSpc>
                <a:spcPct val="100000"/>
              </a:lnSpc>
              <a:spcBef>
                <a:spcPts val="0"/>
              </a:spcBef>
              <a:buSzPts val="3000"/>
            </a:pPr>
            <a:r>
              <a:rPr lang="en-US" sz="1800" dirty="0">
                <a:solidFill>
                  <a:schemeClr val="tx1"/>
                </a:solidFill>
                <a:latin typeface="Atkinson Hyperlegible Next"/>
                <a:ea typeface="Arial"/>
                <a:cs typeface="Arial"/>
                <a:sym typeface="Arial"/>
              </a:rPr>
              <a:t>Don’t forget to have the Lab LabVIEW application implemented before lab.</a:t>
            </a: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tkinson Hyperlegible Next"/>
                <a:ea typeface="Arial"/>
                <a:cs typeface="Arial"/>
                <a:sym typeface="Arial"/>
              </a:rPr>
              <a:t>Homeworks</a:t>
            </a:r>
            <a:r>
              <a:rPr lang="en-US" sz="1800" b="1" dirty="0">
                <a:solidFill>
                  <a:srgbClr val="E84B36"/>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Ex 2 and 3 are due </a:t>
            </a:r>
            <a:r>
              <a:rPr lang="en-US" sz="1800" b="1" dirty="0">
                <a:latin typeface="Atkinson Hyperlegible Next"/>
                <a:ea typeface="Arial"/>
                <a:cs typeface="Arial"/>
                <a:sym typeface="Arial"/>
              </a:rPr>
              <a:t>March 31,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Ex 4 are due </a:t>
            </a:r>
            <a:r>
              <a:rPr lang="en-US" sz="1800" b="1" dirty="0">
                <a:latin typeface="Atkinson Hyperlegible Next"/>
                <a:ea typeface="Arial"/>
                <a:cs typeface="Arial"/>
                <a:sym typeface="Arial"/>
              </a:rPr>
              <a:t>April 7, 5PM (The end of office hours)</a:t>
            </a:r>
          </a:p>
          <a:p>
            <a:pPr marL="285750" indent="-285750">
              <a:lnSpc>
                <a:spcPct val="100000"/>
              </a:lnSpc>
              <a:spcBef>
                <a:spcPts val="0"/>
              </a:spcBef>
              <a:buSzPts val="3000"/>
            </a:pPr>
            <a:r>
              <a:rPr lang="en-US" sz="1800" dirty="0">
                <a:latin typeface="Atkinson Hyperlegible Next"/>
                <a:ea typeface="Arial"/>
                <a:cs typeface="Arial"/>
                <a:sym typeface="Arial"/>
              </a:rPr>
              <a:t>Remainder of </a:t>
            </a:r>
            <a:r>
              <a:rPr lang="en-US" sz="1800" dirty="0">
                <a:latin typeface="Atkinson Hyperlegible Next"/>
                <a:ea typeface="Arial"/>
                <a:cs typeface="Arial"/>
                <a:sym typeface="Arial"/>
                <a:hlinkClick r:id="rId3"/>
              </a:rPr>
              <a:t>homework 4</a:t>
            </a:r>
            <a:r>
              <a:rPr lang="en-US" sz="1800" dirty="0">
                <a:latin typeface="Atkinson Hyperlegible Next"/>
                <a:ea typeface="Arial"/>
                <a:cs typeface="Arial"/>
                <a:sym typeface="Arial"/>
              </a:rPr>
              <a:t> due on </a:t>
            </a:r>
            <a:r>
              <a:rPr lang="en-US" sz="1800" dirty="0" err="1">
                <a:latin typeface="Atkinson Hyperlegible Next"/>
                <a:ea typeface="Arial"/>
                <a:cs typeface="Arial"/>
                <a:sym typeface="Arial"/>
              </a:rPr>
              <a:t>Gradescope</a:t>
            </a:r>
            <a:r>
              <a:rPr lang="en-US" sz="1800" dirty="0">
                <a:latin typeface="Atkinson Hyperlegible Next"/>
                <a:ea typeface="Arial"/>
                <a:cs typeface="Arial"/>
                <a:sym typeface="Arial"/>
              </a:rPr>
              <a:t> on </a:t>
            </a:r>
            <a:r>
              <a:rPr lang="en-US" sz="1800" b="1" dirty="0">
                <a:latin typeface="Atkinson Hyperlegible Next"/>
                <a:ea typeface="Arial"/>
                <a:cs typeface="Arial"/>
                <a:sym typeface="Arial"/>
              </a:rPr>
              <a:t>April 8, 9AM</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Path planning</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84C1449-3E0A-4861-9392-BE1442E4AF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B82F22-2950-651A-368C-79B66C4118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I would HIGHLY recommend you looking at:</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342900">
              <a:lnSpc>
                <a:spcPct val="100000"/>
              </a:lnSpc>
              <a:spcBef>
                <a:spcPts val="0"/>
              </a:spcBef>
              <a:buSzPts val="3000"/>
            </a:pPr>
            <a:r>
              <a:rPr lang="en-US" sz="2350" dirty="0">
                <a:latin typeface="Atkinson Hyperlegible Next"/>
                <a:ea typeface="Arial"/>
                <a:cs typeface="Arial"/>
                <a:sym typeface="Arial"/>
                <a:hlinkClick r:id="rId3"/>
              </a:rPr>
              <a:t>https://theory.stanford.edu/~amitp/GameProgramming/MapRepresentations.html</a:t>
            </a:r>
            <a:r>
              <a:rPr lang="en-US" sz="2350" dirty="0">
                <a:latin typeface="Atkinson Hyperlegible Next"/>
                <a:ea typeface="Arial"/>
                <a:cs typeface="Arial"/>
                <a:sym typeface="Arial"/>
              </a:rPr>
              <a:t> </a:t>
            </a:r>
            <a:endParaRPr lang="en-US" sz="2350" dirty="0">
              <a:solidFill>
                <a:schemeClr val="dk1"/>
              </a:solidFill>
              <a:latin typeface="Atkinson Hyperlegible Next"/>
              <a:ea typeface="Arial"/>
              <a:cs typeface="Arial"/>
              <a:sym typeface="Arial"/>
            </a:endParaRPr>
          </a:p>
          <a:p>
            <a:pPr marL="342900">
              <a:lnSpc>
                <a:spcPct val="100000"/>
              </a:lnSpc>
              <a:spcBef>
                <a:spcPts val="0"/>
              </a:spcBef>
              <a:buSzPts val="3000"/>
            </a:pPr>
            <a:r>
              <a:rPr lang="en-US" sz="2400" dirty="0">
                <a:latin typeface="Atkinson Hyperlegible Next"/>
                <a:ea typeface="Arial"/>
                <a:cs typeface="Arial"/>
                <a:sym typeface="Arial"/>
                <a:hlinkClick r:id="rId4"/>
              </a:rPr>
              <a:t>https://www.redblobgames.com/pathfinding/a-star/introduction.html</a:t>
            </a:r>
            <a:r>
              <a:rPr lang="en-US" sz="2400" dirty="0">
                <a:latin typeface="Atkinson Hyperlegible Next"/>
                <a:ea typeface="Arial"/>
                <a:cs typeface="Arial"/>
                <a:sym typeface="Arial"/>
              </a:rPr>
              <a:t>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is a series of interactable tutorial for path planning, it is very useful and goes through all the material in this lecture!</a:t>
            </a: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A628A2B-B709-CACE-8F95-69BCFBA1685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0483023-EDBE-4389-5B7F-1D8932DD80A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Preface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330AC21-503A-97DC-BCF1-95DD8206162E}"/>
              </a:ext>
            </a:extLst>
          </p:cNvPr>
          <p:cNvPicPr preferRelativeResize="0"/>
          <p:nvPr/>
        </p:nvPicPr>
        <p:blipFill rotWithShape="1">
          <a:blip r:embed="rId5">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90C9303-015B-BA26-66AF-C804A163D8C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640AD6F-925A-DF39-18C2-1660A40D8DF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6834384-62C3-933E-328D-C094682345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82058DB-8DC9-B90E-8DCC-F65D880AB5F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DA9392-D2C8-BB5F-1616-0AF3151C33D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5007864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DFDFF56A-066A-1AB8-D43B-09FA14C5FE28}"/>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59DF2FB3-6A0D-1D1A-0BAF-761A3B4520DC}"/>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Graphs</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F3EC7267-1FA5-2838-1C56-8C63BF21913C}"/>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EF4F6C3A-F831-650F-2BF8-79BB35C95DE4}"/>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8AFB0C32-8291-BF2C-EBF6-601AA7B76A51}"/>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3798382B-A292-EF59-5F9D-BB3A4CE254E7}"/>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DCD28AD7-2CCD-F6D4-184A-0BE7436BC48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9DAE4CEC-8083-2A43-BB71-DCFD1FBA71CB}"/>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355A1162-5A49-1194-F3BC-F7F74E02CB8A}"/>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473B82BF-9E9C-5D26-C926-EEB85AA63F1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C5A42A64-8FF4-052C-D4DB-4372651B01C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811725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AB31BED-0250-AE07-2DD3-6A6C2EB391E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BE0E2B7-1369-7096-6138-7E551BF623E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Discrete path planning works on a graph data structure, it can be directed or undirected.</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A graph is composed of 2 simple components:</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Edges - E: Paths or transitions between nodes</a:t>
                </a:r>
              </a:p>
              <a:p>
                <a:pPr marL="342900">
                  <a:lnSpc>
                    <a:spcPct val="100000"/>
                  </a:lnSpc>
                  <a:spcBef>
                    <a:spcPts val="0"/>
                  </a:spcBef>
                  <a:buSzPts val="3000"/>
                </a:pPr>
                <a:r>
                  <a:rPr lang="en-US" sz="2400" dirty="0">
                    <a:latin typeface="Atkinson Hyperlegible Next"/>
                    <a:ea typeface="Arial"/>
                    <a:cs typeface="Arial"/>
                    <a:sym typeface="Arial"/>
                  </a:rPr>
                  <a:t>Vertices (Nodes) - V: Locations, states, or positions in space</a:t>
                </a:r>
              </a:p>
              <a:p>
                <a:pPr marL="342900">
                  <a:lnSpc>
                    <a:spcPct val="100000"/>
                  </a:lnSpc>
                  <a:spcBef>
                    <a:spcPts val="0"/>
                  </a:spcBef>
                  <a:buSzPts val="3000"/>
                </a:pPr>
                <a:r>
                  <a:rPr lang="en-US" sz="2400" dirty="0">
                    <a:latin typeface="Atkinson Hyperlegible Next"/>
                    <a:ea typeface="Arial"/>
                    <a:cs typeface="Arial"/>
                    <a:sym typeface="Arial"/>
                  </a:rPr>
                  <a:t>Weights (Costs) - </a:t>
                </a:r>
                <a14:m>
                  <m:oMath xmlns:m="http://schemas.openxmlformats.org/officeDocument/2006/math">
                    <m:r>
                      <m:rPr>
                        <m:sty m:val="p"/>
                      </m:rPr>
                      <a:rPr lang="en-US" sz="2400" b="0" i="1" smtClean="0">
                        <a:latin typeface="Cambria Math" panose="02040503050406030204" pitchFamily="18" charset="0"/>
                        <a:ea typeface="Arial"/>
                        <a:cs typeface="Arial"/>
                        <a:sym typeface="Arial"/>
                      </a:rPr>
                      <m:t>w</m:t>
                    </m:r>
                    <m:r>
                      <a:rPr lang="en-US" sz="2400" b="0" i="1" smtClean="0">
                        <a:latin typeface="Cambria Math" panose="02040503050406030204" pitchFamily="18" charset="0"/>
                        <a:ea typeface="Arial"/>
                        <a:cs typeface="Arial"/>
                        <a:sym typeface="Arial"/>
                      </a:rPr>
                      <m:t>(</m:t>
                    </m:r>
                    <m:r>
                      <m:rPr>
                        <m:sty m:val="p"/>
                      </m:rPr>
                      <a:rPr lang="en-US" sz="2400" b="0" i="1" smtClean="0">
                        <a:latin typeface="Cambria Math" panose="02040503050406030204" pitchFamily="18" charset="0"/>
                        <a:ea typeface="Arial"/>
                        <a:cs typeface="Arial"/>
                        <a:sym typeface="Arial"/>
                      </a:rPr>
                      <m:t>e</m:t>
                    </m:r>
                    <m:r>
                      <a:rPr lang="en-US" sz="2400" b="0" i="1" smtClean="0">
                        <a:latin typeface="Cambria Math" panose="02040503050406030204" pitchFamily="18" charset="0"/>
                        <a:ea typeface="Arial"/>
                        <a:cs typeface="Arial"/>
                        <a:sym typeface="Arial"/>
                      </a:rPr>
                      <m:t>)</m:t>
                    </m:r>
                  </m:oMath>
                </a14:m>
                <a:r>
                  <a:rPr lang="en-US" sz="2400" dirty="0">
                    <a:latin typeface="Atkinson Hyperlegible Next"/>
                    <a:ea typeface="Arial"/>
                    <a:cs typeface="Arial"/>
                    <a:sym typeface="Arial"/>
                  </a:rPr>
                  <a:t>: Distance, time, energy or terrain difficult to traverse specific edge</a:t>
                </a:r>
              </a:p>
              <a:p>
                <a:pPr marL="34290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342900">
                  <a:lnSpc>
                    <a:spcPct val="100000"/>
                  </a:lnSpc>
                  <a:spcBef>
                    <a:spcPts val="0"/>
                  </a:spcBef>
                  <a:buSzPts val="3000"/>
                </a:pPr>
                <a:endParaRPr lang="en-US" sz="2400" dirty="0">
                  <a:solidFill>
                    <a:schemeClr val="dk1"/>
                  </a:solidFill>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2BE0E2B7-1369-7096-6138-7E551BF623EA}"/>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682A598-1CAE-743D-E80B-FC85664EA1D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B266D89-781E-9220-8AD5-217ECD89B6D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47035C2-EF7A-764A-381D-DBD204849F95}"/>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2DBAF6A-A221-32E4-DB7D-538B0E127EA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BD26DD5-03C4-3792-5F3C-BF6E15D1E43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39EF623-249B-FF09-5496-3A302EDA956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A43F7AF-CE4D-F760-A14B-88E517C5473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EBD68D3-D381-E193-901B-DC322546F85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31B775A8-68D4-B1F8-F2D5-F470BC3EDAD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32931" y="4005678"/>
            <a:ext cx="3526137" cy="2334203"/>
          </a:xfrm>
          <a:prstGeom prst="rect">
            <a:avLst/>
          </a:prstGeom>
        </p:spPr>
      </p:pic>
    </p:spTree>
    <p:extLst>
      <p:ext uri="{BB962C8B-B14F-4D97-AF65-F5344CB8AC3E}">
        <p14:creationId xmlns:p14="http://schemas.microsoft.com/office/powerpoint/2010/main" val="256225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7FCCBF4-7C3F-C5B8-076D-8D33359B617A}"/>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E374E9C-A2BF-35B1-64C7-D64C11D6EA97}"/>
              </a:ext>
            </a:extLst>
          </p:cNvPr>
          <p:cNvSpPr txBox="1">
            <a:spLocks noGrp="1"/>
          </p:cNvSpPr>
          <p:nvPr>
            <p:ph type="body" idx="1"/>
          </p:nvPr>
        </p:nvSpPr>
        <p:spPr>
          <a:xfrm>
            <a:off x="376809" y="1334279"/>
            <a:ext cx="5433441" cy="1569920"/>
          </a:xfrm>
          <a:prstGeom prst="rect">
            <a:avLst/>
          </a:prstGeom>
          <a:noFill/>
          <a:ln>
            <a:noFill/>
          </a:ln>
        </p:spPr>
        <p:txBody>
          <a:bodyPr spcFirstLastPara="1" wrap="square" lIns="91425" tIns="45700" rIns="91425" bIns="45700" anchor="t" anchorCtr="0">
            <a:noAutofit/>
          </a:bodyPr>
          <a:lstStyle/>
          <a:p>
            <a:pPr marL="342900">
              <a:lnSpc>
                <a:spcPct val="100000"/>
              </a:lnSpc>
              <a:spcBef>
                <a:spcPts val="0"/>
              </a:spcBef>
              <a:buSzPts val="3000"/>
            </a:pPr>
            <a:r>
              <a:rPr lang="en-US" sz="2400" dirty="0">
                <a:solidFill>
                  <a:schemeClr val="dk1"/>
                </a:solidFill>
                <a:latin typeface="Atkinson Hyperlegible Next"/>
                <a:ea typeface="Arial"/>
                <a:cs typeface="Arial"/>
                <a:sym typeface="Arial"/>
              </a:rPr>
              <a:t>An undirected (or simple) graph has edges that are bi-directions, you can to and from vertices where nodes are connected</a:t>
            </a:r>
          </a:p>
        </p:txBody>
      </p:sp>
      <p:sp>
        <p:nvSpPr>
          <p:cNvPr id="119" name="Google Shape;119;p29">
            <a:extLst>
              <a:ext uri="{FF2B5EF4-FFF2-40B4-BE49-F238E27FC236}">
                <a16:creationId xmlns:a16="http://schemas.microsoft.com/office/drawing/2014/main" id="{E11D31D9-6015-671E-F4C1-0C19E979E76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824C647-5676-FB75-10BA-CB73EE13001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1D551A52-EA66-23FA-C3E2-4519DF02899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CBAEBCE-03C2-582C-BCBD-9DA0DB98CEC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7616FF9-DD19-6E94-ECB2-D1722E3D999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290694F-D7FF-BFD9-04DF-5D2CCD09333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8027D31-8BDE-DFAA-3FFF-23516BE1F88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ABC13B4-8790-38FC-C3A7-2DC5EE60A7B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Graphic 3">
            <a:extLst>
              <a:ext uri="{FF2B5EF4-FFF2-40B4-BE49-F238E27FC236}">
                <a16:creationId xmlns:a16="http://schemas.microsoft.com/office/drawing/2014/main" id="{B92C4461-3DAC-027F-FD82-FA79FA94E31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3779" y="2847269"/>
            <a:ext cx="3619500" cy="3619500"/>
          </a:xfrm>
          <a:prstGeom prst="rect">
            <a:avLst/>
          </a:prstGeom>
        </p:spPr>
      </p:pic>
      <p:sp>
        <p:nvSpPr>
          <p:cNvPr id="5" name="Google Shape;118;p29">
            <a:extLst>
              <a:ext uri="{FF2B5EF4-FFF2-40B4-BE49-F238E27FC236}">
                <a16:creationId xmlns:a16="http://schemas.microsoft.com/office/drawing/2014/main" id="{6897E411-F052-2BA2-3EA1-43EFB46C0607}"/>
              </a:ext>
            </a:extLst>
          </p:cNvPr>
          <p:cNvSpPr txBox="1">
            <a:spLocks/>
          </p:cNvSpPr>
          <p:nvPr/>
        </p:nvSpPr>
        <p:spPr>
          <a:xfrm>
            <a:off x="5853395" y="1285750"/>
            <a:ext cx="5433441" cy="1563553"/>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342900">
              <a:lnSpc>
                <a:spcPct val="100000"/>
              </a:lnSpc>
              <a:spcBef>
                <a:spcPts val="0"/>
              </a:spcBef>
              <a:buSzPts val="3000"/>
            </a:pPr>
            <a:r>
              <a:rPr lang="en-US" sz="2400" dirty="0">
                <a:latin typeface="Atkinson Hyperlegible Next"/>
                <a:ea typeface="Arial"/>
                <a:cs typeface="Arial"/>
                <a:sym typeface="Arial"/>
              </a:rPr>
              <a:t>A directed graph has edges that have a direction, you can only go from “a” to “b” and not “b” to “a”</a:t>
            </a:r>
          </a:p>
        </p:txBody>
      </p:sp>
      <p:pic>
        <p:nvPicPr>
          <p:cNvPr id="7" name="Graphic 6">
            <a:extLst>
              <a:ext uri="{FF2B5EF4-FFF2-40B4-BE49-F238E27FC236}">
                <a16:creationId xmlns:a16="http://schemas.microsoft.com/office/drawing/2014/main" id="{698375AB-26D4-42E2-7EE1-76E199CEBC7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58435" y="2847269"/>
            <a:ext cx="4023360" cy="3621024"/>
          </a:xfrm>
          <a:prstGeom prst="rect">
            <a:avLst/>
          </a:prstGeom>
        </p:spPr>
      </p:pic>
      <p:sp>
        <p:nvSpPr>
          <p:cNvPr id="8" name="Google Shape;118;p29">
            <a:extLst>
              <a:ext uri="{FF2B5EF4-FFF2-40B4-BE49-F238E27FC236}">
                <a16:creationId xmlns:a16="http://schemas.microsoft.com/office/drawing/2014/main" id="{F20D1B98-29A8-23F3-7194-720963AE9BDD}"/>
              </a:ext>
            </a:extLst>
          </p:cNvPr>
          <p:cNvSpPr txBox="1">
            <a:spLocks/>
          </p:cNvSpPr>
          <p:nvPr/>
        </p:nvSpPr>
        <p:spPr>
          <a:xfrm>
            <a:off x="3871155" y="5015463"/>
            <a:ext cx="3964478" cy="86822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pPr marL="0" indent="0" algn="ctr">
              <a:lnSpc>
                <a:spcPct val="100000"/>
              </a:lnSpc>
              <a:spcBef>
                <a:spcPts val="0"/>
              </a:spcBef>
              <a:buSzPts val="3000"/>
              <a:buNone/>
            </a:pPr>
            <a:r>
              <a:rPr lang="en-US" sz="2400" dirty="0">
                <a:latin typeface="Atkinson Hyperlegible Next"/>
                <a:ea typeface="Arial"/>
                <a:cs typeface="Arial"/>
                <a:sym typeface="Arial"/>
              </a:rPr>
              <a:t>What type would you likely use in robotic applications?</a:t>
            </a:r>
          </a:p>
        </p:txBody>
      </p:sp>
    </p:spTree>
    <p:extLst>
      <p:ext uri="{BB962C8B-B14F-4D97-AF65-F5344CB8AC3E}">
        <p14:creationId xmlns:p14="http://schemas.microsoft.com/office/powerpoint/2010/main" val="1911212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79E4EC57-35A0-8FBD-8D4A-F5FCA3CA985E}"/>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CB2932B5-1962-00FB-4B81-0A54C221C8B0}"/>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Map Representation</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7B011B41-2318-45B3-21AA-95AE9E9CBCD4}"/>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7B5EEDEE-A6CA-48F5-1911-CF2603B5D4D0}"/>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AC511DDD-6F21-A33B-5C6B-349CB5DC585B}"/>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CB729143-BBC0-B6EC-1E4F-18FA191568FF}"/>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A5278646-85D0-C1DF-4A03-F31BFE74C03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75C93559-B659-173C-FF82-946D558765A1}"/>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5812054A-9F51-9F98-BAA3-CB2A743F4D08}"/>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FCE07DFF-72FF-466C-5657-01E651529D7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EF7A60DF-4FEF-47B0-E7E9-8CAD9DFFAF8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89768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959866A-1C4F-BC9D-72F5-EEF83B16E1A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32EB26A-896F-51EC-B384-12DC6D32077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Because we live in a Euclidian space, we can often represent the locations that the robot can move to in discrete 2D as a </a:t>
            </a:r>
            <a:r>
              <a:rPr lang="en-US" sz="2400" b="1" dirty="0">
                <a:solidFill>
                  <a:schemeClr val="dk1"/>
                </a:solidFill>
                <a:latin typeface="Atkinson Hyperlegible Next"/>
                <a:ea typeface="Arial"/>
                <a:cs typeface="Arial"/>
                <a:sym typeface="Arial"/>
              </a:rPr>
              <a:t>2D map</a:t>
            </a:r>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b="1" dirty="0">
                <a:solidFill>
                  <a:schemeClr val="dk1"/>
                </a:solidFill>
                <a:latin typeface="Atkinson Hyperlegible Next"/>
                <a:ea typeface="Arial"/>
                <a:cs typeface="Arial"/>
                <a:sym typeface="Arial"/>
              </a:rPr>
              <a:t>The map representation can make a huge difference in the performance and path quality.</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Pathfinding algorithms tend to be worse than linear (time complexity): if you double the distance needed to travel, it takes more than twice as long to find the path.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You can think of pathfinding as searching some area like a circle—when the circle’s diameter doubles, it has four times the area.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854DDFF1-B66E-D4EB-AF9E-BAB04ED9DA5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CC5087F-479E-71EA-40F8-0128158E095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8EFAB6BD-F376-AB01-348C-E02356094D5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995E97E-47F8-080C-817E-425C163E8BA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68CCD6A-2206-5339-708F-009CCCCF3B6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3190720-3422-14A8-C16C-475FBF6A70B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EE19F9F-0E67-9BBB-5A32-92924B75C7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8B0E6EC-DC1F-39F1-FB7F-8B792642D0C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59874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6A4B7A2-0770-2D60-05CE-6BC3332391C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76F6CC5-78AA-4698-97BD-3FEC08D74BF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 general, the fewer nodes in your map representation, the faster the path planning will be.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Also, the more closely your nodes match the positions that units will move to, the better your path quality will be.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best map representation is defined based on the data that you have, and map visibility.</a:t>
            </a:r>
          </a:p>
        </p:txBody>
      </p:sp>
      <p:sp>
        <p:nvSpPr>
          <p:cNvPr id="119" name="Google Shape;119;p29">
            <a:extLst>
              <a:ext uri="{FF2B5EF4-FFF2-40B4-BE49-F238E27FC236}">
                <a16:creationId xmlns:a16="http://schemas.microsoft.com/office/drawing/2014/main" id="{D15F5225-3384-8C26-3A3A-C37611822C5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7D8BD66-7128-6DDD-D7CE-FFBA9DBEE76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F50C8EC-00CC-12C3-18C8-38EF95D750A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E7CD175-EE59-F49B-A665-E31AB0960E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6298011-22EB-BD17-7244-FE11029A8B2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25BBD69-FFAF-0531-18E3-559138C1A0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D85B078-D976-499A-7F93-C809FA2123B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857A5E7-AAC2-612E-AE62-7D7BD2F410E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085074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06462FE-4C02-66FB-4577-B9400EFD5ED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2BB033C-7A25-3CAD-B12C-EAA7335DFD5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A grid map uses a uniform subdivision of the world into small regular shapes sometimes called “tiles”. Common grids in use are </a:t>
            </a:r>
            <a:r>
              <a:rPr lang="en-US" sz="2400" b="1" dirty="0">
                <a:solidFill>
                  <a:schemeClr val="dk1"/>
                </a:solidFill>
                <a:latin typeface="Atkinson Hyperlegible Next"/>
                <a:ea typeface="Arial"/>
                <a:cs typeface="Arial"/>
                <a:sym typeface="Arial"/>
              </a:rPr>
              <a:t>square</a:t>
            </a:r>
            <a:r>
              <a:rPr lang="en-US" sz="2400" dirty="0">
                <a:solidFill>
                  <a:schemeClr val="dk1"/>
                </a:solidFill>
                <a:latin typeface="Atkinson Hyperlegible Next"/>
                <a:ea typeface="Arial"/>
                <a:cs typeface="Arial"/>
                <a:sym typeface="Arial"/>
              </a:rPr>
              <a:t>, </a:t>
            </a:r>
            <a:r>
              <a:rPr lang="en-US" sz="2400" b="1" dirty="0">
                <a:solidFill>
                  <a:schemeClr val="dk1"/>
                </a:solidFill>
                <a:latin typeface="Atkinson Hyperlegible Next"/>
                <a:ea typeface="Arial"/>
                <a:cs typeface="Arial"/>
                <a:sym typeface="Arial"/>
              </a:rPr>
              <a:t>triangular</a:t>
            </a:r>
            <a:r>
              <a:rPr lang="en-US" sz="2400" dirty="0">
                <a:solidFill>
                  <a:schemeClr val="dk1"/>
                </a:solidFill>
                <a:latin typeface="Atkinson Hyperlegible Next"/>
                <a:ea typeface="Arial"/>
                <a:cs typeface="Arial"/>
                <a:sym typeface="Arial"/>
              </a:rPr>
              <a:t>, and </a:t>
            </a:r>
            <a:r>
              <a:rPr lang="en-US" sz="2400" b="1" dirty="0">
                <a:solidFill>
                  <a:schemeClr val="dk1"/>
                </a:solidFill>
                <a:latin typeface="Atkinson Hyperlegible Next"/>
                <a:ea typeface="Arial"/>
                <a:cs typeface="Arial"/>
                <a:sym typeface="Arial"/>
              </a:rPr>
              <a:t>hexagonal</a:t>
            </a:r>
            <a:r>
              <a:rPr lang="en-US" sz="2400" dirty="0">
                <a:solidFill>
                  <a:schemeClr val="dk1"/>
                </a:solidFill>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Grids are simple and easy to understand, and many games and robotic applications use them for world representation.</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With grids you usually move between tiles, where the movement costs are uniform. </a:t>
            </a:r>
          </a:p>
        </p:txBody>
      </p:sp>
      <p:sp>
        <p:nvSpPr>
          <p:cNvPr id="119" name="Google Shape;119;p29">
            <a:extLst>
              <a:ext uri="{FF2B5EF4-FFF2-40B4-BE49-F238E27FC236}">
                <a16:creationId xmlns:a16="http://schemas.microsoft.com/office/drawing/2014/main" id="{B11B772D-489E-F932-C3B0-1ED5D92ACBE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05D2C8C7-BEA3-B27D-49B9-6FBFDEF1487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27D92D6-A0AB-8490-A461-20095728D44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DB21563-35E4-5F44-8414-F78ADCDCDB8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BE0F4D4-345B-4799-B119-D6CFB4D66EC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F3235126-7008-D8F6-D6B8-1D571B09816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E56942A-0588-F740-1024-7EE6BCC6555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1EDA0F7-A072-D0B4-FDB3-F823BAECBCD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73729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615932C-D347-D456-3F19-ADBA36C8C3A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95BDBDB7-1DB7-A0F6-2FD8-838C712F09D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CCF8FA9-A52E-8BB3-8D11-F31C018974B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7ADC273-BFB5-6F10-66E7-60740AE4801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06657C8-E0B1-16F2-8C44-8211904856D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9020129-7F1F-E090-9083-C64DCAD27D0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28115BF-168F-D283-1079-F673BB80B40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DC2F245-A513-17B9-2ABD-F4EB60D8AD8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E198EB2-83E4-C206-A161-234AEE6F868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a:extLst>
              <a:ext uri="{FF2B5EF4-FFF2-40B4-BE49-F238E27FC236}">
                <a16:creationId xmlns:a16="http://schemas.microsoft.com/office/drawing/2014/main" id="{5B66694E-3611-A63F-B31B-2C03C8C55AE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0" y="1968797"/>
            <a:ext cx="12189522" cy="2920406"/>
          </a:xfrm>
          <a:prstGeom prst="rect">
            <a:avLst/>
          </a:prstGeom>
        </p:spPr>
      </p:pic>
    </p:spTree>
    <p:extLst>
      <p:ext uri="{BB962C8B-B14F-4D97-AF65-F5344CB8AC3E}">
        <p14:creationId xmlns:p14="http://schemas.microsoft.com/office/powerpoint/2010/main" val="2054643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0489819-F982-E8F5-FE56-CD29602FD502}"/>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015DA28-178D-C174-6C12-8B7630DC9E18}"/>
              </a:ext>
            </a:extLst>
          </p:cNvPr>
          <p:cNvSpPr txBox="1">
            <a:spLocks noGrp="1"/>
          </p:cNvSpPr>
          <p:nvPr>
            <p:ph type="body" idx="1"/>
          </p:nvPr>
        </p:nvSpPr>
        <p:spPr>
          <a:xfrm>
            <a:off x="376809" y="1334279"/>
            <a:ext cx="11177401" cy="2293820"/>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 grid spaces, we have something called connectivity, the most used is 4-connected neighbors and 8-connected components.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Neighbor connectivity informs us which neighbors we could potentially reach at the next time step.</a:t>
            </a:r>
          </a:p>
          <a:p>
            <a:pPr marL="0" indent="0">
              <a:lnSpc>
                <a:spcPct val="100000"/>
              </a:lnSpc>
              <a:spcBef>
                <a:spcPts val="0"/>
              </a:spcBef>
              <a:buSzPts val="3000"/>
              <a:buNone/>
            </a:pPr>
            <a:r>
              <a:rPr lang="en-US" sz="2400" dirty="0">
                <a:latin typeface="Atkinson Hyperlegible Next"/>
                <a:ea typeface="Arial"/>
                <a:cs typeface="Arial"/>
                <a:sym typeface="Arial"/>
              </a:rPr>
              <a:t>Which is 4-connected neighbors?</a:t>
            </a:r>
          </a:p>
        </p:txBody>
      </p:sp>
      <p:sp>
        <p:nvSpPr>
          <p:cNvPr id="119" name="Google Shape;119;p29">
            <a:extLst>
              <a:ext uri="{FF2B5EF4-FFF2-40B4-BE49-F238E27FC236}">
                <a16:creationId xmlns:a16="http://schemas.microsoft.com/office/drawing/2014/main" id="{82F87DE0-8264-699B-825B-81C598A1A35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312BB46-917D-D8DE-3359-BC4EDDE5006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99219C4-6705-AFF9-32FB-6F884D80831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0F0DDE0-1B3C-5A1B-4441-85460E01121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9BF43E4-D2D0-9D8C-BD5E-CEAD22E9F41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8EB5C05-DC17-AD8C-AB7B-EE26C273980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F3267B1-4332-2F44-9FD9-D73167211A7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F27D723-32C9-CEC1-EAE1-21831FD5810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116C6903-85C2-2428-2452-0AD555162D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flipH="1">
            <a:off x="2002773" y="3628440"/>
            <a:ext cx="7658100" cy="2895600"/>
          </a:xfrm>
          <a:prstGeom prst="rect">
            <a:avLst/>
          </a:prstGeom>
        </p:spPr>
      </p:pic>
      <p:sp>
        <p:nvSpPr>
          <p:cNvPr id="4" name="Rectangle 3">
            <a:extLst>
              <a:ext uri="{FF2B5EF4-FFF2-40B4-BE49-F238E27FC236}">
                <a16:creationId xmlns:a16="http://schemas.microsoft.com/office/drawing/2014/main" id="{D22A4CF6-14D0-DD2E-FC5E-74C33D6F5CC4}"/>
              </a:ext>
            </a:extLst>
          </p:cNvPr>
          <p:cNvSpPr/>
          <p:nvPr/>
        </p:nvSpPr>
        <p:spPr>
          <a:xfrm>
            <a:off x="2002773" y="4616450"/>
            <a:ext cx="969027" cy="9072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DCA4A68-752B-1761-6809-323ECA9577F7}"/>
              </a:ext>
            </a:extLst>
          </p:cNvPr>
          <p:cNvSpPr/>
          <p:nvPr/>
        </p:nvSpPr>
        <p:spPr>
          <a:xfrm>
            <a:off x="2971800" y="3674623"/>
            <a:ext cx="969027" cy="9072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DBAEA6D-FA9C-65E5-9EA9-32E7EE4729E4}"/>
              </a:ext>
            </a:extLst>
          </p:cNvPr>
          <p:cNvSpPr/>
          <p:nvPr/>
        </p:nvSpPr>
        <p:spPr>
          <a:xfrm>
            <a:off x="2949441" y="5558277"/>
            <a:ext cx="969027" cy="9072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E0FD98-31CD-47F1-0942-51F8ADE47BAE}"/>
              </a:ext>
            </a:extLst>
          </p:cNvPr>
          <p:cNvSpPr/>
          <p:nvPr/>
        </p:nvSpPr>
        <p:spPr>
          <a:xfrm>
            <a:off x="3940827" y="4628077"/>
            <a:ext cx="969027" cy="9072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Arrow Connector 10">
            <a:extLst>
              <a:ext uri="{FF2B5EF4-FFF2-40B4-BE49-F238E27FC236}">
                <a16:creationId xmlns:a16="http://schemas.microsoft.com/office/drawing/2014/main" id="{CCF025C4-25D9-E150-5B13-5C33C025CD0E}"/>
              </a:ext>
            </a:extLst>
          </p:cNvPr>
          <p:cNvCxnSpPr>
            <a:cxnSpLocks/>
            <a:stCxn id="12" idx="2"/>
            <a:endCxn id="4" idx="1"/>
          </p:cNvCxnSpPr>
          <p:nvPr/>
        </p:nvCxnSpPr>
        <p:spPr>
          <a:xfrm>
            <a:off x="962025" y="4628077"/>
            <a:ext cx="1040748" cy="44200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1DEFCAF-5F16-4750-69A4-8B8515E021E1}"/>
              </a:ext>
            </a:extLst>
          </p:cNvPr>
          <p:cNvSpPr txBox="1"/>
          <p:nvPr/>
        </p:nvSpPr>
        <p:spPr>
          <a:xfrm>
            <a:off x="241300" y="3920191"/>
            <a:ext cx="1441450" cy="707886"/>
          </a:xfrm>
          <a:prstGeom prst="rect">
            <a:avLst/>
          </a:prstGeom>
          <a:noFill/>
        </p:spPr>
        <p:txBody>
          <a:bodyPr wrap="square" rtlCol="0">
            <a:spAutoFit/>
          </a:bodyPr>
          <a:lstStyle/>
          <a:p>
            <a:pPr algn="ctr"/>
            <a:r>
              <a:rPr lang="en-US" sz="2000" dirty="0">
                <a:solidFill>
                  <a:srgbClr val="FF0000"/>
                </a:solidFill>
              </a:rPr>
              <a:t>4 Valid neighbor</a:t>
            </a:r>
          </a:p>
        </p:txBody>
      </p:sp>
    </p:spTree>
    <p:extLst>
      <p:ext uri="{BB962C8B-B14F-4D97-AF65-F5344CB8AC3E}">
        <p14:creationId xmlns:p14="http://schemas.microsoft.com/office/powerpoint/2010/main" val="3298954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B204EAC-EFA3-68CF-06DF-98E49C6B1C8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69E2134-EAE2-DA95-EC6B-9821CB4B613C}"/>
              </a:ext>
            </a:extLst>
          </p:cNvPr>
          <p:cNvSpPr txBox="1">
            <a:spLocks noGrp="1"/>
          </p:cNvSpPr>
          <p:nvPr>
            <p:ph type="body" idx="1"/>
          </p:nvPr>
        </p:nvSpPr>
        <p:spPr>
          <a:xfrm>
            <a:off x="376809" y="1334278"/>
            <a:ext cx="11177401" cy="4945507"/>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What is are some potential problems with grid maps?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Based on the resolution of the grid and the total area of the grid the following happens:</a:t>
            </a:r>
          </a:p>
          <a:p>
            <a:pPr marL="342900">
              <a:lnSpc>
                <a:spcPct val="100000"/>
              </a:lnSpc>
              <a:spcBef>
                <a:spcPts val="0"/>
              </a:spcBef>
              <a:buSzPts val="3000"/>
            </a:pPr>
            <a:r>
              <a:rPr lang="en-US" sz="2400" dirty="0">
                <a:latin typeface="Atkinson Hyperlegible Next"/>
                <a:ea typeface="Arial"/>
                <a:cs typeface="Arial"/>
                <a:sym typeface="Arial"/>
              </a:rPr>
              <a:t>Requires quadratic amount of memory per resolution increase</a:t>
            </a:r>
          </a:p>
          <a:p>
            <a:pPr marL="342900">
              <a:lnSpc>
                <a:spcPct val="100000"/>
              </a:lnSpc>
              <a:spcBef>
                <a:spcPts val="0"/>
              </a:spcBef>
              <a:buSzPts val="3000"/>
            </a:pPr>
            <a:r>
              <a:rPr lang="en-US" sz="2400" dirty="0">
                <a:latin typeface="Atkinson Hyperlegible Next"/>
                <a:ea typeface="Arial"/>
                <a:cs typeface="Arial"/>
                <a:sym typeface="Arial"/>
              </a:rPr>
              <a:t>The time it takes to solve the path is based on the resolution and the area</a:t>
            </a:r>
          </a:p>
          <a:p>
            <a:pPr marL="342900">
              <a:lnSpc>
                <a:spcPct val="100000"/>
              </a:lnSpc>
              <a:spcBef>
                <a:spcPts val="0"/>
              </a:spcBef>
              <a:buSzPts val="3000"/>
            </a:pPr>
            <a:r>
              <a:rPr lang="en-US" sz="2400" dirty="0">
                <a:latin typeface="Atkinson Hyperlegible Next"/>
                <a:ea typeface="Arial"/>
                <a:cs typeface="Arial"/>
                <a:sym typeface="Arial"/>
              </a:rPr>
              <a:t>A lot of the grid is “redundant” information, adjacent neighbors do not advance the robot in a substantial way</a:t>
            </a:r>
          </a:p>
          <a:p>
            <a:pPr marL="342900">
              <a:lnSpc>
                <a:spcPct val="100000"/>
              </a:lnSpc>
              <a:spcBef>
                <a:spcPts val="0"/>
              </a:spcBef>
              <a:buSzPts val="3000"/>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However, it is extremely simple to implement! It is just a 2D (or 1D) array!</a:t>
            </a:r>
          </a:p>
        </p:txBody>
      </p:sp>
      <p:sp>
        <p:nvSpPr>
          <p:cNvPr id="119" name="Google Shape;119;p29">
            <a:extLst>
              <a:ext uri="{FF2B5EF4-FFF2-40B4-BE49-F238E27FC236}">
                <a16:creationId xmlns:a16="http://schemas.microsoft.com/office/drawing/2014/main" id="{BAA20681-731D-9088-60E7-3F46755EB16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5FCF954-A923-1EFD-37BC-F1D3498DF75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FFB64461-B6A7-5B5F-DC47-81CAD0E4C14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D789199-EE1F-FEBE-33C8-DDA58A1453C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2F706DE-E1AD-E2C2-446F-B6473A1F05D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EDA50E5-C5AB-E98E-7A80-08FAE913FD4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D15C68F-C78B-9DE6-A196-8E0DDAD048D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A04A116-B4AC-077E-B777-30FF79A11EC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025346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FAC8364-783A-B9C7-C490-810F400FCCD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627EB01-3BFB-141C-A37D-260CDFEABD5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most common alternative to grids is to use a polygonal representation.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If the movement cost across large areas is uniform, and if your units can move in straight lines instead of following a grid, you may want to use a non-grid representation.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You can use a non-grid graph for pathfinding even if your game uses a grid for other things.</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3C06A34-B858-8492-5676-E4FEDE85B2C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C321628-172C-B260-F38F-CF49C5D77B6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1E2A4013-3FD9-51DA-D4EE-C2C0C502018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DCD30F1-8690-BA5E-62F7-DA8934A4996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A163738-EFF3-ECE7-4FBF-A8A328B97A8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EC09536-BF4C-3850-C74F-E75F10D875A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1B1A3F8-0775-1C69-D205-71048FF93C2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F4AB887-2EFC-563A-5179-128D5BA1350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836611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9140C54-DE82-B590-2078-85D2A110FE6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41A49AD4-2D2E-CCD3-8249-8ED02CD9B2B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shortest path will be between corners of the obstacles.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So, we choose those corners as the key “</a:t>
            </a:r>
            <a:r>
              <a:rPr lang="en-US" sz="2400" b="1" dirty="0">
                <a:solidFill>
                  <a:schemeClr val="dk1"/>
                </a:solidFill>
                <a:latin typeface="Atkinson Hyperlegible Next"/>
                <a:ea typeface="Arial"/>
                <a:cs typeface="Arial"/>
                <a:sym typeface="Arial"/>
              </a:rPr>
              <a:t>navigation points</a:t>
            </a:r>
            <a:r>
              <a:rPr lang="en-US" sz="2400" dirty="0">
                <a:solidFill>
                  <a:schemeClr val="dk1"/>
                </a:solidFill>
                <a:latin typeface="Atkinson Hyperlegible Next"/>
                <a:ea typeface="Arial"/>
                <a:cs typeface="Arial"/>
                <a:sym typeface="Arial"/>
              </a:rPr>
              <a:t>” points; these can be computed once per map change.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If your obstacles are aligned on a grid, the navigation points will be aligned with the vertices of the grid.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 addition, the start and end points for pathfinding need to be in the graph; these are added once per navigation task.</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0CD58F31-7871-1904-D733-A90956B82F1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2313700-FC68-674D-AB8A-7FCCFF05513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70405572-B61F-0E32-5284-C3ADC9D9117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FC43BE0-7573-8C33-CC98-74A775D9469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BF1B0D5-6E97-1084-7FCB-BAB5D140FC1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7865672-133F-C557-0B39-2FFC31766F1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BB1F723-AE73-874F-E323-3ED50892CFB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E4EE2E8-9A9B-BA9C-0739-F0E92C2C91F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824704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00FACA7-21AB-1004-ED90-E74D03308B9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3C22CD8-9209-10BE-96AF-BB20C2BD398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F252CCF-2B42-E3C9-AF38-22C872FB168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FD9CB346-88A6-A607-1920-DA27599BDBE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99E2BF7-1D81-2219-7E18-C47D7FD5284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4453EB6-DB5E-B9BE-2B55-AA2EBB58F238}"/>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BAC23C8-4F61-D301-90A2-B22A7A0163C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75B76D0F-B8CC-A04C-233B-964925C13BF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76F467D-CA39-BB05-FE2A-0B04EBBDD41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a:extLst>
              <a:ext uri="{FF2B5EF4-FFF2-40B4-BE49-F238E27FC236}">
                <a16:creationId xmlns:a16="http://schemas.microsoft.com/office/drawing/2014/main" id="{204D41CB-C77A-305A-D2CF-F57C09B9D67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1591" y="960704"/>
            <a:ext cx="11828817" cy="5434310"/>
          </a:xfrm>
          <a:prstGeom prst="rect">
            <a:avLst/>
          </a:prstGeom>
        </p:spPr>
      </p:pic>
    </p:spTree>
    <p:extLst>
      <p:ext uri="{BB962C8B-B14F-4D97-AF65-F5344CB8AC3E}">
        <p14:creationId xmlns:p14="http://schemas.microsoft.com/office/powerpoint/2010/main" val="489834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1728C21-9EB1-463A-7A49-955A294CA8C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6170160-FA3E-B012-E5DB-A40547166D5D}"/>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 addition to the navigation points, we need to know which points are </a:t>
            </a:r>
            <a:r>
              <a:rPr lang="en-US" sz="2400" b="1" dirty="0">
                <a:solidFill>
                  <a:schemeClr val="dk1"/>
                </a:solidFill>
                <a:latin typeface="Atkinson Hyperlegible Next"/>
                <a:ea typeface="Arial"/>
                <a:cs typeface="Arial"/>
                <a:sym typeface="Arial"/>
              </a:rPr>
              <a:t>connected</a:t>
            </a:r>
            <a:r>
              <a:rPr lang="en-US" sz="2400" dirty="0">
                <a:solidFill>
                  <a:schemeClr val="dk1"/>
                </a:solidFill>
                <a:latin typeface="Atkinson Hyperlegible Next"/>
                <a:ea typeface="Arial"/>
                <a:cs typeface="Arial"/>
                <a:sym typeface="Arial"/>
              </a:rPr>
              <a:t>.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simple algorithm is to build a </a:t>
            </a:r>
            <a:r>
              <a:rPr lang="en-US" sz="2400" b="1" dirty="0">
                <a:solidFill>
                  <a:schemeClr val="dk1"/>
                </a:solidFill>
                <a:latin typeface="Atkinson Hyperlegible Next"/>
                <a:ea typeface="Arial"/>
                <a:cs typeface="Arial"/>
                <a:sym typeface="Arial"/>
              </a:rPr>
              <a:t>visibility graph</a:t>
            </a:r>
            <a:r>
              <a:rPr lang="en-US" sz="2400" dirty="0">
                <a:solidFill>
                  <a:schemeClr val="dk1"/>
                </a:solidFill>
                <a:latin typeface="Atkinson Hyperlegible Next"/>
                <a:ea typeface="Arial"/>
                <a:cs typeface="Arial"/>
                <a:sym typeface="Arial"/>
              </a:rPr>
              <a:t>: pairs of points that can be seen from each other without colliding with the obstacles.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However, this representation increase time complexity but potentially greatly reduces the search space.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third piece of information we needs is travel times between the points. That will be </a:t>
            </a:r>
            <a:r>
              <a:rPr lang="en-US" sz="2400" b="1" dirty="0">
                <a:solidFill>
                  <a:schemeClr val="dk1"/>
                </a:solidFill>
                <a:latin typeface="Atkinson Hyperlegible Next"/>
                <a:ea typeface="Arial"/>
                <a:cs typeface="Arial"/>
                <a:sym typeface="Arial"/>
              </a:rPr>
              <a:t>Manhattan distance </a:t>
            </a:r>
            <a:r>
              <a:rPr lang="en-US" sz="2400" dirty="0">
                <a:solidFill>
                  <a:schemeClr val="dk1"/>
                </a:solidFill>
                <a:latin typeface="Atkinson Hyperlegible Next"/>
                <a:ea typeface="Arial"/>
                <a:cs typeface="Arial"/>
                <a:sym typeface="Arial"/>
              </a:rPr>
              <a:t>or </a:t>
            </a:r>
            <a:r>
              <a:rPr lang="en-US" sz="2400" b="1" dirty="0">
                <a:solidFill>
                  <a:schemeClr val="dk1"/>
                </a:solidFill>
                <a:latin typeface="Atkinson Hyperlegible Next"/>
                <a:ea typeface="Arial"/>
                <a:cs typeface="Arial"/>
                <a:sym typeface="Arial"/>
              </a:rPr>
              <a:t>diagonal grid </a:t>
            </a:r>
            <a:r>
              <a:rPr lang="en-US" sz="2400" dirty="0">
                <a:solidFill>
                  <a:schemeClr val="dk1"/>
                </a:solidFill>
                <a:latin typeface="Atkinson Hyperlegible Next"/>
                <a:ea typeface="Arial"/>
                <a:cs typeface="Arial"/>
                <a:sym typeface="Arial"/>
              </a:rPr>
              <a:t>distance if your units move on a grid, or </a:t>
            </a:r>
            <a:r>
              <a:rPr lang="en-US" sz="2400" b="1" dirty="0">
                <a:solidFill>
                  <a:schemeClr val="dk1"/>
                </a:solidFill>
                <a:latin typeface="Atkinson Hyperlegible Next"/>
                <a:ea typeface="Arial"/>
                <a:cs typeface="Arial"/>
                <a:sym typeface="Arial"/>
              </a:rPr>
              <a:t>straight-line </a:t>
            </a:r>
            <a:r>
              <a:rPr lang="en-US" sz="2400" dirty="0">
                <a:solidFill>
                  <a:schemeClr val="dk1"/>
                </a:solidFill>
                <a:latin typeface="Atkinson Hyperlegible Next"/>
                <a:ea typeface="Arial"/>
                <a:cs typeface="Arial"/>
                <a:sym typeface="Arial"/>
              </a:rPr>
              <a:t>distance if they can move directly between the navigation points.</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83213030-AD56-4131-21DA-1C02C531F4B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D677043-51B0-D093-3ED1-B77AC65ECD2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8634AAE-8851-DA1D-0243-DDDC009815C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2E9E698-7979-9B54-1882-75882DAD9CC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DE66568-5028-1C78-ECD7-57824B54CEA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1465F61-AE21-D4A9-029A-EBD73F4D369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539E843-A30A-FE70-ABFA-734465BE43C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E18627D-B7CB-165E-F5C8-0D63EC71188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58249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126208-D83D-48DC-63D3-F584547FEA5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97521B3-6809-E775-32D3-735F6880AA6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Because we work on </a:t>
            </a:r>
            <a:r>
              <a:rPr lang="en-US" sz="2400" dirty="0">
                <a:latin typeface="Atkinson Hyperlegible Next"/>
                <a:ea typeface="Arial"/>
                <a:cs typeface="Arial"/>
                <a:sym typeface="Arial"/>
              </a:rPr>
              <a:t>rectangular </a:t>
            </a:r>
            <a:r>
              <a:rPr lang="en-US" sz="2400" dirty="0">
                <a:solidFill>
                  <a:schemeClr val="dk1"/>
                </a:solidFill>
                <a:latin typeface="Atkinson Hyperlegible Next"/>
                <a:ea typeface="Arial"/>
                <a:cs typeface="Arial"/>
                <a:sym typeface="Arial"/>
              </a:rPr>
              <a:t>grids, we can define different </a:t>
            </a:r>
            <a:r>
              <a:rPr lang="en-US" sz="2400" b="1" dirty="0">
                <a:solidFill>
                  <a:schemeClr val="dk1"/>
                </a:solidFill>
                <a:latin typeface="Atkinson Hyperlegible Next"/>
                <a:ea typeface="Arial"/>
                <a:cs typeface="Arial"/>
                <a:sym typeface="Arial"/>
              </a:rPr>
              <a:t>distance metrics</a:t>
            </a:r>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AF2B480-A957-AC17-CA94-F9E6EB9E86C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4F85AA7-77E3-87EF-0780-F722833C4DF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7957D50B-10C4-BF7D-4027-595FDEEC570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9047E77-70BD-37B6-4569-A2D2C34108D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298192B-4B05-081E-9630-4D13767424F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37E8F11-254B-740C-CD84-66EF6C90C56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B55A5E2-EC8D-DA9F-F200-22DC4AEF438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858BC47-30D1-5DAB-CDA0-9CD400E74A2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a:extLst>
              <a:ext uri="{FF2B5EF4-FFF2-40B4-BE49-F238E27FC236}">
                <a16:creationId xmlns:a16="http://schemas.microsoft.com/office/drawing/2014/main" id="{6C0588D9-6262-9FE0-4B67-28BF44C0D08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62876" y="1889134"/>
            <a:ext cx="4266247" cy="4266247"/>
          </a:xfrm>
          <a:prstGeom prst="rect">
            <a:avLst/>
          </a:prstGeom>
        </p:spPr>
      </p:pic>
      <p:sp>
        <p:nvSpPr>
          <p:cNvPr id="6" name="TextBox 5">
            <a:extLst>
              <a:ext uri="{FF2B5EF4-FFF2-40B4-BE49-F238E27FC236}">
                <a16:creationId xmlns:a16="http://schemas.microsoft.com/office/drawing/2014/main" id="{C7CDE79E-2AAD-EAD7-618E-6B9E60F1663F}"/>
              </a:ext>
            </a:extLst>
          </p:cNvPr>
          <p:cNvSpPr txBox="1"/>
          <p:nvPr/>
        </p:nvSpPr>
        <p:spPr>
          <a:xfrm>
            <a:off x="186307" y="3145094"/>
            <a:ext cx="3880367" cy="1754326"/>
          </a:xfrm>
          <a:prstGeom prst="rect">
            <a:avLst/>
          </a:prstGeom>
          <a:noFill/>
        </p:spPr>
        <p:txBody>
          <a:bodyPr wrap="square" rtlCol="0">
            <a:spAutoFit/>
          </a:bodyPr>
          <a:lstStyle/>
          <a:p>
            <a:r>
              <a:rPr lang="en-US" sz="1800" dirty="0"/>
              <a:t>We are traveling on this grid, order which is the shortest path distance-wise?</a:t>
            </a:r>
          </a:p>
          <a:p>
            <a:endParaRPr lang="en-US" sz="1800" dirty="0"/>
          </a:p>
          <a:p>
            <a:r>
              <a:rPr lang="en-US" sz="1800" dirty="0"/>
              <a:t>Which gives the closest travel distance when traveling on the grid?</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96281B95-5611-6D2A-362A-8C5D284623B4}"/>
                  </a:ext>
                </a:extLst>
              </p:cNvPr>
              <p:cNvSpPr txBox="1"/>
              <p:nvPr/>
            </p:nvSpPr>
            <p:spPr>
              <a:xfrm>
                <a:off x="8229123" y="3145094"/>
                <a:ext cx="3880367" cy="1781321"/>
              </a:xfrm>
              <a:prstGeom prst="rect">
                <a:avLst/>
              </a:prstGeom>
              <a:noFill/>
            </p:spPr>
            <p:txBody>
              <a:bodyPr wrap="square" rtlCol="0">
                <a:spAutoFit/>
              </a:bodyPr>
              <a:lstStyle/>
              <a:p>
                <a:r>
                  <a:rPr lang="en-US" sz="1800" dirty="0">
                    <a:solidFill>
                      <a:srgbClr val="FF0000"/>
                    </a:solidFill>
                  </a:rPr>
                  <a:t>The green is the shortest (</a:t>
                </a:r>
                <a14:m>
                  <m:oMath xmlns:m="http://schemas.openxmlformats.org/officeDocument/2006/math">
                    <m:r>
                      <a:rPr lang="en-US" sz="1800" b="0" i="1" smtClean="0">
                        <a:solidFill>
                          <a:srgbClr val="FF0000"/>
                        </a:solidFill>
                        <a:latin typeface="Cambria Math" panose="02040503050406030204" pitchFamily="18" charset="0"/>
                      </a:rPr>
                      <m:t>6</m:t>
                    </m:r>
                    <m:rad>
                      <m:radPr>
                        <m:degHide m:val="on"/>
                        <m:ctrlPr>
                          <a:rPr lang="en-US" sz="1800" b="0" i="1" smtClean="0">
                            <a:solidFill>
                              <a:srgbClr val="FF0000"/>
                            </a:solidFill>
                            <a:latin typeface="Cambria Math" panose="02040503050406030204" pitchFamily="18" charset="0"/>
                          </a:rPr>
                        </m:ctrlPr>
                      </m:radPr>
                      <m:deg/>
                      <m:e>
                        <m:r>
                          <a:rPr lang="en-US" sz="1800" b="0" i="1" smtClean="0">
                            <a:solidFill>
                              <a:srgbClr val="FF0000"/>
                            </a:solidFill>
                            <a:latin typeface="Cambria Math" panose="02040503050406030204" pitchFamily="18" charset="0"/>
                          </a:rPr>
                          <m:t>2</m:t>
                        </m:r>
                      </m:e>
                    </m:rad>
                  </m:oMath>
                </a14:m>
                <a:r>
                  <a:rPr lang="en-US" sz="1800" dirty="0">
                    <a:solidFill>
                      <a:srgbClr val="FF0000"/>
                    </a:solidFill>
                  </a:rPr>
                  <a:t>), all the others are the same distance (12)</a:t>
                </a:r>
              </a:p>
              <a:p>
                <a:endParaRPr lang="en-US" sz="1800" dirty="0">
                  <a:solidFill>
                    <a:srgbClr val="FF0000"/>
                  </a:solidFill>
                </a:endParaRPr>
              </a:p>
              <a:p>
                <a:r>
                  <a:rPr lang="en-US" sz="1800" dirty="0">
                    <a:solidFill>
                      <a:srgbClr val="FF0000"/>
                    </a:solidFill>
                  </a:rPr>
                  <a:t>The red, blue and yellow, since we cannot move diagonally</a:t>
                </a:r>
              </a:p>
            </p:txBody>
          </p:sp>
        </mc:Choice>
        <mc:Fallback xmlns="">
          <p:sp>
            <p:nvSpPr>
              <p:cNvPr id="7" name="TextBox 6">
                <a:extLst>
                  <a:ext uri="{FF2B5EF4-FFF2-40B4-BE49-F238E27FC236}">
                    <a16:creationId xmlns:a16="http://schemas.microsoft.com/office/drawing/2014/main" id="{96281B95-5611-6D2A-362A-8C5D284623B4}"/>
                  </a:ext>
                </a:extLst>
              </p:cNvPr>
              <p:cNvSpPr txBox="1">
                <a:spLocks noRot="1" noChangeAspect="1" noMove="1" noResize="1" noEditPoints="1" noAdjustHandles="1" noChangeArrowheads="1" noChangeShapeType="1" noTextEdit="1"/>
              </p:cNvSpPr>
              <p:nvPr/>
            </p:nvSpPr>
            <p:spPr>
              <a:xfrm>
                <a:off x="8229123" y="3145094"/>
                <a:ext cx="3880367" cy="1781321"/>
              </a:xfrm>
              <a:prstGeom prst="rect">
                <a:avLst/>
              </a:prstGeom>
              <a:blipFill>
                <a:blip r:embed="rId6"/>
                <a:stretch>
                  <a:fillRect l="-1415" t="-342" b="-4795"/>
                </a:stretch>
              </a:blipFill>
            </p:spPr>
            <p:txBody>
              <a:bodyPr/>
              <a:lstStyle/>
              <a:p>
                <a:r>
                  <a:rPr lang="en-US">
                    <a:noFill/>
                  </a:rPr>
                  <a:t> </a:t>
                </a:r>
              </a:p>
            </p:txBody>
          </p:sp>
        </mc:Fallback>
      </mc:AlternateContent>
    </p:spTree>
    <p:extLst>
      <p:ext uri="{BB962C8B-B14F-4D97-AF65-F5344CB8AC3E}">
        <p14:creationId xmlns:p14="http://schemas.microsoft.com/office/powerpoint/2010/main" val="299220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388D794-84C4-50B4-E8CC-6FD83312AB3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E2DDF6E-6C04-EDC1-9679-ED106C5F29F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most common distance metrics in path planning are </a:t>
                </a:r>
                <a:r>
                  <a:rPr lang="en-US" sz="2400" b="1" dirty="0">
                    <a:solidFill>
                      <a:schemeClr val="dk1"/>
                    </a:solidFill>
                    <a:latin typeface="Atkinson Hyperlegible Next"/>
                    <a:ea typeface="Arial"/>
                    <a:cs typeface="Arial"/>
                    <a:sym typeface="Arial"/>
                  </a:rPr>
                  <a:t>Euclidian</a:t>
                </a:r>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ea typeface="Arial"/>
                          <a:cs typeface="Arial"/>
                          <a:sym typeface="Arial"/>
                        </a:rPr>
                        <m:t>𝑑</m:t>
                      </m:r>
                      <m:d>
                        <m:dPr>
                          <m:ctrlPr>
                            <a:rPr lang="en-US" sz="2400" b="0" i="1" smtClean="0">
                              <a:latin typeface="Cambria Math" panose="02040503050406030204" pitchFamily="18" charset="0"/>
                              <a:ea typeface="Arial"/>
                              <a:cs typeface="Arial"/>
                              <a:sym typeface="Arial"/>
                            </a:rPr>
                          </m:ctrlPr>
                        </m:dPr>
                        <m:e>
                          <m:r>
                            <a:rPr lang="en-US" sz="2400" b="0" i="1" smtClean="0">
                              <a:latin typeface="Cambria Math" panose="02040503050406030204" pitchFamily="18" charset="0"/>
                              <a:ea typeface="Arial"/>
                              <a:cs typeface="Arial"/>
                              <a:sym typeface="Arial"/>
                            </a:rPr>
                            <m:t>𝑝</m:t>
                          </m:r>
                          <m:r>
                            <a:rPr lang="en-US" sz="2400" b="0" i="1" smtClean="0">
                              <a:latin typeface="Cambria Math" panose="02040503050406030204" pitchFamily="18" charset="0"/>
                              <a:ea typeface="Arial"/>
                              <a:cs typeface="Arial"/>
                              <a:sym typeface="Arial"/>
                            </a:rPr>
                            <m:t>,</m:t>
                          </m:r>
                          <m:r>
                            <a:rPr lang="en-US" sz="2400" b="0" i="1" smtClean="0">
                              <a:latin typeface="Cambria Math" panose="02040503050406030204" pitchFamily="18" charset="0"/>
                              <a:ea typeface="Arial"/>
                              <a:cs typeface="Arial"/>
                              <a:sym typeface="Arial"/>
                            </a:rPr>
                            <m:t>𝑞</m:t>
                          </m:r>
                        </m:e>
                      </m:d>
                      <m:r>
                        <a:rPr lang="en-US" sz="2400" b="0" i="1" smtClean="0">
                          <a:latin typeface="Cambria Math" panose="02040503050406030204" pitchFamily="18" charset="0"/>
                          <a:ea typeface="Arial"/>
                          <a:cs typeface="Arial"/>
                          <a:sym typeface="Arial"/>
                        </a:rPr>
                        <m:t>=</m:t>
                      </m:r>
                      <m:sSub>
                        <m:sSubPr>
                          <m:ctrlPr>
                            <a:rPr lang="en-US" sz="2400" b="0" i="1" smtClean="0">
                              <a:latin typeface="Cambria Math" panose="02040503050406030204" pitchFamily="18" charset="0"/>
                              <a:ea typeface="Arial"/>
                              <a:cs typeface="Arial"/>
                              <a:sym typeface="Arial"/>
                            </a:rPr>
                          </m:ctrlPr>
                        </m:sSubPr>
                        <m:e>
                          <m:d>
                            <m:dPr>
                              <m:begChr m:val="‖"/>
                              <m:endChr m:val="‖"/>
                              <m:ctrlPr>
                                <a:rPr lang="en-US" sz="2400" b="0" i="1" smtClean="0">
                                  <a:latin typeface="Cambria Math" panose="02040503050406030204" pitchFamily="18" charset="0"/>
                                  <a:cs typeface="Arial"/>
                                  <a:sym typeface="Arial"/>
                                </a:rPr>
                              </m:ctrlPr>
                            </m:dPr>
                            <m:e>
                              <m:r>
                                <m:rPr>
                                  <m:sty m:val="p"/>
                                </m:rPr>
                                <a:rPr lang="en-US" sz="2400" b="0" i="1" smtClean="0">
                                  <a:latin typeface="Cambria Math" panose="02040503050406030204" pitchFamily="18" charset="0"/>
                                  <a:cs typeface="Arial"/>
                                  <a:sym typeface="Arial"/>
                                </a:rPr>
                                <m:t>p</m:t>
                              </m:r>
                              <m:r>
                                <a:rPr lang="en-US" sz="2400" b="0" i="1" smtClean="0">
                                  <a:latin typeface="Cambria Math" panose="02040503050406030204" pitchFamily="18" charset="0"/>
                                  <a:cs typeface="Arial"/>
                                  <a:sym typeface="Arial"/>
                                </a:rPr>
                                <m:t> −</m:t>
                              </m:r>
                              <m:r>
                                <m:rPr>
                                  <m:sty m:val="p"/>
                                </m:rPr>
                                <a:rPr lang="en-US" sz="2400" b="0" i="1" smtClean="0">
                                  <a:latin typeface="Cambria Math" panose="02040503050406030204" pitchFamily="18" charset="0"/>
                                  <a:cs typeface="Arial"/>
                                  <a:sym typeface="Arial"/>
                                </a:rPr>
                                <m:t>q</m:t>
                              </m:r>
                            </m:e>
                          </m:d>
                        </m:e>
                        <m:sub>
                          <m:r>
                            <a:rPr lang="en-US" sz="2400" b="0" i="1" smtClean="0">
                              <a:latin typeface="Cambria Math" panose="02040503050406030204" pitchFamily="18" charset="0"/>
                              <a:cs typeface="Arial"/>
                              <a:sym typeface="Arial"/>
                            </a:rPr>
                            <m:t>2</m:t>
                          </m:r>
                        </m:sub>
                      </m:sSub>
                      <m:r>
                        <a:rPr lang="en-US" sz="2400" b="0" i="1" smtClean="0">
                          <a:latin typeface="Cambria Math" panose="02040503050406030204" pitchFamily="18" charset="0"/>
                          <a:cs typeface="Arial"/>
                          <a:sym typeface="Arial"/>
                        </a:rPr>
                        <m:t>=</m:t>
                      </m:r>
                      <m:rad>
                        <m:radPr>
                          <m:degHide m:val="on"/>
                          <m:ctrlPr>
                            <a:rPr lang="en-US" sz="2400" b="0" i="1" smtClean="0">
                              <a:latin typeface="Cambria Math" panose="02040503050406030204" pitchFamily="18" charset="0"/>
                              <a:cs typeface="Arial"/>
                              <a:sym typeface="Arial"/>
                            </a:rPr>
                          </m:ctrlPr>
                        </m:radPr>
                        <m:deg/>
                        <m:e>
                          <m:nary>
                            <m:naryPr>
                              <m:chr m:val="∑"/>
                              <m:ctrlPr>
                                <a:rPr lang="en-US" sz="2400" b="0" i="1" smtClean="0">
                                  <a:latin typeface="Cambria Math" panose="02040503050406030204" pitchFamily="18" charset="0"/>
                                  <a:cs typeface="Arial"/>
                                  <a:sym typeface="Arial"/>
                                </a:rPr>
                              </m:ctrlPr>
                            </m:naryPr>
                            <m:sub>
                              <m:r>
                                <a:rPr lang="en-US" sz="2400" b="0" i="1" smtClean="0">
                                  <a:latin typeface="Cambria Math" panose="02040503050406030204" pitchFamily="18" charset="0"/>
                                  <a:cs typeface="Arial"/>
                                  <a:sym typeface="Arial"/>
                                </a:rPr>
                                <m:t>𝑖</m:t>
                              </m:r>
                              <m:r>
                                <a:rPr lang="en-US" sz="2400" b="0" i="1" smtClean="0">
                                  <a:latin typeface="Cambria Math" panose="02040503050406030204" pitchFamily="18" charset="0"/>
                                  <a:cs typeface="Arial"/>
                                  <a:sym typeface="Arial"/>
                                </a:rPr>
                                <m:t>=1</m:t>
                              </m:r>
                            </m:sub>
                            <m:sup>
                              <m:r>
                                <a:rPr lang="en-US" sz="2400" b="0" i="1" smtClean="0">
                                  <a:latin typeface="Cambria Math" panose="02040503050406030204" pitchFamily="18" charset="0"/>
                                  <a:cs typeface="Arial"/>
                                  <a:sym typeface="Arial"/>
                                </a:rPr>
                                <m:t>𝑛</m:t>
                              </m:r>
                            </m:sup>
                            <m:e>
                              <m:sSup>
                                <m:sSupPr>
                                  <m:ctrlPr>
                                    <a:rPr lang="en-US" sz="2400" b="0" i="1" smtClean="0">
                                      <a:latin typeface="Cambria Math" panose="02040503050406030204" pitchFamily="18" charset="0"/>
                                      <a:cs typeface="Arial"/>
                                      <a:sym typeface="Arial"/>
                                    </a:rPr>
                                  </m:ctrlPr>
                                </m:sSupPr>
                                <m:e>
                                  <m:d>
                                    <m:dPr>
                                      <m:ctrlPr>
                                        <a:rPr lang="en-US" sz="2400" b="0" i="1" smtClean="0">
                                          <a:latin typeface="Cambria Math" panose="02040503050406030204" pitchFamily="18" charset="0"/>
                                          <a:cs typeface="Arial"/>
                                          <a:sym typeface="Arial"/>
                                        </a:rPr>
                                      </m:ctrlPr>
                                    </m:dPr>
                                    <m:e>
                                      <m:sSub>
                                        <m:sSubPr>
                                          <m:ctrlPr>
                                            <a:rPr lang="en-US" sz="2400" b="0" i="1" smtClean="0">
                                              <a:latin typeface="Cambria Math" panose="02040503050406030204" pitchFamily="18" charset="0"/>
                                              <a:cs typeface="Arial"/>
                                              <a:sym typeface="Arial"/>
                                            </a:rPr>
                                          </m:ctrlPr>
                                        </m:sSubPr>
                                        <m:e>
                                          <m:r>
                                            <a:rPr lang="en-US" sz="2400" b="0" i="1" smtClean="0">
                                              <a:latin typeface="Cambria Math" panose="02040503050406030204" pitchFamily="18" charset="0"/>
                                              <a:cs typeface="Arial"/>
                                              <a:sym typeface="Arial"/>
                                            </a:rPr>
                                            <m:t>𝑝</m:t>
                                          </m:r>
                                        </m:e>
                                        <m:sub>
                                          <m:r>
                                            <a:rPr lang="en-US" sz="2400" b="0" i="1" smtClean="0">
                                              <a:latin typeface="Cambria Math" panose="02040503050406030204" pitchFamily="18" charset="0"/>
                                              <a:cs typeface="Arial"/>
                                              <a:sym typeface="Arial"/>
                                            </a:rPr>
                                            <m:t>𝑖</m:t>
                                          </m:r>
                                        </m:sub>
                                      </m:sSub>
                                      <m:r>
                                        <a:rPr lang="en-US" sz="2400" b="0" i="1" smtClean="0">
                                          <a:latin typeface="Cambria Math" panose="02040503050406030204" pitchFamily="18" charset="0"/>
                                          <a:cs typeface="Arial"/>
                                          <a:sym typeface="Arial"/>
                                        </a:rPr>
                                        <m:t>−</m:t>
                                      </m:r>
                                      <m:sSub>
                                        <m:sSubPr>
                                          <m:ctrlPr>
                                            <a:rPr lang="en-US" sz="2400" b="0" i="1" smtClean="0">
                                              <a:latin typeface="Cambria Math" panose="02040503050406030204" pitchFamily="18" charset="0"/>
                                              <a:cs typeface="Arial"/>
                                              <a:sym typeface="Arial"/>
                                            </a:rPr>
                                          </m:ctrlPr>
                                        </m:sSubPr>
                                        <m:e>
                                          <m:r>
                                            <a:rPr lang="en-US" sz="2400" b="0" i="1" smtClean="0">
                                              <a:latin typeface="Cambria Math" panose="02040503050406030204" pitchFamily="18" charset="0"/>
                                              <a:cs typeface="Arial"/>
                                              <a:sym typeface="Arial"/>
                                            </a:rPr>
                                            <m:t>𝑞</m:t>
                                          </m:r>
                                        </m:e>
                                        <m:sub>
                                          <m:r>
                                            <a:rPr lang="en-US" sz="2400" b="0" i="1" smtClean="0">
                                              <a:latin typeface="Cambria Math" panose="02040503050406030204" pitchFamily="18" charset="0"/>
                                              <a:cs typeface="Arial"/>
                                              <a:sym typeface="Arial"/>
                                            </a:rPr>
                                            <m:t>𝑖</m:t>
                                          </m:r>
                                        </m:sub>
                                      </m:sSub>
                                    </m:e>
                                  </m:d>
                                </m:e>
                                <m:sup>
                                  <m:r>
                                    <a:rPr lang="en-US" sz="2400" b="0" i="1" smtClean="0">
                                      <a:latin typeface="Cambria Math" panose="02040503050406030204" pitchFamily="18" charset="0"/>
                                      <a:cs typeface="Arial"/>
                                      <a:sym typeface="Arial"/>
                                    </a:rPr>
                                    <m:t>2</m:t>
                                  </m:r>
                                </m:sup>
                              </m:sSup>
                            </m:e>
                          </m:nary>
                        </m:e>
                      </m:rad>
                    </m:oMath>
                  </m:oMathPara>
                </a14:m>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Or </a:t>
                </a:r>
                <a:r>
                  <a:rPr lang="en-US" sz="2400" b="1" dirty="0">
                    <a:latin typeface="Atkinson Hyperlegible Next"/>
                    <a:ea typeface="Arial"/>
                    <a:cs typeface="Arial"/>
                    <a:sym typeface="Arial"/>
                  </a:rPr>
                  <a:t>Manhattan</a:t>
                </a:r>
                <a:r>
                  <a:rPr lang="en-US" sz="2400" dirty="0">
                    <a:latin typeface="Atkinson Hyperlegible Next"/>
                    <a:ea typeface="Arial"/>
                    <a:cs typeface="Arial"/>
                    <a:sym typeface="Arial"/>
                  </a:rPr>
                  <a:t> (also known as Taxicab):</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ea typeface="Arial"/>
                          <a:cs typeface="Arial"/>
                          <a:sym typeface="Arial"/>
                        </a:rPr>
                        <m:t>𝑑</m:t>
                      </m:r>
                      <m:d>
                        <m:dPr>
                          <m:ctrlPr>
                            <a:rPr lang="en-US" sz="2400" i="1">
                              <a:latin typeface="Cambria Math" panose="02040503050406030204" pitchFamily="18" charset="0"/>
                              <a:ea typeface="Arial"/>
                              <a:cs typeface="Arial"/>
                              <a:sym typeface="Arial"/>
                            </a:rPr>
                          </m:ctrlPr>
                        </m:dPr>
                        <m:e>
                          <m:r>
                            <a:rPr lang="en-US" sz="2400" i="1">
                              <a:latin typeface="Cambria Math" panose="02040503050406030204" pitchFamily="18" charset="0"/>
                              <a:ea typeface="Arial"/>
                              <a:cs typeface="Arial"/>
                              <a:sym typeface="Arial"/>
                            </a:rPr>
                            <m:t>𝑝</m:t>
                          </m:r>
                          <m:r>
                            <a:rPr lang="en-US" sz="2400" i="1">
                              <a:latin typeface="Cambria Math" panose="02040503050406030204" pitchFamily="18" charset="0"/>
                              <a:ea typeface="Arial"/>
                              <a:cs typeface="Arial"/>
                              <a:sym typeface="Arial"/>
                            </a:rPr>
                            <m:t>,</m:t>
                          </m:r>
                          <m:r>
                            <a:rPr lang="en-US" sz="2400" i="1">
                              <a:latin typeface="Cambria Math" panose="02040503050406030204" pitchFamily="18" charset="0"/>
                              <a:ea typeface="Arial"/>
                              <a:cs typeface="Arial"/>
                              <a:sym typeface="Arial"/>
                            </a:rPr>
                            <m:t>𝑞</m:t>
                          </m:r>
                        </m:e>
                      </m:d>
                      <m:r>
                        <a:rPr lang="en-US" sz="2400" i="1" smtClean="0">
                          <a:latin typeface="Cambria Math" panose="02040503050406030204" pitchFamily="18" charset="0"/>
                          <a:ea typeface="Arial"/>
                          <a:cs typeface="Arial"/>
                          <a:sym typeface="Arial"/>
                        </a:rPr>
                        <m:t>=</m:t>
                      </m:r>
                      <m:sSub>
                        <m:sSubPr>
                          <m:ctrlPr>
                            <a:rPr lang="en-US" sz="2400" i="1" smtClean="0">
                              <a:latin typeface="Cambria Math" panose="02040503050406030204" pitchFamily="18" charset="0"/>
                              <a:ea typeface="Arial"/>
                              <a:cs typeface="Arial"/>
                              <a:sym typeface="Arial"/>
                            </a:rPr>
                          </m:ctrlPr>
                        </m:sSubPr>
                        <m:e>
                          <m:d>
                            <m:dPr>
                              <m:begChr m:val="‖"/>
                              <m:endChr m:val="‖"/>
                              <m:ctrlPr>
                                <a:rPr lang="en-US" sz="2400" i="1">
                                  <a:latin typeface="Cambria Math" panose="02040503050406030204" pitchFamily="18" charset="0"/>
                                  <a:cs typeface="Arial"/>
                                  <a:sym typeface="Arial"/>
                                </a:rPr>
                              </m:ctrlPr>
                            </m:dPr>
                            <m:e>
                              <m:r>
                                <m:rPr>
                                  <m:sty m:val="p"/>
                                </m:rPr>
                                <a:rPr lang="en-US" sz="2400" i="1">
                                  <a:latin typeface="Cambria Math" panose="02040503050406030204" pitchFamily="18" charset="0"/>
                                  <a:cs typeface="Arial"/>
                                  <a:sym typeface="Arial"/>
                                </a:rPr>
                                <m:t>p</m:t>
                              </m:r>
                              <m:r>
                                <a:rPr lang="en-US" sz="2400" i="1">
                                  <a:latin typeface="Cambria Math" panose="02040503050406030204" pitchFamily="18" charset="0"/>
                                  <a:cs typeface="Arial"/>
                                  <a:sym typeface="Arial"/>
                                </a:rPr>
                                <m:t> −</m:t>
                              </m:r>
                              <m:r>
                                <m:rPr>
                                  <m:sty m:val="p"/>
                                </m:rPr>
                                <a:rPr lang="en-US" sz="2400" i="1">
                                  <a:latin typeface="Cambria Math" panose="02040503050406030204" pitchFamily="18" charset="0"/>
                                  <a:cs typeface="Arial"/>
                                  <a:sym typeface="Arial"/>
                                </a:rPr>
                                <m:t>q</m:t>
                              </m:r>
                            </m:e>
                          </m:d>
                        </m:e>
                        <m:sub>
                          <m:r>
                            <a:rPr lang="en-US" sz="2400" b="0" i="1" smtClean="0">
                              <a:latin typeface="Cambria Math" panose="02040503050406030204" pitchFamily="18" charset="0"/>
                              <a:cs typeface="Arial"/>
                              <a:sym typeface="Arial"/>
                            </a:rPr>
                            <m:t>1</m:t>
                          </m:r>
                        </m:sub>
                      </m:sSub>
                      <m:r>
                        <a:rPr lang="en-US" sz="2400" i="1">
                          <a:latin typeface="Cambria Math" panose="02040503050406030204" pitchFamily="18" charset="0"/>
                          <a:cs typeface="Arial"/>
                          <a:sym typeface="Arial"/>
                        </a:rPr>
                        <m:t>=</m:t>
                      </m:r>
                      <m:nary>
                        <m:naryPr>
                          <m:chr m:val="∑"/>
                          <m:ctrlPr>
                            <a:rPr lang="en-US" sz="2400" i="1">
                              <a:latin typeface="Cambria Math" panose="02040503050406030204" pitchFamily="18" charset="0"/>
                              <a:cs typeface="Arial"/>
                              <a:sym typeface="Arial"/>
                            </a:rPr>
                          </m:ctrlPr>
                        </m:naryPr>
                        <m:sub>
                          <m:r>
                            <a:rPr lang="en-US" sz="2400" i="1">
                              <a:latin typeface="Cambria Math" panose="02040503050406030204" pitchFamily="18" charset="0"/>
                              <a:cs typeface="Arial"/>
                              <a:sym typeface="Arial"/>
                            </a:rPr>
                            <m:t>𝑖</m:t>
                          </m:r>
                          <m:r>
                            <a:rPr lang="en-US" sz="2400" i="1">
                              <a:latin typeface="Cambria Math" panose="02040503050406030204" pitchFamily="18" charset="0"/>
                              <a:cs typeface="Arial"/>
                              <a:sym typeface="Arial"/>
                            </a:rPr>
                            <m:t>=1</m:t>
                          </m:r>
                        </m:sub>
                        <m:sup>
                          <m:r>
                            <a:rPr lang="en-US" sz="2400" i="1">
                              <a:latin typeface="Cambria Math" panose="02040503050406030204" pitchFamily="18" charset="0"/>
                              <a:cs typeface="Arial"/>
                              <a:sym typeface="Arial"/>
                            </a:rPr>
                            <m:t>𝑛</m:t>
                          </m:r>
                        </m:sup>
                        <m:e>
                          <m:d>
                            <m:dPr>
                              <m:begChr m:val="|"/>
                              <m:endChr m:val="|"/>
                              <m:ctrlPr>
                                <a:rPr lang="en-US" sz="2400" b="0" i="1" smtClean="0">
                                  <a:latin typeface="Cambria Math" panose="02040503050406030204" pitchFamily="18" charset="0"/>
                                  <a:cs typeface="Arial"/>
                                  <a:sym typeface="Arial"/>
                                </a:rPr>
                              </m:ctrlPr>
                            </m:dPr>
                            <m:e>
                              <m:sSub>
                                <m:sSubPr>
                                  <m:ctrlPr>
                                    <a:rPr lang="en-US" sz="2400" b="0" i="1" smtClean="0">
                                      <a:latin typeface="Cambria Math" panose="02040503050406030204" pitchFamily="18" charset="0"/>
                                      <a:cs typeface="Arial"/>
                                      <a:sym typeface="Arial"/>
                                    </a:rPr>
                                  </m:ctrlPr>
                                </m:sSubPr>
                                <m:e>
                                  <m:r>
                                    <a:rPr lang="en-US" sz="2400" b="0" i="1" smtClean="0">
                                      <a:latin typeface="Cambria Math" panose="02040503050406030204" pitchFamily="18" charset="0"/>
                                      <a:cs typeface="Arial"/>
                                      <a:sym typeface="Arial"/>
                                    </a:rPr>
                                    <m:t>𝑝</m:t>
                                  </m:r>
                                </m:e>
                                <m:sub>
                                  <m:r>
                                    <a:rPr lang="en-US" sz="2400" b="0" i="1" smtClean="0">
                                      <a:latin typeface="Cambria Math" panose="02040503050406030204" pitchFamily="18" charset="0"/>
                                      <a:cs typeface="Arial"/>
                                      <a:sym typeface="Arial"/>
                                    </a:rPr>
                                    <m:t>𝑖</m:t>
                                  </m:r>
                                </m:sub>
                              </m:sSub>
                              <m:r>
                                <a:rPr lang="en-US" sz="2400" b="0" i="1" smtClean="0">
                                  <a:latin typeface="Cambria Math" panose="02040503050406030204" pitchFamily="18" charset="0"/>
                                  <a:cs typeface="Arial"/>
                                  <a:sym typeface="Arial"/>
                                </a:rPr>
                                <m:t>−</m:t>
                              </m:r>
                              <m:sSub>
                                <m:sSubPr>
                                  <m:ctrlPr>
                                    <a:rPr lang="en-US" sz="2400" b="0" i="1" smtClean="0">
                                      <a:latin typeface="Cambria Math" panose="02040503050406030204" pitchFamily="18" charset="0"/>
                                      <a:cs typeface="Arial"/>
                                      <a:sym typeface="Arial"/>
                                    </a:rPr>
                                  </m:ctrlPr>
                                </m:sSubPr>
                                <m:e>
                                  <m:r>
                                    <a:rPr lang="en-US" sz="2400" b="0" i="1" smtClean="0">
                                      <a:latin typeface="Cambria Math" panose="02040503050406030204" pitchFamily="18" charset="0"/>
                                      <a:cs typeface="Arial"/>
                                      <a:sym typeface="Arial"/>
                                    </a:rPr>
                                    <m:t>𝑞</m:t>
                                  </m:r>
                                </m:e>
                                <m:sub>
                                  <m:r>
                                    <a:rPr lang="en-US" sz="2400" b="0" i="1" smtClean="0">
                                      <a:latin typeface="Cambria Math" panose="02040503050406030204" pitchFamily="18" charset="0"/>
                                      <a:cs typeface="Arial"/>
                                      <a:sym typeface="Arial"/>
                                    </a:rPr>
                                    <m:t>𝑖</m:t>
                                  </m:r>
                                </m:sub>
                              </m:sSub>
                            </m:e>
                          </m:d>
                        </m:e>
                      </m:nary>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To have the most representative path planner you need to ensure the correct distance metric for your grid / task.</a:t>
                </a:r>
              </a:p>
            </p:txBody>
          </p:sp>
        </mc:Choice>
        <mc:Fallback xmlns="">
          <p:sp>
            <p:nvSpPr>
              <p:cNvPr id="118" name="Google Shape;118;p29">
                <a:extLst>
                  <a:ext uri="{FF2B5EF4-FFF2-40B4-BE49-F238E27FC236}">
                    <a16:creationId xmlns:a16="http://schemas.microsoft.com/office/drawing/2014/main" id="{2E2DDF6E-6C04-EDC1-9679-ED106C5F29F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b="-632"/>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2A968030-8C91-EDD5-4B9C-9029F17DA2E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97C5F4A-11AE-5C05-15F0-7AF849BAD7D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Graphs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8B47484B-61DB-AF6B-96F9-48B04312220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FE62C46-2AE8-1373-EB69-54D6054231B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F63CC24-8F66-9C05-1BC1-37719938366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F0EB5B4-82C7-DE6D-76A5-671F8BCC6B5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4265D34-92ED-65F8-B600-4A3A09C55DA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9A05015-9C52-0569-8AE8-9F272EA6359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9813672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029CCD82-6663-93B5-A824-FF20E303C008}"/>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CC9960D5-DEE5-45A6-8637-D28F055D6689}"/>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Path Planning</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1A082DD5-61BA-BD0E-7119-7F1DD80EF4B6}"/>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353FA4A4-9976-AEB5-073D-FCEADFD8995C}"/>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C5880BAE-2430-2C2F-0F43-0C9A703851A7}"/>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586A530E-C28F-D02D-976A-6625A9416340}"/>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22642CF2-507E-397B-CA36-85058207936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0B7486D-A037-ADD5-C99C-74E49F01674E}"/>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181A5E20-E280-A20C-1999-25E3A954C17E}"/>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22C40D9F-89FE-DCA6-173D-8BD8159F81C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9ED1D470-42EB-E4B4-C3DE-0427FDF401E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778002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F76EFAB-6405-1CBF-24A0-AF9C285FC86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3A43DE3-5547-7DE4-52B2-E2C23597C490}"/>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Once we have a graph representation of the environment, we now want to find the </a:t>
            </a:r>
            <a:r>
              <a:rPr lang="en-US" sz="2400" b="1" dirty="0">
                <a:solidFill>
                  <a:schemeClr val="dk1"/>
                </a:solidFill>
                <a:latin typeface="Atkinson Hyperlegible Next"/>
                <a:ea typeface="Arial"/>
                <a:cs typeface="Arial"/>
                <a:sym typeface="Arial"/>
              </a:rPr>
              <a:t>“shortest” path</a:t>
            </a:r>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shortest path is not necessarily what we always want. In what real-world situation would not want to take the shortest path?</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Go up climb up a mountain to </a:t>
            </a:r>
            <a:r>
              <a:rPr lang="en-US" sz="2400" dirty="0">
                <a:latin typeface="Atkinson Hyperlegible Next"/>
                <a:ea typeface="Arial"/>
                <a:cs typeface="Arial"/>
                <a:sym typeface="Arial"/>
              </a:rPr>
              <a:t>go to the other side of it instead of just going around it</a:t>
            </a:r>
            <a:r>
              <a:rPr lang="en-US" sz="2400" dirty="0">
                <a:solidFill>
                  <a:schemeClr val="dk1"/>
                </a:solidFill>
                <a:latin typeface="Atkinson Hyperlegible Next"/>
                <a:ea typeface="Arial"/>
                <a:cs typeface="Arial"/>
                <a:sym typeface="Arial"/>
              </a:rPr>
              <a:t>.</a:t>
            </a:r>
          </a:p>
          <a:p>
            <a:pPr marL="342900">
              <a:lnSpc>
                <a:spcPct val="100000"/>
              </a:lnSpc>
              <a:spcBef>
                <a:spcPts val="0"/>
              </a:spcBef>
              <a:buSzPts val="3000"/>
            </a:pPr>
            <a:r>
              <a:rPr lang="en-US" sz="2400" dirty="0">
                <a:latin typeface="Atkinson Hyperlegible Next"/>
                <a:ea typeface="Arial"/>
                <a:cs typeface="Arial"/>
                <a:sym typeface="Arial"/>
              </a:rPr>
              <a:t>Driving in mud or water vs dry road for safety.</a:t>
            </a:r>
          </a:p>
          <a:p>
            <a:pPr marL="34290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What we actually want is the </a:t>
            </a:r>
            <a:r>
              <a:rPr lang="en-US" sz="2400" b="1" dirty="0">
                <a:latin typeface="Atkinson Hyperlegible Next"/>
                <a:ea typeface="Arial"/>
                <a:cs typeface="Arial"/>
                <a:sym typeface="Arial"/>
              </a:rPr>
              <a:t>lowest-cost path!</a:t>
            </a:r>
            <a:endParaRPr lang="en-US" sz="2400" b="1" dirty="0">
              <a:solidFill>
                <a:schemeClr val="dk1"/>
              </a:solidFill>
              <a:latin typeface="Atkinson Hyperlegible Next"/>
              <a:ea typeface="Arial"/>
              <a:cs typeface="Arial"/>
              <a:sym typeface="Arial"/>
            </a:endParaRPr>
          </a:p>
          <a:p>
            <a:pPr marL="342900">
              <a:lnSpc>
                <a:spcPct val="100000"/>
              </a:lnSpc>
              <a:spcBef>
                <a:spcPts val="0"/>
              </a:spcBef>
              <a:buSzPts val="3000"/>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FAD0FA1D-DB4A-5433-8BB8-756A59EA38E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DAC49CC-7AE8-FEA4-CAC2-E65E19EF7CA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1839A83-74AC-27D8-2549-4BB8ED654B8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A40DBFF-E614-C8C0-77FA-98A7A30F728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D7CB2B5-4D79-6D82-C815-C5DE9507135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FB5B87D-A8FE-EDBA-FBAD-6C5BE786248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4718258-3A0C-D515-8032-8DCAC5487AB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CF4B2389-37A6-B186-94E1-AF0F4D7F752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7838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44D87AB-4697-77AB-2E63-5FE920E3C36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61F9D9B-7E46-5D77-A4E1-A7BCFBECA2D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key idea for all of these algorithms is that we keep track of an expanding ring called the </a:t>
            </a:r>
            <a:r>
              <a:rPr lang="en-US" sz="2400" b="1" dirty="0">
                <a:solidFill>
                  <a:schemeClr val="dk1"/>
                </a:solidFill>
                <a:latin typeface="Atkinson Hyperlegible Next"/>
                <a:ea typeface="Arial"/>
                <a:cs typeface="Arial"/>
                <a:sym typeface="Arial"/>
              </a:rPr>
              <a:t>frontier</a:t>
            </a:r>
            <a:r>
              <a:rPr lang="en-US" sz="2400" dirty="0">
                <a:solidFill>
                  <a:schemeClr val="dk1"/>
                </a:solidFill>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On a grid, this process is sometimes called “flood fill”, but the same technique also works for non-grids.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simplest path planning algorithm that uses this is BFS (Breadth First Search),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0107F46C-9710-8711-AB65-E7E02215F94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FEEC888-8B67-64B5-C39C-A10E7439721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BFS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503DE33-303E-733C-BD1F-ED91CCA772D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0A3F473-7D71-7797-E86D-60E43DB7136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C79FD04D-BBB2-8258-1B0A-0312FE1D0B0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ACEDA41-FEA6-3AF8-7DAD-5EBEE308B3F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CE3E131-8BC4-32EF-ECC4-4DCAE754242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F8F1FC5-6FC7-6895-2DDA-9475D547736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53877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0E84984-7903-8E76-7426-15E57D0FA1B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5630B79-5E97-7F0C-D847-D781EFA86BE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It is incredibly simple to implement </a:t>
            </a:r>
            <a:r>
              <a:rPr lang="en-US" sz="2400" b="1" dirty="0">
                <a:solidFill>
                  <a:schemeClr val="dk1"/>
                </a:solidFill>
                <a:latin typeface="Atkinson Hyperlegible Next"/>
                <a:ea typeface="Arial"/>
                <a:cs typeface="Arial"/>
                <a:sym typeface="Arial"/>
              </a:rPr>
              <a:t>BFS</a:t>
            </a:r>
            <a:r>
              <a:rPr lang="en-US" sz="2400" dirty="0">
                <a:solidFill>
                  <a:schemeClr val="dk1"/>
                </a:solidFill>
                <a:latin typeface="Atkinson Hyperlegible Next"/>
                <a:ea typeface="Arial"/>
                <a:cs typeface="Arial"/>
                <a:sym typeface="Arial"/>
              </a:rPr>
              <a:t>, only 10 lines of code!</a:t>
            </a:r>
          </a:p>
          <a:p>
            <a:pPr marL="0" indent="0">
              <a:lnSpc>
                <a:spcPct val="100000"/>
              </a:lnSpc>
              <a:spcBef>
                <a:spcPts val="0"/>
              </a:spcBef>
              <a:buSzPts val="3000"/>
              <a:buNone/>
            </a:pPr>
            <a:endParaRPr lang="en-US" sz="2400" dirty="0">
              <a:latin typeface="Atkinson Hyperlegible Next"/>
              <a:ea typeface="Arial"/>
              <a:cs typeface="Arial"/>
              <a:sym typeface="Arial"/>
            </a:endParaRPr>
          </a:p>
          <a:p>
            <a:pPr algn="l">
              <a:buNone/>
            </a:pPr>
            <a:r>
              <a:rPr lang="en-US" sz="1600" b="1" i="0" dirty="0">
                <a:solidFill>
                  <a:srgbClr val="406ABF"/>
                </a:solidFill>
                <a:effectLst/>
                <a:latin typeface="Roboto Mono" panose="00000009000000000000" pitchFamily="49" charset="0"/>
              </a:rPr>
              <a:t>frontier</a:t>
            </a:r>
            <a:r>
              <a:rPr lang="en-US" sz="1600" b="0" i="0" dirty="0">
                <a:solidFill>
                  <a:srgbClr val="333333"/>
                </a:solidFill>
                <a:effectLst/>
                <a:latin typeface="Roboto Mono" panose="00000009000000000000" pitchFamily="49" charset="0"/>
              </a:rPr>
              <a:t> = Queue()</a:t>
            </a:r>
          </a:p>
          <a:p>
            <a:pPr algn="l">
              <a:buNone/>
            </a:pPr>
            <a:r>
              <a:rPr lang="en-US" sz="1600" b="1" i="0" dirty="0" err="1">
                <a:solidFill>
                  <a:srgbClr val="406ABF"/>
                </a:solidFill>
                <a:effectLst/>
                <a:latin typeface="Roboto Mono" panose="00000009000000000000" pitchFamily="49" charset="0"/>
              </a:rPr>
              <a:t>frontier</a:t>
            </a:r>
            <a:r>
              <a:rPr lang="en-US" sz="1600" b="0" i="0" dirty="0" err="1">
                <a:solidFill>
                  <a:srgbClr val="333333"/>
                </a:solidFill>
                <a:effectLst/>
                <a:latin typeface="Roboto Mono" panose="00000009000000000000" pitchFamily="49" charset="0"/>
              </a:rPr>
              <a:t>.put</a:t>
            </a:r>
            <a:r>
              <a:rPr lang="en-US" sz="1600" b="0" i="0" dirty="0">
                <a:solidFill>
                  <a:srgbClr val="333333"/>
                </a:solidFill>
                <a:effectLst/>
                <a:latin typeface="Roboto Mono" panose="00000009000000000000" pitchFamily="49" charset="0"/>
              </a:rPr>
              <a:t>(</a:t>
            </a:r>
            <a:r>
              <a:rPr lang="en-US" sz="1600" b="1" i="0" dirty="0">
                <a:solidFill>
                  <a:srgbClr val="BF4040"/>
                </a:solidFill>
                <a:effectLst/>
                <a:latin typeface="Roboto Mono" panose="00000009000000000000" pitchFamily="49" charset="0"/>
              </a:rPr>
              <a:t>start</a:t>
            </a:r>
            <a:r>
              <a:rPr lang="en-US" sz="1600" b="0" i="0" dirty="0">
                <a:solidFill>
                  <a:srgbClr val="333333"/>
                </a:solidFill>
                <a:effectLst/>
                <a:latin typeface="Roboto Mono" panose="00000009000000000000" pitchFamily="49" charset="0"/>
              </a:rPr>
              <a:t> )</a:t>
            </a:r>
          </a:p>
          <a:p>
            <a:pPr algn="l">
              <a:buNone/>
            </a:pPr>
            <a:r>
              <a:rPr lang="en-US" sz="1600" b="1" i="0" dirty="0">
                <a:solidFill>
                  <a:srgbClr val="8F663D"/>
                </a:solidFill>
                <a:effectLst/>
                <a:latin typeface="Roboto Mono" panose="00000009000000000000" pitchFamily="49" charset="0"/>
              </a:rPr>
              <a:t>reached</a:t>
            </a:r>
            <a:r>
              <a:rPr lang="en-US" sz="1600" b="0" i="0" dirty="0">
                <a:solidFill>
                  <a:srgbClr val="333333"/>
                </a:solidFill>
                <a:effectLst/>
                <a:latin typeface="Roboto Mono" panose="00000009000000000000" pitchFamily="49" charset="0"/>
              </a:rPr>
              <a:t> = set()</a:t>
            </a:r>
          </a:p>
          <a:p>
            <a:pPr algn="l">
              <a:buNone/>
            </a:pPr>
            <a:r>
              <a:rPr lang="en-US" sz="1600" b="1" i="0" dirty="0" err="1">
                <a:solidFill>
                  <a:srgbClr val="8F663D"/>
                </a:solidFill>
                <a:effectLst/>
                <a:latin typeface="Roboto Mono" panose="00000009000000000000" pitchFamily="49" charset="0"/>
              </a:rPr>
              <a:t>reached</a:t>
            </a:r>
            <a:r>
              <a:rPr lang="en-US" sz="1600" b="0" i="0" dirty="0" err="1">
                <a:solidFill>
                  <a:srgbClr val="333333"/>
                </a:solidFill>
                <a:effectLst/>
                <a:latin typeface="Roboto Mono" panose="00000009000000000000" pitchFamily="49" charset="0"/>
              </a:rPr>
              <a:t>.add</a:t>
            </a:r>
            <a:r>
              <a:rPr lang="en-US" sz="1600" b="0" i="0" dirty="0">
                <a:solidFill>
                  <a:srgbClr val="333333"/>
                </a:solidFill>
                <a:effectLst/>
                <a:latin typeface="Roboto Mono" panose="00000009000000000000" pitchFamily="49" charset="0"/>
              </a:rPr>
              <a:t>(</a:t>
            </a:r>
            <a:r>
              <a:rPr lang="en-US" sz="1600" b="1" i="0" dirty="0">
                <a:solidFill>
                  <a:srgbClr val="BF4040"/>
                </a:solidFill>
                <a:effectLst/>
                <a:latin typeface="Roboto Mono" panose="00000009000000000000" pitchFamily="49" charset="0"/>
              </a:rPr>
              <a:t>start</a:t>
            </a:r>
            <a:r>
              <a:rPr lang="en-US" sz="1600" b="0" i="0" dirty="0">
                <a:solidFill>
                  <a:srgbClr val="333333"/>
                </a:solidFill>
                <a:effectLst/>
                <a:latin typeface="Roboto Mono" panose="00000009000000000000" pitchFamily="49" charset="0"/>
              </a:rPr>
              <a:t>)</a:t>
            </a:r>
          </a:p>
          <a:p>
            <a:pPr algn="l">
              <a:buNone/>
            </a:pPr>
            <a:endParaRPr lang="en-US" sz="1600" b="0" i="0" dirty="0">
              <a:solidFill>
                <a:srgbClr val="333333"/>
              </a:solidFill>
              <a:effectLst/>
              <a:latin typeface="Roboto Mono" panose="00000009000000000000" pitchFamily="49" charset="0"/>
            </a:endParaRPr>
          </a:p>
          <a:p>
            <a:pPr algn="l">
              <a:buNone/>
            </a:pPr>
            <a:r>
              <a:rPr lang="en-US" sz="1600" b="1" i="0" dirty="0">
                <a:solidFill>
                  <a:srgbClr val="333333"/>
                </a:solidFill>
                <a:effectLst/>
                <a:latin typeface="Roboto Mono" panose="00000009000000000000" pitchFamily="49" charset="0"/>
              </a:rPr>
              <a:t>while</a:t>
            </a:r>
            <a:r>
              <a:rPr lang="en-US" sz="1600" b="0" i="0" dirty="0">
                <a:solidFill>
                  <a:srgbClr val="333333"/>
                </a:solidFill>
                <a:effectLst/>
                <a:latin typeface="Roboto Mono" panose="00000009000000000000" pitchFamily="49" charset="0"/>
              </a:rPr>
              <a:t> not </a:t>
            </a:r>
            <a:r>
              <a:rPr lang="en-US" sz="1600" b="1" i="0" dirty="0" err="1">
                <a:solidFill>
                  <a:srgbClr val="406ABF"/>
                </a:solidFill>
                <a:effectLst/>
                <a:latin typeface="Roboto Mono" panose="00000009000000000000" pitchFamily="49" charset="0"/>
              </a:rPr>
              <a:t>frontier</a:t>
            </a:r>
            <a:r>
              <a:rPr lang="en-US" sz="1600" b="0" i="0" dirty="0" err="1">
                <a:solidFill>
                  <a:srgbClr val="333333"/>
                </a:solidFill>
                <a:effectLst/>
                <a:latin typeface="Roboto Mono" panose="00000009000000000000" pitchFamily="49" charset="0"/>
              </a:rPr>
              <a:t>.empty</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a:solidFill>
                  <a:srgbClr val="5C85D6"/>
                </a:solidFill>
                <a:effectLst/>
                <a:latin typeface="Roboto Mono" panose="00000009000000000000" pitchFamily="49" charset="0"/>
              </a:rPr>
              <a:t>current</a:t>
            </a:r>
            <a:r>
              <a:rPr lang="en-US" sz="1600" b="0" i="0" dirty="0">
                <a:solidFill>
                  <a:srgbClr val="333333"/>
                </a:solidFill>
                <a:effectLst/>
                <a:latin typeface="Roboto Mono" panose="00000009000000000000" pitchFamily="49" charset="0"/>
              </a:rPr>
              <a:t> = </a:t>
            </a:r>
            <a:r>
              <a:rPr lang="en-US" sz="1600" b="1" i="0" dirty="0" err="1">
                <a:solidFill>
                  <a:srgbClr val="406ABF"/>
                </a:solidFill>
                <a:effectLst/>
                <a:latin typeface="Roboto Mono" panose="00000009000000000000" pitchFamily="49" charset="0"/>
              </a:rPr>
              <a:t>frontier</a:t>
            </a:r>
            <a:r>
              <a:rPr lang="en-US" sz="1600" b="0" i="0" dirty="0" err="1">
                <a:solidFill>
                  <a:srgbClr val="333333"/>
                </a:solidFill>
                <a:effectLst/>
                <a:latin typeface="Roboto Mono" panose="00000009000000000000" pitchFamily="49" charset="0"/>
              </a:rPr>
              <a:t>.get</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a:solidFill>
                  <a:srgbClr val="333333"/>
                </a:solidFill>
                <a:effectLst/>
                <a:latin typeface="Roboto Mono" panose="00000009000000000000" pitchFamily="49" charset="0"/>
              </a:rPr>
              <a:t>for</a:t>
            </a:r>
            <a:r>
              <a:rPr lang="en-US" sz="1600" b="0" i="0" dirty="0">
                <a:solidFill>
                  <a:srgbClr val="333333"/>
                </a:solidFill>
                <a:effectLst/>
                <a:latin typeface="Roboto Mono" panose="00000009000000000000" pitchFamily="49" charset="0"/>
              </a:rPr>
              <a:t> </a:t>
            </a:r>
            <a:r>
              <a:rPr lang="en-US" sz="1600" b="1" i="0" dirty="0">
                <a:solidFill>
                  <a:srgbClr val="339966"/>
                </a:solidFill>
                <a:effectLst/>
                <a:latin typeface="Roboto Mono" panose="00000009000000000000" pitchFamily="49" charset="0"/>
              </a:rPr>
              <a:t>next</a:t>
            </a:r>
            <a:r>
              <a:rPr lang="en-US" sz="1600" b="0" i="0" dirty="0">
                <a:solidFill>
                  <a:srgbClr val="333333"/>
                </a:solidFill>
                <a:effectLst/>
                <a:latin typeface="Roboto Mono" panose="00000009000000000000" pitchFamily="49" charset="0"/>
              </a:rPr>
              <a:t> in </a:t>
            </a:r>
            <a:r>
              <a:rPr lang="en-US" sz="1600" b="0" i="0" dirty="0" err="1">
                <a:solidFill>
                  <a:srgbClr val="333333"/>
                </a:solidFill>
                <a:effectLst/>
                <a:latin typeface="Roboto Mono" panose="00000009000000000000" pitchFamily="49" charset="0"/>
              </a:rPr>
              <a:t>graph.neighbors</a:t>
            </a:r>
            <a:r>
              <a:rPr lang="en-US" sz="1600" b="0" i="0" dirty="0">
                <a:solidFill>
                  <a:srgbClr val="333333"/>
                </a:solidFill>
                <a:effectLst/>
                <a:latin typeface="Roboto Mono" panose="00000009000000000000" pitchFamily="49" charset="0"/>
              </a:rPr>
              <a:t>(</a:t>
            </a:r>
            <a:r>
              <a:rPr lang="en-US" sz="1600" b="1" i="0" dirty="0">
                <a:solidFill>
                  <a:srgbClr val="5C85D6"/>
                </a:solidFill>
                <a:effectLst/>
                <a:latin typeface="Roboto Mono" panose="00000009000000000000" pitchFamily="49" charset="0"/>
              </a:rPr>
              <a:t>current</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a:solidFill>
                  <a:srgbClr val="333333"/>
                </a:solidFill>
                <a:effectLst/>
                <a:latin typeface="Roboto Mono" panose="00000009000000000000" pitchFamily="49" charset="0"/>
              </a:rPr>
              <a:t>if</a:t>
            </a:r>
            <a:r>
              <a:rPr lang="en-US" sz="1600" b="0" i="0" dirty="0">
                <a:solidFill>
                  <a:srgbClr val="333333"/>
                </a:solidFill>
                <a:effectLst/>
                <a:latin typeface="Roboto Mono" panose="00000009000000000000" pitchFamily="49" charset="0"/>
              </a:rPr>
              <a:t> </a:t>
            </a:r>
            <a:r>
              <a:rPr lang="en-US" sz="1600" b="1" i="0" dirty="0">
                <a:solidFill>
                  <a:srgbClr val="339966"/>
                </a:solidFill>
                <a:effectLst/>
                <a:latin typeface="Roboto Mono" panose="00000009000000000000" pitchFamily="49" charset="0"/>
              </a:rPr>
              <a:t>next</a:t>
            </a:r>
            <a:r>
              <a:rPr lang="en-US" sz="1600" b="0" i="0" dirty="0">
                <a:solidFill>
                  <a:srgbClr val="333333"/>
                </a:solidFill>
                <a:effectLst/>
                <a:latin typeface="Roboto Mono" panose="00000009000000000000" pitchFamily="49" charset="0"/>
              </a:rPr>
              <a:t> not in </a:t>
            </a:r>
            <a:r>
              <a:rPr lang="en-US" sz="1600" b="1" i="0" dirty="0">
                <a:solidFill>
                  <a:srgbClr val="8F663D"/>
                </a:solidFill>
                <a:effectLst/>
                <a:latin typeface="Roboto Mono" panose="00000009000000000000" pitchFamily="49" charset="0"/>
              </a:rPr>
              <a:t>reached</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err="1">
                <a:solidFill>
                  <a:srgbClr val="406ABF"/>
                </a:solidFill>
                <a:effectLst/>
                <a:latin typeface="Roboto Mono" panose="00000009000000000000" pitchFamily="49" charset="0"/>
              </a:rPr>
              <a:t>frontier</a:t>
            </a:r>
            <a:r>
              <a:rPr lang="en-US" sz="1600" b="0" i="0" dirty="0" err="1">
                <a:solidFill>
                  <a:srgbClr val="333333"/>
                </a:solidFill>
                <a:effectLst/>
                <a:latin typeface="Roboto Mono" panose="00000009000000000000" pitchFamily="49" charset="0"/>
              </a:rPr>
              <a:t>.put</a:t>
            </a:r>
            <a:r>
              <a:rPr lang="en-US" sz="1600" b="0" i="0" dirty="0">
                <a:solidFill>
                  <a:srgbClr val="333333"/>
                </a:solidFill>
                <a:effectLst/>
                <a:latin typeface="Roboto Mono" panose="00000009000000000000" pitchFamily="49" charset="0"/>
              </a:rPr>
              <a:t>(</a:t>
            </a:r>
            <a:r>
              <a:rPr lang="en-US" sz="1600" b="1" i="0" dirty="0">
                <a:solidFill>
                  <a:srgbClr val="339966"/>
                </a:solidFill>
                <a:effectLst/>
                <a:latin typeface="Roboto Mono" panose="00000009000000000000" pitchFamily="49" charset="0"/>
              </a:rPr>
              <a:t>next</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err="1">
                <a:solidFill>
                  <a:srgbClr val="8F663D"/>
                </a:solidFill>
                <a:effectLst/>
                <a:latin typeface="Roboto Mono" panose="00000009000000000000" pitchFamily="49" charset="0"/>
              </a:rPr>
              <a:t>reached</a:t>
            </a:r>
            <a:r>
              <a:rPr lang="en-US" sz="1600" b="0" i="0" dirty="0" err="1">
                <a:solidFill>
                  <a:srgbClr val="333333"/>
                </a:solidFill>
                <a:effectLst/>
                <a:latin typeface="Roboto Mono" panose="00000009000000000000" pitchFamily="49" charset="0"/>
              </a:rPr>
              <a:t>.add</a:t>
            </a:r>
            <a:r>
              <a:rPr lang="en-US" sz="1600" b="0" i="0" dirty="0">
                <a:solidFill>
                  <a:srgbClr val="333333"/>
                </a:solidFill>
                <a:effectLst/>
                <a:latin typeface="Roboto Mono" panose="00000009000000000000" pitchFamily="49" charset="0"/>
              </a:rPr>
              <a:t>(</a:t>
            </a:r>
            <a:r>
              <a:rPr lang="en-US" sz="1600" b="1" i="0" dirty="0">
                <a:solidFill>
                  <a:srgbClr val="339966"/>
                </a:solidFill>
                <a:effectLst/>
                <a:latin typeface="Roboto Mono" panose="00000009000000000000" pitchFamily="49" charset="0"/>
              </a:rPr>
              <a:t>next</a:t>
            </a:r>
            <a:r>
              <a:rPr lang="en-US" sz="1600" b="0" i="0" dirty="0">
                <a:solidFill>
                  <a:srgbClr val="333333"/>
                </a:solidFill>
                <a:effectLst/>
                <a:latin typeface="Roboto Mono" panose="00000009000000000000" pitchFamily="49" charset="0"/>
              </a:rPr>
              <a:t>)</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830265F8-1173-8252-E109-771B6D1B7E7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0F56541-1CAD-EB7D-5308-F0588D4A625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BFS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19E08598-D8F8-DE4F-B967-0FDF4A335D7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31D7ECF-3412-CB26-265F-FA9D2B63E07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152134E-A34B-921D-FA41-F58866849AEA}"/>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F0281AB-0908-D441-CD80-4C29DC6AC49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FC5E202-ED86-BBC8-E86C-D7C2AC2CA28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CBE90D1-1350-7300-BAE5-AED0A54F0BC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94756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18">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6953D4C-D40A-8CE1-8239-BAB773F3F27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00E28D5-C510-DE5F-75DE-3723B08EF8A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But how do we find the shortest path?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loop doesn’t actually construct the paths; it only tells us how to visit everything on the map.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That’s because Breadth First Search can be used for a lot more than just finding paths; </a:t>
            </a:r>
            <a:r>
              <a:rPr lang="en-US" sz="2400" dirty="0">
                <a:latin typeface="Atkinson Hyperlegible Next"/>
                <a:ea typeface="Arial"/>
                <a:cs typeface="Arial"/>
                <a:sym typeface="Arial"/>
              </a:rPr>
              <a:t>for example, in the previous lecture it was used for connected component finding for “blob” search</a:t>
            </a:r>
            <a:r>
              <a:rPr lang="en-US" sz="2400" dirty="0">
                <a:solidFill>
                  <a:schemeClr val="dk1"/>
                </a:solidFill>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Here though we want to use it for finding paths, so let’s modify the loop to keep track of where we came from for every location that’s been reached, and rename the </a:t>
            </a:r>
            <a:r>
              <a:rPr lang="en-US" sz="2400" b="1" dirty="0">
                <a:solidFill>
                  <a:schemeClr val="dk1"/>
                </a:solidFill>
                <a:latin typeface="Atkinson Hyperlegible Next"/>
                <a:ea typeface="Arial"/>
                <a:cs typeface="Arial"/>
                <a:sym typeface="Arial"/>
              </a:rPr>
              <a:t>reached</a:t>
            </a:r>
            <a:r>
              <a:rPr lang="en-US" sz="2400" dirty="0">
                <a:solidFill>
                  <a:schemeClr val="dk1"/>
                </a:solidFill>
                <a:latin typeface="Atkinson Hyperlegible Next"/>
                <a:ea typeface="Arial"/>
                <a:cs typeface="Arial"/>
                <a:sym typeface="Arial"/>
              </a:rPr>
              <a:t> set to a </a:t>
            </a:r>
            <a:r>
              <a:rPr lang="en-US" sz="2400" b="1" dirty="0" err="1">
                <a:solidFill>
                  <a:schemeClr val="dk1"/>
                </a:solidFill>
                <a:latin typeface="Atkinson Hyperlegible Next"/>
                <a:ea typeface="Arial"/>
                <a:cs typeface="Arial"/>
                <a:sym typeface="Arial"/>
              </a:rPr>
              <a:t>came_from</a:t>
            </a:r>
            <a:r>
              <a:rPr lang="en-US" sz="2400" b="1" dirty="0">
                <a:solidFill>
                  <a:schemeClr val="dk1"/>
                </a:solidFill>
                <a:latin typeface="Atkinson Hyperlegible Next"/>
                <a:ea typeface="Arial"/>
                <a:cs typeface="Arial"/>
                <a:sym typeface="Arial"/>
              </a:rPr>
              <a:t> </a:t>
            </a:r>
            <a:r>
              <a:rPr lang="en-US" sz="2400" dirty="0">
                <a:solidFill>
                  <a:schemeClr val="dk1"/>
                </a:solidFill>
                <a:latin typeface="Atkinson Hyperlegible Next"/>
                <a:ea typeface="Arial"/>
                <a:cs typeface="Arial"/>
                <a:sym typeface="Arial"/>
              </a:rPr>
              <a:t>table (the keys of the table are the reached set)</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D5C9397-8FFB-AB87-17FD-40F8D8B4ACF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167C191-91CC-017B-BA4C-2AB2FFFFBE3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BFS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7A9CC3AC-CF74-9CB3-481B-8D450AEFF2B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54AB056-2652-D73F-770A-F7D1BA39678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D5B4A89-C394-2D2E-50F3-945333359F1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12D6493-AF3F-4281-4D5E-F35D72251F2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0B9A068-866E-370B-7304-DCAAD6DB685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A6E3159-531A-5991-B3E1-F17F1C0B3C9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241941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A5BE18D-5F15-7A12-2D1B-9155935E431F}"/>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A2287F7-987D-0F8B-9236-ED0AF1DCCE6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algn="l">
              <a:buNone/>
            </a:pPr>
            <a:r>
              <a:rPr lang="en-US" sz="1600" b="1" i="0" dirty="0">
                <a:solidFill>
                  <a:srgbClr val="406ABF"/>
                </a:solidFill>
                <a:effectLst/>
                <a:latin typeface="Roboto Mono" panose="00000009000000000000" pitchFamily="49" charset="0"/>
              </a:rPr>
              <a:t>frontier</a:t>
            </a:r>
            <a:r>
              <a:rPr lang="en-US" sz="1600" b="0" i="0" dirty="0">
                <a:solidFill>
                  <a:srgbClr val="333333"/>
                </a:solidFill>
                <a:effectLst/>
                <a:latin typeface="Roboto Mono" panose="00000009000000000000" pitchFamily="49" charset="0"/>
              </a:rPr>
              <a:t> = Queue()</a:t>
            </a:r>
          </a:p>
          <a:p>
            <a:pPr algn="l">
              <a:buNone/>
            </a:pPr>
            <a:r>
              <a:rPr lang="en-US" sz="1600" b="1" i="0" dirty="0" err="1">
                <a:solidFill>
                  <a:srgbClr val="406ABF"/>
                </a:solidFill>
                <a:effectLst/>
                <a:latin typeface="Roboto Mono" panose="00000009000000000000" pitchFamily="49" charset="0"/>
              </a:rPr>
              <a:t>frontier</a:t>
            </a:r>
            <a:r>
              <a:rPr lang="en-US" sz="1600" b="0" i="0" dirty="0" err="1">
                <a:solidFill>
                  <a:srgbClr val="333333"/>
                </a:solidFill>
                <a:effectLst/>
                <a:latin typeface="Roboto Mono" panose="00000009000000000000" pitchFamily="49" charset="0"/>
              </a:rPr>
              <a:t>.put</a:t>
            </a:r>
            <a:r>
              <a:rPr lang="en-US" sz="1600" b="0" i="0" dirty="0">
                <a:solidFill>
                  <a:srgbClr val="333333"/>
                </a:solidFill>
                <a:effectLst/>
                <a:latin typeface="Roboto Mono" panose="00000009000000000000" pitchFamily="49" charset="0"/>
              </a:rPr>
              <a:t>(</a:t>
            </a:r>
            <a:r>
              <a:rPr lang="en-US" sz="1600" b="1" i="0" dirty="0">
                <a:solidFill>
                  <a:srgbClr val="BF4040"/>
                </a:solidFill>
                <a:effectLst/>
                <a:latin typeface="Roboto Mono" panose="00000009000000000000" pitchFamily="49" charset="0"/>
              </a:rPr>
              <a:t>start</a:t>
            </a:r>
            <a:r>
              <a:rPr lang="en-US" sz="1600" b="0" i="0" dirty="0">
                <a:solidFill>
                  <a:srgbClr val="333333"/>
                </a:solidFill>
                <a:effectLst/>
                <a:latin typeface="Roboto Mono" panose="00000009000000000000" pitchFamily="49" charset="0"/>
              </a:rPr>
              <a:t> )</a:t>
            </a:r>
          </a:p>
          <a:p>
            <a:pPr algn="l">
              <a:buNone/>
            </a:pPr>
            <a:r>
              <a:rPr lang="en-US" sz="1600" b="1" i="1" dirty="0" err="1">
                <a:solidFill>
                  <a:srgbClr val="8F663D"/>
                </a:solidFill>
                <a:effectLst/>
                <a:latin typeface="Roboto Mono" panose="00000009000000000000" pitchFamily="49" charset="0"/>
              </a:rPr>
              <a:t>came_from</a:t>
            </a:r>
            <a:r>
              <a:rPr lang="en-US" sz="1600" b="0" i="0" dirty="0">
                <a:solidFill>
                  <a:srgbClr val="333333"/>
                </a:solidFill>
                <a:effectLst/>
                <a:latin typeface="Roboto Mono" panose="00000009000000000000" pitchFamily="49" charset="0"/>
              </a:rPr>
              <a:t> = </a:t>
            </a:r>
            <a:r>
              <a:rPr lang="en-US" sz="1600" b="0" i="0" dirty="0" err="1">
                <a:solidFill>
                  <a:srgbClr val="333333"/>
                </a:solidFill>
                <a:effectLst/>
                <a:latin typeface="Roboto Mono" panose="00000009000000000000" pitchFamily="49" charset="0"/>
              </a:rPr>
              <a:t>dict</a:t>
            </a:r>
            <a:r>
              <a:rPr lang="en-US" sz="1600" b="0" i="0" dirty="0">
                <a:solidFill>
                  <a:srgbClr val="333333"/>
                </a:solidFill>
                <a:effectLst/>
                <a:latin typeface="Roboto Mono" panose="00000009000000000000" pitchFamily="49" charset="0"/>
              </a:rPr>
              <a:t>() # </a:t>
            </a:r>
            <a:r>
              <a:rPr lang="en-US" sz="1600" b="1" i="0" dirty="0">
                <a:solidFill>
                  <a:srgbClr val="9540BF"/>
                </a:solidFill>
                <a:effectLst/>
                <a:latin typeface="Roboto Mono" panose="00000009000000000000" pitchFamily="49" charset="0"/>
              </a:rPr>
              <a:t>path</a:t>
            </a:r>
            <a:r>
              <a:rPr lang="en-US" sz="1600" b="0" i="0" dirty="0">
                <a:solidFill>
                  <a:srgbClr val="333333"/>
                </a:solidFill>
                <a:effectLst/>
                <a:latin typeface="Roboto Mono" panose="00000009000000000000" pitchFamily="49" charset="0"/>
              </a:rPr>
              <a:t> A-&gt;B is stored as </a:t>
            </a:r>
            <a:r>
              <a:rPr lang="en-US" sz="1600" b="1" i="0" dirty="0" err="1">
                <a:solidFill>
                  <a:srgbClr val="8F663D"/>
                </a:solidFill>
                <a:effectLst/>
                <a:latin typeface="Roboto Mono" panose="00000009000000000000" pitchFamily="49" charset="0"/>
              </a:rPr>
              <a:t>came_from</a:t>
            </a:r>
            <a:r>
              <a:rPr lang="en-US" sz="1600" b="0" i="0" dirty="0">
                <a:solidFill>
                  <a:srgbClr val="333333"/>
                </a:solidFill>
                <a:effectLst/>
                <a:latin typeface="Roboto Mono" panose="00000009000000000000" pitchFamily="49" charset="0"/>
              </a:rPr>
              <a:t>[B] == A</a:t>
            </a:r>
          </a:p>
          <a:p>
            <a:pPr algn="l">
              <a:buNone/>
            </a:pPr>
            <a:r>
              <a:rPr lang="en-US" sz="1600" b="1" i="1" dirty="0" err="1">
                <a:solidFill>
                  <a:srgbClr val="8F663D"/>
                </a:solidFill>
                <a:effectLst/>
                <a:latin typeface="Roboto Mono" panose="00000009000000000000" pitchFamily="49" charset="0"/>
              </a:rPr>
              <a:t>came_from</a:t>
            </a:r>
            <a:r>
              <a:rPr lang="en-US" sz="1600" b="0" i="0" dirty="0">
                <a:solidFill>
                  <a:srgbClr val="333333"/>
                </a:solidFill>
                <a:effectLst/>
                <a:latin typeface="Roboto Mono" panose="00000009000000000000" pitchFamily="49" charset="0"/>
              </a:rPr>
              <a:t>[</a:t>
            </a:r>
            <a:r>
              <a:rPr lang="en-US" sz="1600" b="1" i="0" dirty="0">
                <a:solidFill>
                  <a:srgbClr val="BF4040"/>
                </a:solidFill>
                <a:effectLst/>
                <a:latin typeface="Roboto Mono" panose="00000009000000000000" pitchFamily="49" charset="0"/>
              </a:rPr>
              <a:t>start</a:t>
            </a:r>
            <a:r>
              <a:rPr lang="en-US" sz="1600" b="0" i="0" dirty="0">
                <a:solidFill>
                  <a:srgbClr val="333333"/>
                </a:solidFill>
                <a:effectLst/>
                <a:latin typeface="Roboto Mono" panose="00000009000000000000" pitchFamily="49" charset="0"/>
              </a:rPr>
              <a:t>] = </a:t>
            </a:r>
            <a:r>
              <a:rPr lang="en-US" sz="1600" b="0" i="1" dirty="0">
                <a:solidFill>
                  <a:srgbClr val="333333"/>
                </a:solidFill>
                <a:effectLst/>
                <a:latin typeface="Roboto Mono" panose="00000009000000000000" pitchFamily="49" charset="0"/>
              </a:rPr>
              <a:t>None</a:t>
            </a:r>
            <a:endParaRPr lang="en-US" sz="1600" b="0" i="0" dirty="0">
              <a:solidFill>
                <a:srgbClr val="333333"/>
              </a:solidFill>
              <a:effectLst/>
              <a:latin typeface="Roboto Mono" panose="00000009000000000000" pitchFamily="49" charset="0"/>
            </a:endParaRPr>
          </a:p>
          <a:p>
            <a:pPr algn="l">
              <a:buNone/>
            </a:pPr>
            <a:endParaRPr lang="en-US" sz="1600" b="0" i="0" dirty="0">
              <a:solidFill>
                <a:srgbClr val="333333"/>
              </a:solidFill>
              <a:effectLst/>
              <a:latin typeface="Roboto Mono" panose="00000009000000000000" pitchFamily="49" charset="0"/>
            </a:endParaRPr>
          </a:p>
          <a:p>
            <a:pPr algn="l">
              <a:buNone/>
            </a:pPr>
            <a:r>
              <a:rPr lang="en-US" sz="1600" b="1" i="0" dirty="0">
                <a:solidFill>
                  <a:srgbClr val="333333"/>
                </a:solidFill>
                <a:effectLst/>
                <a:latin typeface="Roboto Mono" panose="00000009000000000000" pitchFamily="49" charset="0"/>
              </a:rPr>
              <a:t>while</a:t>
            </a:r>
            <a:r>
              <a:rPr lang="en-US" sz="1600" b="0" i="0" dirty="0">
                <a:solidFill>
                  <a:srgbClr val="333333"/>
                </a:solidFill>
                <a:effectLst/>
                <a:latin typeface="Roboto Mono" panose="00000009000000000000" pitchFamily="49" charset="0"/>
              </a:rPr>
              <a:t> not </a:t>
            </a:r>
            <a:r>
              <a:rPr lang="en-US" sz="1600" b="1" i="0" dirty="0" err="1">
                <a:solidFill>
                  <a:srgbClr val="406ABF"/>
                </a:solidFill>
                <a:effectLst/>
                <a:latin typeface="Roboto Mono" panose="00000009000000000000" pitchFamily="49" charset="0"/>
              </a:rPr>
              <a:t>frontier</a:t>
            </a:r>
            <a:r>
              <a:rPr lang="en-US" sz="1600" b="0" i="0" dirty="0" err="1">
                <a:solidFill>
                  <a:srgbClr val="333333"/>
                </a:solidFill>
                <a:effectLst/>
                <a:latin typeface="Roboto Mono" panose="00000009000000000000" pitchFamily="49" charset="0"/>
              </a:rPr>
              <a:t>.empty</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a:solidFill>
                  <a:srgbClr val="5C85D6"/>
                </a:solidFill>
                <a:effectLst/>
                <a:latin typeface="Roboto Mono" panose="00000009000000000000" pitchFamily="49" charset="0"/>
              </a:rPr>
              <a:t>current</a:t>
            </a:r>
            <a:r>
              <a:rPr lang="en-US" sz="1600" b="0" i="0" dirty="0">
                <a:solidFill>
                  <a:srgbClr val="333333"/>
                </a:solidFill>
                <a:effectLst/>
                <a:latin typeface="Roboto Mono" panose="00000009000000000000" pitchFamily="49" charset="0"/>
              </a:rPr>
              <a:t> = </a:t>
            </a:r>
            <a:r>
              <a:rPr lang="en-US" sz="1600" b="1" i="0" dirty="0" err="1">
                <a:solidFill>
                  <a:srgbClr val="406ABF"/>
                </a:solidFill>
                <a:effectLst/>
                <a:latin typeface="Roboto Mono" panose="00000009000000000000" pitchFamily="49" charset="0"/>
              </a:rPr>
              <a:t>frontier</a:t>
            </a:r>
            <a:r>
              <a:rPr lang="en-US" sz="1600" b="0" i="0" dirty="0" err="1">
                <a:solidFill>
                  <a:srgbClr val="333333"/>
                </a:solidFill>
                <a:effectLst/>
                <a:latin typeface="Roboto Mono" panose="00000009000000000000" pitchFamily="49" charset="0"/>
              </a:rPr>
              <a:t>.get</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a:solidFill>
                  <a:srgbClr val="333333"/>
                </a:solidFill>
                <a:effectLst/>
                <a:latin typeface="Roboto Mono" panose="00000009000000000000" pitchFamily="49" charset="0"/>
              </a:rPr>
              <a:t>for</a:t>
            </a:r>
            <a:r>
              <a:rPr lang="en-US" sz="1600" b="0" i="0" dirty="0">
                <a:solidFill>
                  <a:srgbClr val="333333"/>
                </a:solidFill>
                <a:effectLst/>
                <a:latin typeface="Roboto Mono" panose="00000009000000000000" pitchFamily="49" charset="0"/>
              </a:rPr>
              <a:t> </a:t>
            </a:r>
            <a:r>
              <a:rPr lang="en-US" sz="1600" b="1" i="0" dirty="0">
                <a:solidFill>
                  <a:srgbClr val="339966"/>
                </a:solidFill>
                <a:effectLst/>
                <a:latin typeface="Roboto Mono" panose="00000009000000000000" pitchFamily="49" charset="0"/>
              </a:rPr>
              <a:t>next</a:t>
            </a:r>
            <a:r>
              <a:rPr lang="en-US" sz="1600" b="0" i="0" dirty="0">
                <a:solidFill>
                  <a:srgbClr val="333333"/>
                </a:solidFill>
                <a:effectLst/>
                <a:latin typeface="Roboto Mono" panose="00000009000000000000" pitchFamily="49" charset="0"/>
              </a:rPr>
              <a:t> in </a:t>
            </a:r>
            <a:r>
              <a:rPr lang="en-US" sz="1600" b="0" i="0" dirty="0" err="1">
                <a:solidFill>
                  <a:srgbClr val="333333"/>
                </a:solidFill>
                <a:effectLst/>
                <a:latin typeface="Roboto Mono" panose="00000009000000000000" pitchFamily="49" charset="0"/>
              </a:rPr>
              <a:t>graph.neighbors</a:t>
            </a:r>
            <a:r>
              <a:rPr lang="en-US" sz="1600" b="0" i="0" dirty="0">
                <a:solidFill>
                  <a:srgbClr val="333333"/>
                </a:solidFill>
                <a:effectLst/>
                <a:latin typeface="Roboto Mono" panose="00000009000000000000" pitchFamily="49" charset="0"/>
              </a:rPr>
              <a:t>(</a:t>
            </a:r>
            <a:r>
              <a:rPr lang="en-US" sz="1600" b="1" i="0" dirty="0">
                <a:solidFill>
                  <a:srgbClr val="5C85D6"/>
                </a:solidFill>
                <a:effectLst/>
                <a:latin typeface="Roboto Mono" panose="00000009000000000000" pitchFamily="49" charset="0"/>
              </a:rPr>
              <a:t>current</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a:solidFill>
                  <a:srgbClr val="333333"/>
                </a:solidFill>
                <a:effectLst/>
                <a:latin typeface="Roboto Mono" panose="00000009000000000000" pitchFamily="49" charset="0"/>
              </a:rPr>
              <a:t>if</a:t>
            </a:r>
            <a:r>
              <a:rPr lang="en-US" sz="1600" b="0" i="0" dirty="0">
                <a:solidFill>
                  <a:srgbClr val="333333"/>
                </a:solidFill>
                <a:effectLst/>
                <a:latin typeface="Roboto Mono" panose="00000009000000000000" pitchFamily="49" charset="0"/>
              </a:rPr>
              <a:t> </a:t>
            </a:r>
            <a:r>
              <a:rPr lang="en-US" sz="1600" b="1" i="0" dirty="0">
                <a:solidFill>
                  <a:srgbClr val="339966"/>
                </a:solidFill>
                <a:effectLst/>
                <a:latin typeface="Roboto Mono" panose="00000009000000000000" pitchFamily="49" charset="0"/>
              </a:rPr>
              <a:t>next</a:t>
            </a:r>
            <a:r>
              <a:rPr lang="en-US" sz="1600" b="0" i="0" dirty="0">
                <a:solidFill>
                  <a:srgbClr val="333333"/>
                </a:solidFill>
                <a:effectLst/>
                <a:latin typeface="Roboto Mono" panose="00000009000000000000" pitchFamily="49" charset="0"/>
              </a:rPr>
              <a:t> not in </a:t>
            </a:r>
            <a:r>
              <a:rPr lang="en-US" sz="1600" b="1" i="1" dirty="0" err="1">
                <a:solidFill>
                  <a:srgbClr val="8F663D"/>
                </a:solidFill>
                <a:effectLst/>
                <a:latin typeface="Roboto Mono" panose="00000009000000000000" pitchFamily="49" charset="0"/>
              </a:rPr>
              <a:t>came_from</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0" dirty="0" err="1">
                <a:solidFill>
                  <a:srgbClr val="406ABF"/>
                </a:solidFill>
                <a:effectLst/>
                <a:latin typeface="Roboto Mono" panose="00000009000000000000" pitchFamily="49" charset="0"/>
              </a:rPr>
              <a:t>frontier</a:t>
            </a:r>
            <a:r>
              <a:rPr lang="en-US" sz="1600" b="0" i="0" dirty="0" err="1">
                <a:solidFill>
                  <a:srgbClr val="333333"/>
                </a:solidFill>
                <a:effectLst/>
                <a:latin typeface="Roboto Mono" panose="00000009000000000000" pitchFamily="49" charset="0"/>
              </a:rPr>
              <a:t>.put</a:t>
            </a:r>
            <a:r>
              <a:rPr lang="en-US" sz="1600" b="0" i="0" dirty="0">
                <a:solidFill>
                  <a:srgbClr val="333333"/>
                </a:solidFill>
                <a:effectLst/>
                <a:latin typeface="Roboto Mono" panose="00000009000000000000" pitchFamily="49" charset="0"/>
              </a:rPr>
              <a:t>(</a:t>
            </a:r>
            <a:r>
              <a:rPr lang="en-US" sz="1600" b="1" i="0" dirty="0">
                <a:solidFill>
                  <a:srgbClr val="339966"/>
                </a:solidFill>
                <a:effectLst/>
                <a:latin typeface="Roboto Mono" panose="00000009000000000000" pitchFamily="49" charset="0"/>
              </a:rPr>
              <a:t>next</a:t>
            </a:r>
            <a:r>
              <a:rPr lang="en-US" sz="1600" b="0" i="0" dirty="0">
                <a:solidFill>
                  <a:srgbClr val="333333"/>
                </a:solidFill>
                <a:effectLst/>
                <a:latin typeface="Roboto Mono" panose="00000009000000000000" pitchFamily="49" charset="0"/>
              </a:rPr>
              <a:t>)</a:t>
            </a:r>
          </a:p>
          <a:p>
            <a:pPr algn="l">
              <a:buNone/>
            </a:pPr>
            <a:r>
              <a:rPr lang="en-US" sz="1600" b="0" i="0" dirty="0">
                <a:solidFill>
                  <a:srgbClr val="333333"/>
                </a:solidFill>
                <a:effectLst/>
                <a:latin typeface="Roboto Mono" panose="00000009000000000000" pitchFamily="49" charset="0"/>
              </a:rPr>
              <a:t>         </a:t>
            </a:r>
            <a:r>
              <a:rPr lang="en-US" sz="1600" b="1" i="1" dirty="0" err="1">
                <a:solidFill>
                  <a:srgbClr val="8F663D"/>
                </a:solidFill>
                <a:effectLst/>
                <a:latin typeface="Roboto Mono" panose="00000009000000000000" pitchFamily="49" charset="0"/>
              </a:rPr>
              <a:t>came_from</a:t>
            </a:r>
            <a:r>
              <a:rPr lang="en-US" sz="1600" b="0" i="0" dirty="0">
                <a:solidFill>
                  <a:srgbClr val="333333"/>
                </a:solidFill>
                <a:effectLst/>
                <a:latin typeface="Roboto Mono" panose="00000009000000000000" pitchFamily="49" charset="0"/>
              </a:rPr>
              <a:t>[</a:t>
            </a:r>
            <a:r>
              <a:rPr lang="en-US" sz="1600" b="1" i="0" dirty="0">
                <a:solidFill>
                  <a:srgbClr val="339966"/>
                </a:solidFill>
                <a:effectLst/>
                <a:latin typeface="Roboto Mono" panose="00000009000000000000" pitchFamily="49" charset="0"/>
              </a:rPr>
              <a:t>next</a:t>
            </a:r>
            <a:r>
              <a:rPr lang="en-US" sz="1600" b="0" i="0" dirty="0">
                <a:solidFill>
                  <a:srgbClr val="333333"/>
                </a:solidFill>
                <a:effectLst/>
                <a:latin typeface="Roboto Mono" panose="00000009000000000000" pitchFamily="49" charset="0"/>
              </a:rPr>
              <a:t>] = </a:t>
            </a:r>
            <a:r>
              <a:rPr lang="en-US" sz="1600" b="1" i="1" dirty="0">
                <a:solidFill>
                  <a:srgbClr val="5C85D6"/>
                </a:solidFill>
                <a:effectLst/>
                <a:latin typeface="Roboto Mono" panose="00000009000000000000" pitchFamily="49" charset="0"/>
              </a:rPr>
              <a:t>current</a:t>
            </a:r>
            <a:endParaRPr lang="en-US" sz="1600" b="0" i="0" dirty="0">
              <a:solidFill>
                <a:srgbClr val="333333"/>
              </a:solidFill>
              <a:effectLst/>
              <a:latin typeface="Roboto Mono" panose="00000009000000000000" pitchFamily="49" charset="0"/>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07B83B0B-B4D9-C722-36A5-292188DAD83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AED7AB4-BAE9-5A18-673B-5AFBF705A83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BFS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90B1BA2-1DB6-02BA-FC92-7B4617B1BB5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F4F3850-AA18-2D15-56F6-AFCA4BCC98A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C2E0C64-1197-EE9D-E055-2E9F5EF1B41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280A49C-3E97-510C-390E-D4F6A3E012D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659B054-2C37-6B51-2E11-E8A7FA85BA8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B7B2283-2F48-7A73-D5C5-CE5A45EB57E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139664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3220D53-BBEA-4D13-6A95-8470F7CFF8D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04ED13EA-8C47-FC62-8E28-89D48470A3E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Now </a:t>
            </a:r>
            <a:r>
              <a:rPr lang="en-US" sz="2400" b="1" dirty="0" err="1">
                <a:solidFill>
                  <a:schemeClr val="dk1"/>
                </a:solidFill>
                <a:latin typeface="Atkinson Hyperlegible Next"/>
                <a:ea typeface="Arial"/>
                <a:cs typeface="Arial"/>
                <a:sym typeface="Arial"/>
              </a:rPr>
              <a:t>came_from</a:t>
            </a:r>
            <a:r>
              <a:rPr lang="en-US" sz="2400" b="1" dirty="0">
                <a:solidFill>
                  <a:schemeClr val="dk1"/>
                </a:solidFill>
                <a:latin typeface="Atkinson Hyperlegible Next"/>
                <a:ea typeface="Arial"/>
                <a:cs typeface="Arial"/>
                <a:sym typeface="Arial"/>
              </a:rPr>
              <a:t> </a:t>
            </a:r>
            <a:r>
              <a:rPr lang="en-US" sz="2400" dirty="0">
                <a:solidFill>
                  <a:schemeClr val="dk1"/>
                </a:solidFill>
                <a:latin typeface="Atkinson Hyperlegible Next"/>
                <a:ea typeface="Arial"/>
                <a:cs typeface="Arial"/>
                <a:sym typeface="Arial"/>
              </a:rPr>
              <a:t>for each location points to the place where we came from.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They form a “flow field” and act like “</a:t>
            </a:r>
            <a:r>
              <a:rPr lang="en-US" sz="2400" b="1" dirty="0">
                <a:solidFill>
                  <a:schemeClr val="dk1"/>
                </a:solidFill>
                <a:latin typeface="Atkinson Hyperlegible Next"/>
                <a:ea typeface="Arial"/>
                <a:cs typeface="Arial"/>
                <a:sym typeface="Arial"/>
              </a:rPr>
              <a:t>breadcrumbs</a:t>
            </a:r>
            <a:r>
              <a:rPr lang="en-US" sz="2400" dirty="0">
                <a:solidFill>
                  <a:schemeClr val="dk1"/>
                </a:solidFill>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They’re enough to reconstruct the entire path!</a:t>
            </a:r>
          </a:p>
        </p:txBody>
      </p:sp>
      <p:sp>
        <p:nvSpPr>
          <p:cNvPr id="119" name="Google Shape;119;p29">
            <a:extLst>
              <a:ext uri="{FF2B5EF4-FFF2-40B4-BE49-F238E27FC236}">
                <a16:creationId xmlns:a16="http://schemas.microsoft.com/office/drawing/2014/main" id="{0A6A2F9A-F73C-E173-2CBD-6ACF0FF96A1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668E5DA-D486-E707-C0B4-88A02D0FB00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BFS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17CD4B0-26BD-5A94-A464-371646740D0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D5AD696-1B10-9D8F-0520-E0677CE5566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54A94A4-D1ED-D49A-7A01-15075ECD3D3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273A485-04E0-E1AE-D965-1BA8DE1A512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601971E-2C1C-5A52-B19C-C49CBD993E2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C28CB1F-2BDF-A1CF-571A-1799216D7D9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6" name="Picture 2">
            <a:extLst>
              <a:ext uri="{FF2B5EF4-FFF2-40B4-BE49-F238E27FC236}">
                <a16:creationId xmlns:a16="http://schemas.microsoft.com/office/drawing/2014/main" id="{2BF7C7E3-5C85-8313-2AE3-2C75871A8948}"/>
              </a:ext>
            </a:extLst>
          </p:cNvPr>
          <p:cNvPicPr>
            <a:picLocks noChangeAspect="1" noChangeArrowheads="1"/>
          </p:cNvPicPr>
          <p:nvPr/>
        </p:nvPicPr>
        <p:blipFill>
          <a:blip r:embed="rId4"/>
          <a:srcRect/>
          <a:stretch/>
        </p:blipFill>
        <p:spPr bwMode="auto">
          <a:xfrm>
            <a:off x="2822259" y="3227870"/>
            <a:ext cx="6286500" cy="31805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6516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8E68FCD-AE0C-C2DA-AB96-3334E6D8DC1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634D5FA-CA61-BF5D-2916-1473945E1C27}"/>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a:buNone/>
            </a:pPr>
            <a:r>
              <a:rPr lang="en-US" sz="2400" dirty="0"/>
              <a:t>To reconstruct paths: </a:t>
            </a:r>
            <a:r>
              <a:rPr lang="en-US" sz="2400" i="1" dirty="0"/>
              <a:t>follow the arrows backwards </a:t>
            </a:r>
            <a:r>
              <a:rPr lang="en-US" sz="2400" b="1" i="1" dirty="0"/>
              <a:t>from</a:t>
            </a:r>
            <a:r>
              <a:rPr lang="en-US" sz="2400" i="1" dirty="0"/>
              <a:t> the goal </a:t>
            </a:r>
            <a:r>
              <a:rPr lang="en-US" sz="2400" b="1" i="1" dirty="0"/>
              <a:t>to</a:t>
            </a:r>
            <a:r>
              <a:rPr lang="en-US" sz="2400" i="1" dirty="0"/>
              <a:t> the start</a:t>
            </a:r>
            <a:r>
              <a:rPr lang="en-US" sz="2400" dirty="0"/>
              <a:t>. A path is a </a:t>
            </a:r>
            <a:r>
              <a:rPr lang="en-US" sz="2400" i="1" dirty="0"/>
              <a:t>sequence of edges</a:t>
            </a:r>
            <a:r>
              <a:rPr lang="en-US" sz="2400" dirty="0"/>
              <a:t>, but often it’s easier to store the nodes:</a:t>
            </a:r>
          </a:p>
          <a:p>
            <a:pPr>
              <a:buNone/>
            </a:pPr>
            <a:endParaRPr lang="en-US" sz="1400" b="1" dirty="0">
              <a:solidFill>
                <a:srgbClr val="5C85D6"/>
              </a:solidFill>
              <a:latin typeface="Roboto Mono" panose="00000009000000000000" pitchFamily="49" charset="0"/>
            </a:endParaRPr>
          </a:p>
          <a:p>
            <a:pPr algn="l">
              <a:buNone/>
            </a:pPr>
            <a:r>
              <a:rPr lang="en-US" sz="1400" b="1" i="0" dirty="0">
                <a:solidFill>
                  <a:srgbClr val="5C85D6"/>
                </a:solidFill>
                <a:effectLst/>
                <a:latin typeface="Roboto Mono" panose="00000009000000000000" pitchFamily="49" charset="0"/>
              </a:rPr>
              <a:t>current</a:t>
            </a:r>
            <a:r>
              <a:rPr lang="en-US" sz="1400" b="0" i="0" dirty="0">
                <a:solidFill>
                  <a:srgbClr val="333333"/>
                </a:solidFill>
                <a:effectLst/>
                <a:latin typeface="Roboto Mono" panose="00000009000000000000" pitchFamily="49" charset="0"/>
              </a:rPr>
              <a:t> = </a:t>
            </a:r>
            <a:r>
              <a:rPr lang="en-US" sz="1400" b="1" i="0" dirty="0">
                <a:solidFill>
                  <a:srgbClr val="BF40AA"/>
                </a:solidFill>
                <a:effectLst/>
                <a:latin typeface="Roboto Mono" panose="00000009000000000000" pitchFamily="49" charset="0"/>
              </a:rPr>
              <a:t>goal</a:t>
            </a:r>
            <a:r>
              <a:rPr lang="en-US" sz="1400" b="0" i="0" dirty="0">
                <a:solidFill>
                  <a:srgbClr val="333333"/>
                </a:solidFill>
                <a:effectLst/>
                <a:latin typeface="Roboto Mono" panose="00000009000000000000" pitchFamily="49" charset="0"/>
              </a:rPr>
              <a:t> </a:t>
            </a:r>
          </a:p>
          <a:p>
            <a:pPr algn="l">
              <a:buNone/>
            </a:pPr>
            <a:r>
              <a:rPr lang="en-US" sz="1400" b="1" i="0" dirty="0">
                <a:solidFill>
                  <a:srgbClr val="9540BF"/>
                </a:solidFill>
                <a:effectLst/>
                <a:latin typeface="Roboto Mono" panose="00000009000000000000" pitchFamily="49" charset="0"/>
              </a:rPr>
              <a:t>path</a:t>
            </a:r>
            <a:r>
              <a:rPr lang="en-US" sz="1400" b="0" i="0" dirty="0">
                <a:solidFill>
                  <a:srgbClr val="333333"/>
                </a:solidFill>
                <a:effectLst/>
                <a:latin typeface="Roboto Mono" panose="00000009000000000000" pitchFamily="49" charset="0"/>
              </a:rPr>
              <a:t> = []</a:t>
            </a:r>
          </a:p>
          <a:p>
            <a:pPr algn="l">
              <a:buNone/>
            </a:pPr>
            <a:r>
              <a:rPr lang="en-US" sz="1400" b="1" i="0" dirty="0">
                <a:solidFill>
                  <a:srgbClr val="333333"/>
                </a:solidFill>
                <a:effectLst/>
                <a:latin typeface="Roboto Mono" panose="00000009000000000000" pitchFamily="49" charset="0"/>
              </a:rPr>
              <a:t>while</a:t>
            </a:r>
            <a:r>
              <a:rPr lang="en-US" sz="1400" b="0" i="0" dirty="0">
                <a:solidFill>
                  <a:srgbClr val="333333"/>
                </a:solidFill>
                <a:effectLst/>
                <a:latin typeface="Roboto Mono" panose="00000009000000000000" pitchFamily="49" charset="0"/>
              </a:rPr>
              <a:t> </a:t>
            </a:r>
            <a:r>
              <a:rPr lang="en-US" sz="1400" b="1" i="0" dirty="0">
                <a:solidFill>
                  <a:srgbClr val="5C85D6"/>
                </a:solidFill>
                <a:effectLst/>
                <a:latin typeface="Roboto Mono" panose="00000009000000000000" pitchFamily="49" charset="0"/>
              </a:rPr>
              <a:t>current</a:t>
            </a:r>
            <a:r>
              <a:rPr lang="en-US" sz="1400" b="0" i="0" dirty="0">
                <a:solidFill>
                  <a:srgbClr val="333333"/>
                </a:solidFill>
                <a:effectLst/>
                <a:latin typeface="Roboto Mono" panose="00000009000000000000" pitchFamily="49" charset="0"/>
              </a:rPr>
              <a:t> != </a:t>
            </a:r>
            <a:r>
              <a:rPr lang="en-US" sz="1400" b="1" i="0" dirty="0">
                <a:solidFill>
                  <a:srgbClr val="BF4040"/>
                </a:solidFill>
                <a:effectLst/>
                <a:latin typeface="Roboto Mono" panose="00000009000000000000" pitchFamily="49" charset="0"/>
              </a:rPr>
              <a:t>start</a:t>
            </a:r>
            <a:r>
              <a:rPr lang="en-US" sz="1400" b="0" i="0" dirty="0">
                <a:solidFill>
                  <a:srgbClr val="333333"/>
                </a:solidFill>
                <a:effectLst/>
                <a:latin typeface="Roboto Mono" panose="00000009000000000000" pitchFamily="49" charset="0"/>
              </a:rPr>
              <a:t>: </a:t>
            </a:r>
          </a:p>
          <a:p>
            <a:pPr algn="l">
              <a:buNone/>
            </a:pPr>
            <a:r>
              <a:rPr lang="en-US" sz="1400" b="0" i="0" dirty="0">
                <a:solidFill>
                  <a:srgbClr val="333333"/>
                </a:solidFill>
                <a:effectLst/>
                <a:latin typeface="Roboto Mono" panose="00000009000000000000" pitchFamily="49" charset="0"/>
              </a:rPr>
              <a:t>   </a:t>
            </a:r>
            <a:r>
              <a:rPr lang="en-US" sz="1400" b="1" i="0" dirty="0" err="1">
                <a:solidFill>
                  <a:srgbClr val="9540BF"/>
                </a:solidFill>
                <a:effectLst/>
                <a:latin typeface="Roboto Mono" panose="00000009000000000000" pitchFamily="49" charset="0"/>
              </a:rPr>
              <a:t>path</a:t>
            </a:r>
            <a:r>
              <a:rPr lang="en-US" sz="1400" b="0" i="0" dirty="0" err="1">
                <a:solidFill>
                  <a:srgbClr val="333333"/>
                </a:solidFill>
                <a:effectLst/>
                <a:latin typeface="Roboto Mono" panose="00000009000000000000" pitchFamily="49" charset="0"/>
              </a:rPr>
              <a:t>.append</a:t>
            </a:r>
            <a:r>
              <a:rPr lang="en-US" sz="1400" b="0" i="0" dirty="0">
                <a:solidFill>
                  <a:srgbClr val="333333"/>
                </a:solidFill>
                <a:effectLst/>
                <a:latin typeface="Roboto Mono" panose="00000009000000000000" pitchFamily="49" charset="0"/>
              </a:rPr>
              <a:t>(</a:t>
            </a:r>
            <a:r>
              <a:rPr lang="en-US" sz="1400" b="1" i="0" dirty="0">
                <a:solidFill>
                  <a:srgbClr val="5C85D6"/>
                </a:solidFill>
                <a:effectLst/>
                <a:latin typeface="Roboto Mono" panose="00000009000000000000" pitchFamily="49" charset="0"/>
              </a:rPr>
              <a:t>current</a:t>
            </a:r>
            <a:r>
              <a:rPr lang="en-US" sz="1400" b="0" i="0" dirty="0">
                <a:solidFill>
                  <a:srgbClr val="333333"/>
                </a:solidFill>
                <a:effectLst/>
                <a:latin typeface="Roboto Mono" panose="00000009000000000000" pitchFamily="49" charset="0"/>
              </a:rPr>
              <a:t>)</a:t>
            </a:r>
          </a:p>
          <a:p>
            <a:pPr algn="l">
              <a:buNone/>
            </a:pPr>
            <a:r>
              <a:rPr lang="en-US" sz="1400" b="0" i="0" dirty="0">
                <a:solidFill>
                  <a:srgbClr val="333333"/>
                </a:solidFill>
                <a:effectLst/>
                <a:latin typeface="Roboto Mono" panose="00000009000000000000" pitchFamily="49" charset="0"/>
              </a:rPr>
              <a:t>   </a:t>
            </a:r>
            <a:r>
              <a:rPr lang="en-US" sz="1400" b="1" i="0" dirty="0">
                <a:solidFill>
                  <a:srgbClr val="5C85D6"/>
                </a:solidFill>
                <a:effectLst/>
                <a:latin typeface="Roboto Mono" panose="00000009000000000000" pitchFamily="49" charset="0"/>
              </a:rPr>
              <a:t>current</a:t>
            </a:r>
            <a:r>
              <a:rPr lang="en-US" sz="1400" b="0" i="0" dirty="0">
                <a:solidFill>
                  <a:srgbClr val="333333"/>
                </a:solidFill>
                <a:effectLst/>
                <a:latin typeface="Roboto Mono" panose="00000009000000000000" pitchFamily="49" charset="0"/>
              </a:rPr>
              <a:t> = </a:t>
            </a:r>
            <a:r>
              <a:rPr lang="en-US" sz="1400" b="1" i="0" dirty="0" err="1">
                <a:solidFill>
                  <a:srgbClr val="8F663D"/>
                </a:solidFill>
                <a:effectLst/>
                <a:latin typeface="Roboto Mono" panose="00000009000000000000" pitchFamily="49" charset="0"/>
              </a:rPr>
              <a:t>came_from</a:t>
            </a:r>
            <a:r>
              <a:rPr lang="en-US" sz="1400" b="0" i="0" dirty="0">
                <a:solidFill>
                  <a:srgbClr val="333333"/>
                </a:solidFill>
                <a:effectLst/>
                <a:latin typeface="Roboto Mono" panose="00000009000000000000" pitchFamily="49" charset="0"/>
              </a:rPr>
              <a:t>[</a:t>
            </a:r>
            <a:r>
              <a:rPr lang="en-US" sz="1400" b="1" i="0" dirty="0">
                <a:solidFill>
                  <a:srgbClr val="5C85D6"/>
                </a:solidFill>
                <a:effectLst/>
                <a:latin typeface="Roboto Mono" panose="00000009000000000000" pitchFamily="49" charset="0"/>
              </a:rPr>
              <a:t>current</a:t>
            </a:r>
            <a:r>
              <a:rPr lang="en-US" sz="1400" b="0" i="0" dirty="0">
                <a:solidFill>
                  <a:srgbClr val="333333"/>
                </a:solidFill>
                <a:effectLst/>
                <a:latin typeface="Roboto Mono" panose="00000009000000000000" pitchFamily="49" charset="0"/>
              </a:rPr>
              <a:t>]</a:t>
            </a:r>
          </a:p>
          <a:p>
            <a:pPr algn="l">
              <a:buNone/>
            </a:pPr>
            <a:r>
              <a:rPr lang="en-US" sz="1400" b="1" i="0" dirty="0" err="1">
                <a:solidFill>
                  <a:srgbClr val="9540BF"/>
                </a:solidFill>
                <a:effectLst/>
                <a:latin typeface="Roboto Mono" panose="00000009000000000000" pitchFamily="49" charset="0"/>
              </a:rPr>
              <a:t>path</a:t>
            </a:r>
            <a:r>
              <a:rPr lang="en-US" sz="1400" b="0" i="0" dirty="0" err="1">
                <a:solidFill>
                  <a:srgbClr val="333333"/>
                </a:solidFill>
                <a:effectLst/>
                <a:latin typeface="Roboto Mono" panose="00000009000000000000" pitchFamily="49" charset="0"/>
              </a:rPr>
              <a:t>.append</a:t>
            </a:r>
            <a:r>
              <a:rPr lang="en-US" sz="1400" b="0" i="0" dirty="0">
                <a:solidFill>
                  <a:srgbClr val="333333"/>
                </a:solidFill>
                <a:effectLst/>
                <a:latin typeface="Roboto Mono" panose="00000009000000000000" pitchFamily="49" charset="0"/>
              </a:rPr>
              <a:t>(</a:t>
            </a:r>
            <a:r>
              <a:rPr lang="en-US" sz="1400" b="1" i="0" dirty="0">
                <a:solidFill>
                  <a:srgbClr val="BF4040"/>
                </a:solidFill>
                <a:effectLst/>
                <a:latin typeface="Roboto Mono" panose="00000009000000000000" pitchFamily="49" charset="0"/>
              </a:rPr>
              <a:t>start</a:t>
            </a:r>
            <a:r>
              <a:rPr lang="en-US" sz="1400" b="0" i="0" dirty="0">
                <a:solidFill>
                  <a:srgbClr val="333333"/>
                </a:solidFill>
                <a:effectLst/>
                <a:latin typeface="Roboto Mono" panose="00000009000000000000" pitchFamily="49" charset="0"/>
              </a:rPr>
              <a:t>) # optional</a:t>
            </a:r>
          </a:p>
          <a:p>
            <a:pPr algn="l">
              <a:buNone/>
            </a:pPr>
            <a:r>
              <a:rPr lang="en-US" sz="1400" b="1" i="0" dirty="0" err="1">
                <a:solidFill>
                  <a:srgbClr val="9540BF"/>
                </a:solidFill>
                <a:effectLst/>
                <a:latin typeface="Roboto Mono" panose="00000009000000000000" pitchFamily="49" charset="0"/>
              </a:rPr>
              <a:t>path</a:t>
            </a:r>
            <a:r>
              <a:rPr lang="en-US" sz="1400" b="0" i="0" dirty="0" err="1">
                <a:solidFill>
                  <a:srgbClr val="333333"/>
                </a:solidFill>
                <a:effectLst/>
                <a:latin typeface="Roboto Mono" panose="00000009000000000000" pitchFamily="49" charset="0"/>
              </a:rPr>
              <a:t>.reverse</a:t>
            </a:r>
            <a:r>
              <a:rPr lang="en-US" sz="1400" b="0" i="0" dirty="0">
                <a:solidFill>
                  <a:srgbClr val="333333"/>
                </a:solidFill>
                <a:effectLst/>
                <a:latin typeface="Roboto Mono" panose="00000009000000000000" pitchFamily="49" charset="0"/>
              </a:rPr>
              <a:t>() # optional</a:t>
            </a:r>
          </a:p>
          <a:p>
            <a:pPr algn="l">
              <a:buNone/>
            </a:pPr>
            <a:endParaRPr lang="en-US" sz="1400" dirty="0">
              <a:solidFill>
                <a:srgbClr val="333333"/>
              </a:solidFill>
              <a:latin typeface="Roboto Mono" panose="00000009000000000000" pitchFamily="49" charset="0"/>
            </a:endParaRPr>
          </a:p>
          <a:p>
            <a:pPr>
              <a:buNone/>
            </a:pPr>
            <a:r>
              <a:rPr lang="en-US" sz="2400" dirty="0"/>
              <a:t>That’s the simplest pathfinding algorithm. It works not only on grids as shown here but on any sort of graph structure</a:t>
            </a:r>
            <a:endParaRPr lang="en-US" sz="1400" b="0" i="0" dirty="0">
              <a:solidFill>
                <a:srgbClr val="333333"/>
              </a:solidFill>
              <a:effectLst/>
              <a:latin typeface="Roboto Mono" panose="00000009000000000000" pitchFamily="49" charset="0"/>
            </a:endParaRPr>
          </a:p>
        </p:txBody>
      </p:sp>
      <p:sp>
        <p:nvSpPr>
          <p:cNvPr id="119" name="Google Shape;119;p29">
            <a:extLst>
              <a:ext uri="{FF2B5EF4-FFF2-40B4-BE49-F238E27FC236}">
                <a16:creationId xmlns:a16="http://schemas.microsoft.com/office/drawing/2014/main" id="{11A38BA3-139E-8EC2-9656-916C7E5B10B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D1D2905-9EC2-5AB9-C118-B32165C0AAE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BFS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4D1FDB7-11E7-9C0A-3F2D-15DD9EEB4058}"/>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CE63B95-ADCA-DC24-FE38-0DD10591F94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26B33B7-9FB5-9777-F31E-90C7C0F42FA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C0E7D80-CA4E-FAB1-9A1A-C3524A3DFB0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12B2F60-7F26-CAAF-81C4-B1F99C5F414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0104DFD-A2DD-DA77-8518-EAB2409489B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170380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A4BE51A-698D-606C-F468-D4569784C46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00DC674-57FF-21E6-B114-151094CC5B3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We’ve found paths from one location to </a:t>
            </a:r>
            <a:r>
              <a:rPr lang="en-US" sz="2400" b="1" dirty="0">
                <a:solidFill>
                  <a:schemeClr val="dk1"/>
                </a:solidFill>
                <a:latin typeface="Atkinson Hyperlegible Next"/>
                <a:ea typeface="Arial"/>
                <a:cs typeface="Arial"/>
                <a:sym typeface="Arial"/>
              </a:rPr>
              <a:t>all other locations</a:t>
            </a:r>
            <a:r>
              <a:rPr lang="en-US" sz="2400" dirty="0">
                <a:solidFill>
                  <a:schemeClr val="dk1"/>
                </a:solidFill>
                <a:latin typeface="Atkinson Hyperlegible Next"/>
                <a:ea typeface="Arial"/>
                <a:cs typeface="Arial"/>
                <a:sym typeface="Arial"/>
              </a:rPr>
              <a:t>. Often, we don’t need all the paths; we only need a path from one location to one other location.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We can </a:t>
            </a:r>
            <a:r>
              <a:rPr lang="en-US" sz="2400" b="1" dirty="0">
                <a:solidFill>
                  <a:schemeClr val="dk1"/>
                </a:solidFill>
                <a:latin typeface="Atkinson Hyperlegible Next"/>
                <a:ea typeface="Arial"/>
                <a:cs typeface="Arial"/>
                <a:sym typeface="Arial"/>
              </a:rPr>
              <a:t>stop</a:t>
            </a:r>
            <a:r>
              <a:rPr lang="en-US" sz="2400" dirty="0">
                <a:solidFill>
                  <a:schemeClr val="dk1"/>
                </a:solidFill>
                <a:latin typeface="Atkinson Hyperlegible Next"/>
                <a:ea typeface="Arial"/>
                <a:cs typeface="Arial"/>
                <a:sym typeface="Arial"/>
              </a:rPr>
              <a:t> expanding the frontier as soon as we’ve </a:t>
            </a:r>
            <a:r>
              <a:rPr lang="en-US" sz="2400" b="1" dirty="0">
                <a:solidFill>
                  <a:schemeClr val="dk1"/>
                </a:solidFill>
                <a:latin typeface="Atkinson Hyperlegible Next"/>
                <a:ea typeface="Arial"/>
                <a:cs typeface="Arial"/>
                <a:sym typeface="Arial"/>
              </a:rPr>
              <a:t>found our goal!</a:t>
            </a:r>
          </a:p>
          <a:p>
            <a:pPr marL="0" indent="0">
              <a:lnSpc>
                <a:spcPct val="100000"/>
              </a:lnSpc>
              <a:spcBef>
                <a:spcPts val="0"/>
              </a:spcBef>
              <a:buSzPts val="3000"/>
              <a:buNone/>
            </a:pPr>
            <a:endParaRPr lang="en-US" sz="2400" b="1"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Early exit does not necessarily need to be based on when you reach your goal what are other early termination criteria's?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Distance limit</a:t>
            </a:r>
          </a:p>
          <a:p>
            <a:pPr marL="342900">
              <a:lnSpc>
                <a:spcPct val="100000"/>
              </a:lnSpc>
              <a:spcBef>
                <a:spcPts val="0"/>
              </a:spcBef>
              <a:buSzPts val="3000"/>
            </a:pPr>
            <a:r>
              <a:rPr lang="en-US" sz="2400" dirty="0">
                <a:latin typeface="Atkinson Hyperlegible Next"/>
                <a:ea typeface="Arial"/>
                <a:cs typeface="Arial"/>
                <a:sym typeface="Arial"/>
              </a:rPr>
              <a:t>Number of goals reached</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Area limit (number of tiles reached)</a:t>
            </a:r>
          </a:p>
        </p:txBody>
      </p:sp>
      <p:sp>
        <p:nvSpPr>
          <p:cNvPr id="119" name="Google Shape;119;p29">
            <a:extLst>
              <a:ext uri="{FF2B5EF4-FFF2-40B4-BE49-F238E27FC236}">
                <a16:creationId xmlns:a16="http://schemas.microsoft.com/office/drawing/2014/main" id="{8E2EC793-B851-0A2D-F589-B4FB25D7E15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5C8CC90-8CCF-F56F-D8B7-2B71E4FD558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Early Exit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B17DE66-E79B-B215-7C4E-CD482C96191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57E305F-8DFB-F094-0F7D-285BE2C4DFA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9E5696C-6EB7-C1EB-FEA2-EFC5E15D073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C6B0900-6ACC-65A2-2625-350A82021BA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8461C4E-4F98-44DD-0CA6-AE15186C0C4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58FEA93-3514-F6C1-59EB-58EAE8EB149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01765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E343024-488C-C1E9-3CF1-CFD0354BC86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287E678A-ED56-DCEB-4661-FE58E1118166}"/>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So far, we’ve made steps have the same “</a:t>
                </a:r>
                <a:r>
                  <a:rPr lang="en-US" sz="2400" b="1" dirty="0">
                    <a:latin typeface="Atkinson Hyperlegible Next"/>
                    <a:ea typeface="Arial"/>
                    <a:cs typeface="Arial"/>
                    <a:sym typeface="Arial"/>
                  </a:rPr>
                  <a:t>cost</a:t>
                </a:r>
                <a:r>
                  <a:rPr lang="en-US" sz="2400" dirty="0">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In some pathfinding scenarios there are different costs for different types of movement.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One example is diagonal movement on a grid that costs more than axial movement (1 vs </a:t>
                </a:r>
                <a14:m>
                  <m:oMath xmlns:m="http://schemas.openxmlformats.org/officeDocument/2006/math">
                    <m:rad>
                      <m:radPr>
                        <m:degHide m:val="on"/>
                        <m:ctrlPr>
                          <a:rPr lang="en-US" sz="2400" i="1" smtClean="0">
                            <a:latin typeface="Cambria Math" panose="02040503050406030204" pitchFamily="18" charset="0"/>
                            <a:cs typeface="Arial"/>
                            <a:sym typeface="Arial"/>
                          </a:rPr>
                        </m:ctrlPr>
                      </m:radPr>
                      <m:deg/>
                      <m:e>
                        <m:r>
                          <a:rPr lang="en-US" sz="2400" b="0" i="1" smtClean="0">
                            <a:latin typeface="Cambria Math" panose="02040503050406030204" pitchFamily="18" charset="0"/>
                            <a:cs typeface="Arial"/>
                            <a:sym typeface="Arial"/>
                          </a:rPr>
                          <m:t>2</m:t>
                        </m:r>
                      </m:e>
                    </m:rad>
                  </m:oMath>
                </a14:m>
                <a:r>
                  <a:rPr lang="en-US" sz="2400" dirty="0">
                    <a:latin typeface="Atkinson Hyperlegible Next"/>
                    <a:ea typeface="Arial"/>
                    <a:cs typeface="Arial"/>
                    <a:sym typeface="Arial"/>
                  </a:rPr>
                  <a:t> ).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We’d like the pathfinder to take these costs into account. </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287E678A-ED56-DCEB-4661-FE58E1118166}"/>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7BCAA855-5B98-287A-C22D-93033C22A3E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2FDFA31-5C6E-9EB8-5F68-CD3D1041A7C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DE938D9-8ECE-F96A-C447-6F03479ACEA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E2B7076-B642-7E10-C9A8-BBCA97597B7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9F3F787-17D2-5DAC-53D7-38D85E6756B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342B98C-CE33-41D0-3CC4-6923B555ABB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4489C9C-F404-1CB4-1CA9-2E5713669E9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03A0848-2524-E0B6-41D5-585CFF6BD7B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2205024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DEEF664-F7E4-E43F-5023-DE86E907B09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6F6E35A2-E54D-98D6-C2D4-B74A384B107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For this we want Dijkstra’s Algorithm (or Uniform Cost Search).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How does it differ from Breadth First Search?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We need to track movement costs, so let’s add a new variable, </a:t>
            </a:r>
            <a:r>
              <a:rPr lang="en-US" sz="2400" b="1" dirty="0" err="1">
                <a:solidFill>
                  <a:schemeClr val="dk1"/>
                </a:solidFill>
                <a:latin typeface="Atkinson Hyperlegible Next"/>
                <a:ea typeface="Arial"/>
                <a:cs typeface="Arial"/>
                <a:sym typeface="Arial"/>
              </a:rPr>
              <a:t>cost_so_far</a:t>
            </a:r>
            <a:r>
              <a:rPr lang="en-US" sz="2400" dirty="0">
                <a:solidFill>
                  <a:schemeClr val="dk1"/>
                </a:solidFill>
                <a:latin typeface="Atkinson Hyperlegible Next"/>
                <a:ea typeface="Arial"/>
                <a:cs typeface="Arial"/>
                <a:sym typeface="Arial"/>
              </a:rPr>
              <a:t>. This stores the total movement cost from the start location, also called a “</a:t>
            </a:r>
            <a:r>
              <a:rPr lang="en-US" sz="2400" b="1" dirty="0">
                <a:solidFill>
                  <a:schemeClr val="dk1"/>
                </a:solidFill>
                <a:latin typeface="Atkinson Hyperlegible Next"/>
                <a:ea typeface="Arial"/>
                <a:cs typeface="Arial"/>
                <a:sym typeface="Arial"/>
              </a:rPr>
              <a:t>distance field</a:t>
            </a:r>
            <a:r>
              <a:rPr lang="en-US" sz="2400" dirty="0">
                <a:solidFill>
                  <a:schemeClr val="dk1"/>
                </a:solidFill>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We want to take the movement costs into account when deciding how to evaluate locations; let’s turn our queue into a </a:t>
            </a:r>
            <a:r>
              <a:rPr lang="en-US" sz="2400" b="1" dirty="0">
                <a:solidFill>
                  <a:schemeClr val="dk1"/>
                </a:solidFill>
                <a:latin typeface="Atkinson Hyperlegible Next"/>
                <a:ea typeface="Arial"/>
                <a:cs typeface="Arial"/>
                <a:sym typeface="Arial"/>
              </a:rPr>
              <a:t>priority queue</a:t>
            </a:r>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A </a:t>
            </a:r>
            <a:r>
              <a:rPr lang="en-US" sz="2400" b="1" dirty="0">
                <a:solidFill>
                  <a:schemeClr val="dk1"/>
                </a:solidFill>
                <a:latin typeface="Atkinson Hyperlegible Next"/>
                <a:ea typeface="Arial"/>
                <a:cs typeface="Arial"/>
                <a:sym typeface="Arial"/>
              </a:rPr>
              <a:t>priority queue </a:t>
            </a:r>
            <a:r>
              <a:rPr lang="en-US" sz="2400" dirty="0">
                <a:solidFill>
                  <a:schemeClr val="dk1"/>
                </a:solidFill>
                <a:latin typeface="Atkinson Hyperlegible Next"/>
                <a:ea typeface="Arial"/>
                <a:cs typeface="Arial"/>
                <a:sym typeface="Arial"/>
              </a:rPr>
              <a:t>(min priority queue), is like a </a:t>
            </a:r>
            <a:r>
              <a:rPr lang="en-US" sz="2400" b="1" dirty="0">
                <a:solidFill>
                  <a:schemeClr val="dk1"/>
                </a:solidFill>
                <a:latin typeface="Atkinson Hyperlegible Next"/>
                <a:ea typeface="Arial"/>
                <a:cs typeface="Arial"/>
                <a:sym typeface="Arial"/>
              </a:rPr>
              <a:t>queue</a:t>
            </a:r>
            <a:r>
              <a:rPr lang="en-US" sz="2400" dirty="0">
                <a:solidFill>
                  <a:schemeClr val="dk1"/>
                </a:solidFill>
                <a:latin typeface="Atkinson Hyperlegible Next"/>
                <a:ea typeface="Arial"/>
                <a:cs typeface="Arial"/>
                <a:sym typeface="Arial"/>
              </a:rPr>
              <a:t> but instead of first-in-first-out, you get lowest-cost-out! This changes how the </a:t>
            </a:r>
            <a:r>
              <a:rPr lang="en-US" sz="2400" b="1" dirty="0">
                <a:solidFill>
                  <a:schemeClr val="dk1"/>
                </a:solidFill>
                <a:latin typeface="Atkinson Hyperlegible Next"/>
                <a:ea typeface="Arial"/>
                <a:cs typeface="Arial"/>
                <a:sym typeface="Arial"/>
              </a:rPr>
              <a:t>frontier </a:t>
            </a:r>
            <a:r>
              <a:rPr lang="en-US" sz="2400" dirty="0">
                <a:solidFill>
                  <a:schemeClr val="dk1"/>
                </a:solidFill>
                <a:latin typeface="Atkinson Hyperlegible Next"/>
                <a:ea typeface="Arial"/>
                <a:cs typeface="Arial"/>
                <a:sym typeface="Arial"/>
              </a:rPr>
              <a:t>expands!</a:t>
            </a:r>
          </a:p>
        </p:txBody>
      </p:sp>
      <p:sp>
        <p:nvSpPr>
          <p:cNvPr id="119" name="Google Shape;119;p29">
            <a:extLst>
              <a:ext uri="{FF2B5EF4-FFF2-40B4-BE49-F238E27FC236}">
                <a16:creationId xmlns:a16="http://schemas.microsoft.com/office/drawing/2014/main" id="{85687086-9851-FFEB-60CC-A14942EEA47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4A9A750-8646-D3D8-53B9-293F28203F9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Dijkstra’s Algorithm</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68CC5110-F904-6D24-6F0A-D99A50A01F6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8334053-8DA7-57CC-64E3-8296645E97B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69271BF-10A1-44F4-43C0-9033DD27E56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16B9B99-65D4-F986-FD05-78FBD28DCB3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56BE3A8-D05D-0C16-8C1B-8E47DEB70AF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643FDED-B024-FCBC-D725-3207C0BBF03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94954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F7CBDCE-BCE0-7C16-19C2-4F001A6B8E5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11E6E5F-D7F3-921F-3EB9-27091657416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7D6BD20-113F-C317-65ED-5607D2C8B15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BD9701D-4759-AAFA-5E7C-42A12F20B1C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C0875EC-019E-6C70-D3D9-A58B78BA46D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043A4DB-429D-7832-5F64-514274AEBB3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99A192A-9DDE-5F86-B9A5-7F09CD5B5EB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A072A4D-0444-21A0-1BA0-FCEADFA9ABA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E18F355-19A5-2E42-EB69-4A58C958A56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050" name="Picture 2">
            <a:extLst>
              <a:ext uri="{FF2B5EF4-FFF2-40B4-BE49-F238E27FC236}">
                <a16:creationId xmlns:a16="http://schemas.microsoft.com/office/drawing/2014/main" id="{4DF359CC-053B-3BFF-DD14-99CB49BB0EE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499" y="1413706"/>
            <a:ext cx="5025303" cy="502530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4FC67481-99FD-B36B-82FB-F3B7C0FCEB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50301" y="1411757"/>
            <a:ext cx="5029200" cy="50292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2F625E9-63A2-D947-3B3A-1E54108258D9}"/>
              </a:ext>
            </a:extLst>
          </p:cNvPr>
          <p:cNvSpPr txBox="1"/>
          <p:nvPr/>
        </p:nvSpPr>
        <p:spPr>
          <a:xfrm>
            <a:off x="1616957" y="983446"/>
            <a:ext cx="3216386" cy="461665"/>
          </a:xfrm>
          <a:prstGeom prst="rect">
            <a:avLst/>
          </a:prstGeom>
          <a:noFill/>
        </p:spPr>
        <p:txBody>
          <a:bodyPr wrap="square" rtlCol="0">
            <a:spAutoFit/>
          </a:bodyPr>
          <a:lstStyle/>
          <a:p>
            <a:pPr algn="ctr"/>
            <a:r>
              <a:rPr lang="en-US" sz="2400" dirty="0"/>
              <a:t>Dijkstra’s Algorithm</a:t>
            </a:r>
          </a:p>
        </p:txBody>
      </p:sp>
      <p:sp>
        <p:nvSpPr>
          <p:cNvPr id="7" name="TextBox 6">
            <a:extLst>
              <a:ext uri="{FF2B5EF4-FFF2-40B4-BE49-F238E27FC236}">
                <a16:creationId xmlns:a16="http://schemas.microsoft.com/office/drawing/2014/main" id="{10341524-86EE-FD4F-EF62-215126F617AF}"/>
              </a:ext>
            </a:extLst>
          </p:cNvPr>
          <p:cNvSpPr txBox="1"/>
          <p:nvPr/>
        </p:nvSpPr>
        <p:spPr>
          <a:xfrm>
            <a:off x="7621447" y="978378"/>
            <a:ext cx="3216386" cy="461665"/>
          </a:xfrm>
          <a:prstGeom prst="rect">
            <a:avLst/>
          </a:prstGeom>
          <a:noFill/>
        </p:spPr>
        <p:txBody>
          <a:bodyPr wrap="square" rtlCol="0">
            <a:spAutoFit/>
          </a:bodyPr>
          <a:lstStyle/>
          <a:p>
            <a:pPr algn="ctr"/>
            <a:r>
              <a:rPr lang="en-US" sz="2400" dirty="0"/>
              <a:t>Breadth First Search</a:t>
            </a:r>
          </a:p>
        </p:txBody>
      </p:sp>
    </p:spTree>
    <p:extLst>
      <p:ext uri="{BB962C8B-B14F-4D97-AF65-F5344CB8AC3E}">
        <p14:creationId xmlns:p14="http://schemas.microsoft.com/office/powerpoint/2010/main" val="60099908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BF9107A-32B1-1DF8-8B27-E1FB0E65FA61}"/>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BCF3F44-EE47-14E9-7988-E70E72534D7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Less obviously, we may end up </a:t>
            </a:r>
            <a:r>
              <a:rPr lang="en-US" sz="2400" b="1" dirty="0">
                <a:solidFill>
                  <a:schemeClr val="dk1"/>
                </a:solidFill>
                <a:latin typeface="Atkinson Hyperlegible Next"/>
                <a:ea typeface="Arial"/>
                <a:cs typeface="Arial"/>
                <a:sym typeface="Arial"/>
              </a:rPr>
              <a:t>visiting a location multiple times</a:t>
            </a:r>
            <a:r>
              <a:rPr lang="en-US" sz="2400" dirty="0">
                <a:solidFill>
                  <a:schemeClr val="dk1"/>
                </a:solidFill>
                <a:latin typeface="Atkinson Hyperlegible Next"/>
                <a:ea typeface="Arial"/>
                <a:cs typeface="Arial"/>
                <a:sym typeface="Arial"/>
              </a:rPr>
              <a:t>, with different costs, so we need to alter the logic a little bit.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This is because you can have 2 paths to reach one node with the same unit distance but different costs.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Instead of adding a location to the frontier if the location has never been reached, we’ll add it if the new path to the location is </a:t>
            </a:r>
            <a:r>
              <a:rPr lang="en-US" sz="2400" b="1" dirty="0">
                <a:solidFill>
                  <a:schemeClr val="dk1"/>
                </a:solidFill>
                <a:latin typeface="Atkinson Hyperlegible Next"/>
                <a:ea typeface="Arial"/>
                <a:cs typeface="Arial"/>
                <a:sym typeface="Arial"/>
              </a:rPr>
              <a:t>better than the best previous path</a:t>
            </a:r>
            <a:r>
              <a:rPr lang="en-US" sz="2400" dirty="0">
                <a:solidFill>
                  <a:schemeClr val="dk1"/>
                </a:solidFill>
                <a:latin typeface="Atkinson Hyperlegible Next"/>
                <a:ea typeface="Arial"/>
                <a:cs typeface="Arial"/>
                <a:sym typeface="Arial"/>
              </a:rPr>
              <a:t>.</a:t>
            </a:r>
          </a:p>
        </p:txBody>
      </p:sp>
      <p:sp>
        <p:nvSpPr>
          <p:cNvPr id="119" name="Google Shape;119;p29">
            <a:extLst>
              <a:ext uri="{FF2B5EF4-FFF2-40B4-BE49-F238E27FC236}">
                <a16:creationId xmlns:a16="http://schemas.microsoft.com/office/drawing/2014/main" id="{D9CFAAFE-588B-1B65-969E-A7939DFA763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1B34BEF-DA55-3239-0DA6-25A9ED6BC21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CBF68A9-7D10-DDA4-AFDE-24E34998397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20F4083-E778-4E30-9CE8-F4F6CF2CFA9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4518F38-FD4D-4EA9-DAF1-59BD81B1F9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D05ED63-91C1-4BDE-56C2-EABF74EB083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9139DDA-FDAA-CD41-5114-6DF5AD89996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7097F54-015E-C8C2-BD16-EC83EB42B83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1AB14D8B-94E4-C45C-CA35-ED195E5479D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93896" y="2885161"/>
            <a:ext cx="2943225" cy="2590800"/>
          </a:xfrm>
          <a:prstGeom prst="rect">
            <a:avLst/>
          </a:prstGeom>
        </p:spPr>
      </p:pic>
    </p:spTree>
    <p:extLst>
      <p:ext uri="{BB962C8B-B14F-4D97-AF65-F5344CB8AC3E}">
        <p14:creationId xmlns:p14="http://schemas.microsoft.com/office/powerpoint/2010/main" val="1763800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6CE97BD-14A0-17E8-19DA-F203D0802E6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F3C5A0B-9F90-08D8-61D8-6D8F9BA1CC48}"/>
              </a:ext>
            </a:extLst>
          </p:cNvPr>
          <p:cNvSpPr txBox="1">
            <a:spLocks noGrp="1"/>
          </p:cNvSpPr>
          <p:nvPr>
            <p:ph type="body" idx="1"/>
          </p:nvPr>
        </p:nvSpPr>
        <p:spPr>
          <a:xfrm>
            <a:off x="376809" y="983446"/>
            <a:ext cx="11586591" cy="5502523"/>
          </a:xfrm>
          <a:prstGeom prst="rect">
            <a:avLst/>
          </a:prstGeom>
          <a:noFill/>
          <a:ln>
            <a:noFill/>
          </a:ln>
        </p:spPr>
        <p:txBody>
          <a:bodyPr spcFirstLastPara="1" wrap="square" lIns="91425" tIns="45700" rIns="91425" bIns="45700" anchor="t" anchorCtr="0">
            <a:noAutofit/>
          </a:bodyPr>
          <a:lstStyle/>
          <a:p>
            <a:pPr algn="l">
              <a:buNone/>
            </a:pPr>
            <a:r>
              <a:rPr lang="en-US" sz="1050" b="1" i="0" dirty="0">
                <a:solidFill>
                  <a:srgbClr val="406ABF"/>
                </a:solidFill>
                <a:effectLst/>
                <a:latin typeface="Roboto Mono" panose="00000009000000000000" pitchFamily="49" charset="0"/>
              </a:rPr>
              <a:t>frontier</a:t>
            </a:r>
            <a:r>
              <a:rPr lang="en-US" sz="1050" b="0" i="0" dirty="0">
                <a:solidFill>
                  <a:srgbClr val="333333"/>
                </a:solidFill>
                <a:effectLst/>
                <a:latin typeface="Roboto Mono" panose="00000009000000000000" pitchFamily="49" charset="0"/>
              </a:rPr>
              <a:t> = </a:t>
            </a:r>
            <a:r>
              <a:rPr lang="en-US" sz="1050" b="0" i="1" dirty="0" err="1">
                <a:solidFill>
                  <a:srgbClr val="333333"/>
                </a:solidFill>
                <a:effectLst/>
                <a:latin typeface="Roboto Mono" panose="00000009000000000000" pitchFamily="49" charset="0"/>
              </a:rPr>
              <a:t>PriorityQueue</a:t>
            </a:r>
            <a:r>
              <a:rPr lang="en-US" sz="1050" b="0" i="1" dirty="0">
                <a:solidFill>
                  <a:srgbClr val="333333"/>
                </a:solidFill>
                <a:effectLst/>
                <a:latin typeface="Roboto Mono" panose="00000009000000000000" pitchFamily="49" charset="0"/>
              </a:rPr>
              <a:t>()</a:t>
            </a:r>
            <a:endParaRPr lang="en-US" sz="1050" b="0" i="0" dirty="0">
              <a:solidFill>
                <a:srgbClr val="333333"/>
              </a:solidFill>
              <a:effectLst/>
              <a:latin typeface="Roboto Mono" panose="00000009000000000000" pitchFamily="49" charset="0"/>
            </a:endParaRPr>
          </a:p>
          <a:p>
            <a:pPr algn="l">
              <a:buNone/>
            </a:pPr>
            <a:r>
              <a:rPr lang="en-US" sz="1050" b="1" i="0" dirty="0" err="1">
                <a:solidFill>
                  <a:srgbClr val="406ABF"/>
                </a:solidFill>
                <a:effectLst/>
                <a:latin typeface="Roboto Mono" panose="00000009000000000000" pitchFamily="49" charset="0"/>
              </a:rPr>
              <a:t>frontier</a:t>
            </a:r>
            <a:r>
              <a:rPr lang="en-US" sz="1050" b="0" i="0" dirty="0" err="1">
                <a:solidFill>
                  <a:srgbClr val="333333"/>
                </a:solidFill>
                <a:effectLst/>
                <a:latin typeface="Roboto Mono" panose="00000009000000000000" pitchFamily="49" charset="0"/>
              </a:rPr>
              <a:t>.put</a:t>
            </a:r>
            <a:r>
              <a:rPr lang="en-US" sz="1050" b="0" i="0" dirty="0">
                <a:solidFill>
                  <a:srgbClr val="333333"/>
                </a:solidFill>
                <a:effectLst/>
                <a:latin typeface="Roboto Mono" panose="00000009000000000000" pitchFamily="49" charset="0"/>
              </a:rPr>
              <a:t>(</a:t>
            </a:r>
            <a:r>
              <a:rPr lang="en-US" sz="1050" b="1" i="0" dirty="0">
                <a:solidFill>
                  <a:srgbClr val="BF4040"/>
                </a:solidFill>
                <a:effectLst/>
                <a:latin typeface="Roboto Mono" panose="00000009000000000000" pitchFamily="49" charset="0"/>
              </a:rPr>
              <a:t>start</a:t>
            </a:r>
            <a:r>
              <a:rPr lang="en-US" sz="1050" b="0" i="1" dirty="0">
                <a:solidFill>
                  <a:srgbClr val="333333"/>
                </a:solidFill>
                <a:effectLst/>
                <a:latin typeface="Roboto Mono" panose="00000009000000000000" pitchFamily="49" charset="0"/>
              </a:rPr>
              <a:t>, 0</a:t>
            </a:r>
            <a:r>
              <a:rPr lang="en-US" sz="1050" b="0" i="0" dirty="0">
                <a:solidFill>
                  <a:srgbClr val="333333"/>
                </a:solidFill>
                <a:effectLst/>
                <a:latin typeface="Roboto Mono" panose="00000009000000000000" pitchFamily="49" charset="0"/>
              </a:rPr>
              <a:t>)</a:t>
            </a:r>
          </a:p>
          <a:p>
            <a:pPr algn="l">
              <a:buNone/>
            </a:pPr>
            <a:r>
              <a:rPr lang="en-US" sz="1050" b="1" i="0" dirty="0" err="1">
                <a:solidFill>
                  <a:srgbClr val="8F663D"/>
                </a:solidFill>
                <a:effectLst/>
                <a:latin typeface="Roboto Mono" panose="00000009000000000000" pitchFamily="49" charset="0"/>
              </a:rPr>
              <a:t>came_from</a:t>
            </a:r>
            <a:r>
              <a:rPr lang="en-US" sz="1050" b="0" i="0" dirty="0">
                <a:solidFill>
                  <a:srgbClr val="333333"/>
                </a:solidFill>
                <a:effectLst/>
                <a:latin typeface="Roboto Mono" panose="00000009000000000000" pitchFamily="49" charset="0"/>
              </a:rPr>
              <a:t> = </a:t>
            </a:r>
            <a:r>
              <a:rPr lang="en-US" sz="1050" b="0" i="0" dirty="0" err="1">
                <a:solidFill>
                  <a:srgbClr val="333333"/>
                </a:solidFill>
                <a:effectLst/>
                <a:latin typeface="Roboto Mono" panose="00000009000000000000" pitchFamily="49" charset="0"/>
              </a:rPr>
              <a:t>dict</a:t>
            </a:r>
            <a:r>
              <a:rPr lang="en-US" sz="1050" b="0" i="0" dirty="0">
                <a:solidFill>
                  <a:srgbClr val="333333"/>
                </a:solidFill>
                <a:effectLst/>
                <a:latin typeface="Roboto Mono" panose="00000009000000000000" pitchFamily="49" charset="0"/>
              </a:rPr>
              <a:t>()</a:t>
            </a:r>
          </a:p>
          <a:p>
            <a:pPr algn="l">
              <a:buNone/>
            </a:pP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 = </a:t>
            </a:r>
            <a:r>
              <a:rPr lang="en-US" sz="1050" b="0" i="0" dirty="0" err="1">
                <a:solidFill>
                  <a:srgbClr val="333333"/>
                </a:solidFill>
                <a:effectLst/>
                <a:latin typeface="Roboto Mono" panose="00000009000000000000" pitchFamily="49" charset="0"/>
              </a:rPr>
              <a:t>dict</a:t>
            </a:r>
            <a:r>
              <a:rPr lang="en-US" sz="1050" b="0" i="0" dirty="0">
                <a:solidFill>
                  <a:srgbClr val="333333"/>
                </a:solidFill>
                <a:effectLst/>
                <a:latin typeface="Roboto Mono" panose="00000009000000000000" pitchFamily="49" charset="0"/>
              </a:rPr>
              <a:t>()</a:t>
            </a:r>
          </a:p>
          <a:p>
            <a:pPr algn="l">
              <a:buNone/>
            </a:pPr>
            <a:r>
              <a:rPr lang="en-US" sz="1050" b="1" i="0" dirty="0" err="1">
                <a:solidFill>
                  <a:srgbClr val="8F663D"/>
                </a:solidFill>
                <a:effectLst/>
                <a:latin typeface="Roboto Mono" panose="00000009000000000000" pitchFamily="49" charset="0"/>
              </a:rPr>
              <a:t>came_from</a:t>
            </a:r>
            <a:r>
              <a:rPr lang="en-US" sz="1050" b="0" i="0" dirty="0">
                <a:solidFill>
                  <a:srgbClr val="333333"/>
                </a:solidFill>
                <a:effectLst/>
                <a:latin typeface="Roboto Mono" panose="00000009000000000000" pitchFamily="49" charset="0"/>
              </a:rPr>
              <a:t>[</a:t>
            </a:r>
            <a:r>
              <a:rPr lang="en-US" sz="1050" b="1" i="0" dirty="0">
                <a:solidFill>
                  <a:srgbClr val="BF4040"/>
                </a:solidFill>
                <a:effectLst/>
                <a:latin typeface="Roboto Mono" panose="00000009000000000000" pitchFamily="49" charset="0"/>
              </a:rPr>
              <a:t>start</a:t>
            </a:r>
            <a:r>
              <a:rPr lang="en-US" sz="1050" b="0" i="0" dirty="0">
                <a:solidFill>
                  <a:srgbClr val="333333"/>
                </a:solidFill>
                <a:effectLst/>
                <a:latin typeface="Roboto Mono" panose="00000009000000000000" pitchFamily="49" charset="0"/>
              </a:rPr>
              <a:t>] = None</a:t>
            </a:r>
          </a:p>
          <a:p>
            <a:pPr algn="l">
              <a:buNone/>
            </a:pP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a:t>
            </a:r>
            <a:r>
              <a:rPr lang="en-US" sz="1050" b="1" i="0" dirty="0">
                <a:solidFill>
                  <a:srgbClr val="BF4040"/>
                </a:solidFill>
                <a:effectLst/>
                <a:latin typeface="Roboto Mono" panose="00000009000000000000" pitchFamily="49" charset="0"/>
              </a:rPr>
              <a:t>start</a:t>
            </a:r>
            <a:r>
              <a:rPr lang="en-US" sz="1050" b="0" i="0" dirty="0">
                <a:solidFill>
                  <a:srgbClr val="333333"/>
                </a:solidFill>
                <a:effectLst/>
                <a:latin typeface="Roboto Mono" panose="00000009000000000000" pitchFamily="49" charset="0"/>
              </a:rPr>
              <a:t>] = 0</a:t>
            </a:r>
          </a:p>
          <a:p>
            <a:pPr algn="l">
              <a:buNone/>
            </a:pPr>
            <a:endParaRPr lang="en-US" sz="1050" b="0" i="0" dirty="0">
              <a:solidFill>
                <a:srgbClr val="333333"/>
              </a:solidFill>
              <a:effectLst/>
              <a:latin typeface="Roboto Mono" panose="00000009000000000000" pitchFamily="49" charset="0"/>
            </a:endParaRPr>
          </a:p>
          <a:p>
            <a:pPr algn="l">
              <a:buNone/>
            </a:pPr>
            <a:r>
              <a:rPr lang="en-US" sz="1050" b="1" i="0" dirty="0">
                <a:solidFill>
                  <a:srgbClr val="333333"/>
                </a:solidFill>
                <a:effectLst/>
                <a:latin typeface="Roboto Mono" panose="00000009000000000000" pitchFamily="49" charset="0"/>
              </a:rPr>
              <a:t>while</a:t>
            </a:r>
            <a:r>
              <a:rPr lang="en-US" sz="1050" b="0" i="0" dirty="0">
                <a:solidFill>
                  <a:srgbClr val="333333"/>
                </a:solidFill>
                <a:effectLst/>
                <a:latin typeface="Roboto Mono" panose="00000009000000000000" pitchFamily="49" charset="0"/>
              </a:rPr>
              <a:t> not </a:t>
            </a:r>
            <a:r>
              <a:rPr lang="en-US" sz="1050" b="1" i="0" dirty="0" err="1">
                <a:solidFill>
                  <a:srgbClr val="406ABF"/>
                </a:solidFill>
                <a:effectLst/>
                <a:latin typeface="Roboto Mono" panose="00000009000000000000" pitchFamily="49" charset="0"/>
              </a:rPr>
              <a:t>frontier</a:t>
            </a:r>
            <a:r>
              <a:rPr lang="en-US" sz="1050" b="0" i="0" dirty="0" err="1">
                <a:solidFill>
                  <a:srgbClr val="333333"/>
                </a:solidFill>
                <a:effectLst/>
                <a:latin typeface="Roboto Mono" panose="00000009000000000000" pitchFamily="49" charset="0"/>
              </a:rPr>
              <a:t>.empty</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0" dirty="0">
                <a:solidFill>
                  <a:srgbClr val="5C85D6"/>
                </a:solidFill>
                <a:effectLst/>
                <a:latin typeface="Roboto Mono" panose="00000009000000000000" pitchFamily="49" charset="0"/>
              </a:rPr>
              <a:t>current</a:t>
            </a:r>
            <a:r>
              <a:rPr lang="en-US" sz="1050" b="0" i="0" dirty="0">
                <a:solidFill>
                  <a:srgbClr val="333333"/>
                </a:solidFill>
                <a:effectLst/>
                <a:latin typeface="Roboto Mono" panose="00000009000000000000" pitchFamily="49" charset="0"/>
              </a:rPr>
              <a:t> = </a:t>
            </a:r>
            <a:r>
              <a:rPr lang="en-US" sz="1050" b="1" i="0" dirty="0" err="1">
                <a:solidFill>
                  <a:srgbClr val="406ABF"/>
                </a:solidFill>
                <a:effectLst/>
                <a:latin typeface="Roboto Mono" panose="00000009000000000000" pitchFamily="49" charset="0"/>
              </a:rPr>
              <a:t>frontier</a:t>
            </a:r>
            <a:r>
              <a:rPr lang="en-US" sz="1050" b="0" i="0" dirty="0" err="1">
                <a:solidFill>
                  <a:srgbClr val="333333"/>
                </a:solidFill>
                <a:effectLst/>
                <a:latin typeface="Roboto Mono" panose="00000009000000000000" pitchFamily="49" charset="0"/>
              </a:rPr>
              <a:t>.get</a:t>
            </a:r>
            <a:r>
              <a:rPr lang="en-US" sz="1050" b="0" i="0" dirty="0">
                <a:solidFill>
                  <a:srgbClr val="333333"/>
                </a:solidFill>
                <a:effectLst/>
                <a:latin typeface="Roboto Mono" panose="00000009000000000000" pitchFamily="49" charset="0"/>
              </a:rPr>
              <a:t>()</a:t>
            </a:r>
          </a:p>
          <a:p>
            <a:pPr algn="l">
              <a:buNone/>
            </a:pP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r>
              <a:rPr lang="en-US" sz="1050" b="1" i="0" dirty="0">
                <a:solidFill>
                  <a:srgbClr val="333333"/>
                </a:solidFill>
                <a:effectLst/>
                <a:latin typeface="Roboto Mono" panose="00000009000000000000" pitchFamily="49" charset="0"/>
              </a:rPr>
              <a:t>if</a:t>
            </a:r>
            <a:r>
              <a:rPr lang="en-US" sz="1050" b="0" i="0" dirty="0">
                <a:solidFill>
                  <a:srgbClr val="333333"/>
                </a:solidFill>
                <a:effectLst/>
                <a:latin typeface="Roboto Mono" panose="00000009000000000000" pitchFamily="49" charset="0"/>
              </a:rPr>
              <a:t> </a:t>
            </a:r>
            <a:r>
              <a:rPr lang="en-US" sz="1050" b="1" i="0" dirty="0">
                <a:solidFill>
                  <a:srgbClr val="5C85D6"/>
                </a:solidFill>
                <a:effectLst/>
                <a:latin typeface="Roboto Mono" panose="00000009000000000000" pitchFamily="49" charset="0"/>
              </a:rPr>
              <a:t>current</a:t>
            </a:r>
            <a:r>
              <a:rPr lang="en-US" sz="1050" b="0" i="0" dirty="0">
                <a:solidFill>
                  <a:srgbClr val="333333"/>
                </a:solidFill>
                <a:effectLst/>
                <a:latin typeface="Roboto Mono" panose="00000009000000000000" pitchFamily="49" charset="0"/>
              </a:rPr>
              <a:t> == </a:t>
            </a:r>
            <a:r>
              <a:rPr lang="en-US" sz="1050" b="1" i="0" dirty="0">
                <a:solidFill>
                  <a:srgbClr val="BF40AA"/>
                </a:solidFill>
                <a:effectLst/>
                <a:latin typeface="Roboto Mono" panose="00000009000000000000" pitchFamily="49" charset="0"/>
              </a:rPr>
              <a:t>goal</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0" dirty="0">
                <a:solidFill>
                  <a:srgbClr val="333333"/>
                </a:solidFill>
                <a:effectLst/>
                <a:latin typeface="Roboto Mono" panose="00000009000000000000" pitchFamily="49" charset="0"/>
              </a:rPr>
              <a:t>break</a:t>
            </a: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p>
          <a:p>
            <a:pPr algn="l">
              <a:buNone/>
            </a:pPr>
            <a:r>
              <a:rPr lang="en-US" sz="1050" b="0" i="0" dirty="0">
                <a:solidFill>
                  <a:srgbClr val="333333"/>
                </a:solidFill>
                <a:effectLst/>
                <a:latin typeface="Roboto Mono" panose="00000009000000000000" pitchFamily="49" charset="0"/>
              </a:rPr>
              <a:t>   </a:t>
            </a:r>
            <a:r>
              <a:rPr lang="en-US" sz="1050" b="1" i="0" dirty="0">
                <a:solidFill>
                  <a:srgbClr val="333333"/>
                </a:solidFill>
                <a:effectLst/>
                <a:latin typeface="Roboto Mono" panose="00000009000000000000" pitchFamily="49" charset="0"/>
              </a:rPr>
              <a:t>for</a:t>
            </a:r>
            <a:r>
              <a:rPr lang="en-US" sz="1050" b="0" i="0" dirty="0">
                <a:solidFill>
                  <a:srgbClr val="333333"/>
                </a:solidFill>
                <a:effectLst/>
                <a:latin typeface="Roboto Mono" panose="00000009000000000000" pitchFamily="49" charset="0"/>
              </a:rPr>
              <a:t> </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 in </a:t>
            </a:r>
            <a:r>
              <a:rPr lang="en-US" sz="1050" b="0" i="0" dirty="0" err="1">
                <a:solidFill>
                  <a:srgbClr val="333333"/>
                </a:solidFill>
                <a:effectLst/>
                <a:latin typeface="Roboto Mono" panose="00000009000000000000" pitchFamily="49" charset="0"/>
              </a:rPr>
              <a:t>graph.neighbors</a:t>
            </a:r>
            <a:r>
              <a:rPr lang="en-US" sz="1050" b="0" i="0" dirty="0">
                <a:solidFill>
                  <a:srgbClr val="333333"/>
                </a:solidFill>
                <a:effectLst/>
                <a:latin typeface="Roboto Mono" panose="00000009000000000000" pitchFamily="49" charset="0"/>
              </a:rPr>
              <a:t>(</a:t>
            </a:r>
            <a:r>
              <a:rPr lang="en-US" sz="1050" b="1" i="0" dirty="0">
                <a:solidFill>
                  <a:srgbClr val="5C85D6"/>
                </a:solidFill>
                <a:effectLst/>
                <a:latin typeface="Roboto Mono" panose="00000009000000000000" pitchFamily="49" charset="0"/>
              </a:rPr>
              <a:t>current</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1" dirty="0" err="1">
                <a:solidFill>
                  <a:srgbClr val="85475C"/>
                </a:solidFill>
                <a:effectLst/>
                <a:latin typeface="Roboto Mono" panose="00000009000000000000" pitchFamily="49" charset="0"/>
              </a:rPr>
              <a:t>new_cost</a:t>
            </a:r>
            <a:r>
              <a:rPr lang="en-US" sz="1050" b="0" i="1" dirty="0">
                <a:solidFill>
                  <a:srgbClr val="333333"/>
                </a:solidFill>
                <a:effectLst/>
                <a:latin typeface="Roboto Mono" panose="00000009000000000000" pitchFamily="49" charset="0"/>
              </a:rPr>
              <a:t> = </a:t>
            </a:r>
            <a:r>
              <a:rPr lang="en-US" sz="1050" b="1" i="1" dirty="0" err="1">
                <a:solidFill>
                  <a:srgbClr val="85475C"/>
                </a:solidFill>
                <a:effectLst/>
                <a:latin typeface="Roboto Mono" panose="00000009000000000000" pitchFamily="49" charset="0"/>
              </a:rPr>
              <a:t>cost_so_far</a:t>
            </a:r>
            <a:r>
              <a:rPr lang="en-US" sz="1050" b="0" i="1" dirty="0">
                <a:solidFill>
                  <a:srgbClr val="333333"/>
                </a:solidFill>
                <a:effectLst/>
                <a:latin typeface="Roboto Mono" panose="00000009000000000000" pitchFamily="49" charset="0"/>
              </a:rPr>
              <a:t>[</a:t>
            </a:r>
            <a:r>
              <a:rPr lang="en-US" sz="1050" b="1" i="1" dirty="0">
                <a:solidFill>
                  <a:srgbClr val="5C85D6"/>
                </a:solidFill>
                <a:effectLst/>
                <a:latin typeface="Roboto Mono" panose="00000009000000000000" pitchFamily="49" charset="0"/>
              </a:rPr>
              <a:t>current</a:t>
            </a:r>
            <a:r>
              <a:rPr lang="en-US" sz="1050" b="0" i="1" dirty="0">
                <a:solidFill>
                  <a:srgbClr val="333333"/>
                </a:solidFill>
                <a:effectLst/>
                <a:latin typeface="Roboto Mono" panose="00000009000000000000" pitchFamily="49" charset="0"/>
              </a:rPr>
              <a:t>] + </a:t>
            </a:r>
            <a:r>
              <a:rPr lang="en-US" sz="1050" b="0" i="1" dirty="0" err="1">
                <a:solidFill>
                  <a:srgbClr val="333333"/>
                </a:solidFill>
                <a:effectLst/>
                <a:latin typeface="Roboto Mono" panose="00000009000000000000" pitchFamily="49" charset="0"/>
              </a:rPr>
              <a:t>graph.cost</a:t>
            </a:r>
            <a:r>
              <a:rPr lang="en-US" sz="1050" b="0" i="1" dirty="0">
                <a:solidFill>
                  <a:srgbClr val="333333"/>
                </a:solidFill>
                <a:effectLst/>
                <a:latin typeface="Roboto Mono" panose="00000009000000000000" pitchFamily="49" charset="0"/>
              </a:rPr>
              <a:t>(</a:t>
            </a:r>
            <a:r>
              <a:rPr lang="en-US" sz="1050" b="1" i="1" dirty="0">
                <a:solidFill>
                  <a:srgbClr val="5C85D6"/>
                </a:solidFill>
                <a:effectLst/>
                <a:latin typeface="Roboto Mono" panose="00000009000000000000" pitchFamily="49" charset="0"/>
              </a:rPr>
              <a:t>current</a:t>
            </a:r>
            <a:r>
              <a:rPr lang="en-US" sz="1050" b="0" i="1" dirty="0">
                <a:solidFill>
                  <a:srgbClr val="333333"/>
                </a:solidFill>
                <a:effectLst/>
                <a:latin typeface="Roboto Mono" panose="00000009000000000000" pitchFamily="49" charset="0"/>
              </a:rPr>
              <a:t>, </a:t>
            </a:r>
            <a:r>
              <a:rPr lang="en-US" sz="1050" b="1" i="1" dirty="0">
                <a:solidFill>
                  <a:srgbClr val="339966"/>
                </a:solidFill>
                <a:effectLst/>
                <a:latin typeface="Roboto Mono" panose="00000009000000000000" pitchFamily="49" charset="0"/>
              </a:rPr>
              <a:t>next</a:t>
            </a:r>
            <a:r>
              <a:rPr lang="en-US" sz="1050" b="0" i="1" dirty="0">
                <a:solidFill>
                  <a:srgbClr val="333333"/>
                </a:solidFill>
                <a:effectLst/>
                <a:latin typeface="Roboto Mono" panose="00000009000000000000" pitchFamily="49" charset="0"/>
              </a:rPr>
              <a:t>)</a:t>
            </a: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r>
              <a:rPr lang="en-US" sz="1050" b="1" i="1" dirty="0">
                <a:solidFill>
                  <a:srgbClr val="333333"/>
                </a:solidFill>
                <a:effectLst/>
                <a:latin typeface="Roboto Mono" panose="00000009000000000000" pitchFamily="49" charset="0"/>
              </a:rPr>
              <a:t>if</a:t>
            </a:r>
            <a:r>
              <a:rPr lang="en-US" sz="1050" b="0" i="1" dirty="0">
                <a:solidFill>
                  <a:srgbClr val="333333"/>
                </a:solidFill>
                <a:effectLst/>
                <a:latin typeface="Roboto Mono" panose="00000009000000000000" pitchFamily="49" charset="0"/>
              </a:rPr>
              <a:t> </a:t>
            </a:r>
            <a:r>
              <a:rPr lang="en-US" sz="1050" b="1" i="1" dirty="0">
                <a:solidFill>
                  <a:srgbClr val="339966"/>
                </a:solidFill>
                <a:effectLst/>
                <a:latin typeface="Roboto Mono" panose="00000009000000000000" pitchFamily="49" charset="0"/>
              </a:rPr>
              <a:t>next</a:t>
            </a:r>
            <a:r>
              <a:rPr lang="en-US" sz="1050" b="0" i="1" dirty="0">
                <a:solidFill>
                  <a:srgbClr val="333333"/>
                </a:solidFill>
                <a:effectLst/>
                <a:latin typeface="Roboto Mono" panose="00000009000000000000" pitchFamily="49" charset="0"/>
              </a:rPr>
              <a:t> not in </a:t>
            </a:r>
            <a:r>
              <a:rPr lang="en-US" sz="1050" b="1" i="1" dirty="0" err="1">
                <a:solidFill>
                  <a:srgbClr val="85475C"/>
                </a:solidFill>
                <a:effectLst/>
                <a:latin typeface="Roboto Mono" panose="00000009000000000000" pitchFamily="49" charset="0"/>
              </a:rPr>
              <a:t>cost_so_far</a:t>
            </a:r>
            <a:r>
              <a:rPr lang="en-US" sz="1050" b="0" i="1" dirty="0">
                <a:solidFill>
                  <a:srgbClr val="333333"/>
                </a:solidFill>
                <a:effectLst/>
                <a:latin typeface="Roboto Mono" panose="00000009000000000000" pitchFamily="49" charset="0"/>
              </a:rPr>
              <a:t> or </a:t>
            </a:r>
            <a:r>
              <a:rPr lang="en-US" sz="1050" b="1" i="1" dirty="0" err="1">
                <a:solidFill>
                  <a:srgbClr val="85475C"/>
                </a:solidFill>
                <a:effectLst/>
                <a:latin typeface="Roboto Mono" panose="00000009000000000000" pitchFamily="49" charset="0"/>
              </a:rPr>
              <a:t>new_cost</a:t>
            </a:r>
            <a:r>
              <a:rPr lang="en-US" sz="1050" b="0" i="1" dirty="0">
                <a:solidFill>
                  <a:srgbClr val="333333"/>
                </a:solidFill>
                <a:effectLst/>
                <a:latin typeface="Roboto Mono" panose="00000009000000000000" pitchFamily="49" charset="0"/>
              </a:rPr>
              <a:t> &lt; </a:t>
            </a:r>
            <a:r>
              <a:rPr lang="en-US" sz="1050" b="1" i="1" dirty="0" err="1">
                <a:solidFill>
                  <a:srgbClr val="85475C"/>
                </a:solidFill>
                <a:effectLst/>
                <a:latin typeface="Roboto Mono" panose="00000009000000000000" pitchFamily="49" charset="0"/>
              </a:rPr>
              <a:t>cost_so_far</a:t>
            </a:r>
            <a:r>
              <a:rPr lang="en-US" sz="1050" b="0" i="1" dirty="0">
                <a:solidFill>
                  <a:srgbClr val="333333"/>
                </a:solidFill>
                <a:effectLst/>
                <a:latin typeface="Roboto Mono" panose="00000009000000000000" pitchFamily="49" charset="0"/>
              </a:rPr>
              <a:t>[</a:t>
            </a:r>
            <a:r>
              <a:rPr lang="en-US" sz="1050" b="1" i="1" dirty="0">
                <a:solidFill>
                  <a:srgbClr val="339966"/>
                </a:solidFill>
                <a:effectLst/>
                <a:latin typeface="Roboto Mono" panose="00000009000000000000" pitchFamily="49" charset="0"/>
              </a:rPr>
              <a:t>next</a:t>
            </a:r>
            <a:r>
              <a:rPr lang="en-US" sz="1050" b="0" i="1" dirty="0">
                <a:solidFill>
                  <a:srgbClr val="333333"/>
                </a:solidFill>
                <a:effectLst/>
                <a:latin typeface="Roboto Mono" panose="00000009000000000000" pitchFamily="49" charset="0"/>
              </a:rPr>
              <a:t>]:</a:t>
            </a: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 = </a:t>
            </a:r>
            <a:r>
              <a:rPr lang="en-US" sz="1050" b="1" i="1" dirty="0" err="1">
                <a:solidFill>
                  <a:srgbClr val="85475C"/>
                </a:solidFill>
                <a:effectLst/>
                <a:latin typeface="Roboto Mono" panose="00000009000000000000" pitchFamily="49" charset="0"/>
              </a:rPr>
              <a:t>new_cost</a:t>
            </a: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r>
              <a:rPr lang="en-US" sz="1050" b="0" i="1" dirty="0">
                <a:solidFill>
                  <a:srgbClr val="333333"/>
                </a:solidFill>
                <a:effectLst/>
                <a:latin typeface="Roboto Mono" panose="00000009000000000000" pitchFamily="49" charset="0"/>
              </a:rPr>
              <a:t>priority = </a:t>
            </a:r>
            <a:r>
              <a:rPr lang="en-US" sz="1050" b="1" i="1" dirty="0" err="1">
                <a:solidFill>
                  <a:srgbClr val="85475C"/>
                </a:solidFill>
                <a:effectLst/>
                <a:latin typeface="Roboto Mono" panose="00000009000000000000" pitchFamily="49" charset="0"/>
              </a:rPr>
              <a:t>new_cost</a:t>
            </a: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r>
              <a:rPr lang="en-US" sz="1050" b="1" i="0" dirty="0" err="1">
                <a:solidFill>
                  <a:srgbClr val="406ABF"/>
                </a:solidFill>
                <a:effectLst/>
                <a:latin typeface="Roboto Mono" panose="00000009000000000000" pitchFamily="49" charset="0"/>
              </a:rPr>
              <a:t>frontier</a:t>
            </a:r>
            <a:r>
              <a:rPr lang="en-US" sz="1050" b="0" i="0" dirty="0" err="1">
                <a:solidFill>
                  <a:srgbClr val="333333"/>
                </a:solidFill>
                <a:effectLst/>
                <a:latin typeface="Roboto Mono" panose="00000009000000000000" pitchFamily="49" charset="0"/>
              </a:rPr>
              <a:t>.put</a:t>
            </a:r>
            <a:r>
              <a:rPr lang="en-US" sz="1050" b="0" i="0" dirty="0">
                <a:solidFill>
                  <a:srgbClr val="333333"/>
                </a:solidFill>
                <a:effectLst/>
                <a:latin typeface="Roboto Mono" panose="00000009000000000000" pitchFamily="49" charset="0"/>
              </a:rPr>
              <a:t>(</a:t>
            </a:r>
            <a:r>
              <a:rPr lang="en-US" sz="1050" b="1" i="0" dirty="0">
                <a:solidFill>
                  <a:srgbClr val="339966"/>
                </a:solidFill>
                <a:effectLst/>
                <a:latin typeface="Roboto Mono" panose="00000009000000000000" pitchFamily="49" charset="0"/>
              </a:rPr>
              <a:t>next</a:t>
            </a:r>
            <a:r>
              <a:rPr lang="en-US" sz="1050" b="0" i="1" dirty="0">
                <a:solidFill>
                  <a:srgbClr val="333333"/>
                </a:solidFill>
                <a:effectLst/>
                <a:latin typeface="Roboto Mono" panose="00000009000000000000" pitchFamily="49" charset="0"/>
              </a:rPr>
              <a:t>, priority</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0" dirty="0" err="1">
                <a:solidFill>
                  <a:srgbClr val="8F663D"/>
                </a:solidFill>
                <a:effectLst/>
                <a:latin typeface="Roboto Mono" panose="00000009000000000000" pitchFamily="49" charset="0"/>
              </a:rPr>
              <a:t>came_from</a:t>
            </a:r>
            <a:r>
              <a:rPr lang="en-US" sz="1050" b="0" i="0" dirty="0">
                <a:solidFill>
                  <a:srgbClr val="333333"/>
                </a:solidFill>
                <a:effectLst/>
                <a:latin typeface="Roboto Mono" panose="00000009000000000000" pitchFamily="49" charset="0"/>
              </a:rPr>
              <a:t>[</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 = </a:t>
            </a:r>
            <a:r>
              <a:rPr lang="en-US" sz="1050" b="1" i="0" dirty="0">
                <a:solidFill>
                  <a:srgbClr val="5C85D6"/>
                </a:solidFill>
                <a:effectLst/>
                <a:latin typeface="Roboto Mono" panose="00000009000000000000" pitchFamily="49" charset="0"/>
              </a:rPr>
              <a:t>current</a:t>
            </a:r>
            <a:endParaRPr lang="en-US" sz="1050" b="0" i="0" dirty="0">
              <a:solidFill>
                <a:srgbClr val="333333"/>
              </a:solidFill>
              <a:effectLst/>
              <a:latin typeface="Roboto Mono" panose="00000009000000000000" pitchFamily="49" charset="0"/>
            </a:endParaRPr>
          </a:p>
        </p:txBody>
      </p:sp>
      <p:sp>
        <p:nvSpPr>
          <p:cNvPr id="119" name="Google Shape;119;p29">
            <a:extLst>
              <a:ext uri="{FF2B5EF4-FFF2-40B4-BE49-F238E27FC236}">
                <a16:creationId xmlns:a16="http://schemas.microsoft.com/office/drawing/2014/main" id="{DF0EEED8-77C3-23BD-4131-608110E8255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E0CE751-0226-CA7A-B2CD-EFF99C409BD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D9E6C24-9E79-D478-8068-C3AE8F5A704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5C16585-1086-8245-F4DE-AA6F9718D94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04C62FC-C342-5BE6-9488-9CC2AEFFB1D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ABB6798-7A57-57DA-B98B-149B7E3763C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D2F4FBF-6DE2-5A5C-43F6-8AA03DDEC4D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F6C82CE-503A-8DB6-8438-319B0C21B1B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4626130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8D98406C-EF05-3C61-BB8A-3E80C496B1B7}"/>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D06C7120-FE3A-B433-A041-D3AE56E1526F}"/>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a:solidFill>
                  <a:srgbClr val="15264B"/>
                </a:solidFill>
                <a:latin typeface="Atkinson Hyperlegible Next"/>
                <a:ea typeface="Arial"/>
                <a:cs typeface="Arial"/>
                <a:sym typeface="Arial"/>
              </a:rPr>
              <a:t>Heuristic search</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E97F1517-6274-3478-8901-973B3D6C2425}"/>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C9FC30C4-CA20-CB38-CA7C-5FA149527994}"/>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61C94072-00AB-2A74-B7E1-31EDB6EA1B4C}"/>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289F4261-8E3E-D1BE-3842-A7954EBCE0B2}"/>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CCBEB249-6558-7EE2-581A-F09A65D0B54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F7ED4A7E-DF56-4CEC-30A1-9520AA4B3B32}"/>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FE4FDA13-620D-0345-7F14-FA4777304F4E}"/>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D5CC8062-BB63-4A7E-0EFE-98DCE439C6A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BF05E6A3-948C-91B8-AF00-85E1017C6B6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024327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9E3E418-DDAE-FCB3-941F-89232B8CA5F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D24F5B7E-5867-B0CD-F932-B53C0C08300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With Breadth First Search and Dijkstra’s Algorithm, the frontier expands in </a:t>
            </a:r>
            <a:r>
              <a:rPr lang="en-US" sz="2400" b="1" dirty="0">
                <a:solidFill>
                  <a:schemeClr val="dk1"/>
                </a:solidFill>
                <a:latin typeface="Atkinson Hyperlegible Next"/>
                <a:ea typeface="Arial"/>
                <a:cs typeface="Arial"/>
                <a:sym typeface="Arial"/>
              </a:rPr>
              <a:t>all</a:t>
            </a:r>
            <a:r>
              <a:rPr lang="en-US" sz="2400" dirty="0">
                <a:solidFill>
                  <a:schemeClr val="dk1"/>
                </a:solidFill>
                <a:latin typeface="Atkinson Hyperlegible Next"/>
                <a:ea typeface="Arial"/>
                <a:cs typeface="Arial"/>
                <a:sym typeface="Arial"/>
              </a:rPr>
              <a:t> directions.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Why might that be a problem?</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This is a reasonable choice if you’re trying to find a path to </a:t>
            </a:r>
            <a:r>
              <a:rPr lang="en-US" sz="2400" b="1" dirty="0">
                <a:solidFill>
                  <a:schemeClr val="dk1"/>
                </a:solidFill>
                <a:latin typeface="Atkinson Hyperlegible Next"/>
                <a:ea typeface="Arial"/>
                <a:cs typeface="Arial"/>
                <a:sym typeface="Arial"/>
              </a:rPr>
              <a:t>all </a:t>
            </a:r>
            <a:r>
              <a:rPr lang="en-US" sz="2400" dirty="0">
                <a:solidFill>
                  <a:schemeClr val="dk1"/>
                </a:solidFill>
                <a:latin typeface="Atkinson Hyperlegible Next"/>
                <a:ea typeface="Arial"/>
                <a:cs typeface="Arial"/>
                <a:sym typeface="Arial"/>
              </a:rPr>
              <a:t>locations</a:t>
            </a:r>
            <a:r>
              <a:rPr lang="en-US" sz="2400" b="1" dirty="0">
                <a:solidFill>
                  <a:schemeClr val="dk1"/>
                </a:solidFill>
                <a:latin typeface="Atkinson Hyperlegible Next"/>
                <a:ea typeface="Arial"/>
                <a:cs typeface="Arial"/>
                <a:sym typeface="Arial"/>
              </a:rPr>
              <a:t> </a:t>
            </a:r>
            <a:r>
              <a:rPr lang="en-US" sz="2400" dirty="0">
                <a:solidFill>
                  <a:schemeClr val="dk1"/>
                </a:solidFill>
                <a:latin typeface="Atkinson Hyperlegible Next"/>
                <a:ea typeface="Arial"/>
                <a:cs typeface="Arial"/>
                <a:sym typeface="Arial"/>
              </a:rPr>
              <a:t>or to </a:t>
            </a:r>
            <a:r>
              <a:rPr lang="en-US" sz="2400" b="1" dirty="0">
                <a:solidFill>
                  <a:schemeClr val="dk1"/>
                </a:solidFill>
                <a:latin typeface="Atkinson Hyperlegible Next"/>
                <a:ea typeface="Arial"/>
                <a:cs typeface="Arial"/>
                <a:sym typeface="Arial"/>
              </a:rPr>
              <a:t>many </a:t>
            </a:r>
            <a:r>
              <a:rPr lang="en-US" sz="2400" dirty="0">
                <a:solidFill>
                  <a:schemeClr val="dk1"/>
                </a:solidFill>
                <a:latin typeface="Atkinson Hyperlegible Next"/>
                <a:ea typeface="Arial"/>
                <a:cs typeface="Arial"/>
                <a:sym typeface="Arial"/>
              </a:rPr>
              <a:t>locations.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However, a common case is to </a:t>
            </a:r>
            <a:r>
              <a:rPr lang="en-US" sz="2400" b="1" dirty="0">
                <a:solidFill>
                  <a:schemeClr val="dk1"/>
                </a:solidFill>
                <a:latin typeface="Atkinson Hyperlegible Next"/>
                <a:ea typeface="Arial"/>
                <a:cs typeface="Arial"/>
                <a:sym typeface="Arial"/>
              </a:rPr>
              <a:t>find a path to only one location</a:t>
            </a:r>
            <a:r>
              <a:rPr lang="en-US" sz="2400" dirty="0">
                <a:solidFill>
                  <a:schemeClr val="dk1"/>
                </a:solidFill>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Let’s make the frontier expand </a:t>
            </a:r>
            <a:r>
              <a:rPr lang="en-US" sz="2400" b="1" dirty="0">
                <a:solidFill>
                  <a:schemeClr val="dk1"/>
                </a:solidFill>
                <a:latin typeface="Atkinson Hyperlegible Next"/>
                <a:ea typeface="Arial"/>
                <a:cs typeface="Arial"/>
                <a:sym typeface="Arial"/>
              </a:rPr>
              <a:t>towards the goal </a:t>
            </a:r>
            <a:r>
              <a:rPr lang="en-US" sz="2400" dirty="0">
                <a:solidFill>
                  <a:schemeClr val="dk1"/>
                </a:solidFill>
                <a:latin typeface="Atkinson Hyperlegible Next"/>
                <a:ea typeface="Arial"/>
                <a:cs typeface="Arial"/>
                <a:sym typeface="Arial"/>
              </a:rPr>
              <a:t>more than it expands in other directions.</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059C4D5-D7FD-41A6-7FEB-C2F6BAB1D8B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4B0CF40-5250-816A-12C3-29BF3725B62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62864CD-D5A2-F787-4BE7-7B6F986BE56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008107D-21CC-0B37-410E-1C25ED3E3CD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0E522B6-D8FF-BC25-9883-B8203C2F5F5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D9B1BD33-D4C7-7EDF-8A31-4076F824C1E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3939575-314E-9792-6A35-C10C01BE0CC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9E2ADDD-C982-16D5-DF91-EE01176FE9D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180519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5631AAA-AB5A-8404-25AC-63937CD5154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4B652B6-2C9D-2E7D-5919-372BE5D9024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We need to </a:t>
            </a:r>
            <a:r>
              <a:rPr lang="en-US" sz="2400" b="1" dirty="0">
                <a:latin typeface="Atkinson Hyperlegible Next"/>
                <a:ea typeface="Arial"/>
                <a:cs typeface="Arial"/>
                <a:sym typeface="Arial"/>
              </a:rPr>
              <a:t>guide</a:t>
            </a:r>
            <a:r>
              <a:rPr lang="en-US" sz="2400" dirty="0">
                <a:latin typeface="Atkinson Hyperlegible Next"/>
                <a:ea typeface="Arial"/>
                <a:cs typeface="Arial"/>
                <a:sym typeface="Arial"/>
              </a:rPr>
              <a:t> the path planner’s frontier expansion towards how would what is an intuitive way of doing this?</a:t>
            </a:r>
          </a:p>
          <a:p>
            <a:pPr marL="0" indent="0">
              <a:lnSpc>
                <a:spcPct val="100000"/>
              </a:lnSpc>
              <a:spcBef>
                <a:spcPts val="0"/>
              </a:spcBef>
              <a:buSzPts val="3000"/>
              <a:buNone/>
            </a:pPr>
            <a:endParaRPr lang="en-US" sz="2400" b="1"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You try to minimize the distance to the goal, assuming there is no obstacle!</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In Dijkstra’s Algorithm we used the actual </a:t>
            </a:r>
            <a:r>
              <a:rPr lang="en-US" sz="2400" b="1" dirty="0">
                <a:solidFill>
                  <a:schemeClr val="dk1"/>
                </a:solidFill>
                <a:latin typeface="Atkinson Hyperlegible Next"/>
                <a:ea typeface="Arial"/>
                <a:cs typeface="Arial"/>
                <a:sym typeface="Arial"/>
              </a:rPr>
              <a:t>distance from the start </a:t>
            </a:r>
            <a:r>
              <a:rPr lang="en-US" sz="2400" dirty="0">
                <a:solidFill>
                  <a:schemeClr val="dk1"/>
                </a:solidFill>
                <a:latin typeface="Atkinson Hyperlegible Next"/>
                <a:ea typeface="Arial"/>
                <a:cs typeface="Arial"/>
                <a:sym typeface="Arial"/>
              </a:rPr>
              <a:t>for the priority queue ordering.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Here instead, in Greedy Best First Search, we’ll use the </a:t>
            </a:r>
            <a:r>
              <a:rPr lang="en-US" sz="2400" b="1" dirty="0">
                <a:solidFill>
                  <a:schemeClr val="dk1"/>
                </a:solidFill>
                <a:latin typeface="Atkinson Hyperlegible Next"/>
                <a:ea typeface="Arial"/>
                <a:cs typeface="Arial"/>
                <a:sym typeface="Arial"/>
              </a:rPr>
              <a:t>estimated distance to the goal </a:t>
            </a:r>
            <a:r>
              <a:rPr lang="en-US" sz="2400" dirty="0">
                <a:solidFill>
                  <a:schemeClr val="dk1"/>
                </a:solidFill>
                <a:latin typeface="Atkinson Hyperlegible Next"/>
                <a:ea typeface="Arial"/>
                <a:cs typeface="Arial"/>
                <a:sym typeface="Arial"/>
              </a:rPr>
              <a:t>for the priority queue ordering.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location closest to the goal will be explored first.</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1285535E-7FF5-1203-CC98-0195AF27375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DE07703-A62E-7823-C3BC-D15E3CC4E37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58A8492-500A-59ED-A942-8D3BF51E0D5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958F2FC-CB04-4F4C-ED23-A0CCCE8A1A7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6738009-8BF6-FB7C-173A-90976C101A4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16C0CF1-DF03-D01C-6A3E-DFD580CA547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19ED4D9-D9E8-ECB2-DDBC-4D13E383000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CFA1192-8FD6-8570-5317-1DF091D7B0B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261128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8">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E51D9E4-9E8D-9955-CD41-B19EF8CD35C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08FE306-7950-753F-2A08-C3DA97C6C21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a:buNone/>
            </a:pPr>
            <a:r>
              <a:rPr lang="en-US" sz="1200" b="1" dirty="0">
                <a:solidFill>
                  <a:srgbClr val="406ABF"/>
                </a:solidFill>
                <a:latin typeface="Roboto Mono" panose="00000009000000000000" pitchFamily="49" charset="0"/>
              </a:rPr>
              <a:t>frontier</a:t>
            </a:r>
            <a:r>
              <a:rPr lang="en-US" sz="1200" dirty="0">
                <a:solidFill>
                  <a:srgbClr val="333333"/>
                </a:solidFill>
                <a:latin typeface="Roboto Mono" panose="00000009000000000000" pitchFamily="49" charset="0"/>
              </a:rPr>
              <a:t> = </a:t>
            </a:r>
            <a:r>
              <a:rPr lang="en-US" sz="1200" dirty="0" err="1">
                <a:solidFill>
                  <a:srgbClr val="333333"/>
                </a:solidFill>
                <a:latin typeface="Roboto Mono" panose="00000009000000000000" pitchFamily="49" charset="0"/>
              </a:rPr>
              <a:t>PriorityQueue</a:t>
            </a:r>
            <a:r>
              <a:rPr lang="en-US" sz="1200" dirty="0">
                <a:solidFill>
                  <a:srgbClr val="333333"/>
                </a:solidFill>
                <a:latin typeface="Roboto Mono" panose="00000009000000000000" pitchFamily="49" charset="0"/>
              </a:rPr>
              <a:t>()</a:t>
            </a:r>
          </a:p>
          <a:p>
            <a:pPr>
              <a:buNone/>
            </a:pPr>
            <a:r>
              <a:rPr lang="en-US" sz="1200" b="1" dirty="0" err="1">
                <a:solidFill>
                  <a:srgbClr val="406ABF"/>
                </a:solidFill>
                <a:latin typeface="Roboto Mono" panose="00000009000000000000" pitchFamily="49" charset="0"/>
              </a:rPr>
              <a:t>frontier</a:t>
            </a:r>
            <a:r>
              <a:rPr lang="en-US" sz="1200" dirty="0" err="1">
                <a:solidFill>
                  <a:srgbClr val="333333"/>
                </a:solidFill>
                <a:latin typeface="Roboto Mono" panose="00000009000000000000" pitchFamily="49" charset="0"/>
              </a:rPr>
              <a:t>.put</a:t>
            </a:r>
            <a:r>
              <a:rPr lang="en-US" sz="1200" dirty="0">
                <a:solidFill>
                  <a:srgbClr val="333333"/>
                </a:solidFill>
                <a:latin typeface="Roboto Mono" panose="00000009000000000000" pitchFamily="49" charset="0"/>
              </a:rPr>
              <a:t>(</a:t>
            </a:r>
            <a:r>
              <a:rPr lang="en-US" sz="1200" b="1" dirty="0">
                <a:solidFill>
                  <a:srgbClr val="BF4040"/>
                </a:solidFill>
                <a:latin typeface="Roboto Mono" panose="00000009000000000000" pitchFamily="49" charset="0"/>
              </a:rPr>
              <a:t>start</a:t>
            </a:r>
            <a:r>
              <a:rPr lang="en-US" sz="1200" dirty="0">
                <a:solidFill>
                  <a:srgbClr val="333333"/>
                </a:solidFill>
                <a:latin typeface="Roboto Mono" panose="00000009000000000000" pitchFamily="49" charset="0"/>
              </a:rPr>
              <a:t>, 0)</a:t>
            </a:r>
          </a:p>
          <a:p>
            <a:pPr>
              <a:buNone/>
            </a:pPr>
            <a:r>
              <a:rPr lang="en-US" sz="1200" b="1" dirty="0" err="1">
                <a:solidFill>
                  <a:srgbClr val="8F663D"/>
                </a:solidFill>
                <a:latin typeface="Roboto Mono" panose="00000009000000000000" pitchFamily="49" charset="0"/>
              </a:rPr>
              <a:t>came_from</a:t>
            </a:r>
            <a:r>
              <a:rPr lang="en-US" sz="1200" dirty="0">
                <a:solidFill>
                  <a:srgbClr val="333333"/>
                </a:solidFill>
                <a:latin typeface="Roboto Mono" panose="00000009000000000000" pitchFamily="49" charset="0"/>
              </a:rPr>
              <a:t> = </a:t>
            </a:r>
            <a:r>
              <a:rPr lang="en-US" sz="1200" dirty="0" err="1">
                <a:solidFill>
                  <a:srgbClr val="333333"/>
                </a:solidFill>
                <a:latin typeface="Roboto Mono" panose="00000009000000000000" pitchFamily="49" charset="0"/>
              </a:rPr>
              <a:t>dict</a:t>
            </a:r>
            <a:r>
              <a:rPr lang="en-US" sz="1200" dirty="0">
                <a:solidFill>
                  <a:srgbClr val="333333"/>
                </a:solidFill>
                <a:latin typeface="Roboto Mono" panose="00000009000000000000" pitchFamily="49" charset="0"/>
              </a:rPr>
              <a:t>()</a:t>
            </a:r>
          </a:p>
          <a:p>
            <a:pPr>
              <a:buNone/>
            </a:pPr>
            <a:r>
              <a:rPr lang="en-US" sz="1200" b="1" dirty="0" err="1">
                <a:solidFill>
                  <a:srgbClr val="8F663D"/>
                </a:solidFill>
                <a:latin typeface="Roboto Mono" panose="00000009000000000000" pitchFamily="49" charset="0"/>
              </a:rPr>
              <a:t>came_from</a:t>
            </a:r>
            <a:r>
              <a:rPr lang="en-US" sz="1200" dirty="0">
                <a:solidFill>
                  <a:srgbClr val="333333"/>
                </a:solidFill>
                <a:latin typeface="Roboto Mono" panose="00000009000000000000" pitchFamily="49" charset="0"/>
              </a:rPr>
              <a:t>[</a:t>
            </a:r>
            <a:r>
              <a:rPr lang="en-US" sz="1200" b="1" dirty="0">
                <a:solidFill>
                  <a:srgbClr val="BF4040"/>
                </a:solidFill>
                <a:latin typeface="Roboto Mono" panose="00000009000000000000" pitchFamily="49" charset="0"/>
              </a:rPr>
              <a:t>start</a:t>
            </a:r>
            <a:r>
              <a:rPr lang="en-US" sz="1200" dirty="0">
                <a:solidFill>
                  <a:srgbClr val="333333"/>
                </a:solidFill>
                <a:latin typeface="Roboto Mono" panose="00000009000000000000" pitchFamily="49" charset="0"/>
              </a:rPr>
              <a:t>] = None</a:t>
            </a:r>
          </a:p>
          <a:p>
            <a:pPr>
              <a:buNone/>
            </a:pPr>
            <a:endParaRPr lang="en-US" sz="1200" dirty="0">
              <a:solidFill>
                <a:srgbClr val="333333"/>
              </a:solidFill>
              <a:latin typeface="Roboto Mono" panose="00000009000000000000" pitchFamily="49" charset="0"/>
            </a:endParaRPr>
          </a:p>
          <a:p>
            <a:pPr>
              <a:buNone/>
            </a:pPr>
            <a:r>
              <a:rPr lang="en-US" sz="1200" b="1" dirty="0">
                <a:solidFill>
                  <a:srgbClr val="333333"/>
                </a:solidFill>
                <a:latin typeface="Roboto Mono" panose="00000009000000000000" pitchFamily="49" charset="0"/>
              </a:rPr>
              <a:t>while</a:t>
            </a:r>
            <a:r>
              <a:rPr lang="en-US" sz="1200" dirty="0">
                <a:solidFill>
                  <a:srgbClr val="333333"/>
                </a:solidFill>
                <a:latin typeface="Roboto Mono" panose="00000009000000000000" pitchFamily="49" charset="0"/>
              </a:rPr>
              <a:t> not </a:t>
            </a:r>
            <a:r>
              <a:rPr lang="en-US" sz="1200" b="1" dirty="0" err="1">
                <a:solidFill>
                  <a:srgbClr val="406ABF"/>
                </a:solidFill>
                <a:latin typeface="Roboto Mono" panose="00000009000000000000" pitchFamily="49" charset="0"/>
              </a:rPr>
              <a:t>frontier</a:t>
            </a:r>
            <a:r>
              <a:rPr lang="en-US" sz="1200" dirty="0" err="1">
                <a:solidFill>
                  <a:srgbClr val="333333"/>
                </a:solidFill>
                <a:latin typeface="Roboto Mono" panose="00000009000000000000" pitchFamily="49" charset="0"/>
              </a:rPr>
              <a:t>.empty</a:t>
            </a:r>
            <a:r>
              <a:rPr lang="en-US" sz="1200" dirty="0">
                <a:solidFill>
                  <a:srgbClr val="333333"/>
                </a:solidFill>
                <a:latin typeface="Roboto Mono" panose="00000009000000000000" pitchFamily="49" charset="0"/>
              </a:rPr>
              <a:t>():</a:t>
            </a:r>
          </a:p>
          <a:p>
            <a:pPr>
              <a:buNone/>
            </a:pPr>
            <a:r>
              <a:rPr lang="en-US" sz="1200" dirty="0">
                <a:solidFill>
                  <a:srgbClr val="333333"/>
                </a:solidFill>
                <a:latin typeface="Roboto Mono" panose="00000009000000000000" pitchFamily="49" charset="0"/>
              </a:rPr>
              <a:t>   </a:t>
            </a:r>
            <a:r>
              <a:rPr lang="en-US" sz="1200" b="1" dirty="0">
                <a:solidFill>
                  <a:srgbClr val="5C85D6"/>
                </a:solidFill>
                <a:latin typeface="Roboto Mono" panose="00000009000000000000" pitchFamily="49" charset="0"/>
              </a:rPr>
              <a:t>current</a:t>
            </a:r>
            <a:r>
              <a:rPr lang="en-US" sz="1200" dirty="0">
                <a:solidFill>
                  <a:srgbClr val="333333"/>
                </a:solidFill>
                <a:latin typeface="Roboto Mono" panose="00000009000000000000" pitchFamily="49" charset="0"/>
              </a:rPr>
              <a:t> = </a:t>
            </a:r>
            <a:r>
              <a:rPr lang="en-US" sz="1200" b="1" dirty="0" err="1">
                <a:solidFill>
                  <a:srgbClr val="406ABF"/>
                </a:solidFill>
                <a:latin typeface="Roboto Mono" panose="00000009000000000000" pitchFamily="49" charset="0"/>
              </a:rPr>
              <a:t>frontier</a:t>
            </a:r>
            <a:r>
              <a:rPr lang="en-US" sz="1200" dirty="0" err="1">
                <a:solidFill>
                  <a:srgbClr val="333333"/>
                </a:solidFill>
                <a:latin typeface="Roboto Mono" panose="00000009000000000000" pitchFamily="49" charset="0"/>
              </a:rPr>
              <a:t>.get</a:t>
            </a:r>
            <a:r>
              <a:rPr lang="en-US" sz="1200" dirty="0">
                <a:solidFill>
                  <a:srgbClr val="333333"/>
                </a:solidFill>
                <a:latin typeface="Roboto Mono" panose="00000009000000000000" pitchFamily="49" charset="0"/>
              </a:rPr>
              <a:t>()</a:t>
            </a:r>
          </a:p>
          <a:p>
            <a:pPr>
              <a:buNone/>
            </a:pPr>
            <a:endParaRPr lang="en-US" sz="1200" dirty="0">
              <a:solidFill>
                <a:srgbClr val="333333"/>
              </a:solidFill>
              <a:latin typeface="Roboto Mono" panose="00000009000000000000" pitchFamily="49" charset="0"/>
            </a:endParaRPr>
          </a:p>
          <a:p>
            <a:pPr>
              <a:buNone/>
            </a:pPr>
            <a:r>
              <a:rPr lang="en-US" sz="1200" dirty="0">
                <a:solidFill>
                  <a:srgbClr val="333333"/>
                </a:solidFill>
                <a:latin typeface="Roboto Mono" panose="00000009000000000000" pitchFamily="49" charset="0"/>
              </a:rPr>
              <a:t>   </a:t>
            </a:r>
            <a:r>
              <a:rPr lang="en-US" sz="1200" b="1" dirty="0">
                <a:solidFill>
                  <a:srgbClr val="333333"/>
                </a:solidFill>
                <a:latin typeface="Roboto Mono" panose="00000009000000000000" pitchFamily="49" charset="0"/>
              </a:rPr>
              <a:t>if</a:t>
            </a:r>
            <a:r>
              <a:rPr lang="en-US" sz="1200" dirty="0">
                <a:solidFill>
                  <a:srgbClr val="333333"/>
                </a:solidFill>
                <a:latin typeface="Roboto Mono" panose="00000009000000000000" pitchFamily="49" charset="0"/>
              </a:rPr>
              <a:t> </a:t>
            </a:r>
            <a:r>
              <a:rPr lang="en-US" sz="1200" b="1" dirty="0">
                <a:solidFill>
                  <a:srgbClr val="5C85D6"/>
                </a:solidFill>
                <a:latin typeface="Roboto Mono" panose="00000009000000000000" pitchFamily="49" charset="0"/>
              </a:rPr>
              <a:t>current</a:t>
            </a:r>
            <a:r>
              <a:rPr lang="en-US" sz="1200" dirty="0">
                <a:solidFill>
                  <a:srgbClr val="333333"/>
                </a:solidFill>
                <a:latin typeface="Roboto Mono" panose="00000009000000000000" pitchFamily="49" charset="0"/>
              </a:rPr>
              <a:t> == </a:t>
            </a:r>
            <a:r>
              <a:rPr lang="en-US" sz="1200" b="1" dirty="0">
                <a:solidFill>
                  <a:srgbClr val="BF40AA"/>
                </a:solidFill>
                <a:latin typeface="Roboto Mono" panose="00000009000000000000" pitchFamily="49" charset="0"/>
              </a:rPr>
              <a:t>goal</a:t>
            </a:r>
            <a:r>
              <a:rPr lang="en-US" sz="1200" dirty="0">
                <a:solidFill>
                  <a:srgbClr val="333333"/>
                </a:solidFill>
                <a:latin typeface="Roboto Mono" panose="00000009000000000000" pitchFamily="49" charset="0"/>
              </a:rPr>
              <a:t>:</a:t>
            </a:r>
          </a:p>
          <a:p>
            <a:pPr>
              <a:buNone/>
            </a:pPr>
            <a:r>
              <a:rPr lang="en-US" sz="1200" dirty="0">
                <a:solidFill>
                  <a:srgbClr val="333333"/>
                </a:solidFill>
                <a:latin typeface="Roboto Mono" panose="00000009000000000000" pitchFamily="49" charset="0"/>
              </a:rPr>
              <a:t>      </a:t>
            </a:r>
            <a:r>
              <a:rPr lang="en-US" sz="1200" b="1" dirty="0">
                <a:solidFill>
                  <a:srgbClr val="333333"/>
                </a:solidFill>
                <a:latin typeface="Roboto Mono" panose="00000009000000000000" pitchFamily="49" charset="0"/>
              </a:rPr>
              <a:t>break</a:t>
            </a:r>
            <a:endParaRPr lang="en-US" sz="1200" dirty="0">
              <a:solidFill>
                <a:srgbClr val="333333"/>
              </a:solidFill>
              <a:latin typeface="Roboto Mono" panose="00000009000000000000" pitchFamily="49" charset="0"/>
            </a:endParaRPr>
          </a:p>
          <a:p>
            <a:pPr>
              <a:buNone/>
            </a:pPr>
            <a:r>
              <a:rPr lang="en-US" sz="1200" dirty="0">
                <a:solidFill>
                  <a:srgbClr val="333333"/>
                </a:solidFill>
                <a:latin typeface="Roboto Mono" panose="00000009000000000000" pitchFamily="49" charset="0"/>
              </a:rPr>
              <a:t>   </a:t>
            </a:r>
          </a:p>
          <a:p>
            <a:pPr>
              <a:buNone/>
            </a:pPr>
            <a:r>
              <a:rPr lang="en-US" sz="1200" dirty="0">
                <a:solidFill>
                  <a:srgbClr val="333333"/>
                </a:solidFill>
                <a:latin typeface="Roboto Mono" panose="00000009000000000000" pitchFamily="49" charset="0"/>
              </a:rPr>
              <a:t>   </a:t>
            </a:r>
            <a:r>
              <a:rPr lang="en-US" sz="1200" b="1" dirty="0">
                <a:solidFill>
                  <a:srgbClr val="333333"/>
                </a:solidFill>
                <a:latin typeface="Roboto Mono" panose="00000009000000000000" pitchFamily="49" charset="0"/>
              </a:rPr>
              <a:t>for</a:t>
            </a:r>
            <a:r>
              <a:rPr lang="en-US" sz="1200" dirty="0">
                <a:solidFill>
                  <a:srgbClr val="333333"/>
                </a:solidFill>
                <a:latin typeface="Roboto Mono" panose="00000009000000000000" pitchFamily="49" charset="0"/>
              </a:rPr>
              <a:t> </a:t>
            </a:r>
            <a:r>
              <a:rPr lang="en-US" sz="1200" b="1" dirty="0">
                <a:solidFill>
                  <a:srgbClr val="339966"/>
                </a:solidFill>
                <a:latin typeface="Roboto Mono" panose="00000009000000000000" pitchFamily="49" charset="0"/>
              </a:rPr>
              <a:t>next</a:t>
            </a:r>
            <a:r>
              <a:rPr lang="en-US" sz="1200" dirty="0">
                <a:solidFill>
                  <a:srgbClr val="333333"/>
                </a:solidFill>
                <a:latin typeface="Roboto Mono" panose="00000009000000000000" pitchFamily="49" charset="0"/>
              </a:rPr>
              <a:t> in </a:t>
            </a:r>
            <a:r>
              <a:rPr lang="en-US" sz="1200" dirty="0" err="1">
                <a:solidFill>
                  <a:srgbClr val="333333"/>
                </a:solidFill>
                <a:latin typeface="Roboto Mono" panose="00000009000000000000" pitchFamily="49" charset="0"/>
              </a:rPr>
              <a:t>graph.neighbors</a:t>
            </a:r>
            <a:r>
              <a:rPr lang="en-US" sz="1200" dirty="0">
                <a:solidFill>
                  <a:srgbClr val="333333"/>
                </a:solidFill>
                <a:latin typeface="Roboto Mono" panose="00000009000000000000" pitchFamily="49" charset="0"/>
              </a:rPr>
              <a:t>(</a:t>
            </a:r>
            <a:r>
              <a:rPr lang="en-US" sz="1200" b="1" dirty="0">
                <a:solidFill>
                  <a:srgbClr val="5C85D6"/>
                </a:solidFill>
                <a:latin typeface="Roboto Mono" panose="00000009000000000000" pitchFamily="49" charset="0"/>
              </a:rPr>
              <a:t>current</a:t>
            </a:r>
            <a:r>
              <a:rPr lang="en-US" sz="1200" dirty="0">
                <a:solidFill>
                  <a:srgbClr val="333333"/>
                </a:solidFill>
                <a:latin typeface="Roboto Mono" panose="00000009000000000000" pitchFamily="49" charset="0"/>
              </a:rPr>
              <a:t>):</a:t>
            </a:r>
          </a:p>
          <a:p>
            <a:pPr>
              <a:buNone/>
            </a:pPr>
            <a:r>
              <a:rPr lang="en-US" sz="1200" dirty="0">
                <a:solidFill>
                  <a:srgbClr val="333333"/>
                </a:solidFill>
                <a:latin typeface="Roboto Mono" panose="00000009000000000000" pitchFamily="49" charset="0"/>
              </a:rPr>
              <a:t>      </a:t>
            </a:r>
            <a:r>
              <a:rPr lang="en-US" sz="1200" b="1" dirty="0">
                <a:solidFill>
                  <a:srgbClr val="333333"/>
                </a:solidFill>
                <a:latin typeface="Roboto Mono" panose="00000009000000000000" pitchFamily="49" charset="0"/>
              </a:rPr>
              <a:t>if</a:t>
            </a:r>
            <a:r>
              <a:rPr lang="en-US" sz="1200" dirty="0">
                <a:solidFill>
                  <a:srgbClr val="333333"/>
                </a:solidFill>
                <a:latin typeface="Roboto Mono" panose="00000009000000000000" pitchFamily="49" charset="0"/>
              </a:rPr>
              <a:t> </a:t>
            </a:r>
            <a:r>
              <a:rPr lang="en-US" sz="1200" b="1" dirty="0">
                <a:solidFill>
                  <a:srgbClr val="339966"/>
                </a:solidFill>
                <a:latin typeface="Roboto Mono" panose="00000009000000000000" pitchFamily="49" charset="0"/>
              </a:rPr>
              <a:t>next</a:t>
            </a:r>
            <a:r>
              <a:rPr lang="en-US" sz="1200" dirty="0">
                <a:solidFill>
                  <a:srgbClr val="333333"/>
                </a:solidFill>
                <a:latin typeface="Roboto Mono" panose="00000009000000000000" pitchFamily="49" charset="0"/>
              </a:rPr>
              <a:t> not in </a:t>
            </a:r>
            <a:r>
              <a:rPr lang="en-US" sz="1200" b="1" dirty="0" err="1">
                <a:solidFill>
                  <a:srgbClr val="8F663D"/>
                </a:solidFill>
                <a:latin typeface="Roboto Mono" panose="00000009000000000000" pitchFamily="49" charset="0"/>
              </a:rPr>
              <a:t>came_from</a:t>
            </a:r>
            <a:r>
              <a:rPr lang="en-US" sz="1200" dirty="0">
                <a:solidFill>
                  <a:srgbClr val="333333"/>
                </a:solidFill>
                <a:latin typeface="Roboto Mono" panose="00000009000000000000" pitchFamily="49" charset="0"/>
              </a:rPr>
              <a:t>:</a:t>
            </a:r>
          </a:p>
          <a:p>
            <a:pPr>
              <a:buNone/>
            </a:pPr>
            <a:r>
              <a:rPr lang="en-US" sz="1200" dirty="0">
                <a:solidFill>
                  <a:srgbClr val="333333"/>
                </a:solidFill>
                <a:latin typeface="Roboto Mono" panose="00000009000000000000" pitchFamily="49" charset="0"/>
              </a:rPr>
              <a:t>         </a:t>
            </a:r>
            <a:r>
              <a:rPr lang="en-US" sz="1200" i="1" dirty="0">
                <a:solidFill>
                  <a:srgbClr val="333333"/>
                </a:solidFill>
                <a:latin typeface="Roboto Mono" panose="00000009000000000000" pitchFamily="49" charset="0"/>
              </a:rPr>
              <a:t>priority = heuristic(</a:t>
            </a:r>
            <a:r>
              <a:rPr lang="en-US" sz="1200" b="1" i="1" dirty="0">
                <a:solidFill>
                  <a:srgbClr val="BF40AA"/>
                </a:solidFill>
                <a:latin typeface="Roboto Mono" panose="00000009000000000000" pitchFamily="49" charset="0"/>
              </a:rPr>
              <a:t>goal</a:t>
            </a:r>
            <a:r>
              <a:rPr lang="en-US" sz="1200" i="1" dirty="0">
                <a:solidFill>
                  <a:srgbClr val="333333"/>
                </a:solidFill>
                <a:latin typeface="Roboto Mono" panose="00000009000000000000" pitchFamily="49" charset="0"/>
              </a:rPr>
              <a:t>, </a:t>
            </a:r>
            <a:r>
              <a:rPr lang="en-US" sz="1200" b="1" i="1" dirty="0">
                <a:solidFill>
                  <a:srgbClr val="339966"/>
                </a:solidFill>
                <a:latin typeface="Roboto Mono" panose="00000009000000000000" pitchFamily="49" charset="0"/>
              </a:rPr>
              <a:t>next</a:t>
            </a:r>
            <a:r>
              <a:rPr lang="en-US" sz="1200" i="1" dirty="0">
                <a:solidFill>
                  <a:srgbClr val="333333"/>
                </a:solidFill>
                <a:latin typeface="Roboto Mono" panose="00000009000000000000" pitchFamily="49" charset="0"/>
              </a:rPr>
              <a:t>)</a:t>
            </a:r>
            <a:endParaRPr lang="en-US" sz="1200" dirty="0">
              <a:solidFill>
                <a:srgbClr val="333333"/>
              </a:solidFill>
              <a:latin typeface="Roboto Mono" panose="00000009000000000000" pitchFamily="49" charset="0"/>
            </a:endParaRPr>
          </a:p>
          <a:p>
            <a:pPr>
              <a:buNone/>
            </a:pPr>
            <a:r>
              <a:rPr lang="en-US" sz="1200" dirty="0">
                <a:solidFill>
                  <a:srgbClr val="333333"/>
                </a:solidFill>
                <a:latin typeface="Roboto Mono" panose="00000009000000000000" pitchFamily="49" charset="0"/>
              </a:rPr>
              <a:t>         </a:t>
            </a:r>
            <a:r>
              <a:rPr lang="en-US" sz="1200" b="1" dirty="0" err="1">
                <a:solidFill>
                  <a:srgbClr val="406ABF"/>
                </a:solidFill>
                <a:latin typeface="Roboto Mono" panose="00000009000000000000" pitchFamily="49" charset="0"/>
              </a:rPr>
              <a:t>frontier</a:t>
            </a:r>
            <a:r>
              <a:rPr lang="en-US" sz="1200" dirty="0" err="1">
                <a:solidFill>
                  <a:srgbClr val="333333"/>
                </a:solidFill>
                <a:latin typeface="Roboto Mono" panose="00000009000000000000" pitchFamily="49" charset="0"/>
              </a:rPr>
              <a:t>.put</a:t>
            </a:r>
            <a:r>
              <a:rPr lang="en-US" sz="1200" dirty="0">
                <a:solidFill>
                  <a:srgbClr val="333333"/>
                </a:solidFill>
                <a:latin typeface="Roboto Mono" panose="00000009000000000000" pitchFamily="49" charset="0"/>
              </a:rPr>
              <a:t>(</a:t>
            </a:r>
            <a:r>
              <a:rPr lang="en-US" sz="1200" b="1" dirty="0">
                <a:solidFill>
                  <a:srgbClr val="339966"/>
                </a:solidFill>
                <a:latin typeface="Roboto Mono" panose="00000009000000000000" pitchFamily="49" charset="0"/>
              </a:rPr>
              <a:t>next</a:t>
            </a:r>
            <a:r>
              <a:rPr lang="en-US" sz="1200" dirty="0">
                <a:solidFill>
                  <a:srgbClr val="333333"/>
                </a:solidFill>
                <a:latin typeface="Roboto Mono" panose="00000009000000000000" pitchFamily="49" charset="0"/>
              </a:rPr>
              <a:t>, priority)</a:t>
            </a:r>
          </a:p>
          <a:p>
            <a:pPr>
              <a:buNone/>
            </a:pPr>
            <a:r>
              <a:rPr lang="en-US" sz="1200" dirty="0">
                <a:solidFill>
                  <a:srgbClr val="333333"/>
                </a:solidFill>
                <a:latin typeface="Roboto Mono" panose="00000009000000000000" pitchFamily="49" charset="0"/>
              </a:rPr>
              <a:t>         </a:t>
            </a:r>
            <a:r>
              <a:rPr lang="en-US" sz="1200" b="1" dirty="0" err="1">
                <a:solidFill>
                  <a:srgbClr val="8F663D"/>
                </a:solidFill>
                <a:latin typeface="Roboto Mono" panose="00000009000000000000" pitchFamily="49" charset="0"/>
              </a:rPr>
              <a:t>came_from</a:t>
            </a:r>
            <a:r>
              <a:rPr lang="en-US" sz="1200" dirty="0">
                <a:solidFill>
                  <a:srgbClr val="333333"/>
                </a:solidFill>
                <a:latin typeface="Roboto Mono" panose="00000009000000000000" pitchFamily="49" charset="0"/>
              </a:rPr>
              <a:t>[</a:t>
            </a:r>
            <a:r>
              <a:rPr lang="en-US" sz="1200" b="1" dirty="0">
                <a:solidFill>
                  <a:srgbClr val="339966"/>
                </a:solidFill>
                <a:latin typeface="Roboto Mono" panose="00000009000000000000" pitchFamily="49" charset="0"/>
              </a:rPr>
              <a:t>next</a:t>
            </a:r>
            <a:r>
              <a:rPr lang="en-US" sz="1200" dirty="0">
                <a:solidFill>
                  <a:srgbClr val="333333"/>
                </a:solidFill>
                <a:latin typeface="Roboto Mono" panose="00000009000000000000" pitchFamily="49" charset="0"/>
              </a:rPr>
              <a:t>] = </a:t>
            </a:r>
            <a:r>
              <a:rPr lang="en-US" sz="1200" b="1" dirty="0">
                <a:solidFill>
                  <a:srgbClr val="5C85D6"/>
                </a:solidFill>
                <a:latin typeface="Roboto Mono" panose="00000009000000000000" pitchFamily="49" charset="0"/>
              </a:rPr>
              <a:t>current</a:t>
            </a:r>
            <a:endParaRPr lang="en-US" sz="1200" dirty="0">
              <a:solidFill>
                <a:srgbClr val="333333"/>
              </a:solidFill>
              <a:latin typeface="Roboto Mono" panose="00000009000000000000" pitchFamily="49" charset="0"/>
            </a:endParaRPr>
          </a:p>
        </p:txBody>
      </p:sp>
      <p:sp>
        <p:nvSpPr>
          <p:cNvPr id="119" name="Google Shape;119;p29">
            <a:extLst>
              <a:ext uri="{FF2B5EF4-FFF2-40B4-BE49-F238E27FC236}">
                <a16:creationId xmlns:a16="http://schemas.microsoft.com/office/drawing/2014/main" id="{2480BDD6-ACC1-BA26-FECB-1C3EA3CB30F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52923FC-2ED4-D816-C1CF-5AC15CBBB4DD}"/>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29FB432-B345-932C-4E0D-BC21341F71C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BD7A042-EA6C-FCF2-6DF7-D4512CFD484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A75313D-8D5C-4853-372B-DFFA2FA4202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E13311F-FE1C-B768-6B86-C47400004A9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65D88985-2ABB-901A-D8C2-8044012D2C1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D9741CC-4BEF-5E57-777D-90BAB685690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0972648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6016A14-157C-5E6E-5228-6DD221437E1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22234E6-42F9-A8EB-3C4E-6058F09792E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Those paths aren’t the shortest; however, this algorithm runs much faster when there aren’t a lot of obstacles.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problem is that the paths aren’t as good, they are not </a:t>
            </a:r>
            <a:r>
              <a:rPr lang="en-US" sz="2400" b="1" dirty="0">
                <a:latin typeface="Atkinson Hyperlegible Next"/>
                <a:ea typeface="Arial"/>
                <a:cs typeface="Arial"/>
                <a:sym typeface="Arial"/>
              </a:rPr>
              <a:t>optimally the shortest </a:t>
            </a:r>
            <a:r>
              <a:rPr lang="en-US" sz="2400" dirty="0">
                <a:latin typeface="Atkinson Hyperlegible Next"/>
                <a:ea typeface="Arial"/>
                <a:cs typeface="Arial"/>
                <a:sym typeface="Arial"/>
              </a:rPr>
              <a:t>path like Dijkstra's and BFS.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Can we fix this?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gn="ctr">
              <a:lnSpc>
                <a:spcPct val="100000"/>
              </a:lnSpc>
              <a:spcBef>
                <a:spcPts val="0"/>
              </a:spcBef>
              <a:buSzPts val="3000"/>
              <a:buNone/>
            </a:pPr>
            <a:r>
              <a:rPr lang="en-US" sz="2400" dirty="0">
                <a:latin typeface="Atkinson Hyperlegible Next"/>
                <a:ea typeface="Arial"/>
                <a:cs typeface="Arial"/>
                <a:sym typeface="Arial"/>
              </a:rPr>
              <a:t>Yes!</a:t>
            </a:r>
          </a:p>
          <a:p>
            <a:pPr marL="0" indent="0" algn="ctr">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Here comes the magical A* algorithm!</a:t>
            </a:r>
          </a:p>
          <a:p>
            <a:pPr mar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E9049EB9-9CAA-CC8F-AAC3-4AE5B26E618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E49D7C0-ED64-7BFF-551C-780EF90B393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BF24276-867D-6B2F-12D7-F5154E9BC6C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68C5051-6974-1D17-3B94-2B84A6FA99B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B862AEA-9B23-A891-47DD-2ABFD427F23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064EE1A-9A4F-1DE2-5DCB-41518F7626D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879B1F2-D969-C13E-9C96-9032880242A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FB0C08F-404D-F298-7C79-EFE11129EB2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82306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FA9B5EF-8A60-61DB-342E-091E4D75F1A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24308EB3-6B3F-11D8-F6F1-B49927FFFF1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b="1" dirty="0">
                <a:latin typeface="Atkinson Hyperlegible Next"/>
                <a:ea typeface="Arial"/>
                <a:cs typeface="Arial"/>
                <a:sym typeface="Arial"/>
              </a:rPr>
              <a:t>Dijkstra’s</a:t>
            </a:r>
            <a:r>
              <a:rPr lang="en-US" sz="2400" dirty="0">
                <a:latin typeface="Atkinson Hyperlegible Next"/>
                <a:ea typeface="Arial"/>
                <a:cs typeface="Arial"/>
                <a:sym typeface="Arial"/>
              </a:rPr>
              <a:t> Algorithm works well to find the </a:t>
            </a:r>
            <a:r>
              <a:rPr lang="en-US" sz="2400" b="1" dirty="0">
                <a:latin typeface="Atkinson Hyperlegible Next"/>
                <a:ea typeface="Arial"/>
                <a:cs typeface="Arial"/>
                <a:sym typeface="Arial"/>
              </a:rPr>
              <a:t>shortest path</a:t>
            </a:r>
            <a:r>
              <a:rPr lang="en-US" sz="2400" dirty="0">
                <a:latin typeface="Atkinson Hyperlegible Next"/>
                <a:ea typeface="Arial"/>
                <a:cs typeface="Arial"/>
                <a:sym typeface="Arial"/>
              </a:rPr>
              <a:t>, but it wastes time </a:t>
            </a:r>
            <a:r>
              <a:rPr lang="en-US" sz="2400" b="1" dirty="0">
                <a:latin typeface="Atkinson Hyperlegible Next"/>
                <a:ea typeface="Arial"/>
                <a:cs typeface="Arial"/>
                <a:sym typeface="Arial"/>
              </a:rPr>
              <a:t>exploring in directions that aren’t promising</a:t>
            </a:r>
            <a:r>
              <a:rPr lang="en-US" sz="2400" dirty="0">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b="1" dirty="0">
                <a:latin typeface="Atkinson Hyperlegible Next"/>
                <a:ea typeface="Arial"/>
                <a:cs typeface="Arial"/>
                <a:sym typeface="Arial"/>
              </a:rPr>
              <a:t>Greedy Best First Search </a:t>
            </a:r>
            <a:r>
              <a:rPr lang="en-US" sz="2400" dirty="0">
                <a:latin typeface="Atkinson Hyperlegible Next"/>
                <a:ea typeface="Arial"/>
                <a:cs typeface="Arial"/>
                <a:sym typeface="Arial"/>
              </a:rPr>
              <a:t>explores in </a:t>
            </a:r>
            <a:r>
              <a:rPr lang="en-US" sz="2400" b="1" dirty="0">
                <a:latin typeface="Atkinson Hyperlegible Next"/>
                <a:ea typeface="Arial"/>
                <a:cs typeface="Arial"/>
                <a:sym typeface="Arial"/>
              </a:rPr>
              <a:t>promising directions, </a:t>
            </a:r>
            <a:r>
              <a:rPr lang="en-US" sz="2400" dirty="0">
                <a:latin typeface="Atkinson Hyperlegible Next"/>
                <a:ea typeface="Arial"/>
                <a:cs typeface="Arial"/>
                <a:sym typeface="Arial"/>
              </a:rPr>
              <a:t>but it may </a:t>
            </a:r>
            <a:r>
              <a:rPr lang="en-US" sz="2400" b="1" dirty="0">
                <a:latin typeface="Atkinson Hyperlegible Next"/>
                <a:ea typeface="Arial"/>
                <a:cs typeface="Arial"/>
                <a:sym typeface="Arial"/>
              </a:rPr>
              <a:t>not find the shortest path</a:t>
            </a:r>
            <a:r>
              <a:rPr lang="en-US" sz="2400" dirty="0">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 is the combination of the two algorithm to get the best of both worlds, with no real downsides!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 A* algorithm uses both the </a:t>
            </a:r>
            <a:r>
              <a:rPr lang="en-US" sz="2400" b="1" dirty="0">
                <a:latin typeface="Atkinson Hyperlegible Next"/>
                <a:ea typeface="Arial"/>
                <a:cs typeface="Arial"/>
                <a:sym typeface="Arial"/>
              </a:rPr>
              <a:t>actual distance</a:t>
            </a:r>
            <a:r>
              <a:rPr lang="en-US" sz="2400" dirty="0">
                <a:latin typeface="Atkinson Hyperlegible Next"/>
                <a:ea typeface="Arial"/>
                <a:cs typeface="Arial"/>
                <a:sym typeface="Arial"/>
              </a:rPr>
              <a:t> from the start and the </a:t>
            </a:r>
            <a:r>
              <a:rPr lang="en-US" sz="2400" b="1" dirty="0">
                <a:latin typeface="Atkinson Hyperlegible Next"/>
                <a:ea typeface="Arial"/>
                <a:cs typeface="Arial"/>
                <a:sym typeface="Arial"/>
              </a:rPr>
              <a:t>estimated distance</a:t>
            </a:r>
            <a:r>
              <a:rPr lang="en-US" sz="2400" dirty="0">
                <a:latin typeface="Atkinson Hyperlegible Next"/>
                <a:ea typeface="Arial"/>
                <a:cs typeface="Arial"/>
                <a:sym typeface="Arial"/>
              </a:rPr>
              <a:t> to the goal.</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It is extremely similar to Dijkstra’s.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8084549F-F85E-0654-3D09-8357E225681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167BF423-3886-FC2F-DAFB-366A791C2CD1}"/>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ED5813C4-270D-C94B-FA81-1C579F545C2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F7A9453-B4A4-E41B-D697-327026A3878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83B7323-562E-61D9-8106-68DEC8FB7F8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AD9B7E8-5D9F-4875-88D1-E52F1421197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F545455-D30B-54CB-3778-9CE7219E6D4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BBDB995-291C-EA81-2C4E-16B19497F1E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8685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4ED2078-E3D8-1F6A-B64F-37E3264B1CF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82134AFD-5531-57D6-B352-EB4D9F0E919C}"/>
              </a:ext>
            </a:extLst>
          </p:cNvPr>
          <p:cNvSpPr txBox="1">
            <a:spLocks noGrp="1"/>
          </p:cNvSpPr>
          <p:nvPr>
            <p:ph type="body" idx="1"/>
          </p:nvPr>
        </p:nvSpPr>
        <p:spPr>
          <a:xfrm>
            <a:off x="376809" y="983446"/>
            <a:ext cx="11177401" cy="5585712"/>
          </a:xfrm>
          <a:prstGeom prst="rect">
            <a:avLst/>
          </a:prstGeom>
          <a:noFill/>
          <a:ln>
            <a:noFill/>
          </a:ln>
        </p:spPr>
        <p:txBody>
          <a:bodyPr spcFirstLastPara="1" wrap="square" lIns="91425" tIns="45700" rIns="91425" bIns="45700" anchor="t" anchorCtr="0">
            <a:noAutofit/>
          </a:bodyPr>
          <a:lstStyle/>
          <a:p>
            <a:pPr algn="l">
              <a:buNone/>
            </a:pPr>
            <a:r>
              <a:rPr lang="en-US" sz="1050" b="1" i="0" dirty="0">
                <a:solidFill>
                  <a:srgbClr val="406ABF"/>
                </a:solidFill>
                <a:effectLst/>
                <a:latin typeface="Roboto Mono" panose="00000009000000000000" pitchFamily="49" charset="0"/>
              </a:rPr>
              <a:t>frontier</a:t>
            </a:r>
            <a:r>
              <a:rPr lang="en-US" sz="1050" b="0" i="0" dirty="0">
                <a:solidFill>
                  <a:srgbClr val="333333"/>
                </a:solidFill>
                <a:effectLst/>
                <a:latin typeface="Roboto Mono" panose="00000009000000000000" pitchFamily="49" charset="0"/>
              </a:rPr>
              <a:t> = </a:t>
            </a:r>
            <a:r>
              <a:rPr lang="en-US" sz="1050" b="0" i="0" dirty="0" err="1">
                <a:solidFill>
                  <a:srgbClr val="333333"/>
                </a:solidFill>
                <a:effectLst/>
                <a:latin typeface="Roboto Mono" panose="00000009000000000000" pitchFamily="49" charset="0"/>
              </a:rPr>
              <a:t>PriorityQueue</a:t>
            </a:r>
            <a:r>
              <a:rPr lang="en-US" sz="1050" b="0" i="0" dirty="0">
                <a:solidFill>
                  <a:srgbClr val="333333"/>
                </a:solidFill>
                <a:effectLst/>
                <a:latin typeface="Roboto Mono" panose="00000009000000000000" pitchFamily="49" charset="0"/>
              </a:rPr>
              <a:t>()</a:t>
            </a:r>
          </a:p>
          <a:p>
            <a:pPr algn="l">
              <a:buNone/>
            </a:pPr>
            <a:r>
              <a:rPr lang="en-US" sz="1050" b="1" i="0" dirty="0" err="1">
                <a:solidFill>
                  <a:srgbClr val="406ABF"/>
                </a:solidFill>
                <a:effectLst/>
                <a:latin typeface="Roboto Mono" panose="00000009000000000000" pitchFamily="49" charset="0"/>
              </a:rPr>
              <a:t>frontier</a:t>
            </a:r>
            <a:r>
              <a:rPr lang="en-US" sz="1050" b="0" i="0" dirty="0" err="1">
                <a:solidFill>
                  <a:srgbClr val="333333"/>
                </a:solidFill>
                <a:effectLst/>
                <a:latin typeface="Roboto Mono" panose="00000009000000000000" pitchFamily="49" charset="0"/>
              </a:rPr>
              <a:t>.put</a:t>
            </a:r>
            <a:r>
              <a:rPr lang="en-US" sz="1050" b="0" i="0" dirty="0">
                <a:solidFill>
                  <a:srgbClr val="333333"/>
                </a:solidFill>
                <a:effectLst/>
                <a:latin typeface="Roboto Mono" panose="00000009000000000000" pitchFamily="49" charset="0"/>
              </a:rPr>
              <a:t>(</a:t>
            </a:r>
            <a:r>
              <a:rPr lang="en-US" sz="1050" b="1" i="0" dirty="0">
                <a:solidFill>
                  <a:srgbClr val="BF4040"/>
                </a:solidFill>
                <a:effectLst/>
                <a:latin typeface="Roboto Mono" panose="00000009000000000000" pitchFamily="49" charset="0"/>
              </a:rPr>
              <a:t>start</a:t>
            </a:r>
            <a:r>
              <a:rPr lang="en-US" sz="1050" b="0" i="0" dirty="0">
                <a:solidFill>
                  <a:srgbClr val="333333"/>
                </a:solidFill>
                <a:effectLst/>
                <a:latin typeface="Roboto Mono" panose="00000009000000000000" pitchFamily="49" charset="0"/>
              </a:rPr>
              <a:t>, 0)</a:t>
            </a:r>
          </a:p>
          <a:p>
            <a:pPr algn="l">
              <a:buNone/>
            </a:pPr>
            <a:r>
              <a:rPr lang="en-US" sz="1050" b="1" i="0" dirty="0" err="1">
                <a:solidFill>
                  <a:srgbClr val="8F663D"/>
                </a:solidFill>
                <a:effectLst/>
                <a:latin typeface="Roboto Mono" panose="00000009000000000000" pitchFamily="49" charset="0"/>
              </a:rPr>
              <a:t>came_from</a:t>
            </a:r>
            <a:r>
              <a:rPr lang="en-US" sz="1050" b="0" i="0" dirty="0">
                <a:solidFill>
                  <a:srgbClr val="333333"/>
                </a:solidFill>
                <a:effectLst/>
                <a:latin typeface="Roboto Mono" panose="00000009000000000000" pitchFamily="49" charset="0"/>
              </a:rPr>
              <a:t> = </a:t>
            </a:r>
            <a:r>
              <a:rPr lang="en-US" sz="1050" b="0" i="0" dirty="0" err="1">
                <a:solidFill>
                  <a:srgbClr val="333333"/>
                </a:solidFill>
                <a:effectLst/>
                <a:latin typeface="Roboto Mono" panose="00000009000000000000" pitchFamily="49" charset="0"/>
              </a:rPr>
              <a:t>dict</a:t>
            </a:r>
            <a:r>
              <a:rPr lang="en-US" sz="1050" b="0" i="0" dirty="0">
                <a:solidFill>
                  <a:srgbClr val="333333"/>
                </a:solidFill>
                <a:effectLst/>
                <a:latin typeface="Roboto Mono" panose="00000009000000000000" pitchFamily="49" charset="0"/>
              </a:rPr>
              <a:t>()</a:t>
            </a:r>
          </a:p>
          <a:p>
            <a:pPr algn="l">
              <a:buNone/>
            </a:pP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 = </a:t>
            </a:r>
            <a:r>
              <a:rPr lang="en-US" sz="1050" b="0" i="0" dirty="0" err="1">
                <a:solidFill>
                  <a:srgbClr val="333333"/>
                </a:solidFill>
                <a:effectLst/>
                <a:latin typeface="Roboto Mono" panose="00000009000000000000" pitchFamily="49" charset="0"/>
              </a:rPr>
              <a:t>dict</a:t>
            </a:r>
            <a:r>
              <a:rPr lang="en-US" sz="1050" b="0" i="0" dirty="0">
                <a:solidFill>
                  <a:srgbClr val="333333"/>
                </a:solidFill>
                <a:effectLst/>
                <a:latin typeface="Roboto Mono" panose="00000009000000000000" pitchFamily="49" charset="0"/>
              </a:rPr>
              <a:t>()</a:t>
            </a:r>
          </a:p>
          <a:p>
            <a:pPr algn="l">
              <a:buNone/>
            </a:pPr>
            <a:r>
              <a:rPr lang="en-US" sz="1050" b="1" i="0" dirty="0" err="1">
                <a:solidFill>
                  <a:srgbClr val="8F663D"/>
                </a:solidFill>
                <a:effectLst/>
                <a:latin typeface="Roboto Mono" panose="00000009000000000000" pitchFamily="49" charset="0"/>
              </a:rPr>
              <a:t>came_from</a:t>
            </a:r>
            <a:r>
              <a:rPr lang="en-US" sz="1050" b="0" i="0" dirty="0">
                <a:solidFill>
                  <a:srgbClr val="333333"/>
                </a:solidFill>
                <a:effectLst/>
                <a:latin typeface="Roboto Mono" panose="00000009000000000000" pitchFamily="49" charset="0"/>
              </a:rPr>
              <a:t>[</a:t>
            </a:r>
            <a:r>
              <a:rPr lang="en-US" sz="1050" b="1" i="0" dirty="0">
                <a:solidFill>
                  <a:srgbClr val="BF4040"/>
                </a:solidFill>
                <a:effectLst/>
                <a:latin typeface="Roboto Mono" panose="00000009000000000000" pitchFamily="49" charset="0"/>
              </a:rPr>
              <a:t>start</a:t>
            </a:r>
            <a:r>
              <a:rPr lang="en-US" sz="1050" b="0" i="0" dirty="0">
                <a:solidFill>
                  <a:srgbClr val="333333"/>
                </a:solidFill>
                <a:effectLst/>
                <a:latin typeface="Roboto Mono" panose="00000009000000000000" pitchFamily="49" charset="0"/>
              </a:rPr>
              <a:t>] = None</a:t>
            </a:r>
          </a:p>
          <a:p>
            <a:pPr algn="l">
              <a:buNone/>
            </a:pP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a:t>
            </a:r>
            <a:r>
              <a:rPr lang="en-US" sz="1050" b="1" i="0" dirty="0">
                <a:solidFill>
                  <a:srgbClr val="BF4040"/>
                </a:solidFill>
                <a:effectLst/>
                <a:latin typeface="Roboto Mono" panose="00000009000000000000" pitchFamily="49" charset="0"/>
              </a:rPr>
              <a:t>start</a:t>
            </a:r>
            <a:r>
              <a:rPr lang="en-US" sz="1050" b="0" i="0" dirty="0">
                <a:solidFill>
                  <a:srgbClr val="333333"/>
                </a:solidFill>
                <a:effectLst/>
                <a:latin typeface="Roboto Mono" panose="00000009000000000000" pitchFamily="49" charset="0"/>
              </a:rPr>
              <a:t>] = 0</a:t>
            </a:r>
          </a:p>
          <a:p>
            <a:pPr algn="l">
              <a:buNone/>
            </a:pPr>
            <a:endParaRPr lang="en-US" sz="1050" b="0" i="0" dirty="0">
              <a:solidFill>
                <a:srgbClr val="333333"/>
              </a:solidFill>
              <a:effectLst/>
              <a:latin typeface="Roboto Mono" panose="00000009000000000000" pitchFamily="49" charset="0"/>
            </a:endParaRPr>
          </a:p>
          <a:p>
            <a:pPr algn="l">
              <a:buNone/>
            </a:pPr>
            <a:r>
              <a:rPr lang="en-US" sz="1050" b="1" i="0" dirty="0">
                <a:solidFill>
                  <a:srgbClr val="333333"/>
                </a:solidFill>
                <a:effectLst/>
                <a:latin typeface="Roboto Mono" panose="00000009000000000000" pitchFamily="49" charset="0"/>
              </a:rPr>
              <a:t>while</a:t>
            </a:r>
            <a:r>
              <a:rPr lang="en-US" sz="1050" b="0" i="0" dirty="0">
                <a:solidFill>
                  <a:srgbClr val="333333"/>
                </a:solidFill>
                <a:effectLst/>
                <a:latin typeface="Roboto Mono" panose="00000009000000000000" pitchFamily="49" charset="0"/>
              </a:rPr>
              <a:t> not </a:t>
            </a:r>
            <a:r>
              <a:rPr lang="en-US" sz="1050" b="1" i="0" dirty="0" err="1">
                <a:solidFill>
                  <a:srgbClr val="406ABF"/>
                </a:solidFill>
                <a:effectLst/>
                <a:latin typeface="Roboto Mono" panose="00000009000000000000" pitchFamily="49" charset="0"/>
              </a:rPr>
              <a:t>frontier</a:t>
            </a:r>
            <a:r>
              <a:rPr lang="en-US" sz="1050" b="0" i="0" dirty="0" err="1">
                <a:solidFill>
                  <a:srgbClr val="333333"/>
                </a:solidFill>
                <a:effectLst/>
                <a:latin typeface="Roboto Mono" panose="00000009000000000000" pitchFamily="49" charset="0"/>
              </a:rPr>
              <a:t>.empty</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0" dirty="0">
                <a:solidFill>
                  <a:srgbClr val="5C85D6"/>
                </a:solidFill>
                <a:effectLst/>
                <a:latin typeface="Roboto Mono" panose="00000009000000000000" pitchFamily="49" charset="0"/>
              </a:rPr>
              <a:t>current</a:t>
            </a:r>
            <a:r>
              <a:rPr lang="en-US" sz="1050" b="0" i="0" dirty="0">
                <a:solidFill>
                  <a:srgbClr val="333333"/>
                </a:solidFill>
                <a:effectLst/>
                <a:latin typeface="Roboto Mono" panose="00000009000000000000" pitchFamily="49" charset="0"/>
              </a:rPr>
              <a:t> = </a:t>
            </a:r>
            <a:r>
              <a:rPr lang="en-US" sz="1050" b="1" i="0" dirty="0" err="1">
                <a:solidFill>
                  <a:srgbClr val="406ABF"/>
                </a:solidFill>
                <a:effectLst/>
                <a:latin typeface="Roboto Mono" panose="00000009000000000000" pitchFamily="49" charset="0"/>
              </a:rPr>
              <a:t>frontier</a:t>
            </a:r>
            <a:r>
              <a:rPr lang="en-US" sz="1050" b="0" i="0" dirty="0" err="1">
                <a:solidFill>
                  <a:srgbClr val="333333"/>
                </a:solidFill>
                <a:effectLst/>
                <a:latin typeface="Roboto Mono" panose="00000009000000000000" pitchFamily="49" charset="0"/>
              </a:rPr>
              <a:t>.get</a:t>
            </a:r>
            <a:r>
              <a:rPr lang="en-US" sz="1050" b="0" i="0" dirty="0">
                <a:solidFill>
                  <a:srgbClr val="333333"/>
                </a:solidFill>
                <a:effectLst/>
                <a:latin typeface="Roboto Mono" panose="00000009000000000000" pitchFamily="49" charset="0"/>
              </a:rPr>
              <a:t>()</a:t>
            </a:r>
          </a:p>
          <a:p>
            <a:pPr algn="l">
              <a:buNone/>
            </a:pP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r>
              <a:rPr lang="en-US" sz="1050" b="1" i="0" dirty="0">
                <a:solidFill>
                  <a:srgbClr val="333333"/>
                </a:solidFill>
                <a:effectLst/>
                <a:latin typeface="Roboto Mono" panose="00000009000000000000" pitchFamily="49" charset="0"/>
              </a:rPr>
              <a:t>if</a:t>
            </a:r>
            <a:r>
              <a:rPr lang="en-US" sz="1050" b="0" i="0" dirty="0">
                <a:solidFill>
                  <a:srgbClr val="333333"/>
                </a:solidFill>
                <a:effectLst/>
                <a:latin typeface="Roboto Mono" panose="00000009000000000000" pitchFamily="49" charset="0"/>
              </a:rPr>
              <a:t> </a:t>
            </a:r>
            <a:r>
              <a:rPr lang="en-US" sz="1050" b="1" i="0" dirty="0">
                <a:solidFill>
                  <a:srgbClr val="5C85D6"/>
                </a:solidFill>
                <a:effectLst/>
                <a:latin typeface="Roboto Mono" panose="00000009000000000000" pitchFamily="49" charset="0"/>
              </a:rPr>
              <a:t>current</a:t>
            </a:r>
            <a:r>
              <a:rPr lang="en-US" sz="1050" b="0" i="0" dirty="0">
                <a:solidFill>
                  <a:srgbClr val="333333"/>
                </a:solidFill>
                <a:effectLst/>
                <a:latin typeface="Roboto Mono" panose="00000009000000000000" pitchFamily="49" charset="0"/>
              </a:rPr>
              <a:t> == </a:t>
            </a:r>
            <a:r>
              <a:rPr lang="en-US" sz="1050" b="1" i="0" dirty="0">
                <a:solidFill>
                  <a:srgbClr val="BF40AA"/>
                </a:solidFill>
                <a:effectLst/>
                <a:latin typeface="Roboto Mono" panose="00000009000000000000" pitchFamily="49" charset="0"/>
              </a:rPr>
              <a:t>goal</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0" dirty="0">
                <a:solidFill>
                  <a:srgbClr val="333333"/>
                </a:solidFill>
                <a:effectLst/>
                <a:latin typeface="Roboto Mono" panose="00000009000000000000" pitchFamily="49" charset="0"/>
              </a:rPr>
              <a:t>break</a:t>
            </a: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p>
          <a:p>
            <a:pPr algn="l">
              <a:buNone/>
            </a:pPr>
            <a:r>
              <a:rPr lang="en-US" sz="1050" b="0" i="0" dirty="0">
                <a:solidFill>
                  <a:srgbClr val="333333"/>
                </a:solidFill>
                <a:effectLst/>
                <a:latin typeface="Roboto Mono" panose="00000009000000000000" pitchFamily="49" charset="0"/>
              </a:rPr>
              <a:t>   </a:t>
            </a:r>
            <a:r>
              <a:rPr lang="en-US" sz="1050" b="1" i="0" dirty="0">
                <a:solidFill>
                  <a:srgbClr val="333333"/>
                </a:solidFill>
                <a:effectLst/>
                <a:latin typeface="Roboto Mono" panose="00000009000000000000" pitchFamily="49" charset="0"/>
              </a:rPr>
              <a:t>for</a:t>
            </a:r>
            <a:r>
              <a:rPr lang="en-US" sz="1050" b="0" i="0" dirty="0">
                <a:solidFill>
                  <a:srgbClr val="333333"/>
                </a:solidFill>
                <a:effectLst/>
                <a:latin typeface="Roboto Mono" panose="00000009000000000000" pitchFamily="49" charset="0"/>
              </a:rPr>
              <a:t> </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 in </a:t>
            </a:r>
            <a:r>
              <a:rPr lang="en-US" sz="1050" b="0" i="0" dirty="0" err="1">
                <a:solidFill>
                  <a:srgbClr val="333333"/>
                </a:solidFill>
                <a:effectLst/>
                <a:latin typeface="Roboto Mono" panose="00000009000000000000" pitchFamily="49" charset="0"/>
              </a:rPr>
              <a:t>graph.neighbors</a:t>
            </a:r>
            <a:r>
              <a:rPr lang="en-US" sz="1050" b="0" i="0" dirty="0">
                <a:solidFill>
                  <a:srgbClr val="333333"/>
                </a:solidFill>
                <a:effectLst/>
                <a:latin typeface="Roboto Mono" panose="00000009000000000000" pitchFamily="49" charset="0"/>
              </a:rPr>
              <a:t>(</a:t>
            </a:r>
            <a:r>
              <a:rPr lang="en-US" sz="1050" b="1" i="0" dirty="0">
                <a:solidFill>
                  <a:srgbClr val="5C85D6"/>
                </a:solidFill>
                <a:effectLst/>
                <a:latin typeface="Roboto Mono" panose="00000009000000000000" pitchFamily="49" charset="0"/>
              </a:rPr>
              <a:t>current</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0" dirty="0" err="1">
                <a:solidFill>
                  <a:srgbClr val="85475C"/>
                </a:solidFill>
                <a:effectLst/>
                <a:latin typeface="Roboto Mono" panose="00000009000000000000" pitchFamily="49" charset="0"/>
              </a:rPr>
              <a:t>new_cost</a:t>
            </a:r>
            <a:r>
              <a:rPr lang="en-US" sz="1050" b="0" i="0" dirty="0">
                <a:solidFill>
                  <a:srgbClr val="333333"/>
                </a:solidFill>
                <a:effectLst/>
                <a:latin typeface="Roboto Mono" panose="00000009000000000000" pitchFamily="49" charset="0"/>
              </a:rPr>
              <a:t> = </a:t>
            </a: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a:t>
            </a:r>
            <a:r>
              <a:rPr lang="en-US" sz="1050" b="1" i="0" dirty="0">
                <a:solidFill>
                  <a:srgbClr val="5C85D6"/>
                </a:solidFill>
                <a:effectLst/>
                <a:latin typeface="Roboto Mono" panose="00000009000000000000" pitchFamily="49" charset="0"/>
              </a:rPr>
              <a:t>current</a:t>
            </a:r>
            <a:r>
              <a:rPr lang="en-US" sz="1050" b="0" i="0" dirty="0">
                <a:solidFill>
                  <a:srgbClr val="333333"/>
                </a:solidFill>
                <a:effectLst/>
                <a:latin typeface="Roboto Mono" panose="00000009000000000000" pitchFamily="49" charset="0"/>
              </a:rPr>
              <a:t>] + </a:t>
            </a:r>
            <a:r>
              <a:rPr lang="en-US" sz="1050" b="0" i="0" dirty="0" err="1">
                <a:solidFill>
                  <a:srgbClr val="333333"/>
                </a:solidFill>
                <a:effectLst/>
                <a:latin typeface="Roboto Mono" panose="00000009000000000000" pitchFamily="49" charset="0"/>
              </a:rPr>
              <a:t>graph.cost</a:t>
            </a:r>
            <a:r>
              <a:rPr lang="en-US" sz="1050" b="0" i="0" dirty="0">
                <a:solidFill>
                  <a:srgbClr val="333333"/>
                </a:solidFill>
                <a:effectLst/>
                <a:latin typeface="Roboto Mono" panose="00000009000000000000" pitchFamily="49" charset="0"/>
              </a:rPr>
              <a:t>(</a:t>
            </a:r>
            <a:r>
              <a:rPr lang="en-US" sz="1050" b="1" i="0" dirty="0">
                <a:solidFill>
                  <a:srgbClr val="5C85D6"/>
                </a:solidFill>
                <a:effectLst/>
                <a:latin typeface="Roboto Mono" panose="00000009000000000000" pitchFamily="49" charset="0"/>
              </a:rPr>
              <a:t>current</a:t>
            </a:r>
            <a:r>
              <a:rPr lang="en-US" sz="1050" b="0" i="0" dirty="0">
                <a:solidFill>
                  <a:srgbClr val="333333"/>
                </a:solidFill>
                <a:effectLst/>
                <a:latin typeface="Roboto Mono" panose="00000009000000000000" pitchFamily="49" charset="0"/>
              </a:rPr>
              <a:t>, </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0" dirty="0">
                <a:solidFill>
                  <a:srgbClr val="333333"/>
                </a:solidFill>
                <a:effectLst/>
                <a:latin typeface="Roboto Mono" panose="00000009000000000000" pitchFamily="49" charset="0"/>
              </a:rPr>
              <a:t>if</a:t>
            </a:r>
            <a:r>
              <a:rPr lang="en-US" sz="1050" b="0" i="0" dirty="0">
                <a:solidFill>
                  <a:srgbClr val="333333"/>
                </a:solidFill>
                <a:effectLst/>
                <a:latin typeface="Roboto Mono" panose="00000009000000000000" pitchFamily="49" charset="0"/>
              </a:rPr>
              <a:t> </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 not in </a:t>
            </a: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 or </a:t>
            </a:r>
            <a:r>
              <a:rPr lang="en-US" sz="1050" b="1" i="0" dirty="0" err="1">
                <a:solidFill>
                  <a:srgbClr val="85475C"/>
                </a:solidFill>
                <a:effectLst/>
                <a:latin typeface="Roboto Mono" panose="00000009000000000000" pitchFamily="49" charset="0"/>
              </a:rPr>
              <a:t>new_cost</a:t>
            </a:r>
            <a:r>
              <a:rPr lang="en-US" sz="1050" b="0" i="0" dirty="0">
                <a:solidFill>
                  <a:srgbClr val="333333"/>
                </a:solidFill>
                <a:effectLst/>
                <a:latin typeface="Roboto Mono" panose="00000009000000000000" pitchFamily="49" charset="0"/>
              </a:rPr>
              <a:t> &lt; </a:t>
            </a: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a:t>
            </a:r>
          </a:p>
          <a:p>
            <a:pPr algn="l">
              <a:buNone/>
            </a:pPr>
            <a:r>
              <a:rPr lang="en-US" sz="1050" b="0" i="0" dirty="0">
                <a:solidFill>
                  <a:srgbClr val="333333"/>
                </a:solidFill>
                <a:effectLst/>
                <a:latin typeface="Roboto Mono" panose="00000009000000000000" pitchFamily="49" charset="0"/>
              </a:rPr>
              <a:t>         </a:t>
            </a:r>
            <a:r>
              <a:rPr lang="en-US" sz="1050" b="1" i="0" dirty="0" err="1">
                <a:solidFill>
                  <a:srgbClr val="85475C"/>
                </a:solidFill>
                <a:effectLst/>
                <a:latin typeface="Roboto Mono" panose="00000009000000000000" pitchFamily="49" charset="0"/>
              </a:rPr>
              <a:t>cost_so_far</a:t>
            </a:r>
            <a:r>
              <a:rPr lang="en-US" sz="1050" b="0" i="0" dirty="0">
                <a:solidFill>
                  <a:srgbClr val="333333"/>
                </a:solidFill>
                <a:effectLst/>
                <a:latin typeface="Roboto Mono" panose="00000009000000000000" pitchFamily="49" charset="0"/>
              </a:rPr>
              <a:t>[</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 = </a:t>
            </a:r>
            <a:r>
              <a:rPr lang="en-US" sz="1050" b="1" i="0" dirty="0" err="1">
                <a:solidFill>
                  <a:srgbClr val="85475C"/>
                </a:solidFill>
                <a:effectLst/>
                <a:latin typeface="Roboto Mono" panose="00000009000000000000" pitchFamily="49" charset="0"/>
              </a:rPr>
              <a:t>new_cost</a:t>
            </a: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priority = </a:t>
            </a:r>
            <a:r>
              <a:rPr lang="en-US" sz="1050" b="1" i="0" dirty="0" err="1">
                <a:solidFill>
                  <a:srgbClr val="85475C"/>
                </a:solidFill>
                <a:effectLst/>
                <a:latin typeface="Roboto Mono" panose="00000009000000000000" pitchFamily="49" charset="0"/>
              </a:rPr>
              <a:t>new_cost</a:t>
            </a:r>
            <a:r>
              <a:rPr lang="en-US" sz="1050" b="0" i="1" dirty="0">
                <a:solidFill>
                  <a:srgbClr val="333333"/>
                </a:solidFill>
                <a:effectLst/>
                <a:latin typeface="Roboto Mono" panose="00000009000000000000" pitchFamily="49" charset="0"/>
              </a:rPr>
              <a:t> + heuristic(</a:t>
            </a:r>
            <a:r>
              <a:rPr lang="en-US" sz="1050" b="1" i="1" dirty="0">
                <a:solidFill>
                  <a:srgbClr val="BF40AA"/>
                </a:solidFill>
                <a:effectLst/>
                <a:latin typeface="Roboto Mono" panose="00000009000000000000" pitchFamily="49" charset="0"/>
              </a:rPr>
              <a:t>goal</a:t>
            </a:r>
            <a:r>
              <a:rPr lang="en-US" sz="1050" b="0" i="1" dirty="0">
                <a:solidFill>
                  <a:srgbClr val="333333"/>
                </a:solidFill>
                <a:effectLst/>
                <a:latin typeface="Roboto Mono" panose="00000009000000000000" pitchFamily="49" charset="0"/>
              </a:rPr>
              <a:t>, </a:t>
            </a:r>
            <a:r>
              <a:rPr lang="en-US" sz="1050" b="1" i="1" dirty="0">
                <a:solidFill>
                  <a:srgbClr val="339966"/>
                </a:solidFill>
                <a:effectLst/>
                <a:latin typeface="Roboto Mono" panose="00000009000000000000" pitchFamily="49" charset="0"/>
              </a:rPr>
              <a:t>next</a:t>
            </a:r>
            <a:r>
              <a:rPr lang="en-US" sz="1050" b="0" i="1" dirty="0">
                <a:solidFill>
                  <a:srgbClr val="333333"/>
                </a:solidFill>
                <a:effectLst/>
                <a:latin typeface="Roboto Mono" panose="00000009000000000000" pitchFamily="49" charset="0"/>
              </a:rPr>
              <a:t>)</a:t>
            </a:r>
            <a:endParaRPr lang="en-US" sz="1050" b="0" i="0" dirty="0">
              <a:solidFill>
                <a:srgbClr val="333333"/>
              </a:solidFill>
              <a:effectLst/>
              <a:latin typeface="Roboto Mono" panose="00000009000000000000" pitchFamily="49" charset="0"/>
            </a:endParaRPr>
          </a:p>
          <a:p>
            <a:pPr algn="l">
              <a:buNone/>
            </a:pPr>
            <a:r>
              <a:rPr lang="en-US" sz="1050" b="0" i="0" dirty="0">
                <a:solidFill>
                  <a:srgbClr val="333333"/>
                </a:solidFill>
                <a:effectLst/>
                <a:latin typeface="Roboto Mono" panose="00000009000000000000" pitchFamily="49" charset="0"/>
              </a:rPr>
              <a:t>         </a:t>
            </a:r>
            <a:r>
              <a:rPr lang="en-US" sz="1050" b="1" i="0" dirty="0" err="1">
                <a:solidFill>
                  <a:srgbClr val="406ABF"/>
                </a:solidFill>
                <a:effectLst/>
                <a:latin typeface="Roboto Mono" panose="00000009000000000000" pitchFamily="49" charset="0"/>
              </a:rPr>
              <a:t>frontier</a:t>
            </a:r>
            <a:r>
              <a:rPr lang="en-US" sz="1050" b="0" i="0" dirty="0" err="1">
                <a:solidFill>
                  <a:srgbClr val="333333"/>
                </a:solidFill>
                <a:effectLst/>
                <a:latin typeface="Roboto Mono" panose="00000009000000000000" pitchFamily="49" charset="0"/>
              </a:rPr>
              <a:t>.put</a:t>
            </a:r>
            <a:r>
              <a:rPr lang="en-US" sz="1050" b="0" i="0" dirty="0">
                <a:solidFill>
                  <a:srgbClr val="333333"/>
                </a:solidFill>
                <a:effectLst/>
                <a:latin typeface="Roboto Mono" panose="00000009000000000000" pitchFamily="49" charset="0"/>
              </a:rPr>
              <a:t>(</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 priority)</a:t>
            </a:r>
          </a:p>
          <a:p>
            <a:pPr algn="l">
              <a:buNone/>
            </a:pPr>
            <a:r>
              <a:rPr lang="en-US" sz="1050" b="0" i="0" dirty="0">
                <a:solidFill>
                  <a:srgbClr val="333333"/>
                </a:solidFill>
                <a:effectLst/>
                <a:latin typeface="Roboto Mono" panose="00000009000000000000" pitchFamily="49" charset="0"/>
              </a:rPr>
              <a:t>         </a:t>
            </a:r>
            <a:r>
              <a:rPr lang="en-US" sz="1050" b="1" i="0" dirty="0" err="1">
                <a:solidFill>
                  <a:srgbClr val="8F663D"/>
                </a:solidFill>
                <a:effectLst/>
                <a:latin typeface="Roboto Mono" panose="00000009000000000000" pitchFamily="49" charset="0"/>
              </a:rPr>
              <a:t>came_from</a:t>
            </a:r>
            <a:r>
              <a:rPr lang="en-US" sz="1050" b="0" i="0" dirty="0">
                <a:solidFill>
                  <a:srgbClr val="333333"/>
                </a:solidFill>
                <a:effectLst/>
                <a:latin typeface="Roboto Mono" panose="00000009000000000000" pitchFamily="49" charset="0"/>
              </a:rPr>
              <a:t>[</a:t>
            </a:r>
            <a:r>
              <a:rPr lang="en-US" sz="1050" b="1" i="0" dirty="0">
                <a:solidFill>
                  <a:srgbClr val="339966"/>
                </a:solidFill>
                <a:effectLst/>
                <a:latin typeface="Roboto Mono" panose="00000009000000000000" pitchFamily="49" charset="0"/>
              </a:rPr>
              <a:t>next</a:t>
            </a:r>
            <a:r>
              <a:rPr lang="en-US" sz="1050" b="0" i="0" dirty="0">
                <a:solidFill>
                  <a:srgbClr val="333333"/>
                </a:solidFill>
                <a:effectLst/>
                <a:latin typeface="Roboto Mono" panose="00000009000000000000" pitchFamily="49" charset="0"/>
              </a:rPr>
              <a:t>] = </a:t>
            </a:r>
            <a:r>
              <a:rPr lang="en-US" sz="1050" b="1" i="0" dirty="0">
                <a:solidFill>
                  <a:srgbClr val="5C85D6"/>
                </a:solidFill>
                <a:effectLst/>
                <a:latin typeface="Roboto Mono" panose="00000009000000000000" pitchFamily="49" charset="0"/>
              </a:rPr>
              <a:t>current</a:t>
            </a:r>
            <a:endParaRPr lang="en-US" sz="1050" b="0" i="0" dirty="0">
              <a:solidFill>
                <a:srgbClr val="333333"/>
              </a:solidFill>
              <a:effectLst/>
              <a:latin typeface="Roboto Mono" panose="00000009000000000000" pitchFamily="49" charset="0"/>
            </a:endParaRPr>
          </a:p>
          <a:p>
            <a:pPr>
              <a:buNone/>
            </a:pPr>
            <a:br>
              <a:rPr lang="en-US" sz="1050" dirty="0"/>
            </a:br>
            <a:endParaRPr lang="en-US" sz="14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24877A5-AFD5-D278-A8A4-642877373B8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A2091DB-B312-6F66-AFF5-CB35177B809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8C7E366-29D1-B869-0FCA-E20864AD4B5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9DAB772-07D8-E692-0E76-EB48C78E282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CBC6010-AAF1-77F0-B14C-151008331AF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C93B370-39AE-7CCC-45F9-9FA500144ED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336517F-6CAC-6C5F-96DA-CF40EF38FA7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A98016C-2FF6-C1BB-E794-927F98C35E6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 name="Rectangle 1">
            <a:extLst>
              <a:ext uri="{FF2B5EF4-FFF2-40B4-BE49-F238E27FC236}">
                <a16:creationId xmlns:a16="http://schemas.microsoft.com/office/drawing/2014/main" id="{85A7EE52-CF88-DC17-3DE3-122639921C44}"/>
              </a:ext>
            </a:extLst>
          </p:cNvPr>
          <p:cNvSpPr/>
          <p:nvPr/>
        </p:nvSpPr>
        <p:spPr>
          <a:xfrm>
            <a:off x="2849880" y="5631180"/>
            <a:ext cx="1927860" cy="3429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Arrow Connector 3">
            <a:extLst>
              <a:ext uri="{FF2B5EF4-FFF2-40B4-BE49-F238E27FC236}">
                <a16:creationId xmlns:a16="http://schemas.microsoft.com/office/drawing/2014/main" id="{4F69E0D9-28DF-1642-85D6-17D21C814700}"/>
              </a:ext>
            </a:extLst>
          </p:cNvPr>
          <p:cNvCxnSpPr>
            <a:cxnSpLocks/>
            <a:stCxn id="5" idx="1"/>
            <a:endCxn id="2" idx="3"/>
          </p:cNvCxnSpPr>
          <p:nvPr/>
        </p:nvCxnSpPr>
        <p:spPr>
          <a:xfrm flipH="1">
            <a:off x="4777740" y="5802630"/>
            <a:ext cx="2240431"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A192C37-4200-1E06-CEE7-EBF634BEDEB8}"/>
              </a:ext>
            </a:extLst>
          </p:cNvPr>
          <p:cNvSpPr txBox="1"/>
          <p:nvPr/>
        </p:nvSpPr>
        <p:spPr>
          <a:xfrm>
            <a:off x="7018171" y="5387131"/>
            <a:ext cx="3108960" cy="830997"/>
          </a:xfrm>
          <a:prstGeom prst="rect">
            <a:avLst/>
          </a:prstGeom>
          <a:noFill/>
        </p:spPr>
        <p:txBody>
          <a:bodyPr wrap="square" rtlCol="0">
            <a:spAutoFit/>
          </a:bodyPr>
          <a:lstStyle/>
          <a:p>
            <a:r>
              <a:rPr lang="en-US" sz="2400" dirty="0">
                <a:solidFill>
                  <a:srgbClr val="FF0000"/>
                </a:solidFill>
              </a:rPr>
              <a:t>This is the only new thing that was added!</a:t>
            </a:r>
          </a:p>
        </p:txBody>
      </p:sp>
    </p:spTree>
    <p:extLst>
      <p:ext uri="{BB962C8B-B14F-4D97-AF65-F5344CB8AC3E}">
        <p14:creationId xmlns:p14="http://schemas.microsoft.com/office/powerpoint/2010/main" val="17966697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4A4E3C8-A55C-B132-A023-55C9038023DD}"/>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F9BB42D3-FDC5-20A6-6B09-4B7D344DD992}"/>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A* is the best of both worlds.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As long as the heuristic does not overestimate distances, A* finds an optimal path, like Dijkstra’s Algorithm does.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 uses the heuristic to reorder the nodes so that it’s more likely that the goal node will be encountered sooner.</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b="1" dirty="0">
                <a:latin typeface="Atkinson Hyperlegible Next"/>
                <a:ea typeface="Arial"/>
                <a:cs typeface="Arial"/>
                <a:sym typeface="Arial"/>
              </a:rPr>
              <a:t>And … that’s it! That’s the A* algorithm.</a:t>
            </a:r>
          </a:p>
          <a:p>
            <a:pPr marL="0" indent="0">
              <a:lnSpc>
                <a:spcPct val="100000"/>
              </a:lnSpc>
              <a:spcBef>
                <a:spcPts val="0"/>
              </a:spcBef>
              <a:buSzPts val="3000"/>
              <a:buNone/>
            </a:pPr>
            <a:endParaRPr lang="en-US" sz="2400" b="1"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6DC6AA4E-2697-0D37-CC65-E78A3C3077B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B996FD7-A056-62AE-799F-22399569144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126E561-F66C-0A30-749D-C5C5A6BEDE4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0419B6F-7DEA-948B-D604-798586EE6AA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CD965E1-B1BF-AE55-F454-F9CE0C048AD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C8BC8ED-DBF2-A728-E76F-FEACF7C0F65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DBE3E6EF-E01B-3C7F-233D-9306411A1B0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F4B8A23-88F3-E445-3757-53B681F1F68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61269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A690AF4-25BD-E976-2A1F-CEC895F5566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72B82300-3A76-6F7E-371C-0229C91BD01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A* selects the next node to expand based on the function:</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𝑔</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h</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342900">
                  <a:lnSpc>
                    <a:spcPct val="100000"/>
                  </a:lnSpc>
                  <a:spcBef>
                    <a:spcPts val="0"/>
                  </a:spcBef>
                  <a:buSzPts val="3000"/>
                </a:pPr>
                <a14:m>
                  <m:oMath xmlns:m="http://schemas.openxmlformats.org/officeDocument/2006/math">
                    <m:r>
                      <a:rPr lang="en-US" sz="2400" i="1" dirty="0">
                        <a:latin typeface="Cambria Math" panose="02040503050406030204" pitchFamily="18" charset="0"/>
                        <a:ea typeface="Arial"/>
                        <a:cs typeface="Arial"/>
                        <a:sym typeface="Arial"/>
                      </a:rPr>
                      <m:t>𝑔</m:t>
                    </m:r>
                    <m:d>
                      <m:dPr>
                        <m:ctrlPr>
                          <a:rPr lang="en-US" sz="2400" i="1" dirty="0">
                            <a:latin typeface="Cambria Math" panose="02040503050406030204" pitchFamily="18" charset="0"/>
                            <a:ea typeface="Arial"/>
                            <a:cs typeface="Arial"/>
                            <a:sym typeface="Arial"/>
                          </a:rPr>
                        </m:ctrlPr>
                      </m:dPr>
                      <m:e>
                        <m:r>
                          <a:rPr lang="en-US" sz="2400" i="1" dirty="0">
                            <a:latin typeface="Cambria Math" panose="02040503050406030204" pitchFamily="18" charset="0"/>
                            <a:ea typeface="Arial"/>
                            <a:cs typeface="Arial"/>
                            <a:sym typeface="Arial"/>
                          </a:rPr>
                          <m:t>𝑛</m:t>
                        </m:r>
                      </m:e>
                    </m:d>
                  </m:oMath>
                </a14:m>
                <a:r>
                  <a:rPr lang="en-US" sz="2400" dirty="0">
                    <a:latin typeface="Atkinson Hyperlegible Next"/>
                    <a:ea typeface="Arial"/>
                    <a:cs typeface="Arial"/>
                    <a:sym typeface="Arial"/>
                  </a:rPr>
                  <a:t>: The actual cost from the start node to node </a:t>
                </a:r>
                <a14:m>
                  <m:oMath xmlns:m="http://schemas.openxmlformats.org/officeDocument/2006/math">
                    <m:r>
                      <a:rPr lang="en-US" sz="2400" i="1" dirty="0" smtClean="0">
                        <a:latin typeface="Cambria Math" panose="02040503050406030204" pitchFamily="18" charset="0"/>
                        <a:ea typeface="Arial"/>
                        <a:cs typeface="Arial"/>
                        <a:sym typeface="Arial"/>
                      </a:rPr>
                      <m:t>𝑛</m:t>
                    </m:r>
                  </m:oMath>
                </a14:m>
                <a:r>
                  <a:rPr lang="en-US" sz="2400" dirty="0">
                    <a:latin typeface="Atkinson Hyperlegible Next"/>
                    <a:ea typeface="Arial"/>
                    <a:cs typeface="Arial"/>
                    <a:sym typeface="Arial"/>
                  </a:rPr>
                  <a:t>.</a:t>
                </a:r>
              </a:p>
              <a:p>
                <a:pPr marL="342900">
                  <a:lnSpc>
                    <a:spcPct val="100000"/>
                  </a:lnSpc>
                  <a:spcBef>
                    <a:spcPts val="0"/>
                  </a:spcBef>
                  <a:buSzPts val="3000"/>
                </a:pPr>
                <a14:m>
                  <m:oMath xmlns:m="http://schemas.openxmlformats.org/officeDocument/2006/math">
                    <m:r>
                      <a:rPr lang="en-US" sz="2400" i="1" dirty="0">
                        <a:latin typeface="Cambria Math" panose="02040503050406030204" pitchFamily="18" charset="0"/>
                        <a:ea typeface="Arial"/>
                        <a:cs typeface="Arial"/>
                        <a:sym typeface="Arial"/>
                      </a:rPr>
                      <m:t>h</m:t>
                    </m:r>
                    <m:d>
                      <m:dPr>
                        <m:ctrlPr>
                          <a:rPr lang="en-US" sz="2400" i="1" dirty="0">
                            <a:latin typeface="Cambria Math" panose="02040503050406030204" pitchFamily="18" charset="0"/>
                            <a:ea typeface="Arial"/>
                            <a:cs typeface="Arial"/>
                            <a:sym typeface="Arial"/>
                          </a:rPr>
                        </m:ctrlPr>
                      </m:dPr>
                      <m:e>
                        <m:r>
                          <a:rPr lang="en-US" sz="2400" i="1" dirty="0">
                            <a:latin typeface="Cambria Math" panose="02040503050406030204" pitchFamily="18" charset="0"/>
                            <a:ea typeface="Arial"/>
                            <a:cs typeface="Arial"/>
                            <a:sym typeface="Arial"/>
                          </a:rPr>
                          <m:t>𝑛</m:t>
                        </m:r>
                      </m:e>
                    </m:d>
                  </m:oMath>
                </a14:m>
                <a:r>
                  <a:rPr lang="en-US" sz="2400" dirty="0">
                    <a:latin typeface="Atkinson Hyperlegible Next"/>
                    <a:ea typeface="Arial"/>
                    <a:cs typeface="Arial"/>
                    <a:sym typeface="Arial"/>
                  </a:rPr>
                  <a:t>: The estimated cost from </a:t>
                </a:r>
                <a14:m>
                  <m:oMath xmlns:m="http://schemas.openxmlformats.org/officeDocument/2006/math">
                    <m:r>
                      <a:rPr lang="en-US" sz="2400" i="1" dirty="0">
                        <a:latin typeface="Cambria Math" panose="02040503050406030204" pitchFamily="18" charset="0"/>
                        <a:ea typeface="Arial"/>
                        <a:cs typeface="Arial"/>
                        <a:sym typeface="Arial"/>
                      </a:rPr>
                      <m:t>𝑛</m:t>
                    </m:r>
                    <m:r>
                      <a:rPr lang="en-US" sz="2400" i="1" dirty="0">
                        <a:latin typeface="Cambria Math" panose="02040503050406030204" pitchFamily="18" charset="0"/>
                        <a:ea typeface="Arial"/>
                        <a:cs typeface="Arial"/>
                        <a:sym typeface="Arial"/>
                      </a:rPr>
                      <m:t> </m:t>
                    </m:r>
                  </m:oMath>
                </a14:m>
                <a:r>
                  <a:rPr lang="en-US" sz="2400" dirty="0">
                    <a:latin typeface="Atkinson Hyperlegible Next"/>
                    <a:ea typeface="Arial"/>
                    <a:cs typeface="Arial"/>
                    <a:sym typeface="Arial"/>
                  </a:rPr>
                  <a:t>to the goal (the heuristic).</a:t>
                </a:r>
              </a:p>
              <a:p>
                <a:pPr marL="342900">
                  <a:lnSpc>
                    <a:spcPct val="100000"/>
                  </a:lnSpc>
                  <a:spcBef>
                    <a:spcPts val="0"/>
                  </a:spcBef>
                  <a:buSzPts val="3000"/>
                </a:pPr>
                <a14:m>
                  <m:oMath xmlns:m="http://schemas.openxmlformats.org/officeDocument/2006/math">
                    <m:r>
                      <a:rPr lang="en-US" sz="2400" i="1" dirty="0">
                        <a:latin typeface="Cambria Math" panose="02040503050406030204" pitchFamily="18" charset="0"/>
                        <a:ea typeface="Arial"/>
                        <a:cs typeface="Arial"/>
                        <a:sym typeface="Arial"/>
                      </a:rPr>
                      <m:t>𝑓</m:t>
                    </m:r>
                    <m:d>
                      <m:dPr>
                        <m:ctrlPr>
                          <a:rPr lang="en-US" sz="2400" i="1" dirty="0">
                            <a:latin typeface="Cambria Math" panose="02040503050406030204" pitchFamily="18" charset="0"/>
                            <a:ea typeface="Arial"/>
                            <a:cs typeface="Arial"/>
                            <a:sym typeface="Arial"/>
                          </a:rPr>
                        </m:ctrlPr>
                      </m:dPr>
                      <m:e>
                        <m:r>
                          <a:rPr lang="en-US" sz="2400" i="1" dirty="0">
                            <a:latin typeface="Cambria Math" panose="02040503050406030204" pitchFamily="18" charset="0"/>
                            <a:ea typeface="Arial"/>
                            <a:cs typeface="Arial"/>
                            <a:sym typeface="Arial"/>
                          </a:rPr>
                          <m:t>𝑛</m:t>
                        </m:r>
                      </m:e>
                    </m:d>
                    <m:r>
                      <a:rPr lang="en-US" sz="2400" b="0" i="1" dirty="0" smtClean="0">
                        <a:latin typeface="Cambria Math" panose="02040503050406030204" pitchFamily="18" charset="0"/>
                        <a:ea typeface="Arial"/>
                        <a:cs typeface="Arial"/>
                        <a:sym typeface="Arial"/>
                      </a:rPr>
                      <m:t>:</m:t>
                    </m:r>
                  </m:oMath>
                </a14:m>
                <a:r>
                  <a:rPr lang="en-US" sz="2400" dirty="0">
                    <a:latin typeface="Atkinson Hyperlegible Next"/>
                    <a:ea typeface="Arial"/>
                    <a:cs typeface="Arial"/>
                    <a:sym typeface="Arial"/>
                  </a:rPr>
                  <a:t> The estimated total cost of the path through </a:t>
                </a:r>
                <a14:m>
                  <m:oMath xmlns:m="http://schemas.openxmlformats.org/officeDocument/2006/math">
                    <m:r>
                      <a:rPr lang="en-US" sz="2400" i="1" dirty="0">
                        <a:latin typeface="Cambria Math" panose="02040503050406030204" pitchFamily="18" charset="0"/>
                        <a:ea typeface="Arial"/>
                        <a:cs typeface="Arial"/>
                        <a:sym typeface="Arial"/>
                      </a:rPr>
                      <m:t>𝑛</m:t>
                    </m:r>
                    <m:r>
                      <a:rPr lang="en-US" sz="2400" i="1" dirty="0">
                        <a:latin typeface="Cambria Math" panose="02040503050406030204" pitchFamily="18" charset="0"/>
                        <a:ea typeface="Arial"/>
                        <a:cs typeface="Arial"/>
                        <a:sym typeface="Arial"/>
                      </a:rPr>
                      <m:t> </m:t>
                    </m:r>
                  </m:oMath>
                </a14:m>
                <a:r>
                  <a:rPr lang="en-US" sz="2400" dirty="0">
                    <a:latin typeface="Atkinson Hyperlegible Next"/>
                    <a:ea typeface="Arial"/>
                    <a:cs typeface="Arial"/>
                    <a:sym typeface="Arial"/>
                  </a:rPr>
                  <a:t>to the goal.</a:t>
                </a:r>
              </a:p>
            </p:txBody>
          </p:sp>
        </mc:Choice>
        <mc:Fallback xmlns="">
          <p:sp>
            <p:nvSpPr>
              <p:cNvPr id="118" name="Google Shape;118;p29">
                <a:extLst>
                  <a:ext uri="{FF2B5EF4-FFF2-40B4-BE49-F238E27FC236}">
                    <a16:creationId xmlns:a16="http://schemas.microsoft.com/office/drawing/2014/main" id="{72B82300-3A76-6F7E-371C-0229C91BD01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1146"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64DD424C-9913-9695-C79B-A44D2D01595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C483D92-E00E-F74F-E1DA-76096999B62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EA0AC67-9F75-E515-E855-62275DF9B951}"/>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21C688E-3684-442A-25E1-E72619C86E26}"/>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F7C79C5-8578-CEA4-6652-F1E266EB7E9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9090F1C-3D97-431E-48E4-D672956E00B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98F6443-2D55-17BD-CDF0-0B6B5C0C3A0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824B2B1-C117-FFF2-DFD1-08C1DD24001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318998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D8756C8-38BE-9695-F655-A406A87D071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D52D499-DDA1-B25B-4E7E-103DA01B5D8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Assume there is an optimal goal node </a:t>
                </a:r>
                <a14:m>
                  <m:oMath xmlns:m="http://schemas.openxmlformats.org/officeDocument/2006/math">
                    <m:r>
                      <a:rPr lang="en-US" sz="2400" i="1" dirty="0">
                        <a:latin typeface="Cambria Math" panose="02040503050406030204" pitchFamily="18" charset="0"/>
                        <a:ea typeface="Arial"/>
                        <a:cs typeface="Arial"/>
                        <a:sym typeface="Arial"/>
                      </a:rPr>
                      <m:t>𝐺</m:t>
                    </m:r>
                  </m:oMath>
                </a14:m>
                <a:r>
                  <a:rPr lang="en-US" sz="2400" dirty="0">
                    <a:latin typeface="Atkinson Hyperlegible Next"/>
                    <a:ea typeface="Arial"/>
                    <a:cs typeface="Arial"/>
                    <a:sym typeface="Arial"/>
                  </a:rPr>
                  <a:t> with a true minimum cost </a:t>
                </a:r>
                <a14:m>
                  <m:oMath xmlns:m="http://schemas.openxmlformats.org/officeDocument/2006/math">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𝐶</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Now, suppose A* is about to </a:t>
                </a:r>
                <a:r>
                  <a:rPr lang="en-US" sz="2400" b="1" dirty="0">
                    <a:latin typeface="Atkinson Hyperlegible Next"/>
                    <a:ea typeface="Arial"/>
                    <a:cs typeface="Arial"/>
                    <a:sym typeface="Arial"/>
                  </a:rPr>
                  <a:t>terminate</a:t>
                </a:r>
                <a:r>
                  <a:rPr lang="en-US" sz="2400" dirty="0">
                    <a:latin typeface="Atkinson Hyperlegible Next"/>
                    <a:ea typeface="Arial"/>
                    <a:cs typeface="Arial"/>
                    <a:sym typeface="Arial"/>
                  </a:rPr>
                  <a:t> by selecting a suboptimal goal node </a:t>
                </a:r>
                <a14:m>
                  <m:oMath xmlns:m="http://schemas.openxmlformats.org/officeDocument/2006/math">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𝐺</m:t>
                        </m:r>
                      </m:e>
                      <m:sub>
                        <m:r>
                          <a:rPr lang="en-US" sz="2400" i="1" dirty="0">
                            <a:latin typeface="Cambria Math" panose="02040503050406030204" pitchFamily="18" charset="0"/>
                            <a:ea typeface="Arial"/>
                            <a:cs typeface="Arial"/>
                            <a:sym typeface="Arial"/>
                          </a:rPr>
                          <m:t>2</m:t>
                        </m:r>
                      </m:sub>
                    </m:sSub>
                  </m:oMath>
                </a14:m>
                <a:r>
                  <a:rPr lang="en-US" sz="2400" dirty="0">
                    <a:latin typeface="Atkinson Hyperlegible Next"/>
                    <a:ea typeface="Arial"/>
                    <a:cs typeface="Arial"/>
                    <a:sym typeface="Arial"/>
                  </a:rPr>
                  <a:t> from the priority queue, where the cost </a:t>
                </a:r>
                <a14:m>
                  <m:oMath xmlns:m="http://schemas.openxmlformats.org/officeDocument/2006/math">
                    <m:r>
                      <a:rPr lang="en-US" sz="2400" i="1" dirty="0" smtClean="0">
                        <a:latin typeface="Cambria Math" panose="02040503050406030204" pitchFamily="18" charset="0"/>
                        <a:ea typeface="Arial"/>
                        <a:cs typeface="Arial"/>
                        <a:sym typeface="Arial"/>
                      </a:rPr>
                      <m:t>𝑔</m:t>
                    </m:r>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e>
                    </m:d>
                    <m:r>
                      <a:rPr lang="en-US" sz="2400" i="1" dirty="0" smtClean="0">
                        <a:latin typeface="Cambria Math" panose="02040503050406030204" pitchFamily="18" charset="0"/>
                        <a:ea typeface="Arial"/>
                        <a:cs typeface="Arial"/>
                        <a:sym typeface="Arial"/>
                      </a:rPr>
                      <m:t>&gt;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𝐶</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For A* to be optimal, we must prove that the algorithm will </a:t>
                </a:r>
                <a:r>
                  <a:rPr lang="en-US" sz="2400" b="1" dirty="0">
                    <a:latin typeface="Atkinson Hyperlegible Next"/>
                    <a:ea typeface="Arial"/>
                    <a:cs typeface="Arial"/>
                    <a:sym typeface="Arial"/>
                  </a:rPr>
                  <a:t>always find </a:t>
                </a:r>
                <a:r>
                  <a:rPr lang="en-US" sz="2400" dirty="0">
                    <a:latin typeface="Atkinson Hyperlegible Next"/>
                    <a:ea typeface="Arial"/>
                    <a:cs typeface="Arial"/>
                    <a:sym typeface="Arial"/>
                  </a:rPr>
                  <a:t>and expand a node on the optimal path </a:t>
                </a:r>
                <a:r>
                  <a:rPr lang="en-US" sz="2400" b="1" dirty="0">
                    <a:latin typeface="Atkinson Hyperlegible Next"/>
                    <a:ea typeface="Arial"/>
                    <a:cs typeface="Arial"/>
                    <a:sym typeface="Arial"/>
                  </a:rPr>
                  <a:t>before it ever reaches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oMath>
                </a14:m>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1D52D499-DDA1-B25B-4E7E-103DA01B5D84}"/>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FAB9E61-9AD8-6A28-7154-84B8918D3A8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1C7607F-8306-6896-0A37-5A8A7343561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88075F9-C105-B637-2603-E75152F43DA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6530075-59D7-C731-F92E-11AE409520F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F7F328C-578A-3ED2-B505-B093AB0D097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F1F844D-5C6B-E852-49CB-B3DF7F0D2B7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5043FE9-89CC-E2EA-A376-96B7E8998EF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81F7ADF-CEDF-B4D2-5287-C01FF821C33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6545912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DA5946C-B472-82A1-6FAB-BADE1B6D245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DF78B5CD-5396-1A5D-2BE8-337548AAAD2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u="sng" dirty="0">
                    <a:latin typeface="Atkinson Hyperlegible Next"/>
                    <a:ea typeface="Arial"/>
                    <a:cs typeface="Arial"/>
                    <a:sym typeface="Arial"/>
                  </a:rPr>
                  <a:t>Frontier assumption</a:t>
                </a:r>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At any point before reaching the optimal goal, there must be at least one node </a:t>
                </a:r>
                <a14:m>
                  <m:oMath xmlns:m="http://schemas.openxmlformats.org/officeDocument/2006/math">
                    <m:r>
                      <a:rPr lang="en-US" sz="2400" i="1" dirty="0">
                        <a:latin typeface="Cambria Math" panose="02040503050406030204" pitchFamily="18" charset="0"/>
                        <a:ea typeface="Arial"/>
                        <a:cs typeface="Arial"/>
                        <a:sym typeface="Arial"/>
                      </a:rPr>
                      <m:t>𝑛</m:t>
                    </m:r>
                    <m:r>
                      <a:rPr lang="en-US" sz="2400" i="1" dirty="0">
                        <a:latin typeface="Cambria Math" panose="02040503050406030204" pitchFamily="18" charset="0"/>
                        <a:ea typeface="Arial"/>
                        <a:cs typeface="Arial"/>
                        <a:sym typeface="Arial"/>
                      </a:rPr>
                      <m:t> </m:t>
                    </m:r>
                  </m:oMath>
                </a14:m>
                <a:r>
                  <a:rPr lang="en-US" sz="2400" dirty="0">
                    <a:latin typeface="Atkinson Hyperlegible Next"/>
                    <a:ea typeface="Arial"/>
                    <a:cs typeface="Arial"/>
                    <a:sym typeface="Arial"/>
                  </a:rPr>
                  <a:t> on the optimal path that is currently in the "Open Set" (the frontier).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Otherwise, it is impossible to reach the optimal goal since this would imply that no path node from the optimal goal is part of the frontier.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Any idea when this assumption might not happen?</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This could happen if you have disconnected graphs and your start and end nodes are in different connected components.</a:t>
                </a:r>
              </a:p>
            </p:txBody>
          </p:sp>
        </mc:Choice>
        <mc:Fallback xmlns="">
          <p:sp>
            <p:nvSpPr>
              <p:cNvPr id="118" name="Google Shape;118;p29">
                <a:extLst>
                  <a:ext uri="{FF2B5EF4-FFF2-40B4-BE49-F238E27FC236}">
                    <a16:creationId xmlns:a16="http://schemas.microsoft.com/office/drawing/2014/main" id="{DF78B5CD-5396-1A5D-2BE8-337548AAAD25}"/>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C55153B-76BA-EDA4-7E90-078867F7AE61}"/>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7C3191B-197A-3E89-BDAA-7F22422DB11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91BA9BB-DBB0-DF38-48F3-0D3BB52D3F97}"/>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34E2B4E-FA5A-AFD5-45EB-B348CA48A3F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52640C0-0611-73C7-FDCC-0EC41962168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F79B649-5F60-5134-5D0C-4A5337FD549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82CF6DF-A91C-3553-4178-5901647DC4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A1737F1-F700-B191-F51C-DBB71910380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767380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B0F6343-9CEF-9D49-3A72-CF494653644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767CBD98-6B61-DC48-1CA4-210183EB72B9}"/>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u="sng" dirty="0">
                    <a:latin typeface="Atkinson Hyperlegible Next"/>
                    <a:ea typeface="Arial"/>
                    <a:cs typeface="Arial"/>
                    <a:sym typeface="Arial"/>
                  </a:rPr>
                  <a:t>Heuristic underestimation assumption</a:t>
                </a:r>
                <a:r>
                  <a:rPr lang="en-US" sz="2400" dirty="0">
                    <a:latin typeface="Atkinson Hyperlegible Next"/>
                    <a:ea typeface="Arial"/>
                    <a:cs typeface="Arial"/>
                    <a:sym typeface="Arial"/>
                  </a:rPr>
                  <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If the heuristic </a:t>
                </a:r>
                <a14:m>
                  <m:oMath xmlns:m="http://schemas.openxmlformats.org/officeDocument/2006/math">
                    <m:r>
                      <a:rPr lang="en-US" sz="2400" i="1" dirty="0">
                        <a:latin typeface="Cambria Math" panose="02040503050406030204" pitchFamily="18" charset="0"/>
                        <a:ea typeface="Arial"/>
                        <a:cs typeface="Arial"/>
                        <a:sym typeface="Arial"/>
                      </a:rPr>
                      <m:t>h</m:t>
                    </m:r>
                    <m:d>
                      <m:dPr>
                        <m:ctrlPr>
                          <a:rPr lang="en-US" sz="2400" i="1" dirty="0">
                            <a:latin typeface="Cambria Math" panose="02040503050406030204" pitchFamily="18" charset="0"/>
                            <a:ea typeface="Arial"/>
                            <a:cs typeface="Arial"/>
                            <a:sym typeface="Arial"/>
                          </a:rPr>
                        </m:ctrlPr>
                      </m:dPr>
                      <m:e>
                        <m:r>
                          <a:rPr lang="en-US" sz="2400" i="1" dirty="0">
                            <a:latin typeface="Cambria Math" panose="02040503050406030204" pitchFamily="18" charset="0"/>
                            <a:ea typeface="Arial"/>
                            <a:cs typeface="Arial"/>
                            <a:sym typeface="Arial"/>
                          </a:rPr>
                          <m:t>𝑛</m:t>
                        </m:r>
                      </m:e>
                    </m:d>
                  </m:oMath>
                </a14:m>
                <a:r>
                  <a:rPr lang="en-US" sz="2400" dirty="0">
                    <a:latin typeface="Atkinson Hyperlegible Next"/>
                    <a:ea typeface="Arial"/>
                    <a:cs typeface="Arial"/>
                    <a:sym typeface="Arial"/>
                  </a:rPr>
                  <a:t> is </a:t>
                </a:r>
                <a:r>
                  <a:rPr lang="en-US" sz="2400" b="1" dirty="0">
                    <a:latin typeface="Atkinson Hyperlegible Next"/>
                    <a:ea typeface="Arial"/>
                    <a:cs typeface="Arial"/>
                    <a:sym typeface="Arial"/>
                  </a:rPr>
                  <a:t>admissible</a:t>
                </a:r>
                <a:r>
                  <a:rPr lang="en-US" sz="2400" dirty="0">
                    <a:latin typeface="Atkinson Hyperlegible Next"/>
                    <a:ea typeface="Arial"/>
                    <a:cs typeface="Arial"/>
                    <a:sym typeface="Arial"/>
                  </a:rPr>
                  <a:t>, it satisfies: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Arial"/>
                          <a:cs typeface="Arial"/>
                          <a:sym typeface="Arial"/>
                        </a:rPr>
                        <m:t>h</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h</m:t>
                          </m:r>
                        </m:e>
                        <m:sup>
                          <m:r>
                            <a:rPr lang="en-US" sz="2400" i="1" dirty="0" smtClean="0">
                              <a:latin typeface="Cambria Math" panose="02040503050406030204" pitchFamily="18" charset="0"/>
                              <a:ea typeface="Arial"/>
                              <a:cs typeface="Arial"/>
                              <a:sym typeface="Arial"/>
                            </a:rPr>
                            <m:t>∗</m:t>
                          </m:r>
                        </m:sup>
                      </m:sSup>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where </a:t>
                </a:r>
                <a14:m>
                  <m:oMath xmlns:m="http://schemas.openxmlformats.org/officeDocument/2006/math">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h</m:t>
                        </m:r>
                      </m:e>
                      <m:sup>
                        <m:r>
                          <a:rPr lang="en-US" sz="2400" i="1" dirty="0" smtClean="0">
                            <a:latin typeface="Cambria Math" panose="02040503050406030204" pitchFamily="18" charset="0"/>
                            <a:ea typeface="Arial"/>
                            <a:cs typeface="Arial"/>
                            <a:sym typeface="Arial"/>
                          </a:rPr>
                          <m:t>∗</m:t>
                        </m:r>
                      </m:sup>
                    </m:sSup>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oMath>
                </a14:m>
                <a:r>
                  <a:rPr lang="en-US" sz="2400" dirty="0">
                    <a:latin typeface="Atkinson Hyperlegible Next"/>
                    <a:ea typeface="Arial"/>
                    <a:cs typeface="Arial"/>
                    <a:sym typeface="Arial"/>
                  </a:rPr>
                  <a:t> is the true cost from </a:t>
                </a:r>
                <a14:m>
                  <m:oMath xmlns:m="http://schemas.openxmlformats.org/officeDocument/2006/math">
                    <m:r>
                      <a:rPr lang="en-US" sz="2400" i="1" dirty="0" smtClean="0">
                        <a:latin typeface="Cambria Math" panose="02040503050406030204" pitchFamily="18" charset="0"/>
                        <a:ea typeface="Arial"/>
                        <a:cs typeface="Arial"/>
                        <a:sym typeface="Arial"/>
                      </a:rPr>
                      <m:t>𝑛</m:t>
                    </m:r>
                  </m:oMath>
                </a14:m>
                <a:r>
                  <a:rPr lang="en-US" sz="2400" dirty="0">
                    <a:latin typeface="Atkinson Hyperlegible Next"/>
                    <a:ea typeface="Arial"/>
                    <a:cs typeface="Arial"/>
                    <a:sym typeface="Arial"/>
                  </a:rPr>
                  <a:t> to the goal.</a:t>
                </a:r>
              </a:p>
            </p:txBody>
          </p:sp>
        </mc:Choice>
        <mc:Fallback xmlns="">
          <p:sp>
            <p:nvSpPr>
              <p:cNvPr id="118" name="Google Shape;118;p29">
                <a:extLst>
                  <a:ext uri="{FF2B5EF4-FFF2-40B4-BE49-F238E27FC236}">
                    <a16:creationId xmlns:a16="http://schemas.microsoft.com/office/drawing/2014/main" id="{767CBD98-6B61-DC48-1CA4-210183EB72B9}"/>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3CEF9ED6-89CB-E035-1101-67BD1C302C6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4F2DB8E2-6339-81C1-E22C-B9F5D296F62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7C170918-7383-9BA0-C3AB-4FC09DE6F19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6909C23F-7488-555A-1FE9-3C695C57D9B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70FCE4A-E644-E77E-2C4E-1B1873A7EB9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3C9B92F-691D-3CB1-8551-24F449477E2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00C4CF9-044A-B116-2845-FBCD20ACDB3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541F18E-6248-5026-6E1B-C0254AA23F7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506703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9F3B140-DCB2-9A8F-52F2-09B6112EEED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CD18263-CC61-0B64-B5A9-F3D39F51E08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Because </a:t>
                </a:r>
                <a14:m>
                  <m:oMath xmlns:m="http://schemas.openxmlformats.org/officeDocument/2006/math">
                    <m:r>
                      <a:rPr lang="en-US" sz="2400" i="1" dirty="0" smtClean="0">
                        <a:latin typeface="Cambria Math" panose="02040503050406030204" pitchFamily="18" charset="0"/>
                        <a:ea typeface="Arial"/>
                        <a:cs typeface="Arial"/>
                        <a:sym typeface="Arial"/>
                      </a:rPr>
                      <m:t>𝑛</m:t>
                    </m:r>
                  </m:oMath>
                </a14:m>
                <a:r>
                  <a:rPr lang="en-US" sz="2400" dirty="0">
                    <a:latin typeface="Atkinson Hyperlegible Next"/>
                    <a:ea typeface="Arial"/>
                    <a:cs typeface="Arial"/>
                    <a:sym typeface="Arial"/>
                  </a:rPr>
                  <a:t> is on the optimal path, we know that: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𝑔</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h</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Since </a:t>
                </a:r>
                <a14:m>
                  <m:oMath xmlns:m="http://schemas.openxmlformats.org/officeDocument/2006/math">
                    <m:r>
                      <a:rPr lang="en-US" sz="2400" i="1" dirty="0" smtClean="0">
                        <a:latin typeface="Cambria Math" panose="02040503050406030204" pitchFamily="18" charset="0"/>
                        <a:ea typeface="Arial"/>
                        <a:cs typeface="Arial"/>
                        <a:sym typeface="Arial"/>
                      </a:rPr>
                      <m:t>h</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h</m:t>
                        </m:r>
                      </m:e>
                      <m:sup>
                        <m:r>
                          <a:rPr lang="en-US" sz="2400" i="1" dirty="0" smtClean="0">
                            <a:latin typeface="Cambria Math" panose="02040503050406030204" pitchFamily="18" charset="0"/>
                            <a:ea typeface="Arial"/>
                            <a:cs typeface="Arial"/>
                            <a:sym typeface="Arial"/>
                          </a:rPr>
                          <m:t>∗</m:t>
                        </m:r>
                      </m:sup>
                    </m:sSup>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oMath>
                </a14:m>
                <a:r>
                  <a:rPr lang="en-US" sz="2400" dirty="0">
                    <a:latin typeface="Atkinson Hyperlegible Next"/>
                    <a:ea typeface="Arial"/>
                    <a:cs typeface="Arial"/>
                    <a:sym typeface="Arial"/>
                  </a:rPr>
                  <a:t>, then:</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𝑔</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h</m:t>
                          </m:r>
                        </m:e>
                        <m:sup>
                          <m:r>
                            <a:rPr lang="en-US" sz="2400" i="1" dirty="0" smtClean="0">
                              <a:latin typeface="Cambria Math" panose="02040503050406030204" pitchFamily="18" charset="0"/>
                              <a:ea typeface="Arial"/>
                              <a:cs typeface="Arial"/>
                              <a:sym typeface="Arial"/>
                            </a:rPr>
                            <m:t>∗</m:t>
                          </m:r>
                        </m:sup>
                      </m:sSup>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By definition, </a:t>
                </a:r>
                <a14:m>
                  <m:oMath xmlns:m="http://schemas.openxmlformats.org/officeDocument/2006/math">
                    <m:r>
                      <a:rPr lang="en-US" sz="2400" i="1" dirty="0" smtClean="0">
                        <a:latin typeface="Cambria Math" panose="02040503050406030204" pitchFamily="18" charset="0"/>
                        <a:ea typeface="Arial"/>
                        <a:cs typeface="Arial"/>
                        <a:sym typeface="Arial"/>
                      </a:rPr>
                      <m:t>𝑔</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h</m:t>
                        </m:r>
                      </m:e>
                      <m:sup>
                        <m:r>
                          <a:rPr lang="en-US" sz="2400" i="1" dirty="0" smtClean="0">
                            <a:latin typeface="Cambria Math" panose="02040503050406030204" pitchFamily="18" charset="0"/>
                            <a:ea typeface="Arial"/>
                            <a:cs typeface="Arial"/>
                            <a:sym typeface="Arial"/>
                          </a:rPr>
                          <m:t>∗</m:t>
                        </m:r>
                      </m:sup>
                    </m:sSup>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𝐶</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 (the optimal cost).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Therefore:</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𝐶</m:t>
                          </m:r>
                        </m:e>
                        <m:sup>
                          <m:r>
                            <a:rPr lang="en-US" sz="2400" i="1" dirty="0" smtClean="0">
                              <a:latin typeface="Cambria Math" panose="02040503050406030204" pitchFamily="18" charset="0"/>
                              <a:ea typeface="Arial"/>
                              <a:cs typeface="Arial"/>
                              <a:sym typeface="Arial"/>
                            </a:rPr>
                            <m:t>∗</m:t>
                          </m:r>
                        </m:sup>
                      </m:sSup>
                    </m:oMath>
                  </m:oMathPara>
                </a14:m>
                <a:endParaRPr lang="en-US" sz="24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BCD18263-CC61-0B64-B5A9-F3D39F51E08C}"/>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99100858-1F92-BFAF-029B-B83AACBFC29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6412DB4-1433-AEB3-E236-A86A43B8C6E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E9D62DD-9DFA-C091-DEA3-59E65735FFF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8EC8E67-D823-72EE-BCC3-F0394095CFB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CC390DD-603C-AE51-F91F-2245DF28822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7D6D057-985A-C87F-FC81-51477BB84CD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CA5A861-DBEF-8706-CC62-2572224DD84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5169423-1D5F-ECCE-FCC8-28429135AB3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41344079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3BC1021E-84B9-1337-97DA-822BBC7DD58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A8E39157-781F-3A65-57FD-A48E7E36829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Now, consider our suboptimal goal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oMath>
                </a14:m>
                <a:r>
                  <a:rPr lang="en-US" sz="2400" dirty="0">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Since </a:t>
                </a:r>
                <a14:m>
                  <m:oMath xmlns:m="http://schemas.openxmlformats.org/officeDocument/2006/math">
                    <m:sSub>
                      <m:sSubPr>
                        <m:ctrlPr>
                          <a:rPr lang="en-US" sz="2400" i="1" dirty="0">
                            <a:latin typeface="Cambria Math" panose="02040503050406030204" pitchFamily="18" charset="0"/>
                            <a:ea typeface="Arial"/>
                            <a:cs typeface="Arial"/>
                            <a:sym typeface="Arial"/>
                          </a:rPr>
                        </m:ctrlPr>
                      </m:sSubPr>
                      <m:e>
                        <m:r>
                          <a:rPr lang="en-US" sz="2400" i="1" dirty="0">
                            <a:latin typeface="Cambria Math" panose="02040503050406030204" pitchFamily="18" charset="0"/>
                            <a:ea typeface="Arial"/>
                            <a:cs typeface="Arial"/>
                            <a:sym typeface="Arial"/>
                          </a:rPr>
                          <m:t>𝐺</m:t>
                        </m:r>
                      </m:e>
                      <m:sub>
                        <m:r>
                          <a:rPr lang="en-US" sz="2400" i="1" dirty="0">
                            <a:latin typeface="Cambria Math" panose="02040503050406030204" pitchFamily="18" charset="0"/>
                            <a:ea typeface="Arial"/>
                            <a:cs typeface="Arial"/>
                            <a:sym typeface="Arial"/>
                          </a:rPr>
                          <m:t>2</m:t>
                        </m:r>
                      </m:sub>
                    </m:sSub>
                  </m:oMath>
                </a14:m>
                <a:r>
                  <a:rPr lang="en-US" sz="2400" dirty="0">
                    <a:latin typeface="Atkinson Hyperlegible Next"/>
                    <a:ea typeface="Arial"/>
                    <a:cs typeface="Arial"/>
                    <a:sym typeface="Arial"/>
                  </a:rPr>
                  <a:t> is a goal node, its heuristic </a:t>
                </a:r>
                <a14:m>
                  <m:oMath xmlns:m="http://schemas.openxmlformats.org/officeDocument/2006/math">
                    <m:r>
                      <a:rPr lang="en-US" sz="2400" i="1" dirty="0" smtClean="0">
                        <a:latin typeface="Cambria Math" panose="02040503050406030204" pitchFamily="18" charset="0"/>
                        <a:ea typeface="Arial"/>
                        <a:cs typeface="Arial"/>
                        <a:sym typeface="Arial"/>
                      </a:rPr>
                      <m:t>h</m:t>
                    </m:r>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e>
                    </m:d>
                    <m:r>
                      <a:rPr lang="en-US" sz="2400" i="1" dirty="0" smtClean="0">
                        <a:latin typeface="Cambria Math" panose="02040503050406030204" pitchFamily="18" charset="0"/>
                        <a:ea typeface="Arial"/>
                        <a:cs typeface="Arial"/>
                        <a:sym typeface="Arial"/>
                      </a:rPr>
                      <m:t>=0</m:t>
                    </m:r>
                  </m:oMath>
                </a14:m>
                <a:r>
                  <a:rPr lang="en-US" sz="2400" dirty="0">
                    <a:latin typeface="Atkinson Hyperlegible Next"/>
                    <a:ea typeface="Arial"/>
                    <a:cs typeface="Arial"/>
                    <a:sym typeface="Arial"/>
                  </a:rPr>
                  <a:t>. </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Thus:</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e>
                      </m:d>
                      <m:r>
                        <a:rPr lang="en-US" sz="2400" i="1" dirty="0" smtClean="0">
                          <a:latin typeface="Cambria Math" panose="02040503050406030204" pitchFamily="18" charset="0"/>
                          <a:ea typeface="Arial"/>
                          <a:cs typeface="Arial"/>
                          <a:sym typeface="Arial"/>
                        </a:rPr>
                        <m:t>=</m:t>
                      </m:r>
                      <m:r>
                        <a:rPr lang="en-US" sz="2400" i="1" dirty="0" smtClean="0">
                          <a:latin typeface="Cambria Math" panose="02040503050406030204" pitchFamily="18" charset="0"/>
                          <a:ea typeface="Arial"/>
                          <a:cs typeface="Arial"/>
                          <a:sym typeface="Arial"/>
                        </a:rPr>
                        <m:t>𝑔</m:t>
                      </m:r>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e>
                      </m:d>
                      <m:r>
                        <a:rPr lang="en-US" sz="2400" i="1" dirty="0" smtClean="0">
                          <a:latin typeface="Cambria Math" panose="02040503050406030204" pitchFamily="18" charset="0"/>
                          <a:ea typeface="Arial"/>
                          <a:cs typeface="Arial"/>
                          <a:sym typeface="Arial"/>
                        </a:rPr>
                        <m:t>+0&gt;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𝐶</m:t>
                          </m:r>
                        </m:e>
                        <m:sup>
                          <m:r>
                            <a:rPr lang="en-US" sz="2400" i="1" dirty="0" smtClean="0">
                              <a:latin typeface="Cambria Math" panose="02040503050406030204" pitchFamily="18" charset="0"/>
                              <a:ea typeface="Arial"/>
                              <a:cs typeface="Arial"/>
                              <a:sym typeface="Arial"/>
                            </a:rPr>
                            <m:t>∗</m:t>
                          </m:r>
                        </m:sup>
                      </m:sSup>
                    </m:oMath>
                  </m:oMathPara>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Because </a:t>
                </a:r>
                <a14:m>
                  <m:oMath xmlns:m="http://schemas.openxmlformats.org/officeDocument/2006/math">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𝐶</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 and </a:t>
                </a:r>
                <a14:m>
                  <m:oMath xmlns:m="http://schemas.openxmlformats.org/officeDocument/2006/math">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e>
                    </m:d>
                    <m:r>
                      <a:rPr lang="en-US" sz="2400" i="1" dirty="0" smtClean="0">
                        <a:latin typeface="Cambria Math" panose="02040503050406030204" pitchFamily="18" charset="0"/>
                        <a:ea typeface="Arial"/>
                        <a:cs typeface="Arial"/>
                        <a:sym typeface="Arial"/>
                      </a:rPr>
                      <m:t>&gt;</m:t>
                    </m:r>
                    <m:sSup>
                      <m:sSupPr>
                        <m:ctrlPr>
                          <a:rPr lang="en-US" sz="2400" i="1" dirty="0" smtClean="0">
                            <a:latin typeface="Cambria Math" panose="02040503050406030204" pitchFamily="18" charset="0"/>
                            <a:ea typeface="Arial"/>
                            <a:cs typeface="Arial"/>
                            <a:sym typeface="Arial"/>
                          </a:rPr>
                        </m:ctrlPr>
                      </m:sSupPr>
                      <m:e>
                        <m:r>
                          <a:rPr lang="en-US" sz="2400" i="1" dirty="0" smtClean="0">
                            <a:latin typeface="Cambria Math" panose="02040503050406030204" pitchFamily="18" charset="0"/>
                            <a:ea typeface="Arial"/>
                            <a:cs typeface="Arial"/>
                            <a:sym typeface="Arial"/>
                          </a:rPr>
                          <m:t>𝐶</m:t>
                        </m:r>
                      </m:e>
                      <m:sup>
                        <m:r>
                          <a:rPr lang="en-US" sz="2400" i="1" dirty="0" smtClean="0">
                            <a:latin typeface="Cambria Math" panose="02040503050406030204" pitchFamily="18" charset="0"/>
                            <a:ea typeface="Arial"/>
                            <a:cs typeface="Arial"/>
                            <a:sym typeface="Arial"/>
                          </a:rPr>
                          <m:t>∗</m:t>
                        </m:r>
                      </m:sup>
                    </m:sSup>
                  </m:oMath>
                </a14:m>
                <a:r>
                  <a:rPr lang="en-US" sz="2400" dirty="0">
                    <a:latin typeface="Atkinson Hyperlegible Next"/>
                    <a:ea typeface="Arial"/>
                    <a:cs typeface="Arial"/>
                    <a:sym typeface="Arial"/>
                  </a:rPr>
                  <a:t>, it follows that: </a:t>
                </a:r>
                <a14:m>
                  <m:oMath xmlns:m="http://schemas.openxmlformats.org/officeDocument/2006/math">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r>
                          <a:rPr lang="en-US" sz="2400" i="1" dirty="0" smtClean="0">
                            <a:latin typeface="Cambria Math" panose="02040503050406030204" pitchFamily="18" charset="0"/>
                            <a:ea typeface="Arial"/>
                            <a:cs typeface="Arial"/>
                            <a:sym typeface="Arial"/>
                          </a:rPr>
                          <m:t>𝑛</m:t>
                        </m:r>
                      </m:e>
                    </m:d>
                    <m:r>
                      <a:rPr lang="en-US" sz="2400" i="1" dirty="0" smtClean="0">
                        <a:latin typeface="Cambria Math" panose="02040503050406030204" pitchFamily="18" charset="0"/>
                        <a:ea typeface="Arial"/>
                        <a:cs typeface="Arial"/>
                        <a:sym typeface="Arial"/>
                      </a:rPr>
                      <m:t>&lt;</m:t>
                    </m:r>
                    <m:r>
                      <a:rPr lang="en-US" sz="2400" i="1" dirty="0" smtClean="0">
                        <a:latin typeface="Cambria Math" panose="02040503050406030204" pitchFamily="18" charset="0"/>
                        <a:ea typeface="Arial"/>
                        <a:cs typeface="Arial"/>
                        <a:sym typeface="Arial"/>
                      </a:rPr>
                      <m:t>𝑓</m:t>
                    </m:r>
                    <m:d>
                      <m:dPr>
                        <m:ctrlPr>
                          <a:rPr lang="en-US" sz="2400" i="1" dirty="0" smtClean="0">
                            <a:latin typeface="Cambria Math" panose="02040503050406030204" pitchFamily="18" charset="0"/>
                            <a:ea typeface="Arial"/>
                            <a:cs typeface="Arial"/>
                            <a:sym typeface="Arial"/>
                          </a:rPr>
                        </m:ctrlPr>
                      </m:dPr>
                      <m:e>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e>
                    </m:d>
                  </m:oMath>
                </a14:m>
                <a:endParaRPr lang="en-US" sz="2400" dirty="0">
                  <a:latin typeface="Atkinson Hyperlegible Next"/>
                  <a:ea typeface="Arial"/>
                  <a:cs typeface="Arial"/>
                  <a:sym typeface="Arial"/>
                </a:endParaRP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Since A* always expands the node with the </a:t>
                </a:r>
                <a:r>
                  <a:rPr lang="en-US" sz="2400" b="1" dirty="0">
                    <a:latin typeface="Atkinson Hyperlegible Next"/>
                    <a:ea typeface="Arial"/>
                    <a:cs typeface="Arial"/>
                    <a:sym typeface="Arial"/>
                  </a:rPr>
                  <a:t>lowest </a:t>
                </a:r>
                <a14:m>
                  <m:oMath xmlns:m="http://schemas.openxmlformats.org/officeDocument/2006/math">
                    <m:r>
                      <a:rPr lang="en-US" sz="2400" b="1" i="1" dirty="0">
                        <a:latin typeface="Cambria Math" panose="02040503050406030204" pitchFamily="18" charset="0"/>
                        <a:ea typeface="Arial"/>
                        <a:cs typeface="Arial"/>
                        <a:sym typeface="Arial"/>
                      </a:rPr>
                      <m:t>𝒇</m:t>
                    </m:r>
                  </m:oMath>
                </a14:m>
                <a:r>
                  <a:rPr lang="en-US" sz="2400" b="1" dirty="0">
                    <a:latin typeface="Atkinson Hyperlegible Next"/>
                    <a:ea typeface="Arial"/>
                    <a:cs typeface="Arial"/>
                    <a:sym typeface="Arial"/>
                  </a:rPr>
                  <a:t>-value first</a:t>
                </a:r>
                <a:r>
                  <a:rPr lang="en-US" sz="2400" dirty="0">
                    <a:latin typeface="Atkinson Hyperlegible Next"/>
                    <a:ea typeface="Arial"/>
                    <a:cs typeface="Arial"/>
                    <a:sym typeface="Arial"/>
                  </a:rPr>
                  <a:t>, it will always choose the node </a:t>
                </a:r>
                <a14:m>
                  <m:oMath xmlns:m="http://schemas.openxmlformats.org/officeDocument/2006/math">
                    <m:r>
                      <m:rPr>
                        <m:sty m:val="p"/>
                      </m:rPr>
                      <a:rPr lang="en-US" sz="2400" b="0" i="1" dirty="0" smtClean="0">
                        <a:latin typeface="Cambria Math" panose="02040503050406030204" pitchFamily="18" charset="0"/>
                        <a:ea typeface="Arial"/>
                        <a:cs typeface="Arial"/>
                        <a:sym typeface="Arial"/>
                      </a:rPr>
                      <m:t>n</m:t>
                    </m:r>
                  </m:oMath>
                </a14:m>
                <a:r>
                  <a:rPr lang="en-US" sz="2400" dirty="0">
                    <a:latin typeface="Atkinson Hyperlegible Next"/>
                    <a:ea typeface="Arial"/>
                    <a:cs typeface="Arial"/>
                    <a:sym typeface="Arial"/>
                  </a:rPr>
                  <a:t> on the optimal path before it ever picks the suboptimal </a:t>
                </a:r>
                <a14:m>
                  <m:oMath xmlns:m="http://schemas.openxmlformats.org/officeDocument/2006/math">
                    <m:sSub>
                      <m:sSubPr>
                        <m:ctrlPr>
                          <a:rPr lang="en-US" sz="2400" i="1" dirty="0" smtClean="0">
                            <a:latin typeface="Cambria Math" panose="02040503050406030204" pitchFamily="18" charset="0"/>
                            <a:ea typeface="Arial"/>
                            <a:cs typeface="Arial"/>
                            <a:sym typeface="Arial"/>
                          </a:rPr>
                        </m:ctrlPr>
                      </m:sSubPr>
                      <m:e>
                        <m:r>
                          <a:rPr lang="en-US" sz="2400" i="1" dirty="0" smtClean="0">
                            <a:latin typeface="Cambria Math" panose="02040503050406030204" pitchFamily="18" charset="0"/>
                            <a:ea typeface="Arial"/>
                            <a:cs typeface="Arial"/>
                            <a:sym typeface="Arial"/>
                          </a:rPr>
                          <m:t>𝐺</m:t>
                        </m:r>
                      </m:e>
                      <m:sub>
                        <m:r>
                          <a:rPr lang="en-US" sz="2400" i="1" dirty="0" smtClean="0">
                            <a:latin typeface="Cambria Math" panose="02040503050406030204" pitchFamily="18" charset="0"/>
                            <a:ea typeface="Arial"/>
                            <a:cs typeface="Arial"/>
                            <a:sym typeface="Arial"/>
                          </a:rPr>
                          <m:t>2</m:t>
                        </m:r>
                      </m:sub>
                    </m:sSub>
                  </m:oMath>
                </a14:m>
                <a:r>
                  <a:rPr lang="en-US" sz="2400" dirty="0">
                    <a:latin typeface="Atkinson Hyperlegible Next"/>
                    <a:ea typeface="Arial"/>
                    <a:cs typeface="Arial"/>
                    <a:sym typeface="Arial"/>
                  </a:rPr>
                  <a:t>. This ensures the optimal path is found first.</a:t>
                </a:r>
              </a:p>
            </p:txBody>
          </p:sp>
        </mc:Choice>
        <mc:Fallback xmlns="">
          <p:sp>
            <p:nvSpPr>
              <p:cNvPr id="118" name="Google Shape;118;p29">
                <a:extLst>
                  <a:ext uri="{FF2B5EF4-FFF2-40B4-BE49-F238E27FC236}">
                    <a16:creationId xmlns:a16="http://schemas.microsoft.com/office/drawing/2014/main" id="{A8E39157-781F-3A65-57FD-A48E7E368298}"/>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873" t="-885"/>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D9792576-861B-9BB5-496F-FDB2AE806A9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9AA5471-1F9F-9725-CFBE-8274E971E28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Path Planning – Movement Cost</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EC6B5B10-A9EE-05E6-F0D5-502F51D7C330}"/>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6B98178-988C-D41B-E304-A2C7E73E64A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F7A4D3C-CE65-2100-BF7A-4D7D7AFEFFE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7595D2C-8A50-1007-AB47-068DCBAD239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AAA0BA6-97F5-1FA2-E4E4-1DC87CB682C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7EDA24A-235B-CA97-E131-DC7A382D9C3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6742672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a:t>
            </a:r>
          </a:p>
        </p:txBody>
      </p:sp>
      <p:pic>
        <p:nvPicPr>
          <p:cNvPr id="265" name="Google Shape;265;p37">
            <a:extLs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18</a:t>
            </a:r>
          </a:p>
        </p:txBody>
      </p:sp>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2246</TotalTime>
  <Words>3661</Words>
  <Application>Microsoft Office PowerPoint</Application>
  <PresentationFormat>Widescreen</PresentationFormat>
  <Paragraphs>502</Paragraphs>
  <Slides>52</Slides>
  <Notes>52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Cambria Math</vt:lpstr>
      <vt:lpstr>Roboto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238</cp:revision>
  <dcterms:created xsi:type="dcterms:W3CDTF">2019-01-14T22:06:33Z</dcterms:created>
  <dcterms:modified xsi:type="dcterms:W3CDTF">2026-04-01T13:45:54Z</dcterms:modified>
</cp:coreProperties>
</file>