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6-7: Encoders &amp; PWM</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9</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tkinson Hyperlegible Next"/>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tkinson Hyperlegible Next"/>
                <a:ea typeface="Arial"/>
                <a:cs typeface="Arial"/>
                <a:sym typeface="Arial"/>
              </a:rPr>
              <a:t>)</a:t>
            </a:r>
            <a:endParaRPr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Optical Encoder</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How do we measure angular position or motion of a shaft into a digital value?</a:t>
            </a:r>
            <a:r>
              <a:rPr lang="en-US" sz="2400" dirty="0">
                <a:latin typeface="Atkinson Hyperlegible Next"/>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The optical encoder is composed of a light emitting device (</a:t>
            </a:r>
            <a:r>
              <a:rPr lang="en-US" sz="2400" b="1" dirty="0">
                <a:solidFill>
                  <a:schemeClr val="dk1"/>
                </a:solidFill>
                <a:latin typeface="Atkinson Hyperlegible Next"/>
                <a:ea typeface="Arial"/>
                <a:cs typeface="Arial"/>
                <a:sym typeface="Arial"/>
              </a:rPr>
              <a:t>LED</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photo sensors</a:t>
            </a:r>
            <a:r>
              <a:rPr lang="en-US" sz="2400" dirty="0">
                <a:solidFill>
                  <a:schemeClr val="dk1"/>
                </a:solidFill>
                <a:latin typeface="Atkinson Hyperlegible Next"/>
                <a:ea typeface="Arial"/>
                <a:cs typeface="Arial"/>
                <a:sym typeface="Arial"/>
              </a:rPr>
              <a:t>, and a disc called a </a:t>
            </a:r>
            <a:r>
              <a:rPr lang="en-US" sz="2400" b="1" dirty="0">
                <a:solidFill>
                  <a:schemeClr val="dk1"/>
                </a:solidFill>
                <a:latin typeface="Atkinson Hyperlegible Next"/>
                <a:ea typeface="Arial"/>
                <a:cs typeface="Arial"/>
                <a:sym typeface="Arial"/>
              </a:rPr>
              <a:t>code wheel </a:t>
            </a:r>
            <a:r>
              <a:rPr lang="en-US" sz="2400" dirty="0">
                <a:solidFill>
                  <a:schemeClr val="dk1"/>
                </a:solidFill>
                <a:latin typeface="Atkinson Hyperlegible Next"/>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Resolution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are some problems?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tkinson Hyperlegible Next"/>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combined output of (A, B), forms a 2-bit </a:t>
                </a:r>
                <a:r>
                  <a:rPr lang="en-US" sz="2400" b="1" dirty="0">
                    <a:solidFill>
                      <a:schemeClr val="dk1"/>
                    </a:solidFill>
                    <a:latin typeface="Atkinson Hyperlegible Next"/>
                    <a:ea typeface="Arial"/>
                    <a:cs typeface="Arial"/>
                    <a:sym typeface="Arial"/>
                  </a:rPr>
                  <a:t>Gray code sequence</a:t>
                </a:r>
                <a:r>
                  <a:rPr lang="en-US" sz="2400" dirty="0">
                    <a:solidFill>
                      <a:schemeClr val="dk1"/>
                    </a:solidFill>
                    <a:latin typeface="Atkinson Hyperlegible Next"/>
                    <a:ea typeface="Arial"/>
                    <a:cs typeface="Arial"/>
                    <a:sym typeface="Arial"/>
                  </a:rPr>
                  <a:t> (only 1 bit changes each timestep).</a:t>
                </a:r>
              </a:p>
              <a:p>
                <a:pPr marL="285750" indent="-285750">
                  <a:lnSpc>
                    <a:spcPct val="100000"/>
                  </a:lnSpc>
                  <a:spcBef>
                    <a:spcPts val="0"/>
                  </a:spcBef>
                  <a:buSzPts val="3000"/>
                </a:pPr>
                <a:r>
                  <a:rPr lang="en-US" sz="2400" dirty="0">
                    <a:latin typeface="Atkinson Hyperlegible Next"/>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clockwise </a:t>
                </a:r>
                <a:r>
                  <a:rPr lang="en-US" sz="2400" dirty="0">
                    <a:latin typeface="Atkinson Hyperlegible Next"/>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counter-clockwise</a:t>
                </a:r>
                <a:r>
                  <a:rPr lang="en-US" sz="2400" dirty="0">
                    <a:latin typeface="Atkinson Hyperlegible Next"/>
                    <a:ea typeface="Arial"/>
                    <a:cs typeface="Arial"/>
                    <a:sym typeface="Arial"/>
                  </a:rPr>
                  <a:t> (CCW): B leads C, the sequence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if you turn the robot off?</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eQEP</a:t>
            </a:r>
            <a:endParaRPr i="0" b="0" sz="1400" dirty="0">
              <a:solidFill>
                <a:srgbClr val="000000"/>
              </a:solidFill>
            </a:endParaRPr>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Overview diagram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Quadrature Count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Others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CAP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Absolute Optical Encoder</a:t>
            </a:r>
            <a:endParaRPr i="0" b="0" sz="1400" dirty="0">
              <a:solidFill>
                <a:srgbClr val="000000"/>
              </a:solidFill>
            </a:endParaRPr>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FIFO</a:t>
            </a:r>
            <a:endParaRPr i="0" b="0" sz="1400" dirty="0">
              <a:solidFill>
                <a:srgbClr val="000000"/>
              </a:solidFill>
            </a:endParaRPr>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 Example 18-1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PWM</a:t>
            </a:r>
            <a:endParaRPr i="0" b="0" sz="1400" dirty="0">
              <a:solidFill>
                <a:srgbClr val="000000"/>
              </a:solidFill>
            </a:endParaRPr>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How do LEDs become dimmer?</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Counter-Compare Submodule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Motor / Servo</a:t>
            </a:r>
            <a:endParaRPr i="0" b="0" sz="1400" dirty="0">
              <a:solidFill>
                <a:srgbClr val="000000"/>
              </a:solidFill>
            </a:endParaRPr>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 Example Datasheet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6–7</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