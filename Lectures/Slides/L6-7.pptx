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6-7: Encoders &amp; PWM</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9</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tkinson Hyperlegible Next"/>
                <a:ea typeface="Arial"/>
                <a:cs typeface="Arial"/>
                <a:sym typeface="Arial"/>
              </a:rPr>
              <a:t>Homeworks</a:t>
            </a:r>
            <a:r>
              <a:rPr lang="en-US" sz="1800" b="1" dirty="0">
                <a:solidFill>
                  <a:srgbClr val="E84B36"/>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dirty="0">
                <a:latin typeface="Atkinson Hyperlegible Next"/>
                <a:ea typeface="Arial"/>
                <a:cs typeface="Arial"/>
                <a:sym typeface="Arial"/>
              </a:rPr>
              <a:t>February 17, 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E84B36"/>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tkinson Hyperlegible Next"/>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tkinson Hyperlegible Next"/>
                <a:ea typeface="Arial"/>
                <a:cs typeface="Arial"/>
                <a:sym typeface="Arial"/>
              </a:rPr>
              <a:t>)</a:t>
            </a:r>
            <a:endParaRPr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Optical Encoder</a:t>
            </a:r>
            <a:endParaRPr i="0" b="0" sz="1400" dirty="0">
              <a:solidFill>
                <a:srgbClr val="000000"/>
              </a:solidFil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How do we measure angular position or motion of a shaft into a digital value?</a:t>
            </a:r>
            <a:r>
              <a:rPr lang="en-US" sz="2400" dirty="0">
                <a:latin typeface="Atkinson Hyperlegible Next"/>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The optical encoder is composed of a light emitting device (</a:t>
            </a:r>
            <a:r>
              <a:rPr lang="en-US" sz="2400" b="1" dirty="0">
                <a:solidFill>
                  <a:schemeClr val="dk1"/>
                </a:solidFill>
                <a:latin typeface="Atkinson Hyperlegible Next"/>
                <a:ea typeface="Arial"/>
                <a:cs typeface="Arial"/>
                <a:sym typeface="Arial"/>
              </a:rPr>
              <a:t>LED</a:t>
            </a:r>
            <a:r>
              <a:rPr lang="en-US" sz="2400" dirty="0">
                <a:solidFill>
                  <a:schemeClr val="dk1"/>
                </a:solidFill>
                <a:latin typeface="Atkinson Hyperlegible Next"/>
                <a:ea typeface="Arial"/>
                <a:cs typeface="Arial"/>
                <a:sym typeface="Arial"/>
              </a:rPr>
              <a:t>), </a:t>
            </a:r>
            <a:r>
              <a:rPr lang="en-US" sz="2400" b="1" dirty="0">
                <a:solidFill>
                  <a:schemeClr val="dk1"/>
                </a:solidFill>
                <a:latin typeface="Atkinson Hyperlegible Next"/>
                <a:ea typeface="Arial"/>
                <a:cs typeface="Arial"/>
                <a:sym typeface="Arial"/>
              </a:rPr>
              <a:t>photo sensors</a:t>
            </a:r>
            <a:r>
              <a:rPr lang="en-US" sz="2400" dirty="0">
                <a:solidFill>
                  <a:schemeClr val="dk1"/>
                </a:solidFill>
                <a:latin typeface="Atkinson Hyperlegible Next"/>
                <a:ea typeface="Arial"/>
                <a:cs typeface="Arial"/>
                <a:sym typeface="Arial"/>
              </a:rPr>
              <a:t>, and a disc called a </a:t>
            </a:r>
            <a:r>
              <a:rPr lang="en-US" sz="2400" b="1" dirty="0">
                <a:solidFill>
                  <a:schemeClr val="dk1"/>
                </a:solidFill>
                <a:latin typeface="Atkinson Hyperlegible Next"/>
                <a:ea typeface="Arial"/>
                <a:cs typeface="Arial"/>
                <a:sym typeface="Arial"/>
              </a:rPr>
              <a:t>code wheel </a:t>
            </a:r>
            <a:r>
              <a:rPr lang="en-US" sz="2400" dirty="0">
                <a:solidFill>
                  <a:schemeClr val="dk1"/>
                </a:solidFill>
                <a:latin typeface="Atkinson Hyperlegible Next"/>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tkinson Hyperlegible Next"/>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tkinson Hyperlegible Next"/>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Resolution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are some problems?</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tkinson Hyperlegible Next"/>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solidFill>
                  <a:schemeClr val="dk1"/>
                </a:solidFill>
                <a:latin typeface="Atkinson Hyperlegible Next"/>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tkinson Hyperlegible Next"/>
                    <a:ea typeface="Arial"/>
                    <a:cs typeface="Arial"/>
                    <a:sym typeface="Arial"/>
                  </a:rPr>
                  <a:t>The combined output of (A, B), forms a 2-bit </a:t>
                </a:r>
                <a:r>
                  <a:rPr lang="en-US" sz="2400" b="1" dirty="0">
                    <a:solidFill>
                      <a:schemeClr val="dk1"/>
                    </a:solidFill>
                    <a:latin typeface="Atkinson Hyperlegible Next"/>
                    <a:ea typeface="Arial"/>
                    <a:cs typeface="Arial"/>
                    <a:sym typeface="Arial"/>
                  </a:rPr>
                  <a:t>Gray code sequence</a:t>
                </a:r>
                <a:r>
                  <a:rPr lang="en-US" sz="2400" dirty="0">
                    <a:solidFill>
                      <a:schemeClr val="dk1"/>
                    </a:solidFill>
                    <a:latin typeface="Atkinson Hyperlegible Next"/>
                    <a:ea typeface="Arial"/>
                    <a:cs typeface="Arial"/>
                    <a:sym typeface="Arial"/>
                  </a:rPr>
                  <a:t> (only 1 bit changes each timestep).</a:t>
                </a:r>
              </a:p>
              <a:p>
                <a:pPr marL="285750" indent="-285750">
                  <a:lnSpc>
                    <a:spcPct val="100000"/>
                  </a:lnSpc>
                  <a:spcBef>
                    <a:spcPts val="0"/>
                  </a:spcBef>
                  <a:buSzPts val="3000"/>
                </a:pPr>
                <a:r>
                  <a:rPr lang="en-US" sz="2400" dirty="0">
                    <a:latin typeface="Atkinson Hyperlegible Next"/>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clockwise </a:t>
                </a:r>
                <a:r>
                  <a:rPr lang="en-US" sz="2400" dirty="0">
                    <a:latin typeface="Atkinson Hyperlegible Next"/>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tkinson Hyperlegible Next"/>
                  <a:ea typeface="Arial"/>
                  <a:cs typeface="Arial"/>
                  <a:sym typeface="Arial"/>
                </a:endParaRPr>
              </a:p>
              <a:p>
                <a:pPr marL="0" indent="0" algn="ctr">
                  <a:lnSpc>
                    <a:spcPct val="100000"/>
                  </a:lnSpc>
                  <a:spcBef>
                    <a:spcPts val="0"/>
                  </a:spcBef>
                  <a:buSzPts val="3000"/>
                  <a:buNone/>
                </a:pPr>
                <a:endParaRPr lang="en-US" sz="2400" dirty="0">
                  <a:latin typeface="Atkinson Hyperlegible Next"/>
                  <a:ea typeface="Arial"/>
                  <a:cs typeface="Arial"/>
                  <a:sym typeface="Arial"/>
                </a:endParaRPr>
              </a:p>
              <a:p>
                <a:pPr marL="0" indent="0">
                  <a:lnSpc>
                    <a:spcPct val="100000"/>
                  </a:lnSpc>
                  <a:spcBef>
                    <a:spcPts val="0"/>
                  </a:spcBef>
                  <a:buSzPts val="3000"/>
                  <a:buNone/>
                </a:pPr>
                <a:r>
                  <a:rPr lang="en-US" sz="2400" dirty="0">
                    <a:latin typeface="Atkinson Hyperlegible Next"/>
                    <a:ea typeface="Arial"/>
                    <a:cs typeface="Arial"/>
                    <a:sym typeface="Arial"/>
                  </a:rPr>
                  <a:t>If </a:t>
                </a:r>
                <a:r>
                  <a:rPr lang="en-US" sz="2400" b="1" dirty="0">
                    <a:latin typeface="Atkinson Hyperlegible Next"/>
                    <a:ea typeface="Arial"/>
                    <a:cs typeface="Arial"/>
                    <a:sym typeface="Arial"/>
                  </a:rPr>
                  <a:t>counter-clockwise</a:t>
                </a:r>
                <a:r>
                  <a:rPr lang="en-US" sz="2400" dirty="0">
                    <a:latin typeface="Atkinson Hyperlegible Next"/>
                    <a:ea typeface="Arial"/>
                    <a:cs typeface="Arial"/>
                    <a:sym typeface="Arial"/>
                  </a:rPr>
                  <a:t> (CCW): B leads C, the sequence is: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 - Direction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What if you turn the robot off?</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Online Media 2" title="Gray Code's Error Reduction with Encoders" descr="YouTube video: Gray Code's Error Reduction with Encoders (Marius Juston)">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tkinson Hyperlegible Next"/>
                <a:ea typeface="Arial"/>
                <a:cs typeface="Arial"/>
                <a:sym typeface="Arial"/>
              </a:rPr>
              <a:t>eQEP</a:t>
            </a:r>
            <a:endParaRPr i="0" b="0" sz="1400" dirty="0">
              <a:solidFill>
                <a:srgbClr val="000000"/>
              </a:solidFill>
            </a:endParaRPr>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Overview diagram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a:t>
            </a:r>
            <a:r>
              <a:rPr i="0" b="0" lang="en-US" sz="2400" dirty="0" err="1">
                <a:solidFill>
                  <a:schemeClr val="lt1"/>
                </a:solidFill>
              </a:rPr>
              <a:t>QPxQSELn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Quadrature Count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QDECCTL:QSRC – Others Mode </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r>
              <a:rPr i="0" b="0" lang="en-US" sz="2400" dirty="0">
                <a:solidFill>
                  <a:schemeClr val="lt1"/>
                </a:solidFill>
              </a:rPr>
              <a:t> - CAP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err="1">
                <a:solidFill>
                  <a:schemeClr val="lt1"/>
                </a:solidFill>
              </a:rPr>
              <a:t>eQEP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Optical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Absolute Optical Encoder</a:t>
            </a:r>
            <a:endParaRPr i="0" b="0" sz="1400" dirty="0">
              <a:solidFill>
                <a:srgbClr val="000000"/>
              </a:solidFill>
            </a:endParaRPr>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Absolute Encoder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FIFO</a:t>
            </a:r>
            <a:endParaRPr i="0" b="0" sz="1400" dirty="0">
              <a:solidFill>
                <a:srgbClr val="000000"/>
              </a:solidFill>
            </a:endParaRPr>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FIFO – Example 18-1</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SSI</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PWM</a:t>
            </a:r>
            <a:endParaRPr i="0" b="0" sz="1400" dirty="0">
              <a:solidFill>
                <a:srgbClr val="000000"/>
              </a:solidFill>
            </a:endParaRPr>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p:nvPr>
            <p:ph type="title"/>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How do LEDs become dimmer?</a:t>
            </a:r>
            <a:endParaRPr sz="1400" b="0" i="0" u="none" strike="noStrike" cap="none" dirty="0">
              <a:solidFill>
                <a:srgbClr val="000000"/>
              </a:solidFill>
              <a:latin typeface="Atkinson Hyperlegible Next"/>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carrier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Again, if the period is fast enough, since our eyes only see at 30-40 Hz, we only see the </a:t>
                </a:r>
                <a:r>
                  <a:rPr lang="en-US" sz="2000" b="1" dirty="0">
                    <a:latin typeface="+mj-lt"/>
                    <a:ea typeface="Arial"/>
                    <a:cs typeface="Arial"/>
                    <a:sym typeface="Arial"/>
                  </a:rPr>
                  <a:t>average </a:t>
                </a:r>
                <a:r>
                  <a:rPr lang="en-US" sz="2000" dirty="0">
                    <a:latin typeface="+mj-lt"/>
                    <a:ea typeface="Arial"/>
                    <a:cs typeface="Arial"/>
                    <a:sym typeface="Arial"/>
                  </a:rPr>
                  <a:t>power! Which is why we see a continuous dinner or brighter light!</a:t>
                </a:r>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Introduction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PWM Animation" descr="YouTube video: PWM Animation (Marius Just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 mode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Counter-Compare Submodule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
        <p:nvSpPr>
          <p:cNvPr id="2" name="Rectangle 1">
            <a:extLst>
              <a:ext uri="{FF2B5EF4-FFF2-40B4-BE49-F238E27FC236}">
                <a16:creationId xmlns:a16="http://schemas.microsoft.com/office/drawing/2014/main" id="{00745668-EA3C-FF2F-9AD1-B9D37FB87B24}"/>
              </a:ext>
            </a:extLst>
          </p:cNvPr>
          <p:cNvSpPr/>
          <p:nvPr/>
        </p:nvSpPr>
        <p:spPr>
          <a:xfrm>
            <a:off x="3362875" y="3019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6E179D30-B433-E5A1-F02B-470CAF3B77F7}"/>
              </a:ext>
            </a:extLst>
          </p:cNvPr>
          <p:cNvSpPr/>
          <p:nvPr/>
        </p:nvSpPr>
        <p:spPr>
          <a:xfrm>
            <a:off x="5143500" y="314325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BEF91809-261C-B08A-3FBC-441B2F528EBD}"/>
              </a:ext>
            </a:extLst>
          </p:cNvPr>
          <p:cNvSpPr/>
          <p:nvPr/>
        </p:nvSpPr>
        <p:spPr>
          <a:xfrm>
            <a:off x="6391824" y="2971800"/>
            <a:ext cx="219075" cy="37147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0E3DE0F-6064-CE0B-953C-302D9811450D}"/>
              </a:ext>
            </a:extLst>
          </p:cNvPr>
          <p:cNvSpPr/>
          <p:nvPr/>
        </p:nvSpPr>
        <p:spPr>
          <a:xfrm>
            <a:off x="8391525" y="31527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D48B156-A83B-841A-12C4-2F92EE077FC9}"/>
              </a:ext>
            </a:extLst>
          </p:cNvPr>
          <p:cNvSpPr/>
          <p:nvPr/>
        </p:nvSpPr>
        <p:spPr>
          <a:xfrm>
            <a:off x="9401175" y="3019425"/>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3ECF5DEC-D8C7-675A-AD6B-3E3C18A7AA88}"/>
              </a:ext>
            </a:extLst>
          </p:cNvPr>
          <p:cNvSpPr/>
          <p:nvPr/>
        </p:nvSpPr>
        <p:spPr>
          <a:xfrm>
            <a:off x="3380827"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D4E5FC0-3F5B-A37B-91CF-1DE8552C4BFD}"/>
              </a:ext>
            </a:extLst>
          </p:cNvPr>
          <p:cNvSpPr/>
          <p:nvPr/>
        </p:nvSpPr>
        <p:spPr>
          <a:xfrm>
            <a:off x="4391025" y="4495800"/>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1304107-4FBF-D6B6-1844-80473FA4ADCF}"/>
              </a:ext>
            </a:extLst>
          </p:cNvPr>
          <p:cNvSpPr/>
          <p:nvPr/>
        </p:nvSpPr>
        <p:spPr>
          <a:xfrm>
            <a:off x="6391276" y="4362450"/>
            <a:ext cx="219624"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7E0CD055-4981-7C63-4AAA-4709A27E2BF4}"/>
              </a:ext>
            </a:extLst>
          </p:cNvPr>
          <p:cNvSpPr/>
          <p:nvPr/>
        </p:nvSpPr>
        <p:spPr>
          <a:xfrm>
            <a:off x="7658100" y="4486275"/>
            <a:ext cx="219075" cy="1905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AB63980-513A-571D-6FFF-4CF5477A553D}"/>
              </a:ext>
            </a:extLst>
          </p:cNvPr>
          <p:cNvSpPr/>
          <p:nvPr/>
        </p:nvSpPr>
        <p:spPr>
          <a:xfrm>
            <a:off x="9400077" y="4362450"/>
            <a:ext cx="220173" cy="31432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B9EF8FBD-FC41-CAAB-4F48-8FFD226B5F23}"/>
              </a:ext>
            </a:extLst>
          </p:cNvPr>
          <p:cNvSpPr txBox="1"/>
          <p:nvPr/>
        </p:nvSpPr>
        <p:spPr>
          <a:xfrm>
            <a:off x="2067472" y="4262765"/>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5" name="Straight Arrow Connector 14">
            <a:extLst>
              <a:ext uri="{FF2B5EF4-FFF2-40B4-BE49-F238E27FC236}">
                <a16:creationId xmlns:a16="http://schemas.microsoft.com/office/drawing/2014/main" id="{FF03E23E-7F16-BB27-B0AD-99C3921749AA}"/>
              </a:ext>
            </a:extLst>
          </p:cNvPr>
          <p:cNvCxnSpPr>
            <a:cxnSpLocks/>
            <a:stCxn id="13" idx="3"/>
            <a:endCxn id="8" idx="1"/>
          </p:cNvCxnSpPr>
          <p:nvPr/>
        </p:nvCxnSpPr>
        <p:spPr>
          <a:xfrm>
            <a:off x="2868123" y="4524375"/>
            <a:ext cx="512704"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439B9793-A3AE-4DA9-D135-61B8065865A0}"/>
              </a:ext>
            </a:extLst>
          </p:cNvPr>
          <p:cNvSpPr txBox="1"/>
          <p:nvPr/>
        </p:nvSpPr>
        <p:spPr>
          <a:xfrm>
            <a:off x="4882653" y="4180880"/>
            <a:ext cx="997947"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0" name="Straight Arrow Connector 19">
            <a:extLst>
              <a:ext uri="{FF2B5EF4-FFF2-40B4-BE49-F238E27FC236}">
                <a16:creationId xmlns:a16="http://schemas.microsoft.com/office/drawing/2014/main" id="{9534B686-6248-EDFE-2EC2-74A9ED84A8A1}"/>
              </a:ext>
            </a:extLst>
          </p:cNvPr>
          <p:cNvCxnSpPr>
            <a:stCxn id="18" idx="1"/>
            <a:endCxn id="9" idx="3"/>
          </p:cNvCxnSpPr>
          <p:nvPr/>
        </p:nvCxnSpPr>
        <p:spPr>
          <a:xfrm flipH="1">
            <a:off x="4610100" y="4550212"/>
            <a:ext cx="272553" cy="4083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8D203466-CF88-6D08-B781-77FE761DEE84}"/>
              </a:ext>
            </a:extLst>
          </p:cNvPr>
          <p:cNvSpPr txBox="1"/>
          <p:nvPr/>
        </p:nvSpPr>
        <p:spPr>
          <a:xfrm>
            <a:off x="5574166" y="2785587"/>
            <a:ext cx="796963" cy="738664"/>
          </a:xfrm>
          <a:prstGeom prst="rect">
            <a:avLst/>
          </a:prstGeom>
          <a:noFill/>
        </p:spPr>
        <p:txBody>
          <a:bodyPr wrap="square" rtlCol="0">
            <a:spAutoFit/>
          </a:bodyPr>
          <a:lstStyle/>
          <a:p>
            <a:pPr algn="ctr"/>
            <a:r>
              <a:rPr lang="en-US" dirty="0">
                <a:solidFill>
                  <a:srgbClr val="FF0000"/>
                </a:solidFill>
              </a:rPr>
              <a:t>What is it being set to?</a:t>
            </a:r>
          </a:p>
        </p:txBody>
      </p:sp>
      <p:cxnSp>
        <p:nvCxnSpPr>
          <p:cNvPr id="22" name="Straight Arrow Connector 21">
            <a:extLst>
              <a:ext uri="{FF2B5EF4-FFF2-40B4-BE49-F238E27FC236}">
                <a16:creationId xmlns:a16="http://schemas.microsoft.com/office/drawing/2014/main" id="{34F4321E-2C69-6988-7216-15DBEA012C66}"/>
              </a:ext>
            </a:extLst>
          </p:cNvPr>
          <p:cNvCxnSpPr>
            <a:cxnSpLocks/>
            <a:stCxn id="21" idx="1"/>
            <a:endCxn id="3" idx="3"/>
          </p:cNvCxnSpPr>
          <p:nvPr/>
        </p:nvCxnSpPr>
        <p:spPr>
          <a:xfrm flipH="1">
            <a:off x="5362575" y="3154919"/>
            <a:ext cx="211591" cy="835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4349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hidden"/>
                                      </p:to>
                                    </p:set>
                                  </p:childTnLst>
                                </p:cTn>
                              </p:par>
                              <p:par>
                                <p:cTn id="15" presetID="1" presetClass="exit"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hidden"/>
                                      </p:to>
                                    </p:set>
                                  </p:childTnLst>
                                </p:cTn>
                              </p:par>
                              <p:par>
                                <p:cTn id="17" presetID="1" presetClass="exit"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hidden"/>
                                      </p:to>
                                    </p:set>
                                  </p:childTnLst>
                                </p:cTn>
                              </p:par>
                              <p:par>
                                <p:cTn id="19" presetID="1" presetClass="exit" presetSubtype="0" fill="hold" grpId="0" nodeType="withEffect">
                                  <p:stCondLst>
                                    <p:cond delay="0"/>
                                  </p:stCondLst>
                                  <p:childTnLst>
                                    <p:set>
                                      <p:cBhvr>
                                        <p:cTn id="20" dur="1" fill="hold">
                                          <p:stCondLst>
                                            <p:cond delay="0"/>
                                          </p:stCondLst>
                                        </p:cTn>
                                        <p:tgtEl>
                                          <p:spTgt spid="7"/>
                                        </p:tgtEl>
                                        <p:attrNameLst>
                                          <p:attrName>style.visibility</p:attrName>
                                        </p:attrNameLst>
                                      </p:cBhvr>
                                      <p:to>
                                        <p:strVal val="hidden"/>
                                      </p:to>
                                    </p:set>
                                  </p:childTnLst>
                                </p:cTn>
                              </p:par>
                              <p:par>
                                <p:cTn id="21" presetID="1" presetClass="exit" presetSubtype="0" fill="hold" grpId="0" nodeType="withEffect">
                                  <p:stCondLst>
                                    <p:cond delay="0"/>
                                  </p:stCondLst>
                                  <p:childTnLst>
                                    <p:set>
                                      <p:cBhvr>
                                        <p:cTn id="22" dur="1" fill="hold">
                                          <p:stCondLst>
                                            <p:cond delay="0"/>
                                          </p:stCondLst>
                                        </p:cTn>
                                        <p:tgtEl>
                                          <p:spTgt spid="12"/>
                                        </p:tgtEl>
                                        <p:attrNameLst>
                                          <p:attrName>style.visibility</p:attrName>
                                        </p:attrNameLst>
                                      </p:cBhvr>
                                      <p:to>
                                        <p:strVal val="hidden"/>
                                      </p:to>
                                    </p:set>
                                  </p:childTnLst>
                                </p:cTn>
                              </p:par>
                              <p:par>
                                <p:cTn id="23" presetID="1"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xit" presetSubtype="0" fill="hold" nodeType="withEffect">
                                  <p:stCondLst>
                                    <p:cond delay="0"/>
                                  </p:stCondLst>
                                  <p:childTnLst>
                                    <p:set>
                                      <p:cBhvr>
                                        <p:cTn id="28" dur="1" fill="hold">
                                          <p:stCondLst>
                                            <p:cond delay="0"/>
                                          </p:stCondLst>
                                        </p:cTn>
                                        <p:tgtEl>
                                          <p:spTgt spid="15"/>
                                        </p:tgtEl>
                                        <p:attrNameLst>
                                          <p:attrName>style.visibility</p:attrName>
                                        </p:attrNameLst>
                                      </p:cBhvr>
                                      <p:to>
                                        <p:strVal val="hidden"/>
                                      </p:to>
                                    </p:set>
                                  </p:childTnLst>
                                </p:cTn>
                              </p:par>
                              <p:par>
                                <p:cTn id="29" presetID="1" presetClass="exit" presetSubtype="0" fill="hold" grpId="1" nodeType="withEffect">
                                  <p:stCondLst>
                                    <p:cond delay="0"/>
                                  </p:stCondLst>
                                  <p:childTnLst>
                                    <p:set>
                                      <p:cBhvr>
                                        <p:cTn id="30" dur="1" fill="hold">
                                          <p:stCondLst>
                                            <p:cond delay="0"/>
                                          </p:stCondLst>
                                        </p:cTn>
                                        <p:tgtEl>
                                          <p:spTgt spid="13"/>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hidden"/>
                                      </p:to>
                                    </p:set>
                                  </p:childTnLst>
                                </p:cTn>
                              </p:par>
                              <p:par>
                                <p:cTn id="35" presetID="1" presetClass="exit" presetSubtype="0" fill="hold" grpId="0" nodeType="withEffect">
                                  <p:stCondLst>
                                    <p:cond delay="0"/>
                                  </p:stCondLst>
                                  <p:childTnLst>
                                    <p:set>
                                      <p:cBhvr>
                                        <p:cTn id="36" dur="1" fill="hold">
                                          <p:stCondLst>
                                            <p:cond delay="0"/>
                                          </p:stCondLst>
                                        </p:cTn>
                                        <p:tgtEl>
                                          <p:spTgt spid="6"/>
                                        </p:tgtEl>
                                        <p:attrNameLst>
                                          <p:attrName>style.visibility</p:attrName>
                                        </p:attrNameLst>
                                      </p:cBhvr>
                                      <p:to>
                                        <p:strVal val="hidden"/>
                                      </p:to>
                                    </p:set>
                                  </p:childTnLst>
                                </p:cTn>
                              </p:par>
                              <p:par>
                                <p:cTn id="37" presetID="1" presetClass="entr" presetSubtype="0"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0"/>
                                        </p:tgtEl>
                                        <p:attrNameLst>
                                          <p:attrName>style.visibility</p:attrName>
                                        </p:attrNameLst>
                                      </p:cBhvr>
                                      <p:to>
                                        <p:strVal val="visible"/>
                                      </p:to>
                                    </p:set>
                                  </p:childTnLst>
                                </p:cTn>
                              </p:par>
                              <p:par>
                                <p:cTn id="41" presetID="1" presetClass="exit" presetSubtype="0" fill="hold" grpId="1" nodeType="withEffect">
                                  <p:stCondLst>
                                    <p:cond delay="0"/>
                                  </p:stCondLst>
                                  <p:childTnLst>
                                    <p:set>
                                      <p:cBhvr>
                                        <p:cTn id="42" dur="1" fill="hold">
                                          <p:stCondLst>
                                            <p:cond delay="0"/>
                                          </p:stCondLst>
                                        </p:cTn>
                                        <p:tgtEl>
                                          <p:spTgt spid="21"/>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2"/>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xit" presetSubtype="0" fill="hold" grpId="0" nodeType="clickEffect">
                                  <p:stCondLst>
                                    <p:cond delay="0"/>
                                  </p:stCondLst>
                                  <p:childTnLst>
                                    <p:set>
                                      <p:cBhvr>
                                        <p:cTn id="48" dur="1" fill="hold">
                                          <p:stCondLst>
                                            <p:cond delay="0"/>
                                          </p:stCondLst>
                                        </p:cTn>
                                        <p:tgtEl>
                                          <p:spTgt spid="9"/>
                                        </p:tgtEl>
                                        <p:attrNameLst>
                                          <p:attrName>style.visibility</p:attrName>
                                        </p:attrNameLst>
                                      </p:cBhvr>
                                      <p:to>
                                        <p:strVal val="hidden"/>
                                      </p:to>
                                    </p:set>
                                  </p:childTnLst>
                                </p:cTn>
                              </p:par>
                              <p:par>
                                <p:cTn id="49" presetID="1" presetClass="exit" presetSubtype="0" fill="hold" grpId="0" nodeType="withEffect">
                                  <p:stCondLst>
                                    <p:cond delay="0"/>
                                  </p:stCondLst>
                                  <p:childTnLst>
                                    <p:set>
                                      <p:cBhvr>
                                        <p:cTn id="50" dur="1" fill="hold">
                                          <p:stCondLst>
                                            <p:cond delay="0"/>
                                          </p:stCondLst>
                                        </p:cTn>
                                        <p:tgtEl>
                                          <p:spTgt spid="11"/>
                                        </p:tgtEl>
                                        <p:attrNameLst>
                                          <p:attrName>style.visibility</p:attrName>
                                        </p:attrNameLst>
                                      </p:cBhvr>
                                      <p:to>
                                        <p:strVal val="hidden"/>
                                      </p:to>
                                    </p:set>
                                  </p:childTnLst>
                                </p:cTn>
                              </p:par>
                              <p:par>
                                <p:cTn id="51" presetID="1" presetClass="exit" presetSubtype="0" fill="hold" grpId="1" nodeType="withEffect">
                                  <p:stCondLst>
                                    <p:cond delay="0"/>
                                  </p:stCondLst>
                                  <p:childTnLst>
                                    <p:set>
                                      <p:cBhvr>
                                        <p:cTn id="52" dur="1" fill="hold">
                                          <p:stCondLst>
                                            <p:cond delay="0"/>
                                          </p:stCondLst>
                                        </p:cTn>
                                        <p:tgtEl>
                                          <p:spTgt spid="18"/>
                                        </p:tgtEl>
                                        <p:attrNameLst>
                                          <p:attrName>style.visibility</p:attrName>
                                        </p:attrNameLst>
                                      </p:cBhvr>
                                      <p:to>
                                        <p:strVal val="hidden"/>
                                      </p:to>
                                    </p:set>
                                  </p:childTnLst>
                                </p:cTn>
                              </p:par>
                              <p:par>
                                <p:cTn id="53" presetID="1" presetClass="exit" presetSubtype="0" fill="hold" nodeType="withEffect">
                                  <p:stCondLst>
                                    <p:cond delay="0"/>
                                  </p:stCondLst>
                                  <p:childTnLst>
                                    <p:set>
                                      <p:cBhvr>
                                        <p:cTn id="54" dur="1" fill="hold">
                                          <p:stCondLst>
                                            <p:cond delay="0"/>
                                          </p:stCondLst>
                                        </p:cTn>
                                        <p:tgtEl>
                                          <p:spTgt spid="2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0" grpId="0" animBg="1"/>
      <p:bldP spid="11" grpId="0" animBg="1"/>
      <p:bldP spid="12" grpId="0" animBg="1"/>
      <p:bldP spid="13" grpId="0"/>
      <p:bldP spid="13" grpId="1"/>
      <p:bldP spid="18" grpId="0"/>
      <p:bldP spid="18" grpId="1"/>
      <p:bldP spid="21" grpId="0"/>
      <p:bldP spid="21" grpId="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
        <p:nvSpPr>
          <p:cNvPr id="2" name="Rectangle 1">
            <a:extLst>
              <a:ext uri="{FF2B5EF4-FFF2-40B4-BE49-F238E27FC236}">
                <a16:creationId xmlns:a16="http://schemas.microsoft.com/office/drawing/2014/main" id="{C128E1B3-52C3-0C22-4039-1675108CBC95}"/>
              </a:ext>
            </a:extLst>
          </p:cNvPr>
          <p:cNvSpPr/>
          <p:nvPr/>
        </p:nvSpPr>
        <p:spPr>
          <a:xfrm>
            <a:off x="2772325" y="379095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14036B41-5CCE-0FAE-831A-7E7A41FCF991}"/>
              </a:ext>
            </a:extLst>
          </p:cNvPr>
          <p:cNvSpPr/>
          <p:nvPr/>
        </p:nvSpPr>
        <p:spPr>
          <a:xfrm>
            <a:off x="6530211" y="3768379"/>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5DA29A9-6350-D3C0-537B-E966A794D6A6}"/>
              </a:ext>
            </a:extLst>
          </p:cNvPr>
          <p:cNvSpPr/>
          <p:nvPr/>
        </p:nvSpPr>
        <p:spPr>
          <a:xfrm>
            <a:off x="4660794" y="377790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C96F0FE-387C-1EB7-A333-7D0D4FF64A25}"/>
              </a:ext>
            </a:extLst>
          </p:cNvPr>
          <p:cNvSpPr/>
          <p:nvPr/>
        </p:nvSpPr>
        <p:spPr>
          <a:xfrm>
            <a:off x="8496850" y="3796954"/>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D2FF3D9-E955-3551-0B17-7CBFB9F21C70}"/>
              </a:ext>
            </a:extLst>
          </p:cNvPr>
          <p:cNvSpPr/>
          <p:nvPr/>
        </p:nvSpPr>
        <p:spPr>
          <a:xfrm>
            <a:off x="34962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9346900-E72E-B556-734F-7E9E49B071F0}"/>
              </a:ext>
            </a:extLst>
          </p:cNvPr>
          <p:cNvSpPr/>
          <p:nvPr/>
        </p:nvSpPr>
        <p:spPr>
          <a:xfrm>
            <a:off x="515702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191BCB5A-0495-DBF3-7B64-48D98B79DB14}"/>
              </a:ext>
            </a:extLst>
          </p:cNvPr>
          <p:cNvSpPr/>
          <p:nvPr/>
        </p:nvSpPr>
        <p:spPr>
          <a:xfrm>
            <a:off x="7254318" y="2628900"/>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1E37FF7-9978-481E-1527-F6ED1E50DF34}"/>
              </a:ext>
            </a:extLst>
          </p:cNvPr>
          <p:cNvSpPr/>
          <p:nvPr/>
        </p:nvSpPr>
        <p:spPr>
          <a:xfrm>
            <a:off x="8953965" y="2638425"/>
            <a:ext cx="237576" cy="32385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5A8E823-84F6-4CB2-11D2-8BED4D295DE8}"/>
              </a:ext>
            </a:extLst>
          </p:cNvPr>
          <p:cNvSpPr txBox="1"/>
          <p:nvPr/>
        </p:nvSpPr>
        <p:spPr>
          <a:xfrm>
            <a:off x="1550230"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3" name="Straight Arrow Connector 12">
            <a:extLst>
              <a:ext uri="{FF2B5EF4-FFF2-40B4-BE49-F238E27FC236}">
                <a16:creationId xmlns:a16="http://schemas.microsoft.com/office/drawing/2014/main" id="{CE1A2C75-9EC0-C032-282A-BDE34D1E4326}"/>
              </a:ext>
            </a:extLst>
          </p:cNvPr>
          <p:cNvCxnSpPr>
            <a:cxnSpLocks/>
            <a:stCxn id="12" idx="3"/>
            <a:endCxn id="2" idx="1"/>
          </p:cNvCxnSpPr>
          <p:nvPr/>
        </p:nvCxnSpPr>
        <p:spPr>
          <a:xfrm>
            <a:off x="2350881" y="3934739"/>
            <a:ext cx="421444" cy="181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75BF7A87-A20E-4599-45D2-6E341460254E}"/>
              </a:ext>
            </a:extLst>
          </p:cNvPr>
          <p:cNvSpPr txBox="1"/>
          <p:nvPr/>
        </p:nvSpPr>
        <p:spPr>
          <a:xfrm>
            <a:off x="3560191" y="3673129"/>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17" name="Straight Arrow Connector 16">
            <a:extLst>
              <a:ext uri="{FF2B5EF4-FFF2-40B4-BE49-F238E27FC236}">
                <a16:creationId xmlns:a16="http://schemas.microsoft.com/office/drawing/2014/main" id="{4747E4F3-EB3B-375D-0DC1-386C92B3F368}"/>
              </a:ext>
            </a:extLst>
          </p:cNvPr>
          <p:cNvCxnSpPr>
            <a:cxnSpLocks/>
            <a:stCxn id="16" idx="3"/>
            <a:endCxn id="6" idx="1"/>
          </p:cNvCxnSpPr>
          <p:nvPr/>
        </p:nvCxnSpPr>
        <p:spPr>
          <a:xfrm>
            <a:off x="4360842" y="3934739"/>
            <a:ext cx="299952"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081FD8E-4177-6B14-59B9-603F221692EA}"/>
              </a:ext>
            </a:extLst>
          </p:cNvPr>
          <p:cNvSpPr txBox="1"/>
          <p:nvPr/>
        </p:nvSpPr>
        <p:spPr>
          <a:xfrm>
            <a:off x="2199808" y="2543830"/>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0" name="Straight Arrow Connector 19">
            <a:extLst>
              <a:ext uri="{FF2B5EF4-FFF2-40B4-BE49-F238E27FC236}">
                <a16:creationId xmlns:a16="http://schemas.microsoft.com/office/drawing/2014/main" id="{346F5B4F-7541-4440-30A9-5FF8C0624C81}"/>
              </a:ext>
            </a:extLst>
          </p:cNvPr>
          <p:cNvCxnSpPr>
            <a:cxnSpLocks/>
            <a:stCxn id="19" idx="3"/>
            <a:endCxn id="8" idx="1"/>
          </p:cNvCxnSpPr>
          <p:nvPr/>
        </p:nvCxnSpPr>
        <p:spPr>
          <a:xfrm flipV="1">
            <a:off x="3000459" y="2800350"/>
            <a:ext cx="495766" cy="509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8E78EBE-AA9A-9EAF-C60F-2FE645EF68F3}"/>
              </a:ext>
            </a:extLst>
          </p:cNvPr>
          <p:cNvSpPr txBox="1"/>
          <p:nvPr/>
        </p:nvSpPr>
        <p:spPr>
          <a:xfrm>
            <a:off x="4052611" y="2470487"/>
            <a:ext cx="800651" cy="523220"/>
          </a:xfrm>
          <a:prstGeom prst="rect">
            <a:avLst/>
          </a:prstGeom>
          <a:noFill/>
        </p:spPr>
        <p:txBody>
          <a:bodyPr wrap="square" rtlCol="0">
            <a:spAutoFit/>
          </a:bodyPr>
          <a:lstStyle/>
          <a:p>
            <a:pPr algn="ctr"/>
            <a:r>
              <a:rPr lang="en-US" dirty="0">
                <a:solidFill>
                  <a:srgbClr val="FF0000"/>
                </a:solidFill>
              </a:rPr>
              <a:t>What is this?</a:t>
            </a:r>
          </a:p>
        </p:txBody>
      </p:sp>
      <p:cxnSp>
        <p:nvCxnSpPr>
          <p:cNvPr id="23" name="Straight Arrow Connector 22">
            <a:extLst>
              <a:ext uri="{FF2B5EF4-FFF2-40B4-BE49-F238E27FC236}">
                <a16:creationId xmlns:a16="http://schemas.microsoft.com/office/drawing/2014/main" id="{E073ECA5-5D3B-3A0E-5CF8-9B7AE9E84202}"/>
              </a:ext>
            </a:extLst>
          </p:cNvPr>
          <p:cNvCxnSpPr>
            <a:cxnSpLocks/>
            <a:stCxn id="22" idx="3"/>
            <a:endCxn id="9" idx="1"/>
          </p:cNvCxnSpPr>
          <p:nvPr/>
        </p:nvCxnSpPr>
        <p:spPr>
          <a:xfrm>
            <a:off x="4853262" y="2732097"/>
            <a:ext cx="303763" cy="6825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2128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0" nodeType="clickEffect">
                                  <p:stCondLst>
                                    <p:cond delay="0"/>
                                  </p:stCondLst>
                                  <p:childTnLst>
                                    <p:set>
                                      <p:cBhvr>
                                        <p:cTn id="12" dur="1" fill="hold">
                                          <p:stCondLst>
                                            <p:cond delay="0"/>
                                          </p:stCondLst>
                                        </p:cTn>
                                        <p:tgtEl>
                                          <p:spTgt spid="2"/>
                                        </p:tgtEl>
                                        <p:attrNameLst>
                                          <p:attrName>style.visibility</p:attrName>
                                        </p:attrNameLst>
                                      </p:cBhvr>
                                      <p:to>
                                        <p:strVal val="hidden"/>
                                      </p:to>
                                    </p:set>
                                  </p:childTnLst>
                                </p:cTn>
                              </p:par>
                              <p:par>
                                <p:cTn id="13" presetID="1" presetClass="exit"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13"/>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12"/>
                                        </p:tgtEl>
                                        <p:attrNameLst>
                                          <p:attrName>style.visibility</p:attrName>
                                        </p:attrNameLst>
                                      </p:cBhvr>
                                      <p:to>
                                        <p:strVal val="hidden"/>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hidden"/>
                                      </p:to>
                                    </p:set>
                                  </p:childTnLst>
                                </p:cTn>
                              </p:par>
                              <p:par>
                                <p:cTn id="27" presetID="1" presetClass="exit"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hidden"/>
                                      </p:to>
                                    </p:set>
                                  </p:childTnLst>
                                </p:cTn>
                              </p:par>
                              <p:par>
                                <p:cTn id="29" presetID="1" presetClass="exit" presetSubtype="0" fill="hold" nodeType="withEffect">
                                  <p:stCondLst>
                                    <p:cond delay="0"/>
                                  </p:stCondLst>
                                  <p:childTnLst>
                                    <p:set>
                                      <p:cBhvr>
                                        <p:cTn id="30" dur="1" fill="hold">
                                          <p:stCondLst>
                                            <p:cond delay="0"/>
                                          </p:stCondLst>
                                        </p:cTn>
                                        <p:tgtEl>
                                          <p:spTgt spid="17"/>
                                        </p:tgtEl>
                                        <p:attrNameLst>
                                          <p:attrName>style.visibility</p:attrName>
                                        </p:attrNameLst>
                                      </p:cBhvr>
                                      <p:to>
                                        <p:strVal val="hidden"/>
                                      </p:to>
                                    </p:set>
                                  </p:childTnLst>
                                </p:cTn>
                              </p:par>
                              <p:par>
                                <p:cTn id="31" presetID="1" presetClass="exit" presetSubtype="0" fill="hold" grpId="1" nodeType="withEffect">
                                  <p:stCondLst>
                                    <p:cond delay="0"/>
                                  </p:stCondLst>
                                  <p:childTnLst>
                                    <p:set>
                                      <p:cBhvr>
                                        <p:cTn id="32" dur="1" fill="hold">
                                          <p:stCondLst>
                                            <p:cond delay="0"/>
                                          </p:stCondLst>
                                        </p:cTn>
                                        <p:tgtEl>
                                          <p:spTgt spid="16"/>
                                        </p:tgtEl>
                                        <p:attrNameLst>
                                          <p:attrName>style.visibility</p:attrName>
                                        </p:attrNameLst>
                                      </p:cBhvr>
                                      <p:to>
                                        <p:strVal val="hidden"/>
                                      </p:to>
                                    </p:set>
                                  </p:childTnLst>
                                </p:cTn>
                              </p:par>
                              <p:par>
                                <p:cTn id="33" presetID="1" presetClass="entr" presetSubtype="0" fill="hold" nodeType="withEffect">
                                  <p:stCondLst>
                                    <p:cond delay="0"/>
                                  </p:stCondLst>
                                  <p:childTnLst>
                                    <p:set>
                                      <p:cBhvr>
                                        <p:cTn id="34" dur="1" fill="hold">
                                          <p:stCondLst>
                                            <p:cond delay="0"/>
                                          </p:stCondLst>
                                        </p:cTn>
                                        <p:tgtEl>
                                          <p:spTgt spid="20"/>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xit"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hidden"/>
                                      </p:to>
                                    </p:set>
                                  </p:childTnLst>
                                </p:cTn>
                              </p:par>
                              <p:par>
                                <p:cTn id="41" presetID="1" presetClass="exit" presetSubtype="0" fill="hold" grpId="0" nodeType="withEffect">
                                  <p:stCondLst>
                                    <p:cond delay="0"/>
                                  </p:stCondLst>
                                  <p:childTnLst>
                                    <p:set>
                                      <p:cBhvr>
                                        <p:cTn id="42" dur="1" fill="hold">
                                          <p:stCondLst>
                                            <p:cond delay="0"/>
                                          </p:stCondLst>
                                        </p:cTn>
                                        <p:tgtEl>
                                          <p:spTgt spid="10"/>
                                        </p:tgtEl>
                                        <p:attrNameLst>
                                          <p:attrName>style.visibility</p:attrName>
                                        </p:attrNameLst>
                                      </p:cBhvr>
                                      <p:to>
                                        <p:strVal val="hidden"/>
                                      </p:to>
                                    </p:set>
                                  </p:childTnLst>
                                </p:cTn>
                              </p:par>
                              <p:par>
                                <p:cTn id="43" presetID="1" presetClass="exit" presetSubtype="0" fill="hold" nodeType="withEffect">
                                  <p:stCondLst>
                                    <p:cond delay="0"/>
                                  </p:stCondLst>
                                  <p:childTnLst>
                                    <p:set>
                                      <p:cBhvr>
                                        <p:cTn id="44" dur="1" fill="hold">
                                          <p:stCondLst>
                                            <p:cond delay="0"/>
                                          </p:stCondLst>
                                        </p:cTn>
                                        <p:tgtEl>
                                          <p:spTgt spid="20"/>
                                        </p:tgtEl>
                                        <p:attrNameLst>
                                          <p:attrName>style.visibility</p:attrName>
                                        </p:attrNameLst>
                                      </p:cBhvr>
                                      <p:to>
                                        <p:strVal val="hidden"/>
                                      </p:to>
                                    </p:set>
                                  </p:childTnLst>
                                </p:cTn>
                              </p:par>
                              <p:par>
                                <p:cTn id="45" presetID="1" presetClass="exit" presetSubtype="0" fill="hold" grpId="1" nodeType="withEffect">
                                  <p:stCondLst>
                                    <p:cond delay="0"/>
                                  </p:stCondLst>
                                  <p:childTnLst>
                                    <p:set>
                                      <p:cBhvr>
                                        <p:cTn id="46" dur="1" fill="hold">
                                          <p:stCondLst>
                                            <p:cond delay="0"/>
                                          </p:stCondLst>
                                        </p:cTn>
                                        <p:tgtEl>
                                          <p:spTgt spid="19"/>
                                        </p:tgtEl>
                                        <p:attrNameLst>
                                          <p:attrName>style.visibility</p:attrName>
                                        </p:attrNameLst>
                                      </p:cBhvr>
                                      <p:to>
                                        <p:strVal val="hidden"/>
                                      </p:to>
                                    </p:set>
                                  </p:childTnLst>
                                </p:cTn>
                              </p:par>
                              <p:par>
                                <p:cTn id="47" presetID="1" presetClass="entr" presetSubtype="0" fill="hold" nodeType="withEffect">
                                  <p:stCondLst>
                                    <p:cond delay="0"/>
                                  </p:stCondLst>
                                  <p:childTnLst>
                                    <p:set>
                                      <p:cBhvr>
                                        <p:cTn id="48" dur="1" fill="hold">
                                          <p:stCondLst>
                                            <p:cond delay="0"/>
                                          </p:stCondLst>
                                        </p:cTn>
                                        <p:tgtEl>
                                          <p:spTgt spid="23"/>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xit" presetSubtype="0" fill="hold" grpId="0" nodeType="clickEffect">
                                  <p:stCondLst>
                                    <p:cond delay="0"/>
                                  </p:stCondLst>
                                  <p:childTnLst>
                                    <p:set>
                                      <p:cBhvr>
                                        <p:cTn id="54" dur="1" fill="hold">
                                          <p:stCondLst>
                                            <p:cond delay="0"/>
                                          </p:stCondLst>
                                        </p:cTn>
                                        <p:tgtEl>
                                          <p:spTgt spid="9"/>
                                        </p:tgtEl>
                                        <p:attrNameLst>
                                          <p:attrName>style.visibility</p:attrName>
                                        </p:attrNameLst>
                                      </p:cBhvr>
                                      <p:to>
                                        <p:strVal val="hidden"/>
                                      </p:to>
                                    </p:set>
                                  </p:childTnLst>
                                </p:cTn>
                              </p:par>
                              <p:par>
                                <p:cTn id="55" presetID="1" presetClass="exit" presetSubtype="0" fill="hold" grpId="0" nodeType="withEffect">
                                  <p:stCondLst>
                                    <p:cond delay="0"/>
                                  </p:stCondLst>
                                  <p:childTnLst>
                                    <p:set>
                                      <p:cBhvr>
                                        <p:cTn id="56" dur="1" fill="hold">
                                          <p:stCondLst>
                                            <p:cond delay="0"/>
                                          </p:stCondLst>
                                        </p:cTn>
                                        <p:tgtEl>
                                          <p:spTgt spid="11"/>
                                        </p:tgtEl>
                                        <p:attrNameLst>
                                          <p:attrName>style.visibility</p:attrName>
                                        </p:attrNameLst>
                                      </p:cBhvr>
                                      <p:to>
                                        <p:strVal val="hidden"/>
                                      </p:to>
                                    </p:set>
                                  </p:childTnLst>
                                </p:cTn>
                              </p:par>
                              <p:par>
                                <p:cTn id="57" presetID="1" presetClass="exit" presetSubtype="0" fill="hold" nodeType="withEffect">
                                  <p:stCondLst>
                                    <p:cond delay="0"/>
                                  </p:stCondLst>
                                  <p:childTnLst>
                                    <p:set>
                                      <p:cBhvr>
                                        <p:cTn id="58" dur="1" fill="hold">
                                          <p:stCondLst>
                                            <p:cond delay="0"/>
                                          </p:stCondLst>
                                        </p:cTn>
                                        <p:tgtEl>
                                          <p:spTgt spid="23"/>
                                        </p:tgtEl>
                                        <p:attrNameLst>
                                          <p:attrName>style.visibility</p:attrName>
                                        </p:attrNameLst>
                                      </p:cBhvr>
                                      <p:to>
                                        <p:strVal val="hidden"/>
                                      </p:to>
                                    </p:set>
                                  </p:childTnLst>
                                </p:cTn>
                              </p:par>
                              <p:par>
                                <p:cTn id="59" presetID="1" presetClass="exit" presetSubtype="0" fill="hold" grpId="1" nodeType="withEffect">
                                  <p:stCondLst>
                                    <p:cond delay="0"/>
                                  </p:stCondLst>
                                  <p:childTnLst>
                                    <p:set>
                                      <p:cBhvr>
                                        <p:cTn id="60" dur="1" fill="hold">
                                          <p:stCondLst>
                                            <p:cond delay="0"/>
                                          </p:stCondLst>
                                        </p:cTn>
                                        <p:tgtEl>
                                          <p:spTgt spid="2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8" grpId="0" animBg="1"/>
      <p:bldP spid="9" grpId="0" animBg="1"/>
      <p:bldP spid="10" grpId="0" animBg="1"/>
      <p:bldP spid="11" grpId="0" animBg="1"/>
      <p:bldP spid="12" grpId="0"/>
      <p:bldP spid="12" grpId="1"/>
      <p:bldP spid="16" grpId="0"/>
      <p:bldP spid="16" grpId="1"/>
      <p:bldP spid="19" grpId="0"/>
      <p:bldP spid="19" grpId="1"/>
      <p:bldP spid="22" grpId="0"/>
      <p:bldP spid="22" grpId="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Count down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2kHz (500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25000;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12500;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CAD</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PRD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a:t>
            </a:r>
            <a:r>
              <a:rPr lang="en-US" sz="1300">
                <a:solidFill>
                  <a:srgbClr val="3F7F5F"/>
                </a:solidFill>
                <a:latin typeface="Consolas" panose="020B0609020204030204" pitchFamily="49" charset="0"/>
              </a:rPr>
              <a:t>is Period</a:t>
            </a:r>
            <a:endParaRPr lang="en-US" sz="1300" dirty="0">
              <a:solidFill>
                <a:srgbClr val="3F7F5F"/>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Duty cycle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PWM – DAC</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p:nvPr>
            <p:ph type="title"/>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Motor / Servo</a:t>
            </a:r>
            <a:endParaRPr i="0" b="0" sz="1400" dirty="0">
              <a:solidFill>
                <a:srgbClr val="000000"/>
              </a:solidFill>
            </a:endParaRPr>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What is an H-Bridge?" descr="YouTube video: What is an H-Bridge? (CircuitBread)">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a:p>
            <a:pPr marL="342900">
              <a:lnSpc>
                <a:spcPct val="100000"/>
              </a:lnSpc>
              <a:spcBef>
                <a:spcPts val="0"/>
              </a:spcBef>
              <a:buSzPts val="3000"/>
            </a:pPr>
            <a:endParaRPr lang="en-US" sz="2000" b="1" dirty="0">
              <a:latin typeface="+mj-lt"/>
              <a:ea typeface="Arial"/>
              <a:cs typeface="Arial"/>
              <a:sym typeface="Arial"/>
            </a:endParaRPr>
          </a:p>
          <a:p>
            <a:pPr marL="342900">
              <a:lnSpc>
                <a:spcPct val="100000"/>
              </a:lnSpc>
              <a:spcBef>
                <a:spcPts val="0"/>
              </a:spcBef>
              <a:buSzPts val="3000"/>
            </a:pPr>
            <a:endParaRPr lang="en-US" sz="2000" b="1"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What happens if we set a duty cycle of 75%?</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We are going 50% of the maximum forward speed!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H bridge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RC Servo – Example Datasheet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1823"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45501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Piezo Buzzer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 </a:t>
            </a:r>
            <a:r>
              <a:rPr lang="en-US" sz="1600" dirty="0">
                <a:solidFill>
                  <a:srgbClr val="3F7F5F"/>
                </a:solidFill>
                <a:latin typeface="Consolas" panose="020B0609020204030204" pitchFamily="49" charset="0"/>
              </a:rPr>
              <a:t>// TBPRD 47777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 </a:t>
            </a:r>
            <a:r>
              <a:rPr lang="en-US" sz="1600" dirty="0">
                <a:solidFill>
                  <a:srgbClr val="3F7F5F"/>
                </a:solidFill>
                <a:latin typeface="Consolas" panose="020B0609020204030204" pitchFamily="49" charset="0"/>
              </a:rPr>
              <a:t>// TBPRD 42566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 </a:t>
            </a:r>
            <a:r>
              <a:rPr lang="en-US" sz="1600" dirty="0">
                <a:solidFill>
                  <a:srgbClr val="3F7F5F"/>
                </a:solidFill>
                <a:latin typeface="Consolas" panose="020B0609020204030204" pitchFamily="49" charset="0"/>
              </a:rPr>
              <a:t>// TBPRD 37921</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 </a:t>
            </a:r>
            <a:r>
              <a:rPr lang="en-US" sz="1600" dirty="0">
                <a:solidFill>
                  <a:srgbClr val="3F7F5F"/>
                </a:solidFill>
                <a:latin typeface="Consolas" panose="020B0609020204030204" pitchFamily="49" charset="0"/>
              </a:rPr>
              <a:t>// TBPRD 35793</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 </a:t>
            </a:r>
            <a:r>
              <a:rPr lang="en-US" sz="1600" dirty="0">
                <a:solidFill>
                  <a:srgbClr val="3F7F5F"/>
                </a:solidFill>
                <a:latin typeface="Consolas" panose="020B0609020204030204" pitchFamily="49" charset="0"/>
              </a:rPr>
              <a:t>// TBPRD 31887</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 </a:t>
            </a:r>
            <a:r>
              <a:rPr lang="en-US" sz="1600" dirty="0">
                <a:solidFill>
                  <a:srgbClr val="3F7F5F"/>
                </a:solidFill>
                <a:latin typeface="Consolas" panose="020B0609020204030204" pitchFamily="49" charset="0"/>
              </a:rPr>
              <a:t>// TBPRD 28409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 </a:t>
            </a:r>
            <a:r>
              <a:rPr lang="en-US" sz="1600" dirty="0">
                <a:solidFill>
                  <a:srgbClr val="3F7F5F"/>
                </a:solidFill>
                <a:latin typeface="Consolas" panose="020B0609020204030204" pitchFamily="49" charset="0"/>
              </a:rPr>
              <a:t>// TBPRD 25309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 </a:t>
            </a:r>
            <a:r>
              <a:rPr lang="en-US" sz="1600" dirty="0">
                <a:solidFill>
                  <a:srgbClr val="3F7F5F"/>
                </a:solidFill>
                <a:latin typeface="Consolas" panose="020B0609020204030204" pitchFamily="49" charset="0"/>
              </a:rPr>
              <a:t>// TBPRD 23889</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 </a:t>
            </a:r>
            <a:r>
              <a:rPr lang="en-US" sz="1600" dirty="0">
                <a:solidFill>
                  <a:srgbClr val="3F7F5F"/>
                </a:solidFill>
                <a:latin typeface="Consolas" panose="020B0609020204030204" pitchFamily="49" charset="0"/>
              </a:rPr>
              <a:t>// TBPRD 21282</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 </a:t>
            </a:r>
            <a:r>
              <a:rPr lang="en-US" sz="1600" dirty="0">
                <a:solidFill>
                  <a:srgbClr val="3F7F5F"/>
                </a:solidFill>
                <a:latin typeface="Consolas" panose="020B0609020204030204" pitchFamily="49" charset="0"/>
              </a:rPr>
              <a:t>// TBPRD 18960</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 </a:t>
            </a:r>
            <a:r>
              <a:rPr lang="en-US" sz="1600" dirty="0">
                <a:solidFill>
                  <a:srgbClr val="3F7F5F"/>
                </a:solidFill>
                <a:latin typeface="Consolas" panose="020B0609020204030204" pitchFamily="49" charset="0"/>
              </a:rPr>
              <a:t>// TBPRD 17896</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 </a:t>
            </a:r>
            <a:r>
              <a:rPr lang="en-US" sz="1600" dirty="0">
                <a:solidFill>
                  <a:srgbClr val="3F7F5F"/>
                </a:solidFill>
                <a:latin typeface="Consolas" panose="020B0609020204030204" pitchFamily="49" charset="0"/>
              </a:rPr>
              <a:t>// TBPRD 15944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 </a:t>
            </a:r>
            <a:r>
              <a:rPr lang="en-US" sz="1600" dirty="0">
                <a:solidFill>
                  <a:srgbClr val="3F7F5F"/>
                </a:solidFill>
                <a:latin typeface="Consolas" panose="020B0609020204030204" pitchFamily="49" charset="0"/>
              </a:rPr>
              <a:t>// TBPRD 14204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 </a:t>
            </a:r>
            <a:r>
              <a:rPr lang="en-US" sz="1600" dirty="0">
                <a:solidFill>
                  <a:srgbClr val="3F7F5F"/>
                </a:solidFill>
                <a:latin typeface="Consolas" panose="020B0609020204030204" pitchFamily="49" charset="0"/>
              </a:rPr>
              <a:t>// TBPRD 12654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 </a:t>
            </a:r>
            <a:r>
              <a:rPr lang="en-US" sz="1600" dirty="0">
                <a:solidFill>
                  <a:srgbClr val="3F7F5F"/>
                </a:solidFill>
                <a:latin typeface="Consolas" panose="020B0609020204030204" pitchFamily="49" charset="0"/>
              </a:rPr>
              <a:t>// TBPRD 33784</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((uint16_t)(((FUDGEFACTORNOTE*50000000/2)/2)/415.30)) </a:t>
            </a:r>
            <a:r>
              <a:rPr lang="en-US" sz="1600" dirty="0">
                <a:solidFill>
                  <a:srgbClr val="3F7F5F"/>
                </a:solidFill>
                <a:latin typeface="Consolas" panose="020B0609020204030204" pitchFamily="49" charset="0"/>
              </a:rPr>
              <a:t>// TBPRD 30098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 </a:t>
            </a:r>
            <a:r>
              <a:rPr lang="en-US" sz="1600" dirty="0">
                <a:solidFill>
                  <a:srgbClr val="3F7F5F"/>
                </a:solidFill>
                <a:latin typeface="Consolas" panose="020B0609020204030204" pitchFamily="49" charset="0"/>
              </a:rPr>
              <a:t>// TBPRD 22548</a:t>
            </a:r>
          </a:p>
          <a:p>
            <a:pPr marL="114300" indent="0" algn="l">
              <a:spcBef>
                <a:spcPts val="30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 </a:t>
            </a:r>
            <a:r>
              <a:rPr lang="en-US" sz="1600" dirty="0">
                <a:solidFill>
                  <a:srgbClr val="3F7F5F"/>
                </a:solidFill>
                <a:latin typeface="Consolas" panose="020B0609020204030204" pitchFamily="49" charset="0"/>
              </a:rPr>
              <a:t>// TBPRD 15049</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352445"/>
            <a:ext cx="828674" cy="480293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1"/>
            <a:endCxn id="2" idx="3"/>
          </p:cNvCxnSpPr>
          <p:nvPr/>
        </p:nvCxnSpPr>
        <p:spPr>
          <a:xfrm flipH="1">
            <a:off x="8677274" y="3630041"/>
            <a:ext cx="1895030" cy="1238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10572304" y="3260709"/>
            <a:ext cx="1449582"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
        <p:nvSpPr>
          <p:cNvPr id="8" name="Rectangle 7">
            <a:extLst>
              <a:ext uri="{FF2B5EF4-FFF2-40B4-BE49-F238E27FC236}">
                <a16:creationId xmlns:a16="http://schemas.microsoft.com/office/drawing/2014/main" id="{855FCE89-2B75-9C5B-5A3D-9331CE62E261}"/>
              </a:ext>
            </a:extLst>
          </p:cNvPr>
          <p:cNvSpPr/>
          <p:nvPr/>
        </p:nvSpPr>
        <p:spPr>
          <a:xfrm>
            <a:off x="7124466" y="1334279"/>
            <a:ext cx="724133" cy="483926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8A07BB24-D8E8-8D83-90E7-C02D9BB9A25B}"/>
              </a:ext>
            </a:extLst>
          </p:cNvPr>
          <p:cNvCxnSpPr>
            <a:cxnSpLocks/>
            <a:stCxn id="12" idx="3"/>
            <a:endCxn id="8" idx="0"/>
          </p:cNvCxnSpPr>
          <p:nvPr/>
        </p:nvCxnSpPr>
        <p:spPr>
          <a:xfrm>
            <a:off x="7100754" y="1117164"/>
            <a:ext cx="385779" cy="21711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AF099A56-FECF-5F75-D87B-A4ED0376A704}"/>
              </a:ext>
            </a:extLst>
          </p:cNvPr>
          <p:cNvSpPr txBox="1"/>
          <p:nvPr/>
        </p:nvSpPr>
        <p:spPr>
          <a:xfrm>
            <a:off x="4806385" y="855554"/>
            <a:ext cx="2294369" cy="523220"/>
          </a:xfrm>
          <a:prstGeom prst="rect">
            <a:avLst/>
          </a:prstGeom>
          <a:noFill/>
        </p:spPr>
        <p:txBody>
          <a:bodyPr wrap="square" rtlCol="0">
            <a:spAutoFit/>
          </a:bodyPr>
          <a:lstStyle/>
          <a:p>
            <a:pPr algn="ctr"/>
            <a:r>
              <a:rPr lang="en-US" dirty="0">
                <a:solidFill>
                  <a:srgbClr val="FF0000"/>
                </a:solidFill>
              </a:rPr>
              <a:t>Divisions handle the clock divide + half frequency</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6–7</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1218</TotalTime>
  <Words>5632</Words>
  <Application>Microsoft Office PowerPoint</Application>
  <PresentationFormat>Widescreen</PresentationFormat>
  <Paragraphs>730</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438</cp:revision>
  <dcterms:created xsi:type="dcterms:W3CDTF">2019-01-14T22:06:33Z</dcterms:created>
  <dcterms:modified xsi:type="dcterms:W3CDTF">2026-02-17T23:00:12Z</dcterms:modified>
</cp:coreProperties>
</file>