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6-7: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 – Example 18-1</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DAC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PS1440P02BT : Detailed Information | Ceramic Switching / Heating, Piezo  Components, Contactors, Buzzers and Microphones - Piezoelectric Buzzers |  TDK Product Center">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823"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45501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 </a:t>
            </a:r>
            <a:r>
              <a:rPr lang="en-US" sz="1600" dirty="0">
                <a:solidFill>
                  <a:srgbClr val="3F7F5F"/>
                </a:solidFill>
                <a:latin typeface="Consolas" panose="020B0609020204030204" pitchFamily="49" charset="0"/>
              </a:rPr>
              <a:t>// TBPRD 47777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 </a:t>
            </a:r>
            <a:r>
              <a:rPr lang="en-US" sz="1600" dirty="0">
                <a:solidFill>
                  <a:srgbClr val="3F7F5F"/>
                </a:solidFill>
                <a:latin typeface="Consolas" panose="020B0609020204030204" pitchFamily="49" charset="0"/>
              </a:rPr>
              <a:t>// TBPRD 42566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 </a:t>
            </a:r>
            <a:r>
              <a:rPr lang="en-US" sz="1600" dirty="0">
                <a:solidFill>
                  <a:srgbClr val="3F7F5F"/>
                </a:solidFill>
                <a:latin typeface="Consolas" panose="020B0609020204030204" pitchFamily="49" charset="0"/>
              </a:rPr>
              <a:t>// TBPRD 37921</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 </a:t>
            </a:r>
            <a:r>
              <a:rPr lang="en-US" sz="1600" dirty="0">
                <a:solidFill>
                  <a:srgbClr val="3F7F5F"/>
                </a:solidFill>
                <a:latin typeface="Consolas" panose="020B0609020204030204" pitchFamily="49" charset="0"/>
              </a:rPr>
              <a:t>// TBPRD 35793</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 </a:t>
            </a:r>
            <a:r>
              <a:rPr lang="en-US" sz="1600" dirty="0">
                <a:solidFill>
                  <a:srgbClr val="3F7F5F"/>
                </a:solidFill>
                <a:latin typeface="Consolas" panose="020B0609020204030204" pitchFamily="49" charset="0"/>
              </a:rPr>
              <a:t>// TBPRD 31887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 </a:t>
            </a:r>
            <a:r>
              <a:rPr lang="en-US" sz="1600" dirty="0">
                <a:solidFill>
                  <a:srgbClr val="3F7F5F"/>
                </a:solidFill>
                <a:latin typeface="Consolas" panose="020B0609020204030204" pitchFamily="49" charset="0"/>
              </a:rPr>
              <a:t>// TBPRD 28409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 </a:t>
            </a:r>
            <a:r>
              <a:rPr lang="en-US" sz="1600" dirty="0">
                <a:solidFill>
                  <a:srgbClr val="3F7F5F"/>
                </a:solidFill>
                <a:latin typeface="Consolas" panose="020B0609020204030204" pitchFamily="49" charset="0"/>
              </a:rPr>
              <a:t>// TBPRD 25309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 </a:t>
            </a:r>
            <a:r>
              <a:rPr lang="en-US" sz="1600" dirty="0">
                <a:solidFill>
                  <a:srgbClr val="3F7F5F"/>
                </a:solidFill>
                <a:latin typeface="Consolas" panose="020B0609020204030204" pitchFamily="49" charset="0"/>
              </a:rPr>
              <a:t>// TBPRD 23889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 </a:t>
            </a:r>
            <a:r>
              <a:rPr lang="en-US" sz="1600" dirty="0">
                <a:solidFill>
                  <a:srgbClr val="3F7F5F"/>
                </a:solidFill>
                <a:latin typeface="Consolas" panose="020B0609020204030204" pitchFamily="49" charset="0"/>
              </a:rPr>
              <a:t>// TBPRD 21282</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 </a:t>
            </a:r>
            <a:r>
              <a:rPr lang="en-US" sz="1600" dirty="0">
                <a:solidFill>
                  <a:srgbClr val="3F7F5F"/>
                </a:solidFill>
                <a:latin typeface="Consolas" panose="020B0609020204030204" pitchFamily="49" charset="0"/>
              </a:rPr>
              <a:t>// TBPRD 18960</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 </a:t>
            </a:r>
            <a:r>
              <a:rPr lang="en-US" sz="1600" dirty="0">
                <a:solidFill>
                  <a:srgbClr val="3F7F5F"/>
                </a:solidFill>
                <a:latin typeface="Consolas" panose="020B0609020204030204" pitchFamily="49" charset="0"/>
              </a:rPr>
              <a:t>// TBPRD 17896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 </a:t>
            </a:r>
            <a:r>
              <a:rPr lang="en-US" sz="1600" dirty="0">
                <a:solidFill>
                  <a:srgbClr val="3F7F5F"/>
                </a:solidFill>
                <a:latin typeface="Consolas" panose="020B0609020204030204" pitchFamily="49" charset="0"/>
              </a:rPr>
              <a:t>// TBPRD 15944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 </a:t>
            </a:r>
            <a:r>
              <a:rPr lang="en-US" sz="1600" dirty="0">
                <a:solidFill>
                  <a:srgbClr val="3F7F5F"/>
                </a:solidFill>
                <a:latin typeface="Consolas" panose="020B0609020204030204" pitchFamily="49" charset="0"/>
              </a:rPr>
              <a:t>// TBPRD 14204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 </a:t>
            </a:r>
            <a:r>
              <a:rPr lang="en-US" sz="1600" dirty="0">
                <a:solidFill>
                  <a:srgbClr val="3F7F5F"/>
                </a:solidFill>
                <a:latin typeface="Consolas" panose="020B0609020204030204" pitchFamily="49" charset="0"/>
              </a:rPr>
              <a:t>// TBPRD 12654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 </a:t>
            </a:r>
            <a:r>
              <a:rPr lang="en-US" sz="1600" dirty="0">
                <a:solidFill>
                  <a:srgbClr val="3F7F5F"/>
                </a:solidFill>
                <a:latin typeface="Consolas" panose="020B0609020204030204" pitchFamily="49" charset="0"/>
              </a:rPr>
              <a:t>// TBPRD 33784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 </a:t>
            </a:r>
            <a:r>
              <a:rPr lang="en-US" sz="1600" dirty="0">
                <a:solidFill>
                  <a:srgbClr val="3F7F5F"/>
                </a:solidFill>
                <a:latin typeface="Consolas" panose="020B0609020204030204" pitchFamily="49" charset="0"/>
              </a:rPr>
              <a:t>// TBPRD 22548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 </a:t>
            </a:r>
            <a:r>
              <a:rPr lang="en-US" sz="1600" dirty="0">
                <a:solidFill>
                  <a:srgbClr val="3F7F5F"/>
                </a:solidFill>
                <a:latin typeface="Consolas" panose="020B0609020204030204" pitchFamily="49" charset="0"/>
              </a:rPr>
              <a:t>// TBPRD 15049</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352445"/>
            <a:ext cx="828674" cy="480293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1"/>
            <a:endCxn id="2" idx="3"/>
          </p:cNvCxnSpPr>
          <p:nvPr/>
        </p:nvCxnSpPr>
        <p:spPr>
          <a:xfrm flipH="1">
            <a:off x="8677274" y="3630041"/>
            <a:ext cx="1895030" cy="1238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10572304" y="3260709"/>
            <a:ext cx="1449582" cy="738664"/>
          </a:xfrm>
          <a:prstGeom prst="rect">
            <a:avLst/>
          </a:prstGeom>
          <a:noFill/>
        </p:spPr>
        <p:txBody>
          <a:bodyPr wrap="square" rtlCol="0">
            <a:spAutoFit/>
          </a:bodyPr>
          <a:lstStyle/>
          <a:p>
            <a:pPr algn="ctr"/>
            <a:r>
              <a:rPr lang="en-US" dirty="0">
                <a:solidFill>
                  <a:srgbClr val="FF0000"/>
                </a:solidFill>
              </a:rPr>
              <a:t>Note frequency!</a:t>
            </a:r>
          </a:p>
          <a:p>
            <a:pPr algn="ctr"/>
            <a:r>
              <a:rPr lang="en-US" dirty="0">
                <a:solidFill>
                  <a:srgbClr val="FF0000"/>
                </a:solidFill>
              </a:rPr>
              <a:t>We thus set TBPRD</a:t>
            </a:r>
          </a:p>
        </p:txBody>
      </p:sp>
      <p:sp>
        <p:nvSpPr>
          <p:cNvPr id="8" name="Rectangle 7">
            <a:extLst>
              <a:ext uri="{FF2B5EF4-FFF2-40B4-BE49-F238E27FC236}">
                <a16:creationId xmlns:a16="http://schemas.microsoft.com/office/drawing/2014/main" id="{855FCE89-2B75-9C5B-5A3D-9331CE62E261}"/>
              </a:ext>
            </a:extLst>
          </p:cNvPr>
          <p:cNvSpPr/>
          <p:nvPr/>
        </p:nvSpPr>
        <p:spPr>
          <a:xfrm>
            <a:off x="7124466" y="1334279"/>
            <a:ext cx="724133" cy="483926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A07BB24-D8E8-8D83-90E7-C02D9BB9A25B}"/>
              </a:ext>
            </a:extLst>
          </p:cNvPr>
          <p:cNvCxnSpPr>
            <a:cxnSpLocks/>
            <a:stCxn id="12" idx="3"/>
            <a:endCxn id="8" idx="0"/>
          </p:cNvCxnSpPr>
          <p:nvPr/>
        </p:nvCxnSpPr>
        <p:spPr>
          <a:xfrm>
            <a:off x="7100754" y="1117164"/>
            <a:ext cx="385779" cy="2171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F099A56-FECF-5F75-D87B-A4ED0376A704}"/>
              </a:ext>
            </a:extLst>
          </p:cNvPr>
          <p:cNvSpPr txBox="1"/>
          <p:nvPr/>
        </p:nvSpPr>
        <p:spPr>
          <a:xfrm>
            <a:off x="4806385" y="855554"/>
            <a:ext cx="2294369" cy="523220"/>
          </a:xfrm>
          <a:prstGeom prst="rect">
            <a:avLst/>
          </a:prstGeom>
          <a:noFill/>
        </p:spPr>
        <p:txBody>
          <a:bodyPr wrap="square" rtlCol="0">
            <a:spAutoFit/>
          </a:bodyPr>
          <a:lstStyle/>
          <a:p>
            <a:pPr algn="ctr"/>
            <a:r>
              <a:rPr lang="en-US" dirty="0">
                <a:solidFill>
                  <a:srgbClr val="FF0000"/>
                </a:solidFill>
              </a:rPr>
              <a:t>Divisions handle the clock divide + half frequency</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1208</TotalTime>
  <Words>5572</Words>
  <Application>Microsoft Office PowerPoint</Application>
  <PresentationFormat>Widescreen</PresentationFormat>
  <Paragraphs>722</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430</cp:revision>
  <dcterms:created xsi:type="dcterms:W3CDTF">2019-01-14T22:06:33Z</dcterms:created>
  <dcterms:modified xsi:type="dcterms:W3CDTF">2026-02-11T16:13:33Z</dcterms:modified>
</cp:coreProperties>
</file>