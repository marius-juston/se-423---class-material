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417" r:id="rId3"/>
    <p:sldId id="413" r:id="rId4"/>
    <p:sldId id="272" r:id="rId5"/>
    <p:sldId id="490" r:id="rId6"/>
    <p:sldId id="491" r:id="rId7"/>
    <p:sldId id="504" r:id="rId8"/>
    <p:sldId id="492" r:id="rId9"/>
    <p:sldId id="493" r:id="rId10"/>
    <p:sldId id="494" r:id="rId11"/>
    <p:sldId id="495" r:id="rId12"/>
    <p:sldId id="496" r:id="rId13"/>
    <p:sldId id="497" r:id="rId14"/>
    <p:sldId id="498" r:id="rId15"/>
    <p:sldId id="499" r:id="rId16"/>
    <p:sldId id="500" r:id="rId17"/>
    <p:sldId id="501" r:id="rId18"/>
    <p:sldId id="502" r:id="rId19"/>
    <p:sldId id="503" r:id="rId20"/>
    <p:sldId id="448" r:id="rId21"/>
    <p:sldId id="505" r:id="rId22"/>
    <p:sldId id="506" r:id="rId23"/>
    <p:sldId id="507" r:id="rId24"/>
    <p:sldId id="509" r:id="rId25"/>
    <p:sldId id="508" r:id="rId26"/>
    <p:sldId id="510" r:id="rId27"/>
    <p:sldId id="511" r:id="rId28"/>
    <p:sldId id="512" r:id="rId29"/>
    <p:sldId id="513" r:id="rId30"/>
    <p:sldId id="514" r:id="rId31"/>
    <p:sldId id="515" r:id="rId32"/>
    <p:sldId id="516" r:id="rId33"/>
    <p:sldId id="525" r:id="rId34"/>
    <p:sldId id="517" r:id="rId35"/>
    <p:sldId id="520" r:id="rId36"/>
    <p:sldId id="519" r:id="rId37"/>
    <p:sldId id="521" r:id="rId38"/>
    <p:sldId id="522" r:id="rId39"/>
    <p:sldId id="523" r:id="rId40"/>
    <p:sldId id="524" r:id="rId41"/>
    <p:sldId id="518" r:id="rId42"/>
    <p:sldId id="526" r:id="rId43"/>
    <p:sldId id="527" r:id="rId44"/>
    <p:sldId id="528" r:id="rId45"/>
    <p:sldId id="529" r:id="rId46"/>
    <p:sldId id="530" r:id="rId47"/>
    <p:sldId id="531" r:id="rId48"/>
    <p:sldId id="271" r:id="rId49"/>
    <p:sldId id="270" r:id="rId5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06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29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10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07" Type="http://schemas.openxmlformats.org/officeDocument/2006/relationships/presProps" Target="presProps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110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108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6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9ED5EC-765E-DDD7-332B-8A00B0540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5154540A-10BF-B029-D910-A380E44E1A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65677FB-0014-3040-C794-160B4CD86A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381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7775F6B-CE92-7D76-29DC-9332AC216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8C68E78-8FB9-D179-E67F-8BC1A11681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CAF400A-C3AA-286D-B44E-E7661705A5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8892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11DB8CD-CCC3-3A06-A22B-BD6B890F4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94E36DF-6192-8DCC-19BC-E6AE3E9948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5125E41-DD09-9DB9-3A77-807156511B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5822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A97959B-636F-5C4B-5E5A-D07721A1A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66845E92-E64E-EA32-32F5-0EFABC79CA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B49D3F8-7FD8-986D-661A-0D92EC6259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7078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D2A289F-E2C2-06DC-F71A-727F564B6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0969A5F-7983-9727-6713-0D9629F8F0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08482C4-8482-873D-EE68-949FB3988A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6168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7A0B213-FE4A-2238-5A85-94EF74759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434ABA4-F021-A783-B3C7-C269EB4F29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A499193-6FC3-ED10-BCFA-E839E224EF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8473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64CE519-4969-4FF8-F623-F29D7DC33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891BC59-E70D-29F0-70F2-39AB3FD167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5218C2E-AEFD-9BC7-BF7F-826177334B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8838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DD25046-CA84-D8D8-70B1-8C765FB5B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447AACE-F312-1FC0-70D9-63C3AB22C1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6DAFA1D-2B0E-ABAA-81D3-DA5069BBF9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4450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4252218-79DB-6584-B0A7-0432111A9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9129514-A96F-FE09-1457-01B14A6CB7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70EA40D-477D-6923-70EC-8E618F1484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919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38904C1-1E09-9D51-92CB-8020E8F32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8D03396-424C-2915-29D8-E47F24CD1D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E4F06D8-9D4F-85E7-0C19-40008CBD9C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263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95A0524-AF7F-4230-4568-4722F998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E756D4B-1394-A30A-8543-3212A26BDE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268CBC4-214E-53FD-7609-AE131161E0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120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6BED1C3-CE37-0EFF-5EB4-E4070B7D1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104F8A5-CE2A-899C-B989-783BACD747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7F30AEA-AA9B-38D4-E019-180549B098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9275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C47FD34-7F0E-2FC3-788E-22097A74D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6ED5DA1-F744-825D-834D-7A3800EBD1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19EE58-B914-FCD0-917F-1EF5B0B116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042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B0B47ED-387B-B1B9-1F89-07BE5D55D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42CD893-2D34-2E5E-A7BC-E4DBDAC041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602B993-D21E-7974-E5E0-0C3AE6741E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9033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239936E-7A8B-07EE-F46C-97E6996BE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8049A0B-D369-1F14-FF15-73A7DE3F3D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5C935B2-F837-1A8D-F907-2E4DEA0EED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5810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BDBD518-ED97-9618-7C7F-7913C5F8F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64E6985-F1BF-7DB3-F584-BBD954B6FA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886C997-A80F-44E4-92DB-BED12B0B39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3642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2387BB5-959C-E478-3DAD-4D8349924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2600C003-0471-BBF4-154A-4FFB21E8B6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1B1C2EF8-7E9F-D5BE-130C-783EC11C60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9285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F8E61F2-BD1D-AD62-E214-F0C3250E8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D562E57-C915-9CC6-03F3-51817AE313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5B81430-C93B-91DC-336D-883839C6CF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0785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AF82566-68DA-C442-B38E-BED4E04E8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57D3C95-8AFA-6D5E-1669-BCC4F32E1F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3393AB3-B3DF-AEE9-D9F1-7C01912013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22146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75E6374-746D-10C1-E8D9-63F71796B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DC62AD8-840E-52E4-37D0-7FF2B00E10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BEDC62A-7940-7037-45D6-954BC708BF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5351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D355669-EB16-0D1A-A57C-16F2667EE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69D2F24-657B-1DAA-450C-0122225BCE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C273792-0E94-F5DE-A1C8-1140D37952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6329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6BDCC3B-782B-7862-56F5-DACDF7D3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E737731-AAAC-3813-057C-1C654264E0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DFA6CE-ED13-FE7B-2167-B9D5949264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798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161A084-E9EC-2754-E2AE-A42B4D3D3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2BBD9B1-B16E-4243-0D27-E5C73EEE0E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E05557-8266-BFF3-60F2-8C848DAE21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9066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C88B523-41FD-B9A3-2E38-E37CA90AD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2771FFF6-73B3-07A6-5A76-C6E7704398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11B482F-AD19-A0DE-A369-43B187F733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69694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555C159-2F27-0E84-FC20-B0ADA2997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49BB84A-54A5-BA95-40EC-8148B351BD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18EEBD5-24A3-CCC9-83C0-4CD8C6167A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5588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B25EA8C-8B0A-8186-F974-7A6CB5F9B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42D7F00-B86A-0F70-7E23-87255B814B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F9A4D6B-E66C-793A-1E31-6AFAF3EABE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2157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7539E70-7DC1-63AB-E2C0-9E34114D8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9FBD8C7-C472-7BE3-8461-10E962CBD4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A59E0EA-1B2C-B356-F1EF-E67CDCA1DF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87879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EDFD48A-C901-CFBA-20C6-8157C67E0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0D45D09-9B0E-0F8A-C91B-2F9DFE2999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721FBAB-D490-2972-1936-720E4F2556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3216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80B769F-D7DA-19BD-1597-DAC3FEDE3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B2F9F79-DE1C-9FBB-2661-0EB2D371B9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6B239D3-2E44-22D7-5CFA-578429B6C6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1457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32626CE-7521-ECF7-0A26-885144CF6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742070F-6669-6B56-39C8-531D9001DA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4B41526-943B-36BC-9AF8-D08DD4ADF2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60010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F95026F-9C15-E3DA-9165-F280126AD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18F6A77-7198-6E75-3560-7EE6286066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D9472B9-D46E-FB09-BF18-EEE8B876C9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12718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0A3506B-2C83-725E-DC8E-70DF5441C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105F423-988D-36E9-854B-15EA5D548A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A9111F6-AEBC-92BB-7B69-0C94D967E7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2276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61D1D44-919A-710C-92F7-EBC549493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E7721BC-C952-5A53-2E42-628994552B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839807A-A68D-942E-C4B8-16858FC6E6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97148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F04D433-3B87-FC9A-F8B8-B0B3EC8A1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F031B43-D83F-8D8B-0D7A-2D0DBCE452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438C143-E5EE-0D4E-C818-B7A8CB0DF7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10780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D336F1A-6E89-CCFD-EC34-CC27F5E27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EDABE72-C7DA-9585-C98E-D9B4FAC204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B4E7693-A9FF-37A2-95DE-02AA0EA4BA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54266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E69D5FA-A72E-6827-15FD-57E611659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C8B3BBF-D3EF-238C-905C-79050BA2FE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BE39FFB-A19A-DFA5-C1F7-27E1F61B39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88246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E2C721F-7AF9-969C-F455-0CF86C5EC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0F71400-74C2-CFF2-EA11-FDE667BF48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512BD29-DDA0-3951-F650-B0029B070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58198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EE62010-A1E5-99FE-109D-CCACAA705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21AFC9C-803D-C324-E11E-AD9727E90E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476E856-537F-207A-3DE5-35D8B7F19A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25046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A782878-7FFD-F45A-C7A5-107FC4158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C2F6684-1C99-3979-FC0A-F722100475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3ABEAAC-F713-7E15-D5AF-052632D34D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41700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FF627FE-B07B-1129-A9C1-2E7AF65AE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C1A13A7-62E2-5AC6-344C-9400057A6F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260781E-1BF1-324E-7C47-3EC96DE50F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29353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1C7D19C-CC68-7518-6504-3271B4402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2D2415A-885E-1426-6EE8-A57F09E130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107BE08-4A8E-900F-F71B-0033BEA6CE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77688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D779595-936C-D346-A014-DA6886360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B913018-0614-508B-911C-0A86CD29C6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2DC5785-C90B-9198-08C3-3460E85351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0426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BEFD835-0BF4-606D-CA93-C63A870DF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28B7B25-8167-92F8-3C46-34F3B04092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7994944-0C8C-7BB1-1D01-B6A79E3685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27868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0CE889C-A7BB-03AB-FBC1-0FA185C53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53BF8F0-C611-3A4A-3BC3-E7FD64E3E7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6CB2F0A-B105-CF97-8BA9-A1782E2DAD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70156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5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sv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sv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24: SLAM, Simultaneous Localization and Mapping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Monday, April </a:t>
            </a:r>
            <a:r>
              <a:rPr lang="en-US" sz="1800" dirty="0">
                <a:solidFill>
                  <a:schemeClr val="lt1"/>
                </a:solidFill>
              </a:rPr>
              <a:t>20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7EA1A55-2BAC-C6A5-ABC3-168138F62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Talk to the person next to you and answer these questions.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Finishing Lab 7 this week. This a 2-week lab! This is the final lab! Afterwards you will just be working on your final project in your teams.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3000"/>
              <a:defRPr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Remainder of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5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due on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Gradescope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on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21, 5PM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Next homework is primarily the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personal project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due on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April 22, 9AM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AF3B574-1FB7-47D8-7C3B-2D8B80C1B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18C368B-FE2D-5B17-BE43-7465482AEBFA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BCBC3FB6-47F6-7775-CB52-E1D0141B8A3F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D56A7593-AC73-7040-DB5D-E69F313BBDE7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BFE751B6-CF4D-273E-D560-6B4D883779F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7768501-64BD-D022-44D2-3CA620B502C6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9915C55-6271-9B95-62A4-D901C77AA9D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6534BB9-415B-75C5-14DF-605417B1EA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8493C96-336F-E402-218B-5C13C8F047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33C3076B-D3BE-042B-369B-996B00F03F2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A886A22C-18CA-ADCE-8A13-5D51F5F174D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5546652-0DF2-2B1B-5CB6-25C023D4F23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656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F1AEB17-F730-C197-F2E1-5FE0C3144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4742882-1466-02A4-B5CB-8CC2CFD233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There are a couple of steps to understand SLAM, these will be split into 5 parts focused on 2D LiDAR SLAM (since that is the most important one for our robot):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The robot turning on, in a completely unknown environment. Why is this hard?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Localization, “where am I?” (ICP)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Mapping, from the LiDAR, generate occupancy grids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The back-end, pose graphs, factor graphs, and loop closure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Real world situations, dynamic obstacles, ghost obstacles, robust SLAM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0DE98E0-6FFB-B178-E249-FD0F0ABECB6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79D7D57-26B8-3084-EE6B-80D199195BC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SLAM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67AEAB1-2EFF-EC1E-0981-321FA21733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3CF0CBC-5F70-8C4A-0539-636AC71DE7D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27E63FC-4E78-1BF4-8B3B-BAA5806FF57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199600F-676A-803F-C84C-0894315A10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ADAE41B-BD7E-A52C-E3F7-D2BDEC5D929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8BB39D8-8128-90A6-5910-F02A839B07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09294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95E7E3B-DC71-4742-4A46-5A077086F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1724871-B9CD-C122-6BF1-529AAD390C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There will be multiple components that will be used in the SLAM: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Wheel odometry:</a:t>
            </a:r>
          </a:p>
          <a:p>
            <a:pPr marL="800100" lvl="1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Fast, low-latency, but drifts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2D LiDAR</a:t>
            </a:r>
          </a:p>
          <a:p>
            <a:pPr marL="800100" lvl="1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High-resolution geometric ground truth, but it is only one slice of the world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The Fron-End:</a:t>
            </a:r>
          </a:p>
          <a:p>
            <a:pPr marL="800100" lvl="1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Converts the raw sequential scans into short-term motion estimates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The Back-End:</a:t>
            </a:r>
          </a:p>
          <a:p>
            <a:pPr marL="800100" lvl="1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Optimizes the entire history when loops close (loop closure)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The Map:</a:t>
            </a:r>
          </a:p>
          <a:p>
            <a:pPr marL="800100" lvl="1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 dynamic-aware model the planner can trust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95E899C-65BA-A082-1B0C-58ACEFA4A6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0F145BF-C683-8286-9147-71B19354117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SLAM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7A61312-B511-7569-9C00-3C8B9C5CAFC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485A2CB-9F46-82D1-6A72-19AA3F78127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7F03CE7-9A22-108B-FA3C-98DCF6E93B6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9AC639F-2AAA-D2B4-B552-15124895DD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E135C6A-705A-D250-3247-F731516B16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FC0374-26AC-8B56-AA41-AF24660EB5C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68236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DA6931C0-FCFE-86DD-DFA5-1C0CA557F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9D37BBD-044B-E061-B2AC-57425E51F334}"/>
              </a:ext>
            </a:extLst>
          </p:cNvPr>
          <p:cNvGrpSpPr/>
          <p:nvPr/>
        </p:nvGrpSpPr>
        <p:grpSpPr>
          <a:xfrm>
            <a:off x="2206906" y="2674628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5D3E79BC-35E8-8ADE-971E-0C47F2DECD0C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ctr">
                <a:buSzPts val="6000"/>
              </a:pPr>
              <a:r>
                <a:rPr lang="en-US" sz="6000" b="1" dirty="0">
                  <a:solidFill>
                    <a:schemeClr val="lt1"/>
                  </a:solidFill>
                </a:rPr>
                <a:t>Robot startup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944F161A-39FC-92AA-88F3-7ED934DF0FC7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0ADA7A49-85A1-6DFB-40FC-613176529EFA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08CE32F4-CF7C-5338-5D6A-3CD81FF1798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0B854ACD-E9DF-82B4-3FD9-779EF852A5D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E5CA8CD6-481F-8E9D-B7D3-C03E7DED296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FE6185F-81F0-3BC7-EAA9-34E45B39D6E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33C6DB1D-D2F3-FA11-045B-69E8E4A2FC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39D71201-F81B-1F32-070E-195D98C236A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17174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DF1A1A5-2764-6287-E09B-4820FF380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1879322-F751-4403-278F-BC7814E1C1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A mobile robot is powered on for the first time inside an unknown warehouse / location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What is unknown?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No map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No estimate of prior state (position)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Only has sensor streams! The LiDAR, IMU, Odometry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However, there are 2 questions that must be answered at every time-step to function properly. What are they?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Where am I right now? (Localization)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What does the world around me look like (Mapping)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A478DEE-268E-BAF4-DBC7-9FABCDAC617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0AED98-D655-0A4D-86A5-BFEF6ACB6EF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SLAM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93C34F2-FA06-06FB-9F03-D6A700C3CD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3C64A1B-9733-E404-00F4-F87073BA643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C1DCD35-D961-D7F1-AD29-3D43294141C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E65A878-9269-655E-0A8E-2336C20727C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89F863C-0824-F73D-64A5-443004D5AE5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E1A42B-9F12-8A60-FE2A-682AE5C95BB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5244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A401C5B-6E85-5B57-2B7A-13BE544BB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110CAA4-F180-166B-E0F2-A437800E39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A mobile robot is powered on for the first time inside an unknown warehouse / location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What is unknown?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No map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No estimate of prior state (position)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Only has sensor streams! The LiDAR, IMU, Odometry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However, there are 2 questions that must be answered at every time-step to function properly and perform safe planning. What are they?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Where am I right now? (Localization)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What does the world around me look like (Mapping)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CC5AE70-3F9C-83A6-44AE-E62C910845F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D8D57F1-E7DC-5DBF-93E0-9FF8C6AC434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SLAM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C6F122D-F57F-86CD-0E9C-6E126823E4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1245ED8-5FCF-ADF1-D35E-9AEF7108D00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817A609-1426-373B-6B56-3900C4F0F72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144DB35-0582-5E38-15BA-A6314F158FD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1CFB09-EE67-F2E5-00A3-FE54D693104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C43FFB2-8DC4-CDAA-7B4D-1DC2341F814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55788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09E2E88-687E-FA43-9FEA-89FF21DD6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93356AC-3826-9D7C-518E-D87CE517F0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For localization, why not just use GPS?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5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GPS needs line-of-sight to 4+ orbiting satellites, buildings block this completely</a:t>
            </a:r>
          </a:p>
          <a:p>
            <a:pPr marL="342900">
              <a:lnSpc>
                <a:spcPct val="15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Civilian GPS accuracy is ~3-5 m, useless when aisles are 1.5 m wide</a:t>
            </a:r>
          </a:p>
          <a:p>
            <a:pPr marL="342900">
              <a:lnSpc>
                <a:spcPct val="15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Underground environments (mines, subways, basements) receive zero signal</a:t>
            </a:r>
          </a:p>
          <a:p>
            <a:pPr marL="342900">
              <a:lnSpc>
                <a:spcPct val="15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Indoor RTK and UWB beacons work, but require expensive pre-installed infrastructure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3996E2-B153-97D3-190E-28F90129F96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3643D34-E0B5-62C8-BC30-3BB8B984BA9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SLAM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3E4436-7822-C12B-EF4B-C2ECF41E596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E35C74-D448-627B-599A-C6A110E74B3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CD8687D-A146-FAF6-055F-979C3E51204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60C7F1D-5E32-AE0F-224E-990410072CC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B238480-537A-A0B9-2711-2F84438E90D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AB80BE0-1DFB-B890-651F-5EF5DB69948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28483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2CAED12-86FE-4B9F-1263-A2D5AF2A5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643B538-7BD5-657B-6D07-B093BB68A1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For mapping why not just download a CAD model?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CAD drawings model the specific intended structure; however, not what the actual room is like today!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Furniture, people, tables, drift daily! Just think about this room!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A single misplaced chair renders a pre-programmed path to be unsafe ( as you saw in lab adding an obstacle, we try to go point to point and even in the wall following sometimes it fails)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We need a map that reflects reality now!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When is it okay though to have a predefined map?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623B2AD-5499-800D-C2AB-CAF893B7C77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E026B94-4AB5-D82D-C0BF-C2E60DB7E8E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SLAM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D9ED6D8-F670-6E6F-4922-332B16D119E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B59F4CA-2754-7519-4D82-1AA159E4A7F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A3A2A15-59FF-3779-37AC-902FAD3D18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3231637-E559-11BA-4F59-1FC988F4E24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753853D-D5D0-AB77-7E90-4B9DC463F2E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BF26F17-D2EE-4E07-8927-23770E62AA0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655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317BB8D-791A-67EF-27BF-B56B1EC76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7D29BDF-D223-D7A2-A0BA-CDAC06D24A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SLAM, which stands for Simultaneous Localization and Mapping, tries to solve both at the same time.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There is a paradox though. Think about the chicken-and-egg trap…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To build an accurate map you need to know your exact location at every scan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To know your exact location, you need an already-existing map to compare against!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Classical robotics solves this separately; SLAM does both at the same time!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Every millisecond: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Estimate motion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Predict where the world should be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Refine both!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46439A4-678F-4F6F-E4BD-D8D496FD1C4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E509B39-335B-DB8F-4349-2B5ACBA5F6F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SLAM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CF6040C-18CE-8D07-1389-E262F24B6C4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60367FF-79B1-4B9B-0318-838F95E0CD9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6FA39C9-3A8D-ABD5-F7C6-A4AC40C625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603DFFB-10AC-7D10-49D9-7A8EDE728FA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A0FC4E4-FFF7-A12D-FFE3-C86B72D9E48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545B20D-A0EE-6388-A046-A5865F0A145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34079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8101F5B-FEBA-F5A6-EEBA-5CF95F0E5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7A68BF3-28EB-ECDA-1B51-207A48941E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Essentially SLAM is trying to maximize the following probability: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In a single iteration, which do you think that the robot actually updates first? It’s pose estimate or the map?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6435FB5-6AF4-C321-3F7E-085F82E45D2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6DFCE21-BE52-27A3-D818-764906915B3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SLAM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052BAAA-28CA-91EC-B17F-2116CBED12B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E83D88-76FB-5738-855F-54572542705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764B27A-EE9E-D346-F451-C1546FD02A0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B3110B5-CB28-D22C-744A-7A6F71EE15B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7CCDF5B-D785-EAFF-3630-6278F577321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B9344AA-0EBC-D457-6616-7102FD9AEF5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1B07C535-9306-06DA-4D19-3397B4B2E1B3}"/>
              </a:ext>
            </a:extLst>
          </p:cNvPr>
          <p:cNvGrpSpPr/>
          <p:nvPr/>
        </p:nvGrpSpPr>
        <p:grpSpPr>
          <a:xfrm>
            <a:off x="1371752" y="2788920"/>
            <a:ext cx="9448495" cy="1280160"/>
            <a:chOff x="1371752" y="2471420"/>
            <a:chExt cx="9448495" cy="128016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9191F805-4354-CC6C-43EC-E39B7B8DD20A}"/>
                </a:ext>
              </a:extLst>
            </p:cNvPr>
            <p:cNvSpPr/>
            <p:nvPr/>
          </p:nvSpPr>
          <p:spPr>
            <a:xfrm>
              <a:off x="1371752" y="2471420"/>
              <a:ext cx="9448495" cy="1280160"/>
            </a:xfrm>
            <a:prstGeom prst="rect">
              <a:avLst/>
            </a:prstGeom>
            <a:solidFill>
              <a:srgbClr val="FEF3C7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C27BBE03-8400-AE28-1FAE-501E748803F7}"/>
                </a:ext>
              </a:extLst>
            </p:cNvPr>
            <p:cNvSpPr/>
            <p:nvPr/>
          </p:nvSpPr>
          <p:spPr>
            <a:xfrm>
              <a:off x="1371752" y="2471420"/>
              <a:ext cx="73152" cy="1280160"/>
            </a:xfrm>
            <a:prstGeom prst="rect">
              <a:avLst/>
            </a:prstGeom>
            <a:solidFill>
              <a:srgbClr val="F59E0B"/>
            </a:solidFill>
            <a:ln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 6">
                  <a:extLst>
                    <a:ext uri="{FF2B5EF4-FFF2-40B4-BE49-F238E27FC236}">
                      <a16:creationId xmlns:a16="http://schemas.microsoft.com/office/drawing/2014/main" id="{D0E2A134-5090-B89C-53E8-E4D3690A8AC7}"/>
                    </a:ext>
                  </a:extLst>
                </p:cNvPr>
                <p:cNvSpPr/>
                <p:nvPr/>
              </p:nvSpPr>
              <p:spPr>
                <a:xfrm>
                  <a:off x="1554632" y="2517140"/>
                  <a:ext cx="9174175" cy="9144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None/>
                  </a:pPr>
                  <a:r>
                    <a:rPr lang="en-US" sz="2200" dirty="0">
                      <a:solidFill>
                        <a:srgbClr val="1E293B"/>
                      </a:solidFill>
                      <a:latin typeface="Consolas" pitchFamily="34" charset="0"/>
                      <a:ea typeface="Consolas" pitchFamily="34" charset="-122"/>
                      <a:cs typeface="Consolas" pitchFamily="34" charset="-120"/>
                    </a:rPr>
                    <a:t>maximize   </a:t>
                  </a:r>
                  <a14:m>
                    <m:oMath xmlns:m="http://schemas.openxmlformats.org/officeDocument/2006/math">
                      <m:r>
                        <a:rPr lang="en-US" sz="2200" b="0" i="1" smtClean="0">
                          <a:solidFill>
                            <a:srgbClr val="1E293B"/>
                          </a:solidFill>
                          <a:latin typeface="Cambria Math" panose="02040503050406030204" pitchFamily="18" charset="0"/>
                          <a:ea typeface="Consolas" pitchFamily="34" charset="-122"/>
                          <a:cs typeface="Consolas" pitchFamily="34" charset="-120"/>
                        </a:rPr>
                        <m:t>𝑃</m:t>
                      </m:r>
                      <m:d>
                        <m:dPr>
                          <m:sepChr m:val="∣"/>
                          <m:ctrlPr>
                            <a:rPr lang="en-US" sz="2200" b="0" i="1" smtClean="0">
                              <a:solidFill>
                                <a:srgbClr val="1E293B"/>
                              </a:solidFill>
                              <a:latin typeface="Cambria Math" panose="02040503050406030204" pitchFamily="18" charset="0"/>
                              <a:ea typeface="Consolas" pitchFamily="34" charset="-122"/>
                              <a:cs typeface="Consolas" pitchFamily="34" charset="-12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200" b="0" i="1" smtClean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ea typeface="Consolas" pitchFamily="34" charset="-122"/>
                                  <a:cs typeface="Consolas" pitchFamily="34" charset="-12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ea typeface="Consolas" pitchFamily="34" charset="-122"/>
                                  <a:cs typeface="Consolas" pitchFamily="34" charset="-12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200" b="0" i="1" smtClean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ea typeface="Consolas" pitchFamily="34" charset="-122"/>
                                  <a:cs typeface="Consolas" pitchFamily="34" charset="-120"/>
                                </a:rPr>
                                <m:t>1:</m:t>
                              </m:r>
                              <m:r>
                                <a:rPr lang="en-US" sz="2200" b="0" i="1" smtClean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ea typeface="Consolas" pitchFamily="34" charset="-122"/>
                                  <a:cs typeface="Consolas" pitchFamily="34" charset="-12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200" b="0" i="1" smtClean="0">
                              <a:solidFill>
                                <a:srgbClr val="1E293B"/>
                              </a:solidFill>
                              <a:latin typeface="Cambria Math" panose="02040503050406030204" pitchFamily="18" charset="0"/>
                              <a:ea typeface="Consolas" pitchFamily="34" charset="-122"/>
                              <a:cs typeface="Consolas" pitchFamily="34" charset="-120"/>
                            </a:rPr>
                            <m:t>,</m:t>
                          </m:r>
                          <m:r>
                            <a:rPr lang="en-US" sz="2200" b="0" i="1" smtClean="0">
                              <a:solidFill>
                                <a:srgbClr val="1E293B"/>
                              </a:solidFill>
                              <a:latin typeface="Cambria Math" panose="02040503050406030204" pitchFamily="18" charset="0"/>
                              <a:ea typeface="Consolas" pitchFamily="34" charset="-122"/>
                              <a:cs typeface="Consolas" pitchFamily="34" charset="-120"/>
                            </a:rPr>
                            <m:t>𝑚</m:t>
                          </m:r>
                        </m:e>
                        <m:e>
                          <m:sSub>
                            <m:sSubPr>
                              <m:ctrlPr>
                                <a:rPr lang="en-US" sz="2200" b="0" i="1" smtClean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ea typeface="Consolas" pitchFamily="34" charset="-122"/>
                                  <a:cs typeface="Consolas" pitchFamily="34" charset="-12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ea typeface="Consolas" pitchFamily="34" charset="-122"/>
                                  <a:cs typeface="Consolas" pitchFamily="34" charset="-12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200" b="0" i="1" smtClean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ea typeface="Consolas" pitchFamily="34" charset="-122"/>
                                  <a:cs typeface="Consolas" pitchFamily="34" charset="-120"/>
                                </a:rPr>
                                <m:t>1:</m:t>
                              </m:r>
                              <m:r>
                                <a:rPr lang="en-US" sz="2200" b="0" i="1" smtClean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ea typeface="Consolas" pitchFamily="34" charset="-122"/>
                                  <a:cs typeface="Consolas" pitchFamily="34" charset="-12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200" b="0" i="1" smtClean="0">
                              <a:solidFill>
                                <a:srgbClr val="1E293B"/>
                              </a:solidFill>
                              <a:latin typeface="Cambria Math" panose="02040503050406030204" pitchFamily="18" charset="0"/>
                              <a:ea typeface="Consolas" pitchFamily="34" charset="-122"/>
                              <a:cs typeface="Consolas" pitchFamily="34" charset="-12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200" b="0" i="1" smtClean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ea typeface="Consolas" pitchFamily="34" charset="-122"/>
                                  <a:cs typeface="Consolas" pitchFamily="34" charset="-12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ea typeface="Consolas" pitchFamily="34" charset="-122"/>
                                  <a:cs typeface="Consolas" pitchFamily="34" charset="-12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200" b="0" i="1" smtClean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ea typeface="Consolas" pitchFamily="34" charset="-122"/>
                                  <a:cs typeface="Consolas" pitchFamily="34" charset="-120"/>
                                </a:rPr>
                                <m:t>1:</m:t>
                              </m:r>
                              <m:r>
                                <a:rPr lang="en-US" sz="2200" b="0" i="1" smtClean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ea typeface="Consolas" pitchFamily="34" charset="-122"/>
                                  <a:cs typeface="Consolas" pitchFamily="34" charset="-12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a14:m>
                  <a:endParaRPr lang="en-US" sz="2200" dirty="0"/>
                </a:p>
              </p:txBody>
            </p:sp>
          </mc:Choice>
          <mc:Fallback>
            <p:sp>
              <p:nvSpPr>
                <p:cNvPr id="8" name="Text 6">
                  <a:extLst>
                    <a:ext uri="{FF2B5EF4-FFF2-40B4-BE49-F238E27FC236}">
                      <a16:creationId xmlns:a16="http://schemas.microsoft.com/office/drawing/2014/main" id="{D0E2A134-5090-B89C-53E8-E4D3690A8A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632" y="2517140"/>
                  <a:ext cx="9174175" cy="9144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ED937B31-D381-8599-CF76-C59C7E9B76EA}"/>
                </a:ext>
              </a:extLst>
            </p:cNvPr>
            <p:cNvSpPr/>
            <p:nvPr/>
          </p:nvSpPr>
          <p:spPr>
            <a:xfrm>
              <a:off x="1554632" y="3385820"/>
              <a:ext cx="9174175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000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Find the most likely trajectory x and map m given all observations z and controls u</a:t>
              </a:r>
              <a:endParaRPr lang="en-US" sz="1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842094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851C812-EFF3-37C7-2913-94D0F49B1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C990C3C-3793-3AFD-0996-0CF0982B11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Why do we need SLAM at all?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What some robotics examples where we want to map and plan trajectories in unknown / updating environments?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Robot vacuums must map the unknown living room the first time they're switched on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Self-driving cars use SLAM to reconcile HD maps with new construction, detours, and snow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Mars rovers have no GPS and no human cartographer - everything is SLAM by necessity!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Search-and-rescue drones enter collapsed buildings no person has ever mapped before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99148DD-D46C-55AB-7D53-2A93D92BCF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7717265-FF1A-3249-F1B5-595713E640F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SLAM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F3C37F6-B99C-38D4-6BEC-0545327AB22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4C8F073-1C17-107F-9361-510EBCC9A4D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2C725A1-C935-BD10-CEEA-6759B034B29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E418BA2-6DB7-173E-4056-CE29531790E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925AB33-1895-27BB-EBC3-084FAE8B89C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74B4E77-BAB2-3503-A1A3-C6C30088626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35219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480798A-5C6D-4D48-B720-ED772A4BB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CC70F59-59CD-902E-5BD6-1132F99CBA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What makes a good SLAM system?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Real-time: the pose estimate must arrive before the robot crashes into the wall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Globally consistent: no double walls, bent corridors, or duplicate rooms in the final map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Robust to noise, to moving people, to sensor dropouts, to wheel slip on tile floors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Memory-bounded: a $50 embedded CPU must hold a 10,000 m² facility's map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Lifelong: the map must stay valid for weeks as the environment slowly evolves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Which of these five requirements do you think was the hardest to solve historically? Why?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A571382-9BD1-4D5D-D56B-A96E5656A6B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74A922-BD79-2FDF-5F38-8733F6782B3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SLAM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891D21B-711A-0E4B-E2E4-B21BE754BDF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F7CC137-B2BF-EDF3-3429-D8E412C88FD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77437F2-82C6-1DED-8863-09A667FBF18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87B2BC9-D382-A527-DDAD-C093CA1C680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EE5D1B1-5332-FD81-95EC-9C68BFB17C1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BF4BDC0-6549-D63A-A9EC-FC71025485F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80356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7C6179E-7949-05E8-2D0A-5EFD7A751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A43471F-1D06-6830-08F3-543FC77C26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Global Consistency is the hardest to solve.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In early SLAM, robots relied primarily on Dead Reckoning or incremental scan-matching. Because every sensor measurement has a non-zero covariance, these small errors integrate over time.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The hardest part of global consistency is </a:t>
            </a:r>
            <a:r>
              <a:rPr lang="en-US" sz="2200" b="1" dirty="0">
                <a:latin typeface="Arial"/>
                <a:ea typeface="Arial"/>
                <a:cs typeface="Arial"/>
                <a:sym typeface="Arial"/>
              </a:rPr>
              <a:t>Loop Closure</a:t>
            </a: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. Imagine a robot traveling a 1-kilometer loop. Even a tiny error of 0.5° in orientation can result in the robot returning to its starting point and perceiving the wall to be several meters away from where it "should" be.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The system must recognize a previously visited location using only sensor data (often called Place Recognition or Appearance-based SLAM).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548562F-2C81-705F-31DA-A3545C24257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76499B3-5F7F-03D6-4F50-CF273FF91F5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SLAM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5EDF078-008A-3556-C703-EE3385FA31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82D71F7-CB83-63D8-6139-EE3F0FA0218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D5AE8E7-CD79-28C5-E7CE-FB7A9106996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86EAD7E-F8B6-5C6D-1C40-000061531CD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8708B39-943B-53A5-D6B0-4CE50BE0482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4EF2215-DDD5-2804-ACFA-8D402ED5783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7149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64BCF0C-98CC-7D34-C737-670119955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1B591A1-DAF4-7307-4872-98CEFFCDAF1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The pose that the SLAM is optimizing for,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200" b="0" i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200" b="0" i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200" b="0" i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200" b="0" i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Every SLAM algorithm optimizes some collection of these pose triples over time. Since again we are optimizing the robot’s position / trajectory that it has taken.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1B591A1-DAF4-7307-4872-98CEFFCDAF1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64BAB2F-0808-73E1-78BB-77A819655DE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630C026-3464-6074-2A70-E1308F9E9A1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SLAM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346DF92-C0FD-5E5B-358C-ABA6043099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0E3D0EF-3DB5-D4D5-6E09-81B91D1C2A0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14F2335-A565-AD90-830A-356CB92232A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C0B7DEF-6F6E-9C2F-29AD-A572B4F2A26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9887E01-F650-C2B9-8AA9-2CBBEA6256E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BD84E35-267E-1FB3-8F17-3D74E295D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392862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20C81FA-C236-4637-C323-58A169BB8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9862B65-4BC6-7BCE-BB7D-D43A50ED04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The SLAM Loop: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5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Read odometry: produce fast prior estimate of new pose</a:t>
            </a:r>
          </a:p>
          <a:p>
            <a:pPr marL="342900">
              <a:lnSpc>
                <a:spcPct val="15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Read LiDAR: capture current snapshot of the world</a:t>
            </a:r>
          </a:p>
          <a:p>
            <a:pPr marL="342900">
              <a:lnSpc>
                <a:spcPct val="15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Scan-match the snapshot again recent scans: refine the pose estimate</a:t>
            </a:r>
          </a:p>
          <a:p>
            <a:pPr marL="342900">
              <a:lnSpc>
                <a:spcPct val="15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Fuse LiDAR correction with odometry prior: publish the best pose</a:t>
            </a:r>
          </a:p>
          <a:p>
            <a:pPr marL="342900">
              <a:lnSpc>
                <a:spcPct val="15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Updating the map using the newly confirmed pose: repeat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B8C129D-67E3-880B-8846-A0136FFE6BE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7F4A5EE-DDEB-C0C6-3264-0236E14FB75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SLAM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619643D-3894-B080-F2EB-5CB8AA39F2A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79AE26C-1729-B286-0EA7-C056C3E333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8E1D0E2-AB83-EE7A-F87F-29DC9DC577A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674FB30-4EAE-1152-0916-5E3D31C39A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87DCA00-1C90-E014-C959-992AE507860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A2DE42D-F927-4C8D-3BAD-159480568E6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791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FAFA041-EFCF-0C03-6CE7-63518DAED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3B6F294-945B-372C-AE4B-C4BDA4097FF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B41E585-E7B1-6987-504F-5C94A4F001E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SLAM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59FA13D-D9F5-75B7-6F27-B46783BEA9B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4D31523-4413-FAD6-A6DB-6948C7D2D99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A55BFAD-EB9A-4F9A-ECA5-255A20E41C4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FEECA10-009A-C17A-879C-DB6EEE7DD64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93E3580-96E1-EC0F-9308-36C08C33A12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C5BBB27-F7D4-89B4-E32F-2F5893B9BB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694E4C2D-B133-A7BD-6E7F-280D7170D4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27341" y="881452"/>
            <a:ext cx="5937318" cy="5733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1288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321ED334-FF21-478F-D09E-FB9CA0A98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9AC788F-B7FB-D965-3755-B2DA54A315FD}"/>
              </a:ext>
            </a:extLst>
          </p:cNvPr>
          <p:cNvGrpSpPr/>
          <p:nvPr/>
        </p:nvGrpSpPr>
        <p:grpSpPr>
          <a:xfrm>
            <a:off x="2206906" y="2674628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79552A76-BEE5-25E6-ACC6-12B208CF3C8B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ctr">
                <a:buSzPts val="6000"/>
              </a:pPr>
              <a:r>
                <a:rPr lang="en-US" sz="6000" b="1" dirty="0">
                  <a:solidFill>
                    <a:schemeClr val="lt1"/>
                  </a:solidFill>
                </a:rPr>
                <a:t>Where am I?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595490FA-E6A2-2B57-F286-ED8138915D0D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46651B4F-CD5D-D1B1-1DD1-FF86B8CBA82E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09DD9FC0-817A-B7D0-D7CD-40F7C1EED3E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106C3CBD-7B4B-0C98-6CB6-8A454881CC0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621A2233-4732-38CC-8301-08C5A7D1E27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76F0321B-EE4C-6D91-1382-2A077642741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9DC17562-3A51-9A89-CC29-CEA69CE00F9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E3DA8651-E506-D950-F466-23ECA51888A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101665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99FDC1C-10CA-5B64-F083-D53B7EDFB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C50074B-9940-1774-0551-578F615F474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We need to perform localization, specifically with LiDAR, we are aligning, the newly provided scan with the previous scan centimeters at a time.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Every scan-match boils down to finding one rigid transformation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Given a source point cloud P (current scan) and a target Q (previous scan or map)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Find the rotation R and translation t that best overlays P onto Q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"Best" = minimizes a chosen error metric over all matched point pairs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If we know how the world moved relative to the robot, we know how the robot moved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e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∗</m:t>
                          </m:r>
                        </m:sup>
                      </m:sSup>
                      <m:r>
                        <a:rPr lang="en-US" sz="22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sz="22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unc>
                        <m:funcPr>
                          <m:ctrlP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arg</m:t>
                          </m:r>
                          <m:limLow>
                            <m:limLow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min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R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, </m:t>
                              </m:r>
                              <m:r>
                                <m:rPr>
                                  <m:sty m:val="p"/>
                                </m:rP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t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naryPr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𝑖</m:t>
                              </m:r>
                            </m:sub>
                            <m:sup/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𝑒𝑟𝑟𝑜𝑟</m:t>
                              </m:r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𝑅</m:t>
                                  </m:r>
                                  <m:sSub>
                                    <m:sSubPr>
                                      <m:ctrlP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𝑡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C50074B-9940-1774-0551-578F615F474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32BE03B-60FE-7BB5-D3E9-8E47B47A2AA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BF05407-9200-EBC6-BB16-BDA1A24DE5B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SLAM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D8F9503-ED87-D0D7-414D-2EC52F7BC06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E3AC6B1-306C-3510-4D7B-13EDE321045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884ED9-0352-89F0-3FFF-12B88787374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65E0B0E-44CE-3755-B0D2-C4E4153E96B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918A9C4-45D0-F988-067F-5E95F6A69E0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B7D86A8-FFBD-3279-4A98-148A8EEAF50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38929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928DE6F-7C95-FBAC-9304-2C0A8AE81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E3B566A-C130-9951-3ECB-4D71D504128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The 1D wall example,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Imagine your robot is in a 1D hallway facing a wall,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Time step 1: The target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Q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,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The robot is at global position 0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The wall is 5 meters ahead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The LiDAR records a point 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q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 5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. This is our prior scan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Time step 2: The Source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P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,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The robot drives forward 2 meters.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The wall has not moved, but because the robot is closer the LiDAR measures the wall as being only 3 meters away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The LiDAR records a new point 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p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=3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, this is the new scan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E3B566A-C130-9951-3ECB-4D71D504128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759" r="-982" b="-316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17A419A-5795-D829-7707-1A6A5D38C7A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7E411F8-306F-94E0-6CEB-08AC8C3F80B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SLAM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404B2E1-5E2C-A222-0C6C-150C92285AC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730BBF0-E57D-56E7-D4B6-0655EE995C5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9CE2675-4A81-CBBC-3C5F-0D2D81EFCA1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3464DB8-6E83-2969-FC92-381B5418A5D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1377F93-5207-E41D-85A0-68B637EFD2F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0147C52-68F8-E298-386F-92F50042146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43250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77FEE27-8B31-1A43-52CF-CC21C4488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FFD8BA5-268D-97D7-E2B7-BA6013C0924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If we just blindly drop the new point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P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and the old point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Q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into the same local coordinate space without moving them, they do not align!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The algorithm sees a point at 3 and a point at 5!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Now we apply our objective function to find the transformation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t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(ignoring rotation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R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for this 1D example):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∗</m:t>
                          </m:r>
                        </m:sup>
                      </m:sSup>
                      <m:r>
                        <a:rPr lang="en-US" sz="22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unc>
                        <m:funcPr>
                          <m:ctrlP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𝑡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𝑝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+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𝑡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−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𝑞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The algorithm thus asks: “How much do I need to shift the new point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p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3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), so it sits as best it can on top of the old point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q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=5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)”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What is the optimal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t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in this case?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FFD8BA5-268D-97D7-E2B7-BA6013C0924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759" b="-480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8987F96-CD3E-BBEA-6208-947A557A1D9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89A0B3A-0D5A-DA3E-13BC-7B50CD4CAB9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SLAM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85D3B5E-3DF2-DB8F-ED75-D6BD39C6BC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B146F0F-28F6-3B10-0735-F487B9307ED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F7121B4-6DF8-F745-2C27-6FACD34DBF3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318B2A5-EC31-FFCC-312A-A83C264CEA6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4724B50-96E0-D78B-9C0D-3D16DC8C6F2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F4A49B4-1BB6-D2C7-A8A8-1233505D5B8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61929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2E8AFC9-DCA0-A170-785E-58DDC081E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18E6A7D-7C03-90B5-44C6-DA653933FB0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FA858E9-4E33-9148-F601-1FC3F17BC09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SLAM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55BC10-1281-3637-7463-2739E690A6B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079D369-68D7-02E2-018D-BF7B7ABB04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BC25CBD-F11F-8CF4-2F43-9909419A97D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3D52BC-9F31-2358-36E0-3E6F2BB3AC3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85E408C-46AF-D3B6-293F-70505363CA4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531247C-5581-B68D-86D9-28F24EE139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C79949CB-594B-F688-E4EF-95F9EBEE64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34827" y="886287"/>
            <a:ext cx="6922346" cy="5715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1951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4E03BF9-D61A-A4D9-E6F2-9D582C995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9B75BFF-A104-C319-D9E5-F631D31BCDA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The algorithm tells you that to align the scans, you must apply a translation of +2 meters to the new scan.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That +2 meters is exactly the distance the robot drove forward!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The matches are indeed close to each other in the physical world, but they are offset in the sensors by the exact inverse of the robot's motion.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By finding the transformation (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) that shifts the new local scan (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) to overlay perfectly onto the global map (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), you are simultaneously calculating the robot's current pose in the world!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9B75BFF-A104-C319-D9E5-F631D31BCDA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759" r="-54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E13E55C-F724-F4BB-12D9-E7A23717A0F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EA9DF77-EA39-C903-3A6B-B2FA82C3DBD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SLAM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B796EA6-1013-C8CE-2056-DDB99563940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4337AB9-1872-DE8B-4A2D-2CDD13A1DFA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9EC9943-4515-5705-D73D-30A4F1B07B0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29EE6BC-41CF-3E15-914D-5120B84CBA2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F2CD1BD-0F51-76A7-F5EC-6BDC6FC35CD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53A2B2D-8F4C-2D25-482F-2829005566D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10068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57DC8DD-B0E4-119E-6015-DDC2586E8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609DC74-815C-4944-842F-8BB5BD6E1E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+mj-lt"/>
                <a:ea typeface="Arial"/>
                <a:cs typeface="Arial"/>
                <a:sym typeface="Arial"/>
              </a:rPr>
              <a:t>They differ in how many hypotheses (position estimates) they track and how they correct errors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+mj-lt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dirty="0">
                <a:latin typeface="+mj-lt"/>
                <a:ea typeface="Arial"/>
                <a:cs typeface="Arial"/>
                <a:sym typeface="Arial"/>
              </a:rPr>
              <a:t>Modern SLAM combine all three: ICP for the front-end, filters for </a:t>
            </a:r>
            <a:r>
              <a:rPr lang="en-US" sz="2200" dirty="0" err="1">
                <a:latin typeface="+mj-lt"/>
                <a:ea typeface="Arial"/>
                <a:cs typeface="Arial"/>
                <a:sym typeface="Arial"/>
              </a:rPr>
              <a:t>relocalization</a:t>
            </a:r>
            <a:r>
              <a:rPr lang="en-US" sz="2200" dirty="0">
                <a:latin typeface="+mj-lt"/>
                <a:ea typeface="Arial"/>
                <a:cs typeface="Arial"/>
                <a:sym typeface="Arial"/>
              </a:rPr>
              <a:t>, graphs for the backend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8C0561E-C8E1-AB29-D81F-35A18C54B08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8C8A055-196B-C75B-5445-313AB4F4781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  <a:latin typeface="+mj-lt"/>
              </a:rPr>
              <a:t>Three Families of Localization Methods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F9EF2F4-A05C-5C2D-3AF1-E4699AEB16E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E4524AF-8A36-90EE-35FA-48CB207D7FA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13294B"/>
                </a:solidFill>
                <a:latin typeface="+mj-lt"/>
                <a:ea typeface="Arial"/>
                <a:cs typeface="Arial"/>
                <a:sym typeface="Arial"/>
              </a:rPr>
              <a:t>GRAINGER ENGINEERING</a:t>
            </a:r>
            <a:endParaRPr dirty="0">
              <a:latin typeface="+mj-lt"/>
            </a:endParaRPr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9AE9DE7-8E16-A32E-5BDB-1C9ED88B104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  <a:latin typeface="+mj-lt"/>
              </a:rPr>
              <a:t>SYSTEMS ENGINEERING </a:t>
            </a:r>
            <a:endParaRPr dirty="0">
              <a:latin typeface="+mj-lt"/>
            </a:endParaRPr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35F0031-DDFB-1EDD-D9D2-94B17CB314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75A5445-327A-6495-07A5-D496CD8FEB3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DD19557-4C42-CA8B-1744-B4DF969A88F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FC89405-72B7-2D93-E370-341DA655F908}"/>
              </a:ext>
            </a:extLst>
          </p:cNvPr>
          <p:cNvGrpSpPr/>
          <p:nvPr/>
        </p:nvGrpSpPr>
        <p:grpSpPr>
          <a:xfrm>
            <a:off x="548792" y="2107921"/>
            <a:ext cx="11094415" cy="3108960"/>
            <a:chOff x="490456" y="2066326"/>
            <a:chExt cx="11094415" cy="31089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76FCF28-30A6-D2C7-F799-770A69A6F9B0}"/>
                </a:ext>
              </a:extLst>
            </p:cNvPr>
            <p:cNvGrpSpPr/>
            <p:nvPr/>
          </p:nvGrpSpPr>
          <p:grpSpPr>
            <a:xfrm>
              <a:off x="490456" y="2066326"/>
              <a:ext cx="3576218" cy="3108960"/>
              <a:chOff x="490456" y="2066326"/>
              <a:chExt cx="3576218" cy="3108960"/>
            </a:xfrm>
          </p:grpSpPr>
          <p:sp>
            <p:nvSpPr>
              <p:cNvPr id="2" name="Shape 3">
                <a:extLst>
                  <a:ext uri="{FF2B5EF4-FFF2-40B4-BE49-F238E27FC236}">
                    <a16:creationId xmlns:a16="http://schemas.microsoft.com/office/drawing/2014/main" id="{8A60497F-655E-1B51-70C1-1B42126E1F87}"/>
                  </a:ext>
                </a:extLst>
              </p:cNvPr>
              <p:cNvSpPr/>
              <p:nvPr/>
            </p:nvSpPr>
            <p:spPr>
              <a:xfrm>
                <a:off x="490456" y="2066326"/>
                <a:ext cx="3576218" cy="3108960"/>
              </a:xfrm>
              <a:prstGeom prst="rect">
                <a:avLst/>
              </a:prstGeom>
              <a:solidFill>
                <a:srgbClr val="F1F5F9"/>
              </a:solidFill>
              <a:ln/>
            </p:spPr>
            <p:txBody>
              <a:bodyPr/>
              <a:lstStyle/>
              <a:p>
                <a:endParaRPr lang="en-US">
                  <a:latin typeface="+mj-lt"/>
                </a:endParaRPr>
              </a:p>
            </p:txBody>
          </p:sp>
          <p:sp>
            <p:nvSpPr>
              <p:cNvPr id="3" name="Shape 4">
                <a:extLst>
                  <a:ext uri="{FF2B5EF4-FFF2-40B4-BE49-F238E27FC236}">
                    <a16:creationId xmlns:a16="http://schemas.microsoft.com/office/drawing/2014/main" id="{E3E15BA5-0242-0A9B-CCAE-1E498207A202}"/>
                  </a:ext>
                </a:extLst>
              </p:cNvPr>
              <p:cNvSpPr/>
              <p:nvPr/>
            </p:nvSpPr>
            <p:spPr>
              <a:xfrm>
                <a:off x="490456" y="2066326"/>
                <a:ext cx="3576218" cy="45720"/>
              </a:xfrm>
              <a:prstGeom prst="rect">
                <a:avLst/>
              </a:prstGeom>
              <a:solidFill>
                <a:srgbClr val="0891B2"/>
              </a:solidFill>
              <a:ln/>
            </p:spPr>
            <p:txBody>
              <a:bodyPr/>
              <a:lstStyle/>
              <a:p>
                <a:endParaRPr lang="en-US">
                  <a:latin typeface="+mj-lt"/>
                </a:endParaRPr>
              </a:p>
            </p:txBody>
          </p:sp>
          <p:sp>
            <p:nvSpPr>
              <p:cNvPr id="4" name="Shape 5">
                <a:extLst>
                  <a:ext uri="{FF2B5EF4-FFF2-40B4-BE49-F238E27FC236}">
                    <a16:creationId xmlns:a16="http://schemas.microsoft.com/office/drawing/2014/main" id="{10D8C85A-02C0-1C59-006C-E278C973B147}"/>
                  </a:ext>
                </a:extLst>
              </p:cNvPr>
              <p:cNvSpPr/>
              <p:nvPr/>
            </p:nvSpPr>
            <p:spPr>
              <a:xfrm>
                <a:off x="673336" y="2294926"/>
                <a:ext cx="457200" cy="457200"/>
              </a:xfrm>
              <a:prstGeom prst="ellipse">
                <a:avLst/>
              </a:prstGeom>
              <a:solidFill>
                <a:srgbClr val="13294B"/>
              </a:solidFill>
              <a:ln/>
            </p:spPr>
            <p:txBody>
              <a:bodyPr/>
              <a:lstStyle/>
              <a:p>
                <a:endParaRPr lang="en-US">
                  <a:latin typeface="+mj-lt"/>
                </a:endParaRPr>
              </a:p>
            </p:txBody>
          </p:sp>
          <p:sp>
            <p:nvSpPr>
              <p:cNvPr id="5" name="Text 6">
                <a:extLst>
                  <a:ext uri="{FF2B5EF4-FFF2-40B4-BE49-F238E27FC236}">
                    <a16:creationId xmlns:a16="http://schemas.microsoft.com/office/drawing/2014/main" id="{B7FCD533-4108-9494-1568-215BD33B6758}"/>
                  </a:ext>
                </a:extLst>
              </p:cNvPr>
              <p:cNvSpPr/>
              <p:nvPr/>
            </p:nvSpPr>
            <p:spPr>
              <a:xfrm>
                <a:off x="673336" y="2294926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1800" b="1" dirty="0">
                    <a:solidFill>
                      <a:srgbClr val="FFFFFF"/>
                    </a:solidFill>
                    <a:latin typeface="+mj-lt"/>
                    <a:ea typeface="Calibri" pitchFamily="34" charset="-122"/>
                    <a:cs typeface="Calibri" pitchFamily="34" charset="-120"/>
                  </a:rPr>
                  <a:t>1</a:t>
                </a:r>
                <a:endParaRPr lang="en-US" sz="1800" dirty="0">
                  <a:latin typeface="+mj-lt"/>
                </a:endParaRPr>
              </a:p>
            </p:txBody>
          </p:sp>
          <p:sp>
            <p:nvSpPr>
              <p:cNvPr id="6" name="Text 7">
                <a:extLst>
                  <a:ext uri="{FF2B5EF4-FFF2-40B4-BE49-F238E27FC236}">
                    <a16:creationId xmlns:a16="http://schemas.microsoft.com/office/drawing/2014/main" id="{420B52CF-8943-2DB3-A6C6-C16DF9AD91D0}"/>
                  </a:ext>
                </a:extLst>
              </p:cNvPr>
              <p:cNvSpPr/>
              <p:nvPr/>
            </p:nvSpPr>
            <p:spPr>
              <a:xfrm>
                <a:off x="1221976" y="2294926"/>
                <a:ext cx="2661818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>
                    <a:solidFill>
                      <a:srgbClr val="0F172A"/>
                    </a:solidFill>
                    <a:latin typeface="+mj-lt"/>
                    <a:ea typeface="Calibri" pitchFamily="34" charset="-122"/>
                    <a:cs typeface="Calibri" pitchFamily="34" charset="-120"/>
                  </a:rPr>
                  <a:t>Scan Matching (ICP)</a:t>
                </a:r>
                <a:endParaRPr lang="en-US" dirty="0">
                  <a:latin typeface="+mj-lt"/>
                </a:endParaRPr>
              </a:p>
            </p:txBody>
          </p:sp>
          <p:sp>
            <p:nvSpPr>
              <p:cNvPr id="7" name="Text 8">
                <a:extLst>
                  <a:ext uri="{FF2B5EF4-FFF2-40B4-BE49-F238E27FC236}">
                    <a16:creationId xmlns:a16="http://schemas.microsoft.com/office/drawing/2014/main" id="{3954E4D3-785E-7F1A-5FB4-3B3E19C9FFC3}"/>
                  </a:ext>
                </a:extLst>
              </p:cNvPr>
              <p:cNvSpPr/>
              <p:nvPr/>
            </p:nvSpPr>
            <p:spPr>
              <a:xfrm>
                <a:off x="673336" y="2935006"/>
                <a:ext cx="3210458" cy="21031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sz="1600" dirty="0">
                    <a:solidFill>
                      <a:srgbClr val="1E293B"/>
                    </a:solidFill>
                    <a:latin typeface="+mj-lt"/>
                    <a:ea typeface="Calibri" pitchFamily="34" charset="-122"/>
                    <a:cs typeface="Calibri" pitchFamily="34" charset="-120"/>
                  </a:rPr>
                  <a:t>Maintains ONE best guess.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sz="1600" dirty="0">
                    <a:solidFill>
                      <a:srgbClr val="1E293B"/>
                    </a:solidFill>
                    <a:latin typeface="+mj-lt"/>
                    <a:ea typeface="Calibri" pitchFamily="34" charset="-122"/>
                    <a:cs typeface="Calibri" pitchFamily="34" charset="-120"/>
                  </a:rPr>
                  <a:t>Iteratively refines it by aligning the latest LiDAR scan to the map.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sz="1600" dirty="0">
                    <a:solidFill>
                      <a:srgbClr val="1E293B"/>
                    </a:solidFill>
                    <a:latin typeface="+mj-lt"/>
                    <a:ea typeface="Calibri" pitchFamily="34" charset="-122"/>
                    <a:cs typeface="Calibri" pitchFamily="34" charset="-120"/>
                  </a:rPr>
                  <a:t>Fast, deterministic, fragile at initialization.</a:t>
                </a:r>
                <a:endParaRPr lang="en-US" sz="1600" dirty="0">
                  <a:latin typeface="+mj-lt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2BBECA3C-4E28-175A-1D1E-71DD801E3426}"/>
                </a:ext>
              </a:extLst>
            </p:cNvPr>
            <p:cNvGrpSpPr/>
            <p:nvPr/>
          </p:nvGrpSpPr>
          <p:grpSpPr>
            <a:xfrm>
              <a:off x="4249554" y="2066326"/>
              <a:ext cx="3576218" cy="3108960"/>
              <a:chOff x="4249554" y="2066326"/>
              <a:chExt cx="3576218" cy="3108960"/>
            </a:xfrm>
          </p:grpSpPr>
          <p:sp>
            <p:nvSpPr>
              <p:cNvPr id="9" name="Shape 10">
                <a:extLst>
                  <a:ext uri="{FF2B5EF4-FFF2-40B4-BE49-F238E27FC236}">
                    <a16:creationId xmlns:a16="http://schemas.microsoft.com/office/drawing/2014/main" id="{3E96FF99-C1AF-7372-FAC9-9ECD910FE34F}"/>
                  </a:ext>
                </a:extLst>
              </p:cNvPr>
              <p:cNvSpPr/>
              <p:nvPr/>
            </p:nvSpPr>
            <p:spPr>
              <a:xfrm>
                <a:off x="4249554" y="2066326"/>
                <a:ext cx="3576218" cy="3108960"/>
              </a:xfrm>
              <a:prstGeom prst="rect">
                <a:avLst/>
              </a:prstGeom>
              <a:solidFill>
                <a:srgbClr val="F1F5F9"/>
              </a:solidFill>
              <a:ln/>
            </p:spPr>
            <p:txBody>
              <a:bodyPr/>
              <a:lstStyle/>
              <a:p>
                <a:endParaRPr lang="en-US">
                  <a:latin typeface="+mj-lt"/>
                </a:endParaRPr>
              </a:p>
            </p:txBody>
          </p:sp>
          <p:sp>
            <p:nvSpPr>
              <p:cNvPr id="10" name="Shape 11">
                <a:extLst>
                  <a:ext uri="{FF2B5EF4-FFF2-40B4-BE49-F238E27FC236}">
                    <a16:creationId xmlns:a16="http://schemas.microsoft.com/office/drawing/2014/main" id="{5ABF6962-C9E2-AF3C-762A-F1EF5C763934}"/>
                  </a:ext>
                </a:extLst>
              </p:cNvPr>
              <p:cNvSpPr/>
              <p:nvPr/>
            </p:nvSpPr>
            <p:spPr>
              <a:xfrm>
                <a:off x="4249554" y="2066326"/>
                <a:ext cx="3576218" cy="45720"/>
              </a:xfrm>
              <a:prstGeom prst="rect">
                <a:avLst/>
              </a:prstGeom>
              <a:solidFill>
                <a:srgbClr val="0891B2"/>
              </a:solidFill>
              <a:ln/>
            </p:spPr>
            <p:txBody>
              <a:bodyPr/>
              <a:lstStyle/>
              <a:p>
                <a:endParaRPr lang="en-US">
                  <a:latin typeface="+mj-lt"/>
                </a:endParaRPr>
              </a:p>
            </p:txBody>
          </p:sp>
          <p:sp>
            <p:nvSpPr>
              <p:cNvPr id="11" name="Shape 12">
                <a:extLst>
                  <a:ext uri="{FF2B5EF4-FFF2-40B4-BE49-F238E27FC236}">
                    <a16:creationId xmlns:a16="http://schemas.microsoft.com/office/drawing/2014/main" id="{C2BDA352-0357-89FC-B350-06721E4DDB6D}"/>
                  </a:ext>
                </a:extLst>
              </p:cNvPr>
              <p:cNvSpPr/>
              <p:nvPr/>
            </p:nvSpPr>
            <p:spPr>
              <a:xfrm>
                <a:off x="4432434" y="2294926"/>
                <a:ext cx="457200" cy="457200"/>
              </a:xfrm>
              <a:prstGeom prst="ellipse">
                <a:avLst/>
              </a:prstGeom>
              <a:solidFill>
                <a:srgbClr val="13294B"/>
              </a:solidFill>
              <a:ln/>
            </p:spPr>
            <p:txBody>
              <a:bodyPr/>
              <a:lstStyle/>
              <a:p>
                <a:endParaRPr lang="en-US">
                  <a:latin typeface="+mj-lt"/>
                </a:endParaRPr>
              </a:p>
            </p:txBody>
          </p:sp>
          <p:sp>
            <p:nvSpPr>
              <p:cNvPr id="12" name="Text 13">
                <a:extLst>
                  <a:ext uri="{FF2B5EF4-FFF2-40B4-BE49-F238E27FC236}">
                    <a16:creationId xmlns:a16="http://schemas.microsoft.com/office/drawing/2014/main" id="{234B68A2-CF2B-A1EC-C9CB-D8B1492988F8}"/>
                  </a:ext>
                </a:extLst>
              </p:cNvPr>
              <p:cNvSpPr/>
              <p:nvPr/>
            </p:nvSpPr>
            <p:spPr>
              <a:xfrm>
                <a:off x="4432434" y="2294926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1800" b="1" dirty="0">
                    <a:solidFill>
                      <a:srgbClr val="FFFFFF"/>
                    </a:solidFill>
                    <a:latin typeface="+mj-lt"/>
                    <a:ea typeface="Calibri" pitchFamily="34" charset="-122"/>
                    <a:cs typeface="Calibri" pitchFamily="34" charset="-120"/>
                  </a:rPr>
                  <a:t>2</a:t>
                </a:r>
                <a:endParaRPr lang="en-US" sz="1800" dirty="0">
                  <a:latin typeface="+mj-lt"/>
                </a:endParaRPr>
              </a:p>
            </p:txBody>
          </p:sp>
          <p:sp>
            <p:nvSpPr>
              <p:cNvPr id="13" name="Text 14">
                <a:extLst>
                  <a:ext uri="{FF2B5EF4-FFF2-40B4-BE49-F238E27FC236}">
                    <a16:creationId xmlns:a16="http://schemas.microsoft.com/office/drawing/2014/main" id="{B288728E-D4AA-A5C8-F00A-BD77D07F8F8A}"/>
                  </a:ext>
                </a:extLst>
              </p:cNvPr>
              <p:cNvSpPr/>
              <p:nvPr/>
            </p:nvSpPr>
            <p:spPr>
              <a:xfrm>
                <a:off x="4981074" y="2294926"/>
                <a:ext cx="2661818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>
                    <a:solidFill>
                      <a:srgbClr val="0F172A"/>
                    </a:solidFill>
                    <a:latin typeface="+mj-lt"/>
                    <a:ea typeface="Calibri" pitchFamily="34" charset="-122"/>
                    <a:cs typeface="Calibri" pitchFamily="34" charset="-120"/>
                  </a:rPr>
                  <a:t>Particle Filter (MCL)</a:t>
                </a:r>
                <a:endParaRPr lang="en-US" dirty="0">
                  <a:latin typeface="+mj-lt"/>
                </a:endParaRPr>
              </a:p>
            </p:txBody>
          </p:sp>
          <p:sp>
            <p:nvSpPr>
              <p:cNvPr id="14" name="Text 15">
                <a:extLst>
                  <a:ext uri="{FF2B5EF4-FFF2-40B4-BE49-F238E27FC236}">
                    <a16:creationId xmlns:a16="http://schemas.microsoft.com/office/drawing/2014/main" id="{6109BEA4-4428-8A3E-37CE-3821FA4FA8FD}"/>
                  </a:ext>
                </a:extLst>
              </p:cNvPr>
              <p:cNvSpPr/>
              <p:nvPr/>
            </p:nvSpPr>
            <p:spPr>
              <a:xfrm>
                <a:off x="4432434" y="2935006"/>
                <a:ext cx="3210458" cy="21031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sz="1600" dirty="0">
                    <a:solidFill>
                      <a:srgbClr val="1E293B"/>
                    </a:solidFill>
                    <a:latin typeface="+mj-lt"/>
                    <a:ea typeface="Calibri" pitchFamily="34" charset="-122"/>
                    <a:cs typeface="Calibri" pitchFamily="34" charset="-120"/>
                  </a:rPr>
                  <a:t>Tracks HUNDREDS of weighted hypotheses in parallel.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sz="1600" dirty="0">
                    <a:solidFill>
                      <a:srgbClr val="1E293B"/>
                    </a:solidFill>
                    <a:latin typeface="+mj-lt"/>
                    <a:ea typeface="Calibri" pitchFamily="34" charset="-122"/>
                    <a:cs typeface="Calibri" pitchFamily="34" charset="-120"/>
                  </a:rPr>
                  <a:t>Probabilistic, handles kidnapping, but memory-heavy for large maps.</a:t>
                </a:r>
                <a:endParaRPr lang="en-US" sz="1600" dirty="0">
                  <a:latin typeface="+mj-lt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3840B146-6C2F-0B67-E61B-3A5E0899015B}"/>
                </a:ext>
              </a:extLst>
            </p:cNvPr>
            <p:cNvGrpSpPr/>
            <p:nvPr/>
          </p:nvGrpSpPr>
          <p:grpSpPr>
            <a:xfrm>
              <a:off x="8008653" y="2066326"/>
              <a:ext cx="3576218" cy="3108960"/>
              <a:chOff x="8008653" y="2066326"/>
              <a:chExt cx="3576218" cy="3108960"/>
            </a:xfrm>
          </p:grpSpPr>
          <p:sp>
            <p:nvSpPr>
              <p:cNvPr id="16" name="Shape 17">
                <a:extLst>
                  <a:ext uri="{FF2B5EF4-FFF2-40B4-BE49-F238E27FC236}">
                    <a16:creationId xmlns:a16="http://schemas.microsoft.com/office/drawing/2014/main" id="{3DFCC8EB-A703-2A07-E736-B9F8B11DF1B9}"/>
                  </a:ext>
                </a:extLst>
              </p:cNvPr>
              <p:cNvSpPr/>
              <p:nvPr/>
            </p:nvSpPr>
            <p:spPr>
              <a:xfrm>
                <a:off x="8008653" y="2066326"/>
                <a:ext cx="3576218" cy="3108960"/>
              </a:xfrm>
              <a:prstGeom prst="rect">
                <a:avLst/>
              </a:prstGeom>
              <a:solidFill>
                <a:srgbClr val="F1F5F9"/>
              </a:solidFill>
              <a:ln/>
            </p:spPr>
            <p:txBody>
              <a:bodyPr/>
              <a:lstStyle/>
              <a:p>
                <a:endParaRPr lang="en-US">
                  <a:latin typeface="+mj-lt"/>
                </a:endParaRPr>
              </a:p>
            </p:txBody>
          </p:sp>
          <p:sp>
            <p:nvSpPr>
              <p:cNvPr id="17" name="Shape 18">
                <a:extLst>
                  <a:ext uri="{FF2B5EF4-FFF2-40B4-BE49-F238E27FC236}">
                    <a16:creationId xmlns:a16="http://schemas.microsoft.com/office/drawing/2014/main" id="{8CE862D2-AC2E-9CC2-C373-7CE5010D85C3}"/>
                  </a:ext>
                </a:extLst>
              </p:cNvPr>
              <p:cNvSpPr/>
              <p:nvPr/>
            </p:nvSpPr>
            <p:spPr>
              <a:xfrm>
                <a:off x="8008653" y="2066326"/>
                <a:ext cx="3576218" cy="45720"/>
              </a:xfrm>
              <a:prstGeom prst="rect">
                <a:avLst/>
              </a:prstGeom>
              <a:solidFill>
                <a:srgbClr val="0891B2"/>
              </a:solidFill>
              <a:ln/>
            </p:spPr>
            <p:txBody>
              <a:bodyPr/>
              <a:lstStyle/>
              <a:p>
                <a:endParaRPr lang="en-US">
                  <a:latin typeface="+mj-lt"/>
                </a:endParaRPr>
              </a:p>
            </p:txBody>
          </p:sp>
          <p:sp>
            <p:nvSpPr>
              <p:cNvPr id="18" name="Shape 19">
                <a:extLst>
                  <a:ext uri="{FF2B5EF4-FFF2-40B4-BE49-F238E27FC236}">
                    <a16:creationId xmlns:a16="http://schemas.microsoft.com/office/drawing/2014/main" id="{383C312D-2DAD-1AEB-5E3F-CB976EDD7E61}"/>
                  </a:ext>
                </a:extLst>
              </p:cNvPr>
              <p:cNvSpPr/>
              <p:nvPr/>
            </p:nvSpPr>
            <p:spPr>
              <a:xfrm>
                <a:off x="8191533" y="2294926"/>
                <a:ext cx="457200" cy="457200"/>
              </a:xfrm>
              <a:prstGeom prst="ellipse">
                <a:avLst/>
              </a:prstGeom>
              <a:solidFill>
                <a:srgbClr val="13294B"/>
              </a:solidFill>
              <a:ln/>
            </p:spPr>
            <p:txBody>
              <a:bodyPr/>
              <a:lstStyle/>
              <a:p>
                <a:endParaRPr lang="en-US">
                  <a:latin typeface="+mj-lt"/>
                </a:endParaRPr>
              </a:p>
            </p:txBody>
          </p:sp>
          <p:sp>
            <p:nvSpPr>
              <p:cNvPr id="19" name="Text 20">
                <a:extLst>
                  <a:ext uri="{FF2B5EF4-FFF2-40B4-BE49-F238E27FC236}">
                    <a16:creationId xmlns:a16="http://schemas.microsoft.com/office/drawing/2014/main" id="{4A5BCBA7-3985-8374-2D18-CA7EF419720E}"/>
                  </a:ext>
                </a:extLst>
              </p:cNvPr>
              <p:cNvSpPr/>
              <p:nvPr/>
            </p:nvSpPr>
            <p:spPr>
              <a:xfrm>
                <a:off x="8191533" y="2294926"/>
                <a:ext cx="45720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1800" b="1" dirty="0">
                    <a:solidFill>
                      <a:srgbClr val="FFFFFF"/>
                    </a:solidFill>
                    <a:latin typeface="+mj-lt"/>
                    <a:ea typeface="Calibri" pitchFamily="34" charset="-122"/>
                    <a:cs typeface="Calibri" pitchFamily="34" charset="-120"/>
                  </a:rPr>
                  <a:t>3</a:t>
                </a:r>
                <a:endParaRPr lang="en-US" sz="1800" dirty="0">
                  <a:latin typeface="+mj-lt"/>
                </a:endParaRPr>
              </a:p>
            </p:txBody>
          </p:sp>
          <p:sp>
            <p:nvSpPr>
              <p:cNvPr id="20" name="Text 21">
                <a:extLst>
                  <a:ext uri="{FF2B5EF4-FFF2-40B4-BE49-F238E27FC236}">
                    <a16:creationId xmlns:a16="http://schemas.microsoft.com/office/drawing/2014/main" id="{7D5B8EF1-0807-74C7-51DD-6CEEE0F5FCC1}"/>
                  </a:ext>
                </a:extLst>
              </p:cNvPr>
              <p:cNvSpPr/>
              <p:nvPr/>
            </p:nvSpPr>
            <p:spPr>
              <a:xfrm>
                <a:off x="8740173" y="2294926"/>
                <a:ext cx="2661818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>
                    <a:solidFill>
                      <a:srgbClr val="0F172A"/>
                    </a:solidFill>
                    <a:latin typeface="+mj-lt"/>
                    <a:ea typeface="Calibri" pitchFamily="34" charset="-122"/>
                    <a:cs typeface="Calibri" pitchFamily="34" charset="-120"/>
                  </a:rPr>
                  <a:t>Graph Optimization</a:t>
                </a:r>
                <a:endParaRPr lang="en-US" dirty="0">
                  <a:latin typeface="+mj-lt"/>
                </a:endParaRPr>
              </a:p>
            </p:txBody>
          </p:sp>
          <p:sp>
            <p:nvSpPr>
              <p:cNvPr id="21" name="Text 22">
                <a:extLst>
                  <a:ext uri="{FF2B5EF4-FFF2-40B4-BE49-F238E27FC236}">
                    <a16:creationId xmlns:a16="http://schemas.microsoft.com/office/drawing/2014/main" id="{F10A191C-6CCE-8F7C-2C8F-68038635ACC1}"/>
                  </a:ext>
                </a:extLst>
              </p:cNvPr>
              <p:cNvSpPr/>
              <p:nvPr/>
            </p:nvSpPr>
            <p:spPr>
              <a:xfrm>
                <a:off x="8191533" y="2935006"/>
                <a:ext cx="3210458" cy="21031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sz="1600" dirty="0">
                    <a:solidFill>
                      <a:srgbClr val="1E293B"/>
                    </a:solidFill>
                    <a:latin typeface="+mj-lt"/>
                    <a:ea typeface="Calibri" pitchFamily="34" charset="-122"/>
                    <a:cs typeface="Calibri" pitchFamily="34" charset="-120"/>
                  </a:rPr>
                  <a:t>Maintains a graph of every past pose + constraints.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sz="1600" dirty="0">
                    <a:solidFill>
                      <a:srgbClr val="1E293B"/>
                    </a:solidFill>
                    <a:latin typeface="+mj-lt"/>
                    <a:ea typeface="Calibri" pitchFamily="34" charset="-122"/>
                    <a:cs typeface="Calibri" pitchFamily="34" charset="-120"/>
                  </a:rPr>
                  <a:t>Solves them all simultaneously.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sz="1600" dirty="0">
                    <a:solidFill>
                      <a:srgbClr val="1E293B"/>
                    </a:solidFill>
                    <a:latin typeface="+mj-lt"/>
                    <a:ea typeface="Calibri" pitchFamily="34" charset="-122"/>
                    <a:cs typeface="Calibri" pitchFamily="34" charset="-120"/>
                  </a:rPr>
                  <a:t>Today's gold standard for global consistency.</a:t>
                </a:r>
                <a:endParaRPr lang="en-US" sz="1600" dirty="0">
                  <a:latin typeface="+mj-lt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73709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A7271E40-2901-B511-C8FC-A97E67C77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5241AD-8DC8-2F2E-0BEF-DCAA1FE187F7}"/>
              </a:ext>
            </a:extLst>
          </p:cNvPr>
          <p:cNvGrpSpPr/>
          <p:nvPr/>
        </p:nvGrpSpPr>
        <p:grpSpPr>
          <a:xfrm>
            <a:off x="2206906" y="2674628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A50738B1-EBD3-F19E-6A1A-0FC2835BD74C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ctr">
                <a:buSzPts val="6000"/>
              </a:pPr>
              <a:r>
                <a:rPr lang="en-US" sz="6000" b="1" dirty="0">
                  <a:solidFill>
                    <a:schemeClr val="lt1"/>
                  </a:solidFill>
                </a:rPr>
                <a:t>ICP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935712FF-5D4D-05A7-8B81-1E1AA6EAF57A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2312605C-047C-0723-2B08-58F8B6BC326B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C81D14EE-F83F-28F0-07AA-E80E45B6856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6E6360AB-2BB2-AE46-4504-C8CFA17C4F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927209FC-3A81-9617-0397-79FE70D40C0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906D9B0F-6222-D52C-A010-88BFC8EF164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FEEFC25-2B4B-2B6F-519F-6915EE08811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9CB1C736-3694-B72F-4EC2-23C116CCE60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129601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1A45857-3155-0B23-A82B-AEFA88B2C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69596AB-E0EF-314A-CB06-5DE1E9C3922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ICP stands for Iterative Closest Point: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Repeat the following 4 steps until the transformation stops changing: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342900">
                  <a:lnSpc>
                    <a:spcPct val="200000"/>
                  </a:lnSpc>
                  <a:spcBef>
                    <a:spcPts val="0"/>
                  </a:spcBef>
                  <a:buSzPts val="3000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Data Association: pair each source point with its nearest target point</a:t>
                </a:r>
              </a:p>
              <a:p>
                <a:pPr marL="342900">
                  <a:lnSpc>
                    <a:spcPct val="200000"/>
                  </a:lnSpc>
                  <a:spcBef>
                    <a:spcPts val="0"/>
                  </a:spcBef>
                  <a:buSzPts val="3000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Transformation: solve for the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that best aligns the matched pairs</a:t>
                </a:r>
              </a:p>
              <a:p>
                <a:pPr marL="342900">
                  <a:lnSpc>
                    <a:spcPct val="200000"/>
                  </a:lnSpc>
                  <a:spcBef>
                    <a:spcPts val="0"/>
                  </a:spcBef>
                  <a:buSzPts val="3000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Apply: move the source cloud by that transformation</a:t>
                </a:r>
              </a:p>
              <a:p>
                <a:pPr marL="342900">
                  <a:lnSpc>
                    <a:spcPct val="200000"/>
                  </a:lnSpc>
                  <a:spcBef>
                    <a:spcPts val="0"/>
                  </a:spcBef>
                  <a:buSzPts val="3000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Check: if the error has dropped below a threshold stop. Otherwise loop.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69596AB-E0EF-314A-CB06-5DE1E9C3922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BFE1324-EE03-AC60-85B6-4CD87219D76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5202AC5-2F33-647C-01A2-12B9B28E743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ICP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8AFE4D-BB60-C285-839E-F19E00C2A66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7BD00D9-F020-F4A6-1723-12CAB6D2D9F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0C80EA1-A95B-FE5B-D431-BEE9CC38D5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8519249-A3CB-38DC-EED6-3A44ACAE19B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9AECAB-87E2-D63E-0974-49E8CA1AFC8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C6A3903-D12D-F5B2-98F4-B94F478C05D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3478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6EC0F0E-0481-B301-FC10-30AFEE683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5807B12-03E9-C70C-96A3-E7A68DEA65B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61BA1D8-D8FF-10C3-4E53-C0C9E7E08E9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ICP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973E846-2B12-71CF-8FE5-5B7F695451F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10E865C-B244-A5B5-79E6-071F8BF8BDC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718CF67-66D7-DD8F-B497-A5B57B634E0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803BB29-7A41-1E8B-F8EC-D101A45D51C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9A9FC15-2E1A-91E6-8A70-400FAF95AB5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060F21F-1B3E-752B-F714-A780658937F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B15FABCB-9326-B5A1-346B-EDFBCF9641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730115"/>
            <a:ext cx="12192000" cy="3397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1796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F5E9734-5624-215D-EC60-CB87CFF42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AD3CFDA-E270-C2CA-A8B4-3107027897A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The starting point of the ICP methods,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Match each source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to its geometrically nearest target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𝑞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𝑖</m:t>
                        </m:r>
                      </m:sub>
                    </m:sSub>
                  </m:oMath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Measure the straight-line Euclidean distance between each matched pair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Sum the squared distances and minimize over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R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t</m:t>
                    </m:r>
                  </m:oMath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This is exactly what is illustrated in the figure.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What happens if you start the initial guess very wrong, say 90 degree off?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Works very well when two-point clouds start near each other and have clear features.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Falls apart in featureless or repetitive environments (more on that soon)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AD3CFDA-E270-C2CA-A8B4-3107027897A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0C16740-FD9B-B31F-A18D-B5484F4555D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DBC1340-EEDF-5DA3-FFDD-1393972A312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Variant 1: Point-to-Point ICP (“Vanilla”)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3F489A5-5628-03E1-B891-5E123862046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45964C8-960F-C46C-F63E-3309F44FC3B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397F22-8030-DE41-7AF9-3FAEDE9C6E0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61B3E26-F585-8208-90FB-5D4FD74CD20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0B1207B-928C-A132-5C77-43B8C1DC5CF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2579A7E-9179-D863-E1AD-7522C3780E3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9860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B3ED992-E2CC-0686-E2B4-858C1B476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5904E7A-6FBF-7BFB-A6C5-1C9C10C0A0D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F1D3AFB-D122-950D-4FC6-2D9C58CB5B3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ICP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6BDF7E9-98B5-0025-8673-B20FDBD21BA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DE60B84-D489-8710-964A-ADC22593AB4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358751C-8B41-C506-DEF6-CA4042B6A05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A2C6BA9-5E73-8D4F-A4F3-5CAB14A55F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C54FB5D-C034-D6D2-F6E5-1C93C12AD43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85D5472-5A41-6455-4F2D-16EBC79525E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81743C38-62B8-77DC-2BF1-B3B213EBF5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730115"/>
            <a:ext cx="12192000" cy="3397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831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DD5F1A0-E43C-1831-E1B4-16E12B4AB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555AC1E-3D62-9573-A818-0A66B725772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For every matched pair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, the residual is the 3D (or 2D) vector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𝑞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to the transformed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𝑞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The objective function is the sum of the squared residual magnitudes, a least-squares problem!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Given that this is a least-squares problem what is the advantage?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There is a </a:t>
                </a:r>
                <a:r>
                  <a:rPr lang="en-US" sz="2200" b="1" dirty="0">
                    <a:latin typeface="Arial"/>
                    <a:ea typeface="Arial"/>
                    <a:cs typeface="Arial"/>
                    <a:sym typeface="Arial"/>
                  </a:rPr>
                  <a:t>closed-form</a:t>
                </a: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solution via Singular Value Decomposition (SVD)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b="1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No iterative non-linear solver needed for each inner step!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ctrlP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𝑅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2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naryPr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𝑖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𝑅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+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𝑡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555AC1E-3D62-9573-A818-0A66B725772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759" b="-12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F3F59BF-3FED-23F5-50D5-C938931F373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9082CC1-602C-61FF-373F-19A82E03EE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Variant 1: Point-to-Point ICP (“Vanilla”)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640CA39-335D-129A-2F6E-A5771C5FF09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F99EC32-F4AE-FD9F-19E5-A80FFB234AC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C064F4-0F3F-84C5-823B-858C7576144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2431229-0467-1794-9E3A-CF783B9CBFA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6CD0CA8-B888-A2D2-AEB5-E9B42E946F2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4B6BC5-248B-43C3-2112-D9F17ECFE4E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32114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EAE5298-0383-9D11-AA8C-F26C6CFAD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2587E03-B01B-2B65-28EA-69B28EF5AA0E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The P2P ICP can be solved in 4 steps: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457200">
                  <a:lnSpc>
                    <a:spcPct val="15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Compute the centroids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acc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</m:t>
                        </m:r>
                      </m:e>
                    </m:acc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acc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𝑞</m:t>
                        </m:r>
                      </m:e>
                    </m:acc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of both point clouds</a:t>
                </a:r>
              </a:p>
              <a:p>
                <a:pPr indent="-457200">
                  <a:lnSpc>
                    <a:spcPct val="15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Build the 2×2 cross-covariance matrix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naryPr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𝑖</m:t>
                        </m:r>
                      </m:sub>
                      <m:sup/>
                      <m:e>
                        <m:d>
                          <m:d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acc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𝑝</m:t>
                                </m:r>
                              </m:e>
                            </m:acc>
                          </m:e>
                        </m:d>
                        <m:sSup>
                          <m:sSup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𝑞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⊤</m:t>
                            </m:r>
                          </m:sup>
                        </m:sSup>
                      </m:e>
                    </m:nary>
                  </m:oMath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457200">
                  <a:lnSpc>
                    <a:spcPct val="15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Decompose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𝑈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⋅</m:t>
                    </m:r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Σ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⋅</m:t>
                    </m:r>
                    <m:sSup>
                      <m:sSupPr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𝑉</m:t>
                        </m:r>
                      </m:e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⊤</m:t>
                        </m:r>
                      </m:sup>
                    </m:sSup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using Singular Value Decomposition</a:t>
                </a:r>
              </a:p>
              <a:p>
                <a:pPr indent="-457200">
                  <a:lnSpc>
                    <a:spcPct val="15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Rotation: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⋅</m:t>
                    </m:r>
                    <m:sSup>
                      <m:sSupPr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𝑈</m:t>
                        </m:r>
                      </m:e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⊤</m:t>
                        </m:r>
                      </m:sup>
                    </m:sSup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Translation: 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acc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𝑞</m:t>
                        </m:r>
                      </m:e>
                    </m:acc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−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⋅</m:t>
                    </m:r>
                    <m:acc>
                      <m:accPr>
                        <m:chr m:val="̅"/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acc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</m:t>
                        </m:r>
                      </m:e>
                    </m:acc>
                  </m:oMath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457200">
                  <a:lnSpc>
                    <a:spcPct val="15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Done!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2587E03-B01B-2B65-28EA-69B28EF5AA0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2F19B3-2481-85DA-9B55-D1C5524385B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202DB96-121D-A9BA-F87B-28DC2584287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Variant 1: Point-to-Point ICP (“Vanilla”)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FA14ED1-0AB4-2687-ADF1-9EED483F4EF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7336F16-C7FC-17B0-6B00-1821FE82CA1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485EBE-A62A-8865-6A12-203C341A424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8EF1E58-AD8B-01A3-50EB-A4E89457DF9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0C451F7-4E3E-1C69-C6B2-CDF33796789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EE74223-A16D-181A-7051-3CF98AFD454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1939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4D1E00A-59BB-C50A-AA3A-1D6927A3D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5CEF980-2DCF-276E-43A3-377560E6A60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𝑅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2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2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𝑖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22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𝑅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+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𝑡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Why is this equation quadratic (and therefore solvable exactly) despite containing rotations?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Rotations involve non-linear trigonometry (sines/cosines), which usually require iterative guessing. How do we solve for it exactly in one step?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After shifting both point clouds to their center of mass, the translation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becomes zero.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𝑅</m:t>
                          </m:r>
                        </m:e>
                      </m:d>
                      <m:r>
                        <a:rPr lang="en-US" sz="22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2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𝑖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22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𝑅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'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'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5CEF980-2DCF-276E-43A3-377560E6A60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r="-1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24C3338-C107-6A28-E36E-8512569FE70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CA3F8CC-0EA0-E3A2-8362-CAB744B7E2D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Variant 1: Point-to-Point ICP (“Vanilla”)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0AD166E-93E9-FB3E-39F7-54EEC8C5472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3FD545A-CB1F-AA00-B6D5-119E4BA533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CAC0162-2F6A-9128-7FF7-11A217CE961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97D7168-4C32-B6DC-3BEB-A4C5B1B7385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5A5149B-C0EC-3E7E-A6B2-C87855C80A8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C97A2B6-7369-B000-77E4-AEE59D3660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87860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AD2CEC2-E270-E614-FCFC-BB522115E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D70C929-9B2B-C028-2296-0925CE757BA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We must find the Rotation matrix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that minimizes the Sum of Squared Errors (SSE) between the centered source points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2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2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</m:t>
                        </m:r>
                      </m:e>
                      <m:sub>
                        <m:r>
                          <a:rPr lang="en-US" sz="22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𝑖</m:t>
                        </m:r>
                      </m:sub>
                      <m:sup>
                        <m:r>
                          <a:rPr lang="en-US" sz="22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) and target points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2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2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𝑞</m:t>
                        </m:r>
                      </m:e>
                      <m:sub>
                        <m:r>
                          <a:rPr lang="en-US" sz="22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𝑖</m:t>
                        </m:r>
                      </m:sub>
                      <m:sup>
                        <m:r>
                          <a:rPr lang="en-US" sz="22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𝑅</m:t>
                          </m:r>
                        </m:e>
                      </m:d>
                      <m:r>
                        <a:rPr lang="en-US" sz="22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naryPr>
                        <m:sub>
                          <m:r>
                            <a:rPr lang="en-US" sz="22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𝑖</m:t>
                          </m:r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=1</m:t>
                          </m:r>
                        </m:sub>
                        <m:sup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𝑁</m:t>
                          </m:r>
                        </m:sup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m:rPr>
                              <m:lit/>
                            </m:rP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</m:e>
                      </m:nary>
                      <m:r>
                        <a:rPr lang="en-US" sz="22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𝑅</m:t>
                      </m:r>
                      <m:sSubSup>
                        <m:sSubSup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2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𝑖</m:t>
                          </m:r>
                        </m:sub>
                        <m:sup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′</m:t>
                          </m:r>
                        </m:sup>
                      </m:sSubSup>
                      <m:r>
                        <a:rPr lang="en-US" sz="22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</m:t>
                      </m:r>
                      <m:sSubSup>
                        <m:sSubSup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𝑞</m:t>
                          </m:r>
                        </m:e>
                        <m:sub>
                          <m:r>
                            <a:rPr lang="en-US" sz="22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𝑖</m:t>
                          </m:r>
                        </m:sub>
                        <m:sup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′</m:t>
                          </m:r>
                        </m:sup>
                      </m:sSubSup>
                      <m:sSup>
                        <m:sSup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m:rPr>
                              <m:lit/>
                            </m:rP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</m:e>
                        <m:sup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The geometric properties of rotation matrices cause the non-linear parts of the equation to self-destruct.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D70C929-9B2B-C028-2296-0925CE757BA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AFD1BF0-34C5-79F2-456A-02BB1F43B99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4CF1510-86A2-2386-3856-911A6345EE6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Variant 1: Point-to-Point ICP (“Vanilla”)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6F29768-B296-391E-2682-1472408AE21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8916C0F-8F12-F31A-9346-0EFB7CB3337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DDF1397-344C-0C45-DBCE-CCF7E5F4566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85A2B03-FB22-0904-5BFA-1271693458A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7B7A424-807B-945F-965C-83B411778F0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43D2931-7564-3589-FD1E-8A4812075AE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689419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2E7D5E0-FEDA-A5AF-97EE-D67EF6FBF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D5C81C0-3ED2-EF14-F9F7-047F2215598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b="1" dirty="0">
                    <a:latin typeface="Arial"/>
                    <a:ea typeface="Arial"/>
                    <a:cs typeface="Arial"/>
                    <a:sym typeface="Arial"/>
                  </a:rPr>
                  <a:t>Expand the Quadratic</a:t>
                </a: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: Since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2200" b="0" i="0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|</m:t>
                    </m:r>
                    <m:r>
                      <m:rPr>
                        <m:lit/>
                      </m:rPr>
                      <a:rPr lang="en-US" sz="22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|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|</m:t>
                    </m:r>
                    <m:sSup>
                      <m:sSupPr>
                        <m:ctrlPr>
                          <a:rPr lang="en-US" sz="22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m:rPr>
                            <m:lit/>
                          </m:rPr>
                          <a:rPr lang="en-US" sz="22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</m:e>
                      <m:sup>
                        <m:r>
                          <a:rPr lang="en-US" sz="22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2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2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2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p>
                        <m:r>
                          <a:rPr lang="en-US" sz="22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2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, we expand the error function: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𝑅</m:t>
                          </m:r>
                        </m:e>
                      </m:d>
                      <m:r>
                        <a:rPr lang="en-US" sz="22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naryPr>
                        <m:sub>
                          <m:r>
                            <a:rPr lang="en-US" sz="22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𝑖</m:t>
                          </m:r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=1</m:t>
                          </m:r>
                        </m:sub>
                        <m:sup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𝑁</m:t>
                          </m:r>
                        </m:sup>
                        <m:e>
                          <m:d>
                            <m:dPr>
                              <m:ctrlPr>
                                <a:rPr lang="en-US" sz="22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220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20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sz="2200" i="1" dirty="0" err="1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sz="220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  <m:sSubSup>
                                <m:sSubSup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2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−2</m:t>
                              </m:r>
                              <m:sSup>
                                <m:sSup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220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20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2200" i="1" dirty="0" err="1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sz="220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  <m:sSubSup>
                                <m:sSubSup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2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220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20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2200" i="1" dirty="0" err="1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sz="220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sSubSup>
                                <m:sSubSup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22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′</m:t>
                                  </m:r>
                                </m:sup>
                              </m:sSubSup>
                            </m:e>
                          </m:d>
                        </m:e>
                      </m:nary>
                    </m:oMath>
                  </m:oMathPara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b="1" dirty="0">
                    <a:latin typeface="Arial"/>
                    <a:ea typeface="Arial"/>
                    <a:cs typeface="Arial"/>
                    <a:sym typeface="Arial"/>
                  </a:rPr>
                  <a:t>The Cancellation</a:t>
                </a: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is a valid rotation matrix, meaning it is orthonormal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2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𝑅</m:t>
                        </m:r>
                      </m:e>
                      <m:sup>
                        <m:r>
                          <a:rPr lang="en-US" sz="22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2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𝐼</m:t>
                    </m:r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). Rotating a vector does not change its length.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b="1" dirty="0">
                    <a:latin typeface="Arial"/>
                    <a:ea typeface="Arial"/>
                    <a:cs typeface="Arial"/>
                    <a:sym typeface="Arial"/>
                  </a:rPr>
                  <a:t>Applying the Property</a:t>
                </a: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2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2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′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𝑅</m:t>
                          </m:r>
                        </m:e>
                        <m:sup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2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𝑅</m:t>
                      </m:r>
                      <m:sSubSup>
                        <m:sSubSup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2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𝑖</m:t>
                          </m:r>
                        </m:sub>
                        <m:sup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′</m:t>
                          </m:r>
                        </m:sup>
                      </m:sSubSup>
                      <m:r>
                        <a:rPr lang="en-US" sz="22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⇒</m:t>
                      </m:r>
                      <m:sSup>
                        <m:sSup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2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2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′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2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𝐼</m:t>
                      </m:r>
                      <m:sSubSup>
                        <m:sSubSup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2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𝑖</m:t>
                          </m:r>
                        </m:sub>
                        <m:sup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′</m:t>
                          </m:r>
                        </m:sup>
                      </m:sSubSup>
                      <m:r>
                        <a:rPr lang="en-US" sz="22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⇒</m:t>
                      </m:r>
                      <m:r>
                        <m:rPr>
                          <m:lit/>
                        </m:rPr>
                        <a:rPr lang="en-US" sz="22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|</m:t>
                      </m:r>
                      <m:r>
                        <m:rPr>
                          <m:lit/>
                        </m:rPr>
                        <a:rPr lang="en-US" sz="220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|</m:t>
                      </m:r>
                      <m:sSubSup>
                        <m:sSubSup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2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𝑖</m:t>
                          </m:r>
                        </m:sub>
                        <m:sup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′</m:t>
                          </m:r>
                        </m:sup>
                      </m:sSubSup>
                      <m:r>
                        <a:rPr lang="en-US" sz="220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|</m:t>
                      </m:r>
                      <m:sSup>
                        <m:sSup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m:rPr>
                              <m:lit/>
                            </m:rP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</m:e>
                        <m:sup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b="1" dirty="0">
                    <a:latin typeface="Arial"/>
                    <a:ea typeface="Arial"/>
                    <a:cs typeface="Arial"/>
                    <a:sym typeface="Arial"/>
                  </a:rPr>
                  <a:t>The Result</a:t>
                </a: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: The quadratic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2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𝑅</m:t>
                        </m:r>
                      </m:e>
                      <m:sup>
                        <m:r>
                          <a:rPr lang="en-US" sz="22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term completely vanishes, leaving only a linear relationship!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D5C81C0-3ED2-EF14-F9F7-047F2215598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759" b="-63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4EF6CBA-E4AA-9608-75F4-E2170953A81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C154E1-B1F1-9081-BFB7-97F457BF13C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Variant 1: Point-to-Point ICP (“Vanilla”)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0F9CBEE-C53E-85BE-DA2A-B4D5AA0F6DB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7D6DB3D-2E7B-AA60-28FA-7F41F8210A2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8365DA5-5FF4-DEAE-8FE7-82AFF9F955F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32CB9C0-8DB4-7E22-2EE0-E19B3E7B046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7D61DEC-4183-534F-FB17-212845C7D53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B647638-3D60-5A58-2087-5EF7D04CEE2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1187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9862886-6416-FACC-C541-5AA29F32A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E088D7D-AEF1-EFC7-1EC9-D7EA1B292B4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𝑅</m:t>
                          </m:r>
                        </m:e>
                      </m:d>
                      <m:r>
                        <a:rPr lang="en-US" sz="22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naryPr>
                        <m:sub>
                          <m:r>
                            <a:rPr lang="en-US" sz="22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𝑖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=1</m:t>
                          </m:r>
                        </m:sub>
                        <m:sup>
                          <m: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𝑁</m:t>
                          </m:r>
                        </m:sup>
                        <m:e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2200" i="1" dirty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sz="2200" i="1" dirty="0" err="1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  <m:sSubSup>
                                <m:sSub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200" i="1" dirty="0" err="1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−2</m:t>
                              </m:r>
                              <m:sSup>
                                <m:s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2200" i="1" dirty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2200" i="1" dirty="0" err="1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  <m:sSubSup>
                                <m:sSub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200" i="1" dirty="0" err="1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2200" i="1" dirty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2200" i="1" dirty="0" err="1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sSubSup>
                                <m:sSub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2200" i="1" dirty="0" err="1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′</m:t>
                                  </m:r>
                                </m:sup>
                              </m:sSubSup>
                            </m:e>
                          </m:d>
                        </m:e>
                      </m:nary>
                    </m:oMath>
                  </m:oMathPara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𝑅</m:t>
                          </m:r>
                        </m:e>
                      </m:d>
                      <m:r>
                        <a:rPr lang="en-US" sz="22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naryPr>
                        <m:sub>
                          <m:r>
                            <a:rPr lang="en-US" sz="22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𝑖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=1</m:t>
                          </m:r>
                        </m:sub>
                        <m:sup>
                          <m: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𝑁</m:t>
                          </m:r>
                        </m:sup>
                        <m:e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2200" i="1" dirty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sz="2200" i="1" dirty="0" err="1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sSubSup>
                                <m:sSub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200" i="1" dirty="0" err="1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−2</m:t>
                              </m:r>
                              <m:sSup>
                                <m:s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2200" i="1" dirty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2200" i="1" dirty="0" err="1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  <m:sSubSup>
                                <m:sSub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200" i="1" dirty="0" err="1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2200" i="1" dirty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2200" i="1" dirty="0" err="1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sSubSup>
                                <m:sSub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2200" i="1" dirty="0" err="1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′</m:t>
                                  </m:r>
                                </m:sup>
                              </m:sSubSup>
                            </m:e>
                          </m:d>
                        </m:e>
                      </m:nary>
                    </m:oMath>
                  </m:oMathPara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𝑅</m:t>
                          </m:r>
                        </m:e>
                      </m:d>
                      <m:r>
                        <a:rPr lang="en-US" sz="22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20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c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naryPr>
                        <m:sub>
                          <m:r>
                            <a:rPr lang="en-US" sz="22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𝑖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=1</m:t>
                          </m:r>
                        </m:sub>
                        <m:sup>
                          <m: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2200" i="1" dirty="0" err="1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′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𝑅</m:t>
                          </m:r>
                          <m:sSubSup>
                            <m:sSub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200" i="1" dirty="0" err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′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We can remove the constant terms from the error function!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E088D7D-AEF1-EFC7-1EC9-D7EA1B292B4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104B5A7-05CB-C800-73E5-863FE10B86B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0795775-6591-3228-E804-9BA135824AB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Variant 1: Point-to-Point ICP (“Vanilla”)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C2E11DE-E651-FF50-49B9-9816FED8D8F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919F8A3-288C-6FFF-1DEA-F3E013BB1F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5E6E662-6FC4-D452-D93F-541436344A0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246B526-6B2F-A662-7D46-01FB80EF7EB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0A4F91A-9AC4-BE8C-0E98-985190DE3B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7BD63FB-CF4B-2C59-1E36-75D0931CEEF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2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ACDB2BA-DEC4-AB21-5CB6-E0668DF0C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6BF11F6-9BC3-7CBB-184D-4BB396FB4B8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𝑅</m:t>
                          </m:r>
                        </m:e>
                      </m:d>
                      <m:r>
                        <a:rPr lang="en-US" sz="22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20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c</m:t>
                      </m:r>
                      <m:r>
                        <a:rPr lang="en-US" sz="22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naryPr>
                        <m:sub>
                          <m:r>
                            <a:rPr lang="en-US" sz="22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𝑖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=1</m:t>
                          </m:r>
                        </m:sub>
                        <m:sup>
                          <m: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2200" i="1" dirty="0" err="1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′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sz="22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𝑅</m:t>
                          </m:r>
                          <m:sSubSup>
                            <m:sSub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200" i="1" dirty="0" err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′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With the </a:t>
                </a:r>
                <a:r>
                  <a:rPr lang="en-US" sz="2200" b="1" dirty="0">
                    <a:latin typeface="Arial"/>
                    <a:ea typeface="Arial"/>
                    <a:cs typeface="Arial"/>
                    <a:sym typeface="Arial"/>
                  </a:rPr>
                  <a:t>quadratic term </a:t>
                </a: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gone, the problem reduces to straightforward linear algebra.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b="1" dirty="0">
                    <a:latin typeface="Arial"/>
                    <a:ea typeface="Arial"/>
                    <a:cs typeface="Arial"/>
                    <a:sym typeface="Arial"/>
                  </a:rPr>
                  <a:t>Simplify</a:t>
                </a: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: The equation is now just the static size of the point clouds (constants) minus a linear term.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To minimize the total error, we must maximize the negative term: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200" i="0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Maximize</m:t>
                      </m:r>
                      <m:r>
                        <m:rPr>
                          <m:nor/>
                        </m:rPr>
                        <a:rPr lang="en-US" sz="2200" i="0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: </m:t>
                      </m:r>
                      <m:nary>
                        <m:naryPr>
                          <m:chr m:val="∑"/>
                          <m:ctrlP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naryPr>
                        <m:sub>
                          <m:r>
                            <a:rPr lang="en-US" sz="22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𝑖</m:t>
                          </m:r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=1</m:t>
                          </m:r>
                        </m:sub>
                        <m:sup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en-US" sz="22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22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2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2200" i="1" dirty="0" err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sz="22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′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𝑅</m:t>
                          </m:r>
                        </m:e>
                      </m:nary>
                      <m:sSubSup>
                        <m:sSubSup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2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𝑖</m:t>
                          </m:r>
                        </m:sub>
                        <m:sup>
                          <m:r>
                            <a:rPr lang="en-US" sz="22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6BF11F6-9BC3-7CBB-184D-4BB396FB4B8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r="-6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0170CEE-107F-F51D-0CE1-E686A89D331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5D58E09-1580-EE9B-01A8-BB392683DB8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Variant 1: Point-to-Point ICP (“Vanilla”)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AD28CF8-94BB-D0C9-A9EF-E05ABFB61A5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60685E8-3997-7B49-65EA-92E6D976E52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B1F81CB-2299-3196-D783-951FBE8BFFA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F6E5380-7E4C-F31C-CE5F-81A816E0311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3085A74-5931-E17E-4DEA-2B48D3674C1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3473968-C05E-6820-63FF-63FBBD397E7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131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2903029-FC18-D3A8-A3E4-823015E40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9529276-6013-D9AB-F3E8-85BB9A42E60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3000"/>
                  <a:buFont typeface="Arial"/>
                  <a:buNone/>
                  <a:tabLst/>
                  <a:defRPr/>
                </a:pPr>
                <a:r>
                  <a:rPr kumimoji="0" lang="en-US" sz="2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Arial"/>
                    <a:cs typeface="Arial"/>
                    <a:sym typeface="Arial"/>
                  </a:rPr>
                  <a:t>Using a rule of linear algebra (the cyclic property of the Trace operator), we can rewrite the sum of these vector dot products as the Trace (sum of the diagonal) of a matrix multiplication: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3000"/>
                  <a:buFont typeface="Arial"/>
                  <a:buNone/>
                  <a:tabLst/>
                  <a:defRPr/>
                </a:pPr>
                <a:endParaRPr lang="en-US" sz="2200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3000"/>
                  <a:buFont typeface="Arial"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en-US" sz="2200" b="0" i="1" u="none" strike="noStrike" kern="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naryPr>
                        <m:sub>
                          <m:r>
                            <a:rPr kumimoji="0" lang="en-US" sz="2200" b="0" i="1" u="none" strike="noStrike" kern="0" cap="none" spc="0" normalizeH="0" baseline="0" noProof="0" dirty="0" err="1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𝑖</m:t>
                          </m:r>
                          <m:r>
                            <a:rPr kumimoji="0" lang="en-US" sz="2200" b="0" i="1" u="none" strike="noStrike" kern="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=1</m:t>
                          </m:r>
                        </m:sub>
                        <m:sup>
                          <m:r>
                            <a:rPr kumimoji="0" lang="en-US" sz="2200" b="0" i="1" u="none" strike="noStrike" kern="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kumimoji="0" lang="en-US" sz="2200" b="0" i="1" u="none" strike="noStrike" kern="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0" lang="en-US" sz="2200" b="0" i="1" u="none" strike="noStrike" kern="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kumimoji="0" lang="en-US" sz="2200" b="0" i="1" u="none" strike="noStrike" kern="0" cap="none" spc="0" normalizeH="0" baseline="0" noProof="0" dirty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kumimoji="0" lang="en-US" sz="2200" b="0" i="1" u="none" strike="noStrike" kern="0" cap="none" spc="0" normalizeH="0" baseline="0" noProof="0" dirty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sz="2200" b="0" i="1" u="none" strike="noStrike" kern="0" cap="none" spc="0" normalizeH="0" baseline="0" noProof="0" dirty="0" err="1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kumimoji="0" lang="en-US" sz="2200" b="0" i="1" u="none" strike="noStrike" kern="0" cap="none" spc="0" normalizeH="0" baseline="0" noProof="0" dirty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′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kumimoji="0" lang="en-US" sz="2200" b="0" i="1" u="none" strike="noStrike" kern="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  <m:r>
                            <a:rPr kumimoji="0" lang="en-US" sz="2200" b="0" i="1" u="none" strike="noStrike" kern="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𝑅</m:t>
                          </m:r>
                        </m:e>
                      </m:nary>
                      <m:sSubSup>
                        <m:sSubSupPr>
                          <m:ctrlPr>
                            <a:rPr kumimoji="0" lang="en-US" sz="2200" b="0" i="1" u="none" strike="noStrike" kern="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kumimoji="0" lang="en-US" sz="2200" b="0" i="1" u="none" strike="noStrike" kern="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kumimoji="0" lang="en-US" sz="2200" b="0" i="1" u="none" strike="noStrike" kern="0" cap="none" spc="0" normalizeH="0" baseline="0" noProof="0" dirty="0" err="1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𝑖</m:t>
                          </m:r>
                        </m:sub>
                        <m:sup>
                          <m:r>
                            <a:rPr kumimoji="0" lang="en-US" sz="2200" b="0" i="1" u="none" strike="noStrike" kern="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′</m:t>
                          </m:r>
                        </m:sup>
                      </m:sSubSup>
                      <m:r>
                        <a:rPr kumimoji="0" lang="en-US" sz="2200" b="0" i="1" u="none" strike="noStrike" kern="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m:rPr>
                          <m:nor/>
                        </m:rPr>
                        <a:rPr kumimoji="0" lang="en-US" sz="2200" b="0" i="0" u="none" strike="noStrike" kern="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Tr</m:t>
                      </m:r>
                      <m:d>
                        <m:dPr>
                          <m:ctrlPr>
                            <a:rPr kumimoji="0" lang="en-US" sz="2200" b="0" i="1" u="none" strike="noStrike" kern="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kumimoji="0" lang="en-US" sz="2200" b="0" i="1" u="none" strike="noStrike" kern="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𝑅</m:t>
                          </m:r>
                          <m:nary>
                            <m:naryPr>
                              <m:chr m:val="∑"/>
                              <m:ctrlPr>
                                <a:rPr kumimoji="0" lang="en-US" sz="2200" b="0" i="1" u="none" strike="noStrike" kern="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naryPr>
                            <m:sub>
                              <m:r>
                                <a:rPr kumimoji="0" lang="en-US" sz="2200" b="0" i="1" u="none" strike="noStrike" kern="0" cap="none" spc="0" normalizeH="0" baseline="0" noProof="0" dirty="0" err="1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𝑖</m:t>
                              </m:r>
                              <m:r>
                                <a:rPr kumimoji="0" lang="en-US" sz="2200" b="0" i="1" u="none" strike="noStrike" kern="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=1</m:t>
                              </m:r>
                            </m:sub>
                            <m:sup>
                              <m:r>
                                <a:rPr kumimoji="0" lang="en-US" sz="2200" b="0" i="1" u="none" strike="noStrike" kern="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𝑁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kumimoji="0" lang="en-US" sz="2200" b="0" i="1" u="none" strike="noStrike" kern="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SupPr>
                                <m:e>
                                  <m:r>
                                    <a:rPr kumimoji="0" lang="en-US" sz="2200" b="0" i="1" u="none" strike="noStrike" kern="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kumimoji="0" lang="en-US" sz="2200" b="0" i="1" u="none" strike="noStrike" kern="0" cap="none" spc="0" normalizeH="0" baseline="0" noProof="0" dirty="0" err="1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kumimoji="0" lang="en-US" sz="2200" b="0" i="1" u="none" strike="noStrike" kern="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′</m:t>
                                  </m:r>
                                </m:sup>
                              </m:sSubSup>
                              <m:sSup>
                                <m:sSupPr>
                                  <m:ctrlPr>
                                    <a:rPr kumimoji="0" lang="en-US" sz="2200" b="0" i="1" u="none" strike="noStrike" kern="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kumimoji="0" lang="en-US" sz="2200" b="0" i="1" u="none" strike="noStrike" kern="0" cap="none" spc="0" normalizeH="0" baseline="0" noProof="0" dirty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kumimoji="0" lang="en-US" sz="2200" b="0" i="1" u="none" strike="noStrike" kern="0" cap="none" spc="0" normalizeH="0" baseline="0" noProof="0" dirty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kumimoji="0" lang="en-US" sz="2200" b="0" i="1" u="none" strike="noStrike" kern="0" cap="none" spc="0" normalizeH="0" baseline="0" noProof="0" dirty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sz="2200" b="0" i="1" u="none" strike="noStrike" kern="0" cap="none" spc="0" normalizeH="0" baseline="0" noProof="0" dirty="0" err="1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kumimoji="0" lang="en-US" sz="2200" b="0" i="1" u="none" strike="noStrike" kern="0" cap="none" spc="0" normalizeH="0" baseline="0" noProof="0" dirty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kumimoji="0" lang="en-US" sz="2200" b="0" i="1" u="none" strike="noStrike" kern="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  <a:endParaRPr kumimoji="0" lang="en-US" sz="2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3000"/>
                  <a:buFont typeface="Arial"/>
                  <a:buNone/>
                  <a:tabLst/>
                  <a:defRPr/>
                </a:pPr>
                <a:endParaRPr kumimoji="0" lang="en-US" sz="2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3000"/>
                  <a:buFont typeface="Arial"/>
                  <a:buNone/>
                  <a:tabLst/>
                  <a:defRPr/>
                </a:pPr>
                <a:endParaRPr kumimoji="0" lang="en-US" sz="2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Clr>
                    <a:srgbClr val="000000"/>
                  </a:buClr>
                  <a:buSzPts val="3000"/>
                  <a:buNone/>
                  <a:defRPr/>
                </a:pPr>
                <a:r>
                  <a:rPr lang="en-US" sz="2200" b="1" dirty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The Trace Trick</a:t>
                </a:r>
                <a:r>
                  <a:rPr lang="en-US" sz="2200" dirty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: We can rewrite this sum of vectors as the Trace of a matrix multiplication using the cross-covariance matrix (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lang="en-US" sz="2200" dirty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):</a:t>
                </a:r>
                <a:endParaRPr kumimoji="0" lang="en-US" sz="2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3000"/>
                  <a:buFont typeface="Arial"/>
                  <a:buNone/>
                  <a:tabLst/>
                  <a:defRPr/>
                </a:pPr>
                <a:endParaRPr kumimoji="0" lang="en-US" sz="2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3000"/>
                  <a:buFont typeface="Arial"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sz="2200" b="0" i="0" u="none" strike="noStrike" kern="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Maximize</m:t>
                      </m:r>
                      <m:r>
                        <m:rPr>
                          <m:nor/>
                        </m:rPr>
                        <a:rPr kumimoji="0" lang="en-US" sz="2200" b="0" i="0" u="none" strike="noStrike" kern="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: </m:t>
                      </m:r>
                      <m:r>
                        <m:rPr>
                          <m:nor/>
                        </m:rPr>
                        <a:rPr kumimoji="0" lang="en-US" sz="2200" b="0" i="0" u="none" strike="noStrike" kern="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Tr</m:t>
                      </m:r>
                      <m:d>
                        <m:dPr>
                          <m:ctrlPr>
                            <a:rPr kumimoji="0" lang="en-US" sz="2200" b="0" i="1" u="none" strike="noStrike" kern="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kumimoji="0" lang="en-US" sz="2200" b="0" i="1" u="none" strike="noStrike" kern="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𝑅</m:t>
                          </m:r>
                          <m:r>
                            <a:rPr kumimoji="0" lang="en-US" sz="2200" b="0" i="1" u="none" strike="noStrike" kern="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⋅</m:t>
                          </m:r>
                          <m:r>
                            <a:rPr kumimoji="0" lang="en-US" sz="2200" b="0" i="1" u="none" strike="noStrike" kern="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</m:d>
                    </m:oMath>
                  </m:oMathPara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9529276-6013-D9AB-F3E8-85BB9A42E60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DAEE70C-E0B9-3FE6-AF27-63CD24D1069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A8B9CB-5F94-2968-ACF3-922072453C8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Variant 1: Point-to-Point ICP (“Vanilla”)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96B1AF1-1018-00D9-169E-72EB6886556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FAD4BC1-7A4A-0028-851F-0ABCA0B789D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BB42438-0487-2AB6-435D-DB83B37290F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67B6CE1-A236-DC9C-614E-941933EC5C3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900BD84-06AC-75EC-CDC9-8BC592C586C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1C4D4B1-86E4-B708-6ABF-435ED7838C4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317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1C356B8-0B67-6DFC-7C89-8DB600CB1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B97E6A8-0258-A8D4-B6FF-73F82D2B79C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3000"/>
                  <a:buFont typeface="Arial"/>
                  <a:buNone/>
                  <a:tabLst/>
                  <a:defRPr/>
                </a:pPr>
                <a:r>
                  <a:rPr kumimoji="0" lang="en-US" sz="2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Arial"/>
                    <a:cs typeface="Arial"/>
                    <a:sym typeface="Arial"/>
                  </a:rPr>
                  <a:t>The SVD Algorithm</a:t>
                </a:r>
                <a:r>
                  <a:rPr kumimoji="0" lang="en-US" sz="2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Arial"/>
                    <a:cs typeface="Arial"/>
                    <a:sym typeface="Arial"/>
                  </a:rPr>
                  <a:t>: Singular Value Decomposition is explicitly designed to maximize this matrix trace!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3000"/>
                  <a:buFont typeface="Arial"/>
                  <a:buNone/>
                  <a:tabLst/>
                  <a:defRPr/>
                </a:pPr>
                <a:endParaRPr kumimoji="0" lang="en-US" sz="2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3000"/>
                  <a:buFont typeface="Arial"/>
                  <a:buNone/>
                  <a:tabLst/>
                  <a:defRPr/>
                </a:pPr>
                <a:r>
                  <a:rPr kumimoji="0" lang="en-US" sz="2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Arial"/>
                    <a:cs typeface="Arial"/>
                    <a:sym typeface="Arial"/>
                  </a:rPr>
                  <a:t>We decompose </a:t>
                </a:r>
                <a14:m>
                  <m:oMath xmlns:m="http://schemas.openxmlformats.org/officeDocument/2006/math">
                    <m:r>
                      <a:rPr kumimoji="0" lang="en-US" sz="2200" b="0" i="1" u="none" strike="noStrike" kern="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kumimoji="0" lang="en-US" sz="2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Arial"/>
                    <a:cs typeface="Arial"/>
                    <a:sym typeface="Arial"/>
                  </a:rPr>
                  <a:t> and perfectly extract </a:t>
                </a:r>
                <a14:m>
                  <m:oMath xmlns:m="http://schemas.openxmlformats.org/officeDocument/2006/math">
                    <m:r>
                      <a:rPr kumimoji="0" lang="en-US" sz="2200" b="0" i="1" u="none" strike="noStrike" kern="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kumimoji="0" lang="en-US" sz="2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3000"/>
                  <a:buFont typeface="Arial"/>
                  <a:buNone/>
                  <a:tabLst/>
                  <a:defRPr/>
                </a:pPr>
                <a:endParaRPr kumimoji="0" lang="en-US" sz="2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3000"/>
                  <a:buFont typeface="Arial"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200" b="0" i="1" u="none" strike="noStrike" kern="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𝐻</m:t>
                      </m:r>
                      <m:r>
                        <a:rPr kumimoji="0" lang="en-US" sz="2200" b="0" i="1" u="none" strike="noStrike" kern="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kumimoji="0" lang="en-US" sz="2200" b="0" i="1" u="none" strike="noStrike" kern="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𝑈</m:t>
                      </m:r>
                      <m:r>
                        <m:rPr>
                          <m:sty m:val="p"/>
                        </m:rPr>
                        <a:rPr kumimoji="0" lang="en-US" sz="2200" b="0" i="0" u="none" strike="noStrike" kern="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Σ</m:t>
                      </m:r>
                      <m:sSup>
                        <m:sSupPr>
                          <m:ctrlPr>
                            <a:rPr kumimoji="0" lang="en-US" sz="2200" b="0" i="1" u="none" strike="noStrike" kern="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kumimoji="0" lang="en-US" sz="2200" b="0" i="1" u="none" strike="noStrike" kern="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𝑉</m:t>
                          </m:r>
                        </m:e>
                        <m:sup>
                          <m:r>
                            <a:rPr kumimoji="0" lang="en-US" sz="2200" b="0" i="1" u="none" strike="noStrike" kern="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kumimoji="0" lang="en-US" sz="2200" b="0" i="1" u="none" strike="noStrike" kern="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⇒</m:t>
                      </m:r>
                      <m:r>
                        <a:rPr kumimoji="0" lang="en-US" sz="2200" b="0" i="1" u="none" strike="noStrike" kern="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𝑅</m:t>
                      </m:r>
                      <m:r>
                        <a:rPr kumimoji="0" lang="en-US" sz="2200" b="0" i="1" u="none" strike="noStrike" kern="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kumimoji="0" lang="en-US" sz="2200" b="0" i="1" u="none" strike="noStrike" kern="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</m:t>
                      </m:r>
                      <m:sSup>
                        <m:sSupPr>
                          <m:ctrlPr>
                            <a:rPr kumimoji="0" lang="en-US" sz="2200" b="0" i="1" u="none" strike="noStrike" kern="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kumimoji="0" lang="en-US" sz="2200" b="0" i="1" u="none" strike="noStrike" kern="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𝑈</m:t>
                          </m:r>
                        </m:e>
                        <m:sup>
                          <m:r>
                            <a:rPr kumimoji="0" lang="en-US" sz="2200" b="0" i="1" u="none" strike="noStrike" kern="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kumimoji="0" lang="en-US" sz="2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3000"/>
                  <a:buFont typeface="Arial"/>
                  <a:buNone/>
                  <a:tabLst/>
                  <a:defRPr/>
                </a:pPr>
                <a:endParaRPr lang="en-US" sz="2200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Clr>
                    <a:srgbClr val="000000"/>
                  </a:buClr>
                  <a:buSzPts val="3000"/>
                  <a:buNone/>
                  <a:defRPr/>
                </a:pPr>
                <a:r>
                  <a:rPr kumimoji="0" lang="en-US" sz="2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Arial"/>
                    <a:cs typeface="Arial"/>
                    <a:sym typeface="Arial"/>
                  </a:rPr>
                  <a:t>We can ignore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0" lang="en-US" sz="2200" b="0" i="0" u="none" strike="noStrike" kern="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Σ</m:t>
                    </m:r>
                  </m:oMath>
                </a14:m>
                <a:r>
                  <a:rPr kumimoji="0" lang="en-US" sz="2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Arial"/>
                    <a:cs typeface="Arial"/>
                    <a:sym typeface="Arial"/>
                  </a:rPr>
                  <a:t>, 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Σ</m:t>
                    </m:r>
                  </m:oMath>
                </a14:m>
                <a:r>
                  <a:rPr kumimoji="0" lang="en-US" sz="2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Arial"/>
                    <a:cs typeface="Arial"/>
                    <a:sym typeface="Arial"/>
                  </a:rPr>
                  <a:t> represents scaling</a:t>
                </a:r>
                <a:r>
                  <a:rPr kumimoji="0" lang="en-US" sz="2200" b="0" i="0" u="none" strike="noStrike" kern="0" cap="none" spc="0" normalizeH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Arial"/>
                    <a:cs typeface="Arial"/>
                    <a:sym typeface="Arial"/>
                  </a:rPr>
                  <a:t> /stretching and we want our rotation matrix to maintain it’s validity.</a:t>
                </a:r>
                <a:endParaRPr kumimoji="0" lang="en-US" sz="2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3000"/>
                  <a:buFont typeface="Arial"/>
                  <a:buNone/>
                  <a:tabLst/>
                  <a:defRPr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B97E6A8-0258-A8D4-B6FF-73F82D2B79C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F524C99-8CC9-DAED-F80A-2A65875B584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7BA3B21-1223-6ACD-3661-6DE594B4C12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Variant 1: Point-to-Point ICP (“Vanilla”)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A55B031-34BF-70AC-15ED-A2011FD423F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C4274B9-392D-5890-CBB7-5CF142C3AE4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044D391-6E55-125A-3346-AB6FB5289A1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D827CD2-FE28-9CA7-53DB-7D1A87F703A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0F1185A-3656-3B15-6696-C60C86795AA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49D6FA2-D649-DEE2-17FA-04310BA2A41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87256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A4BC1EC-F06A-3FFA-7F45-B8A46BE5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70A6FC4-4DDB-2290-B8E3-6BF9D0708F9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The P2P ICP can be solved in 4 steps: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457200">
                  <a:lnSpc>
                    <a:spcPct val="15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Compute the centroids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acc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</m:t>
                        </m:r>
                      </m:e>
                    </m:acc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acc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𝑞</m:t>
                        </m:r>
                      </m:e>
                    </m:acc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of both point clouds</a:t>
                </a:r>
              </a:p>
              <a:p>
                <a:pPr indent="-457200">
                  <a:lnSpc>
                    <a:spcPct val="15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Build the 2×2 cross-covariance matrix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naryPr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𝑖</m:t>
                        </m:r>
                      </m:sub>
                      <m:sup/>
                      <m:e>
                        <m:d>
                          <m:d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acc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𝑝</m:t>
                                </m:r>
                              </m:e>
                            </m:acc>
                          </m:e>
                        </m:d>
                        <m:sSup>
                          <m:sSup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𝑞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⊤</m:t>
                            </m:r>
                          </m:sup>
                        </m:sSup>
                      </m:e>
                    </m:nary>
                  </m:oMath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457200">
                  <a:lnSpc>
                    <a:spcPct val="15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Decompose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𝑈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⋅</m:t>
                    </m:r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Σ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⋅</m:t>
                    </m:r>
                    <m:sSup>
                      <m:sSupPr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𝑉</m:t>
                        </m:r>
                      </m:e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⊤</m:t>
                        </m:r>
                      </m:sup>
                    </m:sSup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using Singular Value Decomposition</a:t>
                </a:r>
              </a:p>
              <a:p>
                <a:pPr indent="-457200">
                  <a:lnSpc>
                    <a:spcPct val="15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Rotation: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⋅</m:t>
                    </m:r>
                    <m:sSup>
                      <m:sSupPr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𝑈</m:t>
                        </m:r>
                      </m:e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⊤</m:t>
                        </m:r>
                      </m:sup>
                    </m:sSup>
                  </m:oMath>
                </a14:m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 Translation: 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acc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𝑞</m:t>
                        </m:r>
                      </m:e>
                    </m:acc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−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⋅</m:t>
                    </m:r>
                    <m:acc>
                      <m:accPr>
                        <m:chr m:val="̅"/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acc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</m:t>
                        </m:r>
                      </m:e>
                    </m:acc>
                  </m:oMath>
                </a14:m>
                <a:endParaRPr lang="en-US" sz="22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457200">
                  <a:lnSpc>
                    <a:spcPct val="15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200" dirty="0">
                    <a:latin typeface="Arial"/>
                    <a:ea typeface="Arial"/>
                    <a:cs typeface="Arial"/>
                    <a:sym typeface="Arial"/>
                  </a:rPr>
                  <a:t>Done!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70A6FC4-4DDB-2290-B8E3-6BF9D0708F9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B5A77FA-2A99-5C93-9CE8-C1A94D0B13A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E5FC2AC-E001-EE26-6047-B4D68CA7505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Variant 1: Point-to-Point ICP (“Vanilla”)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73C5D19-828F-2FA9-2A8C-CA9CD8C1000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2964426-7D1B-C4CB-44BC-67EA328E4AF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FBE16DC-67E2-0E9A-C169-5E322983714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8D9A7FF-336F-E739-425C-10422A74C19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AA37599-1926-9D00-DA2C-12452E0C85A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98F1234-E132-4D18-782D-EBB651DCAC8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6948345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E877189-550D-357B-780C-C31E827A9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560C757-FA26-756D-83FF-0E71391C6A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983446"/>
            <a:ext cx="11177401" cy="5453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Very simple to implement in code as well!</a:t>
            </a:r>
            <a:endParaRPr lang="en-US" sz="1400" b="1" dirty="0">
              <a:solidFill>
                <a:srgbClr val="CF222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endParaRPr lang="en-US" sz="800" dirty="0">
              <a:solidFill>
                <a:srgbClr val="CF222E"/>
              </a:solidFill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p2p_icp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95380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95380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"""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    Calculates the P2P ICP Closest Point Transformation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    Input: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        A: </a:t>
            </a:r>
            <a:r>
              <a:rPr lang="en-US" sz="900" b="0" dirty="0" err="1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Nxm</a:t>
            </a:r>
            <a:r>
              <a:rPr lang="en-US" sz="900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US" sz="900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 array of source points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        B: </a:t>
            </a:r>
            <a:r>
              <a:rPr lang="en-US" sz="900" b="0" dirty="0" err="1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Nxm</a:t>
            </a:r>
            <a:r>
              <a:rPr lang="en-US" sz="900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US" sz="900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 array of destination points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    Output: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        T: (m+1)x(m+1) homogeneous transformation matrix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    """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95380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900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.shape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6E7781"/>
                </a:solidFill>
                <a:effectLst/>
                <a:latin typeface="Consolas" panose="020B0609020204030204" pitchFamily="49" charset="0"/>
              </a:rPr>
              <a:t># --- Step 1: Compute the centroids ---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 err="1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centroid_A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np.mean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95380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953800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 err="1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centroid_B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np.mean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95380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953800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6E7781"/>
                </a:solidFill>
                <a:effectLst/>
                <a:latin typeface="Consolas" panose="020B0609020204030204" pitchFamily="49" charset="0"/>
              </a:rPr>
              <a:t># --------------------------------------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6E7781"/>
                </a:solidFill>
                <a:effectLst/>
                <a:latin typeface="Consolas" panose="020B0609020204030204" pitchFamily="49" charset="0"/>
              </a:rPr>
              <a:t># --- Step 2: Build cross-covariance matrix -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AA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95380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centroid_A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BB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95380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centroid_B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np.dot(</a:t>
            </a:r>
            <a:r>
              <a:rPr lang="en-US" sz="9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AA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.T, </a:t>
            </a:r>
            <a:r>
              <a:rPr lang="en-US" sz="9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BB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6E7781"/>
                </a:solidFill>
                <a:effectLst/>
                <a:latin typeface="Consolas" panose="020B0609020204030204" pitchFamily="49" charset="0"/>
              </a:rPr>
              <a:t># -------------------------------------------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6E7781"/>
                </a:solidFill>
                <a:effectLst/>
                <a:latin typeface="Consolas" panose="020B0609020204030204" pitchFamily="49" charset="0"/>
              </a:rPr>
              <a:t># -- Step 3: SVD Decomposition ------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Vt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np.linalg.svd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6E7781"/>
                </a:solidFill>
                <a:effectLst/>
                <a:latin typeface="Consolas" panose="020B0609020204030204" pitchFamily="49" charset="0"/>
              </a:rPr>
              <a:t># -----------------------------------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6E7781"/>
                </a:solidFill>
                <a:effectLst/>
                <a:latin typeface="Consolas" panose="020B0609020204030204" pitchFamily="49" charset="0"/>
              </a:rPr>
              <a:t># --- Step 4: Extract R and t, from SVD ----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np.dot(</a:t>
            </a:r>
            <a:r>
              <a:rPr lang="en-US" sz="900" b="0" dirty="0" err="1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Vt</a:t>
            </a:r>
            <a:r>
              <a:rPr lang="en-US" sz="900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.T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.T)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np.linalg.det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Vt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9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:]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*=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9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np.dot(</a:t>
            </a:r>
            <a:r>
              <a:rPr lang="en-US" sz="900" b="0" dirty="0" err="1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Vt</a:t>
            </a:r>
            <a:r>
              <a:rPr lang="en-US" sz="900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.T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.T)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centroid_B</a:t>
            </a:r>
            <a:r>
              <a:rPr lang="en-US" sz="900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.reshape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np.dot(</a:t>
            </a:r>
            <a:r>
              <a:rPr lang="en-US" sz="9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centroid_A</a:t>
            </a:r>
            <a:r>
              <a:rPr lang="en-US" sz="900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.reshape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6E7781"/>
                </a:solidFill>
                <a:effectLst/>
                <a:latin typeface="Consolas" panose="020B0609020204030204" pitchFamily="49" charset="0"/>
              </a:rPr>
              <a:t>#--------------------------------------------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np.eye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[:</a:t>
            </a:r>
            <a:r>
              <a:rPr lang="en-US" sz="9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:</a:t>
            </a:r>
            <a:r>
              <a:rPr lang="en-US" sz="9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R</a:t>
            </a:r>
            <a:endParaRPr lang="en-US" sz="9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[:</a:t>
            </a:r>
            <a:r>
              <a:rPr lang="en-US" sz="9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9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sz="9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900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.ravel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9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900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</a:t>
            </a:r>
            <a:endParaRPr lang="en-US" sz="9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53FA99F-D3AC-D21D-1CCF-3575D68FCE1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C6218C6-F638-66C1-7D05-D1473066794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Variant 1: Point-to-Point ICP (“Vanilla”)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6D4E87C-995B-2523-AFCC-977D8D71BC3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A1D06FE-C044-95C7-D497-0F969E8533D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A454EA-9BC5-7E86-DBC4-FC962B24D2F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6BC6146-B4EC-15BE-03DF-EC4BB28A20A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6AF4BD7-B050-8981-FDEE-709D49C23D5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1EADEF3-DA17-E95A-CA92-F85E5B94F10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351818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CE5392F-AD07-0E69-5E9B-DA6E3088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85F982A-F234-DAB8-D7A9-1BF7F0C8E8A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EA5E042-D008-C105-1BE5-70632E46176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Variant 1: Point-to-Point ICP (“Vanilla”)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D603758-0928-9176-9E34-B06B26321EA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7FB2B51-8C82-A2E9-97BB-A8B8B25C31E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6AC3F4C-98AB-1806-21B5-EF48C707477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B190147-0457-BF4D-E427-328B9A66148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1F44FB8-0216-30D9-50C0-6EEF6C4BB5E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BB41684-11AA-14D2-9E27-671C806D8CE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1EFFD07-38E8-4D7F-3744-DAD0AC1D999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838200" y="5209383"/>
                <a:ext cx="10515600" cy="96757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Initial Point Clouds P (</a:t>
                </a:r>
                <a:r>
                  <a:rPr lang="en-US" dirty="0">
                    <a:solidFill>
                      <a:srgbClr val="0070C0"/>
                    </a:solidFill>
                  </a:rPr>
                  <a:t>blue</a:t>
                </a:r>
                <a:r>
                  <a:rPr lang="en-US" dirty="0"/>
                  <a:t>, offset triangle) and Q (</a:t>
                </a:r>
                <a:r>
                  <a:rPr lang="en-US" dirty="0">
                    <a:solidFill>
                      <a:srgbClr val="FF0000"/>
                    </a:solidFill>
                  </a:rPr>
                  <a:t>red</a:t>
                </a:r>
                <a:r>
                  <a:rPr lang="en-US" dirty="0"/>
                  <a:t>, offset and rotated triangle), with their calculated centroids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m:rPr>
                        <m:lit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m:rPr>
                        <m:lit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marked and vectors from the origin shown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1EFFD07-38E8-4D7F-3744-DAD0AC1D99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8200" y="5209383"/>
                <a:ext cx="10515600" cy="967579"/>
              </a:xfr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phic 4">
            <a:extLst>
              <a:ext uri="{FF2B5EF4-FFF2-40B4-BE49-F238E27FC236}">
                <a16:creationId xmlns:a16="http://schemas.microsoft.com/office/drawing/2014/main" id="{18BAE210-BBF1-CBAB-22A6-C3EB4E085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584587" y="929488"/>
            <a:ext cx="4616426" cy="4330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5471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C7067F-5553-0959-EA5C-FD29C61AD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A4661B9-3087-22FB-2303-5E0CEE00BDB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8DC3057-86F7-A7CF-6196-E4361CB7C92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Variant 1: Point-to-Point ICP (“Vanilla”)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ECF76CC-7BC0-0BBA-DAC9-48D1922038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72983E-ADD2-C6DA-2366-DBB3FE66EE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64D24E7-3B3F-2BD5-7101-6B620844983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EC39ECB-D041-9047-89BD-F36DACA4989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B2DF911-FED4-53F5-A899-0600D77A7D5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802F15D-2FDC-6CBE-491B-B92D924B30C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CC042B-9E45-22D3-E071-C60056D13D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5209383"/>
            <a:ext cx="10515600" cy="967579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Visualization of Step 2 conceptually centering both point clouds at the global origin to compute the cross-covariance matrix H using the relative positions of points to their respective centroids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D20D93B-0F98-5034-611E-C6C783D4B5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514369" y="929488"/>
            <a:ext cx="4756861" cy="4330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7755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0E04DC5-9A3F-8B6F-76D6-C2B6910FF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F0F1E5-0A31-2F41-A495-F004F2E5B9A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6C7BF5B-A602-ED97-AE15-31C620EC030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Variant 1: Point-to-Point ICP (“Vanilla”)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0526884-0468-AD9C-2243-C5AC22D7D5F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E26A46D-7BE6-EFFB-D6E2-149BAC70ACD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4CDC73C-DE55-59A5-CD11-199C60AE99C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E1859E3-375B-190E-A954-5BE860C595D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D18AB5-3E6C-B65E-ABFE-DA4A2AEE5D9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0E25DE7-A128-1D0B-7335-EC1B4E2B263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A95456C2-C8A7-3CA9-903B-E0129A58B8B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838200" y="5209383"/>
                <a:ext cx="10515600" cy="967579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Visualization of Step 3 SVD decomposition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Σ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m:rPr>
                        <m:lit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showing the orthogonal singular vectors U and V as principal axes in the centered frames of reference for P and Q respectively, with illustrative singular values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lit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indicating the scale of variance along these directions.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A95456C2-C8A7-3CA9-903B-E0129A58B8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8200" y="5209383"/>
                <a:ext cx="10515600" cy="967579"/>
              </a:xfrm>
              <a:blipFill>
                <a:blip r:embed="rId4"/>
                <a:stretch>
                  <a:fillRect b="-1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phic 4">
            <a:extLst>
              <a:ext uri="{FF2B5EF4-FFF2-40B4-BE49-F238E27FC236}">
                <a16:creationId xmlns:a16="http://schemas.microsoft.com/office/drawing/2014/main" id="{536E3C64-6EBB-C997-8554-1A3F2ECD8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482052" y="1013094"/>
            <a:ext cx="11227896" cy="4263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2942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A5239AA-AEF5-3089-2D02-D8A9BB484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9B89790-F0F7-D31B-7A46-E15BBF176C2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BF871ED-BF79-A998-EE78-CF1D606D9BF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Variant 1: Point-to-Point ICP (“Vanilla”)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3BD780-54F7-8969-1B4A-EBAA5A3D406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9B9EC3A-ED8E-51B0-6361-6240EA512D3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D607FE4-151D-F34B-CA85-17DFF167B93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0332E11-4311-FC52-0D06-7F7EEBC2DA8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5EC569F-4268-DEED-1EF1-837927323E9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0F0366A-E00A-1E82-BB17-210D88A6308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899695-7819-6E96-3DBA-448A445D35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5209383"/>
            <a:ext cx="10515600" cy="967579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Visualizing Step 4 rotation part, showing how the rotation matrix R is conceptually applied to the centered point cloud P' to align its principal axes with those of centered Q', resulting in the rotated, centered shape P''.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305EC02-A30E-839C-30BE-F1AB437099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609676" y="929488"/>
            <a:ext cx="4566247" cy="4330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7155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2E2AA1-7FC5-C909-F37D-AAF46E5C7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8DE1703-B261-6430-E51C-4574D58CB81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407343F-E4C9-F48B-B57B-F62B619338C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Variant 1: Point-to-Point ICP (“Vanilla”)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462F1BC-44E4-C368-18BA-CA459E49AAA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BE67CC0-F37D-6B87-963B-547D48B9139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109E016-DB80-99C1-9DBB-56AAE361CE9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C0AB567-0ECB-0063-6BBC-459F1E1DC5A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DF3A4BA-7CC5-7AA4-6E36-2F638664D86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AFF6FE9-836A-E96E-ECB5-5872A565264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070FF12-13F9-E647-2E3F-F97005440DB6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838200" y="5209383"/>
                <a:ext cx="10515600" cy="967579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Visualizing the Step 4 translation vector calculation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lit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𝑅</m:t>
                    </m:r>
                    <m:acc>
                      <m:accPr>
                        <m:chr m:val="̅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m:rPr>
                        <m:lit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The vector t shifts the rotated source centroid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𝑅</m:t>
                    </m:r>
                    <m:acc>
                      <m:accPr>
                        <m:chr m:val="̅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m:rPr>
                        <m:lit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directly to the target centroid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m:rPr>
                        <m:lit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Conceptual perfect shape alignment (</a:t>
                </a:r>
                <a:r>
                  <a:rPr lang="en-US" dirty="0">
                    <a:solidFill>
                      <a:srgbClr val="00B0F0"/>
                    </a:solidFill>
                  </a:rPr>
                  <a:t>cyan</a:t>
                </a:r>
                <a:r>
                  <a:rPr lang="en-US" dirty="0"/>
                  <a:t> filled triangle) is shown centered on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m:rPr>
                        <m:lit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aligning with the original Q shape.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070FF12-13F9-E647-2E3F-F97005440D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8200" y="5209383"/>
                <a:ext cx="10515600" cy="967579"/>
              </a:xfrm>
              <a:blipFill>
                <a:blip r:embed="rId4"/>
                <a:stretch>
                  <a:fillRect b="-1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phic 4">
            <a:extLst>
              <a:ext uri="{FF2B5EF4-FFF2-40B4-BE49-F238E27FC236}">
                <a16:creationId xmlns:a16="http://schemas.microsoft.com/office/drawing/2014/main" id="{24D571A1-D7AF-E1FF-EA34-3C42C1061D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597200" y="929488"/>
            <a:ext cx="4591199" cy="4330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23972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903</TotalTime>
  <Words>3407</Words>
  <Application>Microsoft Office PowerPoint</Application>
  <PresentationFormat>Widescreen</PresentationFormat>
  <Paragraphs>504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4" baseType="lpstr">
      <vt:lpstr>Arial</vt:lpstr>
      <vt:lpstr>Calibri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412</cp:revision>
  <dcterms:created xsi:type="dcterms:W3CDTF">2019-01-14T22:06:33Z</dcterms:created>
  <dcterms:modified xsi:type="dcterms:W3CDTF">2026-04-20T08:52:11Z</dcterms:modified>
</cp:coreProperties>
</file>