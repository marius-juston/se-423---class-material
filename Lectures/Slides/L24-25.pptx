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7"/>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41" r:id="rId152"/>
    <p:sldId id="638" r:id="rId153"/>
    <p:sldId id="271" r:id="rId154"/>
    <p:sldId id="642" r:id="rId155"/>
    <p:sldId id="270" r:id="rId15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CD72E-033D-E57C-0733-EA705B89A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054438E-E719-4455-8746-E08623F15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870BA-43BF-98C4-8AFC-C6C7AAB002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640858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B6786535-9477-067F-3C18-C383D2359A7F}"/>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C43D572C-C802-7F0E-4A01-4EDB723239D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8CDB1FB-3D18-A0C5-9B25-98B0DC2D2C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39123569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6.ppm"/><Relationship Id="rId5" Type="http://schemas.openxmlformats.org/officeDocument/2006/relationships/image" Target="../media/image35.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8.jpg"/><Relationship Id="rId4" Type="http://schemas.openxmlformats.org/officeDocument/2006/relationships/image" Target="../media/image37.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54.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1.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2.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3.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4.gif"/></Relationships>
</file>

<file path=ppt/slides/_rels/slide1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5.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24: SLAM, Simultaneous Localization and Mapping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How far are they in their personal project?</a:t>
            </a:r>
          </a:p>
          <a:p>
            <a:pPr marL="800100" lvl="1">
              <a:lnSpc>
                <a:spcPct val="100000"/>
              </a:lnSpc>
              <a:spcBef>
                <a:spcPts val="0"/>
              </a:spcBef>
              <a:buSzPts val="3000"/>
            </a:pPr>
            <a:r>
              <a:rPr lang="en-US" dirty="0">
                <a:latin typeface="Arial"/>
                <a:ea typeface="Arial"/>
                <a:cs typeface="Arial"/>
                <a:sym typeface="Arial"/>
              </a:rPr>
              <a:t>What has their biggest challenge been? (other than just having the time to work on it)</a:t>
            </a:r>
            <a:endParaRPr lang="en-US"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rial"/>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Clr>
                <a:srgbClr val="000000"/>
              </a:buClr>
              <a:buSzPts val="3000"/>
              <a:defRPr/>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5</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rial"/>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rial"/>
                <a:ea typeface="Arial"/>
                <a:cs typeface="Arial"/>
                <a:sym typeface="Arial"/>
              </a:rPr>
              <a:t>Localization, “where am I?” (ICP)</a:t>
            </a:r>
          </a:p>
          <a:p>
            <a:pPr marL="342900">
              <a:lnSpc>
                <a:spcPct val="100000"/>
              </a:lnSpc>
              <a:spcBef>
                <a:spcPts val="0"/>
              </a:spcBef>
              <a:buSzPts val="3000"/>
            </a:pPr>
            <a:r>
              <a:rPr lang="en-US" sz="2200" dirty="0">
                <a:latin typeface="Arial"/>
                <a:ea typeface="Arial"/>
                <a:cs typeface="Arial"/>
                <a:sym typeface="Arial"/>
              </a:rPr>
              <a:t>Mapping, from the LiDAR, generate occupancy grids</a:t>
            </a:r>
          </a:p>
          <a:p>
            <a:pPr marL="342900">
              <a:lnSpc>
                <a:spcPct val="100000"/>
              </a:lnSpc>
              <a:spcBef>
                <a:spcPts val="0"/>
              </a:spcBef>
              <a:buSzPts val="3000"/>
            </a:pPr>
            <a:r>
              <a:rPr lang="en-US" sz="2200" dirty="0">
                <a:latin typeface="Arial"/>
                <a:ea typeface="Arial"/>
                <a:cs typeface="Arial"/>
                <a:sym typeface="Arial"/>
              </a:rPr>
              <a:t>The back-end, pose graphs, factor graphs, and loop closure</a:t>
            </a:r>
          </a:p>
          <a:p>
            <a:pPr marL="342900">
              <a:lnSpc>
                <a:spcPct val="100000"/>
              </a:lnSpc>
              <a:spcBef>
                <a:spcPts val="0"/>
              </a:spcBef>
              <a:buSzPts val="3000"/>
            </a:pPr>
            <a:r>
              <a:rPr lang="en-US" sz="2200" dirty="0">
                <a:latin typeface="Arial"/>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Wheel odometry:</a:t>
            </a:r>
          </a:p>
          <a:p>
            <a:pPr marL="800100" lvl="1">
              <a:lnSpc>
                <a:spcPct val="100000"/>
              </a:lnSpc>
              <a:spcBef>
                <a:spcPts val="0"/>
              </a:spcBef>
              <a:buSzPts val="3000"/>
            </a:pPr>
            <a:r>
              <a:rPr lang="en-US" sz="1800" dirty="0">
                <a:latin typeface="Arial"/>
                <a:ea typeface="Arial"/>
                <a:cs typeface="Arial"/>
                <a:sym typeface="Arial"/>
              </a:rPr>
              <a:t>Fast, low-latency, but drifts</a:t>
            </a:r>
          </a:p>
          <a:p>
            <a:pPr marL="342900">
              <a:lnSpc>
                <a:spcPct val="100000"/>
              </a:lnSpc>
              <a:spcBef>
                <a:spcPts val="0"/>
              </a:spcBef>
              <a:buSzPts val="3000"/>
            </a:pPr>
            <a:r>
              <a:rPr lang="en-US" sz="2200" dirty="0">
                <a:latin typeface="Arial"/>
                <a:ea typeface="Arial"/>
                <a:cs typeface="Arial"/>
                <a:sym typeface="Arial"/>
              </a:rPr>
              <a:t>2D LiDAR</a:t>
            </a:r>
          </a:p>
          <a:p>
            <a:pPr marL="800100" lvl="1">
              <a:lnSpc>
                <a:spcPct val="100000"/>
              </a:lnSpc>
              <a:spcBef>
                <a:spcPts val="0"/>
              </a:spcBef>
              <a:buSzPts val="3000"/>
            </a:pPr>
            <a:r>
              <a:rPr lang="en-US" sz="1800" dirty="0">
                <a:latin typeface="Arial"/>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rial"/>
                <a:ea typeface="Arial"/>
                <a:cs typeface="Arial"/>
                <a:sym typeface="Arial"/>
              </a:rPr>
              <a:t>The Front-End:</a:t>
            </a:r>
          </a:p>
          <a:p>
            <a:pPr marL="800100" lvl="1">
              <a:lnSpc>
                <a:spcPct val="100000"/>
              </a:lnSpc>
              <a:spcBef>
                <a:spcPts val="0"/>
              </a:spcBef>
              <a:buSzPts val="3000"/>
            </a:pPr>
            <a:r>
              <a:rPr lang="en-US" sz="1800" dirty="0">
                <a:latin typeface="Arial"/>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rial"/>
                <a:ea typeface="Arial"/>
                <a:cs typeface="Arial"/>
                <a:sym typeface="Arial"/>
              </a:rPr>
              <a:t>The Back-End:</a:t>
            </a:r>
          </a:p>
          <a:p>
            <a:pPr marL="800100" lvl="1">
              <a:lnSpc>
                <a:spcPct val="100000"/>
              </a:lnSpc>
              <a:spcBef>
                <a:spcPts val="0"/>
              </a:spcBef>
              <a:buSzPts val="3000"/>
            </a:pPr>
            <a:r>
              <a:rPr lang="en-US" sz="1800" dirty="0">
                <a:latin typeface="Arial"/>
                <a:ea typeface="Arial"/>
                <a:cs typeface="Arial"/>
                <a:sym typeface="Arial"/>
              </a:rPr>
              <a:t>Optimizes the entire history when loops close (loop closure)</a:t>
            </a:r>
          </a:p>
          <a:p>
            <a:pPr marL="342900">
              <a:lnSpc>
                <a:spcPct val="100000"/>
              </a:lnSpc>
              <a:spcBef>
                <a:spcPts val="0"/>
              </a:spcBef>
              <a:buSzPts val="3000"/>
            </a:pPr>
            <a:r>
              <a:rPr lang="en-US" sz="2200" dirty="0">
                <a:latin typeface="Arial"/>
                <a:ea typeface="Arial"/>
                <a:cs typeface="Arial"/>
                <a:sym typeface="Arial"/>
              </a:rPr>
              <a:t>The Map:</a:t>
            </a:r>
          </a:p>
          <a:p>
            <a:pPr marL="800100" lvl="1">
              <a:lnSpc>
                <a:spcPct val="100000"/>
              </a:lnSpc>
              <a:spcBef>
                <a:spcPts val="0"/>
              </a:spcBef>
              <a:buSzPts val="3000"/>
            </a:pPr>
            <a:r>
              <a:rPr lang="en-US" sz="1800" dirty="0">
                <a:latin typeface="Arial"/>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Robot startup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unknown?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No map</a:t>
            </a:r>
          </a:p>
          <a:p>
            <a:pPr marL="342900">
              <a:lnSpc>
                <a:spcPct val="100000"/>
              </a:lnSpc>
              <a:spcBef>
                <a:spcPts val="0"/>
              </a:spcBef>
              <a:buSzPts val="3000"/>
            </a:pPr>
            <a:r>
              <a:rPr lang="en-US" sz="2200" dirty="0">
                <a:latin typeface="Arial"/>
                <a:ea typeface="Arial"/>
                <a:cs typeface="Arial"/>
                <a:sym typeface="Arial"/>
              </a:rPr>
              <a:t>No estimate of prior state (position)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Where am I right now? (Localization)</a:t>
            </a:r>
          </a:p>
          <a:p>
            <a:pPr marL="342900">
              <a:lnSpc>
                <a:spcPct val="100000"/>
              </a:lnSpc>
              <a:spcBef>
                <a:spcPts val="0"/>
              </a:spcBef>
              <a:buSzPts val="3000"/>
            </a:pPr>
            <a:r>
              <a:rPr lang="en-US" sz="2200" dirty="0">
                <a:latin typeface="Arial"/>
                <a:ea typeface="Arial"/>
                <a:cs typeface="Arial"/>
                <a:sym typeface="Arial"/>
              </a:rPr>
              <a:t>What does the world around me look like (Mapping)</a:t>
            </a:r>
          </a:p>
          <a:p>
            <a:pPr marL="342900">
              <a:lnSpc>
                <a:spcPct val="100000"/>
              </a:lnSpc>
              <a:spcBef>
                <a:spcPts val="0"/>
              </a:spcBef>
              <a:buSzPts val="3000"/>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localization, why not just use GPS?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rial"/>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rial"/>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rial"/>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need a map that reflects reality now!</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rial"/>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millisecond:</a:t>
            </a:r>
          </a:p>
          <a:p>
            <a:pPr marL="342900">
              <a:lnSpc>
                <a:spcPct val="100000"/>
              </a:lnSpc>
              <a:spcBef>
                <a:spcPts val="0"/>
              </a:spcBef>
              <a:buSzPts val="3000"/>
            </a:pPr>
            <a:r>
              <a:rPr lang="en-US" sz="2200" dirty="0">
                <a:latin typeface="Arial"/>
                <a:ea typeface="Arial"/>
                <a:cs typeface="Arial"/>
                <a:sym typeface="Arial"/>
              </a:rPr>
              <a:t>Estimate motion</a:t>
            </a:r>
          </a:p>
          <a:p>
            <a:pPr marL="342900">
              <a:lnSpc>
                <a:spcPct val="100000"/>
              </a:lnSpc>
              <a:spcBef>
                <a:spcPts val="0"/>
              </a:spcBef>
              <a:buSzPts val="3000"/>
            </a:pPr>
            <a:r>
              <a:rPr lang="en-US" sz="2200" dirty="0">
                <a:latin typeface="Arial"/>
                <a:ea typeface="Arial"/>
                <a:cs typeface="Arial"/>
                <a:sym typeface="Arial"/>
              </a:rPr>
              <a:t>Predict where the world should be</a:t>
            </a:r>
          </a:p>
          <a:p>
            <a:pPr marL="342900">
              <a:lnSpc>
                <a:spcPct val="100000"/>
              </a:lnSpc>
              <a:spcBef>
                <a:spcPts val="0"/>
              </a:spcBef>
              <a:buSzPts val="3000"/>
            </a:pPr>
            <a:r>
              <a:rPr lang="en-US" sz="2200" dirty="0">
                <a:latin typeface="Arial"/>
                <a:ea typeface="Arial"/>
                <a:cs typeface="Arial"/>
                <a:sym typeface="Arial"/>
              </a:rPr>
              <a:t>Refine both!</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Why do we need SLAM at 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rial"/>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rial"/>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rial"/>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What makes a good SLAM system?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rial"/>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rial"/>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rial"/>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rial"/>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Global Consistency is the hardest to solve.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hardest part of global consistency is </a:t>
            </a:r>
            <a:r>
              <a:rPr lang="en-US" sz="2200" b="1" dirty="0">
                <a:latin typeface="Arial"/>
                <a:ea typeface="Arial"/>
                <a:cs typeface="Arial"/>
                <a:sym typeface="Arial"/>
              </a:rPr>
              <a:t>Loop Closure</a:t>
            </a:r>
            <a:r>
              <a:rPr lang="en-US" sz="2200" dirty="0">
                <a:latin typeface="Arial"/>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pose that the SLAM is optimizing for,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SLAM Loop: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Read odometry: produce fast prior estimate of new pose</a:t>
            </a:r>
          </a:p>
          <a:p>
            <a:pPr marL="342900">
              <a:lnSpc>
                <a:spcPct val="150000"/>
              </a:lnSpc>
              <a:spcBef>
                <a:spcPts val="0"/>
              </a:spcBef>
              <a:buSzPts val="3000"/>
            </a:pPr>
            <a:r>
              <a:rPr lang="en-US" sz="2200" dirty="0">
                <a:latin typeface="Arial"/>
                <a:ea typeface="Arial"/>
                <a:cs typeface="Arial"/>
                <a:sym typeface="Arial"/>
              </a:rPr>
              <a:t>Read LiDAR: capture current snapshot of the world</a:t>
            </a:r>
          </a:p>
          <a:p>
            <a:pPr marL="342900">
              <a:lnSpc>
                <a:spcPct val="150000"/>
              </a:lnSpc>
              <a:spcBef>
                <a:spcPts val="0"/>
              </a:spcBef>
              <a:buSzPts val="3000"/>
            </a:pPr>
            <a:r>
              <a:rPr lang="en-US" sz="2200" dirty="0">
                <a:latin typeface="Arial"/>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rial"/>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rial"/>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Where am I?</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rial"/>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rial"/>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1D wall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is at global position 0</a:t>
                </a:r>
              </a:p>
              <a:p>
                <a:pPr marL="342900">
                  <a:lnSpc>
                    <a:spcPct val="100000"/>
                  </a:lnSpc>
                  <a:spcBef>
                    <a:spcPts val="0"/>
                  </a:spcBef>
                  <a:buSzPts val="3000"/>
                </a:pPr>
                <a:r>
                  <a:rPr lang="en-US" sz="2200" dirty="0">
                    <a:latin typeface="Arial"/>
                    <a:ea typeface="Arial"/>
                    <a:cs typeface="Arial"/>
                    <a:sym typeface="Arial"/>
                  </a:rPr>
                  <a:t>The wall is 5 meters ahead</a:t>
                </a:r>
              </a:p>
              <a:p>
                <a:pPr marL="342900">
                  <a:lnSpc>
                    <a:spcPct val="100000"/>
                  </a:lnSpc>
                  <a:spcBef>
                    <a:spcPts val="0"/>
                  </a:spcBef>
                  <a:buSzPts val="3000"/>
                </a:pPr>
                <a:r>
                  <a:rPr lang="en-US" sz="2200" dirty="0">
                    <a:latin typeface="Arial"/>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rial"/>
                    <a:ea typeface="Arial"/>
                    <a:cs typeface="Arial"/>
                    <a:sym typeface="Arial"/>
                  </a:rPr>
                  <a:t>. This is our prior scan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drives forward 2 meters.</a:t>
                </a:r>
              </a:p>
              <a:p>
                <a:pPr marL="342900">
                  <a:lnSpc>
                    <a:spcPct val="100000"/>
                  </a:lnSpc>
                  <a:spcBef>
                    <a:spcPts val="0"/>
                  </a:spcBef>
                  <a:buSzPts val="3000"/>
                </a:pPr>
                <a:r>
                  <a:rPr lang="en-US" sz="2200" dirty="0">
                    <a:latin typeface="Arial"/>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rial"/>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rial"/>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rial"/>
                    <a:ea typeface="Arial"/>
                    <a:cs typeface="Arial"/>
                    <a:sym typeface="Arial"/>
                  </a:rPr>
                  <a:t> for this 1D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rial"/>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rial"/>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rial"/>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Three Families of Localization Methods</a:t>
            </a:r>
          </a:p>
        </p:txBody>
      </p:sp>
      <p:pic>
        <p:nvPicPr>
          <p:cNvPr id="121" name="Google Shape;121;p29">
            <a:extLs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ICP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ICP stands for Iterative Closest Point: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200000"/>
                  </a:lnSpc>
                  <a:spcBef>
                    <a:spcPts val="0"/>
                  </a:spcBef>
                  <a:buSzPts val="3000"/>
                </a:pPr>
                <a:r>
                  <a:rPr lang="en-US" sz="2200" dirty="0">
                    <a:latin typeface="Arial"/>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rial"/>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best aligns the matched pairs</a:t>
                </a:r>
              </a:p>
              <a:p>
                <a:pPr marL="342900">
                  <a:lnSpc>
                    <a:spcPct val="200000"/>
                  </a:lnSpc>
                  <a:spcBef>
                    <a:spcPts val="0"/>
                  </a:spcBef>
                  <a:buSzPts val="3000"/>
                </a:pPr>
                <a:r>
                  <a:rPr lang="en-US" sz="2200" dirty="0">
                    <a:latin typeface="Arial"/>
                    <a:ea typeface="Arial"/>
                    <a:cs typeface="Arial"/>
                    <a:sym typeface="Arial"/>
                  </a:rPr>
                  <a:t>Apply: move the source cloud by that transformation</a:t>
                </a:r>
              </a:p>
              <a:p>
                <a:pPr marL="342900">
                  <a:lnSpc>
                    <a:spcPct val="200000"/>
                  </a:lnSpc>
                  <a:spcBef>
                    <a:spcPts val="0"/>
                  </a:spcBef>
                  <a:buSzPts val="3000"/>
                </a:pPr>
                <a:r>
                  <a:rPr lang="en-US" sz="2200" dirty="0">
                    <a:latin typeface="Arial"/>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starting point of the ICP methods,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rial"/>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rial"/>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a:t>
                </a:r>
                <a:r>
                  <a:rPr lang="en-US" sz="2200" b="1" dirty="0">
                    <a:latin typeface="Arial"/>
                    <a:ea typeface="Arial"/>
                    <a:cs typeface="Arial"/>
                    <a:sym typeface="Arial"/>
                  </a:rPr>
                  <a:t>closed-form</a:t>
                </a:r>
                <a:r>
                  <a:rPr lang="en-US" sz="2200" dirty="0">
                    <a:latin typeface="Arial"/>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becomes zero.</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rial"/>
                    <a:ea typeface="Arial"/>
                    <a:cs typeface="Arial"/>
                    <a:sym typeface="Arial"/>
                  </a:rPr>
                  <a:t>Expand the Quadratic</a:t>
                </a:r>
                <a:r>
                  <a:rPr lang="en-US" sz="2200" dirty="0">
                    <a:latin typeface="Arial"/>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rial"/>
                    <a:ea typeface="Arial"/>
                    <a:cs typeface="Arial"/>
                    <a:sym typeface="Arial"/>
                  </a:rPr>
                  <a:t>, we expand the error function: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Cancellation</a:t>
                </a:r>
                <a:r>
                  <a:rPr lang="en-US" sz="2200" dirty="0">
                    <a:latin typeface="Arial"/>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rial"/>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Applying the Property</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Result</a:t>
                </a:r>
                <a:r>
                  <a:rPr lang="en-US" sz="2200" dirty="0">
                    <a:latin typeface="Arial"/>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rial"/>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With the </a:t>
                </a:r>
                <a:r>
                  <a:rPr lang="en-US" sz="2200" b="1" dirty="0">
                    <a:latin typeface="Arial"/>
                    <a:ea typeface="Arial"/>
                    <a:cs typeface="Arial"/>
                    <a:sym typeface="Arial"/>
                  </a:rPr>
                  <a:t>quadratic term </a:t>
                </a:r>
                <a:r>
                  <a:rPr lang="en-US" sz="2200" dirty="0">
                    <a:latin typeface="Arial"/>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Simplify</a:t>
                </a:r>
                <a:r>
                  <a:rPr lang="en-US" sz="2200" dirty="0">
                    <a:latin typeface="Arial"/>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rial"/>
                    <a:ea typeface="Arial"/>
                    <a:cs typeface="Arial"/>
                    <a:sym typeface="Arial"/>
                  </a:rPr>
                  <a:t>The Trace Trick</a:t>
                </a:r>
                <a:r>
                  <a:rPr lang="en-US" sz="2200" dirty="0">
                    <a:solidFill>
                      <a:srgbClr val="000000"/>
                    </a:solidFill>
                    <a:latin typeface="Arial"/>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rial"/>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rial"/>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rial"/>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rial"/>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FF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B0F0"/>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rial"/>
                  <a:ea typeface="Arial"/>
                  <a:cs typeface="Arial"/>
                  <a:sym typeface="Arial"/>
                </a:endParaRPr>
              </a:p>
              <a:p>
                <a:pPr marL="800100" lvl="1">
                  <a:lnSpc>
                    <a:spcPct val="100000"/>
                  </a:lnSpc>
                  <a:spcBef>
                    <a:spcPts val="0"/>
                  </a:spcBef>
                  <a:buSzPts val="3000"/>
                </a:pPr>
                <a:r>
                  <a:rPr lang="en-US" dirty="0">
                    <a:latin typeface="Arial"/>
                    <a:ea typeface="Arial"/>
                    <a:cs typeface="Arial"/>
                    <a:sym typeface="Arial"/>
                  </a:rPr>
                  <a:t>Just check for each points between each point</a:t>
                </a:r>
              </a:p>
              <a:p>
                <a:pPr marL="342900">
                  <a:lnSpc>
                    <a:spcPct val="100000"/>
                  </a:lnSpc>
                  <a:spcBef>
                    <a:spcPts val="0"/>
                  </a:spcBef>
                  <a:buSzPts val="3000"/>
                </a:pPr>
                <a:r>
                  <a:rPr lang="en-US" sz="2400" dirty="0">
                    <a:latin typeface="Arial"/>
                    <a:ea typeface="Arial"/>
                    <a:cs typeface="Arial"/>
                    <a:sym typeface="Arial"/>
                  </a:rPr>
                  <a:t>Solution:</a:t>
                </a:r>
              </a:p>
              <a:p>
                <a:pPr marL="800100" lvl="1">
                  <a:lnSpc>
                    <a:spcPct val="100000"/>
                  </a:lnSpc>
                  <a:spcBef>
                    <a:spcPts val="0"/>
                  </a:spcBef>
                  <a:buSzPts val="3000"/>
                </a:pPr>
                <a:r>
                  <a:rPr lang="en-US" dirty="0">
                    <a:latin typeface="Arial"/>
                    <a:ea typeface="Arial"/>
                    <a:cs typeface="Arial"/>
                    <a:sym typeface="Arial"/>
                  </a:rPr>
                  <a:t>Preprocess the target cloud into a </a:t>
                </a:r>
                <a:r>
                  <a:rPr lang="en-US" b="1" dirty="0">
                    <a:latin typeface="Arial"/>
                    <a:ea typeface="Arial"/>
                    <a:cs typeface="Arial"/>
                    <a:sym typeface="Arial"/>
                  </a:rPr>
                  <a:t>k-d tree</a:t>
                </a:r>
                <a:r>
                  <a:rPr lang="en-US" dirty="0">
                    <a:latin typeface="Arial"/>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rial"/>
                    <a:ea typeface="Arial"/>
                    <a:cs typeface="Arial"/>
                    <a:sym typeface="Arial"/>
                  </a:rPr>
                  <a:t> construction time</a:t>
                </a:r>
              </a:p>
              <a:p>
                <a:pPr marL="800100" lvl="1">
                  <a:lnSpc>
                    <a:spcPct val="100000"/>
                  </a:lnSpc>
                  <a:spcBef>
                    <a:spcPts val="0"/>
                  </a:spcBef>
                  <a:buSzPts val="3000"/>
                </a:pPr>
                <a:r>
                  <a:rPr lang="en-US" dirty="0">
                    <a:latin typeface="Arial"/>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rial"/>
                    <a:ea typeface="Arial"/>
                    <a:cs typeface="Arial"/>
                    <a:sym typeface="Arial"/>
                  </a:rPr>
                  <a:t> per query! A major speedup!</a:t>
                </a:r>
              </a:p>
              <a:p>
                <a:pPr marL="800100" lvl="1">
                  <a:lnSpc>
                    <a:spcPct val="100000"/>
                  </a:lnSpc>
                  <a:spcBef>
                    <a:spcPts val="0"/>
                  </a:spcBef>
                  <a:buSzPts val="3000"/>
                </a:pPr>
                <a:r>
                  <a:rPr lang="en-US" dirty="0">
                    <a:latin typeface="Arial"/>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does the algorithm conclude?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matching a source point to a single target point, match it to the nearest target </a:t>
                </a:r>
                <a:r>
                  <a:rPr lang="en-US" sz="2000" b="1" dirty="0">
                    <a:latin typeface="Arial"/>
                    <a:ea typeface="Arial"/>
                    <a:cs typeface="Arial"/>
                    <a:sym typeface="Arial"/>
                  </a:rPr>
                  <a:t>LINE</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(perpendicular to the near wall)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Only the component of the error </a:t>
                </a:r>
                <a:r>
                  <a:rPr lang="en-US" sz="2000" b="1" dirty="0">
                    <a:latin typeface="Arial"/>
                    <a:ea typeface="Arial"/>
                    <a:cs typeface="Arial"/>
                    <a:sym typeface="Arial"/>
                  </a:rPr>
                  <a:t>PERPENDICULAR</a:t>
                </a:r>
                <a:r>
                  <a:rPr lang="en-US" sz="2000" dirty="0">
                    <a:latin typeface="Arial"/>
                    <a:ea typeface="Arial"/>
                    <a:cs typeface="Arial"/>
                    <a:sym typeface="Arial"/>
                  </a:rPr>
                  <a:t> to the wall is penalized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rial"/>
                    <a:ea typeface="Arial"/>
                    <a:cs typeface="Arial"/>
                    <a:sym typeface="Arial"/>
                  </a:rPr>
                  <a:t>onto the surface normal nᵢ</a:t>
                </a:r>
              </a:p>
              <a:p>
                <a:pPr marL="342900">
                  <a:lnSpc>
                    <a:spcPct val="100000"/>
                  </a:lnSpc>
                  <a:spcBef>
                    <a:spcPts val="0"/>
                  </a:spcBef>
                  <a:buSzPts val="3000"/>
                </a:pPr>
                <a:r>
                  <a:rPr lang="en-US" sz="2000" dirty="0">
                    <a:latin typeface="Arial"/>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do you think this generalizes in 3D?</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rial"/>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rial"/>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rial"/>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3: Point-to-Plane 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rial"/>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rial"/>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rial"/>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rial"/>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rial"/>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rial"/>
                    <a:ea typeface="Arial"/>
                    <a:cs typeface="Arial"/>
                    <a:sym typeface="Arial"/>
                  </a:rPr>
                  <a:t> - we combine them into a weighting matrix</a:t>
                </a:r>
              </a:p>
              <a:p>
                <a:pPr marL="342900">
                  <a:lnSpc>
                    <a:spcPct val="100000"/>
                  </a:lnSpc>
                  <a:spcBef>
                    <a:spcPts val="0"/>
                  </a:spcBef>
                  <a:buSzPts val="3000"/>
                </a:pPr>
                <a:r>
                  <a:rPr lang="en-US" sz="2000" dirty="0">
                    <a:latin typeface="Arial"/>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rial"/>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minimize the “</a:t>
                </a:r>
                <a:r>
                  <a:rPr lang="en-US" sz="2000" dirty="0" err="1">
                    <a:latin typeface="Arial"/>
                    <a:ea typeface="Arial"/>
                    <a:cs typeface="Arial"/>
                    <a:sym typeface="Arial"/>
                  </a:rPr>
                  <a:t>Mahalanobis</a:t>
                </a:r>
                <a:r>
                  <a:rPr lang="en-US" sz="2000" dirty="0">
                    <a:latin typeface="Arial"/>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Throw away points, keep distributions!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rial"/>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Step 1</a:t>
            </a:r>
            <a:r>
              <a:rPr lang="en-US" sz="2000" dirty="0">
                <a:latin typeface="Arial"/>
                <a:ea typeface="Arial"/>
                <a:cs typeface="Arial"/>
                <a:sym typeface="Arial"/>
              </a:rPr>
              <a:t>: divide the target map into a regular 2D grid of voxels</a:t>
            </a:r>
          </a:p>
          <a:p>
            <a:pPr marL="342900">
              <a:lnSpc>
                <a:spcPct val="100000"/>
              </a:lnSpc>
              <a:spcBef>
                <a:spcPts val="0"/>
              </a:spcBef>
              <a:buSzPts val="3000"/>
            </a:pPr>
            <a:r>
              <a:rPr lang="en-US" sz="2000" b="1" dirty="0">
                <a:latin typeface="Arial"/>
                <a:ea typeface="Arial"/>
                <a:cs typeface="Arial"/>
                <a:sym typeface="Arial"/>
              </a:rPr>
              <a:t>Step 2</a:t>
            </a:r>
            <a:r>
              <a:rPr lang="en-US" sz="2000" dirty="0">
                <a:latin typeface="Arial"/>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rial"/>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rial"/>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that maximizes this score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Advantage: no neighbor search. </a:t>
                </a:r>
              </a:p>
              <a:p>
                <a:pPr marL="0" indent="0">
                  <a:lnSpc>
                    <a:spcPct val="100000"/>
                  </a:lnSpc>
                  <a:spcBef>
                    <a:spcPts val="0"/>
                  </a:spcBef>
                  <a:buSzPts val="3000"/>
                  <a:buNone/>
                </a:pPr>
                <a:r>
                  <a:rPr lang="en-US" sz="2000" dirty="0">
                    <a:latin typeface="Arial"/>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Cartographer (2D indoor) uses ICP-style. </a:t>
            </a:r>
            <a:r>
              <a:rPr lang="en-US" sz="2000" dirty="0" err="1">
                <a:latin typeface="Arial"/>
                <a:ea typeface="Arial"/>
                <a:cs typeface="Arial"/>
                <a:sym typeface="Arial"/>
              </a:rPr>
              <a:t>Autoware</a:t>
            </a:r>
            <a:r>
              <a:rPr lang="en-US" sz="2000" dirty="0">
                <a:latin typeface="Arial"/>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NDT vs ICP - when to use which</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rial"/>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rial"/>
                <a:ea typeface="Arial"/>
                <a:cs typeface="Arial"/>
                <a:sym typeface="Arial"/>
              </a:rPr>
              <a:t>perceptual aliasing, unknown rotation / translation</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Large initial guess errors (&gt;30°)</a:t>
            </a:r>
          </a:p>
          <a:p>
            <a:pPr marL="342900">
              <a:lnSpc>
                <a:spcPct val="100000"/>
              </a:lnSpc>
              <a:spcBef>
                <a:spcPts val="0"/>
              </a:spcBef>
              <a:buSzPts val="3000"/>
            </a:pPr>
            <a:r>
              <a:rPr lang="en-US" sz="2000" dirty="0">
                <a:latin typeface="Arial"/>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Dynamic environments with moving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Glass, mirrors, and retroreflectors</a:t>
            </a:r>
          </a:p>
          <a:p>
            <a:pPr marL="342900">
              <a:lnSpc>
                <a:spcPct val="100000"/>
              </a:lnSpc>
              <a:spcBef>
                <a:spcPts val="0"/>
              </a:spcBef>
              <a:buSzPts val="3000"/>
            </a:pPr>
            <a:r>
              <a:rPr lang="en-US" sz="2000" dirty="0">
                <a:latin typeface="Arial"/>
                <a:ea typeface="Arial"/>
                <a:cs typeface="Arial"/>
                <a:sym typeface="Arial"/>
              </a:rPr>
              <a:t>The LiDAR returns the wrong values</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 Family Failure Modes - What Still Breaks</a:t>
            </a:r>
          </a:p>
        </p:txBody>
      </p:sp>
      <p:pic>
        <p:nvPicPr>
          <p:cNvPr id="121" name="Google Shape;121;p29">
            <a:extLs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Monte Carlo estimates</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ICP commits to a </a:t>
            </a:r>
            <a:r>
              <a:rPr lang="en-US" sz="2000" b="1" dirty="0">
                <a:latin typeface="Arial"/>
                <a:ea typeface="Arial"/>
                <a:cs typeface="Arial"/>
                <a:sym typeface="Arial"/>
              </a:rPr>
              <a:t>single</a:t>
            </a:r>
            <a:r>
              <a:rPr lang="en-US" sz="2000" dirty="0">
                <a:latin typeface="Arial"/>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Real scenarios demand multiple simultaneous hypotheses</a:t>
            </a:r>
            <a:endParaRPr lang="en-US" sz="2000" dirty="0">
              <a:latin typeface="Arial"/>
              <a:ea typeface="Arial"/>
              <a:cs typeface="Arial"/>
              <a:sym typeface="Arial"/>
            </a:endParaRP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Given that corridors / floors look similar, a robot could be in Aisle 3 or Aisle 5 or on floor 1 vs floor 2, </a:t>
            </a:r>
            <a:r>
              <a:rPr lang="en-US" sz="2000" dirty="0" err="1">
                <a:latin typeface="Arial"/>
                <a:ea typeface="Arial"/>
                <a:cs typeface="Arial"/>
                <a:sym typeface="Arial"/>
              </a:rPr>
              <a:t>etc</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where the </a:t>
            </a:r>
            <a:r>
              <a:rPr lang="en-US" sz="2000" b="1" dirty="0">
                <a:latin typeface="Arial"/>
                <a:ea typeface="Arial"/>
                <a:cs typeface="Arial"/>
                <a:sym typeface="Arial"/>
              </a:rPr>
              <a:t>Monte Carlo Localization</a:t>
            </a:r>
            <a:r>
              <a:rPr lang="en-US" sz="2000" dirty="0">
                <a:latin typeface="Arial"/>
                <a:ea typeface="Arial"/>
                <a:cs typeface="Arial"/>
                <a:sym typeface="Arial"/>
              </a:rPr>
              <a:t>, also known as the </a:t>
            </a:r>
            <a:r>
              <a:rPr lang="en-US" sz="2000" b="1" dirty="0">
                <a:latin typeface="Arial"/>
                <a:ea typeface="Arial"/>
                <a:cs typeface="Arial"/>
                <a:sym typeface="Arial"/>
              </a:rPr>
              <a:t>Particle Filter</a:t>
            </a:r>
            <a:r>
              <a:rPr lang="en-US" sz="20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Why Deterministic ICP Isn’t Always Enough</a:t>
            </a:r>
          </a:p>
        </p:txBody>
      </p:sp>
      <p:pic>
        <p:nvPicPr>
          <p:cNvPr id="121" name="Google Shape;121;p29">
            <a:extLs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problem?</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The Prediction</a:t>
                </a:r>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rial"/>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rial"/>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The Correction</a:t>
                </a:r>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Instead of doing an integration we can </a:t>
            </a:r>
            <a:r>
              <a:rPr lang="en-US" sz="2000" b="1" dirty="0">
                <a:latin typeface="Arial"/>
                <a:ea typeface="Arial"/>
                <a:cs typeface="Arial"/>
                <a:sym typeface="Arial"/>
              </a:rPr>
              <a:t>sample </a:t>
            </a:r>
            <a:r>
              <a:rPr lang="en-US" sz="2000" dirty="0">
                <a:latin typeface="Arial"/>
                <a:ea typeface="Arial"/>
                <a:cs typeface="Arial"/>
                <a:sym typeface="Arial"/>
              </a:rPr>
              <a:t>the world!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disperse around the world a “particle”.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rial"/>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rial"/>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rial"/>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Monte Carlo Localization – The Idea</a:t>
            </a:r>
          </a:p>
        </p:txBody>
      </p:sp>
      <p:pic>
        <p:nvPicPr>
          <p:cNvPr id="121" name="Google Shape;121;p29">
            <a:extLs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rial"/>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rial"/>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rial"/>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Advantages</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rial"/>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rial"/>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Disadvantages</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rial"/>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rial"/>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rial"/>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The World</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200000"/>
                  </a:lnSpc>
                  <a:spcBef>
                    <a:spcPts val="0"/>
                  </a:spcBef>
                  <a:buSzPts val="3000"/>
                </a:pPr>
                <a:r>
                  <a:rPr lang="en-US" sz="2000" dirty="0">
                    <a:latin typeface="Arial"/>
                    <a:ea typeface="Arial"/>
                    <a:cs typeface="Arial"/>
                    <a:sym typeface="Arial"/>
                  </a:rPr>
                  <a:t>The model must survive sensor noise (</a:t>
                </a:r>
                <a:r>
                  <a:rPr lang="en-US" sz="2000" b="1" dirty="0">
                    <a:latin typeface="Arial"/>
                    <a:ea typeface="Arial"/>
                    <a:cs typeface="Arial"/>
                    <a:sym typeface="Arial"/>
                  </a:rPr>
                  <a:t>robust</a:t>
                </a:r>
                <a:r>
                  <a:rPr lang="en-US" sz="2000" dirty="0">
                    <a:latin typeface="Arial"/>
                    <a:ea typeface="Arial"/>
                    <a:cs typeface="Arial"/>
                    <a:sym typeface="Arial"/>
                  </a:rPr>
                  <a:t>) (one bad beam shouldn't create a wall)</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a:latin typeface="Arial"/>
                    <a:ea typeface="Arial"/>
                    <a:cs typeface="Arial"/>
                    <a:sym typeface="Arial"/>
                  </a:rPr>
                  <a:t>updatable</a:t>
                </a:r>
                <a:r>
                  <a:rPr lang="en-US" sz="2000" dirty="0">
                    <a:latin typeface="Arial"/>
                    <a:ea typeface="Arial"/>
                    <a:cs typeface="Arial"/>
                    <a:sym typeface="Arial"/>
                  </a:rPr>
                  <a:t> (new information should </a:t>
                </a:r>
                <a:r>
                  <a:rPr lang="en-US" sz="2000" b="1" dirty="0">
                    <a:latin typeface="Arial"/>
                    <a:ea typeface="Arial"/>
                    <a:cs typeface="Arial"/>
                    <a:sym typeface="Arial"/>
                  </a:rPr>
                  <a:t>refine</a:t>
                </a:r>
                <a:r>
                  <a:rPr lang="en-US" sz="2000" dirty="0">
                    <a:latin typeface="Arial"/>
                    <a:ea typeface="Arial"/>
                    <a:cs typeface="Arial"/>
                    <a:sym typeface="Arial"/>
                  </a:rPr>
                  <a:t>, not overwrite, old beliefs)</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a:latin typeface="Arial"/>
                    <a:ea typeface="Arial"/>
                    <a:cs typeface="Arial"/>
                    <a:sym typeface="Arial"/>
                  </a:rPr>
                  <a:t>compact</a:t>
                </a:r>
                <a:r>
                  <a:rPr lang="en-US" sz="2000" dirty="0">
                    <a:latin typeface="Arial"/>
                    <a:ea typeface="Arial"/>
                    <a:cs typeface="Arial"/>
                    <a:sym typeface="Arial"/>
                  </a:rPr>
                  <a:t> (we cannot afford to keep every raw scan in RAM forever)</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err="1">
                    <a:latin typeface="Arial"/>
                    <a:ea typeface="Arial"/>
                    <a:cs typeface="Arial"/>
                    <a:sym typeface="Arial"/>
                  </a:rPr>
                  <a:t>queryable</a:t>
                </a:r>
                <a:r>
                  <a:rPr lang="en-US" sz="2000" dirty="0">
                    <a:latin typeface="Arial"/>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The World</a:t>
            </a:r>
          </a:p>
        </p:txBody>
      </p:sp>
      <p:pic>
        <p:nvPicPr>
          <p:cNvPr id="121" name="Google Shape;121;p29">
            <a:extLs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P(mᵢ) = 0 → free. </a:t>
            </a:r>
          </a:p>
          <a:p>
            <a:pPr marL="342900">
              <a:lnSpc>
                <a:spcPct val="100000"/>
              </a:lnSpc>
              <a:spcBef>
                <a:spcPts val="0"/>
              </a:spcBef>
              <a:buSzPts val="3000"/>
            </a:pPr>
            <a:r>
              <a:rPr lang="en-US" sz="2000" dirty="0">
                <a:latin typeface="Arial"/>
                <a:ea typeface="Arial"/>
                <a:cs typeface="Arial"/>
                <a:sym typeface="Arial"/>
              </a:rPr>
              <a:t>P(mᵢ) = 1 → wall. </a:t>
            </a:r>
          </a:p>
          <a:p>
            <a:pPr marL="342900">
              <a:lnSpc>
                <a:spcPct val="100000"/>
              </a:lnSpc>
              <a:spcBef>
                <a:spcPts val="0"/>
              </a:spcBef>
              <a:buSzPts val="3000"/>
            </a:pPr>
            <a:r>
              <a:rPr lang="en-US" sz="2000" dirty="0">
                <a:latin typeface="Arial"/>
                <a:ea typeface="Arial"/>
                <a:cs typeface="Arial"/>
                <a:sym typeface="Arial"/>
              </a:rPr>
              <a:t>P(mᵢ) = 0.5 → unknown, never observed.</a:t>
            </a:r>
          </a:p>
          <a:p>
            <a:pPr marL="342900">
              <a:lnSpc>
                <a:spcPct val="100000"/>
              </a:lnSpc>
              <a:spcBef>
                <a:spcPts val="0"/>
              </a:spcBef>
              <a:buSzPts val="3000"/>
            </a:pPr>
            <a:endParaRPr lang="en-US" sz="2000" dirty="0">
              <a:latin typeface="Arial"/>
              <a:ea typeface="Arial"/>
              <a:cs typeface="Arial"/>
              <a:sym typeface="Arial"/>
            </a:endParaRP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Occupancy Grid Maps (OGM)</a:t>
            </a:r>
          </a:p>
        </p:txBody>
      </p:sp>
      <p:pic>
        <p:nvPicPr>
          <p:cNvPr id="121" name="Google Shape;121;p29">
            <a:extLs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5900" y="2291179"/>
            <a:ext cx="4468812"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 a perfect world we would want to compute the </a:t>
                </a:r>
                <a:r>
                  <a:rPr lang="en-US" sz="2000" b="1" dirty="0">
                    <a:latin typeface="Arial"/>
                    <a:ea typeface="Arial"/>
                    <a:cs typeface="Arial"/>
                    <a:sym typeface="Arial"/>
                  </a:rPr>
                  <a:t>Full Map Posterior</a:t>
                </a:r>
                <a:r>
                  <a:rPr lang="en-US" sz="2000" dirty="0">
                    <a:latin typeface="Arial"/>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rial"/>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rial"/>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rial"/>
                    <a:ea typeface="Arial"/>
                    <a:cs typeface="Arial"/>
                    <a:sym typeface="Arial"/>
                  </a:rPr>
                  <a:t>, possible configurations for that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rial"/>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rial"/>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This is the "</a:t>
                </a:r>
                <a:r>
                  <a:rPr lang="en-US" sz="2000" b="1" dirty="0">
                    <a:latin typeface="Arial"/>
                    <a:ea typeface="Arial"/>
                    <a:cs typeface="Arial"/>
                    <a:sym typeface="Arial"/>
                  </a:rPr>
                  <a:t>Grid Assumption</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a problem with this formulation?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rial"/>
                    <a:ea typeface="Arial"/>
                    <a:cs typeface="Arial"/>
                    <a:sym typeface="Arial"/>
                  </a:rPr>
                  <a:t>, which creates numbers smaller than 10⁻¹⁵!</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rial"/>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fix this we make use of the </a:t>
                </a:r>
                <a:r>
                  <a:rPr lang="en-US" sz="2000" b="1" dirty="0">
                    <a:latin typeface="Arial"/>
                    <a:ea typeface="Arial"/>
                    <a:cs typeface="Arial"/>
                    <a:sym typeface="Arial"/>
                  </a:rPr>
                  <a:t>Log-Odds</a:t>
                </a:r>
                <a:r>
                  <a:rPr lang="en-US" sz="2000" dirty="0">
                    <a:latin typeface="Arial"/>
                    <a:ea typeface="Arial"/>
                    <a:cs typeface="Arial"/>
                    <a:sym typeface="Arial"/>
                  </a:rPr>
                  <a:t> trick!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rial"/>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Log-odds = 0 means 50% (unknown). </a:t>
                </a:r>
              </a:p>
              <a:p>
                <a:pPr marL="342900">
                  <a:lnSpc>
                    <a:spcPct val="100000"/>
                  </a:lnSpc>
                  <a:spcBef>
                    <a:spcPts val="0"/>
                  </a:spcBef>
                  <a:buSzPts val="3000"/>
                </a:pPr>
                <a:r>
                  <a:rPr lang="en-US" sz="2000" dirty="0">
                    <a:latin typeface="Arial"/>
                    <a:ea typeface="Arial"/>
                    <a:cs typeface="Arial"/>
                    <a:sym typeface="Arial"/>
                  </a:rPr>
                  <a:t>Positive means occupied. </a:t>
                </a:r>
              </a:p>
              <a:p>
                <a:pPr marL="342900">
                  <a:lnSpc>
                    <a:spcPct val="100000"/>
                  </a:lnSpc>
                  <a:spcBef>
                    <a:spcPts val="0"/>
                  </a:spcBef>
                  <a:buSzPts val="3000"/>
                </a:pPr>
                <a:r>
                  <a:rPr lang="en-US" sz="2000" dirty="0">
                    <a:latin typeface="Arial"/>
                    <a:ea typeface="Arial"/>
                    <a:cs typeface="Arial"/>
                    <a:sym typeface="Arial"/>
                  </a:rPr>
                  <a:t>Negative means free.</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Range is effectively (−∞, +∞), no underflow ever</a:t>
                </a:r>
              </a:p>
              <a:p>
                <a:pPr marL="0" indent="0">
                  <a:lnSpc>
                    <a:spcPct val="100000"/>
                  </a:lnSpc>
                  <a:spcBef>
                    <a:spcPts val="0"/>
                  </a:spcBef>
                  <a:buSzPts val="3000"/>
                  <a:buNone/>
                </a:pPr>
                <a:r>
                  <a:rPr lang="en-US" sz="2000" dirty="0">
                    <a:latin typeface="Arial"/>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 for the following situations?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rial"/>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Wait what was the Bayesian Update again?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rial"/>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rial"/>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simplify, we look at the ratio of the cell being </a:t>
                </a:r>
                <a:r>
                  <a:rPr lang="en-US" sz="2000" b="1" dirty="0">
                    <a:latin typeface="Arial"/>
                    <a:ea typeface="Arial"/>
                    <a:cs typeface="Arial"/>
                    <a:sym typeface="Arial"/>
                  </a:rPr>
                  <a:t>occupied</a:t>
                </a:r>
                <a:r>
                  <a:rPr lang="en-US" sz="2000" dirty="0">
                    <a:latin typeface="Arial"/>
                    <a:ea typeface="Arial"/>
                    <a:cs typeface="Arial"/>
                    <a:sym typeface="Arial"/>
                  </a:rPr>
                  <a:t> vs. </a:t>
                </a:r>
                <a:r>
                  <a:rPr lang="en-US" sz="2000" b="1" dirty="0">
                    <a:latin typeface="Arial"/>
                    <a:ea typeface="Arial"/>
                    <a:cs typeface="Arial"/>
                    <a:sym typeface="Arial"/>
                  </a:rPr>
                  <a:t>empty</a:t>
                </a:r>
                <a:r>
                  <a:rPr lang="en-US" sz="2000" dirty="0">
                    <a:latin typeface="Arial"/>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Notice three distinct components here: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Inverse Sensor Model</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rial"/>
                    <a:ea typeface="Arial"/>
                    <a:cs typeface="Arial"/>
                    <a:sym typeface="Arial"/>
                  </a:rPr>
                  <a:t> (What the current laser scan says).</a:t>
                </a: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Prior</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rial"/>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rial"/>
                    <a:ea typeface="Arial"/>
                    <a:cs typeface="Arial"/>
                    <a:sym typeface="Arial"/>
                  </a:rPr>
                  <a:t>, which cancels out).</a:t>
                </a: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Recursive Belief</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rial"/>
                    <a:ea typeface="Arial"/>
                    <a:cs typeface="Arial"/>
                    <a:sym typeface="Arial"/>
                  </a:rPr>
                  <a:t> (What we already knew).</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rial"/>
                    <a:ea typeface="Arial"/>
                    <a:cs typeface="Arial"/>
                    <a:sym typeface="Arial"/>
                  </a:rPr>
                  <a:t> of the </a:t>
                </a:r>
                <a:r>
                  <a:rPr lang="en-US" sz="2000" b="1" dirty="0">
                    <a:latin typeface="Arial"/>
                    <a:ea typeface="Arial"/>
                    <a:cs typeface="Arial"/>
                    <a:sym typeface="Arial"/>
                  </a:rPr>
                  <a:t>Ratio Form </a:t>
                </a:r>
                <a:r>
                  <a:rPr lang="en-US" sz="2000" dirty="0">
                    <a:latin typeface="Arial"/>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yields the exact formula:</a:t>
                </a:r>
              </a:p>
              <a:p>
                <a:pPr marL="0" indent="0">
                  <a:lnSpc>
                    <a:spcPct val="100000"/>
                  </a:lnSpc>
                  <a:spcBef>
                    <a:spcPts val="0"/>
                  </a:spcBef>
                  <a:buSzPts val="3000"/>
                  <a:buNone/>
                </a:pPr>
                <a:endParaRPr lang="en-US" sz="2000" i="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Typical values: +0.9 on hit, −0.4 per pass.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rial"/>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Rule 1</a:t>
                </a:r>
                <a:r>
                  <a:rPr lang="en-US" sz="2000" dirty="0">
                    <a:latin typeface="Arial"/>
                    <a:ea typeface="Arial"/>
                    <a:cs typeface="Arial"/>
                    <a:sym typeface="Arial"/>
                  </a:rPr>
                  <a:t>: every cell the laser beam </a:t>
                </a:r>
                <a:r>
                  <a:rPr lang="en-US" sz="2000" b="1" dirty="0">
                    <a:latin typeface="Arial"/>
                    <a:ea typeface="Arial"/>
                    <a:cs typeface="Arial"/>
                    <a:sym typeface="Arial"/>
                  </a:rPr>
                  <a:t>passed through</a:t>
                </a:r>
                <a:r>
                  <a:rPr lang="en-US" sz="2000" dirty="0">
                    <a:latin typeface="Arial"/>
                    <a:ea typeface="Arial"/>
                    <a:cs typeface="Arial"/>
                    <a:sym typeface="Arial"/>
                  </a:rPr>
                  <a:t> gets a free-space vote (</a:t>
                </a:r>
                <a:r>
                  <a:rPr lang="en-US" sz="2000" b="1" dirty="0">
                    <a:latin typeface="Arial"/>
                    <a:ea typeface="Arial"/>
                    <a:cs typeface="Arial"/>
                    <a:sym typeface="Arial"/>
                  </a:rPr>
                  <a:t>negative log-odds</a:t>
                </a:r>
                <a:r>
                  <a:rPr lang="en-US" sz="2000" dirty="0">
                    <a:latin typeface="Arial"/>
                    <a:ea typeface="Arial"/>
                    <a:cs typeface="Arial"/>
                    <a:sym typeface="Arial"/>
                  </a:rPr>
                  <a:t>)</a:t>
                </a:r>
              </a:p>
              <a:p>
                <a:pPr marL="342900">
                  <a:lnSpc>
                    <a:spcPct val="100000"/>
                  </a:lnSpc>
                  <a:spcBef>
                    <a:spcPts val="0"/>
                  </a:spcBef>
                  <a:buSzPts val="3000"/>
                </a:pPr>
                <a:r>
                  <a:rPr lang="en-US" sz="2000" b="1" dirty="0">
                    <a:latin typeface="Arial"/>
                    <a:ea typeface="Arial"/>
                    <a:cs typeface="Arial"/>
                    <a:sym typeface="Arial"/>
                  </a:rPr>
                  <a:t>Rule 2</a:t>
                </a:r>
                <a:r>
                  <a:rPr lang="en-US" sz="2000" dirty="0">
                    <a:latin typeface="Arial"/>
                    <a:ea typeface="Arial"/>
                    <a:cs typeface="Arial"/>
                    <a:sym typeface="Arial"/>
                  </a:rPr>
                  <a:t>: the cell where the beam </a:t>
                </a:r>
                <a:r>
                  <a:rPr lang="en-US" sz="2000" b="1" dirty="0">
                    <a:latin typeface="Arial"/>
                    <a:ea typeface="Arial"/>
                    <a:cs typeface="Arial"/>
                    <a:sym typeface="Arial"/>
                  </a:rPr>
                  <a:t>terminated</a:t>
                </a:r>
                <a:r>
                  <a:rPr lang="en-US" sz="2000" dirty="0">
                    <a:latin typeface="Arial"/>
                    <a:ea typeface="Arial"/>
                    <a:cs typeface="Arial"/>
                    <a:sym typeface="Arial"/>
                  </a:rPr>
                  <a:t> gets an occupied vote (</a:t>
                </a:r>
                <a:r>
                  <a:rPr lang="en-US" sz="2000" b="1" dirty="0">
                    <a:latin typeface="Arial"/>
                    <a:ea typeface="Arial"/>
                    <a:cs typeface="Arial"/>
                    <a:sym typeface="Arial"/>
                  </a:rPr>
                  <a:t>positive log-odds</a:t>
                </a:r>
                <a:r>
                  <a:rPr lang="en-US" sz="2000" dirty="0">
                    <a:latin typeface="Arial"/>
                    <a:ea typeface="Arial"/>
                    <a:cs typeface="Arial"/>
                    <a:sym typeface="Arial"/>
                  </a:rPr>
                  <a:t>)</a:t>
                </a:r>
              </a:p>
              <a:p>
                <a:pPr marL="342900">
                  <a:lnSpc>
                    <a:spcPct val="100000"/>
                  </a:lnSpc>
                  <a:spcBef>
                    <a:spcPts val="0"/>
                  </a:spcBef>
                  <a:buSzPts val="3000"/>
                </a:pPr>
                <a:r>
                  <a:rPr lang="en-US" sz="2000" b="1" dirty="0">
                    <a:latin typeface="Arial"/>
                    <a:ea typeface="Arial"/>
                    <a:cs typeface="Arial"/>
                    <a:sym typeface="Arial"/>
                  </a:rPr>
                  <a:t>Rule 3</a:t>
                </a:r>
                <a:r>
                  <a:rPr lang="en-US" sz="2000" dirty="0">
                    <a:latin typeface="Arial"/>
                    <a:ea typeface="Arial"/>
                    <a:cs typeface="Arial"/>
                    <a:sym typeface="Arial"/>
                  </a:rPr>
                  <a:t>: cells </a:t>
                </a:r>
                <a:r>
                  <a:rPr lang="en-US" sz="2000" b="1" dirty="0">
                    <a:latin typeface="Arial"/>
                    <a:ea typeface="Arial"/>
                    <a:cs typeface="Arial"/>
                    <a:sym typeface="Arial"/>
                  </a:rPr>
                  <a:t>behind</a:t>
                </a:r>
                <a:r>
                  <a:rPr lang="en-US" sz="2000" dirty="0">
                    <a:latin typeface="Arial"/>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rial"/>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rial"/>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a:t>
            </a:r>
            <a:r>
              <a:rPr lang="en-US" sz="2000" b="1" dirty="0" err="1">
                <a:latin typeface="Arial"/>
                <a:ea typeface="Arial"/>
                <a:cs typeface="Arial"/>
                <a:sym typeface="Arial"/>
              </a:rPr>
              <a:t>Bresenham's</a:t>
            </a:r>
            <a:r>
              <a:rPr lang="en-US" sz="2000" b="1" dirty="0">
                <a:latin typeface="Arial"/>
                <a:ea typeface="Arial"/>
                <a:cs typeface="Arial"/>
                <a:sym typeface="Arial"/>
              </a:rPr>
              <a:t> algorithm</a:t>
            </a:r>
            <a:r>
              <a:rPr lang="en-US" sz="2000" dirty="0">
                <a:latin typeface="Arial"/>
                <a:ea typeface="Arial"/>
                <a:cs typeface="Arial"/>
                <a:sym typeface="Arial"/>
              </a:rPr>
              <a:t>! (2D ray casing algorithm!)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rial"/>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rial"/>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Bresenham Line Algorithm for Occupancy Grid">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rial"/>
                  <a:ea typeface="Arial"/>
                  <a:cs typeface="Arial"/>
                  <a:sym typeface="Arial"/>
                </a:endParaRPr>
              </a:p>
              <a:p>
                <a:pPr marL="342900">
                  <a:lnSpc>
                    <a:spcPct val="200000"/>
                  </a:lnSpc>
                  <a:spcBef>
                    <a:spcPts val="0"/>
                  </a:spcBef>
                  <a:buSzPts val="3000"/>
                </a:pPr>
                <a:r>
                  <a:rPr lang="en-US" sz="2000" dirty="0">
                    <a:latin typeface="Arial"/>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rial"/>
                    <a:ea typeface="Arial"/>
                    <a:cs typeface="Arial"/>
                    <a:sym typeface="Arial"/>
                  </a:rPr>
                  <a:t> (becoming a wall)</a:t>
                </a:r>
              </a:p>
              <a:p>
                <a:pPr marL="342900">
                  <a:lnSpc>
                    <a:spcPct val="200000"/>
                  </a:lnSpc>
                  <a:spcBef>
                    <a:spcPts val="0"/>
                  </a:spcBef>
                  <a:buSzPts val="3000"/>
                </a:pPr>
                <a:r>
                  <a:rPr lang="en-US" sz="2000" dirty="0">
                    <a:latin typeface="Arial"/>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rial"/>
                    <a:ea typeface="Arial"/>
                    <a:cs typeface="Arial"/>
                    <a:sym typeface="Arial"/>
                  </a:rPr>
                  <a:t> (still wall, but weakening)</a:t>
                </a:r>
              </a:p>
              <a:p>
                <a:pPr marL="342900">
                  <a:lnSpc>
                    <a:spcPct val="200000"/>
                  </a:lnSpc>
                  <a:spcBef>
                    <a:spcPts val="0"/>
                  </a:spcBef>
                  <a:buSzPts val="3000"/>
                </a:pPr>
                <a:r>
                  <a:rPr lang="en-US" sz="2000" dirty="0">
                    <a:latin typeface="Arial"/>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rial"/>
                    <a:ea typeface="Arial"/>
                    <a:cs typeface="Arial"/>
                    <a:sym typeface="Arial"/>
                  </a:rPr>
                  <a:t> (the “ghost” has dissolved)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rial"/>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rial"/>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What is the problem with grid worlds?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They are very resolution dependent!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rial"/>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rial"/>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rial"/>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rial"/>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Often combined with </a:t>
            </a:r>
            <a:r>
              <a:rPr lang="en-US" sz="2000" b="1" dirty="0">
                <a:latin typeface="Arial"/>
                <a:ea typeface="Arial"/>
                <a:cs typeface="Arial"/>
                <a:sym typeface="Arial"/>
              </a:rPr>
              <a:t>voxel </a:t>
            </a:r>
            <a:r>
              <a:rPr lang="en-US" sz="2000" b="1" dirty="0" err="1">
                <a:latin typeface="Arial"/>
                <a:ea typeface="Arial"/>
                <a:cs typeface="Arial"/>
                <a:sym typeface="Arial"/>
              </a:rPr>
              <a:t>downsampling</a:t>
            </a:r>
            <a:r>
              <a:rPr lang="en-US" sz="2000" dirty="0">
                <a:latin typeface="Arial"/>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Drift</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rial"/>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map is locally correct </a:t>
            </a:r>
            <a:r>
              <a:rPr lang="en-US" sz="2000" b="1" dirty="0">
                <a:latin typeface="Arial"/>
                <a:ea typeface="Arial"/>
                <a:cs typeface="Arial"/>
                <a:sym typeface="Arial"/>
              </a:rPr>
              <a:t>everywhere</a:t>
            </a:r>
            <a:r>
              <a:rPr lang="en-US" sz="2000" dirty="0">
                <a:latin typeface="Arial"/>
                <a:ea typeface="Arial"/>
                <a:cs typeface="Arial"/>
                <a:sym typeface="Arial"/>
              </a:rPr>
              <a:t> but globally wrong</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Picture 4">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robot can </a:t>
            </a:r>
            <a:r>
              <a:rPr lang="en-US" sz="2000" b="1" dirty="0">
                <a:latin typeface="Arial"/>
                <a:ea typeface="Arial"/>
                <a:cs typeface="Arial"/>
                <a:sym typeface="Arial"/>
              </a:rPr>
              <a:t>detect</a:t>
            </a:r>
            <a:r>
              <a:rPr lang="en-US" sz="2000" dirty="0">
                <a:latin typeface="Arial"/>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immediately knows </a:t>
            </a:r>
            <a:r>
              <a:rPr lang="en-US" sz="2000" b="1" dirty="0">
                <a:latin typeface="Arial"/>
                <a:ea typeface="Arial"/>
                <a:cs typeface="Arial"/>
                <a:sym typeface="Arial"/>
              </a:rPr>
              <a:t>exactly</a:t>
            </a:r>
            <a:r>
              <a:rPr lang="en-US" sz="2000" dirty="0">
                <a:latin typeface="Arial"/>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a:t>
            </a:r>
            <a:r>
              <a:rPr lang="en-US" sz="2000" b="1" dirty="0">
                <a:latin typeface="Arial"/>
                <a:ea typeface="Arial"/>
                <a:cs typeface="Arial"/>
                <a:sym typeface="Arial"/>
              </a:rPr>
              <a:t>single most important trick </a:t>
            </a:r>
            <a:r>
              <a:rPr lang="en-US" sz="2000" dirty="0">
                <a:latin typeface="Arial"/>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The Back-End</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Modern SLAM: Front-End vs Back-End</a:t>
            </a:r>
          </a:p>
        </p:txBody>
      </p:sp>
      <p:pic>
        <p:nvPicPr>
          <p:cNvPr id="121" name="Google Shape;121;p29">
            <a:extLs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rial"/>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rial"/>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rial"/>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rial"/>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rial"/>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nodes</a:t>
            </a:r>
            <a:r>
              <a:rPr lang="en-US" sz="2000" dirty="0">
                <a:latin typeface="Arial"/>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rial"/>
                <a:ea typeface="Arial"/>
                <a:cs typeface="Arial"/>
                <a:sym typeface="Arial"/>
              </a:rPr>
              <a:t>edges</a:t>
            </a:r>
            <a:r>
              <a:rPr lang="en-US" sz="2000" dirty="0">
                <a:latin typeface="Arial"/>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rial"/>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rial"/>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Graph SLAM: From Theory to Implementation">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rial"/>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rial"/>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stores the </a:t>
            </a:r>
            <a:r>
              <a:rPr lang="en-US" sz="2000" b="1" dirty="0">
                <a:latin typeface="Arial"/>
                <a:ea typeface="Arial"/>
                <a:cs typeface="Arial"/>
                <a:sym typeface="Arial"/>
              </a:rPr>
              <a:t>expected</a:t>
            </a:r>
            <a:r>
              <a:rPr lang="en-US" sz="2000" dirty="0">
                <a:latin typeface="Arial"/>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would the sources of edge be from?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Edges come from two sources: </a:t>
            </a:r>
          </a:p>
          <a:p>
            <a:pPr marL="342900">
              <a:lnSpc>
                <a:spcPct val="100000"/>
              </a:lnSpc>
              <a:spcBef>
                <a:spcPts val="0"/>
              </a:spcBef>
              <a:buSzPts val="3000"/>
            </a:pPr>
            <a:r>
              <a:rPr lang="en-US" sz="2000" dirty="0">
                <a:latin typeface="Arial"/>
                <a:ea typeface="Arial"/>
                <a:cs typeface="Arial"/>
                <a:sym typeface="Arial"/>
              </a:rPr>
              <a:t>odometry (between consecutive nodes) and </a:t>
            </a:r>
          </a:p>
          <a:p>
            <a:pPr marL="342900">
              <a:lnSpc>
                <a:spcPct val="100000"/>
              </a:lnSpc>
              <a:spcBef>
                <a:spcPts val="0"/>
              </a:spcBef>
              <a:buSzPts val="3000"/>
            </a:pPr>
            <a:r>
              <a:rPr lang="en-US" sz="2000" dirty="0">
                <a:latin typeface="Arial"/>
                <a:ea typeface="Arial"/>
                <a:cs typeface="Arial"/>
                <a:sym typeface="Arial"/>
              </a:rPr>
              <a:t>loop-closure matches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edge also carries an </a:t>
            </a:r>
            <a:r>
              <a:rPr lang="en-US" sz="2000" b="1" dirty="0">
                <a:latin typeface="Arial"/>
                <a:ea typeface="Arial"/>
                <a:cs typeface="Arial"/>
                <a:sym typeface="Arial"/>
              </a:rPr>
              <a:t>information matrix</a:t>
            </a:r>
            <a:r>
              <a:rPr lang="en-US" sz="2000" dirty="0">
                <a:latin typeface="Arial"/>
                <a:ea typeface="Arial"/>
                <a:cs typeface="Arial"/>
                <a:sym typeface="Arial"/>
              </a:rPr>
              <a:t> - the spring stiffness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rial"/>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Pose Graph</a:t>
            </a:r>
          </a:p>
        </p:txBody>
      </p:sp>
      <p:pic>
        <p:nvPicPr>
          <p:cNvPr id="121" name="Google Shape;121;p29">
            <a:extLs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If we trust an </a:t>
            </a:r>
            <a:r>
              <a:rPr lang="en-US" sz="2000" b="1" dirty="0">
                <a:latin typeface="Arial"/>
                <a:ea typeface="Arial"/>
                <a:cs typeface="Arial"/>
                <a:sym typeface="Arial"/>
              </a:rPr>
              <a:t>edge</a:t>
            </a:r>
            <a:r>
              <a:rPr lang="en-US" sz="2000" dirty="0">
                <a:latin typeface="Arial"/>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a 3x3 matrix for 2D, 6x6 for 3D</a:t>
            </a: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does it mean for identity matrix? </a:t>
            </a:r>
          </a:p>
          <a:p>
            <a:pPr marL="0" indent="0" algn="ctr">
              <a:lnSpc>
                <a:spcPct val="100000"/>
              </a:lnSpc>
              <a:spcBef>
                <a:spcPts val="0"/>
              </a:spcBef>
              <a:buSzPts val="3000"/>
              <a:buNone/>
            </a:pPr>
            <a:r>
              <a:rPr lang="en-US" sz="2000" dirty="0">
                <a:latin typeface="Arial"/>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During optimization, each edge's contribution is </a:t>
            </a:r>
            <a:r>
              <a:rPr lang="en-US" sz="2000" b="1" dirty="0">
                <a:latin typeface="Arial"/>
                <a:ea typeface="Arial"/>
                <a:cs typeface="Arial"/>
                <a:sym typeface="Arial"/>
              </a:rPr>
              <a:t>weighted by its information </a:t>
            </a:r>
            <a:r>
              <a:rPr lang="en-US" sz="2000" dirty="0">
                <a:latin typeface="Arial"/>
                <a:ea typeface="Arial"/>
                <a:cs typeface="Arial"/>
                <a:sym typeface="Arial"/>
              </a:rPr>
              <a:t>- noisy edges contribute less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Information Matrix</a:t>
            </a:r>
          </a:p>
        </p:txBody>
      </p:sp>
      <p:pic>
        <p:nvPicPr>
          <p:cNvPr id="121" name="Google Shape;121;p29">
            <a:extLs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xmlns="">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64748B"/>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64748B"/>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(rigid spring).</a:t>
                  </a:r>
                  <a:endParaRPr lang="en-US" sz="1000" dirty="0">
                    <a:latin typeface="+mj-lt"/>
                  </a:endParaRPr>
                </a:p>
              </p:txBody>
            </p:sp>
          </mc:Choice>
          <mc:Fallback xmlns="">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rial"/>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rial"/>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rial"/>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rial"/>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Factor graphs </a:t>
            </a:r>
            <a:r>
              <a:rPr lang="en-US" sz="2000" dirty="0">
                <a:latin typeface="Arial"/>
                <a:ea typeface="Arial"/>
                <a:cs typeface="Arial"/>
                <a:sym typeface="Arial"/>
              </a:rPr>
              <a:t>have two types of nodes: </a:t>
            </a:r>
          </a:p>
          <a:p>
            <a:pPr marL="342900">
              <a:lnSpc>
                <a:spcPct val="100000"/>
              </a:lnSpc>
              <a:spcBef>
                <a:spcPts val="0"/>
              </a:spcBef>
              <a:buSzPts val="3000"/>
            </a:pPr>
            <a:r>
              <a:rPr lang="en-US" sz="2000" b="1" dirty="0">
                <a:latin typeface="Arial"/>
                <a:ea typeface="Arial"/>
                <a:cs typeface="Arial"/>
                <a:sym typeface="Arial"/>
              </a:rPr>
              <a:t>Variables</a:t>
            </a:r>
            <a:r>
              <a:rPr lang="en-US" sz="2000" dirty="0">
                <a:latin typeface="Arial"/>
                <a:ea typeface="Arial"/>
                <a:cs typeface="Arial"/>
                <a:sym typeface="Arial"/>
              </a:rPr>
              <a:t> (poses, landmarks, biases)</a:t>
            </a:r>
          </a:p>
          <a:p>
            <a:pPr marL="342900">
              <a:lnSpc>
                <a:spcPct val="100000"/>
              </a:lnSpc>
              <a:spcBef>
                <a:spcPts val="0"/>
              </a:spcBef>
              <a:buSzPts val="3000"/>
            </a:pPr>
            <a:r>
              <a:rPr lang="en-US" sz="2000" b="1" dirty="0">
                <a:latin typeface="Arial"/>
                <a:ea typeface="Arial"/>
                <a:cs typeface="Arial"/>
                <a:sym typeface="Arial"/>
              </a:rPr>
              <a:t>Factors </a:t>
            </a:r>
            <a:r>
              <a:rPr lang="en-US" sz="2000" dirty="0">
                <a:latin typeface="Arial"/>
                <a:ea typeface="Arial"/>
                <a:cs typeface="Arial"/>
                <a:sym typeface="Arial"/>
              </a:rPr>
              <a:t>(measurements)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rial"/>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error vector?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is the error between what the edge predicts and what the current layout sys.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rial"/>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rial"/>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rial"/>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rial"/>
                    <a:ea typeface="Arial"/>
                    <a:cs typeface="Arial"/>
                    <a:sym typeface="Arial"/>
                  </a:rPr>
                  <a:t> is based on my current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rial"/>
                    <a:ea typeface="Arial"/>
                    <a:cs typeface="Arial"/>
                    <a:sym typeface="Arial"/>
                  </a:rPr>
                  <a:t>Homogeneous Transformation Matrices</a:t>
                </a:r>
                <a:r>
                  <a:rPr lang="en-US" sz="2000" dirty="0">
                    <a:latin typeface="Arial"/>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is simply standard matrix multiplication.</a:t>
                </a:r>
              </a:p>
              <a:p>
                <a:pPr marL="342900">
                  <a:lnSpc>
                    <a:spcPct val="100000"/>
                  </a:lnSpc>
                  <a:spcBef>
                    <a:spcPts val="0"/>
                  </a:spcBef>
                  <a:buSzPts val="3000"/>
                </a:pPr>
                <a:r>
                  <a:rPr lang="en-US" sz="2000" b="1" dirty="0">
                    <a:latin typeface="Arial"/>
                    <a:ea typeface="Arial"/>
                    <a:cs typeface="Arial"/>
                    <a:sym typeface="Arial"/>
                  </a:rPr>
                  <a:t>Quaternions/Rotations</a:t>
                </a:r>
                <a:r>
                  <a:rPr lang="en-US" sz="2000" dirty="0">
                    <a:latin typeface="Arial"/>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rial"/>
                    <a:ea typeface="Arial"/>
                    <a:cs typeface="Arial"/>
                    <a:sym typeface="Arial"/>
                  </a:rPr>
                  <a:t>Translation + Rotation</a:t>
                </a:r>
                <a:r>
                  <a:rPr lang="en-US" sz="2000" dirty="0">
                    <a:latin typeface="Arial"/>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log is not an actual log, but maps the transformation matrix into a vector)</a:t>
                </a:r>
              </a:p>
            </p:txBody>
          </p:sp>
        </mc:Choice>
        <mc:Fallback xmlns="">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error depends on θ through </a:t>
                </a:r>
                <a14:m>
                  <m:oMath xmlns:m="http://schemas.openxmlformats.org/officeDocument/2006/math">
                    <m:func>
                      <m:funcPr>
                        <m:ctrlPr>
                          <a:rPr lang="en-US" sz="2000" b="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1"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rial"/>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rial"/>
                    <a:ea typeface="Arial"/>
                    <a:cs typeface="Arial"/>
                    <a:sym typeface="Arial"/>
                  </a:rPr>
                  <a:t> making it non-linear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rial"/>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rial"/>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rial"/>
                    <a:ea typeface="Arial"/>
                    <a:cs typeface="Arial"/>
                    <a:sym typeface="Arial"/>
                  </a:rPr>
                  <a:t>step, </a:t>
                </a:r>
              </a:p>
              <a:p>
                <a:pPr indent="-457200">
                  <a:lnSpc>
                    <a:spcPct val="100000"/>
                  </a:lnSpc>
                  <a:spcBef>
                    <a:spcPts val="0"/>
                  </a:spcBef>
                  <a:buSzPts val="3000"/>
                  <a:buFont typeface="+mj-lt"/>
                  <a:buAutoNum type="arabicPeriod"/>
                </a:pPr>
                <a:r>
                  <a:rPr lang="en-US" sz="2000" dirty="0">
                    <a:latin typeface="Arial"/>
                    <a:ea typeface="Arial"/>
                    <a:cs typeface="Arial"/>
                    <a:sym typeface="Arial"/>
                  </a:rPr>
                  <a:t>repeat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a:t>
            </a:r>
          </a:p>
        </p:txBody>
      </p:sp>
      <p:pic>
        <p:nvPicPr>
          <p:cNvPr id="121" name="Google Shape;121;p29">
            <a:extLs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Step 1. Linearizing with Taylor Expansion</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rial"/>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is the Jacobian, partial derives of the error with respect to </a:t>
                </a:r>
                <a:r>
                  <a:rPr lang="en-US" sz="2000" b="1" dirty="0">
                    <a:latin typeface="Arial"/>
                    <a:ea typeface="Arial"/>
                    <a:cs typeface="Arial"/>
                    <a:sym typeface="Arial"/>
                  </a:rPr>
                  <a:t>ALL</a:t>
                </a:r>
                <a:r>
                  <a:rPr lang="en-US" sz="2000" dirty="0">
                    <a:latin typeface="Arial"/>
                    <a:ea typeface="Arial"/>
                    <a:cs typeface="Arial"/>
                    <a:sym typeface="Arial"/>
                  </a:rPr>
                  <a:t> poses!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rial"/>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Most entries are </a:t>
            </a:r>
            <a:r>
              <a:rPr lang="en-US" sz="2000" b="1" dirty="0">
                <a:latin typeface="Arial"/>
                <a:ea typeface="Arial"/>
                <a:cs typeface="Arial"/>
                <a:sym typeface="Arial"/>
              </a:rPr>
              <a:t>ZERO </a:t>
            </a:r>
            <a:r>
              <a:rPr lang="en-US" sz="2000" dirty="0">
                <a:latin typeface="Arial"/>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Modern </a:t>
            </a:r>
            <a:r>
              <a:rPr lang="en-US" sz="2000" dirty="0" err="1">
                <a:latin typeface="Arial"/>
                <a:ea typeface="Arial"/>
                <a:cs typeface="Arial"/>
                <a:sym typeface="Arial"/>
              </a:rPr>
              <a:t>autodiff</a:t>
            </a:r>
            <a:r>
              <a:rPr lang="en-US" sz="2000" dirty="0">
                <a:latin typeface="Arial"/>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rial"/>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rial"/>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rial"/>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rial"/>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a:t>
                </a:r>
              </a:p>
            </p:txBody>
          </p:sp>
        </mc:Choice>
        <mc:Fallback xmlns="">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rial"/>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(rotation):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Translational part</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rial"/>
                  <a:ea typeface="Arial"/>
                  <a:cs typeface="Arial"/>
                  <a:sym typeface="Arial"/>
                </a:endParaRPr>
              </a:p>
              <a:p>
                <a:pPr marL="0" indent="0">
                  <a:lnSpc>
                    <a:spcPct val="100000"/>
                  </a:lnSpc>
                  <a:spcBef>
                    <a:spcPts val="0"/>
                  </a:spcBef>
                  <a:buSzPts val="3000"/>
                  <a:buNone/>
                </a:pPr>
                <a:r>
                  <a:rPr lang="en-US" sz="2000" b="1" dirty="0" err="1">
                    <a:latin typeface="Arial"/>
                    <a:ea typeface="Arial"/>
                    <a:cs typeface="Arial"/>
                    <a:sym typeface="Arial"/>
                  </a:rPr>
                  <a:t>Rotational</a:t>
                </a:r>
                <a:r>
                  <a:rPr lang="en-US" sz="2000" b="1" dirty="0">
                    <a:latin typeface="Arial"/>
                    <a:ea typeface="Arial"/>
                    <a:cs typeface="Arial"/>
                    <a:sym typeface="Arial"/>
                  </a:rPr>
                  <a:t> part</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rial"/>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rial"/>
                    <a:ea typeface="Arial"/>
                    <a:cs typeface="Arial"/>
                    <a:sym typeface="Arial"/>
                  </a:rPr>
                  <a:t>. </a:t>
                </a:r>
              </a:p>
            </p:txBody>
          </p:sp>
        </mc:Choice>
        <mc:Fallback xmlns="">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rial"/>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rial"/>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rial"/>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rial"/>
                    <a:ea typeface="Arial"/>
                    <a:cs typeface="Arial"/>
                    <a:sym typeface="Arial"/>
                  </a:rPr>
                  <a:t>)</a:t>
                </a:r>
              </a:p>
            </p:txBody>
          </p:sp>
        </mc:Choice>
        <mc:Fallback xmlns="">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rial"/>
                  <a:ea typeface="Arial"/>
                  <a:cs typeface="Arial"/>
                  <a:sym typeface="Arial"/>
                </a:endParaRP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rial"/>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rial"/>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Taylor Expansion</a:t>
            </a:r>
          </a:p>
        </p:txBody>
      </p:sp>
      <p:pic>
        <p:nvPicPr>
          <p:cNvPr id="121" name="Google Shape;121;p29">
            <a:extLs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Step 2: Gauss-Newton Normal Equations</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rial"/>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rial"/>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Calibri" pitchFamily="34" charset="0"/>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rial"/>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rial"/>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rial"/>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rial"/>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rial"/>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rial"/>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rial"/>
                  <a:ea typeface="Arial"/>
                  <a:cs typeface="Arial"/>
                  <a:sym typeface="Arial"/>
                </a:endParaRPr>
              </a:p>
              <a:p>
                <a:pPr marL="342900">
                  <a:lnSpc>
                    <a:spcPct val="100000"/>
                  </a:lnSpc>
                  <a:spcBef>
                    <a:spcPts val="0"/>
                  </a:spcBef>
                  <a:buSzPts val="3000"/>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rial"/>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Calibri" pitchFamily="34" charset="0"/>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can be near-singular</a:t>
                </a:r>
              </a:p>
              <a:p>
                <a:pPr marL="0" indent="0">
                  <a:lnSpc>
                    <a:spcPct val="100000"/>
                  </a:lnSpc>
                  <a:spcBef>
                    <a:spcPts val="0"/>
                  </a:spcBef>
                  <a:buSzPts val="3000"/>
                  <a:buNone/>
                </a:pPr>
                <a:r>
                  <a:rPr lang="en-US" sz="2000" dirty="0">
                    <a:latin typeface="Arial"/>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a:t>
                </a:r>
                <a:r>
                  <a:rPr lang="en-US" sz="2000" dirty="0">
                    <a:latin typeface="Arial"/>
                    <a:ea typeface="Arial"/>
                    <a:cs typeface="Arial"/>
                    <a:sym typeface="Arial"/>
                  </a:rPr>
                  <a:t>to the diagonal of H: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 </a:t>
                </a:r>
                <a:r>
                  <a:rPr lang="en-US" sz="2000" dirty="0">
                    <a:latin typeface="Arial"/>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rial"/>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 </a:t>
                </a:r>
                <a:r>
                  <a:rPr lang="en-US" sz="2000" dirty="0">
                    <a:latin typeface="Arial"/>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rial"/>
                    <a:ea typeface="Arial"/>
                    <a:cs typeface="Arial"/>
                    <a:sym typeface="Arial"/>
                  </a:rPr>
                  <a:t> </a:t>
                </a:r>
                <a:r>
                  <a:rPr lang="en-US" sz="2000" dirty="0">
                    <a:latin typeface="Arial"/>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rial"/>
                  <a:ea typeface="Arial"/>
                  <a:cs typeface="Arial"/>
                  <a:sym typeface="Arial"/>
                </a:endParaRPr>
              </a:p>
              <a:p>
                <a:pPr marL="0" indent="0" algn="ctr">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the problem? Think computationally.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rial"/>
                    <a:ea typeface="Arial"/>
                    <a:cs typeface="Arial"/>
                    <a:sym typeface="Arial"/>
                  </a:rPr>
                  <a:t>, is a 30,000 × 30,000 matrix - 900 million entries</a:t>
                </a:r>
              </a:p>
              <a:p>
                <a:pPr marL="0" indent="0">
                  <a:lnSpc>
                    <a:spcPct val="100000"/>
                  </a:lnSpc>
                  <a:spcBef>
                    <a:spcPts val="0"/>
                  </a:spcBef>
                  <a:buSzPts val="3000"/>
                  <a:buNone/>
                </a:pPr>
                <a:r>
                  <a:rPr lang="en-US" sz="2000" dirty="0">
                    <a:latin typeface="Arial"/>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rial"/>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is zero and is thus also sparse!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rial"/>
                    <a:ea typeface="Arial"/>
                    <a:cs typeface="Arial"/>
                    <a:sym typeface="Arial"/>
                  </a:rPr>
                  <a:t> runs in milliseconds, not minutes</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The Factor Graphs – Gauss-Newton Normal Equations  </a:t>
            </a:r>
          </a:p>
        </p:txBody>
      </p:sp>
      <p:pic>
        <p:nvPicPr>
          <p:cNvPr id="121" name="Google Shape;121;p29">
            <a:extLs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rial"/>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rial"/>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rial"/>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rial"/>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rial"/>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rial"/>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rial"/>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rial"/>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rial"/>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rial"/>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initial </a:t>
            </a:r>
            <a:r>
              <a:rPr lang="en-US" sz="2000" b="1" dirty="0">
                <a:latin typeface="Arial"/>
                <a:ea typeface="Arial"/>
                <a:cs typeface="Arial"/>
                <a:sym typeface="Arial"/>
              </a:rPr>
              <a:t>Coarse Filter</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can we do? (hint: technique used in ICP)</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Coarse Filter</a:t>
            </a:r>
          </a:p>
        </p:txBody>
      </p:sp>
      <p:pic>
        <p:nvPicPr>
          <p:cNvPr id="121" name="Google Shape;121;p29">
            <a:extLs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Voxelization</a:t>
            </a:r>
          </a:p>
        </p:txBody>
      </p:sp>
      <p:pic>
        <p:nvPicPr>
          <p:cNvPr id="121" name="Google Shape;121;p29">
            <a:extLs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For Scan-Match Scoring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rial"/>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 scan-matching, an </a:t>
            </a:r>
            <a:r>
              <a:rPr lang="en-US" sz="2000" b="1" dirty="0">
                <a:latin typeface="Arial"/>
                <a:ea typeface="Arial"/>
                <a:cs typeface="Arial"/>
                <a:sym typeface="Arial"/>
              </a:rPr>
              <a:t>inlier</a:t>
            </a:r>
            <a:r>
              <a:rPr lang="en-US" sz="2000" dirty="0">
                <a:latin typeface="Arial"/>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Conversely, an </a:t>
            </a:r>
            <a:r>
              <a:rPr lang="en-US" sz="2000" b="1" dirty="0">
                <a:latin typeface="Arial"/>
                <a:ea typeface="Arial"/>
                <a:cs typeface="Arial"/>
                <a:sym typeface="Arial"/>
              </a:rPr>
              <a:t>outlier</a:t>
            </a:r>
            <a:r>
              <a:rPr lang="en-US" sz="2000" dirty="0">
                <a:latin typeface="Arial"/>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Finally, </a:t>
            </a:r>
            <a:r>
              <a:rPr lang="en-US" sz="2000" b="1" dirty="0">
                <a:latin typeface="Arial"/>
                <a:ea typeface="Arial"/>
                <a:cs typeface="Arial"/>
                <a:sym typeface="Arial"/>
              </a:rPr>
              <a:t>valid inliers </a:t>
            </a:r>
            <a:r>
              <a:rPr lang="en-US" sz="2000" dirty="0">
                <a:latin typeface="Arial"/>
                <a:ea typeface="Arial"/>
                <a:cs typeface="Arial"/>
                <a:sym typeface="Arial"/>
              </a:rPr>
              <a:t>are the only points used to calculate the final RMSE (Root Mean Square Error) score; </a:t>
            </a:r>
            <a:r>
              <a:rPr lang="en-US" sz="2000" b="1" dirty="0">
                <a:latin typeface="Arial"/>
                <a:ea typeface="Arial"/>
                <a:cs typeface="Arial"/>
                <a:sym typeface="Arial"/>
              </a:rPr>
              <a:t>outliers</a:t>
            </a:r>
            <a:r>
              <a:rPr lang="en-US" sz="2000" dirty="0">
                <a:latin typeface="Arial"/>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calculates the </a:t>
            </a:r>
            <a:r>
              <a:rPr lang="en-US" sz="2000" b="1" dirty="0">
                <a:latin typeface="Arial"/>
                <a:ea typeface="Arial"/>
                <a:cs typeface="Arial"/>
                <a:sym typeface="Arial"/>
              </a:rPr>
              <a:t>RMSE</a:t>
            </a:r>
            <a:r>
              <a:rPr lang="en-US" sz="2000" dirty="0">
                <a:latin typeface="Arial"/>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computes the </a:t>
            </a:r>
            <a:r>
              <a:rPr lang="en-US" sz="2000" b="1" dirty="0">
                <a:latin typeface="Arial"/>
                <a:ea typeface="Arial"/>
                <a:cs typeface="Arial"/>
                <a:sym typeface="Arial"/>
              </a:rPr>
              <a:t>Inlier Ratio</a:t>
            </a:r>
            <a:r>
              <a:rPr lang="en-US" sz="2000" dirty="0">
                <a:latin typeface="Arial"/>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rial"/>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 – Scan-Match Scoring</a:t>
            </a:r>
          </a:p>
        </p:txBody>
      </p:sp>
      <p:pic>
        <p:nvPicPr>
          <p:cNvPr id="121" name="Google Shape;121;p29">
            <a:extLs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Picture 5">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minimize total energy, it distributes the correction proportionally across </a:t>
            </a:r>
            <a:r>
              <a:rPr lang="en-US" sz="2000" b="1" dirty="0">
                <a:latin typeface="Arial"/>
                <a:ea typeface="Arial"/>
                <a:cs typeface="Arial"/>
                <a:sym typeface="Arial"/>
              </a:rPr>
              <a:t>every</a:t>
            </a:r>
            <a:r>
              <a:rPr lang="en-US" sz="2000" dirty="0">
                <a:latin typeface="Arial"/>
                <a:ea typeface="Arial"/>
                <a:cs typeface="Arial"/>
                <a:sym typeface="Arial"/>
              </a:rPr>
              <a:t> pose in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170" name="Picture 2" descr="How Does a Robot Recognize Where It's Been? (Place Recognition and Loop  Closure, Intuitively) | by Anushka Gangadhar Satav | Apr, 2026 | Medium">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reason why we </a:t>
            </a:r>
            <a:r>
              <a:rPr lang="en-US" sz="2000" b="1" dirty="0">
                <a:latin typeface="Arial"/>
                <a:ea typeface="Arial"/>
                <a:cs typeface="Arial"/>
                <a:sym typeface="Arial"/>
              </a:rPr>
              <a:t>distribute the error</a:t>
            </a:r>
            <a:r>
              <a:rPr lang="en-US" sz="2000" dirty="0">
                <a:latin typeface="Arial"/>
                <a:ea typeface="Arial"/>
                <a:cs typeface="Arial"/>
                <a:sym typeface="Arial"/>
              </a:rPr>
              <a:t> to all the nodes for the loss is the following:</a:t>
            </a:r>
            <a:endParaRPr lang="en-US" sz="2000" b="1"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we dump all the correction into a single pose, every intermediate pose now has an inconsistent </a:t>
            </a:r>
            <a:r>
              <a:rPr lang="en-US" sz="2000" dirty="0" err="1">
                <a:latin typeface="Arial"/>
                <a:ea typeface="Arial"/>
                <a:cs typeface="Arial"/>
                <a:sym typeface="Arial"/>
              </a:rPr>
              <a:t>neighbourhood</a:t>
            </a:r>
            <a:r>
              <a:rPr lang="en-US" sz="2000" dirty="0">
                <a:latin typeface="Arial"/>
                <a:ea typeface="Arial"/>
                <a:cs typeface="Arial"/>
                <a:sym typeface="Arial"/>
              </a:rPr>
              <a:t> ( everything has shifted by a huge amount).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218" name="Picture 2" descr="Graph-based SLAM | Fan Yang">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Scaling</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problem is that when, the graph optimizer snaps the trajectory ( through loop closure), ALL prior </a:t>
            </a:r>
            <a:r>
              <a:rPr lang="en-US" sz="2000" dirty="0" err="1">
                <a:latin typeface="Arial"/>
                <a:ea typeface="Arial"/>
                <a:cs typeface="Arial"/>
                <a:sym typeface="Arial"/>
              </a:rPr>
              <a:t>raycasts</a:t>
            </a:r>
            <a:r>
              <a:rPr lang="en-US" sz="2000" dirty="0">
                <a:latin typeface="Arial"/>
                <a:ea typeface="Arial"/>
                <a:cs typeface="Arial"/>
                <a:sym typeface="Arial"/>
              </a:rPr>
              <a:t> become misaligned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Scaling</a:t>
            </a:r>
          </a:p>
        </p:txBody>
      </p:sp>
      <p:pic>
        <p:nvPicPr>
          <p:cNvPr id="121" name="Google Shape;121;p29">
            <a:extLs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the robot crosses the edge of the current submap, it </a:t>
            </a:r>
            <a:r>
              <a:rPr lang="en-US" sz="2000" b="1" dirty="0">
                <a:latin typeface="Arial"/>
                <a:ea typeface="Arial"/>
                <a:cs typeface="Arial"/>
                <a:sym typeface="Arial"/>
              </a:rPr>
              <a:t>freezes</a:t>
            </a:r>
            <a:r>
              <a:rPr lang="en-US" sz="2000" dirty="0">
                <a:latin typeface="Arial"/>
                <a:ea typeface="Arial"/>
                <a:cs typeface="Arial"/>
                <a:sym typeface="Arial"/>
              </a:rPr>
              <a:t> it and starts a new one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Critically: each submap is </a:t>
            </a:r>
            <a:r>
              <a:rPr lang="en-US" sz="2000" b="1" dirty="0">
                <a:latin typeface="Arial"/>
                <a:ea typeface="Arial"/>
                <a:cs typeface="Arial"/>
                <a:sym typeface="Arial"/>
              </a:rPr>
              <a:t>anchored to a node</a:t>
            </a:r>
            <a:r>
              <a:rPr lang="en-US" sz="2000" dirty="0">
                <a:latin typeface="Arial"/>
                <a:ea typeface="Arial"/>
                <a:cs typeface="Arial"/>
                <a:sym typeface="Arial"/>
              </a:rPr>
              <a:t> in the pose graph</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Each submap is a </a:t>
            </a:r>
            <a:r>
              <a:rPr lang="en-US" sz="2000" b="1" dirty="0">
                <a:latin typeface="Arial"/>
                <a:ea typeface="Arial"/>
                <a:cs typeface="Arial"/>
                <a:sym typeface="Arial"/>
              </a:rPr>
              <a:t>rigid</a:t>
            </a:r>
            <a:r>
              <a:rPr lang="en-US" sz="2000" dirty="0">
                <a:latin typeface="Arial"/>
                <a:ea typeface="Arial"/>
                <a:cs typeface="Arial"/>
                <a:sym typeface="Arial"/>
              </a:rPr>
              <a:t> object pinned to one pose node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the pose graph optimizer moves that node, the </a:t>
            </a:r>
            <a:r>
              <a:rPr lang="en-US" sz="2000" b="1" dirty="0">
                <a:latin typeface="Arial"/>
                <a:ea typeface="Arial"/>
                <a:cs typeface="Arial"/>
                <a:sym typeface="Arial"/>
              </a:rPr>
              <a:t>ENTIRE</a:t>
            </a:r>
            <a:r>
              <a:rPr lang="en-US" sz="2000" dirty="0">
                <a:latin typeface="Arial"/>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 </a:t>
            </a:r>
            <a:r>
              <a:rPr lang="en-US" sz="2000" dirty="0" err="1">
                <a:latin typeface="Arial"/>
                <a:ea typeface="Arial"/>
                <a:cs typeface="Arial"/>
                <a:sym typeface="Arial"/>
              </a:rPr>
              <a:t>raycasts</a:t>
            </a:r>
            <a:r>
              <a:rPr lang="en-US" sz="2000" dirty="0">
                <a:latin typeface="Arial"/>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9F4966-3AD2-014F-12D8-5EAC378612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768EE8-D70F-EE4A-4BD4-44F9782FD056}"/>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When the user (or planner) requests the current global map the system fetches every submap + its anchored pose from the optimized graph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Transforms each submap into the world frame using the current node pose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Blends overlapping cells by taking maximum occupancy (or averaging probabilities)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Result: a fresh, geometrically-consistent global map, rebuilt in milliseconds</a:t>
            </a:r>
          </a:p>
        </p:txBody>
      </p:sp>
      <p:sp>
        <p:nvSpPr>
          <p:cNvPr id="119" name="Google Shape;119;p29">
            <a:extLst>
              <a:ext uri="{FF2B5EF4-FFF2-40B4-BE49-F238E27FC236}">
                <a16:creationId xmlns:a16="http://schemas.microsoft.com/office/drawing/2014/main" id="{C7D8C335-2FC5-33FB-1A1F-7BE0C3388A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9E0FD4-E550-7012-4CD7-9A0929C249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4B6E97E1-7F07-4E3B-C6F3-89AE4B4312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F6B002A-82B4-7C3A-2A8B-B294D1717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DEA39B-6F38-D038-8CCA-DDA7B1EE4A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FD6C6A-C3BB-DB49-F2DF-D0E72C1D9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47DC6B-75F2-C4D7-C9CF-C22325B7D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84CE65-D679-BFD8-9559-0E844AE7EA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228533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Detecting Loop Closure</a:t>
            </a:r>
          </a:p>
        </p:txBody>
      </p:sp>
      <p:pic>
        <p:nvPicPr>
          <p:cNvPr id="121" name="Google Shape;121;p29">
            <a:extLs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Ouster OS-1 lidar and Google Cartographer Integration - Wil Selby">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66AC53DD-4E0B-26D3-C341-EA214CC859BD}"/>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1370FB6F-999B-A6A6-E3D7-B8C7DA00F13A}"/>
              </a:ext>
            </a:extLst>
          </p:cNvPr>
          <p:cNvSpPr txBox="1"/>
          <p:nvPr/>
        </p:nvSpPr>
        <p:spPr>
          <a:xfrm>
            <a:off x="376808" y="815143"/>
            <a:ext cx="11452009" cy="522771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Thank you everyone for this fantastic semester!</a:t>
            </a:r>
          </a:p>
          <a:p>
            <a:pPr lvl="0" algn="ctr"/>
            <a:endParaRPr lang="en-US" sz="6600" b="1" dirty="0">
              <a:solidFill>
                <a:schemeClr val="lt1"/>
              </a:solidFill>
            </a:endParaRPr>
          </a:p>
          <a:p>
            <a:pPr lvl="0" algn="ctr"/>
            <a:r>
              <a:rPr lang="en-US" sz="6600" b="1" dirty="0">
                <a:solidFill>
                  <a:schemeClr val="lt1"/>
                </a:solidFill>
              </a:rPr>
              <a:t>Best of luck on the final project!! </a:t>
            </a:r>
            <a:r>
              <a:rPr lang="en-US" sz="6600" b="1">
                <a:solidFill>
                  <a:schemeClr val="lt1"/>
                </a:solidFill>
              </a:rPr>
              <a:t>🫡</a:t>
            </a:r>
            <a:endParaRPr lang="en-US" sz="5400" b="1" dirty="0">
              <a:solidFill>
                <a:schemeClr val="lt1"/>
              </a:solidFill>
            </a:endParaRPr>
          </a:p>
        </p:txBody>
      </p:sp>
      <p:pic>
        <p:nvPicPr>
          <p:cNvPr id="265" name="Google Shape;265;p37">
            <a:extLst>
              <a:ext uri="{FF2B5EF4-FFF2-40B4-BE49-F238E27FC236}">
                <a16:creationId xmlns:a16="http://schemas.microsoft.com/office/drawing/2014/main" id="{1044369A-BA5A-6B34-AA48-0C64E5A2EF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828C4D35-AB3B-D209-D2CE-7817BEBB0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88EBA76-6938-2DE9-54FE-BC9208EDB1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D47F4635-A832-9F00-174A-67F49588B004}"/>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81E8368C-8FB6-4279-F973-EE8199751FD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7DFFE618-54C4-7D0E-D85A-D473FD2BB79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96309327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1650</TotalTime>
  <Words>11770</Words>
  <Application>Microsoft Office PowerPoint</Application>
  <PresentationFormat>Widescreen</PresentationFormat>
  <Paragraphs>1657</Paragraphs>
  <Slides>155</Slides>
  <Notes>155</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155</vt:i4>
      </vt:variant>
    </vt:vector>
  </HeadingPairs>
  <TitlesOfParts>
    <vt:vector size="16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664</cp:revision>
  <dcterms:created xsi:type="dcterms:W3CDTF">2019-01-14T22:06:33Z</dcterms:created>
  <dcterms:modified xsi:type="dcterms:W3CDTF">2026-05-06T10:58:54Z</dcterms:modified>
</cp:coreProperties>
</file>