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9"/>
  </p:notesMasterIdLst>
  <p:sldIdLst>
    <p:sldId id="256" r:id="rId2"/>
    <p:sldId id="417" r:id="rId3"/>
    <p:sldId id="413" r:id="rId4"/>
    <p:sldId id="272" r:id="rId5"/>
    <p:sldId id="490" r:id="rId6"/>
    <p:sldId id="491" r:id="rId7"/>
    <p:sldId id="504" r:id="rId8"/>
    <p:sldId id="493" r:id="rId9"/>
    <p:sldId id="494" r:id="rId10"/>
    <p:sldId id="495" r:id="rId11"/>
    <p:sldId id="496" r:id="rId12"/>
    <p:sldId id="497" r:id="rId13"/>
    <p:sldId id="498" r:id="rId14"/>
    <p:sldId id="499" r:id="rId15"/>
    <p:sldId id="500" r:id="rId16"/>
    <p:sldId id="501" r:id="rId17"/>
    <p:sldId id="502" r:id="rId18"/>
    <p:sldId id="503" r:id="rId19"/>
    <p:sldId id="448" r:id="rId20"/>
    <p:sldId id="505" r:id="rId21"/>
    <p:sldId id="506" r:id="rId22"/>
    <p:sldId id="507" r:id="rId23"/>
    <p:sldId id="509" r:id="rId24"/>
    <p:sldId id="508" r:id="rId25"/>
    <p:sldId id="510" r:id="rId26"/>
    <p:sldId id="511" r:id="rId27"/>
    <p:sldId id="512" r:id="rId28"/>
    <p:sldId id="513" r:id="rId29"/>
    <p:sldId id="514" r:id="rId30"/>
    <p:sldId id="515" r:id="rId31"/>
    <p:sldId id="516" r:id="rId32"/>
    <p:sldId id="525" r:id="rId33"/>
    <p:sldId id="517" r:id="rId34"/>
    <p:sldId id="520" r:id="rId35"/>
    <p:sldId id="519" r:id="rId36"/>
    <p:sldId id="521" r:id="rId37"/>
    <p:sldId id="522" r:id="rId38"/>
    <p:sldId id="523" r:id="rId39"/>
    <p:sldId id="524" r:id="rId40"/>
    <p:sldId id="518" r:id="rId41"/>
    <p:sldId id="526" r:id="rId42"/>
    <p:sldId id="527" r:id="rId43"/>
    <p:sldId id="528" r:id="rId44"/>
    <p:sldId id="529" r:id="rId45"/>
    <p:sldId id="530" r:id="rId46"/>
    <p:sldId id="531" r:id="rId47"/>
    <p:sldId id="532" r:id="rId48"/>
    <p:sldId id="533" r:id="rId49"/>
    <p:sldId id="534" r:id="rId50"/>
    <p:sldId id="535" r:id="rId51"/>
    <p:sldId id="536" r:id="rId52"/>
    <p:sldId id="537" r:id="rId53"/>
    <p:sldId id="538" r:id="rId54"/>
    <p:sldId id="539" r:id="rId55"/>
    <p:sldId id="540" r:id="rId56"/>
    <p:sldId id="541" r:id="rId57"/>
    <p:sldId id="542" r:id="rId58"/>
    <p:sldId id="545" r:id="rId59"/>
    <p:sldId id="546" r:id="rId60"/>
    <p:sldId id="547" r:id="rId61"/>
    <p:sldId id="548" r:id="rId62"/>
    <p:sldId id="549" r:id="rId63"/>
    <p:sldId id="543" r:id="rId64"/>
    <p:sldId id="550" r:id="rId65"/>
    <p:sldId id="551" r:id="rId66"/>
    <p:sldId id="271" r:id="rId67"/>
    <p:sldId id="270" r:id="rId68"/>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0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3294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50" d="100"/>
          <a:sy n="150" d="100"/>
        </p:scale>
        <p:origin x="654" y="1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presProps" Target="presProps.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110"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customschemas.google.com/relationships/presentationmetadata" Target="meta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E7E3B5-49B9-1887-BB3D-532FE9FF85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5B324B9-F340-1116-1318-88A50BDE8BC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993868-158A-56AF-D3A1-6FFF7658AE6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2540543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004519-0EAD-FA0D-DE7A-BBED69225C0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9E58F23-9AF7-DB67-E863-18BBB13641E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C79A737-144F-41FB-6FD9-A9EBE11C950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77191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F9ED5EC-765E-DDD7-332B-8A00B0540F9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154540A-10BF-B029-D910-A380E44E1A0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65677FB-0014-3040-C794-160B4CD86AA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40253816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7775F6B-CE92-7D76-29DC-9332AC216B3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8C68E78-8FB9-D179-E67F-8BC1A11681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AF400A-C3AA-286D-B44E-E7661705A5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598892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1DB8CD-CCC3-3A06-A22B-BD6B890F48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4E36DF-6192-8DCC-19BC-E6AE3E99483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5125E41-DD09-9DB9-3A77-807156511B0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7958220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BA97959B-636F-5C4B-5E5A-D07721A1A3D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6845E92-E64E-EA32-32F5-0EFABC79CAE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B49D3F8-7FD8-986D-661A-0D92EC6259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93370781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A0B213-FE4A-2238-5A85-94EF74759EA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434ABA4-F021-A783-B3C7-C269EB4F29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A499193-6FC3-ED10-BCFA-E839E224EF2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5898473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4CE519-4969-4FF8-F623-F29D7DC3353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891BC59-E70D-29F0-70F2-39AB3FD1673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218C2E-AEFD-9BC7-BF7F-826177334B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0788382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D25046-CA84-D8D8-70B1-8C765FB5B9A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47AACE-F312-1FC0-70D9-63C3AB22C1D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DAFA1D-2B0E-ABAA-81D3-DA5069BBF96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444504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4252218-79DB-6584-B0A7-0432111A988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9129514-A96F-FE09-1457-01B14A6CB72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0EA40D-477D-6923-70EC-8E618F1484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77919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38904C1-1E09-9D51-92CB-8020E8F32C5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03396-424C-2915-29D8-E47F24CD1DA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4F06D8-9D4F-85E7-0C19-40008CBD9C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92263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95A0524-AF7F-4230-4568-4722F99884C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E756D4B-1394-A30A-8543-3212A26BDE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68CBC4-214E-53FD-7609-AE131161E0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191206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BED1C3-CE37-0EFF-5EB4-E4070B7D13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04F8A5-CE2A-899C-B989-783BACD747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7F30AEA-AA9B-38D4-E019-180549B098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919275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C47FD34-7F0E-2FC3-788E-22097A74D8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6ED5DA1-F744-825D-834D-7A3800EBD1D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019EE58-B914-FCD0-917F-1EF5B0B116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0204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B0B47ED-387B-B1B9-1F89-07BE5D55D82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42CD893-2D34-2E5E-A7BC-E4DBDAC041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02B993-D21E-7974-E5E0-0C3AE6741E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21890330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39936E-7A8B-07EE-F46C-97E6996BEE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049A0B-D369-1F14-FF15-73A7DE3F3D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C935B2-F837-1A8D-F907-2E4DEA0EED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29158103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DBD518-ED97-9618-7C7F-7913C5F8FC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4E6985-F1BF-7DB3-F584-BBD954B6FA7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86C997-A80F-44E4-92DB-BED12B0B39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353642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92387BB5-959C-E478-3DAD-4D83499245BE}"/>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600C003-0471-BBF4-154A-4FFB21E8B6B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B1C2EF8-7E9F-D5BE-130C-783EC11C60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399285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F8E61F2-BD1D-AD62-E214-F0C3250E8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D562E57-C915-9CC6-03F3-51817AE313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5B81430-C93B-91DC-336D-883839C6CF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4507857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F82566-68DA-C442-B38E-BED4E04E8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57D3C95-8AFA-6D5E-1669-BCC4F32E1F1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3393AB3-B3DF-AEE9-D9F1-7C019120134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652214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5E6374-746D-10C1-E8D9-63F71796BD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C62AD8-840E-52E4-37D0-7FF2B00E10B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EDC62A-7940-7037-45D6-954BC708BF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6553516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355669-EB16-0D1A-A57C-16F2667EE4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69D2F24-657B-1DAA-450C-0122225BCE9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273792-0E94-F5DE-A1C8-1140D379521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9563299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6BDCC3B-782B-7862-56F5-DACDF7D3B5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737731-AAAC-3813-057C-1C654264E07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DFA6CE-ED13-FE7B-2167-B9D59492641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189798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61A084-E9EC-2754-E2AE-A42B4D3D36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2BBD9B1-B16E-4243-0D27-E5C73EEE0E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E05557-8266-BFF3-60F2-8C848DAE21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0890665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CC88B523-41FD-B9A3-2E38-E37CA90ADE0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771FFF6-73B3-07A6-5A76-C6E77043982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11B482F-AD19-A0DE-A369-43B187F733D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78469694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55C159-2F27-0E84-FC20-B0ADA2997DB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49BB84A-54A5-BA95-40EC-8148B351BD6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8EEBD5-24A3-CCC9-83C0-4CD8C6167A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6895588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25EA8C-8B0A-8186-F974-7A6CB5F9BE7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2D7F00-B86A-0F70-7E23-87255B814B1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F9A4D6B-E66C-793A-1E31-6AFAF3EAB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042157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7539E70-7DC1-63AB-E2C0-9E34114D88C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FBD8C7-C472-7BE3-8461-10E962CBD4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59E0EA-1B2C-B356-F1EF-E67CDCA1DF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7087879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DFD48A-C901-CFBA-20C6-8157C67E06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D45D09-9B0E-0F8A-C91B-2F9DFE299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721FBAB-D490-2972-1936-720E4F255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403216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0B769F-D7DA-19BD-1597-DAC3FEDE37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B2F9F79-DE1C-9FBB-2661-0EB2D371B91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B239D3-2E44-22D7-5CFA-578429B6C6C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001457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32626CE-7521-ECF7-0A26-885144CF68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742070F-6669-6B56-39C8-531D9001DA4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B41526-943B-36BC-9AF8-D08DD4ADF2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7760010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95026F-9C15-E3DA-9165-F280126ADD3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8F6A77-7198-6E75-3560-7EE6286066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D9472B9-D46E-FB09-BF18-EEE8B876C9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6112718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A3506B-2C83-725E-DC8E-70DF5441C6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05F423-988D-36E9-854B-15EA5D548A3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9111F6-AEBC-92BB-7B69-0C94D967E72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51122763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1D1D44-919A-710C-92F7-EBC5494938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E7721BC-C952-5A53-2E42-628994552B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839807A-A68D-942E-C4B8-16858FC6E6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08697148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F04D433-3B87-FC9A-F8B8-B0B3EC8A18F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F031B43-D83F-8D8B-0D7A-2D0DBCE452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438C143-E5EE-0D4E-C818-B7A8CB0DF73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3110780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336F1A-6E89-CCFD-EC34-CC27F5E271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DABE72-C7DA-9585-C98E-D9B4FAC204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4E7693-A9FF-37A2-95DE-02AA0EA4BA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9555426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69D5FA-A72E-6827-15FD-57E6116592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C8B3BBF-D3EF-238C-905C-79050BA2FE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E39FFB-A19A-DFA5-C1F7-27E1F61B39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0882466"/>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2C721F-7AF9-969C-F455-0CF86C5EC75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0F71400-74C2-CFF2-EA11-FDE667BF482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512BD29-DDA0-3951-F650-B0029B0703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41285819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EE62010-A1E5-99FE-109D-CCACAA705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1AFC9C-803D-C324-E11E-AD9727E90E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76E856-537F-207A-3DE5-35D8B7F19A4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9525046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782878-7FFD-F45A-C7A5-107FC41585A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2F6684-1C99-3979-FC0A-F722100475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3ABEAAC-F713-7E15-D5AF-052632D34D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494170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FF627FE-B07B-1129-A9C1-2E7AF65AEAF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1A13A7-62E2-5AC6-344C-9400057A6F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260781E-1BF1-324E-7C47-3EC96DE50F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6029353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C7D19C-CC68-7518-6504-3271B440209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2D2415A-885E-1426-6EE8-A57F09E130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107BE08-4A8E-900F-F71B-0033BEA6CE1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7768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779595-936C-D346-A014-DA6886360A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B913018-0614-508B-911C-0A86CD29C6F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C5785-C90B-9198-08C3-3460E85351F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6420426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BEFD835-0BF4-606D-CA93-C63A870DFBA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8B7B25-8167-92F8-3C46-34F3B040921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7994944-0C8C-7BB1-1D01-B6A79E3685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13227868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0CE889C-A7BB-03AB-FBC1-0FA185C535A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53BF8F0-C611-3A4A-3BC3-E7FD64E3E77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CB2F0A-B105-CF97-8BA9-A1782E2DAD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74470156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486E9F9-BD7C-27AD-76CC-B17C73BEC29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5902D5-0B54-3E87-20CE-2BE1BE14230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0CBA19-1B5D-4C1F-A97B-81AE72742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9168554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1427534-DFFD-538A-5EC2-6D44900267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BD75BB-4130-43F9-0292-489E71C5FD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D88D8C-DA6D-B1D5-B6F5-18139F30923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08650913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BCC78F0-A3D3-D1FE-D645-8804FD11EF6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B33F3E7-2340-DDB0-B31B-983732630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1B1B1B-A736-00A3-A8EC-7FA48638409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66750708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95EF9BA-8FAA-33A2-C7B9-BAA5B8DEAB0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084EEF-F14E-C525-B694-2F6E3CA7751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70A3986-7730-1F3B-FD4B-AE3CBB9B2B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43289848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0745AB0-B20D-FD80-F7FB-C98EC5F6790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8FADE9-F9E3-623F-4295-3B6FD22B46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8F0DE3A-A209-59C4-8F35-F724C0C1069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116747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B69666-A0D0-D832-4110-F4AAC623C5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B99A5C4-E918-D3DB-7358-FAE81B7A1F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B1FF5D8-C375-A4CB-B48C-A529303543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5305803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D9E9C2-2856-F995-BE74-265A1E1A94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73DD0A-B72B-1951-14B6-9A97A7C7C9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AF74A69-89D6-9C0B-BE99-D30BA77A10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603366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6C1BBB3-452B-1BE8-EF0F-A79FF3A2E3E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7533A07-0675-F3DC-60E6-88721780FF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5A31A3-868D-F870-E2C4-B64FB33B03B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29976476"/>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618D92A-B26C-FA05-9660-87C478ED46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F8C282-DF5C-E971-D016-AF8322C380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F8A1F35-1BF6-4185-BB49-33F07EECD4F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98654032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0BA9FCD-D2A4-C43C-936C-7731FA2F98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3FA7F6B-4C18-4272-E09A-E061DBD0D2B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176EF2F-2D9B-6DAD-97AE-F8AEEE3E399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860328417"/>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A8704E0-CB78-725C-95BE-C1CEA28975D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D52CF3-C888-8986-9968-65E4237EA6D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9321D8D-8FEB-9881-66BB-1F5BD8CCD8A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739984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EC1F833-ADAA-8362-3907-5F388650B54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24ACD5-7146-B841-E77E-AC626A4149D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B5353D2-0367-3BD7-AFB3-9A24C03A59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74029002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52AF54-323F-2567-3F3F-F9FB85D9FBE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1F47B69-0DC1-CB6E-AEFC-141B720D5F3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4B4752-EA83-4852-E8DD-375A30B2033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84716937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691EAB3-FB32-86DC-86D7-2A7C5482CD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70F5EC-EB2A-1EE4-3CCC-EC5A077D5E4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D9D269-91A0-8551-0F98-4405AB9363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7327273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6028594-DE1D-287B-13F5-6934087E7A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6D90A5-CF35-4AA4-81DC-B398AF16672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7AF8FB-DC8C-5898-7483-7CE2C358EE4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55126827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6C67749-6B32-61C5-AEA0-0322A6DCA9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4436246-6698-B11A-2CCB-465F1A2F5F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B8D328-86ED-022E-DA5F-2B59F684B3E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1288205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648954E-9114-C4A5-9116-C6BE7920438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F57043-5D29-9D11-744B-8C507A22B86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27A3E6-D9DA-2FA7-F9D9-21FF4DCE104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87183570"/>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A54368-69BA-1200-7500-16D4BAD5FD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6B9C85-F539-3BFC-DEDD-A121927B54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7B0007E-156D-1A2A-1D05-4F4577C52D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81936482"/>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049A4048-2ADB-9B52-7708-951C0BBFE22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69558EF-EE16-15CE-C5F5-87D910C7FB9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CFF00BF2-E49A-BE50-81BF-783C6568843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555942580"/>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88882365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txBody>
          <a:bodyPr/>
          <a:lstStyle/>
          <a:p>
            <a:endParaRPr lang="en-US"/>
          </a:p>
        </p:txBody>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marius-juston.github.io/SE-423---Class-Material/Homeworks/HW5.pdf"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5.svg"/></Relationships>
</file>

<file path=ppt/slides/_rels/slide1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svg"/></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8.svg"/><Relationship Id="rId4" Type="http://schemas.openxmlformats.org/officeDocument/2006/relationships/image" Target="../media/image25.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9.svg"/></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28.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11.sv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8.xml.rels><?xml version="1.0" encoding="UTF-8" standalone="yes"?>
<Relationships xmlns="http://schemas.openxmlformats.org/package/2006/relationships"><Relationship Id="rId3" Type="http://schemas.openxmlformats.org/officeDocument/2006/relationships/notesSlide" Target="../notesSlides/notesSlide48.xml"/><Relationship Id="rId2" Type="http://schemas.openxmlformats.org/officeDocument/2006/relationships/slideLayout" Target="../slideLayouts/slideLayout2.xml"/><Relationship Id="rId1" Type="http://schemas.openxmlformats.org/officeDocument/2006/relationships/video" Target="https://www.youtube.com/embed/qsXhYjrJSG4?feature=oembed" TargetMode="External"/><Relationship Id="rId5" Type="http://schemas.openxmlformats.org/officeDocument/2006/relationships/image" Target="../media/image15.jpeg"/><Relationship Id="rId4" Type="http://schemas.openxmlformats.org/officeDocument/2006/relationships/image" Target="../media/image3.png"/></Relationships>
</file>

<file path=ppt/slides/_rels/slide4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17.svg"/><Relationship Id="rId4" Type="http://schemas.openxmlformats.org/officeDocument/2006/relationships/image" Target="../media/image16.sv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9.svg"/></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4" Type="http://schemas.openxmlformats.org/officeDocument/2006/relationships/image" Target="../media/image28.sv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47.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30.sv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7.xml.rels><?xml version="1.0" encoding="UTF-8" standalone="yes"?>
<Relationships xmlns="http://schemas.openxmlformats.org/package/2006/relationships"><Relationship Id="rId3" Type="http://schemas.openxmlformats.org/officeDocument/2006/relationships/image" Target="../media/image31.jpg"/><Relationship Id="rId2" Type="http://schemas.openxmlformats.org/officeDocument/2006/relationships/notesSlide" Target="../notesSlides/notesSlide67.xml"/><Relationship Id="rId1" Type="http://schemas.openxmlformats.org/officeDocument/2006/relationships/slideLayout" Target="../slideLayouts/slideLayout1.xml"/><Relationship Id="rId4" Type="http://schemas.openxmlformats.org/officeDocument/2006/relationships/image" Target="../media/image3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24: SLAM, Simultaneous Localization and Mapping</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April </a:t>
            </a:r>
            <a:r>
              <a:rPr lang="en-US" sz="1800" dirty="0">
                <a:solidFill>
                  <a:schemeClr val="lt1"/>
                </a:solidFill>
              </a:rPr>
              <a:t>20</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87707C-0AB4-57C3-5639-B4BEF438938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7EA1A55-2BAC-C6A5-ABC3-168138F62B6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400" dirty="0">
                <a:solidFill>
                  <a:schemeClr val="dk1"/>
                </a:solidFill>
                <a:latin typeface="Arial"/>
                <a:ea typeface="Arial"/>
                <a:cs typeface="Arial"/>
                <a:sym typeface="Arial"/>
              </a:rPr>
              <a:t>Talk to the person next to you and answer these questions.</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dirty="0">
                <a:solidFill>
                  <a:schemeClr val="dk1"/>
                </a:solidFill>
                <a:latin typeface="Arial"/>
                <a:ea typeface="Arial"/>
                <a:cs typeface="Arial"/>
                <a:sym typeface="Arial"/>
              </a:rPr>
              <a:t>How far are they in their personal project?</a:t>
            </a:r>
          </a:p>
          <a:p>
            <a:pPr marL="800100" lvl="1">
              <a:lnSpc>
                <a:spcPct val="100000"/>
              </a:lnSpc>
              <a:spcBef>
                <a:spcPts val="0"/>
              </a:spcBef>
              <a:buSzPts val="3000"/>
            </a:pPr>
            <a:r>
              <a:rPr lang="en-US" dirty="0">
                <a:latin typeface="Arial"/>
                <a:ea typeface="Arial"/>
                <a:cs typeface="Arial"/>
                <a:sym typeface="Arial"/>
              </a:rPr>
              <a:t>What has their biggest challenge been? (other than just having the time to work on it)</a:t>
            </a:r>
            <a:endParaRPr lang="en-US" dirty="0">
              <a:solidFill>
                <a:schemeClr val="dk1"/>
              </a:solidFill>
              <a:latin typeface="Arial"/>
              <a:ea typeface="Arial"/>
              <a:cs typeface="Arial"/>
              <a:sym typeface="Arial"/>
            </a:endParaRPr>
          </a:p>
          <a:p>
            <a:pPr marL="342900">
              <a:lnSpc>
                <a:spcPct val="100000"/>
              </a:lnSpc>
              <a:spcBef>
                <a:spcPts val="0"/>
              </a:spcBef>
              <a:buSzPts val="3000"/>
            </a:pPr>
            <a:r>
              <a:rPr lang="en-US" sz="2400" dirty="0">
                <a:latin typeface="Arial"/>
                <a:ea typeface="Arial"/>
                <a:cs typeface="Arial"/>
                <a:sym typeface="Arial"/>
              </a:rPr>
              <a:t>What is their plan for the final project?</a:t>
            </a:r>
          </a:p>
          <a:p>
            <a:pPr marL="800100" lvl="1">
              <a:lnSpc>
                <a:spcPct val="100000"/>
              </a:lnSpc>
              <a:spcBef>
                <a:spcPts val="0"/>
              </a:spcBef>
              <a:buSzPts val="3000"/>
            </a:pPr>
            <a:r>
              <a:rPr lang="en-US" dirty="0">
                <a:solidFill>
                  <a:schemeClr val="dk1"/>
                </a:solidFill>
                <a:latin typeface="Arial"/>
                <a:ea typeface="Arial"/>
                <a:cs typeface="Arial"/>
                <a:sym typeface="Arial"/>
              </a:rPr>
              <a:t>If you are talking to someone in the same group, talk to another group!</a:t>
            </a:r>
          </a:p>
          <a:p>
            <a:pPr marL="285750" indent="-285750">
              <a:lnSpc>
                <a:spcPct val="100000"/>
              </a:lnSpc>
              <a:spcBef>
                <a:spcPts val="0"/>
              </a:spcBef>
              <a:buSzPts val="3000"/>
            </a:pPr>
            <a:endParaRPr lang="en-US" sz="2400" dirty="0">
              <a:latin typeface="Arial"/>
              <a:ea typeface="Arial"/>
              <a:cs typeface="Arial"/>
              <a:sym typeface="Arial"/>
            </a:endParaRPr>
          </a:p>
          <a:p>
            <a:pPr marL="285750" indent="-285750">
              <a:lnSpc>
                <a:spcPct val="100000"/>
              </a:lnSpc>
              <a:spcBef>
                <a:spcPts val="0"/>
              </a:spcBef>
              <a:buSzPts val="3000"/>
            </a:pPr>
            <a:endParaRPr sz="24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AADDCC56-907C-FD39-6E34-87042D08FA2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941C760-8B23-A46D-5C4A-981290CB9EB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Review – 5-minute partner discussion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1984774-B7FA-53FC-ECBE-3FFBD377F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52648EA-0120-942E-FA7D-98B9C25F4F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87DBB9-03BE-10E2-9B63-400A9675CE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B542CF-2028-95AA-CCEF-91A8D02AD17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3141631-F3ED-2759-4D92-932A85BC40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4D9BF8E-CB10-CAD2-7648-4939A5B564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70208083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5841FD-D14E-77AC-760B-C98E4D88C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3B12240-FBE7-C432-98A9-C2883C24C71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Finishing Lab 7 this week. This a 2-week lab! This is the final lab! Afterwards you will just be working on your final project in your teams.</a:t>
            </a: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Clr>
                <a:srgbClr val="000000"/>
              </a:buClr>
              <a:buSzPts val="3000"/>
              <a:defRPr/>
            </a:pPr>
            <a:r>
              <a:rPr lang="en-US" sz="1800" dirty="0">
                <a:latin typeface="Arial"/>
                <a:ea typeface="Arial"/>
                <a:cs typeface="Arial"/>
                <a:sym typeface="Arial"/>
              </a:rPr>
              <a:t>Remainder of </a:t>
            </a:r>
            <a:r>
              <a:rPr lang="en-US" sz="1800" dirty="0">
                <a:latin typeface="Arial"/>
                <a:ea typeface="Arial"/>
                <a:cs typeface="Arial"/>
                <a:sym typeface="Arial"/>
                <a:hlinkClick r:id="rId3"/>
              </a:rPr>
              <a:t>homework 5</a:t>
            </a:r>
            <a:r>
              <a:rPr lang="en-US" sz="1800" dirty="0">
                <a:latin typeface="Arial"/>
                <a:ea typeface="Arial"/>
                <a:cs typeface="Arial"/>
                <a:sym typeface="Arial"/>
              </a:rPr>
              <a:t> due on </a:t>
            </a:r>
            <a:r>
              <a:rPr lang="en-US" sz="1800" dirty="0" err="1">
                <a:latin typeface="Arial"/>
                <a:ea typeface="Arial"/>
                <a:cs typeface="Arial"/>
                <a:sym typeface="Arial"/>
              </a:rPr>
              <a:t>Gradescope</a:t>
            </a:r>
            <a:r>
              <a:rPr lang="en-US" sz="1800" dirty="0">
                <a:latin typeface="Arial"/>
                <a:ea typeface="Arial"/>
                <a:cs typeface="Arial"/>
                <a:sym typeface="Arial"/>
              </a:rPr>
              <a:t> on </a:t>
            </a:r>
            <a:r>
              <a:rPr lang="en-US" sz="1800" b="1" dirty="0">
                <a:latin typeface="Arial"/>
                <a:ea typeface="Arial"/>
                <a:cs typeface="Arial"/>
                <a:sym typeface="Arial"/>
              </a:rPr>
              <a:t>April 21, 5PM</a:t>
            </a:r>
            <a:endParaRPr kumimoji="0" lang="en-US" sz="1800" b="0" i="0" u="none" strike="noStrike" kern="0" cap="none" spc="0" normalizeH="0" baseline="0" noProof="0" dirty="0">
              <a:ln>
                <a:noFill/>
              </a:ln>
              <a:solidFill>
                <a:srgbClr val="000000"/>
              </a:solidFill>
              <a:effectLst/>
              <a:uLnTx/>
              <a:uFillTx/>
              <a:latin typeface="Arial"/>
              <a:ea typeface="Arial"/>
              <a:cs typeface="Arial"/>
              <a:sym typeface="Arial"/>
            </a:endParaRPr>
          </a:p>
          <a:p>
            <a:pPr marL="285750" marR="0" lvl="0" indent="-285750" algn="l" defTabSz="914400" rtl="0" eaLnBrk="1" fontAlgn="auto" latinLnBrk="0" hangingPunct="1">
              <a:lnSpc>
                <a:spcPct val="100000"/>
              </a:lnSpc>
              <a:spcBef>
                <a:spcPts val="0"/>
              </a:spcBef>
              <a:spcAft>
                <a:spcPts val="0"/>
              </a:spcAft>
              <a:buClr>
                <a:srgbClr val="000000"/>
              </a:buClr>
              <a:buSzPts val="3000"/>
              <a:buFont typeface="Arial"/>
              <a:buChar char="•"/>
              <a:tabLst/>
              <a:defRPr/>
            </a:pP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Next homework is primarily the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personal project </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due on </a:t>
            </a:r>
            <a:r>
              <a:rPr kumimoji="0" lang="en-US" sz="1800" b="1" i="0" u="none" strike="noStrike" kern="0" cap="none" spc="0" normalizeH="0" baseline="0" noProof="0" dirty="0">
                <a:ln>
                  <a:noFill/>
                </a:ln>
                <a:solidFill>
                  <a:srgbClr val="000000"/>
                </a:solidFill>
                <a:effectLst/>
                <a:uLnTx/>
                <a:uFillTx/>
                <a:latin typeface="Arial"/>
                <a:ea typeface="Arial"/>
                <a:cs typeface="Arial"/>
                <a:sym typeface="Arial"/>
              </a:rPr>
              <a:t>April 22, 9AM</a:t>
            </a:r>
            <a:r>
              <a:rPr kumimoji="0" lang="en-US" sz="1800" b="0" i="0" u="none" strike="noStrike" kern="0" cap="none" spc="0" normalizeH="0" baseline="0" noProof="0" dirty="0">
                <a:ln>
                  <a:noFill/>
                </a:ln>
                <a:solidFill>
                  <a:srgbClr val="000000"/>
                </a:solidFill>
                <a:effectLst/>
                <a:uLnTx/>
                <a:uFillTx/>
                <a:latin typeface="Arial"/>
                <a:ea typeface="Arial"/>
                <a:cs typeface="Arial"/>
                <a:sym typeface="Arial"/>
              </a:rPr>
              <a:t>.</a:t>
            </a:r>
          </a:p>
        </p:txBody>
      </p:sp>
      <p:sp>
        <p:nvSpPr>
          <p:cNvPr id="119" name="Google Shape;119;p29">
            <a:extLst>
              <a:ext uri="{FF2B5EF4-FFF2-40B4-BE49-F238E27FC236}">
                <a16:creationId xmlns:a16="http://schemas.microsoft.com/office/drawing/2014/main" id="{28F4DC60-5615-4235-EF8F-749635053A2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341C0B-3353-6FAC-59B6-1BC184B1DEE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5A7A3C5-2C94-DFDE-B6CE-1AA71BB909D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1F53DB-DB9B-6876-2739-ED5A2DD2AF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56C000-32C7-7004-5110-9F4CDD9B502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CD0378D-0FED-2133-BE9C-D95394C460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170382-A03B-CBAF-126E-BC0414D20E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8B4CC3-ADE6-376F-FF48-9094A8F0ECD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328129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AF3B574-1FB7-47D8-7C3B-2D8B80C1B71E}"/>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18C368B-FE2D-5B17-BE43-7465482AEBFA}"/>
              </a:ext>
            </a:extLst>
          </p:cNvPr>
          <p:cNvGrpSpPr/>
          <p:nvPr/>
        </p:nvGrpSpPr>
        <p:grpSpPr>
          <a:xfrm>
            <a:off x="1441528" y="2296815"/>
            <a:ext cx="9308941" cy="2264370"/>
            <a:chOff x="1441528" y="1491040"/>
            <a:chExt cx="9308941" cy="2264370"/>
          </a:xfrm>
        </p:grpSpPr>
        <p:sp>
          <p:nvSpPr>
            <p:cNvPr id="89" name="Google Shape;89;p27">
              <a:extLst>
                <a:ext uri="{FF2B5EF4-FFF2-40B4-BE49-F238E27FC236}">
                  <a16:creationId xmlns:a16="http://schemas.microsoft.com/office/drawing/2014/main" id="{BCBC3FB6-47F6-7775-CB52-E1D0141B8A3F}"/>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a:extLst>
                <a:ext uri="{FF2B5EF4-FFF2-40B4-BE49-F238E27FC236}">
                  <a16:creationId xmlns:a16="http://schemas.microsoft.com/office/drawing/2014/main" id="{D56A7593-AC73-7040-DB5D-E69F313BBDE7}"/>
                </a:ext>
              </a:extLst>
            </p:cNvPr>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a:t>
              </a:r>
              <a:endParaRPr sz="1800" b="0" i="0" u="none" strike="noStrike" cap="none" dirty="0">
                <a:solidFill>
                  <a:schemeClr val="lt1"/>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BFE751B6-CF4D-273E-D560-6B4D883779F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7768501-64BD-D022-44D2-3CA620B502C6}"/>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19915C55-6271-9B95-62A4-D901C77AA9D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6534BB9-415B-75C5-14DF-605417B1EA0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8493C96-336F-E402-218B-5C13C8F047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33C3076B-D3BE-042B-369B-996B00F03F2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886A22C-18CA-ADCE-8A13-5D51F5F174D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F5546652-0DF2-2B1B-5CB6-25C023D4F23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306566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1AEB17-F730-C197-F2E1-5FE0C31448D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742882-1466-02A4-B5CB-8CC2CFD2331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are a couple of steps to understand SLAM, these will be split into 5 parts focused on 2D LiDAR SLAM (since that is the most important one for our robot):</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The robot turning on, in a completely unknown environment. Why is this hard?</a:t>
            </a:r>
          </a:p>
          <a:p>
            <a:pPr marL="342900">
              <a:lnSpc>
                <a:spcPct val="100000"/>
              </a:lnSpc>
              <a:spcBef>
                <a:spcPts val="0"/>
              </a:spcBef>
              <a:buSzPts val="3000"/>
            </a:pPr>
            <a:r>
              <a:rPr lang="en-US" sz="2200" dirty="0">
                <a:latin typeface="Arial"/>
                <a:ea typeface="Arial"/>
                <a:cs typeface="Arial"/>
                <a:sym typeface="Arial"/>
              </a:rPr>
              <a:t>Localization, “where am I?” (ICP)</a:t>
            </a:r>
          </a:p>
          <a:p>
            <a:pPr marL="342900">
              <a:lnSpc>
                <a:spcPct val="100000"/>
              </a:lnSpc>
              <a:spcBef>
                <a:spcPts val="0"/>
              </a:spcBef>
              <a:buSzPts val="3000"/>
            </a:pPr>
            <a:r>
              <a:rPr lang="en-US" sz="2200" dirty="0">
                <a:latin typeface="Arial"/>
                <a:ea typeface="Arial"/>
                <a:cs typeface="Arial"/>
                <a:sym typeface="Arial"/>
              </a:rPr>
              <a:t>Mapping, from the LiDAR, generate occupancy grids</a:t>
            </a:r>
          </a:p>
          <a:p>
            <a:pPr marL="342900">
              <a:lnSpc>
                <a:spcPct val="100000"/>
              </a:lnSpc>
              <a:spcBef>
                <a:spcPts val="0"/>
              </a:spcBef>
              <a:buSzPts val="3000"/>
            </a:pPr>
            <a:r>
              <a:rPr lang="en-US" sz="2200" dirty="0">
                <a:latin typeface="Arial"/>
                <a:ea typeface="Arial"/>
                <a:cs typeface="Arial"/>
                <a:sym typeface="Arial"/>
              </a:rPr>
              <a:t>The back-end, pose graphs, factor graphs, and loop closure</a:t>
            </a:r>
          </a:p>
          <a:p>
            <a:pPr marL="342900">
              <a:lnSpc>
                <a:spcPct val="100000"/>
              </a:lnSpc>
              <a:spcBef>
                <a:spcPts val="0"/>
              </a:spcBef>
              <a:buSzPts val="3000"/>
            </a:pPr>
            <a:r>
              <a:rPr lang="en-US" sz="2200" dirty="0">
                <a:latin typeface="Arial"/>
                <a:ea typeface="Arial"/>
                <a:cs typeface="Arial"/>
                <a:sym typeface="Arial"/>
              </a:rPr>
              <a:t>Real world situations, dynamic obstacles, ghost obstacles, robust SLAM</a:t>
            </a:r>
          </a:p>
        </p:txBody>
      </p:sp>
      <p:sp>
        <p:nvSpPr>
          <p:cNvPr id="119" name="Google Shape;119;p29">
            <a:extLst>
              <a:ext uri="{FF2B5EF4-FFF2-40B4-BE49-F238E27FC236}">
                <a16:creationId xmlns:a16="http://schemas.microsoft.com/office/drawing/2014/main" id="{D0DE98E0-6FFB-B178-E249-FD0F0ABECB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79D7D57-26B8-3084-EE6B-80D199195B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67AEAB1-2EFF-EC1E-0981-321FA217337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CF0CBC-5F70-8C4A-0539-636AC71DE7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27E63FC-4E78-1BF4-8B3B-BAA5806FF57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99600F-676A-803F-C84C-0894315A102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DAE41B-BD7E-A52C-E3F7-D2BDEC5D929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BB39D8-8128-90A6-5910-F02A839B07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09294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5E7E3B-DC71-4742-4A46-5A077086FA7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724871-B9CD-C122-6BF1-529AAD390C2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There will be multiple components that will be used in the SLAM: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Wheel odometry:</a:t>
            </a:r>
          </a:p>
          <a:p>
            <a:pPr marL="800100" lvl="1">
              <a:lnSpc>
                <a:spcPct val="100000"/>
              </a:lnSpc>
              <a:spcBef>
                <a:spcPts val="0"/>
              </a:spcBef>
              <a:buSzPts val="3000"/>
            </a:pPr>
            <a:r>
              <a:rPr lang="en-US" sz="1800" dirty="0">
                <a:latin typeface="Arial"/>
                <a:ea typeface="Arial"/>
                <a:cs typeface="Arial"/>
                <a:sym typeface="Arial"/>
              </a:rPr>
              <a:t>Fast, low-latency, but drifts</a:t>
            </a:r>
          </a:p>
          <a:p>
            <a:pPr marL="342900">
              <a:lnSpc>
                <a:spcPct val="100000"/>
              </a:lnSpc>
              <a:spcBef>
                <a:spcPts val="0"/>
              </a:spcBef>
              <a:buSzPts val="3000"/>
            </a:pPr>
            <a:r>
              <a:rPr lang="en-US" sz="2200" dirty="0">
                <a:latin typeface="Arial"/>
                <a:ea typeface="Arial"/>
                <a:cs typeface="Arial"/>
                <a:sym typeface="Arial"/>
              </a:rPr>
              <a:t>2D LiDAR</a:t>
            </a:r>
          </a:p>
          <a:p>
            <a:pPr marL="800100" lvl="1">
              <a:lnSpc>
                <a:spcPct val="100000"/>
              </a:lnSpc>
              <a:spcBef>
                <a:spcPts val="0"/>
              </a:spcBef>
              <a:buSzPts val="3000"/>
            </a:pPr>
            <a:r>
              <a:rPr lang="en-US" sz="1800" dirty="0">
                <a:latin typeface="Arial"/>
                <a:ea typeface="Arial"/>
                <a:cs typeface="Arial"/>
                <a:sym typeface="Arial"/>
              </a:rPr>
              <a:t>High-resolution geometric ground truth, but it is only one slice of the world</a:t>
            </a:r>
          </a:p>
          <a:p>
            <a:pPr marL="342900">
              <a:lnSpc>
                <a:spcPct val="100000"/>
              </a:lnSpc>
              <a:spcBef>
                <a:spcPts val="0"/>
              </a:spcBef>
              <a:buSzPts val="3000"/>
            </a:pPr>
            <a:r>
              <a:rPr lang="en-US" sz="2200" dirty="0">
                <a:latin typeface="Arial"/>
                <a:ea typeface="Arial"/>
                <a:cs typeface="Arial"/>
                <a:sym typeface="Arial"/>
              </a:rPr>
              <a:t>The Fron-End:</a:t>
            </a:r>
          </a:p>
          <a:p>
            <a:pPr marL="800100" lvl="1">
              <a:lnSpc>
                <a:spcPct val="100000"/>
              </a:lnSpc>
              <a:spcBef>
                <a:spcPts val="0"/>
              </a:spcBef>
              <a:buSzPts val="3000"/>
            </a:pPr>
            <a:r>
              <a:rPr lang="en-US" sz="1800" dirty="0">
                <a:latin typeface="Arial"/>
                <a:ea typeface="Arial"/>
                <a:cs typeface="Arial"/>
                <a:sym typeface="Arial"/>
              </a:rPr>
              <a:t>Converts the raw sequential scans into short-term motion estimates</a:t>
            </a:r>
          </a:p>
          <a:p>
            <a:pPr marL="342900">
              <a:lnSpc>
                <a:spcPct val="100000"/>
              </a:lnSpc>
              <a:spcBef>
                <a:spcPts val="0"/>
              </a:spcBef>
              <a:buSzPts val="3000"/>
            </a:pPr>
            <a:r>
              <a:rPr lang="en-US" sz="2200" dirty="0">
                <a:latin typeface="Arial"/>
                <a:ea typeface="Arial"/>
                <a:cs typeface="Arial"/>
                <a:sym typeface="Arial"/>
              </a:rPr>
              <a:t>The Back-End:</a:t>
            </a:r>
          </a:p>
          <a:p>
            <a:pPr marL="800100" lvl="1">
              <a:lnSpc>
                <a:spcPct val="100000"/>
              </a:lnSpc>
              <a:spcBef>
                <a:spcPts val="0"/>
              </a:spcBef>
              <a:buSzPts val="3000"/>
            </a:pPr>
            <a:r>
              <a:rPr lang="en-US" sz="1800" dirty="0">
                <a:latin typeface="Arial"/>
                <a:ea typeface="Arial"/>
                <a:cs typeface="Arial"/>
                <a:sym typeface="Arial"/>
              </a:rPr>
              <a:t>Optimizes the entire history when loops close (loop closure)</a:t>
            </a:r>
          </a:p>
          <a:p>
            <a:pPr marL="342900">
              <a:lnSpc>
                <a:spcPct val="100000"/>
              </a:lnSpc>
              <a:spcBef>
                <a:spcPts val="0"/>
              </a:spcBef>
              <a:buSzPts val="3000"/>
            </a:pPr>
            <a:r>
              <a:rPr lang="en-US" sz="2200" dirty="0">
                <a:latin typeface="Arial"/>
                <a:ea typeface="Arial"/>
                <a:cs typeface="Arial"/>
                <a:sym typeface="Arial"/>
              </a:rPr>
              <a:t>The Map:</a:t>
            </a:r>
          </a:p>
          <a:p>
            <a:pPr marL="800100" lvl="1">
              <a:lnSpc>
                <a:spcPct val="100000"/>
              </a:lnSpc>
              <a:spcBef>
                <a:spcPts val="0"/>
              </a:spcBef>
              <a:buSzPts val="3000"/>
            </a:pPr>
            <a:r>
              <a:rPr lang="en-US" sz="1800" dirty="0">
                <a:latin typeface="Arial"/>
                <a:ea typeface="Arial"/>
                <a:cs typeface="Arial"/>
                <a:sym typeface="Arial"/>
              </a:rPr>
              <a:t>A dynamic-aware model the planner can trust</a:t>
            </a:r>
          </a:p>
        </p:txBody>
      </p:sp>
      <p:sp>
        <p:nvSpPr>
          <p:cNvPr id="119" name="Google Shape;119;p29">
            <a:extLst>
              <a:ext uri="{FF2B5EF4-FFF2-40B4-BE49-F238E27FC236}">
                <a16:creationId xmlns:a16="http://schemas.microsoft.com/office/drawing/2014/main" id="{E95E899C-65BA-A082-1B0C-58ACEFA4A66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0F145BF-C683-8286-9147-71B193541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7A61312-B511-7569-9C00-3C8B9C5CAFC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85A2CB-9F46-82D1-6A72-19AA3F78127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7F03CE7-9A22-108B-FA3C-98DCF6E93B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AC639F-2AAA-D2B4-B552-15124895DD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E135C6A-705A-D250-3247-F731516B16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DFC0374-26AC-8B56-AA41-AF24660EB5C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682366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18">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0" end="1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DA6931C0-FCFE-86DD-DFA5-1C0CA557F9B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A9D37BBD-044B-E061-B2AC-57425E51F334}"/>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5D3E79BC-35E8-8ADE-971E-0C47F2DECD0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Robot startup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44F161A-39FC-92AA-88F3-7ED934DF0FC7}"/>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0ADA7A49-85A1-6DFB-40FC-613176529E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8CE32F4-CF7C-5338-5D6A-3CD81FF179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0B854ACD-E9DF-82B4-3FD9-779EF852A5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5CA8CD6-481F-8E9D-B7D3-C03E7DED296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2FE6185F-81F0-3BC7-EAA9-34E45B39D6E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33C6DB1D-D2F3-FA11-045B-69E8E4A2FCEB}"/>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9D71201-F81B-1F32-070E-195D98C236A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71740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401C5B-6E85-5B57-2B7A-13BE544BBED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110CAA4-F180-166B-E0F2-A437800E39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A mobile robot is powered on for the first time inside an unknown warehouse / location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unknown?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No map</a:t>
            </a:r>
          </a:p>
          <a:p>
            <a:pPr marL="342900">
              <a:lnSpc>
                <a:spcPct val="100000"/>
              </a:lnSpc>
              <a:spcBef>
                <a:spcPts val="0"/>
              </a:spcBef>
              <a:buSzPts val="3000"/>
            </a:pPr>
            <a:r>
              <a:rPr lang="en-US" sz="2200" dirty="0">
                <a:latin typeface="Arial"/>
                <a:ea typeface="Arial"/>
                <a:cs typeface="Arial"/>
                <a:sym typeface="Arial"/>
              </a:rPr>
              <a:t>No estimate of prior state (position)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Only has sensor streams! The LiDAR, IMU, Odometry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However, there are 2 questions that must be answered at every time-step to function properly and perform safe planning. What are they?</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Where am I right now? (Localization)</a:t>
            </a:r>
          </a:p>
          <a:p>
            <a:pPr marL="342900">
              <a:lnSpc>
                <a:spcPct val="100000"/>
              </a:lnSpc>
              <a:spcBef>
                <a:spcPts val="0"/>
              </a:spcBef>
              <a:buSzPts val="3000"/>
            </a:pPr>
            <a:r>
              <a:rPr lang="en-US" sz="2200" dirty="0">
                <a:latin typeface="Arial"/>
                <a:ea typeface="Arial"/>
                <a:cs typeface="Arial"/>
                <a:sym typeface="Arial"/>
              </a:rPr>
              <a:t>What does the world around me look like (Mapping)</a:t>
            </a:r>
          </a:p>
          <a:p>
            <a:pPr marL="342900">
              <a:lnSpc>
                <a:spcPct val="100000"/>
              </a:lnSpc>
              <a:spcBef>
                <a:spcPts val="0"/>
              </a:spcBef>
              <a:buSzPts val="3000"/>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CC5AE70-3F9C-83A6-44AE-E62C910845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D8D57F1-E7DC-5DBF-93E0-9FF8C6AC4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C6F122D-F57F-86CD-0E9C-6E126823E4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245ED8-5FCF-ADF1-D35E-9AEF7108D00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817A609-1426-373B-6B56-3900C4F0F72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144DB35-0582-5E38-15BA-A6314F158FD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11CFB09-EE67-F2E5-00A3-FE54D693104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C43FFB2-8DC4-CDAA-7B4D-1DC2341F814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557881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09E2E88-687E-FA43-9FEA-89FF21DD6F0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3356AC-3826-9D7C-518E-D87CE517F0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localization, why not just use GPS?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GPS needs line-of-sight to 4+ orbiting satellites, buildings block this completely</a:t>
            </a:r>
          </a:p>
          <a:p>
            <a:pPr marL="342900">
              <a:lnSpc>
                <a:spcPct val="150000"/>
              </a:lnSpc>
              <a:spcBef>
                <a:spcPts val="0"/>
              </a:spcBef>
              <a:buSzPts val="3000"/>
            </a:pPr>
            <a:r>
              <a:rPr lang="en-US" sz="2200" dirty="0">
                <a:latin typeface="Arial"/>
                <a:ea typeface="Arial"/>
                <a:cs typeface="Arial"/>
                <a:sym typeface="Arial"/>
              </a:rPr>
              <a:t>Civilian GPS accuracy is ~3-5 m, useless when aisles are 1.5 m wide</a:t>
            </a:r>
          </a:p>
          <a:p>
            <a:pPr marL="342900">
              <a:lnSpc>
                <a:spcPct val="150000"/>
              </a:lnSpc>
              <a:spcBef>
                <a:spcPts val="0"/>
              </a:spcBef>
              <a:buSzPts val="3000"/>
            </a:pPr>
            <a:r>
              <a:rPr lang="en-US" sz="2200" dirty="0">
                <a:latin typeface="Arial"/>
                <a:ea typeface="Arial"/>
                <a:cs typeface="Arial"/>
                <a:sym typeface="Arial"/>
              </a:rPr>
              <a:t>Underground environments (mines, subways, basements) receive zero signal</a:t>
            </a:r>
          </a:p>
          <a:p>
            <a:pPr marL="342900">
              <a:lnSpc>
                <a:spcPct val="150000"/>
              </a:lnSpc>
              <a:spcBef>
                <a:spcPts val="0"/>
              </a:spcBef>
              <a:buSzPts val="3000"/>
            </a:pPr>
            <a:r>
              <a:rPr lang="en-US" sz="2200" dirty="0">
                <a:latin typeface="Arial"/>
                <a:ea typeface="Arial"/>
                <a:cs typeface="Arial"/>
                <a:sym typeface="Arial"/>
              </a:rPr>
              <a:t>Indoor RTK and UWB beacons work, but require expensive pre-installed infrastructure</a:t>
            </a:r>
          </a:p>
        </p:txBody>
      </p:sp>
      <p:sp>
        <p:nvSpPr>
          <p:cNvPr id="119" name="Google Shape;119;p29">
            <a:extLst>
              <a:ext uri="{FF2B5EF4-FFF2-40B4-BE49-F238E27FC236}">
                <a16:creationId xmlns:a16="http://schemas.microsoft.com/office/drawing/2014/main" id="{283996E2-B153-97D3-190E-28F90129F96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3643D34-E0B5-62C8-BC30-3BB8B984BA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73E4436-7822-C12B-EF4B-C2ECF41E59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CE35C74-D448-627B-599A-C6A110E74B3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CD8687D-A146-FAF6-055F-979C3E5120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0C7F1D-5E32-AE0F-224E-990410072C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238480-537A-A0B9-2711-2F84438E90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AB80BE0-1DFB-B890-651F-5EF5DB6994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1628483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2CAED12-86FE-4B9F-1263-A2D5AF2A566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643B538-7BD5-657B-6D07-B093BB68A18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mapping why not just download a CAD model?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CAD drawings model the specific intended structure; however, not what the actual room is like today!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Furniture, people, tables, drift daily! Just think about this room!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 single misplaced chair renders a pre-programmed path to be unsafe ( as you saw in lab adding an obstacle, we try to go point to point and even in the wall following sometimes it fails)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need a map that reflects reality now!</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When is it okay though to have a predefined map?</a:t>
            </a:r>
          </a:p>
        </p:txBody>
      </p:sp>
      <p:sp>
        <p:nvSpPr>
          <p:cNvPr id="119" name="Google Shape;119;p29">
            <a:extLst>
              <a:ext uri="{FF2B5EF4-FFF2-40B4-BE49-F238E27FC236}">
                <a16:creationId xmlns:a16="http://schemas.microsoft.com/office/drawing/2014/main" id="{A623B2AD-5499-800D-C2AB-CAF893B7C77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E026B94-4AB5-D82D-C0BF-C2E60DB7E8E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9ED6D8-F670-6E6F-4922-332B16D119E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59F4CA-2754-7519-4D82-1AA159E4A7F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3A2A15-59FF-3779-37AC-902FAD3D18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231637-E559-11BA-4F59-1FC988F4E24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53853D-D5D0-AB77-7E90-4B9DC463F2E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F26F17-D2EE-4E07-8927-23770E62AA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866551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17BB8D-791A-67EF-27BF-B56B1EC7622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7D29BDF-D223-D7A2-A0BA-CDAC06D24A8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SLAM, which stands for Simultaneous Localization and Mapping, tries to solve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paradox though. Think about the chicken-and-egg trap…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To build an accurate map you need to know your exact location at every scan</a:t>
            </a:r>
          </a:p>
          <a:p>
            <a:pPr marL="342900">
              <a:lnSpc>
                <a:spcPct val="100000"/>
              </a:lnSpc>
              <a:spcBef>
                <a:spcPts val="0"/>
              </a:spcBef>
              <a:buSzPts val="3000"/>
            </a:pPr>
            <a:r>
              <a:rPr lang="en-US" sz="2200" dirty="0">
                <a:latin typeface="Arial"/>
                <a:ea typeface="Arial"/>
                <a:cs typeface="Arial"/>
                <a:sym typeface="Arial"/>
              </a:rPr>
              <a:t>To know your exact location, you need an already-existing map to compare against!</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Classical robotics solves this separately; SLAM does both at the same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millisecond:</a:t>
            </a:r>
          </a:p>
          <a:p>
            <a:pPr marL="342900">
              <a:lnSpc>
                <a:spcPct val="100000"/>
              </a:lnSpc>
              <a:spcBef>
                <a:spcPts val="0"/>
              </a:spcBef>
              <a:buSzPts val="3000"/>
            </a:pPr>
            <a:r>
              <a:rPr lang="en-US" sz="2200" dirty="0">
                <a:latin typeface="Arial"/>
                <a:ea typeface="Arial"/>
                <a:cs typeface="Arial"/>
                <a:sym typeface="Arial"/>
              </a:rPr>
              <a:t>Estimate motion</a:t>
            </a:r>
          </a:p>
          <a:p>
            <a:pPr marL="342900">
              <a:lnSpc>
                <a:spcPct val="100000"/>
              </a:lnSpc>
              <a:spcBef>
                <a:spcPts val="0"/>
              </a:spcBef>
              <a:buSzPts val="3000"/>
            </a:pPr>
            <a:r>
              <a:rPr lang="en-US" sz="2200" dirty="0">
                <a:latin typeface="Arial"/>
                <a:ea typeface="Arial"/>
                <a:cs typeface="Arial"/>
                <a:sym typeface="Arial"/>
              </a:rPr>
              <a:t>Predict where the world should be</a:t>
            </a:r>
          </a:p>
          <a:p>
            <a:pPr marL="342900">
              <a:lnSpc>
                <a:spcPct val="100000"/>
              </a:lnSpc>
              <a:spcBef>
                <a:spcPts val="0"/>
              </a:spcBef>
              <a:buSzPts val="3000"/>
            </a:pPr>
            <a:r>
              <a:rPr lang="en-US" sz="2200" dirty="0">
                <a:latin typeface="Arial"/>
                <a:ea typeface="Arial"/>
                <a:cs typeface="Arial"/>
                <a:sym typeface="Arial"/>
              </a:rPr>
              <a:t>Refine both!</a:t>
            </a: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46439A4-678F-4F6F-E4BD-D8D496FD1C4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509B39-335B-DB8F-4349-2B5ACBA5F6F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CF6040C-18CE-8D07-1389-E262F24B6C4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0367FF-79B1-4B9B-0318-838F95E0CD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6FA39C9-3A8D-ABD5-F7C6-A4AC40C6256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03DFFB-10AC-7D10-49D9-7A8EDE728F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A0FC4E4-FFF7-A12D-FFE3-C86B72D9E48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545B20D-A0EE-6388-A046-A5865F0A14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40793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8101F5B-FEBA-F5A6-EEBA-5CF95F0E5CF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A68BF3-28EB-ECDA-1B51-207A48941E1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Essentially SLAM is trying to maximize the following probability: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a single iteration, which do you think that the robot actually updates first? It’s pose estimate or the map?</a:t>
            </a:r>
          </a:p>
        </p:txBody>
      </p:sp>
      <p:sp>
        <p:nvSpPr>
          <p:cNvPr id="119" name="Google Shape;119;p29">
            <a:extLst>
              <a:ext uri="{FF2B5EF4-FFF2-40B4-BE49-F238E27FC236}">
                <a16:creationId xmlns:a16="http://schemas.microsoft.com/office/drawing/2014/main" id="{46435FB5-6AF4-C321-3F7E-085F82E45D2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6DFCE21-BE52-27A3-D818-764906915B3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52BAAA-28CA-91EC-B17F-2116CBED12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AE83D88-76FB-5738-855F-5457254270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64B27A-EE9E-D346-F451-C1546FD02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3110B5-CB28-D22C-744A-7A6F71EE15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7CCDF5B-D785-EAFF-3630-6278F577321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9344AA-0EBC-D457-6616-7102FD9AEF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1B07C535-9306-06DA-4D19-3397B4B2E1B3}"/>
              </a:ext>
            </a:extLst>
          </p:cNvPr>
          <p:cNvGrpSpPr/>
          <p:nvPr/>
        </p:nvGrpSpPr>
        <p:grpSpPr>
          <a:xfrm>
            <a:off x="1371752" y="2788920"/>
            <a:ext cx="9448495" cy="1280160"/>
            <a:chOff x="1371752" y="2471420"/>
            <a:chExt cx="9448495" cy="1280160"/>
          </a:xfrm>
        </p:grpSpPr>
        <p:sp>
          <p:nvSpPr>
            <p:cNvPr id="6" name="Shape 4">
              <a:extLst>
                <a:ext uri="{FF2B5EF4-FFF2-40B4-BE49-F238E27FC236}">
                  <a16:creationId xmlns:a16="http://schemas.microsoft.com/office/drawing/2014/main" id="{9191F805-4354-CC6C-43EC-E39B7B8DD20A}"/>
                </a:ext>
              </a:extLst>
            </p:cNvPr>
            <p:cNvSpPr/>
            <p:nvPr/>
          </p:nvSpPr>
          <p:spPr>
            <a:xfrm>
              <a:off x="1371752" y="2471420"/>
              <a:ext cx="9448495" cy="1280160"/>
            </a:xfrm>
            <a:prstGeom prst="rect">
              <a:avLst/>
            </a:prstGeom>
            <a:solidFill>
              <a:srgbClr val="FEF3C7"/>
            </a:solidFill>
            <a:ln w="12700">
              <a:solidFill>
                <a:srgbClr val="F59E0B"/>
              </a:solidFill>
              <a:prstDash val="solid"/>
            </a:ln>
          </p:spPr>
          <p:txBody>
            <a:bodyPr/>
            <a:lstStyle/>
            <a:p>
              <a:endParaRPr lang="en-US"/>
            </a:p>
          </p:txBody>
        </p:sp>
        <p:sp>
          <p:nvSpPr>
            <p:cNvPr id="7" name="Shape 5">
              <a:extLst>
                <a:ext uri="{FF2B5EF4-FFF2-40B4-BE49-F238E27FC236}">
                  <a16:creationId xmlns:a16="http://schemas.microsoft.com/office/drawing/2014/main" id="{C27BBE03-8400-AE28-1FAE-501E748803F7}"/>
                </a:ext>
              </a:extLst>
            </p:cNvPr>
            <p:cNvSpPr/>
            <p:nvPr/>
          </p:nvSpPr>
          <p:spPr>
            <a:xfrm>
              <a:off x="1371752" y="2471420"/>
              <a:ext cx="73152" cy="1280160"/>
            </a:xfrm>
            <a:prstGeom prst="rect">
              <a:avLst/>
            </a:prstGeom>
            <a:solidFill>
              <a:srgbClr val="F59E0B"/>
            </a:solidFill>
            <a:ln/>
          </p:spPr>
          <p:txBody>
            <a:bodyPr/>
            <a:lstStyle/>
            <a:p>
              <a:endParaRPr lang="en-US"/>
            </a:p>
          </p:txBody>
        </p:sp>
        <mc:AlternateContent xmlns:mc="http://schemas.openxmlformats.org/markup-compatibility/2006" xmlns:a14="http://schemas.microsoft.com/office/drawing/2010/main">
          <mc:Choice Requires="a14">
            <p:sp>
              <p:nvSpPr>
                <p:cNvPr id="8" name="Text 6">
                  <a:extLst>
                    <a:ext uri="{FF2B5EF4-FFF2-40B4-BE49-F238E27FC236}">
                      <a16:creationId xmlns:a16="http://schemas.microsoft.com/office/drawing/2014/main" id="{D0E2A134-5090-B89C-53E8-E4D3690A8AC7}"/>
                    </a:ext>
                  </a:extLst>
                </p:cNvPr>
                <p:cNvSpPr/>
                <p:nvPr/>
              </p:nvSpPr>
              <p:spPr>
                <a:xfrm>
                  <a:off x="1554632" y="2517140"/>
                  <a:ext cx="9174175" cy="9144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2200" dirty="0">
                      <a:solidFill>
                        <a:srgbClr val="1E293B"/>
                      </a:solidFill>
                      <a:latin typeface="Consolas" pitchFamily="34" charset="0"/>
                      <a:ea typeface="Consolas" pitchFamily="34" charset="-122"/>
                      <a:cs typeface="Consolas" pitchFamily="34" charset="-120"/>
                    </a:rPr>
                    <a:t>maximize   </a:t>
                  </a:r>
                  <a14:m>
                    <m:oMath xmlns:m="http://schemas.openxmlformats.org/officeDocument/2006/math">
                      <m:r>
                        <a:rPr lang="en-US" sz="2200" b="0" i="1" smtClean="0">
                          <a:solidFill>
                            <a:srgbClr val="1E293B"/>
                          </a:solidFill>
                          <a:latin typeface="Cambria Math" panose="02040503050406030204" pitchFamily="18" charset="0"/>
                          <a:ea typeface="Consolas" pitchFamily="34" charset="-122"/>
                          <a:cs typeface="Consolas" pitchFamily="34" charset="-120"/>
                        </a:rPr>
                        <m:t>𝑃</m:t>
                      </m:r>
                      <m:d>
                        <m:dPr>
                          <m:sepChr m:val="∣"/>
                          <m:ctrlPr>
                            <a:rPr lang="en-US" sz="2200" b="0" i="1" smtClean="0">
                              <a:solidFill>
                                <a:srgbClr val="1E293B"/>
                              </a:solidFill>
                              <a:latin typeface="Cambria Math" panose="02040503050406030204" pitchFamily="18" charset="0"/>
                              <a:ea typeface="Consolas" pitchFamily="34" charset="-122"/>
                              <a:cs typeface="Consolas" pitchFamily="34" charset="-120"/>
                            </a:rPr>
                          </m:ctrlPr>
                        </m:dPr>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𝑥</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r>
                            <a:rPr lang="en-US" sz="2200" b="0" i="1" smtClean="0">
                              <a:solidFill>
                                <a:srgbClr val="1E293B"/>
                              </a:solidFill>
                              <a:latin typeface="Cambria Math" panose="02040503050406030204" pitchFamily="18" charset="0"/>
                              <a:ea typeface="Consolas" pitchFamily="34" charset="-122"/>
                              <a:cs typeface="Consolas" pitchFamily="34" charset="-120"/>
                            </a:rPr>
                            <m:t>𝑚</m:t>
                          </m:r>
                        </m:e>
                        <m:e>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𝑧</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r>
                            <a:rPr lang="en-US" sz="2200" b="0" i="1" smtClean="0">
                              <a:solidFill>
                                <a:srgbClr val="1E293B"/>
                              </a:solidFill>
                              <a:latin typeface="Cambria Math" panose="02040503050406030204" pitchFamily="18" charset="0"/>
                              <a:ea typeface="Consolas" pitchFamily="34" charset="-122"/>
                              <a:cs typeface="Consolas" pitchFamily="34" charset="-120"/>
                            </a:rPr>
                            <m:t>,</m:t>
                          </m:r>
                          <m:sSub>
                            <m:sSubPr>
                              <m:ctrlPr>
                                <a:rPr lang="en-US" sz="2200" b="0" i="1" smtClean="0">
                                  <a:solidFill>
                                    <a:srgbClr val="1E293B"/>
                                  </a:solidFill>
                                  <a:latin typeface="Cambria Math" panose="02040503050406030204" pitchFamily="18" charset="0"/>
                                  <a:ea typeface="Consolas" pitchFamily="34" charset="-122"/>
                                  <a:cs typeface="Consolas" pitchFamily="34" charset="-120"/>
                                </a:rPr>
                              </m:ctrlPr>
                            </m:sSubPr>
                            <m:e>
                              <m:r>
                                <a:rPr lang="en-US" sz="2200" b="0" i="1" smtClean="0">
                                  <a:solidFill>
                                    <a:srgbClr val="1E293B"/>
                                  </a:solidFill>
                                  <a:latin typeface="Cambria Math" panose="02040503050406030204" pitchFamily="18" charset="0"/>
                                  <a:ea typeface="Consolas" pitchFamily="34" charset="-122"/>
                                  <a:cs typeface="Consolas" pitchFamily="34" charset="-120"/>
                                </a:rPr>
                                <m:t>𝑢</m:t>
                              </m:r>
                            </m:e>
                            <m:sub>
                              <m:r>
                                <a:rPr lang="en-US" sz="2200" b="0" i="1" smtClean="0">
                                  <a:solidFill>
                                    <a:srgbClr val="1E293B"/>
                                  </a:solidFill>
                                  <a:latin typeface="Cambria Math" panose="02040503050406030204" pitchFamily="18" charset="0"/>
                                  <a:ea typeface="Consolas" pitchFamily="34" charset="-122"/>
                                  <a:cs typeface="Consolas" pitchFamily="34" charset="-120"/>
                                </a:rPr>
                                <m:t>1:</m:t>
                              </m:r>
                              <m:r>
                                <a:rPr lang="en-US" sz="2200" b="0" i="1" smtClean="0">
                                  <a:solidFill>
                                    <a:srgbClr val="1E293B"/>
                                  </a:solidFill>
                                  <a:latin typeface="Cambria Math" panose="02040503050406030204" pitchFamily="18" charset="0"/>
                                  <a:ea typeface="Consolas" pitchFamily="34" charset="-122"/>
                                  <a:cs typeface="Consolas" pitchFamily="34" charset="-120"/>
                                </a:rPr>
                                <m:t>𝑡</m:t>
                              </m:r>
                            </m:sub>
                          </m:sSub>
                        </m:e>
                      </m:d>
                    </m:oMath>
                  </a14:m>
                  <a:endParaRPr lang="en-US" sz="2200" dirty="0"/>
                </a:p>
              </p:txBody>
            </p:sp>
          </mc:Choice>
          <mc:Fallback xmlns="">
            <p:sp>
              <p:nvSpPr>
                <p:cNvPr id="8" name="Text 6">
                  <a:extLst>
                    <a:ext uri="{FF2B5EF4-FFF2-40B4-BE49-F238E27FC236}">
                      <a16:creationId xmlns:a16="http://schemas.microsoft.com/office/drawing/2014/main" id="{D0E2A134-5090-B89C-53E8-E4D3690A8AC7}"/>
                    </a:ext>
                  </a:extLst>
                </p:cNvPr>
                <p:cNvSpPr>
                  <a:spLocks noRot="1" noChangeAspect="1" noMove="1" noResize="1" noEditPoints="1" noAdjustHandles="1" noChangeArrowheads="1" noChangeShapeType="1" noTextEdit="1"/>
                </p:cNvSpPr>
                <p:nvPr/>
              </p:nvSpPr>
              <p:spPr>
                <a:xfrm>
                  <a:off x="1554632" y="2517140"/>
                  <a:ext cx="9174175" cy="914400"/>
                </a:xfrm>
                <a:prstGeom prst="rect">
                  <a:avLst/>
                </a:prstGeom>
                <a:blipFill>
                  <a:blip r:embed="rId4"/>
                  <a:stretch>
                    <a:fillRect/>
                  </a:stretch>
                </a:blipFill>
                <a:ln/>
              </p:spPr>
              <p:txBody>
                <a:bodyPr/>
                <a:lstStyle/>
                <a:p>
                  <a:r>
                    <a:rPr lang="en-US">
                      <a:noFill/>
                    </a:rPr>
                    <a:t> </a:t>
                  </a:r>
                </a:p>
              </p:txBody>
            </p:sp>
          </mc:Fallback>
        </mc:AlternateContent>
        <p:sp>
          <p:nvSpPr>
            <p:cNvPr id="9" name="Text 7">
              <a:extLst>
                <a:ext uri="{FF2B5EF4-FFF2-40B4-BE49-F238E27FC236}">
                  <a16:creationId xmlns:a16="http://schemas.microsoft.com/office/drawing/2014/main" id="{ED937B31-D381-8599-CF76-C59C7E9B76EA}"/>
                </a:ext>
              </a:extLst>
            </p:cNvPr>
            <p:cNvSpPr/>
            <p:nvPr/>
          </p:nvSpPr>
          <p:spPr>
            <a:xfrm>
              <a:off x="1554632" y="3385820"/>
              <a:ext cx="9174175"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000" i="1" dirty="0">
                  <a:solidFill>
                    <a:srgbClr val="64748B"/>
                  </a:solidFill>
                  <a:latin typeface="Calibri" pitchFamily="34" charset="0"/>
                  <a:ea typeface="Calibri" pitchFamily="34" charset="-122"/>
                  <a:cs typeface="Calibri" pitchFamily="34" charset="-120"/>
                </a:rPr>
                <a:t>Find the most likely trajectory x and map m given all observations z and controls u</a:t>
              </a:r>
              <a:endParaRPr lang="en-US" sz="1000" dirty="0"/>
            </a:p>
          </p:txBody>
        </p:sp>
      </p:grpSp>
    </p:spTree>
    <p:extLst>
      <p:ext uri="{BB962C8B-B14F-4D97-AF65-F5344CB8AC3E}">
        <p14:creationId xmlns:p14="http://schemas.microsoft.com/office/powerpoint/2010/main" val="13842094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51C812-EFF3-37C7-2913-94D0F49B18D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C990C3C-3793-3AFD-0996-0CF0982B119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Why do we need SLAM at 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some robotics examples where we want to map and plan trajectories in unknown / updating environments?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Robot vacuums must map the unknown living room the first time they're switched on</a:t>
            </a:r>
          </a:p>
          <a:p>
            <a:pPr marL="342900">
              <a:lnSpc>
                <a:spcPct val="100000"/>
              </a:lnSpc>
              <a:spcBef>
                <a:spcPts val="0"/>
              </a:spcBef>
              <a:buSzPts val="3000"/>
            </a:pPr>
            <a:r>
              <a:rPr lang="en-US" sz="2200" dirty="0">
                <a:latin typeface="Arial"/>
                <a:ea typeface="Arial"/>
                <a:cs typeface="Arial"/>
                <a:sym typeface="Arial"/>
              </a:rPr>
              <a:t>Self-driving cars use SLAM to reconcile HD maps with new construction, detours, and snow</a:t>
            </a:r>
          </a:p>
          <a:p>
            <a:pPr marL="342900">
              <a:lnSpc>
                <a:spcPct val="100000"/>
              </a:lnSpc>
              <a:spcBef>
                <a:spcPts val="0"/>
              </a:spcBef>
              <a:buSzPts val="3000"/>
            </a:pPr>
            <a:r>
              <a:rPr lang="en-US" sz="2200" dirty="0">
                <a:latin typeface="Arial"/>
                <a:ea typeface="Arial"/>
                <a:cs typeface="Arial"/>
                <a:sym typeface="Arial"/>
              </a:rPr>
              <a:t>Mars rovers have no GPS and no human cartographer - everything is SLAM by necessity!</a:t>
            </a:r>
          </a:p>
          <a:p>
            <a:pPr marL="342900">
              <a:lnSpc>
                <a:spcPct val="100000"/>
              </a:lnSpc>
              <a:spcBef>
                <a:spcPts val="0"/>
              </a:spcBef>
              <a:buSzPts val="3000"/>
            </a:pPr>
            <a:r>
              <a:rPr lang="en-US" sz="2200" dirty="0">
                <a:latin typeface="Arial"/>
                <a:ea typeface="Arial"/>
                <a:cs typeface="Arial"/>
                <a:sym typeface="Arial"/>
              </a:rPr>
              <a:t>Search-and-rescue drones enter collapsed buildings no person has ever mapped before</a:t>
            </a: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799148DD-D46C-55AB-7D53-2A93D92BC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717265-FF1A-3249-F1B5-595713E640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F3C37F6-B99C-38D4-6BEC-0545327AB22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C8F073-1C17-107F-9361-510EBCC9A4D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C725A1-C935-BD10-CEEA-6759B034B29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E418BA2-6DB7-173E-4056-CE29531790E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925AB33-1895-27BB-EBC3-084FAE8B89C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4B4E77-BAB2-3503-A1A3-C6C30088626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52190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80798A-5C6D-4D48-B720-ED772A4BB56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CC70F59-59CD-902E-5BD6-1132F99CBA9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What makes a good SLAM system?</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Real-time: the pose estimate must arrive before the robot crashes into the wall</a:t>
            </a:r>
          </a:p>
          <a:p>
            <a:pPr marL="342900">
              <a:lnSpc>
                <a:spcPct val="100000"/>
              </a:lnSpc>
              <a:spcBef>
                <a:spcPts val="0"/>
              </a:spcBef>
              <a:buSzPts val="3000"/>
            </a:pPr>
            <a:r>
              <a:rPr lang="en-US" sz="2200" dirty="0">
                <a:latin typeface="Arial"/>
                <a:ea typeface="Arial"/>
                <a:cs typeface="Arial"/>
                <a:sym typeface="Arial"/>
              </a:rPr>
              <a:t>Globally consistent: no double walls, bent corridors, or duplicate rooms in the final map</a:t>
            </a:r>
          </a:p>
          <a:p>
            <a:pPr marL="342900">
              <a:lnSpc>
                <a:spcPct val="100000"/>
              </a:lnSpc>
              <a:spcBef>
                <a:spcPts val="0"/>
              </a:spcBef>
              <a:buSzPts val="3000"/>
            </a:pPr>
            <a:r>
              <a:rPr lang="en-US" sz="2200" dirty="0">
                <a:latin typeface="Arial"/>
                <a:ea typeface="Arial"/>
                <a:cs typeface="Arial"/>
                <a:sym typeface="Arial"/>
              </a:rPr>
              <a:t>Robust to noise, to moving people, to sensor dropouts, to wheel slip on tile floors</a:t>
            </a:r>
          </a:p>
          <a:p>
            <a:pPr marL="342900">
              <a:lnSpc>
                <a:spcPct val="100000"/>
              </a:lnSpc>
              <a:spcBef>
                <a:spcPts val="0"/>
              </a:spcBef>
              <a:buSzPts val="3000"/>
            </a:pPr>
            <a:r>
              <a:rPr lang="en-US" sz="2200" dirty="0">
                <a:latin typeface="Arial"/>
                <a:ea typeface="Arial"/>
                <a:cs typeface="Arial"/>
                <a:sym typeface="Arial"/>
              </a:rPr>
              <a:t>Memory-bounded: a $50 embedded CPU must hold a 10,000 m² facility's map</a:t>
            </a:r>
          </a:p>
          <a:p>
            <a:pPr marL="342900">
              <a:lnSpc>
                <a:spcPct val="100000"/>
              </a:lnSpc>
              <a:spcBef>
                <a:spcPts val="0"/>
              </a:spcBef>
              <a:buSzPts val="3000"/>
            </a:pPr>
            <a:r>
              <a:rPr lang="en-US" sz="2200" dirty="0">
                <a:latin typeface="Arial"/>
                <a:ea typeface="Arial"/>
                <a:cs typeface="Arial"/>
                <a:sym typeface="Arial"/>
              </a:rPr>
              <a:t>Lifelong: the map must stay valid for weeks as the environment slowly evolves</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Which of these five requirements do you think was the hardest to solve historically? Why?</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A571382-9BD1-4D5D-D56B-A96E5656A6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74A922-BD79-2FDF-5F38-8733F6782B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891D21B-711A-0E4B-E2E4-B21BE754BD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7CC137-B2BF-EDF3-3429-D8E412C88F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77437F2-82C6-1DED-8863-09A667FBF18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87B2BC9-D382-A527-DDAD-C093CA1C68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E5D1B1-5332-FD81-95EC-9C68BFB17C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4BDC0-6549-D63A-A9EC-FC71025485F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0356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C6179E-7949-05E8-2D0A-5EFD7A75174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A43471F-1D06-6830-08F3-543FC77C269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Global Consistency is the hardest to solve.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In early SLAM, robots relied primarily on Dead Reckoning or incremental scan-matching. Because every sensor measurement has a non-zero covariance, these small errors integrate over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hardest part of global consistency is </a:t>
            </a:r>
            <a:r>
              <a:rPr lang="en-US" sz="2200" b="1" dirty="0">
                <a:latin typeface="Arial"/>
                <a:ea typeface="Arial"/>
                <a:cs typeface="Arial"/>
                <a:sym typeface="Arial"/>
              </a:rPr>
              <a:t>Loop Closure</a:t>
            </a:r>
            <a:r>
              <a:rPr lang="en-US" sz="2200" dirty="0">
                <a:latin typeface="Arial"/>
                <a:ea typeface="Arial"/>
                <a:cs typeface="Arial"/>
                <a:sym typeface="Arial"/>
              </a:rPr>
              <a:t>. Imagine a robot traveling a 1-kilometer loop. Even a tiny error of 0.5° in orientation can result in the robot returning to its starting point and perceiving the wall to be several meters away from where it "should" be.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system must recognize a previously visited location using only sensor data (often called Place Recognition or Appearance-based SLAM).</a:t>
            </a:r>
          </a:p>
        </p:txBody>
      </p:sp>
      <p:sp>
        <p:nvSpPr>
          <p:cNvPr id="119" name="Google Shape;119;p29">
            <a:extLst>
              <a:ext uri="{FF2B5EF4-FFF2-40B4-BE49-F238E27FC236}">
                <a16:creationId xmlns:a16="http://schemas.microsoft.com/office/drawing/2014/main" id="{9548562F-2C81-705F-31DA-A3545C24257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76499B3-5F7F-03D6-4F50-CF273FF91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5EDF078-008A-3556-C703-EE3385FA31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2D71F7-CB83-63D8-6139-EE3F0FA021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D5AE8E7-CD79-28C5-E7CE-FB7A910699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6EAD7E-F8B6-5C6D-1C40-000061531CD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8708B39-943B-53A5-D6B0-4CE50BE048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4EF2215-DDD5-2804-ACFA-8D402ED578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7149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CF0C-98CC-7D34-C737-6701199550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1B591A1-DAF4-7307-4872-98CEFFCDAF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pose that the SLAM is optimizing for,</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𝑋</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𝑥</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𝑦</m:t>
                                    </m:r>
                                  </m:e>
                                  <m:sub>
                                    <m:r>
                                      <a:rPr lang="en-US" sz="2200" b="0" i="1" smtClean="0">
                                        <a:latin typeface="Cambria Math" panose="02040503050406030204" pitchFamily="18" charset="0"/>
                                        <a:ea typeface="Arial"/>
                                        <a:cs typeface="Arial"/>
                                        <a:sym typeface="Arial"/>
                                      </a:rPr>
                                      <m:t>𝑡</m:t>
                                    </m:r>
                                  </m:sub>
                                </m:sSub>
                              </m:e>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𝜃</m:t>
                                    </m:r>
                                  </m:e>
                                  <m:sub>
                                    <m:r>
                                      <a:rPr lang="en-US" sz="2200" b="0" i="1" smtClean="0">
                                        <a:latin typeface="Cambria Math" panose="02040503050406030204" pitchFamily="18" charset="0"/>
                                        <a:ea typeface="Arial"/>
                                        <a:cs typeface="Arial"/>
                                        <a:sym typeface="Arial"/>
                                      </a:rPr>
                                      <m:t>𝑡</m:t>
                                    </m:r>
                                  </m:sub>
                                </m:sSub>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𝑇</m:t>
                          </m:r>
                        </m:e>
                        <m:sub>
                          <m:r>
                            <a:rPr lang="en-US" sz="2200" b="0" i="1" smtClean="0">
                              <a:latin typeface="Cambria Math" panose="02040503050406030204" pitchFamily="18" charset="0"/>
                              <a:ea typeface="Arial"/>
                              <a:cs typeface="Arial"/>
                              <a:sym typeface="Arial"/>
                            </a:rPr>
                            <m:t>𝑡</m:t>
                          </m:r>
                        </m:sub>
                      </m:sSub>
                      <m:r>
                        <a:rPr lang="en-US" sz="2200" b="0" i="1" smtClean="0">
                          <a:latin typeface="Cambria Math" panose="02040503050406030204" pitchFamily="18" charset="0"/>
                          <a:ea typeface="Arial"/>
                          <a:cs typeface="Arial"/>
                          <a:sym typeface="Arial"/>
                        </a:rPr>
                        <m:t>=</m:t>
                      </m:r>
                      <m:d>
                        <m:dPr>
                          <m:begChr m:val="["/>
                          <m:endChr m:val="]"/>
                          <m:ctrlPr>
                            <a:rPr lang="en-US" sz="2200" b="0" i="1" smtClean="0">
                              <a:latin typeface="Cambria Math" panose="02040503050406030204" pitchFamily="18" charset="0"/>
                              <a:ea typeface="Arial"/>
                              <a:cs typeface="Arial"/>
                              <a:sym typeface="Arial"/>
                            </a:rPr>
                          </m:ctrlPr>
                        </m:dPr>
                        <m:e>
                          <m:m>
                            <m:mPr>
                              <m:plcHide m:val="on"/>
                              <m:mcs>
                                <m:mc>
                                  <m:mcPr>
                                    <m:count m:val="3"/>
                                    <m:mcJc m:val="center"/>
                                  </m:mcPr>
                                </m:mc>
                              </m:mcs>
                              <m:ctrlPr>
                                <a:rPr lang="en-US" sz="2200" b="0" i="1" smtClean="0">
                                  <a:latin typeface="Cambria Math" panose="02040503050406030204" pitchFamily="18" charset="0"/>
                                  <a:ea typeface="Arial"/>
                                  <a:cs typeface="Arial"/>
                                  <a:sym typeface="Arial"/>
                                </a:rPr>
                              </m:ctrlPr>
                            </m:mP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𝑥</m:t>
                                </m:r>
                              </m:e>
                            </m:mr>
                            <m:mr>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sin</m:t>
                                    </m:r>
                                  </m:fName>
                                  <m:e>
                                    <m:r>
                                      <a:rPr lang="en-US" sz="2200" b="0" i="1" smtClean="0">
                                        <a:latin typeface="Cambria Math" panose="02040503050406030204" pitchFamily="18" charset="0"/>
                                        <a:ea typeface="Arial"/>
                                        <a:cs typeface="Arial"/>
                                        <a:sym typeface="Arial"/>
                                      </a:rPr>
                                      <m:t>𝜃</m:t>
                                    </m:r>
                                  </m:e>
                                </m:func>
                              </m:e>
                              <m:e>
                                <m:func>
                                  <m:funcPr>
                                    <m:ctrlPr>
                                      <a:rPr lang="en-US" sz="2200" b="0" i="1" smtClean="0">
                                        <a:latin typeface="Cambria Math" panose="02040503050406030204" pitchFamily="18" charset="0"/>
                                        <a:ea typeface="Arial"/>
                                        <a:cs typeface="Arial"/>
                                        <a:sym typeface="Arial"/>
                                      </a:rPr>
                                    </m:ctrlPr>
                                  </m:funcPr>
                                  <m:fName>
                                    <m:r>
                                      <m:rPr>
                                        <m:sty m:val="p"/>
                                      </m:rPr>
                                      <a:rPr lang="en-US" sz="2200" b="0" i="0" smtClean="0">
                                        <a:latin typeface="Cambria Math" panose="02040503050406030204" pitchFamily="18" charset="0"/>
                                        <a:ea typeface="Arial"/>
                                        <a:cs typeface="Arial"/>
                                        <a:sym typeface="Arial"/>
                                      </a:rPr>
                                      <m:t>cos</m:t>
                                    </m:r>
                                  </m:fName>
                                  <m:e>
                                    <m:r>
                                      <a:rPr lang="en-US" sz="2200" b="0" i="1" smtClean="0">
                                        <a:latin typeface="Cambria Math" panose="02040503050406030204" pitchFamily="18" charset="0"/>
                                        <a:ea typeface="Arial"/>
                                        <a:cs typeface="Arial"/>
                                        <a:sym typeface="Arial"/>
                                      </a:rPr>
                                      <m:t>𝜃</m:t>
                                    </m:r>
                                  </m:e>
                                </m:func>
                              </m:e>
                              <m:e>
                                <m:r>
                                  <a:rPr lang="en-US" sz="2200" b="0" i="1" smtClean="0">
                                    <a:latin typeface="Cambria Math" panose="02040503050406030204" pitchFamily="18" charset="0"/>
                                    <a:ea typeface="Arial"/>
                                    <a:cs typeface="Arial"/>
                                    <a:sym typeface="Arial"/>
                                  </a:rPr>
                                  <m:t>𝑦</m:t>
                                </m:r>
                              </m:e>
                            </m:mr>
                            <m:mr>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0</m:t>
                                </m:r>
                              </m:e>
                              <m:e>
                                <m:r>
                                  <a:rPr lang="en-US" sz="2200" b="0" i="1" smtClean="0">
                                    <a:latin typeface="Cambria Math" panose="02040503050406030204" pitchFamily="18" charset="0"/>
                                    <a:ea typeface="Arial"/>
                                    <a:cs typeface="Arial"/>
                                    <a:sym typeface="Arial"/>
                                  </a:rPr>
                                  <m:t>1</m:t>
                                </m:r>
                              </m:e>
                            </m:mr>
                          </m:m>
                        </m:e>
                      </m:d>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SLAM algorithm optimizes some collection of these pose triples over time. Since again we are optimizing the robot’s position / trajectory that it has taken.</a:t>
                </a: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1B591A1-DAF4-7307-4872-98CEFFCDAF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64BAB2F-0808-73E1-78BB-77A819655D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630C026-3464-6074-2A70-E1308F9E9A1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346DF92-C0FD-5E5B-358C-ABA6043099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3D0EF-3DB5-D4D5-6E09-81B91D1C2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14F2335-A565-AD90-830A-356CB92232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0B7DEF-6F6E-9C2F-29AD-A572B4F2A2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9887E01-F650-C2B9-8AA9-2CBBEA6256E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BD84E35-267E-1FB3-8F17-3D74E295D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2862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0C81FA-C236-4637-C323-58A169BB8D1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9862B65-4BC6-7BCE-BB7D-D43A50ED04F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SLAM Loop: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50000"/>
              </a:lnSpc>
              <a:spcBef>
                <a:spcPts val="0"/>
              </a:spcBef>
              <a:buSzPts val="3000"/>
            </a:pPr>
            <a:r>
              <a:rPr lang="en-US" sz="2200" dirty="0">
                <a:latin typeface="Arial"/>
                <a:ea typeface="Arial"/>
                <a:cs typeface="Arial"/>
                <a:sym typeface="Arial"/>
              </a:rPr>
              <a:t>Read odometry: produce fast prior estimate of new pose</a:t>
            </a:r>
          </a:p>
          <a:p>
            <a:pPr marL="342900">
              <a:lnSpc>
                <a:spcPct val="150000"/>
              </a:lnSpc>
              <a:spcBef>
                <a:spcPts val="0"/>
              </a:spcBef>
              <a:buSzPts val="3000"/>
            </a:pPr>
            <a:r>
              <a:rPr lang="en-US" sz="2200" dirty="0">
                <a:latin typeface="Arial"/>
                <a:ea typeface="Arial"/>
                <a:cs typeface="Arial"/>
                <a:sym typeface="Arial"/>
              </a:rPr>
              <a:t>Read LiDAR: capture current snapshot of the world</a:t>
            </a:r>
          </a:p>
          <a:p>
            <a:pPr marL="342900">
              <a:lnSpc>
                <a:spcPct val="150000"/>
              </a:lnSpc>
              <a:spcBef>
                <a:spcPts val="0"/>
              </a:spcBef>
              <a:buSzPts val="3000"/>
            </a:pPr>
            <a:r>
              <a:rPr lang="en-US" sz="2200" dirty="0">
                <a:latin typeface="Arial"/>
                <a:ea typeface="Arial"/>
                <a:cs typeface="Arial"/>
                <a:sym typeface="Arial"/>
              </a:rPr>
              <a:t>Scan-match the snapshot again recent scans: refine the pose estimate</a:t>
            </a:r>
          </a:p>
          <a:p>
            <a:pPr marL="342900">
              <a:lnSpc>
                <a:spcPct val="150000"/>
              </a:lnSpc>
              <a:spcBef>
                <a:spcPts val="0"/>
              </a:spcBef>
              <a:buSzPts val="3000"/>
            </a:pPr>
            <a:r>
              <a:rPr lang="en-US" sz="2200" dirty="0">
                <a:latin typeface="Arial"/>
                <a:ea typeface="Arial"/>
                <a:cs typeface="Arial"/>
                <a:sym typeface="Arial"/>
              </a:rPr>
              <a:t>Fuse LiDAR correction with odometry prior: publish the best pose</a:t>
            </a:r>
          </a:p>
          <a:p>
            <a:pPr marL="342900">
              <a:lnSpc>
                <a:spcPct val="150000"/>
              </a:lnSpc>
              <a:spcBef>
                <a:spcPts val="0"/>
              </a:spcBef>
              <a:buSzPts val="3000"/>
            </a:pPr>
            <a:r>
              <a:rPr lang="en-US" sz="2200" dirty="0">
                <a:latin typeface="Arial"/>
                <a:ea typeface="Arial"/>
                <a:cs typeface="Arial"/>
                <a:sym typeface="Arial"/>
              </a:rPr>
              <a:t>Updating the map using the newly confirmed pose: repeat</a:t>
            </a:r>
          </a:p>
        </p:txBody>
      </p:sp>
      <p:sp>
        <p:nvSpPr>
          <p:cNvPr id="119" name="Google Shape;119;p29">
            <a:extLst>
              <a:ext uri="{FF2B5EF4-FFF2-40B4-BE49-F238E27FC236}">
                <a16:creationId xmlns:a16="http://schemas.microsoft.com/office/drawing/2014/main" id="{BB8C129D-67E3-880B-8846-A0136FFE6BE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7F4A5EE-DDEB-C0C6-3264-0236E14FB75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619643D-3894-B080-F2EB-5CB8AA39F2A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79AE26C-1729-B286-0EA7-C056C3E333E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8E1D0E2-AB83-EE7A-F87F-29DC9DC577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674FB30-4EAE-1152-0916-5E3D31C39AA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87DCA00-1C90-E014-C959-992AE50786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A2DE42D-F927-4C8D-3BAD-159480568E6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679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FAFA041-EFCF-0C03-6CE7-63518DAED8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3B6F294-945B-372C-AE4B-C4BDA4097F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41E585-E7B1-6987-504F-5C94A4F001E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59FA13D-D9F5-75B7-6F27-B46783BEA9B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4D31523-4413-FAD6-A6DB-6948C7D2D99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55BFAD-EB9A-4F9A-ECA5-255A20E41C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EECA10-009A-C17A-879C-DB6EEE7DD6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93E3580-96E1-EC0F-9308-36C08C33A12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5BBB27-F7D4-89B4-E32F-2F5893B9BB7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94E4C2D-B133-A7BD-6E7F-280D7170D46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127341" y="881452"/>
            <a:ext cx="5937318" cy="5733187"/>
          </a:xfrm>
          <a:prstGeom prst="rect">
            <a:avLst/>
          </a:prstGeom>
        </p:spPr>
      </p:pic>
    </p:spTree>
    <p:extLst>
      <p:ext uri="{BB962C8B-B14F-4D97-AF65-F5344CB8AC3E}">
        <p14:creationId xmlns:p14="http://schemas.microsoft.com/office/powerpoint/2010/main" val="98212881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321ED334-FF21-478F-D09E-FB9CA0A98E20}"/>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09AC788F-B7FB-D965-3755-B2DA54A315FD}"/>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9552A76-BEE5-25E6-ACC6-12B208CF3C8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Where am I?</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595490FA-E6A2-2B57-F286-ED8138915D0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46651B4F-CD5D-D1B1-1DD1-FF86B8CBA82E}"/>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09DD9FC0-817A-B7D0-D7CD-40F7C1EED3E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106C3CBD-7B4B-0C98-6CB6-8A454881CC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21A2233-4732-38CC-8301-08C5A7D1E27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F0321B-EE4C-6D91-1382-2A077642741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DC17562-3A51-9A89-CC29-CEA69CE00F92}"/>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E3DA8651-E506-D950-F466-23ECA51888A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9101665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99FDC1C-10CA-5B64-F083-D53B7EDFB13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C50074B-9940-1774-0551-578F615F47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need to perform localization, specifically with LiDAR, we are aligning, the newly provided scan with the previous scan centimeters at a time.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Every scan-match boils down to finding one rigid transformation</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Given a source point cloud P (current scan) and a target Q (previous scan or map)</a:t>
                </a:r>
              </a:p>
              <a:p>
                <a:pPr marL="342900">
                  <a:lnSpc>
                    <a:spcPct val="100000"/>
                  </a:lnSpc>
                  <a:spcBef>
                    <a:spcPts val="0"/>
                  </a:spcBef>
                  <a:buSzPts val="3000"/>
                </a:pPr>
                <a:r>
                  <a:rPr lang="en-US" sz="2200" dirty="0">
                    <a:latin typeface="Arial"/>
                    <a:ea typeface="Arial"/>
                    <a:cs typeface="Arial"/>
                    <a:sym typeface="Arial"/>
                  </a:rPr>
                  <a:t>Find the rotation R and translation t that best overlays P onto Q</a:t>
                </a:r>
              </a:p>
              <a:p>
                <a:pPr marL="342900">
                  <a:lnSpc>
                    <a:spcPct val="100000"/>
                  </a:lnSpc>
                  <a:spcBef>
                    <a:spcPts val="0"/>
                  </a:spcBef>
                  <a:buSzPts val="3000"/>
                </a:pPr>
                <a:r>
                  <a:rPr lang="en-US" sz="2200" dirty="0">
                    <a:latin typeface="Arial"/>
                    <a:ea typeface="Arial"/>
                    <a:cs typeface="Arial"/>
                    <a:sym typeface="Arial"/>
                  </a:rPr>
                  <a:t>"Best" = minimizes a chosen error metric over all matched point pairs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If we know how the world moved relative to the robot, we know how the robot moved</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𝑇</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d>
                        <m:dPr>
                          <m:ctrlPr>
                            <a:rPr lang="en-US" sz="2200" b="0" i="1" smtClean="0">
                              <a:latin typeface="Cambria Math" panose="02040503050406030204" pitchFamily="18" charset="0"/>
                              <a:ea typeface="Arial"/>
                              <a:cs typeface="Arial"/>
                              <a:sym typeface="Arial"/>
                            </a:rPr>
                          </m:ctrlPr>
                        </m:dPr>
                        <m:e>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𝑅</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e>
                      </m:d>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r>
                            <m:rPr>
                              <m:sty m:val="p"/>
                            </m:rPr>
                            <a:rPr lang="en-US" sz="2200" b="0" i="1" smtClean="0">
                              <a:latin typeface="Cambria Math" panose="02040503050406030204" pitchFamily="18" charset="0"/>
                              <a:ea typeface="Arial"/>
                              <a:cs typeface="Arial"/>
                              <a:sym typeface="Arial"/>
                            </a:rPr>
                            <m:t>arg</m:t>
                          </m:r>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min</m:t>
                              </m:r>
                            </m:e>
                            <m:lim>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lim>
                          </m:limLow>
                        </m:fName>
                        <m:e>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r>
                                <a:rPr lang="en-US" sz="2200" b="0" i="1" smtClean="0">
                                  <a:latin typeface="Cambria Math" panose="02040503050406030204" pitchFamily="18" charset="0"/>
                                  <a:ea typeface="Arial"/>
                                  <a:cs typeface="Arial"/>
                                  <a:sym typeface="Arial"/>
                                </a:rPr>
                                <m:t>𝑒𝑟𝑟𝑜𝑟</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nary>
                        </m:e>
                      </m:func>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C50074B-9940-1774-0551-578F615F474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32BE03B-60FE-7BB5-D3E9-8E47B47A2AA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F05407-9200-EBC6-BB16-BDA1A24DE5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8F9503-ED87-D0D7-414D-2EC52F7BC06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3AC6B1-306C-3510-4D7B-13EDE321045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884ED9-0352-89F0-3FFF-12B88787374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65E0B0E-44CE-3755-B0D2-C4E4153E96B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18A9C4-45D0-F988-067F-5E95F6A69E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B7D86A8-FFBD-3279-4A98-148A8EEAF50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389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928DE6F-7C95-FBAC-9304-2C0A8AE8152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E3B566A-C130-9951-3ECB-4D71D50412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1D wall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Imagine your robot is in a 1D hallway facing a wall,</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1: The target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is at global position 0</a:t>
                </a:r>
              </a:p>
              <a:p>
                <a:pPr marL="342900">
                  <a:lnSpc>
                    <a:spcPct val="100000"/>
                  </a:lnSpc>
                  <a:spcBef>
                    <a:spcPts val="0"/>
                  </a:spcBef>
                  <a:buSzPts val="3000"/>
                </a:pPr>
                <a:r>
                  <a:rPr lang="en-US" sz="2200" dirty="0">
                    <a:latin typeface="Arial"/>
                    <a:ea typeface="Arial"/>
                    <a:cs typeface="Arial"/>
                    <a:sym typeface="Arial"/>
                  </a:rPr>
                  <a:t>The wall is 5 meters ahead</a:t>
                </a:r>
              </a:p>
              <a:p>
                <a:pPr marL="342900">
                  <a:lnSpc>
                    <a:spcPct val="100000"/>
                  </a:lnSpc>
                  <a:spcBef>
                    <a:spcPts val="0"/>
                  </a:spcBef>
                  <a:buSzPts val="3000"/>
                </a:pPr>
                <a:r>
                  <a:rPr lang="en-US" sz="2200" dirty="0">
                    <a:latin typeface="Arial"/>
                    <a:ea typeface="Arial"/>
                    <a:cs typeface="Arial"/>
                    <a:sym typeface="Arial"/>
                  </a:rPr>
                  <a:t>The LiDAR records a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 5</m:t>
                    </m:r>
                  </m:oMath>
                </a14:m>
                <a:r>
                  <a:rPr lang="en-US" sz="2200" dirty="0">
                    <a:latin typeface="Arial"/>
                    <a:ea typeface="Arial"/>
                    <a:cs typeface="Arial"/>
                    <a:sym typeface="Arial"/>
                  </a:rPr>
                  <a:t>. This is our prior scan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Time step 2: The Source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a:t>
                </a:r>
              </a:p>
              <a:p>
                <a:pPr marL="342900">
                  <a:lnSpc>
                    <a:spcPct val="100000"/>
                  </a:lnSpc>
                  <a:spcBef>
                    <a:spcPts val="0"/>
                  </a:spcBef>
                  <a:buSzPts val="3000"/>
                </a:pPr>
                <a:r>
                  <a:rPr lang="en-US" sz="2200" dirty="0">
                    <a:latin typeface="Arial"/>
                    <a:ea typeface="Arial"/>
                    <a:cs typeface="Arial"/>
                    <a:sym typeface="Arial"/>
                  </a:rPr>
                  <a:t>The robot drives forward 2 meters.</a:t>
                </a:r>
              </a:p>
              <a:p>
                <a:pPr marL="342900">
                  <a:lnSpc>
                    <a:spcPct val="100000"/>
                  </a:lnSpc>
                  <a:spcBef>
                    <a:spcPts val="0"/>
                  </a:spcBef>
                  <a:buSzPts val="3000"/>
                </a:pPr>
                <a:r>
                  <a:rPr lang="en-US" sz="2200" dirty="0">
                    <a:latin typeface="Arial"/>
                    <a:ea typeface="Arial"/>
                    <a:cs typeface="Arial"/>
                    <a:sym typeface="Arial"/>
                  </a:rPr>
                  <a:t>The wall has not moved, but because the robot is closer the LiDAR measures the wall as being only 3 meters away</a:t>
                </a:r>
              </a:p>
              <a:p>
                <a:pPr marL="342900">
                  <a:lnSpc>
                    <a:spcPct val="100000"/>
                  </a:lnSpc>
                  <a:spcBef>
                    <a:spcPts val="0"/>
                  </a:spcBef>
                  <a:buSzPts val="3000"/>
                </a:pPr>
                <a:r>
                  <a:rPr lang="en-US" sz="2200" dirty="0">
                    <a:latin typeface="Arial"/>
                    <a:ea typeface="Arial"/>
                    <a:cs typeface="Arial"/>
                    <a:sym typeface="Arial"/>
                  </a:rPr>
                  <a:t>The LiDAR records a new point at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=3</m:t>
                    </m:r>
                  </m:oMath>
                </a14:m>
                <a:r>
                  <a:rPr lang="en-US" sz="2200" dirty="0">
                    <a:latin typeface="Arial"/>
                    <a:ea typeface="Arial"/>
                    <a:cs typeface="Arial"/>
                    <a:sym typeface="Arial"/>
                  </a:rPr>
                  <a:t>, this is the new scan</a:t>
                </a:r>
              </a:p>
            </p:txBody>
          </p:sp>
        </mc:Choice>
        <mc:Fallback xmlns="">
          <p:sp>
            <p:nvSpPr>
              <p:cNvPr id="118" name="Google Shape;118;p29">
                <a:extLst>
                  <a:ext uri="{FF2B5EF4-FFF2-40B4-BE49-F238E27FC236}">
                    <a16:creationId xmlns:a16="http://schemas.microsoft.com/office/drawing/2014/main" id="{5E3B566A-C130-9951-3ECB-4D71D50412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r="-982" b="-31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A419A-5795-D829-7707-1A6A5D38C7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E411F8-306F-94E0-6CEB-08AC8C3F80B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04B2E1-5E2C-A222-0C6C-150C92285AC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30BBF0-E57D-56E7-D4B6-0655EE995C5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CE2675-4A81-CBBC-3C5F-0D2D81EFC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464DB8-6E83-2969-FC92-381B5418A5D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1377F93-5207-E41D-85A0-68B637EFD2F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147C52-68F8-E298-386F-92F50042146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43250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77FEE27-8B31-1A43-52CF-CC21C4488AD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FFD8BA5-268D-97D7-E2B7-BA6013C0924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If we just blindly drop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oMath>
                </a14:m>
                <a:r>
                  <a:rPr lang="en-US" sz="2200" dirty="0">
                    <a:latin typeface="Arial"/>
                    <a:ea typeface="Arial"/>
                    <a:cs typeface="Arial"/>
                    <a:sym typeface="Arial"/>
                  </a:rPr>
                  <a:t> and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oMath>
                </a14:m>
                <a:r>
                  <a:rPr lang="en-US" sz="2200" dirty="0">
                    <a:latin typeface="Arial"/>
                    <a:ea typeface="Arial"/>
                    <a:cs typeface="Arial"/>
                    <a:sym typeface="Arial"/>
                  </a:rPr>
                  <a:t> into the same local coordinate space without moving them, they do not align!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sees a point at 3 and a point at 5!</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Now we apply our objective function to find the transformation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(ignoring rotation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oMath>
                </a14:m>
                <a:r>
                  <a:rPr lang="en-US" sz="2200" dirty="0">
                    <a:latin typeface="Arial"/>
                    <a:ea typeface="Arial"/>
                    <a:cs typeface="Arial"/>
                    <a:sym typeface="Arial"/>
                  </a:rPr>
                  <a:t> for this 1D example):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𝑡</m:t>
                          </m:r>
                        </m:e>
                        <m:sup>
                          <m:r>
                            <a:rPr lang="en-US" sz="2200" b="0" i="1" smtClean="0">
                              <a:latin typeface="Cambria Math" panose="02040503050406030204" pitchFamily="18" charset="0"/>
                              <a:ea typeface="Arial"/>
                              <a:cs typeface="Arial"/>
                              <a:sym typeface="Arial"/>
                            </a:rPr>
                            <m:t>∗</m:t>
                          </m:r>
                        </m:sup>
                      </m:sSup>
                      <m:r>
                        <a:rPr lang="en-US" sz="2200" b="0" i="1" smtClean="0">
                          <a:latin typeface="Cambria Math" panose="02040503050406030204" pitchFamily="18" charset="0"/>
                          <a:ea typeface="Arial"/>
                          <a:cs typeface="Arial"/>
                          <a:sym typeface="Arial"/>
                        </a:rPr>
                        <m:t>=</m:t>
                      </m:r>
                      <m:func>
                        <m:funcPr>
                          <m:ctrlPr>
                            <a:rPr lang="en-US" sz="2200" b="0" i="1" smtClean="0">
                              <a:latin typeface="Cambria Math" panose="02040503050406030204" pitchFamily="18" charset="0"/>
                              <a:ea typeface="Arial"/>
                              <a:cs typeface="Arial"/>
                              <a:sym typeface="Arial"/>
                            </a:rPr>
                          </m:ctrlPr>
                        </m:funcPr>
                        <m:fName>
                          <m:limLow>
                            <m:limLowPr>
                              <m:ctrlPr>
                                <a:rPr lang="en-US" sz="2200" b="0" i="1" smtClean="0">
                                  <a:latin typeface="Cambria Math" panose="02040503050406030204" pitchFamily="18" charset="0"/>
                                  <a:ea typeface="Arial"/>
                                  <a:cs typeface="Arial"/>
                                  <a:sym typeface="Arial"/>
                                </a:rPr>
                              </m:ctrlPr>
                            </m:limLowPr>
                            <m:e>
                              <m:r>
                                <m:rPr>
                                  <m:sty m:val="p"/>
                                </m:rPr>
                                <a:rPr lang="en-US" sz="2200" b="0" i="0" smtClean="0">
                                  <a:latin typeface="Cambria Math" panose="02040503050406030204" pitchFamily="18" charset="0"/>
                                  <a:ea typeface="Arial"/>
                                  <a:cs typeface="Arial"/>
                                  <a:sym typeface="Arial"/>
                                </a:rPr>
                                <m:t>argmin</m:t>
                              </m:r>
                            </m:e>
                            <m:lim>
                              <m:r>
                                <a:rPr lang="en-US" sz="2200" b="0" i="1" smtClean="0">
                                  <a:latin typeface="Cambria Math" panose="02040503050406030204" pitchFamily="18" charset="0"/>
                                  <a:ea typeface="Arial"/>
                                  <a:cs typeface="Arial"/>
                                  <a:sym typeface="Arial"/>
                                </a:rPr>
                                <m:t>𝑡</m:t>
                              </m:r>
                            </m:lim>
                          </m:limLow>
                        </m:fName>
                        <m:e>
                          <m:nary>
                            <m:naryPr>
                              <m:chr m:val="∑"/>
                              <m:subHide m:val="on"/>
                              <m:supHide m:val="on"/>
                              <m:ctrlPr>
                                <a:rPr lang="en-US" sz="2200" b="0" i="1" smtClean="0">
                                  <a:latin typeface="Cambria Math" panose="02040503050406030204" pitchFamily="18" charset="0"/>
                                  <a:ea typeface="Arial"/>
                                  <a:cs typeface="Arial"/>
                                  <a:sym typeface="Arial"/>
                                </a:rPr>
                              </m:ctrlPr>
                            </m:naryPr>
                            <m:sub/>
                            <m:sup/>
                            <m:e>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𝑝</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𝑞</m:t>
                                      </m:r>
                                    </m:e>
                                  </m:d>
                                </m:e>
                                <m:sup>
                                  <m:r>
                                    <a:rPr lang="en-US" sz="2200" b="0" i="1" smtClean="0">
                                      <a:latin typeface="Cambria Math" panose="02040503050406030204" pitchFamily="18" charset="0"/>
                                      <a:ea typeface="Arial"/>
                                      <a:cs typeface="Arial"/>
                                      <a:sym typeface="Arial"/>
                                    </a:rPr>
                                    <m:t>2</m:t>
                                  </m:r>
                                </m:sup>
                              </m:sSup>
                            </m:e>
                          </m:nary>
                        </m:e>
                      </m:func>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algorithm thus asks: “How much do I need to shift the new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p</m:t>
                    </m:r>
                    <m:r>
                      <a:rPr lang="en-US" sz="2200" b="0" i="1" smtClean="0">
                        <a:latin typeface="Cambria Math" panose="02040503050406030204" pitchFamily="18" charset="0"/>
                        <a:ea typeface="Arial"/>
                        <a:cs typeface="Arial"/>
                        <a:sym typeface="Arial"/>
                      </a:rPr>
                      <m:t> = 3</m:t>
                    </m:r>
                  </m:oMath>
                </a14:m>
                <a:r>
                  <a:rPr lang="en-US" sz="2200" dirty="0">
                    <a:latin typeface="Arial"/>
                    <a:ea typeface="Arial"/>
                    <a:cs typeface="Arial"/>
                    <a:sym typeface="Arial"/>
                  </a:rPr>
                  <a:t>), so it sits as best it can on top of the old point (</a:t>
                </a:r>
                <a14:m>
                  <m:oMath xmlns:m="http://schemas.openxmlformats.org/officeDocument/2006/math">
                    <m:r>
                      <m:rPr>
                        <m:sty m:val="p"/>
                      </m:rPr>
                      <a:rPr lang="en-US" sz="2200" b="0" i="1" smtClean="0">
                        <a:latin typeface="Cambria Math" panose="02040503050406030204" pitchFamily="18" charset="0"/>
                        <a:ea typeface="Arial"/>
                        <a:cs typeface="Arial"/>
                        <a:sym typeface="Arial"/>
                      </a:rPr>
                      <m:t>q</m:t>
                    </m:r>
                    <m:r>
                      <a:rPr lang="en-US" sz="2200" b="0" i="1" smtClean="0">
                        <a:latin typeface="Cambria Math" panose="02040503050406030204" pitchFamily="18" charset="0"/>
                        <a:ea typeface="Arial"/>
                        <a:cs typeface="Arial"/>
                        <a:sym typeface="Arial"/>
                      </a:rPr>
                      <m:t>=5</m:t>
                    </m:r>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is the optimal </a:t>
                </a:r>
                <a14:m>
                  <m:oMath xmlns:m="http://schemas.openxmlformats.org/officeDocument/2006/math">
                    <m:r>
                      <m:rPr>
                        <m:sty m:val="p"/>
                      </m:rPr>
                      <a:rPr lang="en-US" sz="2200" b="0" i="1" smtClean="0">
                        <a:latin typeface="Cambria Math" panose="02040503050406030204" pitchFamily="18" charset="0"/>
                        <a:ea typeface="Arial"/>
                        <a:cs typeface="Arial"/>
                        <a:sym typeface="Arial"/>
                      </a:rPr>
                      <m:t>t</m:t>
                    </m:r>
                  </m:oMath>
                </a14:m>
                <a:r>
                  <a:rPr lang="en-US" sz="2200" dirty="0">
                    <a:latin typeface="Arial"/>
                    <a:ea typeface="Arial"/>
                    <a:cs typeface="Arial"/>
                    <a:sym typeface="Arial"/>
                  </a:rPr>
                  <a:t> in this case?</a:t>
                </a:r>
              </a:p>
            </p:txBody>
          </p:sp>
        </mc:Choice>
        <mc:Fallback xmlns="">
          <p:sp>
            <p:nvSpPr>
              <p:cNvPr id="118" name="Google Shape;118;p29">
                <a:extLst>
                  <a:ext uri="{FF2B5EF4-FFF2-40B4-BE49-F238E27FC236}">
                    <a16:creationId xmlns:a16="http://schemas.microsoft.com/office/drawing/2014/main" id="{EFFD8BA5-268D-97D7-E2B7-BA6013C0924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480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8987F96-CD3E-BBEA-6208-947A557A1D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89A0B3A-0D5A-DA3E-13BC-7B50CD4CAB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5D3B5E-3DF2-DB8F-ED75-D6BD39C6BC2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B146F0F-28F6-3B10-0735-F487B9307E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F7121B4-6DF8-F745-2C27-6FACD34DBF3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18B2A5-EC31-FFCC-312A-A83C264CEA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4724B50-96E0-D78B-9C0D-3D16DC8C6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4A49B4-1BB6-D2C7-A8A8-1233505D5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61929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E8AFC9-DCA0-A170-785E-58DDC081E84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18E6A7D-7C03-90B5-44C6-DA653933FB0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A858E9-4E33-9148-F601-1FC3F17BC0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5BC10-1281-3637-7463-2739E690A6B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079D369-68D7-02E2-018D-BF7B7ABB04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C25CBD-F11F-8CF4-2F43-9909419A97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33D52BC-9F31-2358-36E0-3E6F2BB3AC3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85E408C-46AF-D3B6-293F-70505363CA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31247C-5581-B68D-86D9-28F24EE1391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C79949CB-594B-F688-E4EF-95F9EBEE646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4827" y="886287"/>
            <a:ext cx="6922346" cy="5715247"/>
          </a:xfrm>
          <a:prstGeom prst="rect">
            <a:avLst/>
          </a:prstGeom>
        </p:spPr>
      </p:pic>
    </p:spTree>
    <p:extLst>
      <p:ext uri="{BB962C8B-B14F-4D97-AF65-F5344CB8AC3E}">
        <p14:creationId xmlns:p14="http://schemas.microsoft.com/office/powerpoint/2010/main" val="9481951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E03BF9-D61A-A4D9-E6F2-9D582C995FE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9B75BFF-A104-C319-D9E5-F631D31BCDA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algorithm tells you that to align the scans, you must apply a translation of +2 meters to the new scan.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That +2 meters is exactly the distance the robot drove forward!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matches are indeed close to each other in the physical world, but they are offset in the sensors by the exact inverse of the robot's motion.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By finding the transformation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shifts the new local scan (</a:t>
                </a:r>
                <a14:m>
                  <m:oMath xmlns:m="http://schemas.openxmlformats.org/officeDocument/2006/math">
                    <m:r>
                      <a:rPr lang="en-US" sz="2200" i="1" dirty="0" smtClean="0">
                        <a:latin typeface="Cambria Math" panose="02040503050406030204" pitchFamily="18" charset="0"/>
                        <a:ea typeface="Arial"/>
                        <a:cs typeface="Arial"/>
                        <a:sym typeface="Arial"/>
                      </a:rPr>
                      <m:t>𝑃</m:t>
                    </m:r>
                  </m:oMath>
                </a14:m>
                <a:r>
                  <a:rPr lang="en-US" sz="2200" dirty="0">
                    <a:latin typeface="Arial"/>
                    <a:ea typeface="Arial"/>
                    <a:cs typeface="Arial"/>
                    <a:sym typeface="Arial"/>
                  </a:rPr>
                  <a:t>) to overlay perfectly onto the global map (</a:t>
                </a:r>
                <a14:m>
                  <m:oMath xmlns:m="http://schemas.openxmlformats.org/officeDocument/2006/math">
                    <m:r>
                      <a:rPr lang="en-US" sz="2200" i="1" dirty="0" smtClean="0">
                        <a:latin typeface="Cambria Math" panose="02040503050406030204" pitchFamily="18" charset="0"/>
                        <a:ea typeface="Arial"/>
                        <a:cs typeface="Arial"/>
                        <a:sym typeface="Arial"/>
                      </a:rPr>
                      <m:t>𝑄</m:t>
                    </m:r>
                  </m:oMath>
                </a14:m>
                <a:r>
                  <a:rPr lang="en-US" sz="2200" dirty="0">
                    <a:latin typeface="Arial"/>
                    <a:ea typeface="Arial"/>
                    <a:cs typeface="Arial"/>
                    <a:sym typeface="Arial"/>
                  </a:rPr>
                  <a:t>), you are simultaneously calculating the robot's current pose in the world!</a:t>
                </a:r>
              </a:p>
            </p:txBody>
          </p:sp>
        </mc:Choice>
        <mc:Fallback xmlns="">
          <p:sp>
            <p:nvSpPr>
              <p:cNvPr id="118" name="Google Shape;118;p29">
                <a:extLst>
                  <a:ext uri="{FF2B5EF4-FFF2-40B4-BE49-F238E27FC236}">
                    <a16:creationId xmlns:a16="http://schemas.microsoft.com/office/drawing/2014/main" id="{59B75BFF-A104-C319-D9E5-F631D31BCDA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E13E55C-F724-F4BB-12D9-E7A23717A0F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EA9DF77-EA39-C903-3A6B-B2FA82C3DBD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SLAM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B796EA6-1013-C8CE-2056-DDB99563940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337AB9-1872-DE8B-4A2D-2CDD13A1DF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9EC9943-4515-5705-D73D-30A4F1B07B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9EE6BC-41CF-3E15-914D-5120B84CBA2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F2CD1BD-0F51-76A7-F5EC-6BDC6FC35C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3A2B2D-8F4C-2D25-482F-2829005566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10068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7DC8DD-B0E4-119E-6015-DDC2586E860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609DC74-815C-4944-842F-8BB5BD6E1E2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mj-lt"/>
                <a:ea typeface="Arial"/>
                <a:cs typeface="Arial"/>
                <a:sym typeface="Arial"/>
              </a:rPr>
              <a:t>They differ in how many hypotheses (position estimates) they track and how they correct errors</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a:p>
            <a:pPr marL="342900">
              <a:lnSpc>
                <a:spcPct val="100000"/>
              </a:lnSpc>
              <a:spcBef>
                <a:spcPts val="0"/>
              </a:spcBef>
              <a:buSzPts val="3000"/>
            </a:pPr>
            <a:r>
              <a:rPr lang="en-US" sz="2200" dirty="0">
                <a:latin typeface="+mj-lt"/>
                <a:ea typeface="Arial"/>
                <a:cs typeface="Arial"/>
                <a:sym typeface="Arial"/>
              </a:rPr>
              <a:t>Modern SLAM combine all three: ICP for the front-end, filters for </a:t>
            </a:r>
            <a:r>
              <a:rPr lang="en-US" sz="2200" dirty="0" err="1">
                <a:latin typeface="+mj-lt"/>
                <a:ea typeface="Arial"/>
                <a:cs typeface="Arial"/>
                <a:sym typeface="Arial"/>
              </a:rPr>
              <a:t>relocalization</a:t>
            </a:r>
            <a:r>
              <a:rPr lang="en-US" sz="2200" dirty="0">
                <a:latin typeface="+mj-lt"/>
                <a:ea typeface="Arial"/>
                <a:cs typeface="Arial"/>
                <a:sym typeface="Arial"/>
              </a:rPr>
              <a:t>, graphs for the backend</a:t>
            </a:r>
          </a:p>
          <a:p>
            <a:pPr marL="0" indent="0">
              <a:lnSpc>
                <a:spcPct val="100000"/>
              </a:lnSpc>
              <a:spcBef>
                <a:spcPts val="0"/>
              </a:spcBef>
              <a:buSzPts val="3000"/>
              <a:buNone/>
            </a:pPr>
            <a:endParaRPr lang="en-US" sz="2200" dirty="0">
              <a:latin typeface="+mj-lt"/>
              <a:ea typeface="Arial"/>
              <a:cs typeface="Arial"/>
              <a:sym typeface="Arial"/>
            </a:endParaRPr>
          </a:p>
          <a:p>
            <a:pPr marL="0" indent="0">
              <a:lnSpc>
                <a:spcPct val="100000"/>
              </a:lnSpc>
              <a:spcBef>
                <a:spcPts val="0"/>
              </a:spcBef>
              <a:buSzPts val="3000"/>
              <a:buNone/>
            </a:pPr>
            <a:endParaRPr lang="en-US" sz="2200" dirty="0">
              <a:latin typeface="+mj-lt"/>
              <a:ea typeface="Arial"/>
              <a:cs typeface="Arial"/>
              <a:sym typeface="Arial"/>
            </a:endParaRPr>
          </a:p>
        </p:txBody>
      </p:sp>
      <p:sp>
        <p:nvSpPr>
          <p:cNvPr id="119" name="Google Shape;119;p29">
            <a:extLst>
              <a:ext uri="{FF2B5EF4-FFF2-40B4-BE49-F238E27FC236}">
                <a16:creationId xmlns:a16="http://schemas.microsoft.com/office/drawing/2014/main" id="{98C0561E-C8E1-AB29-D81F-35A18C54B08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mj-lt"/>
              <a:ea typeface="Calibri"/>
              <a:cs typeface="Calibri"/>
              <a:sym typeface="Calibri"/>
            </a:endParaRPr>
          </a:p>
        </p:txBody>
      </p:sp>
      <p:sp>
        <p:nvSpPr>
          <p:cNvPr id="120" name="Google Shape;120;p29">
            <a:extLst>
              <a:ext uri="{FF2B5EF4-FFF2-40B4-BE49-F238E27FC236}">
                <a16:creationId xmlns:a16="http://schemas.microsoft.com/office/drawing/2014/main" id="{78C8A055-196B-C75B-5445-313AB4F478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latin typeface="+mj-lt"/>
              </a:rPr>
              <a:t>Three Families of Localization Methods</a:t>
            </a:r>
          </a:p>
        </p:txBody>
      </p:sp>
      <p:pic>
        <p:nvPicPr>
          <p:cNvPr id="121" name="Google Shape;121;p29">
            <a:extLst>
              <a:ext uri="{FF2B5EF4-FFF2-40B4-BE49-F238E27FC236}">
                <a16:creationId xmlns:a16="http://schemas.microsoft.com/office/drawing/2014/main" id="{0F9EF2F4-A05C-5C2D-3AF1-E4699AEB16E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E4524AF-8A36-90EE-35FA-48CB207D7F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dirty="0">
                <a:solidFill>
                  <a:srgbClr val="13294B"/>
                </a:solidFill>
                <a:latin typeface="+mj-lt"/>
                <a:ea typeface="Arial"/>
                <a:cs typeface="Arial"/>
                <a:sym typeface="Arial"/>
              </a:rPr>
              <a:t>GRAINGER ENGINEERING</a:t>
            </a:r>
            <a:endParaRPr dirty="0">
              <a:latin typeface="+mj-lt"/>
            </a:endParaRPr>
          </a:p>
        </p:txBody>
      </p:sp>
      <p:sp>
        <p:nvSpPr>
          <p:cNvPr id="123" name="Google Shape;123;p29">
            <a:extLst>
              <a:ext uri="{FF2B5EF4-FFF2-40B4-BE49-F238E27FC236}">
                <a16:creationId xmlns:a16="http://schemas.microsoft.com/office/drawing/2014/main" id="{79AE9DE7-8E16-A32E-5BDB-1C9ED88B10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latin typeface="+mj-lt"/>
              </a:rPr>
              <a:t>SYSTEMS ENGINEERING </a:t>
            </a:r>
            <a:endParaRPr dirty="0">
              <a:latin typeface="+mj-lt"/>
            </a:endParaRPr>
          </a:p>
        </p:txBody>
      </p:sp>
      <p:grpSp>
        <p:nvGrpSpPr>
          <p:cNvPr id="124" name="Google Shape;124;p29">
            <a:extLst>
              <a:ext uri="{FF2B5EF4-FFF2-40B4-BE49-F238E27FC236}">
                <a16:creationId xmlns:a16="http://schemas.microsoft.com/office/drawing/2014/main" id="{D35F0031-DDFB-1EDD-D9D2-94B17CB314E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5A5445-327A-6495-07A5-D496CD8FEB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DD19557-4C42-CA8B-1744-B4DF969A88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mj-lt"/>
                <a:ea typeface="Arial"/>
                <a:cs typeface="Arial"/>
                <a:sym typeface="Arial"/>
              </a:endParaRPr>
            </a:p>
          </p:txBody>
        </p:sp>
      </p:grpSp>
      <p:grpSp>
        <p:nvGrpSpPr>
          <p:cNvPr id="25" name="Group 24">
            <a:extLst>
              <a:ext uri="{FF2B5EF4-FFF2-40B4-BE49-F238E27FC236}">
                <a16:creationId xmlns:a16="http://schemas.microsoft.com/office/drawing/2014/main" id="{CFC89405-72B7-2D93-E370-341DA655F908}"/>
              </a:ext>
            </a:extLst>
          </p:cNvPr>
          <p:cNvGrpSpPr/>
          <p:nvPr/>
        </p:nvGrpSpPr>
        <p:grpSpPr>
          <a:xfrm>
            <a:off x="548792" y="2107921"/>
            <a:ext cx="11094415" cy="3108960"/>
            <a:chOff x="490456" y="2066326"/>
            <a:chExt cx="11094415" cy="3108960"/>
          </a:xfrm>
        </p:grpSpPr>
        <p:grpSp>
          <p:nvGrpSpPr>
            <p:cNvPr id="22" name="Group 21">
              <a:extLst>
                <a:ext uri="{FF2B5EF4-FFF2-40B4-BE49-F238E27FC236}">
                  <a16:creationId xmlns:a16="http://schemas.microsoft.com/office/drawing/2014/main" id="{176FCF28-30A6-D2C7-F799-770A69A6F9B0}"/>
                </a:ext>
              </a:extLst>
            </p:cNvPr>
            <p:cNvGrpSpPr/>
            <p:nvPr/>
          </p:nvGrpSpPr>
          <p:grpSpPr>
            <a:xfrm>
              <a:off x="490456" y="2066326"/>
              <a:ext cx="3576218" cy="3108960"/>
              <a:chOff x="490456" y="2066326"/>
              <a:chExt cx="3576218" cy="3108960"/>
            </a:xfrm>
          </p:grpSpPr>
          <p:sp>
            <p:nvSpPr>
              <p:cNvPr id="2" name="Shape 3">
                <a:extLst>
                  <a:ext uri="{FF2B5EF4-FFF2-40B4-BE49-F238E27FC236}">
                    <a16:creationId xmlns:a16="http://schemas.microsoft.com/office/drawing/2014/main" id="{8A60497F-655E-1B51-70C1-1B42126E1F87}"/>
                  </a:ext>
                </a:extLst>
              </p:cNvPr>
              <p:cNvSpPr/>
              <p:nvPr/>
            </p:nvSpPr>
            <p:spPr>
              <a:xfrm>
                <a:off x="490456" y="2066326"/>
                <a:ext cx="3576218" cy="3108960"/>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E3E15BA5-0242-0A9B-CCAE-1E498207A202}"/>
                  </a:ext>
                </a:extLst>
              </p:cNvPr>
              <p:cNvSpPr/>
              <p:nvPr/>
            </p:nvSpPr>
            <p:spPr>
              <a:xfrm>
                <a:off x="490456" y="2066326"/>
                <a:ext cx="3576218" cy="45720"/>
              </a:xfrm>
              <a:prstGeom prst="rect">
                <a:avLst/>
              </a:prstGeom>
              <a:solidFill>
                <a:srgbClr val="0891B2"/>
              </a:solidFill>
              <a:ln/>
            </p:spPr>
            <p:txBody>
              <a:bodyPr/>
              <a:lstStyle/>
              <a:p>
                <a:endParaRPr lang="en-US">
                  <a:latin typeface="+mj-lt"/>
                </a:endParaRPr>
              </a:p>
            </p:txBody>
          </p:sp>
          <p:sp>
            <p:nvSpPr>
              <p:cNvPr id="4" name="Shape 5">
                <a:extLst>
                  <a:ext uri="{FF2B5EF4-FFF2-40B4-BE49-F238E27FC236}">
                    <a16:creationId xmlns:a16="http://schemas.microsoft.com/office/drawing/2014/main" id="{10D8C85A-02C0-1C59-006C-E278C973B147}"/>
                  </a:ext>
                </a:extLst>
              </p:cNvPr>
              <p:cNvSpPr/>
              <p:nvPr/>
            </p:nvSpPr>
            <p:spPr>
              <a:xfrm>
                <a:off x="673336" y="2294926"/>
                <a:ext cx="457200" cy="457200"/>
              </a:xfrm>
              <a:prstGeom prst="ellipse">
                <a:avLst/>
              </a:prstGeom>
              <a:solidFill>
                <a:srgbClr val="13294B"/>
              </a:solidFill>
              <a:ln/>
            </p:spPr>
            <p:txBody>
              <a:bodyPr/>
              <a:lstStyle/>
              <a:p>
                <a:endParaRPr lang="en-US">
                  <a:latin typeface="+mj-lt"/>
                </a:endParaRPr>
              </a:p>
            </p:txBody>
          </p:sp>
          <p:sp>
            <p:nvSpPr>
              <p:cNvPr id="5" name="Text 6">
                <a:extLst>
                  <a:ext uri="{FF2B5EF4-FFF2-40B4-BE49-F238E27FC236}">
                    <a16:creationId xmlns:a16="http://schemas.microsoft.com/office/drawing/2014/main" id="{B7FCD533-4108-9494-1568-215BD33B6758}"/>
                  </a:ext>
                </a:extLst>
              </p:cNvPr>
              <p:cNvSpPr/>
              <p:nvPr/>
            </p:nvSpPr>
            <p:spPr>
              <a:xfrm>
                <a:off x="673336"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1</a:t>
                </a:r>
                <a:endParaRPr lang="en-US" sz="1800" dirty="0">
                  <a:latin typeface="+mj-lt"/>
                </a:endParaRPr>
              </a:p>
            </p:txBody>
          </p:sp>
          <p:sp>
            <p:nvSpPr>
              <p:cNvPr id="6" name="Text 7">
                <a:extLst>
                  <a:ext uri="{FF2B5EF4-FFF2-40B4-BE49-F238E27FC236}">
                    <a16:creationId xmlns:a16="http://schemas.microsoft.com/office/drawing/2014/main" id="{420B52CF-8943-2DB3-A6C6-C16DF9AD91D0}"/>
                  </a:ext>
                </a:extLst>
              </p:cNvPr>
              <p:cNvSpPr/>
              <p:nvPr/>
            </p:nvSpPr>
            <p:spPr>
              <a:xfrm>
                <a:off x="1221976"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Scan Matching (ICP)</a:t>
                </a:r>
                <a:endParaRPr lang="en-US" dirty="0">
                  <a:latin typeface="+mj-lt"/>
                </a:endParaRPr>
              </a:p>
            </p:txBody>
          </p:sp>
          <p:sp>
            <p:nvSpPr>
              <p:cNvPr id="7" name="Text 8">
                <a:extLst>
                  <a:ext uri="{FF2B5EF4-FFF2-40B4-BE49-F238E27FC236}">
                    <a16:creationId xmlns:a16="http://schemas.microsoft.com/office/drawing/2014/main" id="{3954E4D3-785E-7F1A-5FB4-3B3E19C9FFC3}"/>
                  </a:ext>
                </a:extLst>
              </p:cNvPr>
              <p:cNvSpPr/>
              <p:nvPr/>
            </p:nvSpPr>
            <p:spPr>
              <a:xfrm>
                <a:off x="673336"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ONE best guess.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Iteratively refines it by aligning the latest LiDAR scan to the map.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Fast, deterministic, fragile at initialization.</a:t>
                </a:r>
                <a:endParaRPr lang="en-US" sz="1600" dirty="0">
                  <a:latin typeface="+mj-lt"/>
                </a:endParaRPr>
              </a:p>
            </p:txBody>
          </p:sp>
        </p:grpSp>
        <p:grpSp>
          <p:nvGrpSpPr>
            <p:cNvPr id="23" name="Group 22">
              <a:extLst>
                <a:ext uri="{FF2B5EF4-FFF2-40B4-BE49-F238E27FC236}">
                  <a16:creationId xmlns:a16="http://schemas.microsoft.com/office/drawing/2014/main" id="{2BBECA3C-4E28-175A-1D1E-71DD801E3426}"/>
                </a:ext>
              </a:extLst>
            </p:cNvPr>
            <p:cNvGrpSpPr/>
            <p:nvPr/>
          </p:nvGrpSpPr>
          <p:grpSpPr>
            <a:xfrm>
              <a:off x="4249554" y="2066326"/>
              <a:ext cx="3576218" cy="3108960"/>
              <a:chOff x="4249554" y="2066326"/>
              <a:chExt cx="3576218" cy="3108960"/>
            </a:xfrm>
          </p:grpSpPr>
          <p:sp>
            <p:nvSpPr>
              <p:cNvPr id="9" name="Shape 10">
                <a:extLst>
                  <a:ext uri="{FF2B5EF4-FFF2-40B4-BE49-F238E27FC236}">
                    <a16:creationId xmlns:a16="http://schemas.microsoft.com/office/drawing/2014/main" id="{3E96FF99-C1AF-7372-FAC9-9ECD910FE34F}"/>
                  </a:ext>
                </a:extLst>
              </p:cNvPr>
              <p:cNvSpPr/>
              <p:nvPr/>
            </p:nvSpPr>
            <p:spPr>
              <a:xfrm>
                <a:off x="4249554" y="2066326"/>
                <a:ext cx="3576218" cy="3108960"/>
              </a:xfrm>
              <a:prstGeom prst="rect">
                <a:avLst/>
              </a:prstGeom>
              <a:solidFill>
                <a:srgbClr val="F1F5F9"/>
              </a:solidFill>
              <a:ln/>
            </p:spPr>
            <p:txBody>
              <a:bodyPr/>
              <a:lstStyle/>
              <a:p>
                <a:endParaRPr lang="en-US">
                  <a:latin typeface="+mj-lt"/>
                </a:endParaRPr>
              </a:p>
            </p:txBody>
          </p:sp>
          <p:sp>
            <p:nvSpPr>
              <p:cNvPr id="10" name="Shape 11">
                <a:extLst>
                  <a:ext uri="{FF2B5EF4-FFF2-40B4-BE49-F238E27FC236}">
                    <a16:creationId xmlns:a16="http://schemas.microsoft.com/office/drawing/2014/main" id="{5ABF6962-C9E2-AF3C-762A-F1EF5C763934}"/>
                  </a:ext>
                </a:extLst>
              </p:cNvPr>
              <p:cNvSpPr/>
              <p:nvPr/>
            </p:nvSpPr>
            <p:spPr>
              <a:xfrm>
                <a:off x="4249554" y="2066326"/>
                <a:ext cx="3576218" cy="45720"/>
              </a:xfrm>
              <a:prstGeom prst="rect">
                <a:avLst/>
              </a:prstGeom>
              <a:solidFill>
                <a:srgbClr val="0891B2"/>
              </a:solidFill>
              <a:ln/>
            </p:spPr>
            <p:txBody>
              <a:bodyPr/>
              <a:lstStyle/>
              <a:p>
                <a:endParaRPr lang="en-US">
                  <a:latin typeface="+mj-lt"/>
                </a:endParaRPr>
              </a:p>
            </p:txBody>
          </p:sp>
          <p:sp>
            <p:nvSpPr>
              <p:cNvPr id="11" name="Shape 12">
                <a:extLst>
                  <a:ext uri="{FF2B5EF4-FFF2-40B4-BE49-F238E27FC236}">
                    <a16:creationId xmlns:a16="http://schemas.microsoft.com/office/drawing/2014/main" id="{C2BDA352-0357-89FC-B350-06721E4DDB6D}"/>
                  </a:ext>
                </a:extLst>
              </p:cNvPr>
              <p:cNvSpPr/>
              <p:nvPr/>
            </p:nvSpPr>
            <p:spPr>
              <a:xfrm>
                <a:off x="4432434" y="2294926"/>
                <a:ext cx="457200" cy="457200"/>
              </a:xfrm>
              <a:prstGeom prst="ellipse">
                <a:avLst/>
              </a:prstGeom>
              <a:solidFill>
                <a:srgbClr val="13294B"/>
              </a:solidFill>
              <a:ln/>
            </p:spPr>
            <p:txBody>
              <a:bodyPr/>
              <a:lstStyle/>
              <a:p>
                <a:endParaRPr lang="en-US">
                  <a:latin typeface="+mj-lt"/>
                </a:endParaRPr>
              </a:p>
            </p:txBody>
          </p:sp>
          <p:sp>
            <p:nvSpPr>
              <p:cNvPr id="12" name="Text 13">
                <a:extLst>
                  <a:ext uri="{FF2B5EF4-FFF2-40B4-BE49-F238E27FC236}">
                    <a16:creationId xmlns:a16="http://schemas.microsoft.com/office/drawing/2014/main" id="{234B68A2-CF2B-A1EC-C9CB-D8B1492988F8}"/>
                  </a:ext>
                </a:extLst>
              </p:cNvPr>
              <p:cNvSpPr/>
              <p:nvPr/>
            </p:nvSpPr>
            <p:spPr>
              <a:xfrm>
                <a:off x="4432434"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2</a:t>
                </a:r>
                <a:endParaRPr lang="en-US" sz="1800" dirty="0">
                  <a:latin typeface="+mj-lt"/>
                </a:endParaRPr>
              </a:p>
            </p:txBody>
          </p:sp>
          <p:sp>
            <p:nvSpPr>
              <p:cNvPr id="13" name="Text 14">
                <a:extLst>
                  <a:ext uri="{FF2B5EF4-FFF2-40B4-BE49-F238E27FC236}">
                    <a16:creationId xmlns:a16="http://schemas.microsoft.com/office/drawing/2014/main" id="{B288728E-D4AA-A5C8-F00A-BD77D07F8F8A}"/>
                  </a:ext>
                </a:extLst>
              </p:cNvPr>
              <p:cNvSpPr/>
              <p:nvPr/>
            </p:nvSpPr>
            <p:spPr>
              <a:xfrm>
                <a:off x="4981074"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Particle Filter (MCL)</a:t>
                </a:r>
                <a:endParaRPr lang="en-US" dirty="0">
                  <a:latin typeface="+mj-lt"/>
                </a:endParaRPr>
              </a:p>
            </p:txBody>
          </p:sp>
          <p:sp>
            <p:nvSpPr>
              <p:cNvPr id="14" name="Text 15">
                <a:extLst>
                  <a:ext uri="{FF2B5EF4-FFF2-40B4-BE49-F238E27FC236}">
                    <a16:creationId xmlns:a16="http://schemas.microsoft.com/office/drawing/2014/main" id="{6109BEA4-4428-8A3E-37CE-3821FA4FA8FD}"/>
                  </a:ext>
                </a:extLst>
              </p:cNvPr>
              <p:cNvSpPr/>
              <p:nvPr/>
            </p:nvSpPr>
            <p:spPr>
              <a:xfrm>
                <a:off x="4432434"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Tracks HUNDREDS of weighted hypotheses in parallel.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Probabilistic, handles kidnapping, but memory-heavy for large maps.</a:t>
                </a:r>
                <a:endParaRPr lang="en-US" sz="1600" dirty="0">
                  <a:latin typeface="+mj-lt"/>
                </a:endParaRPr>
              </a:p>
            </p:txBody>
          </p:sp>
        </p:grpSp>
        <p:grpSp>
          <p:nvGrpSpPr>
            <p:cNvPr id="24" name="Group 23">
              <a:extLst>
                <a:ext uri="{FF2B5EF4-FFF2-40B4-BE49-F238E27FC236}">
                  <a16:creationId xmlns:a16="http://schemas.microsoft.com/office/drawing/2014/main" id="{3840B146-6C2F-0B67-E61B-3A5E0899015B}"/>
                </a:ext>
              </a:extLst>
            </p:cNvPr>
            <p:cNvGrpSpPr/>
            <p:nvPr/>
          </p:nvGrpSpPr>
          <p:grpSpPr>
            <a:xfrm>
              <a:off x="8008653" y="2066326"/>
              <a:ext cx="3576218" cy="3108960"/>
              <a:chOff x="8008653" y="2066326"/>
              <a:chExt cx="3576218" cy="3108960"/>
            </a:xfrm>
          </p:grpSpPr>
          <p:sp>
            <p:nvSpPr>
              <p:cNvPr id="16" name="Shape 17">
                <a:extLst>
                  <a:ext uri="{FF2B5EF4-FFF2-40B4-BE49-F238E27FC236}">
                    <a16:creationId xmlns:a16="http://schemas.microsoft.com/office/drawing/2014/main" id="{3DFCC8EB-A703-2A07-E736-B9F8B11DF1B9}"/>
                  </a:ext>
                </a:extLst>
              </p:cNvPr>
              <p:cNvSpPr/>
              <p:nvPr/>
            </p:nvSpPr>
            <p:spPr>
              <a:xfrm>
                <a:off x="8008653" y="2066326"/>
                <a:ext cx="3576218" cy="3108960"/>
              </a:xfrm>
              <a:prstGeom prst="rect">
                <a:avLst/>
              </a:prstGeom>
              <a:solidFill>
                <a:srgbClr val="F1F5F9"/>
              </a:solidFill>
              <a:ln/>
            </p:spPr>
            <p:txBody>
              <a:bodyPr/>
              <a:lstStyle/>
              <a:p>
                <a:endParaRPr lang="en-US">
                  <a:latin typeface="+mj-lt"/>
                </a:endParaRPr>
              </a:p>
            </p:txBody>
          </p:sp>
          <p:sp>
            <p:nvSpPr>
              <p:cNvPr id="17" name="Shape 18">
                <a:extLst>
                  <a:ext uri="{FF2B5EF4-FFF2-40B4-BE49-F238E27FC236}">
                    <a16:creationId xmlns:a16="http://schemas.microsoft.com/office/drawing/2014/main" id="{8CE862D2-AC2E-9CC2-C373-7CE5010D85C3}"/>
                  </a:ext>
                </a:extLst>
              </p:cNvPr>
              <p:cNvSpPr/>
              <p:nvPr/>
            </p:nvSpPr>
            <p:spPr>
              <a:xfrm>
                <a:off x="8008653" y="2066326"/>
                <a:ext cx="3576218" cy="45720"/>
              </a:xfrm>
              <a:prstGeom prst="rect">
                <a:avLst/>
              </a:prstGeom>
              <a:solidFill>
                <a:srgbClr val="0891B2"/>
              </a:solidFill>
              <a:ln/>
            </p:spPr>
            <p:txBody>
              <a:bodyPr/>
              <a:lstStyle/>
              <a:p>
                <a:endParaRPr lang="en-US">
                  <a:latin typeface="+mj-lt"/>
                </a:endParaRPr>
              </a:p>
            </p:txBody>
          </p:sp>
          <p:sp>
            <p:nvSpPr>
              <p:cNvPr id="18" name="Shape 19">
                <a:extLst>
                  <a:ext uri="{FF2B5EF4-FFF2-40B4-BE49-F238E27FC236}">
                    <a16:creationId xmlns:a16="http://schemas.microsoft.com/office/drawing/2014/main" id="{383C312D-2DAD-1AEB-5E3F-CB976EDD7E61}"/>
                  </a:ext>
                </a:extLst>
              </p:cNvPr>
              <p:cNvSpPr/>
              <p:nvPr/>
            </p:nvSpPr>
            <p:spPr>
              <a:xfrm>
                <a:off x="8191533" y="2294926"/>
                <a:ext cx="457200" cy="457200"/>
              </a:xfrm>
              <a:prstGeom prst="ellipse">
                <a:avLst/>
              </a:prstGeom>
              <a:solidFill>
                <a:srgbClr val="13294B"/>
              </a:solidFill>
              <a:ln/>
            </p:spPr>
            <p:txBody>
              <a:bodyPr/>
              <a:lstStyle/>
              <a:p>
                <a:endParaRPr lang="en-US">
                  <a:latin typeface="+mj-lt"/>
                </a:endParaRPr>
              </a:p>
            </p:txBody>
          </p:sp>
          <p:sp>
            <p:nvSpPr>
              <p:cNvPr id="19" name="Text 20">
                <a:extLst>
                  <a:ext uri="{FF2B5EF4-FFF2-40B4-BE49-F238E27FC236}">
                    <a16:creationId xmlns:a16="http://schemas.microsoft.com/office/drawing/2014/main" id="{4A5BCBA7-3985-8374-2D18-CA7EF419720E}"/>
                  </a:ext>
                </a:extLst>
              </p:cNvPr>
              <p:cNvSpPr/>
              <p:nvPr/>
            </p:nvSpPr>
            <p:spPr>
              <a:xfrm>
                <a:off x="8191533" y="2294926"/>
                <a:ext cx="4572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800" b="1" dirty="0">
                    <a:solidFill>
                      <a:srgbClr val="FFFFFF"/>
                    </a:solidFill>
                    <a:latin typeface="+mj-lt"/>
                    <a:ea typeface="Calibri" pitchFamily="34" charset="-122"/>
                    <a:cs typeface="Calibri" pitchFamily="34" charset="-120"/>
                  </a:rPr>
                  <a:t>3</a:t>
                </a:r>
                <a:endParaRPr lang="en-US" sz="1800" dirty="0">
                  <a:latin typeface="+mj-lt"/>
                </a:endParaRPr>
              </a:p>
            </p:txBody>
          </p:sp>
          <p:sp>
            <p:nvSpPr>
              <p:cNvPr id="20" name="Text 21">
                <a:extLst>
                  <a:ext uri="{FF2B5EF4-FFF2-40B4-BE49-F238E27FC236}">
                    <a16:creationId xmlns:a16="http://schemas.microsoft.com/office/drawing/2014/main" id="{7D5B8EF1-0807-74C7-51DD-6CEEE0F5FCC1}"/>
                  </a:ext>
                </a:extLst>
              </p:cNvPr>
              <p:cNvSpPr/>
              <p:nvPr/>
            </p:nvSpPr>
            <p:spPr>
              <a:xfrm>
                <a:off x="8740173" y="2294926"/>
                <a:ext cx="2661818"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b="1" dirty="0">
                    <a:solidFill>
                      <a:srgbClr val="0F172A"/>
                    </a:solidFill>
                    <a:latin typeface="+mj-lt"/>
                    <a:ea typeface="Calibri" pitchFamily="34" charset="-122"/>
                    <a:cs typeface="Calibri" pitchFamily="34" charset="-120"/>
                  </a:rPr>
                  <a:t>Graph Optimization</a:t>
                </a:r>
                <a:endParaRPr lang="en-US" dirty="0">
                  <a:latin typeface="+mj-lt"/>
                </a:endParaRPr>
              </a:p>
            </p:txBody>
          </p:sp>
          <p:sp>
            <p:nvSpPr>
              <p:cNvPr id="21" name="Text 22">
                <a:extLst>
                  <a:ext uri="{FF2B5EF4-FFF2-40B4-BE49-F238E27FC236}">
                    <a16:creationId xmlns:a16="http://schemas.microsoft.com/office/drawing/2014/main" id="{F10A191C-6CCE-8F7C-2C8F-68038635ACC1}"/>
                  </a:ext>
                </a:extLst>
              </p:cNvPr>
              <p:cNvSpPr/>
              <p:nvPr/>
            </p:nvSpPr>
            <p:spPr>
              <a:xfrm>
                <a:off x="8191533" y="2935006"/>
                <a:ext cx="3210458" cy="21031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Maintains a graph of every past pose + constraints.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Solves them all simultaneously. </a:t>
                </a:r>
              </a:p>
              <a:p>
                <a:pPr marL="171450" indent="-171450">
                  <a:buFont typeface="Arial" panose="020B0604020202020204" pitchFamily="34" charset="0"/>
                  <a:buChar char="•"/>
                </a:pPr>
                <a:r>
                  <a:rPr lang="en-US" sz="1600" dirty="0">
                    <a:solidFill>
                      <a:srgbClr val="1E293B"/>
                    </a:solidFill>
                    <a:latin typeface="+mj-lt"/>
                    <a:ea typeface="Calibri" pitchFamily="34" charset="-122"/>
                    <a:cs typeface="Calibri" pitchFamily="34" charset="-120"/>
                  </a:rPr>
                  <a:t>Today's gold standard for global consistency.</a:t>
                </a:r>
                <a:endParaRPr lang="en-US" sz="1600" dirty="0">
                  <a:latin typeface="+mj-lt"/>
                </a:endParaRPr>
              </a:p>
            </p:txBody>
          </p:sp>
        </p:grpSp>
      </p:grpSp>
    </p:spTree>
    <p:extLst>
      <p:ext uri="{BB962C8B-B14F-4D97-AF65-F5344CB8AC3E}">
        <p14:creationId xmlns:p14="http://schemas.microsoft.com/office/powerpoint/2010/main" val="10737099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7271E40-2901-B511-C8FC-A97E67C7794C}"/>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5241AD-8DC8-2F2E-0BEF-DCAA1FE187F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A50738B1-EBD3-F19E-6A1A-0FC2835BD74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ICP</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935712FF-5D4D-05A7-8B81-1E1AA6EAF57A}"/>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312605C-047C-0723-2B08-58F8B6BC326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C81D14EE-F83F-28F0-07AA-E80E45B68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E6360AB-2BB2-AE46-4504-C8CFA17C4F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27209FC-3A81-9617-0397-79FE70D40C0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06D9B0F-6222-D52C-A010-88BFC8EF164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FEEFC25-2B4B-2B6F-519F-6915EE08811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9CB1C736-3694-B72F-4EC2-23C116CCE603}"/>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11296012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A45857-3155-0B23-A82B-AEFA88B2C2A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69596AB-E0EF-314A-CB06-5DE1E9C3922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ICP stands for Iterative Closest Point: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Repeat the following 4 steps until the transformation stops changing:</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200000"/>
                  </a:lnSpc>
                  <a:spcBef>
                    <a:spcPts val="0"/>
                  </a:spcBef>
                  <a:buSzPts val="3000"/>
                </a:pPr>
                <a:r>
                  <a:rPr lang="en-US" sz="2200" dirty="0">
                    <a:latin typeface="Arial"/>
                    <a:ea typeface="Arial"/>
                    <a:cs typeface="Arial"/>
                    <a:sym typeface="Arial"/>
                  </a:rPr>
                  <a:t>Data Association: pair each source point with its nearest target point</a:t>
                </a:r>
              </a:p>
              <a:p>
                <a:pPr marL="342900">
                  <a:lnSpc>
                    <a:spcPct val="200000"/>
                  </a:lnSpc>
                  <a:spcBef>
                    <a:spcPts val="0"/>
                  </a:spcBef>
                  <a:buSzPts val="3000"/>
                </a:pPr>
                <a:r>
                  <a:rPr lang="en-US" sz="2200" dirty="0">
                    <a:latin typeface="Arial"/>
                    <a:ea typeface="Arial"/>
                    <a:cs typeface="Arial"/>
                    <a:sym typeface="Arial"/>
                  </a:rPr>
                  <a:t>Transformation: solve for the </a:t>
                </a:r>
                <a14:m>
                  <m:oMath xmlns:m="http://schemas.openxmlformats.org/officeDocument/2006/math">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 </m:t>
                    </m:r>
                    <m:r>
                      <a:rPr lang="en-US" sz="2200" i="1" dirty="0">
                        <a:latin typeface="Cambria Math" panose="02040503050406030204" pitchFamily="18" charset="0"/>
                        <a:ea typeface="Arial"/>
                        <a:cs typeface="Arial"/>
                        <a:sym typeface="Arial"/>
                      </a:rPr>
                      <m:t>𝑡</m:t>
                    </m:r>
                  </m:oMath>
                </a14:m>
                <a:r>
                  <a:rPr lang="en-US" sz="2200" dirty="0">
                    <a:latin typeface="Arial"/>
                    <a:ea typeface="Arial"/>
                    <a:cs typeface="Arial"/>
                    <a:sym typeface="Arial"/>
                  </a:rPr>
                  <a:t> that best aligns the matched pairs</a:t>
                </a:r>
              </a:p>
              <a:p>
                <a:pPr marL="342900">
                  <a:lnSpc>
                    <a:spcPct val="200000"/>
                  </a:lnSpc>
                  <a:spcBef>
                    <a:spcPts val="0"/>
                  </a:spcBef>
                  <a:buSzPts val="3000"/>
                </a:pPr>
                <a:r>
                  <a:rPr lang="en-US" sz="2200" dirty="0">
                    <a:latin typeface="Arial"/>
                    <a:ea typeface="Arial"/>
                    <a:cs typeface="Arial"/>
                    <a:sym typeface="Arial"/>
                  </a:rPr>
                  <a:t>Apply: move the source cloud by that transformation</a:t>
                </a:r>
              </a:p>
              <a:p>
                <a:pPr marL="342900">
                  <a:lnSpc>
                    <a:spcPct val="200000"/>
                  </a:lnSpc>
                  <a:spcBef>
                    <a:spcPts val="0"/>
                  </a:spcBef>
                  <a:buSzPts val="3000"/>
                </a:pPr>
                <a:r>
                  <a:rPr lang="en-US" sz="2200" dirty="0">
                    <a:latin typeface="Arial"/>
                    <a:ea typeface="Arial"/>
                    <a:cs typeface="Arial"/>
                    <a:sym typeface="Arial"/>
                  </a:rPr>
                  <a:t>Check: if the error has dropped below a threshold stop. Otherwise loop.</a:t>
                </a:r>
              </a:p>
            </p:txBody>
          </p:sp>
        </mc:Choice>
        <mc:Fallback xmlns="">
          <p:sp>
            <p:nvSpPr>
              <p:cNvPr id="118" name="Google Shape;118;p29">
                <a:extLst>
                  <a:ext uri="{FF2B5EF4-FFF2-40B4-BE49-F238E27FC236}">
                    <a16:creationId xmlns:a16="http://schemas.microsoft.com/office/drawing/2014/main" id="{A69596AB-E0EF-314A-CB06-5DE1E9C3922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BFE1324-EE03-AC60-85B6-4CD87219D76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202AC5-2F33-647C-01A2-12B9B28E74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28AFE4D-BB60-C285-839E-F19E00C2A6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BD00D9-F020-F4A6-1723-12CAB6D2D9F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0C80EA1-A95B-FE5B-D431-BEE9CC38D5B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8519249-A3CB-38DC-EED6-3A44ACAE19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9AECAB-87E2-D63E-0974-49E8CA1AFC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C6A3903-D12D-F5B2-98F4-B94F478C05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34784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EC0F0E-0481-B301-FC10-30AFEE683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5807B12-03E9-C70C-96A3-E7A68DEA65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61BA1D8-D8FF-10C3-4E53-C0C9E7E08E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973E846-2B12-71CF-8FE5-5B7F695451F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10E865C-B244-A5B5-79E6-071F8BF8BD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18CF67-66D7-DD8F-B497-A5B57B634E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3BB29-7A41-1E8B-F8EC-D101A45D51C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9A9FC15-2E1A-91E6-8A70-400FAF95AB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60F21F-1B3E-752B-F714-A780658937F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15FABCB-9326-B5A1-346B-EDFBCF96415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1833179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5E9734-5624-215D-EC60-CB87CFF42B7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AD3CFDA-E270-C2CA-A8B4-3107027897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starting point of the ICP methods,</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Match each source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its geometrically nearest target point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Measure the straight-line Euclidean distance between each matched pair</a:t>
                </a:r>
              </a:p>
              <a:p>
                <a:pPr marL="342900">
                  <a:lnSpc>
                    <a:spcPct val="100000"/>
                  </a:lnSpc>
                  <a:spcBef>
                    <a:spcPts val="0"/>
                  </a:spcBef>
                  <a:buSzPts val="3000"/>
                </a:pPr>
                <a:r>
                  <a:rPr lang="en-US" sz="2200" dirty="0">
                    <a:latin typeface="Arial"/>
                    <a:ea typeface="Arial"/>
                    <a:cs typeface="Arial"/>
                    <a:sym typeface="Arial"/>
                  </a:rPr>
                  <a:t>Sum the squared distances and minimize over </a:t>
                </a:r>
                <a14:m>
                  <m:oMath xmlns:m="http://schemas.openxmlformats.org/officeDocument/2006/math">
                    <m:r>
                      <m:rPr>
                        <m:sty m:val="p"/>
                      </m:rPr>
                      <a:rPr lang="en-US" sz="2200" b="0" i="1" smtClean="0">
                        <a:latin typeface="Cambria Math" panose="02040503050406030204" pitchFamily="18" charset="0"/>
                        <a:ea typeface="Arial"/>
                        <a:cs typeface="Arial"/>
                        <a:sym typeface="Arial"/>
                      </a:rPr>
                      <m:t>R</m:t>
                    </m:r>
                    <m:r>
                      <a:rPr lang="en-US" sz="2200" b="0" i="1" smtClean="0">
                        <a:latin typeface="Cambria Math" panose="02040503050406030204" pitchFamily="18" charset="0"/>
                        <a:ea typeface="Arial"/>
                        <a:cs typeface="Arial"/>
                        <a:sym typeface="Arial"/>
                      </a:rPr>
                      <m:t>, </m:t>
                    </m:r>
                    <m:r>
                      <m:rPr>
                        <m:sty m:val="p"/>
                      </m:rPr>
                      <a:rPr lang="en-US" sz="2200" b="0" i="1" smtClean="0">
                        <a:latin typeface="Cambria Math" panose="02040503050406030204" pitchFamily="18" charset="0"/>
                        <a:ea typeface="Arial"/>
                        <a:cs typeface="Arial"/>
                        <a:sym typeface="Arial"/>
                      </a:rPr>
                      <m:t>t</m:t>
                    </m:r>
                  </m:oMath>
                </a14:m>
                <a:endParaRPr lang="en-US" sz="2200" dirty="0">
                  <a:latin typeface="Arial"/>
                  <a:ea typeface="Arial"/>
                  <a:cs typeface="Arial"/>
                  <a:sym typeface="Arial"/>
                </a:endParaRP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This is exactly what is illustrated in the figure.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What happens if you start the initial guess very wrong, say 90 degree off?</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Works very well when two-point clouds start near each other and have clear features.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Falls apart in featureless or repetitive environments (more on that soon)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AD3CFDA-E270-C2CA-A8B4-3107027897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0C16740-FD9B-B31F-A18D-B5484F4555D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DBC1340-EEDF-5DA3-FFDD-1393972A312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F489A5-5628-03E1-B891-5E123862046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964C8-960F-C46C-F63E-3309F44FC3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397F22-8030-DE41-7AF9-3FAEDE9C6E0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61B3E26-F585-8208-90FB-5D4FD74CD2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B1207B-928C-A132-5C77-43B8C1DC5CF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2579A7E-9179-D863-E1AD-7522C3780E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098600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B3ED992-E2CC-0686-E2B4-858C1B476AA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5904E7A-6FBF-7BFB-A6C5-1C9C10C0A0D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F1D3AFB-D122-950D-4FC6-2D9C58CB5B3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BDF7E9-98B5-0025-8673-B20FDBD21BA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E60B84-D489-8710-964A-ADC22593AB4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358751C-8B41-C506-DEF6-CA4042B6A05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2C6BA9-5E73-8D4F-A4F3-5CAB14A55F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C54FB5D-C034-D6D2-F6E5-1C93C12AD4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85D5472-5A41-6455-4F2D-16EBC79525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1743C38-62B8-77DC-2BF1-B3B213EBF58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0" y="1730115"/>
            <a:ext cx="12192000" cy="3397771"/>
          </a:xfrm>
          <a:prstGeom prst="rect">
            <a:avLst/>
          </a:prstGeom>
        </p:spPr>
      </p:pic>
    </p:spTree>
    <p:extLst>
      <p:ext uri="{BB962C8B-B14F-4D97-AF65-F5344CB8AC3E}">
        <p14:creationId xmlns:p14="http://schemas.microsoft.com/office/powerpoint/2010/main" val="864831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DD5F1A0-E43C-1831-E1B4-16E12B4ABB6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5555AC1E-3D62-9573-A818-0A66B725772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For every matched pair </a:t>
                </a:r>
                <a14:m>
                  <m:oMath xmlns:m="http://schemas.openxmlformats.org/officeDocument/2006/math">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oMath>
                </a14:m>
                <a:r>
                  <a:rPr lang="en-US" sz="2200" dirty="0">
                    <a:latin typeface="Arial"/>
                    <a:ea typeface="Arial"/>
                    <a:cs typeface="Arial"/>
                    <a:sym typeface="Arial"/>
                  </a:rPr>
                  <a:t>, the residual is the 3D (or 2D) vector from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to the transformed </a:t>
                </a:r>
                <a14:m>
                  <m:oMath xmlns:m="http://schemas.openxmlformats.org/officeDocument/2006/math">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oMath>
                </a14:m>
                <a:r>
                  <a:rPr lang="en-US" sz="2200" dirty="0">
                    <a:latin typeface="Arial"/>
                    <a:ea typeface="Arial"/>
                    <a:cs typeface="Arial"/>
                    <a:sym typeface="Arial"/>
                  </a:rPr>
                  <a:t>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objective function is the sum of the squared residual magnitudes, a least-squares problem!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Given that this is a least-squares problem what is the advantage?</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There is a </a:t>
                </a:r>
                <a:r>
                  <a:rPr lang="en-US" sz="2200" b="1" dirty="0">
                    <a:latin typeface="Arial"/>
                    <a:ea typeface="Arial"/>
                    <a:cs typeface="Arial"/>
                    <a:sym typeface="Arial"/>
                  </a:rPr>
                  <a:t>closed-form</a:t>
                </a:r>
                <a:r>
                  <a:rPr lang="en-US" sz="2200" dirty="0">
                    <a:latin typeface="Arial"/>
                    <a:ea typeface="Arial"/>
                    <a:cs typeface="Arial"/>
                    <a:sym typeface="Arial"/>
                  </a:rPr>
                  <a:t> solution via Singular Value Decomposition (SVD)</a:t>
                </a:r>
              </a:p>
              <a:p>
                <a:pPr marL="0" indent="0">
                  <a:lnSpc>
                    <a:spcPct val="100000"/>
                  </a:lnSpc>
                  <a:spcBef>
                    <a:spcPts val="0"/>
                  </a:spcBef>
                  <a:buSzPts val="3000"/>
                  <a:buNone/>
                </a:pPr>
                <a:endParaRPr lang="en-US" sz="2200" b="1"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No iterative non-linear solver needed for each inner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b="0" i="1" smtClean="0">
                          <a:latin typeface="Cambria Math" panose="02040503050406030204" pitchFamily="18" charset="0"/>
                          <a:ea typeface="Arial"/>
                          <a:cs typeface="Arial"/>
                          <a:sym typeface="Arial"/>
                        </a:rPr>
                        <m:t>𝐸</m:t>
                      </m:r>
                      <m:d>
                        <m:dPr>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e>
                      </m:d>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sSup>
                            <m:sSupPr>
                              <m:ctrlPr>
                                <a:rPr lang="en-US" sz="2200" b="0" i="1" smtClean="0">
                                  <a:latin typeface="Cambria Math" panose="02040503050406030204" pitchFamily="18" charset="0"/>
                                  <a:ea typeface="Arial"/>
                                  <a:cs typeface="Arial"/>
                                  <a:sym typeface="Arial"/>
                                </a:rPr>
                              </m:ctrlPr>
                            </m:sSupPr>
                            <m:e>
                              <m:d>
                                <m:dPr>
                                  <m:begChr m:val="|"/>
                                  <m:endChr m:val="|"/>
                                  <m:ctrlPr>
                                    <a:rPr lang="en-US" sz="2200" b="0" i="1" smtClean="0">
                                      <a:latin typeface="Cambria Math" panose="02040503050406030204" pitchFamily="18" charset="0"/>
                                      <a:ea typeface="Arial"/>
                                      <a:cs typeface="Arial"/>
                                      <a:sym typeface="Arial"/>
                                    </a:rPr>
                                  </m:ctrlPr>
                                </m:dPr>
                                <m:e>
                                  <m:d>
                                    <m:dPr>
                                      <m:begChr m:val="|"/>
                                      <m:endChr m:val="|"/>
                                      <m:ctrlPr>
                                        <a:rPr lang="en-US" sz="2200" b="0" i="1" smtClean="0">
                                          <a:latin typeface="Cambria Math" panose="02040503050406030204" pitchFamily="18" charset="0"/>
                                          <a:ea typeface="Arial"/>
                                          <a:cs typeface="Arial"/>
                                          <a:sym typeface="Arial"/>
                                        </a:rPr>
                                      </m:ctrlPr>
                                    </m:dPr>
                                    <m:e>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e>
                                  </m:d>
                                </m:e>
                              </m:d>
                            </m:e>
                            <m:sup>
                              <m:r>
                                <a:rPr lang="en-US" sz="2200" b="0" i="1" smtClean="0">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5555AC1E-3D62-9573-A818-0A66B725772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12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F3F59BF-3FED-23F5-50D5-C938931F37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9082CC1-602C-61FF-373F-19A82E03EE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40CA39-335D-129A-2F6E-A5771C5FF09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F99EC32-F4AE-FD9F-19E5-A80FFB234AC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4C064F4-0F3F-84C5-823B-858C7576144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2431229-0467-1794-9E3A-CF783B9CBF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CD0CA8-B888-A2D2-AEB5-E9B42E946F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34B6BC5-248B-43C3-2112-D9F17ECFE4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321149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AE5298-0383-9D11-AA8C-F26C6CFADC6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2587E03-B01B-2B65-28EA-69B28EF5AA0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C2587E03-B01B-2B65-28EA-69B28EF5AA0E}"/>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82F19B3-2481-85DA-9B55-D1C5524385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202DB96-121D-A9BA-F87B-28DC2584287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FA14ED1-0AB4-2687-ADF1-9EED483F4EF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7336F16-C7FC-17B0-6B00-1821FE82CA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B485EBE-A62A-8865-6A12-203C341A42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8EF1E58-AD8B-01A3-50EB-A4E89457DF9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C451F7-4E3E-1C69-C6B2-CDF3379678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74223-A16D-181A-7051-3CF98AFD45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9193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D1E00A-59BB-C50A-AA3A-1D6927A3D61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5CEF980-2DCF-276E-43A3-377560E6A60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i="1">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𝑡</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Why is this equation quadratic (and therefore solvable exactly) despite containing rotations?</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Rotations involve non-linear trigonometry (sines/cosines), which usually require iterative guessing. How do we solve for it exactly in one step?</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After shifting both point clouds to their center of mass, the translation </a:t>
                </a:r>
                <a14:m>
                  <m:oMath xmlns:m="http://schemas.openxmlformats.org/officeDocument/2006/math">
                    <m:r>
                      <a:rPr lang="en-US" sz="2200" i="1" dirty="0" smtClean="0">
                        <a:latin typeface="Cambria Math" panose="02040503050406030204" pitchFamily="18" charset="0"/>
                        <a:ea typeface="Arial"/>
                        <a:cs typeface="Arial"/>
                        <a:sym typeface="Arial"/>
                      </a:rPr>
                      <m:t>𝑡</m:t>
                    </m:r>
                  </m:oMath>
                </a14:m>
                <a:r>
                  <a:rPr lang="en-US" sz="2200" dirty="0">
                    <a:latin typeface="Arial"/>
                    <a:ea typeface="Arial"/>
                    <a:cs typeface="Arial"/>
                    <a:sym typeface="Arial"/>
                  </a:rPr>
                  <a:t> becomes zero.</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Arial"/>
                          <a:cs typeface="Arial"/>
                          <a:sym typeface="Arial"/>
                        </a:rPr>
                        <m:t>𝐸</m:t>
                      </m:r>
                      <m:d>
                        <m:dPr>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e>
                      </m:d>
                      <m:r>
                        <a:rPr lang="en-US" sz="2200" i="1">
                          <a:latin typeface="Cambria Math" panose="02040503050406030204" pitchFamily="18" charset="0"/>
                          <a:ea typeface="Arial"/>
                          <a:cs typeface="Arial"/>
                          <a:sym typeface="Arial"/>
                        </a:rPr>
                        <m:t>=</m:t>
                      </m:r>
                      <m:nary>
                        <m:naryPr>
                          <m:chr m:val="∑"/>
                          <m:supHide m:val="on"/>
                          <m:ctrlPr>
                            <a:rPr lang="en-US" sz="2200" i="1">
                              <a:latin typeface="Cambria Math" panose="02040503050406030204" pitchFamily="18" charset="0"/>
                              <a:ea typeface="Arial"/>
                              <a:cs typeface="Arial"/>
                              <a:sym typeface="Arial"/>
                            </a:rPr>
                          </m:ctrlPr>
                        </m:naryPr>
                        <m:sub>
                          <m:r>
                            <a:rPr lang="en-US" sz="2200" i="1">
                              <a:latin typeface="Cambria Math" panose="02040503050406030204" pitchFamily="18" charset="0"/>
                              <a:ea typeface="Arial"/>
                              <a:cs typeface="Arial"/>
                              <a:sym typeface="Arial"/>
                            </a:rPr>
                            <m:t>𝑖</m:t>
                          </m:r>
                        </m:sub>
                        <m:sup/>
                        <m:e>
                          <m:sSup>
                            <m:sSupPr>
                              <m:ctrlPr>
                                <a:rPr lang="en-US" sz="2200" i="1">
                                  <a:latin typeface="Cambria Math" panose="02040503050406030204" pitchFamily="18" charset="0"/>
                                  <a:ea typeface="Arial"/>
                                  <a:cs typeface="Arial"/>
                                  <a:sym typeface="Arial"/>
                                </a:rPr>
                              </m:ctrlPr>
                            </m:sSupPr>
                            <m:e>
                              <m:d>
                                <m:dPr>
                                  <m:begChr m:val="|"/>
                                  <m:endChr m:val="|"/>
                                  <m:ctrlPr>
                                    <a:rPr lang="en-US" sz="2200" i="1">
                                      <a:latin typeface="Cambria Math" panose="02040503050406030204" pitchFamily="18" charset="0"/>
                                      <a:ea typeface="Arial"/>
                                      <a:cs typeface="Arial"/>
                                      <a:sym typeface="Arial"/>
                                    </a:rPr>
                                  </m:ctrlPr>
                                </m:dPr>
                                <m:e>
                                  <m:d>
                                    <m:dPr>
                                      <m:begChr m:val="|"/>
                                      <m:endChr m:val="|"/>
                                      <m:ctrlPr>
                                        <a:rPr lang="en-US" sz="2200" i="1">
                                          <a:latin typeface="Cambria Math" panose="02040503050406030204" pitchFamily="18" charset="0"/>
                                          <a:ea typeface="Arial"/>
                                          <a:cs typeface="Arial"/>
                                          <a:sym typeface="Arial"/>
                                        </a:rPr>
                                      </m:ctrlPr>
                                    </m:dPr>
                                    <m:e>
                                      <m:r>
                                        <a:rPr lang="en-US" sz="2200" i="1">
                                          <a:latin typeface="Cambria Math" panose="02040503050406030204" pitchFamily="18" charset="0"/>
                                          <a:ea typeface="Arial"/>
                                          <a:cs typeface="Arial"/>
                                          <a:sym typeface="Arial"/>
                                        </a:rPr>
                                        <m:t>𝑅</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𝑝</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r>
                                        <a:rPr lang="en-US" sz="2200" i="1">
                                          <a:latin typeface="Cambria Math" panose="02040503050406030204" pitchFamily="18" charset="0"/>
                                          <a:ea typeface="Arial"/>
                                          <a:cs typeface="Arial"/>
                                          <a:sym typeface="Arial"/>
                                        </a:rPr>
                                        <m:t>−</m:t>
                                      </m:r>
                                      <m:sSub>
                                        <m:sSubPr>
                                          <m:ctrlPr>
                                            <a:rPr lang="en-US" sz="2200" i="1">
                                              <a:latin typeface="Cambria Math" panose="02040503050406030204" pitchFamily="18" charset="0"/>
                                              <a:ea typeface="Arial"/>
                                              <a:cs typeface="Arial"/>
                                              <a:sym typeface="Arial"/>
                                            </a:rPr>
                                          </m:ctrlPr>
                                        </m:sSubPr>
                                        <m:e>
                                          <m:r>
                                            <a:rPr lang="en-US" sz="2200" i="1">
                                              <a:latin typeface="Cambria Math" panose="02040503050406030204" pitchFamily="18" charset="0"/>
                                              <a:ea typeface="Arial"/>
                                              <a:cs typeface="Arial"/>
                                              <a:sym typeface="Arial"/>
                                            </a:rPr>
                                            <m:t>𝑞</m:t>
                                          </m:r>
                                        </m:e>
                                        <m:sub>
                                          <m:r>
                                            <a:rPr lang="en-US" sz="2200" i="1">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e>
                                  </m:d>
                                </m:e>
                              </m:d>
                            </m:e>
                            <m:sup>
                              <m:r>
                                <a:rPr lang="en-US" sz="2200" i="1">
                                  <a:latin typeface="Cambria Math" panose="02040503050406030204" pitchFamily="18" charset="0"/>
                                  <a:ea typeface="Arial"/>
                                  <a:cs typeface="Arial"/>
                                  <a:sym typeface="Arial"/>
                                </a:rPr>
                                <m:t>2</m:t>
                              </m:r>
                            </m:sup>
                          </m:sSup>
                        </m:e>
                      </m:nary>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F5CEF980-2DCF-276E-43A3-377560E6A60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16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24C3338-C107-6A28-E36E-8512569FE7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A3F8CC-0EA0-E3A2-8362-CAB744B7E2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0AD166E-93E9-FB3E-39F7-54EEC8C5472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3FD545A-CB1F-AA00-B6D5-119E4BA5338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CAC0162-2F6A-9128-7FF7-11A217CE9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97D7168-4C32-B6DC-3BEB-A4C5B1B738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A5149B-C0EC-3E7E-A6B2-C87855C80A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97A2B6-7369-B000-77E4-AEE59D3660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8604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2CEC2-E270-E614-FCFC-BB522115E3B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D70C929-9B2B-C028-2296-0925CE757BA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We must find the Rotation matrix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that minimizes the Sum of Squared Errors (SSE) between the centered source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 and target points (</a:t>
                </a:r>
                <a14:m>
                  <m:oMath xmlns:m="http://schemas.openxmlformats.org/officeDocument/2006/math">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a14:m>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nary>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sSup>
                        <m:sSupPr>
                          <m:ctrlPr>
                            <a:rPr lang="en-US" sz="2200" i="1" dirty="0" smtClean="0">
                              <a:latin typeface="Cambria Math" panose="02040503050406030204" pitchFamily="18" charset="0"/>
                              <a:ea typeface="Arial"/>
                              <a:cs typeface="Arial"/>
                              <a:sym typeface="Arial"/>
                            </a:rPr>
                          </m:ctrlPr>
                        </m:sSupPr>
                        <m:e>
                          <m:r>
                            <a:rPr lang="en-US" sz="2200" b="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The geometric properties of rotation matrices cause the non-linear parts of the equation to self-destruct.</a:t>
                </a:r>
              </a:p>
            </p:txBody>
          </p:sp>
        </mc:Choice>
        <mc:Fallback xmlns="">
          <p:sp>
            <p:nvSpPr>
              <p:cNvPr id="118" name="Google Shape;118;p29">
                <a:extLst>
                  <a:ext uri="{FF2B5EF4-FFF2-40B4-BE49-F238E27FC236}">
                    <a16:creationId xmlns:a16="http://schemas.microsoft.com/office/drawing/2014/main" id="{8D70C929-9B2B-C028-2296-0925CE757BA4}"/>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AFD1BF0-34C5-79F2-456A-02BB1F43B9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4CF1510-86A2-2386-3856-911A6345EE6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F29768-B296-391E-2682-1472408AE21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916C0F-8F12-F31A-9346-0EFB7CB333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DDF1397-344C-0C45-DBCE-CCF7E5F45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5A2B03-FB22-0904-5BFA-1271693458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7B7A424-807B-945F-965C-83B411778F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3D2931-7564-3589-FD1E-8A4812075AE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689419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2E7D5E0-FEDA-A5AF-97EE-D67EF6FBFE6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D5C81C0-3ED2-EF14-F9F7-047F2215598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b="1" dirty="0">
                    <a:latin typeface="Arial"/>
                    <a:ea typeface="Arial"/>
                    <a:cs typeface="Arial"/>
                    <a:sym typeface="Arial"/>
                  </a:rPr>
                  <a:t>Expand the Quadratic</a:t>
                </a:r>
                <a:r>
                  <a:rPr lang="en-US" sz="2200" dirty="0">
                    <a:latin typeface="Arial"/>
                    <a:ea typeface="Arial"/>
                    <a:cs typeface="Arial"/>
                    <a:sym typeface="Arial"/>
                  </a:rPr>
                  <a:t>: Since </a:t>
                </a:r>
                <a14:m>
                  <m:oMath xmlns:m="http://schemas.openxmlformats.org/officeDocument/2006/math">
                    <m:r>
                      <m:rPr>
                        <m:lit/>
                      </m:rPr>
                      <a:rPr lang="en-US" sz="2200" b="0" i="0"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𝑣</m:t>
                    </m:r>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r>
                      <a:rPr lang="en-US" sz="2200" i="1" dirty="0" smtClean="0">
                        <a:latin typeface="Cambria Math" panose="02040503050406030204" pitchFamily="18" charset="0"/>
                        <a:ea typeface="Arial"/>
                        <a:cs typeface="Arial"/>
                        <a:sym typeface="Arial"/>
                      </a:rPr>
                      <m:t>=</m:t>
                    </m:r>
                    <m:sSup>
                      <m:sSupPr>
                        <m:ctrlPr>
                          <a:rPr lang="en-US" sz="2200" i="1" dirty="0" err="1" smtClean="0">
                            <a:latin typeface="Cambria Math" panose="02040503050406030204" pitchFamily="18" charset="0"/>
                            <a:ea typeface="Arial"/>
                            <a:cs typeface="Arial"/>
                            <a:sym typeface="Arial"/>
                          </a:rPr>
                        </m:ctrlPr>
                      </m:sSupPr>
                      <m:e>
                        <m:r>
                          <a:rPr lang="en-US" sz="2200" i="1" dirty="0" err="1" smtClean="0">
                            <a:latin typeface="Cambria Math" panose="02040503050406030204" pitchFamily="18" charset="0"/>
                            <a:ea typeface="Arial"/>
                            <a:cs typeface="Arial"/>
                            <a:sym typeface="Arial"/>
                          </a:rPr>
                          <m:t>𝑣</m:t>
                        </m:r>
                      </m:e>
                      <m:sup>
                        <m:r>
                          <a:rPr lang="en-US" sz="2200" i="1" dirty="0" err="1"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𝑣</m:t>
                    </m:r>
                  </m:oMath>
                </a14:m>
                <a:r>
                  <a:rPr lang="en-US" sz="2200" dirty="0">
                    <a:latin typeface="Arial"/>
                    <a:ea typeface="Arial"/>
                    <a:cs typeface="Arial"/>
                    <a:sym typeface="Arial"/>
                  </a:rPr>
                  <a:t>, we expand the error function:</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smtClean="0">
                              <a:latin typeface="Cambria Math" panose="02040503050406030204" pitchFamily="18" charset="0"/>
                              <a:ea typeface="Arial"/>
                              <a:cs typeface="Arial"/>
                              <a:sym typeface="Arial"/>
                            </a:rPr>
                          </m:ctrlPr>
                        </m:dPr>
                        <m:e>
                          <m:r>
                            <a:rPr lang="en-US" sz="2200" i="1" dirty="0" smtClean="0">
                              <a:latin typeface="Cambria Math" panose="02040503050406030204" pitchFamily="18" charset="0"/>
                              <a:ea typeface="Arial"/>
                              <a:cs typeface="Arial"/>
                              <a:sym typeface="Arial"/>
                            </a:rPr>
                            <m:t>𝑅</m:t>
                          </m:r>
                        </m:e>
                      </m:d>
                      <m:r>
                        <a:rPr lang="en-US" sz="2200" i="1" dirty="0" smtClean="0">
                          <a:latin typeface="Cambria Math" panose="02040503050406030204" pitchFamily="18" charset="0"/>
                          <a:ea typeface="Arial"/>
                          <a:cs typeface="Arial"/>
                          <a:sym typeface="Arial"/>
                        </a:rPr>
                        <m:t>=</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d>
                            <m:dPr>
                              <m:ctrlPr>
                                <a:rPr lang="en-US" sz="2200" i="1" dirty="0" smtClean="0">
                                  <a:latin typeface="Cambria Math" panose="02040503050406030204" pitchFamily="18" charset="0"/>
                                  <a:ea typeface="Arial"/>
                                  <a:cs typeface="Arial"/>
                                  <a:sym typeface="Arial"/>
                                </a:rPr>
                              </m:ctrlPr>
                            </m:dPr>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−2</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Cancellation</a:t>
                </a:r>
                <a:r>
                  <a:rPr lang="en-US" sz="2200" dirty="0">
                    <a:latin typeface="Arial"/>
                    <a:ea typeface="Arial"/>
                    <a:cs typeface="Arial"/>
                    <a:sym typeface="Arial"/>
                  </a:rPr>
                  <a:t>: </a:t>
                </a:r>
                <a14:m>
                  <m:oMath xmlns:m="http://schemas.openxmlformats.org/officeDocument/2006/math">
                    <m:r>
                      <a:rPr lang="en-US" sz="2200" i="1" dirty="0" smtClean="0">
                        <a:latin typeface="Cambria Math" panose="02040503050406030204" pitchFamily="18" charset="0"/>
                        <a:ea typeface="Arial"/>
                        <a:cs typeface="Arial"/>
                        <a:sym typeface="Arial"/>
                      </a:rPr>
                      <m:t>𝑅</m:t>
                    </m:r>
                  </m:oMath>
                </a14:m>
                <a:r>
                  <a:rPr lang="en-US" sz="2200" dirty="0">
                    <a:latin typeface="Arial"/>
                    <a:ea typeface="Arial"/>
                    <a:cs typeface="Arial"/>
                    <a:sym typeface="Arial"/>
                  </a:rPr>
                  <a:t> is a valid rotation matrix, meaning it is orthonormal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r>
                      <a:rPr lang="en-US" sz="2200" i="1" dirty="0" smtClean="0">
                        <a:latin typeface="Cambria Math" panose="02040503050406030204" pitchFamily="18" charset="0"/>
                        <a:ea typeface="Arial"/>
                        <a:cs typeface="Arial"/>
                        <a:sym typeface="Arial"/>
                      </a:rPr>
                      <m:t>=</m:t>
                    </m:r>
                    <m:r>
                      <a:rPr lang="en-US" sz="2200" i="1" dirty="0" smtClean="0">
                        <a:latin typeface="Cambria Math" panose="02040503050406030204" pitchFamily="18" charset="0"/>
                        <a:ea typeface="Arial"/>
                        <a:cs typeface="Arial"/>
                        <a:sym typeface="Arial"/>
                      </a:rPr>
                      <m:t>𝐼</m:t>
                    </m:r>
                  </m:oMath>
                </a14:m>
                <a:r>
                  <a:rPr lang="en-US" sz="2200" dirty="0">
                    <a:latin typeface="Arial"/>
                    <a:ea typeface="Arial"/>
                    <a:cs typeface="Arial"/>
                    <a:sym typeface="Arial"/>
                  </a:rPr>
                  <a:t>). Rotating a vector does not change its length.</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Applying the Property</a:t>
                </a:r>
                <a:r>
                  <a:rPr lang="en-US" sz="2200" dirty="0">
                    <a:latin typeface="Arial"/>
                    <a:ea typeface="Arial"/>
                    <a:cs typeface="Arial"/>
                    <a:sym typeface="Arial"/>
                  </a:rPr>
                  <a:t>:</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𝐼</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i="1" dirty="0" smtClean="0">
                          <a:latin typeface="Cambria Math" panose="02040503050406030204" pitchFamily="18" charset="0"/>
                          <a:ea typeface="Arial"/>
                          <a:cs typeface="Arial"/>
                          <a:sym typeface="Arial"/>
                        </a:rPr>
                        <m:t>⇒</m:t>
                      </m:r>
                      <m:r>
                        <m:rPr>
                          <m:lit/>
                        </m:rPr>
                        <a:rPr lang="en-US" sz="2200" i="1" dirty="0" smtClean="0">
                          <a:latin typeface="Cambria Math" panose="02040503050406030204" pitchFamily="18" charset="0"/>
                          <a:ea typeface="Arial"/>
                          <a:cs typeface="Arial"/>
                          <a:sym typeface="Arial"/>
                        </a:rPr>
                        <m:t>|</m:t>
                      </m:r>
                      <m:r>
                        <m:rPr>
                          <m:lit/>
                        </m:rPr>
                        <a:rPr lang="en-US" sz="2200" b="0" i="1" dirty="0" smtClean="0">
                          <a:latin typeface="Cambria Math" panose="02040503050406030204" pitchFamily="18" charset="0"/>
                          <a:ea typeface="Arial"/>
                          <a:cs typeface="Arial"/>
                          <a:sym typeface="Arial"/>
                        </a:rPr>
                        <m:t>|</m:t>
                      </m:r>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r>
                        <a:rPr lang="en-US" sz="2200" b="0" i="1" dirty="0" smtClean="0">
                          <a:latin typeface="Cambria Math" panose="02040503050406030204" pitchFamily="18" charset="0"/>
                          <a:ea typeface="Arial"/>
                          <a:cs typeface="Arial"/>
                          <a:sym typeface="Arial"/>
                        </a:rPr>
                        <m:t>|</m:t>
                      </m:r>
                      <m:sSup>
                        <m:sSupPr>
                          <m:ctrlPr>
                            <a:rPr lang="en-US" sz="2200" i="1" dirty="0" smtClean="0">
                              <a:latin typeface="Cambria Math" panose="02040503050406030204" pitchFamily="18" charset="0"/>
                              <a:ea typeface="Arial"/>
                              <a:cs typeface="Arial"/>
                              <a:sym typeface="Arial"/>
                            </a:rPr>
                          </m:ctrlPr>
                        </m:sSupPr>
                        <m:e>
                          <m:r>
                            <m:rPr>
                              <m:lit/>
                            </m:rPr>
                            <a:rPr lang="en-US" sz="2200" i="1" dirty="0" smtClean="0">
                              <a:latin typeface="Cambria Math" panose="02040503050406030204" pitchFamily="18" charset="0"/>
                              <a:ea typeface="Arial"/>
                              <a:cs typeface="Arial"/>
                              <a:sym typeface="Arial"/>
                            </a:rPr>
                            <m:t>|</m:t>
                          </m:r>
                        </m:e>
                        <m:sup>
                          <m:r>
                            <a:rPr lang="en-US" sz="2200" i="1" dirty="0" smtClean="0">
                              <a:latin typeface="Cambria Math" panose="02040503050406030204" pitchFamily="18" charset="0"/>
                              <a:ea typeface="Arial"/>
                              <a:cs typeface="Arial"/>
                              <a:sym typeface="Arial"/>
                            </a:rPr>
                            <m:t>2</m:t>
                          </m:r>
                        </m:sup>
                      </m:s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The Result</a:t>
                </a:r>
                <a:r>
                  <a:rPr lang="en-US" sz="2200" dirty="0">
                    <a:latin typeface="Arial"/>
                    <a:ea typeface="Arial"/>
                    <a:cs typeface="Arial"/>
                    <a:sym typeface="Arial"/>
                  </a:rPr>
                  <a:t>: The quadratic </a:t>
                </a:r>
                <a14:m>
                  <m:oMath xmlns:m="http://schemas.openxmlformats.org/officeDocument/2006/math">
                    <m:sSup>
                      <m:sSupPr>
                        <m:ctrlPr>
                          <a:rPr lang="en-US" sz="2200" i="1" dirty="0" smtClean="0">
                            <a:latin typeface="Cambria Math" panose="02040503050406030204" pitchFamily="18" charset="0"/>
                            <a:ea typeface="Arial"/>
                            <a:cs typeface="Arial"/>
                            <a:sym typeface="Arial"/>
                          </a:rPr>
                        </m:ctrlPr>
                      </m:sSupPr>
                      <m:e>
                        <m:r>
                          <a:rPr lang="en-US" sz="2200" i="1" dirty="0" smtClean="0">
                            <a:latin typeface="Cambria Math" panose="02040503050406030204" pitchFamily="18" charset="0"/>
                            <a:ea typeface="Arial"/>
                            <a:cs typeface="Arial"/>
                            <a:sym typeface="Arial"/>
                          </a:rPr>
                          <m:t>𝑅</m:t>
                        </m:r>
                      </m:e>
                      <m:sup>
                        <m:r>
                          <a:rPr lang="en-US" sz="2200" i="1" dirty="0" smtClean="0">
                            <a:latin typeface="Cambria Math" panose="02040503050406030204" pitchFamily="18" charset="0"/>
                            <a:ea typeface="Arial"/>
                            <a:cs typeface="Arial"/>
                            <a:sym typeface="Arial"/>
                          </a:rPr>
                          <m:t>2</m:t>
                        </m:r>
                      </m:sup>
                    </m:sSup>
                  </m:oMath>
                </a14:m>
                <a:r>
                  <a:rPr lang="en-US" sz="2200" dirty="0">
                    <a:latin typeface="Arial"/>
                    <a:ea typeface="Arial"/>
                    <a:cs typeface="Arial"/>
                    <a:sym typeface="Arial"/>
                  </a:rPr>
                  <a:t> term completely vanishes, leaving only a linear relationship!</a:t>
                </a:r>
              </a:p>
            </p:txBody>
          </p:sp>
        </mc:Choice>
        <mc:Fallback xmlns="">
          <p:sp>
            <p:nvSpPr>
              <p:cNvPr id="118" name="Google Shape;118;p29">
                <a:extLst>
                  <a:ext uri="{FF2B5EF4-FFF2-40B4-BE49-F238E27FC236}">
                    <a16:creationId xmlns:a16="http://schemas.microsoft.com/office/drawing/2014/main" id="{DD5C81C0-3ED2-EF14-F9F7-047F2215598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4EF6CBA-E4AA-9608-75F4-E2170953A81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C154E1-B1F1-9081-BFB7-97F457BF13C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F9CBEE-C53E-85BE-DA2A-B4D5AA0F6DB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7D6DB3D-2E7B-AA60-28FA-7F41F8210A2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365DA5-5FF4-DEAE-8FE7-82AFF9F955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2CB9C0-8DB4-7E22-2EE0-E19B3E7B046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7D61DEC-4183-534F-FB17-212845C7D53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B647638-3D60-5A58-2087-5EF7D04CEE2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1187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862886-6416-FACC-C541-5AA29F32A29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088D7D-AEF1-EFC7-1EC9-D7EA1B292B4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endParaRPr lang="en-US" sz="2200" i="1" dirty="0">
                  <a:latin typeface="Cambria Math" panose="02040503050406030204" pitchFamily="18" charset="0"/>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p>
                                <m:sSupPr>
                                  <m:ctrlPr>
                                    <a:rPr lang="en-US" sz="2200" i="1" dirty="0">
                                      <a:latin typeface="Cambria Math" panose="02040503050406030204" pitchFamily="18" charset="0"/>
                                      <a:ea typeface="Arial"/>
                                      <a:cs typeface="Arial"/>
                                      <a:sym typeface="Arial"/>
                                    </a:rPr>
                                  </m:ctrlPr>
                                </m:sSupPr>
                                <m:e>
                                  <m:r>
                                    <a:rPr lang="en-US" sz="2200" i="1" dirty="0">
                                      <a:latin typeface="Cambria Math" panose="02040503050406030204" pitchFamily="18" charset="0"/>
                                      <a:ea typeface="Arial"/>
                                      <a:cs typeface="Arial"/>
                                      <a:sym typeface="Arial"/>
                                    </a:rPr>
                                    <m:t>𝑅</m:t>
                                  </m:r>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d>
                            <m:dPr>
                              <m:ctrlPr>
                                <a:rPr lang="en-US" sz="2200" i="1" dirty="0">
                                  <a:latin typeface="Cambria Math" panose="02040503050406030204" pitchFamily="18" charset="0"/>
                                  <a:ea typeface="Arial"/>
                                  <a:cs typeface="Arial"/>
                                  <a:sym typeface="Arial"/>
                                </a:rPr>
                              </m:ctrlPr>
                            </m:dPr>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−2</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r>
                                <a:rPr lang="en-US" sz="2200" i="1" dirty="0">
                                  <a:latin typeface="Cambria Math" panose="02040503050406030204" pitchFamily="18" charset="0"/>
                                  <a:ea typeface="Arial"/>
                                  <a:cs typeface="Arial"/>
                                  <a:sym typeface="Arial"/>
                                </a:rPr>
                                <m:t>+</m:t>
                              </m:r>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nary>
                    </m:oMath>
                  </m:oMathPara>
                </a14:m>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smtClean="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b="0" i="1" dirty="0" smtClean="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We can remove the constant terms from the error function!</a:t>
                </a:r>
              </a:p>
            </p:txBody>
          </p:sp>
        </mc:Choice>
        <mc:Fallback xmlns="">
          <p:sp>
            <p:nvSpPr>
              <p:cNvPr id="118" name="Google Shape;118;p29">
                <a:extLst>
                  <a:ext uri="{FF2B5EF4-FFF2-40B4-BE49-F238E27FC236}">
                    <a16:creationId xmlns:a16="http://schemas.microsoft.com/office/drawing/2014/main" id="{9E088D7D-AEF1-EFC7-1EC9-D7EA1B292B4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104B5A7-05CB-C800-73E5-863FE10B86B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795775-6591-3228-E804-9BA135824AB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C2E11DE-E651-FF50-49B9-9816FED8D8F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919F8A3-288C-6FFF-1DEA-F3E013BB1FB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5E6E662-6FC4-D452-D93F-541436344A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246B526-6B2F-A662-7D46-01FB80EF7E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0A4F91A-9AC4-BE8C-0E98-985190DE3BF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BD63FB-CF4B-2C59-1E36-75D0931CEEF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112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CDB2BA-DEC4-AB21-5CB6-E0668DF0CAC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6BF11F6-9BC3-7CBB-184D-4BB396FB4B8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200" i="1" dirty="0">
                          <a:latin typeface="Cambria Math" panose="02040503050406030204" pitchFamily="18" charset="0"/>
                          <a:ea typeface="Arial"/>
                          <a:cs typeface="Arial"/>
                          <a:sym typeface="Arial"/>
                        </a:rPr>
                        <m:t>𝐸</m:t>
                      </m:r>
                      <m:d>
                        <m:dPr>
                          <m:ctrlPr>
                            <a:rPr lang="en-US" sz="2200" i="1" dirty="0">
                              <a:latin typeface="Cambria Math" panose="02040503050406030204" pitchFamily="18" charset="0"/>
                              <a:ea typeface="Arial"/>
                              <a:cs typeface="Arial"/>
                              <a:sym typeface="Arial"/>
                            </a:rPr>
                          </m:ctrlPr>
                        </m:dPr>
                        <m:e>
                          <m:r>
                            <a:rPr lang="en-US" sz="2200" i="1" dirty="0">
                              <a:latin typeface="Cambria Math" panose="02040503050406030204" pitchFamily="18" charset="0"/>
                              <a:ea typeface="Arial"/>
                              <a:cs typeface="Arial"/>
                              <a:sym typeface="Arial"/>
                            </a:rPr>
                            <m:t>𝑅</m:t>
                          </m:r>
                        </m:e>
                      </m:d>
                      <m:r>
                        <a:rPr lang="en-US" sz="2200" i="1" dirty="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c</m:t>
                      </m:r>
                      <m:r>
                        <a:rPr lang="en-US" sz="2200" i="1" dirty="0">
                          <a:latin typeface="Cambria Math" panose="02040503050406030204" pitchFamily="18" charset="0"/>
                          <a:ea typeface="Arial"/>
                          <a:cs typeface="Arial"/>
                          <a:sym typeface="Arial"/>
                        </a:rPr>
                        <m:t>−</m:t>
                      </m:r>
                      <m:nary>
                        <m:naryPr>
                          <m:chr m:val="∑"/>
                          <m:ctrlPr>
                            <a:rPr lang="en-US" sz="2200" i="1" dirty="0">
                              <a:latin typeface="Cambria Math" panose="02040503050406030204" pitchFamily="18" charset="0"/>
                              <a:ea typeface="Arial"/>
                              <a:cs typeface="Arial"/>
                              <a:sym typeface="Arial"/>
                            </a:rPr>
                          </m:ctrlPr>
                        </m:naryPr>
                        <m:sub>
                          <m:r>
                            <a:rPr lang="en-US" sz="2200" i="1" dirty="0" err="1">
                              <a:latin typeface="Cambria Math" panose="02040503050406030204" pitchFamily="18" charset="0"/>
                              <a:ea typeface="Arial"/>
                              <a:cs typeface="Arial"/>
                              <a:sym typeface="Arial"/>
                            </a:rPr>
                            <m:t>𝑖</m:t>
                          </m:r>
                          <m:r>
                            <a:rPr lang="en-US" sz="2200" i="1" dirty="0">
                              <a:latin typeface="Cambria Math" panose="02040503050406030204" pitchFamily="18" charset="0"/>
                              <a:ea typeface="Arial"/>
                              <a:cs typeface="Arial"/>
                              <a:sym typeface="Arial"/>
                            </a:rPr>
                            <m:t>=1</m:t>
                          </m:r>
                        </m:sub>
                        <m:sup>
                          <m:r>
                            <a:rPr lang="en-US" sz="2200" i="1" dirty="0">
                              <a:latin typeface="Cambria Math" panose="02040503050406030204" pitchFamily="18" charset="0"/>
                              <a:ea typeface="Arial"/>
                              <a:cs typeface="Arial"/>
                              <a:sym typeface="Arial"/>
                            </a:rPr>
                            <m:t>𝑁</m:t>
                          </m:r>
                        </m:sup>
                        <m:e>
                          <m:sSup>
                            <m:sSupPr>
                              <m:ctrlPr>
                                <a:rPr lang="en-US" sz="2200" i="1" dirty="0">
                                  <a:latin typeface="Cambria Math" panose="02040503050406030204" pitchFamily="18" charset="0"/>
                                  <a:ea typeface="Arial"/>
                                  <a:cs typeface="Arial"/>
                                  <a:sym typeface="Arial"/>
                                </a:rPr>
                              </m:ctrlPr>
                            </m:sSupPr>
                            <m:e>
                              <m:d>
                                <m:dPr>
                                  <m:ctrlPr>
                                    <a:rPr lang="en-US" sz="2200" i="1" dirty="0">
                                      <a:latin typeface="Cambria Math" panose="02040503050406030204" pitchFamily="18" charset="0"/>
                                      <a:ea typeface="Arial"/>
                                      <a:cs typeface="Arial"/>
                                      <a:sym typeface="Arial"/>
                                    </a:rPr>
                                  </m:ctrlPr>
                                </m:dPr>
                                <m:e>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𝑞</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d>
                            </m:e>
                            <m:sup>
                              <m:r>
                                <a:rPr lang="en-US" sz="2200" i="1" dirty="0">
                                  <a:latin typeface="Cambria Math" panose="02040503050406030204" pitchFamily="18" charset="0"/>
                                  <a:ea typeface="Arial"/>
                                  <a:cs typeface="Arial"/>
                                  <a:sym typeface="Arial"/>
                                </a:rPr>
                                <m:t>𝑇</m:t>
                              </m:r>
                            </m:sup>
                          </m:sSup>
                          <m:r>
                            <a:rPr lang="en-US" sz="2200" i="1" dirty="0">
                              <a:latin typeface="Cambria Math" panose="02040503050406030204" pitchFamily="18" charset="0"/>
                              <a:ea typeface="Arial"/>
                              <a:cs typeface="Arial"/>
                              <a:sym typeface="Arial"/>
                            </a:rPr>
                            <m:t>𝑅</m:t>
                          </m:r>
                          <m:sSubSup>
                            <m:sSubSupPr>
                              <m:ctrlPr>
                                <a:rPr lang="en-US" sz="2200" i="1" dirty="0">
                                  <a:latin typeface="Cambria Math" panose="02040503050406030204" pitchFamily="18" charset="0"/>
                                  <a:ea typeface="Arial"/>
                                  <a:cs typeface="Arial"/>
                                  <a:sym typeface="Arial"/>
                                </a:rPr>
                              </m:ctrlPr>
                            </m:sSubSupPr>
                            <m:e>
                              <m:r>
                                <a:rPr lang="en-US" sz="2200" i="1" dirty="0">
                                  <a:latin typeface="Cambria Math" panose="02040503050406030204" pitchFamily="18" charset="0"/>
                                  <a:ea typeface="Arial"/>
                                  <a:cs typeface="Arial"/>
                                  <a:sym typeface="Arial"/>
                                </a:rPr>
                                <m:t>𝑝</m:t>
                              </m:r>
                            </m:e>
                            <m:sub>
                              <m:r>
                                <a:rPr lang="en-US" sz="2200" i="1" dirty="0" err="1">
                                  <a:latin typeface="Cambria Math" panose="02040503050406030204" pitchFamily="18" charset="0"/>
                                  <a:ea typeface="Arial"/>
                                  <a:cs typeface="Arial"/>
                                  <a:sym typeface="Arial"/>
                                </a:rPr>
                                <m:t>𝑖</m:t>
                              </m:r>
                            </m:sub>
                            <m:sup>
                              <m:r>
                                <a:rPr lang="en-US" sz="2200" i="1" dirty="0">
                                  <a:latin typeface="Cambria Math" panose="02040503050406030204" pitchFamily="18" charset="0"/>
                                  <a:ea typeface="Arial"/>
                                  <a:cs typeface="Arial"/>
                                  <a:sym typeface="Arial"/>
                                </a:rPr>
                                <m:t>′</m:t>
                              </m:r>
                            </m:sup>
                          </m:sSubSup>
                        </m:e>
                      </m:nary>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With the </a:t>
                </a:r>
                <a:r>
                  <a:rPr lang="en-US" sz="2200" b="1" dirty="0">
                    <a:latin typeface="Arial"/>
                    <a:ea typeface="Arial"/>
                    <a:cs typeface="Arial"/>
                    <a:sym typeface="Arial"/>
                  </a:rPr>
                  <a:t>quadratic term </a:t>
                </a:r>
                <a:r>
                  <a:rPr lang="en-US" sz="2200" dirty="0">
                    <a:latin typeface="Arial"/>
                    <a:ea typeface="Arial"/>
                    <a:cs typeface="Arial"/>
                    <a:sym typeface="Arial"/>
                  </a:rPr>
                  <a:t>gone, the problem reduces to straightforward linear algebra.</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b="1" dirty="0">
                    <a:latin typeface="Arial"/>
                    <a:ea typeface="Arial"/>
                    <a:cs typeface="Arial"/>
                    <a:sym typeface="Arial"/>
                  </a:rPr>
                  <a:t>Simplify</a:t>
                </a:r>
                <a:r>
                  <a:rPr lang="en-US" sz="2200" dirty="0">
                    <a:latin typeface="Arial"/>
                    <a:ea typeface="Arial"/>
                    <a:cs typeface="Arial"/>
                    <a:sym typeface="Arial"/>
                  </a:rPr>
                  <a:t>: The equation is now just the static size of the point clouds (constants) minus a linear term. </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To minimize the total error, we must maximize the negative term:</a:t>
                </a: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nor/>
                        </m:rPr>
                        <a:rPr lang="en-US" sz="2200" i="0" dirty="0" smtClean="0">
                          <a:latin typeface="Cambria Math" panose="02040503050406030204" pitchFamily="18" charset="0"/>
                          <a:ea typeface="Arial"/>
                          <a:cs typeface="Arial"/>
                          <a:sym typeface="Arial"/>
                        </a:rPr>
                        <m:t>Maximize</m:t>
                      </m:r>
                      <m:r>
                        <m:rPr>
                          <m:nor/>
                        </m:rPr>
                        <a:rPr lang="en-US" sz="2200" i="0" dirty="0" smtClean="0">
                          <a:latin typeface="Cambria Math" panose="02040503050406030204" pitchFamily="18" charset="0"/>
                          <a:ea typeface="Arial"/>
                          <a:cs typeface="Arial"/>
                          <a:sym typeface="Arial"/>
                        </a:rPr>
                        <m:t>: </m:t>
                      </m:r>
                      <m:nary>
                        <m:naryPr>
                          <m:chr m:val="∑"/>
                          <m:ctrlPr>
                            <a:rPr lang="en-US" sz="2200" i="1" dirty="0" smtClean="0">
                              <a:latin typeface="Cambria Math" panose="02040503050406030204" pitchFamily="18" charset="0"/>
                              <a:ea typeface="Arial"/>
                              <a:cs typeface="Arial"/>
                              <a:sym typeface="Arial"/>
                            </a:rPr>
                          </m:ctrlPr>
                        </m:naryPr>
                        <m:sub>
                          <m:r>
                            <a:rPr lang="en-US" sz="2200" i="1" dirty="0" err="1" smtClean="0">
                              <a:latin typeface="Cambria Math" panose="02040503050406030204" pitchFamily="18" charset="0"/>
                              <a:ea typeface="Arial"/>
                              <a:cs typeface="Arial"/>
                              <a:sym typeface="Arial"/>
                            </a:rPr>
                            <m:t>𝑖</m:t>
                          </m:r>
                          <m:r>
                            <a:rPr lang="en-US" sz="2200" i="1" dirty="0" smtClean="0">
                              <a:latin typeface="Cambria Math" panose="02040503050406030204" pitchFamily="18" charset="0"/>
                              <a:ea typeface="Arial"/>
                              <a:cs typeface="Arial"/>
                              <a:sym typeface="Arial"/>
                            </a:rPr>
                            <m:t>=1</m:t>
                          </m:r>
                        </m:sub>
                        <m:sup>
                          <m:r>
                            <a:rPr lang="en-US" sz="2200" i="1" dirty="0" smtClean="0">
                              <a:latin typeface="Cambria Math" panose="02040503050406030204" pitchFamily="18" charset="0"/>
                              <a:ea typeface="Arial"/>
                              <a:cs typeface="Arial"/>
                              <a:sym typeface="Arial"/>
                            </a:rPr>
                            <m:t>𝑁</m:t>
                          </m:r>
                        </m:sup>
                        <m:e>
                          <m:sSup>
                            <m:sSupPr>
                              <m:ctrlPr>
                                <a:rPr lang="en-US" sz="2200" i="1" dirty="0" smtClean="0">
                                  <a:latin typeface="Cambria Math" panose="02040503050406030204" pitchFamily="18" charset="0"/>
                                  <a:ea typeface="Arial"/>
                                  <a:cs typeface="Arial"/>
                                  <a:sym typeface="Arial"/>
                                </a:rPr>
                              </m:ctrlPr>
                            </m:sSupPr>
                            <m:e>
                              <m:d>
                                <m:dPr>
                                  <m:ctrlPr>
                                    <a:rPr lang="en-US" sz="2200" i="1" dirty="0" smtClean="0">
                                      <a:latin typeface="Cambria Math" panose="02040503050406030204" pitchFamily="18" charset="0"/>
                                      <a:ea typeface="Arial"/>
                                      <a:cs typeface="Arial"/>
                                      <a:sym typeface="Arial"/>
                                    </a:rPr>
                                  </m:ctrlPr>
                                </m:dPr>
                                <m:e>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𝑞</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e>
                              </m:d>
                            </m:e>
                            <m:sup>
                              <m:r>
                                <a:rPr lang="en-US" sz="2200" i="1" dirty="0" smtClean="0">
                                  <a:latin typeface="Cambria Math" panose="02040503050406030204" pitchFamily="18" charset="0"/>
                                  <a:ea typeface="Arial"/>
                                  <a:cs typeface="Arial"/>
                                  <a:sym typeface="Arial"/>
                                </a:rPr>
                                <m:t>𝑇</m:t>
                              </m:r>
                            </m:sup>
                          </m:sSup>
                          <m:r>
                            <a:rPr lang="en-US" sz="2200" i="1" dirty="0" smtClean="0">
                              <a:latin typeface="Cambria Math" panose="02040503050406030204" pitchFamily="18" charset="0"/>
                              <a:ea typeface="Arial"/>
                              <a:cs typeface="Arial"/>
                              <a:sym typeface="Arial"/>
                            </a:rPr>
                            <m:t>𝑅</m:t>
                          </m:r>
                        </m:e>
                      </m:nary>
                      <m:sSubSup>
                        <m:sSubSupPr>
                          <m:ctrlPr>
                            <a:rPr lang="en-US" sz="2200" i="1" dirty="0" smtClean="0">
                              <a:latin typeface="Cambria Math" panose="02040503050406030204" pitchFamily="18" charset="0"/>
                              <a:ea typeface="Arial"/>
                              <a:cs typeface="Arial"/>
                              <a:sym typeface="Arial"/>
                            </a:rPr>
                          </m:ctrlPr>
                        </m:sSubSupPr>
                        <m:e>
                          <m:r>
                            <a:rPr lang="en-US" sz="2200" i="1" dirty="0" smtClean="0">
                              <a:latin typeface="Cambria Math" panose="02040503050406030204" pitchFamily="18" charset="0"/>
                              <a:ea typeface="Arial"/>
                              <a:cs typeface="Arial"/>
                              <a:sym typeface="Arial"/>
                            </a:rPr>
                            <m:t>𝑝</m:t>
                          </m:r>
                        </m:e>
                        <m:sub>
                          <m:r>
                            <a:rPr lang="en-US" sz="2200" i="1" dirty="0" err="1" smtClean="0">
                              <a:latin typeface="Cambria Math" panose="02040503050406030204" pitchFamily="18" charset="0"/>
                              <a:ea typeface="Arial"/>
                              <a:cs typeface="Arial"/>
                              <a:sym typeface="Arial"/>
                            </a:rPr>
                            <m:t>𝑖</m:t>
                          </m:r>
                        </m:sub>
                        <m:sup>
                          <m:r>
                            <a:rPr lang="en-US" sz="2200" i="1" dirty="0" smtClean="0">
                              <a:latin typeface="Cambria Math" panose="02040503050406030204" pitchFamily="18" charset="0"/>
                              <a:ea typeface="Arial"/>
                              <a:cs typeface="Arial"/>
                              <a:sym typeface="Arial"/>
                            </a:rPr>
                            <m:t>′</m:t>
                          </m:r>
                        </m:sup>
                      </m:sSubSup>
                    </m:oMath>
                  </m:oMathPara>
                </a14:m>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a:p>
                <a:pPr marL="0" indent="0">
                  <a:lnSpc>
                    <a:spcPct val="100000"/>
                  </a:lnSpc>
                  <a:spcBef>
                    <a:spcPts val="0"/>
                  </a:spcBef>
                  <a:buSzPts val="3000"/>
                  <a:buNone/>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76BF11F6-9BC3-7CBB-184D-4BB396FB4B8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r="-6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170CEE-107F-F51D-0CE1-E686A89D33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5D58E09-1580-EE9B-01A8-BB392683DB8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AD28CF8-94BB-D0C9-A9EF-E05ABFB61A5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60685E8-3997-7B49-65EA-92E6D976E5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1F81CB-2299-3196-D783-951FBE8BFF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E5380-7E4C-F31C-CE5F-81A816E031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3085A74-5931-E17E-4DEA-2B48D3674C1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473968-C05E-6820-63FF-63FBBD397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6131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2903029-FC18-D3A8-A3E4-823015E40F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9529276-6013-D9AB-F3E8-85BB9A42E6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Using a rule of linear algebra (the cyclic property of the Trace operator), we can rewrite the sum of these vector dot products as the Trace (sum of the diagonal) of a matrix multiplication:</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e>
                      </m:nary>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nary>
                            <m:naryPr>
                              <m:chr m:val="∑"/>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naryPr>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=1</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𝑁</m:t>
                              </m:r>
                            </m:sup>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𝑝</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sSubSup>
                                        <m:sSub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b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𝑞</m:t>
                                          </m:r>
                                        </m:e>
                                        <m:sub>
                                          <m:r>
                                            <a:rPr kumimoji="0" lang="en-US" sz="2200" b="0" i="1" u="none" strike="noStrike" kern="0" cap="none" spc="0" normalizeH="0" baseline="0" noProof="0" dirty="0" err="1" smtClean="0">
                                              <a:ln>
                                                <a:noFill/>
                                              </a:ln>
                                              <a:solidFill>
                                                <a:srgbClr val="000000"/>
                                              </a:solidFill>
                                              <a:effectLst/>
                                              <a:uLnTx/>
                                              <a:uFillTx/>
                                              <a:latin typeface="Cambria Math" panose="02040503050406030204" pitchFamily="18" charset="0"/>
                                              <a:ea typeface="Arial"/>
                                              <a:cs typeface="Arial"/>
                                              <a:sym typeface="Arial"/>
                                            </a:rPr>
                                            <m:t>𝑖</m:t>
                                          </m:r>
                                        </m:sub>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sup>
                                      </m:sSubSup>
                                    </m:e>
                                  </m:d>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e>
                          </m:nary>
                        </m:e>
                      </m:d>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indent="0">
                  <a:lnSpc>
                    <a:spcPct val="100000"/>
                  </a:lnSpc>
                  <a:spcBef>
                    <a:spcPts val="0"/>
                  </a:spcBef>
                  <a:buClr>
                    <a:srgbClr val="000000"/>
                  </a:buClr>
                  <a:buSzPts val="3000"/>
                  <a:buNone/>
                  <a:defRPr/>
                </a:pPr>
                <a:r>
                  <a:rPr lang="en-US" sz="2200" b="1" dirty="0">
                    <a:solidFill>
                      <a:srgbClr val="000000"/>
                    </a:solidFill>
                    <a:latin typeface="Arial"/>
                    <a:ea typeface="Arial"/>
                    <a:cs typeface="Arial"/>
                    <a:sym typeface="Arial"/>
                  </a:rPr>
                  <a:t>The Trace Trick</a:t>
                </a:r>
                <a:r>
                  <a:rPr lang="en-US" sz="2200" dirty="0">
                    <a:solidFill>
                      <a:srgbClr val="000000"/>
                    </a:solidFill>
                    <a:latin typeface="Arial"/>
                    <a:ea typeface="Arial"/>
                    <a:cs typeface="Arial"/>
                    <a:sym typeface="Arial"/>
                  </a:rPr>
                  <a:t>: We can rewrite this sum of vectors as the Trace of a matrix multiplication using the cross-covariance matrix (</a:t>
                </a:r>
                <a14:m>
                  <m:oMath xmlns:m="http://schemas.openxmlformats.org/officeDocument/2006/math">
                    <m:r>
                      <a:rPr lang="en-US" sz="2200" i="1" dirty="0">
                        <a:solidFill>
                          <a:srgbClr val="000000"/>
                        </a:solidFill>
                        <a:latin typeface="Cambria Math" panose="02040503050406030204" pitchFamily="18" charset="0"/>
                        <a:ea typeface="Arial"/>
                        <a:cs typeface="Arial"/>
                        <a:sym typeface="Arial"/>
                      </a:rPr>
                      <m:t>𝐻</m:t>
                    </m:r>
                  </m:oMath>
                </a14:m>
                <a:r>
                  <a:rPr lang="en-US" sz="2200" dirty="0">
                    <a:solidFill>
                      <a:srgbClr val="000000"/>
                    </a:solidFill>
                    <a:latin typeface="Arial"/>
                    <a:ea typeface="Arial"/>
                    <a:cs typeface="Arial"/>
                    <a:sym typeface="Arial"/>
                  </a:rPr>
                  <a:t>):</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Maximize</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 </m:t>
                      </m:r>
                      <m:r>
                        <m:rPr>
                          <m:nor/>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Tr</m:t>
                      </m:r>
                      <m:d>
                        <m:d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d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e>
                      </m:d>
                    </m:oMath>
                  </m:oMathPara>
                </a14:m>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9529276-6013-D9AB-F3E8-85BB9A42E60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DAEE70C-E0B9-3FE6-AF27-63CD24D106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6A8B9CB-5F94-2968-ACF3-922072453C8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96B1AF1-1018-00D9-169E-72EB6886556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FAD4BC1-7A4A-0028-851F-0ABCA0B789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B42438-0487-2AB6-435D-DB83B37290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7B6CE1-A236-DC9C-614E-941933EC5C3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00BD84-06AC-75EC-CDC9-8BC592C58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C4D4B1-86E4-B708-6ABF-435ED7838C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6231777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C356B8-0B67-6DFC-7C89-8DB600CB175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B97E6A8-0258-A8D4-B6FF-73F82D2B79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1" i="0" u="none" strike="noStrike" kern="0" cap="none" spc="0" normalizeH="0" baseline="0" noProof="0" dirty="0">
                    <a:ln>
                      <a:noFill/>
                    </a:ln>
                    <a:solidFill>
                      <a:srgbClr val="000000"/>
                    </a:solidFill>
                    <a:effectLst/>
                    <a:uLnTx/>
                    <a:uFillTx/>
                    <a:latin typeface="Arial"/>
                    <a:ea typeface="Arial"/>
                    <a:cs typeface="Arial"/>
                    <a:sym typeface="Arial"/>
                  </a:rPr>
                  <a:t>The SVD Algorithm</a:t>
                </a: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Singular Value Decomposition is explicitly designed to maximize this matrix trace!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decompose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and perfectly extract </a:t>
                </a:r>
                <a14:m>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a:t>
                </a: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14:m>
                  <m:oMathPara xmlns:m="http://schemas.openxmlformats.org/officeDocument/2006/math">
                    <m:oMathParaPr>
                      <m:jc m:val="centerGroup"/>
                    </m:oMathParaPr>
                    <m:oMath xmlns:m="http://schemas.openxmlformats.org/officeDocument/2006/math">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𝐻</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𝑅</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m:t>
                      </m:r>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𝑉</m:t>
                      </m:r>
                      <m:sSup>
                        <m:sSupPr>
                          <m:ctrlP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ctrlPr>
                        </m:sSupPr>
                        <m:e>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𝑈</m:t>
                          </m:r>
                        </m:e>
                        <m:sup>
                          <m:r>
                            <a:rPr kumimoji="0" lang="en-US" sz="2200" b="0" i="1"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𝑇</m:t>
                          </m:r>
                        </m:sup>
                      </m:sSup>
                    </m:oMath>
                  </m:oMathPara>
                </a14:m>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solidFill>
                    <a:srgbClr val="000000"/>
                  </a:solidFill>
                  <a:latin typeface="Arial"/>
                  <a:ea typeface="Arial"/>
                  <a:cs typeface="Arial"/>
                  <a:sym typeface="Arial"/>
                </a:endParaRPr>
              </a:p>
              <a:p>
                <a:pPr marL="0" lvl="0" indent="0">
                  <a:lnSpc>
                    <a:spcPct val="100000"/>
                  </a:lnSpc>
                  <a:spcBef>
                    <a:spcPts val="0"/>
                  </a:spcBef>
                  <a:buClr>
                    <a:srgbClr val="000000"/>
                  </a:buClr>
                  <a:buSzPts val="3000"/>
                  <a:buNone/>
                  <a:defRPr/>
                </a:pPr>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We can ignore </a:t>
                </a:r>
                <a14:m>
                  <m:oMath xmlns:m="http://schemas.openxmlformats.org/officeDocument/2006/math">
                    <m:r>
                      <m:rPr>
                        <m:sty m:val="p"/>
                      </m:rPr>
                      <a:rPr kumimoji="0" lang="en-US" sz="2200" b="0" i="0" u="none" strike="noStrike" kern="0" cap="none" spc="0" normalizeH="0" baseline="0" noProof="0" dirty="0" smtClean="0">
                        <a:ln>
                          <a:noFill/>
                        </a:ln>
                        <a:solidFill>
                          <a:srgbClr val="000000"/>
                        </a:solidFill>
                        <a:effectLst/>
                        <a:uLnTx/>
                        <a:uFillTx/>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because </a:t>
                </a:r>
                <a14:m>
                  <m:oMath xmlns:m="http://schemas.openxmlformats.org/officeDocument/2006/math">
                    <m:r>
                      <m:rPr>
                        <m:sty m:val="p"/>
                      </m:rPr>
                      <a:rPr lang="en-US" sz="2200" dirty="0">
                        <a:solidFill>
                          <a:srgbClr val="000000"/>
                        </a:solidFill>
                        <a:latin typeface="Cambria Math" panose="02040503050406030204" pitchFamily="18" charset="0"/>
                        <a:ea typeface="Arial"/>
                        <a:cs typeface="Arial"/>
                        <a:sym typeface="Arial"/>
                      </a:rPr>
                      <m:t>Σ</m:t>
                    </m:r>
                  </m:oMath>
                </a14:m>
                <a:r>
                  <a:rPr kumimoji="0" lang="en-US" sz="2200" b="0" i="0" u="none" strike="noStrike" kern="0" cap="none" spc="0" normalizeH="0" baseline="0" noProof="0" dirty="0">
                    <a:ln>
                      <a:noFill/>
                    </a:ln>
                    <a:solidFill>
                      <a:srgbClr val="000000"/>
                    </a:solidFill>
                    <a:effectLst/>
                    <a:uLnTx/>
                    <a:uFillTx/>
                    <a:latin typeface="Arial"/>
                    <a:ea typeface="Arial"/>
                    <a:cs typeface="Arial"/>
                    <a:sym typeface="Arial"/>
                  </a:rPr>
                  <a:t> represents scaling</a:t>
                </a:r>
                <a:r>
                  <a:rPr kumimoji="0" lang="en-US" sz="2200" b="0" i="0" u="none" strike="noStrike" kern="0" cap="none" spc="0" normalizeH="0" noProof="0" dirty="0">
                    <a:ln>
                      <a:noFill/>
                    </a:ln>
                    <a:solidFill>
                      <a:srgbClr val="000000"/>
                    </a:solidFill>
                    <a:effectLst/>
                    <a:uLnTx/>
                    <a:uFillTx/>
                    <a:latin typeface="Arial"/>
                    <a:ea typeface="Arial"/>
                    <a:cs typeface="Arial"/>
                    <a:sym typeface="Arial"/>
                  </a:rPr>
                  <a:t> /stretching and we want our rotation matrix to maintain it’s validity.</a:t>
                </a:r>
                <a:endParaRPr kumimoji="0" lang="en-US" sz="2200" b="0" i="0" u="none" strike="noStrike" kern="0" cap="none" spc="0" normalizeH="0" baseline="0" noProof="0" dirty="0">
                  <a:ln>
                    <a:noFill/>
                  </a:ln>
                  <a:solidFill>
                    <a:srgbClr val="000000"/>
                  </a:solidFill>
                  <a:effectLst/>
                  <a:uLnTx/>
                  <a:uFillTx/>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3000"/>
                  <a:buFont typeface="Arial"/>
                  <a:buNone/>
                  <a:tabLst/>
                  <a:defRPr/>
                </a:pPr>
                <a:endParaRPr lang="en-US" sz="22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BB97E6A8-0258-A8D4-B6FF-73F82D2B79C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709"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F524C99-8CC9-DAED-F80A-2A65875B58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7BA3B21-1223-6ACD-3661-6DE594B4C1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A55B031-34BF-70AC-15ED-A2011FD423F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C4274B9-392D-5890-CBB7-5CF142C3AE4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44D391-6E55-125A-3346-AB6FB5289A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827CD2-FE28-9CA7-53DB-7D1A87F703A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0F1185A-3656-3B15-6696-C60C86795AA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49D6FA2-D649-DEE2-17FA-04310BA2A41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387256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A4BC1EC-F06A-3FFA-7F45-B8A46BE5F73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A70A6FC4-4DDB-2290-B8E3-6BF9D0708F9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P2P ICP can be solved in 4 steps:</a:t>
                </a:r>
              </a:p>
              <a:p>
                <a:pPr marL="0" indent="0">
                  <a:lnSpc>
                    <a:spcPct val="100000"/>
                  </a:lnSpc>
                  <a:spcBef>
                    <a:spcPts val="0"/>
                  </a:spcBef>
                  <a:buSzPts val="3000"/>
                  <a:buNone/>
                </a:pPr>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Compute the centroids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r>
                  <a:rPr lang="en-US" sz="2200" dirty="0">
                    <a:latin typeface="Arial"/>
                    <a:ea typeface="Arial"/>
                    <a:cs typeface="Arial"/>
                    <a:sym typeface="Arial"/>
                  </a:rPr>
                  <a:t> and </a:t>
                </a:r>
                <a14:m>
                  <m:oMath xmlns:m="http://schemas.openxmlformats.org/officeDocument/2006/math">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oMath>
                </a14:m>
                <a:r>
                  <a:rPr lang="en-US" sz="2200" dirty="0">
                    <a:latin typeface="Arial"/>
                    <a:ea typeface="Arial"/>
                    <a:cs typeface="Arial"/>
                    <a:sym typeface="Arial"/>
                  </a:rPr>
                  <a:t> of both point clouds</a:t>
                </a:r>
              </a:p>
              <a:p>
                <a:pPr indent="-457200">
                  <a:lnSpc>
                    <a:spcPct val="150000"/>
                  </a:lnSpc>
                  <a:spcBef>
                    <a:spcPts val="0"/>
                  </a:spcBef>
                  <a:buSzPts val="3000"/>
                  <a:buFont typeface="+mj-lt"/>
                  <a:buAutoNum type="arabicPeriod"/>
                </a:pPr>
                <a:r>
                  <a:rPr lang="en-US" sz="2200" dirty="0">
                    <a:latin typeface="Arial"/>
                    <a:ea typeface="Arial"/>
                    <a:cs typeface="Arial"/>
                    <a:sym typeface="Arial"/>
                  </a:rPr>
                  <a:t>Build the 2×2 cross-covariance matrix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nary>
                      <m:naryPr>
                        <m:chr m:val="∑"/>
                        <m:supHide m:val="on"/>
                        <m:ctrlPr>
                          <a:rPr lang="en-US" sz="2200" b="0" i="1" smtClean="0">
                            <a:latin typeface="Cambria Math" panose="02040503050406030204" pitchFamily="18" charset="0"/>
                            <a:ea typeface="Arial"/>
                            <a:cs typeface="Arial"/>
                            <a:sym typeface="Arial"/>
                          </a:rPr>
                        </m:ctrlPr>
                      </m:naryPr>
                      <m:sub>
                        <m:r>
                          <a:rPr lang="en-US" sz="2200" b="0" i="1" smtClean="0">
                            <a:latin typeface="Cambria Math" panose="02040503050406030204" pitchFamily="18" charset="0"/>
                            <a:ea typeface="Arial"/>
                            <a:cs typeface="Arial"/>
                            <a:sym typeface="Arial"/>
                          </a:rPr>
                          <m:t>𝑖</m:t>
                        </m:r>
                      </m:sub>
                      <m:sup/>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𝑝</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e>
                        </m:d>
                        <m:sSup>
                          <m:sSupPr>
                            <m:ctrlPr>
                              <a:rPr lang="en-US" sz="2200" b="0" i="1" smtClean="0">
                                <a:latin typeface="Cambria Math" panose="02040503050406030204" pitchFamily="18" charset="0"/>
                                <a:ea typeface="Arial"/>
                                <a:cs typeface="Arial"/>
                                <a:sym typeface="Arial"/>
                              </a:rPr>
                            </m:ctrlPr>
                          </m:sSupPr>
                          <m:e>
                            <m:d>
                              <m:dPr>
                                <m:ctrlPr>
                                  <a:rPr lang="en-US" sz="2200" b="0" i="1" smtClean="0">
                                    <a:latin typeface="Cambria Math" panose="02040503050406030204" pitchFamily="18" charset="0"/>
                                    <a:ea typeface="Arial"/>
                                    <a:cs typeface="Arial"/>
                                    <a:sym typeface="Arial"/>
                                  </a:rPr>
                                </m:ctrlPr>
                              </m:dPr>
                              <m:e>
                                <m:sSub>
                                  <m:sSubPr>
                                    <m:ctrlPr>
                                      <a:rPr lang="en-US" sz="2200" b="0" i="1" smtClean="0">
                                        <a:latin typeface="Cambria Math" panose="02040503050406030204" pitchFamily="18" charset="0"/>
                                        <a:ea typeface="Arial"/>
                                        <a:cs typeface="Arial"/>
                                        <a:sym typeface="Arial"/>
                                      </a:rPr>
                                    </m:ctrlPr>
                                  </m:sSubPr>
                                  <m:e>
                                    <m:r>
                                      <a:rPr lang="en-US" sz="2200" b="0" i="1" smtClean="0">
                                        <a:latin typeface="Cambria Math" panose="02040503050406030204" pitchFamily="18" charset="0"/>
                                        <a:ea typeface="Arial"/>
                                        <a:cs typeface="Arial"/>
                                        <a:sym typeface="Arial"/>
                                      </a:rPr>
                                      <m:t>𝑞</m:t>
                                    </m:r>
                                  </m:e>
                                  <m:sub>
                                    <m:r>
                                      <a:rPr lang="en-US" sz="2200" b="0" i="1" smtClean="0">
                                        <a:latin typeface="Cambria Math" panose="02040503050406030204" pitchFamily="18" charset="0"/>
                                        <a:ea typeface="Arial"/>
                                        <a:cs typeface="Arial"/>
                                        <a:sym typeface="Arial"/>
                                      </a:rPr>
                                      <m:t>𝑖</m:t>
                                    </m:r>
                                  </m:sub>
                                </m:sSub>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e>
                            </m:d>
                          </m:e>
                          <m:sup>
                            <m:r>
                              <a:rPr lang="en-US" sz="2200" b="0" i="1" smtClean="0">
                                <a:latin typeface="Cambria Math" panose="02040503050406030204" pitchFamily="18" charset="0"/>
                                <a:ea typeface="Arial"/>
                                <a:cs typeface="Arial"/>
                                <a:sym typeface="Arial"/>
                              </a:rPr>
                              <m:t>⊤</m:t>
                            </m:r>
                          </m:sup>
                        </m:sSup>
                      </m:e>
                    </m:nary>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Decompose </a:t>
                </a:r>
                <a14:m>
                  <m:oMath xmlns:m="http://schemas.openxmlformats.org/officeDocument/2006/math">
                    <m:r>
                      <a:rPr lang="en-US" sz="2200" b="0" i="1" smtClean="0">
                        <a:latin typeface="Cambria Math" panose="02040503050406030204" pitchFamily="18" charset="0"/>
                        <a:ea typeface="Arial"/>
                        <a:cs typeface="Arial"/>
                        <a:sym typeface="Arial"/>
                      </a:rPr>
                      <m:t>𝐻</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𝑈</m:t>
                    </m:r>
                    <m:r>
                      <a:rPr lang="en-US" sz="2200" b="0" i="1" smtClean="0">
                        <a:latin typeface="Cambria Math" panose="02040503050406030204" pitchFamily="18" charset="0"/>
                        <a:ea typeface="Arial"/>
                        <a:cs typeface="Arial"/>
                        <a:sym typeface="Arial"/>
                      </a:rPr>
                      <m:t>⋅</m:t>
                    </m:r>
                    <m:r>
                      <m:rPr>
                        <m:sty m:val="p"/>
                      </m:rPr>
                      <a:rPr lang="en-US" sz="2200" b="0" i="0" smtClean="0">
                        <a:latin typeface="Cambria Math" panose="02040503050406030204" pitchFamily="18" charset="0"/>
                        <a:ea typeface="Arial"/>
                        <a:cs typeface="Arial"/>
                        <a:sym typeface="Arial"/>
                      </a:rPr>
                      <m:t>Σ</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𝑉</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using Singular Value Decomposition</a:t>
                </a:r>
              </a:p>
              <a:p>
                <a:pPr indent="-457200">
                  <a:lnSpc>
                    <a:spcPct val="150000"/>
                  </a:lnSpc>
                  <a:spcBef>
                    <a:spcPts val="0"/>
                  </a:spcBef>
                  <a:buSzPts val="3000"/>
                  <a:buFont typeface="+mj-lt"/>
                  <a:buAutoNum type="arabicPeriod"/>
                </a:pPr>
                <a:r>
                  <a:rPr lang="en-US" sz="2200" dirty="0">
                    <a:latin typeface="Arial"/>
                    <a:ea typeface="Arial"/>
                    <a:cs typeface="Arial"/>
                    <a:sym typeface="Arial"/>
                  </a:rPr>
                  <a:t>Rotation: </a:t>
                </a:r>
                <a14:m>
                  <m:oMath xmlns:m="http://schemas.openxmlformats.org/officeDocument/2006/math">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𝑉</m:t>
                    </m:r>
                    <m:r>
                      <a:rPr lang="en-US" sz="2200" b="0" i="1" smtClean="0">
                        <a:latin typeface="Cambria Math" panose="02040503050406030204" pitchFamily="18" charset="0"/>
                        <a:ea typeface="Arial"/>
                        <a:cs typeface="Arial"/>
                        <a:sym typeface="Arial"/>
                      </a:rPr>
                      <m:t>⋅</m:t>
                    </m:r>
                    <m:sSup>
                      <m:sSupPr>
                        <m:ctrlPr>
                          <a:rPr lang="en-US" sz="2200" b="0" i="1" smtClean="0">
                            <a:latin typeface="Cambria Math" panose="02040503050406030204" pitchFamily="18" charset="0"/>
                            <a:ea typeface="Arial"/>
                            <a:cs typeface="Arial"/>
                            <a:sym typeface="Arial"/>
                          </a:rPr>
                        </m:ctrlPr>
                      </m:sSupPr>
                      <m:e>
                        <m:r>
                          <a:rPr lang="en-US" sz="2200" b="0" i="1" smtClean="0">
                            <a:latin typeface="Cambria Math" panose="02040503050406030204" pitchFamily="18" charset="0"/>
                            <a:ea typeface="Arial"/>
                            <a:cs typeface="Arial"/>
                            <a:sym typeface="Arial"/>
                          </a:rPr>
                          <m:t>𝑈</m:t>
                        </m:r>
                      </m:e>
                      <m:sup>
                        <m:r>
                          <a:rPr lang="en-US" sz="2200" b="0" i="1" smtClean="0">
                            <a:latin typeface="Cambria Math" panose="02040503050406030204" pitchFamily="18" charset="0"/>
                            <a:ea typeface="Arial"/>
                            <a:cs typeface="Arial"/>
                            <a:sym typeface="Arial"/>
                          </a:rPr>
                          <m:t>⊤</m:t>
                        </m:r>
                      </m:sup>
                    </m:sSup>
                  </m:oMath>
                </a14:m>
                <a:r>
                  <a:rPr lang="en-US" sz="2200" dirty="0">
                    <a:latin typeface="Arial"/>
                    <a:ea typeface="Arial"/>
                    <a:cs typeface="Arial"/>
                    <a:sym typeface="Arial"/>
                  </a:rPr>
                  <a:t> Translation:  </a:t>
                </a:r>
                <a14:m>
                  <m:oMath xmlns:m="http://schemas.openxmlformats.org/officeDocument/2006/math">
                    <m:r>
                      <a:rPr lang="en-US" sz="2200" b="0" i="1" smtClean="0">
                        <a:latin typeface="Cambria Math" panose="02040503050406030204" pitchFamily="18" charset="0"/>
                        <a:ea typeface="Arial"/>
                        <a:cs typeface="Arial"/>
                        <a:sym typeface="Arial"/>
                      </a:rPr>
                      <m:t>𝑡</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𝑞</m:t>
                        </m:r>
                      </m:e>
                    </m:acc>
                    <m:r>
                      <a:rPr lang="en-US" sz="2200" b="0" i="1" smtClean="0">
                        <a:latin typeface="Cambria Math" panose="02040503050406030204" pitchFamily="18" charset="0"/>
                        <a:ea typeface="Arial"/>
                        <a:cs typeface="Arial"/>
                        <a:sym typeface="Arial"/>
                      </a:rPr>
                      <m:t>−</m:t>
                    </m:r>
                    <m:r>
                      <a:rPr lang="en-US" sz="2200" b="0" i="1" smtClean="0">
                        <a:latin typeface="Cambria Math" panose="02040503050406030204" pitchFamily="18" charset="0"/>
                        <a:ea typeface="Arial"/>
                        <a:cs typeface="Arial"/>
                        <a:sym typeface="Arial"/>
                      </a:rPr>
                      <m:t>𝑅</m:t>
                    </m:r>
                    <m:r>
                      <a:rPr lang="en-US" sz="2200" b="0" i="1" smtClean="0">
                        <a:latin typeface="Cambria Math" panose="02040503050406030204" pitchFamily="18" charset="0"/>
                        <a:ea typeface="Arial"/>
                        <a:cs typeface="Arial"/>
                        <a:sym typeface="Arial"/>
                      </a:rPr>
                      <m:t>⋅</m:t>
                    </m:r>
                    <m:acc>
                      <m:accPr>
                        <m:chr m:val="̅"/>
                        <m:ctrlPr>
                          <a:rPr lang="en-US" sz="2200" b="0" i="1" smtClean="0">
                            <a:latin typeface="Cambria Math" panose="02040503050406030204" pitchFamily="18" charset="0"/>
                            <a:ea typeface="Arial"/>
                            <a:cs typeface="Arial"/>
                            <a:sym typeface="Arial"/>
                          </a:rPr>
                        </m:ctrlPr>
                      </m:accPr>
                      <m:e>
                        <m:r>
                          <a:rPr lang="en-US" sz="2200" b="0" i="1" smtClean="0">
                            <a:latin typeface="Cambria Math" panose="02040503050406030204" pitchFamily="18" charset="0"/>
                            <a:ea typeface="Arial"/>
                            <a:cs typeface="Arial"/>
                            <a:sym typeface="Arial"/>
                          </a:rPr>
                          <m:t>𝑝</m:t>
                        </m:r>
                      </m:e>
                    </m:acc>
                  </m:oMath>
                </a14:m>
                <a:endParaRPr lang="en-US" sz="2200" dirty="0">
                  <a:latin typeface="Arial"/>
                  <a:ea typeface="Arial"/>
                  <a:cs typeface="Arial"/>
                  <a:sym typeface="Arial"/>
                </a:endParaRPr>
              </a:p>
              <a:p>
                <a:pPr indent="-457200">
                  <a:lnSpc>
                    <a:spcPct val="150000"/>
                  </a:lnSpc>
                  <a:spcBef>
                    <a:spcPts val="0"/>
                  </a:spcBef>
                  <a:buSzPts val="3000"/>
                  <a:buFont typeface="+mj-lt"/>
                  <a:buAutoNum type="arabicPeriod"/>
                </a:pPr>
                <a:r>
                  <a:rPr lang="en-US" sz="2200" dirty="0">
                    <a:latin typeface="Arial"/>
                    <a:ea typeface="Arial"/>
                    <a:cs typeface="Arial"/>
                    <a:sym typeface="Arial"/>
                  </a:rPr>
                  <a:t>Done!</a:t>
                </a:r>
              </a:p>
            </p:txBody>
          </p:sp>
        </mc:Choice>
        <mc:Fallback xmlns="">
          <p:sp>
            <p:nvSpPr>
              <p:cNvPr id="118" name="Google Shape;118;p29">
                <a:extLst>
                  <a:ext uri="{FF2B5EF4-FFF2-40B4-BE49-F238E27FC236}">
                    <a16:creationId xmlns:a16="http://schemas.microsoft.com/office/drawing/2014/main" id="{A70A6FC4-4DDB-2290-B8E3-6BF9D0708F9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BB5A77FA-2A99-5C93-9CE8-C1A94D0B13A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E5FC2AC-E001-EE26-6047-B4D68CA750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73C5D19-828F-2FA9-2A8C-CA9CD8C1000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964426-7D1B-C4CB-44BC-67EA328E4AF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BE16DC-67E2-0E9A-C169-5E322983714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8D9A7FF-336F-E739-425C-10422A74C1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AA37599-1926-9D00-DA2C-12452E0C85A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98F1234-E132-4D18-782D-EBB651DCAC8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6948345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877189-550D-357B-780C-C31E827A99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60C757-FA26-756D-83FF-0E71391C6AAB}"/>
              </a:ext>
            </a:extLst>
          </p:cNvPr>
          <p:cNvSpPr txBox="1">
            <a:spLocks noGrp="1"/>
          </p:cNvSpPr>
          <p:nvPr>
            <p:ph type="body" idx="1"/>
          </p:nvPr>
        </p:nvSpPr>
        <p:spPr>
          <a:xfrm>
            <a:off x="376809" y="983446"/>
            <a:ext cx="11177401" cy="5453612"/>
          </a:xfrm>
          <a:prstGeom prst="rect">
            <a:avLst/>
          </a:prstGeom>
          <a:noFill/>
          <a:ln>
            <a:noFill/>
          </a:ln>
        </p:spPr>
        <p:txBody>
          <a:bodyPr spcFirstLastPara="1" wrap="square" lIns="91425" tIns="45700" rIns="91425" bIns="45700" anchor="t" anchorCtr="0">
            <a:noAutofit/>
          </a:bodyPr>
          <a:lstStyle/>
          <a:p>
            <a:pPr algn="ctr">
              <a:lnSpc>
                <a:spcPct val="100000"/>
              </a:lnSpc>
              <a:spcBef>
                <a:spcPts val="0"/>
              </a:spcBef>
              <a:buNone/>
            </a:pPr>
            <a:r>
              <a:rPr lang="en-US" sz="1400" dirty="0">
                <a:latin typeface="Arial"/>
                <a:ea typeface="Arial"/>
                <a:cs typeface="Arial"/>
                <a:sym typeface="Arial"/>
              </a:rPr>
              <a:t>Very simple to implement in code as well!</a:t>
            </a:r>
            <a:endParaRPr lang="en-US" sz="1400" b="1" dirty="0">
              <a:solidFill>
                <a:srgbClr val="CF222E"/>
              </a:solidFill>
              <a:effectLst/>
              <a:latin typeface="Consolas" panose="020B0609020204030204" pitchFamily="49" charset="0"/>
            </a:endParaRPr>
          </a:p>
          <a:p>
            <a:pPr>
              <a:lnSpc>
                <a:spcPct val="100000"/>
              </a:lnSpc>
              <a:spcBef>
                <a:spcPts val="0"/>
              </a:spcBef>
              <a:buNone/>
            </a:pPr>
            <a:endParaRPr lang="en-US" sz="800" dirty="0">
              <a:solidFill>
                <a:srgbClr val="CF222E"/>
              </a:solidFill>
              <a:latin typeface="Consolas" panose="020B0609020204030204" pitchFamily="49" charset="0"/>
            </a:endParaRPr>
          </a:p>
          <a:p>
            <a:pPr>
              <a:lnSpc>
                <a:spcPct val="100000"/>
              </a:lnSpc>
              <a:spcBef>
                <a:spcPts val="0"/>
              </a:spcBef>
              <a:buNone/>
            </a:pPr>
            <a:r>
              <a:rPr lang="en-US" sz="900" b="0" dirty="0">
                <a:solidFill>
                  <a:srgbClr val="CF222E"/>
                </a:solidFill>
                <a:effectLst/>
                <a:latin typeface="Consolas" panose="020B0609020204030204" pitchFamily="49" charset="0"/>
              </a:rPr>
              <a:t>def</a:t>
            </a:r>
            <a:r>
              <a:rPr lang="en-US" sz="900" b="0" dirty="0">
                <a:solidFill>
                  <a:srgbClr val="202020"/>
                </a:solidFill>
                <a:effectLst/>
                <a:latin typeface="Consolas" panose="020B0609020204030204" pitchFamily="49" charset="0"/>
              </a:rPr>
              <a:t> </a:t>
            </a:r>
            <a:r>
              <a:rPr lang="en-US" sz="900" b="0" dirty="0">
                <a:solidFill>
                  <a:srgbClr val="8250DF"/>
                </a:solidFill>
                <a:effectLst/>
                <a:latin typeface="Consolas" panose="020B0609020204030204" pitchFamily="49" charset="0"/>
              </a:rPr>
              <a:t>p2p_icp</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A3069"/>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Calculates the P2P ICP Closest Point Transformation</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Input: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source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B: </a:t>
            </a:r>
            <a:r>
              <a:rPr lang="en-US" sz="900" b="0" dirty="0" err="1">
                <a:solidFill>
                  <a:srgbClr val="0A3069"/>
                </a:solidFill>
                <a:effectLst/>
                <a:latin typeface="Consolas" panose="020B0609020204030204" pitchFamily="49" charset="0"/>
              </a:rPr>
              <a:t>Nxm</a:t>
            </a:r>
            <a:r>
              <a:rPr lang="en-US" sz="900" b="0" dirty="0">
                <a:solidFill>
                  <a:srgbClr val="0A3069"/>
                </a:solidFill>
                <a:effectLst/>
                <a:latin typeface="Consolas" panose="020B0609020204030204" pitchFamily="49" charset="0"/>
              </a:rPr>
              <a:t> </a:t>
            </a:r>
            <a:r>
              <a:rPr lang="en-US" sz="900" b="0" dirty="0" err="1">
                <a:solidFill>
                  <a:srgbClr val="0A3069"/>
                </a:solidFill>
                <a:effectLst/>
                <a:latin typeface="Consolas" panose="020B0609020204030204" pitchFamily="49" charset="0"/>
              </a:rPr>
              <a:t>numpy</a:t>
            </a:r>
            <a:r>
              <a:rPr lang="en-US" sz="900" b="0" dirty="0">
                <a:solidFill>
                  <a:srgbClr val="0A3069"/>
                </a:solidFill>
                <a:effectLst/>
                <a:latin typeface="Consolas" panose="020B0609020204030204" pitchFamily="49" charset="0"/>
              </a:rPr>
              <a:t> array of destination points</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Output: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T: (m+1)x(m+1) homogeneous transformation matrix</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0A3069"/>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953800"/>
                </a:solidFill>
                <a:effectLst/>
                <a:latin typeface="Consolas" panose="020B0609020204030204" pitchFamily="49" charset="0"/>
              </a:rPr>
              <a:t>A</a:t>
            </a:r>
            <a:r>
              <a:rPr lang="en-US" sz="900" b="0" dirty="0" err="1">
                <a:solidFill>
                  <a:srgbClr val="202020"/>
                </a:solidFill>
                <a:effectLst/>
                <a:latin typeface="Consolas" panose="020B0609020204030204" pitchFamily="49" charset="0"/>
              </a:rPr>
              <a:t>.shape</a:t>
            </a:r>
            <a:r>
              <a:rPr lang="en-US" sz="900" b="0" dirty="0">
                <a:solidFill>
                  <a:srgbClr val="20202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1: Compute the centroids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np.mean</a:t>
            </a:r>
            <a:r>
              <a:rPr lang="en-US" sz="900" b="0" dirty="0">
                <a:solidFill>
                  <a:srgbClr val="202020"/>
                </a:solidFill>
                <a:effectLst/>
                <a:latin typeface="Consolas" panose="020B0609020204030204" pitchFamily="49" charset="0"/>
              </a:rPr>
              <a:t>(</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axis</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2: Build cross-covariance matrix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A</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953800"/>
                </a:solidFill>
                <a:effectLst/>
                <a:latin typeface="Consolas" panose="020B0609020204030204" pitchFamily="49" charset="0"/>
              </a:rPr>
              <a:t>B</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AA</a:t>
            </a:r>
            <a:r>
              <a:rPr lang="en-US" sz="900" b="0" dirty="0">
                <a:solidFill>
                  <a:srgbClr val="202020"/>
                </a:solidFill>
                <a:effectLst/>
                <a:latin typeface="Consolas" panose="020B0609020204030204" pitchFamily="49" charset="0"/>
              </a:rPr>
              <a:t>.T, </a:t>
            </a:r>
            <a:r>
              <a:rPr lang="en-US" sz="900" b="0" dirty="0">
                <a:solidFill>
                  <a:srgbClr val="0550AE"/>
                </a:solidFill>
                <a:effectLst/>
                <a:latin typeface="Consolas" panose="020B0609020204030204" pitchFamily="49" charset="0"/>
              </a:rPr>
              <a:t>BB</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3: SVD Decomposition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S</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np.linalg.svd</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H</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 --- Step 4: Extract R and t, from SVD ----</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if</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np.linalg.det</a:t>
            </a:r>
            <a:r>
              <a:rPr lang="en-US" sz="900" b="0" dirty="0">
                <a:solidFill>
                  <a:srgbClr val="202020"/>
                </a:solidFill>
                <a:effectLst/>
                <a:latin typeface="Consolas" panose="020B0609020204030204" pitchFamily="49" charset="0"/>
              </a:rPr>
              <a: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&lt;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0</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Vt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err="1">
                <a:solidFill>
                  <a:srgbClr val="1F2328"/>
                </a:solidFill>
                <a:effectLst/>
                <a:latin typeface="Consolas" panose="020B0609020204030204" pitchFamily="49" charset="0"/>
              </a:rPr>
              <a:t>Vt</a:t>
            </a:r>
            <a:r>
              <a:rPr lang="en-US" sz="900" b="0" dirty="0" err="1">
                <a:solidFill>
                  <a:srgbClr val="202020"/>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U</a:t>
            </a:r>
            <a:r>
              <a:rPr lang="en-US" sz="900" b="0" dirty="0">
                <a:solidFill>
                  <a:srgbClr val="202020"/>
                </a:solidFill>
                <a:effectLst/>
                <a:latin typeface="Consolas" panose="020B0609020204030204" pitchFamily="49" charset="0"/>
              </a:rPr>
              <a:t>.T)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centroid_B</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np.dot(</a:t>
            </a:r>
            <a:r>
              <a:rPr lang="en-US" sz="900" b="0" dirty="0">
                <a:solidFill>
                  <a:srgbClr val="0550AE"/>
                </a:solidFill>
                <a:effectLst/>
                <a:latin typeface="Consolas" panose="020B0609020204030204" pitchFamily="49" charset="0"/>
              </a:rPr>
              <a:t>R</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centroid_A</a:t>
            </a:r>
            <a:r>
              <a:rPr lang="en-US" sz="900" b="0" dirty="0" err="1">
                <a:solidFill>
                  <a:srgbClr val="202020"/>
                </a:solidFill>
                <a:effectLst/>
                <a:latin typeface="Consolas" panose="020B0609020204030204" pitchFamily="49" charset="0"/>
              </a:rPr>
              <a:t>.reshape</a:t>
            </a:r>
            <a:r>
              <a:rPr lang="en-US" sz="900" b="0" dirty="0">
                <a:solidFill>
                  <a:srgbClr val="202020"/>
                </a:solidFill>
                <a:effectLst/>
                <a:latin typeface="Consolas" panose="020B0609020204030204" pitchFamily="49" charset="0"/>
              </a:rPr>
              <a:t>(</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6E7781"/>
                </a:solidFill>
                <a:effectLst/>
                <a:latin typeface="Consolas" panose="020B0609020204030204" pitchFamily="49" charset="0"/>
              </a:rPr>
              <a:t>#--------------------------------------------</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202020"/>
                </a:solidFill>
                <a:effectLst/>
                <a:latin typeface="Consolas" panose="020B0609020204030204" pitchFamily="49" charset="0"/>
              </a:rPr>
              <a:t>np.eye</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R</a:t>
            </a:r>
            <a:endParaRPr lang="en-US" sz="900" b="0" dirty="0">
              <a:solidFill>
                <a:srgbClr val="202020"/>
              </a:solidFill>
              <a:effectLst/>
              <a:latin typeface="Consolas" panose="020B0609020204030204" pitchFamily="49" charset="0"/>
            </a:endParaRP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r>
              <a:rPr lang="en-US" sz="900" b="0" dirty="0">
                <a:solidFill>
                  <a:srgbClr val="202020"/>
                </a:solidFill>
                <a:effectLst/>
                <a:latin typeface="Consolas" panose="020B0609020204030204" pitchFamily="49" charset="0"/>
              </a:rPr>
              <a:t>[:</a:t>
            </a:r>
            <a:r>
              <a:rPr lang="en-US" sz="900" b="0" dirty="0">
                <a:solidFill>
                  <a:srgbClr val="1F2328"/>
                </a:solidFill>
                <a:effectLst/>
                <a:latin typeface="Consolas" panose="020B0609020204030204" pitchFamily="49" charset="0"/>
              </a:rPr>
              <a:t>m</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098658"/>
                </a:solidFill>
                <a:effectLst/>
                <a:latin typeface="Consolas" panose="020B0609020204030204" pitchFamily="49" charset="0"/>
              </a:rPr>
              <a:t>1</a:t>
            </a:r>
            <a:r>
              <a:rPr lang="en-US" sz="900" b="0" dirty="0">
                <a:solidFill>
                  <a:srgbClr val="202020"/>
                </a:solidFill>
                <a:effectLst/>
                <a:latin typeface="Consolas" panose="020B0609020204030204" pitchFamily="49" charset="0"/>
              </a:rPr>
              <a:t>] </a:t>
            </a:r>
            <a:r>
              <a:rPr lang="en-US" sz="900" b="0" dirty="0">
                <a:solidFill>
                  <a:srgbClr val="000000"/>
                </a:solidFill>
                <a:effectLst/>
                <a:latin typeface="Consolas" panose="020B0609020204030204" pitchFamily="49" charset="0"/>
              </a:rPr>
              <a:t>=</a:t>
            </a:r>
            <a:r>
              <a:rPr lang="en-US" sz="900" b="0" dirty="0">
                <a:solidFill>
                  <a:srgbClr val="202020"/>
                </a:solidFill>
                <a:effectLst/>
                <a:latin typeface="Consolas" panose="020B0609020204030204" pitchFamily="49" charset="0"/>
              </a:rPr>
              <a:t> </a:t>
            </a:r>
            <a:r>
              <a:rPr lang="en-US" sz="900" b="0" dirty="0" err="1">
                <a:solidFill>
                  <a:srgbClr val="1F2328"/>
                </a:solidFill>
                <a:effectLst/>
                <a:latin typeface="Consolas" panose="020B0609020204030204" pitchFamily="49" charset="0"/>
              </a:rPr>
              <a:t>t</a:t>
            </a:r>
            <a:r>
              <a:rPr lang="en-US" sz="900" b="0" dirty="0" err="1">
                <a:solidFill>
                  <a:srgbClr val="202020"/>
                </a:solidFill>
                <a:effectLst/>
                <a:latin typeface="Consolas" panose="020B0609020204030204" pitchFamily="49" charset="0"/>
              </a:rPr>
              <a:t>.ravel</a:t>
            </a:r>
            <a:r>
              <a:rPr lang="en-US" sz="900" b="0" dirty="0">
                <a:solidFill>
                  <a:srgbClr val="202020"/>
                </a:solidFill>
                <a:effectLst/>
                <a:latin typeface="Consolas" panose="020B0609020204030204" pitchFamily="49" charset="0"/>
              </a:rPr>
              <a:t>()</a:t>
            </a:r>
          </a:p>
          <a:p>
            <a:pPr>
              <a:lnSpc>
                <a:spcPct val="100000"/>
              </a:lnSpc>
              <a:spcBef>
                <a:spcPts val="0"/>
              </a:spcBef>
              <a:buNone/>
            </a:pPr>
            <a:r>
              <a:rPr lang="en-US" sz="900" b="0" dirty="0">
                <a:solidFill>
                  <a:srgbClr val="202020"/>
                </a:solidFill>
                <a:effectLst/>
                <a:latin typeface="Consolas" panose="020B0609020204030204" pitchFamily="49" charset="0"/>
              </a:rPr>
              <a:t>    </a:t>
            </a:r>
            <a:r>
              <a:rPr lang="en-US" sz="900" b="0" dirty="0">
                <a:solidFill>
                  <a:srgbClr val="AF00DB"/>
                </a:solidFill>
                <a:effectLst/>
                <a:latin typeface="Consolas" panose="020B0609020204030204" pitchFamily="49" charset="0"/>
              </a:rPr>
              <a:t>return</a:t>
            </a:r>
            <a:r>
              <a:rPr lang="en-US" sz="900" b="0" dirty="0">
                <a:solidFill>
                  <a:srgbClr val="202020"/>
                </a:solidFill>
                <a:effectLst/>
                <a:latin typeface="Consolas" panose="020B0609020204030204" pitchFamily="49" charset="0"/>
              </a:rPr>
              <a:t> </a:t>
            </a:r>
            <a:r>
              <a:rPr lang="en-US" sz="900" b="0" dirty="0">
                <a:solidFill>
                  <a:srgbClr val="0550AE"/>
                </a:solidFill>
                <a:effectLst/>
                <a:latin typeface="Consolas" panose="020B0609020204030204" pitchFamily="49" charset="0"/>
              </a:rPr>
              <a:t>T</a:t>
            </a:r>
            <a:endParaRPr lang="en-US" sz="9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53FA99F-D3AC-D21D-1CCF-3575D68FCE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6218C6-F638-66C1-7D05-D1473066794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6D4E87C-995B-2523-AFCC-977D8D71BC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A1D06FE-C044-95C7-D497-0F969E853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A454EA-9BC5-7E86-DBC4-FC962B24D2F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6BC6146-B4EC-15BE-03DF-EC4BB28A20A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6AF4BD7-B050-8981-FDEE-709D49C23D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1EADEF3-DA17-E95A-CA92-F85E5B94F1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3518185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CE5392F-AD07-0E69-5E9B-DA6E30882C6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85F982A-F234-DAB8-D7A9-1BF7F0C8E8A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A5E042-D008-C105-1BE5-70632E46176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603758-0928-9176-9E34-B06B26321EA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7FB2B51-8C82-A2E9-97BB-A8B8B25C31E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6AC3F4C-98AB-1806-21B5-EF48C707477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90147-0457-BF4D-E427-328B9A6614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F44FB8-0216-30D9-50C0-6EEF6C4BB5E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41684-11AA-14D2-9E27-671C806D8CE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91EFFD07-38E8-4D7F-3744-DAD0AC1D9992}"/>
                  </a:ext>
                </a:extLst>
              </p:cNvPr>
              <p:cNvSpPr>
                <a:spLocks noGrp="1"/>
              </p:cNvSpPr>
              <p:nvPr>
                <p:ph type="body" idx="1"/>
              </p:nvPr>
            </p:nvSpPr>
            <p:spPr>
              <a:xfrm>
                <a:off x="838200" y="5209383"/>
                <a:ext cx="10515600" cy="967579"/>
              </a:xfrm>
            </p:spPr>
            <p:txBody>
              <a:bodyPr>
                <a:normAutofit fontScale="77500" lnSpcReduction="20000"/>
              </a:bodyPr>
              <a:lstStyle/>
              <a:p>
                <a:r>
                  <a:rPr lang="en-US" dirty="0"/>
                  <a:t>Initial Point Clouds P (</a:t>
                </a:r>
                <a:r>
                  <a:rPr lang="en-US" dirty="0">
                    <a:solidFill>
                      <a:srgbClr val="0070C0"/>
                    </a:solidFill>
                  </a:rPr>
                  <a:t>blue</a:t>
                </a:r>
                <a:r>
                  <a:rPr lang="en-US" dirty="0"/>
                  <a:t>, offset triangle) and Q (</a:t>
                </a:r>
                <a:r>
                  <a:rPr lang="en-US" dirty="0">
                    <a:solidFill>
                      <a:srgbClr val="FF0000"/>
                    </a:solidFill>
                  </a:rPr>
                  <a:t>red</a:t>
                </a:r>
                <a:r>
                  <a:rPr lang="en-US" dirty="0"/>
                  <a:t>, offset and rotated triangle), with their calculated centroids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and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marked and vectors from the origin shown</a:t>
                </a:r>
              </a:p>
            </p:txBody>
          </p:sp>
        </mc:Choice>
        <mc:Fallback xmlns="">
          <p:sp>
            <p:nvSpPr>
              <p:cNvPr id="3" name="Text Placeholder 2">
                <a:extLst>
                  <a:ext uri="{FF2B5EF4-FFF2-40B4-BE49-F238E27FC236}">
                    <a16:creationId xmlns:a16="http://schemas.microsoft.com/office/drawing/2014/main" id="{91EFFD07-38E8-4D7F-3744-DAD0AC1D9992}"/>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18BAE210-BBF1-CBAB-22A6-C3EB4E085A20}"/>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84587" y="929488"/>
            <a:ext cx="4616426" cy="4330874"/>
          </a:xfrm>
          <a:prstGeom prst="rect">
            <a:avLst/>
          </a:prstGeom>
        </p:spPr>
      </p:pic>
    </p:spTree>
    <p:extLst>
      <p:ext uri="{BB962C8B-B14F-4D97-AF65-F5344CB8AC3E}">
        <p14:creationId xmlns:p14="http://schemas.microsoft.com/office/powerpoint/2010/main" val="250054718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C7067F-5553-0959-EA5C-FD29C61ADDC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A4661B9-3087-22FB-2303-5E0CEE00BDB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8DC3057-86F7-A7CF-6196-E4361CB7C92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F76CC-7BC0-0BBA-DAC9-48D19220384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B72983E-ADD2-C6DA-2366-DBB3FE66EE8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4D24E7-3B3F-2BD5-7101-6B620844983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C39ECB-D041-9047-89BD-F36DACA4989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B2DF911-FED4-53F5-A899-0600D77A7D5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02F15D-2FDC-6CBE-491B-B92D924B30C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54CC042B-9E45-22D3-E071-C60056D13D04}"/>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Visualization of Step 2 conceptually centering both point clouds at the global origin to compute the cross-covariance matrix H using the relative positions of points to their respective centroids</a:t>
            </a:r>
          </a:p>
        </p:txBody>
      </p:sp>
      <p:pic>
        <p:nvPicPr>
          <p:cNvPr id="5" name="Graphic 4">
            <a:extLst>
              <a:ext uri="{FF2B5EF4-FFF2-40B4-BE49-F238E27FC236}">
                <a16:creationId xmlns:a16="http://schemas.microsoft.com/office/drawing/2014/main" id="{FD20D93B-0F98-5034-611E-C6C783D4B50E}"/>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514369" y="929488"/>
            <a:ext cx="4756861" cy="4330874"/>
          </a:xfrm>
          <a:prstGeom prst="rect">
            <a:avLst/>
          </a:prstGeom>
        </p:spPr>
      </p:pic>
    </p:spTree>
    <p:extLst>
      <p:ext uri="{BB962C8B-B14F-4D97-AF65-F5344CB8AC3E}">
        <p14:creationId xmlns:p14="http://schemas.microsoft.com/office/powerpoint/2010/main" val="133077555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0E04DC5-9A3F-8B6F-76D6-C2B6910FF9D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8F0F1E5-0A31-2F41-A495-F004F2E5B9A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6C7BF5B-A602-ED97-AE15-31C620EC030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0526884-0468-AD9C-2243-C5AC22D7D5F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E26A46D-7BE6-EFFB-D6E2-149BAC70ACD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CDC73C-DE55-59A5-CD11-199C60AE99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E1859E3-375B-190E-A954-5BE860C595D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D18AB5-3E6C-B65E-ABFE-DA4A2AEE5D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E25DE7-A128-1D0B-7335-EC1B4E2B26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A95456C2-C8A7-3CA9-903B-E0129A58B8B0}"/>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Visualization of Step 3 SVD decomposition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𝐻</m:t>
                    </m:r>
                    <m:r>
                      <a:rPr lang="en-US" i="1" dirty="0" smtClean="0">
                        <a:latin typeface="Cambria Math" panose="02040503050406030204" pitchFamily="18" charset="0"/>
                      </a:rPr>
                      <m:t>=</m:t>
                    </m:r>
                    <m:r>
                      <a:rPr lang="en-US" i="1" dirty="0" smtClean="0">
                        <a:latin typeface="Cambria Math" panose="02040503050406030204" pitchFamily="18" charset="0"/>
                      </a:rPr>
                      <m:t>𝑈</m:t>
                    </m:r>
                    <m:r>
                      <m:rPr>
                        <m:sty m:val="p"/>
                      </m:rPr>
                      <a:rPr lang="en-US" i="0" dirty="0" smtClean="0">
                        <a:latin typeface="Cambria Math" panose="02040503050406030204" pitchFamily="18" charset="0"/>
                      </a:rPr>
                      <m:t>Σ</m:t>
                    </m:r>
                    <m:sSup>
                      <m:sSupPr>
                        <m:ctrlPr>
                          <a:rPr lang="en-US" i="1" dirty="0" smtClean="0">
                            <a:latin typeface="Cambria Math" panose="02040503050406030204" pitchFamily="18" charset="0"/>
                          </a:rPr>
                        </m:ctrlPr>
                      </m:sSupPr>
                      <m:e>
                        <m:r>
                          <a:rPr lang="en-US" i="1" dirty="0" smtClean="0">
                            <a:latin typeface="Cambria Math" panose="02040503050406030204" pitchFamily="18" charset="0"/>
                          </a:rPr>
                          <m:t>𝑉</m:t>
                        </m:r>
                      </m:e>
                      <m:sup>
                        <m:r>
                          <a:rPr lang="en-US" i="1" dirty="0" smtClean="0">
                            <a:latin typeface="Cambria Math" panose="02040503050406030204" pitchFamily="18" charset="0"/>
                          </a:rPr>
                          <m:t>𝑇</m:t>
                        </m:r>
                      </m:sup>
                    </m:sSup>
                    <m:r>
                      <m:rPr>
                        <m:lit/>
                      </m:rPr>
                      <a:rPr lang="en-US" i="1" dirty="0" smtClean="0">
                        <a:latin typeface="Cambria Math" panose="02040503050406030204" pitchFamily="18" charset="0"/>
                      </a:rPr>
                      <m:t>)</m:t>
                    </m:r>
                  </m:oMath>
                </a14:m>
                <a:r>
                  <a:rPr lang="en-US" dirty="0"/>
                  <a:t>, showing the orthogonal singular vectors U and V as principal axes in the centered frames of reference for P and Q respectively, with illustrative singular values </a:t>
                </a:r>
                <a14:m>
                  <m:oMath xmlns:m="http://schemas.openxmlformats.org/officeDocument/2006/math">
                    <m:r>
                      <m:rPr>
                        <m:lit/>
                      </m:rPr>
                      <a:rPr lang="en-US" i="1" dirty="0" smtClean="0">
                        <a:latin typeface="Cambria Math" panose="02040503050406030204" pitchFamily="18" charset="0"/>
                      </a:rPr>
                      <m:t>(</m:t>
                    </m:r>
                    <m:sSub>
                      <m:sSubPr>
                        <m:ctrlPr>
                          <a:rPr lang="en-US" i="1" dirty="0" err="1" smtClean="0">
                            <a:latin typeface="Cambria Math" panose="02040503050406030204" pitchFamily="18" charset="0"/>
                          </a:rPr>
                        </m:ctrlPr>
                      </m:sSubPr>
                      <m:e>
                        <m:r>
                          <a:rPr lang="en-US" i="1" dirty="0" smtClean="0">
                            <a:latin typeface="Cambria Math" panose="02040503050406030204" pitchFamily="18" charset="0"/>
                          </a:rPr>
                          <m:t>𝜎</m:t>
                        </m:r>
                      </m:e>
                      <m:sub>
                        <m:r>
                          <a:rPr lang="en-US" i="1" dirty="0" err="1" smtClean="0">
                            <a:latin typeface="Cambria Math" panose="02040503050406030204" pitchFamily="18" charset="0"/>
                          </a:rPr>
                          <m:t>𝑖</m:t>
                        </m:r>
                      </m:sub>
                    </m:sSub>
                    <m:r>
                      <m:rPr>
                        <m:lit/>
                      </m:rPr>
                      <a:rPr lang="en-US" i="1" dirty="0" smtClean="0">
                        <a:latin typeface="Cambria Math" panose="02040503050406030204" pitchFamily="18" charset="0"/>
                      </a:rPr>
                      <m:t>)</m:t>
                    </m:r>
                  </m:oMath>
                </a14:m>
                <a:r>
                  <a:rPr lang="en-US" dirty="0"/>
                  <a:t> indicating the scale of variance along these directions.</a:t>
                </a:r>
              </a:p>
            </p:txBody>
          </p:sp>
        </mc:Choice>
        <mc:Fallback xmlns="">
          <p:sp>
            <p:nvSpPr>
              <p:cNvPr id="3" name="Text Placeholder 2">
                <a:extLst>
                  <a:ext uri="{FF2B5EF4-FFF2-40B4-BE49-F238E27FC236}">
                    <a16:creationId xmlns:a16="http://schemas.microsoft.com/office/drawing/2014/main" id="{A95456C2-C8A7-3CA9-903B-E0129A58B8B0}"/>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536E3C64-6EBB-C997-8554-1A3F2ECD812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482052" y="1013094"/>
            <a:ext cx="11227896" cy="4263756"/>
          </a:xfrm>
          <a:prstGeom prst="rect">
            <a:avLst/>
          </a:prstGeom>
        </p:spPr>
      </p:pic>
    </p:spTree>
    <p:extLst>
      <p:ext uri="{BB962C8B-B14F-4D97-AF65-F5344CB8AC3E}">
        <p14:creationId xmlns:p14="http://schemas.microsoft.com/office/powerpoint/2010/main" val="20822942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A5239AA-AEF5-3089-2D02-D8A9BB48473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9B89790-F0F7-D31B-7A46-E15BBF176C2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F871ED-BF79-A998-EE78-CF1D606D9B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3BD780-54F7-8969-1B4A-EBAA5A3D406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B9EC3A-ED8E-51B0-6361-6240EA512D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607FE4-151D-F34B-CA85-17DFF167B9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332E11-4311-FC52-0D06-7F7EEBC2DA8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5EC569F-4268-DEED-1EF1-837927323E9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0F0366A-E00A-1E82-BB17-210D88A6308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D899695-7819-6E96-3DBA-448A445D352D}"/>
              </a:ext>
            </a:extLst>
          </p:cNvPr>
          <p:cNvSpPr>
            <a:spLocks noGrp="1"/>
          </p:cNvSpPr>
          <p:nvPr>
            <p:ph type="body" idx="1"/>
          </p:nvPr>
        </p:nvSpPr>
        <p:spPr>
          <a:xfrm>
            <a:off x="838200" y="5209383"/>
            <a:ext cx="10515600" cy="967579"/>
          </a:xfrm>
        </p:spPr>
        <p:txBody>
          <a:bodyPr>
            <a:normAutofit fontScale="77500" lnSpcReduction="20000"/>
          </a:bodyPr>
          <a:lstStyle/>
          <a:p>
            <a:r>
              <a:rPr lang="en-US" dirty="0"/>
              <a:t>Visualizing Step 4 rotation part, showing how the rotation matrix R is conceptually applied to the centered point cloud P' to align its principal axes with those of centered Q', resulting in the rotated, centered shape P''.</a:t>
            </a:r>
          </a:p>
        </p:txBody>
      </p:sp>
      <p:pic>
        <p:nvPicPr>
          <p:cNvPr id="5" name="Graphic 4">
            <a:extLst>
              <a:ext uri="{FF2B5EF4-FFF2-40B4-BE49-F238E27FC236}">
                <a16:creationId xmlns:a16="http://schemas.microsoft.com/office/drawing/2014/main" id="{0305EC02-A30E-839C-30BE-F1AB43709982}"/>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609676" y="929488"/>
            <a:ext cx="4566247" cy="4330874"/>
          </a:xfrm>
          <a:prstGeom prst="rect">
            <a:avLst/>
          </a:prstGeom>
        </p:spPr>
      </p:pic>
    </p:spTree>
    <p:extLst>
      <p:ext uri="{BB962C8B-B14F-4D97-AF65-F5344CB8AC3E}">
        <p14:creationId xmlns:p14="http://schemas.microsoft.com/office/powerpoint/2010/main" val="232971554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52E2AA1-7FC5-C909-F37D-AAF46E5C752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8DE1703-B261-6430-E51C-4574D58CB8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07343F-E4C9-F48B-B57B-F62B619338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62F1BC-44E4-C368-18BA-CA459E49AAA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E67CC0-F37D-6B87-963B-547D48B913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109E016-DB80-99C1-9DBB-56AAE361CE9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C0AB567-0ECB-0063-6BBC-459F1E1DC5A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DF3A4BA-7CC5-7AA4-6E36-2F638664D8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F6FE9-836A-E96E-ECB5-5872A565264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B070FF12-13F9-E647-2E3F-F97005440DB6}"/>
                  </a:ext>
                </a:extLst>
              </p:cNvPr>
              <p:cNvSpPr>
                <a:spLocks noGrp="1"/>
              </p:cNvSpPr>
              <p:nvPr>
                <p:ph type="body" idx="1"/>
              </p:nvPr>
            </p:nvSpPr>
            <p:spPr>
              <a:xfrm>
                <a:off x="838200" y="5209383"/>
                <a:ext cx="10515600" cy="967579"/>
              </a:xfrm>
            </p:spPr>
            <p:txBody>
              <a:bodyPr>
                <a:normAutofit fontScale="70000" lnSpcReduction="20000"/>
              </a:bodyPr>
              <a:lstStyle/>
              <a:p>
                <a:r>
                  <a:rPr lang="en-US" dirty="0"/>
                  <a:t>Visualizing the Step 4 translation vector calculation </a:t>
                </a:r>
                <a14:m>
                  <m:oMath xmlns:m="http://schemas.openxmlformats.org/officeDocument/2006/math">
                    <m:r>
                      <a:rPr lang="en-US" i="1" dirty="0" smtClean="0">
                        <a:latin typeface="Cambria Math" panose="02040503050406030204" pitchFamily="18" charset="0"/>
                      </a:rPr>
                      <m:t>𝑡</m:t>
                    </m:r>
                    <m:r>
                      <a:rPr lang="en-US" i="1" dirty="0" smtClean="0">
                        <a:latin typeface="Cambria Math" panose="02040503050406030204" pitchFamily="18" charset="0"/>
                      </a:rPr>
                      <m:t>=</m:t>
                    </m:r>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 The vector t shifts the rotated source centroid </a:t>
                </a:r>
                <a14:m>
                  <m:oMath xmlns:m="http://schemas.openxmlformats.org/officeDocument/2006/math">
                    <m:r>
                      <m:rPr>
                        <m:lit/>
                      </m:rPr>
                      <a:rPr lang="en-US" i="1" dirty="0" smtClean="0">
                        <a:latin typeface="Cambria Math" panose="02040503050406030204" pitchFamily="18" charset="0"/>
                      </a:rPr>
                      <m:t>(</m:t>
                    </m:r>
                    <m:r>
                      <a:rPr lang="en-US" i="1" dirty="0" smtClean="0">
                        <a:latin typeface="Cambria Math" panose="02040503050406030204" pitchFamily="18" charset="0"/>
                      </a:rPr>
                      <m:t>𝑅</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𝑝</m:t>
                        </m:r>
                      </m:e>
                    </m:acc>
                    <m:r>
                      <m:rPr>
                        <m:lit/>
                      </m:rPr>
                      <a:rPr lang="en-US" i="1" dirty="0" smtClean="0">
                        <a:latin typeface="Cambria Math" panose="02040503050406030204" pitchFamily="18" charset="0"/>
                      </a:rPr>
                      <m:t>)</m:t>
                    </m:r>
                  </m:oMath>
                </a14:m>
                <a:r>
                  <a:rPr lang="en-US" dirty="0"/>
                  <a:t>directly to the target centroid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Conceptual perfect shape alignment (</a:t>
                </a:r>
                <a:r>
                  <a:rPr lang="en-US" dirty="0">
                    <a:solidFill>
                      <a:srgbClr val="00B0F0"/>
                    </a:solidFill>
                  </a:rPr>
                  <a:t>cyan</a:t>
                </a:r>
                <a:r>
                  <a:rPr lang="en-US" dirty="0"/>
                  <a:t> filled triangle) is shown centered on </a:t>
                </a:r>
                <a14:m>
                  <m:oMath xmlns:m="http://schemas.openxmlformats.org/officeDocument/2006/math">
                    <m:r>
                      <m:rPr>
                        <m:lit/>
                      </m:rPr>
                      <a:rPr lang="en-US"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i="1" dirty="0" smtClean="0">
                            <a:latin typeface="Cambria Math" panose="02040503050406030204" pitchFamily="18" charset="0"/>
                          </a:rPr>
                          <m:t>𝑞</m:t>
                        </m:r>
                      </m:e>
                    </m:acc>
                    <m:r>
                      <m:rPr>
                        <m:lit/>
                      </m:rPr>
                      <a:rPr lang="en-US" i="1" dirty="0" smtClean="0">
                        <a:latin typeface="Cambria Math" panose="02040503050406030204" pitchFamily="18" charset="0"/>
                      </a:rPr>
                      <m:t>)</m:t>
                    </m:r>
                  </m:oMath>
                </a14:m>
                <a:r>
                  <a:rPr lang="en-US" dirty="0"/>
                  <a:t>, aligning with the original Q shape.</a:t>
                </a:r>
              </a:p>
            </p:txBody>
          </p:sp>
        </mc:Choice>
        <mc:Fallback xmlns="">
          <p:sp>
            <p:nvSpPr>
              <p:cNvPr id="3" name="Text Placeholder 2">
                <a:extLst>
                  <a:ext uri="{FF2B5EF4-FFF2-40B4-BE49-F238E27FC236}">
                    <a16:creationId xmlns:a16="http://schemas.microsoft.com/office/drawing/2014/main" id="{B070FF12-13F9-E647-2E3F-F97005440DB6}"/>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24D571A1-D7AF-E1FF-EA34-3C42C1061DB3}"/>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597200" y="929488"/>
            <a:ext cx="4591199" cy="4330874"/>
          </a:xfrm>
          <a:prstGeom prst="rect">
            <a:avLst/>
          </a:prstGeom>
        </p:spPr>
      </p:pic>
    </p:spTree>
    <p:extLst>
      <p:ext uri="{BB962C8B-B14F-4D97-AF65-F5344CB8AC3E}">
        <p14:creationId xmlns:p14="http://schemas.microsoft.com/office/powerpoint/2010/main" val="189523972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F27D0C-D461-125C-CA59-CE1CACE70A49}"/>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0E969761-E913-2A48-54F3-4350792A03F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200" dirty="0">
                    <a:latin typeface="Arial"/>
                    <a:ea typeface="Arial"/>
                    <a:cs typeface="Arial"/>
                    <a:sym typeface="Arial"/>
                  </a:rPr>
                  <a:t>The hidden costs the biggest problem is actually the first step!</a:t>
                </a:r>
              </a:p>
              <a:p>
                <a:pPr marL="0" indent="0">
                  <a:lnSpc>
                    <a:spcPct val="100000"/>
                  </a:lnSpc>
                  <a:spcBef>
                    <a:spcPts val="0"/>
                  </a:spcBef>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dirty="0">
                    <a:latin typeface="Arial"/>
                    <a:ea typeface="Arial"/>
                    <a:cs typeface="Arial"/>
                    <a:sym typeface="Arial"/>
                  </a:rPr>
                  <a:t>For N source points and M target points, naïve nearest-neighbor search is </a:t>
                </a:r>
                <a14:m>
                  <m:oMath xmlns:m="http://schemas.openxmlformats.org/officeDocument/2006/math">
                    <m:r>
                      <a:rPr lang="en-US" sz="2200" i="1" dirty="0" smtClean="0">
                        <a:latin typeface="Cambria Math" panose="02040503050406030204" pitchFamily="18" charset="0"/>
                        <a:ea typeface="Arial"/>
                        <a:cs typeface="Arial"/>
                        <a:sym typeface="Arial"/>
                      </a:rPr>
                      <m:t>𝑂</m:t>
                    </m:r>
                    <m:r>
                      <a:rPr lang="en-US" sz="220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N</m:t>
                    </m:r>
                    <m:r>
                      <a:rPr lang="en-US" sz="2200" b="0" i="1" dirty="0" smtClean="0">
                        <a:latin typeface="Cambria Math" panose="02040503050406030204" pitchFamily="18" charset="0"/>
                        <a:ea typeface="Arial"/>
                        <a:cs typeface="Arial"/>
                        <a:sym typeface="Arial"/>
                      </a:rPr>
                      <m:t>⋅</m:t>
                    </m:r>
                    <m:r>
                      <m:rPr>
                        <m:sty m:val="p"/>
                      </m:rPr>
                      <a:rPr lang="en-US" sz="2200" b="0" i="1" dirty="0" smtClean="0">
                        <a:latin typeface="Cambria Math" panose="02040503050406030204" pitchFamily="18" charset="0"/>
                        <a:ea typeface="Arial"/>
                        <a:cs typeface="Arial"/>
                        <a:sym typeface="Arial"/>
                      </a:rPr>
                      <m:t>M</m:t>
                    </m:r>
                    <m:r>
                      <a:rPr lang="en-US" sz="2200" i="1" dirty="0" smtClean="0">
                        <a:latin typeface="Cambria Math" panose="02040503050406030204" pitchFamily="18" charset="0"/>
                        <a:ea typeface="Arial"/>
                        <a:cs typeface="Arial"/>
                        <a:sym typeface="Arial"/>
                      </a:rPr>
                      <m:t>)</m:t>
                    </m:r>
                  </m:oMath>
                </a14:m>
                <a:endParaRPr lang="en-US" sz="2200" dirty="0">
                  <a:latin typeface="Arial"/>
                  <a:ea typeface="Arial"/>
                  <a:cs typeface="Arial"/>
                  <a:sym typeface="Arial"/>
                </a:endParaRPr>
              </a:p>
              <a:p>
                <a:pPr marL="800100" lvl="1">
                  <a:lnSpc>
                    <a:spcPct val="100000"/>
                  </a:lnSpc>
                  <a:spcBef>
                    <a:spcPts val="0"/>
                  </a:spcBef>
                  <a:buSzPts val="3000"/>
                </a:pPr>
                <a:r>
                  <a:rPr lang="en-US" dirty="0">
                    <a:latin typeface="Arial"/>
                    <a:ea typeface="Arial"/>
                    <a:cs typeface="Arial"/>
                    <a:sym typeface="Arial"/>
                  </a:rPr>
                  <a:t>Just check for each points between each point</a:t>
                </a:r>
              </a:p>
              <a:p>
                <a:pPr marL="342900">
                  <a:lnSpc>
                    <a:spcPct val="100000"/>
                  </a:lnSpc>
                  <a:spcBef>
                    <a:spcPts val="0"/>
                  </a:spcBef>
                  <a:buSzPts val="3000"/>
                </a:pPr>
                <a:r>
                  <a:rPr lang="en-US" sz="2400" dirty="0">
                    <a:latin typeface="Arial"/>
                    <a:ea typeface="Arial"/>
                    <a:cs typeface="Arial"/>
                    <a:sym typeface="Arial"/>
                  </a:rPr>
                  <a:t>Solution:</a:t>
                </a:r>
              </a:p>
              <a:p>
                <a:pPr marL="800100" lvl="1">
                  <a:lnSpc>
                    <a:spcPct val="100000"/>
                  </a:lnSpc>
                  <a:spcBef>
                    <a:spcPts val="0"/>
                  </a:spcBef>
                  <a:buSzPts val="3000"/>
                </a:pPr>
                <a:r>
                  <a:rPr lang="en-US" dirty="0">
                    <a:latin typeface="Arial"/>
                    <a:ea typeface="Arial"/>
                    <a:cs typeface="Arial"/>
                    <a:sym typeface="Arial"/>
                  </a:rPr>
                  <a:t>Preprocess the target cloud into a </a:t>
                </a:r>
                <a:r>
                  <a:rPr lang="en-US" b="1" dirty="0">
                    <a:latin typeface="Arial"/>
                    <a:ea typeface="Arial"/>
                    <a:cs typeface="Arial"/>
                    <a:sym typeface="Arial"/>
                  </a:rPr>
                  <a:t>k-d tree</a:t>
                </a:r>
                <a:r>
                  <a:rPr lang="en-US" dirty="0">
                    <a:latin typeface="Arial"/>
                    <a:ea typeface="Arial"/>
                    <a:cs typeface="Arial"/>
                    <a:sym typeface="Arial"/>
                  </a:rPr>
                  <a:t>, binary space portioning structure </a:t>
                </a:r>
                <a14:m>
                  <m:oMath xmlns:m="http://schemas.openxmlformats.org/officeDocument/2006/math">
                    <m:r>
                      <m:rPr>
                        <m:sty m:val="p"/>
                      </m:rPr>
                      <a:rPr lang="en-US" b="0" i="1" smtClean="0">
                        <a:latin typeface="Cambria Math" panose="02040503050406030204" pitchFamily="18" charset="0"/>
                        <a:ea typeface="Arial"/>
                        <a:cs typeface="Arial"/>
                        <a:sym typeface="Arial"/>
                      </a:rPr>
                      <m:t>O</m:t>
                    </m:r>
                    <m:r>
                      <a:rPr lang="en-US" b="0" i="1" smtClean="0">
                        <a:latin typeface="Cambria Math" panose="02040503050406030204" pitchFamily="18" charset="0"/>
                        <a:ea typeface="Arial"/>
                        <a:cs typeface="Arial"/>
                        <a:sym typeface="Arial"/>
                      </a:rPr>
                      <m:t>(</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log</m:t>
                    </m:r>
                    <m:r>
                      <a:rPr lang="en-US" b="0" i="1" smtClean="0">
                        <a:latin typeface="Cambria Math" panose="02040503050406030204" pitchFamily="18" charset="0"/>
                        <a:ea typeface="Arial"/>
                        <a:cs typeface="Arial"/>
                        <a:sym typeface="Arial"/>
                      </a:rPr>
                      <m:t> </m:t>
                    </m:r>
                    <m:r>
                      <m:rPr>
                        <m:sty m:val="p"/>
                      </m:rPr>
                      <a:rPr lang="en-US" b="0" i="1" smtClean="0">
                        <a:latin typeface="Cambria Math" panose="02040503050406030204" pitchFamily="18" charset="0"/>
                        <a:ea typeface="Arial"/>
                        <a:cs typeface="Arial"/>
                        <a:sym typeface="Arial"/>
                      </a:rPr>
                      <m:t>M</m:t>
                    </m:r>
                    <m:r>
                      <a:rPr lang="en-US" b="0" i="1" smtClean="0">
                        <a:latin typeface="Cambria Math" panose="02040503050406030204" pitchFamily="18" charset="0"/>
                        <a:ea typeface="Arial"/>
                        <a:cs typeface="Arial"/>
                        <a:sym typeface="Arial"/>
                      </a:rPr>
                      <m:t>)</m:t>
                    </m:r>
                  </m:oMath>
                </a14:m>
                <a:r>
                  <a:rPr lang="en-US" dirty="0">
                    <a:latin typeface="Arial"/>
                    <a:ea typeface="Arial"/>
                    <a:cs typeface="Arial"/>
                    <a:sym typeface="Arial"/>
                  </a:rPr>
                  <a:t> construction time</a:t>
                </a:r>
              </a:p>
              <a:p>
                <a:pPr marL="800100" lvl="1">
                  <a:lnSpc>
                    <a:spcPct val="100000"/>
                  </a:lnSpc>
                  <a:spcBef>
                    <a:spcPts val="0"/>
                  </a:spcBef>
                  <a:buSzPts val="3000"/>
                </a:pPr>
                <a:r>
                  <a:rPr lang="en-US" dirty="0">
                    <a:latin typeface="Arial"/>
                    <a:ea typeface="Arial"/>
                    <a:cs typeface="Arial"/>
                    <a:sym typeface="Arial"/>
                  </a:rPr>
                  <a:t>K-d nearest-neighbor lookup drops to </a:t>
                </a:r>
                <a14:m>
                  <m:oMath xmlns:m="http://schemas.openxmlformats.org/officeDocument/2006/math">
                    <m:r>
                      <a:rPr lang="en-US" i="1" dirty="0" smtClean="0">
                        <a:latin typeface="Cambria Math" panose="02040503050406030204" pitchFamily="18" charset="0"/>
                        <a:ea typeface="Arial"/>
                        <a:cs typeface="Arial"/>
                        <a:sym typeface="Arial"/>
                      </a:rPr>
                      <m:t>𝑂</m:t>
                    </m:r>
                    <m:d>
                      <m:dPr>
                        <m:ctrlPr>
                          <a:rPr lang="en-US" i="1" dirty="0" smtClean="0">
                            <a:latin typeface="Cambria Math" panose="02040503050406030204" pitchFamily="18" charset="0"/>
                            <a:ea typeface="Arial"/>
                            <a:cs typeface="Arial"/>
                            <a:sym typeface="Arial"/>
                          </a:rPr>
                        </m:ctrlPr>
                      </m:dPr>
                      <m:e>
                        <m:r>
                          <a:rPr lang="en-US" b="0" i="1" dirty="0" smtClean="0">
                            <a:latin typeface="Cambria Math" panose="02040503050406030204" pitchFamily="18" charset="0"/>
                            <a:ea typeface="Arial"/>
                            <a:cs typeface="Arial"/>
                            <a:sym typeface="Arial"/>
                          </a:rPr>
                          <m:t>𝑙𝑜</m:t>
                        </m:r>
                        <m:sSub>
                          <m:sSubPr>
                            <m:ctrlPr>
                              <a:rPr lang="en-US" b="0" i="1" dirty="0" smtClean="0">
                                <a:latin typeface="Cambria Math" panose="02040503050406030204" pitchFamily="18" charset="0"/>
                                <a:ea typeface="Arial"/>
                                <a:cs typeface="Arial"/>
                                <a:sym typeface="Arial"/>
                              </a:rPr>
                            </m:ctrlPr>
                          </m:sSubPr>
                          <m:e>
                            <m:r>
                              <a:rPr lang="en-US" b="0" i="1" dirty="0" smtClean="0">
                                <a:latin typeface="Cambria Math" panose="02040503050406030204" pitchFamily="18" charset="0"/>
                                <a:ea typeface="Arial"/>
                                <a:cs typeface="Arial"/>
                                <a:sym typeface="Arial"/>
                              </a:rPr>
                              <m:t>𝑔</m:t>
                            </m:r>
                          </m:e>
                          <m:sub>
                            <m:r>
                              <a:rPr lang="en-US" b="0" i="1" dirty="0" smtClean="0">
                                <a:latin typeface="Cambria Math" panose="02040503050406030204" pitchFamily="18" charset="0"/>
                                <a:ea typeface="Arial"/>
                                <a:cs typeface="Arial"/>
                                <a:sym typeface="Arial"/>
                              </a:rPr>
                              <m:t>2</m:t>
                            </m:r>
                          </m:sub>
                        </m:sSub>
                        <m:r>
                          <a:rPr lang="en-US" b="0" i="1" dirty="0" smtClean="0">
                            <a:latin typeface="Cambria Math" panose="02040503050406030204" pitchFamily="18" charset="0"/>
                            <a:ea typeface="Arial"/>
                            <a:cs typeface="Arial"/>
                            <a:sym typeface="Arial"/>
                          </a:rPr>
                          <m:t>𝑀</m:t>
                        </m:r>
                      </m:e>
                    </m:d>
                  </m:oMath>
                </a14:m>
                <a:r>
                  <a:rPr lang="en-US" dirty="0">
                    <a:latin typeface="Arial"/>
                    <a:ea typeface="Arial"/>
                    <a:cs typeface="Arial"/>
                    <a:sym typeface="Arial"/>
                  </a:rPr>
                  <a:t> per query! A major speedup!</a:t>
                </a:r>
              </a:p>
              <a:p>
                <a:pPr marL="800100" lvl="1">
                  <a:lnSpc>
                    <a:spcPct val="100000"/>
                  </a:lnSpc>
                  <a:spcBef>
                    <a:spcPts val="0"/>
                  </a:spcBef>
                  <a:buSzPts val="3000"/>
                </a:pPr>
                <a:r>
                  <a:rPr lang="en-US" dirty="0">
                    <a:latin typeface="Arial"/>
                    <a:ea typeface="Arial"/>
                    <a:cs typeface="Arial"/>
                    <a:sym typeface="Arial"/>
                  </a:rPr>
                  <a:t>Almost every ICP implementation in ROS, PCL and Open3D uses K-D trees internally!</a:t>
                </a:r>
              </a:p>
            </p:txBody>
          </p:sp>
        </mc:Choice>
        <mc:Fallback>
          <p:sp>
            <p:nvSpPr>
              <p:cNvPr id="118" name="Google Shape;118;p29">
                <a:extLst>
                  <a:ext uri="{FF2B5EF4-FFF2-40B4-BE49-F238E27FC236}">
                    <a16:creationId xmlns:a16="http://schemas.microsoft.com/office/drawing/2014/main" id="{0E969761-E913-2A48-54F3-4350792A03F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45A19D-858E-572E-4CD7-B1ACBDE794F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BC26DFB-0D73-105E-0E58-7480B479AF5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194E8CC-A425-39E9-58A9-342CF9B05A1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CAA4C8-BF72-69DF-DAFB-1E3D8E87565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7CE49E2-09EB-C625-779B-A00B484E1D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368529-AE47-41DB-7CFB-12EEFB76033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D6DDCCA-D8E4-5453-1C58-B118B4FAA3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2A030D8-212B-AB50-424C-3BBED2E4A8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513417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7EADBD8-E1F3-917A-C5E4-34582E5F016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AE7F2E3-8820-C11E-E6E5-3600052AEAE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7FB9EC1-CE93-89E0-7254-654F602371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FE821F6-FBBE-5F4D-66B4-17B7DBA3291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D2BCC0A-B2AF-7967-FF2F-D2C5F5C754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5825A7E-DA32-ABA4-0E83-882AD8871F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50E1A23-5AA0-F23E-127B-AB131E4679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74D5ED-911C-C7F3-F471-EF0EC1BA4B8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D5819A0-83A4-B65E-87F3-81D60DEEB45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20C3EB4A-3A69-D546-8533-82DADD71A6A0}"/>
              </a:ext>
            </a:extLst>
          </p:cNvPr>
          <p:cNvSpPr>
            <a:spLocks noGrp="1"/>
          </p:cNvSpPr>
          <p:nvPr>
            <p:ph type="body" idx="1"/>
          </p:nvPr>
        </p:nvSpPr>
        <p:spPr/>
        <p:txBody>
          <a:bodyPr/>
          <a:lstStyle/>
          <a:p>
            <a:endParaRPr lang="en-US"/>
          </a:p>
        </p:txBody>
      </p:sp>
      <p:pic>
        <p:nvPicPr>
          <p:cNvPr id="4" name="Online Media 3" title="KD Tree">
            <a:hlinkClick r:id="" action="ppaction://media"/>
            <a:extLst>
              <a:ext uri="{FF2B5EF4-FFF2-40B4-BE49-F238E27FC236}">
                <a16:creationId xmlns:a16="http://schemas.microsoft.com/office/drawing/2014/main" id="{BEBC29B2-B957-7A7E-A426-22CF6D4709D8}"/>
              </a:ext>
            </a:extLst>
          </p:cNvPr>
          <p:cNvPicPr>
            <a:picLocks noRot="1" noChangeAspect="1"/>
          </p:cNvPicPr>
          <p:nvPr>
            <a:videoFile r:link="rId1"/>
          </p:nvPr>
        </p:nvPicPr>
        <p:blipFill>
          <a:blip r:embed="rId5"/>
          <a:stretch>
            <a:fillRect/>
          </a:stretch>
        </p:blipFill>
        <p:spPr>
          <a:xfrm>
            <a:off x="1282700" y="976780"/>
            <a:ext cx="9626600" cy="5439042"/>
          </a:xfrm>
          <a:prstGeom prst="rect">
            <a:avLst/>
          </a:prstGeom>
        </p:spPr>
      </p:pic>
    </p:spTree>
    <p:extLst>
      <p:ext uri="{BB962C8B-B14F-4D97-AF65-F5344CB8AC3E}">
        <p14:creationId xmlns:p14="http://schemas.microsoft.com/office/powerpoint/2010/main" val="8990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70B2AD-FAC9-889D-1BF6-4269AA2A3C1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D6F8739-C5C6-FCA4-0FC6-1D1A6FE5A43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Imagine a robot driving straight down a long, flat, featureless corridor!</a:t>
                </a:r>
              </a:p>
              <a:p>
                <a:pPr marL="0" indent="0">
                  <a:lnSpc>
                    <a:spcPct val="100000"/>
                  </a:lnSpc>
                  <a:spcBef>
                    <a:spcPts val="0"/>
                  </a:spcBef>
                  <a:buSzPts val="3000"/>
                  <a:buNone/>
                </a:pPr>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The left and right walls look geometrically identical at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and timestep </a:t>
                </a:r>
                <a14:m>
                  <m:oMath xmlns:m="http://schemas.openxmlformats.org/officeDocument/2006/math">
                    <m:r>
                      <a:rPr lang="en-US" sz="2000" i="1" dirty="0" smtClean="0">
                        <a:latin typeface="Cambria Math" panose="02040503050406030204" pitchFamily="18" charset="0"/>
                        <a:ea typeface="Arial"/>
                        <a:cs typeface="Arial"/>
                        <a:sym typeface="Arial"/>
                      </a:rPr>
                      <m:t>𝑡</m:t>
                    </m:r>
                    <m:r>
                      <a:rPr lang="en-US" sz="2000" i="1" dirty="0"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285750" indent="-285750">
                  <a:lnSpc>
                    <a:spcPct val="100000"/>
                  </a:lnSpc>
                  <a:spcBef>
                    <a:spcPts val="0"/>
                  </a:spcBef>
                  <a:buSzPts val="3000"/>
                </a:pPr>
                <a:r>
                  <a:rPr lang="en-US" sz="2000" dirty="0">
                    <a:latin typeface="Arial"/>
                    <a:ea typeface="Arial"/>
                    <a:cs typeface="Arial"/>
                    <a:sym typeface="Arial"/>
                  </a:rPr>
                  <a:t>P2P matches each source point to its nearest target point - but that's sideways, not forward!</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What does the algorithm conclude?</a:t>
                </a:r>
              </a:p>
              <a:p>
                <a:pPr marL="0" indent="0">
                  <a:lnSpc>
                    <a:spcPct val="100000"/>
                  </a:lnSpc>
                  <a:spcBef>
                    <a:spcPts val="0"/>
                  </a:spcBef>
                  <a:buSzPts val="3000"/>
                  <a:buNone/>
                </a:pPr>
                <a:endParaRPr lang="en-US" sz="2000" dirty="0">
                  <a:latin typeface="Arial"/>
                  <a:ea typeface="Arial"/>
                  <a:cs typeface="Arial"/>
                  <a:sym typeface="Arial"/>
                </a:endParaRPr>
              </a:p>
              <a:p>
                <a:pPr marL="0" indent="0" algn="ctr">
                  <a:lnSpc>
                    <a:spcPct val="100000"/>
                  </a:lnSpc>
                  <a:spcBef>
                    <a:spcPts val="0"/>
                  </a:spcBef>
                  <a:buSzPts val="3000"/>
                  <a:buNone/>
                </a:pPr>
                <a:r>
                  <a:rPr lang="en-US" sz="2000" dirty="0">
                    <a:latin typeface="Arial"/>
                    <a:ea typeface="Arial"/>
                    <a:cs typeface="Arial"/>
                    <a:sym typeface="Arial"/>
                  </a:rPr>
                  <a:t>'I haven't moved forward at all' and locks the map in place</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The fundamental problem: P2P cannot distinguish 'slide along a wall' from 'did not move'</a:t>
                </a: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9D6F8739-C5C6-FCA4-0FC6-1D1A6FE5A437}"/>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972B00F-0894-7579-83B1-B403F0B274D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CC359DB-F2E4-5A79-79DE-A9FFBB5ADB0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1: Point-to-Point ICP (“Vanilla”)</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6B052F5-7E65-170F-DB1B-9ADFD4EC8F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4B3D9CE-C2A3-C668-CCA9-D07B6029EAF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9F82D68-B095-671A-2931-40EB3F0AC41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3497E-A544-DE61-5E29-CDEC2ECBB1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4B99F-EE40-685F-DB86-16D13CBD7BB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D21611F-6F1C-79F7-4FE4-601B6707B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784284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3AB56BA-C36E-32D1-1719-81A27BD42462}"/>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B2A1620C-AAEA-7E0D-E442-B592061B7FC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The key insight is this, in 2D the world is mostly made of line segments (wall, doors, edges of boxes)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Instead of matching a source point to a single target point, match it to the nearest target </a:t>
                </a:r>
                <a:r>
                  <a:rPr lang="en-US" sz="2000" b="1" dirty="0">
                    <a:latin typeface="Arial"/>
                    <a:ea typeface="Arial"/>
                    <a:cs typeface="Arial"/>
                    <a:sym typeface="Arial"/>
                  </a:rPr>
                  <a:t>LINE</a:t>
                </a:r>
              </a:p>
              <a:p>
                <a:pPr marL="0" indent="0">
                  <a:lnSpc>
                    <a:spcPct val="100000"/>
                  </a:lnSpc>
                  <a:spcBef>
                    <a:spcPts val="0"/>
                  </a:spcBef>
                  <a:buSzPts val="3000"/>
                  <a:buNone/>
                </a:pPr>
                <a:endParaRPr lang="en-US" sz="2000" b="1"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For each target line segment, compute the unit normal </a:t>
                </a:r>
                <a14:m>
                  <m:oMath xmlns:m="http://schemas.openxmlformats.org/officeDocument/2006/math">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oMath>
                </a14:m>
                <a:r>
                  <a:rPr lang="en-US" sz="2000" dirty="0">
                    <a:latin typeface="Arial"/>
                    <a:ea typeface="Arial"/>
                    <a:cs typeface="Arial"/>
                    <a:sym typeface="Arial"/>
                  </a:rPr>
                  <a:t>, (perpendicular to the near wall)</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Only the component of the error </a:t>
                </a:r>
                <a:r>
                  <a:rPr lang="en-US" sz="2000" b="1" dirty="0">
                    <a:latin typeface="Arial"/>
                    <a:ea typeface="Arial"/>
                    <a:cs typeface="Arial"/>
                    <a:sym typeface="Arial"/>
                  </a:rPr>
                  <a:t>PERPENDICULAR</a:t>
                </a:r>
                <a:r>
                  <a:rPr lang="en-US" sz="2000" dirty="0">
                    <a:latin typeface="Arial"/>
                    <a:ea typeface="Arial"/>
                    <a:cs typeface="Arial"/>
                    <a:sym typeface="Arial"/>
                  </a:rPr>
                  <a:t> to the wall is penalized</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 robot can now slide freely along a smooth corridor with the algorithm resisting it!</a:t>
                </a:r>
              </a:p>
            </p:txBody>
          </p:sp>
        </mc:Choice>
        <mc:Fallback xmlns="">
          <p:sp>
            <p:nvSpPr>
              <p:cNvPr id="118" name="Google Shape;118;p29">
                <a:extLst>
                  <a:ext uri="{FF2B5EF4-FFF2-40B4-BE49-F238E27FC236}">
                    <a16:creationId xmlns:a16="http://schemas.microsoft.com/office/drawing/2014/main" id="{B2A1620C-AAEA-7E0D-E442-B592061B7FCA}"/>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20C1FBE6-635B-A4C0-43A3-0BAC91858B0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A22662D-ADE4-8FAB-2235-267E92591B1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A77CCC7-DE4F-3324-9FA1-C613972245D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61D3C7C-DB51-4506-1DD1-C6CCB33CA6B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9B9B2E-1ACA-20CC-A54E-066D1ED786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E157A64-6858-C458-F91C-D27BC073A0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744A613-2500-83B6-FA06-C93D27C6616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E10E95-6F83-F141-4915-37E0C5B5568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5584862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98BD5E5-66EC-A5EC-1FF7-B74584BC841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DEA45C0-9C86-75B2-B4AA-BB7BBD79CCB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Residual = projection of </a:t>
                </a:r>
                <a14:m>
                  <m:oMath xmlns:m="http://schemas.openxmlformats.org/officeDocument/2006/math">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 </m:t>
                    </m:r>
                  </m:oMath>
                </a14:m>
                <a:r>
                  <a:rPr lang="en-US" sz="2000" dirty="0">
                    <a:latin typeface="Arial"/>
                    <a:ea typeface="Arial"/>
                    <a:cs typeface="Arial"/>
                    <a:sym typeface="Arial"/>
                  </a:rPr>
                  <a:t>onto the surface normal nᵢ</a:t>
                </a:r>
              </a:p>
              <a:p>
                <a:pPr marL="342900">
                  <a:lnSpc>
                    <a:spcPct val="100000"/>
                  </a:lnSpc>
                  <a:spcBef>
                    <a:spcPts val="0"/>
                  </a:spcBef>
                  <a:buSzPts val="3000"/>
                </a:pPr>
                <a:r>
                  <a:rPr lang="en-US" sz="2000" dirty="0">
                    <a:latin typeface="Arial"/>
                    <a:ea typeface="Arial"/>
                    <a:cs typeface="Arial"/>
                    <a:sym typeface="Arial"/>
                  </a:rPr>
                  <a:t>Motion parallel to the wall contributes ZERO error - the algorithm doesn't resist it, it just slides on the line</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For high-frequency LiDAR, the angle between consecutive scans is tiny, so we linearize, based on </a:t>
                </a:r>
                <a14:m>
                  <m:oMath xmlns:m="http://schemas.openxmlformats.org/officeDocument/2006/math">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sin</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func>
                      <m:funcPr>
                        <m:ctrlPr>
                          <a:rPr lang="en-US" sz="2000" b="0" i="1" smtClean="0">
                            <a:latin typeface="Cambria Math" panose="02040503050406030204" pitchFamily="18" charset="0"/>
                            <a:ea typeface="Arial"/>
                            <a:cs typeface="Arial"/>
                            <a:sym typeface="Arial"/>
                          </a:rPr>
                        </m:ctrlPr>
                      </m:funcPr>
                      <m:fName>
                        <m:r>
                          <m:rPr>
                            <m:sty m:val="p"/>
                          </m:rPr>
                          <a:rPr lang="en-US" sz="2000" b="0" i="0" smtClean="0">
                            <a:latin typeface="Cambria Math" panose="02040503050406030204" pitchFamily="18" charset="0"/>
                            <a:ea typeface="Arial"/>
                            <a:cs typeface="Arial"/>
                            <a:sym typeface="Arial"/>
                          </a:rPr>
                          <m:t>cos</m:t>
                        </m:r>
                      </m:fName>
                      <m:e>
                        <m:r>
                          <a:rPr lang="en-US" sz="2000" b="0" i="1" smtClean="0">
                            <a:latin typeface="Cambria Math" panose="02040503050406030204" pitchFamily="18" charset="0"/>
                            <a:ea typeface="Arial"/>
                            <a:cs typeface="Arial"/>
                            <a:sym typeface="Arial"/>
                          </a:rPr>
                          <m:t>𝜃</m:t>
                        </m:r>
                      </m:e>
                    </m:func>
                    <m:r>
                      <a:rPr lang="en-US" sz="2000" b="0" i="1" smtClean="0">
                        <a:latin typeface="Cambria Math" panose="02040503050406030204" pitchFamily="18" charset="0"/>
                        <a:ea typeface="Arial"/>
                        <a:cs typeface="Arial"/>
                        <a:sym typeface="Arial"/>
                      </a:rPr>
                      <m:t>=1</m:t>
                    </m:r>
                  </m:oMath>
                </a14:m>
                <a:endParaRPr lang="en-US" sz="2000" dirty="0">
                  <a:latin typeface="Arial"/>
                  <a:ea typeface="Arial"/>
                  <a:cs typeface="Arial"/>
                  <a:sym typeface="Arial"/>
                </a:endParaRPr>
              </a:p>
              <a:p>
                <a:pPr marL="342900">
                  <a:lnSpc>
                    <a:spcPct val="100000"/>
                  </a:lnSpc>
                  <a:spcBef>
                    <a:spcPts val="0"/>
                  </a:spcBef>
                  <a:buSzPts val="3000"/>
                </a:pPr>
                <a:r>
                  <a:rPr lang="en-US" sz="2000" dirty="0">
                    <a:latin typeface="Arial"/>
                    <a:ea typeface="Arial"/>
                    <a:cs typeface="Arial"/>
                    <a:sym typeface="Arial"/>
                  </a:rPr>
                  <a:t>This turns a hard non-linear problem into ordinary linear least squares!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p>
                            <m:sSupPr>
                              <m:ctrlPr>
                                <a:rPr lang="en-US" sz="2000" b="0" i="1" smtClean="0">
                                  <a:latin typeface="Cambria Math" panose="02040503050406030204" pitchFamily="18" charset="0"/>
                                  <a:ea typeface="Arial"/>
                                  <a:cs typeface="Arial"/>
                                  <a:sym typeface="Arial"/>
                                </a:rPr>
                              </m:ctrlPr>
                            </m:sSupPr>
                            <m:e>
                              <m:d>
                                <m:dPr>
                                  <m:begChr m:val="|"/>
                                  <m:endChr m:val="|"/>
                                  <m:ctrlPr>
                                    <a:rPr lang="en-US" sz="2000" b="0" i="1" smtClean="0">
                                      <a:latin typeface="Cambria Math" panose="02040503050406030204" pitchFamily="18" charset="0"/>
                                      <a:ea typeface="Arial"/>
                                      <a:cs typeface="Arial"/>
                                      <a:sym typeface="Arial"/>
                                    </a:rPr>
                                  </m:ctrlPr>
                                </m:dPr>
                                <m:e>
                                  <m:d>
                                    <m:dPr>
                                      <m:begChr m:val="|"/>
                                      <m:endChr m:val="|"/>
                                      <m:ctrlPr>
                                        <a:rPr lang="en-US" sz="2000" b="0" i="1" smtClean="0">
                                          <a:latin typeface="Cambria Math" panose="02040503050406030204" pitchFamily="18" charset="0"/>
                                          <a:ea typeface="Arial"/>
                                          <a:cs typeface="Arial"/>
                                          <a:sym typeface="Arial"/>
                                        </a:rPr>
                                      </m:ctrlPr>
                                    </m:dPr>
                                    <m:e>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e>
                                      </m:d>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e>
                                  </m:d>
                                </m:e>
                              </m:d>
                            </m:e>
                            <m:sup>
                              <m:r>
                                <a:rPr lang="en-US" sz="2000" b="0" i="1" smtClean="0">
                                  <a:latin typeface="Cambria Math" panose="02040503050406030204" pitchFamily="18" charset="0"/>
                                  <a:ea typeface="Arial"/>
                                  <a:cs typeface="Arial"/>
                                  <a:sym typeface="Arial"/>
                                </a:rPr>
                                <m:t>2</m:t>
                              </m:r>
                            </m:sup>
                          </m:sSup>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Parallel motion = zero error, </a:t>
                </a:r>
                <a14:m>
                  <m:oMath xmlns:m="http://schemas.openxmlformats.org/officeDocument/2006/math">
                    <m:r>
                      <a:rPr lang="en-US" sz="2000" b="0" i="1" smtClean="0">
                        <a:latin typeface="Cambria Math" panose="02040503050406030204" pitchFamily="18" charset="0"/>
                        <a:ea typeface="Arial"/>
                        <a:cs typeface="Arial"/>
                        <a:sym typeface="Arial"/>
                      </a:rPr>
                      <m:t>𝑥</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𝑛</m:t>
                        </m:r>
                      </m:e>
                      <m:sub>
                        <m:r>
                          <a:rPr lang="en-US" sz="2000" b="0" i="1" smtClean="0">
                            <a:latin typeface="Cambria Math" panose="02040503050406030204" pitchFamily="18" charset="0"/>
                            <a:ea typeface="Arial"/>
                            <a:cs typeface="Arial"/>
                            <a:sym typeface="Arial"/>
                          </a:rPr>
                          <m:t>𝑖</m:t>
                        </m:r>
                      </m:sub>
                    </m:sSub>
                    <m:r>
                      <a:rPr lang="en-US" sz="2000" b="0" i="1" smtClean="0">
                        <a:latin typeface="Cambria Math" panose="02040503050406030204" pitchFamily="18" charset="0"/>
                        <a:ea typeface="Arial"/>
                        <a:cs typeface="Arial"/>
                        <a:sym typeface="Arial"/>
                      </a:rPr>
                      <m:t>=0</m:t>
                    </m:r>
                  </m:oMath>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Perpendicular motion = penalty, </a:t>
                </a:r>
                <a14:m>
                  <m:oMath xmlns:m="http://schemas.openxmlformats.org/officeDocument/2006/math">
                    <m:r>
                      <a:rPr lang="en-US" sz="2000" i="1" smtClean="0">
                        <a:latin typeface="Cambria Math" panose="02040503050406030204" pitchFamily="18" charset="0"/>
                        <a:ea typeface="Arial"/>
                        <a:cs typeface="Arial"/>
                        <a:sym typeface="Arial"/>
                      </a:rPr>
                      <m:t>𝑥</m:t>
                    </m:r>
                    <m:r>
                      <a:rPr lang="en-US" sz="2000" i="1" smtClean="0">
                        <a:latin typeface="Cambria Math" panose="02040503050406030204" pitchFamily="18" charset="0"/>
                        <a:ea typeface="Arial"/>
                        <a:cs typeface="Arial"/>
                        <a:sym typeface="Arial"/>
                      </a:rPr>
                      <m:t>⋅</m:t>
                    </m:r>
                    <m:sSub>
                      <m:sSubPr>
                        <m:ctrlPr>
                          <a:rPr lang="en-US" sz="2000" i="1">
                            <a:latin typeface="Cambria Math" panose="02040503050406030204" pitchFamily="18" charset="0"/>
                            <a:ea typeface="Arial"/>
                            <a:cs typeface="Arial"/>
                            <a:sym typeface="Arial"/>
                          </a:rPr>
                        </m:ctrlPr>
                      </m:sSubPr>
                      <m:e>
                        <m:r>
                          <a:rPr lang="en-US" sz="2000" i="1">
                            <a:latin typeface="Cambria Math" panose="02040503050406030204" pitchFamily="18" charset="0"/>
                            <a:ea typeface="Arial"/>
                            <a:cs typeface="Arial"/>
                            <a:sym typeface="Arial"/>
                          </a:rPr>
                          <m:t>𝑛</m:t>
                        </m:r>
                      </m:e>
                      <m:sub>
                        <m:r>
                          <a:rPr lang="en-US" sz="2000" i="1">
                            <a:latin typeface="Cambria Math" panose="02040503050406030204" pitchFamily="18" charset="0"/>
                            <a:ea typeface="Arial"/>
                            <a:cs typeface="Arial"/>
                            <a:sym typeface="Arial"/>
                          </a:rPr>
                          <m:t>𝑖</m:t>
                        </m:r>
                      </m:sub>
                    </m:sSub>
                    <m:r>
                      <a:rPr lang="en-US" sz="2000" i="1">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𝑥</m:t>
                    </m:r>
                  </m:oMath>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CDEA45C0-9C86-75B2-B4AA-BB7BBD79CCB8}"/>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EE95C04-4D29-075D-FFDA-D497CACFD8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0B943E-8536-92B8-7DF6-2D00ADBDBC4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60E55FB-C096-F1A8-C68A-78148CD53BA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450734F-B16F-CF54-7C88-B76B9670E1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2505F19-C058-A064-6FCB-09C2E86A03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91BE9F-0440-A499-24FC-DA305A72E4F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3D126E9-78D4-48D2-8F9E-639EBA0AA55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02FAF-AB2D-37D8-5EF1-2EF514C4380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24293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16EA2A-93D1-A3F0-75B7-5CC5ADAB6E9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99B34002-0A39-BB31-4668-DDC32232417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62A51B8-83C2-33D7-81F0-655FB8029C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2: Point-to-Line ICP (PL-ICP)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7C1605B-8A28-3998-2D0C-91F707F2B8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AA60E51-6928-380C-4DD0-3789FBF89C3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7B80B1-7C84-9133-59D2-7AA96EAEE52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CF5FEDA-2571-F0AE-C193-ABA668DF172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5C9113-1C51-B76D-9F3F-947E865D3D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907CF2-93F6-5C16-B747-55B6307CE9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9A4C169-3B8F-0939-6C78-523D572403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9548" y="1227221"/>
            <a:ext cx="5827525" cy="4572000"/>
          </a:xfrm>
          <a:prstGeom prst="rect">
            <a:avLst/>
          </a:prstGeom>
        </p:spPr>
      </p:pic>
      <p:pic>
        <p:nvPicPr>
          <p:cNvPr id="7" name="Graphic 6">
            <a:extLst>
              <a:ext uri="{FF2B5EF4-FFF2-40B4-BE49-F238E27FC236}">
                <a16:creationId xmlns:a16="http://schemas.microsoft.com/office/drawing/2014/main" id="{F7175818-FC9A-A861-6098-08D488DBB5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360179" y="1227221"/>
            <a:ext cx="4761514" cy="4572000"/>
          </a:xfrm>
          <a:prstGeom prst="rect">
            <a:avLst/>
          </a:prstGeom>
        </p:spPr>
      </p:pic>
    </p:spTree>
    <p:extLst>
      <p:ext uri="{BB962C8B-B14F-4D97-AF65-F5344CB8AC3E}">
        <p14:creationId xmlns:p14="http://schemas.microsoft.com/office/powerpoint/2010/main" val="35278539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5FADF4-646F-4F3F-231A-78F7EB20AD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5015E32-FAFE-E048-5AE3-77525018666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How do you think this generalizes in 3D?</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In 3D, a plane is the natural generalization of a line (floor, ceiling, wall surface)</a:t>
            </a:r>
          </a:p>
          <a:p>
            <a:pPr marL="342900">
              <a:lnSpc>
                <a:spcPct val="150000"/>
              </a:lnSpc>
              <a:spcBef>
                <a:spcPts val="0"/>
              </a:spcBef>
              <a:buSzPts val="3000"/>
            </a:pPr>
            <a:r>
              <a:rPr lang="en-US" sz="2000" dirty="0">
                <a:latin typeface="Arial"/>
                <a:ea typeface="Arial"/>
                <a:cs typeface="Arial"/>
                <a:sym typeface="Arial"/>
              </a:rPr>
              <a:t>Every target point qᵢ gets a surface-normal vector nᵢ computed from its local neighbors</a:t>
            </a:r>
          </a:p>
          <a:p>
            <a:pPr marL="342900">
              <a:lnSpc>
                <a:spcPct val="150000"/>
              </a:lnSpc>
              <a:spcBef>
                <a:spcPts val="0"/>
              </a:spcBef>
              <a:buSzPts val="3000"/>
            </a:pPr>
            <a:r>
              <a:rPr lang="en-US" sz="2000" dirty="0">
                <a:latin typeface="Arial"/>
                <a:ea typeface="Arial"/>
                <a:cs typeface="Arial"/>
                <a:sym typeface="Arial"/>
              </a:rPr>
              <a:t>Error is projected onto nᵢ exactly as in PL-ICP, motion along the plane is free</a:t>
            </a:r>
          </a:p>
          <a:p>
            <a:pPr marL="342900">
              <a:lnSpc>
                <a:spcPct val="150000"/>
              </a:lnSpc>
              <a:spcBef>
                <a:spcPts val="0"/>
              </a:spcBef>
              <a:buSzPts val="3000"/>
            </a:pPr>
            <a:r>
              <a:rPr lang="en-US" sz="2000" dirty="0">
                <a:latin typeface="Arial"/>
                <a:ea typeface="Arial"/>
                <a:cs typeface="Arial"/>
                <a:sym typeface="Arial"/>
              </a:rPr>
              <a:t>Converges in far fewer iterations than P2P in structured indoor environments (given that 3D structures provide more constraints / unique presentations)</a:t>
            </a:r>
          </a:p>
        </p:txBody>
      </p:sp>
      <p:sp>
        <p:nvSpPr>
          <p:cNvPr id="119" name="Google Shape;119;p29">
            <a:extLst>
              <a:ext uri="{FF2B5EF4-FFF2-40B4-BE49-F238E27FC236}">
                <a16:creationId xmlns:a16="http://schemas.microsoft.com/office/drawing/2014/main" id="{D864196B-13A3-4212-3F3B-D58FD9AD5E6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2084440-D84D-07ED-FC8B-53F278BA083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3: Point-to-Plane 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66DB1A-433A-172D-10F5-F865B150555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386E8-83F7-CA4A-29CA-9F9E1A9195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6F44110-EF4D-D32E-10B1-22C5E802B4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65190D-05BD-43A8-4D82-63D230ECAA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C8A1A8C-0DEF-2525-4DA2-DC72036E601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DEB126C-5BB6-FE62-C0CF-60CCE92C5C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055638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C6CAF50-AEB3-C9C7-FDCD-A5E3AC8273F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1AD5A15-4BE7-B88D-E49C-805CFBD54D3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What if BOTH clouds are noisy? We need uncertainty-aware matching.</a:t>
            </a:r>
          </a:p>
          <a:p>
            <a:pPr marL="0" indent="0">
              <a:lnSpc>
                <a:spcPct val="100000"/>
              </a:lnSpc>
              <a:spcBef>
                <a:spcPts val="0"/>
              </a:spcBef>
              <a:buSzPts val="3000"/>
              <a:buNone/>
            </a:pPr>
            <a:endParaRPr lang="en-US" sz="2000" dirty="0">
              <a:latin typeface="Arial"/>
              <a:ea typeface="Arial"/>
              <a:cs typeface="Arial"/>
              <a:sym typeface="Arial"/>
            </a:endParaRPr>
          </a:p>
          <a:p>
            <a:pPr marL="342900">
              <a:lnSpc>
                <a:spcPct val="150000"/>
              </a:lnSpc>
              <a:spcBef>
                <a:spcPts val="0"/>
              </a:spcBef>
              <a:buSzPts val="3000"/>
            </a:pPr>
            <a:r>
              <a:rPr lang="en-US" sz="2000" dirty="0">
                <a:latin typeface="Arial"/>
                <a:ea typeface="Arial"/>
                <a:cs typeface="Arial"/>
                <a:sym typeface="Arial"/>
              </a:rPr>
              <a:t>P2P assumes source points are perfect, P2Plane assumes target surfaces are perfect</a:t>
            </a:r>
          </a:p>
          <a:p>
            <a:pPr marL="342900">
              <a:lnSpc>
                <a:spcPct val="150000"/>
              </a:lnSpc>
              <a:spcBef>
                <a:spcPts val="0"/>
              </a:spcBef>
              <a:buSzPts val="3000"/>
            </a:pPr>
            <a:r>
              <a:rPr lang="en-US" sz="2000" dirty="0">
                <a:latin typeface="Arial"/>
                <a:ea typeface="Arial"/>
                <a:cs typeface="Arial"/>
                <a:sym typeface="Arial"/>
              </a:rPr>
              <a:t>Reality: both clouds carry uncertainty - laser range noise, quantization, timing jitter</a:t>
            </a:r>
          </a:p>
          <a:p>
            <a:pPr marL="342900">
              <a:lnSpc>
                <a:spcPct val="150000"/>
              </a:lnSpc>
              <a:spcBef>
                <a:spcPts val="0"/>
              </a:spcBef>
              <a:buSzPts val="3000"/>
            </a:pPr>
            <a:r>
              <a:rPr lang="en-US" sz="2000" dirty="0">
                <a:latin typeface="Arial"/>
                <a:ea typeface="Arial"/>
                <a:cs typeface="Arial"/>
                <a:sym typeface="Arial"/>
              </a:rPr>
              <a:t>GICP attaches a 2×2 (or 3×3) covariance matrix to every point in both clouds</a:t>
            </a:r>
          </a:p>
          <a:p>
            <a:pPr marL="342900">
              <a:lnSpc>
                <a:spcPct val="150000"/>
              </a:lnSpc>
              <a:spcBef>
                <a:spcPts val="0"/>
              </a:spcBef>
              <a:buSzPts val="3000"/>
            </a:pPr>
            <a:r>
              <a:rPr lang="en-US" sz="2000" dirty="0">
                <a:latin typeface="Arial"/>
                <a:ea typeface="Arial"/>
                <a:cs typeface="Arial"/>
                <a:sym typeface="Arial"/>
              </a:rPr>
              <a:t>A point on a flat wall has a 'pancake' covariance: certain perpendicular, uncertain along the wall</a:t>
            </a:r>
          </a:p>
          <a:p>
            <a:pPr marL="342900">
              <a:lnSpc>
                <a:spcPct val="150000"/>
              </a:lnSpc>
              <a:spcBef>
                <a:spcPts val="0"/>
              </a:spcBef>
              <a:buSzPts val="3000"/>
            </a:pPr>
            <a:r>
              <a:rPr lang="en-US" sz="2000" dirty="0">
                <a:latin typeface="Arial"/>
                <a:ea typeface="Arial"/>
                <a:cs typeface="Arial"/>
                <a:sym typeface="Arial"/>
              </a:rPr>
              <a:t>Alignment is now done in probability space, not distance space</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9334BB1F-3D02-1A1F-45EC-909773BD82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A62ED2C-D7DF-D3F0-B6B7-F893A2D39E0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FF2239-3A16-4858-302C-87E487A48FC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18A74C-4443-64FC-4B56-1E71BEA626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B3047C3-28D1-7978-06EF-51362579A2B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B2EE0F6-269A-DEF5-996E-9A35384BE6D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3DE788C-8C0D-BCCC-D842-EE4E450752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80F970F-D862-A0A7-38D9-2EDA8C271F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760718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70027EA-8625-77B1-9AD9-21FD90565DA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F592E44-47F4-612D-C6A2-424D844DD564}"/>
                  </a:ext>
                </a:extLst>
              </p:cNvPr>
              <p:cNvSpPr txBox="1">
                <a:spLocks noGrp="1"/>
              </p:cNvSpPr>
              <p:nvPr>
                <p:ph type="body" idx="1"/>
              </p:nvPr>
            </p:nvSpPr>
            <p:spPr>
              <a:xfrm>
                <a:off x="376809" y="1334279"/>
                <a:ext cx="11177401" cy="2741818"/>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Both source and target have covariances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𝑝</m:t>
                        </m:r>
                      </m:sub>
                    </m:sSub>
                  </m:oMath>
                </a14:m>
                <a:r>
                  <a:rPr lang="en-US" sz="2000" dirty="0">
                    <a:latin typeface="Arial"/>
                    <a:ea typeface="Arial"/>
                    <a:cs typeface="Arial"/>
                    <a:sym typeface="Arial"/>
                  </a:rPr>
                  <a:t> and </a:t>
                </a:r>
                <a14:m>
                  <m:oMath xmlns:m="http://schemas.openxmlformats.org/officeDocument/2006/math">
                    <m:sSub>
                      <m:sSubPr>
                        <m:ctrlPr>
                          <a:rPr lang="en-US" sz="2000" i="1" dirty="0" smtClean="0">
                            <a:latin typeface="Cambria Math" panose="02040503050406030204" pitchFamily="18" charset="0"/>
                            <a:ea typeface="Arial"/>
                            <a:cs typeface="Arial"/>
                            <a:sym typeface="Arial"/>
                          </a:rPr>
                        </m:ctrlPr>
                      </m:sSubPr>
                      <m:e>
                        <m:r>
                          <a:rPr lang="en-US" sz="2000" i="1" dirty="0" smtClean="0">
                            <a:latin typeface="Cambria Math" panose="02040503050406030204" pitchFamily="18" charset="0"/>
                            <a:ea typeface="Arial"/>
                            <a:cs typeface="Arial"/>
                            <a:sym typeface="Arial"/>
                          </a:rPr>
                          <m:t>𝐶</m:t>
                        </m:r>
                      </m:e>
                      <m:sub>
                        <m:r>
                          <a:rPr lang="en-US" sz="2000" i="1" dirty="0" smtClean="0">
                            <a:latin typeface="Cambria Math" panose="02040503050406030204" pitchFamily="18" charset="0"/>
                            <a:ea typeface="Arial"/>
                            <a:cs typeface="Arial"/>
                            <a:sym typeface="Arial"/>
                          </a:rPr>
                          <m:t>𝑞</m:t>
                        </m:r>
                      </m:sub>
                    </m:sSub>
                  </m:oMath>
                </a14:m>
                <a:r>
                  <a:rPr lang="en-US" sz="2000" dirty="0">
                    <a:latin typeface="Arial"/>
                    <a:ea typeface="Arial"/>
                    <a:cs typeface="Arial"/>
                    <a:sym typeface="Arial"/>
                  </a:rPr>
                  <a:t> - we combine them into a weighting matrix</a:t>
                </a:r>
              </a:p>
              <a:p>
                <a:pPr marL="342900">
                  <a:lnSpc>
                    <a:spcPct val="100000"/>
                  </a:lnSpc>
                  <a:spcBef>
                    <a:spcPts val="0"/>
                  </a:spcBef>
                  <a:buSzPts val="3000"/>
                </a:pPr>
                <a:r>
                  <a:rPr lang="en-US" sz="2000" dirty="0">
                    <a:latin typeface="Arial"/>
                    <a:ea typeface="Arial"/>
                    <a:cs typeface="Arial"/>
                    <a:sym typeface="Arial"/>
                  </a:rPr>
                  <a:t>The resulting form unifies P2P (isotropic noise) and P2Plane (degenerate planar noise)!</a:t>
                </a:r>
              </a:p>
              <a:p>
                <a:pPr marL="342900">
                  <a:lnSpc>
                    <a:spcPct val="100000"/>
                  </a:lnSpc>
                  <a:spcBef>
                    <a:spcPts val="0"/>
                  </a:spcBef>
                  <a:buSzPts val="3000"/>
                </a:pPr>
                <a:r>
                  <a:rPr lang="en-US" sz="2000" dirty="0">
                    <a:latin typeface="Arial"/>
                    <a:ea typeface="Arial"/>
                    <a:cs typeface="Arial"/>
                    <a:sym typeface="Arial"/>
                  </a:rPr>
                  <a:t>One framework, tunable for the specific sensor and environment you have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𝐸</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𝑡</m:t>
                          </m:r>
                        </m:e>
                      </m:d>
                      <m:r>
                        <a:rPr lang="en-US" sz="2000" b="0" i="1" smtClean="0">
                          <a:latin typeface="Cambria Math" panose="02040503050406030204" pitchFamily="18" charset="0"/>
                          <a:ea typeface="Arial"/>
                          <a:cs typeface="Arial"/>
                          <a:sym typeface="Arial"/>
                        </a:rPr>
                        <m:t>=</m:t>
                      </m:r>
                      <m:nary>
                        <m:naryPr>
                          <m:chr m:val="∑"/>
                          <m:supHide m:val="on"/>
                          <m:ctrlPr>
                            <a:rPr lang="en-US" sz="2000" b="0" i="1" smtClean="0">
                              <a:latin typeface="Cambria Math" panose="02040503050406030204" pitchFamily="18" charset="0"/>
                              <a:ea typeface="Arial"/>
                              <a:cs typeface="Arial"/>
                              <a:sym typeface="Arial"/>
                            </a:rPr>
                          </m:ctrlPr>
                        </m:naryPr>
                        <m:sub>
                          <m:r>
                            <a:rPr lang="en-US" sz="2000" b="0" i="1" smtClean="0">
                              <a:latin typeface="Cambria Math" panose="02040503050406030204" pitchFamily="18" charset="0"/>
                              <a:ea typeface="Arial"/>
                              <a:cs typeface="Arial"/>
                              <a:sym typeface="Arial"/>
                            </a:rPr>
                            <m:t>𝑖</m:t>
                          </m:r>
                        </m:sub>
                        <m:sup/>
                        <m:e>
                          <m:sSubSup>
                            <m:sSubSupPr>
                              <m:ctrlPr>
                                <a:rPr lang="en-US" sz="2000" b="0" i="1" smtClean="0">
                                  <a:latin typeface="Cambria Math" panose="02040503050406030204" pitchFamily="18" charset="0"/>
                                  <a:ea typeface="Arial"/>
                                  <a:cs typeface="Arial"/>
                                  <a:sym typeface="Arial"/>
                                </a:rPr>
                              </m:ctrlPr>
                            </m:sSubSup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up>
                              <m:r>
                                <a:rPr lang="en-US" sz="2000" b="0" i="1" smtClean="0">
                                  <a:latin typeface="Cambria Math" panose="02040503050406030204" pitchFamily="18" charset="0"/>
                                  <a:ea typeface="Arial"/>
                                  <a:cs typeface="Arial"/>
                                  <a:sym typeface="Arial"/>
                                </a:rPr>
                                <m:t>⊤</m:t>
                              </m:r>
                            </m:sup>
                          </m:sSubSup>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𝑞</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r>
                                    <a:rPr lang="en-US" sz="2000" b="0" i="1" smtClean="0">
                                      <a:latin typeface="Cambria Math" panose="02040503050406030204" pitchFamily="18" charset="0"/>
                                      <a:ea typeface="Arial"/>
                                      <a:cs typeface="Arial"/>
                                      <a:sym typeface="Arial"/>
                                    </a:rPr>
                                    <m:t>𝑅</m:t>
                                  </m:r>
                                  <m:r>
                                    <a:rPr lang="en-US" sz="2000" b="0" i="1" smtClean="0">
                                      <a:latin typeface="Cambria Math" panose="02040503050406030204" pitchFamily="18" charset="0"/>
                                      <a:ea typeface="Arial"/>
                                      <a:cs typeface="Arial"/>
                                      <a:sym typeface="Arial"/>
                                    </a:rPr>
                                    <m:t>⋅</m:t>
                                  </m:r>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𝐶</m:t>
                                      </m:r>
                                    </m:e>
                                    <m:sub>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𝑝</m:t>
                                          </m:r>
                                        </m:e>
                                        <m:sub>
                                          <m:r>
                                            <a:rPr lang="en-US" sz="2000" b="0" i="1" smtClean="0">
                                              <a:latin typeface="Cambria Math" panose="02040503050406030204" pitchFamily="18" charset="0"/>
                                              <a:ea typeface="Arial"/>
                                              <a:cs typeface="Arial"/>
                                              <a:sym typeface="Arial"/>
                                            </a:rPr>
                                            <m:t>𝑖</m:t>
                                          </m:r>
                                        </m:sub>
                                      </m:sSub>
                                    </m:sub>
                                  </m:sSub>
                                  <m:r>
                                    <a:rPr lang="en-US" sz="2000" b="0" i="1" smtClean="0">
                                      <a:latin typeface="Cambria Math" panose="02040503050406030204" pitchFamily="18" charset="0"/>
                                      <a:ea typeface="Arial"/>
                                      <a:cs typeface="Arial"/>
                                      <a:sym typeface="Arial"/>
                                    </a:rPr>
                                    <m:t>⋅</m:t>
                                  </m:r>
                                  <m:sSup>
                                    <m:sSupPr>
                                      <m:ctrlPr>
                                        <a:rPr lang="en-US" sz="2000" b="0" i="1" smtClean="0">
                                          <a:latin typeface="Cambria Math" panose="02040503050406030204" pitchFamily="18" charset="0"/>
                                          <a:ea typeface="Arial"/>
                                          <a:cs typeface="Arial"/>
                                          <a:sym typeface="Arial"/>
                                        </a:rPr>
                                      </m:ctrlPr>
                                    </m:sSupPr>
                                    <m:e>
                                      <m:r>
                                        <a:rPr lang="en-US" sz="2000" b="0" i="1" smtClean="0">
                                          <a:latin typeface="Cambria Math" panose="02040503050406030204" pitchFamily="18" charset="0"/>
                                          <a:ea typeface="Arial"/>
                                          <a:cs typeface="Arial"/>
                                          <a:sym typeface="Arial"/>
                                        </a:rPr>
                                        <m:t>𝑅</m:t>
                                      </m:r>
                                    </m:e>
                                    <m:sup>
                                      <m:r>
                                        <a:rPr lang="en-US" sz="2000" b="0" i="1" smtClean="0">
                                          <a:latin typeface="Cambria Math" panose="02040503050406030204" pitchFamily="18" charset="0"/>
                                          <a:ea typeface="Arial"/>
                                          <a:cs typeface="Arial"/>
                                          <a:sym typeface="Arial"/>
                                        </a:rPr>
                                        <m:t>⊤</m:t>
                                      </m:r>
                                    </m:sup>
                                  </m:sSup>
                                </m:e>
                              </m:d>
                            </m:e>
                            <m:sup>
                              <m:r>
                                <a:rPr lang="en-US" sz="2000" b="0" i="1" smtClean="0">
                                  <a:latin typeface="Cambria Math" panose="02040503050406030204" pitchFamily="18" charset="0"/>
                                  <a:ea typeface="Arial"/>
                                  <a:cs typeface="Arial"/>
                                  <a:sym typeface="Arial"/>
                                </a:rPr>
                                <m:t>−1</m:t>
                              </m:r>
                            </m:sup>
                          </m:sSup>
                          <m:sSub>
                            <m:sSubPr>
                              <m:ctrlPr>
                                <a:rPr lang="en-US" sz="2000" b="0" i="1" smtClean="0">
                                  <a:latin typeface="Cambria Math" panose="02040503050406030204" pitchFamily="18" charset="0"/>
                                  <a:ea typeface="Arial"/>
                                  <a:cs typeface="Arial"/>
                                  <a:sym typeface="Arial"/>
                                </a:rPr>
                              </m:ctrlPr>
                            </m:sSubPr>
                            <m:e>
                              <m:r>
                                <a:rPr lang="en-US" sz="2000" b="0" i="1" smtClean="0">
                                  <a:latin typeface="Cambria Math" panose="02040503050406030204" pitchFamily="18" charset="0"/>
                                  <a:ea typeface="Arial"/>
                                  <a:cs typeface="Arial"/>
                                  <a:sym typeface="Arial"/>
                                </a:rPr>
                                <m:t>𝑑</m:t>
                              </m:r>
                            </m:e>
                            <m:sub>
                              <m:r>
                                <a:rPr lang="en-US" sz="2000" b="0" i="1" smtClean="0">
                                  <a:latin typeface="Cambria Math" panose="02040503050406030204" pitchFamily="18" charset="0"/>
                                  <a:ea typeface="Arial"/>
                                  <a:cs typeface="Arial"/>
                                  <a:sym typeface="Arial"/>
                                </a:rPr>
                                <m:t>𝑖</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We minimize the “</a:t>
                </a:r>
                <a:r>
                  <a:rPr lang="en-US" sz="2000" dirty="0" err="1">
                    <a:latin typeface="Arial"/>
                    <a:ea typeface="Arial"/>
                    <a:cs typeface="Arial"/>
                    <a:sym typeface="Arial"/>
                  </a:rPr>
                  <a:t>Mahalanobis</a:t>
                </a:r>
                <a:r>
                  <a:rPr lang="en-US" sz="2000" dirty="0">
                    <a:latin typeface="Arial"/>
                    <a:ea typeface="Arial"/>
                    <a:cs typeface="Arial"/>
                    <a:sym typeface="Arial"/>
                  </a:rPr>
                  <a:t> distance” (just look it up, but it’s just the equation above).</a:t>
                </a:r>
              </a:p>
            </p:txBody>
          </p:sp>
        </mc:Choice>
        <mc:Fallback xmlns="">
          <p:sp>
            <p:nvSpPr>
              <p:cNvPr id="118" name="Google Shape;118;p29">
                <a:extLst>
                  <a:ext uri="{FF2B5EF4-FFF2-40B4-BE49-F238E27FC236}">
                    <a16:creationId xmlns:a16="http://schemas.microsoft.com/office/drawing/2014/main" id="{9F592E44-47F4-612D-C6A2-424D844DD564}"/>
                  </a:ext>
                </a:extLst>
              </p:cNvPr>
              <p:cNvSpPr txBox="1">
                <a:spLocks noGrp="1" noRot="1" noChangeAspect="1" noMove="1" noResize="1" noEditPoints="1" noAdjustHandles="1" noChangeArrowheads="1" noChangeShapeType="1" noTextEdit="1"/>
              </p:cNvSpPr>
              <p:nvPr>
                <p:ph type="body" idx="1"/>
              </p:nvPr>
            </p:nvSpPr>
            <p:spPr>
              <a:xfrm>
                <a:off x="376809" y="1334279"/>
                <a:ext cx="11177401" cy="2741818"/>
              </a:xfrm>
              <a:prstGeom prst="rect">
                <a:avLst/>
              </a:prstGeom>
              <a:blipFill>
                <a:blip r:embed="rId3"/>
                <a:stretch>
                  <a:fillRect l="-1146" t="-6222" r="-109" b="-200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A30E89F1-5C4C-FCE7-EA25-1035659FD6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9E2DCC-0AFE-0F04-FE1E-0F4C850AA39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4: Generalized ICP (GICP)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E98A0D0-5CD5-A544-7504-F546A3357A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9A54F7-C500-09DA-F446-80335DC526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BE1EE3-5A6C-F987-BF1F-D064797867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FEA87A-4F9A-C2F2-42F8-62DA37F6DAE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FEFAED9-567C-CD3D-63B1-BA4ED015F86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B1E7AB-B3B9-59A0-6E5E-1D530187EB1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FBBEBDBD-7C39-FD68-1AED-2A027E06B35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36323" y="4051446"/>
            <a:ext cx="6919353" cy="2602503"/>
          </a:xfrm>
          <a:prstGeom prst="rect">
            <a:avLst/>
          </a:prstGeom>
        </p:spPr>
      </p:pic>
    </p:spTree>
    <p:extLst>
      <p:ext uri="{BB962C8B-B14F-4D97-AF65-F5344CB8AC3E}">
        <p14:creationId xmlns:p14="http://schemas.microsoft.com/office/powerpoint/2010/main" val="410369630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B263D4-E8D8-0448-B51A-98A91F64AD0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54198A6-4D12-406F-16A6-7219C728D45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Throw away points, keep distributions!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ICP spends most of its time on k-d tree nearest-neighbor lookups</a:t>
            </a:r>
          </a:p>
          <a:p>
            <a:pPr marL="0" indent="0">
              <a:lnSpc>
                <a:spcPct val="100000"/>
              </a:lnSpc>
              <a:spcBef>
                <a:spcPts val="0"/>
              </a:spcBef>
              <a:buSzPts val="3000"/>
              <a:buNone/>
            </a:pPr>
            <a:r>
              <a:rPr lang="en-US" sz="2000" dirty="0">
                <a:latin typeface="Arial"/>
                <a:ea typeface="Arial"/>
                <a:cs typeface="Arial"/>
                <a:sym typeface="Arial"/>
              </a:rPr>
              <a:t>NDT eliminates this entirely, no point-to-point matching ever happens</a:t>
            </a:r>
          </a:p>
          <a:p>
            <a:pPr marL="342900">
              <a:lnSpc>
                <a:spcPct val="100000"/>
              </a:lnSpc>
              <a:spcBef>
                <a:spcPts val="0"/>
              </a:spcBef>
              <a:buSzPts val="3000"/>
            </a:pPr>
            <a:endParaRPr lang="en-US" sz="2000" b="1" dirty="0">
              <a:latin typeface="Arial"/>
              <a:ea typeface="Arial"/>
              <a:cs typeface="Arial"/>
              <a:sym typeface="Arial"/>
            </a:endParaRPr>
          </a:p>
          <a:p>
            <a:pPr marL="342900">
              <a:lnSpc>
                <a:spcPct val="100000"/>
              </a:lnSpc>
              <a:spcBef>
                <a:spcPts val="0"/>
              </a:spcBef>
              <a:buSzPts val="3000"/>
            </a:pPr>
            <a:r>
              <a:rPr lang="en-US" sz="2000" b="1" dirty="0">
                <a:latin typeface="Arial"/>
                <a:ea typeface="Arial"/>
                <a:cs typeface="Arial"/>
                <a:sym typeface="Arial"/>
              </a:rPr>
              <a:t>Step 1</a:t>
            </a:r>
            <a:r>
              <a:rPr lang="en-US" sz="2000" dirty="0">
                <a:latin typeface="Arial"/>
                <a:ea typeface="Arial"/>
                <a:cs typeface="Arial"/>
                <a:sym typeface="Arial"/>
              </a:rPr>
              <a:t>: divide the target map into a regular 2D grid of voxels</a:t>
            </a:r>
          </a:p>
          <a:p>
            <a:pPr marL="342900">
              <a:lnSpc>
                <a:spcPct val="100000"/>
              </a:lnSpc>
              <a:spcBef>
                <a:spcPts val="0"/>
              </a:spcBef>
              <a:buSzPts val="3000"/>
            </a:pPr>
            <a:r>
              <a:rPr lang="en-US" sz="2000" b="1" dirty="0">
                <a:latin typeface="Arial"/>
                <a:ea typeface="Arial"/>
                <a:cs typeface="Arial"/>
                <a:sym typeface="Arial"/>
              </a:rPr>
              <a:t>Step 2</a:t>
            </a:r>
            <a:r>
              <a:rPr lang="en-US" sz="2000" dirty="0">
                <a:latin typeface="Arial"/>
                <a:ea typeface="Arial"/>
                <a:cs typeface="Arial"/>
                <a:sym typeface="Arial"/>
              </a:rPr>
              <a:t>: for each voxel, compute a Gaussian (mean μ, covariance Σ) over its resident points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Scan matching becomes find the transformation that MAXIMIZES the scan's probability under this field</a:t>
            </a:r>
          </a:p>
        </p:txBody>
      </p:sp>
      <p:sp>
        <p:nvSpPr>
          <p:cNvPr id="119" name="Google Shape;119;p29">
            <a:extLst>
              <a:ext uri="{FF2B5EF4-FFF2-40B4-BE49-F238E27FC236}">
                <a16:creationId xmlns:a16="http://schemas.microsoft.com/office/drawing/2014/main" id="{A0AFAADF-3E01-D6E9-57C4-5FD578034D9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4AD846-39F2-AA82-4E9E-E28A7FA8EC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7F09072-FB4E-1E1F-EA66-9E05EA227C9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805BCE7-EFD5-45DF-B318-62BB656DC2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98A5662-31DD-6AFD-606F-C4F290ED514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E8EC42-DC2B-140A-6073-CD7C3A7F083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44B9C42-F81F-6C7F-997F-FEA1DEF965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F8AF37-F934-4F83-8D9E-3FF0FF3738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76290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DD7D462-EA23-8495-F306-6BA008D53E89}"/>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F792FB9A-2880-9959-5E22-ACD5A91F51F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For each source point pᵢ, evaluate the Gaussian of the cell it falls into</a:t>
                </a:r>
              </a:p>
              <a:p>
                <a:pPr marL="342900">
                  <a:lnSpc>
                    <a:spcPct val="100000"/>
                  </a:lnSpc>
                  <a:spcBef>
                    <a:spcPts val="0"/>
                  </a:spcBef>
                  <a:buSzPts val="3000"/>
                </a:pPr>
                <a:r>
                  <a:rPr lang="en-US" sz="2000" dirty="0">
                    <a:latin typeface="Arial"/>
                    <a:ea typeface="Arial"/>
                    <a:cs typeface="Arial"/>
                    <a:sym typeface="Arial"/>
                  </a:rPr>
                  <a:t>Sum the log-probabilities (or negative probabilities) across all source points</a:t>
                </a:r>
              </a:p>
              <a:p>
                <a:pPr marL="342900">
                  <a:lnSpc>
                    <a:spcPct val="100000"/>
                  </a:lnSpc>
                  <a:spcBef>
                    <a:spcPts val="0"/>
                  </a:spcBef>
                  <a:buSzPts val="3000"/>
                </a:pPr>
                <a:r>
                  <a:rPr lang="en-US" sz="2000" dirty="0">
                    <a:latin typeface="Arial"/>
                    <a:ea typeface="Arial"/>
                    <a:cs typeface="Arial"/>
                    <a:sym typeface="Arial"/>
                  </a:rPr>
                  <a:t>Use Newton's method to find the </a:t>
                </a:r>
                <a14:m>
                  <m:oMath xmlns:m="http://schemas.openxmlformats.org/officeDocument/2006/math">
                    <m:r>
                      <a:rPr lang="en-US" sz="2000" i="1" dirty="0" smtClean="0">
                        <a:latin typeface="Cambria Math" panose="02040503050406030204" pitchFamily="18" charset="0"/>
                        <a:ea typeface="Arial"/>
                        <a:cs typeface="Arial"/>
                        <a:sym typeface="Arial"/>
                      </a:rPr>
                      <m:t>𝑅</m:t>
                    </m:r>
                    <m:r>
                      <a:rPr lang="en-US" sz="2000" i="1" dirty="0" smtClean="0">
                        <a:latin typeface="Cambria Math" panose="02040503050406030204" pitchFamily="18" charset="0"/>
                        <a:ea typeface="Arial"/>
                        <a:cs typeface="Arial"/>
                        <a:sym typeface="Arial"/>
                      </a:rPr>
                      <m:t>, </m:t>
                    </m:r>
                    <m:r>
                      <a:rPr lang="en-US" sz="2000" i="1" dirty="0" smtClean="0">
                        <a:latin typeface="Cambria Math" panose="02040503050406030204" pitchFamily="18" charset="0"/>
                        <a:ea typeface="Arial"/>
                        <a:cs typeface="Arial"/>
                        <a:sym typeface="Arial"/>
                      </a:rPr>
                      <m:t>𝑡</m:t>
                    </m:r>
                  </m:oMath>
                </a14:m>
                <a:r>
                  <a:rPr lang="en-US" sz="2000" dirty="0">
                    <a:latin typeface="Arial"/>
                    <a:ea typeface="Arial"/>
                    <a:cs typeface="Arial"/>
                    <a:sym typeface="Arial"/>
                  </a:rPr>
                  <a:t> that maximizes this score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Advantage: no neighbor search. </a:t>
                </a:r>
              </a:p>
              <a:p>
                <a:pPr marL="0" indent="0">
                  <a:lnSpc>
                    <a:spcPct val="100000"/>
                  </a:lnSpc>
                  <a:spcBef>
                    <a:spcPts val="0"/>
                  </a:spcBef>
                  <a:buSzPts val="3000"/>
                  <a:buNone/>
                </a:pPr>
                <a:r>
                  <a:rPr lang="en-US" sz="2000" dirty="0">
                    <a:latin typeface="Arial"/>
                    <a:ea typeface="Arial"/>
                    <a:cs typeface="Arial"/>
                    <a:sym typeface="Arial"/>
                  </a:rPr>
                  <a:t>Disadvantage: heavily tuned by the voxel size you choose.</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000" i="1" smtClean="0">
                          <a:latin typeface="Cambria Math" panose="02040503050406030204" pitchFamily="18" charset="0"/>
                          <a:ea typeface="Arial"/>
                          <a:cs typeface="Arial"/>
                          <a:sym typeface="Arial"/>
                        </a:rPr>
                        <m:t>𝑠𝑐𝑜𝑟𝑒</m:t>
                      </m:r>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e>
                      </m:d>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Sub>
                      <m:sSup>
                        <m:sSupPr>
                          <m:ctrlPr>
                            <a:rPr lang="en-US" sz="2000" i="1" smtClean="0">
                              <a:latin typeface="Cambria Math" panose="02040503050406030204" pitchFamily="18" charset="0"/>
                              <a:ea typeface="Arial"/>
                              <a:cs typeface="Arial"/>
                              <a:sym typeface="Arial"/>
                            </a:rPr>
                          </m:ctrlPr>
                        </m:sSupPr>
                        <m:e>
                          <m:r>
                            <a:rPr lang="en-US" sz="2000" i="1" smtClean="0">
                              <a:latin typeface="Cambria Math" panose="02040503050406030204" pitchFamily="18" charset="0"/>
                              <a:ea typeface="Arial"/>
                              <a:cs typeface="Arial"/>
                              <a:sym typeface="Arial"/>
                            </a:rPr>
                            <m:t>𝑒</m:t>
                          </m:r>
                        </m:e>
                        <m:sup>
                          <m:r>
                            <a:rPr lang="en-US" sz="2000" i="1" smtClean="0">
                              <a:latin typeface="Cambria Math" panose="02040503050406030204" pitchFamily="18" charset="0"/>
                              <a:ea typeface="Arial"/>
                              <a:cs typeface="Arial"/>
                              <a:sym typeface="Arial"/>
                            </a:rPr>
                            <m:t>−</m:t>
                          </m:r>
                          <m:f>
                            <m:fPr>
                              <m:ctrlPr>
                                <a:rPr lang="en-US" sz="2000" i="1" smtClean="0">
                                  <a:latin typeface="Cambria Math" panose="02040503050406030204" pitchFamily="18" charset="0"/>
                                  <a:ea typeface="Arial"/>
                                  <a:cs typeface="Arial"/>
                                  <a:sym typeface="Arial"/>
                                </a:rPr>
                              </m:ctrlPr>
                            </m:fPr>
                            <m:num>
                              <m:r>
                                <a:rPr lang="en-US" sz="2000" b="0" i="1" smtClean="0">
                                  <a:latin typeface="Cambria Math" panose="02040503050406030204" pitchFamily="18" charset="0"/>
                                  <a:ea typeface="Arial"/>
                                  <a:cs typeface="Arial"/>
                                  <a:sym typeface="Arial"/>
                                </a:rPr>
                                <m:t>1</m:t>
                              </m:r>
                            </m:num>
                            <m:den>
                              <m:r>
                                <a:rPr lang="en-US" sz="2000" b="0" i="1" smtClean="0">
                                  <a:latin typeface="Cambria Math" panose="02040503050406030204" pitchFamily="18" charset="0"/>
                                  <a:ea typeface="Arial"/>
                                  <a:cs typeface="Arial"/>
                                  <a:sym typeface="Arial"/>
                                </a:rPr>
                                <m:t>2</m:t>
                              </m:r>
                            </m:den>
                          </m:f>
                          <m:sSup>
                            <m:sSupPr>
                              <m:ctrlPr>
                                <a:rPr lang="en-US" sz="2000" b="0" i="1" smtClean="0">
                                  <a:latin typeface="Cambria Math" panose="02040503050406030204" pitchFamily="18" charset="0"/>
                                  <a:ea typeface="Arial"/>
                                  <a:cs typeface="Arial"/>
                                  <a:sym typeface="Arial"/>
                                </a:rPr>
                              </m:ctrlPr>
                            </m:sSupPr>
                            <m:e>
                              <m:d>
                                <m:dPr>
                                  <m:ctrlPr>
                                    <a:rPr lang="en-US" sz="2000" b="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e>
                            <m:sup>
                              <m:r>
                                <a:rPr lang="en-US" sz="2000" i="1" smtClean="0">
                                  <a:latin typeface="Cambria Math" panose="02040503050406030204" pitchFamily="18" charset="0"/>
                                  <a:ea typeface="Arial"/>
                                  <a:cs typeface="Arial"/>
                                  <a:sym typeface="Arial"/>
                                </a:rPr>
                                <m:t>⊤</m:t>
                              </m:r>
                            </m:sup>
                          </m:sSup>
                          <m:sSubSup>
                            <m:sSubSupPr>
                              <m:ctrlPr>
                                <a:rPr lang="en-US" sz="2000" i="1" smtClean="0">
                                  <a:latin typeface="Cambria Math" panose="02040503050406030204" pitchFamily="18" charset="0"/>
                                  <a:ea typeface="Arial"/>
                                  <a:cs typeface="Arial"/>
                                  <a:sym typeface="Arial"/>
                                </a:rPr>
                              </m:ctrlPr>
                            </m:sSubSupPr>
                            <m:e>
                              <m:r>
                                <m:rPr>
                                  <m:sty m:val="p"/>
                                </m:rPr>
                                <a:rPr lang="en-US" sz="2000" i="0" smtClean="0">
                                  <a:latin typeface="Cambria Math" panose="02040503050406030204" pitchFamily="18" charset="0"/>
                                  <a:ea typeface="Arial"/>
                                  <a:cs typeface="Arial"/>
                                  <a:sym typeface="Arial"/>
                                </a:rPr>
                                <m:t>Σ</m:t>
                              </m:r>
                            </m:e>
                            <m:sub>
                              <m:r>
                                <a:rPr lang="en-US" sz="2000" i="1" smtClean="0">
                                  <a:latin typeface="Cambria Math" panose="02040503050406030204" pitchFamily="18" charset="0"/>
                                  <a:ea typeface="Arial"/>
                                  <a:cs typeface="Arial"/>
                                  <a:sym typeface="Arial"/>
                                </a:rPr>
                                <m:t>𝑖</m:t>
                              </m:r>
                            </m:sub>
                            <m:sup>
                              <m:r>
                                <a:rPr lang="en-US" sz="2000" i="1" smtClean="0">
                                  <a:latin typeface="Cambria Math" panose="02040503050406030204" pitchFamily="18" charset="0"/>
                                  <a:ea typeface="Arial"/>
                                  <a:cs typeface="Arial"/>
                                  <a:sym typeface="Arial"/>
                                </a:rPr>
                                <m:t>−1</m:t>
                              </m:r>
                            </m:sup>
                          </m:sSubSup>
                          <m:d>
                            <m:dPr>
                              <m:ctrlPr>
                                <a:rPr lang="en-US" sz="2000" i="1" smtClean="0">
                                  <a:latin typeface="Cambria Math" panose="02040503050406030204" pitchFamily="18" charset="0"/>
                                  <a:ea typeface="Arial"/>
                                  <a:cs typeface="Arial"/>
                                  <a:sym typeface="Arial"/>
                                </a:rPr>
                              </m:ctrlPr>
                            </m:dPr>
                            <m:e>
                              <m:r>
                                <a:rPr lang="en-US" sz="2000" i="1" smtClean="0">
                                  <a:latin typeface="Cambria Math" panose="02040503050406030204" pitchFamily="18" charset="0"/>
                                  <a:ea typeface="Arial"/>
                                  <a:cs typeface="Arial"/>
                                  <a:sym typeface="Arial"/>
                                </a:rPr>
                                <m:t>𝑅</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𝑝</m:t>
                                  </m:r>
                                </m:e>
                                <m:sub>
                                  <m:r>
                                    <a:rPr lang="en-US" sz="2000" i="1" smtClean="0">
                                      <a:latin typeface="Cambria Math" panose="02040503050406030204" pitchFamily="18" charset="0"/>
                                      <a:ea typeface="Arial"/>
                                      <a:cs typeface="Arial"/>
                                      <a:sym typeface="Arial"/>
                                    </a:rPr>
                                    <m:t>𝑖</m:t>
                                  </m:r>
                                </m:sub>
                              </m:sSub>
                              <m:r>
                                <a:rPr lang="en-US" sz="2000" i="1" smtClean="0">
                                  <a:latin typeface="Cambria Math" panose="02040503050406030204" pitchFamily="18" charset="0"/>
                                  <a:ea typeface="Arial"/>
                                  <a:cs typeface="Arial"/>
                                  <a:sym typeface="Arial"/>
                                </a:rPr>
                                <m:t>+</m:t>
                              </m:r>
                              <m:r>
                                <a:rPr lang="en-US" sz="2000" i="1" smtClean="0">
                                  <a:latin typeface="Cambria Math" panose="02040503050406030204" pitchFamily="18" charset="0"/>
                                  <a:ea typeface="Arial"/>
                                  <a:cs typeface="Arial"/>
                                  <a:sym typeface="Arial"/>
                                </a:rPr>
                                <m:t>𝑡</m:t>
                              </m:r>
                              <m:r>
                                <a:rPr lang="en-US" sz="2000" i="1" smtClean="0">
                                  <a:latin typeface="Cambria Math" panose="02040503050406030204" pitchFamily="18" charset="0"/>
                                  <a:ea typeface="Arial"/>
                                  <a:cs typeface="Arial"/>
                                  <a:sym typeface="Arial"/>
                                </a:rPr>
                                <m:t>−</m:t>
                              </m:r>
                              <m:sSub>
                                <m:sSubPr>
                                  <m:ctrlPr>
                                    <a:rPr lang="en-US" sz="2000" i="1" smtClean="0">
                                      <a:latin typeface="Cambria Math" panose="02040503050406030204" pitchFamily="18" charset="0"/>
                                      <a:ea typeface="Arial"/>
                                      <a:cs typeface="Arial"/>
                                      <a:sym typeface="Arial"/>
                                    </a:rPr>
                                  </m:ctrlPr>
                                </m:sSubPr>
                                <m:e>
                                  <m:r>
                                    <a:rPr lang="en-US" sz="2000" i="1" smtClean="0">
                                      <a:latin typeface="Cambria Math" panose="02040503050406030204" pitchFamily="18" charset="0"/>
                                      <a:ea typeface="Arial"/>
                                      <a:cs typeface="Arial"/>
                                      <a:sym typeface="Arial"/>
                                    </a:rPr>
                                    <m:t>𝜇</m:t>
                                  </m:r>
                                </m:e>
                                <m:sub>
                                  <m:r>
                                    <a:rPr lang="en-US" sz="2000" i="1" smtClean="0">
                                      <a:latin typeface="Cambria Math" panose="02040503050406030204" pitchFamily="18" charset="0"/>
                                      <a:ea typeface="Arial"/>
                                      <a:cs typeface="Arial"/>
                                      <a:sym typeface="Arial"/>
                                    </a:rPr>
                                    <m:t>𝑖</m:t>
                                  </m:r>
                                </m:sub>
                              </m:sSub>
                            </m:e>
                          </m:d>
                        </m:sup>
                      </m:sSup>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Minimizing negative likelihood = maximizing the match probability</a:t>
                </a:r>
              </a:p>
            </p:txBody>
          </p:sp>
        </mc:Choice>
        <mc:Fallback xmlns="">
          <p:sp>
            <p:nvSpPr>
              <p:cNvPr id="118" name="Google Shape;118;p29">
                <a:extLst>
                  <a:ext uri="{FF2B5EF4-FFF2-40B4-BE49-F238E27FC236}">
                    <a16:creationId xmlns:a16="http://schemas.microsoft.com/office/drawing/2014/main" id="{F792FB9A-2880-9959-5E22-ACD5A91F51FD}"/>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341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A85E468-A5C4-8B48-39D3-8C4A032D155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5DDC832-B44B-9281-E77C-6D4BA8AED33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Variant 5: Normal Distributions Transform (NDT)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253DCA4-BE99-ADE0-B5A8-1D9A4845B17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6F4FB3-926D-7E3A-91CE-E4FC1AA5957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3BD56C6-0091-129A-6708-0A2A550DF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B1EBD4B-D46C-982A-7389-6A5CBB4BF7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B7BAF0C-6468-D5AB-60FD-F9483ED6AC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95C96C9-2C76-EEE2-F26B-BE82CE5879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403517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2FB9A55-843C-C161-EE2F-20F4AB79A83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5A8075-515D-2CCB-BE64-DD69C2F437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38FCD8F-66E6-A054-2793-6D2C0491B39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BC9B5B50-27FF-9663-C157-C429B507D0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1663387-A3BB-1F6A-5AFB-9BB600E7FE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97EF998-8AA2-873E-7268-3ADD3A7ACCA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1AF74F-4BC6-7EAE-C7BB-85CCD6797DA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DFC576-6A84-609E-C8A3-AE033907FBF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7E4BBB2-CA52-3254-14E2-6903BB0A117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919C4EE9-575E-DAEC-C5B7-301A826B8705}"/>
              </a:ext>
            </a:extLst>
          </p:cNvPr>
          <p:cNvSpPr>
            <a:spLocks noGrp="1"/>
          </p:cNvSpPr>
          <p:nvPr>
            <p:ph type="body" idx="1"/>
          </p:nvPr>
        </p:nvSpPr>
        <p:spPr>
          <a:xfrm>
            <a:off x="838200" y="5209383"/>
            <a:ext cx="10515600" cy="967579"/>
          </a:xfrm>
        </p:spPr>
        <p:txBody>
          <a:bodyPr>
            <a:normAutofit fontScale="77500" lnSpcReduction="20000"/>
          </a:bodyPr>
          <a:lstStyle/>
          <a:p>
            <a:r>
              <a:rPr lang="en-US" dirty="0"/>
              <a:t>The target point cloud (Q) is placed into a regular spatial grid (voxels in 3D, squares in 2D). Cells with fewer than a minimum number of points (e.g., 3 points) are usually ignored to prevent mathematical instability</a:t>
            </a:r>
          </a:p>
        </p:txBody>
      </p:sp>
      <p:pic>
        <p:nvPicPr>
          <p:cNvPr id="5" name="Graphic 4">
            <a:extLst>
              <a:ext uri="{FF2B5EF4-FFF2-40B4-BE49-F238E27FC236}">
                <a16:creationId xmlns:a16="http://schemas.microsoft.com/office/drawing/2014/main" id="{1489C5F9-7D67-13E3-0059-079BEF23468A}"/>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716143" y="929488"/>
            <a:ext cx="4353313" cy="4330874"/>
          </a:xfrm>
          <a:prstGeom prst="rect">
            <a:avLst/>
          </a:prstGeom>
        </p:spPr>
      </p:pic>
    </p:spTree>
    <p:extLst>
      <p:ext uri="{BB962C8B-B14F-4D97-AF65-F5344CB8AC3E}">
        <p14:creationId xmlns:p14="http://schemas.microsoft.com/office/powerpoint/2010/main" val="30754300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04A408-7D0A-B516-2179-C5AE665F957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670D68A-D64C-E7E2-9101-545DF485D6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C90A9D-6DCA-A6F2-EB5C-59B50A424D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FB68F67-FDC9-E928-9D60-1C3CB45582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BF3F72-93E2-E742-F43A-7A36FE50756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7EFF2D0-F8B5-98A5-4943-70D57A2955D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28918D6-C2DB-6527-CF83-C266544778C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51D050-D2E8-98FE-51E1-FC425D2C2BA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B28F1FE-0806-D5D0-F237-B353F906500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mc:Choice xmlns:a14="http://schemas.microsoft.com/office/drawing/2010/main" Requires="a14">
          <p:sp>
            <p:nvSpPr>
              <p:cNvPr id="3" name="Text Placeholder 2">
                <a:extLst>
                  <a:ext uri="{FF2B5EF4-FFF2-40B4-BE49-F238E27FC236}">
                    <a16:creationId xmlns:a16="http://schemas.microsoft.com/office/drawing/2014/main" id="{746B313B-6E78-53CF-8BE0-00DD056E24AF}"/>
                  </a:ext>
                </a:extLst>
              </p:cNvPr>
              <p:cNvSpPr>
                <a:spLocks noGrp="1"/>
              </p:cNvSpPr>
              <p:nvPr>
                <p:ph type="body" idx="1"/>
              </p:nvPr>
            </p:nvSpPr>
            <p:spPr>
              <a:xfrm>
                <a:off x="838200" y="5209383"/>
                <a:ext cx="10515600" cy="967579"/>
              </a:xfrm>
            </p:spPr>
            <p:txBody>
              <a:bodyPr>
                <a:normAutofit fontScale="70000" lnSpcReduction="20000"/>
              </a:bodyPr>
              <a:lstStyle/>
              <a:p>
                <a:r>
                  <a:rPr lang="en-US" dirty="0"/>
                  <a:t>For every active cell, the sample mean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𝝁</m:t>
                            </m:r>
                          </m:e>
                          <m:sub>
                            <m:r>
                              <a:rPr lang="en-US" i="1" dirty="0" err="1" smtClean="0">
                                <a:latin typeface="Cambria Math" panose="02040503050406030204" pitchFamily="18" charset="0"/>
                              </a:rPr>
                              <m:t>𝒊</m:t>
                            </m:r>
                          </m:sub>
                        </m:sSub>
                      </m:e>
                    </m:d>
                  </m:oMath>
                </a14:m>
                <a:r>
                  <a:rPr lang="en-US" dirty="0"/>
                  <a:t> and covariance matrix </a:t>
                </a:r>
                <a14:m>
                  <m:oMath xmlns:m="http://schemas.openxmlformats.org/officeDocument/2006/math">
                    <m:d>
                      <m:dPr>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0" dirty="0" smtClean="0">
                                <a:latin typeface="Cambria Math" panose="02040503050406030204" pitchFamily="18" charset="0"/>
                              </a:rPr>
                              <m:t>𝚺</m:t>
                            </m:r>
                          </m:e>
                          <m:sub>
                            <m:r>
                              <a:rPr lang="en-US" i="1" dirty="0" err="1" smtClean="0">
                                <a:latin typeface="Cambria Math" panose="02040503050406030204" pitchFamily="18" charset="0"/>
                              </a:rPr>
                              <m:t>𝒊</m:t>
                            </m:r>
                          </m:sub>
                        </m:sSub>
                      </m:e>
                    </m:d>
                  </m:oMath>
                </a14:m>
                <a:r>
                  <a:rPr lang="en-US" dirty="0"/>
                  <a:t> of the target points are calculated. This transforms the discrete point cloud into a piecewise continuous set of multi-variate Gaussian probability distributions (represented here by covariance ellipses).</a:t>
                </a:r>
              </a:p>
            </p:txBody>
          </p:sp>
        </mc:Choice>
        <mc:Fallback>
          <p:sp>
            <p:nvSpPr>
              <p:cNvPr id="3" name="Text Placeholder 2">
                <a:extLst>
                  <a:ext uri="{FF2B5EF4-FFF2-40B4-BE49-F238E27FC236}">
                    <a16:creationId xmlns:a16="http://schemas.microsoft.com/office/drawing/2014/main" id="{746B313B-6E78-53CF-8BE0-00DD056E24AF}"/>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58" b="-1899"/>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935A3870-4E40-AB7E-5489-15E08BBF3AAE}"/>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053037" y="983446"/>
            <a:ext cx="6085926" cy="4334256"/>
          </a:xfrm>
          <a:prstGeom prst="rect">
            <a:avLst/>
          </a:prstGeom>
        </p:spPr>
      </p:pic>
    </p:spTree>
    <p:extLst>
      <p:ext uri="{BB962C8B-B14F-4D97-AF65-F5344CB8AC3E}">
        <p14:creationId xmlns:p14="http://schemas.microsoft.com/office/powerpoint/2010/main" val="18341836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E09C134-E235-EA07-C421-D8250E2484C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1A54447-D9B1-8A1C-B48D-B21CFD9EE89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5DE10B4-BC7D-14E9-DC8F-6B4C662008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6DAA89EF-F7E5-7A0F-550B-2614AF1755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961C605-26E3-232D-DC07-49BCB1B89E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10EDB2B-81FE-9AE8-F7CD-6133EA41996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6FAAC0D-03C7-4F48-BC56-8C44952D152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E665662-D0E7-C254-9B9D-3C68CBEDC0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E04AE6E-6DE4-E4DA-A158-FACB591505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D97A2832-1018-0106-69AD-4ABA2C33394B}"/>
              </a:ext>
            </a:extLst>
          </p:cNvPr>
          <p:cNvSpPr>
            <a:spLocks noGrp="1"/>
          </p:cNvSpPr>
          <p:nvPr>
            <p:ph type="body" idx="1"/>
          </p:nvPr>
        </p:nvSpPr>
        <p:spPr>
          <a:xfrm>
            <a:off x="838200" y="5209383"/>
            <a:ext cx="10515600" cy="967579"/>
          </a:xfrm>
        </p:spPr>
        <p:txBody>
          <a:bodyPr>
            <a:normAutofit fontScale="77500" lnSpcReduction="20000"/>
          </a:bodyPr>
          <a:lstStyle/>
          <a:p>
            <a:r>
              <a:rPr lang="en-US" dirty="0"/>
              <a:t>The source point cloud (P) is projected into the voxel grid using its initial, unoptimized transformation. We determine which spatial cell each source point falls into (or its nearest neighbors if using smoothed NDT).</a:t>
            </a:r>
          </a:p>
        </p:txBody>
      </p:sp>
      <p:pic>
        <p:nvPicPr>
          <p:cNvPr id="5" name="Graphic 4">
            <a:extLst>
              <a:ext uri="{FF2B5EF4-FFF2-40B4-BE49-F238E27FC236}">
                <a16:creationId xmlns:a16="http://schemas.microsoft.com/office/drawing/2014/main" id="{114A0657-A83D-04FE-DCEF-BDBD87BC48C9}"/>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917643" y="983446"/>
            <a:ext cx="4356713" cy="4334256"/>
          </a:xfrm>
          <a:prstGeom prst="rect">
            <a:avLst/>
          </a:prstGeom>
        </p:spPr>
      </p:pic>
    </p:spTree>
    <p:extLst>
      <p:ext uri="{BB962C8B-B14F-4D97-AF65-F5344CB8AC3E}">
        <p14:creationId xmlns:p14="http://schemas.microsoft.com/office/powerpoint/2010/main" val="427695119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3C9C347-2A8F-12A6-4AB3-0DB604873BEA}"/>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0DB4EDF-86F2-4B43-7E0C-3E29827E93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493704D-E500-A12A-00B0-AFBC15FFB9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0420D5EE-8925-05E5-9DFF-266DD0330A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4024-C51C-49EA-1F74-C40AD181AB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C3F52A2-01E2-6775-BD66-14B25265C9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97148A-E7D3-F70B-C65E-C84F3224C9B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F08B000-642B-15AF-1CA1-F732559C056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46AA0-30EF-0DD0-9B40-21FE312A295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mc:AlternateContent xmlns:mc="http://schemas.openxmlformats.org/markup-compatibility/2006" xmlns:a14="http://schemas.microsoft.com/office/drawing/2010/main">
        <mc:Choice Requires="a14">
          <p:sp>
            <p:nvSpPr>
              <p:cNvPr id="3" name="Text Placeholder 2">
                <a:extLst>
                  <a:ext uri="{FF2B5EF4-FFF2-40B4-BE49-F238E27FC236}">
                    <a16:creationId xmlns:a16="http://schemas.microsoft.com/office/drawing/2014/main" id="{129E1C6B-9EC6-DD9B-FC39-3947DFAFB6EE}"/>
                  </a:ext>
                </a:extLst>
              </p:cNvPr>
              <p:cNvSpPr>
                <a:spLocks noGrp="1"/>
              </p:cNvSpPr>
              <p:nvPr>
                <p:ph type="body" idx="1"/>
              </p:nvPr>
            </p:nvSpPr>
            <p:spPr>
              <a:xfrm>
                <a:off x="838200" y="5209383"/>
                <a:ext cx="10515600" cy="967579"/>
              </a:xfrm>
            </p:spPr>
            <p:txBody>
              <a:bodyPr>
                <a:normAutofit fontScale="77500" lnSpcReduction="20000"/>
              </a:bodyPr>
              <a:lstStyle/>
              <a:p>
                <a:r>
                  <a:rPr lang="en-US" dirty="0"/>
                  <a:t> NDT entirely drops discrete pairs. Instead, it evaluates the probability density of the target cell at the location of the transformed source point </a:t>
                </a:r>
                <a14:m>
                  <m:oMath xmlns:m="http://schemas.openxmlformats.org/officeDocument/2006/math">
                    <m:r>
                      <m:rPr>
                        <m:lit/>
                      </m:rPr>
                      <a:rPr lang="en-US" i="1" dirty="0" smtClean="0">
                        <a:latin typeface="Cambria Math" panose="02040503050406030204" pitchFamily="18" charset="0"/>
                      </a:rPr>
                      <m:t>(</m:t>
                    </m:r>
                    <m:sSubSup>
                      <m:sSubSupPr>
                        <m:ctrlPr>
                          <a:rPr lang="en-US" i="1" dirty="0" smtClean="0">
                            <a:latin typeface="Cambria Math" panose="02040503050406030204" pitchFamily="18" charset="0"/>
                          </a:rPr>
                        </m:ctrlPr>
                      </m:sSubSupPr>
                      <m:e>
                        <m:r>
                          <a:rPr lang="en-US" i="1" dirty="0" smtClean="0">
                            <a:latin typeface="Cambria Math" panose="02040503050406030204" pitchFamily="18" charset="0"/>
                          </a:rPr>
                          <m:t>𝐱</m:t>
                        </m:r>
                      </m:e>
                      <m:sub>
                        <m:r>
                          <a:rPr lang="en-US" i="1" dirty="0" err="1" smtClean="0">
                            <a:latin typeface="Cambria Math" panose="02040503050406030204" pitchFamily="18" charset="0"/>
                          </a:rPr>
                          <m:t>𝐢</m:t>
                        </m:r>
                      </m:sub>
                      <m:sup>
                        <m:r>
                          <a:rPr lang="en-US" i="1" dirty="0" smtClean="0">
                            <a:latin typeface="Cambria Math" panose="02040503050406030204" pitchFamily="18" charset="0"/>
                          </a:rPr>
                          <m:t>′</m:t>
                        </m:r>
                      </m:sup>
                    </m:sSubSup>
                    <m:r>
                      <m:rPr>
                        <m:lit/>
                      </m:rPr>
                      <a:rPr lang="en-US" i="1" dirty="0" smtClean="0">
                        <a:latin typeface="Cambria Math" panose="02040503050406030204" pitchFamily="18" charset="0"/>
                      </a:rPr>
                      <m:t>)</m:t>
                    </m:r>
                  </m:oMath>
                </a14:m>
                <a:r>
                  <a:rPr lang="en-US" dirty="0"/>
                  <a:t>. The objective function is to maximize the sum of these probabilities for all source points across the grid.</a:t>
                </a:r>
              </a:p>
            </p:txBody>
          </p:sp>
        </mc:Choice>
        <mc:Fallback xmlns="">
          <p:sp>
            <p:nvSpPr>
              <p:cNvPr id="3" name="Text Placeholder 2">
                <a:extLst>
                  <a:ext uri="{FF2B5EF4-FFF2-40B4-BE49-F238E27FC236}">
                    <a16:creationId xmlns:a16="http://schemas.microsoft.com/office/drawing/2014/main" id="{129E1C6B-9EC6-DD9B-FC39-3947DFAFB6EE}"/>
                  </a:ext>
                </a:extLst>
              </p:cNvPr>
              <p:cNvSpPr>
                <a:spLocks noGrp="1" noRot="1" noChangeAspect="1" noMove="1" noResize="1" noEditPoints="1" noAdjustHandles="1" noChangeArrowheads="1" noChangeShapeType="1" noTextEdit="1"/>
              </p:cNvSpPr>
              <p:nvPr>
                <p:ph type="body" idx="1"/>
              </p:nvPr>
            </p:nvSpPr>
            <p:spPr>
              <a:xfrm>
                <a:off x="838200" y="5209383"/>
                <a:ext cx="10515600" cy="967579"/>
              </a:xfrm>
              <a:blipFill>
                <a:blip r:embed="rId4"/>
                <a:stretch>
                  <a:fillRect r="-174" b="-10127"/>
                </a:stretch>
              </a:blipFill>
            </p:spPr>
            <p:txBody>
              <a:bodyPr/>
              <a:lstStyle/>
              <a:p>
                <a:r>
                  <a:rPr lang="en-US">
                    <a:noFill/>
                  </a:rPr>
                  <a:t> </a:t>
                </a:r>
              </a:p>
            </p:txBody>
          </p:sp>
        </mc:Fallback>
      </mc:AlternateContent>
      <p:pic>
        <p:nvPicPr>
          <p:cNvPr id="5" name="Graphic 4">
            <a:extLst>
              <a:ext uri="{FF2B5EF4-FFF2-40B4-BE49-F238E27FC236}">
                <a16:creationId xmlns:a16="http://schemas.microsoft.com/office/drawing/2014/main" id="{AB26337C-C0FE-785D-664C-E78E4F41C1B1}"/>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3609676" y="945448"/>
            <a:ext cx="4566247" cy="4298954"/>
          </a:xfrm>
          <a:prstGeom prst="rect">
            <a:avLst/>
          </a:prstGeom>
        </p:spPr>
      </p:pic>
    </p:spTree>
    <p:extLst>
      <p:ext uri="{BB962C8B-B14F-4D97-AF65-F5344CB8AC3E}">
        <p14:creationId xmlns:p14="http://schemas.microsoft.com/office/powerpoint/2010/main" val="23679606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320E06B-832E-161D-E018-DA09E1DEF16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0DE054-B978-85C8-907E-45B08C665F2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C923F4A-C5FB-607E-786B-789676EA1A9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fr-FR" sz="2400" dirty="0">
                <a:solidFill>
                  <a:schemeClr val="lt1"/>
                </a:solidFill>
              </a:rPr>
              <a:t>Variant 5: Normal Distributions </a:t>
            </a:r>
            <a:r>
              <a:rPr lang="fr-FR" sz="2400" dirty="0" err="1">
                <a:solidFill>
                  <a:schemeClr val="lt1"/>
                </a:solidFill>
              </a:rPr>
              <a:t>Transform</a:t>
            </a:r>
            <a:r>
              <a:rPr lang="fr-FR" sz="2400" dirty="0">
                <a:solidFill>
                  <a:schemeClr val="lt1"/>
                </a:solidFill>
              </a:rPr>
              <a:t> (NDT)</a:t>
            </a:r>
          </a:p>
        </p:txBody>
      </p:sp>
      <p:pic>
        <p:nvPicPr>
          <p:cNvPr id="121" name="Google Shape;121;p29">
            <a:extLst>
              <a:ext uri="{FF2B5EF4-FFF2-40B4-BE49-F238E27FC236}">
                <a16:creationId xmlns:a16="http://schemas.microsoft.com/office/drawing/2014/main" id="{D4610E48-66C3-CFC7-F46D-A3C3D7A102F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593536-5F86-0F60-C543-F6DE5B59C4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03E2DD9-81E7-35EA-9C91-493BB5DF76A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EC946B1-C42E-C6EF-3599-201C4FE18BC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3656582-FD19-2868-B182-427056ADF7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6F0446D-1807-9E1E-4B3C-29BE58F2A0A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 Placeholder 2">
            <a:extLst>
              <a:ext uri="{FF2B5EF4-FFF2-40B4-BE49-F238E27FC236}">
                <a16:creationId xmlns:a16="http://schemas.microsoft.com/office/drawing/2014/main" id="{0BB05213-4DBC-4434-6E42-CDBCD398DE5F}"/>
              </a:ext>
            </a:extLst>
          </p:cNvPr>
          <p:cNvSpPr>
            <a:spLocks noGrp="1"/>
          </p:cNvSpPr>
          <p:nvPr>
            <p:ph type="body" idx="1"/>
          </p:nvPr>
        </p:nvSpPr>
        <p:spPr>
          <a:xfrm>
            <a:off x="838200" y="5209383"/>
            <a:ext cx="10515600" cy="967579"/>
          </a:xfrm>
        </p:spPr>
        <p:txBody>
          <a:bodyPr>
            <a:normAutofit fontScale="70000" lnSpcReduction="20000"/>
          </a:bodyPr>
          <a:lstStyle/>
          <a:p>
            <a:r>
              <a:rPr lang="en-US" dirty="0"/>
              <a:t>An optimization algorithm (typically Newton's Method) calculates the Hessian and gradient of the objective function to update the transformation parameters (rotation and translation). The source cloud "falls" into the high-probability valleys defined by the target's Gaussian mixture.</a:t>
            </a:r>
          </a:p>
        </p:txBody>
      </p:sp>
      <p:pic>
        <p:nvPicPr>
          <p:cNvPr id="5" name="Graphic 4">
            <a:extLst>
              <a:ext uri="{FF2B5EF4-FFF2-40B4-BE49-F238E27FC236}">
                <a16:creationId xmlns:a16="http://schemas.microsoft.com/office/drawing/2014/main" id="{B089199C-4AA2-F6DE-DC64-0A874270896F}"/>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3226777" y="983446"/>
            <a:ext cx="5210091" cy="4334256"/>
          </a:xfrm>
          <a:prstGeom prst="rect">
            <a:avLst/>
          </a:prstGeom>
        </p:spPr>
      </p:pic>
    </p:spTree>
    <p:extLst>
      <p:ext uri="{BB962C8B-B14F-4D97-AF65-F5344CB8AC3E}">
        <p14:creationId xmlns:p14="http://schemas.microsoft.com/office/powerpoint/2010/main" val="397068353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125A75-0C9C-9779-87E9-ECDB1B4F963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6769082-763B-463E-2F2E-5783369179B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342900">
              <a:lnSpc>
                <a:spcPct val="100000"/>
              </a:lnSpc>
              <a:spcBef>
                <a:spcPts val="0"/>
              </a:spcBef>
              <a:buSzPts val="3000"/>
            </a:pPr>
            <a:r>
              <a:rPr lang="en-US" sz="2000" dirty="0">
                <a:latin typeface="Arial"/>
                <a:ea typeface="Arial"/>
                <a:cs typeface="Arial"/>
                <a:sym typeface="Arial"/>
              </a:rPr>
              <a:t>Cartographer (2D indoor) uses ICP-style. </a:t>
            </a:r>
            <a:r>
              <a:rPr lang="en-US" sz="2000" dirty="0" err="1">
                <a:latin typeface="Arial"/>
                <a:ea typeface="Arial"/>
                <a:cs typeface="Arial"/>
                <a:sym typeface="Arial"/>
              </a:rPr>
              <a:t>Autoware</a:t>
            </a:r>
            <a:r>
              <a:rPr lang="en-US" sz="2000" dirty="0">
                <a:latin typeface="Arial"/>
                <a:ea typeface="Arial"/>
                <a:cs typeface="Arial"/>
                <a:sym typeface="Arial"/>
              </a:rPr>
              <a:t> (3D outdoor) uses NDT. The sensor determines the algorithm.</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29D0F379-0442-74DD-5D23-054E5E66FD2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452A3D-BB78-9053-B440-608DFE55A60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NDT vs ICP - when to use which</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2FFA83-4A83-663B-5CB4-0861B2A077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D11AA4-EE52-A83D-EB27-BF3C662135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B79515-81D8-6E06-A0D4-A77F3219435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5499402-F696-13BE-1C1A-6865D500126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6588CA-2B32-072E-5C4D-BC11CD6AACE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F001735-A567-E95F-1B15-A342276DBB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10" name="Group 9">
            <a:extLst>
              <a:ext uri="{FF2B5EF4-FFF2-40B4-BE49-F238E27FC236}">
                <a16:creationId xmlns:a16="http://schemas.microsoft.com/office/drawing/2014/main" id="{58B86177-6212-3374-DF2E-E3FF2DD7FFF3}"/>
              </a:ext>
            </a:extLst>
          </p:cNvPr>
          <p:cNvGrpSpPr/>
          <p:nvPr/>
        </p:nvGrpSpPr>
        <p:grpSpPr>
          <a:xfrm>
            <a:off x="563880" y="2589266"/>
            <a:ext cx="11064240" cy="2636439"/>
            <a:chOff x="376807" y="2550688"/>
            <a:chExt cx="11064240" cy="2636439"/>
          </a:xfrm>
        </p:grpSpPr>
        <p:sp>
          <p:nvSpPr>
            <p:cNvPr id="2" name="Shape 3">
              <a:extLst>
                <a:ext uri="{FF2B5EF4-FFF2-40B4-BE49-F238E27FC236}">
                  <a16:creationId xmlns:a16="http://schemas.microsoft.com/office/drawing/2014/main" id="{6AF41D6D-B229-B5ED-CBC6-12D91D695873}"/>
                </a:ext>
              </a:extLst>
            </p:cNvPr>
            <p:cNvSpPr/>
            <p:nvPr/>
          </p:nvSpPr>
          <p:spPr>
            <a:xfrm>
              <a:off x="376807" y="2550688"/>
              <a:ext cx="5577840" cy="2636439"/>
            </a:xfrm>
            <a:prstGeom prst="rect">
              <a:avLst/>
            </a:prstGeom>
            <a:solidFill>
              <a:srgbClr val="F1F5F9"/>
            </a:solidFill>
            <a:ln/>
          </p:spPr>
          <p:txBody>
            <a:bodyPr/>
            <a:lstStyle/>
            <a:p>
              <a:endParaRPr lang="en-US">
                <a:latin typeface="+mj-lt"/>
              </a:endParaRPr>
            </a:p>
          </p:txBody>
        </p:sp>
        <p:sp>
          <p:nvSpPr>
            <p:cNvPr id="3" name="Shape 4">
              <a:extLst>
                <a:ext uri="{FF2B5EF4-FFF2-40B4-BE49-F238E27FC236}">
                  <a16:creationId xmlns:a16="http://schemas.microsoft.com/office/drawing/2014/main" id="{77FAC326-484D-1987-8534-EBCCE58791BC}"/>
                </a:ext>
              </a:extLst>
            </p:cNvPr>
            <p:cNvSpPr/>
            <p:nvPr/>
          </p:nvSpPr>
          <p:spPr>
            <a:xfrm>
              <a:off x="376807" y="2550688"/>
              <a:ext cx="5577840" cy="411480"/>
            </a:xfrm>
            <a:prstGeom prst="rect">
              <a:avLst/>
            </a:prstGeom>
            <a:solidFill>
              <a:srgbClr val="13294B"/>
            </a:solidFill>
            <a:ln/>
          </p:spPr>
          <p:txBody>
            <a:bodyPr/>
            <a:lstStyle/>
            <a:p>
              <a:endParaRPr lang="en-US">
                <a:latin typeface="+mj-lt"/>
              </a:endParaRPr>
            </a:p>
          </p:txBody>
        </p:sp>
        <p:sp>
          <p:nvSpPr>
            <p:cNvPr id="4" name="Text 5">
              <a:extLst>
                <a:ext uri="{FF2B5EF4-FFF2-40B4-BE49-F238E27FC236}">
                  <a16:creationId xmlns:a16="http://schemas.microsoft.com/office/drawing/2014/main" id="{C6CAB748-1ECC-2F09-1D2F-7121A5161895}"/>
                </a:ext>
              </a:extLst>
            </p:cNvPr>
            <p:cNvSpPr/>
            <p:nvPr/>
          </p:nvSpPr>
          <p:spPr>
            <a:xfrm>
              <a:off x="559687" y="2550688"/>
              <a:ext cx="521208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ICP FAMILY</a:t>
              </a:r>
              <a:endParaRPr lang="en-US" sz="1400" dirty="0">
                <a:latin typeface="+mj-lt"/>
              </a:endParaRPr>
            </a:p>
          </p:txBody>
        </p:sp>
        <p:sp>
          <p:nvSpPr>
            <p:cNvPr id="5" name="Text 6">
              <a:extLst>
                <a:ext uri="{FF2B5EF4-FFF2-40B4-BE49-F238E27FC236}">
                  <a16:creationId xmlns:a16="http://schemas.microsoft.com/office/drawing/2014/main" id="{DC068E20-25B7-1D3E-8DD0-66163267CDC6}"/>
                </a:ext>
              </a:extLst>
            </p:cNvPr>
            <p:cNvSpPr/>
            <p:nvPr/>
          </p:nvSpPr>
          <p:spPr>
            <a:xfrm>
              <a:off x="605407" y="3099328"/>
              <a:ext cx="512064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small point clouds (&lt; 5,000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Very accurate when features are strong</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Needs a good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k-d tree dominates runtime</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Gold standard for 2D indoor SLAM</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Struggles with smooth, flat, featureless areas</a:t>
              </a:r>
              <a:endParaRPr lang="en-US" sz="1400" dirty="0">
                <a:latin typeface="+mj-lt"/>
              </a:endParaRPr>
            </a:p>
          </p:txBody>
        </p:sp>
        <p:sp>
          <p:nvSpPr>
            <p:cNvPr id="6" name="Shape 7">
              <a:extLst>
                <a:ext uri="{FF2B5EF4-FFF2-40B4-BE49-F238E27FC236}">
                  <a16:creationId xmlns:a16="http://schemas.microsoft.com/office/drawing/2014/main" id="{7666ABF0-8D92-733E-EB58-267E482807C0}"/>
                </a:ext>
              </a:extLst>
            </p:cNvPr>
            <p:cNvSpPr/>
            <p:nvPr/>
          </p:nvSpPr>
          <p:spPr>
            <a:xfrm>
              <a:off x="6228967" y="2550688"/>
              <a:ext cx="5212080" cy="2636439"/>
            </a:xfrm>
            <a:prstGeom prst="rect">
              <a:avLst/>
            </a:prstGeom>
            <a:solidFill>
              <a:srgbClr val="F1F5F9"/>
            </a:solidFill>
            <a:ln/>
          </p:spPr>
          <p:txBody>
            <a:bodyPr/>
            <a:lstStyle/>
            <a:p>
              <a:endParaRPr lang="en-US">
                <a:latin typeface="+mj-lt"/>
              </a:endParaRPr>
            </a:p>
          </p:txBody>
        </p:sp>
        <p:sp>
          <p:nvSpPr>
            <p:cNvPr id="7" name="Shape 8">
              <a:extLst>
                <a:ext uri="{FF2B5EF4-FFF2-40B4-BE49-F238E27FC236}">
                  <a16:creationId xmlns:a16="http://schemas.microsoft.com/office/drawing/2014/main" id="{D441365F-573A-D21C-F89D-66089162B421}"/>
                </a:ext>
              </a:extLst>
            </p:cNvPr>
            <p:cNvSpPr/>
            <p:nvPr/>
          </p:nvSpPr>
          <p:spPr>
            <a:xfrm>
              <a:off x="6228967" y="2550688"/>
              <a:ext cx="5212080" cy="411480"/>
            </a:xfrm>
            <a:prstGeom prst="rect">
              <a:avLst/>
            </a:prstGeom>
            <a:solidFill>
              <a:srgbClr val="13294B"/>
            </a:solidFill>
            <a:ln/>
          </p:spPr>
          <p:txBody>
            <a:bodyPr/>
            <a:lstStyle/>
            <a:p>
              <a:endParaRPr lang="en-US">
                <a:latin typeface="+mj-lt"/>
              </a:endParaRPr>
            </a:p>
          </p:txBody>
        </p:sp>
        <p:sp>
          <p:nvSpPr>
            <p:cNvPr id="8" name="Text 9">
              <a:extLst>
                <a:ext uri="{FF2B5EF4-FFF2-40B4-BE49-F238E27FC236}">
                  <a16:creationId xmlns:a16="http://schemas.microsoft.com/office/drawing/2014/main" id="{018FA3E3-350F-E701-D17D-44B6D844EBA8}"/>
                </a:ext>
              </a:extLst>
            </p:cNvPr>
            <p:cNvSpPr/>
            <p:nvPr/>
          </p:nvSpPr>
          <p:spPr>
            <a:xfrm>
              <a:off x="6411847" y="2550688"/>
              <a:ext cx="4846320" cy="41148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400" b="1" dirty="0">
                  <a:solidFill>
                    <a:srgbClr val="FFFFFF"/>
                  </a:solidFill>
                  <a:latin typeface="+mj-lt"/>
                  <a:ea typeface="Calibri" pitchFamily="34" charset="-122"/>
                  <a:cs typeface="Calibri" pitchFamily="34" charset="-120"/>
                </a:rPr>
                <a:t>NDT</a:t>
              </a:r>
              <a:endParaRPr lang="en-US" sz="1400" dirty="0">
                <a:latin typeface="+mj-lt"/>
              </a:endParaRPr>
            </a:p>
          </p:txBody>
        </p:sp>
        <p:sp>
          <p:nvSpPr>
            <p:cNvPr id="9" name="Text 10">
              <a:extLst>
                <a:ext uri="{FF2B5EF4-FFF2-40B4-BE49-F238E27FC236}">
                  <a16:creationId xmlns:a16="http://schemas.microsoft.com/office/drawing/2014/main" id="{39ADADEE-C703-263E-54BA-0A527B480338}"/>
                </a:ext>
              </a:extLst>
            </p:cNvPr>
            <p:cNvSpPr/>
            <p:nvPr/>
          </p:nvSpPr>
          <p:spPr>
            <a:xfrm>
              <a:off x="6457567" y="3099328"/>
              <a:ext cx="4754880" cy="1887059"/>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Best for dense 3D clouds (&gt; 50,000 pts)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Smooth cost landscape - larger basin of attraction</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Less sensitive to a bad initial guess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No k-d tree needed - very fast</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Common in outdoor autonomous vehicles</a:t>
              </a:r>
              <a:endParaRPr lang="en-US" sz="1400" dirty="0">
                <a:latin typeface="+mj-lt"/>
              </a:endParaRPr>
            </a:p>
            <a:p>
              <a:pPr marL="342900" indent="-342900">
                <a:spcAft>
                  <a:spcPts val="600"/>
                </a:spcAft>
                <a:buSzPct val="100000"/>
                <a:buChar char="■"/>
              </a:pPr>
              <a:r>
                <a:rPr lang="en-US" sz="1400" dirty="0">
                  <a:solidFill>
                    <a:srgbClr val="1E293B"/>
                  </a:solidFill>
                  <a:latin typeface="+mj-lt"/>
                  <a:ea typeface="Calibri" pitchFamily="34" charset="-122"/>
                  <a:cs typeface="Calibri" pitchFamily="34" charset="-120"/>
                </a:rPr>
                <a:t>Accuracy capped by voxel resolution</a:t>
              </a:r>
              <a:endParaRPr lang="en-US" sz="1400" dirty="0">
                <a:latin typeface="+mj-lt"/>
              </a:endParaRPr>
            </a:p>
          </p:txBody>
        </p:sp>
      </p:grpSp>
    </p:spTree>
    <p:extLst>
      <p:ext uri="{BB962C8B-B14F-4D97-AF65-F5344CB8AC3E}">
        <p14:creationId xmlns:p14="http://schemas.microsoft.com/office/powerpoint/2010/main" val="28303851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0F6986B-A9BB-CF8C-A482-E3E9385EED4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569F179-A979-7978-1A67-92677E99B9D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Featureless environments (long smooth tunnels, empty parking lots)</a:t>
            </a:r>
          </a:p>
          <a:p>
            <a:pPr marL="342900">
              <a:lnSpc>
                <a:spcPct val="100000"/>
              </a:lnSpc>
              <a:spcBef>
                <a:spcPts val="0"/>
              </a:spcBef>
              <a:buSzPts val="3000"/>
            </a:pPr>
            <a:r>
              <a:rPr lang="en-US" sz="2000" dirty="0">
                <a:latin typeface="Arial"/>
                <a:ea typeface="Arial"/>
                <a:cs typeface="Arial"/>
                <a:sym typeface="Arial"/>
              </a:rPr>
              <a:t>no geometric handle, huge amount of drift at the end, essentially just relies on odometry</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Symmetric environments (hallway intersections that all look identical)</a:t>
            </a:r>
          </a:p>
          <a:p>
            <a:pPr marL="342900">
              <a:lnSpc>
                <a:spcPct val="100000"/>
              </a:lnSpc>
              <a:spcBef>
                <a:spcPts val="0"/>
              </a:spcBef>
              <a:buSzPts val="3000"/>
            </a:pPr>
            <a:r>
              <a:rPr lang="en-US" sz="2000" dirty="0">
                <a:latin typeface="Arial"/>
                <a:ea typeface="Arial"/>
                <a:cs typeface="Arial"/>
                <a:sym typeface="Arial"/>
              </a:rPr>
              <a:t>perceptual aliasing, unknown rotation / translation</a:t>
            </a:r>
          </a:p>
          <a:p>
            <a:pPr marL="34290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Large initial guess errors (&gt;30°)</a:t>
            </a:r>
          </a:p>
          <a:p>
            <a:pPr marL="342900">
              <a:lnSpc>
                <a:spcPct val="100000"/>
              </a:lnSpc>
              <a:spcBef>
                <a:spcPts val="0"/>
              </a:spcBef>
              <a:buSzPts val="3000"/>
            </a:pPr>
            <a:r>
              <a:rPr lang="en-US" sz="2000" dirty="0">
                <a:latin typeface="Arial"/>
                <a:ea typeface="Arial"/>
                <a:cs typeface="Arial"/>
                <a:sym typeface="Arial"/>
              </a:rPr>
              <a:t>any ICP will converge to a wrong local minimum</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Dynamic environments with moving objects</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Glass, mirrors, and retroreflectors</a:t>
            </a:r>
          </a:p>
          <a:p>
            <a:pPr marL="342900">
              <a:lnSpc>
                <a:spcPct val="100000"/>
              </a:lnSpc>
              <a:spcBef>
                <a:spcPts val="0"/>
              </a:spcBef>
              <a:buSzPts val="3000"/>
            </a:pPr>
            <a:r>
              <a:rPr lang="en-US" sz="2000" dirty="0">
                <a:latin typeface="Arial"/>
                <a:ea typeface="Arial"/>
                <a:cs typeface="Arial"/>
                <a:sym typeface="Arial"/>
              </a:rPr>
              <a:t>The LiDAR returns the wrong values</a:t>
            </a:r>
          </a:p>
          <a:p>
            <a:pPr marL="0" indent="0">
              <a:lnSpc>
                <a:spcPct val="100000"/>
              </a:lnSpc>
              <a:spcBef>
                <a:spcPts val="0"/>
              </a:spcBef>
              <a:buSzPts val="3000"/>
              <a:buNone/>
            </a:pPr>
            <a:endParaRPr lang="en-US" sz="2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BE51AFA4-76DA-F4CD-2AC1-BDF9A30EDC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A5BFAA-B74C-0449-28D1-BBFE45870DA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ICP Family Failure Modes - What Still Breaks</a:t>
            </a:r>
          </a:p>
        </p:txBody>
      </p:sp>
      <p:pic>
        <p:nvPicPr>
          <p:cNvPr id="121" name="Google Shape;121;p29">
            <a:extLst>
              <a:ext uri="{FF2B5EF4-FFF2-40B4-BE49-F238E27FC236}">
                <a16:creationId xmlns:a16="http://schemas.microsoft.com/office/drawing/2014/main" id="{AE03AD41-2443-529B-5F4B-AEFE2B20C2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F3E93E-7F7F-1978-D9C9-0E2254AE5D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CE838C-2D5A-DB49-437D-E46E7643883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FC6C4D-A02E-51E5-E876-700337A7ED0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C7835F-0223-76CC-EC22-327641C720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75E2E2-B58B-A83D-1A6A-762B323899F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334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8">
                                            <p:txEl>
                                              <p:pRg st="8" end="8"/>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2" end="12"/>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9AB0303D-3B67-B7AB-22B4-CD4A8AB3ACB2}"/>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315A45AC-08A0-1542-1A69-73274209E9FE}"/>
              </a:ext>
            </a:extLst>
          </p:cNvPr>
          <p:cNvGrpSpPr/>
          <p:nvPr/>
        </p:nvGrpSpPr>
        <p:grpSpPr>
          <a:xfrm>
            <a:off x="1922604" y="2674628"/>
            <a:ext cx="8346793" cy="1508744"/>
            <a:chOff x="1922604" y="1491040"/>
            <a:chExt cx="8346793" cy="1508744"/>
          </a:xfrm>
        </p:grpSpPr>
        <p:sp>
          <p:nvSpPr>
            <p:cNvPr id="89" name="Google Shape;89;p27">
              <a:extLst>
                <a:ext uri="{FF2B5EF4-FFF2-40B4-BE49-F238E27FC236}">
                  <a16:creationId xmlns:a16="http://schemas.microsoft.com/office/drawing/2014/main" id="{D94BBE5E-E811-F194-053C-F66FB019B8A9}"/>
                </a:ext>
              </a:extLst>
            </p:cNvPr>
            <p:cNvSpPr txBox="1"/>
            <p:nvPr/>
          </p:nvSpPr>
          <p:spPr>
            <a:xfrm>
              <a:off x="1922604" y="1491040"/>
              <a:ext cx="8346793" cy="1015622"/>
            </a:xfrm>
            <a:prstGeom prst="rect">
              <a:avLst/>
            </a:prstGeom>
            <a:noFill/>
            <a:ln>
              <a:noFill/>
            </a:ln>
          </p:spPr>
          <p:txBody>
            <a:bodyPr spcFirstLastPara="1" wrap="square" lIns="91425" tIns="45700" rIns="91425" bIns="45700" anchor="t" anchorCtr="0">
              <a:spAutoFit/>
            </a:bodyPr>
            <a:lstStyle/>
            <a:p>
              <a:pPr lvl="0" algn="ctr">
                <a:buSzPts val="6000"/>
              </a:pPr>
              <a:r>
                <a:rPr lang="en-US" sz="6000" b="1" dirty="0">
                  <a:solidFill>
                    <a:schemeClr val="lt1"/>
                  </a:solidFill>
                </a:rPr>
                <a:t>Monte Carlo estimates</a:t>
              </a:r>
              <a:endParaRPr sz="1400" b="0" i="0" u="none" strike="noStrike" cap="none" dirty="0">
                <a:solidFill>
                  <a:srgbClr val="000000"/>
                </a:solidFill>
                <a:latin typeface="Arial"/>
                <a:ea typeface="Arial"/>
                <a:cs typeface="Arial"/>
                <a:sym typeface="Arial"/>
              </a:endParaRPr>
            </a:p>
          </p:txBody>
        </p:sp>
        <p:cxnSp>
          <p:nvCxnSpPr>
            <p:cNvPr id="92" name="Google Shape;92;p27">
              <a:extLst>
                <a:ext uri="{FF2B5EF4-FFF2-40B4-BE49-F238E27FC236}">
                  <a16:creationId xmlns:a16="http://schemas.microsoft.com/office/drawing/2014/main" id="{02B107C1-37B7-8BE5-E564-48BD8F6AF948}"/>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7FD9BBC2-2974-5DD1-43C6-A24C4DC2A2FA}"/>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2C610FC0-E532-8DD5-18A6-77006A2E654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B531FCD0-FF2D-8B37-6D3E-B8A606666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EED0E577-0663-E042-EF08-E13E7972221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8F575FC3-67DD-48D3-DE5E-E317742FDC5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FDBCF8-1893-E855-A5F2-48CC1075D9AA}"/>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CE42A8C9-3109-7C9F-956D-1D07C51BA26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1387485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1022</TotalTime>
  <Words>4754</Words>
  <Application>Microsoft Office PowerPoint</Application>
  <PresentationFormat>Widescreen</PresentationFormat>
  <Paragraphs>661</Paragraphs>
  <Slides>67</Slides>
  <Notes>67</Notes>
  <HiddenSlides>0</HiddenSlides>
  <MMClips>1</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67</vt:i4>
      </vt:variant>
    </vt:vector>
  </HeadingPairs>
  <TitlesOfParts>
    <vt:vector size="72"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467</cp:revision>
  <dcterms:created xsi:type="dcterms:W3CDTF">2019-01-14T22:06:33Z</dcterms:created>
  <dcterms:modified xsi:type="dcterms:W3CDTF">2026-04-20T10:54:57Z</dcterms:modified>
</cp:coreProperties>
</file>