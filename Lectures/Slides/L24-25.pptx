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6"/>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270" r:id="rId15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customschemas.google.com/relationships/presentationmetadata" Target="meta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Front-End: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ICP commits to a </a:t>
            </a:r>
            <a:r>
              <a:rPr lang="en-US" sz="2000" b="1" dirty="0">
                <a:latin typeface="Arial"/>
                <a:ea typeface="Arial"/>
                <a:cs typeface="Arial"/>
                <a:sym typeface="Arial"/>
              </a:rPr>
              <a:t>single</a:t>
            </a:r>
            <a:r>
              <a:rPr lang="en-US" sz="2000" dirty="0">
                <a:latin typeface="Arial"/>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Real scenarios demand multiple simultaneous hypotheses</a:t>
            </a:r>
            <a:endParaRPr lang="en-US" sz="2000"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that corridors / floors look similar, a robot could be in Aisle 3 or Aisle 5 or on floor 1 vs floor 2, </a:t>
            </a:r>
            <a:r>
              <a:rPr lang="en-US" sz="2000" dirty="0" err="1">
                <a:latin typeface="Arial"/>
                <a:ea typeface="Arial"/>
                <a:cs typeface="Arial"/>
                <a:sym typeface="Arial"/>
              </a:rPr>
              <a:t>etc</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where the </a:t>
            </a:r>
            <a:r>
              <a:rPr lang="en-US" sz="2000" b="1" dirty="0">
                <a:latin typeface="Arial"/>
                <a:ea typeface="Arial"/>
                <a:cs typeface="Arial"/>
                <a:sym typeface="Arial"/>
              </a:rPr>
              <a:t>Monte Carlo Localization</a:t>
            </a:r>
            <a:r>
              <a:rPr lang="en-US" sz="2000" dirty="0">
                <a:latin typeface="Arial"/>
                <a:ea typeface="Arial"/>
                <a:cs typeface="Arial"/>
                <a:sym typeface="Arial"/>
              </a:rPr>
              <a:t>, also known as the </a:t>
            </a:r>
            <a:r>
              <a:rPr lang="en-US" sz="2000" b="1" dirty="0">
                <a:latin typeface="Arial"/>
                <a:ea typeface="Arial"/>
                <a:cs typeface="Arial"/>
                <a:sym typeface="Arial"/>
              </a:rPr>
              <a:t>Particle Filter</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The Prediction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rial"/>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Correction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Instead of doing an integration we can </a:t>
            </a:r>
            <a:r>
              <a:rPr lang="en-US" sz="2000" b="1" dirty="0">
                <a:latin typeface="Arial"/>
                <a:ea typeface="Arial"/>
                <a:cs typeface="Arial"/>
                <a:sym typeface="Arial"/>
              </a:rPr>
              <a:t>sample </a:t>
            </a:r>
            <a:r>
              <a:rPr lang="en-US" sz="2000" dirty="0">
                <a:latin typeface="Arial"/>
                <a:ea typeface="Arial"/>
                <a:cs typeface="Arial"/>
                <a:sym typeface="Arial"/>
              </a:rPr>
              <a:t>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disperse around the world a “particle”.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rial"/>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rial"/>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rial"/>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rial"/>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rial"/>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rial"/>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rial"/>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Disadvantages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rial"/>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rial"/>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rial"/>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World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The model must survive sensor noise (</a:t>
                </a:r>
                <a:r>
                  <a:rPr lang="en-US" sz="2000" b="1" dirty="0">
                    <a:latin typeface="Arial"/>
                    <a:ea typeface="Arial"/>
                    <a:cs typeface="Arial"/>
                    <a:sym typeface="Arial"/>
                  </a:rPr>
                  <a:t>robust</a:t>
                </a:r>
                <a:r>
                  <a:rPr lang="en-US" sz="2000" dirty="0">
                    <a:latin typeface="Arial"/>
                    <a:ea typeface="Arial"/>
                    <a:cs typeface="Arial"/>
                    <a:sym typeface="Arial"/>
                  </a:rPr>
                  <a:t>) (one bad beam shouldn't create a wall)</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updatable</a:t>
                </a:r>
                <a:r>
                  <a:rPr lang="en-US" sz="2000" dirty="0">
                    <a:latin typeface="Arial"/>
                    <a:ea typeface="Arial"/>
                    <a:cs typeface="Arial"/>
                    <a:sym typeface="Arial"/>
                  </a:rPr>
                  <a:t> (new information should </a:t>
                </a:r>
                <a:r>
                  <a:rPr lang="en-US" sz="2000" b="1" dirty="0">
                    <a:latin typeface="Arial"/>
                    <a:ea typeface="Arial"/>
                    <a:cs typeface="Arial"/>
                    <a:sym typeface="Arial"/>
                  </a:rPr>
                  <a:t>refine</a:t>
                </a:r>
                <a:r>
                  <a:rPr lang="en-US" sz="2000" dirty="0">
                    <a:latin typeface="Arial"/>
                    <a:ea typeface="Arial"/>
                    <a:cs typeface="Arial"/>
                    <a:sym typeface="Arial"/>
                  </a:rPr>
                  <a:t>, not overwrite, old beliefs)</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compact</a:t>
                </a:r>
                <a:r>
                  <a:rPr lang="en-US" sz="2000" dirty="0">
                    <a:latin typeface="Arial"/>
                    <a:ea typeface="Arial"/>
                    <a:cs typeface="Arial"/>
                    <a:sym typeface="Arial"/>
                  </a:rPr>
                  <a:t> (we cannot afford to keep every raw scan in RAM forever)</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err="1">
                    <a:latin typeface="Arial"/>
                    <a:ea typeface="Arial"/>
                    <a:cs typeface="Arial"/>
                    <a:sym typeface="Arial"/>
                  </a:rPr>
                  <a:t>queryable</a:t>
                </a:r>
                <a:r>
                  <a:rPr lang="en-US" sz="2000" dirty="0">
                    <a:latin typeface="Arial"/>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P(mᵢ) = 0 → free. </a:t>
            </a:r>
          </a:p>
          <a:p>
            <a:pPr marL="342900">
              <a:lnSpc>
                <a:spcPct val="100000"/>
              </a:lnSpc>
              <a:spcBef>
                <a:spcPts val="0"/>
              </a:spcBef>
              <a:buSzPts val="3000"/>
            </a:pPr>
            <a:r>
              <a:rPr lang="en-US" sz="2000" dirty="0">
                <a:latin typeface="Arial"/>
                <a:ea typeface="Arial"/>
                <a:cs typeface="Arial"/>
                <a:sym typeface="Arial"/>
              </a:rPr>
              <a:t>P(mᵢ) = 1 → wall. </a:t>
            </a:r>
          </a:p>
          <a:p>
            <a:pPr marL="342900">
              <a:lnSpc>
                <a:spcPct val="100000"/>
              </a:lnSpc>
              <a:spcBef>
                <a:spcPts val="0"/>
              </a:spcBef>
              <a:buSzPts val="3000"/>
            </a:pPr>
            <a:r>
              <a:rPr lang="en-US" sz="2000" dirty="0">
                <a:latin typeface="Arial"/>
                <a:ea typeface="Arial"/>
                <a:cs typeface="Arial"/>
                <a:sym typeface="Arial"/>
              </a:rPr>
              <a:t>P(mᵢ) = 0.5 → unknown, never observed.</a:t>
            </a: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5900" y="2291179"/>
            <a:ext cx="4468812"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a perfect world we would want to compute the </a:t>
                </a:r>
                <a:r>
                  <a:rPr lang="en-US" sz="2000" b="1" dirty="0">
                    <a:latin typeface="Arial"/>
                    <a:ea typeface="Arial"/>
                    <a:cs typeface="Arial"/>
                    <a:sym typeface="Arial"/>
                  </a:rPr>
                  <a:t>Full Map Posterior</a:t>
                </a:r>
                <a:r>
                  <a:rPr lang="en-US" sz="2000" dirty="0">
                    <a:latin typeface="Arial"/>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rial"/>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rial"/>
                    <a:ea typeface="Arial"/>
                    <a:cs typeface="Arial"/>
                    <a:sym typeface="Arial"/>
                  </a:rPr>
                  <a:t>, possible configurations for that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rial"/>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rial"/>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This is the "</a:t>
                </a:r>
                <a:r>
                  <a:rPr lang="en-US" sz="2000" b="1" dirty="0">
                    <a:latin typeface="Arial"/>
                    <a:ea typeface="Arial"/>
                    <a:cs typeface="Arial"/>
                    <a:sym typeface="Arial"/>
                  </a:rPr>
                  <a:t>Grid Assumption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this formulation?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rial"/>
                    <a:ea typeface="Arial"/>
                    <a:cs typeface="Arial"/>
                    <a:sym typeface="Arial"/>
                  </a:rPr>
                  <a:t>, which creates numbers smaller than 10⁻¹⁵!</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rial"/>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fix this we make use of the </a:t>
                </a:r>
                <a:r>
                  <a:rPr lang="en-US" sz="2000" b="1" dirty="0">
                    <a:latin typeface="Arial"/>
                    <a:ea typeface="Arial"/>
                    <a:cs typeface="Arial"/>
                    <a:sym typeface="Arial"/>
                  </a:rPr>
                  <a:t>Log-Odds</a:t>
                </a:r>
                <a:r>
                  <a:rPr lang="en-US" sz="2000" dirty="0">
                    <a:latin typeface="Arial"/>
                    <a:ea typeface="Arial"/>
                    <a:cs typeface="Arial"/>
                    <a:sym typeface="Arial"/>
                  </a:rPr>
                  <a:t> trick!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rial"/>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Log-odds = 0 means 50% (unknown). </a:t>
                </a:r>
              </a:p>
              <a:p>
                <a:pPr marL="342900">
                  <a:lnSpc>
                    <a:spcPct val="100000"/>
                  </a:lnSpc>
                  <a:spcBef>
                    <a:spcPts val="0"/>
                  </a:spcBef>
                  <a:buSzPts val="3000"/>
                </a:pPr>
                <a:r>
                  <a:rPr lang="en-US" sz="2000" dirty="0">
                    <a:latin typeface="Arial"/>
                    <a:ea typeface="Arial"/>
                    <a:cs typeface="Arial"/>
                    <a:sym typeface="Arial"/>
                  </a:rPr>
                  <a:t>Positive means occupied. </a:t>
                </a:r>
              </a:p>
              <a:p>
                <a:pPr marL="342900">
                  <a:lnSpc>
                    <a:spcPct val="100000"/>
                  </a:lnSpc>
                  <a:spcBef>
                    <a:spcPts val="0"/>
                  </a:spcBef>
                  <a:buSzPts val="3000"/>
                </a:pPr>
                <a:r>
                  <a:rPr lang="en-US" sz="2000" dirty="0">
                    <a:latin typeface="Arial"/>
                    <a:ea typeface="Arial"/>
                    <a:cs typeface="Arial"/>
                    <a:sym typeface="Arial"/>
                  </a:rPr>
                  <a:t>Negative means free.</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Range is effectively (−∞, +∞), no underflow ever</a:t>
                </a:r>
              </a:p>
              <a:p>
                <a:pPr marL="0" indent="0">
                  <a:lnSpc>
                    <a:spcPct val="100000"/>
                  </a:lnSpc>
                  <a:spcBef>
                    <a:spcPts val="0"/>
                  </a:spcBef>
                  <a:buSzPts val="3000"/>
                  <a:buNone/>
                </a:pPr>
                <a:r>
                  <a:rPr lang="en-US" sz="2000" dirty="0">
                    <a:latin typeface="Arial"/>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for the following situations?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rial"/>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Wait what was the Bayesian Update again?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simplify, we look at the ratio of the cell being </a:t>
                </a:r>
                <a:r>
                  <a:rPr lang="en-US" sz="2000" b="1" dirty="0">
                    <a:latin typeface="Arial"/>
                    <a:ea typeface="Arial"/>
                    <a:cs typeface="Arial"/>
                    <a:sym typeface="Arial"/>
                  </a:rPr>
                  <a:t>occupied</a:t>
                </a:r>
                <a:r>
                  <a:rPr lang="en-US" sz="2000" dirty="0">
                    <a:latin typeface="Arial"/>
                    <a:ea typeface="Arial"/>
                    <a:cs typeface="Arial"/>
                    <a:sym typeface="Arial"/>
                  </a:rPr>
                  <a:t> vs. </a:t>
                </a:r>
                <a:r>
                  <a:rPr lang="en-US" sz="2000" b="1" dirty="0">
                    <a:latin typeface="Arial"/>
                    <a:ea typeface="Arial"/>
                    <a:cs typeface="Arial"/>
                    <a:sym typeface="Arial"/>
                  </a:rPr>
                  <a:t>empty</a:t>
                </a:r>
                <a:r>
                  <a:rPr lang="en-US" sz="2000" dirty="0">
                    <a:latin typeface="Arial"/>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three distinct components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Inverse Sensor Model</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rial"/>
                    <a:ea typeface="Arial"/>
                    <a:cs typeface="Arial"/>
                    <a:sym typeface="Arial"/>
                  </a:rPr>
                  <a:t> (What the current laser scan says).</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Prior</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rial"/>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rial"/>
                    <a:ea typeface="Arial"/>
                    <a:cs typeface="Arial"/>
                    <a:sym typeface="Arial"/>
                  </a:rPr>
                  <a:t>, which cancels out).</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Recursive Belief</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rial"/>
                    <a:ea typeface="Arial"/>
                    <a:cs typeface="Arial"/>
                    <a:sym typeface="Arial"/>
                  </a:rPr>
                  <a:t> (What we already knew).</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rial"/>
                    <a:ea typeface="Arial"/>
                    <a:cs typeface="Arial"/>
                    <a:sym typeface="Arial"/>
                  </a:rPr>
                  <a:t> of the </a:t>
                </a:r>
                <a:r>
                  <a:rPr lang="en-US" sz="2000" b="1" dirty="0">
                    <a:latin typeface="Arial"/>
                    <a:ea typeface="Arial"/>
                    <a:cs typeface="Arial"/>
                    <a:sym typeface="Arial"/>
                  </a:rPr>
                  <a:t>Ratio Form </a:t>
                </a:r>
                <a:r>
                  <a:rPr lang="en-US" sz="2000" dirty="0">
                    <a:latin typeface="Arial"/>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yields the exact formula:</a:t>
                </a:r>
              </a:p>
              <a:p>
                <a:pPr marL="0" indent="0">
                  <a:lnSpc>
                    <a:spcPct val="100000"/>
                  </a:lnSpc>
                  <a:spcBef>
                    <a:spcPts val="0"/>
                  </a:spcBef>
                  <a:buSzPts val="3000"/>
                  <a:buNone/>
                </a:pPr>
                <a:endParaRPr lang="en-US" sz="2000" i="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Typical values: +0.9 on hit, −0.4 per pass.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rial"/>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Rule 1</a:t>
                </a:r>
                <a:r>
                  <a:rPr lang="en-US" sz="2000" dirty="0">
                    <a:latin typeface="Arial"/>
                    <a:ea typeface="Arial"/>
                    <a:cs typeface="Arial"/>
                    <a:sym typeface="Arial"/>
                  </a:rPr>
                  <a:t>: every cell the laser beam </a:t>
                </a:r>
                <a:r>
                  <a:rPr lang="en-US" sz="2000" b="1" dirty="0">
                    <a:latin typeface="Arial"/>
                    <a:ea typeface="Arial"/>
                    <a:cs typeface="Arial"/>
                    <a:sym typeface="Arial"/>
                  </a:rPr>
                  <a:t>passed through</a:t>
                </a:r>
                <a:r>
                  <a:rPr lang="en-US" sz="2000" dirty="0">
                    <a:latin typeface="Arial"/>
                    <a:ea typeface="Arial"/>
                    <a:cs typeface="Arial"/>
                    <a:sym typeface="Arial"/>
                  </a:rPr>
                  <a:t> gets a free-space vote (</a:t>
                </a:r>
                <a:r>
                  <a:rPr lang="en-US" sz="2000" b="1" dirty="0">
                    <a:latin typeface="Arial"/>
                    <a:ea typeface="Arial"/>
                    <a:cs typeface="Arial"/>
                    <a:sym typeface="Arial"/>
                  </a:rPr>
                  <a:t>negative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2</a:t>
                </a:r>
                <a:r>
                  <a:rPr lang="en-US" sz="2000" dirty="0">
                    <a:latin typeface="Arial"/>
                    <a:ea typeface="Arial"/>
                    <a:cs typeface="Arial"/>
                    <a:sym typeface="Arial"/>
                  </a:rPr>
                  <a:t>: the cell where the beam </a:t>
                </a:r>
                <a:r>
                  <a:rPr lang="en-US" sz="2000" b="1" dirty="0">
                    <a:latin typeface="Arial"/>
                    <a:ea typeface="Arial"/>
                    <a:cs typeface="Arial"/>
                    <a:sym typeface="Arial"/>
                  </a:rPr>
                  <a:t>terminated</a:t>
                </a:r>
                <a:r>
                  <a:rPr lang="en-US" sz="2000" dirty="0">
                    <a:latin typeface="Arial"/>
                    <a:ea typeface="Arial"/>
                    <a:cs typeface="Arial"/>
                    <a:sym typeface="Arial"/>
                  </a:rPr>
                  <a:t> gets an occupied vote (</a:t>
                </a:r>
                <a:r>
                  <a:rPr lang="en-US" sz="2000" b="1" dirty="0">
                    <a:latin typeface="Arial"/>
                    <a:ea typeface="Arial"/>
                    <a:cs typeface="Arial"/>
                    <a:sym typeface="Arial"/>
                  </a:rPr>
                  <a:t>positive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3</a:t>
                </a:r>
                <a:r>
                  <a:rPr lang="en-US" sz="2000" dirty="0">
                    <a:latin typeface="Arial"/>
                    <a:ea typeface="Arial"/>
                    <a:cs typeface="Arial"/>
                    <a:sym typeface="Arial"/>
                  </a:rPr>
                  <a:t>: cells </a:t>
                </a:r>
                <a:r>
                  <a:rPr lang="en-US" sz="2000" b="1" dirty="0">
                    <a:latin typeface="Arial"/>
                    <a:ea typeface="Arial"/>
                    <a:cs typeface="Arial"/>
                    <a:sym typeface="Arial"/>
                  </a:rPr>
                  <a:t>behind</a:t>
                </a:r>
                <a:r>
                  <a:rPr lang="en-US" sz="2000" dirty="0">
                    <a:latin typeface="Arial"/>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rial"/>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rial"/>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err="1">
                <a:latin typeface="Arial"/>
                <a:ea typeface="Arial"/>
                <a:cs typeface="Arial"/>
                <a:sym typeface="Arial"/>
              </a:rPr>
              <a:t>Bresenham's</a:t>
            </a:r>
            <a:r>
              <a:rPr lang="en-US" sz="2000" b="1" dirty="0">
                <a:latin typeface="Arial"/>
                <a:ea typeface="Arial"/>
                <a:cs typeface="Arial"/>
                <a:sym typeface="Arial"/>
              </a:rPr>
              <a:t> algorithm</a:t>
            </a:r>
            <a:r>
              <a:rPr lang="en-US" sz="2000" dirty="0">
                <a:latin typeface="Arial"/>
                <a:ea typeface="Arial"/>
                <a:cs typeface="Arial"/>
                <a:sym typeface="Arial"/>
              </a:rPr>
              <a:t>! (2D ray casing algorithm!)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rial"/>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rial"/>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rial"/>
                    <a:ea typeface="Arial"/>
                    <a:cs typeface="Arial"/>
                    <a:sym typeface="Arial"/>
                  </a:rPr>
                  <a:t> (becoming a wall)</a:t>
                </a:r>
              </a:p>
              <a:p>
                <a:pPr marL="342900">
                  <a:lnSpc>
                    <a:spcPct val="200000"/>
                  </a:lnSpc>
                  <a:spcBef>
                    <a:spcPts val="0"/>
                  </a:spcBef>
                  <a:buSzPts val="3000"/>
                </a:pPr>
                <a:r>
                  <a:rPr lang="en-US" sz="2000" dirty="0">
                    <a:latin typeface="Arial"/>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rial"/>
                    <a:ea typeface="Arial"/>
                    <a:cs typeface="Arial"/>
                    <a:sym typeface="Arial"/>
                  </a:rPr>
                  <a:t> (still wall, but weakening)</a:t>
                </a:r>
              </a:p>
              <a:p>
                <a:pPr marL="342900">
                  <a:lnSpc>
                    <a:spcPct val="200000"/>
                  </a:lnSpc>
                  <a:spcBef>
                    <a:spcPts val="0"/>
                  </a:spcBef>
                  <a:buSzPts val="3000"/>
                </a:pPr>
                <a:r>
                  <a:rPr lang="en-US" sz="2000" dirty="0">
                    <a:latin typeface="Arial"/>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rial"/>
                    <a:ea typeface="Arial"/>
                    <a:cs typeface="Arial"/>
                    <a:sym typeface="Arial"/>
                  </a:rPr>
                  <a:t> (the “ghost” has dissolved)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rial"/>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rial"/>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is the problem with grid worlds?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They are very resolution dependent!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rial"/>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rial"/>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rial"/>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rial"/>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Often combined with </a:t>
            </a:r>
            <a:r>
              <a:rPr lang="en-US" sz="2000" b="1" dirty="0">
                <a:latin typeface="Arial"/>
                <a:ea typeface="Arial"/>
                <a:cs typeface="Arial"/>
                <a:sym typeface="Arial"/>
              </a:rPr>
              <a:t>voxel </a:t>
            </a:r>
            <a:r>
              <a:rPr lang="en-US" sz="2000" b="1" dirty="0" err="1">
                <a:latin typeface="Arial"/>
                <a:ea typeface="Arial"/>
                <a:cs typeface="Arial"/>
                <a:sym typeface="Arial"/>
              </a:rPr>
              <a:t>downsampling</a:t>
            </a:r>
            <a:r>
              <a:rPr lang="en-US" sz="2000" dirty="0">
                <a:latin typeface="Arial"/>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Drift</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rial"/>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is locally correct </a:t>
            </a:r>
            <a:r>
              <a:rPr lang="en-US" sz="2000" b="1" dirty="0">
                <a:latin typeface="Arial"/>
                <a:ea typeface="Arial"/>
                <a:cs typeface="Arial"/>
                <a:sym typeface="Arial"/>
              </a:rPr>
              <a:t>everywhere</a:t>
            </a:r>
            <a:r>
              <a:rPr lang="en-US" sz="2000" dirty="0">
                <a:latin typeface="Arial"/>
                <a:ea typeface="Arial"/>
                <a:cs typeface="Arial"/>
                <a:sym typeface="Arial"/>
              </a:rPr>
              <a:t> but globally wrong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robot can </a:t>
            </a:r>
            <a:r>
              <a:rPr lang="en-US" sz="2000" b="1" dirty="0">
                <a:latin typeface="Arial"/>
                <a:ea typeface="Arial"/>
                <a:cs typeface="Arial"/>
                <a:sym typeface="Arial"/>
              </a:rPr>
              <a:t>detect</a:t>
            </a:r>
            <a:r>
              <a:rPr lang="en-US" sz="2000" dirty="0">
                <a:latin typeface="Arial"/>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immediately knows </a:t>
            </a:r>
            <a:r>
              <a:rPr lang="en-US" sz="2000" b="1" dirty="0">
                <a:latin typeface="Arial"/>
                <a:ea typeface="Arial"/>
                <a:cs typeface="Arial"/>
                <a:sym typeface="Arial"/>
              </a:rPr>
              <a:t>exactly</a:t>
            </a:r>
            <a:r>
              <a:rPr lang="en-US" sz="2000" dirty="0">
                <a:latin typeface="Arial"/>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a:latin typeface="Arial"/>
                <a:ea typeface="Arial"/>
                <a:cs typeface="Arial"/>
                <a:sym typeface="Arial"/>
              </a:rPr>
              <a:t>single most important trick </a:t>
            </a:r>
            <a:r>
              <a:rPr lang="en-US" sz="2000" dirty="0">
                <a:latin typeface="Arial"/>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Back-End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nodes</a:t>
            </a:r>
            <a:r>
              <a:rPr lang="en-US" sz="2000" dirty="0">
                <a:latin typeface="Arial"/>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rial"/>
                <a:ea typeface="Arial"/>
                <a:cs typeface="Arial"/>
                <a:sym typeface="Arial"/>
              </a:rPr>
              <a:t>edges</a:t>
            </a:r>
            <a:r>
              <a:rPr lang="en-US" sz="2000" dirty="0">
                <a:latin typeface="Arial"/>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rial"/>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rial"/>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rial"/>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rial"/>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stores the </a:t>
            </a:r>
            <a:r>
              <a:rPr lang="en-US" sz="2000" b="1" dirty="0">
                <a:latin typeface="Arial"/>
                <a:ea typeface="Arial"/>
                <a:cs typeface="Arial"/>
                <a:sym typeface="Arial"/>
              </a:rPr>
              <a:t>expected</a:t>
            </a:r>
            <a:r>
              <a:rPr lang="en-US" sz="2000" dirty="0">
                <a:latin typeface="Arial"/>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would the sources of edge be from?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Edges come from two sources: </a:t>
            </a:r>
          </a:p>
          <a:p>
            <a:pPr marL="342900">
              <a:lnSpc>
                <a:spcPct val="100000"/>
              </a:lnSpc>
              <a:spcBef>
                <a:spcPts val="0"/>
              </a:spcBef>
              <a:buSzPts val="3000"/>
            </a:pPr>
            <a:r>
              <a:rPr lang="en-US" sz="2000" dirty="0">
                <a:latin typeface="Arial"/>
                <a:ea typeface="Arial"/>
                <a:cs typeface="Arial"/>
                <a:sym typeface="Arial"/>
              </a:rPr>
              <a:t>odometry (between consecutive nodes) and </a:t>
            </a:r>
          </a:p>
          <a:p>
            <a:pPr marL="342900">
              <a:lnSpc>
                <a:spcPct val="100000"/>
              </a:lnSpc>
              <a:spcBef>
                <a:spcPts val="0"/>
              </a:spcBef>
              <a:buSzPts val="3000"/>
            </a:pPr>
            <a:r>
              <a:rPr lang="en-US" sz="2000" dirty="0">
                <a:latin typeface="Arial"/>
                <a:ea typeface="Arial"/>
                <a:cs typeface="Arial"/>
                <a:sym typeface="Arial"/>
              </a:rPr>
              <a:t>loop-closure matches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also carries an </a:t>
            </a:r>
            <a:r>
              <a:rPr lang="en-US" sz="2000" b="1" dirty="0">
                <a:latin typeface="Arial"/>
                <a:ea typeface="Arial"/>
                <a:cs typeface="Arial"/>
                <a:sym typeface="Arial"/>
              </a:rPr>
              <a:t>information matrix</a:t>
            </a:r>
            <a:r>
              <a:rPr lang="en-US" sz="2000" dirty="0">
                <a:latin typeface="Arial"/>
                <a:ea typeface="Arial"/>
                <a:cs typeface="Arial"/>
                <a:sym typeface="Arial"/>
              </a:rPr>
              <a:t> - the spring stiffness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rial"/>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we trust an </a:t>
            </a:r>
            <a:r>
              <a:rPr lang="en-US" sz="2000" b="1" dirty="0">
                <a:latin typeface="Arial"/>
                <a:ea typeface="Arial"/>
                <a:cs typeface="Arial"/>
                <a:sym typeface="Arial"/>
              </a:rPr>
              <a:t>edge</a:t>
            </a:r>
            <a:r>
              <a:rPr lang="en-US" sz="2000" dirty="0">
                <a:latin typeface="Arial"/>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3x3 matrix for 2D, 6x6 for 3D</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it mean for identity matrix? </a:t>
            </a:r>
          </a:p>
          <a:p>
            <a:pPr marL="0" indent="0" algn="ctr">
              <a:lnSpc>
                <a:spcPct val="100000"/>
              </a:lnSpc>
              <a:spcBef>
                <a:spcPts val="0"/>
              </a:spcBef>
              <a:buSzPts val="3000"/>
              <a:buNone/>
            </a:pPr>
            <a:r>
              <a:rPr lang="en-US" sz="2000" dirty="0">
                <a:latin typeface="Arial"/>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During optimization, each edge's contribution is </a:t>
            </a:r>
            <a:r>
              <a:rPr lang="en-US" sz="2000" b="1" dirty="0">
                <a:latin typeface="Arial"/>
                <a:ea typeface="Arial"/>
                <a:cs typeface="Arial"/>
                <a:sym typeface="Arial"/>
              </a:rPr>
              <a:t>weighted by its information </a:t>
            </a:r>
            <a:r>
              <a:rPr lang="en-US" sz="2000" dirty="0">
                <a:latin typeface="Arial"/>
                <a:ea typeface="Arial"/>
                <a:cs typeface="Arial"/>
                <a:sym typeface="Arial"/>
              </a:rPr>
              <a:t>- noisy edges contribute less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Information Matrix</a:t>
            </a:r>
          </a:p>
        </p:txBody>
      </p:sp>
      <p:pic>
        <p:nvPicPr>
          <p:cNvPr id="121" name="Google Shape;121;p29">
            <a:extLs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Factor graphs </a:t>
            </a:r>
            <a:r>
              <a:rPr lang="en-US" sz="2000" dirty="0">
                <a:latin typeface="Arial"/>
                <a:ea typeface="Arial"/>
                <a:cs typeface="Arial"/>
                <a:sym typeface="Arial"/>
              </a:rPr>
              <a:t>have two types of nodes: </a:t>
            </a:r>
          </a:p>
          <a:p>
            <a:pPr marL="342900">
              <a:lnSpc>
                <a:spcPct val="100000"/>
              </a:lnSpc>
              <a:spcBef>
                <a:spcPts val="0"/>
              </a:spcBef>
              <a:buSzPts val="3000"/>
            </a:pPr>
            <a:r>
              <a:rPr lang="en-US" sz="2000" b="1" dirty="0">
                <a:latin typeface="Arial"/>
                <a:ea typeface="Arial"/>
                <a:cs typeface="Arial"/>
                <a:sym typeface="Arial"/>
              </a:rPr>
              <a:t>Variables</a:t>
            </a:r>
            <a:r>
              <a:rPr lang="en-US" sz="2000" dirty="0">
                <a:latin typeface="Arial"/>
                <a:ea typeface="Arial"/>
                <a:cs typeface="Arial"/>
                <a:sym typeface="Arial"/>
              </a:rPr>
              <a:t> (poses, landmarks, biases)</a:t>
            </a:r>
          </a:p>
          <a:p>
            <a:pPr marL="342900">
              <a:lnSpc>
                <a:spcPct val="100000"/>
              </a:lnSpc>
              <a:spcBef>
                <a:spcPts val="0"/>
              </a:spcBef>
              <a:buSzPts val="3000"/>
            </a:pPr>
            <a:r>
              <a:rPr lang="en-US" sz="2000" b="1" dirty="0">
                <a:latin typeface="Arial"/>
                <a:ea typeface="Arial"/>
                <a:cs typeface="Arial"/>
                <a:sym typeface="Arial"/>
              </a:rPr>
              <a:t>Factors </a:t>
            </a:r>
            <a:r>
              <a:rPr lang="en-US" sz="2000" dirty="0">
                <a:latin typeface="Arial"/>
                <a:ea typeface="Arial"/>
                <a:cs typeface="Arial"/>
                <a:sym typeface="Arial"/>
              </a:rPr>
              <a:t>(measurements)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rial"/>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error vector?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rial"/>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rial"/>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rial"/>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rial"/>
                    <a:ea typeface="Arial"/>
                    <a:cs typeface="Arial"/>
                    <a:sym typeface="Arial"/>
                  </a:rPr>
                  <a:t> is based on my current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rial"/>
                    <a:ea typeface="Arial"/>
                    <a:cs typeface="Arial"/>
                    <a:sym typeface="Arial"/>
                  </a:rPr>
                  <a:t>Homogeneous Transformation Matrices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simply standard matrix multiplication.</a:t>
                </a:r>
              </a:p>
              <a:p>
                <a:pPr marL="342900">
                  <a:lnSpc>
                    <a:spcPct val="100000"/>
                  </a:lnSpc>
                  <a:spcBef>
                    <a:spcPts val="0"/>
                  </a:spcBef>
                  <a:buSzPts val="3000"/>
                </a:pPr>
                <a:r>
                  <a:rPr lang="en-US" sz="2000" b="1" dirty="0">
                    <a:latin typeface="Arial"/>
                    <a:ea typeface="Arial"/>
                    <a:cs typeface="Arial"/>
                    <a:sym typeface="Arial"/>
                  </a:rPr>
                  <a:t>Quaternions/Rotations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rial"/>
                    <a:ea typeface="Arial"/>
                    <a:cs typeface="Arial"/>
                    <a:sym typeface="Arial"/>
                  </a:rPr>
                  <a:t>Translation + Rotation</a:t>
                </a:r>
                <a:r>
                  <a:rPr lang="en-US" sz="2000" dirty="0">
                    <a:latin typeface="Arial"/>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 making it non-linear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rial"/>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rial"/>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rial"/>
                    <a:ea typeface="Arial"/>
                    <a:cs typeface="Arial"/>
                    <a:sym typeface="Arial"/>
                  </a:rPr>
                  <a:t>step, </a:t>
                </a:r>
              </a:p>
              <a:p>
                <a:pPr indent="-457200">
                  <a:lnSpc>
                    <a:spcPct val="100000"/>
                  </a:lnSpc>
                  <a:spcBef>
                    <a:spcPts val="0"/>
                  </a:spcBef>
                  <a:buSzPts val="3000"/>
                  <a:buFont typeface="+mj-lt"/>
                  <a:buAutoNum type="arabicPeriod"/>
                </a:pPr>
                <a:r>
                  <a:rPr lang="en-US" sz="2000" dirty="0">
                    <a:latin typeface="Arial"/>
                    <a:ea typeface="Arial"/>
                    <a:cs typeface="Arial"/>
                    <a:sym typeface="Arial"/>
                  </a:rPr>
                  <a:t>repeat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1. Linearizing with Taylor Expansion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rial"/>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the Jacobian, partial derives of the error with respect to </a:t>
                </a:r>
                <a:r>
                  <a:rPr lang="en-US" sz="2000" b="1" dirty="0">
                    <a:latin typeface="Arial"/>
                    <a:ea typeface="Arial"/>
                    <a:cs typeface="Arial"/>
                    <a:sym typeface="Arial"/>
                  </a:rPr>
                  <a:t>ALL</a:t>
                </a:r>
                <a:r>
                  <a:rPr lang="en-US" sz="2000" dirty="0">
                    <a:latin typeface="Arial"/>
                    <a:ea typeface="Arial"/>
                    <a:cs typeface="Arial"/>
                    <a:sym typeface="Arial"/>
                  </a:rPr>
                  <a:t>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rial"/>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Most entries are </a:t>
            </a:r>
            <a:r>
              <a:rPr lang="en-US" sz="2000" b="1" dirty="0">
                <a:latin typeface="Arial"/>
                <a:ea typeface="Arial"/>
                <a:cs typeface="Arial"/>
                <a:sym typeface="Arial"/>
              </a:rPr>
              <a:t>ZERO </a:t>
            </a:r>
            <a:r>
              <a:rPr lang="en-US" sz="2000" dirty="0">
                <a:latin typeface="Arial"/>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Modern </a:t>
            </a:r>
            <a:r>
              <a:rPr lang="en-US" sz="2000" dirty="0" err="1">
                <a:latin typeface="Arial"/>
                <a:ea typeface="Arial"/>
                <a:cs typeface="Arial"/>
                <a:sym typeface="Arial"/>
              </a:rPr>
              <a:t>autodiff</a:t>
            </a:r>
            <a:r>
              <a:rPr lang="en-US" sz="2000" dirty="0">
                <a:latin typeface="Arial"/>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rial"/>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Translational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rial"/>
                  <a:ea typeface="Arial"/>
                  <a:cs typeface="Arial"/>
                  <a:sym typeface="Arial"/>
                </a:endParaRPr>
              </a:p>
              <a:p>
                <a:pPr marL="0" indent="0">
                  <a:lnSpc>
                    <a:spcPct val="100000"/>
                  </a:lnSpc>
                  <a:spcBef>
                    <a:spcPts val="0"/>
                  </a:spcBef>
                  <a:buSzPts val="3000"/>
                  <a:buNone/>
                </a:pPr>
                <a:r>
                  <a:rPr lang="en-US" sz="2000" b="1" dirty="0" err="1">
                    <a:latin typeface="Arial"/>
                    <a:ea typeface="Arial"/>
                    <a:cs typeface="Arial"/>
                    <a:sym typeface="Arial"/>
                  </a:rPr>
                  <a:t>Rotational</a:t>
                </a:r>
                <a:r>
                  <a:rPr lang="en-US" sz="2000" b="1" dirty="0">
                    <a:latin typeface="Arial"/>
                    <a:ea typeface="Arial"/>
                    <a:cs typeface="Arial"/>
                    <a:sym typeface="Arial"/>
                  </a:rPr>
                  <a:t>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rial"/>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rial"/>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2: Gauss-Newton Normal Equations</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rial"/>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rial"/>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can be near-singular</a:t>
                </a:r>
              </a:p>
              <a:p>
                <a:pPr marL="0" indent="0">
                  <a:lnSpc>
                    <a:spcPct val="100000"/>
                  </a:lnSpc>
                  <a:spcBef>
                    <a:spcPts val="0"/>
                  </a:spcBef>
                  <a:buSzPts val="3000"/>
                  <a:buNone/>
                </a:pPr>
                <a:r>
                  <a:rPr lang="en-US" sz="2000" dirty="0">
                    <a:latin typeface="Arial"/>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to the diagonal of H: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rial"/>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rial"/>
                  <a:ea typeface="Arial"/>
                  <a:cs typeface="Arial"/>
                  <a:sym typeface="Arial"/>
                </a:endParaRP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problem? Think computationally.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rial"/>
                    <a:ea typeface="Arial"/>
                    <a:cs typeface="Arial"/>
                    <a:sym typeface="Arial"/>
                  </a:rPr>
                  <a:t>, is a 30,000 × 30,000 matrix - 900 million entries</a:t>
                </a:r>
              </a:p>
              <a:p>
                <a:pPr marL="0" indent="0">
                  <a:lnSpc>
                    <a:spcPct val="100000"/>
                  </a:lnSpc>
                  <a:spcBef>
                    <a:spcPts val="0"/>
                  </a:spcBef>
                  <a:buSzPts val="3000"/>
                  <a:buNone/>
                </a:pPr>
                <a:r>
                  <a:rPr lang="en-US" sz="2000" dirty="0">
                    <a:latin typeface="Arial"/>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rial"/>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is zero and is thus also sparse!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runs in milliseconds, not minutes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rial"/>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rial"/>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rial"/>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rial"/>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initial </a:t>
            </a:r>
            <a:r>
              <a:rPr lang="en-US" sz="2000" b="1" dirty="0">
                <a:latin typeface="Arial"/>
                <a:ea typeface="Arial"/>
                <a:cs typeface="Arial"/>
                <a:sym typeface="Arial"/>
              </a:rPr>
              <a:t>Coarse Filter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(hint: technique used in ICP)</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Coarse Filter</a:t>
            </a:r>
          </a:p>
        </p:txBody>
      </p:sp>
      <p:pic>
        <p:nvPicPr>
          <p:cNvPr id="121" name="Google Shape;121;p29">
            <a:extLs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Voxelization</a:t>
            </a:r>
          </a:p>
        </p:txBody>
      </p:sp>
      <p:pic>
        <p:nvPicPr>
          <p:cNvPr id="121" name="Google Shape;121;p29">
            <a:extLs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 Scan-Match Scoring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rial"/>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scan-matching, an </a:t>
            </a:r>
            <a:r>
              <a:rPr lang="en-US" sz="2000" b="1" dirty="0">
                <a:latin typeface="Arial"/>
                <a:ea typeface="Arial"/>
                <a:cs typeface="Arial"/>
                <a:sym typeface="Arial"/>
              </a:rPr>
              <a:t>inlier</a:t>
            </a:r>
            <a:r>
              <a:rPr lang="en-US" sz="2000" dirty="0">
                <a:latin typeface="Arial"/>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Conversely, an </a:t>
            </a:r>
            <a:r>
              <a:rPr lang="en-US" sz="2000" b="1" dirty="0">
                <a:latin typeface="Arial"/>
                <a:ea typeface="Arial"/>
                <a:cs typeface="Arial"/>
                <a:sym typeface="Arial"/>
              </a:rPr>
              <a:t>outlier</a:t>
            </a:r>
            <a:r>
              <a:rPr lang="en-US" sz="2000" dirty="0">
                <a:latin typeface="Arial"/>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Finally, </a:t>
            </a:r>
            <a:r>
              <a:rPr lang="en-US" sz="2000" b="1" dirty="0">
                <a:latin typeface="Arial"/>
                <a:ea typeface="Arial"/>
                <a:cs typeface="Arial"/>
                <a:sym typeface="Arial"/>
              </a:rPr>
              <a:t>valid inliers </a:t>
            </a:r>
            <a:r>
              <a:rPr lang="en-US" sz="2000" dirty="0">
                <a:latin typeface="Arial"/>
                <a:ea typeface="Arial"/>
                <a:cs typeface="Arial"/>
                <a:sym typeface="Arial"/>
              </a:rPr>
              <a:t>are the only points used to calculate the final RMSE (Root Mean Square Error) score; </a:t>
            </a:r>
            <a:r>
              <a:rPr lang="en-US" sz="2000" b="1" dirty="0">
                <a:latin typeface="Arial"/>
                <a:ea typeface="Arial"/>
                <a:cs typeface="Arial"/>
                <a:sym typeface="Arial"/>
              </a:rPr>
              <a:t>outliers</a:t>
            </a:r>
            <a:r>
              <a:rPr lang="en-US" sz="2000" dirty="0">
                <a:latin typeface="Arial"/>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calculates the </a:t>
            </a:r>
            <a:r>
              <a:rPr lang="en-US" sz="2000" b="1" dirty="0">
                <a:latin typeface="Arial"/>
                <a:ea typeface="Arial"/>
                <a:cs typeface="Arial"/>
                <a:sym typeface="Arial"/>
              </a:rPr>
              <a:t>RMSE</a:t>
            </a:r>
            <a:r>
              <a:rPr lang="en-US" sz="2000" dirty="0">
                <a:latin typeface="Arial"/>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computes the </a:t>
            </a:r>
            <a:r>
              <a:rPr lang="en-US" sz="2000" b="1" dirty="0">
                <a:latin typeface="Arial"/>
                <a:ea typeface="Arial"/>
                <a:cs typeface="Arial"/>
                <a:sym typeface="Arial"/>
              </a:rPr>
              <a:t>Inlier Ratio</a:t>
            </a:r>
            <a:r>
              <a:rPr lang="en-US" sz="2000" dirty="0">
                <a:latin typeface="Arial"/>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rial"/>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minimize total energy, it distributes the correction proportionally across </a:t>
            </a:r>
            <a:r>
              <a:rPr lang="en-US" sz="2000" b="1" dirty="0">
                <a:latin typeface="Arial"/>
                <a:ea typeface="Arial"/>
                <a:cs typeface="Arial"/>
                <a:sym typeface="Arial"/>
              </a:rPr>
              <a:t>every</a:t>
            </a:r>
            <a:r>
              <a:rPr lang="en-US" sz="2000" dirty="0">
                <a:latin typeface="Arial"/>
                <a:ea typeface="Arial"/>
                <a:cs typeface="Arial"/>
                <a:sym typeface="Arial"/>
              </a:rPr>
              <a:t>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reason why we </a:t>
            </a:r>
            <a:r>
              <a:rPr lang="en-US" sz="2000" b="1" dirty="0">
                <a:latin typeface="Arial"/>
                <a:ea typeface="Arial"/>
                <a:cs typeface="Arial"/>
                <a:sym typeface="Arial"/>
              </a:rPr>
              <a:t>distribute the error</a:t>
            </a:r>
            <a:r>
              <a:rPr lang="en-US" sz="2000" dirty="0">
                <a:latin typeface="Arial"/>
                <a:ea typeface="Arial"/>
                <a:cs typeface="Arial"/>
                <a:sym typeface="Arial"/>
              </a:rPr>
              <a:t> to all the nodes for the loss is the following:</a:t>
            </a:r>
            <a:endParaRPr lang="en-US" sz="2000" b="1"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dump all the correction into a single pose, every intermediate pose now has an inconsistent </a:t>
            </a:r>
            <a:r>
              <a:rPr lang="en-US" sz="2000" dirty="0" err="1">
                <a:latin typeface="Arial"/>
                <a:ea typeface="Arial"/>
                <a:cs typeface="Arial"/>
                <a:sym typeface="Arial"/>
              </a:rPr>
              <a:t>neighbourhood</a:t>
            </a:r>
            <a:r>
              <a:rPr lang="en-US" sz="2000" dirty="0">
                <a:latin typeface="Arial"/>
                <a:ea typeface="Arial"/>
                <a:cs typeface="Arial"/>
                <a:sym typeface="Arial"/>
              </a:rPr>
              <a:t> ( everything has shifted by a huge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Scaling</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problem is that when, the graph optimizer snaps the trajectory ( through loop closure), ALL prior </a:t>
            </a:r>
            <a:r>
              <a:rPr lang="en-US" sz="2000" dirty="0" err="1">
                <a:latin typeface="Arial"/>
                <a:ea typeface="Arial"/>
                <a:cs typeface="Arial"/>
                <a:sym typeface="Arial"/>
              </a:rPr>
              <a:t>raycasts</a:t>
            </a:r>
            <a:r>
              <a:rPr lang="en-US" sz="2000" dirty="0">
                <a:latin typeface="Arial"/>
                <a:ea typeface="Arial"/>
                <a:cs typeface="Arial"/>
                <a:sym typeface="Arial"/>
              </a:rPr>
              <a:t> become misaligned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Scaling</a:t>
            </a:r>
          </a:p>
        </p:txBody>
      </p:sp>
      <p:pic>
        <p:nvPicPr>
          <p:cNvPr id="121" name="Google Shape;121;p29">
            <a:extLs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robot crosses the edge of the current submap, it </a:t>
            </a:r>
            <a:r>
              <a:rPr lang="en-US" sz="2000" b="1" dirty="0">
                <a:latin typeface="Arial"/>
                <a:ea typeface="Arial"/>
                <a:cs typeface="Arial"/>
                <a:sym typeface="Arial"/>
              </a:rPr>
              <a:t>freezes</a:t>
            </a:r>
            <a:r>
              <a:rPr lang="en-US" sz="2000" dirty="0">
                <a:latin typeface="Arial"/>
                <a:ea typeface="Arial"/>
                <a:cs typeface="Arial"/>
                <a:sym typeface="Arial"/>
              </a:rPr>
              <a:t> it and starts a new one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Critically: each submap is </a:t>
            </a:r>
            <a:r>
              <a:rPr lang="en-US" sz="2000" b="1" dirty="0">
                <a:latin typeface="Arial"/>
                <a:ea typeface="Arial"/>
                <a:cs typeface="Arial"/>
                <a:sym typeface="Arial"/>
              </a:rPr>
              <a:t>anchored to a node</a:t>
            </a:r>
            <a:r>
              <a:rPr lang="en-US" sz="2000" dirty="0">
                <a:latin typeface="Arial"/>
                <a:ea typeface="Arial"/>
                <a:cs typeface="Arial"/>
                <a:sym typeface="Arial"/>
              </a:rPr>
              <a:t> in the pose graph</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submap is a </a:t>
            </a:r>
            <a:r>
              <a:rPr lang="en-US" sz="2000" b="1" dirty="0">
                <a:latin typeface="Arial"/>
                <a:ea typeface="Arial"/>
                <a:cs typeface="Arial"/>
                <a:sym typeface="Arial"/>
              </a:rPr>
              <a:t>rigid</a:t>
            </a:r>
            <a:r>
              <a:rPr lang="en-US" sz="2000" dirty="0">
                <a:latin typeface="Arial"/>
                <a:ea typeface="Arial"/>
                <a:cs typeface="Arial"/>
                <a:sym typeface="Arial"/>
              </a:rPr>
              <a:t> object pinned to one pose node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pose graph optimizer moves that node, the </a:t>
            </a:r>
            <a:r>
              <a:rPr lang="en-US" sz="2000" b="1" dirty="0">
                <a:latin typeface="Arial"/>
                <a:ea typeface="Arial"/>
                <a:cs typeface="Arial"/>
                <a:sym typeface="Arial"/>
              </a:rPr>
              <a:t>ENTIRE</a:t>
            </a:r>
            <a:r>
              <a:rPr lang="en-US" sz="2000" dirty="0">
                <a:latin typeface="Arial"/>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 </a:t>
            </a:r>
            <a:r>
              <a:rPr lang="en-US" sz="2000" dirty="0" err="1">
                <a:latin typeface="Arial"/>
                <a:ea typeface="Arial"/>
                <a:cs typeface="Arial"/>
                <a:sym typeface="Arial"/>
              </a:rPr>
              <a:t>raycasts</a:t>
            </a:r>
            <a:r>
              <a:rPr lang="en-US" sz="2000" dirty="0">
                <a:latin typeface="Arial"/>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1649</TotalTime>
  <Words>11749</Words>
  <Application>Microsoft Office PowerPoint</Application>
  <PresentationFormat>Widescreen</PresentationFormat>
  <Paragraphs>1652</Paragraphs>
  <Slides>154</Slides>
  <Notes>154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154</vt:i4>
      </vt:variant>
    </vt:vector>
  </HeadingPairs>
  <TitlesOfParts>
    <vt:vector size="160"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663</cp:revision>
  <dcterms:created xsi:type="dcterms:W3CDTF">2019-01-14T22:06:33Z</dcterms:created>
  <dcterms:modified xsi:type="dcterms:W3CDTF">2026-05-06T08:25:58Z</dcterms:modified>
</cp:coreProperties>
</file>