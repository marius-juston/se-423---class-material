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70"/>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271" r:id="rId68"/>
    <p:sldId id="270" r:id="rId6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presProps" Target="presProp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110"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customschemas.google.com/relationships/presentationmetadata" Target="meta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pn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2.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48.svg"/><Relationship Id="rId5" Type="http://schemas.openxmlformats.org/officeDocument/2006/relationships/image" Target="../media/image47.pn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50.svg"/><Relationship Id="rId4" Type="http://schemas.openxmlformats.org/officeDocument/2006/relationships/image" Target="../media/image49.pn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pn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68.xml"/><Relationship Id="rId1" Type="http://schemas.openxmlformats.org/officeDocument/2006/relationships/slideLayout" Target="../slideLayouts/slideLayout1.xml"/><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24: SLAM, Simultaneous Localization and Mapping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How far are they in their personal project?</a:t>
            </a:r>
          </a:p>
          <a:p>
            <a:pPr marL="800100" lvl="1">
              <a:lnSpc>
                <a:spcPct val="100000"/>
              </a:lnSpc>
              <a:spcBef>
                <a:spcPts val="0"/>
              </a:spcBef>
              <a:buSzPts val="3000"/>
            </a:pPr>
            <a:r>
              <a:rPr lang="en-US" dirty="0">
                <a:latin typeface="Arial"/>
                <a:ea typeface="Arial"/>
                <a:cs typeface="Arial"/>
                <a:sym typeface="Arial"/>
              </a:rPr>
              <a:t>What has their biggest challenge been? (other than just having the time to work on it)</a:t>
            </a:r>
            <a:endParaRPr lang="en-US"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rial"/>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Clr>
                <a:srgbClr val="000000"/>
              </a:buClr>
              <a:buSzPts val="3000"/>
              <a:defRPr/>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5</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rial"/>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rial"/>
                <a:ea typeface="Arial"/>
                <a:cs typeface="Arial"/>
                <a:sym typeface="Arial"/>
              </a:rPr>
              <a:t>Localization, “where am I?” (ICP)</a:t>
            </a:r>
          </a:p>
          <a:p>
            <a:pPr marL="342900">
              <a:lnSpc>
                <a:spcPct val="100000"/>
              </a:lnSpc>
              <a:spcBef>
                <a:spcPts val="0"/>
              </a:spcBef>
              <a:buSzPts val="3000"/>
            </a:pPr>
            <a:r>
              <a:rPr lang="en-US" sz="2200" dirty="0">
                <a:latin typeface="Arial"/>
                <a:ea typeface="Arial"/>
                <a:cs typeface="Arial"/>
                <a:sym typeface="Arial"/>
              </a:rPr>
              <a:t>Mapping, from the LiDAR, generate occupancy grids</a:t>
            </a:r>
          </a:p>
          <a:p>
            <a:pPr marL="342900">
              <a:lnSpc>
                <a:spcPct val="100000"/>
              </a:lnSpc>
              <a:spcBef>
                <a:spcPts val="0"/>
              </a:spcBef>
              <a:buSzPts val="3000"/>
            </a:pPr>
            <a:r>
              <a:rPr lang="en-US" sz="2200" dirty="0">
                <a:latin typeface="Arial"/>
                <a:ea typeface="Arial"/>
                <a:cs typeface="Arial"/>
                <a:sym typeface="Arial"/>
              </a:rPr>
              <a:t>The back-end, pose graphs, factor graphs, and loop closure</a:t>
            </a:r>
          </a:p>
          <a:p>
            <a:pPr marL="342900">
              <a:lnSpc>
                <a:spcPct val="100000"/>
              </a:lnSpc>
              <a:spcBef>
                <a:spcPts val="0"/>
              </a:spcBef>
              <a:buSzPts val="3000"/>
            </a:pPr>
            <a:r>
              <a:rPr lang="en-US" sz="2200" dirty="0">
                <a:latin typeface="Arial"/>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Wheel odometry:</a:t>
            </a:r>
          </a:p>
          <a:p>
            <a:pPr marL="800100" lvl="1">
              <a:lnSpc>
                <a:spcPct val="100000"/>
              </a:lnSpc>
              <a:spcBef>
                <a:spcPts val="0"/>
              </a:spcBef>
              <a:buSzPts val="3000"/>
            </a:pPr>
            <a:r>
              <a:rPr lang="en-US" sz="1800" dirty="0">
                <a:latin typeface="Arial"/>
                <a:ea typeface="Arial"/>
                <a:cs typeface="Arial"/>
                <a:sym typeface="Arial"/>
              </a:rPr>
              <a:t>Fast, low-latency, but drifts</a:t>
            </a:r>
          </a:p>
          <a:p>
            <a:pPr marL="342900">
              <a:lnSpc>
                <a:spcPct val="100000"/>
              </a:lnSpc>
              <a:spcBef>
                <a:spcPts val="0"/>
              </a:spcBef>
              <a:buSzPts val="3000"/>
            </a:pPr>
            <a:r>
              <a:rPr lang="en-US" sz="2200" dirty="0">
                <a:latin typeface="Arial"/>
                <a:ea typeface="Arial"/>
                <a:cs typeface="Arial"/>
                <a:sym typeface="Arial"/>
              </a:rPr>
              <a:t>2D LiDAR</a:t>
            </a:r>
          </a:p>
          <a:p>
            <a:pPr marL="800100" lvl="1">
              <a:lnSpc>
                <a:spcPct val="100000"/>
              </a:lnSpc>
              <a:spcBef>
                <a:spcPts val="0"/>
              </a:spcBef>
              <a:buSzPts val="3000"/>
            </a:pPr>
            <a:r>
              <a:rPr lang="en-US" sz="1800" dirty="0">
                <a:latin typeface="Arial"/>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rial"/>
                <a:ea typeface="Arial"/>
                <a:cs typeface="Arial"/>
                <a:sym typeface="Arial"/>
              </a:rPr>
              <a:t>The Front-End:</a:t>
            </a:r>
          </a:p>
          <a:p>
            <a:pPr marL="800100" lvl="1">
              <a:lnSpc>
                <a:spcPct val="100000"/>
              </a:lnSpc>
              <a:spcBef>
                <a:spcPts val="0"/>
              </a:spcBef>
              <a:buSzPts val="3000"/>
            </a:pPr>
            <a:r>
              <a:rPr lang="en-US" sz="1800" dirty="0">
                <a:latin typeface="Arial"/>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rial"/>
                <a:ea typeface="Arial"/>
                <a:cs typeface="Arial"/>
                <a:sym typeface="Arial"/>
              </a:rPr>
              <a:t>The Back-End:</a:t>
            </a:r>
          </a:p>
          <a:p>
            <a:pPr marL="800100" lvl="1">
              <a:lnSpc>
                <a:spcPct val="100000"/>
              </a:lnSpc>
              <a:spcBef>
                <a:spcPts val="0"/>
              </a:spcBef>
              <a:buSzPts val="3000"/>
            </a:pPr>
            <a:r>
              <a:rPr lang="en-US" sz="1800" dirty="0">
                <a:latin typeface="Arial"/>
                <a:ea typeface="Arial"/>
                <a:cs typeface="Arial"/>
                <a:sym typeface="Arial"/>
              </a:rPr>
              <a:t>Optimizes the entire history when loops close (loop closure)</a:t>
            </a:r>
          </a:p>
          <a:p>
            <a:pPr marL="342900">
              <a:lnSpc>
                <a:spcPct val="100000"/>
              </a:lnSpc>
              <a:spcBef>
                <a:spcPts val="0"/>
              </a:spcBef>
              <a:buSzPts val="3000"/>
            </a:pPr>
            <a:r>
              <a:rPr lang="en-US" sz="2200" dirty="0">
                <a:latin typeface="Arial"/>
                <a:ea typeface="Arial"/>
                <a:cs typeface="Arial"/>
                <a:sym typeface="Arial"/>
              </a:rPr>
              <a:t>The Map:</a:t>
            </a:r>
          </a:p>
          <a:p>
            <a:pPr marL="800100" lvl="1">
              <a:lnSpc>
                <a:spcPct val="100000"/>
              </a:lnSpc>
              <a:spcBef>
                <a:spcPts val="0"/>
              </a:spcBef>
              <a:buSzPts val="3000"/>
            </a:pPr>
            <a:r>
              <a:rPr lang="en-US" sz="1800" dirty="0">
                <a:latin typeface="Arial"/>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Robot startup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unknown?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No map</a:t>
            </a:r>
          </a:p>
          <a:p>
            <a:pPr marL="342900">
              <a:lnSpc>
                <a:spcPct val="100000"/>
              </a:lnSpc>
              <a:spcBef>
                <a:spcPts val="0"/>
              </a:spcBef>
              <a:buSzPts val="3000"/>
            </a:pPr>
            <a:r>
              <a:rPr lang="en-US" sz="2200" dirty="0">
                <a:latin typeface="Arial"/>
                <a:ea typeface="Arial"/>
                <a:cs typeface="Arial"/>
                <a:sym typeface="Arial"/>
              </a:rPr>
              <a:t>No estimate of prior state (position)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Where am I right now? (Localization)</a:t>
            </a:r>
          </a:p>
          <a:p>
            <a:pPr marL="342900">
              <a:lnSpc>
                <a:spcPct val="100000"/>
              </a:lnSpc>
              <a:spcBef>
                <a:spcPts val="0"/>
              </a:spcBef>
              <a:buSzPts val="3000"/>
            </a:pPr>
            <a:r>
              <a:rPr lang="en-US" sz="2200" dirty="0">
                <a:latin typeface="Arial"/>
                <a:ea typeface="Arial"/>
                <a:cs typeface="Arial"/>
                <a:sym typeface="Arial"/>
              </a:rPr>
              <a:t>What does the world around me look like (Mapping)</a:t>
            </a:r>
          </a:p>
          <a:p>
            <a:pPr marL="342900">
              <a:lnSpc>
                <a:spcPct val="100000"/>
              </a:lnSpc>
              <a:spcBef>
                <a:spcPts val="0"/>
              </a:spcBef>
              <a:buSzPts val="3000"/>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localization, why not just use GPS?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rial"/>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rial"/>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rial"/>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need a map that reflects reality now!</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rial"/>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millisecond:</a:t>
            </a:r>
          </a:p>
          <a:p>
            <a:pPr marL="342900">
              <a:lnSpc>
                <a:spcPct val="100000"/>
              </a:lnSpc>
              <a:spcBef>
                <a:spcPts val="0"/>
              </a:spcBef>
              <a:buSzPts val="3000"/>
            </a:pPr>
            <a:r>
              <a:rPr lang="en-US" sz="2200" dirty="0">
                <a:latin typeface="Arial"/>
                <a:ea typeface="Arial"/>
                <a:cs typeface="Arial"/>
                <a:sym typeface="Arial"/>
              </a:rPr>
              <a:t>Estimate motion</a:t>
            </a:r>
          </a:p>
          <a:p>
            <a:pPr marL="342900">
              <a:lnSpc>
                <a:spcPct val="100000"/>
              </a:lnSpc>
              <a:spcBef>
                <a:spcPts val="0"/>
              </a:spcBef>
              <a:buSzPts val="3000"/>
            </a:pPr>
            <a:r>
              <a:rPr lang="en-US" sz="2200" dirty="0">
                <a:latin typeface="Arial"/>
                <a:ea typeface="Arial"/>
                <a:cs typeface="Arial"/>
                <a:sym typeface="Arial"/>
              </a:rPr>
              <a:t>Predict where the world should be</a:t>
            </a:r>
          </a:p>
          <a:p>
            <a:pPr marL="342900">
              <a:lnSpc>
                <a:spcPct val="100000"/>
              </a:lnSpc>
              <a:spcBef>
                <a:spcPts val="0"/>
              </a:spcBef>
              <a:buSzPts val="3000"/>
            </a:pPr>
            <a:r>
              <a:rPr lang="en-US" sz="2200" dirty="0">
                <a:latin typeface="Arial"/>
                <a:ea typeface="Arial"/>
                <a:cs typeface="Arial"/>
                <a:sym typeface="Arial"/>
              </a:rPr>
              <a:t>Refine both!</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a single iteration, which do you think that the robot actually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Consolas" pitchFamily="34" charset="0"/>
                      <a:ea typeface="Consolas" pitchFamily="34" charset="-122"/>
                      <a:cs typeface="Consolas" pitchFamily="34" charset="-120"/>
                    </a:rPr>
                    <a:t>maximize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Find the most likely trajectory x and map m given all observations z and controls u</a:t>
              </a:r>
              <a:endParaRPr lang="en-US" sz="1000" dirty="0"/>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Why do we need SLAM at 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rial"/>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rial"/>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rial"/>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What makes a good SLAM system?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rial"/>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rial"/>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rial"/>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rial"/>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Global Consistency is the hardest to solve.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hardest part of global consistency is </a:t>
            </a:r>
            <a:r>
              <a:rPr lang="en-US" sz="2200" b="1" dirty="0">
                <a:latin typeface="Arial"/>
                <a:ea typeface="Arial"/>
                <a:cs typeface="Arial"/>
                <a:sym typeface="Arial"/>
              </a:rPr>
              <a:t>Loop Closure</a:t>
            </a:r>
            <a:r>
              <a:rPr lang="en-US" sz="2200" dirty="0">
                <a:latin typeface="Arial"/>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pose that the SLAM is optimizing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SLAM Loop: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Read odometry: produce fast prior estimate of new pose</a:t>
            </a:r>
          </a:p>
          <a:p>
            <a:pPr marL="342900">
              <a:lnSpc>
                <a:spcPct val="150000"/>
              </a:lnSpc>
              <a:spcBef>
                <a:spcPts val="0"/>
              </a:spcBef>
              <a:buSzPts val="3000"/>
            </a:pPr>
            <a:r>
              <a:rPr lang="en-US" sz="2200" dirty="0">
                <a:latin typeface="Arial"/>
                <a:ea typeface="Arial"/>
                <a:cs typeface="Arial"/>
                <a:sym typeface="Arial"/>
              </a:rPr>
              <a:t>Read LiDAR: capture current snapshot of the world</a:t>
            </a:r>
          </a:p>
          <a:p>
            <a:pPr marL="342900">
              <a:lnSpc>
                <a:spcPct val="150000"/>
              </a:lnSpc>
              <a:spcBef>
                <a:spcPts val="0"/>
              </a:spcBef>
              <a:buSzPts val="3000"/>
            </a:pPr>
            <a:r>
              <a:rPr lang="en-US" sz="2200" dirty="0">
                <a:latin typeface="Arial"/>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rial"/>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rial"/>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Where am I?</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rial"/>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rial"/>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1D wall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is at global position 0</a:t>
                </a:r>
              </a:p>
              <a:p>
                <a:pPr marL="342900">
                  <a:lnSpc>
                    <a:spcPct val="100000"/>
                  </a:lnSpc>
                  <a:spcBef>
                    <a:spcPts val="0"/>
                  </a:spcBef>
                  <a:buSzPts val="3000"/>
                </a:pPr>
                <a:r>
                  <a:rPr lang="en-US" sz="2200" dirty="0">
                    <a:latin typeface="Arial"/>
                    <a:ea typeface="Arial"/>
                    <a:cs typeface="Arial"/>
                    <a:sym typeface="Arial"/>
                  </a:rPr>
                  <a:t>The wall is 5 meters ahead</a:t>
                </a:r>
              </a:p>
              <a:p>
                <a:pPr marL="342900">
                  <a:lnSpc>
                    <a:spcPct val="100000"/>
                  </a:lnSpc>
                  <a:spcBef>
                    <a:spcPts val="0"/>
                  </a:spcBef>
                  <a:buSzPts val="3000"/>
                </a:pPr>
                <a:r>
                  <a:rPr lang="en-US" sz="2200" dirty="0">
                    <a:latin typeface="Arial"/>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rial"/>
                    <a:ea typeface="Arial"/>
                    <a:cs typeface="Arial"/>
                    <a:sym typeface="Arial"/>
                  </a:rPr>
                  <a:t>. This is our prior scan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drives forward 2 meters.</a:t>
                </a:r>
              </a:p>
              <a:p>
                <a:pPr marL="342900">
                  <a:lnSpc>
                    <a:spcPct val="100000"/>
                  </a:lnSpc>
                  <a:spcBef>
                    <a:spcPts val="0"/>
                  </a:spcBef>
                  <a:buSzPts val="3000"/>
                </a:pPr>
                <a:r>
                  <a:rPr lang="en-US" sz="2200" dirty="0">
                    <a:latin typeface="Arial"/>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rial"/>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rial"/>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rial"/>
                    <a:ea typeface="Arial"/>
                    <a:cs typeface="Arial"/>
                    <a:sym typeface="Arial"/>
                  </a:rPr>
                  <a:t> for this 1D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rial"/>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rial"/>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rial"/>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Three Families of Localization Methods</a:t>
            </a:r>
          </a:p>
        </p:txBody>
      </p:sp>
      <p:pic>
        <p:nvPicPr>
          <p:cNvPr id="121" name="Google Shape;121;p29">
            <a:extLs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ICP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ICP stands for Iterative Closest Point: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200000"/>
                  </a:lnSpc>
                  <a:spcBef>
                    <a:spcPts val="0"/>
                  </a:spcBef>
                  <a:buSzPts val="3000"/>
                </a:pPr>
                <a:r>
                  <a:rPr lang="en-US" sz="2200" dirty="0">
                    <a:latin typeface="Arial"/>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rial"/>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best aligns the matched pairs</a:t>
                </a:r>
              </a:p>
              <a:p>
                <a:pPr marL="342900">
                  <a:lnSpc>
                    <a:spcPct val="200000"/>
                  </a:lnSpc>
                  <a:spcBef>
                    <a:spcPts val="0"/>
                  </a:spcBef>
                  <a:buSzPts val="3000"/>
                </a:pPr>
                <a:r>
                  <a:rPr lang="en-US" sz="2200" dirty="0">
                    <a:latin typeface="Arial"/>
                    <a:ea typeface="Arial"/>
                    <a:cs typeface="Arial"/>
                    <a:sym typeface="Arial"/>
                  </a:rPr>
                  <a:t>Apply: move the source cloud by that transformation</a:t>
                </a:r>
              </a:p>
              <a:p>
                <a:pPr marL="342900">
                  <a:lnSpc>
                    <a:spcPct val="200000"/>
                  </a:lnSpc>
                  <a:spcBef>
                    <a:spcPts val="0"/>
                  </a:spcBef>
                  <a:buSzPts val="3000"/>
                </a:pPr>
                <a:r>
                  <a:rPr lang="en-US" sz="2200" dirty="0">
                    <a:latin typeface="Arial"/>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starting point of the ICP methods,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rial"/>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rial"/>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a:t>
                </a:r>
                <a:r>
                  <a:rPr lang="en-US" sz="2200" b="1" dirty="0">
                    <a:latin typeface="Arial"/>
                    <a:ea typeface="Arial"/>
                    <a:cs typeface="Arial"/>
                    <a:sym typeface="Arial"/>
                  </a:rPr>
                  <a:t>closed-form</a:t>
                </a:r>
                <a:r>
                  <a:rPr lang="en-US" sz="2200" dirty="0">
                    <a:latin typeface="Arial"/>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becomes zero.</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rial"/>
                    <a:ea typeface="Arial"/>
                    <a:cs typeface="Arial"/>
                    <a:sym typeface="Arial"/>
                  </a:rPr>
                  <a:t>Expand the Quadratic</a:t>
                </a:r>
                <a:r>
                  <a:rPr lang="en-US" sz="2200" dirty="0">
                    <a:latin typeface="Arial"/>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rial"/>
                    <a:ea typeface="Arial"/>
                    <a:cs typeface="Arial"/>
                    <a:sym typeface="Arial"/>
                  </a:rPr>
                  <a:t>, we expand the error function: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Cancellation</a:t>
                </a:r>
                <a:r>
                  <a:rPr lang="en-US" sz="2200" dirty="0">
                    <a:latin typeface="Arial"/>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rial"/>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Applying the Property</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Result</a:t>
                </a:r>
                <a:r>
                  <a:rPr lang="en-US" sz="2200" dirty="0">
                    <a:latin typeface="Arial"/>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rial"/>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With the </a:t>
                </a:r>
                <a:r>
                  <a:rPr lang="en-US" sz="2200" b="1" dirty="0">
                    <a:latin typeface="Arial"/>
                    <a:ea typeface="Arial"/>
                    <a:cs typeface="Arial"/>
                    <a:sym typeface="Arial"/>
                  </a:rPr>
                  <a:t>quadratic term </a:t>
                </a:r>
                <a:r>
                  <a:rPr lang="en-US" sz="2200" dirty="0">
                    <a:latin typeface="Arial"/>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Simplify</a:t>
                </a:r>
                <a:r>
                  <a:rPr lang="en-US" sz="2200" dirty="0">
                    <a:latin typeface="Arial"/>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rial"/>
                    <a:ea typeface="Arial"/>
                    <a:cs typeface="Arial"/>
                    <a:sym typeface="Arial"/>
                  </a:rPr>
                  <a:t>The Trace Trick</a:t>
                </a:r>
                <a:r>
                  <a:rPr lang="en-US" sz="2200" dirty="0">
                    <a:solidFill>
                      <a:srgbClr val="000000"/>
                    </a:solidFill>
                    <a:latin typeface="Arial"/>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rial"/>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rial"/>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rial"/>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rial"/>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rial"/>
                  <a:ea typeface="Arial"/>
                  <a:cs typeface="Arial"/>
                  <a:sym typeface="Arial"/>
                </a:endParaRPr>
              </a:p>
              <a:p>
                <a:pPr marL="800100" lvl="1">
                  <a:lnSpc>
                    <a:spcPct val="100000"/>
                  </a:lnSpc>
                  <a:spcBef>
                    <a:spcPts val="0"/>
                  </a:spcBef>
                  <a:buSzPts val="3000"/>
                </a:pPr>
                <a:r>
                  <a:rPr lang="en-US" dirty="0">
                    <a:latin typeface="Arial"/>
                    <a:ea typeface="Arial"/>
                    <a:cs typeface="Arial"/>
                    <a:sym typeface="Arial"/>
                  </a:rPr>
                  <a:t>Just check for each points between each point</a:t>
                </a:r>
              </a:p>
              <a:p>
                <a:pPr marL="342900">
                  <a:lnSpc>
                    <a:spcPct val="100000"/>
                  </a:lnSpc>
                  <a:spcBef>
                    <a:spcPts val="0"/>
                  </a:spcBef>
                  <a:buSzPts val="3000"/>
                </a:pPr>
                <a:r>
                  <a:rPr lang="en-US" sz="2400" dirty="0">
                    <a:latin typeface="Arial"/>
                    <a:ea typeface="Arial"/>
                    <a:cs typeface="Arial"/>
                    <a:sym typeface="Arial"/>
                  </a:rPr>
                  <a:t>Solution:</a:t>
                </a:r>
              </a:p>
              <a:p>
                <a:pPr marL="800100" lvl="1">
                  <a:lnSpc>
                    <a:spcPct val="100000"/>
                  </a:lnSpc>
                  <a:spcBef>
                    <a:spcPts val="0"/>
                  </a:spcBef>
                  <a:buSzPts val="3000"/>
                </a:pPr>
                <a:r>
                  <a:rPr lang="en-US" dirty="0">
                    <a:latin typeface="Arial"/>
                    <a:ea typeface="Arial"/>
                    <a:cs typeface="Arial"/>
                    <a:sym typeface="Arial"/>
                  </a:rPr>
                  <a:t>Preprocess the target cloud into a </a:t>
                </a:r>
                <a:r>
                  <a:rPr lang="en-US" b="1" dirty="0">
                    <a:latin typeface="Arial"/>
                    <a:ea typeface="Arial"/>
                    <a:cs typeface="Arial"/>
                    <a:sym typeface="Arial"/>
                  </a:rPr>
                  <a:t>k-d tree</a:t>
                </a:r>
                <a:r>
                  <a:rPr lang="en-US" dirty="0">
                    <a:latin typeface="Arial"/>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rial"/>
                    <a:ea typeface="Arial"/>
                    <a:cs typeface="Arial"/>
                    <a:sym typeface="Arial"/>
                  </a:rPr>
                  <a:t> construction time</a:t>
                </a:r>
              </a:p>
              <a:p>
                <a:pPr marL="800100" lvl="1">
                  <a:lnSpc>
                    <a:spcPct val="100000"/>
                  </a:lnSpc>
                  <a:spcBef>
                    <a:spcPts val="0"/>
                  </a:spcBef>
                  <a:buSzPts val="3000"/>
                </a:pPr>
                <a:r>
                  <a:rPr lang="en-US" dirty="0">
                    <a:latin typeface="Arial"/>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rial"/>
                    <a:ea typeface="Arial"/>
                    <a:cs typeface="Arial"/>
                    <a:sym typeface="Arial"/>
                  </a:rPr>
                  <a:t> per query! A major speedup!</a:t>
                </a:r>
              </a:p>
              <a:p>
                <a:pPr marL="800100" lvl="1">
                  <a:lnSpc>
                    <a:spcPct val="100000"/>
                  </a:lnSpc>
                  <a:spcBef>
                    <a:spcPts val="0"/>
                  </a:spcBef>
                  <a:buSzPts val="3000"/>
                </a:pPr>
                <a:r>
                  <a:rPr lang="en-US" dirty="0">
                    <a:latin typeface="Arial"/>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the algorithm conclude?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3E09890-3168-E32E-1D7B-91ED2DDD067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matching a source point to a single target point, match it to the nearest target </a:t>
                </a:r>
                <a:r>
                  <a:rPr lang="en-US" sz="2000" b="1" dirty="0">
                    <a:latin typeface="Arial"/>
                    <a:ea typeface="Arial"/>
                    <a:cs typeface="Arial"/>
                    <a:sym typeface="Arial"/>
                  </a:rPr>
                  <a:t>LINE</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(perpendicular to the near wall)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Only the component of the error </a:t>
                </a:r>
                <a:r>
                  <a:rPr lang="en-US" sz="2000" b="1" dirty="0">
                    <a:latin typeface="Arial"/>
                    <a:ea typeface="Arial"/>
                    <a:cs typeface="Arial"/>
                    <a:sym typeface="Arial"/>
                  </a:rPr>
                  <a:t>PERPENDICULAR</a:t>
                </a:r>
                <a:r>
                  <a:rPr lang="en-US" sz="2000" dirty="0">
                    <a:latin typeface="Arial"/>
                    <a:ea typeface="Arial"/>
                    <a:cs typeface="Arial"/>
                    <a:sym typeface="Arial"/>
                  </a:rPr>
                  <a:t> to the wall is penalized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rial"/>
                    <a:ea typeface="Arial"/>
                    <a:cs typeface="Arial"/>
                    <a:sym typeface="Arial"/>
                  </a:rPr>
                  <a:t>onto the surface normal nᵢ</a:t>
                </a:r>
              </a:p>
              <a:p>
                <a:pPr marL="342900">
                  <a:lnSpc>
                    <a:spcPct val="100000"/>
                  </a:lnSpc>
                  <a:spcBef>
                    <a:spcPts val="0"/>
                  </a:spcBef>
                  <a:buSzPts val="3000"/>
                </a:pPr>
                <a:r>
                  <a:rPr lang="en-US" sz="2000" dirty="0">
                    <a:latin typeface="Arial"/>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 you think this generalizes in 3D?</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rial"/>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rial"/>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rial"/>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3: Point-to-Plane 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rial"/>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rial"/>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rial"/>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rial"/>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rial"/>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rial"/>
                    <a:ea typeface="Arial"/>
                    <a:cs typeface="Arial"/>
                    <a:sym typeface="Arial"/>
                  </a:rPr>
                  <a:t> - we combine them into a weighting matrix</a:t>
                </a:r>
              </a:p>
              <a:p>
                <a:pPr marL="342900">
                  <a:lnSpc>
                    <a:spcPct val="100000"/>
                  </a:lnSpc>
                  <a:spcBef>
                    <a:spcPts val="0"/>
                  </a:spcBef>
                  <a:buSzPts val="3000"/>
                </a:pPr>
                <a:r>
                  <a:rPr lang="en-US" sz="2000" dirty="0">
                    <a:latin typeface="Arial"/>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rial"/>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minimize the “</a:t>
                </a:r>
                <a:r>
                  <a:rPr lang="en-US" sz="2000" dirty="0" err="1">
                    <a:latin typeface="Arial"/>
                    <a:ea typeface="Arial"/>
                    <a:cs typeface="Arial"/>
                    <a:sym typeface="Arial"/>
                  </a:rPr>
                  <a:t>Mahalanobis</a:t>
                </a:r>
                <a:r>
                  <a:rPr lang="en-US" sz="2000" dirty="0">
                    <a:latin typeface="Arial"/>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Throw away points, keep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rial"/>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Step 1</a:t>
            </a:r>
            <a:r>
              <a:rPr lang="en-US" sz="2000" dirty="0">
                <a:latin typeface="Arial"/>
                <a:ea typeface="Arial"/>
                <a:cs typeface="Arial"/>
                <a:sym typeface="Arial"/>
              </a:rPr>
              <a:t>: divide the target map into a regular 2D grid of voxels</a:t>
            </a:r>
          </a:p>
          <a:p>
            <a:pPr marL="342900">
              <a:lnSpc>
                <a:spcPct val="100000"/>
              </a:lnSpc>
              <a:spcBef>
                <a:spcPts val="0"/>
              </a:spcBef>
              <a:buSzPts val="3000"/>
            </a:pPr>
            <a:r>
              <a:rPr lang="en-US" sz="2000" b="1" dirty="0">
                <a:latin typeface="Arial"/>
                <a:ea typeface="Arial"/>
                <a:cs typeface="Arial"/>
                <a:sym typeface="Arial"/>
              </a:rPr>
              <a:t>Step 2</a:t>
            </a:r>
            <a:r>
              <a:rPr lang="en-US" sz="2000" dirty="0">
                <a:latin typeface="Arial"/>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rial"/>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rial"/>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that maximizes this score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Advantage: no neighbor search. </a:t>
                </a:r>
              </a:p>
              <a:p>
                <a:pPr marL="0" indent="0">
                  <a:lnSpc>
                    <a:spcPct val="100000"/>
                  </a:lnSpc>
                  <a:spcBef>
                    <a:spcPts val="0"/>
                  </a:spcBef>
                  <a:buSzPts val="3000"/>
                  <a:buNone/>
                </a:pPr>
                <a:r>
                  <a:rPr lang="en-US" sz="2000" dirty="0">
                    <a:latin typeface="Arial"/>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Cartographer (2D indoor) uses ICP-style. </a:t>
            </a:r>
            <a:r>
              <a:rPr lang="en-US" sz="2000" dirty="0" err="1">
                <a:latin typeface="Arial"/>
                <a:ea typeface="Arial"/>
                <a:cs typeface="Arial"/>
                <a:sym typeface="Arial"/>
              </a:rPr>
              <a:t>Autoware</a:t>
            </a:r>
            <a:r>
              <a:rPr lang="en-US" sz="2000" dirty="0">
                <a:latin typeface="Arial"/>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NDT vs ICP - when to use which</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rial"/>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rial"/>
                <a:ea typeface="Arial"/>
                <a:cs typeface="Arial"/>
                <a:sym typeface="Arial"/>
              </a:rPr>
              <a:t>perceptual aliasing, unknown rotation / translation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initial guess errors (&gt;30°)</a:t>
            </a:r>
          </a:p>
          <a:p>
            <a:pPr marL="342900">
              <a:lnSpc>
                <a:spcPct val="100000"/>
              </a:lnSpc>
              <a:spcBef>
                <a:spcPts val="0"/>
              </a:spcBef>
              <a:buSzPts val="3000"/>
            </a:pPr>
            <a:r>
              <a:rPr lang="en-US" sz="2000" dirty="0">
                <a:latin typeface="Arial"/>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Dynamic environments with moving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Glass, mirrors, and retroreflectors</a:t>
            </a:r>
          </a:p>
          <a:p>
            <a:pPr marL="342900">
              <a:lnSpc>
                <a:spcPct val="100000"/>
              </a:lnSpc>
              <a:spcBef>
                <a:spcPts val="0"/>
              </a:spcBef>
              <a:buSzPts val="3000"/>
            </a:pPr>
            <a:r>
              <a:rPr lang="en-US" sz="2000" dirty="0">
                <a:latin typeface="Arial"/>
                <a:ea typeface="Arial"/>
                <a:cs typeface="Arial"/>
                <a:sym typeface="Arial"/>
              </a:rPr>
              <a:t>The LiDAR returns the wrong values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 Family Failure Modes - What Still Breaks</a:t>
            </a:r>
          </a:p>
        </p:txBody>
      </p:sp>
      <p:pic>
        <p:nvPicPr>
          <p:cNvPr id="121" name="Google Shape;121;p29">
            <a:extLs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Monte Carlo estimates</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1095</TotalTime>
  <Words>4766</Words>
  <Application>Microsoft Office PowerPoint</Application>
  <PresentationFormat>Widescreen</PresentationFormat>
  <Paragraphs>664</Paragraphs>
  <Slides>68</Slides>
  <Notes>68</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68</vt:i4>
      </vt:variant>
    </vt:vector>
  </HeadingPairs>
  <TitlesOfParts>
    <vt:vector size="73"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470</cp:revision>
  <dcterms:created xsi:type="dcterms:W3CDTF">2019-01-14T22:06:33Z</dcterms:created>
  <dcterms:modified xsi:type="dcterms:W3CDTF">2026-04-20T14:59:07Z</dcterms:modified>
</cp:coreProperties>
</file>