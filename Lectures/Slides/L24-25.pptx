
<file path=[Content_Types].xml><?xml version="1.0" encoding="utf-8"?>
<Types xmlns="http://schemas.openxmlformats.org/package/2006/content-types">
  <Default Extension="jpeg" ContentType="image/jpeg"/>
  <Default Extension="jpg" ContentType="image/jpeg"/>
  <Default Extension="png" ContentType="image/png"/>
  <Default Extension="ppm"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13"/>
  </p:notesMasterIdLst>
  <p:sldIdLst>
    <p:sldId id="256" r:id="rId2"/>
    <p:sldId id="417" r:id="rId3"/>
    <p:sldId id="413" r:id="rId4"/>
    <p:sldId id="272" r:id="rId5"/>
    <p:sldId id="490" r:id="rId6"/>
    <p:sldId id="491" r:id="rId7"/>
    <p:sldId id="504" r:id="rId8"/>
    <p:sldId id="493" r:id="rId9"/>
    <p:sldId id="494" r:id="rId10"/>
    <p:sldId id="495" r:id="rId11"/>
    <p:sldId id="496" r:id="rId12"/>
    <p:sldId id="497" r:id="rId13"/>
    <p:sldId id="498" r:id="rId14"/>
    <p:sldId id="499" r:id="rId15"/>
    <p:sldId id="500" r:id="rId16"/>
    <p:sldId id="501" r:id="rId17"/>
    <p:sldId id="502" r:id="rId18"/>
    <p:sldId id="503" r:id="rId19"/>
    <p:sldId id="448" r:id="rId20"/>
    <p:sldId id="505" r:id="rId21"/>
    <p:sldId id="506" r:id="rId22"/>
    <p:sldId id="507" r:id="rId23"/>
    <p:sldId id="509" r:id="rId24"/>
    <p:sldId id="508" r:id="rId25"/>
    <p:sldId id="510" r:id="rId26"/>
    <p:sldId id="511" r:id="rId27"/>
    <p:sldId id="512" r:id="rId28"/>
    <p:sldId id="513" r:id="rId29"/>
    <p:sldId id="514" r:id="rId30"/>
    <p:sldId id="515" r:id="rId31"/>
    <p:sldId id="516" r:id="rId32"/>
    <p:sldId id="525" r:id="rId33"/>
    <p:sldId id="517" r:id="rId34"/>
    <p:sldId id="520" r:id="rId35"/>
    <p:sldId id="519" r:id="rId36"/>
    <p:sldId id="521" r:id="rId37"/>
    <p:sldId id="522" r:id="rId38"/>
    <p:sldId id="523" r:id="rId39"/>
    <p:sldId id="524" r:id="rId40"/>
    <p:sldId id="518" r:id="rId41"/>
    <p:sldId id="526" r:id="rId42"/>
    <p:sldId id="527" r:id="rId43"/>
    <p:sldId id="528" r:id="rId44"/>
    <p:sldId id="529" r:id="rId45"/>
    <p:sldId id="530" r:id="rId46"/>
    <p:sldId id="531" r:id="rId47"/>
    <p:sldId id="532" r:id="rId48"/>
    <p:sldId id="533" r:id="rId49"/>
    <p:sldId id="534" r:id="rId50"/>
    <p:sldId id="552" r:id="rId51"/>
    <p:sldId id="535" r:id="rId52"/>
    <p:sldId id="536" r:id="rId53"/>
    <p:sldId id="537" r:id="rId54"/>
    <p:sldId id="538" r:id="rId55"/>
    <p:sldId id="539" r:id="rId56"/>
    <p:sldId id="540" r:id="rId57"/>
    <p:sldId id="541" r:id="rId58"/>
    <p:sldId id="542" r:id="rId59"/>
    <p:sldId id="545" r:id="rId60"/>
    <p:sldId id="546" r:id="rId61"/>
    <p:sldId id="547" r:id="rId62"/>
    <p:sldId id="548" r:id="rId63"/>
    <p:sldId id="549" r:id="rId64"/>
    <p:sldId id="543" r:id="rId65"/>
    <p:sldId id="550" r:id="rId66"/>
    <p:sldId id="551" r:id="rId67"/>
    <p:sldId id="554" r:id="rId68"/>
    <p:sldId id="555" r:id="rId69"/>
    <p:sldId id="556" r:id="rId70"/>
    <p:sldId id="557" r:id="rId71"/>
    <p:sldId id="565" r:id="rId72"/>
    <p:sldId id="558" r:id="rId73"/>
    <p:sldId id="559" r:id="rId74"/>
    <p:sldId id="560" r:id="rId75"/>
    <p:sldId id="561" r:id="rId76"/>
    <p:sldId id="562" r:id="rId77"/>
    <p:sldId id="563" r:id="rId78"/>
    <p:sldId id="564" r:id="rId79"/>
    <p:sldId id="566" r:id="rId80"/>
    <p:sldId id="567" r:id="rId81"/>
    <p:sldId id="568" r:id="rId82"/>
    <p:sldId id="569" r:id="rId83"/>
    <p:sldId id="570" r:id="rId84"/>
    <p:sldId id="571" r:id="rId85"/>
    <p:sldId id="572" r:id="rId86"/>
    <p:sldId id="573" r:id="rId87"/>
    <p:sldId id="574" r:id="rId88"/>
    <p:sldId id="576" r:id="rId89"/>
    <p:sldId id="575" r:id="rId90"/>
    <p:sldId id="577" r:id="rId91"/>
    <p:sldId id="578" r:id="rId92"/>
    <p:sldId id="580" r:id="rId93"/>
    <p:sldId id="579" r:id="rId94"/>
    <p:sldId id="581" r:id="rId95"/>
    <p:sldId id="582" r:id="rId96"/>
    <p:sldId id="583" r:id="rId97"/>
    <p:sldId id="584" r:id="rId98"/>
    <p:sldId id="585" r:id="rId99"/>
    <p:sldId id="586" r:id="rId100"/>
    <p:sldId id="587" r:id="rId101"/>
    <p:sldId id="588" r:id="rId102"/>
    <p:sldId id="589" r:id="rId103"/>
    <p:sldId id="590" r:id="rId104"/>
    <p:sldId id="591" r:id="rId105"/>
    <p:sldId id="592" r:id="rId106"/>
    <p:sldId id="594" r:id="rId107"/>
    <p:sldId id="593" r:id="rId108"/>
    <p:sldId id="595" r:id="rId109"/>
    <p:sldId id="596" r:id="rId110"/>
    <p:sldId id="271" r:id="rId111"/>
    <p:sldId id="270" r:id="rId11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14"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294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46" d="100"/>
          <a:sy n="146" d="100"/>
        </p:scale>
        <p:origin x="120"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theme" Target="theme/theme1.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notesMaster" Target="notesMasters/notesMaster1.xml"/><Relationship Id="rId118" Type="http://schemas.openxmlformats.org/officeDocument/2006/relationships/tableStyles" Target="tableStyle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customschemas.google.com/relationships/presentationmetadata" Target="meta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7775F6B-CE92-7D76-29DC-9332AC216B3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8C68E78-8FB9-D179-E67F-8BC1A11681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AF400A-C3AA-286D-B44E-E7661705A5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598892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1DB8CD-CCC3-3A06-A22B-BD6B890F48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4E36DF-6192-8DCC-19BC-E6AE3E9948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125E41-DD09-9DB9-3A77-807156511B0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795822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A97959B-636F-5C4B-5E5A-D07721A1A3D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66845E92-E64E-EA32-32F5-0EFABC79CAE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B49D3F8-7FD8-986D-661A-0D92EC6259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29337078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A0B213-FE4A-2238-5A85-94EF74759E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434ABA4-F021-A783-B3C7-C269EB4F296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A499193-6FC3-ED10-BCFA-E839E224EF2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898473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4CE519-4969-4FF8-F623-F29D7DC3353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891BC59-E70D-29F0-70F2-39AB3FD1673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218C2E-AEFD-9BC7-BF7F-826177334B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078838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D25046-CA84-D8D8-70B1-8C765FB5B9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47AACE-F312-1FC0-70D9-63C3AB22C1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DAFA1D-2B0E-ABAA-81D3-DA5069BBF9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344450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252218-79DB-6584-B0A7-0432111A988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129514-A96F-FE09-1457-01B14A6CB72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0EA40D-477D-6923-70EC-8E618F1484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77919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38904C1-1E09-9D51-92CB-8020E8F32C5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D03396-424C-2915-29D8-E47F24CD1D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4F06D8-9D4F-85E7-0C19-40008CBD9C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922630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95A0524-AF7F-4230-4568-4722F99884C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756D4B-1394-A30A-8543-3212A26BDE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68CBC4-214E-53FD-7609-AE131161E0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191206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BED1C3-CE37-0EFF-5EB4-E4070B7D13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04F8A5-CE2A-899C-B989-783BACD747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F30AEA-AA9B-38D4-E019-180549B098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919275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C47FD34-7F0E-2FC3-788E-22097A74D8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ED5DA1-F744-825D-834D-7A3800EBD1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019EE58-B914-FCD0-917F-1EF5B0B116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802042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B0B47ED-387B-B1B9-1F89-07BE5D55D82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2CD893-2D34-2E5E-A7BC-E4DBDAC041A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02B993-D21E-7974-E5E0-0C3AE6741E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21890330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39936E-7A8B-07EE-F46C-97E6996BEE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049A0B-D369-1F14-FF15-73A7DE3F3D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5C935B2-F837-1A8D-F907-2E4DEA0EED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915810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DBD518-ED97-9618-7C7F-7913C5F8FC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4E6985-F1BF-7DB3-F584-BBD954B6FA7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86C997-A80F-44E4-92DB-BED12B0B39A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353642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2387BB5-959C-E478-3DAD-4D83499245BE}"/>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600C003-0471-BBF4-154A-4FFB21E8B6B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B1C2EF8-7E9F-D5BE-130C-783EC11C60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1399285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F8E61F2-BD1D-AD62-E214-F0C3250E83B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D562E57-C915-9CC6-03F3-51817AE313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5B81430-C93B-91DC-336D-883839C6CF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450785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F82566-68DA-C442-B38E-BED4E04E8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7D3C95-8AFA-6D5E-1669-BCC4F32E1F1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3393AB3-B3DF-AEE9-D9F1-7C01912013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6522146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5E6374-746D-10C1-E8D9-63F71796BD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C62AD8-840E-52E4-37D0-7FF2B00E10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BEDC62A-7940-7037-45D6-954BC708BF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655351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355669-EB16-0D1A-A57C-16F2667EE4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69D2F24-657B-1DAA-450C-0122225BCE9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273792-0E94-F5DE-A1C8-1140D379521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956329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6BDCC3B-782B-7862-56F5-DACDF7D3B5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737731-AAAC-3813-057C-1C654264E07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DFA6CE-ED13-FE7B-2167-B9D59492641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897983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61A084-E9EC-2754-E2AE-A42B4D3D36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2BBD9B1-B16E-4243-0D27-E5C73EEE0E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E05557-8266-BFF3-60F2-8C848DAE21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089066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C88B523-41FD-B9A3-2E38-E37CA90ADE0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771FFF6-73B3-07A6-5A76-C6E77043982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11B482F-AD19-A0DE-A369-43B187F733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78469694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55C159-2F27-0E84-FC20-B0ADA2997D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9BB84A-54A5-BA95-40EC-8148B351BD6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18EEBD5-24A3-CCC9-83C0-4CD8C6167A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895588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B25EA8C-8B0A-8186-F974-7A6CB5F9BE7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2D7F00-B86A-0F70-7E23-87255B814B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F9A4D6B-E66C-793A-1E31-6AFAF3EAB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042157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7539E70-7DC1-63AB-E2C0-9E34114D88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FBD8C7-C472-7BE3-8461-10E962CBD4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59E0EA-1B2C-B356-F1EF-E67CDCA1DF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7087879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DFD48A-C901-CFBA-20C6-8157C67E06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D45D09-9B0E-0F8A-C91B-2F9DFE2999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721FBAB-D490-2972-1936-720E4F2556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403216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0B769F-D7DA-19BD-1597-DAC3FEDE37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2F9F79-DE1C-9FBB-2661-0EB2D371B9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B239D3-2E44-22D7-5CFA-578429B6C6C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001457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32626CE-7521-ECF7-0A26-885144CF68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742070F-6669-6B56-39C8-531D9001DA4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4B41526-943B-36BC-9AF8-D08DD4ADF2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7760010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95026F-9C15-E3DA-9165-F280126ADD3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8F6A77-7198-6E75-3560-7EE6286066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D9472B9-D46E-FB09-BF18-EEE8B876C9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6112718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A3506B-2C83-725E-DC8E-70DF5441C6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05F423-988D-36E9-854B-15EA5D548A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9111F6-AEBC-92BB-7B69-0C94D967E72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122763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1D1D44-919A-710C-92F7-EBC5494938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7721BC-C952-5A53-2E42-628994552B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39807A-A68D-942E-C4B8-16858FC6E6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869714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F04D433-3B87-FC9A-F8B8-B0B3EC8A18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031B43-D83F-8D8B-0D7A-2D0DBCE452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438C143-E5EE-0D4E-C818-B7A8CB0DF73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3110780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336F1A-6E89-CCFD-EC34-CC27F5E271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DABE72-C7DA-9585-C98E-D9B4FAC204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4E7693-A9FF-37A2-95DE-02AA0EA4BA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5554266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69D5FA-A72E-6827-15FD-57E6116592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8B3BBF-D3EF-238C-905C-79050BA2FE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BE39FFB-A19A-DFA5-C1F7-27E1F61B39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6088246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2C721F-7AF9-969C-F455-0CF86C5EC7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F71400-74C2-CFF2-EA11-FDE667BF482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512BD29-DDA0-3951-F650-B0029B0703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2858198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E62010-A1E5-99FE-109D-CCACAA705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1AFC9C-803D-C324-E11E-AD9727E90E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476E856-537F-207A-3DE5-35D8B7F19A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9525046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782878-7FFD-F45A-C7A5-107FC41585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2F6684-1C99-3979-FC0A-F722100475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3ABEAAC-F713-7E15-D5AF-052632D34D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4941700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FF627FE-B07B-1129-A9C1-2E7AF65AEA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1A13A7-62E2-5AC6-344C-9400057A6F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60781E-1BF1-324E-7C47-3EC96DE50F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6029353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C7D19C-CC68-7518-6504-3271B440209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D2415A-885E-1426-6EE8-A57F09E130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107BE08-4A8E-900F-F71B-0033BEA6CE1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5177688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779595-936C-D346-A014-DA6886360A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B913018-0614-508B-911C-0A86CD29C6F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C5785-C90B-9198-08C3-3460E85351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420426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BEFD835-0BF4-606D-CA93-C63A870DFBA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8B7B25-8167-92F8-3C46-34F3B040921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7994944-0C8C-7BB1-1D01-B6A79E3685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3227868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0CE889C-A7BB-03AB-FBC1-0FA185C535A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53BF8F0-C611-3A4A-3BC3-E7FD64E3E77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6CB2F0A-B105-CF97-8BA9-A1782E2DAD6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4470156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486E9F9-BD7C-27AD-76CC-B17C73BEC2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5902D5-0B54-3E87-20CE-2BE1BE1423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0CBA19-1B5D-4C1F-A97B-81AE72742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1685547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427534-DFFD-538A-5EC2-6D44900267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0BD75BB-4130-43F9-0292-489E71C5FD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D88D8C-DA6D-B1D5-B6F5-18139F3092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08650913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BCC78F0-A3D3-D1FE-D645-8804FD11EF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B33F3E7-2340-DDB0-B31B-983732630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1B1B1B-A736-00A3-A8EC-7FA4863840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675070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BCC78F0-A3D3-D1FE-D645-8804FD11EF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B33F3E7-2340-DDB0-B31B-983732630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1B1B1B-A736-00A3-A8EC-7FA4863840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0297665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5EF9BA-8FAA-33A2-C7B9-BAA5B8DEAB0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084EEF-F14E-C525-B694-2F6E3CA7751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0A3986-7730-1F3B-FD4B-AE3CBB9B2B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3289848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0745AB0-B20D-FD80-F7FB-C98EC5F6790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8FADE9-F9E3-623F-4295-3B6FD22B46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8F0DE3A-A209-59C4-8F35-F724C0C106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116747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B69666-A0D0-D832-4110-F4AAC623C5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B99A5C4-E918-D3DB-7358-FAE81B7A1F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B1FF5D8-C375-A4CB-B48C-A5293035436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5305803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D9E9C2-2856-F995-BE74-265A1E1A94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73DD0A-B72B-1951-14B6-9A97A7C7C9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AF74A69-89D6-9C0B-BE99-D30BA77A10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3603366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C1BBB3-452B-1BE8-EF0F-A79FF3A2E3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533A07-0675-F3DC-60E6-88721780FFE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5A31A3-868D-F870-E2C4-B64FB33B03B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2997647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18D92A-B26C-FA05-9660-87C478ED46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F8C282-DF5C-E971-D016-AF8322C380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F8A1F35-1BF6-4185-BB49-33F07EECD4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8654032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BA9FCD-D2A4-C43C-936C-7731FA2F984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3FA7F6B-4C18-4272-E09A-E061DBD0D2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176EF2F-2D9B-6DAD-97AE-F8AEEE3E39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032841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8704E0-CB78-725C-95BE-C1CEA28975D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D52CF3-C888-8986-9968-65E4237EA6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9321D8D-8FEB-9881-66BB-1F5BD8CCD8A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7399840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C1F833-ADAA-8362-3907-5F388650B54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24ACD5-7146-B841-E77E-AC626A4149D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B5353D2-0367-3BD7-AFB3-9A24C03A59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4029002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52AF54-323F-2567-3F3F-F9FB85D9FBE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F47B69-0DC1-CB6E-AEFC-141B720D5F3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4B4752-EA83-4852-E8DD-375A30B2033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4716937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91EAB3-FB32-86DC-86D7-2A7C5482CD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70F5EC-EB2A-1EE4-3CCC-EC5A077D5E4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D9D269-91A0-8551-0F98-4405AB9363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327273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028594-DE1D-287B-13F5-6934087E7A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6D90A5-CF35-4AA4-81DC-B398AF16672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F7AF8FB-DC8C-5898-7483-7CE2C358EE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5126827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C67749-6B32-61C5-AEA0-0322A6DCA9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436246-6698-B11A-2CCB-465F1A2F5F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2B8D328-86ED-022E-DA5F-2B59F684B3E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2882053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648954E-9114-C4A5-9116-C6BE792043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F57043-5D29-9D11-744B-8C507A22B8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27A3E6-D9DA-2FA7-F9D9-21FF4DCE10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8718357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A54368-69BA-1200-7500-16D4BAD5FD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6B9C85-F539-3BFC-DEDD-A121927B54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7B0007E-156D-1A2A-1D05-4F4577C52D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193648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49A4048-2ADB-9B52-7708-951C0BBFE221}"/>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69558EF-EE16-15CE-C5F5-87D910C7FB9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CFF00BF2-E49A-BE50-81BF-783C6568843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55594258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7078AA-9B40-86EB-1911-98B326B9B9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901656-8832-3B6F-280B-900528F641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6BC22C-F992-9FA4-9430-E14AEF0848A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3738374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9854A5-1D92-DBB7-9216-A4E7D784A4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47B5A38-3033-2F13-9ADD-4CF4CE19D9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03071B6-6902-E550-2800-4C6BE2EAC5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0368206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AB3D920-FC95-EA82-744F-729ED5C3E7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DD9EB1-F860-2FE4-5B3F-9F76050B0D7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A17D045-68AA-15CD-4106-5F0E586D71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830189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9330A9-9030-7E33-058C-D681E9A08D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075BEBF-E905-B3BE-6555-9FFEAB700C4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770B138-AECD-8911-FC5B-B412AE7344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218659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F3E663-800F-4E12-5615-E2EC7492D4E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2A5A01-D427-0409-7CF4-3A51589EB2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D03B31-B524-9A23-A842-BB11EAD88C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1469107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63B06D-166B-C3BF-FB66-4C91F80E86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1125EF-ABB1-198D-26F8-0E7BA618B22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CE485DA-5784-16E4-BA1A-B363DFF3F0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589089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D417C97-C488-1A8C-E0B4-1A35A874D69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99CF1D-2BF9-C2BC-E763-D8FE877DC4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80E0EC-EB5D-275E-896D-503E413ED71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56608335"/>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30EF73-104E-6584-2A49-F07C5B3E92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A017EC-7F1D-827C-474F-4B36FE98BA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4018A4-EA97-60DA-EC80-4E17D3F357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6284002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E8AC47-D41F-41B1-3A0C-DFB233031E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FEC756-3A32-D1DF-C6B0-D534C0A4D3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9B1105-3853-0286-7364-BAB735ACE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2946902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814C1B0-BDE2-9764-330E-AF5FBEE5C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0745306-8720-2E34-3615-71E53B1CF3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ECA527-6352-E575-7FBD-582FDD182C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34649435"/>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617D04-578A-0D95-1DB4-732BBC6AE4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FE0439-6B51-F063-4C8A-E0EF8F5016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1E361BB-9749-5F01-9E37-E40452861A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8669286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48831D8-7BB9-E9BF-0B41-F1F71FBC6C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C9B9B1-4C22-3E38-E343-DF0A7A81517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492D333-F7E5-314A-FD3B-49A9645AD55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6464567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B0A712-4A48-F20B-2351-1464671BF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6C462C-084A-5AE5-2DF9-47A4E0B355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62AD0BC-77BC-5ECC-EE8E-EE7EE80001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3165432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1DEFB4-56E3-ED32-C949-B9BE7A20B95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6B190C-3060-6A70-F720-76CE45A116C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E9E0632-957E-BB79-53A6-1669A850C7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78427802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0B78B43-A3C0-93BE-E2EA-4BA1004438B2}"/>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7A6CF35B-74B2-D3CD-B3FB-FE83C7BB3BE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E908A4F0-8646-68A5-4A9A-F847776490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27753466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7E1C4C0-214D-C749-68F3-6434C50DCE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F2C35D-4B22-4B31-6D17-B4A6121A63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AA75C34-DB87-CC48-4797-6FC3772D83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5516032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D9D98C-101B-913C-DE81-0E8A00AC188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10E185-D409-7AD5-4907-7C7BD32952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3A70B7-388B-6033-3DDF-AC5505E96F8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80269836"/>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8DEF157-38FC-F674-D128-2EEC3C3DFF7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7EAF8AA-5E7D-76CD-411D-A05419FBB3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46F760-23BC-94E5-E522-AE06DA47A4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61179150"/>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653304-2F9D-0DD1-3E89-2558444F67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EE70BB5-B858-A444-58A5-413D6377077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D004C0-18AA-9E6E-EDDB-A8ECC221846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9217020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10A87-73D9-16FD-FA47-BE8778D8C8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9F22301-207B-B6AF-27B4-4648E89C8C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09842E-D014-09FD-5DDC-0DA2D43E78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20858644"/>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3EA8662-FC72-A59E-FDBD-9AE77FC1C3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5EF1F3-CB71-326F-8246-D9FDF610AB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040CE5-0458-76D7-7184-FF40CEB631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1164705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017AAC-A30B-7382-F23E-638749B7DA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FD4C3F-B1F4-8436-DA0D-E4657807F2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C77966A-B2FD-67CD-D03B-3618C79DCC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7799029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56F531F-3300-FD83-5AE6-A31886446E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5E28CA3-BBBC-9ED3-5635-D229C154361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527A82B-B8BF-AE91-F8CE-1A56786372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4911699"/>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466E16-837D-4B9F-407F-6E4BAAB0025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E68367-FD38-C880-BFE1-F609A99560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5B30A0-D3BE-2798-471F-0C947F8BD8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1007943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2D6B35-AD0B-17F5-ABFE-0E0755B627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2460EC-5D98-C3E4-0ED3-0A41998004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CD2FD47-E316-69B1-1E20-84A28DF300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95305169"/>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704F938-9B82-CAB6-73FA-1D270852DD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9E0990A-2798-DDFE-D214-FD20916ECFC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12E6343-1F52-1BE9-3E81-D6BB60FC5C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1559644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1EF55F-F613-DC6B-B9AB-28F7C937828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1F5F0E6-CE68-4ABC-EA75-0BF7DF3C2CB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76A33FE-33F6-83C5-E45A-ABA90407FE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325607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28B1A4-8EA8-CDBD-B73E-A53E5D0393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F228F4-4697-76A9-101D-2BA69F0BAA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AA8064-BEC2-7659-D560-E2B80FCEEE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74937425"/>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A996526-18B3-6188-ABF0-A35766A092D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38BA21-EED1-05CF-F392-0BA5615A114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9577493-B023-D37F-ABB5-EAA1719652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3907942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2F1175-4BBD-17E8-77CE-6639E819E8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B6ACD0-C32C-12D8-E9ED-3F9EAB07049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CF0B7FB-8CC2-AD3E-676A-41394A5D23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3237640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4D3E0C-511F-74D3-EDD2-9A7ED4DA3C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FF0EEB-A45E-E4CF-76BC-085AA8B2F1E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4ECCE1F-B02C-C7AC-F269-7328609286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99181558"/>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A368699-687D-CE0F-C743-7100CD42790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F9F429-350E-9079-AC54-F3CCC8665D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B2B40E8-D34F-9809-A0CA-8ED9BCB6A5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316414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644C9CC-E7BA-65A2-12AB-614A1C922D8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0674D6-01DB-081A-CE3E-45781922129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C7713D7-EE36-2799-23B4-92AF2131C9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09329260"/>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E1C40D9-91E1-656E-EACA-C89887379A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A8150B-431A-4ACB-44E2-0FE26C3B58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70FD4F-AD8B-FD36-A5DA-F9FC6F9C94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009028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83695A-A664-7FD2-36CE-04136453C6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6C91990-A2F0-E10C-419D-8B4FA6F03F4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0759DC-7813-10AB-793D-1939AB364C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9917661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50D207-ED2E-4A46-A08F-FC18F376A5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7CF99F-CC04-F250-38D2-9E4DE7139D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C40D0D-D6A4-62C0-3A61-61AF43FF218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318688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3AE0501-B143-0E65-89D5-9FEBCF72821C}"/>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D22F238D-89B8-B9C2-2E3E-87EB8C97D35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26BDD81-34D4-5FFE-78A8-52E67C49259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78600475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7C3F87-69B1-E9AF-5730-D9FB09A6DA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E6FE1A7-05AB-D1C9-3C38-36D4316841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0B27CAD-7F61-66A0-52D4-AD2DFEE673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9619827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DC6F8F-B12F-2588-F11D-9B9F67467A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9D0AB6-D453-84E2-48B3-B9CAD42B43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1E10FA4-A5B2-C353-3261-5BB80F543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1647297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2DE68E-E053-D28C-7092-6F107E2A3D4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5F6D97F-FA29-9FF6-0441-5209E8000CC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BD3A5C4-F1B6-6B1E-F82F-9DCF236C17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2666599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2C3AE6-22E3-FD7B-4E33-1B161BDA5F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534B87-98CE-B804-0B0F-EA814947E4B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F2EBE77-05FB-D54F-FD02-84F0B1E368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2224119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62D6CB5-20F2-437B-A491-285F7659258C}"/>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E3F020E1-4F16-DEFF-47BC-D48BF8F1143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691E716A-8648-E8F0-1950-F92DA93A43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70416463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B1092E2-E719-EA62-5AFB-3A5C1AFD72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C2B57E4-09F2-4EE2-FB5C-B24FB90DC68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509B6C-AF56-F2DA-5C13-C256790A3FE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3564916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8882365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txBody>
          <a:bodyPr/>
          <a:lstStyle/>
          <a:p>
            <a:endParaRPr lang="en-US"/>
          </a:p>
        </p:txBody>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5.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1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6.svg"/></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8.svg"/><Relationship Id="rId4" Type="http://schemas.openxmlformats.org/officeDocument/2006/relationships/image" Target="../media/image25.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280.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11.sv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notesSlide" Target="../notesSlides/notesSlide48.xml"/><Relationship Id="rId2" Type="http://schemas.openxmlformats.org/officeDocument/2006/relationships/slideLayout" Target="../slideLayouts/slideLayout2.xml"/><Relationship Id="rId1" Type="http://schemas.openxmlformats.org/officeDocument/2006/relationships/video" Target="https://www.youtube.com/embed/qsXhYjrJSG4?feature=oembed" TargetMode="External"/><Relationship Id="rId5" Type="http://schemas.openxmlformats.org/officeDocument/2006/relationships/image" Target="../media/image13.jpe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5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370.pn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svg"/></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xml"/><Relationship Id="rId4" Type="http://schemas.openxmlformats.org/officeDocument/2006/relationships/image" Target="../media/image18.sv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image" Target="../media/image19.svg"/><Relationship Id="rId4" Type="http://schemas.openxmlformats.org/officeDocument/2006/relationships/image" Target="../media/image260.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xml"/><Relationship Id="rId5" Type="http://schemas.openxmlformats.org/officeDocument/2006/relationships/image" Target="../media/image21.svg"/><Relationship Id="rId4" Type="http://schemas.openxmlformats.org/officeDocument/2006/relationships/image" Target="../media/image470.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22.sv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 Id="rId4" Type="http://schemas.openxmlformats.org/officeDocument/2006/relationships/image" Target="../media/image23.svg"/></Relationships>
</file>

<file path=ppt/slides/_rels/slide7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image" Target="../media/image24.svg"/></Relationships>
</file>

<file path=ppt/slides/_rels/slide7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4.xml"/><Relationship Id="rId1" Type="http://schemas.openxmlformats.org/officeDocument/2006/relationships/slideLayout" Target="../slideLayouts/slideLayout2.xml"/><Relationship Id="rId4" Type="http://schemas.openxmlformats.org/officeDocument/2006/relationships/image" Target="../media/image25.svg"/></Relationships>
</file>

<file path=ppt/slides/_rels/slide7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image" Target="../media/image26.svg"/></Relationships>
</file>

<file path=ppt/slides/_rels/slide7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image" Target="../media/image27.svg"/></Relationships>
</file>

<file path=ppt/slides/_rels/slide7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image" Target="../media/image29.svg"/></Relationships>
</file>

<file path=ppt/slides/_rels/slide7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image" Target="../media/image33.svg"/></Relationships>
</file>

<file path=ppt/slides/_rels/slide8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8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9.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svg"/></Relationships>
</file>

<file path=ppt/slides/_rels/slide9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image" Target="../media/image48.svg"/></Relationships>
</file>

<file path=ppt/slides/_rels/slide97.xml.rels><?xml version="1.0" encoding="UTF-8" standalone="yes"?>
<Relationships xmlns="http://schemas.openxmlformats.org/package/2006/relationships"><Relationship Id="rId3" Type="http://schemas.openxmlformats.org/officeDocument/2006/relationships/notesSlide" Target="../notesSlides/notesSlide97.xml"/><Relationship Id="rId2" Type="http://schemas.openxmlformats.org/officeDocument/2006/relationships/slideLayout" Target="../slideLayouts/slideLayout2.xml"/><Relationship Id="rId1" Type="http://schemas.openxmlformats.org/officeDocument/2006/relationships/video" Target="https://www.youtube.com/embed/L_1L8KSsZVs?feature=oembed" TargetMode="External"/><Relationship Id="rId5" Type="http://schemas.openxmlformats.org/officeDocument/2006/relationships/image" Target="../media/image49.jpeg"/><Relationship Id="rId4" Type="http://schemas.openxmlformats.org/officeDocument/2006/relationships/image" Target="../media/image3.png"/></Relationships>
</file>

<file path=ppt/slides/_rels/slide9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1.xml"/><Relationship Id="rId1" Type="http://schemas.openxmlformats.org/officeDocument/2006/relationships/slideLayout" Target="../slideLayouts/slideLayout2.xml"/><Relationship Id="rId6" Type="http://schemas.openxmlformats.org/officeDocument/2006/relationships/image" Target="../media/image52.ppm"/><Relationship Id="rId5" Type="http://schemas.openxmlformats.org/officeDocument/2006/relationships/image" Target="../media/image51.ppm"/><Relationship Id="rId4" Type="http://schemas.openxmlformats.org/officeDocument/2006/relationships/hyperlink" Target="https://link.springer.com/chapter/10.1007/978-3-030-20867-7_30" TargetMode="External"/></Relationships>
</file>

<file path=ppt/slides/_rels/slide10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0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6.xml"/><Relationship Id="rId1" Type="http://schemas.openxmlformats.org/officeDocument/2006/relationships/slideLayout" Target="../slideLayouts/slideLayout2.xml"/><Relationship Id="rId6" Type="http://schemas.openxmlformats.org/officeDocument/2006/relationships/hyperlink" Target="https://www.sciencedirect.com/science/article/pii/S1568494619302339" TargetMode="External"/><Relationship Id="rId5" Type="http://schemas.openxmlformats.org/officeDocument/2006/relationships/image" Target="../media/image54.jpg"/><Relationship Id="rId4" Type="http://schemas.openxmlformats.org/officeDocument/2006/relationships/image" Target="../media/image53.jpg"/></Relationships>
</file>

<file path=ppt/slides/_rels/slide10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0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1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11.xml.rels><?xml version="1.0" encoding="UTF-8" standalone="yes"?>
<Relationships xmlns="http://schemas.openxmlformats.org/package/2006/relationships"><Relationship Id="rId3" Type="http://schemas.openxmlformats.org/officeDocument/2006/relationships/image" Target="../media/image55.jpg"/><Relationship Id="rId2" Type="http://schemas.openxmlformats.org/officeDocument/2006/relationships/notesSlide" Target="../notesSlides/notesSlide111.xml"/><Relationship Id="rId1" Type="http://schemas.openxmlformats.org/officeDocument/2006/relationships/slideLayout" Target="../slideLayouts/slideLayout1.xml"/><Relationship Id="rId4" Type="http://schemas.openxmlformats.org/officeDocument/2006/relationships/image" Target="../media/image56.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24: SLAM, Simultaneous Localization and Mapping</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April </a:t>
            </a:r>
            <a:r>
              <a:rPr lang="en-US" sz="1800" dirty="0">
                <a:solidFill>
                  <a:schemeClr val="lt1"/>
                </a:solidFill>
              </a:rPr>
              <a:t>20</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questions.</a:t>
            </a:r>
          </a:p>
          <a:p>
            <a:pPr marL="0" indent="0">
              <a:lnSpc>
                <a:spcPct val="100000"/>
              </a:lnSpc>
              <a:spcBef>
                <a:spcPts val="0"/>
              </a:spcBef>
              <a:buSzPts val="3000"/>
              <a:buNone/>
            </a:pPr>
            <a:endParaRPr lang="en-US" sz="2400" dirty="0">
              <a:latin typeface="Arial"/>
              <a:ea typeface="Arial"/>
              <a:cs typeface="Arial"/>
              <a:sym typeface="Arial"/>
            </a:endParaRPr>
          </a:p>
          <a:p>
            <a:pPr marL="342900">
              <a:lnSpc>
                <a:spcPct val="100000"/>
              </a:lnSpc>
              <a:spcBef>
                <a:spcPts val="0"/>
              </a:spcBef>
              <a:buSzPts val="3000"/>
            </a:pPr>
            <a:r>
              <a:rPr lang="en-US" sz="2400" dirty="0">
                <a:solidFill>
                  <a:schemeClr val="dk1"/>
                </a:solidFill>
                <a:latin typeface="Arial"/>
                <a:ea typeface="Arial"/>
                <a:cs typeface="Arial"/>
                <a:sym typeface="Arial"/>
              </a:rPr>
              <a:t>How far are they in their personal project?</a:t>
            </a:r>
          </a:p>
          <a:p>
            <a:pPr marL="800100" lvl="1">
              <a:lnSpc>
                <a:spcPct val="100000"/>
              </a:lnSpc>
              <a:spcBef>
                <a:spcPts val="0"/>
              </a:spcBef>
              <a:buSzPts val="3000"/>
            </a:pPr>
            <a:r>
              <a:rPr lang="en-US" dirty="0">
                <a:latin typeface="Arial"/>
                <a:ea typeface="Arial"/>
                <a:cs typeface="Arial"/>
                <a:sym typeface="Arial"/>
              </a:rPr>
              <a:t>What has their biggest challenge been? (other than just having the time to work on it)</a:t>
            </a:r>
            <a:endParaRPr lang="en-US" dirty="0">
              <a:solidFill>
                <a:schemeClr val="dk1"/>
              </a:solidFill>
              <a:latin typeface="Arial"/>
              <a:ea typeface="Arial"/>
              <a:cs typeface="Arial"/>
              <a:sym typeface="Arial"/>
            </a:endParaRPr>
          </a:p>
          <a:p>
            <a:pPr marL="342900">
              <a:lnSpc>
                <a:spcPct val="100000"/>
              </a:lnSpc>
              <a:spcBef>
                <a:spcPts val="0"/>
              </a:spcBef>
              <a:buSzPts val="3000"/>
            </a:pPr>
            <a:r>
              <a:rPr lang="en-US" sz="2400" dirty="0">
                <a:latin typeface="Arial"/>
                <a:ea typeface="Arial"/>
                <a:cs typeface="Arial"/>
                <a:sym typeface="Arial"/>
              </a:rPr>
              <a:t>What is their plan for the final project?</a:t>
            </a:r>
          </a:p>
          <a:p>
            <a:pPr marL="800100" lvl="1">
              <a:lnSpc>
                <a:spcPct val="100000"/>
              </a:lnSpc>
              <a:spcBef>
                <a:spcPts val="0"/>
              </a:spcBef>
              <a:buSzPts val="3000"/>
            </a:pPr>
            <a:r>
              <a:rPr lang="en-US" dirty="0">
                <a:solidFill>
                  <a:schemeClr val="dk1"/>
                </a:solidFill>
                <a:latin typeface="Arial"/>
                <a:ea typeface="Arial"/>
                <a:cs typeface="Arial"/>
                <a:sym typeface="Arial"/>
              </a:rPr>
              <a:t>If you are talking to someone in the same group, talk to another group!</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endParaRPr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Finishing Lab 7 this week. This a 2-week lab! This is the final lab! Afterwards you will just be working on your final project in your teams.</a:t>
            </a: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Clr>
                <a:srgbClr val="000000"/>
              </a:buClr>
              <a:buSzPts val="3000"/>
              <a:defRPr/>
            </a:pPr>
            <a:r>
              <a:rPr lang="en-US" sz="1800" dirty="0">
                <a:latin typeface="Arial"/>
                <a:ea typeface="Arial"/>
                <a:cs typeface="Arial"/>
                <a:sym typeface="Arial"/>
              </a:rPr>
              <a:t>Remainder of </a:t>
            </a:r>
            <a:r>
              <a:rPr lang="en-US" sz="1800" dirty="0">
                <a:latin typeface="Arial"/>
                <a:ea typeface="Arial"/>
                <a:cs typeface="Arial"/>
                <a:sym typeface="Arial"/>
                <a:hlinkClick r:id="rId3"/>
              </a:rPr>
              <a:t>homework 5</a:t>
            </a:r>
            <a:r>
              <a:rPr lang="en-US" sz="1800" dirty="0">
                <a:latin typeface="Arial"/>
                <a:ea typeface="Arial"/>
                <a:cs typeface="Arial"/>
                <a:sym typeface="Arial"/>
              </a:rPr>
              <a:t> due on </a:t>
            </a:r>
            <a:r>
              <a:rPr lang="en-US" sz="1800" dirty="0" err="1">
                <a:latin typeface="Arial"/>
                <a:ea typeface="Arial"/>
                <a:cs typeface="Arial"/>
                <a:sym typeface="Arial"/>
              </a:rPr>
              <a:t>Gradescope</a:t>
            </a:r>
            <a:r>
              <a:rPr lang="en-US" sz="1800" dirty="0">
                <a:latin typeface="Arial"/>
                <a:ea typeface="Arial"/>
                <a:cs typeface="Arial"/>
                <a:sym typeface="Arial"/>
              </a:rPr>
              <a:t> on </a:t>
            </a:r>
            <a:r>
              <a:rPr lang="en-US" sz="1800" b="1" dirty="0">
                <a:latin typeface="Arial"/>
                <a:ea typeface="Arial"/>
                <a:cs typeface="Arial"/>
                <a:sym typeface="Arial"/>
              </a:rPr>
              <a:t>April 21, 5PM</a:t>
            </a:r>
            <a:endParaRPr kumimoji="0" lang="en-US" sz="1800" b="0" i="0" u="none" strike="noStrike" kern="0" cap="none" spc="0" normalizeH="0" baseline="0" noProof="0" dirty="0">
              <a:ln>
                <a:noFill/>
              </a:ln>
              <a:solidFill>
                <a:srgbClr val="000000"/>
              </a:solidFill>
              <a:effectLst/>
              <a:uLnTx/>
              <a:uFillTx/>
              <a:latin typeface="Arial"/>
              <a:ea typeface="Arial"/>
              <a:cs typeface="Arial"/>
              <a:sym typeface="Arial"/>
            </a:endParaRPr>
          </a:p>
          <a:p>
            <a:pPr marL="285750" marR="0" lvl="0" indent="-285750" algn="l" defTabSz="914400" rtl="0" eaLnBrk="1" fontAlgn="auto" latinLnBrk="0" hangingPunct="1">
              <a:lnSpc>
                <a:spcPct val="100000"/>
              </a:lnSpc>
              <a:spcBef>
                <a:spcPts val="0"/>
              </a:spcBef>
              <a:spcAft>
                <a:spcPts val="0"/>
              </a:spcAft>
              <a:buClr>
                <a:srgbClr val="000000"/>
              </a:buClr>
              <a:buSzPts val="3000"/>
              <a:buFont typeface="Arial"/>
              <a:buChar char="•"/>
              <a:tabLst/>
              <a:defRPr/>
            </a:pPr>
            <a:r>
              <a:rPr kumimoji="0" lang="en-US" sz="1800" b="0" i="0" u="none" strike="noStrike" kern="0" cap="none" spc="0" normalizeH="0" baseline="0" noProof="0" dirty="0">
                <a:ln>
                  <a:noFill/>
                </a:ln>
                <a:solidFill>
                  <a:srgbClr val="000000"/>
                </a:solidFill>
                <a:effectLst/>
                <a:uLnTx/>
                <a:uFillTx/>
                <a:latin typeface="Arial"/>
                <a:ea typeface="Arial"/>
                <a:cs typeface="Arial"/>
                <a:sym typeface="Arial"/>
              </a:rPr>
              <a:t>Next homework is primarily the </a:t>
            </a:r>
            <a:r>
              <a:rPr kumimoji="0" lang="en-US" sz="1800" b="1" i="0" u="none" strike="noStrike" kern="0" cap="none" spc="0" normalizeH="0" baseline="0" noProof="0" dirty="0">
                <a:ln>
                  <a:noFill/>
                </a:ln>
                <a:solidFill>
                  <a:srgbClr val="000000"/>
                </a:solidFill>
                <a:effectLst/>
                <a:uLnTx/>
                <a:uFillTx/>
                <a:latin typeface="Arial"/>
                <a:ea typeface="Arial"/>
                <a:cs typeface="Arial"/>
                <a:sym typeface="Arial"/>
              </a:rPr>
              <a:t>personal project </a:t>
            </a:r>
            <a:r>
              <a:rPr kumimoji="0" lang="en-US" sz="1800" b="0" i="0" u="none" strike="noStrike" kern="0" cap="none" spc="0" normalizeH="0" baseline="0" noProof="0" dirty="0">
                <a:ln>
                  <a:noFill/>
                </a:ln>
                <a:solidFill>
                  <a:srgbClr val="000000"/>
                </a:solidFill>
                <a:effectLst/>
                <a:uLnTx/>
                <a:uFillTx/>
                <a:latin typeface="Arial"/>
                <a:ea typeface="Arial"/>
                <a:cs typeface="Arial"/>
                <a:sym typeface="Arial"/>
              </a:rPr>
              <a:t>due on </a:t>
            </a:r>
            <a:r>
              <a:rPr kumimoji="0" lang="en-US" sz="1800" b="1" i="0" u="none" strike="noStrike" kern="0" cap="none" spc="0" normalizeH="0" baseline="0" noProof="0" dirty="0">
                <a:ln>
                  <a:noFill/>
                </a:ln>
                <a:solidFill>
                  <a:srgbClr val="000000"/>
                </a:solidFill>
                <a:effectLst/>
                <a:uLnTx/>
                <a:uFillTx/>
                <a:latin typeface="Arial"/>
                <a:ea typeface="Arial"/>
                <a:cs typeface="Arial"/>
                <a:sym typeface="Arial"/>
              </a:rPr>
              <a:t>April 22, 9AM</a:t>
            </a:r>
            <a:r>
              <a:rPr kumimoji="0" lang="en-US" sz="1800" b="0" i="0" u="none" strike="noStrike" kern="0" cap="none" spc="0" normalizeH="0" baseline="0" noProof="0" dirty="0">
                <a:ln>
                  <a:noFill/>
                </a:ln>
                <a:solidFill>
                  <a:srgbClr val="000000"/>
                </a:solidFill>
                <a:effectLst/>
                <a:uLnTx/>
                <a:uFillTx/>
                <a:latin typeface="Arial"/>
                <a:ea typeface="Arial"/>
                <a:cs typeface="Arial"/>
                <a:sym typeface="Arial"/>
              </a:rPr>
              <a:t>.</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1AEB17-F730-C197-F2E1-5FE0C31448D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742882-1466-02A4-B5CB-8CC2CFD2331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There are a couple of steps to understand SLAM, these will be split into 5 parts focused on 2D LiDAR SLAM (since that is the most important one for our robot):</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The robot turning on, in a completely unknown environment. Why is this hard?</a:t>
            </a:r>
          </a:p>
          <a:p>
            <a:pPr marL="342900">
              <a:lnSpc>
                <a:spcPct val="100000"/>
              </a:lnSpc>
              <a:spcBef>
                <a:spcPts val="0"/>
              </a:spcBef>
              <a:buSzPts val="3000"/>
            </a:pPr>
            <a:r>
              <a:rPr lang="en-US" sz="2200" dirty="0">
                <a:latin typeface="Arial"/>
                <a:ea typeface="Arial"/>
                <a:cs typeface="Arial"/>
                <a:sym typeface="Arial"/>
              </a:rPr>
              <a:t>Localization, “where am I?” (ICP)</a:t>
            </a:r>
          </a:p>
          <a:p>
            <a:pPr marL="342900">
              <a:lnSpc>
                <a:spcPct val="100000"/>
              </a:lnSpc>
              <a:spcBef>
                <a:spcPts val="0"/>
              </a:spcBef>
              <a:buSzPts val="3000"/>
            </a:pPr>
            <a:r>
              <a:rPr lang="en-US" sz="2200" dirty="0">
                <a:latin typeface="Arial"/>
                <a:ea typeface="Arial"/>
                <a:cs typeface="Arial"/>
                <a:sym typeface="Arial"/>
              </a:rPr>
              <a:t>Mapping, from the LiDAR, generate occupancy grids</a:t>
            </a:r>
          </a:p>
          <a:p>
            <a:pPr marL="342900">
              <a:lnSpc>
                <a:spcPct val="100000"/>
              </a:lnSpc>
              <a:spcBef>
                <a:spcPts val="0"/>
              </a:spcBef>
              <a:buSzPts val="3000"/>
            </a:pPr>
            <a:r>
              <a:rPr lang="en-US" sz="2200" dirty="0">
                <a:latin typeface="Arial"/>
                <a:ea typeface="Arial"/>
                <a:cs typeface="Arial"/>
                <a:sym typeface="Arial"/>
              </a:rPr>
              <a:t>The back-end, pose graphs, factor graphs, and loop closure</a:t>
            </a:r>
          </a:p>
          <a:p>
            <a:pPr marL="342900">
              <a:lnSpc>
                <a:spcPct val="100000"/>
              </a:lnSpc>
              <a:spcBef>
                <a:spcPts val="0"/>
              </a:spcBef>
              <a:buSzPts val="3000"/>
            </a:pPr>
            <a:r>
              <a:rPr lang="en-US" sz="2200" dirty="0">
                <a:latin typeface="Arial"/>
                <a:ea typeface="Arial"/>
                <a:cs typeface="Arial"/>
                <a:sym typeface="Arial"/>
              </a:rPr>
              <a:t>Real world situations, dynamic obstacles, ghost obstacles, robust SLAM</a:t>
            </a:r>
          </a:p>
        </p:txBody>
      </p:sp>
      <p:sp>
        <p:nvSpPr>
          <p:cNvPr id="119" name="Google Shape;119;p29">
            <a:extLst>
              <a:ext uri="{FF2B5EF4-FFF2-40B4-BE49-F238E27FC236}">
                <a16:creationId xmlns:a16="http://schemas.microsoft.com/office/drawing/2014/main" id="{D0DE98E0-6FFB-B178-E249-FD0F0ABECB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79D7D57-26B8-3084-EE6B-80D199195BC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67AEAB1-2EFF-EC1E-0981-321FA217337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CF0CBC-5F70-8C4A-0539-636AC71DE7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7E63FC-4E78-1BF4-8B3B-BAA5806FF5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99600F-676A-803F-C84C-0894315A10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DAE41B-BD7E-A52C-E3F7-D2BDEC5D92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BB39D8-8128-90A6-5910-F02A839B07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09294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5E7E3B-DC71-4742-4A46-5A077086FA7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1724871-B9CD-C122-6BF1-529AAD390C2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There will be multiple components that will be used in the SLAM:</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Wheel odometry:</a:t>
            </a:r>
          </a:p>
          <a:p>
            <a:pPr marL="800100" lvl="1">
              <a:lnSpc>
                <a:spcPct val="100000"/>
              </a:lnSpc>
              <a:spcBef>
                <a:spcPts val="0"/>
              </a:spcBef>
              <a:buSzPts val="3000"/>
            </a:pPr>
            <a:r>
              <a:rPr lang="en-US" sz="1800" dirty="0">
                <a:latin typeface="Arial"/>
                <a:ea typeface="Arial"/>
                <a:cs typeface="Arial"/>
                <a:sym typeface="Arial"/>
              </a:rPr>
              <a:t>Fast, low-latency, but drifts</a:t>
            </a:r>
          </a:p>
          <a:p>
            <a:pPr marL="342900">
              <a:lnSpc>
                <a:spcPct val="100000"/>
              </a:lnSpc>
              <a:spcBef>
                <a:spcPts val="0"/>
              </a:spcBef>
              <a:buSzPts val="3000"/>
            </a:pPr>
            <a:r>
              <a:rPr lang="en-US" sz="2200" dirty="0">
                <a:latin typeface="Arial"/>
                <a:ea typeface="Arial"/>
                <a:cs typeface="Arial"/>
                <a:sym typeface="Arial"/>
              </a:rPr>
              <a:t>2D LiDAR</a:t>
            </a:r>
          </a:p>
          <a:p>
            <a:pPr marL="800100" lvl="1">
              <a:lnSpc>
                <a:spcPct val="100000"/>
              </a:lnSpc>
              <a:spcBef>
                <a:spcPts val="0"/>
              </a:spcBef>
              <a:buSzPts val="3000"/>
            </a:pPr>
            <a:r>
              <a:rPr lang="en-US" sz="1800" dirty="0">
                <a:latin typeface="Arial"/>
                <a:ea typeface="Arial"/>
                <a:cs typeface="Arial"/>
                <a:sym typeface="Arial"/>
              </a:rPr>
              <a:t>High-resolution geometric ground truth, but it is only one slice of the world</a:t>
            </a:r>
          </a:p>
          <a:p>
            <a:pPr marL="342900">
              <a:lnSpc>
                <a:spcPct val="100000"/>
              </a:lnSpc>
              <a:spcBef>
                <a:spcPts val="0"/>
              </a:spcBef>
              <a:buSzPts val="3000"/>
            </a:pPr>
            <a:r>
              <a:rPr lang="en-US" sz="2200" dirty="0">
                <a:latin typeface="Arial"/>
                <a:ea typeface="Arial"/>
                <a:cs typeface="Arial"/>
                <a:sym typeface="Arial"/>
              </a:rPr>
              <a:t>The Front-End:</a:t>
            </a:r>
          </a:p>
          <a:p>
            <a:pPr marL="800100" lvl="1">
              <a:lnSpc>
                <a:spcPct val="100000"/>
              </a:lnSpc>
              <a:spcBef>
                <a:spcPts val="0"/>
              </a:spcBef>
              <a:buSzPts val="3000"/>
            </a:pPr>
            <a:r>
              <a:rPr lang="en-US" sz="1800" dirty="0">
                <a:latin typeface="Arial"/>
                <a:ea typeface="Arial"/>
                <a:cs typeface="Arial"/>
                <a:sym typeface="Arial"/>
              </a:rPr>
              <a:t>Converts the raw sequential scans into short-term motion estimates</a:t>
            </a:r>
          </a:p>
          <a:p>
            <a:pPr marL="342900">
              <a:lnSpc>
                <a:spcPct val="100000"/>
              </a:lnSpc>
              <a:spcBef>
                <a:spcPts val="0"/>
              </a:spcBef>
              <a:buSzPts val="3000"/>
            </a:pPr>
            <a:r>
              <a:rPr lang="en-US" sz="2200" dirty="0">
                <a:latin typeface="Arial"/>
                <a:ea typeface="Arial"/>
                <a:cs typeface="Arial"/>
                <a:sym typeface="Arial"/>
              </a:rPr>
              <a:t>The Back-End:</a:t>
            </a:r>
          </a:p>
          <a:p>
            <a:pPr marL="800100" lvl="1">
              <a:lnSpc>
                <a:spcPct val="100000"/>
              </a:lnSpc>
              <a:spcBef>
                <a:spcPts val="0"/>
              </a:spcBef>
              <a:buSzPts val="3000"/>
            </a:pPr>
            <a:r>
              <a:rPr lang="en-US" sz="1800" dirty="0">
                <a:latin typeface="Arial"/>
                <a:ea typeface="Arial"/>
                <a:cs typeface="Arial"/>
                <a:sym typeface="Arial"/>
              </a:rPr>
              <a:t>Optimizes the entire history when loops close (loop closure)</a:t>
            </a:r>
          </a:p>
          <a:p>
            <a:pPr marL="342900">
              <a:lnSpc>
                <a:spcPct val="100000"/>
              </a:lnSpc>
              <a:spcBef>
                <a:spcPts val="0"/>
              </a:spcBef>
              <a:buSzPts val="3000"/>
            </a:pPr>
            <a:r>
              <a:rPr lang="en-US" sz="2200" dirty="0">
                <a:latin typeface="Arial"/>
                <a:ea typeface="Arial"/>
                <a:cs typeface="Arial"/>
                <a:sym typeface="Arial"/>
              </a:rPr>
              <a:t>The Map:</a:t>
            </a:r>
          </a:p>
          <a:p>
            <a:pPr marL="800100" lvl="1">
              <a:lnSpc>
                <a:spcPct val="100000"/>
              </a:lnSpc>
              <a:spcBef>
                <a:spcPts val="0"/>
              </a:spcBef>
              <a:buSzPts val="3000"/>
            </a:pPr>
            <a:r>
              <a:rPr lang="en-US" sz="1800" dirty="0">
                <a:latin typeface="Arial"/>
                <a:ea typeface="Arial"/>
                <a:cs typeface="Arial"/>
                <a:sym typeface="Arial"/>
              </a:rPr>
              <a:t>A dynamic-aware model the planner can trust</a:t>
            </a:r>
          </a:p>
        </p:txBody>
      </p:sp>
      <p:sp>
        <p:nvSpPr>
          <p:cNvPr id="119" name="Google Shape;119;p29">
            <a:extLst>
              <a:ext uri="{FF2B5EF4-FFF2-40B4-BE49-F238E27FC236}">
                <a16:creationId xmlns:a16="http://schemas.microsoft.com/office/drawing/2014/main" id="{E95E899C-65BA-A082-1B0C-58ACEFA4A6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0F145BF-C683-8286-9147-71B19354117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7A61312-B511-7569-9C00-3C8B9C5CAF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85A2CB-9F46-82D1-6A72-19AA3F7812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7F03CE7-9A22-108B-FA3C-98DCF6E93B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AC639F-2AAA-D2B4-B552-15124895DD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135C6A-705A-D250-3247-F731516B16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FC0374-26AC-8B56-AA41-AF24660EB5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68236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8">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DA6931C0-FCFE-86DD-DFA5-1C0CA557F9B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A9D37BBD-044B-E061-B2AC-57425E51F334}"/>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5D3E79BC-35E8-8ADE-971E-0C47F2DECD0C}"/>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Robot startup</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944F161A-39FC-92AA-88F3-7ED934DF0FC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0ADA7A49-85A1-6DFB-40FC-613176529EF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08CE32F4-CF7C-5338-5D6A-3CD81FF179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0B854ACD-E9DF-82B4-3FD9-779EF852A5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5CA8CD6-481F-8E9D-B7D3-C03E7DED296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FE6185F-81F0-3BC7-EAA9-34E45B39D6E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33C6DB1D-D2F3-FA11-045B-69E8E4A2FCE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9D71201-F81B-1F32-070E-195D98C236A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5171740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401C5B-6E85-5B57-2B7A-13BE544BBE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110CAA4-F180-166B-E0F2-A437800E397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A mobile robot is powered on for the first time inside an unknown warehouse / location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is unknown?</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No map</a:t>
            </a:r>
          </a:p>
          <a:p>
            <a:pPr marL="342900">
              <a:lnSpc>
                <a:spcPct val="100000"/>
              </a:lnSpc>
              <a:spcBef>
                <a:spcPts val="0"/>
              </a:spcBef>
              <a:buSzPts val="3000"/>
            </a:pPr>
            <a:r>
              <a:rPr lang="en-US" sz="2200" dirty="0">
                <a:latin typeface="Arial"/>
                <a:ea typeface="Arial"/>
                <a:cs typeface="Arial"/>
                <a:sym typeface="Arial"/>
              </a:rPr>
              <a:t>No estimate of prior state (position)</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Only has sensor streams! The LiDAR, IMU, Odometry</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However, there are 2 questions that must be answered at every time-step to function properly and perform safe planning. What are they?</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Where am I right now? (Localization)</a:t>
            </a:r>
          </a:p>
          <a:p>
            <a:pPr marL="342900">
              <a:lnSpc>
                <a:spcPct val="100000"/>
              </a:lnSpc>
              <a:spcBef>
                <a:spcPts val="0"/>
              </a:spcBef>
              <a:buSzPts val="3000"/>
            </a:pPr>
            <a:r>
              <a:rPr lang="en-US" sz="2200" dirty="0">
                <a:latin typeface="Arial"/>
                <a:ea typeface="Arial"/>
                <a:cs typeface="Arial"/>
                <a:sym typeface="Arial"/>
              </a:rPr>
              <a:t>What does the world around me look like (Mapping)</a:t>
            </a:r>
          </a:p>
          <a:p>
            <a:pPr marL="342900">
              <a:lnSpc>
                <a:spcPct val="100000"/>
              </a:lnSpc>
              <a:spcBef>
                <a:spcPts val="0"/>
              </a:spcBef>
              <a:buSzPts val="3000"/>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4CC5AE70-3F9C-83A6-44AE-E62C910845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D8D57F1-E7DC-5DBF-93E0-9FF8C6AC43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C6F122D-F57F-86CD-0E9C-6E126823E4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245ED8-5FCF-ADF1-D35E-9AEF7108D0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817A609-1426-373B-6B56-3900C4F0F72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144DB35-0582-5E38-15BA-A6314F158FD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1CFB09-EE67-F2E5-00A3-FE54D69310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C43FFB2-8DC4-CDAA-7B4D-1DC2341F814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55788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09E2E88-687E-FA43-9FEA-89FF21DD6F0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3356AC-3826-9D7C-518E-D87CE517F03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For localization, why not just use GPS?</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50000"/>
              </a:lnSpc>
              <a:spcBef>
                <a:spcPts val="0"/>
              </a:spcBef>
              <a:buSzPts val="3000"/>
            </a:pPr>
            <a:r>
              <a:rPr lang="en-US" sz="2200" dirty="0">
                <a:latin typeface="Arial"/>
                <a:ea typeface="Arial"/>
                <a:cs typeface="Arial"/>
                <a:sym typeface="Arial"/>
              </a:rPr>
              <a:t>GPS needs line-of-sight to 4+ orbiting satellites, buildings block this completely</a:t>
            </a:r>
          </a:p>
          <a:p>
            <a:pPr marL="342900">
              <a:lnSpc>
                <a:spcPct val="150000"/>
              </a:lnSpc>
              <a:spcBef>
                <a:spcPts val="0"/>
              </a:spcBef>
              <a:buSzPts val="3000"/>
            </a:pPr>
            <a:r>
              <a:rPr lang="en-US" sz="2200" dirty="0">
                <a:latin typeface="Arial"/>
                <a:ea typeface="Arial"/>
                <a:cs typeface="Arial"/>
                <a:sym typeface="Arial"/>
              </a:rPr>
              <a:t>Civilian GPS accuracy is ~3-5 m, useless when aisles are 1.5 m wide</a:t>
            </a:r>
          </a:p>
          <a:p>
            <a:pPr marL="342900">
              <a:lnSpc>
                <a:spcPct val="150000"/>
              </a:lnSpc>
              <a:spcBef>
                <a:spcPts val="0"/>
              </a:spcBef>
              <a:buSzPts val="3000"/>
            </a:pPr>
            <a:r>
              <a:rPr lang="en-US" sz="2200" dirty="0">
                <a:latin typeface="Arial"/>
                <a:ea typeface="Arial"/>
                <a:cs typeface="Arial"/>
                <a:sym typeface="Arial"/>
              </a:rPr>
              <a:t>Underground environments (mines, subways, basements) receive zero signal</a:t>
            </a:r>
          </a:p>
          <a:p>
            <a:pPr marL="342900">
              <a:lnSpc>
                <a:spcPct val="150000"/>
              </a:lnSpc>
              <a:spcBef>
                <a:spcPts val="0"/>
              </a:spcBef>
              <a:buSzPts val="3000"/>
            </a:pPr>
            <a:r>
              <a:rPr lang="en-US" sz="2200" dirty="0">
                <a:latin typeface="Arial"/>
                <a:ea typeface="Arial"/>
                <a:cs typeface="Arial"/>
                <a:sym typeface="Arial"/>
              </a:rPr>
              <a:t>Indoor RTK and UWB beacons work, but require expensive pre-installed infrastructure</a:t>
            </a:r>
          </a:p>
        </p:txBody>
      </p:sp>
      <p:sp>
        <p:nvSpPr>
          <p:cNvPr id="119" name="Google Shape;119;p29">
            <a:extLst>
              <a:ext uri="{FF2B5EF4-FFF2-40B4-BE49-F238E27FC236}">
                <a16:creationId xmlns:a16="http://schemas.microsoft.com/office/drawing/2014/main" id="{283996E2-B153-97D3-190E-28F90129F96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3643D34-E0B5-62C8-BC30-3BB8B984BA9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73E4436-7822-C12B-EF4B-C2ECF41E59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E35C74-D448-627B-599A-C6A110E74B3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CD8687D-A146-FAF6-055F-979C3E51204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0C7F1D-5E32-AE0F-224E-990410072C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238480-537A-A0B9-2711-2F84438E90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B80BE0-1DFB-B890-651F-5EF5DB6994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628483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CAED12-86FE-4B9F-1263-A2D5AF2A566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643B538-7BD5-657B-6D07-B093BB68A18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For mapping why not just download a CAD model?</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CAD drawings model the specific intended structure; however, not what the actual room is like today!</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Furniture, people, tables, drift daily! Just think about this room!</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A single misplaced chair renders a pre-programmed path to be unsafe ( as you saw in lab adding an obstacle, we try to go point to point and even in the wall following sometimes it fails)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need a map that reflects reality now!</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When is it okay though to have a predefined map?</a:t>
            </a:r>
          </a:p>
        </p:txBody>
      </p:sp>
      <p:sp>
        <p:nvSpPr>
          <p:cNvPr id="119" name="Google Shape;119;p29">
            <a:extLst>
              <a:ext uri="{FF2B5EF4-FFF2-40B4-BE49-F238E27FC236}">
                <a16:creationId xmlns:a16="http://schemas.microsoft.com/office/drawing/2014/main" id="{A623B2AD-5499-800D-C2AB-CAF893B7C77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E026B94-4AB5-D82D-C0BF-C2E60DB7E8E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D9ED6D8-F670-6E6F-4922-332B16D119E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59F4CA-2754-7519-4D82-1AA159E4A7F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3A2A15-59FF-3779-37AC-902FAD3D18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231637-E559-11BA-4F59-1FC988F4E24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53853D-D5D0-AB77-7E90-4B9DC463F2E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F26F17-D2EE-4E07-8927-23770E62AA0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6655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17BB8D-791A-67EF-27BF-B56B1EC7622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7D29BDF-D223-D7A2-A0BA-CDAC06D24A8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SLAM, which stands for Simultaneous Localization and Mapping, tries to solve both at the same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There is a paradox though. Think about the chicken-and-egg trap…</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To build an accurate map you need to know your exact location at every scan</a:t>
            </a:r>
          </a:p>
          <a:p>
            <a:pPr marL="342900">
              <a:lnSpc>
                <a:spcPct val="100000"/>
              </a:lnSpc>
              <a:spcBef>
                <a:spcPts val="0"/>
              </a:spcBef>
              <a:buSzPts val="3000"/>
            </a:pPr>
            <a:r>
              <a:rPr lang="en-US" sz="2200" dirty="0">
                <a:latin typeface="Arial"/>
                <a:ea typeface="Arial"/>
                <a:cs typeface="Arial"/>
                <a:sym typeface="Arial"/>
              </a:rPr>
              <a:t>To know your exact location, you need an already-existing map to compare against!</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Classical robotics solves this separately; SLAM does both at the same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Every millisecond:</a:t>
            </a:r>
          </a:p>
          <a:p>
            <a:pPr marL="342900">
              <a:lnSpc>
                <a:spcPct val="100000"/>
              </a:lnSpc>
              <a:spcBef>
                <a:spcPts val="0"/>
              </a:spcBef>
              <a:buSzPts val="3000"/>
            </a:pPr>
            <a:r>
              <a:rPr lang="en-US" sz="2200" dirty="0">
                <a:latin typeface="Arial"/>
                <a:ea typeface="Arial"/>
                <a:cs typeface="Arial"/>
                <a:sym typeface="Arial"/>
              </a:rPr>
              <a:t>Estimate motion</a:t>
            </a:r>
          </a:p>
          <a:p>
            <a:pPr marL="342900">
              <a:lnSpc>
                <a:spcPct val="100000"/>
              </a:lnSpc>
              <a:spcBef>
                <a:spcPts val="0"/>
              </a:spcBef>
              <a:buSzPts val="3000"/>
            </a:pPr>
            <a:r>
              <a:rPr lang="en-US" sz="2200" dirty="0">
                <a:latin typeface="Arial"/>
                <a:ea typeface="Arial"/>
                <a:cs typeface="Arial"/>
                <a:sym typeface="Arial"/>
              </a:rPr>
              <a:t>Predict where the world should be</a:t>
            </a:r>
          </a:p>
          <a:p>
            <a:pPr marL="342900">
              <a:lnSpc>
                <a:spcPct val="100000"/>
              </a:lnSpc>
              <a:spcBef>
                <a:spcPts val="0"/>
              </a:spcBef>
              <a:buSzPts val="3000"/>
            </a:pPr>
            <a:r>
              <a:rPr lang="en-US" sz="2200" dirty="0">
                <a:latin typeface="Arial"/>
                <a:ea typeface="Arial"/>
                <a:cs typeface="Arial"/>
                <a:sym typeface="Arial"/>
              </a:rPr>
              <a:t>Refine both!</a:t>
            </a:r>
          </a:p>
          <a:p>
            <a:pPr marL="0" indent="0">
              <a:lnSpc>
                <a:spcPct val="100000"/>
              </a:lnSpc>
              <a:spcBef>
                <a:spcPts val="0"/>
              </a:spcBef>
              <a:buSzPts val="3000"/>
              <a:buNone/>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746439A4-678F-4F6F-E4BD-D8D496FD1C4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E509B39-335B-DB8F-4349-2B5ACBA5F6F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CF6040C-18CE-8D07-1389-E262F24B6C4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0367FF-79B1-4B9B-0318-838F95E0CD9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6FA39C9-3A8D-ABD5-F7C6-A4AC40C625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603DFFB-10AC-7D10-49D9-7A8EDE728F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0FC4E4-FFF7-A12D-FFE3-C86B72D9E4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45B20D-A0EE-6388-A046-A5865F0A145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340793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8101F5B-FEBA-F5A6-EEBA-5CF95F0E5C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7A68BF3-28EB-ECDA-1B51-207A48941E1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Essentially SLAM is trying to maximize the following probability:</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In a single iteration, which do you think that the robot actually updates first? It’s pose estimate or the map?</a:t>
            </a:r>
          </a:p>
        </p:txBody>
      </p:sp>
      <p:sp>
        <p:nvSpPr>
          <p:cNvPr id="119" name="Google Shape;119;p29">
            <a:extLst>
              <a:ext uri="{FF2B5EF4-FFF2-40B4-BE49-F238E27FC236}">
                <a16:creationId xmlns:a16="http://schemas.microsoft.com/office/drawing/2014/main" id="{46435FB5-6AF4-C321-3F7E-085F82E45D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6DFCE21-BE52-27A3-D818-764906915B3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052BAAA-28CA-91EC-B17F-2116CBED12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AE83D88-76FB-5738-855F-5457254270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64B27A-EE9E-D346-F451-C1546FD02A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3110B5-CB28-D22C-744A-7A6F71EE15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CCDF5B-D785-EAFF-3630-6278F577321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9344AA-0EBC-D457-6616-7102FD9AEF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10" name="Group 9">
            <a:extLst>
              <a:ext uri="{FF2B5EF4-FFF2-40B4-BE49-F238E27FC236}">
                <a16:creationId xmlns:a16="http://schemas.microsoft.com/office/drawing/2014/main" id="{1B07C535-9306-06DA-4D19-3397B4B2E1B3}"/>
              </a:ext>
            </a:extLst>
          </p:cNvPr>
          <p:cNvGrpSpPr/>
          <p:nvPr/>
        </p:nvGrpSpPr>
        <p:grpSpPr>
          <a:xfrm>
            <a:off x="1371752" y="2788920"/>
            <a:ext cx="9448495" cy="1280160"/>
            <a:chOff x="1371752" y="2471420"/>
            <a:chExt cx="9448495" cy="1280160"/>
          </a:xfrm>
        </p:grpSpPr>
        <p:sp>
          <p:nvSpPr>
            <p:cNvPr id="6" name="Shape 4">
              <a:extLst>
                <a:ext uri="{FF2B5EF4-FFF2-40B4-BE49-F238E27FC236}">
                  <a16:creationId xmlns:a16="http://schemas.microsoft.com/office/drawing/2014/main" id="{9191F805-4354-CC6C-43EC-E39B7B8DD20A}"/>
                </a:ext>
              </a:extLst>
            </p:cNvPr>
            <p:cNvSpPr/>
            <p:nvPr/>
          </p:nvSpPr>
          <p:spPr>
            <a:xfrm>
              <a:off x="1371752" y="2471420"/>
              <a:ext cx="9448495" cy="1280160"/>
            </a:xfrm>
            <a:prstGeom prst="rect">
              <a:avLst/>
            </a:prstGeom>
            <a:solidFill>
              <a:srgbClr val="FEF3C7"/>
            </a:solidFill>
            <a:ln w="12700">
              <a:solidFill>
                <a:srgbClr val="F59E0B"/>
              </a:solidFill>
              <a:prstDash val="solid"/>
            </a:ln>
          </p:spPr>
          <p:txBody>
            <a:bodyPr/>
            <a:lstStyle/>
            <a:p>
              <a:endParaRPr lang="en-US"/>
            </a:p>
          </p:txBody>
        </p:sp>
        <p:sp>
          <p:nvSpPr>
            <p:cNvPr id="7" name="Shape 5">
              <a:extLst>
                <a:ext uri="{FF2B5EF4-FFF2-40B4-BE49-F238E27FC236}">
                  <a16:creationId xmlns:a16="http://schemas.microsoft.com/office/drawing/2014/main" id="{C27BBE03-8400-AE28-1FAE-501E748803F7}"/>
                </a:ext>
              </a:extLst>
            </p:cNvPr>
            <p:cNvSpPr/>
            <p:nvPr/>
          </p:nvSpPr>
          <p:spPr>
            <a:xfrm>
              <a:off x="1371752" y="2471420"/>
              <a:ext cx="73152" cy="1280160"/>
            </a:xfrm>
            <a:prstGeom prst="rect">
              <a:avLst/>
            </a:prstGeom>
            <a:solidFill>
              <a:srgbClr val="F59E0B"/>
            </a:solidFill>
            <a:ln/>
          </p:spPr>
          <p:txBody>
            <a:bodyPr/>
            <a:lstStyle/>
            <a:p>
              <a:endParaRPr lang="en-US"/>
            </a:p>
          </p:txBody>
        </p:sp>
        <mc:AlternateContent xmlns:mc="http://schemas.openxmlformats.org/markup-compatibility/2006" xmlns:a14="http://schemas.microsoft.com/office/drawing/2010/main">
          <mc:Choice Requires="a14">
            <p:sp>
              <p:nvSpPr>
                <p:cNvPr id="8" name="Text 6">
                  <a:extLst>
                    <a:ext uri="{FF2B5EF4-FFF2-40B4-BE49-F238E27FC236}">
                      <a16:creationId xmlns:a16="http://schemas.microsoft.com/office/drawing/2014/main" id="{D0E2A134-5090-B89C-53E8-E4D3690A8AC7}"/>
                    </a:ext>
                  </a:extLst>
                </p:cNvPr>
                <p:cNvSpPr/>
                <p:nvPr/>
              </p:nvSpPr>
              <p:spPr>
                <a:xfrm>
                  <a:off x="1554632" y="25171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200" dirty="0">
                      <a:solidFill>
                        <a:srgbClr val="1E293B"/>
                      </a:solidFill>
                      <a:latin typeface="Consolas" pitchFamily="34" charset="0"/>
                      <a:ea typeface="Consolas" pitchFamily="34" charset="-122"/>
                      <a:cs typeface="Consolas" pitchFamily="34" charset="-120"/>
                    </a:rPr>
                    <a:t>maximize   </a:t>
                  </a:r>
                  <a14:m>
                    <m:oMath xmlns:m="http://schemas.openxmlformats.org/officeDocument/2006/math">
                      <m:r>
                        <a:rPr lang="en-US" sz="2200" b="0" i="1" smtClean="0">
                          <a:solidFill>
                            <a:srgbClr val="1E293B"/>
                          </a:solidFill>
                          <a:latin typeface="Cambria Math" panose="02040503050406030204" pitchFamily="18" charset="0"/>
                          <a:ea typeface="Consolas" pitchFamily="34" charset="-122"/>
                          <a:cs typeface="Consolas" pitchFamily="34" charset="-120"/>
                        </a:rPr>
                        <m:t>𝑃</m:t>
                      </m:r>
                      <m:d>
                        <m:dPr>
                          <m:sepChr m:val="∣"/>
                          <m:ctrlPr>
                            <a:rPr lang="en-US" sz="2200" b="0" i="1" smtClean="0">
                              <a:solidFill>
                                <a:srgbClr val="1E293B"/>
                              </a:solidFill>
                              <a:latin typeface="Cambria Math" panose="02040503050406030204" pitchFamily="18" charset="0"/>
                              <a:ea typeface="Consolas" pitchFamily="34" charset="-122"/>
                              <a:cs typeface="Consolas" pitchFamily="34" charset="-120"/>
                            </a:rPr>
                          </m:ctrlPr>
                        </m:dPr>
                        <m:e>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𝑥</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r>
                            <a:rPr lang="en-US" sz="2200" b="0" i="1" smtClean="0">
                              <a:solidFill>
                                <a:srgbClr val="1E293B"/>
                              </a:solidFill>
                              <a:latin typeface="Cambria Math" panose="02040503050406030204" pitchFamily="18" charset="0"/>
                              <a:ea typeface="Consolas" pitchFamily="34" charset="-122"/>
                              <a:cs typeface="Consolas" pitchFamily="34" charset="-120"/>
                            </a:rPr>
                            <m:t>,</m:t>
                          </m:r>
                          <m:r>
                            <a:rPr lang="en-US" sz="2200" b="0" i="1" smtClean="0">
                              <a:solidFill>
                                <a:srgbClr val="1E293B"/>
                              </a:solidFill>
                              <a:latin typeface="Cambria Math" panose="02040503050406030204" pitchFamily="18" charset="0"/>
                              <a:ea typeface="Consolas" pitchFamily="34" charset="-122"/>
                              <a:cs typeface="Consolas" pitchFamily="34" charset="-120"/>
                            </a:rPr>
                            <m:t>𝑚</m:t>
                          </m:r>
                        </m:e>
                        <m:e>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𝑧</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r>
                            <a:rPr lang="en-US" sz="2200" b="0" i="1" smtClean="0">
                              <a:solidFill>
                                <a:srgbClr val="1E293B"/>
                              </a:solidFill>
                              <a:latin typeface="Cambria Math" panose="02040503050406030204" pitchFamily="18" charset="0"/>
                              <a:ea typeface="Consolas" pitchFamily="34" charset="-122"/>
                              <a:cs typeface="Consolas" pitchFamily="34" charset="-120"/>
                            </a:rPr>
                            <m:t>,</m:t>
                          </m:r>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𝑢</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e>
                      </m:d>
                    </m:oMath>
                  </a14:m>
                  <a:endParaRPr lang="en-US" sz="2200" dirty="0"/>
                </a:p>
              </p:txBody>
            </p:sp>
          </mc:Choice>
          <mc:Fallback xmlns="">
            <p:sp>
              <p:nvSpPr>
                <p:cNvPr id="8" name="Text 6">
                  <a:extLst>
                    <a:ext uri="{FF2B5EF4-FFF2-40B4-BE49-F238E27FC236}">
                      <a16:creationId xmlns:a16="http://schemas.microsoft.com/office/drawing/2014/main" id="{D0E2A134-5090-B89C-53E8-E4D3690A8AC7}"/>
                    </a:ext>
                  </a:extLst>
                </p:cNvPr>
                <p:cNvSpPr>
                  <a:spLocks noRot="1" noChangeAspect="1" noMove="1" noResize="1" noEditPoints="1" noAdjustHandles="1" noChangeArrowheads="1" noChangeShapeType="1" noTextEdit="1"/>
                </p:cNvSpPr>
                <p:nvPr/>
              </p:nvSpPr>
              <p:spPr>
                <a:xfrm>
                  <a:off x="1554632" y="2517140"/>
                  <a:ext cx="9174175" cy="914400"/>
                </a:xfrm>
                <a:prstGeom prst="rect">
                  <a:avLst/>
                </a:prstGeom>
                <a:blipFill>
                  <a:blip r:embed="rId4"/>
                  <a:stretch>
                    <a:fillRect/>
                  </a:stretch>
                </a:blipFill>
                <a:ln/>
              </p:spPr>
              <p:txBody>
                <a:bodyPr/>
                <a:lstStyle/>
                <a:p>
                  <a:r>
                    <a:rPr lang="en-US">
                      <a:noFill/>
                    </a:rPr>
                    <a:t> </a:t>
                  </a:r>
                </a:p>
              </p:txBody>
            </p:sp>
          </mc:Fallback>
        </mc:AlternateContent>
        <p:sp>
          <p:nvSpPr>
            <p:cNvPr id="9" name="Text 7">
              <a:extLst>
                <a:ext uri="{FF2B5EF4-FFF2-40B4-BE49-F238E27FC236}">
                  <a16:creationId xmlns:a16="http://schemas.microsoft.com/office/drawing/2014/main" id="{ED937B31-D381-8599-CF76-C59C7E9B76EA}"/>
                </a:ext>
              </a:extLst>
            </p:cNvPr>
            <p:cNvSpPr/>
            <p:nvPr/>
          </p:nvSpPr>
          <p:spPr>
            <a:xfrm>
              <a:off x="1554632" y="33858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64748B"/>
                  </a:solidFill>
                  <a:latin typeface="Calibri" pitchFamily="34" charset="0"/>
                  <a:ea typeface="Calibri" pitchFamily="34" charset="-122"/>
                  <a:cs typeface="Calibri" pitchFamily="34" charset="-120"/>
                </a:rPr>
                <a:t>Find the most likely trajectory x and map m given all observations z and controls u</a:t>
              </a:r>
              <a:endParaRPr lang="en-US" sz="1000" dirty="0"/>
            </a:p>
          </p:txBody>
        </p:sp>
      </p:grpSp>
    </p:spTree>
    <p:extLst>
      <p:ext uri="{BB962C8B-B14F-4D97-AF65-F5344CB8AC3E}">
        <p14:creationId xmlns:p14="http://schemas.microsoft.com/office/powerpoint/2010/main" val="13842094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51C812-EFF3-37C7-2913-94D0F49B1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C990C3C-3793-3AFD-0996-0CF0982B119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Why do we need SLAM at all?</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some robotics examples where we want to map and plan trajectories in unknown / updating environments?</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Robot vacuums must map the unknown living room the first time they're switched on</a:t>
            </a:r>
          </a:p>
          <a:p>
            <a:pPr marL="342900">
              <a:lnSpc>
                <a:spcPct val="100000"/>
              </a:lnSpc>
              <a:spcBef>
                <a:spcPts val="0"/>
              </a:spcBef>
              <a:buSzPts val="3000"/>
            </a:pPr>
            <a:r>
              <a:rPr lang="en-US" sz="2200" dirty="0">
                <a:latin typeface="Arial"/>
                <a:ea typeface="Arial"/>
                <a:cs typeface="Arial"/>
                <a:sym typeface="Arial"/>
              </a:rPr>
              <a:t>Self-driving cars use SLAM to reconcile HD maps with new construction, detours, and snow</a:t>
            </a:r>
          </a:p>
          <a:p>
            <a:pPr marL="342900">
              <a:lnSpc>
                <a:spcPct val="100000"/>
              </a:lnSpc>
              <a:spcBef>
                <a:spcPts val="0"/>
              </a:spcBef>
              <a:buSzPts val="3000"/>
            </a:pPr>
            <a:r>
              <a:rPr lang="en-US" sz="2200" dirty="0">
                <a:latin typeface="Arial"/>
                <a:ea typeface="Arial"/>
                <a:cs typeface="Arial"/>
                <a:sym typeface="Arial"/>
              </a:rPr>
              <a:t>Mars rovers have no GPS and no human cartographer - everything is SLAM by necessity!</a:t>
            </a:r>
          </a:p>
          <a:p>
            <a:pPr marL="342900">
              <a:lnSpc>
                <a:spcPct val="100000"/>
              </a:lnSpc>
              <a:spcBef>
                <a:spcPts val="0"/>
              </a:spcBef>
              <a:buSzPts val="3000"/>
            </a:pPr>
            <a:r>
              <a:rPr lang="en-US" sz="2200" dirty="0">
                <a:latin typeface="Arial"/>
                <a:ea typeface="Arial"/>
                <a:cs typeface="Arial"/>
                <a:sym typeface="Arial"/>
              </a:rPr>
              <a:t>Search-and-rescue drones enter collapsed buildings no person has ever mapped before</a:t>
            </a:r>
          </a:p>
          <a:p>
            <a:pPr marL="342900">
              <a:lnSpc>
                <a:spcPct val="100000"/>
              </a:lnSpc>
              <a:spcBef>
                <a:spcPts val="0"/>
              </a:spcBef>
              <a:buSzPts val="3000"/>
            </a:pPr>
            <a:endParaRPr lang="en-US" sz="2200" dirty="0">
              <a:latin typeface="Arial"/>
              <a:ea typeface="Arial"/>
              <a:cs typeface="Arial"/>
              <a:sym typeface="Arial"/>
            </a:endParaRPr>
          </a:p>
          <a:p>
            <a:pPr marL="342900">
              <a:lnSpc>
                <a:spcPct val="100000"/>
              </a:lnSpc>
              <a:spcBef>
                <a:spcPts val="0"/>
              </a:spcBef>
              <a:buSzPts val="3000"/>
            </a:pPr>
            <a:endParaRPr lang="en-US" sz="2200" dirty="0">
              <a:latin typeface="Arial"/>
              <a:ea typeface="Arial"/>
              <a:cs typeface="Arial"/>
              <a:sym typeface="Arial"/>
            </a:endParaRP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799148DD-D46C-55AB-7D53-2A93D92BC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7717265-FF1A-3249-F1B5-595713E640F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F3C37F6-B99C-38D4-6BEC-0545327AB22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C8F073-1C17-107F-9361-510EBCC9A4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C725A1-C935-BD10-CEEA-6759B034B29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418BA2-6DB7-173E-4056-CE29531790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925AB33-1895-27BB-EBC3-084FAE8B89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4B4E77-BAB2-3503-A1A3-C6C30088626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35219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80798A-5C6D-4D48-B720-ED772A4BB56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CC70F59-59CD-902E-5BD6-1132F99CBA9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What makes a good SLAM system?</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Real-time: the pose estimate must arrive before the robot crashes into the wall</a:t>
            </a:r>
          </a:p>
          <a:p>
            <a:pPr marL="342900">
              <a:lnSpc>
                <a:spcPct val="100000"/>
              </a:lnSpc>
              <a:spcBef>
                <a:spcPts val="0"/>
              </a:spcBef>
              <a:buSzPts val="3000"/>
            </a:pPr>
            <a:r>
              <a:rPr lang="en-US" sz="2200" dirty="0">
                <a:latin typeface="Arial"/>
                <a:ea typeface="Arial"/>
                <a:cs typeface="Arial"/>
                <a:sym typeface="Arial"/>
              </a:rPr>
              <a:t>Globally consistent: no double walls, bent corridors, or duplicate rooms in the final map</a:t>
            </a:r>
          </a:p>
          <a:p>
            <a:pPr marL="342900">
              <a:lnSpc>
                <a:spcPct val="100000"/>
              </a:lnSpc>
              <a:spcBef>
                <a:spcPts val="0"/>
              </a:spcBef>
              <a:buSzPts val="3000"/>
            </a:pPr>
            <a:r>
              <a:rPr lang="en-US" sz="2200" dirty="0">
                <a:latin typeface="Arial"/>
                <a:ea typeface="Arial"/>
                <a:cs typeface="Arial"/>
                <a:sym typeface="Arial"/>
              </a:rPr>
              <a:t>Robust to noise, to moving people, to sensor dropouts, to wheel slip on tile floors</a:t>
            </a:r>
          </a:p>
          <a:p>
            <a:pPr marL="342900">
              <a:lnSpc>
                <a:spcPct val="100000"/>
              </a:lnSpc>
              <a:spcBef>
                <a:spcPts val="0"/>
              </a:spcBef>
              <a:buSzPts val="3000"/>
            </a:pPr>
            <a:r>
              <a:rPr lang="en-US" sz="2200" dirty="0">
                <a:latin typeface="Arial"/>
                <a:ea typeface="Arial"/>
                <a:cs typeface="Arial"/>
                <a:sym typeface="Arial"/>
              </a:rPr>
              <a:t>Memory-bounded: a $50 embedded CPU must hold a 10,000 m² facility's map</a:t>
            </a:r>
          </a:p>
          <a:p>
            <a:pPr marL="342900">
              <a:lnSpc>
                <a:spcPct val="100000"/>
              </a:lnSpc>
              <a:spcBef>
                <a:spcPts val="0"/>
              </a:spcBef>
              <a:buSzPts val="3000"/>
            </a:pPr>
            <a:r>
              <a:rPr lang="en-US" sz="2200" dirty="0">
                <a:latin typeface="Arial"/>
                <a:ea typeface="Arial"/>
                <a:cs typeface="Arial"/>
                <a:sym typeface="Arial"/>
              </a:rPr>
              <a:t>Lifelong: the map must stay valid for weeks as the environment slowly evolves</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Which of these five requirements do you think was the hardest to solve historically? Why?</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3A571382-9BD1-4D5D-D56B-A96E5656A6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74A922-BD79-2FDF-5F38-8733F6782B3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891D21B-711A-0E4B-E2E4-B21BE754BD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7CC137-B2BF-EDF3-3429-D8E412C88F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77437F2-82C6-1DED-8863-09A667FBF1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87B2BC9-D382-A527-DDAD-C093CA1C68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E5D1B1-5332-FD81-95EC-9C68BFB17C1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F4BDC0-6549-D63A-A9EC-FC71025485F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80356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C6179E-7949-05E8-2D0A-5EFD7A75174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A43471F-1D06-6830-08F3-543FC77C26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Global Consistency is the hardest to solve.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In early SLAM, robots relied primarily on Dead Reckoning or incremental scan-matching. Because every sensor measurement has a non-zero covariance, these small errors integrate over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hardest part of global consistency is </a:t>
            </a:r>
            <a:r>
              <a:rPr lang="en-US" sz="2200" b="1" dirty="0">
                <a:latin typeface="Arial"/>
                <a:ea typeface="Arial"/>
                <a:cs typeface="Arial"/>
                <a:sym typeface="Arial"/>
              </a:rPr>
              <a:t>Loop Closure</a:t>
            </a:r>
            <a:r>
              <a:rPr lang="en-US" sz="2200" dirty="0">
                <a:latin typeface="Arial"/>
                <a:ea typeface="Arial"/>
                <a:cs typeface="Arial"/>
                <a:sym typeface="Arial"/>
              </a:rPr>
              <a:t>. Imagine a robot traveling a 1-kilometer loop. Even a tiny error of 0.5° in orientation can result in the robot returning to its starting point and perceiving the wall to be several meters away from where it "should" be.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system must recognize a previously visited location using only sensor data (often called Place Recognition or Appearance-based SLAM).</a:t>
            </a:r>
          </a:p>
        </p:txBody>
      </p:sp>
      <p:sp>
        <p:nvSpPr>
          <p:cNvPr id="119" name="Google Shape;119;p29">
            <a:extLst>
              <a:ext uri="{FF2B5EF4-FFF2-40B4-BE49-F238E27FC236}">
                <a16:creationId xmlns:a16="http://schemas.microsoft.com/office/drawing/2014/main" id="{9548562F-2C81-705F-31DA-A3545C24257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76499B3-5F7F-03D6-4F50-CF273FF91F5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5EDF078-008A-3556-C703-EE3385FA31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2D71F7-CB83-63D8-6139-EE3F0FA021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D5AE8E7-CD79-28C5-E7CE-FB7A910699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6EAD7E-F8B6-5C6D-1C40-000061531C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8708B39-943B-53A5-D6B0-4CE50BE0482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EF2215-DDD5-2804-ACFA-8D402ED578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7149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CF0C-98CC-7D34-C737-67011995505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1B591A1-DAF4-7307-4872-98CEFFCDAF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pose that the SLAM is optimizing for,</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𝑋</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d>
                        <m:dPr>
                          <m:begChr m:val="["/>
                          <m:endChr m:val="]"/>
                          <m:ctrlPr>
                            <a:rPr lang="en-US" sz="2200" b="0" i="1" smtClean="0">
                              <a:latin typeface="Cambria Math" panose="02040503050406030204" pitchFamily="18" charset="0"/>
                              <a:ea typeface="Arial"/>
                              <a:cs typeface="Arial"/>
                              <a:sym typeface="Arial"/>
                            </a:rPr>
                          </m:ctrlPr>
                        </m:dPr>
                        <m:e>
                          <m:m>
                            <m:mPr>
                              <m:plcHide m:val="on"/>
                              <m:mcs>
                                <m:mc>
                                  <m:mcPr>
                                    <m:count m:val="3"/>
                                    <m:mcJc m:val="center"/>
                                  </m:mcPr>
                                </m:mc>
                              </m:mcs>
                              <m:ctrlPr>
                                <a:rPr lang="en-US" sz="2200" b="0" i="1" smtClean="0">
                                  <a:latin typeface="Cambria Math" panose="02040503050406030204" pitchFamily="18" charset="0"/>
                                  <a:ea typeface="Arial"/>
                                  <a:cs typeface="Arial"/>
                                  <a:sym typeface="Arial"/>
                                </a:rPr>
                              </m:ctrlPr>
                            </m:mPr>
                            <m:m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e>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𝑦</m:t>
                                    </m:r>
                                  </m:e>
                                  <m:sub>
                                    <m:r>
                                      <a:rPr lang="en-US" sz="2200" b="0" i="1" smtClean="0">
                                        <a:latin typeface="Cambria Math" panose="02040503050406030204" pitchFamily="18" charset="0"/>
                                        <a:ea typeface="Arial"/>
                                        <a:cs typeface="Arial"/>
                                        <a:sym typeface="Arial"/>
                                      </a:rPr>
                                      <m:t>𝑡</m:t>
                                    </m:r>
                                  </m:sub>
                                </m:sSub>
                              </m:e>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𝜃</m:t>
                                    </m:r>
                                  </m:e>
                                  <m:sub>
                                    <m:r>
                                      <a:rPr lang="en-US" sz="2200" b="0" i="1" smtClean="0">
                                        <a:latin typeface="Cambria Math" panose="02040503050406030204" pitchFamily="18" charset="0"/>
                                        <a:ea typeface="Arial"/>
                                        <a:cs typeface="Arial"/>
                                        <a:sym typeface="Arial"/>
                                      </a:rPr>
                                      <m:t>𝑡</m:t>
                                    </m:r>
                                  </m:sub>
                                </m:sSub>
                              </m:e>
                            </m:mr>
                          </m:m>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𝑇</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d>
                        <m:dPr>
                          <m:begChr m:val="["/>
                          <m:endChr m:val="]"/>
                          <m:ctrlPr>
                            <a:rPr lang="en-US" sz="2200" b="0" i="1" smtClean="0">
                              <a:latin typeface="Cambria Math" panose="02040503050406030204" pitchFamily="18" charset="0"/>
                              <a:ea typeface="Arial"/>
                              <a:cs typeface="Arial"/>
                              <a:sym typeface="Arial"/>
                            </a:rPr>
                          </m:ctrlPr>
                        </m:dPr>
                        <m:e>
                          <m:m>
                            <m:mPr>
                              <m:plcHide m:val="on"/>
                              <m:mcs>
                                <m:mc>
                                  <m:mcPr>
                                    <m:count m:val="3"/>
                                    <m:mcJc m:val="center"/>
                                  </m:mcPr>
                                </m:mc>
                              </m:mcs>
                              <m:ctrlPr>
                                <a:rPr lang="en-US" sz="2200" b="0" i="1" smtClean="0">
                                  <a:latin typeface="Cambria Math" panose="02040503050406030204" pitchFamily="18" charset="0"/>
                                  <a:ea typeface="Arial"/>
                                  <a:cs typeface="Arial"/>
                                  <a:sym typeface="Arial"/>
                                </a:rPr>
                              </m:ctrlPr>
                            </m:mPr>
                            <m:mr>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𝑥</m:t>
                                </m:r>
                              </m:e>
                            </m:mr>
                            <m:mr>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r>
                                      <a:rPr lang="en-US" sz="2200" b="0" i="1" smtClean="0">
                                        <a:latin typeface="Cambria Math" panose="02040503050406030204" pitchFamily="18" charset="0"/>
                                        <a:ea typeface="Arial"/>
                                        <a:cs typeface="Arial"/>
                                        <a:sym typeface="Arial"/>
                                      </a:rPr>
                                      <m:t>𝜃</m:t>
                                    </m:r>
                                  </m:e>
                                </m:func>
                              </m:e>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𝑦</m:t>
                                </m:r>
                              </m:e>
                            </m:mr>
                            <m:mr>
                              <m:e>
                                <m:r>
                                  <a:rPr lang="en-US" sz="2200" b="0" i="1" smtClean="0">
                                    <a:latin typeface="Cambria Math" panose="02040503050406030204" pitchFamily="18" charset="0"/>
                                    <a:ea typeface="Arial"/>
                                    <a:cs typeface="Arial"/>
                                    <a:sym typeface="Arial"/>
                                  </a:rPr>
                                  <m:t>0</m:t>
                                </m:r>
                              </m:e>
                              <m:e>
                                <m:r>
                                  <a:rPr lang="en-US" sz="2200" b="0" i="1" smtClean="0">
                                    <a:latin typeface="Cambria Math" panose="02040503050406030204" pitchFamily="18" charset="0"/>
                                    <a:ea typeface="Arial"/>
                                    <a:cs typeface="Arial"/>
                                    <a:sym typeface="Arial"/>
                                  </a:rPr>
                                  <m:t>0</m:t>
                                </m:r>
                              </m:e>
                              <m:e>
                                <m:r>
                                  <a:rPr lang="en-US" sz="2200" b="0" i="1" smtClean="0">
                                    <a:latin typeface="Cambria Math" panose="02040503050406030204" pitchFamily="18" charset="0"/>
                                    <a:ea typeface="Arial"/>
                                    <a:cs typeface="Arial"/>
                                    <a:sym typeface="Arial"/>
                                  </a:rPr>
                                  <m:t>1</m:t>
                                </m:r>
                              </m:e>
                            </m:mr>
                          </m:m>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Every SLAM algorithm optimizes some collection of these pose triples over time. Since again we are optimizing the robot’s position / trajectory that it has taken.</a:t>
                </a:r>
              </a:p>
              <a:p>
                <a:pPr marL="0" indent="0">
                  <a:lnSpc>
                    <a:spcPct val="100000"/>
                  </a:lnSpc>
                  <a:spcBef>
                    <a:spcPts val="0"/>
                  </a:spcBef>
                  <a:buSzPts val="3000"/>
                  <a:buNone/>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C1B591A1-DAF4-7307-4872-98CEFFCDAF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64BAB2F-0808-73E1-78BB-77A819655D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630C026-3464-6074-2A70-E1308F9E9A1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346DF92-C0FD-5E5B-358C-ABA6043099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E3D0EF-3DB5-D4D5-6E09-81B91D1C2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14F2335-A565-AD90-830A-356CB92232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0B7DEF-6F6E-9C2F-29AD-A572B4F2A2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9887E01-F650-C2B9-8AA9-2CBBEA6256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D84E35-267E-1FB3-8F17-3D74E295D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392862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0C81FA-C236-4637-C323-58A169BB8D1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9862B65-4BC6-7BCE-BB7D-D43A50ED04F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SLAM Loop:</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50000"/>
              </a:lnSpc>
              <a:spcBef>
                <a:spcPts val="0"/>
              </a:spcBef>
              <a:buSzPts val="3000"/>
            </a:pPr>
            <a:r>
              <a:rPr lang="en-US" sz="2200" dirty="0">
                <a:latin typeface="Arial"/>
                <a:ea typeface="Arial"/>
                <a:cs typeface="Arial"/>
                <a:sym typeface="Arial"/>
              </a:rPr>
              <a:t>Read odometry: produce fast prior estimate of new pose</a:t>
            </a:r>
          </a:p>
          <a:p>
            <a:pPr marL="342900">
              <a:lnSpc>
                <a:spcPct val="150000"/>
              </a:lnSpc>
              <a:spcBef>
                <a:spcPts val="0"/>
              </a:spcBef>
              <a:buSzPts val="3000"/>
            </a:pPr>
            <a:r>
              <a:rPr lang="en-US" sz="2200" dirty="0">
                <a:latin typeface="Arial"/>
                <a:ea typeface="Arial"/>
                <a:cs typeface="Arial"/>
                <a:sym typeface="Arial"/>
              </a:rPr>
              <a:t>Read LiDAR: capture current snapshot of the world</a:t>
            </a:r>
          </a:p>
          <a:p>
            <a:pPr marL="342900">
              <a:lnSpc>
                <a:spcPct val="150000"/>
              </a:lnSpc>
              <a:spcBef>
                <a:spcPts val="0"/>
              </a:spcBef>
              <a:buSzPts val="3000"/>
            </a:pPr>
            <a:r>
              <a:rPr lang="en-US" sz="2200" dirty="0">
                <a:latin typeface="Arial"/>
                <a:ea typeface="Arial"/>
                <a:cs typeface="Arial"/>
                <a:sym typeface="Arial"/>
              </a:rPr>
              <a:t>Scan-match the snapshot again recent scans: refine the pose estimate</a:t>
            </a:r>
          </a:p>
          <a:p>
            <a:pPr marL="342900">
              <a:lnSpc>
                <a:spcPct val="150000"/>
              </a:lnSpc>
              <a:spcBef>
                <a:spcPts val="0"/>
              </a:spcBef>
              <a:buSzPts val="3000"/>
            </a:pPr>
            <a:r>
              <a:rPr lang="en-US" sz="2200" dirty="0">
                <a:latin typeface="Arial"/>
                <a:ea typeface="Arial"/>
                <a:cs typeface="Arial"/>
                <a:sym typeface="Arial"/>
              </a:rPr>
              <a:t>Fuse LiDAR correction with odometry prior: publish the best pose</a:t>
            </a:r>
          </a:p>
          <a:p>
            <a:pPr marL="342900">
              <a:lnSpc>
                <a:spcPct val="150000"/>
              </a:lnSpc>
              <a:spcBef>
                <a:spcPts val="0"/>
              </a:spcBef>
              <a:buSzPts val="3000"/>
            </a:pPr>
            <a:r>
              <a:rPr lang="en-US" sz="2200" dirty="0">
                <a:latin typeface="Arial"/>
                <a:ea typeface="Arial"/>
                <a:cs typeface="Arial"/>
                <a:sym typeface="Arial"/>
              </a:rPr>
              <a:t>Updating the map using the newly confirmed pose: repeat</a:t>
            </a:r>
          </a:p>
        </p:txBody>
      </p:sp>
      <p:sp>
        <p:nvSpPr>
          <p:cNvPr id="119" name="Google Shape;119;p29">
            <a:extLst>
              <a:ext uri="{FF2B5EF4-FFF2-40B4-BE49-F238E27FC236}">
                <a16:creationId xmlns:a16="http://schemas.microsoft.com/office/drawing/2014/main" id="{BB8C129D-67E3-880B-8846-A0136FFE6B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7F4A5EE-DDEB-C0C6-3264-0236E14FB75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619643D-3894-B080-F2EB-5CB8AA39F2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9AE26C-1729-B286-0EA7-C056C3E333E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E1D0E2-AB83-EE7A-F87F-29DC9DC577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74FB30-4EAE-1152-0916-5E3D31C39A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7DCA00-1C90-E014-C959-992AE50786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A2DE42D-F927-4C8D-3BAD-159480568E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6791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FAFA041-EFCF-0C03-6CE7-63518DAED84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3B6F294-945B-372C-AE4B-C4BDA4097F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B41E585-E7B1-6987-504F-5C94A4F001E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59FA13D-D9F5-75B7-6F27-B46783BEA9B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D31523-4413-FAD6-A6DB-6948C7D2D99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55BFAD-EB9A-4F9A-ECA5-255A20E41C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EECA10-009A-C17A-879C-DB6EEE7DD64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93E3580-96E1-EC0F-9308-36C08C33A12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BBB27-F7D4-89B4-E32F-2F5893B9BB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694E4C2D-B133-A7BD-6E7F-280D7170D46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27341" y="881452"/>
            <a:ext cx="5937318" cy="5733187"/>
          </a:xfrm>
          <a:prstGeom prst="rect">
            <a:avLst/>
          </a:prstGeom>
        </p:spPr>
      </p:pic>
    </p:spTree>
    <p:extLst>
      <p:ext uri="{BB962C8B-B14F-4D97-AF65-F5344CB8AC3E}">
        <p14:creationId xmlns:p14="http://schemas.microsoft.com/office/powerpoint/2010/main" val="9821288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321ED334-FF21-478F-D09E-FB9CA0A98E20}"/>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9AC788F-B7FB-D965-3755-B2DA54A315FD}"/>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79552A76-BEE5-25E6-ACC6-12B208CF3C8B}"/>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Where am I?</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595490FA-E6A2-2B57-F286-ED8138915D0D}"/>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6651B4F-CD5D-D1B1-1DD1-FF86B8CBA82E}"/>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09DD9FC0-817A-B7D0-D7CD-40F7C1EED3E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106C3CBD-7B4B-0C98-6CB6-8A454881CC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621A2233-4732-38CC-8301-08C5A7D1E2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F0321B-EE4C-6D91-1382-2A0776427416}"/>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DC17562-3A51-9A89-CC29-CEA69CE00F92}"/>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E3DA8651-E506-D950-F466-23ECA51888A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9101665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99FDC1C-10CA-5B64-F083-D53B7EDFB13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C50074B-9940-1774-0551-578F615F474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We need to perform localization, specifically with LiDAR, we are aligning, the newly provided scan with the previous scan centimeters at a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Every scan-match boils down to finding one rigid transformation</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Given a source point cloud P (current scan) and a target Q (previous scan or map)</a:t>
                </a:r>
              </a:p>
              <a:p>
                <a:pPr marL="342900">
                  <a:lnSpc>
                    <a:spcPct val="100000"/>
                  </a:lnSpc>
                  <a:spcBef>
                    <a:spcPts val="0"/>
                  </a:spcBef>
                  <a:buSzPts val="3000"/>
                </a:pPr>
                <a:r>
                  <a:rPr lang="en-US" sz="2200" dirty="0">
                    <a:latin typeface="Arial"/>
                    <a:ea typeface="Arial"/>
                    <a:cs typeface="Arial"/>
                    <a:sym typeface="Arial"/>
                  </a:rPr>
                  <a:t>Find the rotation R and translation t that best overlays P onto Q</a:t>
                </a:r>
              </a:p>
              <a:p>
                <a:pPr marL="342900">
                  <a:lnSpc>
                    <a:spcPct val="100000"/>
                  </a:lnSpc>
                  <a:spcBef>
                    <a:spcPts val="0"/>
                  </a:spcBef>
                  <a:buSzPts val="3000"/>
                </a:pPr>
                <a:r>
                  <a:rPr lang="en-US" sz="2200" dirty="0">
                    <a:latin typeface="Arial"/>
                    <a:ea typeface="Arial"/>
                    <a:cs typeface="Arial"/>
                    <a:sym typeface="Arial"/>
                  </a:rPr>
                  <a:t>"Best" = minimizes a chosen error metric over all matched point pairs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If we know how the world moved relative to the robot, we know how the robot moved</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𝑇</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d>
                        <m:dPr>
                          <m:ctrlPr>
                            <a:rPr lang="en-US" sz="2200" b="0" i="1" smtClean="0">
                              <a:latin typeface="Cambria Math" panose="02040503050406030204" pitchFamily="18" charset="0"/>
                              <a:ea typeface="Arial"/>
                              <a:cs typeface="Arial"/>
                              <a:sym typeface="Arial"/>
                            </a:rPr>
                          </m:ctrlPr>
                        </m:dPr>
                        <m:e>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𝑅</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𝑡</m:t>
                              </m:r>
                            </m:e>
                            <m:sup>
                              <m:r>
                                <a:rPr lang="en-US" sz="2200" b="0" i="1" smtClean="0">
                                  <a:latin typeface="Cambria Math" panose="02040503050406030204" pitchFamily="18" charset="0"/>
                                  <a:ea typeface="Arial"/>
                                  <a:cs typeface="Arial"/>
                                  <a:sym typeface="Arial"/>
                                </a:rPr>
                                <m:t>∗</m:t>
                              </m:r>
                            </m:sup>
                          </m:sSup>
                        </m:e>
                      </m:d>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r>
                            <m:rPr>
                              <m:sty m:val="p"/>
                            </m:rPr>
                            <a:rPr lang="en-US" sz="2200" b="0" i="1" smtClean="0">
                              <a:latin typeface="Cambria Math" panose="02040503050406030204" pitchFamily="18" charset="0"/>
                              <a:ea typeface="Arial"/>
                              <a:cs typeface="Arial"/>
                              <a:sym typeface="Arial"/>
                            </a:rPr>
                            <m:t>arg</m:t>
                          </m:r>
                          <m:limLow>
                            <m:limLowPr>
                              <m:ctrlPr>
                                <a:rPr lang="en-US" sz="2200" b="0" i="1" smtClean="0">
                                  <a:latin typeface="Cambria Math" panose="02040503050406030204" pitchFamily="18" charset="0"/>
                                  <a:ea typeface="Arial"/>
                                  <a:cs typeface="Arial"/>
                                  <a:sym typeface="Arial"/>
                                </a:rPr>
                              </m:ctrlPr>
                            </m:limLowPr>
                            <m:e>
                              <m:r>
                                <m:rPr>
                                  <m:sty m:val="p"/>
                                </m:rPr>
                                <a:rPr lang="en-US" sz="2200" b="0" i="0" smtClean="0">
                                  <a:latin typeface="Cambria Math" panose="02040503050406030204" pitchFamily="18" charset="0"/>
                                  <a:ea typeface="Arial"/>
                                  <a:cs typeface="Arial"/>
                                  <a:sym typeface="Arial"/>
                                </a:rPr>
                                <m:t>min</m:t>
                              </m:r>
                            </m:e>
                            <m:lim>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m:t>
                              </m:r>
                              <m:r>
                                <m:rPr>
                                  <m:sty m:val="p"/>
                                </m:rPr>
                                <a:rPr lang="en-US" sz="2200" b="0" i="1" smtClean="0">
                                  <a:latin typeface="Cambria Math" panose="02040503050406030204" pitchFamily="18" charset="0"/>
                                  <a:ea typeface="Arial"/>
                                  <a:cs typeface="Arial"/>
                                  <a:sym typeface="Arial"/>
                                </a:rPr>
                                <m:t>t</m:t>
                              </m:r>
                            </m:lim>
                          </m:limLow>
                        </m:fName>
                        <m:e>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r>
                                <a:rPr lang="en-US" sz="2200" b="0" i="1" smtClean="0">
                                  <a:latin typeface="Cambria Math" panose="02040503050406030204" pitchFamily="18" charset="0"/>
                                  <a:ea typeface="Arial"/>
                                  <a:cs typeface="Arial"/>
                                  <a:sym typeface="Arial"/>
                                </a:rPr>
                                <m:t>𝑒𝑟𝑟𝑜𝑟</m:t>
                              </m:r>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e>
                          </m:nary>
                        </m:e>
                      </m:func>
                    </m:oMath>
                  </m:oMathPara>
                </a14:m>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CC50074B-9940-1774-0551-578F615F474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32BE03B-60FE-7BB5-D3E9-8E47B47A2AA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BF05407-9200-EBC6-BB16-BDA1A24DE5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8F9503-ED87-D0D7-414D-2EC52F7BC06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3AC6B1-306C-3510-4D7B-13EDE321045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884ED9-0352-89F0-3FFF-12B88787374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65E0B0E-44CE-3755-B0D2-C4E4153E96B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18A9C4-45D0-F988-067F-5E95F6A69E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7D86A8-FFBD-3279-4A98-148A8EEAF5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389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928DE6F-7C95-FBAC-9304-2C0A8AE8152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E3B566A-C130-9951-3ECB-4D71D504128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1D wall example,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Imagine your robot is in a 1D hallway facing a wall,</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Time step 1: The target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oMath>
                </a14:m>
                <a:r>
                  <a:rPr lang="en-US" sz="2200" dirty="0">
                    <a:latin typeface="Arial"/>
                    <a:ea typeface="Arial"/>
                    <a:cs typeface="Arial"/>
                    <a:sym typeface="Arial"/>
                  </a:rPr>
                  <a:t>,</a:t>
                </a:r>
              </a:p>
              <a:p>
                <a:pPr marL="342900">
                  <a:lnSpc>
                    <a:spcPct val="100000"/>
                  </a:lnSpc>
                  <a:spcBef>
                    <a:spcPts val="0"/>
                  </a:spcBef>
                  <a:buSzPts val="3000"/>
                </a:pPr>
                <a:r>
                  <a:rPr lang="en-US" sz="2200" dirty="0">
                    <a:latin typeface="Arial"/>
                    <a:ea typeface="Arial"/>
                    <a:cs typeface="Arial"/>
                    <a:sym typeface="Arial"/>
                  </a:rPr>
                  <a:t>The robot is at global position 0</a:t>
                </a:r>
              </a:p>
              <a:p>
                <a:pPr marL="342900">
                  <a:lnSpc>
                    <a:spcPct val="100000"/>
                  </a:lnSpc>
                  <a:spcBef>
                    <a:spcPts val="0"/>
                  </a:spcBef>
                  <a:buSzPts val="3000"/>
                </a:pPr>
                <a:r>
                  <a:rPr lang="en-US" sz="2200" dirty="0">
                    <a:latin typeface="Arial"/>
                    <a:ea typeface="Arial"/>
                    <a:cs typeface="Arial"/>
                    <a:sym typeface="Arial"/>
                  </a:rPr>
                  <a:t>The wall is 5 meters ahead</a:t>
                </a:r>
              </a:p>
              <a:p>
                <a:pPr marL="342900">
                  <a:lnSpc>
                    <a:spcPct val="100000"/>
                  </a:lnSpc>
                  <a:spcBef>
                    <a:spcPts val="0"/>
                  </a:spcBef>
                  <a:buSzPts val="3000"/>
                </a:pPr>
                <a:r>
                  <a:rPr lang="en-US" sz="2200" dirty="0">
                    <a:latin typeface="Arial"/>
                    <a:ea typeface="Arial"/>
                    <a:cs typeface="Arial"/>
                    <a:sym typeface="Arial"/>
                  </a:rPr>
                  <a:t>The LiDAR records a point at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r>
                      <a:rPr lang="en-US" sz="2200" b="0" i="1" smtClean="0">
                        <a:latin typeface="Cambria Math" panose="02040503050406030204" pitchFamily="18" charset="0"/>
                        <a:ea typeface="Arial"/>
                        <a:cs typeface="Arial"/>
                        <a:sym typeface="Arial"/>
                      </a:rPr>
                      <m:t>= 5</m:t>
                    </m:r>
                  </m:oMath>
                </a14:m>
                <a:r>
                  <a:rPr lang="en-US" sz="2200" dirty="0">
                    <a:latin typeface="Arial"/>
                    <a:ea typeface="Arial"/>
                    <a:cs typeface="Arial"/>
                    <a:sym typeface="Arial"/>
                  </a:rPr>
                  <a:t>. This is our prior scan</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Time step 2: The Source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rial"/>
                    <a:ea typeface="Arial"/>
                    <a:cs typeface="Arial"/>
                    <a:sym typeface="Arial"/>
                  </a:rPr>
                  <a:t>,</a:t>
                </a:r>
              </a:p>
              <a:p>
                <a:pPr marL="342900">
                  <a:lnSpc>
                    <a:spcPct val="100000"/>
                  </a:lnSpc>
                  <a:spcBef>
                    <a:spcPts val="0"/>
                  </a:spcBef>
                  <a:buSzPts val="3000"/>
                </a:pPr>
                <a:r>
                  <a:rPr lang="en-US" sz="2200" dirty="0">
                    <a:latin typeface="Arial"/>
                    <a:ea typeface="Arial"/>
                    <a:cs typeface="Arial"/>
                    <a:sym typeface="Arial"/>
                  </a:rPr>
                  <a:t>The robot drives forward 2 meters.</a:t>
                </a:r>
              </a:p>
              <a:p>
                <a:pPr marL="342900">
                  <a:lnSpc>
                    <a:spcPct val="100000"/>
                  </a:lnSpc>
                  <a:spcBef>
                    <a:spcPts val="0"/>
                  </a:spcBef>
                  <a:buSzPts val="3000"/>
                </a:pPr>
                <a:r>
                  <a:rPr lang="en-US" sz="2200" dirty="0">
                    <a:latin typeface="Arial"/>
                    <a:ea typeface="Arial"/>
                    <a:cs typeface="Arial"/>
                    <a:sym typeface="Arial"/>
                  </a:rPr>
                  <a:t>The wall has not moved, but because the robot is closer the LiDAR measures the wall as being only 3 meters away</a:t>
                </a:r>
              </a:p>
              <a:p>
                <a:pPr marL="342900">
                  <a:lnSpc>
                    <a:spcPct val="100000"/>
                  </a:lnSpc>
                  <a:spcBef>
                    <a:spcPts val="0"/>
                  </a:spcBef>
                  <a:buSzPts val="3000"/>
                </a:pPr>
                <a:r>
                  <a:rPr lang="en-US" sz="2200" dirty="0">
                    <a:latin typeface="Arial"/>
                    <a:ea typeface="Arial"/>
                    <a:cs typeface="Arial"/>
                    <a:sym typeface="Arial"/>
                  </a:rPr>
                  <a:t>The LiDAR records a new point at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r>
                      <a:rPr lang="en-US" sz="2200" b="0" i="1" smtClean="0">
                        <a:latin typeface="Cambria Math" panose="02040503050406030204" pitchFamily="18" charset="0"/>
                        <a:ea typeface="Arial"/>
                        <a:cs typeface="Arial"/>
                        <a:sym typeface="Arial"/>
                      </a:rPr>
                      <m:t>=3</m:t>
                    </m:r>
                  </m:oMath>
                </a14:m>
                <a:r>
                  <a:rPr lang="en-US" sz="2200" dirty="0">
                    <a:latin typeface="Arial"/>
                    <a:ea typeface="Arial"/>
                    <a:cs typeface="Arial"/>
                    <a:sym typeface="Arial"/>
                  </a:rPr>
                  <a:t>, this is the new scan</a:t>
                </a:r>
              </a:p>
            </p:txBody>
          </p:sp>
        </mc:Choice>
        <mc:Fallback xmlns="">
          <p:sp>
            <p:nvSpPr>
              <p:cNvPr id="118" name="Google Shape;118;p29">
                <a:extLst>
                  <a:ext uri="{FF2B5EF4-FFF2-40B4-BE49-F238E27FC236}">
                    <a16:creationId xmlns:a16="http://schemas.microsoft.com/office/drawing/2014/main" id="{5E3B566A-C130-9951-3ECB-4D71D504128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r="-982" b="-31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17A419A-5795-D829-7707-1A6A5D38C7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7E411F8-306F-94E0-6CEB-08AC8C3F80B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404B2E1-5E2C-A222-0C6C-150C92285AC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30BBF0-E57D-56E7-D4B6-0655EE995C5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CE2675-4A81-CBBC-3C5F-0D2D81EFCA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464DB8-6E83-2969-FC92-381B5418A5D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377F93-5207-E41D-85A0-68B637EFD2F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147C52-68F8-E298-386F-92F5004214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43250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77FEE27-8B31-1A43-52CF-CC21C4488AD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FFD8BA5-268D-97D7-E2B7-BA6013C0924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If we just blindly drop the new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rial"/>
                    <a:ea typeface="Arial"/>
                    <a:cs typeface="Arial"/>
                    <a:sym typeface="Arial"/>
                  </a:rPr>
                  <a:t> and the old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oMath>
                </a14:m>
                <a:r>
                  <a:rPr lang="en-US" sz="2200" dirty="0">
                    <a:latin typeface="Arial"/>
                    <a:ea typeface="Arial"/>
                    <a:cs typeface="Arial"/>
                    <a:sym typeface="Arial"/>
                  </a:rPr>
                  <a:t> into the same local coordinate space without moving them, they do not align!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algorithm sees a point at 3 and a point at 5!</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Now we apply our objective function to find the transformation </a:t>
                </a:r>
                <a14:m>
                  <m:oMath xmlns:m="http://schemas.openxmlformats.org/officeDocument/2006/math">
                    <m:r>
                      <m:rPr>
                        <m:sty m:val="p"/>
                      </m:rPr>
                      <a:rPr lang="en-US" sz="2200" b="0" i="1" smtClean="0">
                        <a:latin typeface="Cambria Math" panose="02040503050406030204" pitchFamily="18" charset="0"/>
                        <a:ea typeface="Arial"/>
                        <a:cs typeface="Arial"/>
                        <a:sym typeface="Arial"/>
                      </a:rPr>
                      <m:t>t</m:t>
                    </m:r>
                  </m:oMath>
                </a14:m>
                <a:r>
                  <a:rPr lang="en-US" sz="2200" dirty="0">
                    <a:latin typeface="Arial"/>
                    <a:ea typeface="Arial"/>
                    <a:cs typeface="Arial"/>
                    <a:sym typeface="Arial"/>
                  </a:rPr>
                  <a:t> (ignoring rotation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oMath>
                </a14:m>
                <a:r>
                  <a:rPr lang="en-US" sz="2200" dirty="0">
                    <a:latin typeface="Arial"/>
                    <a:ea typeface="Arial"/>
                    <a:cs typeface="Arial"/>
                    <a:sym typeface="Arial"/>
                  </a:rPr>
                  <a:t> for this 1D example):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𝑡</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limLow>
                            <m:limLowPr>
                              <m:ctrlPr>
                                <a:rPr lang="en-US" sz="2200" b="0" i="1" smtClean="0">
                                  <a:latin typeface="Cambria Math" panose="02040503050406030204" pitchFamily="18" charset="0"/>
                                  <a:ea typeface="Arial"/>
                                  <a:cs typeface="Arial"/>
                                  <a:sym typeface="Arial"/>
                                </a:rPr>
                              </m:ctrlPr>
                            </m:limLowPr>
                            <m:e>
                              <m:r>
                                <m:rPr>
                                  <m:sty m:val="p"/>
                                </m:rPr>
                                <a:rPr lang="en-US" sz="2200" b="0" i="0" smtClean="0">
                                  <a:latin typeface="Cambria Math" panose="02040503050406030204" pitchFamily="18" charset="0"/>
                                  <a:ea typeface="Arial"/>
                                  <a:cs typeface="Arial"/>
                                  <a:sym typeface="Arial"/>
                                </a:rPr>
                                <m:t>argmin</m:t>
                              </m:r>
                            </m:e>
                            <m:lim>
                              <m:r>
                                <a:rPr lang="en-US" sz="2200" b="0" i="1" smtClean="0">
                                  <a:latin typeface="Cambria Math" panose="02040503050406030204" pitchFamily="18" charset="0"/>
                                  <a:ea typeface="Arial"/>
                                  <a:cs typeface="Arial"/>
                                  <a:sym typeface="Arial"/>
                                </a:rPr>
                                <m:t>𝑡</m:t>
                              </m:r>
                            </m:lim>
                          </m:limLow>
                        </m:fName>
                        <m:e>
                          <m:nary>
                            <m:naryPr>
                              <m:chr m:val="∑"/>
                              <m:subHide m:val="on"/>
                              <m:supHide m:val="on"/>
                              <m:ctrlPr>
                                <a:rPr lang="en-US" sz="2200" b="0" i="1" smtClean="0">
                                  <a:latin typeface="Cambria Math" panose="02040503050406030204" pitchFamily="18" charset="0"/>
                                  <a:ea typeface="Arial"/>
                                  <a:cs typeface="Arial"/>
                                  <a:sym typeface="Arial"/>
                                </a:rPr>
                              </m:ctrlPr>
                            </m:naryPr>
                            <m:sub/>
                            <m:sup/>
                            <m:e>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𝑝</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𝑞</m:t>
                                      </m:r>
                                    </m:e>
                                  </m:d>
                                </m:e>
                                <m:sup>
                                  <m:r>
                                    <a:rPr lang="en-US" sz="2200" b="0" i="1" smtClean="0">
                                      <a:latin typeface="Cambria Math" panose="02040503050406030204" pitchFamily="18" charset="0"/>
                                      <a:ea typeface="Arial"/>
                                      <a:cs typeface="Arial"/>
                                      <a:sym typeface="Arial"/>
                                    </a:rPr>
                                    <m:t>2</m:t>
                                  </m:r>
                                </m:sup>
                              </m:sSup>
                            </m:e>
                          </m:nary>
                        </m:e>
                      </m:func>
                    </m:oMath>
                  </m:oMathPara>
                </a14:m>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algorithm thus asks: “How much do I need to shift the new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r>
                      <a:rPr lang="en-US" sz="2200" b="0" i="1" smtClean="0">
                        <a:latin typeface="Cambria Math" panose="02040503050406030204" pitchFamily="18" charset="0"/>
                        <a:ea typeface="Arial"/>
                        <a:cs typeface="Arial"/>
                        <a:sym typeface="Arial"/>
                      </a:rPr>
                      <m:t> = 3</m:t>
                    </m:r>
                  </m:oMath>
                </a14:m>
                <a:r>
                  <a:rPr lang="en-US" sz="2200" dirty="0">
                    <a:latin typeface="Arial"/>
                    <a:ea typeface="Arial"/>
                    <a:cs typeface="Arial"/>
                    <a:sym typeface="Arial"/>
                  </a:rPr>
                  <a:t>), so it sits as best it can on top of the old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r>
                      <a:rPr lang="en-US" sz="2200" b="0" i="1" smtClean="0">
                        <a:latin typeface="Cambria Math" panose="02040503050406030204" pitchFamily="18" charset="0"/>
                        <a:ea typeface="Arial"/>
                        <a:cs typeface="Arial"/>
                        <a:sym typeface="Arial"/>
                      </a:rPr>
                      <m:t>=5</m:t>
                    </m:r>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is the optimal </a:t>
                </a:r>
                <a14:m>
                  <m:oMath xmlns:m="http://schemas.openxmlformats.org/officeDocument/2006/math">
                    <m:r>
                      <m:rPr>
                        <m:sty m:val="p"/>
                      </m:rPr>
                      <a:rPr lang="en-US" sz="2200" b="0" i="1" smtClean="0">
                        <a:latin typeface="Cambria Math" panose="02040503050406030204" pitchFamily="18" charset="0"/>
                        <a:ea typeface="Arial"/>
                        <a:cs typeface="Arial"/>
                        <a:sym typeface="Arial"/>
                      </a:rPr>
                      <m:t>t</m:t>
                    </m:r>
                  </m:oMath>
                </a14:m>
                <a:r>
                  <a:rPr lang="en-US" sz="2200" dirty="0">
                    <a:latin typeface="Arial"/>
                    <a:ea typeface="Arial"/>
                    <a:cs typeface="Arial"/>
                    <a:sym typeface="Arial"/>
                  </a:rPr>
                  <a:t> in this case?</a:t>
                </a:r>
              </a:p>
            </p:txBody>
          </p:sp>
        </mc:Choice>
        <mc:Fallback xmlns="">
          <p:sp>
            <p:nvSpPr>
              <p:cNvPr id="118" name="Google Shape;118;p29">
                <a:extLst>
                  <a:ext uri="{FF2B5EF4-FFF2-40B4-BE49-F238E27FC236}">
                    <a16:creationId xmlns:a16="http://schemas.microsoft.com/office/drawing/2014/main" id="{EFFD8BA5-268D-97D7-E2B7-BA6013C0924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480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8987F96-CD3E-BBEA-6208-947A557A1D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89A0B3A-0D5A-DA3E-13BC-7B50CD4CAB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85D3B5E-3DF2-DB8F-ED75-D6BD39C6BC2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146F0F-28F6-3B10-0735-F487B9307E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7121B4-6DF8-F745-2C27-6FACD34DBF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18B2A5-EC31-FFCC-312A-A83C264CEA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4724B50-96E0-D78B-9C0D-3D16DC8C6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F4A49B4-1BB6-D2C7-A8A8-1233505D5B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061929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E8AFC9-DCA0-A170-785E-58DDC081E84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18E6A7D-7C03-90B5-44C6-DA653933FB0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FA858E9-4E33-9148-F601-1FC3F17BC0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255BC10-1281-3637-7463-2739E690A6B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79D369-68D7-02E2-018D-BF7B7ABB04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C25CBD-F11F-8CF4-2F43-9909419A97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3D52BC-9F31-2358-36E0-3E6F2BB3AC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5E408C-46AF-D3B6-293F-70505363CA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31247C-5581-B68D-86D9-28F24EE139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C79949CB-594B-F688-E4EF-95F9EBEE646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634827" y="886287"/>
            <a:ext cx="6922346" cy="5715247"/>
          </a:xfrm>
          <a:prstGeom prst="rect">
            <a:avLst/>
          </a:prstGeom>
        </p:spPr>
      </p:pic>
    </p:spTree>
    <p:extLst>
      <p:ext uri="{BB962C8B-B14F-4D97-AF65-F5344CB8AC3E}">
        <p14:creationId xmlns:p14="http://schemas.microsoft.com/office/powerpoint/2010/main" val="9481951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E03BF9-D61A-A4D9-E6F2-9D582C995F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9B75BFF-A104-C319-D9E5-F631D31BCDA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algorithm tells you that to align the scans, you must apply a translation of +2 meters to the new scan.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That +2 meters is exactly the distance the robot drove forward!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matches are indeed close to each other in the physical world, but they are offset in the sensors by the exact inverse of the robot's motion.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By finding the transformation (</a:t>
                </a:r>
                <a14:m>
                  <m:oMath xmlns:m="http://schemas.openxmlformats.org/officeDocument/2006/math">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𝑡</m:t>
                    </m:r>
                  </m:oMath>
                </a14:m>
                <a:r>
                  <a:rPr lang="en-US" sz="2200" dirty="0">
                    <a:latin typeface="Arial"/>
                    <a:ea typeface="Arial"/>
                    <a:cs typeface="Arial"/>
                    <a:sym typeface="Arial"/>
                  </a:rPr>
                  <a:t>) that shifts the new local scan (</a:t>
                </a:r>
                <a14:m>
                  <m:oMath xmlns:m="http://schemas.openxmlformats.org/officeDocument/2006/math">
                    <m:r>
                      <a:rPr lang="en-US" sz="2200" i="1" dirty="0" smtClean="0">
                        <a:latin typeface="Cambria Math" panose="02040503050406030204" pitchFamily="18" charset="0"/>
                        <a:ea typeface="Arial"/>
                        <a:cs typeface="Arial"/>
                        <a:sym typeface="Arial"/>
                      </a:rPr>
                      <m:t>𝑃</m:t>
                    </m:r>
                  </m:oMath>
                </a14:m>
                <a:r>
                  <a:rPr lang="en-US" sz="2200" dirty="0">
                    <a:latin typeface="Arial"/>
                    <a:ea typeface="Arial"/>
                    <a:cs typeface="Arial"/>
                    <a:sym typeface="Arial"/>
                  </a:rPr>
                  <a:t>) to overlay perfectly onto the global map (</a:t>
                </a:r>
                <a14:m>
                  <m:oMath xmlns:m="http://schemas.openxmlformats.org/officeDocument/2006/math">
                    <m:r>
                      <a:rPr lang="en-US" sz="2200" i="1" dirty="0" smtClean="0">
                        <a:latin typeface="Cambria Math" panose="02040503050406030204" pitchFamily="18" charset="0"/>
                        <a:ea typeface="Arial"/>
                        <a:cs typeface="Arial"/>
                        <a:sym typeface="Arial"/>
                      </a:rPr>
                      <m:t>𝑄</m:t>
                    </m:r>
                  </m:oMath>
                </a14:m>
                <a:r>
                  <a:rPr lang="en-US" sz="2200" dirty="0">
                    <a:latin typeface="Arial"/>
                    <a:ea typeface="Arial"/>
                    <a:cs typeface="Arial"/>
                    <a:sym typeface="Arial"/>
                  </a:rPr>
                  <a:t>), you are simultaneously calculating the robot's current pose in the world!</a:t>
                </a:r>
              </a:p>
            </p:txBody>
          </p:sp>
        </mc:Choice>
        <mc:Fallback xmlns="">
          <p:sp>
            <p:nvSpPr>
              <p:cNvPr id="118" name="Google Shape;118;p29">
                <a:extLst>
                  <a:ext uri="{FF2B5EF4-FFF2-40B4-BE49-F238E27FC236}">
                    <a16:creationId xmlns:a16="http://schemas.microsoft.com/office/drawing/2014/main" id="{59B75BFF-A104-C319-D9E5-F631D31BCDA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E13E55C-F724-F4BB-12D9-E7A23717A0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EA9DF77-EA39-C903-3A6B-B2FA82C3DBD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B796EA6-1013-C8CE-2056-DDB99563940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337AB9-1872-DE8B-4A2D-2CDD13A1DF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EC9943-4515-5705-D73D-30A4F1B07B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29EE6BC-41CF-3E15-914D-5120B84CBA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F2CD1BD-0F51-76A7-F5EC-6BDC6FC35C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3A2B2D-8F4C-2D25-482F-2829005566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10068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7DC8DD-B0E4-119E-6015-DDC2586E860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609DC74-815C-4944-842F-8BB5BD6E1E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mj-lt"/>
                <a:ea typeface="Arial"/>
                <a:cs typeface="Arial"/>
                <a:sym typeface="Arial"/>
              </a:rPr>
              <a:t>They differ in how many hypotheses (position estimates) they track and how they correct errors</a:t>
            </a: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342900">
              <a:lnSpc>
                <a:spcPct val="100000"/>
              </a:lnSpc>
              <a:spcBef>
                <a:spcPts val="0"/>
              </a:spcBef>
              <a:buSzPts val="3000"/>
            </a:pPr>
            <a:r>
              <a:rPr lang="en-US" sz="2200" dirty="0">
                <a:latin typeface="+mj-lt"/>
                <a:ea typeface="Arial"/>
                <a:cs typeface="Arial"/>
                <a:sym typeface="Arial"/>
              </a:rPr>
              <a:t>Modern SLAM combine all three: ICP for the front-end, filters for </a:t>
            </a:r>
            <a:r>
              <a:rPr lang="en-US" sz="2200" dirty="0" err="1">
                <a:latin typeface="+mj-lt"/>
                <a:ea typeface="Arial"/>
                <a:cs typeface="Arial"/>
                <a:sym typeface="Arial"/>
              </a:rPr>
              <a:t>relocalization</a:t>
            </a:r>
            <a:r>
              <a:rPr lang="en-US" sz="2200" dirty="0">
                <a:latin typeface="+mj-lt"/>
                <a:ea typeface="Arial"/>
                <a:cs typeface="Arial"/>
                <a:sym typeface="Arial"/>
              </a:rPr>
              <a:t>, graphs for the backend</a:t>
            </a: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p:txBody>
      </p:sp>
      <p:sp>
        <p:nvSpPr>
          <p:cNvPr id="119" name="Google Shape;119;p29">
            <a:extLst>
              <a:ext uri="{FF2B5EF4-FFF2-40B4-BE49-F238E27FC236}">
                <a16:creationId xmlns:a16="http://schemas.microsoft.com/office/drawing/2014/main" id="{98C0561E-C8E1-AB29-D81F-35A18C54B0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78C8A055-196B-C75B-5445-313AB4F4781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latin typeface="+mj-lt"/>
              </a:rPr>
              <a:t>Three Families of Localization Methods</a:t>
            </a:r>
          </a:p>
        </p:txBody>
      </p:sp>
      <p:pic>
        <p:nvPicPr>
          <p:cNvPr id="121" name="Google Shape;121;p29">
            <a:extLst>
              <a:ext uri="{FF2B5EF4-FFF2-40B4-BE49-F238E27FC236}">
                <a16:creationId xmlns:a16="http://schemas.microsoft.com/office/drawing/2014/main" id="{0F9EF2F4-A05C-5C2D-3AF1-E4699AEB16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4524AF-8A36-90EE-35FA-48CB207D7F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dirty="0">
                <a:solidFill>
                  <a:srgbClr val="13294B"/>
                </a:solidFill>
                <a:latin typeface="+mj-lt"/>
                <a:ea typeface="Arial"/>
                <a:cs typeface="Arial"/>
                <a:sym typeface="Arial"/>
              </a:rPr>
              <a:t>GRAINGER ENGINEERING</a:t>
            </a:r>
            <a:endParaRPr dirty="0">
              <a:latin typeface="+mj-lt"/>
            </a:endParaRPr>
          </a:p>
        </p:txBody>
      </p:sp>
      <p:sp>
        <p:nvSpPr>
          <p:cNvPr id="123" name="Google Shape;123;p29">
            <a:extLst>
              <a:ext uri="{FF2B5EF4-FFF2-40B4-BE49-F238E27FC236}">
                <a16:creationId xmlns:a16="http://schemas.microsoft.com/office/drawing/2014/main" id="{79AE9DE7-8E16-A32E-5BDB-1C9ED88B10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D35F0031-DDFB-1EDD-D9D2-94B17CB314E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5A5445-327A-6495-07A5-D496CD8FEB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D19557-4C42-CA8B-1744-B4DF969A88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5" name="Group 24">
            <a:extLst>
              <a:ext uri="{FF2B5EF4-FFF2-40B4-BE49-F238E27FC236}">
                <a16:creationId xmlns:a16="http://schemas.microsoft.com/office/drawing/2014/main" id="{CFC89405-72B7-2D93-E370-341DA655F908}"/>
              </a:ext>
            </a:extLst>
          </p:cNvPr>
          <p:cNvGrpSpPr/>
          <p:nvPr/>
        </p:nvGrpSpPr>
        <p:grpSpPr>
          <a:xfrm>
            <a:off x="548792" y="2107921"/>
            <a:ext cx="11094415" cy="3108960"/>
            <a:chOff x="490456" y="2066326"/>
            <a:chExt cx="11094415" cy="3108960"/>
          </a:xfrm>
        </p:grpSpPr>
        <p:grpSp>
          <p:nvGrpSpPr>
            <p:cNvPr id="22" name="Group 21">
              <a:extLst>
                <a:ext uri="{FF2B5EF4-FFF2-40B4-BE49-F238E27FC236}">
                  <a16:creationId xmlns:a16="http://schemas.microsoft.com/office/drawing/2014/main" id="{176FCF28-30A6-D2C7-F799-770A69A6F9B0}"/>
                </a:ext>
              </a:extLst>
            </p:cNvPr>
            <p:cNvGrpSpPr/>
            <p:nvPr/>
          </p:nvGrpSpPr>
          <p:grpSpPr>
            <a:xfrm>
              <a:off x="490456" y="2066326"/>
              <a:ext cx="3576218" cy="3108960"/>
              <a:chOff x="490456" y="2066326"/>
              <a:chExt cx="3576218" cy="3108960"/>
            </a:xfrm>
          </p:grpSpPr>
          <p:sp>
            <p:nvSpPr>
              <p:cNvPr id="2" name="Shape 3">
                <a:extLst>
                  <a:ext uri="{FF2B5EF4-FFF2-40B4-BE49-F238E27FC236}">
                    <a16:creationId xmlns:a16="http://schemas.microsoft.com/office/drawing/2014/main" id="{8A60497F-655E-1B51-70C1-1B42126E1F87}"/>
                  </a:ext>
                </a:extLst>
              </p:cNvPr>
              <p:cNvSpPr/>
              <p:nvPr/>
            </p:nvSpPr>
            <p:spPr>
              <a:xfrm>
                <a:off x="490456" y="2066326"/>
                <a:ext cx="3576218" cy="3108960"/>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E3E15BA5-0242-0A9B-CCAE-1E498207A202}"/>
                  </a:ext>
                </a:extLst>
              </p:cNvPr>
              <p:cNvSpPr/>
              <p:nvPr/>
            </p:nvSpPr>
            <p:spPr>
              <a:xfrm>
                <a:off x="490456" y="2066326"/>
                <a:ext cx="3576218" cy="45720"/>
              </a:xfrm>
              <a:prstGeom prst="rect">
                <a:avLst/>
              </a:prstGeom>
              <a:solidFill>
                <a:srgbClr val="0891B2"/>
              </a:solidFill>
              <a:ln/>
            </p:spPr>
            <p:txBody>
              <a:bodyPr/>
              <a:lstStyle/>
              <a:p>
                <a:endParaRPr lang="en-US">
                  <a:latin typeface="+mj-lt"/>
                </a:endParaRPr>
              </a:p>
            </p:txBody>
          </p:sp>
          <p:sp>
            <p:nvSpPr>
              <p:cNvPr id="4" name="Shape 5">
                <a:extLst>
                  <a:ext uri="{FF2B5EF4-FFF2-40B4-BE49-F238E27FC236}">
                    <a16:creationId xmlns:a16="http://schemas.microsoft.com/office/drawing/2014/main" id="{10D8C85A-02C0-1C59-006C-E278C973B147}"/>
                  </a:ext>
                </a:extLst>
              </p:cNvPr>
              <p:cNvSpPr/>
              <p:nvPr/>
            </p:nvSpPr>
            <p:spPr>
              <a:xfrm>
                <a:off x="673336" y="2294926"/>
                <a:ext cx="457200" cy="457200"/>
              </a:xfrm>
              <a:prstGeom prst="ellipse">
                <a:avLst/>
              </a:prstGeom>
              <a:solidFill>
                <a:srgbClr val="13294B"/>
              </a:solidFill>
              <a:ln/>
            </p:spPr>
            <p:txBody>
              <a:bodyPr/>
              <a:lstStyle/>
              <a:p>
                <a:endParaRPr lang="en-US">
                  <a:latin typeface="+mj-lt"/>
                </a:endParaRPr>
              </a:p>
            </p:txBody>
          </p:sp>
          <p:sp>
            <p:nvSpPr>
              <p:cNvPr id="5" name="Text 6">
                <a:extLst>
                  <a:ext uri="{FF2B5EF4-FFF2-40B4-BE49-F238E27FC236}">
                    <a16:creationId xmlns:a16="http://schemas.microsoft.com/office/drawing/2014/main" id="{B7FCD533-4108-9494-1568-215BD33B6758}"/>
                  </a:ext>
                </a:extLst>
              </p:cNvPr>
              <p:cNvSpPr/>
              <p:nvPr/>
            </p:nvSpPr>
            <p:spPr>
              <a:xfrm>
                <a:off x="673336"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7">
                <a:extLst>
                  <a:ext uri="{FF2B5EF4-FFF2-40B4-BE49-F238E27FC236}">
                    <a16:creationId xmlns:a16="http://schemas.microsoft.com/office/drawing/2014/main" id="{420B52CF-8943-2DB3-A6C6-C16DF9AD91D0}"/>
                  </a:ext>
                </a:extLst>
              </p:cNvPr>
              <p:cNvSpPr/>
              <p:nvPr/>
            </p:nvSpPr>
            <p:spPr>
              <a:xfrm>
                <a:off x="1221976"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Scan Matching (ICP)</a:t>
                </a:r>
                <a:endParaRPr lang="en-US" dirty="0">
                  <a:latin typeface="+mj-lt"/>
                </a:endParaRPr>
              </a:p>
            </p:txBody>
          </p:sp>
          <p:sp>
            <p:nvSpPr>
              <p:cNvPr id="7" name="Text 8">
                <a:extLst>
                  <a:ext uri="{FF2B5EF4-FFF2-40B4-BE49-F238E27FC236}">
                    <a16:creationId xmlns:a16="http://schemas.microsoft.com/office/drawing/2014/main" id="{3954E4D3-785E-7F1A-5FB4-3B3E19C9FFC3}"/>
                  </a:ext>
                </a:extLst>
              </p:cNvPr>
              <p:cNvSpPr/>
              <p:nvPr/>
            </p:nvSpPr>
            <p:spPr>
              <a:xfrm>
                <a:off x="673336"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Maintains ONE best guess.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Iteratively refines it by aligning the latest LiDAR scan to the map.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Fast, deterministic, fragile at initialization.</a:t>
                </a:r>
                <a:endParaRPr lang="en-US" sz="1600" dirty="0">
                  <a:latin typeface="+mj-lt"/>
                </a:endParaRPr>
              </a:p>
            </p:txBody>
          </p:sp>
        </p:grpSp>
        <p:grpSp>
          <p:nvGrpSpPr>
            <p:cNvPr id="23" name="Group 22">
              <a:extLst>
                <a:ext uri="{FF2B5EF4-FFF2-40B4-BE49-F238E27FC236}">
                  <a16:creationId xmlns:a16="http://schemas.microsoft.com/office/drawing/2014/main" id="{2BBECA3C-4E28-175A-1D1E-71DD801E3426}"/>
                </a:ext>
              </a:extLst>
            </p:cNvPr>
            <p:cNvGrpSpPr/>
            <p:nvPr/>
          </p:nvGrpSpPr>
          <p:grpSpPr>
            <a:xfrm>
              <a:off x="4249554" y="2066326"/>
              <a:ext cx="3576218" cy="3108960"/>
              <a:chOff x="4249554" y="2066326"/>
              <a:chExt cx="3576218" cy="3108960"/>
            </a:xfrm>
          </p:grpSpPr>
          <p:sp>
            <p:nvSpPr>
              <p:cNvPr id="9" name="Shape 10">
                <a:extLst>
                  <a:ext uri="{FF2B5EF4-FFF2-40B4-BE49-F238E27FC236}">
                    <a16:creationId xmlns:a16="http://schemas.microsoft.com/office/drawing/2014/main" id="{3E96FF99-C1AF-7372-FAC9-9ECD910FE34F}"/>
                  </a:ext>
                </a:extLst>
              </p:cNvPr>
              <p:cNvSpPr/>
              <p:nvPr/>
            </p:nvSpPr>
            <p:spPr>
              <a:xfrm>
                <a:off x="4249554" y="2066326"/>
                <a:ext cx="3576218" cy="3108960"/>
              </a:xfrm>
              <a:prstGeom prst="rect">
                <a:avLst/>
              </a:prstGeom>
              <a:solidFill>
                <a:srgbClr val="F1F5F9"/>
              </a:solidFill>
              <a:ln/>
            </p:spPr>
            <p:txBody>
              <a:bodyPr/>
              <a:lstStyle/>
              <a:p>
                <a:endParaRPr lang="en-US">
                  <a:latin typeface="+mj-lt"/>
                </a:endParaRPr>
              </a:p>
            </p:txBody>
          </p:sp>
          <p:sp>
            <p:nvSpPr>
              <p:cNvPr id="10" name="Shape 11">
                <a:extLst>
                  <a:ext uri="{FF2B5EF4-FFF2-40B4-BE49-F238E27FC236}">
                    <a16:creationId xmlns:a16="http://schemas.microsoft.com/office/drawing/2014/main" id="{5ABF6962-C9E2-AF3C-762A-F1EF5C763934}"/>
                  </a:ext>
                </a:extLst>
              </p:cNvPr>
              <p:cNvSpPr/>
              <p:nvPr/>
            </p:nvSpPr>
            <p:spPr>
              <a:xfrm>
                <a:off x="4249554" y="2066326"/>
                <a:ext cx="3576218" cy="45720"/>
              </a:xfrm>
              <a:prstGeom prst="rect">
                <a:avLst/>
              </a:prstGeom>
              <a:solidFill>
                <a:srgbClr val="0891B2"/>
              </a:solidFill>
              <a:ln/>
            </p:spPr>
            <p:txBody>
              <a:bodyPr/>
              <a:lstStyle/>
              <a:p>
                <a:endParaRPr lang="en-US">
                  <a:latin typeface="+mj-lt"/>
                </a:endParaRPr>
              </a:p>
            </p:txBody>
          </p:sp>
          <p:sp>
            <p:nvSpPr>
              <p:cNvPr id="11" name="Shape 12">
                <a:extLst>
                  <a:ext uri="{FF2B5EF4-FFF2-40B4-BE49-F238E27FC236}">
                    <a16:creationId xmlns:a16="http://schemas.microsoft.com/office/drawing/2014/main" id="{C2BDA352-0357-89FC-B350-06721E4DDB6D}"/>
                  </a:ext>
                </a:extLst>
              </p:cNvPr>
              <p:cNvSpPr/>
              <p:nvPr/>
            </p:nvSpPr>
            <p:spPr>
              <a:xfrm>
                <a:off x="4432434" y="2294926"/>
                <a:ext cx="457200" cy="457200"/>
              </a:xfrm>
              <a:prstGeom prst="ellipse">
                <a:avLst/>
              </a:prstGeom>
              <a:solidFill>
                <a:srgbClr val="13294B"/>
              </a:solidFill>
              <a:ln/>
            </p:spPr>
            <p:txBody>
              <a:bodyPr/>
              <a:lstStyle/>
              <a:p>
                <a:endParaRPr lang="en-US">
                  <a:latin typeface="+mj-lt"/>
                </a:endParaRPr>
              </a:p>
            </p:txBody>
          </p:sp>
          <p:sp>
            <p:nvSpPr>
              <p:cNvPr id="12" name="Text 13">
                <a:extLst>
                  <a:ext uri="{FF2B5EF4-FFF2-40B4-BE49-F238E27FC236}">
                    <a16:creationId xmlns:a16="http://schemas.microsoft.com/office/drawing/2014/main" id="{234B68A2-CF2B-A1EC-C9CB-D8B1492988F8}"/>
                  </a:ext>
                </a:extLst>
              </p:cNvPr>
              <p:cNvSpPr/>
              <p:nvPr/>
            </p:nvSpPr>
            <p:spPr>
              <a:xfrm>
                <a:off x="4432434"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4">
                <a:extLst>
                  <a:ext uri="{FF2B5EF4-FFF2-40B4-BE49-F238E27FC236}">
                    <a16:creationId xmlns:a16="http://schemas.microsoft.com/office/drawing/2014/main" id="{B288728E-D4AA-A5C8-F00A-BD77D07F8F8A}"/>
                  </a:ext>
                </a:extLst>
              </p:cNvPr>
              <p:cNvSpPr/>
              <p:nvPr/>
            </p:nvSpPr>
            <p:spPr>
              <a:xfrm>
                <a:off x="4981074"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Particle Filter (MCL)</a:t>
                </a:r>
                <a:endParaRPr lang="en-US" dirty="0">
                  <a:latin typeface="+mj-lt"/>
                </a:endParaRPr>
              </a:p>
            </p:txBody>
          </p:sp>
          <p:sp>
            <p:nvSpPr>
              <p:cNvPr id="14" name="Text 15">
                <a:extLst>
                  <a:ext uri="{FF2B5EF4-FFF2-40B4-BE49-F238E27FC236}">
                    <a16:creationId xmlns:a16="http://schemas.microsoft.com/office/drawing/2014/main" id="{6109BEA4-4428-8A3E-37CE-3821FA4FA8FD}"/>
                  </a:ext>
                </a:extLst>
              </p:cNvPr>
              <p:cNvSpPr/>
              <p:nvPr/>
            </p:nvSpPr>
            <p:spPr>
              <a:xfrm>
                <a:off x="4432434"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Tracks HUNDREDS of weighted hypotheses in parallel.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Probabilistic, handles kidnapping, but memory-heavy for large maps.</a:t>
                </a:r>
                <a:endParaRPr lang="en-US" sz="1600" dirty="0">
                  <a:latin typeface="+mj-lt"/>
                </a:endParaRPr>
              </a:p>
            </p:txBody>
          </p:sp>
        </p:grpSp>
        <p:grpSp>
          <p:nvGrpSpPr>
            <p:cNvPr id="24" name="Group 23">
              <a:extLst>
                <a:ext uri="{FF2B5EF4-FFF2-40B4-BE49-F238E27FC236}">
                  <a16:creationId xmlns:a16="http://schemas.microsoft.com/office/drawing/2014/main" id="{3840B146-6C2F-0B67-E61B-3A5E0899015B}"/>
                </a:ext>
              </a:extLst>
            </p:cNvPr>
            <p:cNvGrpSpPr/>
            <p:nvPr/>
          </p:nvGrpSpPr>
          <p:grpSpPr>
            <a:xfrm>
              <a:off x="8008653" y="2066326"/>
              <a:ext cx="3576218" cy="3108960"/>
              <a:chOff x="8008653" y="2066326"/>
              <a:chExt cx="3576218" cy="3108960"/>
            </a:xfrm>
          </p:grpSpPr>
          <p:sp>
            <p:nvSpPr>
              <p:cNvPr id="16" name="Shape 17">
                <a:extLst>
                  <a:ext uri="{FF2B5EF4-FFF2-40B4-BE49-F238E27FC236}">
                    <a16:creationId xmlns:a16="http://schemas.microsoft.com/office/drawing/2014/main" id="{3DFCC8EB-A703-2A07-E736-B9F8B11DF1B9}"/>
                  </a:ext>
                </a:extLst>
              </p:cNvPr>
              <p:cNvSpPr/>
              <p:nvPr/>
            </p:nvSpPr>
            <p:spPr>
              <a:xfrm>
                <a:off x="8008653" y="2066326"/>
                <a:ext cx="3576218" cy="3108960"/>
              </a:xfrm>
              <a:prstGeom prst="rect">
                <a:avLst/>
              </a:prstGeom>
              <a:solidFill>
                <a:srgbClr val="F1F5F9"/>
              </a:solidFill>
              <a:ln/>
            </p:spPr>
            <p:txBody>
              <a:bodyPr/>
              <a:lstStyle/>
              <a:p>
                <a:endParaRPr lang="en-US">
                  <a:latin typeface="+mj-lt"/>
                </a:endParaRPr>
              </a:p>
            </p:txBody>
          </p:sp>
          <p:sp>
            <p:nvSpPr>
              <p:cNvPr id="17" name="Shape 18">
                <a:extLst>
                  <a:ext uri="{FF2B5EF4-FFF2-40B4-BE49-F238E27FC236}">
                    <a16:creationId xmlns:a16="http://schemas.microsoft.com/office/drawing/2014/main" id="{8CE862D2-AC2E-9CC2-C373-7CE5010D85C3}"/>
                  </a:ext>
                </a:extLst>
              </p:cNvPr>
              <p:cNvSpPr/>
              <p:nvPr/>
            </p:nvSpPr>
            <p:spPr>
              <a:xfrm>
                <a:off x="8008653" y="2066326"/>
                <a:ext cx="3576218" cy="45720"/>
              </a:xfrm>
              <a:prstGeom prst="rect">
                <a:avLst/>
              </a:prstGeom>
              <a:solidFill>
                <a:srgbClr val="0891B2"/>
              </a:solidFill>
              <a:ln/>
            </p:spPr>
            <p:txBody>
              <a:bodyPr/>
              <a:lstStyle/>
              <a:p>
                <a:endParaRPr lang="en-US">
                  <a:latin typeface="+mj-lt"/>
                </a:endParaRPr>
              </a:p>
            </p:txBody>
          </p:sp>
          <p:sp>
            <p:nvSpPr>
              <p:cNvPr id="18" name="Shape 19">
                <a:extLst>
                  <a:ext uri="{FF2B5EF4-FFF2-40B4-BE49-F238E27FC236}">
                    <a16:creationId xmlns:a16="http://schemas.microsoft.com/office/drawing/2014/main" id="{383C312D-2DAD-1AEB-5E3F-CB976EDD7E61}"/>
                  </a:ext>
                </a:extLst>
              </p:cNvPr>
              <p:cNvSpPr/>
              <p:nvPr/>
            </p:nvSpPr>
            <p:spPr>
              <a:xfrm>
                <a:off x="8191533" y="2294926"/>
                <a:ext cx="457200" cy="457200"/>
              </a:xfrm>
              <a:prstGeom prst="ellipse">
                <a:avLst/>
              </a:prstGeom>
              <a:solidFill>
                <a:srgbClr val="13294B"/>
              </a:solidFill>
              <a:ln/>
            </p:spPr>
            <p:txBody>
              <a:bodyPr/>
              <a:lstStyle/>
              <a:p>
                <a:endParaRPr lang="en-US">
                  <a:latin typeface="+mj-lt"/>
                </a:endParaRPr>
              </a:p>
            </p:txBody>
          </p:sp>
          <p:sp>
            <p:nvSpPr>
              <p:cNvPr id="19" name="Text 20">
                <a:extLst>
                  <a:ext uri="{FF2B5EF4-FFF2-40B4-BE49-F238E27FC236}">
                    <a16:creationId xmlns:a16="http://schemas.microsoft.com/office/drawing/2014/main" id="{4A5BCBA7-3985-8374-2D18-CA7EF419720E}"/>
                  </a:ext>
                </a:extLst>
              </p:cNvPr>
              <p:cNvSpPr/>
              <p:nvPr/>
            </p:nvSpPr>
            <p:spPr>
              <a:xfrm>
                <a:off x="8191533"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1">
                <a:extLst>
                  <a:ext uri="{FF2B5EF4-FFF2-40B4-BE49-F238E27FC236}">
                    <a16:creationId xmlns:a16="http://schemas.microsoft.com/office/drawing/2014/main" id="{7D5B8EF1-0807-74C7-51DD-6CEEE0F5FCC1}"/>
                  </a:ext>
                </a:extLst>
              </p:cNvPr>
              <p:cNvSpPr/>
              <p:nvPr/>
            </p:nvSpPr>
            <p:spPr>
              <a:xfrm>
                <a:off x="8740173"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Graph Optimization</a:t>
                </a:r>
                <a:endParaRPr lang="en-US" dirty="0">
                  <a:latin typeface="+mj-lt"/>
                </a:endParaRPr>
              </a:p>
            </p:txBody>
          </p:sp>
          <p:sp>
            <p:nvSpPr>
              <p:cNvPr id="21" name="Text 22">
                <a:extLst>
                  <a:ext uri="{FF2B5EF4-FFF2-40B4-BE49-F238E27FC236}">
                    <a16:creationId xmlns:a16="http://schemas.microsoft.com/office/drawing/2014/main" id="{F10A191C-6CCE-8F7C-2C8F-68038635ACC1}"/>
                  </a:ext>
                </a:extLst>
              </p:cNvPr>
              <p:cNvSpPr/>
              <p:nvPr/>
            </p:nvSpPr>
            <p:spPr>
              <a:xfrm>
                <a:off x="8191533"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Maintains a graph of every past pose + constraints.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Solves them all simultaneously.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Today's gold standard for global consistency.</a:t>
                </a:r>
                <a:endParaRPr lang="en-US" sz="1600" dirty="0">
                  <a:latin typeface="+mj-lt"/>
                </a:endParaRPr>
              </a:p>
            </p:txBody>
          </p:sp>
        </p:grpSp>
      </p:grpSp>
    </p:spTree>
    <p:extLst>
      <p:ext uri="{BB962C8B-B14F-4D97-AF65-F5344CB8AC3E}">
        <p14:creationId xmlns:p14="http://schemas.microsoft.com/office/powerpoint/2010/main" val="10737099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A7271E40-2901-B511-C8FC-A97E67C7794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95241AD-8DC8-2F2E-0BEF-DCAA1FE187F7}"/>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A50738B1-EBD3-F19E-6A1A-0FC2835BD74C}"/>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ICP</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935712FF-5D4D-05A7-8B81-1E1AA6EAF57A}"/>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312605C-047C-0723-2B08-58F8B6BC326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C81D14EE-F83F-28F0-07AA-E80E45B6856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6E6360AB-2BB2-AE46-4504-C8CFA17C4F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927209FC-3A81-9617-0397-79FE70D40C0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06D9B0F-6222-D52C-A010-88BFC8EF164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FEEFC25-2B4B-2B6F-519F-6915EE08811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9CB1C736-3694-B72F-4EC2-23C116CCE603}"/>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129601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A45857-3155-0B23-A82B-AEFA88B2C2A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69596AB-E0EF-314A-CB06-5DE1E9C3922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ICP stands for Iterative Closest Point: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Repeat the following 4 steps until the transformation stops changing:</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200000"/>
                  </a:lnSpc>
                  <a:spcBef>
                    <a:spcPts val="0"/>
                  </a:spcBef>
                  <a:buSzPts val="3000"/>
                </a:pPr>
                <a:r>
                  <a:rPr lang="en-US" sz="2200" dirty="0">
                    <a:latin typeface="Arial"/>
                    <a:ea typeface="Arial"/>
                    <a:cs typeface="Arial"/>
                    <a:sym typeface="Arial"/>
                  </a:rPr>
                  <a:t>Data Association: pair each source point with its nearest target point</a:t>
                </a:r>
              </a:p>
              <a:p>
                <a:pPr marL="342900">
                  <a:lnSpc>
                    <a:spcPct val="200000"/>
                  </a:lnSpc>
                  <a:spcBef>
                    <a:spcPts val="0"/>
                  </a:spcBef>
                  <a:buSzPts val="3000"/>
                </a:pPr>
                <a:r>
                  <a:rPr lang="en-US" sz="2200" dirty="0">
                    <a:latin typeface="Arial"/>
                    <a:ea typeface="Arial"/>
                    <a:cs typeface="Arial"/>
                    <a:sym typeface="Arial"/>
                  </a:rPr>
                  <a:t>Transformation: solve for the </a:t>
                </a:r>
                <a14:m>
                  <m:oMath xmlns:m="http://schemas.openxmlformats.org/officeDocument/2006/math">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 </m:t>
                    </m:r>
                    <m:r>
                      <a:rPr lang="en-US" sz="2200" i="1" dirty="0">
                        <a:latin typeface="Cambria Math" panose="02040503050406030204" pitchFamily="18" charset="0"/>
                        <a:ea typeface="Arial"/>
                        <a:cs typeface="Arial"/>
                        <a:sym typeface="Arial"/>
                      </a:rPr>
                      <m:t>𝑡</m:t>
                    </m:r>
                  </m:oMath>
                </a14:m>
                <a:r>
                  <a:rPr lang="en-US" sz="2200" dirty="0">
                    <a:latin typeface="Arial"/>
                    <a:ea typeface="Arial"/>
                    <a:cs typeface="Arial"/>
                    <a:sym typeface="Arial"/>
                  </a:rPr>
                  <a:t> that best aligns the matched pairs</a:t>
                </a:r>
              </a:p>
              <a:p>
                <a:pPr marL="342900">
                  <a:lnSpc>
                    <a:spcPct val="200000"/>
                  </a:lnSpc>
                  <a:spcBef>
                    <a:spcPts val="0"/>
                  </a:spcBef>
                  <a:buSzPts val="3000"/>
                </a:pPr>
                <a:r>
                  <a:rPr lang="en-US" sz="2200" dirty="0">
                    <a:latin typeface="Arial"/>
                    <a:ea typeface="Arial"/>
                    <a:cs typeface="Arial"/>
                    <a:sym typeface="Arial"/>
                  </a:rPr>
                  <a:t>Apply: move the source cloud by that transformation</a:t>
                </a:r>
              </a:p>
              <a:p>
                <a:pPr marL="342900">
                  <a:lnSpc>
                    <a:spcPct val="200000"/>
                  </a:lnSpc>
                  <a:spcBef>
                    <a:spcPts val="0"/>
                  </a:spcBef>
                  <a:buSzPts val="3000"/>
                </a:pPr>
                <a:r>
                  <a:rPr lang="en-US" sz="2200" dirty="0">
                    <a:latin typeface="Arial"/>
                    <a:ea typeface="Arial"/>
                    <a:cs typeface="Arial"/>
                    <a:sym typeface="Arial"/>
                  </a:rPr>
                  <a:t>Check: if the error has dropped below a threshold stop. Otherwise loop.</a:t>
                </a:r>
              </a:p>
            </p:txBody>
          </p:sp>
        </mc:Choice>
        <mc:Fallback xmlns="">
          <p:sp>
            <p:nvSpPr>
              <p:cNvPr id="118" name="Google Shape;118;p29">
                <a:extLst>
                  <a:ext uri="{FF2B5EF4-FFF2-40B4-BE49-F238E27FC236}">
                    <a16:creationId xmlns:a16="http://schemas.microsoft.com/office/drawing/2014/main" id="{A69596AB-E0EF-314A-CB06-5DE1E9C3922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BFE1324-EE03-AC60-85B6-4CD87219D76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5202AC5-2F33-647C-01A2-12B9B28E743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28AFE4D-BB60-C285-839E-F19E00C2A6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BD00D9-F020-F4A6-1723-12CAB6D2D9F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0C80EA1-A95B-FE5B-D431-BEE9CC38D5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8519249-A3CB-38DC-EED6-3A44ACAE19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9AECAB-87E2-D63E-0974-49E8CA1AFC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C6A3903-D12D-F5B2-98F4-B94F478C05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3478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EC0F0E-0481-B301-FC10-30AFEE683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807B12-03E9-C70C-96A3-E7A68DEA65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61BA1D8-D8FF-10C3-4E53-C0C9E7E08E9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973E846-2B12-71CF-8FE5-5B7F695451F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0E865C-B244-A5B5-79E6-071F8BF8BD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18CF67-66D7-DD8F-B497-A5B57B634E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03BB29-7A41-1E8B-F8EC-D101A45D51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A9FC15-2E1A-91E6-8A70-400FAF95AB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60F21F-1B3E-752B-F714-A780658937F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B15FABCB-9326-B5A1-346B-EDFBCF96415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0" y="1730115"/>
            <a:ext cx="12192000" cy="3397771"/>
          </a:xfrm>
          <a:prstGeom prst="rect">
            <a:avLst/>
          </a:prstGeom>
        </p:spPr>
      </p:pic>
    </p:spTree>
    <p:extLst>
      <p:ext uri="{BB962C8B-B14F-4D97-AF65-F5344CB8AC3E}">
        <p14:creationId xmlns:p14="http://schemas.microsoft.com/office/powerpoint/2010/main" val="18331796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5E9734-5624-215D-EC60-CB87CFF42B7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AD3CFDA-E270-C2CA-A8B4-3107027897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starting point of the ICP methods,</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Match each source point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oMath>
                </a14:m>
                <a:r>
                  <a:rPr lang="en-US" sz="2200" dirty="0">
                    <a:latin typeface="Arial"/>
                    <a:ea typeface="Arial"/>
                    <a:cs typeface="Arial"/>
                    <a:sym typeface="Arial"/>
                  </a:rPr>
                  <a:t> to its geometrically nearest target point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oMath>
                </a14:m>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Measure the straight-line Euclidean distance between each matched pair</a:t>
                </a:r>
              </a:p>
              <a:p>
                <a:pPr marL="342900">
                  <a:lnSpc>
                    <a:spcPct val="100000"/>
                  </a:lnSpc>
                  <a:spcBef>
                    <a:spcPts val="0"/>
                  </a:spcBef>
                  <a:buSzPts val="3000"/>
                </a:pPr>
                <a:r>
                  <a:rPr lang="en-US" sz="2200" dirty="0">
                    <a:latin typeface="Arial"/>
                    <a:ea typeface="Arial"/>
                    <a:cs typeface="Arial"/>
                    <a:sym typeface="Arial"/>
                  </a:rPr>
                  <a:t>Sum the squared distances and minimize over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m:t>
                    </m:r>
                    <m:r>
                      <m:rPr>
                        <m:sty m:val="p"/>
                      </m:rPr>
                      <a:rPr lang="en-US" sz="2200" b="0" i="1" smtClean="0">
                        <a:latin typeface="Cambria Math" panose="02040503050406030204" pitchFamily="18" charset="0"/>
                        <a:ea typeface="Arial"/>
                        <a:cs typeface="Arial"/>
                        <a:sym typeface="Arial"/>
                      </a:rPr>
                      <m:t>t</m:t>
                    </m:r>
                  </m:oMath>
                </a14:m>
                <a:endParaRPr lang="en-US" sz="2200" dirty="0">
                  <a:latin typeface="Arial"/>
                  <a:ea typeface="Arial"/>
                  <a:cs typeface="Arial"/>
                  <a:sym typeface="Arial"/>
                </a:endParaRP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This is exactly what is illustrated in the figure.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happens if you start the initial guess very wrong, say 90 degree off?</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Works very well when two-point clouds start near each other and have clear features.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Falls apart in featureless or repetitive environments (more on that soon)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5AD3CFDA-E270-C2CA-A8B4-3107027897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0C16740-FD9B-B31F-A18D-B5484F4555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DBC1340-EEDF-5DA3-FFDD-1393972A312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3F489A5-5628-03E1-B891-5E123862046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5964C8-960F-C46C-F63E-3309F44FC3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397F22-8030-DE41-7AF9-3FAEDE9C6E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61B3E26-F585-8208-90FB-5D4FD74CD2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B1207B-928C-A132-5C77-43B8C1DC5C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2579A7E-9179-D863-E1AD-7522C3780E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09860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B3ED992-E2CC-0686-E2B4-858C1B476AA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5904E7A-6FBF-7BFB-A6C5-1C9C10C0A0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F1D3AFB-D122-950D-4FC6-2D9C58CB5B3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6BDF7E9-98B5-0025-8673-B20FDBD21BA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E60B84-D489-8710-964A-ADC22593AB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358751C-8B41-C506-DEF6-CA4042B6A0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2C6BA9-5E73-8D4F-A4F3-5CAB14A55F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54FB5D-C034-D6D2-F6E5-1C93C12AD4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5D5472-5A41-6455-4F2D-16EBC79525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1743C38-62B8-77DC-2BF1-B3B213EBF58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0" y="1730115"/>
            <a:ext cx="12192000" cy="3397771"/>
          </a:xfrm>
          <a:prstGeom prst="rect">
            <a:avLst/>
          </a:prstGeom>
        </p:spPr>
      </p:pic>
    </p:spTree>
    <p:extLst>
      <p:ext uri="{BB962C8B-B14F-4D97-AF65-F5344CB8AC3E}">
        <p14:creationId xmlns:p14="http://schemas.microsoft.com/office/powerpoint/2010/main" val="864831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DD5F1A0-E43C-1831-E1B4-16E12B4ABB6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555AC1E-3D62-9573-A818-0A66B725772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For every matched pair </a:t>
                </a:r>
                <a14:m>
                  <m:oMath xmlns:m="http://schemas.openxmlformats.org/officeDocument/2006/math">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oMath>
                </a14:m>
                <a:r>
                  <a:rPr lang="en-US" sz="2200" dirty="0">
                    <a:latin typeface="Arial"/>
                    <a:ea typeface="Arial"/>
                    <a:cs typeface="Arial"/>
                    <a:sym typeface="Arial"/>
                  </a:rPr>
                  <a:t>, the residual is the 3D (or 2D) vector from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oMath>
                </a14:m>
                <a:r>
                  <a:rPr lang="en-US" sz="2200" dirty="0">
                    <a:latin typeface="Arial"/>
                    <a:ea typeface="Arial"/>
                    <a:cs typeface="Arial"/>
                    <a:sym typeface="Arial"/>
                  </a:rPr>
                  <a:t> to the transformed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oMath>
                </a14:m>
                <a:r>
                  <a:rPr lang="en-US" sz="2200" dirty="0">
                    <a:latin typeface="Arial"/>
                    <a:ea typeface="Arial"/>
                    <a:cs typeface="Arial"/>
                    <a:sym typeface="Arial"/>
                  </a:rPr>
                  <a:t>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objective function is the sum of the squared residual magnitudes, a least-squares problem!</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Given that this is a least-squares problem what is the advantage?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There is a </a:t>
                </a:r>
                <a:r>
                  <a:rPr lang="en-US" sz="2200" b="1" dirty="0">
                    <a:latin typeface="Arial"/>
                    <a:ea typeface="Arial"/>
                    <a:cs typeface="Arial"/>
                    <a:sym typeface="Arial"/>
                  </a:rPr>
                  <a:t>closed-form</a:t>
                </a:r>
                <a:r>
                  <a:rPr lang="en-US" sz="2200" dirty="0">
                    <a:latin typeface="Arial"/>
                    <a:ea typeface="Arial"/>
                    <a:cs typeface="Arial"/>
                    <a:sym typeface="Arial"/>
                  </a:rPr>
                  <a:t> solution via Singular Value Decomposition (SVD)</a:t>
                </a:r>
              </a:p>
              <a:p>
                <a:pPr marL="0" indent="0">
                  <a:lnSpc>
                    <a:spcPct val="100000"/>
                  </a:lnSpc>
                  <a:spcBef>
                    <a:spcPts val="0"/>
                  </a:spcBef>
                  <a:buSzPts val="3000"/>
                  <a:buNone/>
                </a:pPr>
                <a:endParaRPr lang="en-US" sz="2200" b="1"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No iterative non-linear solver needed for each inner step!</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ea typeface="Arial"/>
                          <a:cs typeface="Arial"/>
                          <a:sym typeface="Arial"/>
                        </a:rPr>
                        <m:t>𝐸</m:t>
                      </m:r>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e>
                      </m:d>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sSup>
                            <m:sSupPr>
                              <m:ctrlPr>
                                <a:rPr lang="en-US" sz="2200" b="0" i="1" smtClean="0">
                                  <a:latin typeface="Cambria Math" panose="02040503050406030204" pitchFamily="18" charset="0"/>
                                  <a:ea typeface="Arial"/>
                                  <a:cs typeface="Arial"/>
                                  <a:sym typeface="Arial"/>
                                </a:rPr>
                              </m:ctrlPr>
                            </m:sSupPr>
                            <m:e>
                              <m:d>
                                <m:dPr>
                                  <m:begChr m:val="|"/>
                                  <m:endChr m:val="|"/>
                                  <m:ctrlPr>
                                    <a:rPr lang="en-US" sz="2200" b="0" i="1" smtClean="0">
                                      <a:latin typeface="Cambria Math" panose="02040503050406030204" pitchFamily="18" charset="0"/>
                                      <a:ea typeface="Arial"/>
                                      <a:cs typeface="Arial"/>
                                      <a:sym typeface="Arial"/>
                                    </a:rPr>
                                  </m:ctrlPr>
                                </m:dPr>
                                <m:e>
                                  <m:d>
                                    <m:dPr>
                                      <m:begChr m:val="|"/>
                                      <m:endChr m:val="|"/>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e>
                              </m:d>
                            </m:e>
                            <m:sup>
                              <m:r>
                                <a:rPr lang="en-US" sz="2200" b="0" i="1" smtClean="0">
                                  <a:latin typeface="Cambria Math" panose="02040503050406030204" pitchFamily="18" charset="0"/>
                                  <a:ea typeface="Arial"/>
                                  <a:cs typeface="Arial"/>
                                  <a:sym typeface="Arial"/>
                                </a:rPr>
                                <m:t>2</m:t>
                              </m:r>
                            </m:sup>
                          </m:sSup>
                        </m:e>
                      </m:nary>
                    </m:oMath>
                  </m:oMathPara>
                </a14:m>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5555AC1E-3D62-9573-A818-0A66B725772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12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F3F59BF-3FED-23F5-50D5-C938931F37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9082CC1-602C-61FF-373F-19A82E03EE2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640CA39-335D-129A-2F6E-A5771C5FF09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F99EC32-F4AE-FD9F-19E5-A80FFB234AC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C064F4-0F3F-84C5-823B-858C7576144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2431229-0467-1794-9E3A-CF783B9CBF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CD0CA8-B888-A2D2-AEB5-E9B42E946F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4B6BC5-248B-43C3-2112-D9F17ECFE4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321149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EAE5298-0383-9D11-AA8C-F26C6CFADC6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2587E03-B01B-2B65-28EA-69B28EF5AA0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P2P ICP can be solved in 4 steps:</a:t>
                </a:r>
              </a:p>
              <a:p>
                <a:pPr marL="0" indent="0">
                  <a:lnSpc>
                    <a:spcPct val="100000"/>
                  </a:lnSpc>
                  <a:spcBef>
                    <a:spcPts val="0"/>
                  </a:spcBef>
                  <a:buSzPts val="3000"/>
                  <a:buNone/>
                </a:pPr>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Compute the centroids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r>
                  <a:rPr lang="en-US" sz="2200" dirty="0">
                    <a:latin typeface="Arial"/>
                    <a:ea typeface="Arial"/>
                    <a:cs typeface="Arial"/>
                    <a:sym typeface="Arial"/>
                  </a:rPr>
                  <a:t> and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oMath>
                </a14:m>
                <a:r>
                  <a:rPr lang="en-US" sz="2200" dirty="0">
                    <a:latin typeface="Arial"/>
                    <a:ea typeface="Arial"/>
                    <a:cs typeface="Arial"/>
                    <a:sym typeface="Arial"/>
                  </a:rPr>
                  <a:t> of both point clouds</a:t>
                </a:r>
              </a:p>
              <a:p>
                <a:pPr indent="-457200">
                  <a:lnSpc>
                    <a:spcPct val="150000"/>
                  </a:lnSpc>
                  <a:spcBef>
                    <a:spcPts val="0"/>
                  </a:spcBef>
                  <a:buSzPts val="3000"/>
                  <a:buFont typeface="+mj-lt"/>
                  <a:buAutoNum type="arabicPeriod"/>
                </a:pPr>
                <a:r>
                  <a:rPr lang="en-US" sz="2200" dirty="0">
                    <a:latin typeface="Arial"/>
                    <a:ea typeface="Arial"/>
                    <a:cs typeface="Arial"/>
                    <a:sym typeface="Arial"/>
                  </a:rPr>
                  <a:t>Build the 2×2 cross-covariance matrix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e>
                        </m:d>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e>
                            </m:d>
                          </m:e>
                          <m:sup>
                            <m:r>
                              <a:rPr lang="en-US" sz="2200" b="0" i="1" smtClean="0">
                                <a:latin typeface="Cambria Math" panose="02040503050406030204" pitchFamily="18" charset="0"/>
                                <a:ea typeface="Arial"/>
                                <a:cs typeface="Arial"/>
                                <a:sym typeface="Arial"/>
                              </a:rPr>
                              <m:t>⊤</m:t>
                            </m:r>
                          </m:sup>
                        </m:sSup>
                      </m:e>
                    </m:nary>
                  </m:oMath>
                </a14:m>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Decompose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𝑈</m:t>
                    </m:r>
                    <m:r>
                      <a:rPr lang="en-US" sz="2200" b="0" i="1" smtClean="0">
                        <a:latin typeface="Cambria Math" panose="02040503050406030204" pitchFamily="18" charset="0"/>
                        <a:ea typeface="Arial"/>
                        <a:cs typeface="Arial"/>
                        <a:sym typeface="Arial"/>
                      </a:rPr>
                      <m:t>⋅</m:t>
                    </m:r>
                    <m:r>
                      <m:rPr>
                        <m:sty m:val="p"/>
                      </m:rPr>
                      <a:rPr lang="en-US" sz="2200" b="0" i="0" smtClean="0">
                        <a:latin typeface="Cambria Math" panose="02040503050406030204" pitchFamily="18" charset="0"/>
                        <a:ea typeface="Arial"/>
                        <a:cs typeface="Arial"/>
                        <a:sym typeface="Arial"/>
                      </a:rPr>
                      <m:t>Σ</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𝑉</m:t>
                        </m:r>
                      </m:e>
                      <m:sup>
                        <m:r>
                          <a:rPr lang="en-US" sz="2200" b="0" i="1" smtClean="0">
                            <a:latin typeface="Cambria Math" panose="02040503050406030204" pitchFamily="18" charset="0"/>
                            <a:ea typeface="Arial"/>
                            <a:cs typeface="Arial"/>
                            <a:sym typeface="Arial"/>
                          </a:rPr>
                          <m:t>⊤</m:t>
                        </m:r>
                      </m:sup>
                    </m:sSup>
                  </m:oMath>
                </a14:m>
                <a:r>
                  <a:rPr lang="en-US" sz="2200" dirty="0">
                    <a:latin typeface="Arial"/>
                    <a:ea typeface="Arial"/>
                    <a:cs typeface="Arial"/>
                    <a:sym typeface="Arial"/>
                  </a:rPr>
                  <a:t> using Singular Value Decomposition</a:t>
                </a:r>
              </a:p>
              <a:p>
                <a:pPr indent="-457200">
                  <a:lnSpc>
                    <a:spcPct val="150000"/>
                  </a:lnSpc>
                  <a:spcBef>
                    <a:spcPts val="0"/>
                  </a:spcBef>
                  <a:buSzPts val="3000"/>
                  <a:buFont typeface="+mj-lt"/>
                  <a:buAutoNum type="arabicPeriod"/>
                </a:pPr>
                <a:r>
                  <a:rPr lang="en-US" sz="2200" dirty="0">
                    <a:latin typeface="Arial"/>
                    <a:ea typeface="Arial"/>
                    <a:cs typeface="Arial"/>
                    <a:sym typeface="Arial"/>
                  </a:rPr>
                  <a:t>Rotation: </a:t>
                </a:r>
                <a14:m>
                  <m:oMath xmlns:m="http://schemas.openxmlformats.org/officeDocument/2006/math">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𝑉</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𝑈</m:t>
                        </m:r>
                      </m:e>
                      <m:sup>
                        <m:r>
                          <a:rPr lang="en-US" sz="2200" b="0" i="1" smtClean="0">
                            <a:latin typeface="Cambria Math" panose="02040503050406030204" pitchFamily="18" charset="0"/>
                            <a:ea typeface="Arial"/>
                            <a:cs typeface="Arial"/>
                            <a:sym typeface="Arial"/>
                          </a:rPr>
                          <m:t>⊤</m:t>
                        </m:r>
                      </m:sup>
                    </m:sSup>
                  </m:oMath>
                </a14:m>
                <a:r>
                  <a:rPr lang="en-US" sz="2200" dirty="0">
                    <a:latin typeface="Arial"/>
                    <a:ea typeface="Arial"/>
                    <a:cs typeface="Arial"/>
                    <a:sym typeface="Arial"/>
                  </a:rPr>
                  <a:t> Translation:  </a:t>
                </a:r>
                <a14:m>
                  <m:oMath xmlns:m="http://schemas.openxmlformats.org/officeDocument/2006/math">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Done!</a:t>
                </a:r>
              </a:p>
            </p:txBody>
          </p:sp>
        </mc:Choice>
        <mc:Fallback xmlns="">
          <p:sp>
            <p:nvSpPr>
              <p:cNvPr id="118" name="Google Shape;118;p29">
                <a:extLst>
                  <a:ext uri="{FF2B5EF4-FFF2-40B4-BE49-F238E27FC236}">
                    <a16:creationId xmlns:a16="http://schemas.microsoft.com/office/drawing/2014/main" id="{C2587E03-B01B-2B65-28EA-69B28EF5AA0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82F19B3-2481-85DA-9B55-D1C5524385B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202DB96-121D-A9BA-F87B-28DC2584287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FA14ED1-0AB4-2687-ADF1-9EED483F4EF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7336F16-C7FC-17B0-6B00-1821FE82CA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B485EBE-A62A-8865-6A12-203C341A42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8EF1E58-AD8B-01A3-50EB-A4E89457DF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C451F7-4E3E-1C69-C6B2-CDF3379678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74223-A16D-181A-7051-3CF98AFD45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9193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D1E00A-59BB-C50A-AA3A-1D6927A3D61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5CEF980-2DCF-276E-43A3-377560E6A60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Arial"/>
                          <a:cs typeface="Arial"/>
                          <a:sym typeface="Arial"/>
                        </a:rPr>
                        <m:t>𝐸</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e>
                      </m:d>
                      <m:r>
                        <a:rPr lang="en-US" sz="2200" i="1">
                          <a:latin typeface="Cambria Math" panose="02040503050406030204" pitchFamily="18" charset="0"/>
                          <a:ea typeface="Arial"/>
                          <a:cs typeface="Arial"/>
                          <a:sym typeface="Arial"/>
                        </a:rPr>
                        <m:t>=</m:t>
                      </m:r>
                      <m:nary>
                        <m:naryPr>
                          <m:chr m:val="∑"/>
                          <m:supHide m:val="on"/>
                          <m:ctrlPr>
                            <a:rPr lang="en-US" sz="2200" i="1">
                              <a:latin typeface="Cambria Math" panose="02040503050406030204" pitchFamily="18" charset="0"/>
                              <a:ea typeface="Arial"/>
                              <a:cs typeface="Arial"/>
                              <a:sym typeface="Arial"/>
                            </a:rPr>
                          </m:ctrlPr>
                        </m:naryPr>
                        <m:sub>
                          <m:r>
                            <a:rPr lang="en-US" sz="2200" i="1">
                              <a:latin typeface="Cambria Math" panose="02040503050406030204" pitchFamily="18" charset="0"/>
                              <a:ea typeface="Arial"/>
                              <a:cs typeface="Arial"/>
                              <a:sym typeface="Arial"/>
                            </a:rPr>
                            <m:t>𝑖</m:t>
                          </m:r>
                        </m:sub>
                        <m:sup/>
                        <m:e>
                          <m:sSup>
                            <m:sSupPr>
                              <m:ctrlPr>
                                <a:rPr lang="en-US" sz="2200" i="1">
                                  <a:latin typeface="Cambria Math" panose="02040503050406030204" pitchFamily="18" charset="0"/>
                                  <a:ea typeface="Arial"/>
                                  <a:cs typeface="Arial"/>
                                  <a:sym typeface="Arial"/>
                                </a:rPr>
                              </m:ctrlPr>
                            </m:sSupPr>
                            <m:e>
                              <m:d>
                                <m:dPr>
                                  <m:begChr m:val="|"/>
                                  <m:endChr m:val="|"/>
                                  <m:ctrlPr>
                                    <a:rPr lang="en-US" sz="2200" i="1">
                                      <a:latin typeface="Cambria Math" panose="02040503050406030204" pitchFamily="18" charset="0"/>
                                      <a:ea typeface="Arial"/>
                                      <a:cs typeface="Arial"/>
                                      <a:sym typeface="Arial"/>
                                    </a:rPr>
                                  </m:ctrlPr>
                                </m:dPr>
                                <m:e>
                                  <m:d>
                                    <m:dPr>
                                      <m:begChr m:val="|"/>
                                      <m:endChr m:val="|"/>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𝑝</m:t>
                                          </m:r>
                                        </m:e>
                                        <m:sub>
                                          <m:r>
                                            <a:rPr lang="en-US" sz="2200" i="1">
                                              <a:latin typeface="Cambria Math" panose="02040503050406030204" pitchFamily="18" charset="0"/>
                                              <a:ea typeface="Arial"/>
                                              <a:cs typeface="Arial"/>
                                              <a:sym typeface="Arial"/>
                                            </a:rPr>
                                            <m:t>𝑖</m:t>
                                          </m:r>
                                        </m:sub>
                                      </m:sSub>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𝑞</m:t>
                                          </m:r>
                                        </m:e>
                                        <m:sub>
                                          <m:r>
                                            <a:rPr lang="en-US" sz="2200" i="1">
                                              <a:latin typeface="Cambria Math" panose="02040503050406030204" pitchFamily="18" charset="0"/>
                                              <a:ea typeface="Arial"/>
                                              <a:cs typeface="Arial"/>
                                              <a:sym typeface="Arial"/>
                                            </a:rPr>
                                            <m:t>𝑖</m:t>
                                          </m:r>
                                        </m:sub>
                                      </m:sSub>
                                    </m:e>
                                  </m:d>
                                </m:e>
                              </m:d>
                            </m:e>
                            <m:sup>
                              <m:r>
                                <a:rPr lang="en-US" sz="2200" i="1">
                                  <a:latin typeface="Cambria Math" panose="02040503050406030204" pitchFamily="18" charset="0"/>
                                  <a:ea typeface="Arial"/>
                                  <a:cs typeface="Arial"/>
                                  <a:sym typeface="Arial"/>
                                </a:rPr>
                                <m:t>2</m:t>
                              </m:r>
                            </m:sup>
                          </m:sSup>
                        </m:e>
                      </m:nary>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Why is this equation quadratic (and therefore solvable exactly) despite containing rotations?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Rotations involve non-linear trigonometry (sines/cosines), which usually require iterative guessing. How do we solve for it exactly in one step?</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After shifting both point clouds to their center of mass, the translation </a:t>
                </a:r>
                <a14:m>
                  <m:oMath xmlns:m="http://schemas.openxmlformats.org/officeDocument/2006/math">
                    <m:r>
                      <a:rPr lang="en-US" sz="2200" i="1" dirty="0" smtClean="0">
                        <a:latin typeface="Cambria Math" panose="02040503050406030204" pitchFamily="18" charset="0"/>
                        <a:ea typeface="Arial"/>
                        <a:cs typeface="Arial"/>
                        <a:sym typeface="Arial"/>
                      </a:rPr>
                      <m:t>𝑡</m:t>
                    </m:r>
                  </m:oMath>
                </a14:m>
                <a:r>
                  <a:rPr lang="en-US" sz="2200" dirty="0">
                    <a:latin typeface="Arial"/>
                    <a:ea typeface="Arial"/>
                    <a:cs typeface="Arial"/>
                    <a:sym typeface="Arial"/>
                  </a:rPr>
                  <a:t> becomes zero.</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Arial"/>
                          <a:cs typeface="Arial"/>
                          <a:sym typeface="Arial"/>
                        </a:rPr>
                        <m:t>𝐸</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e>
                      </m:d>
                      <m:r>
                        <a:rPr lang="en-US" sz="2200" i="1">
                          <a:latin typeface="Cambria Math" panose="02040503050406030204" pitchFamily="18" charset="0"/>
                          <a:ea typeface="Arial"/>
                          <a:cs typeface="Arial"/>
                          <a:sym typeface="Arial"/>
                        </a:rPr>
                        <m:t>=</m:t>
                      </m:r>
                      <m:nary>
                        <m:naryPr>
                          <m:chr m:val="∑"/>
                          <m:supHide m:val="on"/>
                          <m:ctrlPr>
                            <a:rPr lang="en-US" sz="2200" i="1">
                              <a:latin typeface="Cambria Math" panose="02040503050406030204" pitchFamily="18" charset="0"/>
                              <a:ea typeface="Arial"/>
                              <a:cs typeface="Arial"/>
                              <a:sym typeface="Arial"/>
                            </a:rPr>
                          </m:ctrlPr>
                        </m:naryPr>
                        <m:sub>
                          <m:r>
                            <a:rPr lang="en-US" sz="2200" i="1">
                              <a:latin typeface="Cambria Math" panose="02040503050406030204" pitchFamily="18" charset="0"/>
                              <a:ea typeface="Arial"/>
                              <a:cs typeface="Arial"/>
                              <a:sym typeface="Arial"/>
                            </a:rPr>
                            <m:t>𝑖</m:t>
                          </m:r>
                        </m:sub>
                        <m:sup/>
                        <m:e>
                          <m:sSup>
                            <m:sSupPr>
                              <m:ctrlPr>
                                <a:rPr lang="en-US" sz="2200" i="1">
                                  <a:latin typeface="Cambria Math" panose="02040503050406030204" pitchFamily="18" charset="0"/>
                                  <a:ea typeface="Arial"/>
                                  <a:cs typeface="Arial"/>
                                  <a:sym typeface="Arial"/>
                                </a:rPr>
                              </m:ctrlPr>
                            </m:sSupPr>
                            <m:e>
                              <m:d>
                                <m:dPr>
                                  <m:begChr m:val="|"/>
                                  <m:endChr m:val="|"/>
                                  <m:ctrlPr>
                                    <a:rPr lang="en-US" sz="2200" i="1">
                                      <a:latin typeface="Cambria Math" panose="02040503050406030204" pitchFamily="18" charset="0"/>
                                      <a:ea typeface="Arial"/>
                                      <a:cs typeface="Arial"/>
                                      <a:sym typeface="Arial"/>
                                    </a:rPr>
                                  </m:ctrlPr>
                                </m:dPr>
                                <m:e>
                                  <m:d>
                                    <m:dPr>
                                      <m:begChr m:val="|"/>
                                      <m:endChr m:val="|"/>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𝑝</m:t>
                                          </m:r>
                                        </m:e>
                                        <m:sub>
                                          <m:r>
                                            <a:rPr lang="en-US" sz="2200" i="1">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𝑞</m:t>
                                          </m:r>
                                        </m:e>
                                        <m:sub>
                                          <m:r>
                                            <a:rPr lang="en-US" sz="2200" i="1">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e>
                                  </m:d>
                                </m:e>
                              </m:d>
                            </m:e>
                            <m:sup>
                              <m:r>
                                <a:rPr lang="en-US" sz="2200" i="1">
                                  <a:latin typeface="Cambria Math" panose="02040503050406030204" pitchFamily="18" charset="0"/>
                                  <a:ea typeface="Arial"/>
                                  <a:cs typeface="Arial"/>
                                  <a:sym typeface="Arial"/>
                                </a:rPr>
                                <m:t>2</m:t>
                              </m:r>
                            </m:sup>
                          </m:sSup>
                        </m:e>
                      </m:nary>
                    </m:oMath>
                  </m:oMathPara>
                </a14:m>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F5CEF980-2DCF-276E-43A3-377560E6A60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r="-1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24C3338-C107-6A28-E36E-8512569FE7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CA3F8CC-0EA0-E3A2-8362-CAB744B7E2D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0AD166E-93E9-FB3E-39F7-54EEC8C5472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FD545A-CB1F-AA00-B6D5-119E4BA533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AC0162-2F6A-9128-7FF7-11A217CE96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97D7168-4C32-B6DC-3BEB-A4C5B1B738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5A5149B-C0EC-3E7E-A6B2-C87855C80A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97A2B6-7369-B000-77E4-AEE59D3660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87860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2CEC2-E270-E614-FCFC-BB522115E3B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D70C929-9B2B-C028-2296-0925CE757BA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We must find the Rotation matrix </a:t>
                </a:r>
                <a14:m>
                  <m:oMath xmlns:m="http://schemas.openxmlformats.org/officeDocument/2006/math">
                    <m:r>
                      <a:rPr lang="en-US" sz="2200" i="1" dirty="0" smtClean="0">
                        <a:latin typeface="Cambria Math" panose="02040503050406030204" pitchFamily="18" charset="0"/>
                        <a:ea typeface="Arial"/>
                        <a:cs typeface="Arial"/>
                        <a:sym typeface="Arial"/>
                      </a:rPr>
                      <m:t>𝑅</m:t>
                    </m:r>
                  </m:oMath>
                </a14:m>
                <a:r>
                  <a:rPr lang="en-US" sz="2200" dirty="0">
                    <a:latin typeface="Arial"/>
                    <a:ea typeface="Arial"/>
                    <a:cs typeface="Arial"/>
                    <a:sym typeface="Arial"/>
                  </a:rPr>
                  <a:t> that minimizes the Sum of Squared Errors (SSE) between the centered source points (</a:t>
                </a:r>
                <a14:m>
                  <m:oMath xmlns:m="http://schemas.openxmlformats.org/officeDocument/2006/math">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a14:m>
                <a:r>
                  <a:rPr lang="en-US" sz="2200" dirty="0">
                    <a:latin typeface="Arial"/>
                    <a:ea typeface="Arial"/>
                    <a:cs typeface="Arial"/>
                    <a:sym typeface="Arial"/>
                  </a:rPr>
                  <a:t>) and target points (</a:t>
                </a:r>
                <a14:m>
                  <m:oMath xmlns:m="http://schemas.openxmlformats.org/officeDocument/2006/math">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𝑅</m:t>
                          </m:r>
                        </m:e>
                      </m:d>
                      <m:r>
                        <a:rPr lang="en-US" sz="2200" i="1" dirty="0" smtClean="0">
                          <a:latin typeface="Cambria Math" panose="02040503050406030204" pitchFamily="18" charset="0"/>
                          <a:ea typeface="Arial"/>
                          <a:cs typeface="Arial"/>
                          <a:sym typeface="Arial"/>
                        </a:rPr>
                        <m:t>=</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r>
                            <a:rPr lang="en-US" sz="2200" b="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e>
                      </m:nary>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sSup>
                        <m:sSupPr>
                          <m:ctrlPr>
                            <a:rPr lang="en-US" sz="2200" i="1" dirty="0" smtClean="0">
                              <a:latin typeface="Cambria Math" panose="02040503050406030204" pitchFamily="18" charset="0"/>
                              <a:ea typeface="Arial"/>
                              <a:cs typeface="Arial"/>
                              <a:sym typeface="Arial"/>
                            </a:rPr>
                          </m:ctrlPr>
                        </m:sSupPr>
                        <m:e>
                          <m:r>
                            <a:rPr lang="en-US" sz="2200" b="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geometric properties of rotation matrices cause the non-linear parts of the equation to self-destruct.</a:t>
                </a:r>
              </a:p>
            </p:txBody>
          </p:sp>
        </mc:Choice>
        <mc:Fallback xmlns="">
          <p:sp>
            <p:nvSpPr>
              <p:cNvPr id="118" name="Google Shape;118;p29">
                <a:extLst>
                  <a:ext uri="{FF2B5EF4-FFF2-40B4-BE49-F238E27FC236}">
                    <a16:creationId xmlns:a16="http://schemas.microsoft.com/office/drawing/2014/main" id="{8D70C929-9B2B-C028-2296-0925CE757BA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AFD1BF0-34C5-79F2-456A-02BB1F43B9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4CF1510-86A2-2386-3856-911A6345EE6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6F29768-B296-391E-2682-1472408AE21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916C0F-8F12-F31A-9346-0EFB7CB333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DDF1397-344C-0C45-DBCE-CCF7E5F45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5A2B03-FB22-0904-5BFA-1271693458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B7A424-807B-945F-965C-83B411778F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43D2931-7564-3589-FD1E-8A4812075A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6894192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2E7D5E0-FEDA-A5AF-97EE-D67EF6FBFE6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D5C81C0-3ED2-EF14-F9F7-047F2215598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b="1" dirty="0">
                    <a:latin typeface="Arial"/>
                    <a:ea typeface="Arial"/>
                    <a:cs typeface="Arial"/>
                    <a:sym typeface="Arial"/>
                  </a:rPr>
                  <a:t>Expand the Quadratic</a:t>
                </a:r>
                <a:r>
                  <a:rPr lang="en-US" sz="2200" dirty="0">
                    <a:latin typeface="Arial"/>
                    <a:ea typeface="Arial"/>
                    <a:cs typeface="Arial"/>
                    <a:sym typeface="Arial"/>
                  </a:rPr>
                  <a:t>: Since </a:t>
                </a:r>
                <a14:m>
                  <m:oMath xmlns:m="http://schemas.openxmlformats.org/officeDocument/2006/math">
                    <m:r>
                      <m:rPr>
                        <m:lit/>
                      </m:rPr>
                      <a:rPr lang="en-US" sz="2200" b="0" i="0"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𝑣</m:t>
                    </m:r>
                    <m:r>
                      <a:rPr lang="en-US" sz="2200" b="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r>
                      <a:rPr lang="en-US" sz="2200" i="1" dirty="0" smtClean="0">
                        <a:latin typeface="Cambria Math" panose="02040503050406030204" pitchFamily="18" charset="0"/>
                        <a:ea typeface="Arial"/>
                        <a:cs typeface="Arial"/>
                        <a:sym typeface="Arial"/>
                      </a:rPr>
                      <m:t>=</m:t>
                    </m:r>
                    <m:sSup>
                      <m:sSupPr>
                        <m:ctrlPr>
                          <a:rPr lang="en-US" sz="2200" i="1" dirty="0" err="1" smtClean="0">
                            <a:latin typeface="Cambria Math" panose="02040503050406030204" pitchFamily="18" charset="0"/>
                            <a:ea typeface="Arial"/>
                            <a:cs typeface="Arial"/>
                            <a:sym typeface="Arial"/>
                          </a:rPr>
                        </m:ctrlPr>
                      </m:sSupPr>
                      <m:e>
                        <m:r>
                          <a:rPr lang="en-US" sz="2200" i="1" dirty="0" err="1" smtClean="0">
                            <a:latin typeface="Cambria Math" panose="02040503050406030204" pitchFamily="18" charset="0"/>
                            <a:ea typeface="Arial"/>
                            <a:cs typeface="Arial"/>
                            <a:sym typeface="Arial"/>
                          </a:rPr>
                          <m:t>𝑣</m:t>
                        </m:r>
                      </m:e>
                      <m:sup>
                        <m:r>
                          <a:rPr lang="en-US" sz="2200" i="1" dirty="0" err="1"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𝑣</m:t>
                    </m:r>
                  </m:oMath>
                </a14:m>
                <a:r>
                  <a:rPr lang="en-US" sz="2200" dirty="0">
                    <a:latin typeface="Arial"/>
                    <a:ea typeface="Arial"/>
                    <a:cs typeface="Arial"/>
                    <a:sym typeface="Arial"/>
                  </a:rPr>
                  <a:t>, we expand the error function: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𝑅</m:t>
                          </m:r>
                        </m:e>
                      </m:d>
                      <m:r>
                        <a:rPr lang="en-US" sz="2200" i="1" dirty="0" smtClean="0">
                          <a:latin typeface="Cambria Math" panose="02040503050406030204" pitchFamily="18" charset="0"/>
                          <a:ea typeface="Arial"/>
                          <a:cs typeface="Arial"/>
                          <a:sym typeface="Arial"/>
                        </a:rPr>
                        <m:t>=</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d>
                            <m:dPr>
                              <m:ctrlPr>
                                <a:rPr lang="en-US" sz="2200" i="1" dirty="0" smtClean="0">
                                  <a:latin typeface="Cambria Math" panose="02040503050406030204" pitchFamily="18" charset="0"/>
                                  <a:ea typeface="Arial"/>
                                  <a:cs typeface="Arial"/>
                                  <a:sym typeface="Arial"/>
                                </a:rPr>
                              </m:ctrlPr>
                            </m:dPr>
                            <m:e>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−2</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nary>
                    </m:oMath>
                  </m:oMathPara>
                </a14:m>
                <a:endParaRPr lang="en-US" sz="2200"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The Cancellation</a:t>
                </a:r>
                <a:r>
                  <a:rPr lang="en-US" sz="2200" dirty="0">
                    <a:latin typeface="Arial"/>
                    <a:ea typeface="Arial"/>
                    <a:cs typeface="Arial"/>
                    <a:sym typeface="Arial"/>
                  </a:rPr>
                  <a:t>: </a:t>
                </a:r>
                <a14:m>
                  <m:oMath xmlns:m="http://schemas.openxmlformats.org/officeDocument/2006/math">
                    <m:r>
                      <a:rPr lang="en-US" sz="2200" i="1" dirty="0" smtClean="0">
                        <a:latin typeface="Cambria Math" panose="02040503050406030204" pitchFamily="18" charset="0"/>
                        <a:ea typeface="Arial"/>
                        <a:cs typeface="Arial"/>
                        <a:sym typeface="Arial"/>
                      </a:rPr>
                      <m:t>𝑅</m:t>
                    </m:r>
                  </m:oMath>
                </a14:m>
                <a:r>
                  <a:rPr lang="en-US" sz="2200" dirty="0">
                    <a:latin typeface="Arial"/>
                    <a:ea typeface="Arial"/>
                    <a:cs typeface="Arial"/>
                    <a:sym typeface="Arial"/>
                  </a:rPr>
                  <a:t> is a valid rotation matrix, meaning it is orthonormal (</a:t>
                </a:r>
                <a14:m>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𝐼</m:t>
                    </m:r>
                  </m:oMath>
                </a14:m>
                <a:r>
                  <a:rPr lang="en-US" sz="2200" dirty="0">
                    <a:latin typeface="Arial"/>
                    <a:ea typeface="Arial"/>
                    <a:cs typeface="Arial"/>
                    <a:sym typeface="Arial"/>
                  </a:rPr>
                  <a:t>). Rotating a vector does not change its length.</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Applying the Property</a:t>
                </a:r>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𝐼</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r>
                        <m:rPr>
                          <m:lit/>
                        </m:rPr>
                        <a:rPr lang="en-US" sz="2200" b="0" i="1" dirty="0" smtClean="0">
                          <a:latin typeface="Cambria Math" panose="02040503050406030204" pitchFamily="18" charset="0"/>
                          <a:ea typeface="Arial"/>
                          <a:cs typeface="Arial"/>
                          <a:sym typeface="Arial"/>
                        </a:rPr>
                        <m:t>|</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b="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The Result</a:t>
                </a:r>
                <a:r>
                  <a:rPr lang="en-US" sz="2200" dirty="0">
                    <a:latin typeface="Arial"/>
                    <a:ea typeface="Arial"/>
                    <a:cs typeface="Arial"/>
                    <a:sym typeface="Arial"/>
                  </a:rPr>
                  <a:t>: The quadratic </a:t>
                </a:r>
                <a14:m>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2</m:t>
                        </m:r>
                      </m:sup>
                    </m:sSup>
                  </m:oMath>
                </a14:m>
                <a:r>
                  <a:rPr lang="en-US" sz="2200" dirty="0">
                    <a:latin typeface="Arial"/>
                    <a:ea typeface="Arial"/>
                    <a:cs typeface="Arial"/>
                    <a:sym typeface="Arial"/>
                  </a:rPr>
                  <a:t> term completely vanishes, leaving only a linear relationship!</a:t>
                </a:r>
              </a:p>
            </p:txBody>
          </p:sp>
        </mc:Choice>
        <mc:Fallback xmlns="">
          <p:sp>
            <p:nvSpPr>
              <p:cNvPr id="118" name="Google Shape;118;p29">
                <a:extLst>
                  <a:ext uri="{FF2B5EF4-FFF2-40B4-BE49-F238E27FC236}">
                    <a16:creationId xmlns:a16="http://schemas.microsoft.com/office/drawing/2014/main" id="{DD5C81C0-3ED2-EF14-F9F7-047F2215598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4EF6CBA-E4AA-9608-75F4-E2170953A8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6C154E1-B1F1-9081-BFB7-97F457BF13C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0F9CBEE-C53E-85BE-DA2A-B4D5AA0F6DB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D6DB3D-2E7B-AA60-28FA-7F41F8210A2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8365DA5-5FF4-DEAE-8FE7-82AFF9F955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2CB9C0-8DB4-7E22-2EE0-E19B3E7B04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7D61DEC-4183-534F-FB17-212845C7D53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647638-3D60-5A58-2087-5EF7D04CEE2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1187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862886-6416-FACC-C541-5AA29F32A29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E088D7D-AEF1-EFC7-1EC9-D7EA1B292B4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2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d>
                            <m:dPr>
                              <m:ctrlPr>
                                <a:rPr lang="en-US" sz="2200" i="1" dirty="0">
                                  <a:latin typeface="Cambria Math" panose="02040503050406030204" pitchFamily="18" charset="0"/>
                                  <a:ea typeface="Arial"/>
                                  <a:cs typeface="Arial"/>
                                  <a:sym typeface="Arial"/>
                                </a:rPr>
                              </m:ctrlPr>
                            </m:dPr>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p>
                                <m:sSupPr>
                                  <m:ctrlPr>
                                    <a:rPr lang="en-US" sz="2200" i="1" dirty="0">
                                      <a:latin typeface="Cambria Math" panose="02040503050406030204" pitchFamily="18" charset="0"/>
                                      <a:ea typeface="Arial"/>
                                      <a:cs typeface="Arial"/>
                                      <a:sym typeface="Arial"/>
                                    </a:rPr>
                                  </m:ctrlPr>
                                </m:sSupPr>
                                <m:e>
                                  <m:r>
                                    <a:rPr lang="en-US" sz="2200" i="1" dirty="0">
                                      <a:latin typeface="Cambria Math" panose="02040503050406030204" pitchFamily="18" charset="0"/>
                                      <a:ea typeface="Arial"/>
                                      <a:cs typeface="Arial"/>
                                      <a:sym typeface="Arial"/>
                                    </a:rPr>
                                    <m:t>𝑅</m:t>
                                  </m:r>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−2</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nary>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d>
                            <m:dPr>
                              <m:ctrlPr>
                                <a:rPr lang="en-US" sz="2200" i="1" dirty="0">
                                  <a:latin typeface="Cambria Math" panose="02040503050406030204" pitchFamily="18" charset="0"/>
                                  <a:ea typeface="Arial"/>
                                  <a:cs typeface="Arial"/>
                                  <a:sym typeface="Arial"/>
                                </a:rPr>
                              </m:ctrlPr>
                            </m:dPr>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−2</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nary>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c</m:t>
                      </m:r>
                      <m:r>
                        <a:rPr lang="en-US" sz="2200" b="0" i="1" dirty="0" smtClean="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nary>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can remove the constant terms from the error function!</a:t>
                </a:r>
              </a:p>
            </p:txBody>
          </p:sp>
        </mc:Choice>
        <mc:Fallback xmlns="">
          <p:sp>
            <p:nvSpPr>
              <p:cNvPr id="118" name="Google Shape;118;p29">
                <a:extLst>
                  <a:ext uri="{FF2B5EF4-FFF2-40B4-BE49-F238E27FC236}">
                    <a16:creationId xmlns:a16="http://schemas.microsoft.com/office/drawing/2014/main" id="{9E088D7D-AEF1-EFC7-1EC9-D7EA1B292B4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104B5A7-05CB-C800-73E5-863FE10B86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795775-6591-3228-E804-9BA135824AB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C2E11DE-E651-FF50-49B9-9816FED8D8F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19F8A3-288C-6FFF-1DEA-F3E013BB1F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E6E662-6FC4-D452-D93F-541436344A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246B526-6B2F-A662-7D46-01FB80EF7E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A4F91A-9AC4-BE8C-0E98-985190DE3B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BD63FB-CF4B-2C59-1E36-75D0931CEEF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112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CDB2BA-DEC4-AB21-5CB6-E0668DF0CAC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6BF11F6-9BC3-7CBB-184D-4BB396FB4B8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c</m:t>
                      </m:r>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nary>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With the </a:t>
                </a:r>
                <a:r>
                  <a:rPr lang="en-US" sz="2200" b="1" dirty="0">
                    <a:latin typeface="Arial"/>
                    <a:ea typeface="Arial"/>
                    <a:cs typeface="Arial"/>
                    <a:sym typeface="Arial"/>
                  </a:rPr>
                  <a:t>quadratic term </a:t>
                </a:r>
                <a:r>
                  <a:rPr lang="en-US" sz="2200" dirty="0">
                    <a:latin typeface="Arial"/>
                    <a:ea typeface="Arial"/>
                    <a:cs typeface="Arial"/>
                    <a:sym typeface="Arial"/>
                  </a:rPr>
                  <a:t>gone, the problem reduces to straightforward linear algebra.</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Simplify</a:t>
                </a:r>
                <a:r>
                  <a:rPr lang="en-US" sz="2200" dirty="0">
                    <a:latin typeface="Arial"/>
                    <a:ea typeface="Arial"/>
                    <a:cs typeface="Arial"/>
                    <a:sym typeface="Arial"/>
                  </a:rPr>
                  <a:t>: The equation is now just the static size of the point clouds (constants) minus a linear term.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To minimize the total error, we must maximize the negative term:</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200" i="0" dirty="0" smtClean="0">
                          <a:latin typeface="Cambria Math" panose="02040503050406030204" pitchFamily="18" charset="0"/>
                          <a:ea typeface="Arial"/>
                          <a:cs typeface="Arial"/>
                          <a:sym typeface="Arial"/>
                        </a:rPr>
                        <m:t>Maximize</m:t>
                      </m:r>
                      <m:r>
                        <m:rPr>
                          <m:nor/>
                        </m:rPr>
                        <a:rPr lang="en-US" sz="2200" i="0" dirty="0" smtClean="0">
                          <a:latin typeface="Cambria Math" panose="02040503050406030204" pitchFamily="18" charset="0"/>
                          <a:ea typeface="Arial"/>
                          <a:cs typeface="Arial"/>
                          <a:sym typeface="Arial"/>
                        </a:rPr>
                        <m:t>: </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e>
                      </m:nary>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76BF11F6-9BC3-7CBB-184D-4BB396FB4B8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r="-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0170CEE-107F-F51D-0CE1-E686A89D33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5D58E09-1580-EE9B-01A8-BB392683DB8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AD28CF8-94BB-D0C9-A9EF-E05ABFB61A5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0685E8-3997-7B49-65EA-92E6D976E5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1F81CB-2299-3196-D783-951FBE8BFF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E5380-7E4C-F31C-CE5F-81A816E031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3085A74-5931-E17E-4DEA-2B48D3674C1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473968-C05E-6820-63FF-63FBBD397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6131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903029-FC18-D3A8-A3E4-823015E40F5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9529276-6013-D9AB-F3E8-85BB9A42E6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Using a rule of linear algebra (the cyclic property of the Trace operator), we can rewrite the sum of these vector dot products as the Trace (sum of the diagonal) of a matrix multiplication:</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solidFill>
                    <a:srgbClr val="000000"/>
                  </a:solidFill>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nary>
                        <m:naryPr>
                          <m:chr m:val="∑"/>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naryPr>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=1</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𝑁</m:t>
                          </m:r>
                        </m:sup>
                        <m:e>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𝑞</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e>
                              </m:d>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e>
                      </m:nary>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𝑝</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Tr</m:t>
                      </m:r>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nary>
                            <m:naryPr>
                              <m:chr m:val="∑"/>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naryPr>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=1</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𝑁</m:t>
                              </m:r>
                            </m:sup>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𝑝</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𝑞</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e>
                                  </m:d>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e>
                          </m:nary>
                        </m:e>
                      </m:d>
                    </m:oMath>
                  </m:oMathPara>
                </a14:m>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indent="0">
                  <a:lnSpc>
                    <a:spcPct val="100000"/>
                  </a:lnSpc>
                  <a:spcBef>
                    <a:spcPts val="0"/>
                  </a:spcBef>
                  <a:buClr>
                    <a:srgbClr val="000000"/>
                  </a:buClr>
                  <a:buSzPts val="3000"/>
                  <a:buNone/>
                  <a:defRPr/>
                </a:pPr>
                <a:r>
                  <a:rPr lang="en-US" sz="2200" b="1" dirty="0">
                    <a:solidFill>
                      <a:srgbClr val="000000"/>
                    </a:solidFill>
                    <a:latin typeface="Arial"/>
                    <a:ea typeface="Arial"/>
                    <a:cs typeface="Arial"/>
                    <a:sym typeface="Arial"/>
                  </a:rPr>
                  <a:t>The Trace Trick</a:t>
                </a:r>
                <a:r>
                  <a:rPr lang="en-US" sz="2200" dirty="0">
                    <a:solidFill>
                      <a:srgbClr val="000000"/>
                    </a:solidFill>
                    <a:latin typeface="Arial"/>
                    <a:ea typeface="Arial"/>
                    <a:cs typeface="Arial"/>
                    <a:sym typeface="Arial"/>
                  </a:rPr>
                  <a:t>: We can rewrite this sum of vectors as the Trace of a matrix multiplication using the cross-covariance matrix (</a:t>
                </a:r>
                <a14:m>
                  <m:oMath xmlns:m="http://schemas.openxmlformats.org/officeDocument/2006/math">
                    <m:r>
                      <a:rPr lang="en-US" sz="2200" i="1" dirty="0">
                        <a:solidFill>
                          <a:srgbClr val="000000"/>
                        </a:solidFill>
                        <a:latin typeface="Cambria Math" panose="02040503050406030204" pitchFamily="18" charset="0"/>
                        <a:ea typeface="Arial"/>
                        <a:cs typeface="Arial"/>
                        <a:sym typeface="Arial"/>
                      </a:rPr>
                      <m:t>𝐻</m:t>
                    </m:r>
                  </m:oMath>
                </a14:m>
                <a:r>
                  <a:rPr lang="en-US" sz="2200" dirty="0">
                    <a:solidFill>
                      <a:srgbClr val="000000"/>
                    </a:solidFill>
                    <a:latin typeface="Arial"/>
                    <a:ea typeface="Arial"/>
                    <a:cs typeface="Arial"/>
                    <a:sym typeface="Arial"/>
                  </a:rPr>
                  <a:t>):</a:t>
                </a: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Maximize</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 </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Tr</m:t>
                      </m:r>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e>
                      </m:d>
                    </m:oMath>
                  </m:oMathPara>
                </a14:m>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39529276-6013-D9AB-F3E8-85BB9A42E60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DAEE70C-E0B9-3FE6-AF27-63CD24D106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6A8B9CB-5F94-2968-ACF3-922072453C8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96B1AF1-1018-00D9-169E-72EB6886556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FAD4BC1-7A4A-0028-851F-0ABCA0B789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B42438-0487-2AB6-435D-DB83B37290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7B6CE1-A236-DC9C-614E-941933EC5C3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00BD84-06AC-75EC-CDC9-8BC592C586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C4D4B1-86E4-B708-6ABF-435ED7838C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23177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C356B8-0B67-6DFC-7C89-8DB600CB175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B97E6A8-0258-A8D4-B6FF-73F82D2B79C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1" i="0" u="none" strike="noStrike" kern="0" cap="none" spc="0" normalizeH="0" baseline="0" noProof="0" dirty="0">
                    <a:ln>
                      <a:noFill/>
                    </a:ln>
                    <a:solidFill>
                      <a:srgbClr val="000000"/>
                    </a:solidFill>
                    <a:effectLst/>
                    <a:uLnTx/>
                    <a:uFillTx/>
                    <a:latin typeface="Arial"/>
                    <a:ea typeface="Arial"/>
                    <a:cs typeface="Arial"/>
                    <a:sym typeface="Arial"/>
                  </a:rPr>
                  <a:t>The SVD Algorithm</a:t>
                </a:r>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Singular Value Decomposition is explicitly designed to maximize this matrix trace!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We decompose </a:t>
                </a:r>
                <a14:m>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oMath>
                </a14:m>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and perfectly extract </a:t>
                </a:r>
                <a14:m>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oMath>
                </a14:m>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𝑈</m:t>
                      </m:r>
                      <m:r>
                        <m:rPr>
                          <m:sty m:val="p"/>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Σ</m:t>
                      </m:r>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𝑉</m:t>
                          </m:r>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𝑉</m:t>
                      </m:r>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𝑈</m:t>
                          </m:r>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oMath>
                  </m:oMathPara>
                </a14:m>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solidFill>
                    <a:srgbClr val="000000"/>
                  </a:solidFill>
                  <a:latin typeface="Arial"/>
                  <a:ea typeface="Arial"/>
                  <a:cs typeface="Arial"/>
                  <a:sym typeface="Arial"/>
                </a:endParaRPr>
              </a:p>
              <a:p>
                <a:pPr marL="0" lvl="0" indent="0">
                  <a:lnSpc>
                    <a:spcPct val="100000"/>
                  </a:lnSpc>
                  <a:spcBef>
                    <a:spcPts val="0"/>
                  </a:spcBef>
                  <a:buClr>
                    <a:srgbClr val="000000"/>
                  </a:buClr>
                  <a:buSzPts val="3000"/>
                  <a:buNone/>
                  <a:defRPr/>
                </a:pPr>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We can ignore </a:t>
                </a:r>
                <a14:m>
                  <m:oMath xmlns:m="http://schemas.openxmlformats.org/officeDocument/2006/math">
                    <m:r>
                      <m:rPr>
                        <m:sty m:val="p"/>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Σ</m:t>
                    </m:r>
                  </m:oMath>
                </a14:m>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because </a:t>
                </a:r>
                <a14:m>
                  <m:oMath xmlns:m="http://schemas.openxmlformats.org/officeDocument/2006/math">
                    <m:r>
                      <m:rPr>
                        <m:sty m:val="p"/>
                      </m:rPr>
                      <a:rPr lang="en-US" sz="2200" dirty="0">
                        <a:solidFill>
                          <a:srgbClr val="000000"/>
                        </a:solidFill>
                        <a:latin typeface="Cambria Math" panose="02040503050406030204" pitchFamily="18" charset="0"/>
                        <a:ea typeface="Arial"/>
                        <a:cs typeface="Arial"/>
                        <a:sym typeface="Arial"/>
                      </a:rPr>
                      <m:t>Σ</m:t>
                    </m:r>
                  </m:oMath>
                </a14:m>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represents scaling</a:t>
                </a:r>
                <a:r>
                  <a:rPr kumimoji="0" lang="en-US" sz="2200" b="0" i="0" u="none" strike="noStrike" kern="0" cap="none" spc="0" normalizeH="0" noProof="0" dirty="0">
                    <a:ln>
                      <a:noFill/>
                    </a:ln>
                    <a:solidFill>
                      <a:srgbClr val="000000"/>
                    </a:solidFill>
                    <a:effectLst/>
                    <a:uLnTx/>
                    <a:uFillTx/>
                    <a:latin typeface="Arial"/>
                    <a:ea typeface="Arial"/>
                    <a:cs typeface="Arial"/>
                    <a:sym typeface="Arial"/>
                  </a:rPr>
                  <a:t> /stretching and we want our rotation matrix to maintain it’s validity.</a:t>
                </a: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BB97E6A8-0258-A8D4-B6FF-73F82D2B79C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F524C99-8CC9-DAED-F80A-2A65875B58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7BA3B21-1223-6ACD-3661-6DE594B4C12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A55B031-34BF-70AC-15ED-A2011FD423F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C4274B9-392D-5890-CBB7-5CF142C3AE4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44D391-6E55-125A-3346-AB6FB5289A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827CD2-FE28-9CA7-53DB-7D1A87F703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0F1185A-3656-3B15-6696-C60C86795A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9D6FA2-D649-DEE2-17FA-04310BA2A4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387256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4BC1EC-F06A-3FFA-7F45-B8A46BE5F73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70A6FC4-4DDB-2290-B8E3-6BF9D0708F9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P2P ICP can be solved in 4 steps:</a:t>
                </a:r>
              </a:p>
              <a:p>
                <a:pPr marL="0" indent="0">
                  <a:lnSpc>
                    <a:spcPct val="100000"/>
                  </a:lnSpc>
                  <a:spcBef>
                    <a:spcPts val="0"/>
                  </a:spcBef>
                  <a:buSzPts val="3000"/>
                  <a:buNone/>
                </a:pPr>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Compute the centroids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r>
                  <a:rPr lang="en-US" sz="2200" dirty="0">
                    <a:latin typeface="Arial"/>
                    <a:ea typeface="Arial"/>
                    <a:cs typeface="Arial"/>
                    <a:sym typeface="Arial"/>
                  </a:rPr>
                  <a:t> and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oMath>
                </a14:m>
                <a:r>
                  <a:rPr lang="en-US" sz="2200" dirty="0">
                    <a:latin typeface="Arial"/>
                    <a:ea typeface="Arial"/>
                    <a:cs typeface="Arial"/>
                    <a:sym typeface="Arial"/>
                  </a:rPr>
                  <a:t> of both point clouds</a:t>
                </a:r>
              </a:p>
              <a:p>
                <a:pPr indent="-457200">
                  <a:lnSpc>
                    <a:spcPct val="150000"/>
                  </a:lnSpc>
                  <a:spcBef>
                    <a:spcPts val="0"/>
                  </a:spcBef>
                  <a:buSzPts val="3000"/>
                  <a:buFont typeface="+mj-lt"/>
                  <a:buAutoNum type="arabicPeriod"/>
                </a:pPr>
                <a:r>
                  <a:rPr lang="en-US" sz="2200" dirty="0">
                    <a:latin typeface="Arial"/>
                    <a:ea typeface="Arial"/>
                    <a:cs typeface="Arial"/>
                    <a:sym typeface="Arial"/>
                  </a:rPr>
                  <a:t>Build the 2×2 cross-covariance matrix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e>
                        </m:d>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e>
                            </m:d>
                          </m:e>
                          <m:sup>
                            <m:r>
                              <a:rPr lang="en-US" sz="2200" b="0" i="1" smtClean="0">
                                <a:latin typeface="Cambria Math" panose="02040503050406030204" pitchFamily="18" charset="0"/>
                                <a:ea typeface="Arial"/>
                                <a:cs typeface="Arial"/>
                                <a:sym typeface="Arial"/>
                              </a:rPr>
                              <m:t>⊤</m:t>
                            </m:r>
                          </m:sup>
                        </m:sSup>
                      </m:e>
                    </m:nary>
                  </m:oMath>
                </a14:m>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Decompose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𝑈</m:t>
                    </m:r>
                    <m:r>
                      <a:rPr lang="en-US" sz="2200" b="0" i="1" smtClean="0">
                        <a:latin typeface="Cambria Math" panose="02040503050406030204" pitchFamily="18" charset="0"/>
                        <a:ea typeface="Arial"/>
                        <a:cs typeface="Arial"/>
                        <a:sym typeface="Arial"/>
                      </a:rPr>
                      <m:t>⋅</m:t>
                    </m:r>
                    <m:r>
                      <m:rPr>
                        <m:sty m:val="p"/>
                      </m:rPr>
                      <a:rPr lang="en-US" sz="2200" b="0" i="0" smtClean="0">
                        <a:latin typeface="Cambria Math" panose="02040503050406030204" pitchFamily="18" charset="0"/>
                        <a:ea typeface="Arial"/>
                        <a:cs typeface="Arial"/>
                        <a:sym typeface="Arial"/>
                      </a:rPr>
                      <m:t>Σ</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𝑉</m:t>
                        </m:r>
                      </m:e>
                      <m:sup>
                        <m:r>
                          <a:rPr lang="en-US" sz="2200" b="0" i="1" smtClean="0">
                            <a:latin typeface="Cambria Math" panose="02040503050406030204" pitchFamily="18" charset="0"/>
                            <a:ea typeface="Arial"/>
                            <a:cs typeface="Arial"/>
                            <a:sym typeface="Arial"/>
                          </a:rPr>
                          <m:t>⊤</m:t>
                        </m:r>
                      </m:sup>
                    </m:sSup>
                  </m:oMath>
                </a14:m>
                <a:r>
                  <a:rPr lang="en-US" sz="2200" dirty="0">
                    <a:latin typeface="Arial"/>
                    <a:ea typeface="Arial"/>
                    <a:cs typeface="Arial"/>
                    <a:sym typeface="Arial"/>
                  </a:rPr>
                  <a:t> using Singular Value Decomposition</a:t>
                </a:r>
              </a:p>
              <a:p>
                <a:pPr indent="-457200">
                  <a:lnSpc>
                    <a:spcPct val="150000"/>
                  </a:lnSpc>
                  <a:spcBef>
                    <a:spcPts val="0"/>
                  </a:spcBef>
                  <a:buSzPts val="3000"/>
                  <a:buFont typeface="+mj-lt"/>
                  <a:buAutoNum type="arabicPeriod"/>
                </a:pPr>
                <a:r>
                  <a:rPr lang="en-US" sz="2200" dirty="0">
                    <a:latin typeface="Arial"/>
                    <a:ea typeface="Arial"/>
                    <a:cs typeface="Arial"/>
                    <a:sym typeface="Arial"/>
                  </a:rPr>
                  <a:t>Rotation: </a:t>
                </a:r>
                <a14:m>
                  <m:oMath xmlns:m="http://schemas.openxmlformats.org/officeDocument/2006/math">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𝑉</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𝑈</m:t>
                        </m:r>
                      </m:e>
                      <m:sup>
                        <m:r>
                          <a:rPr lang="en-US" sz="2200" b="0" i="1" smtClean="0">
                            <a:latin typeface="Cambria Math" panose="02040503050406030204" pitchFamily="18" charset="0"/>
                            <a:ea typeface="Arial"/>
                            <a:cs typeface="Arial"/>
                            <a:sym typeface="Arial"/>
                          </a:rPr>
                          <m:t>⊤</m:t>
                        </m:r>
                      </m:sup>
                    </m:sSup>
                  </m:oMath>
                </a14:m>
                <a:r>
                  <a:rPr lang="en-US" sz="2200" dirty="0">
                    <a:latin typeface="Arial"/>
                    <a:ea typeface="Arial"/>
                    <a:cs typeface="Arial"/>
                    <a:sym typeface="Arial"/>
                  </a:rPr>
                  <a:t> Translation:  </a:t>
                </a:r>
                <a14:m>
                  <m:oMath xmlns:m="http://schemas.openxmlformats.org/officeDocument/2006/math">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Done!</a:t>
                </a:r>
              </a:p>
            </p:txBody>
          </p:sp>
        </mc:Choice>
        <mc:Fallback xmlns="">
          <p:sp>
            <p:nvSpPr>
              <p:cNvPr id="118" name="Google Shape;118;p29">
                <a:extLst>
                  <a:ext uri="{FF2B5EF4-FFF2-40B4-BE49-F238E27FC236}">
                    <a16:creationId xmlns:a16="http://schemas.microsoft.com/office/drawing/2014/main" id="{A70A6FC4-4DDB-2290-B8E3-6BF9D0708F9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B5A77FA-2A99-5C93-9CE8-C1A94D0B13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E5FC2AC-E001-EE26-6047-B4D68CA7505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73C5D19-828F-2FA9-2A8C-CA9CD8C100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964426-7D1B-C4CB-44BC-67EA328E4A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FBE16DC-67E2-0E9A-C169-5E32298371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D9A7FF-336F-E739-425C-10422A74C1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AA37599-1926-9D00-DA2C-12452E0C85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8F1234-E132-4D18-782D-EBB651DCAC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694834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877189-550D-357B-780C-C31E827A99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60C757-FA26-756D-83FF-0E71391C6AAB}"/>
              </a:ext>
            </a:extLst>
          </p:cNvPr>
          <p:cNvSpPr txBox="1">
            <a:spLocks noGrp="1"/>
          </p:cNvSpPr>
          <p:nvPr>
            <p:ph type="body" idx="1"/>
          </p:nvPr>
        </p:nvSpPr>
        <p:spPr>
          <a:xfrm>
            <a:off x="376809" y="983446"/>
            <a:ext cx="11177401" cy="5453612"/>
          </a:xfrm>
          <a:prstGeom prst="rect">
            <a:avLst/>
          </a:prstGeom>
          <a:noFill/>
          <a:ln>
            <a:noFill/>
          </a:ln>
        </p:spPr>
        <p:txBody>
          <a:bodyPr spcFirstLastPara="1" wrap="square" lIns="91425" tIns="45700" rIns="91425" bIns="45700" anchor="t" anchorCtr="0">
            <a:noAutofit/>
          </a:bodyPr>
          <a:lstStyle/>
          <a:p>
            <a:pPr algn="ctr">
              <a:lnSpc>
                <a:spcPct val="100000"/>
              </a:lnSpc>
              <a:spcBef>
                <a:spcPts val="0"/>
              </a:spcBef>
              <a:buNone/>
            </a:pPr>
            <a:r>
              <a:rPr lang="en-US" sz="1400" dirty="0">
                <a:latin typeface="Arial"/>
                <a:ea typeface="Arial"/>
                <a:cs typeface="Arial"/>
                <a:sym typeface="Arial"/>
              </a:rPr>
              <a:t>Very simple to implement in code as well!</a:t>
            </a:r>
            <a:endParaRPr lang="en-US" sz="1400" b="1" dirty="0">
              <a:solidFill>
                <a:srgbClr val="CF222E"/>
              </a:solidFill>
              <a:effectLst/>
              <a:latin typeface="Consolas" panose="020B0609020204030204" pitchFamily="49" charset="0"/>
            </a:endParaRPr>
          </a:p>
          <a:p>
            <a:pPr>
              <a:lnSpc>
                <a:spcPct val="100000"/>
              </a:lnSpc>
              <a:spcBef>
                <a:spcPts val="0"/>
              </a:spcBef>
              <a:buNone/>
            </a:pPr>
            <a:endParaRPr lang="en-US" sz="800" dirty="0">
              <a:solidFill>
                <a:srgbClr val="CF222E"/>
              </a:solidFill>
              <a:latin typeface="Consolas" panose="020B0609020204030204" pitchFamily="49" charset="0"/>
            </a:endParaRPr>
          </a:p>
          <a:p>
            <a:pPr>
              <a:lnSpc>
                <a:spcPct val="100000"/>
              </a:lnSpc>
              <a:spcBef>
                <a:spcPts val="0"/>
              </a:spcBef>
              <a:buNone/>
            </a:pPr>
            <a:r>
              <a:rPr lang="en-US" sz="900" b="0" dirty="0">
                <a:solidFill>
                  <a:srgbClr val="CF222E"/>
                </a:solidFill>
                <a:effectLst/>
                <a:latin typeface="Consolas" panose="020B0609020204030204" pitchFamily="49" charset="0"/>
              </a:rPr>
              <a:t>def</a:t>
            </a:r>
            <a:r>
              <a:rPr lang="en-US" sz="900" b="0" dirty="0">
                <a:solidFill>
                  <a:srgbClr val="202020"/>
                </a:solidFill>
                <a:effectLst/>
                <a:latin typeface="Consolas" panose="020B0609020204030204" pitchFamily="49" charset="0"/>
              </a:rPr>
              <a:t> </a:t>
            </a:r>
            <a:r>
              <a:rPr lang="en-US" sz="900" b="0" dirty="0">
                <a:solidFill>
                  <a:srgbClr val="8250DF"/>
                </a:solidFill>
                <a:effectLst/>
                <a:latin typeface="Consolas" panose="020B0609020204030204" pitchFamily="49" charset="0"/>
              </a:rPr>
              <a:t>p2p_icp</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A3069"/>
                </a:solidFill>
                <a:effectLst/>
                <a:latin typeface="Consolas" panose="020B0609020204030204" pitchFamily="49" charset="0"/>
              </a:rPr>
              <a: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Calculates the P2P ICP Closest Point Transformation</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Input: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A: </a:t>
            </a:r>
            <a:r>
              <a:rPr lang="en-US" sz="900" b="0" dirty="0" err="1">
                <a:solidFill>
                  <a:srgbClr val="0A3069"/>
                </a:solidFill>
                <a:effectLst/>
                <a:latin typeface="Consolas" panose="020B0609020204030204" pitchFamily="49" charset="0"/>
              </a:rPr>
              <a:t>Nxm</a:t>
            </a:r>
            <a:r>
              <a:rPr lang="en-US" sz="900" b="0" dirty="0">
                <a:solidFill>
                  <a:srgbClr val="0A3069"/>
                </a:solidFill>
                <a:effectLst/>
                <a:latin typeface="Consolas" panose="020B0609020204030204" pitchFamily="49" charset="0"/>
              </a:rPr>
              <a:t> </a:t>
            </a:r>
            <a:r>
              <a:rPr lang="en-US" sz="900" b="0" dirty="0" err="1">
                <a:solidFill>
                  <a:srgbClr val="0A3069"/>
                </a:solidFill>
                <a:effectLst/>
                <a:latin typeface="Consolas" panose="020B0609020204030204" pitchFamily="49" charset="0"/>
              </a:rPr>
              <a:t>numpy</a:t>
            </a:r>
            <a:r>
              <a:rPr lang="en-US" sz="900" b="0" dirty="0">
                <a:solidFill>
                  <a:srgbClr val="0A3069"/>
                </a:solidFill>
                <a:effectLst/>
                <a:latin typeface="Consolas" panose="020B0609020204030204" pitchFamily="49" charset="0"/>
              </a:rPr>
              <a:t> array of source points</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B: </a:t>
            </a:r>
            <a:r>
              <a:rPr lang="en-US" sz="900" b="0" dirty="0" err="1">
                <a:solidFill>
                  <a:srgbClr val="0A3069"/>
                </a:solidFill>
                <a:effectLst/>
                <a:latin typeface="Consolas" panose="020B0609020204030204" pitchFamily="49" charset="0"/>
              </a:rPr>
              <a:t>Nxm</a:t>
            </a:r>
            <a:r>
              <a:rPr lang="en-US" sz="900" b="0" dirty="0">
                <a:solidFill>
                  <a:srgbClr val="0A3069"/>
                </a:solidFill>
                <a:effectLst/>
                <a:latin typeface="Consolas" panose="020B0609020204030204" pitchFamily="49" charset="0"/>
              </a:rPr>
              <a:t> </a:t>
            </a:r>
            <a:r>
              <a:rPr lang="en-US" sz="900" b="0" dirty="0" err="1">
                <a:solidFill>
                  <a:srgbClr val="0A3069"/>
                </a:solidFill>
                <a:effectLst/>
                <a:latin typeface="Consolas" panose="020B0609020204030204" pitchFamily="49" charset="0"/>
              </a:rPr>
              <a:t>numpy</a:t>
            </a:r>
            <a:r>
              <a:rPr lang="en-US" sz="900" b="0" dirty="0">
                <a:solidFill>
                  <a:srgbClr val="0A3069"/>
                </a:solidFill>
                <a:effectLst/>
                <a:latin typeface="Consolas" panose="020B0609020204030204" pitchFamily="49" charset="0"/>
              </a:rPr>
              <a:t> array of destination points</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Output: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T: (m+1)x(m+1) homogeneous transformation matrix</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953800"/>
                </a:solidFill>
                <a:effectLst/>
                <a:latin typeface="Consolas" panose="020B0609020204030204" pitchFamily="49" charset="0"/>
              </a:rPr>
              <a:t>A</a:t>
            </a:r>
            <a:r>
              <a:rPr lang="en-US" sz="900" b="0" dirty="0" err="1">
                <a:solidFill>
                  <a:srgbClr val="202020"/>
                </a:solidFill>
                <a:effectLst/>
                <a:latin typeface="Consolas" panose="020B0609020204030204" pitchFamily="49" charset="0"/>
              </a:rPr>
              <a:t>.shape</a:t>
            </a:r>
            <a:r>
              <a:rPr lang="en-US" sz="900" b="0" dirty="0">
                <a:solidFill>
                  <a:srgbClr val="20202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1: Compute the centroids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np.mean</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axis</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np.mean</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axis</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2: Build cross-covariance matrix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AA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BB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H</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a:solidFill>
                  <a:srgbClr val="0550AE"/>
                </a:solidFill>
                <a:effectLst/>
                <a:latin typeface="Consolas" panose="020B0609020204030204" pitchFamily="49" charset="0"/>
              </a:rPr>
              <a:t>AA</a:t>
            </a:r>
            <a:r>
              <a:rPr lang="en-US" sz="900" b="0" dirty="0">
                <a:solidFill>
                  <a:srgbClr val="202020"/>
                </a:solidFill>
                <a:effectLst/>
                <a:latin typeface="Consolas" panose="020B0609020204030204" pitchFamily="49" charset="0"/>
              </a:rPr>
              <a:t>.T, </a:t>
            </a:r>
            <a:r>
              <a:rPr lang="en-US" sz="900" b="0" dirty="0">
                <a:solidFill>
                  <a:srgbClr val="0550AE"/>
                </a:solidFill>
                <a:effectLst/>
                <a:latin typeface="Consolas" panose="020B0609020204030204" pitchFamily="49" charset="0"/>
              </a:rPr>
              <a:t>BB</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3: SVD Decomposition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S</a:t>
            </a: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Vt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np.linalg.svd</a:t>
            </a:r>
            <a:r>
              <a:rPr lang="en-US" sz="900" b="0" dirty="0">
                <a:solidFill>
                  <a:srgbClr val="202020"/>
                </a:solidFill>
                <a:effectLst/>
                <a:latin typeface="Consolas" panose="020B0609020204030204" pitchFamily="49" charset="0"/>
              </a:rPr>
              <a:t>(</a:t>
            </a:r>
            <a:r>
              <a:rPr lang="en-US" sz="900" b="0" dirty="0">
                <a:solidFill>
                  <a:srgbClr val="0550AE"/>
                </a:solidFill>
                <a:effectLst/>
                <a:latin typeface="Consolas" panose="020B0609020204030204" pitchFamily="49" charset="0"/>
              </a:rPr>
              <a:t>H</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4: Extract R and t, from SVD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err="1">
                <a:solidFill>
                  <a:srgbClr val="1F2328"/>
                </a:solidFill>
                <a:effectLst/>
                <a:latin typeface="Consolas" panose="020B0609020204030204" pitchFamily="49" charset="0"/>
              </a:rPr>
              <a:t>Vt</a:t>
            </a:r>
            <a:r>
              <a:rPr lang="en-US" sz="900" b="0" dirty="0" err="1">
                <a:solidFill>
                  <a:srgbClr val="202020"/>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AF00DB"/>
                </a:solidFill>
                <a:effectLst/>
                <a:latin typeface="Consolas" panose="020B0609020204030204" pitchFamily="49" charset="0"/>
              </a:rPr>
              <a:t>if</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np.linalg.det</a:t>
            </a:r>
            <a:r>
              <a:rPr lang="en-US" sz="900" b="0" dirty="0">
                <a:solidFill>
                  <a:srgbClr val="202020"/>
                </a:solidFill>
                <a:effectLst/>
                <a:latin typeface="Consolas" panose="020B0609020204030204" pitchFamily="49" charset="0"/>
              </a:rPr>
              <a:t>(</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&lt;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Vt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err="1">
                <a:solidFill>
                  <a:srgbClr val="1F2328"/>
                </a:solidFill>
                <a:effectLst/>
                <a:latin typeface="Consolas" panose="020B0609020204030204" pitchFamily="49" charset="0"/>
              </a:rPr>
              <a:t>Vt</a:t>
            </a:r>
            <a:r>
              <a:rPr lang="en-US" sz="900" b="0" dirty="0" err="1">
                <a:solidFill>
                  <a:srgbClr val="202020"/>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r>
              <a:rPr lang="en-US" sz="900" b="0" dirty="0" err="1">
                <a:solidFill>
                  <a:srgbClr val="202020"/>
                </a:solidFill>
                <a:effectLst/>
                <a:latin typeface="Consolas" panose="020B0609020204030204" pitchFamily="49" charset="0"/>
              </a:rPr>
              <a:t>.reshape</a:t>
            </a:r>
            <a:r>
              <a:rPr lang="en-US" sz="900" b="0" dirty="0">
                <a:solidFill>
                  <a:srgbClr val="202020"/>
                </a:solidFill>
                <a:effectLst/>
                <a:latin typeface="Consolas" panose="020B0609020204030204" pitchFamily="49" charset="0"/>
              </a:rPr>
              <a:t>(</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r>
              <a:rPr lang="en-US" sz="900" b="0" dirty="0" err="1">
                <a:solidFill>
                  <a:srgbClr val="202020"/>
                </a:solidFill>
                <a:effectLst/>
                <a:latin typeface="Consolas" panose="020B0609020204030204" pitchFamily="49" charset="0"/>
              </a:rPr>
              <a:t>.reshape</a:t>
            </a:r>
            <a:r>
              <a:rPr lang="en-US" sz="900" b="0" dirty="0">
                <a:solidFill>
                  <a:srgbClr val="202020"/>
                </a:solidFill>
                <a:effectLst/>
                <a:latin typeface="Consolas" panose="020B0609020204030204" pitchFamily="49" charset="0"/>
              </a:rPr>
              <a:t>(</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np.eye</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t</a:t>
            </a:r>
            <a:r>
              <a:rPr lang="en-US" sz="900" b="0" dirty="0" err="1">
                <a:solidFill>
                  <a:srgbClr val="202020"/>
                </a:solidFill>
                <a:effectLst/>
                <a:latin typeface="Consolas" panose="020B0609020204030204" pitchFamily="49" charset="0"/>
              </a:rPr>
              <a:t>.ravel</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AF00DB"/>
                </a:solidFill>
                <a:effectLst/>
                <a:latin typeface="Consolas" panose="020B0609020204030204" pitchFamily="49" charset="0"/>
              </a:rPr>
              <a:t>return</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endParaRPr lang="en-US" sz="900" dirty="0">
              <a:latin typeface="Arial"/>
              <a:ea typeface="Arial"/>
              <a:cs typeface="Arial"/>
              <a:sym typeface="Arial"/>
            </a:endParaRPr>
          </a:p>
        </p:txBody>
      </p:sp>
      <p:sp>
        <p:nvSpPr>
          <p:cNvPr id="119" name="Google Shape;119;p29">
            <a:extLst>
              <a:ext uri="{FF2B5EF4-FFF2-40B4-BE49-F238E27FC236}">
                <a16:creationId xmlns:a16="http://schemas.microsoft.com/office/drawing/2014/main" id="{253FA99F-D3AC-D21D-1CCF-3575D68FCE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C6218C6-F638-66C1-7D05-D1473066794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6D4E87C-995B-2523-AFCC-977D8D71BC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1D06FE-C044-95C7-D497-0F969E8533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A454EA-9BC5-7E86-DBC4-FC962B24D2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6BC6146-B4EC-15BE-03DF-EC4BB28A20A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6AF4BD7-B050-8981-FDEE-709D49C23D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1EADEF3-DA17-E95A-CA92-F85E5B94F1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351818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CE5392F-AD07-0E69-5E9B-DA6E30882C6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85F982A-F234-DAB8-D7A9-1BF7F0C8E8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EA5E042-D008-C105-1BE5-70632E46176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D603758-0928-9176-9E34-B06B26321EA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FB2B51-8C82-A2E9-97BB-A8B8B25C31E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AC3F4C-98AB-1806-21B5-EF48C707477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190147-0457-BF4D-E427-328B9A66148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F44FB8-0216-30D9-50C0-6EEF6C4BB5E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B41684-11AA-14D2-9E27-671C806D8C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91EFFD07-38E8-4D7F-3744-DAD0AC1D9992}"/>
                  </a:ext>
                </a:extLst>
              </p:cNvPr>
              <p:cNvSpPr>
                <a:spLocks noGrp="1"/>
              </p:cNvSpPr>
              <p:nvPr>
                <p:ph type="body" idx="1"/>
              </p:nvPr>
            </p:nvSpPr>
            <p:spPr>
              <a:xfrm>
                <a:off x="838200" y="5209383"/>
                <a:ext cx="10515600" cy="967579"/>
              </a:xfrm>
            </p:spPr>
            <p:txBody>
              <a:bodyPr>
                <a:normAutofit fontScale="77500" lnSpcReduction="20000"/>
              </a:bodyPr>
              <a:lstStyle/>
              <a:p>
                <a:r>
                  <a:rPr lang="en-US" dirty="0"/>
                  <a:t>Initial Point Clouds P (</a:t>
                </a:r>
                <a:r>
                  <a:rPr lang="en-US" dirty="0">
                    <a:solidFill>
                      <a:srgbClr val="0070C0"/>
                    </a:solidFill>
                  </a:rPr>
                  <a:t>blue</a:t>
                </a:r>
                <a:r>
                  <a:rPr lang="en-US" dirty="0"/>
                  <a:t>, offset triangle) and Q (</a:t>
                </a:r>
                <a:r>
                  <a:rPr lang="en-US" dirty="0">
                    <a:solidFill>
                      <a:srgbClr val="FF0000"/>
                    </a:solidFill>
                  </a:rPr>
                  <a:t>red</a:t>
                </a:r>
                <a:r>
                  <a:rPr lang="en-US" dirty="0"/>
                  <a:t>, offset and rotated triangle), with their calculated centroids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 and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marked and vectors from the origin shown</a:t>
                </a:r>
              </a:p>
            </p:txBody>
          </p:sp>
        </mc:Choice>
        <mc:Fallback xmlns="">
          <p:sp>
            <p:nvSpPr>
              <p:cNvPr id="3" name="Text Placeholder 2">
                <a:extLst>
                  <a:ext uri="{FF2B5EF4-FFF2-40B4-BE49-F238E27FC236}">
                    <a16:creationId xmlns:a16="http://schemas.microsoft.com/office/drawing/2014/main" id="{91EFFD07-38E8-4D7F-3744-DAD0AC1D9992}"/>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18BAE210-BBF1-CBAB-22A6-C3EB4E085A20}"/>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584587" y="929488"/>
            <a:ext cx="4616426" cy="4330874"/>
          </a:xfrm>
          <a:prstGeom prst="rect">
            <a:avLst/>
          </a:prstGeom>
        </p:spPr>
      </p:pic>
    </p:spTree>
    <p:extLst>
      <p:ext uri="{BB962C8B-B14F-4D97-AF65-F5344CB8AC3E}">
        <p14:creationId xmlns:p14="http://schemas.microsoft.com/office/powerpoint/2010/main" val="25005471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C7067F-5553-0959-EA5C-FD29C61ADDC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A4661B9-3087-22FB-2303-5E0CEE00BD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8DC3057-86F7-A7CF-6196-E4361CB7C92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ECF76CC-7BC0-0BBA-DAC9-48D1922038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72983E-ADD2-C6DA-2366-DBB3FE66EE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4D24E7-3B3F-2BD5-7101-6B62084498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C39ECB-D041-9047-89BD-F36DACA4989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B2DF911-FED4-53F5-A899-0600D77A7D5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02F15D-2FDC-6CBE-491B-B92D924B30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54CC042B-9E45-22D3-E071-C60056D13D04}"/>
              </a:ext>
            </a:extLst>
          </p:cNvPr>
          <p:cNvSpPr>
            <a:spLocks noGrp="1"/>
          </p:cNvSpPr>
          <p:nvPr>
            <p:ph type="body" idx="1"/>
          </p:nvPr>
        </p:nvSpPr>
        <p:spPr>
          <a:xfrm>
            <a:off x="838200" y="5209383"/>
            <a:ext cx="10515600" cy="967579"/>
          </a:xfrm>
        </p:spPr>
        <p:txBody>
          <a:bodyPr>
            <a:normAutofit fontScale="77500" lnSpcReduction="20000"/>
          </a:bodyPr>
          <a:lstStyle/>
          <a:p>
            <a:r>
              <a:rPr lang="en-US" dirty="0"/>
              <a:t>Visualization of Step 2 conceptually centering both point clouds at the global origin to compute the cross-covariance matrix H using the relative positions of points to their respective centroids</a:t>
            </a:r>
          </a:p>
        </p:txBody>
      </p:sp>
      <p:pic>
        <p:nvPicPr>
          <p:cNvPr id="5" name="Graphic 4">
            <a:extLst>
              <a:ext uri="{FF2B5EF4-FFF2-40B4-BE49-F238E27FC236}">
                <a16:creationId xmlns:a16="http://schemas.microsoft.com/office/drawing/2014/main" id="{FD20D93B-0F98-5034-611E-C6C783D4B50E}"/>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514369" y="929488"/>
            <a:ext cx="4756861" cy="4330874"/>
          </a:xfrm>
          <a:prstGeom prst="rect">
            <a:avLst/>
          </a:prstGeom>
        </p:spPr>
      </p:pic>
    </p:spTree>
    <p:extLst>
      <p:ext uri="{BB962C8B-B14F-4D97-AF65-F5344CB8AC3E}">
        <p14:creationId xmlns:p14="http://schemas.microsoft.com/office/powerpoint/2010/main" val="13307755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E04DC5-9A3F-8B6F-76D6-C2B6910FF9D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8F0F1E5-0A31-2F41-A495-F004F2E5B9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6C7BF5B-A602-ED97-AE15-31C620EC030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0526884-0468-AD9C-2243-C5AC22D7D5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E26A46D-7BE6-EFFB-D6E2-149BAC70AC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CDC73C-DE55-59A5-CD11-199C60AE99C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E1859E3-375B-190E-A954-5BE860C595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D18AB5-3E6C-B65E-ABFE-DA4A2AEE5D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E25DE7-A128-1D0B-7335-EC1B4E2B26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A95456C2-C8A7-3CA9-903B-E0129A58B8B0}"/>
                  </a:ext>
                </a:extLst>
              </p:cNvPr>
              <p:cNvSpPr>
                <a:spLocks noGrp="1"/>
              </p:cNvSpPr>
              <p:nvPr>
                <p:ph type="body" idx="1"/>
              </p:nvPr>
            </p:nvSpPr>
            <p:spPr>
              <a:xfrm>
                <a:off x="838200" y="5209383"/>
                <a:ext cx="10515600" cy="967579"/>
              </a:xfrm>
            </p:spPr>
            <p:txBody>
              <a:bodyPr>
                <a:normAutofit fontScale="70000" lnSpcReduction="20000"/>
              </a:bodyPr>
              <a:lstStyle/>
              <a:p>
                <a:r>
                  <a:rPr lang="en-US" dirty="0"/>
                  <a:t>Visualization of Step 3 SVD decomposition </a:t>
                </a:r>
                <a14:m>
                  <m:oMath xmlns:m="http://schemas.openxmlformats.org/officeDocument/2006/math">
                    <m:r>
                      <m:rPr>
                        <m:lit/>
                      </m:rPr>
                      <a:rPr lang="en-US" i="1" dirty="0" smtClean="0">
                        <a:latin typeface="Cambria Math" panose="02040503050406030204" pitchFamily="18" charset="0"/>
                      </a:rPr>
                      <m:t>(</m:t>
                    </m:r>
                    <m:r>
                      <a:rPr lang="en-US" i="1" dirty="0" smtClean="0">
                        <a:latin typeface="Cambria Math" panose="02040503050406030204" pitchFamily="18" charset="0"/>
                      </a:rPr>
                      <m:t>𝐻</m:t>
                    </m:r>
                    <m:r>
                      <a:rPr lang="en-US" i="1" dirty="0" smtClean="0">
                        <a:latin typeface="Cambria Math" panose="02040503050406030204" pitchFamily="18" charset="0"/>
                      </a:rPr>
                      <m:t>=</m:t>
                    </m:r>
                    <m:r>
                      <a:rPr lang="en-US" i="1" dirty="0" smtClean="0">
                        <a:latin typeface="Cambria Math" panose="02040503050406030204" pitchFamily="18" charset="0"/>
                      </a:rPr>
                      <m:t>𝑈</m:t>
                    </m:r>
                    <m:r>
                      <m:rPr>
                        <m:sty m:val="p"/>
                      </m:rPr>
                      <a:rPr lang="en-US" i="0" dirty="0" smtClean="0">
                        <a:latin typeface="Cambria Math" panose="02040503050406030204" pitchFamily="18" charset="0"/>
                      </a:rPr>
                      <m:t>Σ</m:t>
                    </m:r>
                    <m:sSup>
                      <m:sSupPr>
                        <m:ctrlPr>
                          <a:rPr lang="en-US" i="1" dirty="0" smtClean="0">
                            <a:latin typeface="Cambria Math" panose="02040503050406030204" pitchFamily="18" charset="0"/>
                          </a:rPr>
                        </m:ctrlPr>
                      </m:sSupPr>
                      <m:e>
                        <m:r>
                          <a:rPr lang="en-US" i="1" dirty="0" smtClean="0">
                            <a:latin typeface="Cambria Math" panose="02040503050406030204" pitchFamily="18" charset="0"/>
                          </a:rPr>
                          <m:t>𝑉</m:t>
                        </m:r>
                      </m:e>
                      <m:sup>
                        <m:r>
                          <a:rPr lang="en-US" i="1" dirty="0" smtClean="0">
                            <a:latin typeface="Cambria Math" panose="02040503050406030204" pitchFamily="18" charset="0"/>
                          </a:rPr>
                          <m:t>𝑇</m:t>
                        </m:r>
                      </m:sup>
                    </m:sSup>
                    <m:r>
                      <m:rPr>
                        <m:lit/>
                      </m:rPr>
                      <a:rPr lang="en-US" i="1" dirty="0" smtClean="0">
                        <a:latin typeface="Cambria Math" panose="02040503050406030204" pitchFamily="18" charset="0"/>
                      </a:rPr>
                      <m:t>)</m:t>
                    </m:r>
                  </m:oMath>
                </a14:m>
                <a:r>
                  <a:rPr lang="en-US" dirty="0"/>
                  <a:t>, showing the orthogonal singular vectors U and V as principal axes in the centered frames of reference for P and Q respectively, with illustrative singular values </a:t>
                </a:r>
                <a14:m>
                  <m:oMath xmlns:m="http://schemas.openxmlformats.org/officeDocument/2006/math">
                    <m:r>
                      <m:rPr>
                        <m:lit/>
                      </m:rPr>
                      <a:rPr lang="en-US" i="1" dirty="0" smtClean="0">
                        <a:latin typeface="Cambria Math" panose="02040503050406030204" pitchFamily="18" charset="0"/>
                      </a:rPr>
                      <m:t>(</m:t>
                    </m:r>
                    <m:sSub>
                      <m:sSubPr>
                        <m:ctrlPr>
                          <a:rPr lang="en-US" i="1" dirty="0" err="1" smtClean="0">
                            <a:latin typeface="Cambria Math" panose="02040503050406030204" pitchFamily="18" charset="0"/>
                          </a:rPr>
                        </m:ctrlPr>
                      </m:sSubPr>
                      <m:e>
                        <m:r>
                          <a:rPr lang="en-US" i="1" dirty="0" smtClean="0">
                            <a:latin typeface="Cambria Math" panose="02040503050406030204" pitchFamily="18" charset="0"/>
                          </a:rPr>
                          <m:t>𝜎</m:t>
                        </m:r>
                      </m:e>
                      <m:sub>
                        <m:r>
                          <a:rPr lang="en-US" i="1" dirty="0" err="1" smtClean="0">
                            <a:latin typeface="Cambria Math" panose="02040503050406030204" pitchFamily="18" charset="0"/>
                          </a:rPr>
                          <m:t>𝑖</m:t>
                        </m:r>
                      </m:sub>
                    </m:sSub>
                    <m:r>
                      <m:rPr>
                        <m:lit/>
                      </m:rPr>
                      <a:rPr lang="en-US" i="1" dirty="0" smtClean="0">
                        <a:latin typeface="Cambria Math" panose="02040503050406030204" pitchFamily="18" charset="0"/>
                      </a:rPr>
                      <m:t>)</m:t>
                    </m:r>
                  </m:oMath>
                </a14:m>
                <a:r>
                  <a:rPr lang="en-US" dirty="0"/>
                  <a:t> indicating the scale of variance along these directions.</a:t>
                </a:r>
              </a:p>
            </p:txBody>
          </p:sp>
        </mc:Choice>
        <mc:Fallback xmlns="">
          <p:sp>
            <p:nvSpPr>
              <p:cNvPr id="3" name="Text Placeholder 2">
                <a:extLst>
                  <a:ext uri="{FF2B5EF4-FFF2-40B4-BE49-F238E27FC236}">
                    <a16:creationId xmlns:a16="http://schemas.microsoft.com/office/drawing/2014/main" id="{A95456C2-C8A7-3CA9-903B-E0129A58B8B0}"/>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b="-1899"/>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536E3C64-6EBB-C997-8554-1A3F2ECD812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82052" y="1013094"/>
            <a:ext cx="11227896" cy="4263756"/>
          </a:xfrm>
          <a:prstGeom prst="rect">
            <a:avLst/>
          </a:prstGeom>
        </p:spPr>
      </p:pic>
    </p:spTree>
    <p:extLst>
      <p:ext uri="{BB962C8B-B14F-4D97-AF65-F5344CB8AC3E}">
        <p14:creationId xmlns:p14="http://schemas.microsoft.com/office/powerpoint/2010/main" val="208229421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A5239AA-AEF5-3089-2D02-D8A9BB48473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9B89790-F0F7-D31B-7A46-E15BBF176C2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BF871ED-BF79-A998-EE78-CF1D606D9BF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3BD780-54F7-8969-1B4A-EBAA5A3D406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B9EC3A-ED8E-51B0-6361-6240EA512D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607FE4-151D-F34B-CA85-17DFF167B9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332E11-4311-FC52-0D06-7F7EEBC2DA8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5EC569F-4268-DEED-1EF1-837927323E9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F0366A-E00A-1E82-BB17-210D88A6308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DD899695-7819-6E96-3DBA-448A445D352D}"/>
              </a:ext>
            </a:extLst>
          </p:cNvPr>
          <p:cNvSpPr>
            <a:spLocks noGrp="1"/>
          </p:cNvSpPr>
          <p:nvPr>
            <p:ph type="body" idx="1"/>
          </p:nvPr>
        </p:nvSpPr>
        <p:spPr>
          <a:xfrm>
            <a:off x="838200" y="5209383"/>
            <a:ext cx="10515600" cy="967579"/>
          </a:xfrm>
        </p:spPr>
        <p:txBody>
          <a:bodyPr>
            <a:normAutofit fontScale="77500" lnSpcReduction="20000"/>
          </a:bodyPr>
          <a:lstStyle/>
          <a:p>
            <a:r>
              <a:rPr lang="en-US" dirty="0"/>
              <a:t>Visualizing Step 4 rotation part, showing how the rotation matrix R is conceptually applied to the centered point cloud P' to align its principal axes with those of centered Q', resulting in the rotated, centered shape P''.</a:t>
            </a:r>
          </a:p>
        </p:txBody>
      </p:sp>
      <p:pic>
        <p:nvPicPr>
          <p:cNvPr id="5" name="Graphic 4">
            <a:extLst>
              <a:ext uri="{FF2B5EF4-FFF2-40B4-BE49-F238E27FC236}">
                <a16:creationId xmlns:a16="http://schemas.microsoft.com/office/drawing/2014/main" id="{0305EC02-A30E-839C-30BE-F1AB43709982}"/>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609676" y="929488"/>
            <a:ext cx="4566247" cy="4330874"/>
          </a:xfrm>
          <a:prstGeom prst="rect">
            <a:avLst/>
          </a:prstGeom>
        </p:spPr>
      </p:pic>
    </p:spTree>
    <p:extLst>
      <p:ext uri="{BB962C8B-B14F-4D97-AF65-F5344CB8AC3E}">
        <p14:creationId xmlns:p14="http://schemas.microsoft.com/office/powerpoint/2010/main" val="232971554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2E2AA1-7FC5-C909-F37D-AAF46E5C752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8DE1703-B261-6430-E51C-4574D58CB8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07343F-E4C9-F48B-B57B-F62B619338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462F1BC-44E4-C368-18BA-CA459E49AA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E67CC0-F37D-6B87-963B-547D48B9139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109E016-DB80-99C1-9DBB-56AAE361CE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C0AB567-0ECB-0063-6BBC-459F1E1DC5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DF3A4BA-7CC5-7AA4-6E36-2F638664D8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F6FE9-836A-E96E-ECB5-5872A56526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B070FF12-13F9-E647-2E3F-F97005440DB6}"/>
                  </a:ext>
                </a:extLst>
              </p:cNvPr>
              <p:cNvSpPr>
                <a:spLocks noGrp="1"/>
              </p:cNvSpPr>
              <p:nvPr>
                <p:ph type="body" idx="1"/>
              </p:nvPr>
            </p:nvSpPr>
            <p:spPr>
              <a:xfrm>
                <a:off x="838200" y="5209383"/>
                <a:ext cx="10515600" cy="967579"/>
              </a:xfrm>
            </p:spPr>
            <p:txBody>
              <a:bodyPr>
                <a:normAutofit fontScale="70000" lnSpcReduction="20000"/>
              </a:bodyPr>
              <a:lstStyle/>
              <a:p>
                <a:r>
                  <a:rPr lang="en-US" dirty="0"/>
                  <a:t>Visualizing the Step 4 translation vector calculation </a:t>
                </a:r>
                <a14:m>
                  <m:oMath xmlns:m="http://schemas.openxmlformats.org/officeDocument/2006/math">
                    <m:r>
                      <a:rPr lang="en-US" i="1" dirty="0" smtClean="0">
                        <a:latin typeface="Cambria Math" panose="02040503050406030204" pitchFamily="18" charset="0"/>
                      </a:rPr>
                      <m:t>𝑡</m:t>
                    </m:r>
                    <m:r>
                      <a:rPr lang="en-US" i="1" dirty="0" smtClean="0">
                        <a:latin typeface="Cambria Math" panose="02040503050406030204" pitchFamily="18" charset="0"/>
                      </a:rPr>
                      <m:t>=</m:t>
                    </m:r>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a:rPr lang="en-US" i="1" dirty="0" smtClean="0">
                        <a:latin typeface="Cambria Math" panose="02040503050406030204" pitchFamily="18" charset="0"/>
                      </a:rPr>
                      <m:t>−</m:t>
                    </m:r>
                    <m:r>
                      <a:rPr lang="en-US" i="1" dirty="0" smtClean="0">
                        <a:latin typeface="Cambria Math" panose="02040503050406030204" pitchFamily="18" charset="0"/>
                      </a:rPr>
                      <m:t>𝑅</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 The vector t shifts the rotated source centroid </a:t>
                </a:r>
                <a14:m>
                  <m:oMath xmlns:m="http://schemas.openxmlformats.org/officeDocument/2006/math">
                    <m:r>
                      <m:rPr>
                        <m:lit/>
                      </m:rPr>
                      <a:rPr lang="en-US" i="1" dirty="0" smtClean="0">
                        <a:latin typeface="Cambria Math" panose="02040503050406030204" pitchFamily="18" charset="0"/>
                      </a:rPr>
                      <m:t>(</m:t>
                    </m:r>
                    <m:r>
                      <a:rPr lang="en-US" i="1" dirty="0" smtClean="0">
                        <a:latin typeface="Cambria Math" panose="02040503050406030204" pitchFamily="18" charset="0"/>
                      </a:rPr>
                      <m:t>𝑅</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directly to the target centroid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Conceptual perfect shape alignment (</a:t>
                </a:r>
                <a:r>
                  <a:rPr lang="en-US" dirty="0">
                    <a:solidFill>
                      <a:srgbClr val="00B0F0"/>
                    </a:solidFill>
                  </a:rPr>
                  <a:t>cyan</a:t>
                </a:r>
                <a:r>
                  <a:rPr lang="en-US" dirty="0"/>
                  <a:t> filled triangle) is shown centered on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aligning with the original Q shape.</a:t>
                </a:r>
              </a:p>
            </p:txBody>
          </p:sp>
        </mc:Choice>
        <mc:Fallback xmlns="">
          <p:sp>
            <p:nvSpPr>
              <p:cNvPr id="3" name="Text Placeholder 2">
                <a:extLst>
                  <a:ext uri="{FF2B5EF4-FFF2-40B4-BE49-F238E27FC236}">
                    <a16:creationId xmlns:a16="http://schemas.microsoft.com/office/drawing/2014/main" id="{B070FF12-13F9-E647-2E3F-F97005440DB6}"/>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b="-1899"/>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24D571A1-D7AF-E1FF-EA34-3C42C1061DB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597200" y="929488"/>
            <a:ext cx="4591199" cy="4330874"/>
          </a:xfrm>
          <a:prstGeom prst="rect">
            <a:avLst/>
          </a:prstGeom>
        </p:spPr>
      </p:pic>
    </p:spTree>
    <p:extLst>
      <p:ext uri="{BB962C8B-B14F-4D97-AF65-F5344CB8AC3E}">
        <p14:creationId xmlns:p14="http://schemas.microsoft.com/office/powerpoint/2010/main" val="189523972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F27D0C-D461-125C-CA59-CE1CACE70A4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E969761-E913-2A48-54F3-4350792A03F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hidden costs the biggest problem is actually the first step!</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For N source points and M target points, naïve nearest-neighbor search is </a:t>
                </a:r>
                <a14:m>
                  <m:oMath xmlns:m="http://schemas.openxmlformats.org/officeDocument/2006/math">
                    <m:r>
                      <a:rPr lang="en-US" sz="2200" i="1" dirty="0" smtClean="0">
                        <a:latin typeface="Cambria Math" panose="02040503050406030204" pitchFamily="18" charset="0"/>
                        <a:ea typeface="Arial"/>
                        <a:cs typeface="Arial"/>
                        <a:sym typeface="Arial"/>
                      </a:rPr>
                      <m:t>𝑂</m:t>
                    </m:r>
                    <m:r>
                      <a:rPr lang="en-US" sz="220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N</m:t>
                    </m:r>
                    <m:r>
                      <a:rPr lang="en-US" sz="2200" b="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M</m:t>
                    </m:r>
                    <m:r>
                      <a:rPr lang="en-US" sz="2200" i="1" dirty="0" smtClean="0">
                        <a:latin typeface="Cambria Math" panose="02040503050406030204" pitchFamily="18" charset="0"/>
                        <a:ea typeface="Arial"/>
                        <a:cs typeface="Arial"/>
                        <a:sym typeface="Arial"/>
                      </a:rPr>
                      <m:t>)</m:t>
                    </m:r>
                  </m:oMath>
                </a14:m>
                <a:endParaRPr lang="en-US" sz="2200" dirty="0">
                  <a:latin typeface="Arial"/>
                  <a:ea typeface="Arial"/>
                  <a:cs typeface="Arial"/>
                  <a:sym typeface="Arial"/>
                </a:endParaRPr>
              </a:p>
              <a:p>
                <a:pPr marL="800100" lvl="1">
                  <a:lnSpc>
                    <a:spcPct val="100000"/>
                  </a:lnSpc>
                  <a:spcBef>
                    <a:spcPts val="0"/>
                  </a:spcBef>
                  <a:buSzPts val="3000"/>
                </a:pPr>
                <a:r>
                  <a:rPr lang="en-US" dirty="0">
                    <a:latin typeface="Arial"/>
                    <a:ea typeface="Arial"/>
                    <a:cs typeface="Arial"/>
                    <a:sym typeface="Arial"/>
                  </a:rPr>
                  <a:t>Just check for each points between each point</a:t>
                </a:r>
              </a:p>
              <a:p>
                <a:pPr marL="342900">
                  <a:lnSpc>
                    <a:spcPct val="100000"/>
                  </a:lnSpc>
                  <a:spcBef>
                    <a:spcPts val="0"/>
                  </a:spcBef>
                  <a:buSzPts val="3000"/>
                </a:pPr>
                <a:r>
                  <a:rPr lang="en-US" sz="2400" dirty="0">
                    <a:latin typeface="Arial"/>
                    <a:ea typeface="Arial"/>
                    <a:cs typeface="Arial"/>
                    <a:sym typeface="Arial"/>
                  </a:rPr>
                  <a:t>Solution:</a:t>
                </a:r>
              </a:p>
              <a:p>
                <a:pPr marL="800100" lvl="1">
                  <a:lnSpc>
                    <a:spcPct val="100000"/>
                  </a:lnSpc>
                  <a:spcBef>
                    <a:spcPts val="0"/>
                  </a:spcBef>
                  <a:buSzPts val="3000"/>
                </a:pPr>
                <a:r>
                  <a:rPr lang="en-US" dirty="0">
                    <a:latin typeface="Arial"/>
                    <a:ea typeface="Arial"/>
                    <a:cs typeface="Arial"/>
                    <a:sym typeface="Arial"/>
                  </a:rPr>
                  <a:t>Preprocess the target cloud into a </a:t>
                </a:r>
                <a:r>
                  <a:rPr lang="en-US" b="1" dirty="0">
                    <a:latin typeface="Arial"/>
                    <a:ea typeface="Arial"/>
                    <a:cs typeface="Arial"/>
                    <a:sym typeface="Arial"/>
                  </a:rPr>
                  <a:t>k-d tree</a:t>
                </a:r>
                <a:r>
                  <a:rPr lang="en-US" dirty="0">
                    <a:latin typeface="Arial"/>
                    <a:ea typeface="Arial"/>
                    <a:cs typeface="Arial"/>
                    <a:sym typeface="Arial"/>
                  </a:rPr>
                  <a:t>, binary space portioning structure </a:t>
                </a:r>
                <a14:m>
                  <m:oMath xmlns:m="http://schemas.openxmlformats.org/officeDocument/2006/math">
                    <m:r>
                      <m:rPr>
                        <m:sty m:val="p"/>
                      </m:rPr>
                      <a:rPr lang="en-US" b="0" i="1" smtClean="0">
                        <a:latin typeface="Cambria Math" panose="02040503050406030204" pitchFamily="18" charset="0"/>
                        <a:ea typeface="Arial"/>
                        <a:cs typeface="Arial"/>
                        <a:sym typeface="Arial"/>
                      </a:rPr>
                      <m:t>O</m:t>
                    </m:r>
                    <m:r>
                      <a:rPr lang="en-US" b="0" i="1" smtClean="0">
                        <a:latin typeface="Cambria Math" panose="02040503050406030204" pitchFamily="18" charset="0"/>
                        <a:ea typeface="Arial"/>
                        <a:cs typeface="Arial"/>
                        <a:sym typeface="Arial"/>
                      </a:rPr>
                      <m:t>(</m:t>
                    </m:r>
                    <m:r>
                      <m:rPr>
                        <m:sty m:val="p"/>
                      </m:rPr>
                      <a:rPr lang="en-US" b="0" i="1" smtClean="0">
                        <a:latin typeface="Cambria Math" panose="02040503050406030204" pitchFamily="18" charset="0"/>
                        <a:ea typeface="Arial"/>
                        <a:cs typeface="Arial"/>
                        <a:sym typeface="Arial"/>
                      </a:rPr>
                      <m:t>M</m:t>
                    </m:r>
                    <m:r>
                      <a:rPr lang="en-US" b="0" i="1" smtClean="0">
                        <a:latin typeface="Cambria Math" panose="02040503050406030204" pitchFamily="18" charset="0"/>
                        <a:ea typeface="Arial"/>
                        <a:cs typeface="Arial"/>
                        <a:sym typeface="Arial"/>
                      </a:rPr>
                      <m:t> </m:t>
                    </m:r>
                    <m:r>
                      <m:rPr>
                        <m:sty m:val="p"/>
                      </m:rPr>
                      <a:rPr lang="en-US" b="0" i="1" smtClean="0">
                        <a:latin typeface="Cambria Math" panose="02040503050406030204" pitchFamily="18" charset="0"/>
                        <a:ea typeface="Arial"/>
                        <a:cs typeface="Arial"/>
                        <a:sym typeface="Arial"/>
                      </a:rPr>
                      <m:t>log</m:t>
                    </m:r>
                    <m:r>
                      <a:rPr lang="en-US" b="0" i="1" smtClean="0">
                        <a:latin typeface="Cambria Math" panose="02040503050406030204" pitchFamily="18" charset="0"/>
                        <a:ea typeface="Arial"/>
                        <a:cs typeface="Arial"/>
                        <a:sym typeface="Arial"/>
                      </a:rPr>
                      <m:t> </m:t>
                    </m:r>
                    <m:r>
                      <m:rPr>
                        <m:sty m:val="p"/>
                      </m:rPr>
                      <a:rPr lang="en-US" b="0" i="1" smtClean="0">
                        <a:latin typeface="Cambria Math" panose="02040503050406030204" pitchFamily="18" charset="0"/>
                        <a:ea typeface="Arial"/>
                        <a:cs typeface="Arial"/>
                        <a:sym typeface="Arial"/>
                      </a:rPr>
                      <m:t>M</m:t>
                    </m:r>
                    <m:r>
                      <a:rPr lang="en-US" b="0" i="1" smtClean="0">
                        <a:latin typeface="Cambria Math" panose="02040503050406030204" pitchFamily="18" charset="0"/>
                        <a:ea typeface="Arial"/>
                        <a:cs typeface="Arial"/>
                        <a:sym typeface="Arial"/>
                      </a:rPr>
                      <m:t>)</m:t>
                    </m:r>
                  </m:oMath>
                </a14:m>
                <a:r>
                  <a:rPr lang="en-US" dirty="0">
                    <a:latin typeface="Arial"/>
                    <a:ea typeface="Arial"/>
                    <a:cs typeface="Arial"/>
                    <a:sym typeface="Arial"/>
                  </a:rPr>
                  <a:t> construction time</a:t>
                </a:r>
              </a:p>
              <a:p>
                <a:pPr marL="800100" lvl="1">
                  <a:lnSpc>
                    <a:spcPct val="100000"/>
                  </a:lnSpc>
                  <a:spcBef>
                    <a:spcPts val="0"/>
                  </a:spcBef>
                  <a:buSzPts val="3000"/>
                </a:pPr>
                <a:r>
                  <a:rPr lang="en-US" dirty="0">
                    <a:latin typeface="Arial"/>
                    <a:ea typeface="Arial"/>
                    <a:cs typeface="Arial"/>
                    <a:sym typeface="Arial"/>
                  </a:rPr>
                  <a:t>K-d nearest-neighbor lookup drops to </a:t>
                </a:r>
                <a14:m>
                  <m:oMath xmlns:m="http://schemas.openxmlformats.org/officeDocument/2006/math">
                    <m:r>
                      <a:rPr lang="en-US" i="1" dirty="0" smtClean="0">
                        <a:latin typeface="Cambria Math" panose="02040503050406030204" pitchFamily="18" charset="0"/>
                        <a:ea typeface="Arial"/>
                        <a:cs typeface="Arial"/>
                        <a:sym typeface="Arial"/>
                      </a:rPr>
                      <m:t>𝑂</m:t>
                    </m:r>
                    <m:d>
                      <m:dPr>
                        <m:ctrlPr>
                          <a:rPr lang="en-US" i="1" dirty="0" smtClean="0">
                            <a:latin typeface="Cambria Math" panose="02040503050406030204" pitchFamily="18" charset="0"/>
                            <a:ea typeface="Arial"/>
                            <a:cs typeface="Arial"/>
                            <a:sym typeface="Arial"/>
                          </a:rPr>
                        </m:ctrlPr>
                      </m:dPr>
                      <m:e>
                        <m:r>
                          <a:rPr lang="en-US" b="0" i="1" dirty="0" smtClean="0">
                            <a:latin typeface="Cambria Math" panose="02040503050406030204" pitchFamily="18" charset="0"/>
                            <a:ea typeface="Arial"/>
                            <a:cs typeface="Arial"/>
                            <a:sym typeface="Arial"/>
                          </a:rPr>
                          <m:t>𝑙𝑜</m:t>
                        </m:r>
                        <m:sSub>
                          <m:sSubPr>
                            <m:ctrlPr>
                              <a:rPr lang="en-US" b="0" i="1" dirty="0" smtClean="0">
                                <a:latin typeface="Cambria Math" panose="02040503050406030204" pitchFamily="18" charset="0"/>
                                <a:ea typeface="Arial"/>
                                <a:cs typeface="Arial"/>
                                <a:sym typeface="Arial"/>
                              </a:rPr>
                            </m:ctrlPr>
                          </m:sSubPr>
                          <m:e>
                            <m:r>
                              <a:rPr lang="en-US" b="0" i="1" dirty="0" smtClean="0">
                                <a:latin typeface="Cambria Math" panose="02040503050406030204" pitchFamily="18" charset="0"/>
                                <a:ea typeface="Arial"/>
                                <a:cs typeface="Arial"/>
                                <a:sym typeface="Arial"/>
                              </a:rPr>
                              <m:t>𝑔</m:t>
                            </m:r>
                          </m:e>
                          <m:sub>
                            <m:r>
                              <a:rPr lang="en-US" b="0" i="1" dirty="0" smtClean="0">
                                <a:latin typeface="Cambria Math" panose="02040503050406030204" pitchFamily="18" charset="0"/>
                                <a:ea typeface="Arial"/>
                                <a:cs typeface="Arial"/>
                                <a:sym typeface="Arial"/>
                              </a:rPr>
                              <m:t>2</m:t>
                            </m:r>
                          </m:sub>
                        </m:sSub>
                        <m:r>
                          <a:rPr lang="en-US" b="0" i="1" dirty="0" smtClean="0">
                            <a:latin typeface="Cambria Math" panose="02040503050406030204" pitchFamily="18" charset="0"/>
                            <a:ea typeface="Arial"/>
                            <a:cs typeface="Arial"/>
                            <a:sym typeface="Arial"/>
                          </a:rPr>
                          <m:t>𝑀</m:t>
                        </m:r>
                      </m:e>
                    </m:d>
                  </m:oMath>
                </a14:m>
                <a:r>
                  <a:rPr lang="en-US" dirty="0">
                    <a:latin typeface="Arial"/>
                    <a:ea typeface="Arial"/>
                    <a:cs typeface="Arial"/>
                    <a:sym typeface="Arial"/>
                  </a:rPr>
                  <a:t> per query! A major speedup!</a:t>
                </a:r>
              </a:p>
              <a:p>
                <a:pPr marL="800100" lvl="1">
                  <a:lnSpc>
                    <a:spcPct val="100000"/>
                  </a:lnSpc>
                  <a:spcBef>
                    <a:spcPts val="0"/>
                  </a:spcBef>
                  <a:buSzPts val="3000"/>
                </a:pPr>
                <a:r>
                  <a:rPr lang="en-US" dirty="0">
                    <a:latin typeface="Arial"/>
                    <a:ea typeface="Arial"/>
                    <a:cs typeface="Arial"/>
                    <a:sym typeface="Arial"/>
                  </a:rPr>
                  <a:t>Almost every ICP implementation in ROS, PCL and Open3D uses K-D trees internally!</a:t>
                </a:r>
              </a:p>
            </p:txBody>
          </p:sp>
        </mc:Choice>
        <mc:Fallback xmlns="">
          <p:sp>
            <p:nvSpPr>
              <p:cNvPr id="118" name="Google Shape;118;p29">
                <a:extLst>
                  <a:ext uri="{FF2B5EF4-FFF2-40B4-BE49-F238E27FC236}">
                    <a16:creationId xmlns:a16="http://schemas.microsoft.com/office/drawing/2014/main" id="{0E969761-E913-2A48-54F3-4350792A03F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A45A19D-858E-572E-4CD7-B1ACBDE794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BC26DFB-0D73-105E-0E58-7480B479AF5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194E8CC-A425-39E9-58A9-342CF9B05A1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CAA4C8-BF72-69DF-DAFB-1E3D8E8756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CE49E2-09EB-C625-779B-A00B484E1D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368529-AE47-41DB-7CFB-12EEFB76033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D6DDCCA-D8E4-5453-1C58-B118B4FAA3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2A030D8-212B-AB50-424C-3BBED2E4A8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513417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EADBD8-E1F3-917A-C5E4-34582E5F016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AE7F2E3-8820-C11E-E6E5-3600052AEAE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FB9EC1-CE93-89E0-7254-654F602371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FE821F6-FBBE-5F4D-66B4-17B7DBA3291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D2BCC0A-B2AF-7967-FF2F-D2C5F5C754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825A7E-DA32-ABA4-0E83-882AD8871F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50E1A23-5AA0-F23E-127B-AB131E4679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74D5ED-911C-C7F3-F471-EF0EC1BA4B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D5819A0-83A4-B65E-87F3-81D60DEEB45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20C3EB4A-3A69-D546-8533-82DADD71A6A0}"/>
              </a:ext>
            </a:extLst>
          </p:cNvPr>
          <p:cNvSpPr>
            <a:spLocks noGrp="1"/>
          </p:cNvSpPr>
          <p:nvPr>
            <p:ph type="body" idx="1"/>
          </p:nvPr>
        </p:nvSpPr>
        <p:spPr/>
        <p:txBody>
          <a:bodyPr/>
          <a:lstStyle/>
          <a:p>
            <a:endParaRPr lang="en-US"/>
          </a:p>
        </p:txBody>
      </p:sp>
      <p:pic>
        <p:nvPicPr>
          <p:cNvPr id="4" name="Online Media 3" title="KD Tree">
            <a:hlinkClick r:id="" action="ppaction://media"/>
            <a:extLst>
              <a:ext uri="{FF2B5EF4-FFF2-40B4-BE49-F238E27FC236}">
                <a16:creationId xmlns:a16="http://schemas.microsoft.com/office/drawing/2014/main" id="{BEBC29B2-B957-7A7E-A426-22CF6D4709D8}"/>
              </a:ext>
            </a:extLst>
          </p:cNvPr>
          <p:cNvPicPr>
            <a:picLocks noRot="1" noChangeAspect="1"/>
          </p:cNvPicPr>
          <p:nvPr>
            <a:videoFile r:link="rId1"/>
          </p:nvPr>
        </p:nvPicPr>
        <p:blipFill>
          <a:blip r:embed="rId5"/>
          <a:stretch>
            <a:fillRect/>
          </a:stretch>
        </p:blipFill>
        <p:spPr>
          <a:xfrm>
            <a:off x="1282700" y="976780"/>
            <a:ext cx="9626600" cy="5439042"/>
          </a:xfrm>
          <a:prstGeom prst="rect">
            <a:avLst/>
          </a:prstGeom>
        </p:spPr>
      </p:pic>
    </p:spTree>
    <p:extLst>
      <p:ext uri="{BB962C8B-B14F-4D97-AF65-F5344CB8AC3E}">
        <p14:creationId xmlns:p14="http://schemas.microsoft.com/office/powerpoint/2010/main" val="899057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70B2AD-FAC9-889D-1BF6-4269AA2A3C1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D6F8739-C5C6-FCA4-0FC6-1D1A6FE5A43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Imagine a robot driving straight down a long, flat, featureless corridor!</a:t>
                </a:r>
              </a:p>
              <a:p>
                <a:pPr marL="0" indent="0">
                  <a:lnSpc>
                    <a:spcPct val="100000"/>
                  </a:lnSpc>
                  <a:spcBef>
                    <a:spcPts val="0"/>
                  </a:spcBef>
                  <a:buSzPts val="3000"/>
                  <a:buNone/>
                </a:pPr>
                <a:endParaRPr lang="en-US" sz="2000" dirty="0">
                  <a:latin typeface="Arial"/>
                  <a:ea typeface="Arial"/>
                  <a:cs typeface="Arial"/>
                  <a:sym typeface="Arial"/>
                </a:endParaRPr>
              </a:p>
              <a:p>
                <a:pPr marL="285750" indent="-285750">
                  <a:lnSpc>
                    <a:spcPct val="100000"/>
                  </a:lnSpc>
                  <a:spcBef>
                    <a:spcPts val="0"/>
                  </a:spcBef>
                  <a:buSzPts val="3000"/>
                </a:pPr>
                <a:r>
                  <a:rPr lang="en-US" sz="2000" dirty="0">
                    <a:latin typeface="Arial"/>
                    <a:ea typeface="Arial"/>
                    <a:cs typeface="Arial"/>
                    <a:sym typeface="Arial"/>
                  </a:rPr>
                  <a:t>The left and right walls look geometrically identical at timestep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rial"/>
                    <a:ea typeface="Arial"/>
                    <a:cs typeface="Arial"/>
                    <a:sym typeface="Arial"/>
                  </a:rPr>
                  <a:t> and timestep </a:t>
                </a:r>
                <a14:m>
                  <m:oMath xmlns:m="http://schemas.openxmlformats.org/officeDocument/2006/math">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oMath>
                </a14:m>
                <a:endParaRPr lang="en-US" sz="2000" dirty="0">
                  <a:latin typeface="Arial"/>
                  <a:ea typeface="Arial"/>
                  <a:cs typeface="Arial"/>
                  <a:sym typeface="Arial"/>
                </a:endParaRPr>
              </a:p>
              <a:p>
                <a:pPr marL="285750" indent="-285750">
                  <a:lnSpc>
                    <a:spcPct val="100000"/>
                  </a:lnSpc>
                  <a:spcBef>
                    <a:spcPts val="0"/>
                  </a:spcBef>
                  <a:buSzPts val="3000"/>
                </a:pPr>
                <a:r>
                  <a:rPr lang="en-US" sz="2000" dirty="0">
                    <a:latin typeface="Arial"/>
                    <a:ea typeface="Arial"/>
                    <a:cs typeface="Arial"/>
                    <a:sym typeface="Arial"/>
                  </a:rPr>
                  <a:t>P2P matches each source point to its nearest target point - but that's sideways, not forward!</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does the algorithm conclude?</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'I haven't moved forward at all' and locks the map in place</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fundamental problem: P2P cannot distinguish 'slide along a wall' from 'did not move'</a:t>
                </a: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9D6F8739-C5C6-FCA4-0FC6-1D1A6FE5A43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972B00F-0894-7579-83B1-B403F0B274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CC359DB-F2E4-5A79-79DE-A9FFBB5ADB0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6B052F5-7E65-170F-DB1B-9ADFD4EC8F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B3D9CE-C2A3-C668-CCA9-D07B6029EA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9F82D68-B095-671A-2931-40EB3F0AC41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3497E-A544-DE61-5E29-CDEC2ECBB1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4B99F-EE40-685F-DB86-16D13CBD7BB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21611F-6F1C-79F7-4FE4-601B6707B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784284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70B2AD-FAC9-889D-1BF6-4269AA2A3C1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972B00F-0894-7579-83B1-B403F0B274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CC359DB-F2E4-5A79-79DE-A9FFBB5ADB0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6B052F5-7E65-170F-DB1B-9ADFD4EC8FF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B3D9CE-C2A3-C668-CCA9-D07B6029EA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9F82D68-B095-671A-2931-40EB3F0AC41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3497E-A544-DE61-5E29-CDEC2ECBB1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4B99F-EE40-685F-DB86-16D13CBD7BB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21611F-6F1C-79F7-4FE4-601B6707B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E3E09890-3168-E32E-1D7B-91ED2DDD067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4027" y="1522132"/>
            <a:ext cx="11543945" cy="4425493"/>
          </a:xfrm>
          <a:prstGeom prst="rect">
            <a:avLst/>
          </a:prstGeom>
        </p:spPr>
      </p:pic>
    </p:spTree>
    <p:extLst>
      <p:ext uri="{BB962C8B-B14F-4D97-AF65-F5344CB8AC3E}">
        <p14:creationId xmlns:p14="http://schemas.microsoft.com/office/powerpoint/2010/main" val="15989941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AB56BA-C36E-32D1-1719-81A27BD4246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2A1620C-AAEA-7E0D-E442-B592061B7FC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key insight is this, in 2D the world is mostly made of line segments (wall, doors, edges of boxes)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Instead of matching a source point to a single target point, match it to the nearest target </a:t>
                </a:r>
                <a:r>
                  <a:rPr lang="en-US" sz="2000" b="1" dirty="0">
                    <a:latin typeface="Arial"/>
                    <a:ea typeface="Arial"/>
                    <a:cs typeface="Arial"/>
                    <a:sym typeface="Arial"/>
                  </a:rPr>
                  <a:t>LINE</a:t>
                </a:r>
              </a:p>
              <a:p>
                <a:pPr marL="0" indent="0">
                  <a:lnSpc>
                    <a:spcPct val="100000"/>
                  </a:lnSpc>
                  <a:spcBef>
                    <a:spcPts val="0"/>
                  </a:spcBef>
                  <a:buSzPts val="3000"/>
                  <a:buNone/>
                </a:pPr>
                <a:endParaRPr lang="en-US" sz="2000" b="1"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For each target line segment, compute the unit normal </a:t>
                </a: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oMath>
                </a14:m>
                <a:r>
                  <a:rPr lang="en-US" sz="2000" dirty="0">
                    <a:latin typeface="Arial"/>
                    <a:ea typeface="Arial"/>
                    <a:cs typeface="Arial"/>
                    <a:sym typeface="Arial"/>
                  </a:rPr>
                  <a:t>, (perpendicular to the near wall)</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Only the component of the error </a:t>
                </a:r>
                <a:r>
                  <a:rPr lang="en-US" sz="2000" b="1" dirty="0">
                    <a:latin typeface="Arial"/>
                    <a:ea typeface="Arial"/>
                    <a:cs typeface="Arial"/>
                    <a:sym typeface="Arial"/>
                  </a:rPr>
                  <a:t>PERPENDICULAR</a:t>
                </a:r>
                <a:r>
                  <a:rPr lang="en-US" sz="2000" dirty="0">
                    <a:latin typeface="Arial"/>
                    <a:ea typeface="Arial"/>
                    <a:cs typeface="Arial"/>
                    <a:sym typeface="Arial"/>
                  </a:rPr>
                  <a:t> to the wall is penalized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 robot can now slide freely along a smooth corridor with the algorithm resisting it!</a:t>
                </a:r>
              </a:p>
            </p:txBody>
          </p:sp>
        </mc:Choice>
        <mc:Fallback xmlns="">
          <p:sp>
            <p:nvSpPr>
              <p:cNvPr id="118" name="Google Shape;118;p29">
                <a:extLst>
                  <a:ext uri="{FF2B5EF4-FFF2-40B4-BE49-F238E27FC236}">
                    <a16:creationId xmlns:a16="http://schemas.microsoft.com/office/drawing/2014/main" id="{B2A1620C-AAEA-7E0D-E442-B592061B7FC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0C1FBE6-635B-A4C0-43A3-0BAC91858B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A22662D-ADE4-8FAB-2235-267E92591B1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2: Point-to-Line ICP (PL-ICP)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A77CCC7-DE4F-3324-9FA1-C613972245D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61D3C7C-DB51-4506-1DD1-C6CCB33CA6B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9B9B2E-1ACA-20CC-A54E-066D1ED786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157A64-6858-C458-F91C-D27BC073A0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744A613-2500-83B6-FA06-C93D27C6616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E10E95-6F83-F141-4915-37E0C5B556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5584862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8BD5E5-66EC-A5EC-1FF7-B74584BC841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DEA45C0-9C86-75B2-B4AA-BB7BBD79CCB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rial"/>
                    <a:ea typeface="Arial"/>
                    <a:cs typeface="Arial"/>
                    <a:sym typeface="Arial"/>
                  </a:rPr>
                  <a:t>Residual = projection of </a:t>
                </a:r>
                <a14:m>
                  <m:oMath xmlns:m="http://schemas.openxmlformats.org/officeDocument/2006/math">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 </m:t>
                    </m:r>
                  </m:oMath>
                </a14:m>
                <a:r>
                  <a:rPr lang="en-US" sz="2000" dirty="0">
                    <a:latin typeface="Arial"/>
                    <a:ea typeface="Arial"/>
                    <a:cs typeface="Arial"/>
                    <a:sym typeface="Arial"/>
                  </a:rPr>
                  <a:t>onto the surface normal nᵢ</a:t>
                </a:r>
              </a:p>
              <a:p>
                <a:pPr marL="342900">
                  <a:lnSpc>
                    <a:spcPct val="100000"/>
                  </a:lnSpc>
                  <a:spcBef>
                    <a:spcPts val="0"/>
                  </a:spcBef>
                  <a:buSzPts val="3000"/>
                </a:pPr>
                <a:r>
                  <a:rPr lang="en-US" sz="2000" dirty="0">
                    <a:latin typeface="Arial"/>
                    <a:ea typeface="Arial"/>
                    <a:cs typeface="Arial"/>
                    <a:sym typeface="Arial"/>
                  </a:rPr>
                  <a:t>Motion parallel to the wall contributes ZERO error - the algorithm doesn't resist it, it just slides on the line</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For high-frequency LiDAR, the angle between consecutive scans is tiny, so we linearize, based on </a:t>
                </a:r>
                <a14:m>
                  <m:oMath xmlns:m="http://schemas.openxmlformats.org/officeDocument/2006/math">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sin</m:t>
                        </m:r>
                      </m:fName>
                      <m:e>
                        <m:r>
                          <a:rPr lang="en-US" sz="2000" b="0" i="1" smtClean="0">
                            <a:latin typeface="Cambria Math" panose="02040503050406030204" pitchFamily="18" charset="0"/>
                            <a:ea typeface="Arial"/>
                            <a:cs typeface="Arial"/>
                            <a:sym typeface="Arial"/>
                          </a:rPr>
                          <m:t>𝜃</m:t>
                        </m:r>
                      </m:e>
                    </m:func>
                    <m:r>
                      <a:rPr lang="en-US" sz="2000" b="0" i="1" smtClean="0">
                        <a:latin typeface="Cambria Math" panose="02040503050406030204" pitchFamily="18" charset="0"/>
                        <a:ea typeface="Arial"/>
                        <a:cs typeface="Arial"/>
                        <a:sym typeface="Arial"/>
                      </a:rPr>
                      <m:t>=1,</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cos</m:t>
                        </m:r>
                      </m:fName>
                      <m:e>
                        <m:r>
                          <a:rPr lang="en-US" sz="2000" b="0" i="1" smtClean="0">
                            <a:latin typeface="Cambria Math" panose="02040503050406030204" pitchFamily="18" charset="0"/>
                            <a:ea typeface="Arial"/>
                            <a:cs typeface="Arial"/>
                            <a:sym typeface="Arial"/>
                          </a:rPr>
                          <m:t>𝜃</m:t>
                        </m:r>
                      </m:e>
                    </m:func>
                    <m:r>
                      <a:rPr lang="en-US" sz="2000" b="0" i="1" smtClean="0">
                        <a:latin typeface="Cambria Math" panose="02040503050406030204" pitchFamily="18" charset="0"/>
                        <a:ea typeface="Arial"/>
                        <a:cs typeface="Arial"/>
                        <a:sym typeface="Arial"/>
                      </a:rPr>
                      <m:t>=1</m:t>
                    </m:r>
                  </m:oMath>
                </a14:m>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This turns a hard non-linear problem into ordinary linear least squares!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𝐸</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sSup>
                            <m:sSupPr>
                              <m:ctrlPr>
                                <a:rPr lang="en-US" sz="2000" b="0" i="1" smtClean="0">
                                  <a:latin typeface="Cambria Math" panose="02040503050406030204" pitchFamily="18" charset="0"/>
                                  <a:ea typeface="Arial"/>
                                  <a:cs typeface="Arial"/>
                                  <a:sym typeface="Arial"/>
                                </a:rPr>
                              </m:ctrlPr>
                            </m:sSupPr>
                            <m:e>
                              <m:d>
                                <m:dPr>
                                  <m:begChr m:val="|"/>
                                  <m:endChr m:val="|"/>
                                  <m:ctrlPr>
                                    <a:rPr lang="en-US" sz="2000" b="0" i="1" smtClean="0">
                                      <a:latin typeface="Cambria Math" panose="02040503050406030204" pitchFamily="18" charset="0"/>
                                      <a:ea typeface="Arial"/>
                                      <a:cs typeface="Arial"/>
                                      <a:sym typeface="Arial"/>
                                    </a:rPr>
                                  </m:ctrlPr>
                                </m:dPr>
                                <m:e>
                                  <m:d>
                                    <m:dPr>
                                      <m:begChr m:val="|"/>
                                      <m:endChr m:val="|"/>
                                      <m:ctrlPr>
                                        <a:rPr lang="en-US" sz="2000" b="0" i="1" smtClean="0">
                                          <a:latin typeface="Cambria Math" panose="02040503050406030204" pitchFamily="18" charset="0"/>
                                          <a:ea typeface="Arial"/>
                                          <a:cs typeface="Arial"/>
                                          <a:sym typeface="Arial"/>
                                        </a:rPr>
                                      </m:ctrlPr>
                                    </m:dPr>
                                    <m:e>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e>
                                  </m:d>
                                </m:e>
                              </m:d>
                            </m:e>
                            <m:sup>
                              <m:r>
                                <a:rPr lang="en-US" sz="2000" b="0" i="1" smtClean="0">
                                  <a:latin typeface="Cambria Math" panose="02040503050406030204" pitchFamily="18" charset="0"/>
                                  <a:ea typeface="Arial"/>
                                  <a:cs typeface="Arial"/>
                                  <a:sym typeface="Arial"/>
                                </a:rPr>
                                <m:t>2</m:t>
                              </m:r>
                            </m:sup>
                          </m:sSup>
                        </m:e>
                      </m:nary>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Parallel motion = zero error, </a:t>
                </a:r>
                <a14:m>
                  <m:oMath xmlns:m="http://schemas.openxmlformats.org/officeDocument/2006/math">
                    <m:r>
                      <a:rPr lang="en-US" sz="2000" b="0" i="1" smtClean="0">
                        <a:latin typeface="Cambria Math" panose="02040503050406030204" pitchFamily="18" charset="0"/>
                        <a:ea typeface="Arial"/>
                        <a:cs typeface="Arial"/>
                        <a:sym typeface="Arial"/>
                      </a:rPr>
                      <m:t>𝑥</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=0</m:t>
                    </m:r>
                  </m:oMath>
                </a14:m>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Perpendicular motion = penalty, </a:t>
                </a:r>
                <a14:m>
                  <m:oMath xmlns:m="http://schemas.openxmlformats.org/officeDocument/2006/math">
                    <m:r>
                      <a:rPr lang="en-US" sz="2000" i="1" smtClean="0">
                        <a:latin typeface="Cambria Math" panose="02040503050406030204" pitchFamily="18" charset="0"/>
                        <a:ea typeface="Arial"/>
                        <a:cs typeface="Arial"/>
                        <a:sym typeface="Arial"/>
                      </a:rPr>
                      <m:t>𝑥</m:t>
                    </m:r>
                    <m:r>
                      <a:rPr lang="en-US" sz="2000" i="1" smtClean="0">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𝑛</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𝑥</m:t>
                    </m:r>
                  </m:oMath>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CDEA45C0-9C86-75B2-B4AA-BB7BBD79CCB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E95C04-4D29-075D-FFDA-D497CACFD8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40B943E-8536-92B8-7DF6-2D00ADBDBC4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2: Point-to-Line ICP (PL-ICP)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60E55FB-C096-F1A8-C68A-78148CD53BA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50734F-B16F-CF54-7C88-B76B9670E1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505F19-C058-A064-6FCB-09C2E86A03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91BE9F-0440-A499-24FC-DA305A72E4F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3D126E9-78D4-48D2-8F9E-639EBA0AA55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2B02FAF-AB2D-37D8-5EF1-2EF514C4380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24293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16EA2A-93D1-A3F0-75B7-5CC5ADAB6E9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9B34002-0A39-BB31-4668-DDC32232417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62A51B8-83C2-33D7-81F0-655FB8029C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2: Point-to-Line ICP (PL-ICP)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7C1605B-8A28-3998-2D0C-91F707F2B8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AA60E51-6928-380C-4DD0-3789FBF89C3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7B80B1-7C84-9133-59D2-7AA96EAEE5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F5FEDA-2571-F0AE-C193-ABA668DF17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5C9113-1C51-B76D-9F3F-947E865D3D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907CF2-93F6-5C16-B747-55B6307CE9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A9A4C169-3B8F-0939-6C78-523D572403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548" y="1227221"/>
            <a:ext cx="5827525" cy="4572000"/>
          </a:xfrm>
          <a:prstGeom prst="rect">
            <a:avLst/>
          </a:prstGeom>
        </p:spPr>
      </p:pic>
      <p:pic>
        <p:nvPicPr>
          <p:cNvPr id="7" name="Graphic 6">
            <a:extLst>
              <a:ext uri="{FF2B5EF4-FFF2-40B4-BE49-F238E27FC236}">
                <a16:creationId xmlns:a16="http://schemas.microsoft.com/office/drawing/2014/main" id="{F7175818-FC9A-A861-6098-08D488DBB5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60179" y="1227221"/>
            <a:ext cx="4761514" cy="4572000"/>
          </a:xfrm>
          <a:prstGeom prst="rect">
            <a:avLst/>
          </a:prstGeom>
        </p:spPr>
      </p:pic>
    </p:spTree>
    <p:extLst>
      <p:ext uri="{BB962C8B-B14F-4D97-AF65-F5344CB8AC3E}">
        <p14:creationId xmlns:p14="http://schemas.microsoft.com/office/powerpoint/2010/main" val="352785395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5FADF4-646F-4F3F-231A-78F7EB20AD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5015E32-FAFE-E048-5AE3-77525018666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How do you think this generalizes in 3D?</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50000"/>
              </a:lnSpc>
              <a:spcBef>
                <a:spcPts val="0"/>
              </a:spcBef>
              <a:buSzPts val="3000"/>
            </a:pPr>
            <a:r>
              <a:rPr lang="en-US" sz="2000" dirty="0">
                <a:latin typeface="Arial"/>
                <a:ea typeface="Arial"/>
                <a:cs typeface="Arial"/>
                <a:sym typeface="Arial"/>
              </a:rPr>
              <a:t>In 3D, a plane is the natural generalization of a line (floor, ceiling, wall surface)</a:t>
            </a:r>
          </a:p>
          <a:p>
            <a:pPr marL="342900">
              <a:lnSpc>
                <a:spcPct val="150000"/>
              </a:lnSpc>
              <a:spcBef>
                <a:spcPts val="0"/>
              </a:spcBef>
              <a:buSzPts val="3000"/>
            </a:pPr>
            <a:r>
              <a:rPr lang="en-US" sz="2000" dirty="0">
                <a:latin typeface="Arial"/>
                <a:ea typeface="Arial"/>
                <a:cs typeface="Arial"/>
                <a:sym typeface="Arial"/>
              </a:rPr>
              <a:t>Every target point qᵢ gets a surface-normal vector nᵢ computed from its local neighbors</a:t>
            </a:r>
          </a:p>
          <a:p>
            <a:pPr marL="342900">
              <a:lnSpc>
                <a:spcPct val="150000"/>
              </a:lnSpc>
              <a:spcBef>
                <a:spcPts val="0"/>
              </a:spcBef>
              <a:buSzPts val="3000"/>
            </a:pPr>
            <a:r>
              <a:rPr lang="en-US" sz="2000" dirty="0">
                <a:latin typeface="Arial"/>
                <a:ea typeface="Arial"/>
                <a:cs typeface="Arial"/>
                <a:sym typeface="Arial"/>
              </a:rPr>
              <a:t>Error is projected onto nᵢ exactly as in PL-ICP, motion along the plane is free</a:t>
            </a:r>
          </a:p>
          <a:p>
            <a:pPr marL="342900">
              <a:lnSpc>
                <a:spcPct val="150000"/>
              </a:lnSpc>
              <a:spcBef>
                <a:spcPts val="0"/>
              </a:spcBef>
              <a:buSzPts val="3000"/>
            </a:pPr>
            <a:r>
              <a:rPr lang="en-US" sz="2000" dirty="0">
                <a:latin typeface="Arial"/>
                <a:ea typeface="Arial"/>
                <a:cs typeface="Arial"/>
                <a:sym typeface="Arial"/>
              </a:rPr>
              <a:t>Converges in far fewer iterations than P2P in structured indoor environments (given that 3D structures provide more constraints / unique presentations)</a:t>
            </a:r>
          </a:p>
        </p:txBody>
      </p:sp>
      <p:sp>
        <p:nvSpPr>
          <p:cNvPr id="119" name="Google Shape;119;p29">
            <a:extLst>
              <a:ext uri="{FF2B5EF4-FFF2-40B4-BE49-F238E27FC236}">
                <a16:creationId xmlns:a16="http://schemas.microsoft.com/office/drawing/2014/main" id="{D864196B-13A3-4212-3F3B-D58FD9AD5E6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2084440-D84D-07ED-FC8B-53F278BA083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3: Point-to-Plane 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E66DB1A-433A-172D-10F5-F865B150555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8386E8-83F7-CA4A-29CA-9F9E1A9195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6F44110-EF4D-D32E-10B1-22C5E802B4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165190D-05BD-43A8-4D82-63D230ECAA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C8A1A8C-0DEF-2525-4DA2-DC72036E60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EB126C-5BB6-FE62-C0CF-60CCE92C5C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055638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6CAF50-AEB3-C9C7-FDCD-A5E3AC8273F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AD5A15-4BE7-B88D-E49C-805CFBD54D3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What if BOTH clouds are noisy? We need uncertainty-aware matching.</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50000"/>
              </a:lnSpc>
              <a:spcBef>
                <a:spcPts val="0"/>
              </a:spcBef>
              <a:buSzPts val="3000"/>
            </a:pPr>
            <a:r>
              <a:rPr lang="en-US" sz="2000" dirty="0">
                <a:latin typeface="Arial"/>
                <a:ea typeface="Arial"/>
                <a:cs typeface="Arial"/>
                <a:sym typeface="Arial"/>
              </a:rPr>
              <a:t>P2P assumes source points are perfect, P2Plane assumes target surfaces are perfect</a:t>
            </a:r>
          </a:p>
          <a:p>
            <a:pPr marL="342900">
              <a:lnSpc>
                <a:spcPct val="150000"/>
              </a:lnSpc>
              <a:spcBef>
                <a:spcPts val="0"/>
              </a:spcBef>
              <a:buSzPts val="3000"/>
            </a:pPr>
            <a:r>
              <a:rPr lang="en-US" sz="2000" dirty="0">
                <a:latin typeface="Arial"/>
                <a:ea typeface="Arial"/>
                <a:cs typeface="Arial"/>
                <a:sym typeface="Arial"/>
              </a:rPr>
              <a:t>Reality: both clouds carry uncertainty - laser range noise, quantization, timing jitter</a:t>
            </a:r>
          </a:p>
          <a:p>
            <a:pPr marL="342900">
              <a:lnSpc>
                <a:spcPct val="150000"/>
              </a:lnSpc>
              <a:spcBef>
                <a:spcPts val="0"/>
              </a:spcBef>
              <a:buSzPts val="3000"/>
            </a:pPr>
            <a:r>
              <a:rPr lang="en-US" sz="2000" dirty="0">
                <a:latin typeface="Arial"/>
                <a:ea typeface="Arial"/>
                <a:cs typeface="Arial"/>
                <a:sym typeface="Arial"/>
              </a:rPr>
              <a:t>GICP attaches a 2×2 (or 3×3) covariance matrix to every point in both clouds</a:t>
            </a:r>
          </a:p>
          <a:p>
            <a:pPr marL="342900">
              <a:lnSpc>
                <a:spcPct val="150000"/>
              </a:lnSpc>
              <a:spcBef>
                <a:spcPts val="0"/>
              </a:spcBef>
              <a:buSzPts val="3000"/>
            </a:pPr>
            <a:r>
              <a:rPr lang="en-US" sz="2000" dirty="0">
                <a:latin typeface="Arial"/>
                <a:ea typeface="Arial"/>
                <a:cs typeface="Arial"/>
                <a:sym typeface="Arial"/>
              </a:rPr>
              <a:t>A point on a flat wall has a 'pancake' covariance: certain perpendicular, uncertain along the wall</a:t>
            </a:r>
          </a:p>
          <a:p>
            <a:pPr marL="342900">
              <a:lnSpc>
                <a:spcPct val="150000"/>
              </a:lnSpc>
              <a:spcBef>
                <a:spcPts val="0"/>
              </a:spcBef>
              <a:buSzPts val="3000"/>
            </a:pPr>
            <a:r>
              <a:rPr lang="en-US" sz="2000" dirty="0">
                <a:latin typeface="Arial"/>
                <a:ea typeface="Arial"/>
                <a:cs typeface="Arial"/>
                <a:sym typeface="Arial"/>
              </a:rPr>
              <a:t>Alignment is now done in probability space, not distance space</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9334BB1F-3D02-1A1F-45EC-909773BD82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A62ED2C-D7DF-D3F0-B6B7-F893A2D39E0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4: Generalized ICP (GICP)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2FF2239-3A16-4858-302C-87E487A48FC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18A74C-4443-64FC-4B56-1E71BEA626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B3047C3-28D1-7978-06EF-51362579A2B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B2EE0F6-269A-DEF5-996E-9A35384BE6D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DE788C-8C0D-BCCC-D842-EE4E450752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0F970F-D862-A0A7-38D9-2EDA8C271F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76071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70027EA-8625-77B1-9AD9-21FD90565DA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F592E44-47F4-612D-C6A2-424D844DD564}"/>
                  </a:ext>
                </a:extLst>
              </p:cNvPr>
              <p:cNvSpPr txBox="1">
                <a:spLocks noGrp="1"/>
              </p:cNvSpPr>
              <p:nvPr>
                <p:ph type="body" idx="1"/>
              </p:nvPr>
            </p:nvSpPr>
            <p:spPr>
              <a:xfrm>
                <a:off x="376809" y="1334279"/>
                <a:ext cx="11177401" cy="2741818"/>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rial"/>
                    <a:ea typeface="Arial"/>
                    <a:cs typeface="Arial"/>
                    <a:sym typeface="Arial"/>
                  </a:rPr>
                  <a:t>Both source and target have covariances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𝐶</m:t>
                        </m:r>
                      </m:e>
                      <m:sub>
                        <m:r>
                          <a:rPr lang="en-US" sz="2000" i="1" dirty="0" smtClean="0">
                            <a:latin typeface="Cambria Math" panose="02040503050406030204" pitchFamily="18" charset="0"/>
                            <a:ea typeface="Arial"/>
                            <a:cs typeface="Arial"/>
                            <a:sym typeface="Arial"/>
                          </a:rPr>
                          <m:t>𝑝</m:t>
                        </m:r>
                      </m:sub>
                    </m:sSub>
                  </m:oMath>
                </a14:m>
                <a:r>
                  <a:rPr lang="en-US" sz="2000" dirty="0">
                    <a:latin typeface="Arial"/>
                    <a:ea typeface="Arial"/>
                    <a:cs typeface="Arial"/>
                    <a:sym typeface="Arial"/>
                  </a:rPr>
                  <a:t> and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𝐶</m:t>
                        </m:r>
                      </m:e>
                      <m:sub>
                        <m:r>
                          <a:rPr lang="en-US" sz="2000" i="1" dirty="0" smtClean="0">
                            <a:latin typeface="Cambria Math" panose="02040503050406030204" pitchFamily="18" charset="0"/>
                            <a:ea typeface="Arial"/>
                            <a:cs typeface="Arial"/>
                            <a:sym typeface="Arial"/>
                          </a:rPr>
                          <m:t>𝑞</m:t>
                        </m:r>
                      </m:sub>
                    </m:sSub>
                  </m:oMath>
                </a14:m>
                <a:r>
                  <a:rPr lang="en-US" sz="2000" dirty="0">
                    <a:latin typeface="Arial"/>
                    <a:ea typeface="Arial"/>
                    <a:cs typeface="Arial"/>
                    <a:sym typeface="Arial"/>
                  </a:rPr>
                  <a:t> - we combine them into a weighting matrix</a:t>
                </a:r>
              </a:p>
              <a:p>
                <a:pPr marL="342900">
                  <a:lnSpc>
                    <a:spcPct val="100000"/>
                  </a:lnSpc>
                  <a:spcBef>
                    <a:spcPts val="0"/>
                  </a:spcBef>
                  <a:buSzPts val="3000"/>
                </a:pPr>
                <a:r>
                  <a:rPr lang="en-US" sz="2000" dirty="0">
                    <a:latin typeface="Arial"/>
                    <a:ea typeface="Arial"/>
                    <a:cs typeface="Arial"/>
                    <a:sym typeface="Arial"/>
                  </a:rPr>
                  <a:t>The resulting form unifies P2P (isotropic noise) and P2Plane (degenerate planar noise)!</a:t>
                </a:r>
              </a:p>
              <a:p>
                <a:pPr marL="342900">
                  <a:lnSpc>
                    <a:spcPct val="100000"/>
                  </a:lnSpc>
                  <a:spcBef>
                    <a:spcPts val="0"/>
                  </a:spcBef>
                  <a:buSzPts val="3000"/>
                </a:pPr>
                <a:r>
                  <a:rPr lang="en-US" sz="2000" dirty="0">
                    <a:latin typeface="Arial"/>
                    <a:ea typeface="Arial"/>
                    <a:cs typeface="Arial"/>
                    <a:sym typeface="Arial"/>
                  </a:rPr>
                  <a:t>One framework, tunable for the specific sensor and environment you have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𝐸</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𝑑</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m:t>
                              </m:r>
                            </m:sup>
                          </m:sSubSup>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𝐶</m:t>
                                      </m:r>
                                    </m:e>
                                    <m:sub>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𝐶</m:t>
                                      </m:r>
                                    </m:e>
                                    <m:sub>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sub>
                                  </m:sSub>
                                  <m:r>
                                    <a:rPr lang="en-US" sz="2000" b="0" i="1" smtClean="0">
                                      <a:latin typeface="Cambria Math" panose="02040503050406030204" pitchFamily="18" charset="0"/>
                                      <a:ea typeface="Arial"/>
                                      <a:cs typeface="Arial"/>
                                      <a:sym typeface="Arial"/>
                                    </a:rPr>
                                    <m:t>⋅</m:t>
                                  </m:r>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𝑅</m:t>
                                      </m:r>
                                    </m:e>
                                    <m:sup>
                                      <m:r>
                                        <a:rPr lang="en-US" sz="2000" b="0" i="1" smtClean="0">
                                          <a:latin typeface="Cambria Math" panose="02040503050406030204" pitchFamily="18" charset="0"/>
                                          <a:ea typeface="Arial"/>
                                          <a:cs typeface="Arial"/>
                                          <a:sym typeface="Arial"/>
                                        </a:rPr>
                                        <m:t>⊤</m:t>
                                      </m:r>
                                    </m:sup>
                                  </m:sSup>
                                </m:e>
                              </m:d>
                            </m:e>
                            <m:sup>
                              <m:r>
                                <a:rPr lang="en-US" sz="2000" b="0" i="1" smtClean="0">
                                  <a:latin typeface="Cambria Math" panose="02040503050406030204" pitchFamily="18" charset="0"/>
                                  <a:ea typeface="Arial"/>
                                  <a:cs typeface="Arial"/>
                                  <a:sym typeface="Arial"/>
                                </a:rPr>
                                <m:t>−1</m:t>
                              </m:r>
                            </m:sup>
                          </m:sSup>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𝑑</m:t>
                              </m:r>
                            </m:e>
                            <m:sub>
                              <m:r>
                                <a:rPr lang="en-US" sz="2000" b="0" i="1" smtClean="0">
                                  <a:latin typeface="Cambria Math" panose="02040503050406030204" pitchFamily="18" charset="0"/>
                                  <a:ea typeface="Arial"/>
                                  <a:cs typeface="Arial"/>
                                  <a:sym typeface="Arial"/>
                                </a:rPr>
                                <m:t>𝑖</m:t>
                              </m:r>
                            </m:sub>
                          </m:sSub>
                        </m:e>
                      </m:nary>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We minimize the “</a:t>
                </a:r>
                <a:r>
                  <a:rPr lang="en-US" sz="2000" dirty="0" err="1">
                    <a:latin typeface="Arial"/>
                    <a:ea typeface="Arial"/>
                    <a:cs typeface="Arial"/>
                    <a:sym typeface="Arial"/>
                  </a:rPr>
                  <a:t>Mahalanobis</a:t>
                </a:r>
                <a:r>
                  <a:rPr lang="en-US" sz="2000" dirty="0">
                    <a:latin typeface="Arial"/>
                    <a:ea typeface="Arial"/>
                    <a:cs typeface="Arial"/>
                    <a:sym typeface="Arial"/>
                  </a:rPr>
                  <a:t> distance” (just look it up, but it’s just the equation above).</a:t>
                </a:r>
              </a:p>
            </p:txBody>
          </p:sp>
        </mc:Choice>
        <mc:Fallback xmlns="">
          <p:sp>
            <p:nvSpPr>
              <p:cNvPr id="118" name="Google Shape;118;p29">
                <a:extLst>
                  <a:ext uri="{FF2B5EF4-FFF2-40B4-BE49-F238E27FC236}">
                    <a16:creationId xmlns:a16="http://schemas.microsoft.com/office/drawing/2014/main" id="{9F592E44-47F4-612D-C6A2-424D844DD564}"/>
                  </a:ext>
                </a:extLst>
              </p:cNvPr>
              <p:cNvSpPr txBox="1">
                <a:spLocks noGrp="1" noRot="1" noChangeAspect="1" noMove="1" noResize="1" noEditPoints="1" noAdjustHandles="1" noChangeArrowheads="1" noChangeShapeType="1" noTextEdit="1"/>
              </p:cNvSpPr>
              <p:nvPr>
                <p:ph type="body" idx="1"/>
              </p:nvPr>
            </p:nvSpPr>
            <p:spPr>
              <a:xfrm>
                <a:off x="376809" y="1334279"/>
                <a:ext cx="11177401" cy="2741818"/>
              </a:xfrm>
              <a:prstGeom prst="rect">
                <a:avLst/>
              </a:prstGeom>
              <a:blipFill>
                <a:blip r:embed="rId3"/>
                <a:stretch>
                  <a:fillRect l="-1146" t="-6222" r="-109" b="-20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30E89F1-5C4C-FCE7-EA25-1035659FD6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9E2DCC-0AFE-0F04-FE1E-0F4C850AA39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4: Generalized ICP (GICP)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E98A0D0-5CD5-A544-7504-F546A3357A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9A54F7-C500-09DA-F446-80335DC526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BE1EE3-5A6C-F987-BF1F-D064797867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FEA87A-4F9A-C2F2-42F8-62DA37F6DA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EFAED9-567C-CD3D-63B1-BA4ED015F86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B1E7AB-B3B9-59A0-6E5E-1D530187EB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FBBEBDBD-7C39-FD68-1AED-2A027E06B35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36323" y="4051446"/>
            <a:ext cx="6919353" cy="2602503"/>
          </a:xfrm>
          <a:prstGeom prst="rect">
            <a:avLst/>
          </a:prstGeom>
        </p:spPr>
      </p:pic>
    </p:spTree>
    <p:extLst>
      <p:ext uri="{BB962C8B-B14F-4D97-AF65-F5344CB8AC3E}">
        <p14:creationId xmlns:p14="http://schemas.microsoft.com/office/powerpoint/2010/main" val="410369630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B263D4-E8D8-0448-B51A-98A91F64AD0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54198A6-4D12-406F-16A6-7219C728D4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Throw away points, keep distributions!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ICP spends most of its time on k-d tree nearest-neighbor lookups</a:t>
            </a:r>
          </a:p>
          <a:p>
            <a:pPr marL="0" indent="0">
              <a:lnSpc>
                <a:spcPct val="100000"/>
              </a:lnSpc>
              <a:spcBef>
                <a:spcPts val="0"/>
              </a:spcBef>
              <a:buSzPts val="3000"/>
              <a:buNone/>
            </a:pPr>
            <a:r>
              <a:rPr lang="en-US" sz="2000" dirty="0">
                <a:latin typeface="Arial"/>
                <a:ea typeface="Arial"/>
                <a:cs typeface="Arial"/>
                <a:sym typeface="Arial"/>
              </a:rPr>
              <a:t>NDT eliminates this entirely, no point-to-point matching ever happens</a:t>
            </a:r>
          </a:p>
          <a:p>
            <a:pPr marL="342900">
              <a:lnSpc>
                <a:spcPct val="100000"/>
              </a:lnSpc>
              <a:spcBef>
                <a:spcPts val="0"/>
              </a:spcBef>
              <a:buSzPts val="3000"/>
            </a:pPr>
            <a:endParaRPr lang="en-US" sz="2000" b="1" dirty="0">
              <a:latin typeface="Arial"/>
              <a:ea typeface="Arial"/>
              <a:cs typeface="Arial"/>
              <a:sym typeface="Arial"/>
            </a:endParaRPr>
          </a:p>
          <a:p>
            <a:pPr marL="342900">
              <a:lnSpc>
                <a:spcPct val="100000"/>
              </a:lnSpc>
              <a:spcBef>
                <a:spcPts val="0"/>
              </a:spcBef>
              <a:buSzPts val="3000"/>
            </a:pPr>
            <a:r>
              <a:rPr lang="en-US" sz="2000" b="1" dirty="0">
                <a:latin typeface="Arial"/>
                <a:ea typeface="Arial"/>
                <a:cs typeface="Arial"/>
                <a:sym typeface="Arial"/>
              </a:rPr>
              <a:t>Step 1</a:t>
            </a:r>
            <a:r>
              <a:rPr lang="en-US" sz="2000" dirty="0">
                <a:latin typeface="Arial"/>
                <a:ea typeface="Arial"/>
                <a:cs typeface="Arial"/>
                <a:sym typeface="Arial"/>
              </a:rPr>
              <a:t>: divide the target map into a regular 2D grid of voxels</a:t>
            </a:r>
          </a:p>
          <a:p>
            <a:pPr marL="342900">
              <a:lnSpc>
                <a:spcPct val="100000"/>
              </a:lnSpc>
              <a:spcBef>
                <a:spcPts val="0"/>
              </a:spcBef>
              <a:buSzPts val="3000"/>
            </a:pPr>
            <a:r>
              <a:rPr lang="en-US" sz="2000" b="1" dirty="0">
                <a:latin typeface="Arial"/>
                <a:ea typeface="Arial"/>
                <a:cs typeface="Arial"/>
                <a:sym typeface="Arial"/>
              </a:rPr>
              <a:t>Step 2</a:t>
            </a:r>
            <a:r>
              <a:rPr lang="en-US" sz="2000" dirty="0">
                <a:latin typeface="Arial"/>
                <a:ea typeface="Arial"/>
                <a:cs typeface="Arial"/>
                <a:sym typeface="Arial"/>
              </a:rPr>
              <a:t>: for each voxel, compute a Gaussian (mean μ, covariance Σ) over its resident points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Scan matching becomes find the transformation that MAXIMIZES the scan's probability under this field</a:t>
            </a:r>
          </a:p>
        </p:txBody>
      </p:sp>
      <p:sp>
        <p:nvSpPr>
          <p:cNvPr id="119" name="Google Shape;119;p29">
            <a:extLst>
              <a:ext uri="{FF2B5EF4-FFF2-40B4-BE49-F238E27FC236}">
                <a16:creationId xmlns:a16="http://schemas.microsoft.com/office/drawing/2014/main" id="{A0AFAADF-3E01-D6E9-57C4-5FD578034D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A4AD846-39F2-AA82-4E9E-E28A7FA8EC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5: Normal Distributions Transform (NDT)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7F09072-FB4E-1E1F-EA66-9E05EA227C9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05BCE7-EFD5-45DF-B318-62BB656DC2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8A5662-31DD-6AFD-606F-C4F290ED514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E8EC42-DC2B-140A-6073-CD7C3A7F08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44B9C42-F81F-6C7F-997F-FEA1DEF965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F8AF37-F934-4F83-8D9E-3FF0FF3738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576290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D7D462-EA23-8495-F306-6BA008D53E8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792FB9A-2880-9959-5E22-ACD5A91F51F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rial"/>
                    <a:ea typeface="Arial"/>
                    <a:cs typeface="Arial"/>
                    <a:sym typeface="Arial"/>
                  </a:rPr>
                  <a:t>For each source point pᵢ, evaluate the Gaussian of the cell it falls into</a:t>
                </a:r>
              </a:p>
              <a:p>
                <a:pPr marL="342900">
                  <a:lnSpc>
                    <a:spcPct val="100000"/>
                  </a:lnSpc>
                  <a:spcBef>
                    <a:spcPts val="0"/>
                  </a:spcBef>
                  <a:buSzPts val="3000"/>
                </a:pPr>
                <a:r>
                  <a:rPr lang="en-US" sz="2000" dirty="0">
                    <a:latin typeface="Arial"/>
                    <a:ea typeface="Arial"/>
                    <a:cs typeface="Arial"/>
                    <a:sym typeface="Arial"/>
                  </a:rPr>
                  <a:t>Sum the log-probabilities (or negative probabilities) across all source points</a:t>
                </a:r>
              </a:p>
              <a:p>
                <a:pPr marL="342900">
                  <a:lnSpc>
                    <a:spcPct val="100000"/>
                  </a:lnSpc>
                  <a:spcBef>
                    <a:spcPts val="0"/>
                  </a:spcBef>
                  <a:buSzPts val="3000"/>
                </a:pPr>
                <a:r>
                  <a:rPr lang="en-US" sz="2000" dirty="0">
                    <a:latin typeface="Arial"/>
                    <a:ea typeface="Arial"/>
                    <a:cs typeface="Arial"/>
                    <a:sym typeface="Arial"/>
                  </a:rPr>
                  <a:t>Use Newton's method to find the </a:t>
                </a:r>
                <a14:m>
                  <m:oMath xmlns:m="http://schemas.openxmlformats.org/officeDocument/2006/math">
                    <m:r>
                      <a:rPr lang="en-US" sz="2000" i="1" dirty="0" smtClean="0">
                        <a:latin typeface="Cambria Math" panose="02040503050406030204" pitchFamily="18" charset="0"/>
                        <a:ea typeface="Arial"/>
                        <a:cs typeface="Arial"/>
                        <a:sym typeface="Arial"/>
                      </a:rPr>
                      <m:t>𝑅</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𝑡</m:t>
                    </m:r>
                  </m:oMath>
                </a14:m>
                <a:r>
                  <a:rPr lang="en-US" sz="2000" dirty="0">
                    <a:latin typeface="Arial"/>
                    <a:ea typeface="Arial"/>
                    <a:cs typeface="Arial"/>
                    <a:sym typeface="Arial"/>
                  </a:rPr>
                  <a:t> that maximizes this score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Advantage: no neighbor search. </a:t>
                </a:r>
              </a:p>
              <a:p>
                <a:pPr marL="0" indent="0">
                  <a:lnSpc>
                    <a:spcPct val="100000"/>
                  </a:lnSpc>
                  <a:spcBef>
                    <a:spcPts val="0"/>
                  </a:spcBef>
                  <a:buSzPts val="3000"/>
                  <a:buNone/>
                </a:pPr>
                <a:r>
                  <a:rPr lang="en-US" sz="2000" dirty="0">
                    <a:latin typeface="Arial"/>
                    <a:ea typeface="Arial"/>
                    <a:cs typeface="Arial"/>
                    <a:sym typeface="Arial"/>
                  </a:rPr>
                  <a:t>Disadvantage: heavily tuned by the voxel size you choose.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Arial"/>
                          <a:cs typeface="Arial"/>
                          <a:sym typeface="Arial"/>
                        </a:rPr>
                        <m:t>𝑠𝑐𝑜𝑟𝑒</m:t>
                      </m:r>
                      <m:d>
                        <m:dPr>
                          <m:ctrlPr>
                            <a:rPr lang="en-US" sz="200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e>
                      </m:d>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m:rPr>
                              <m:sty m:val="p"/>
                            </m:rPr>
                            <a:rPr lang="en-US" sz="2000" i="0" smtClean="0">
                              <a:latin typeface="Cambria Math" panose="02040503050406030204" pitchFamily="18" charset="0"/>
                              <a:ea typeface="Arial"/>
                              <a:cs typeface="Arial"/>
                              <a:sym typeface="Arial"/>
                            </a:rPr>
                            <m:t>Σ</m:t>
                          </m:r>
                        </m:e>
                        <m:sub>
                          <m:r>
                            <a:rPr lang="en-US" sz="2000" i="1" smtClean="0">
                              <a:latin typeface="Cambria Math" panose="02040503050406030204" pitchFamily="18" charset="0"/>
                              <a:ea typeface="Arial"/>
                              <a:cs typeface="Arial"/>
                              <a:sym typeface="Arial"/>
                            </a:rPr>
                            <m:t>𝑖</m:t>
                          </m:r>
                        </m:sub>
                      </m:sSub>
                      <m:sSup>
                        <m:sSupPr>
                          <m:ctrlPr>
                            <a:rPr lang="en-US" sz="2000" i="1" smtClean="0">
                              <a:latin typeface="Cambria Math" panose="02040503050406030204" pitchFamily="18" charset="0"/>
                              <a:ea typeface="Arial"/>
                              <a:cs typeface="Arial"/>
                              <a:sym typeface="Arial"/>
                            </a:rPr>
                          </m:ctrlPr>
                        </m:sSupPr>
                        <m:e>
                          <m:r>
                            <a:rPr lang="en-US" sz="2000" i="1" smtClean="0">
                              <a:latin typeface="Cambria Math" panose="02040503050406030204" pitchFamily="18" charset="0"/>
                              <a:ea typeface="Arial"/>
                              <a:cs typeface="Arial"/>
                              <a:sym typeface="Arial"/>
                            </a:rPr>
                            <m:t>𝑒</m:t>
                          </m:r>
                        </m:e>
                        <m:sup>
                          <m:r>
                            <a:rPr lang="en-US" sz="2000" i="1" smtClean="0">
                              <a:latin typeface="Cambria Math" panose="02040503050406030204" pitchFamily="18" charset="0"/>
                              <a:ea typeface="Arial"/>
                              <a:cs typeface="Arial"/>
                              <a:sym typeface="Arial"/>
                            </a:rPr>
                            <m:t>−</m:t>
                          </m:r>
                          <m:f>
                            <m:fPr>
                              <m:ctrlPr>
                                <a:rPr lang="en-US" sz="200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1</m:t>
                              </m:r>
                            </m:num>
                            <m:den>
                              <m:r>
                                <a:rPr lang="en-US" sz="2000" b="0" i="1" smtClean="0">
                                  <a:latin typeface="Cambria Math" panose="02040503050406030204" pitchFamily="18" charset="0"/>
                                  <a:ea typeface="Arial"/>
                                  <a:cs typeface="Arial"/>
                                  <a:sym typeface="Arial"/>
                                </a:rPr>
                                <m:t>2</m:t>
                              </m:r>
                            </m:den>
                          </m:f>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𝑝</m:t>
                                      </m:r>
                                    </m:e>
                                    <m:sub>
                                      <m:r>
                                        <a:rPr lang="en-US" sz="2000" i="1" smtClean="0">
                                          <a:latin typeface="Cambria Math" panose="02040503050406030204" pitchFamily="18" charset="0"/>
                                          <a:ea typeface="Arial"/>
                                          <a:cs typeface="Arial"/>
                                          <a:sym typeface="Arial"/>
                                        </a:rPr>
                                        <m:t>𝑖</m:t>
                                      </m:r>
                                    </m:sub>
                                  </m:sSub>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𝜇</m:t>
                                      </m:r>
                                    </m:e>
                                    <m:sub>
                                      <m:r>
                                        <a:rPr lang="en-US" sz="2000" i="1" smtClean="0">
                                          <a:latin typeface="Cambria Math" panose="02040503050406030204" pitchFamily="18" charset="0"/>
                                          <a:ea typeface="Arial"/>
                                          <a:cs typeface="Arial"/>
                                          <a:sym typeface="Arial"/>
                                        </a:rPr>
                                        <m:t>𝑖</m:t>
                                      </m:r>
                                    </m:sub>
                                  </m:sSub>
                                </m:e>
                              </m:d>
                            </m:e>
                            <m:sup>
                              <m:r>
                                <a:rPr lang="en-US" sz="2000" i="1" smtClean="0">
                                  <a:latin typeface="Cambria Math" panose="02040503050406030204" pitchFamily="18" charset="0"/>
                                  <a:ea typeface="Arial"/>
                                  <a:cs typeface="Arial"/>
                                  <a:sym typeface="Arial"/>
                                </a:rPr>
                                <m:t>⊤</m:t>
                              </m:r>
                            </m:sup>
                          </m:sSup>
                          <m:sSubSup>
                            <m:sSubSupPr>
                              <m:ctrlPr>
                                <a:rPr lang="en-US" sz="2000" i="1" smtClean="0">
                                  <a:latin typeface="Cambria Math" panose="02040503050406030204" pitchFamily="18" charset="0"/>
                                  <a:ea typeface="Arial"/>
                                  <a:cs typeface="Arial"/>
                                  <a:sym typeface="Arial"/>
                                </a:rPr>
                              </m:ctrlPr>
                            </m:sSubSupPr>
                            <m:e>
                              <m:r>
                                <m:rPr>
                                  <m:sty m:val="p"/>
                                </m:rPr>
                                <a:rPr lang="en-US" sz="2000" i="0" smtClean="0">
                                  <a:latin typeface="Cambria Math" panose="02040503050406030204" pitchFamily="18" charset="0"/>
                                  <a:ea typeface="Arial"/>
                                  <a:cs typeface="Arial"/>
                                  <a:sym typeface="Arial"/>
                                </a:rPr>
                                <m:t>Σ</m:t>
                              </m:r>
                            </m:e>
                            <m:sub>
                              <m:r>
                                <a:rPr lang="en-US" sz="2000" i="1" smtClean="0">
                                  <a:latin typeface="Cambria Math" panose="02040503050406030204" pitchFamily="18" charset="0"/>
                                  <a:ea typeface="Arial"/>
                                  <a:cs typeface="Arial"/>
                                  <a:sym typeface="Arial"/>
                                </a:rPr>
                                <m:t>𝑖</m:t>
                              </m:r>
                            </m:sub>
                            <m:sup>
                              <m:r>
                                <a:rPr lang="en-US" sz="2000" i="1" smtClean="0">
                                  <a:latin typeface="Cambria Math" panose="02040503050406030204" pitchFamily="18" charset="0"/>
                                  <a:ea typeface="Arial"/>
                                  <a:cs typeface="Arial"/>
                                  <a:sym typeface="Arial"/>
                                </a:rPr>
                                <m:t>−1</m:t>
                              </m:r>
                            </m:sup>
                          </m:sSubSup>
                          <m:d>
                            <m:dPr>
                              <m:ctrlPr>
                                <a:rPr lang="en-US" sz="200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𝑝</m:t>
                                  </m:r>
                                </m:e>
                                <m:sub>
                                  <m:r>
                                    <a:rPr lang="en-US" sz="2000" i="1" smtClean="0">
                                      <a:latin typeface="Cambria Math" panose="02040503050406030204" pitchFamily="18" charset="0"/>
                                      <a:ea typeface="Arial"/>
                                      <a:cs typeface="Arial"/>
                                      <a:sym typeface="Arial"/>
                                    </a:rPr>
                                    <m:t>𝑖</m:t>
                                  </m:r>
                                </m:sub>
                              </m:sSub>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𝜇</m:t>
                                  </m:r>
                                </m:e>
                                <m:sub>
                                  <m:r>
                                    <a:rPr lang="en-US" sz="2000" i="1" smtClean="0">
                                      <a:latin typeface="Cambria Math" panose="02040503050406030204" pitchFamily="18" charset="0"/>
                                      <a:ea typeface="Arial"/>
                                      <a:cs typeface="Arial"/>
                                      <a:sym typeface="Arial"/>
                                    </a:rPr>
                                    <m:t>𝑖</m:t>
                                  </m:r>
                                </m:sub>
                              </m:sSub>
                            </m:e>
                          </m:d>
                        </m:sup>
                      </m:sSup>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Minimizing negative likelihood = maximizing the match probability</a:t>
                </a:r>
              </a:p>
            </p:txBody>
          </p:sp>
        </mc:Choice>
        <mc:Fallback xmlns="">
          <p:sp>
            <p:nvSpPr>
              <p:cNvPr id="118" name="Google Shape;118;p29">
                <a:extLst>
                  <a:ext uri="{FF2B5EF4-FFF2-40B4-BE49-F238E27FC236}">
                    <a16:creationId xmlns:a16="http://schemas.microsoft.com/office/drawing/2014/main" id="{F792FB9A-2880-9959-5E22-ACD5A91F51F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A85E468-A5C4-8B48-39D3-8C4A032D15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5DDC832-B44B-9281-E77C-6D4BA8AED33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5: Normal Distributions Transform (NDT)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253DCA4-BE99-ADE0-B5A8-1D9A4845B17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6F4FB3-926D-7E3A-91CE-E4FC1AA5957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3BD56C6-0091-129A-6708-0A2A550DF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B1EBD4B-D46C-982A-7389-6A5CBB4BF7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7BAF0C-6468-D5AB-60FD-F9483ED6AC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5C96C9-2C76-EEE2-F26B-BE82CE5879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4035174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B9A55-843C-C161-EE2F-20F4AB79A83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5A8075-515D-2CCB-BE64-DD69C2F437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38FCD8F-66E6-A054-2793-6D2C0491B39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BC9B5B50-27FF-9663-C157-C429B507D0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1663387-A3BB-1F6A-5AFB-9BB600E7FE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97EF998-8AA2-873E-7268-3ADD3A7ACCA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1AF74F-4BC6-7EAE-C7BB-85CCD6797D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DFC576-6A84-609E-C8A3-AE033907FB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E4BBB2-CA52-3254-14E2-6903BB0A117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919C4EE9-575E-DAEC-C5B7-301A826B8705}"/>
              </a:ext>
            </a:extLst>
          </p:cNvPr>
          <p:cNvSpPr>
            <a:spLocks noGrp="1"/>
          </p:cNvSpPr>
          <p:nvPr>
            <p:ph type="body" idx="1"/>
          </p:nvPr>
        </p:nvSpPr>
        <p:spPr>
          <a:xfrm>
            <a:off x="838200" y="5209383"/>
            <a:ext cx="10515600" cy="967579"/>
          </a:xfrm>
        </p:spPr>
        <p:txBody>
          <a:bodyPr>
            <a:normAutofit fontScale="77500" lnSpcReduction="20000"/>
          </a:bodyPr>
          <a:lstStyle/>
          <a:p>
            <a:r>
              <a:rPr lang="en-US" dirty="0"/>
              <a:t>The target point cloud (Q) is placed into a regular spatial grid (voxels in 3D, squares in 2D). Cells with fewer than a minimum number of points (e.g., 3 points) are usually ignored to prevent mathematical instability</a:t>
            </a:r>
          </a:p>
        </p:txBody>
      </p:sp>
      <p:pic>
        <p:nvPicPr>
          <p:cNvPr id="5" name="Graphic 4">
            <a:extLst>
              <a:ext uri="{FF2B5EF4-FFF2-40B4-BE49-F238E27FC236}">
                <a16:creationId xmlns:a16="http://schemas.microsoft.com/office/drawing/2014/main" id="{1489C5F9-7D67-13E3-0059-079BEF23468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716143" y="929488"/>
            <a:ext cx="4353313" cy="4330874"/>
          </a:xfrm>
          <a:prstGeom prst="rect">
            <a:avLst/>
          </a:prstGeom>
        </p:spPr>
      </p:pic>
    </p:spTree>
    <p:extLst>
      <p:ext uri="{BB962C8B-B14F-4D97-AF65-F5344CB8AC3E}">
        <p14:creationId xmlns:p14="http://schemas.microsoft.com/office/powerpoint/2010/main" val="307543009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104A408-7D0A-B516-2179-C5AE665F957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670D68A-D64C-E7E2-9101-545DF485D6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DC90A9D-6DCA-A6F2-EB5C-59B50A424D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0FB68F67-FDC9-E928-9D60-1C3CB45582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BF3F72-93E2-E742-F43A-7A36FE50756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EFF2D0-F8B5-98A5-4943-70D57A2955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8918D6-C2DB-6527-CF83-C266544778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51D050-D2E8-98FE-51E1-FC425D2C2B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28F1FE-0806-D5D0-F237-B353F90650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746B313B-6E78-53CF-8BE0-00DD056E24AF}"/>
                  </a:ext>
                </a:extLst>
              </p:cNvPr>
              <p:cNvSpPr>
                <a:spLocks noGrp="1"/>
              </p:cNvSpPr>
              <p:nvPr>
                <p:ph type="body" idx="1"/>
              </p:nvPr>
            </p:nvSpPr>
            <p:spPr>
              <a:xfrm>
                <a:off x="838200" y="5209383"/>
                <a:ext cx="10515600" cy="967579"/>
              </a:xfrm>
            </p:spPr>
            <p:txBody>
              <a:bodyPr>
                <a:normAutofit fontScale="70000" lnSpcReduction="20000"/>
              </a:bodyPr>
              <a:lstStyle/>
              <a:p>
                <a:r>
                  <a:rPr lang="en-US" dirty="0"/>
                  <a:t>For every active cell, the sample mean </a:t>
                </a:r>
                <a14:m>
                  <m:oMath xmlns:m="http://schemas.openxmlformats.org/officeDocument/2006/math">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𝝁</m:t>
                            </m:r>
                          </m:e>
                          <m:sub>
                            <m:r>
                              <a:rPr lang="en-US" i="1" dirty="0" err="1" smtClean="0">
                                <a:latin typeface="Cambria Math" panose="02040503050406030204" pitchFamily="18" charset="0"/>
                              </a:rPr>
                              <m:t>𝒊</m:t>
                            </m:r>
                          </m:sub>
                        </m:sSub>
                      </m:e>
                    </m:d>
                  </m:oMath>
                </a14:m>
                <a:r>
                  <a:rPr lang="en-US" dirty="0"/>
                  <a:t> and covariance matrix </a:t>
                </a:r>
                <a14:m>
                  <m:oMath xmlns:m="http://schemas.openxmlformats.org/officeDocument/2006/math">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0" dirty="0" smtClean="0">
                                <a:latin typeface="Cambria Math" panose="02040503050406030204" pitchFamily="18" charset="0"/>
                              </a:rPr>
                              <m:t>𝚺</m:t>
                            </m:r>
                          </m:e>
                          <m:sub>
                            <m:r>
                              <a:rPr lang="en-US" i="1" dirty="0" err="1" smtClean="0">
                                <a:latin typeface="Cambria Math" panose="02040503050406030204" pitchFamily="18" charset="0"/>
                              </a:rPr>
                              <m:t>𝒊</m:t>
                            </m:r>
                          </m:sub>
                        </m:sSub>
                      </m:e>
                    </m:d>
                  </m:oMath>
                </a14:m>
                <a:r>
                  <a:rPr lang="en-US" dirty="0"/>
                  <a:t> of the target points are calculated. This transforms the discrete point cloud into a piecewise continuous set of multi-variate Gaussian probability distributions (represented here by covariance ellipses).</a:t>
                </a:r>
              </a:p>
            </p:txBody>
          </p:sp>
        </mc:Choice>
        <mc:Fallback xmlns="">
          <p:sp>
            <p:nvSpPr>
              <p:cNvPr id="3" name="Text Placeholder 2">
                <a:extLst>
                  <a:ext uri="{FF2B5EF4-FFF2-40B4-BE49-F238E27FC236}">
                    <a16:creationId xmlns:a16="http://schemas.microsoft.com/office/drawing/2014/main" id="{746B313B-6E78-53CF-8BE0-00DD056E24AF}"/>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r="-58" b="-1899"/>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935A3870-4E40-AB7E-5489-15E08BBF3AAE}"/>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053037" y="983446"/>
            <a:ext cx="6085926" cy="4334256"/>
          </a:xfrm>
          <a:prstGeom prst="rect">
            <a:avLst/>
          </a:prstGeom>
        </p:spPr>
      </p:pic>
    </p:spTree>
    <p:extLst>
      <p:ext uri="{BB962C8B-B14F-4D97-AF65-F5344CB8AC3E}">
        <p14:creationId xmlns:p14="http://schemas.microsoft.com/office/powerpoint/2010/main" val="183418361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E09C134-E235-EA07-C421-D8250E2484C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1A54447-D9B1-8A1C-B48D-B21CFD9EE8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5DE10B4-BC7D-14E9-DC8F-6B4C6620080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6DAA89EF-F7E5-7A0F-550B-2614AF1755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61C605-26E3-232D-DC07-49BCB1B89ED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10EDB2B-81FE-9AE8-F7CD-6133EA41996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FAAC0D-03C7-4F48-BC56-8C44952D152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E665662-D0E7-C254-9B9D-3C68CBEDC0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E04AE6E-6DE4-E4DA-A158-FACB591505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D97A2832-1018-0106-69AD-4ABA2C33394B}"/>
              </a:ext>
            </a:extLst>
          </p:cNvPr>
          <p:cNvSpPr>
            <a:spLocks noGrp="1"/>
          </p:cNvSpPr>
          <p:nvPr>
            <p:ph type="body" idx="1"/>
          </p:nvPr>
        </p:nvSpPr>
        <p:spPr>
          <a:xfrm>
            <a:off x="838200" y="5209383"/>
            <a:ext cx="10515600" cy="967579"/>
          </a:xfrm>
        </p:spPr>
        <p:txBody>
          <a:bodyPr>
            <a:normAutofit fontScale="77500" lnSpcReduction="20000"/>
          </a:bodyPr>
          <a:lstStyle/>
          <a:p>
            <a:r>
              <a:rPr lang="en-US" dirty="0"/>
              <a:t>The source point cloud (P) is projected into the voxel grid using its initial, unoptimized transformation. We determine which spatial cell each source point falls into (or its nearest neighbors if using smoothed NDT).</a:t>
            </a:r>
          </a:p>
        </p:txBody>
      </p:sp>
      <p:pic>
        <p:nvPicPr>
          <p:cNvPr id="5" name="Graphic 4">
            <a:extLst>
              <a:ext uri="{FF2B5EF4-FFF2-40B4-BE49-F238E27FC236}">
                <a16:creationId xmlns:a16="http://schemas.microsoft.com/office/drawing/2014/main" id="{114A0657-A83D-04FE-DCEF-BDBD87BC48C9}"/>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917643" y="983446"/>
            <a:ext cx="4356713" cy="4334256"/>
          </a:xfrm>
          <a:prstGeom prst="rect">
            <a:avLst/>
          </a:prstGeom>
        </p:spPr>
      </p:pic>
    </p:spTree>
    <p:extLst>
      <p:ext uri="{BB962C8B-B14F-4D97-AF65-F5344CB8AC3E}">
        <p14:creationId xmlns:p14="http://schemas.microsoft.com/office/powerpoint/2010/main" val="427695119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3C9C347-2A8F-12A6-4AB3-0DB604873BE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0DB4EDF-86F2-4B43-7E0C-3E29827E93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493704D-E500-A12A-00B0-AFBC15FFB9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0420D5EE-8925-05E5-9DFF-266DD0330A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EE4024-C51C-49EA-1F74-C40AD181AB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3F52A2-01E2-6775-BD66-14B25265C9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97148A-E7D3-F70B-C65E-C84F3224C9B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F08B000-642B-15AF-1CA1-F732559C056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C46AA0-30EF-0DD0-9B40-21FE312A295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129E1C6B-9EC6-DD9B-FC39-3947DFAFB6EE}"/>
                  </a:ext>
                </a:extLst>
              </p:cNvPr>
              <p:cNvSpPr>
                <a:spLocks noGrp="1"/>
              </p:cNvSpPr>
              <p:nvPr>
                <p:ph type="body" idx="1"/>
              </p:nvPr>
            </p:nvSpPr>
            <p:spPr>
              <a:xfrm>
                <a:off x="838200" y="5209383"/>
                <a:ext cx="10515600" cy="967579"/>
              </a:xfrm>
            </p:spPr>
            <p:txBody>
              <a:bodyPr>
                <a:normAutofit fontScale="77500" lnSpcReduction="20000"/>
              </a:bodyPr>
              <a:lstStyle/>
              <a:p>
                <a:r>
                  <a:rPr lang="en-US" dirty="0"/>
                  <a:t> NDT entirely drops discrete pairs. Instead, it evaluates the probability density of the target cell at the location of the transformed source point </a:t>
                </a:r>
                <a14:m>
                  <m:oMath xmlns:m="http://schemas.openxmlformats.org/officeDocument/2006/math">
                    <m:r>
                      <m:rPr>
                        <m:lit/>
                      </m:rPr>
                      <a:rPr lang="en-US" i="1" dirty="0" smtClean="0">
                        <a:latin typeface="Cambria Math" panose="02040503050406030204" pitchFamily="18" charset="0"/>
                      </a:rPr>
                      <m:t>(</m:t>
                    </m:r>
                    <m:sSubSup>
                      <m:sSubSupPr>
                        <m:ctrlPr>
                          <a:rPr lang="en-US" i="1" dirty="0" smtClean="0">
                            <a:latin typeface="Cambria Math" panose="02040503050406030204" pitchFamily="18" charset="0"/>
                          </a:rPr>
                        </m:ctrlPr>
                      </m:sSubSupPr>
                      <m:e>
                        <m:r>
                          <a:rPr lang="en-US" i="1" dirty="0" smtClean="0">
                            <a:latin typeface="Cambria Math" panose="02040503050406030204" pitchFamily="18" charset="0"/>
                          </a:rPr>
                          <m:t>𝐱</m:t>
                        </m:r>
                      </m:e>
                      <m:sub>
                        <m:r>
                          <a:rPr lang="en-US" i="1" dirty="0" err="1" smtClean="0">
                            <a:latin typeface="Cambria Math" panose="02040503050406030204" pitchFamily="18" charset="0"/>
                          </a:rPr>
                          <m:t>𝐢</m:t>
                        </m:r>
                      </m:sub>
                      <m:sup>
                        <m:r>
                          <a:rPr lang="en-US" i="1" dirty="0" smtClean="0">
                            <a:latin typeface="Cambria Math" panose="02040503050406030204" pitchFamily="18" charset="0"/>
                          </a:rPr>
                          <m:t>′</m:t>
                        </m:r>
                      </m:sup>
                    </m:sSubSup>
                    <m:r>
                      <m:rPr>
                        <m:lit/>
                      </m:rPr>
                      <a:rPr lang="en-US" i="1" dirty="0" smtClean="0">
                        <a:latin typeface="Cambria Math" panose="02040503050406030204" pitchFamily="18" charset="0"/>
                      </a:rPr>
                      <m:t>)</m:t>
                    </m:r>
                  </m:oMath>
                </a14:m>
                <a:r>
                  <a:rPr lang="en-US" dirty="0"/>
                  <a:t>. The objective function is to maximize the sum of these probabilities for all source points across the grid.</a:t>
                </a:r>
              </a:p>
            </p:txBody>
          </p:sp>
        </mc:Choice>
        <mc:Fallback xmlns="">
          <p:sp>
            <p:nvSpPr>
              <p:cNvPr id="3" name="Text Placeholder 2">
                <a:extLst>
                  <a:ext uri="{FF2B5EF4-FFF2-40B4-BE49-F238E27FC236}">
                    <a16:creationId xmlns:a16="http://schemas.microsoft.com/office/drawing/2014/main" id="{129E1C6B-9EC6-DD9B-FC39-3947DFAFB6EE}"/>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r="-174" b="-10127"/>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AB26337C-C0FE-785D-664C-E78E4F41C1B1}"/>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609676" y="945448"/>
            <a:ext cx="4566247" cy="4298954"/>
          </a:xfrm>
          <a:prstGeom prst="rect">
            <a:avLst/>
          </a:prstGeom>
        </p:spPr>
      </p:pic>
    </p:spTree>
    <p:extLst>
      <p:ext uri="{BB962C8B-B14F-4D97-AF65-F5344CB8AC3E}">
        <p14:creationId xmlns:p14="http://schemas.microsoft.com/office/powerpoint/2010/main" val="23679606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320E06B-832E-161D-E018-DA09E1DEF16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0DE054-B978-85C8-907E-45B08C665F2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C923F4A-C5FB-607E-786B-789676EA1A9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D4610E48-66C3-CFC7-F46D-A3C3D7A102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593536-5F86-0F60-C543-F6DE5B59C4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03E2DD9-81E7-35EA-9C91-493BB5DF76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C946B1-C42E-C6EF-3599-201C4FE18B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3656582-FD19-2868-B182-427056ADF7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6F0446D-1807-9E1E-4B3C-29BE58F2A0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0BB05213-4DBC-4434-6E42-CDBCD398DE5F}"/>
              </a:ext>
            </a:extLst>
          </p:cNvPr>
          <p:cNvSpPr>
            <a:spLocks noGrp="1"/>
          </p:cNvSpPr>
          <p:nvPr>
            <p:ph type="body" idx="1"/>
          </p:nvPr>
        </p:nvSpPr>
        <p:spPr>
          <a:xfrm>
            <a:off x="838200" y="5209383"/>
            <a:ext cx="10515600" cy="967579"/>
          </a:xfrm>
        </p:spPr>
        <p:txBody>
          <a:bodyPr>
            <a:normAutofit fontScale="70000" lnSpcReduction="20000"/>
          </a:bodyPr>
          <a:lstStyle/>
          <a:p>
            <a:r>
              <a:rPr lang="en-US" dirty="0"/>
              <a:t>An optimization algorithm (typically Newton's Method) calculates the Hessian and gradient of the objective function to update the transformation parameters (rotation and translation). The source cloud "falls" into the high-probability valleys defined by the target's Gaussian mixture.</a:t>
            </a:r>
          </a:p>
        </p:txBody>
      </p:sp>
      <p:pic>
        <p:nvPicPr>
          <p:cNvPr id="5" name="Graphic 4">
            <a:extLst>
              <a:ext uri="{FF2B5EF4-FFF2-40B4-BE49-F238E27FC236}">
                <a16:creationId xmlns:a16="http://schemas.microsoft.com/office/drawing/2014/main" id="{B089199C-4AA2-F6DE-DC64-0A874270896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226777" y="983446"/>
            <a:ext cx="5210091" cy="4334256"/>
          </a:xfrm>
          <a:prstGeom prst="rect">
            <a:avLst/>
          </a:prstGeom>
        </p:spPr>
      </p:pic>
    </p:spTree>
    <p:extLst>
      <p:ext uri="{BB962C8B-B14F-4D97-AF65-F5344CB8AC3E}">
        <p14:creationId xmlns:p14="http://schemas.microsoft.com/office/powerpoint/2010/main" val="397068353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125A75-0C9C-9779-87E9-ECDB1B4F963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6769082-763B-463E-2F2E-5783369179B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rial"/>
                <a:ea typeface="Arial"/>
                <a:cs typeface="Arial"/>
                <a:sym typeface="Arial"/>
              </a:rPr>
              <a:t>Cartographer (2D indoor) uses ICP-style. </a:t>
            </a:r>
            <a:r>
              <a:rPr lang="en-US" sz="2000" dirty="0" err="1">
                <a:latin typeface="Arial"/>
                <a:ea typeface="Arial"/>
                <a:cs typeface="Arial"/>
                <a:sym typeface="Arial"/>
              </a:rPr>
              <a:t>Autoware</a:t>
            </a:r>
            <a:r>
              <a:rPr lang="en-US" sz="2000" dirty="0">
                <a:latin typeface="Arial"/>
                <a:ea typeface="Arial"/>
                <a:cs typeface="Arial"/>
                <a:sym typeface="Arial"/>
              </a:rPr>
              <a:t> (3D outdoor) uses NDT. The sensor determines the algorithm.</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29D0F379-0442-74DD-5D23-054E5E66FD2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F452A3D-BB78-9053-B440-608DFE55A60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NDT vs ICP - when to use which</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D2FFA83-4A83-663B-5CB4-0861B2A077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D11AA4-EE52-A83D-EB27-BF3C662135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B79515-81D8-6E06-A0D4-A77F321943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5499402-F696-13BE-1C1A-6865D50012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6588CA-2B32-072E-5C4D-BC11CD6AAC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F001735-A567-E95F-1B15-A342276DBB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10" name="Group 9">
            <a:extLst>
              <a:ext uri="{FF2B5EF4-FFF2-40B4-BE49-F238E27FC236}">
                <a16:creationId xmlns:a16="http://schemas.microsoft.com/office/drawing/2014/main" id="{58B86177-6212-3374-DF2E-E3FF2DD7FFF3}"/>
              </a:ext>
            </a:extLst>
          </p:cNvPr>
          <p:cNvGrpSpPr/>
          <p:nvPr/>
        </p:nvGrpSpPr>
        <p:grpSpPr>
          <a:xfrm>
            <a:off x="563880" y="2589266"/>
            <a:ext cx="11064240" cy="2636439"/>
            <a:chOff x="376807" y="2550688"/>
            <a:chExt cx="11064240" cy="2636439"/>
          </a:xfrm>
        </p:grpSpPr>
        <p:sp>
          <p:nvSpPr>
            <p:cNvPr id="2" name="Shape 3">
              <a:extLst>
                <a:ext uri="{FF2B5EF4-FFF2-40B4-BE49-F238E27FC236}">
                  <a16:creationId xmlns:a16="http://schemas.microsoft.com/office/drawing/2014/main" id="{6AF41D6D-B229-B5ED-CBC6-12D91D695873}"/>
                </a:ext>
              </a:extLst>
            </p:cNvPr>
            <p:cNvSpPr/>
            <p:nvPr/>
          </p:nvSpPr>
          <p:spPr>
            <a:xfrm>
              <a:off x="376807" y="2550688"/>
              <a:ext cx="5577840" cy="2636439"/>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77FAC326-484D-1987-8534-EBCCE58791BC}"/>
                </a:ext>
              </a:extLst>
            </p:cNvPr>
            <p:cNvSpPr/>
            <p:nvPr/>
          </p:nvSpPr>
          <p:spPr>
            <a:xfrm>
              <a:off x="376807" y="2550688"/>
              <a:ext cx="5577840" cy="411480"/>
            </a:xfrm>
            <a:prstGeom prst="rect">
              <a:avLst/>
            </a:prstGeom>
            <a:solidFill>
              <a:srgbClr val="13294B"/>
            </a:solidFill>
            <a:ln/>
          </p:spPr>
          <p:txBody>
            <a:bodyPr/>
            <a:lstStyle/>
            <a:p>
              <a:endParaRPr lang="en-US">
                <a:latin typeface="+mj-lt"/>
              </a:endParaRPr>
            </a:p>
          </p:txBody>
        </p:sp>
        <p:sp>
          <p:nvSpPr>
            <p:cNvPr id="4" name="Text 5">
              <a:extLst>
                <a:ext uri="{FF2B5EF4-FFF2-40B4-BE49-F238E27FC236}">
                  <a16:creationId xmlns:a16="http://schemas.microsoft.com/office/drawing/2014/main" id="{C6CAB748-1ECC-2F09-1D2F-7121A5161895}"/>
                </a:ext>
              </a:extLst>
            </p:cNvPr>
            <p:cNvSpPr/>
            <p:nvPr/>
          </p:nvSpPr>
          <p:spPr>
            <a:xfrm>
              <a:off x="559687" y="2550688"/>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ICP FAMILY</a:t>
              </a:r>
              <a:endParaRPr lang="en-US" sz="1400" dirty="0">
                <a:latin typeface="+mj-lt"/>
              </a:endParaRPr>
            </a:p>
          </p:txBody>
        </p:sp>
        <p:sp>
          <p:nvSpPr>
            <p:cNvPr id="5" name="Text 6">
              <a:extLst>
                <a:ext uri="{FF2B5EF4-FFF2-40B4-BE49-F238E27FC236}">
                  <a16:creationId xmlns:a16="http://schemas.microsoft.com/office/drawing/2014/main" id="{DC068E20-25B7-1D3E-8DD0-66163267CDC6}"/>
                </a:ext>
              </a:extLst>
            </p:cNvPr>
            <p:cNvSpPr/>
            <p:nvPr/>
          </p:nvSpPr>
          <p:spPr>
            <a:xfrm>
              <a:off x="605407" y="3099328"/>
              <a:ext cx="5120640" cy="1887059"/>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Best for small point clouds (&lt; 5,000 pts)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Very accurate when features are strong</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Needs a good initial guess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k-d tree dominates runtime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Gold standard for 2D indoor SLAM</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Struggles with smooth, flat, featureless areas</a:t>
              </a:r>
              <a:endParaRPr lang="en-US" sz="1400" dirty="0">
                <a:latin typeface="+mj-lt"/>
              </a:endParaRPr>
            </a:p>
          </p:txBody>
        </p:sp>
        <p:sp>
          <p:nvSpPr>
            <p:cNvPr id="6" name="Shape 7">
              <a:extLst>
                <a:ext uri="{FF2B5EF4-FFF2-40B4-BE49-F238E27FC236}">
                  <a16:creationId xmlns:a16="http://schemas.microsoft.com/office/drawing/2014/main" id="{7666ABF0-8D92-733E-EB58-267E482807C0}"/>
                </a:ext>
              </a:extLst>
            </p:cNvPr>
            <p:cNvSpPr/>
            <p:nvPr/>
          </p:nvSpPr>
          <p:spPr>
            <a:xfrm>
              <a:off x="6228967" y="2550688"/>
              <a:ext cx="5212080" cy="2636439"/>
            </a:xfrm>
            <a:prstGeom prst="rect">
              <a:avLst/>
            </a:prstGeom>
            <a:solidFill>
              <a:srgbClr val="F1F5F9"/>
            </a:solidFill>
            <a:ln/>
          </p:spPr>
          <p:txBody>
            <a:bodyPr/>
            <a:lstStyle/>
            <a:p>
              <a:endParaRPr lang="en-US">
                <a:latin typeface="+mj-lt"/>
              </a:endParaRPr>
            </a:p>
          </p:txBody>
        </p:sp>
        <p:sp>
          <p:nvSpPr>
            <p:cNvPr id="7" name="Shape 8">
              <a:extLst>
                <a:ext uri="{FF2B5EF4-FFF2-40B4-BE49-F238E27FC236}">
                  <a16:creationId xmlns:a16="http://schemas.microsoft.com/office/drawing/2014/main" id="{D441365F-573A-D21C-F89D-66089162B421}"/>
                </a:ext>
              </a:extLst>
            </p:cNvPr>
            <p:cNvSpPr/>
            <p:nvPr/>
          </p:nvSpPr>
          <p:spPr>
            <a:xfrm>
              <a:off x="6228967" y="2550688"/>
              <a:ext cx="5212080" cy="411480"/>
            </a:xfrm>
            <a:prstGeom prst="rect">
              <a:avLst/>
            </a:prstGeom>
            <a:solidFill>
              <a:srgbClr val="13294B"/>
            </a:solidFill>
            <a:ln/>
          </p:spPr>
          <p:txBody>
            <a:bodyPr/>
            <a:lstStyle/>
            <a:p>
              <a:endParaRPr lang="en-US">
                <a:latin typeface="+mj-lt"/>
              </a:endParaRPr>
            </a:p>
          </p:txBody>
        </p:sp>
        <p:sp>
          <p:nvSpPr>
            <p:cNvPr id="8" name="Text 9">
              <a:extLst>
                <a:ext uri="{FF2B5EF4-FFF2-40B4-BE49-F238E27FC236}">
                  <a16:creationId xmlns:a16="http://schemas.microsoft.com/office/drawing/2014/main" id="{018FA3E3-350F-E701-D17D-44B6D844EBA8}"/>
                </a:ext>
              </a:extLst>
            </p:cNvPr>
            <p:cNvSpPr/>
            <p:nvPr/>
          </p:nvSpPr>
          <p:spPr>
            <a:xfrm>
              <a:off x="6411847" y="2550688"/>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NDT</a:t>
              </a:r>
              <a:endParaRPr lang="en-US" sz="1400" dirty="0">
                <a:latin typeface="+mj-lt"/>
              </a:endParaRPr>
            </a:p>
          </p:txBody>
        </p:sp>
        <p:sp>
          <p:nvSpPr>
            <p:cNvPr id="9" name="Text 10">
              <a:extLst>
                <a:ext uri="{FF2B5EF4-FFF2-40B4-BE49-F238E27FC236}">
                  <a16:creationId xmlns:a16="http://schemas.microsoft.com/office/drawing/2014/main" id="{39ADADEE-C703-263E-54BA-0A527B480338}"/>
                </a:ext>
              </a:extLst>
            </p:cNvPr>
            <p:cNvSpPr/>
            <p:nvPr/>
          </p:nvSpPr>
          <p:spPr>
            <a:xfrm>
              <a:off x="6457567" y="3099328"/>
              <a:ext cx="4754880" cy="1887059"/>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Best for dense 3D clouds (&gt; 50,000 pts)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Smooth cost landscape - larger basin of attraction</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Less sensitive to a bad initial guess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No k-d tree needed - very fast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Common in outdoor autonomous vehicles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Accuracy capped by voxel resolution</a:t>
              </a:r>
              <a:endParaRPr lang="en-US" sz="1400" dirty="0">
                <a:latin typeface="+mj-lt"/>
              </a:endParaRPr>
            </a:p>
          </p:txBody>
        </p:sp>
      </p:grpSp>
    </p:spTree>
    <p:extLst>
      <p:ext uri="{BB962C8B-B14F-4D97-AF65-F5344CB8AC3E}">
        <p14:creationId xmlns:p14="http://schemas.microsoft.com/office/powerpoint/2010/main" val="28303851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F6986B-A9BB-CF8C-A482-E3E9385EED4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69F179-A979-7978-1A67-92677E99B9D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Featureless environments (long smooth tunnels, empty parking lots)</a:t>
            </a:r>
          </a:p>
          <a:p>
            <a:pPr marL="342900">
              <a:lnSpc>
                <a:spcPct val="100000"/>
              </a:lnSpc>
              <a:spcBef>
                <a:spcPts val="0"/>
              </a:spcBef>
              <a:buSzPts val="3000"/>
            </a:pPr>
            <a:r>
              <a:rPr lang="en-US" sz="2000" dirty="0">
                <a:latin typeface="Arial"/>
                <a:ea typeface="Arial"/>
                <a:cs typeface="Arial"/>
                <a:sym typeface="Arial"/>
              </a:rPr>
              <a:t>no geometric handle, huge amount of drift at the end, essentially just relies on odometry</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Symmetric environments (hallway intersections that all look identical)</a:t>
            </a:r>
          </a:p>
          <a:p>
            <a:pPr marL="342900">
              <a:lnSpc>
                <a:spcPct val="100000"/>
              </a:lnSpc>
              <a:spcBef>
                <a:spcPts val="0"/>
              </a:spcBef>
              <a:buSzPts val="3000"/>
            </a:pPr>
            <a:r>
              <a:rPr lang="en-US" sz="2000" dirty="0">
                <a:latin typeface="Arial"/>
                <a:ea typeface="Arial"/>
                <a:cs typeface="Arial"/>
                <a:sym typeface="Arial"/>
              </a:rPr>
              <a:t>perceptual aliasing, unknown rotation / translation</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Large initial guess errors (&gt;30°)</a:t>
            </a:r>
          </a:p>
          <a:p>
            <a:pPr marL="342900">
              <a:lnSpc>
                <a:spcPct val="100000"/>
              </a:lnSpc>
              <a:spcBef>
                <a:spcPts val="0"/>
              </a:spcBef>
              <a:buSzPts val="3000"/>
            </a:pPr>
            <a:r>
              <a:rPr lang="en-US" sz="2000" dirty="0">
                <a:latin typeface="Arial"/>
                <a:ea typeface="Arial"/>
                <a:cs typeface="Arial"/>
                <a:sym typeface="Arial"/>
              </a:rPr>
              <a:t>any ICP will converge to a wrong local minimum</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Dynamic environments with moving objects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Glass, mirrors, and retroreflectors</a:t>
            </a:r>
          </a:p>
          <a:p>
            <a:pPr marL="342900">
              <a:lnSpc>
                <a:spcPct val="100000"/>
              </a:lnSpc>
              <a:spcBef>
                <a:spcPts val="0"/>
              </a:spcBef>
              <a:buSzPts val="3000"/>
            </a:pPr>
            <a:r>
              <a:rPr lang="en-US" sz="2000" dirty="0">
                <a:latin typeface="Arial"/>
                <a:ea typeface="Arial"/>
                <a:cs typeface="Arial"/>
                <a:sym typeface="Arial"/>
              </a:rPr>
              <a:t>The LiDAR returns the wrong values</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BE51AFA4-76DA-F4CD-2AC1-BDF9A30EDC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AA5BFAA-B74C-0449-28D1-BBFE45870DA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ICP Family Failure Modes - What Still Breaks</a:t>
            </a:r>
          </a:p>
        </p:txBody>
      </p:sp>
      <p:pic>
        <p:nvPicPr>
          <p:cNvPr id="121" name="Google Shape;121;p29">
            <a:extLst>
              <a:ext uri="{FF2B5EF4-FFF2-40B4-BE49-F238E27FC236}">
                <a16:creationId xmlns:a16="http://schemas.microsoft.com/office/drawing/2014/main" id="{AE03AD41-2443-529B-5F4B-AEFE2B20C2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F3E93E-7F7F-1978-D9C9-0E2254AE5D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CE838C-2D5A-DB49-437D-E46E764388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FC6C4D-A02E-51E5-E876-700337A7ED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C7835F-0223-76CC-EC22-327641C720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75E2E2-B58B-A83D-1A6A-762B323899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3340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2" end="1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9AB0303D-3B67-B7AB-22B4-CD4A8AB3ACB2}"/>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315A45AC-08A0-1542-1A69-73274209E9FE}"/>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D94BBE5E-E811-F194-053C-F66FB019B8A9}"/>
                </a:ext>
              </a:extLst>
            </p:cNvPr>
            <p:cNvSpPr txBox="1"/>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Monte Carlo estimates</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02B107C1-37B7-8BE5-E564-48BD8F6AF948}"/>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7FD9BBC2-2974-5DD1-43C6-A24C4DC2A2F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2C610FC0-E532-8DD5-18A6-77006A2E65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B531FCD0-FF2D-8B37-6D3E-B8A606666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ED0E577-0663-E042-EF08-E13E797222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8F575FC3-67DD-48D3-DE5E-E317742FDC52}"/>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7FDBCF8-1893-E855-A5F2-48CC1075D9AA}"/>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E42A8C9-3109-7C9F-956D-1D07C51BA26F}"/>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13874850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C0BF60-767C-C622-E6F9-C8716904752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8F65272-699B-CE29-F8E4-15E756F19E5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ICP commits to a </a:t>
            </a:r>
            <a:r>
              <a:rPr lang="en-US" sz="2000" b="1" dirty="0">
                <a:latin typeface="Arial"/>
                <a:ea typeface="Arial"/>
                <a:cs typeface="Arial"/>
                <a:sym typeface="Arial"/>
              </a:rPr>
              <a:t>single</a:t>
            </a:r>
            <a:r>
              <a:rPr lang="en-US" sz="2000" dirty="0">
                <a:latin typeface="Arial"/>
                <a:ea typeface="Arial"/>
                <a:cs typeface="Arial"/>
                <a:sym typeface="Arial"/>
              </a:rPr>
              <a:t> best estimate, so if that estimate is wrong (wrong initialization, symmetric environment), ICP can’t tell you how wrong.</a:t>
            </a:r>
          </a:p>
          <a:p>
            <a:pPr marL="0" indent="0">
              <a:lnSpc>
                <a:spcPct val="100000"/>
              </a:lnSpc>
              <a:spcBef>
                <a:spcPts val="0"/>
              </a:spcBef>
              <a:buSzPts val="3000"/>
              <a:buNone/>
            </a:pPr>
            <a:endParaRPr lang="en-US" sz="2000" b="1" dirty="0">
              <a:latin typeface="Arial"/>
              <a:ea typeface="Arial"/>
              <a:cs typeface="Arial"/>
              <a:sym typeface="Arial"/>
            </a:endParaRPr>
          </a:p>
          <a:p>
            <a:pPr marL="0" indent="0">
              <a:lnSpc>
                <a:spcPct val="100000"/>
              </a:lnSpc>
              <a:spcBef>
                <a:spcPts val="0"/>
              </a:spcBef>
              <a:buSzPts val="3000"/>
              <a:buNone/>
            </a:pPr>
            <a:r>
              <a:rPr lang="en-US" sz="2000" b="1" dirty="0">
                <a:latin typeface="Arial"/>
                <a:ea typeface="Arial"/>
                <a:cs typeface="Arial"/>
                <a:sym typeface="Arial"/>
              </a:rPr>
              <a:t>Real scenarios demand multiple simultaneous hypotheses</a:t>
            </a:r>
            <a:endParaRPr lang="en-US" sz="2000" dirty="0">
              <a:latin typeface="Arial"/>
              <a:ea typeface="Arial"/>
              <a:cs typeface="Arial"/>
              <a:sym typeface="Arial"/>
            </a:endParaRPr>
          </a:p>
          <a:p>
            <a:pPr marL="0" indent="0">
              <a:lnSpc>
                <a:spcPct val="100000"/>
              </a:lnSpc>
              <a:spcBef>
                <a:spcPts val="0"/>
              </a:spcBef>
              <a:buSzPts val="3000"/>
              <a:buNone/>
            </a:pPr>
            <a:endParaRPr lang="en-US" sz="2000" b="1"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Given that corridors / floors look similar, a robot could be in Aisle 3 or Aisle 5 or on floor 1 vs floor 2, </a:t>
            </a:r>
            <a:r>
              <a:rPr lang="en-US" sz="2000" dirty="0" err="1">
                <a:latin typeface="Arial"/>
                <a:ea typeface="Arial"/>
                <a:cs typeface="Arial"/>
                <a:sym typeface="Arial"/>
              </a:rPr>
              <a:t>etc</a:t>
            </a:r>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You also have the ‘kidnapped robot’, if you lift the robot and drop it elsewhere (like how you do it in lab, where you pick up the robot to take it out of the center area) ICP collapses!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We thus needs an algorithm that maintains and updates a full probably distribution over the available poses!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is where the </a:t>
            </a:r>
            <a:r>
              <a:rPr lang="en-US" sz="2000" b="1" dirty="0">
                <a:latin typeface="Arial"/>
                <a:ea typeface="Arial"/>
                <a:cs typeface="Arial"/>
                <a:sym typeface="Arial"/>
              </a:rPr>
              <a:t>Monte Carlo Localization</a:t>
            </a:r>
            <a:r>
              <a:rPr lang="en-US" sz="2000" dirty="0">
                <a:latin typeface="Arial"/>
                <a:ea typeface="Arial"/>
                <a:cs typeface="Arial"/>
                <a:sym typeface="Arial"/>
              </a:rPr>
              <a:t>, also known as the </a:t>
            </a:r>
            <a:r>
              <a:rPr lang="en-US" sz="2000" b="1" dirty="0">
                <a:latin typeface="Arial"/>
                <a:ea typeface="Arial"/>
                <a:cs typeface="Arial"/>
                <a:sym typeface="Arial"/>
              </a:rPr>
              <a:t>Particle Filter</a:t>
            </a:r>
            <a:r>
              <a:rPr lang="en-US" sz="2000" dirty="0">
                <a:latin typeface="Arial"/>
                <a:ea typeface="Arial"/>
                <a:cs typeface="Arial"/>
                <a:sym typeface="Arial"/>
              </a:rPr>
              <a:t>!</a:t>
            </a:r>
          </a:p>
        </p:txBody>
      </p:sp>
      <p:sp>
        <p:nvSpPr>
          <p:cNvPr id="119" name="Google Shape;119;p29">
            <a:extLst>
              <a:ext uri="{FF2B5EF4-FFF2-40B4-BE49-F238E27FC236}">
                <a16:creationId xmlns:a16="http://schemas.microsoft.com/office/drawing/2014/main" id="{471424FF-D07F-F6A7-DD70-2FAEB200BC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E2BC9D3-D934-0933-4F5C-C9C58A71FC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Why Deterministic ICP Isn’t Always Enough</a:t>
            </a:r>
          </a:p>
        </p:txBody>
      </p:sp>
      <p:pic>
        <p:nvPicPr>
          <p:cNvPr id="121" name="Google Shape;121;p29">
            <a:extLst>
              <a:ext uri="{FF2B5EF4-FFF2-40B4-BE49-F238E27FC236}">
                <a16:creationId xmlns:a16="http://schemas.microsoft.com/office/drawing/2014/main" id="{B72BE6BA-123E-8515-FBEB-E4123F1E74C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8B3AC1-528E-18E3-AAC4-18295D9395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D0ACE1-E98E-ACE0-5EA6-9450113622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B396EE-AF7E-12AA-0B7C-C5C909DA0F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C3174A-DB26-3B94-2F86-581F75F0B9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153FE8-B69F-1B8F-88EB-67B6D73152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90274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429B87-4368-9CCD-35F9-069BE9259BD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BBEDACE-B9F1-E423-BB9C-C357084D60A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Given a continuous space, we want to compute the probability that we are at a specific location.</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The problem?</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It is intractable to generate an exact distribution of the full space for a continuous domain!</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To understand where we are we make use of the recursive Bayes filter:</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r>
                        <a:rPr lang="en-US" sz="1800" i="1" smtClean="0">
                          <a:latin typeface="Cambria Math" panose="02040503050406030204" pitchFamily="18" charset="0"/>
                          <a:cs typeface="Arial"/>
                          <a:sym typeface="Arial"/>
                        </a:rPr>
                        <m:t>=</m:t>
                      </m:r>
                      <m:f>
                        <m:fPr>
                          <m:ctrlPr>
                            <a:rPr lang="en-US" sz="1800" i="1" smtClean="0">
                              <a:latin typeface="Cambria Math" panose="02040503050406030204" pitchFamily="18" charset="0"/>
                              <a:cs typeface="Arial"/>
                              <a:sym typeface="Arial"/>
                            </a:rPr>
                          </m:ctrlPr>
                        </m:fPr>
                        <m:num>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𝑧</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𝑢</m:t>
                                      </m:r>
                                    </m:e>
                                    <m:sub>
                                      <m:r>
                                        <a:rPr lang="en-US" sz="1800" i="1" smtClean="0">
                                          <a:latin typeface="Cambria Math" panose="02040503050406030204" pitchFamily="18" charset="0"/>
                                          <a:cs typeface="Arial"/>
                                          <a:sym typeface="Arial"/>
                                        </a:rPr>
                                        <m:t>𝑡</m:t>
                                      </m:r>
                                    </m:sub>
                                  </m:sSub>
                                  <m:r>
                                    <a:rPr lang="en-US" sz="1800" i="1" smtClean="0">
                                      <a:latin typeface="Cambria Math" panose="02040503050406030204" pitchFamily="18" charset="0"/>
                                      <a:cs typeface="Arial"/>
                                      <a:sym typeface="Arial"/>
                                    </a:rPr>
                                    <m:t>,</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e>
                          </m:nary>
                          <m:r>
                            <a:rPr lang="en-US" sz="1800" i="1" smtClean="0">
                              <a:latin typeface="Cambria Math" panose="02040503050406030204" pitchFamily="18" charset="0"/>
                              <a:cs typeface="Arial"/>
                              <a:sym typeface="Arial"/>
                            </a:rPr>
                            <m:t> </m:t>
                          </m:r>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num>
                        <m:den>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𝑧</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d>
                                <m:dPr>
                                  <m:ctrlPr>
                                    <a:rPr lang="en-US" sz="1800" i="1" smtClean="0">
                                      <a:latin typeface="Cambria Math" panose="02040503050406030204" pitchFamily="18" charset="0"/>
                                      <a:cs typeface="Arial"/>
                                      <a:sym typeface="Arial"/>
                                    </a:rPr>
                                  </m:ctrlPr>
                                </m:dPr>
                                <m:e>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𝑢</m:t>
                                              </m:r>
                                            </m:e>
                                            <m:sub>
                                              <m:r>
                                                <a:rPr lang="en-US" sz="1800" i="1" smtClean="0">
                                                  <a:latin typeface="Cambria Math" panose="02040503050406030204" pitchFamily="18" charset="0"/>
                                                  <a:cs typeface="Arial"/>
                                                  <a:sym typeface="Arial"/>
                                                </a:rPr>
                                                <m:t>𝑡</m:t>
                                              </m:r>
                                            </m:sub>
                                          </m:sSub>
                                          <m:r>
                                            <a:rPr lang="en-US" sz="1800" i="1" smtClean="0">
                                              <a:latin typeface="Cambria Math" panose="02040503050406030204" pitchFamily="18" charset="0"/>
                                              <a:cs typeface="Arial"/>
                                              <a:sym typeface="Arial"/>
                                            </a:rPr>
                                            <m:t>,</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e>
                                  </m:nary>
                                  <m:r>
                                    <a:rPr lang="en-US" sz="1800" i="1" smtClean="0">
                                      <a:latin typeface="Cambria Math" panose="02040503050406030204" pitchFamily="18" charset="0"/>
                                      <a:cs typeface="Arial"/>
                                      <a:sym typeface="Arial"/>
                                    </a:rPr>
                                    <m:t> </m:t>
                                  </m:r>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nary>
                        </m:den>
                      </m:f>
                    </m:oMath>
                  </m:oMathPara>
                </a14:m>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All this is saying is “given my previous location, I have now moved and given the sensor measurement, what is the probability I am at a location?”.</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This problem of intractable integration is extremely common is lots of fields such as machine learning and robotics ( this is the underlying process of the unscented Kalman filter as well)</a:t>
                </a:r>
              </a:p>
              <a:p>
                <a:pPr marL="0" indent="0">
                  <a:lnSpc>
                    <a:spcPct val="100000"/>
                  </a:lnSpc>
                  <a:spcBef>
                    <a:spcPts val="0"/>
                  </a:spcBef>
                  <a:buSzPts val="3000"/>
                  <a:buNone/>
                </a:pPr>
                <a:endParaRPr lang="en-US" sz="18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EBBEDACE-B9F1-E423-BB9C-C357084D60A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r="-38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DFDAE86-D559-AEAC-39D5-E0F67538ABF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8151378-3533-E015-A7E9-600CAC42CF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DB9EDC46-24AD-B2B0-C360-DBA1524716B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F82060-7279-76A3-5B43-021F61C8806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245059-1A1A-EBDF-0BDF-B34D50FA1D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96EAF8-232D-D14F-65CB-14752BA9E8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78EC73-5B7C-D06B-F05B-D30354DBEF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B0C954-8628-5CDE-CBD3-E70EF743FA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7" name="Group 6">
            <a:extLst>
              <a:ext uri="{FF2B5EF4-FFF2-40B4-BE49-F238E27FC236}">
                <a16:creationId xmlns:a16="http://schemas.microsoft.com/office/drawing/2014/main" id="{0A353DE4-9FBE-84A3-50A8-5C6B77F5FF5F}"/>
              </a:ext>
            </a:extLst>
          </p:cNvPr>
          <p:cNvGrpSpPr/>
          <p:nvPr/>
        </p:nvGrpSpPr>
        <p:grpSpPr>
          <a:xfrm>
            <a:off x="3397250" y="3595605"/>
            <a:ext cx="4419600" cy="1243095"/>
            <a:chOff x="3397250" y="3595605"/>
            <a:chExt cx="4419600" cy="1243095"/>
          </a:xfrm>
        </p:grpSpPr>
        <p:sp>
          <p:nvSpPr>
            <p:cNvPr id="2" name="Rectangle 1">
              <a:extLst>
                <a:ext uri="{FF2B5EF4-FFF2-40B4-BE49-F238E27FC236}">
                  <a16:creationId xmlns:a16="http://schemas.microsoft.com/office/drawing/2014/main" id="{D82EE091-7263-9735-B811-BED15419C902}"/>
                </a:ext>
              </a:extLst>
            </p:cNvPr>
            <p:cNvSpPr/>
            <p:nvPr/>
          </p:nvSpPr>
          <p:spPr>
            <a:xfrm>
              <a:off x="3397250" y="4540250"/>
              <a:ext cx="181610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B2727922-0443-FE82-8D39-2EFC8B244C63}"/>
                </a:ext>
              </a:extLst>
            </p:cNvPr>
            <p:cNvCxnSpPr>
              <a:cxnSpLocks/>
              <a:stCxn id="2" idx="0"/>
              <a:endCxn id="5" idx="1"/>
            </p:cNvCxnSpPr>
            <p:nvPr/>
          </p:nvCxnSpPr>
          <p:spPr>
            <a:xfrm flipV="1">
              <a:off x="4305300" y="3744830"/>
              <a:ext cx="2514600" cy="7954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C17212E5-6F3C-864A-0B5E-4D63D5516808}"/>
                </a:ext>
              </a:extLst>
            </p:cNvPr>
            <p:cNvSpPr/>
            <p:nvPr/>
          </p:nvSpPr>
          <p:spPr>
            <a:xfrm>
              <a:off x="6819900" y="3595605"/>
              <a:ext cx="99695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 name="Group 7">
            <a:extLst>
              <a:ext uri="{FF2B5EF4-FFF2-40B4-BE49-F238E27FC236}">
                <a16:creationId xmlns:a16="http://schemas.microsoft.com/office/drawing/2014/main" id="{11F689B6-1928-6492-DDE5-44D36A06E770}"/>
              </a:ext>
            </a:extLst>
          </p:cNvPr>
          <p:cNvGrpSpPr/>
          <p:nvPr/>
        </p:nvGrpSpPr>
        <p:grpSpPr>
          <a:xfrm>
            <a:off x="5505451" y="3597126"/>
            <a:ext cx="1670049" cy="1241574"/>
            <a:chOff x="2573910" y="3597126"/>
            <a:chExt cx="1670049" cy="1241574"/>
          </a:xfrm>
        </p:grpSpPr>
        <p:sp>
          <p:nvSpPr>
            <p:cNvPr id="9" name="Rectangle 8">
              <a:extLst>
                <a:ext uri="{FF2B5EF4-FFF2-40B4-BE49-F238E27FC236}">
                  <a16:creationId xmlns:a16="http://schemas.microsoft.com/office/drawing/2014/main" id="{A95FCC45-C3F2-8FFC-812B-39060EC95011}"/>
                </a:ext>
              </a:extLst>
            </p:cNvPr>
            <p:cNvSpPr/>
            <p:nvPr/>
          </p:nvSpPr>
          <p:spPr>
            <a:xfrm>
              <a:off x="3494659" y="4540250"/>
              <a:ext cx="74930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CD8A202-E980-BF2E-C822-59660750F1F9}"/>
                </a:ext>
              </a:extLst>
            </p:cNvPr>
            <p:cNvCxnSpPr>
              <a:cxnSpLocks/>
              <a:stCxn id="9" idx="0"/>
              <a:endCxn id="11" idx="2"/>
            </p:cNvCxnSpPr>
            <p:nvPr/>
          </p:nvCxnSpPr>
          <p:spPr>
            <a:xfrm flipH="1" flipV="1">
              <a:off x="3231135" y="3895576"/>
              <a:ext cx="638174" cy="6446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49615973-E403-F453-CBCF-8131D657E3AC}"/>
                </a:ext>
              </a:extLst>
            </p:cNvPr>
            <p:cNvSpPr/>
            <p:nvPr/>
          </p:nvSpPr>
          <p:spPr>
            <a:xfrm>
              <a:off x="2573910" y="3597126"/>
              <a:ext cx="131445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D03B6182-28B4-8DA6-FEB5-ADA3B315A3D4}"/>
              </a:ext>
            </a:extLst>
          </p:cNvPr>
          <p:cNvGrpSpPr/>
          <p:nvPr/>
        </p:nvGrpSpPr>
        <p:grpSpPr>
          <a:xfrm>
            <a:off x="4445000" y="3595605"/>
            <a:ext cx="6409311" cy="1243095"/>
            <a:chOff x="-379856" y="3597126"/>
            <a:chExt cx="6409311" cy="1243095"/>
          </a:xfrm>
        </p:grpSpPr>
        <p:sp>
          <p:nvSpPr>
            <p:cNvPr id="19" name="Rectangle 18">
              <a:extLst>
                <a:ext uri="{FF2B5EF4-FFF2-40B4-BE49-F238E27FC236}">
                  <a16:creationId xmlns:a16="http://schemas.microsoft.com/office/drawing/2014/main" id="{41737049-090F-503F-7AE3-4972745FCD7B}"/>
                </a:ext>
              </a:extLst>
            </p:cNvPr>
            <p:cNvSpPr/>
            <p:nvPr/>
          </p:nvSpPr>
          <p:spPr>
            <a:xfrm>
              <a:off x="3788408" y="4541771"/>
              <a:ext cx="2241047"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506A2398-7445-1036-20BC-7858FBF47339}"/>
                </a:ext>
              </a:extLst>
            </p:cNvPr>
            <p:cNvCxnSpPr>
              <a:cxnSpLocks/>
              <a:stCxn id="19" idx="0"/>
              <a:endCxn id="21" idx="3"/>
            </p:cNvCxnSpPr>
            <p:nvPr/>
          </p:nvCxnSpPr>
          <p:spPr>
            <a:xfrm flipH="1" flipV="1">
              <a:off x="547246" y="3746351"/>
              <a:ext cx="4361686" cy="7954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4CC42178-E87A-775A-3074-19A6562A6369}"/>
                </a:ext>
              </a:extLst>
            </p:cNvPr>
            <p:cNvSpPr/>
            <p:nvPr/>
          </p:nvSpPr>
          <p:spPr>
            <a:xfrm>
              <a:off x="-379856" y="3597126"/>
              <a:ext cx="927102"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2FBE7905-F0D7-B915-4F63-8D73E58C3B11}"/>
              </a:ext>
            </a:extLst>
          </p:cNvPr>
          <p:cNvGrpSpPr/>
          <p:nvPr/>
        </p:nvGrpSpPr>
        <p:grpSpPr>
          <a:xfrm>
            <a:off x="1061715" y="3769478"/>
            <a:ext cx="3004959" cy="1355259"/>
            <a:chOff x="3707125" y="3537036"/>
            <a:chExt cx="3004959" cy="1355259"/>
          </a:xfrm>
        </p:grpSpPr>
        <p:sp>
          <p:nvSpPr>
            <p:cNvPr id="28" name="Rectangle 27">
              <a:extLst>
                <a:ext uri="{FF2B5EF4-FFF2-40B4-BE49-F238E27FC236}">
                  <a16:creationId xmlns:a16="http://schemas.microsoft.com/office/drawing/2014/main" id="{E79D63A0-65B0-3DD7-4BB8-D2AAFBCF3FF6}"/>
                </a:ext>
              </a:extLst>
            </p:cNvPr>
            <p:cNvSpPr/>
            <p:nvPr/>
          </p:nvSpPr>
          <p:spPr>
            <a:xfrm>
              <a:off x="3707125" y="4593845"/>
              <a:ext cx="3004959"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A8BA4B89-A2D7-A161-D1BF-A3CE202F64E0}"/>
                </a:ext>
              </a:extLst>
            </p:cNvPr>
            <p:cNvCxnSpPr>
              <a:cxnSpLocks/>
              <a:stCxn id="28" idx="0"/>
              <a:endCxn id="30" idx="2"/>
            </p:cNvCxnSpPr>
            <p:nvPr/>
          </p:nvCxnSpPr>
          <p:spPr>
            <a:xfrm flipV="1">
              <a:off x="5209605" y="3861652"/>
              <a:ext cx="948942" cy="7321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380A162A-1CD0-8FC2-6040-74DCAEAAC87D}"/>
                </a:ext>
              </a:extLst>
            </p:cNvPr>
            <p:cNvSpPr/>
            <p:nvPr/>
          </p:nvSpPr>
          <p:spPr>
            <a:xfrm>
              <a:off x="5694996" y="3537036"/>
              <a:ext cx="927102" cy="32461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05964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par>
                                <p:cTn id="31" presetID="1" presetClass="exit" presetSubtype="0" fill="hold" nodeType="with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xit" presetSubtype="0" fill="hold" nodeType="withEffect">
                                  <p:stCondLst>
                                    <p:cond delay="0"/>
                                  </p:stCondLst>
                                  <p:childTnLst>
                                    <p:set>
                                      <p:cBhvr>
                                        <p:cTn id="38" dur="1" fill="hold">
                                          <p:stCondLst>
                                            <p:cond delay="0"/>
                                          </p:stCondLst>
                                        </p:cTn>
                                        <p:tgtEl>
                                          <p:spTgt spid="8"/>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7"/>
                                        </p:tgtEl>
                                        <p:attrNameLst>
                                          <p:attrName>style.visibility</p:attrName>
                                        </p:attrNameLst>
                                      </p:cBhvr>
                                      <p:to>
                                        <p:strVal val="visible"/>
                                      </p:to>
                                    </p:set>
                                  </p:childTnLst>
                                </p:cTn>
                              </p:par>
                              <p:par>
                                <p:cTn id="43" presetID="1" presetClass="exit" presetSubtype="0" fill="hold" nodeType="withEffect">
                                  <p:stCondLst>
                                    <p:cond delay="0"/>
                                  </p:stCondLst>
                                  <p:childTnLst>
                                    <p:set>
                                      <p:cBhvr>
                                        <p:cTn id="44" dur="1" fill="hold">
                                          <p:stCondLst>
                                            <p:cond delay="0"/>
                                          </p:stCondLst>
                                        </p:cTn>
                                        <p:tgtEl>
                                          <p:spTgt spid="18"/>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F1956F-1B03-1B42-D39C-F5DC47273FE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2396C3A-45C8-EFA8-DE05-0C54B213B01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rial"/>
                    <a:ea typeface="Arial"/>
                    <a:cs typeface="Arial"/>
                    <a:sym typeface="Arial"/>
                  </a:rPr>
                  <a:t>The Prediction</a:t>
                </a:r>
                <a:r>
                  <a:rPr lang="en-US" sz="2000" dirty="0">
                    <a:latin typeface="Arial"/>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bar>
                        <m:barPr>
                          <m:pos m:val="top"/>
                          <m:ctrlPr>
                            <a:rPr lang="en-US" sz="2000" i="1">
                              <a:latin typeface="Cambria Math" panose="02040503050406030204" pitchFamily="18" charset="0"/>
                              <a:cs typeface="Arial"/>
                              <a:sym typeface="Arial"/>
                            </a:rPr>
                          </m:ctrlPr>
                        </m:barPr>
                        <m:e>
                          <m:r>
                            <a:rPr lang="en-US" sz="2000" i="1">
                              <a:latin typeface="Cambria Math" panose="02040503050406030204" pitchFamily="18" charset="0"/>
                              <a:cs typeface="Arial"/>
                              <a:sym typeface="Arial"/>
                            </a:rPr>
                            <m:t>𝑏𝑒𝑙</m:t>
                          </m:r>
                        </m:e>
                      </m:ba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sub>
                          </m:sSub>
                        </m:e>
                      </m:d>
                      <m:r>
                        <a:rPr lang="en-US" sz="2000" i="1">
                          <a:latin typeface="Cambria Math" panose="02040503050406030204" pitchFamily="18" charset="0"/>
                          <a:cs typeface="Arial"/>
                          <a:sym typeface="Arial"/>
                        </a:rPr>
                        <m:t>=</m:t>
                      </m:r>
                      <m:nary>
                        <m:naryPr>
                          <m:subHide m:val="on"/>
                          <m:supHide m:val="on"/>
                          <m:ctrlPr>
                            <a:rPr lang="en-US" sz="2000" i="1">
                              <a:latin typeface="Cambria Math" panose="02040503050406030204" pitchFamily="18" charset="0"/>
                              <a:cs typeface="Arial"/>
                              <a:sym typeface="Arial"/>
                            </a:rPr>
                          </m:ctrlPr>
                        </m:naryPr>
                        <m:sub/>
                        <m:sup/>
                        <m:e>
                          <m:r>
                            <a:rPr lang="en-US" sz="2000" i="1">
                              <a:latin typeface="Cambria Math" panose="02040503050406030204" pitchFamily="18" charset="0"/>
                              <a:cs typeface="Arial"/>
                              <a:sym typeface="Arial"/>
                            </a:rPr>
                            <m:t>𝑝</m:t>
                          </m: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sub>
                              </m:sSub>
                            </m:e>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𝑢</m:t>
                                  </m:r>
                                </m:e>
                                <m:sub>
                                  <m:r>
                                    <a:rPr lang="en-US" sz="2000" i="1">
                                      <a:latin typeface="Cambria Math" panose="02040503050406030204" pitchFamily="18" charset="0"/>
                                      <a:cs typeface="Arial"/>
                                      <a:sym typeface="Arial"/>
                                    </a:rPr>
                                    <m:t>𝑡</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e>
                          </m:d>
                          <m:r>
                            <a:rPr lang="en-US" sz="2000" i="1">
                              <a:latin typeface="Cambria Math" panose="02040503050406030204" pitchFamily="18" charset="0"/>
                              <a:cs typeface="Arial"/>
                              <a:sym typeface="Arial"/>
                            </a:rPr>
                            <m:t>𝑏𝑒𝑙</m:t>
                          </m: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e>
                          </m:d>
                        </m:e>
                      </m:nary>
                      <m:r>
                        <a:rPr lang="en-US" sz="2000" i="1">
                          <a:latin typeface="Cambria Math" panose="02040503050406030204" pitchFamily="18" charset="0"/>
                          <a:cs typeface="Arial"/>
                          <a:sym typeface="Arial"/>
                        </a:rPr>
                        <m:t>𝑑</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oMath>
                  </m:oMathPara>
                </a14:m>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calculates where the robot thinks it is based on its last position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𝑥</m:t>
                        </m:r>
                      </m:e>
                      <m:sub>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oMath>
                </a14:m>
                <a:r>
                  <a:rPr lang="en-US" sz="2000" dirty="0">
                    <a:latin typeface="Arial"/>
                    <a:ea typeface="Arial"/>
                    <a:cs typeface="Arial"/>
                    <a:sym typeface="Arial"/>
                  </a:rPr>
                  <a:t>) and the movement command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𝑢</m:t>
                        </m:r>
                      </m:e>
                      <m:sub>
                        <m:r>
                          <a:rPr lang="en-US" sz="2000" i="1" dirty="0" err="1">
                            <a:latin typeface="Cambria Math" panose="02040503050406030204" pitchFamily="18" charset="0"/>
                            <a:ea typeface="Arial"/>
                            <a:cs typeface="Arial"/>
                            <a:sym typeface="Arial"/>
                          </a:rPr>
                          <m:t>𝑡</m:t>
                        </m:r>
                      </m:sub>
                    </m:sSub>
                  </m:oMath>
                </a14:m>
                <a:r>
                  <a:rPr lang="en-US" sz="2000" dirty="0">
                    <a:latin typeface="Arial"/>
                    <a:ea typeface="Arial"/>
                    <a:cs typeface="Arial"/>
                    <a:sym typeface="Arial"/>
                  </a:rPr>
                  <a:t>). It requires integrating over every possible state </a:t>
                </a:r>
                <a14:m>
                  <m:oMath xmlns:m="http://schemas.openxmlformats.org/officeDocument/2006/math">
                    <m:r>
                      <a:rPr lang="en-US" sz="2000" i="1" dirty="0">
                        <a:latin typeface="Cambria Math" panose="02040503050406030204" pitchFamily="18" charset="0"/>
                        <a:ea typeface="Arial"/>
                        <a:cs typeface="Arial"/>
                        <a:sym typeface="Arial"/>
                      </a:rPr>
                      <m:t>𝑥</m:t>
                    </m:r>
                  </m:oMath>
                </a14:m>
                <a:r>
                  <a:rPr lang="en-US" sz="2000" dirty="0">
                    <a:latin typeface="Arial"/>
                    <a:ea typeface="Arial"/>
                    <a:cs typeface="Arial"/>
                    <a:sym typeface="Arial"/>
                  </a:rPr>
                  <a:t> at time </a:t>
                </a:r>
                <a14:m>
                  <m:oMath xmlns:m="http://schemas.openxmlformats.org/officeDocument/2006/math">
                    <m:r>
                      <a:rPr lang="en-US" sz="2000" i="1" dirty="0" smtClean="0">
                        <a:latin typeface="Cambria Math" panose="02040503050406030204" pitchFamily="18" charset="0"/>
                        <a:ea typeface="Arial"/>
                        <a:cs typeface="Arial"/>
                        <a:sym typeface="Arial"/>
                      </a:rPr>
                      <m:t>𝑡</m:t>
                    </m:r>
                    <m:r>
                      <a:rPr lang="en-US" sz="2000" b="0" i="1" dirty="0" smtClean="0">
                        <a:latin typeface="Cambria Math" panose="02040503050406030204" pitchFamily="18" charset="0"/>
                        <a:ea typeface="Arial"/>
                        <a:cs typeface="Arial"/>
                        <a:sym typeface="Arial"/>
                      </a:rPr>
                      <m:t>−1</m:t>
                    </m:r>
                    <m:r>
                      <a:rPr lang="en-US" sz="2000" b="0" i="0" dirty="0" smtClean="0">
                        <a:latin typeface="Cambria Math" panose="02040503050406030204" pitchFamily="18" charset="0"/>
                        <a:ea typeface="Arial"/>
                        <a:cs typeface="Arial"/>
                        <a:sym typeface="Arial"/>
                      </a:rPr>
                      <m:t>.</m:t>
                    </m:r>
                  </m:oMath>
                </a14:m>
                <a:endParaRPr lang="en-US" sz="2000" b="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b="1" dirty="0">
                    <a:latin typeface="Arial"/>
                    <a:ea typeface="Arial"/>
                    <a:cs typeface="Arial"/>
                    <a:sym typeface="Arial"/>
                  </a:rPr>
                  <a:t>The Correction</a:t>
                </a:r>
                <a:r>
                  <a:rPr lang="en-US" sz="2000" dirty="0">
                    <a:latin typeface="Arial"/>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cs typeface="Arial"/>
                          <a:sym typeface="Arial"/>
                        </a:rPr>
                        <m:t>𝑝</m:t>
                      </m: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𝑧</m:t>
                              </m:r>
                            </m:e>
                            <m:sub>
                              <m:r>
                                <a:rPr lang="en-US" sz="2000" i="1" smtClean="0">
                                  <a:latin typeface="Cambria Math" panose="02040503050406030204" pitchFamily="18" charset="0"/>
                                  <a:cs typeface="Arial"/>
                                  <a:sym typeface="Arial"/>
                                </a:rPr>
                                <m:t>𝑡</m:t>
                              </m:r>
                            </m:sub>
                          </m:sSub>
                        </m:e>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𝑡</m:t>
                              </m:r>
                            </m:sub>
                          </m:sSub>
                        </m:e>
                      </m:d>
                      <m:bar>
                        <m:barPr>
                          <m:pos m:val="top"/>
                          <m:ctrlPr>
                            <a:rPr lang="en-US" sz="2000" i="1" smtClean="0">
                              <a:latin typeface="Cambria Math" panose="02040503050406030204" pitchFamily="18" charset="0"/>
                              <a:cs typeface="Arial"/>
                              <a:sym typeface="Arial"/>
                            </a:rPr>
                          </m:ctrlPr>
                        </m:barPr>
                        <m:e>
                          <m:r>
                            <a:rPr lang="en-US" sz="2000" i="1" smtClean="0">
                              <a:latin typeface="Cambria Math" panose="02040503050406030204" pitchFamily="18" charset="0"/>
                              <a:cs typeface="Arial"/>
                              <a:sym typeface="Arial"/>
                            </a:rPr>
                            <m:t>𝑏𝑒𝑙</m:t>
                          </m:r>
                        </m:e>
                      </m:ba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𝑡</m:t>
                              </m:r>
                            </m:sub>
                          </m:sSub>
                        </m:e>
                      </m:d>
                    </m:oMath>
                  </m:oMathPara>
                </a14:m>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adjusts the prediction based on actual sensor measurements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oMath>
                </a14:m>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b="1" dirty="0">
                    <a:latin typeface="Arial"/>
                    <a:ea typeface="Arial"/>
                    <a:cs typeface="Arial"/>
                    <a:sym typeface="Arial"/>
                  </a:rPr>
                  <a:t>The Normalization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000" i="0" smtClean="0">
                          <a:latin typeface="Cambria Math" panose="02040503050406030204" pitchFamily="18" charset="0"/>
                          <a:cs typeface="Arial"/>
                          <a:sym typeface="Arial"/>
                        </a:rPr>
                        <m:t>Normalization</m:t>
                      </m:r>
                      <m:r>
                        <a:rPr lang="en-US" sz="2000" b="0" i="1" smtClean="0">
                          <a:latin typeface="Cambria Math" panose="02040503050406030204" pitchFamily="18" charset="0"/>
                          <a:cs typeface="Arial"/>
                          <a:sym typeface="Arial"/>
                        </a:rPr>
                        <m:t>=</m:t>
                      </m:r>
                      <m:nary>
                        <m:naryPr>
                          <m:subHide m:val="on"/>
                          <m:supHide m:val="on"/>
                          <m:ctrlPr>
                            <a:rPr lang="en-US" sz="2000" i="1" smtClean="0">
                              <a:latin typeface="Cambria Math" panose="02040503050406030204" pitchFamily="18" charset="0"/>
                              <a:cs typeface="Arial"/>
                              <a:sym typeface="Arial"/>
                            </a:rPr>
                          </m:ctrlPr>
                        </m:naryPr>
                        <m:sub/>
                        <m:sup/>
                        <m:e>
                          <m:r>
                            <a:rPr lang="en-US" sz="2000" b="0" i="1" smtClean="0">
                              <a:latin typeface="Cambria Math" panose="02040503050406030204" pitchFamily="18" charset="0"/>
                              <a:cs typeface="Arial"/>
                              <a:sym typeface="Arial"/>
                            </a:rPr>
                            <m:t>𝑝</m:t>
                          </m: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𝑧</m:t>
                                  </m:r>
                                </m:e>
                                <m:sub>
                                  <m:r>
                                    <a:rPr lang="en-US" sz="2000" b="0" i="1" smtClean="0">
                                      <a:latin typeface="Cambria Math" panose="02040503050406030204" pitchFamily="18" charset="0"/>
                                      <a:cs typeface="Arial"/>
                                      <a:sym typeface="Arial"/>
                                    </a:rPr>
                                    <m:t>𝑡</m:t>
                                  </m:r>
                                </m:sub>
                              </m:sSub>
                            </m:e>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e>
                          </m:d>
                          <m:bar>
                            <m:barPr>
                              <m:pos m:val="top"/>
                              <m:ctrlPr>
                                <a:rPr lang="en-US" sz="2000" i="1" smtClean="0">
                                  <a:latin typeface="Cambria Math" panose="02040503050406030204" pitchFamily="18" charset="0"/>
                                  <a:cs typeface="Arial"/>
                                  <a:sym typeface="Arial"/>
                                </a:rPr>
                              </m:ctrlPr>
                            </m:barPr>
                            <m:e>
                              <m:r>
                                <a:rPr lang="en-US" sz="2000" b="0" i="1" smtClean="0">
                                  <a:latin typeface="Cambria Math" panose="02040503050406030204" pitchFamily="18" charset="0"/>
                                  <a:cs typeface="Arial"/>
                                  <a:sym typeface="Arial"/>
                                </a:rPr>
                                <m:t>𝑏𝑒𝑙</m:t>
                              </m:r>
                            </m:e>
                          </m:ba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e>
                          </m:d>
                        </m:e>
                      </m:nary>
                      <m:r>
                        <a:rPr lang="en-US" sz="2000" b="0" i="1" smtClean="0">
                          <a:latin typeface="Cambria Math" panose="02040503050406030204" pitchFamily="18" charset="0"/>
                          <a:cs typeface="Arial"/>
                          <a:sym typeface="Arial"/>
                        </a:rPr>
                        <m:t>𝑑</m:t>
                      </m:r>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oMath>
                  </m:oMathPara>
                </a14:m>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is the "intractable" part. It requires integrating over every possible state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rial"/>
                    <a:ea typeface="Arial"/>
                    <a:cs typeface="Arial"/>
                    <a:sym typeface="Arial"/>
                  </a:rPr>
                  <a:t> at time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rial"/>
                    <a:ea typeface="Arial"/>
                    <a:cs typeface="Arial"/>
                    <a:sym typeface="Arial"/>
                  </a:rPr>
                  <a:t> to ensure the resulting belief is a valid probability.</a:t>
                </a:r>
              </a:p>
            </p:txBody>
          </p:sp>
        </mc:Choice>
        <mc:Fallback xmlns="">
          <p:sp>
            <p:nvSpPr>
              <p:cNvPr id="118" name="Google Shape;118;p29">
                <a:extLst>
                  <a:ext uri="{FF2B5EF4-FFF2-40B4-BE49-F238E27FC236}">
                    <a16:creationId xmlns:a16="http://schemas.microsoft.com/office/drawing/2014/main" id="{D2396C3A-45C8-EFA8-DE05-0C54B213B01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b="-50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771F59E-E7AF-E0AC-3BD1-D8BF35CEF1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162EEE8-D451-D565-4688-F0B67BF69E6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A388FDE5-A0C7-0C57-BAAF-D56B0865667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D773563-EED3-E3A9-AF6E-4A6D124C4A3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3C0434-3492-3065-1807-C032FC90D8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89EEF1-3457-10F6-0687-C0703354B0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FADC1D-FBA3-C1B5-9076-4BB4EB9186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8FFE2BC-FFE6-23C2-5846-49AFC571A2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0001325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577C76A-9C8B-E47A-2339-319DF43BB5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1E33B7-ACFE-C312-03DE-4392841FD6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Instead of doing an integration we can </a:t>
            </a:r>
            <a:r>
              <a:rPr lang="en-US" sz="2000" b="1" dirty="0">
                <a:latin typeface="Arial"/>
                <a:ea typeface="Arial"/>
                <a:cs typeface="Arial"/>
                <a:sym typeface="Arial"/>
              </a:rPr>
              <a:t>sample </a:t>
            </a:r>
            <a:r>
              <a:rPr lang="en-US" sz="2000" dirty="0">
                <a:latin typeface="Arial"/>
                <a:ea typeface="Arial"/>
                <a:cs typeface="Arial"/>
                <a:sym typeface="Arial"/>
              </a:rPr>
              <a:t>the world!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We disperse around the world a “particle”.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 “particle” is a single hypothesized pose: (xᵢ, yᵢ, θᵢ) with weight wᵢ</a:t>
            </a:r>
          </a:p>
          <a:p>
            <a:pPr marL="0" indent="0">
              <a:lnSpc>
                <a:spcPct val="100000"/>
              </a:lnSpc>
              <a:spcBef>
                <a:spcPts val="0"/>
              </a:spcBef>
              <a:buSzPts val="3000"/>
              <a:buNone/>
            </a:pPr>
            <a:endParaRPr lang="en-US" sz="2000" dirty="0">
              <a:latin typeface="Arial"/>
              <a:ea typeface="Arial"/>
              <a:cs typeface="Arial"/>
              <a:sym typeface="Arial"/>
            </a:endParaRPr>
          </a:p>
          <a:p>
            <a:pPr indent="-457200">
              <a:lnSpc>
                <a:spcPct val="100000"/>
              </a:lnSpc>
              <a:spcBef>
                <a:spcPts val="0"/>
              </a:spcBef>
              <a:buSzPts val="3000"/>
              <a:buFont typeface="+mj-lt"/>
              <a:buAutoNum type="arabicPeriod"/>
            </a:pPr>
            <a:r>
              <a:rPr lang="en-US" sz="2000" dirty="0">
                <a:latin typeface="Arial"/>
                <a:ea typeface="Arial"/>
                <a:cs typeface="Arial"/>
                <a:sym typeface="Arial"/>
              </a:rPr>
              <a:t>Spawn 500-5000 particles randomly across the known map at startup</a:t>
            </a:r>
          </a:p>
          <a:p>
            <a:pPr indent="-457200">
              <a:lnSpc>
                <a:spcPct val="100000"/>
              </a:lnSpc>
              <a:spcBef>
                <a:spcPts val="0"/>
              </a:spcBef>
              <a:buSzPts val="3000"/>
              <a:buFont typeface="+mj-lt"/>
              <a:buAutoNum type="arabicPeriod"/>
            </a:pPr>
            <a:r>
              <a:rPr lang="en-US" sz="2000" dirty="0">
                <a:latin typeface="Arial"/>
                <a:ea typeface="Arial"/>
                <a:cs typeface="Arial"/>
                <a:sym typeface="Arial"/>
              </a:rPr>
              <a:t>Each tick: move every particle by the odometry estimate (plus noise)</a:t>
            </a:r>
          </a:p>
          <a:p>
            <a:pPr indent="-457200">
              <a:lnSpc>
                <a:spcPct val="100000"/>
              </a:lnSpc>
              <a:spcBef>
                <a:spcPts val="0"/>
              </a:spcBef>
              <a:buSzPts val="3000"/>
              <a:buFont typeface="+mj-lt"/>
              <a:buAutoNum type="arabicPeriod"/>
            </a:pPr>
            <a:r>
              <a:rPr lang="en-US" sz="2000" dirty="0">
                <a:latin typeface="Arial"/>
                <a:ea typeface="Arial"/>
                <a:cs typeface="Arial"/>
                <a:sym typeface="Arial"/>
              </a:rPr>
              <a:t>Then: weight each particle by how well its simulated LiDAR matches the real LiDAR</a:t>
            </a:r>
          </a:p>
          <a:p>
            <a:pPr indent="-457200">
              <a:lnSpc>
                <a:spcPct val="100000"/>
              </a:lnSpc>
              <a:spcBef>
                <a:spcPts val="0"/>
              </a:spcBef>
              <a:buSzPts val="3000"/>
              <a:buFont typeface="+mj-lt"/>
              <a:buAutoNum type="arabicPeriod"/>
            </a:pPr>
            <a:r>
              <a:rPr lang="en-US" sz="2000" dirty="0">
                <a:latin typeface="Arial"/>
                <a:ea typeface="Arial"/>
                <a:cs typeface="Arial"/>
                <a:sym typeface="Arial"/>
              </a:rPr>
              <a:t>Finally: resample, particles with high weight duplicate, particles with low weight die</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8B14FDCB-B3C5-C6D7-94D6-ABC26AFF019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869959B-2A7B-0CB9-7708-837F97E5BC7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CF369C71-C372-75DC-15A9-55F2CF13A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5AE1A9-C236-F363-30B5-7AF82B4EBA9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693A1FE-9663-2018-FE60-333966F529A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6B6BE6-B1DC-CA9B-726F-BAF3463F8C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34C1E-5FE3-54C8-7861-FC392E6D80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6FA66D-C467-DC7B-012B-9119290ADC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3884598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3B56F48-A9CE-FDAC-3690-AB5A9134CF9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593E4E0-D906-5960-0A6B-B42D25DDF87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05A8790D-2850-4319-A342-0BCE77D31C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B989BBFA-D485-0515-B05D-F7A7B8C2473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latin typeface="+mj-lt"/>
              </a:rPr>
              <a:t>Monte Carlo Localization – The Idea</a:t>
            </a:r>
          </a:p>
        </p:txBody>
      </p:sp>
      <p:pic>
        <p:nvPicPr>
          <p:cNvPr id="121" name="Google Shape;121;p29">
            <a:extLst>
              <a:ext uri="{FF2B5EF4-FFF2-40B4-BE49-F238E27FC236}">
                <a16:creationId xmlns:a16="http://schemas.microsoft.com/office/drawing/2014/main" id="{A15BC141-16F0-0198-0AC1-E1B5B1F8A3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36596A8-C2A0-0B92-E7FF-B0045913FE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mj-lt"/>
                <a:ea typeface="Arial"/>
                <a:cs typeface="Arial"/>
                <a:sym typeface="Arial"/>
              </a:rPr>
              <a:t>GRAINGER ENGINEERING</a:t>
            </a:r>
            <a:endParaRPr>
              <a:latin typeface="+mj-lt"/>
            </a:endParaRPr>
          </a:p>
        </p:txBody>
      </p:sp>
      <p:sp>
        <p:nvSpPr>
          <p:cNvPr id="123" name="Google Shape;123;p29">
            <a:extLst>
              <a:ext uri="{FF2B5EF4-FFF2-40B4-BE49-F238E27FC236}">
                <a16:creationId xmlns:a16="http://schemas.microsoft.com/office/drawing/2014/main" id="{A7C46E75-9501-EFC5-7095-B5BEDC21B2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F4A391AC-38A9-F2A7-8315-53414B184C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9683E0D-E7D5-21FD-EBAE-0EF7C31636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6FB8E4-A7EB-0294-C1E3-DC0A8D36A2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9" name="Group 28">
            <a:extLst>
              <a:ext uri="{FF2B5EF4-FFF2-40B4-BE49-F238E27FC236}">
                <a16:creationId xmlns:a16="http://schemas.microsoft.com/office/drawing/2014/main" id="{298B4985-5856-2BEB-D1C7-3491BC29CA66}"/>
              </a:ext>
            </a:extLst>
          </p:cNvPr>
          <p:cNvGrpSpPr/>
          <p:nvPr/>
        </p:nvGrpSpPr>
        <p:grpSpPr>
          <a:xfrm>
            <a:off x="548792" y="1874520"/>
            <a:ext cx="2636444" cy="3108960"/>
            <a:chOff x="548792" y="1874520"/>
            <a:chExt cx="2636444" cy="3108960"/>
          </a:xfrm>
        </p:grpSpPr>
        <p:sp>
          <p:nvSpPr>
            <p:cNvPr id="2" name="Shape 2">
              <a:extLst>
                <a:ext uri="{FF2B5EF4-FFF2-40B4-BE49-F238E27FC236}">
                  <a16:creationId xmlns:a16="http://schemas.microsoft.com/office/drawing/2014/main" id="{4D40D20B-342D-C99E-08FB-2C5C791AF3E5}"/>
                </a:ext>
              </a:extLst>
            </p:cNvPr>
            <p:cNvSpPr/>
            <p:nvPr/>
          </p:nvSpPr>
          <p:spPr>
            <a:xfrm>
              <a:off x="548792" y="1874520"/>
              <a:ext cx="2636444" cy="3108960"/>
            </a:xfrm>
            <a:prstGeom prst="rect">
              <a:avLst/>
            </a:prstGeom>
            <a:solidFill>
              <a:srgbClr val="F1F5F9"/>
            </a:solidFill>
            <a:ln/>
          </p:spPr>
          <p:txBody>
            <a:bodyPr/>
            <a:lstStyle/>
            <a:p>
              <a:endParaRPr lang="en-US">
                <a:latin typeface="+mj-lt"/>
              </a:endParaRPr>
            </a:p>
          </p:txBody>
        </p:sp>
        <p:sp>
          <p:nvSpPr>
            <p:cNvPr id="3" name="Shape 3">
              <a:extLst>
                <a:ext uri="{FF2B5EF4-FFF2-40B4-BE49-F238E27FC236}">
                  <a16:creationId xmlns:a16="http://schemas.microsoft.com/office/drawing/2014/main" id="{40468A51-2E81-008F-8881-AA3024EDA270}"/>
                </a:ext>
              </a:extLst>
            </p:cNvPr>
            <p:cNvSpPr/>
            <p:nvPr/>
          </p:nvSpPr>
          <p:spPr>
            <a:xfrm>
              <a:off x="548792" y="1874520"/>
              <a:ext cx="2636444" cy="45720"/>
            </a:xfrm>
            <a:prstGeom prst="rect">
              <a:avLst/>
            </a:prstGeom>
            <a:solidFill>
              <a:srgbClr val="0891B2"/>
            </a:solidFill>
            <a:ln/>
          </p:spPr>
          <p:txBody>
            <a:bodyPr/>
            <a:lstStyle/>
            <a:p>
              <a:endParaRPr lang="en-US">
                <a:latin typeface="+mj-lt"/>
              </a:endParaRPr>
            </a:p>
          </p:txBody>
        </p:sp>
        <p:sp>
          <p:nvSpPr>
            <p:cNvPr id="4" name="Shape 4">
              <a:extLst>
                <a:ext uri="{FF2B5EF4-FFF2-40B4-BE49-F238E27FC236}">
                  <a16:creationId xmlns:a16="http://schemas.microsoft.com/office/drawing/2014/main" id="{10EA5A67-CE87-522F-7C9D-1FE5B447A2B9}"/>
                </a:ext>
              </a:extLst>
            </p:cNvPr>
            <p:cNvSpPr/>
            <p:nvPr/>
          </p:nvSpPr>
          <p:spPr>
            <a:xfrm>
              <a:off x="731672" y="2103120"/>
              <a:ext cx="457200" cy="457200"/>
            </a:xfrm>
            <a:prstGeom prst="ellipse">
              <a:avLst/>
            </a:prstGeom>
            <a:solidFill>
              <a:srgbClr val="13294B"/>
            </a:solidFill>
            <a:ln/>
          </p:spPr>
          <p:txBody>
            <a:bodyPr/>
            <a:lstStyle/>
            <a:p>
              <a:endParaRPr lang="en-US">
                <a:latin typeface="+mj-lt"/>
              </a:endParaRPr>
            </a:p>
          </p:txBody>
        </p:sp>
        <p:sp>
          <p:nvSpPr>
            <p:cNvPr id="5" name="Text 5">
              <a:extLst>
                <a:ext uri="{FF2B5EF4-FFF2-40B4-BE49-F238E27FC236}">
                  <a16:creationId xmlns:a16="http://schemas.microsoft.com/office/drawing/2014/main" id="{B50FA37B-8E60-1841-65AA-8EECA491B1CA}"/>
                </a:ext>
              </a:extLst>
            </p:cNvPr>
            <p:cNvSpPr/>
            <p:nvPr/>
          </p:nvSpPr>
          <p:spPr>
            <a:xfrm>
              <a:off x="731672"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6">
              <a:extLst>
                <a:ext uri="{FF2B5EF4-FFF2-40B4-BE49-F238E27FC236}">
                  <a16:creationId xmlns:a16="http://schemas.microsoft.com/office/drawing/2014/main" id="{40E49601-8ED4-B926-DECF-BF17DC931E0D}"/>
                </a:ext>
              </a:extLst>
            </p:cNvPr>
            <p:cNvSpPr/>
            <p:nvPr/>
          </p:nvSpPr>
          <p:spPr>
            <a:xfrm>
              <a:off x="1280312"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Predict (Motion)</a:t>
              </a:r>
              <a:endParaRPr lang="en-US" sz="1300" dirty="0">
                <a:latin typeface="+mj-lt"/>
              </a:endParaRPr>
            </a:p>
          </p:txBody>
        </p:sp>
        <p:sp>
          <p:nvSpPr>
            <p:cNvPr id="7" name="Text 7">
              <a:extLst>
                <a:ext uri="{FF2B5EF4-FFF2-40B4-BE49-F238E27FC236}">
                  <a16:creationId xmlns:a16="http://schemas.microsoft.com/office/drawing/2014/main" id="{95B3CFF7-E59D-C5F4-70F0-EA5482D3F020}"/>
                </a:ext>
              </a:extLst>
            </p:cNvPr>
            <p:cNvSpPr/>
            <p:nvPr/>
          </p:nvSpPr>
          <p:spPr>
            <a:xfrm>
              <a:off x="731672"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Apply the odometry motion model to every particle, adding process noise to reflect drift uncertainty.</a:t>
              </a:r>
              <a:endParaRPr lang="en-US" sz="1100" dirty="0">
                <a:latin typeface="+mj-lt"/>
              </a:endParaRPr>
            </a:p>
          </p:txBody>
        </p:sp>
      </p:grpSp>
      <p:grpSp>
        <p:nvGrpSpPr>
          <p:cNvPr id="30" name="Group 29">
            <a:extLst>
              <a:ext uri="{FF2B5EF4-FFF2-40B4-BE49-F238E27FC236}">
                <a16:creationId xmlns:a16="http://schemas.microsoft.com/office/drawing/2014/main" id="{28C22D4E-E192-79DA-403A-B2F7F5487C01}"/>
              </a:ext>
            </a:extLst>
          </p:cNvPr>
          <p:cNvGrpSpPr/>
          <p:nvPr/>
        </p:nvGrpSpPr>
        <p:grpSpPr>
          <a:xfrm>
            <a:off x="3368116" y="1874520"/>
            <a:ext cx="2636444" cy="3108960"/>
            <a:chOff x="3368116" y="1874520"/>
            <a:chExt cx="2636444" cy="3108960"/>
          </a:xfrm>
        </p:grpSpPr>
        <p:sp>
          <p:nvSpPr>
            <p:cNvPr id="9" name="Shape 9">
              <a:extLst>
                <a:ext uri="{FF2B5EF4-FFF2-40B4-BE49-F238E27FC236}">
                  <a16:creationId xmlns:a16="http://schemas.microsoft.com/office/drawing/2014/main" id="{8A9F98E4-6EAA-D2FD-0A3D-C4504E31A90F}"/>
                </a:ext>
              </a:extLst>
            </p:cNvPr>
            <p:cNvSpPr/>
            <p:nvPr/>
          </p:nvSpPr>
          <p:spPr>
            <a:xfrm>
              <a:off x="3368116" y="1874520"/>
              <a:ext cx="2636444" cy="3108960"/>
            </a:xfrm>
            <a:prstGeom prst="rect">
              <a:avLst/>
            </a:prstGeom>
            <a:solidFill>
              <a:srgbClr val="F1F5F9"/>
            </a:solidFill>
            <a:ln/>
          </p:spPr>
          <p:txBody>
            <a:bodyPr/>
            <a:lstStyle/>
            <a:p>
              <a:endParaRPr lang="en-US">
                <a:latin typeface="+mj-lt"/>
              </a:endParaRPr>
            </a:p>
          </p:txBody>
        </p:sp>
        <p:sp>
          <p:nvSpPr>
            <p:cNvPr id="10" name="Shape 10">
              <a:extLst>
                <a:ext uri="{FF2B5EF4-FFF2-40B4-BE49-F238E27FC236}">
                  <a16:creationId xmlns:a16="http://schemas.microsoft.com/office/drawing/2014/main" id="{5794266C-5E21-8FAA-B500-FDA403F51AEA}"/>
                </a:ext>
              </a:extLst>
            </p:cNvPr>
            <p:cNvSpPr/>
            <p:nvPr/>
          </p:nvSpPr>
          <p:spPr>
            <a:xfrm>
              <a:off x="3368116" y="1874520"/>
              <a:ext cx="2636444" cy="45720"/>
            </a:xfrm>
            <a:prstGeom prst="rect">
              <a:avLst/>
            </a:prstGeom>
            <a:solidFill>
              <a:srgbClr val="0891B2"/>
            </a:solidFill>
            <a:ln/>
          </p:spPr>
          <p:txBody>
            <a:bodyPr/>
            <a:lstStyle/>
            <a:p>
              <a:endParaRPr lang="en-US">
                <a:latin typeface="+mj-lt"/>
              </a:endParaRPr>
            </a:p>
          </p:txBody>
        </p:sp>
        <p:sp>
          <p:nvSpPr>
            <p:cNvPr id="11" name="Shape 11">
              <a:extLst>
                <a:ext uri="{FF2B5EF4-FFF2-40B4-BE49-F238E27FC236}">
                  <a16:creationId xmlns:a16="http://schemas.microsoft.com/office/drawing/2014/main" id="{78B6AE56-2A5C-B805-38F6-227D39FEB366}"/>
                </a:ext>
              </a:extLst>
            </p:cNvPr>
            <p:cNvSpPr/>
            <p:nvPr/>
          </p:nvSpPr>
          <p:spPr>
            <a:xfrm>
              <a:off x="3550996" y="2103120"/>
              <a:ext cx="457200" cy="457200"/>
            </a:xfrm>
            <a:prstGeom prst="ellipse">
              <a:avLst/>
            </a:prstGeom>
            <a:solidFill>
              <a:srgbClr val="13294B"/>
            </a:solidFill>
            <a:ln/>
          </p:spPr>
          <p:txBody>
            <a:bodyPr/>
            <a:lstStyle/>
            <a:p>
              <a:endParaRPr lang="en-US">
                <a:latin typeface="+mj-lt"/>
              </a:endParaRPr>
            </a:p>
          </p:txBody>
        </p:sp>
        <p:sp>
          <p:nvSpPr>
            <p:cNvPr id="12" name="Text 12">
              <a:extLst>
                <a:ext uri="{FF2B5EF4-FFF2-40B4-BE49-F238E27FC236}">
                  <a16:creationId xmlns:a16="http://schemas.microsoft.com/office/drawing/2014/main" id="{A2A60D89-6ACC-B15A-8E7A-979FD146EFF6}"/>
                </a:ext>
              </a:extLst>
            </p:cNvPr>
            <p:cNvSpPr/>
            <p:nvPr/>
          </p:nvSpPr>
          <p:spPr>
            <a:xfrm>
              <a:off x="3550996"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3">
              <a:extLst>
                <a:ext uri="{FF2B5EF4-FFF2-40B4-BE49-F238E27FC236}">
                  <a16:creationId xmlns:a16="http://schemas.microsoft.com/office/drawing/2014/main" id="{4E09DAC5-EA6E-3549-FDF7-96DFED7D6998}"/>
                </a:ext>
              </a:extLst>
            </p:cNvPr>
            <p:cNvSpPr/>
            <p:nvPr/>
          </p:nvSpPr>
          <p:spPr>
            <a:xfrm>
              <a:off x="4099636"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Update (Measurement)</a:t>
              </a:r>
              <a:endParaRPr lang="en-US" sz="1300" dirty="0">
                <a:latin typeface="+mj-lt"/>
              </a:endParaRPr>
            </a:p>
          </p:txBody>
        </p:sp>
        <p:sp>
          <p:nvSpPr>
            <p:cNvPr id="14" name="Text 14">
              <a:extLst>
                <a:ext uri="{FF2B5EF4-FFF2-40B4-BE49-F238E27FC236}">
                  <a16:creationId xmlns:a16="http://schemas.microsoft.com/office/drawing/2014/main" id="{6C014EFB-A1CB-FCC3-652B-0E4CC208C5B2}"/>
                </a:ext>
              </a:extLst>
            </p:cNvPr>
            <p:cNvSpPr/>
            <p:nvPr/>
          </p:nvSpPr>
          <p:spPr>
            <a:xfrm>
              <a:off x="3550996"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For each particle, simulate what the LiDAR would see from that pose.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Compute weight wᵢ as the likelihood of the real scan given the simulated one.</a:t>
              </a:r>
              <a:endParaRPr lang="en-US" sz="1100" dirty="0">
                <a:latin typeface="+mj-lt"/>
              </a:endParaRPr>
            </a:p>
          </p:txBody>
        </p:sp>
      </p:grpSp>
      <p:grpSp>
        <p:nvGrpSpPr>
          <p:cNvPr id="31" name="Group 30">
            <a:extLst>
              <a:ext uri="{FF2B5EF4-FFF2-40B4-BE49-F238E27FC236}">
                <a16:creationId xmlns:a16="http://schemas.microsoft.com/office/drawing/2014/main" id="{6718F381-703F-8F87-2C6F-FC9ABD78E0D8}"/>
              </a:ext>
            </a:extLst>
          </p:cNvPr>
          <p:cNvGrpSpPr/>
          <p:nvPr/>
        </p:nvGrpSpPr>
        <p:grpSpPr>
          <a:xfrm>
            <a:off x="6187440" y="1874520"/>
            <a:ext cx="2636444" cy="3108960"/>
            <a:chOff x="6187440" y="1874520"/>
            <a:chExt cx="2636444" cy="3108960"/>
          </a:xfrm>
        </p:grpSpPr>
        <p:sp>
          <p:nvSpPr>
            <p:cNvPr id="16" name="Shape 16">
              <a:extLst>
                <a:ext uri="{FF2B5EF4-FFF2-40B4-BE49-F238E27FC236}">
                  <a16:creationId xmlns:a16="http://schemas.microsoft.com/office/drawing/2014/main" id="{D24772B7-2EB1-1347-6CE9-29FAF896AAB2}"/>
                </a:ext>
              </a:extLst>
            </p:cNvPr>
            <p:cNvSpPr/>
            <p:nvPr/>
          </p:nvSpPr>
          <p:spPr>
            <a:xfrm>
              <a:off x="6187440" y="1874520"/>
              <a:ext cx="2636444" cy="3108960"/>
            </a:xfrm>
            <a:prstGeom prst="rect">
              <a:avLst/>
            </a:prstGeom>
            <a:solidFill>
              <a:srgbClr val="F1F5F9"/>
            </a:solidFill>
            <a:ln/>
          </p:spPr>
          <p:txBody>
            <a:bodyPr/>
            <a:lstStyle/>
            <a:p>
              <a:endParaRPr lang="en-US">
                <a:latin typeface="+mj-lt"/>
              </a:endParaRPr>
            </a:p>
          </p:txBody>
        </p:sp>
        <p:sp>
          <p:nvSpPr>
            <p:cNvPr id="17" name="Shape 17">
              <a:extLst>
                <a:ext uri="{FF2B5EF4-FFF2-40B4-BE49-F238E27FC236}">
                  <a16:creationId xmlns:a16="http://schemas.microsoft.com/office/drawing/2014/main" id="{65896186-7CB9-C04F-DEFA-267A71B16AFF}"/>
                </a:ext>
              </a:extLst>
            </p:cNvPr>
            <p:cNvSpPr/>
            <p:nvPr/>
          </p:nvSpPr>
          <p:spPr>
            <a:xfrm>
              <a:off x="6187440" y="1874520"/>
              <a:ext cx="2636444" cy="45720"/>
            </a:xfrm>
            <a:prstGeom prst="rect">
              <a:avLst/>
            </a:prstGeom>
            <a:solidFill>
              <a:srgbClr val="0891B2"/>
            </a:solidFill>
            <a:ln/>
          </p:spPr>
          <p:txBody>
            <a:bodyPr/>
            <a:lstStyle/>
            <a:p>
              <a:endParaRPr lang="en-US">
                <a:latin typeface="+mj-lt"/>
              </a:endParaRPr>
            </a:p>
          </p:txBody>
        </p:sp>
        <p:sp>
          <p:nvSpPr>
            <p:cNvPr id="18" name="Shape 18">
              <a:extLst>
                <a:ext uri="{FF2B5EF4-FFF2-40B4-BE49-F238E27FC236}">
                  <a16:creationId xmlns:a16="http://schemas.microsoft.com/office/drawing/2014/main" id="{1B2DEC33-9534-234A-611A-0A66B1608EDE}"/>
                </a:ext>
              </a:extLst>
            </p:cNvPr>
            <p:cNvSpPr/>
            <p:nvPr/>
          </p:nvSpPr>
          <p:spPr>
            <a:xfrm>
              <a:off x="6370320" y="2103120"/>
              <a:ext cx="457200" cy="457200"/>
            </a:xfrm>
            <a:prstGeom prst="ellipse">
              <a:avLst/>
            </a:prstGeom>
            <a:solidFill>
              <a:srgbClr val="13294B"/>
            </a:solidFill>
            <a:ln/>
          </p:spPr>
          <p:txBody>
            <a:bodyPr/>
            <a:lstStyle/>
            <a:p>
              <a:endParaRPr lang="en-US">
                <a:latin typeface="+mj-lt"/>
              </a:endParaRPr>
            </a:p>
          </p:txBody>
        </p:sp>
        <p:sp>
          <p:nvSpPr>
            <p:cNvPr id="19" name="Text 19">
              <a:extLst>
                <a:ext uri="{FF2B5EF4-FFF2-40B4-BE49-F238E27FC236}">
                  <a16:creationId xmlns:a16="http://schemas.microsoft.com/office/drawing/2014/main" id="{D394C457-F26F-F10F-EB5E-29CBDD2A6F18}"/>
                </a:ext>
              </a:extLst>
            </p:cNvPr>
            <p:cNvSpPr/>
            <p:nvPr/>
          </p:nvSpPr>
          <p:spPr>
            <a:xfrm>
              <a:off x="6370320"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0">
              <a:extLst>
                <a:ext uri="{FF2B5EF4-FFF2-40B4-BE49-F238E27FC236}">
                  <a16:creationId xmlns:a16="http://schemas.microsoft.com/office/drawing/2014/main" id="{DC185E78-DCAA-AC52-AF4F-D415C85A61AA}"/>
                </a:ext>
              </a:extLst>
            </p:cNvPr>
            <p:cNvSpPr/>
            <p:nvPr/>
          </p:nvSpPr>
          <p:spPr>
            <a:xfrm>
              <a:off x="6918960"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Resample</a:t>
              </a:r>
              <a:endParaRPr lang="en-US" sz="1300" dirty="0">
                <a:latin typeface="+mj-lt"/>
              </a:endParaRPr>
            </a:p>
          </p:txBody>
        </p:sp>
        <p:sp>
          <p:nvSpPr>
            <p:cNvPr id="21" name="Text 21">
              <a:extLst>
                <a:ext uri="{FF2B5EF4-FFF2-40B4-BE49-F238E27FC236}">
                  <a16:creationId xmlns:a16="http://schemas.microsoft.com/office/drawing/2014/main" id="{DC455CC3-7A02-FE08-0897-F1E1CCF5E141}"/>
                </a:ext>
              </a:extLst>
            </p:cNvPr>
            <p:cNvSpPr/>
            <p:nvPr/>
          </p:nvSpPr>
          <p:spPr>
            <a:xfrm>
              <a:off x="6370320"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Draw N new particles from the old set, with probability proportional to weight.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High-weight particles duplicate; low-weight particles vanish.</a:t>
              </a:r>
              <a:endParaRPr lang="en-US" sz="1100" dirty="0">
                <a:latin typeface="+mj-lt"/>
              </a:endParaRPr>
            </a:p>
          </p:txBody>
        </p:sp>
      </p:grpSp>
      <p:grpSp>
        <p:nvGrpSpPr>
          <p:cNvPr id="32" name="Group 31">
            <a:extLst>
              <a:ext uri="{FF2B5EF4-FFF2-40B4-BE49-F238E27FC236}">
                <a16:creationId xmlns:a16="http://schemas.microsoft.com/office/drawing/2014/main" id="{21657F3D-F63C-EFD3-0614-607B59D0D74A}"/>
              </a:ext>
            </a:extLst>
          </p:cNvPr>
          <p:cNvGrpSpPr/>
          <p:nvPr/>
        </p:nvGrpSpPr>
        <p:grpSpPr>
          <a:xfrm>
            <a:off x="9006763" y="1874520"/>
            <a:ext cx="2636444" cy="3108960"/>
            <a:chOff x="9006763" y="1874520"/>
            <a:chExt cx="2636444" cy="3108960"/>
          </a:xfrm>
        </p:grpSpPr>
        <p:sp>
          <p:nvSpPr>
            <p:cNvPr id="23" name="Shape 23">
              <a:extLst>
                <a:ext uri="{FF2B5EF4-FFF2-40B4-BE49-F238E27FC236}">
                  <a16:creationId xmlns:a16="http://schemas.microsoft.com/office/drawing/2014/main" id="{91432590-E093-93E4-236F-FBDBA348400E}"/>
                </a:ext>
              </a:extLst>
            </p:cNvPr>
            <p:cNvSpPr/>
            <p:nvPr/>
          </p:nvSpPr>
          <p:spPr>
            <a:xfrm>
              <a:off x="9006763" y="1874520"/>
              <a:ext cx="2636444" cy="3108960"/>
            </a:xfrm>
            <a:prstGeom prst="rect">
              <a:avLst/>
            </a:prstGeom>
            <a:solidFill>
              <a:srgbClr val="F1F5F9"/>
            </a:solidFill>
            <a:ln/>
          </p:spPr>
          <p:txBody>
            <a:bodyPr/>
            <a:lstStyle/>
            <a:p>
              <a:endParaRPr lang="en-US">
                <a:latin typeface="+mj-lt"/>
              </a:endParaRPr>
            </a:p>
          </p:txBody>
        </p:sp>
        <p:sp>
          <p:nvSpPr>
            <p:cNvPr id="24" name="Shape 24">
              <a:extLst>
                <a:ext uri="{FF2B5EF4-FFF2-40B4-BE49-F238E27FC236}">
                  <a16:creationId xmlns:a16="http://schemas.microsoft.com/office/drawing/2014/main" id="{88E6A385-1026-0D65-E253-8EC1C631CCDF}"/>
                </a:ext>
              </a:extLst>
            </p:cNvPr>
            <p:cNvSpPr/>
            <p:nvPr/>
          </p:nvSpPr>
          <p:spPr>
            <a:xfrm>
              <a:off x="9006763" y="1874520"/>
              <a:ext cx="2636444" cy="45720"/>
            </a:xfrm>
            <a:prstGeom prst="rect">
              <a:avLst/>
            </a:prstGeom>
            <a:solidFill>
              <a:srgbClr val="0891B2"/>
            </a:solidFill>
            <a:ln/>
          </p:spPr>
          <p:txBody>
            <a:bodyPr/>
            <a:lstStyle/>
            <a:p>
              <a:endParaRPr lang="en-US">
                <a:latin typeface="+mj-lt"/>
              </a:endParaRPr>
            </a:p>
          </p:txBody>
        </p:sp>
        <p:sp>
          <p:nvSpPr>
            <p:cNvPr id="25" name="Shape 25">
              <a:extLst>
                <a:ext uri="{FF2B5EF4-FFF2-40B4-BE49-F238E27FC236}">
                  <a16:creationId xmlns:a16="http://schemas.microsoft.com/office/drawing/2014/main" id="{BD6460F3-C6B9-FA29-0C5A-EC587015BC24}"/>
                </a:ext>
              </a:extLst>
            </p:cNvPr>
            <p:cNvSpPr/>
            <p:nvPr/>
          </p:nvSpPr>
          <p:spPr>
            <a:xfrm>
              <a:off x="9189643" y="2103120"/>
              <a:ext cx="457200" cy="457200"/>
            </a:xfrm>
            <a:prstGeom prst="ellipse">
              <a:avLst/>
            </a:prstGeom>
            <a:solidFill>
              <a:srgbClr val="1E40AF"/>
            </a:solidFill>
            <a:ln/>
          </p:spPr>
          <p:txBody>
            <a:bodyPr/>
            <a:lstStyle/>
            <a:p>
              <a:endParaRPr lang="en-US">
                <a:latin typeface="+mj-lt"/>
              </a:endParaRPr>
            </a:p>
          </p:txBody>
        </p:sp>
        <p:sp>
          <p:nvSpPr>
            <p:cNvPr id="26" name="Text 26">
              <a:extLst>
                <a:ext uri="{FF2B5EF4-FFF2-40B4-BE49-F238E27FC236}">
                  <a16:creationId xmlns:a16="http://schemas.microsoft.com/office/drawing/2014/main" id="{C6237485-CBC3-7C21-94A6-FC4A72AF83EB}"/>
                </a:ext>
              </a:extLst>
            </p:cNvPr>
            <p:cNvSpPr/>
            <p:nvPr/>
          </p:nvSpPr>
          <p:spPr>
            <a:xfrm>
              <a:off x="9189643" y="2103120"/>
              <a:ext cx="457200" cy="457200"/>
            </a:xfrm>
            <a:prstGeom prst="rect">
              <a:avLst/>
            </a:prstGeom>
            <a:solidFill>
              <a:srgbClr val="13294B"/>
            </a:solid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4</a:t>
              </a:r>
              <a:endParaRPr lang="en-US" sz="1800" dirty="0">
                <a:latin typeface="+mj-lt"/>
              </a:endParaRPr>
            </a:p>
          </p:txBody>
        </p:sp>
        <p:sp>
          <p:nvSpPr>
            <p:cNvPr id="27" name="Text 27">
              <a:extLst>
                <a:ext uri="{FF2B5EF4-FFF2-40B4-BE49-F238E27FC236}">
                  <a16:creationId xmlns:a16="http://schemas.microsoft.com/office/drawing/2014/main" id="{C10F9DC7-21DC-B40F-5F0E-BDE215A03215}"/>
                </a:ext>
              </a:extLst>
            </p:cNvPr>
            <p:cNvSpPr/>
            <p:nvPr/>
          </p:nvSpPr>
          <p:spPr>
            <a:xfrm>
              <a:off x="9738283"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Estimate</a:t>
              </a:r>
              <a:endParaRPr lang="en-US" sz="1300" dirty="0">
                <a:latin typeface="+mj-lt"/>
              </a:endParaRPr>
            </a:p>
          </p:txBody>
        </p:sp>
        <p:sp>
          <p:nvSpPr>
            <p:cNvPr id="28" name="Text 28">
              <a:extLst>
                <a:ext uri="{FF2B5EF4-FFF2-40B4-BE49-F238E27FC236}">
                  <a16:creationId xmlns:a16="http://schemas.microsoft.com/office/drawing/2014/main" id="{E6E4391F-C811-7F41-ED50-3B4309CE8919}"/>
                </a:ext>
              </a:extLst>
            </p:cNvPr>
            <p:cNvSpPr/>
            <p:nvPr/>
          </p:nvSpPr>
          <p:spPr>
            <a:xfrm>
              <a:off x="9189643"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The mean (or mode) of the surviving particles is the current best pose estimate.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The spread of the cloud is the uncertainty.</a:t>
              </a:r>
              <a:endParaRPr lang="en-US" sz="1100" dirty="0">
                <a:latin typeface="+mj-lt"/>
              </a:endParaRPr>
            </a:p>
          </p:txBody>
        </p:sp>
      </p:grpSp>
    </p:spTree>
    <p:extLst>
      <p:ext uri="{BB962C8B-B14F-4D97-AF65-F5344CB8AC3E}">
        <p14:creationId xmlns:p14="http://schemas.microsoft.com/office/powerpoint/2010/main" val="1285284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8763627-9642-A871-5BF0-02664C2BF49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A8FE3EB-A109-0B84-BA99-D6A82837EC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09CBBDC-66BF-9F38-1372-11F565D50C2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8BECDF05-6528-7716-5FD6-C8F23A9EBCE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427593-BB52-A741-C12D-51EDD765EE3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AD67E5F-84BC-48DB-F0CD-BB6B58B2E8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707D2E1-57D7-207E-5143-1BD1CDD8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A5039B-A33F-8EE3-CB51-40E89DAC4A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C42DD3-F599-1C20-2C13-DA37309417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40748070-3272-41C3-D5A9-877BB099CFC4}"/>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86154415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957AD73-3DCC-14C1-539A-1CF559FE442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E2D661D-C941-6261-3C6B-37BDA47DB95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185C185-7CB2-F3C1-41A1-FA5BF7B33B3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271B5004-DAFE-6D38-741F-18AEFDAA9DB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F864C6-EA9A-4FA8-2EF5-5E54631382B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1D1684-1938-BA3B-1501-1CDA876A14C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C5BD4EA-F85E-25F3-B5EC-3F851F8F17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C5358A-871A-814D-D98D-FC806DA3E99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DD6C6C-4088-6139-FFC9-919EBE7AB5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E044F0E9-46B3-AFDB-4258-F880045052B0}"/>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74989400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946C42-2C1C-0C43-601D-1124380AEC9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8C6F81B-7A5C-3FBA-B987-EFACBDB2BD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2B4C02D-2571-FDD4-9FD1-3C175190681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2658372D-938D-49E5-BC84-CC62168E67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6DF01AA-82FA-4038-29D2-1058390EAE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D0FBEAD-A6B8-218F-4B4C-4A4D631E23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4F7B65C-2F46-590B-A473-F5833DE6D35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518680-DDD8-68E8-8C87-10E0225B759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9A353F4-B54F-ED0D-D5D5-04CB6CE7FF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339E70BD-E16D-312C-7656-B1F9534783F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35292345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47F038C-2149-651A-2C27-A07D23955B6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7E5BE68-35B4-3F2E-47A1-EBF4E4ADF25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5A6D07C-9114-6CAB-A5E0-8706ED207EA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71F24882-E31B-8F77-4298-C253FDD7072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3566DB-28C2-ED32-0D5D-B8D3DE1C74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A5F7B9-4FD0-B914-C6ED-D9557724D49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6C2366-EDC0-D8A1-7628-0459E4FDCD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C2A9A02-D4CA-A3BA-734D-B7AEE4688E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8D723-B16E-5EA0-D1C8-34B4F79C3F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E6A1CC5D-3528-B967-C279-75044A85974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188798723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83E1C8-87CD-48CB-B1D4-F0AFAA2DF83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D5E67FE-CEBB-C341-0595-164EB61665C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8C64BFE-3F63-B81C-1D5D-7F441EFA111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CA37EA5A-5A39-F1C9-6BE5-B3F7CC4A7F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A04EA9-8D9C-1184-B586-FD2CDDB025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350770-BF91-53AA-F1A1-8A71860BEA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4008EF-6EB7-BBF3-9613-96DF08F223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EC8F6DF-61BF-567A-A9CB-D10B3D3D33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E16579-F314-1042-D4A4-ED6F7B198F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BDF95E64-54D0-046E-19A9-0F58B731CBDD}"/>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419087128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BA5CEA-9890-4DD1-FC9B-778BA4A1754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AB79F89-DBE2-FF1C-9A8A-7C81EC12543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89E6416-C5E0-9175-E9C4-6F0986B6B1F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B1B2E99A-12A3-4460-1EB2-114EC91DBCD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528FF33-4760-C3F6-44C5-459C44C96A8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097135-A5C6-6747-C811-D177F8F2B5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F0589BE-0C39-E526-7CFB-DF8EE93CD8B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D30E36-0562-CB26-7F05-98BC6B1897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04BA118-01D0-1D1E-1568-AE17158A37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ABDE1BB-38AB-A455-03AD-25A978257A2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78032063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09C6017-475B-D8A1-3D36-D1D8E9B8B31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B5906C1-9DC2-4582-6D03-2FA87052CB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B837159-4E62-273F-C006-CA19D5CE070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24826704-28EB-65BD-5F92-C61595288E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47CE00-B598-CF09-C2A1-AACB07760E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28B840-EACC-3EE8-A044-F1666A7EE3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1BD88C0-DB73-233B-27FC-14632D328B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F4187E-14BF-A0B3-7B6D-1C402D4CCB0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E8300F0-8C2B-9EBA-308B-F7C05754AB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D047045-F956-090B-782A-4A80C5B5138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03160042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A47358B-3667-71CF-B9CE-37F95B97417A}"/>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61DA6047-33E1-B34F-7EBF-621D3846B95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Each particle’s weight is proportional to the measurement likelihood at it’s hypothesized pose (how likely you would see the LiDAR measurement if you are at the current position)</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𝑤</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𝑃</m:t>
                    </m:r>
                    <m:d>
                      <m:dPr>
                        <m:sepChr m:val="∣"/>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𝑚</m:t>
                        </m:r>
                      </m:e>
                    </m:d>
                  </m:oMath>
                </a14:m>
                <a:r>
                  <a:rPr lang="en-US" sz="2000" dirty="0">
                    <a:latin typeface="Arial"/>
                    <a:ea typeface="Arial"/>
                    <a:cs typeface="Arial"/>
                    <a:sym typeface="Arial"/>
                  </a:rPr>
                  <a:t> then </a:t>
                </a: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r>
                      <m:rPr>
                        <m:lit/>
                      </m:rP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oMath>
                </a14:m>
                <a:r>
                  <a:rPr lang="en-US" sz="2000" dirty="0">
                    <a:latin typeface="Arial"/>
                    <a:ea typeface="Arial"/>
                    <a:cs typeface="Arial"/>
                    <a:sym typeface="Arial"/>
                  </a:rPr>
                  <a:t> with probability </a:t>
                </a: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𝑤</m:t>
                        </m:r>
                      </m:e>
                      <m:sub>
                        <m:r>
                          <a:rPr lang="en-US" sz="2000" i="1">
                            <a:latin typeface="Cambria Math" panose="02040503050406030204" pitchFamily="18" charset="0"/>
                            <a:ea typeface="Arial"/>
                            <a:cs typeface="Arial"/>
                            <a:sym typeface="Arial"/>
                          </a:rPr>
                          <m:t>𝑗</m:t>
                        </m:r>
                      </m:sub>
                    </m:sSub>
                    <m:r>
                      <m:rPr>
                        <m:lit/>
                      </m:rPr>
                      <a:rPr lang="en-US" sz="2000" i="1">
                        <a:latin typeface="Cambria Math" panose="02040503050406030204" pitchFamily="18" charset="0"/>
                        <a:ea typeface="Arial"/>
                        <a:cs typeface="Arial"/>
                        <a:sym typeface="Arial"/>
                      </a:rPr>
                      <m:t>}</m:t>
                    </m:r>
                  </m:oMath>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After weighting, we normalize so all weights sum to 1 - they now encode a discrete distribution! This simulates the continuous probability space! Much more computationally efficient!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Resampling draws N new indices from this distribution using a 'roulette wheel' or low-variance sampler</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happens to the filter if we sample only 10 particles in a 10,000 m² warehouse?</a:t>
                </a:r>
              </a:p>
              <a:p>
                <a:pPr marL="0" indent="0">
                  <a:lnSpc>
                    <a:spcPct val="100000"/>
                  </a:lnSpc>
                  <a:spcBef>
                    <a:spcPts val="0"/>
                  </a:spcBef>
                  <a:buSzPts val="3000"/>
                  <a:buNone/>
                </a:pPr>
                <a:r>
                  <a:rPr lang="en-US" sz="2000" dirty="0">
                    <a:latin typeface="Arial"/>
                    <a:ea typeface="Arial"/>
                    <a:cs typeface="Arial"/>
                    <a:sym typeface="Arial"/>
                  </a:rPr>
                  <a:t>How can we improve the filter if we have some kind of prior knowledge of where we will be approximately?</a:t>
                </a:r>
              </a:p>
              <a:p>
                <a:pPr marL="0" indent="0">
                  <a:lnSpc>
                    <a:spcPct val="100000"/>
                  </a:lnSpc>
                  <a:spcBef>
                    <a:spcPts val="0"/>
                  </a:spcBef>
                  <a:buSzPts val="3000"/>
                  <a:buNone/>
                </a:pPr>
                <a:r>
                  <a:rPr lang="en-US" sz="2000" dirty="0">
                    <a:latin typeface="Arial"/>
                    <a:ea typeface="Arial"/>
                    <a:cs typeface="Arial"/>
                    <a:sym typeface="Arial"/>
                  </a:rPr>
                  <a:t>If the particle cloud shrinks to a single tight point, is that always a good thing?</a:t>
                </a:r>
              </a:p>
              <a:p>
                <a:pPr marL="0" indent="0">
                  <a:lnSpc>
                    <a:spcPct val="100000"/>
                  </a:lnSpc>
                  <a:spcBef>
                    <a:spcPts val="0"/>
                  </a:spcBef>
                  <a:buSzPts val="3000"/>
                  <a:buNone/>
                </a:pPr>
                <a:endParaRPr lang="en-US" sz="20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61DA6047-33E1-B34F-7EBF-621D3846B95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7079E6D-5B53-85AA-6F79-B4FE0758DB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88E3284-6D4E-56CB-6902-4FFACCB54DC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9CD78919-2043-585A-AEAB-5C3DDBD6DB1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1110BA-807E-AC06-E785-600BF6233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91AD4E-846D-509E-951E-911188DA83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8149F3-DC76-7B35-B3EE-1997A3B59D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BB5D1C-FD22-1763-0BAD-67B4F127FC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65F46D-B329-A3E1-D32F-035C94C05D5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23022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235C09-888F-47C4-01A2-E26DB69FB90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778A88-7D1E-2FBC-21AD-219A35C75E4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rial"/>
                <a:ea typeface="Arial"/>
                <a:cs typeface="Arial"/>
                <a:sym typeface="Arial"/>
              </a:rPr>
              <a:t>Advantages</a:t>
            </a:r>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Handles the kidnapped-robot problem naturally (particles can be re-seeded anywhere)</a:t>
            </a:r>
          </a:p>
          <a:p>
            <a:pPr marL="342900">
              <a:lnSpc>
                <a:spcPct val="100000"/>
              </a:lnSpc>
              <a:spcBef>
                <a:spcPts val="0"/>
              </a:spcBef>
              <a:buSzPts val="3000"/>
            </a:pPr>
            <a:r>
              <a:rPr lang="en-US" sz="2000" dirty="0">
                <a:latin typeface="Arial"/>
                <a:ea typeface="Arial"/>
                <a:cs typeface="Arial"/>
                <a:sym typeface="Arial"/>
              </a:rPr>
              <a:t>Encodes multi-modal beliefs - 'I'm in either Aisle 3 or 5' is expressible</a:t>
            </a:r>
          </a:p>
          <a:p>
            <a:pPr marL="342900">
              <a:lnSpc>
                <a:spcPct val="100000"/>
              </a:lnSpc>
              <a:spcBef>
                <a:spcPts val="0"/>
              </a:spcBef>
              <a:buSzPts val="3000"/>
            </a:pPr>
            <a:r>
              <a:rPr lang="en-US" sz="2000" dirty="0">
                <a:latin typeface="Arial"/>
                <a:ea typeface="Arial"/>
                <a:cs typeface="Arial"/>
                <a:sym typeface="Arial"/>
              </a:rPr>
              <a:t>Requires no assumptions about Gaussian noise or linear motion models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b="1" dirty="0">
                <a:latin typeface="Arial"/>
                <a:ea typeface="Arial"/>
                <a:cs typeface="Arial"/>
                <a:sym typeface="Arial"/>
              </a:rPr>
              <a:t>Disadvantages</a:t>
            </a:r>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Computationally heavy - every particle does its own LiDAR simulation</a:t>
            </a:r>
          </a:p>
          <a:p>
            <a:pPr marL="342900">
              <a:lnSpc>
                <a:spcPct val="100000"/>
              </a:lnSpc>
              <a:spcBef>
                <a:spcPts val="0"/>
              </a:spcBef>
              <a:buSzPts val="3000"/>
            </a:pPr>
            <a:r>
              <a:rPr lang="en-US" sz="2000" dirty="0">
                <a:latin typeface="Arial"/>
                <a:ea typeface="Arial"/>
                <a:cs typeface="Arial"/>
                <a:sym typeface="Arial"/>
              </a:rPr>
              <a:t>Degenerates over time: surviving particles cluster and you lose diversity (particle deprivation)</a:t>
            </a:r>
          </a:p>
          <a:p>
            <a:pPr marL="342900">
              <a:lnSpc>
                <a:spcPct val="100000"/>
              </a:lnSpc>
              <a:spcBef>
                <a:spcPts val="0"/>
              </a:spcBef>
              <a:buSzPts val="3000"/>
            </a:pPr>
            <a:r>
              <a:rPr lang="en-US" sz="2000" dirty="0">
                <a:latin typeface="Arial"/>
                <a:ea typeface="Arial"/>
                <a:cs typeface="Arial"/>
                <a:sym typeface="Arial"/>
              </a:rPr>
              <a:t>Not well-suited to the mapping side of SLAM - we'll need graphs for that</a:t>
            </a:r>
          </a:p>
          <a:p>
            <a:pPr marL="342900">
              <a:lnSpc>
                <a:spcPct val="100000"/>
              </a:lnSpc>
              <a:spcBef>
                <a:spcPts val="0"/>
              </a:spcBef>
              <a:buSzPts val="3000"/>
            </a:pPr>
            <a:r>
              <a:rPr lang="en-US" sz="2000" dirty="0">
                <a:latin typeface="Arial"/>
                <a:ea typeface="Arial"/>
                <a:cs typeface="Arial"/>
                <a:sym typeface="Arial"/>
              </a:rPr>
              <a:t>Need a initial map / initial state to be able to function appropriately</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589BEF94-1357-8016-C547-56BAD1B83D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BA13659-C631-494D-E33E-DAA07CB19EC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Monte Carlo Localization – The Idea</a:t>
            </a:r>
          </a:p>
        </p:txBody>
      </p:sp>
      <p:pic>
        <p:nvPicPr>
          <p:cNvPr id="121" name="Google Shape;121;p29">
            <a:extLst>
              <a:ext uri="{FF2B5EF4-FFF2-40B4-BE49-F238E27FC236}">
                <a16:creationId xmlns:a16="http://schemas.microsoft.com/office/drawing/2014/main" id="{4B2F2158-4B2A-04AC-F87E-61859CC51A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A88588-2D23-7E48-EE11-E156963E2F9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284993A-9EB4-0055-9AE0-4BEC64F6EB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9B9B8A-11A8-64A3-417F-98E3D437145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3D809C-D048-61BA-1BE4-D38052A173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758399-F5D8-712D-E350-1FFD91C1DF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73131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7FA7759-8697-0344-7FD6-D7EC37AEE7A1}"/>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72A88E45-E200-8092-F1ED-92C350AFD6B2}"/>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CB4FE1FE-8A37-591F-2261-F68AAC67EBC6}"/>
                </a:ext>
              </a:extLst>
            </p:cNvPr>
            <p:cNvSpPr txBox="1"/>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The World</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1A0A3C23-980A-A254-9D36-A6B3A63B56B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5D12FC01-B16D-3028-3B47-871C9CEE051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A01FCACB-7853-6141-172F-49C7343001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05D24E59-142F-9EE5-885C-989B729BA4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C3C2200-28AE-B2E0-480B-46086008B96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03F03E5-D1AA-B6FD-836C-31146A02212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CFF92B63-3A28-1DAA-217A-4FA2A47F5D5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187206E-CDFD-C803-705B-0D300EBAB56D}"/>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6410104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752C4E-FE88-0DB7-0A85-C2E3ACFF3198}"/>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870B1BC-29B0-8394-EAB0-C6DFF8D7E05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Now that we know where we are, we can focus on the mapping!</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Given an accurate pose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𝑥</m:t>
                        </m:r>
                      </m:e>
                      <m:sub>
                        <m:r>
                          <a:rPr lang="en-US" sz="2000" i="1" dirty="0" smtClean="0">
                            <a:latin typeface="Cambria Math" panose="02040503050406030204" pitchFamily="18" charset="0"/>
                            <a:ea typeface="Arial"/>
                            <a:cs typeface="Arial"/>
                            <a:sym typeface="Arial"/>
                          </a:rPr>
                          <m:t>𝑡</m:t>
                        </m:r>
                      </m:sub>
                    </m:sSub>
                  </m:oMath>
                </a14:m>
                <a:r>
                  <a:rPr lang="en-US" sz="2000" dirty="0">
                    <a:latin typeface="Arial"/>
                    <a:ea typeface="Arial"/>
                    <a:cs typeface="Arial"/>
                    <a:sym typeface="Arial"/>
                  </a:rPr>
                  <a:t> and a raw LiDAR scan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𝑡</m:t>
                        </m:r>
                      </m:sub>
                    </m:sSub>
                  </m:oMath>
                </a14:m>
                <a:r>
                  <a:rPr lang="en-US" sz="2000" dirty="0">
                    <a:latin typeface="Arial"/>
                    <a:ea typeface="Arial"/>
                    <a:cs typeface="Arial"/>
                    <a:sym typeface="Arial"/>
                  </a:rPr>
                  <a:t>, we must place that scan into a persistent world model:</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200000"/>
                  </a:lnSpc>
                  <a:spcBef>
                    <a:spcPts val="0"/>
                  </a:spcBef>
                  <a:buSzPts val="3000"/>
                </a:pPr>
                <a:r>
                  <a:rPr lang="en-US" sz="2000" dirty="0">
                    <a:latin typeface="Arial"/>
                    <a:ea typeface="Arial"/>
                    <a:cs typeface="Arial"/>
                    <a:sym typeface="Arial"/>
                  </a:rPr>
                  <a:t>The model must survive sensor noise (</a:t>
                </a:r>
                <a:r>
                  <a:rPr lang="en-US" sz="2000" b="1" dirty="0">
                    <a:latin typeface="Arial"/>
                    <a:ea typeface="Arial"/>
                    <a:cs typeface="Arial"/>
                    <a:sym typeface="Arial"/>
                  </a:rPr>
                  <a:t>robust</a:t>
                </a:r>
                <a:r>
                  <a:rPr lang="en-US" sz="2000" dirty="0">
                    <a:latin typeface="Arial"/>
                    <a:ea typeface="Arial"/>
                    <a:cs typeface="Arial"/>
                    <a:sym typeface="Arial"/>
                  </a:rPr>
                  <a:t>) (one bad beam shouldn't create a wall)</a:t>
                </a:r>
              </a:p>
              <a:p>
                <a:pPr marL="342900">
                  <a:lnSpc>
                    <a:spcPct val="200000"/>
                  </a:lnSpc>
                  <a:spcBef>
                    <a:spcPts val="0"/>
                  </a:spcBef>
                  <a:buSzPts val="3000"/>
                </a:pPr>
                <a:r>
                  <a:rPr lang="en-US" sz="2000" dirty="0">
                    <a:latin typeface="Arial"/>
                    <a:ea typeface="Arial"/>
                    <a:cs typeface="Arial"/>
                    <a:sym typeface="Arial"/>
                  </a:rPr>
                  <a:t>The model must be </a:t>
                </a:r>
                <a:r>
                  <a:rPr lang="en-US" sz="2000" b="1" dirty="0">
                    <a:latin typeface="Arial"/>
                    <a:ea typeface="Arial"/>
                    <a:cs typeface="Arial"/>
                    <a:sym typeface="Arial"/>
                  </a:rPr>
                  <a:t>updatable</a:t>
                </a:r>
                <a:r>
                  <a:rPr lang="en-US" sz="2000" dirty="0">
                    <a:latin typeface="Arial"/>
                    <a:ea typeface="Arial"/>
                    <a:cs typeface="Arial"/>
                    <a:sym typeface="Arial"/>
                  </a:rPr>
                  <a:t> (new information should </a:t>
                </a:r>
                <a:r>
                  <a:rPr lang="en-US" sz="2000" b="1" dirty="0">
                    <a:latin typeface="Arial"/>
                    <a:ea typeface="Arial"/>
                    <a:cs typeface="Arial"/>
                    <a:sym typeface="Arial"/>
                  </a:rPr>
                  <a:t>refine</a:t>
                </a:r>
                <a:r>
                  <a:rPr lang="en-US" sz="2000" dirty="0">
                    <a:latin typeface="Arial"/>
                    <a:ea typeface="Arial"/>
                    <a:cs typeface="Arial"/>
                    <a:sym typeface="Arial"/>
                  </a:rPr>
                  <a:t>, not overwrite, old beliefs)</a:t>
                </a:r>
              </a:p>
              <a:p>
                <a:pPr marL="342900">
                  <a:lnSpc>
                    <a:spcPct val="200000"/>
                  </a:lnSpc>
                  <a:spcBef>
                    <a:spcPts val="0"/>
                  </a:spcBef>
                  <a:buSzPts val="3000"/>
                </a:pPr>
                <a:r>
                  <a:rPr lang="en-US" sz="2000" dirty="0">
                    <a:latin typeface="Arial"/>
                    <a:ea typeface="Arial"/>
                    <a:cs typeface="Arial"/>
                    <a:sym typeface="Arial"/>
                  </a:rPr>
                  <a:t>The model must be </a:t>
                </a:r>
                <a:r>
                  <a:rPr lang="en-US" sz="2000" b="1" dirty="0">
                    <a:latin typeface="Arial"/>
                    <a:ea typeface="Arial"/>
                    <a:cs typeface="Arial"/>
                    <a:sym typeface="Arial"/>
                  </a:rPr>
                  <a:t>compact</a:t>
                </a:r>
                <a:r>
                  <a:rPr lang="en-US" sz="2000" dirty="0">
                    <a:latin typeface="Arial"/>
                    <a:ea typeface="Arial"/>
                    <a:cs typeface="Arial"/>
                    <a:sym typeface="Arial"/>
                  </a:rPr>
                  <a:t> (we cannot afford to keep every raw scan in RAM forever)</a:t>
                </a:r>
              </a:p>
              <a:p>
                <a:pPr marL="342900">
                  <a:lnSpc>
                    <a:spcPct val="200000"/>
                  </a:lnSpc>
                  <a:spcBef>
                    <a:spcPts val="0"/>
                  </a:spcBef>
                  <a:buSzPts val="3000"/>
                </a:pPr>
                <a:r>
                  <a:rPr lang="en-US" sz="2000" dirty="0">
                    <a:latin typeface="Arial"/>
                    <a:ea typeface="Arial"/>
                    <a:cs typeface="Arial"/>
                    <a:sym typeface="Arial"/>
                  </a:rPr>
                  <a:t>The model must be </a:t>
                </a:r>
                <a:r>
                  <a:rPr lang="en-US" sz="2000" b="1" dirty="0" err="1">
                    <a:latin typeface="Arial"/>
                    <a:ea typeface="Arial"/>
                    <a:cs typeface="Arial"/>
                    <a:sym typeface="Arial"/>
                  </a:rPr>
                  <a:t>queryable</a:t>
                </a:r>
                <a:r>
                  <a:rPr lang="en-US" sz="2000" dirty="0">
                    <a:latin typeface="Arial"/>
                    <a:ea typeface="Arial"/>
                    <a:cs typeface="Arial"/>
                    <a:sym typeface="Arial"/>
                  </a:rPr>
                  <a:t> by the path planner - "is this cell safe to drive through?"</a:t>
                </a:r>
              </a:p>
            </p:txBody>
          </p:sp>
        </mc:Choice>
        <mc:Fallback>
          <p:sp>
            <p:nvSpPr>
              <p:cNvPr id="118" name="Google Shape;118;p29">
                <a:extLst>
                  <a:ext uri="{FF2B5EF4-FFF2-40B4-BE49-F238E27FC236}">
                    <a16:creationId xmlns:a16="http://schemas.microsoft.com/office/drawing/2014/main" id="{A870B1BC-29B0-8394-EAB0-C6DFF8D7E05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745C903-F446-B9A6-D300-6378D076F3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236DCF2-A078-7E3B-E885-9AEED1CDA1B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922A9EC0-ECB6-88BD-CAA8-4E216ED6F85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A9DC31E-80CF-C89D-021E-CCB8279442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38A7C2-75EF-6330-25EE-5F61B28C0F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3D5D1A-5BBE-EA3F-D6FA-0227A86472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27AE67-C2FE-7E04-786F-A604A3D031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9A8FD8-8FDC-0382-8C1B-AE8076746B3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840605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DB5A64E-E646-82FD-64DF-FD41C3E9285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75E7FF-56C3-1136-8474-1EE91E12E6F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DA8729CF-E547-C9A8-31EB-44F7DBD1A8E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latin typeface="+mj-lt"/>
              </a:rPr>
              <a:t>The World</a:t>
            </a:r>
          </a:p>
        </p:txBody>
      </p:sp>
      <p:pic>
        <p:nvPicPr>
          <p:cNvPr id="121" name="Google Shape;121;p29">
            <a:extLst>
              <a:ext uri="{FF2B5EF4-FFF2-40B4-BE49-F238E27FC236}">
                <a16:creationId xmlns:a16="http://schemas.microsoft.com/office/drawing/2014/main" id="{5F7DD85F-594E-2B36-99E0-1D87E2A0A7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A2837-0FDA-B400-9F07-E50D1EC1EC8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mj-lt"/>
                <a:ea typeface="Arial"/>
                <a:cs typeface="Arial"/>
                <a:sym typeface="Arial"/>
              </a:rPr>
              <a:t>GRAINGER ENGINEERING</a:t>
            </a:r>
            <a:endParaRPr>
              <a:latin typeface="+mj-lt"/>
            </a:endParaRPr>
          </a:p>
        </p:txBody>
      </p:sp>
      <p:sp>
        <p:nvSpPr>
          <p:cNvPr id="123" name="Google Shape;123;p29">
            <a:extLst>
              <a:ext uri="{FF2B5EF4-FFF2-40B4-BE49-F238E27FC236}">
                <a16:creationId xmlns:a16="http://schemas.microsoft.com/office/drawing/2014/main" id="{65EEC94C-8F93-4868-8E7D-5E9CDC0A20B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3F1BC6AF-5536-D60F-3851-C6FA91C2EB0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63982D-2EEE-417B-A0A4-AD3C76AA69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B81378-D063-2172-6873-3FEC0E582D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2" name="Group 21">
            <a:extLst>
              <a:ext uri="{FF2B5EF4-FFF2-40B4-BE49-F238E27FC236}">
                <a16:creationId xmlns:a16="http://schemas.microsoft.com/office/drawing/2014/main" id="{8B86DE81-39C3-6D41-2A4E-AD81B66AE9F2}"/>
              </a:ext>
            </a:extLst>
          </p:cNvPr>
          <p:cNvGrpSpPr/>
          <p:nvPr/>
        </p:nvGrpSpPr>
        <p:grpSpPr>
          <a:xfrm>
            <a:off x="548792" y="1874520"/>
            <a:ext cx="3576218" cy="3108960"/>
            <a:chOff x="548792" y="1874520"/>
            <a:chExt cx="3576218" cy="3108960"/>
          </a:xfrm>
        </p:grpSpPr>
        <p:sp>
          <p:nvSpPr>
            <p:cNvPr id="2" name="Shape 3">
              <a:extLst>
                <a:ext uri="{FF2B5EF4-FFF2-40B4-BE49-F238E27FC236}">
                  <a16:creationId xmlns:a16="http://schemas.microsoft.com/office/drawing/2014/main" id="{AE02A40A-82CF-8C52-4CFC-09984AEF0AB3}"/>
                </a:ext>
              </a:extLst>
            </p:cNvPr>
            <p:cNvSpPr/>
            <p:nvPr/>
          </p:nvSpPr>
          <p:spPr>
            <a:xfrm>
              <a:off x="548792" y="1874520"/>
              <a:ext cx="3576218" cy="3108960"/>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28FF5631-F19A-D439-54A3-53AA7CACCA9E}"/>
                </a:ext>
              </a:extLst>
            </p:cNvPr>
            <p:cNvSpPr/>
            <p:nvPr/>
          </p:nvSpPr>
          <p:spPr>
            <a:xfrm>
              <a:off x="548792" y="1874520"/>
              <a:ext cx="3576218" cy="45720"/>
            </a:xfrm>
            <a:prstGeom prst="rect">
              <a:avLst/>
            </a:prstGeom>
            <a:solidFill>
              <a:srgbClr val="0891B2"/>
            </a:solidFill>
            <a:ln/>
          </p:spPr>
          <p:txBody>
            <a:bodyPr/>
            <a:lstStyle/>
            <a:p>
              <a:endParaRPr lang="en-US">
                <a:latin typeface="+mj-lt"/>
              </a:endParaRPr>
            </a:p>
          </p:txBody>
        </p:sp>
        <p:sp>
          <p:nvSpPr>
            <p:cNvPr id="4" name="Shape 5">
              <a:extLst>
                <a:ext uri="{FF2B5EF4-FFF2-40B4-BE49-F238E27FC236}">
                  <a16:creationId xmlns:a16="http://schemas.microsoft.com/office/drawing/2014/main" id="{D1740276-9C4A-AFB2-D03F-2DECDA4EC246}"/>
                </a:ext>
              </a:extLst>
            </p:cNvPr>
            <p:cNvSpPr/>
            <p:nvPr/>
          </p:nvSpPr>
          <p:spPr>
            <a:xfrm>
              <a:off x="731672" y="2103120"/>
              <a:ext cx="457200" cy="457200"/>
            </a:xfrm>
            <a:prstGeom prst="ellipse">
              <a:avLst/>
            </a:prstGeom>
            <a:solidFill>
              <a:srgbClr val="13294B"/>
            </a:solidFill>
            <a:ln/>
          </p:spPr>
          <p:txBody>
            <a:bodyPr/>
            <a:lstStyle/>
            <a:p>
              <a:endParaRPr lang="en-US">
                <a:latin typeface="+mj-lt"/>
              </a:endParaRPr>
            </a:p>
          </p:txBody>
        </p:sp>
        <p:sp>
          <p:nvSpPr>
            <p:cNvPr id="5" name="Text 6">
              <a:extLst>
                <a:ext uri="{FF2B5EF4-FFF2-40B4-BE49-F238E27FC236}">
                  <a16:creationId xmlns:a16="http://schemas.microsoft.com/office/drawing/2014/main" id="{A7DA6EB2-C0BF-F9B7-EB41-840CC34FDE75}"/>
                </a:ext>
              </a:extLst>
            </p:cNvPr>
            <p:cNvSpPr/>
            <p:nvPr/>
          </p:nvSpPr>
          <p:spPr>
            <a:xfrm>
              <a:off x="731672"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7">
              <a:extLst>
                <a:ext uri="{FF2B5EF4-FFF2-40B4-BE49-F238E27FC236}">
                  <a16:creationId xmlns:a16="http://schemas.microsoft.com/office/drawing/2014/main" id="{0E622DB8-34F6-0B15-34E0-433834017B4A}"/>
                </a:ext>
              </a:extLst>
            </p:cNvPr>
            <p:cNvSpPr/>
            <p:nvPr/>
          </p:nvSpPr>
          <p:spPr>
            <a:xfrm>
              <a:off x="1280312"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Occupancy Grid</a:t>
              </a:r>
              <a:endParaRPr lang="en-US" sz="1300" dirty="0">
                <a:latin typeface="+mj-lt"/>
              </a:endParaRPr>
            </a:p>
          </p:txBody>
        </p:sp>
        <p:sp>
          <p:nvSpPr>
            <p:cNvPr id="7" name="Text 8">
              <a:extLst>
                <a:ext uri="{FF2B5EF4-FFF2-40B4-BE49-F238E27FC236}">
                  <a16:creationId xmlns:a16="http://schemas.microsoft.com/office/drawing/2014/main" id="{F15757B6-6780-4EBF-1F96-481E5D82653A}"/>
                </a:ext>
              </a:extLst>
            </p:cNvPr>
            <p:cNvSpPr/>
            <p:nvPr/>
          </p:nvSpPr>
          <p:spPr>
            <a:xfrm>
              <a:off x="731672"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Divide the world into square cells. Each cell holds a probability of being occupied.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Standard for 2D indoor SLAM.</a:t>
              </a:r>
              <a:endParaRPr lang="en-US" sz="1100" dirty="0">
                <a:latin typeface="+mj-lt"/>
              </a:endParaRPr>
            </a:p>
          </p:txBody>
        </p:sp>
      </p:grpSp>
      <p:grpSp>
        <p:nvGrpSpPr>
          <p:cNvPr id="23" name="Group 22">
            <a:extLst>
              <a:ext uri="{FF2B5EF4-FFF2-40B4-BE49-F238E27FC236}">
                <a16:creationId xmlns:a16="http://schemas.microsoft.com/office/drawing/2014/main" id="{A76E751E-B583-C3B8-BFEE-E6F27658CE4B}"/>
              </a:ext>
            </a:extLst>
          </p:cNvPr>
          <p:cNvGrpSpPr/>
          <p:nvPr/>
        </p:nvGrpSpPr>
        <p:grpSpPr>
          <a:xfrm>
            <a:off x="4307890" y="1874520"/>
            <a:ext cx="3576218" cy="3108960"/>
            <a:chOff x="4307890" y="1874520"/>
            <a:chExt cx="3576218" cy="3108960"/>
          </a:xfrm>
        </p:grpSpPr>
        <p:sp>
          <p:nvSpPr>
            <p:cNvPr id="9" name="Shape 10">
              <a:extLst>
                <a:ext uri="{FF2B5EF4-FFF2-40B4-BE49-F238E27FC236}">
                  <a16:creationId xmlns:a16="http://schemas.microsoft.com/office/drawing/2014/main" id="{CA08B654-09C6-48B1-B391-DBC0E326A496}"/>
                </a:ext>
              </a:extLst>
            </p:cNvPr>
            <p:cNvSpPr/>
            <p:nvPr/>
          </p:nvSpPr>
          <p:spPr>
            <a:xfrm>
              <a:off x="4307890" y="1874520"/>
              <a:ext cx="3576218" cy="3108960"/>
            </a:xfrm>
            <a:prstGeom prst="rect">
              <a:avLst/>
            </a:prstGeom>
            <a:solidFill>
              <a:srgbClr val="F1F5F9"/>
            </a:solidFill>
            <a:ln/>
          </p:spPr>
          <p:txBody>
            <a:bodyPr/>
            <a:lstStyle/>
            <a:p>
              <a:endParaRPr lang="en-US">
                <a:latin typeface="+mj-lt"/>
              </a:endParaRPr>
            </a:p>
          </p:txBody>
        </p:sp>
        <p:sp>
          <p:nvSpPr>
            <p:cNvPr id="10" name="Shape 11">
              <a:extLst>
                <a:ext uri="{FF2B5EF4-FFF2-40B4-BE49-F238E27FC236}">
                  <a16:creationId xmlns:a16="http://schemas.microsoft.com/office/drawing/2014/main" id="{C0F0857B-B208-B70C-D3E2-9C079F30C49D}"/>
                </a:ext>
              </a:extLst>
            </p:cNvPr>
            <p:cNvSpPr/>
            <p:nvPr/>
          </p:nvSpPr>
          <p:spPr>
            <a:xfrm>
              <a:off x="4307890" y="1874520"/>
              <a:ext cx="3576218" cy="45720"/>
            </a:xfrm>
            <a:prstGeom prst="rect">
              <a:avLst/>
            </a:prstGeom>
            <a:solidFill>
              <a:srgbClr val="0891B2"/>
            </a:solidFill>
            <a:ln/>
          </p:spPr>
          <p:txBody>
            <a:bodyPr/>
            <a:lstStyle/>
            <a:p>
              <a:endParaRPr lang="en-US">
                <a:latin typeface="+mj-lt"/>
              </a:endParaRPr>
            </a:p>
          </p:txBody>
        </p:sp>
        <p:sp>
          <p:nvSpPr>
            <p:cNvPr id="11" name="Shape 12">
              <a:extLst>
                <a:ext uri="{FF2B5EF4-FFF2-40B4-BE49-F238E27FC236}">
                  <a16:creationId xmlns:a16="http://schemas.microsoft.com/office/drawing/2014/main" id="{9BD85224-149F-9E42-CB32-F1211588FB7E}"/>
                </a:ext>
              </a:extLst>
            </p:cNvPr>
            <p:cNvSpPr/>
            <p:nvPr/>
          </p:nvSpPr>
          <p:spPr>
            <a:xfrm>
              <a:off x="4490770" y="2103120"/>
              <a:ext cx="457200" cy="457200"/>
            </a:xfrm>
            <a:prstGeom prst="ellipse">
              <a:avLst/>
            </a:prstGeom>
            <a:solidFill>
              <a:srgbClr val="13294B"/>
            </a:solidFill>
            <a:ln/>
          </p:spPr>
          <p:txBody>
            <a:bodyPr/>
            <a:lstStyle/>
            <a:p>
              <a:endParaRPr lang="en-US">
                <a:latin typeface="+mj-lt"/>
              </a:endParaRPr>
            </a:p>
          </p:txBody>
        </p:sp>
        <p:sp>
          <p:nvSpPr>
            <p:cNvPr id="12" name="Text 13">
              <a:extLst>
                <a:ext uri="{FF2B5EF4-FFF2-40B4-BE49-F238E27FC236}">
                  <a16:creationId xmlns:a16="http://schemas.microsoft.com/office/drawing/2014/main" id="{0A775D30-EDC7-169B-7DCD-87A0B3620324}"/>
                </a:ext>
              </a:extLst>
            </p:cNvPr>
            <p:cNvSpPr/>
            <p:nvPr/>
          </p:nvSpPr>
          <p:spPr>
            <a:xfrm>
              <a:off x="4490770"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4">
              <a:extLst>
                <a:ext uri="{FF2B5EF4-FFF2-40B4-BE49-F238E27FC236}">
                  <a16:creationId xmlns:a16="http://schemas.microsoft.com/office/drawing/2014/main" id="{64EE641A-6FB8-E6D3-CBCA-5AEB0F7CF76C}"/>
                </a:ext>
              </a:extLst>
            </p:cNvPr>
            <p:cNvSpPr/>
            <p:nvPr/>
          </p:nvSpPr>
          <p:spPr>
            <a:xfrm>
              <a:off x="5039410"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Point Cloud</a:t>
              </a:r>
              <a:endParaRPr lang="en-US" sz="1300" dirty="0">
                <a:latin typeface="+mj-lt"/>
              </a:endParaRPr>
            </a:p>
          </p:txBody>
        </p:sp>
        <p:sp>
          <p:nvSpPr>
            <p:cNvPr id="14" name="Text 15">
              <a:extLst>
                <a:ext uri="{FF2B5EF4-FFF2-40B4-BE49-F238E27FC236}">
                  <a16:creationId xmlns:a16="http://schemas.microsoft.com/office/drawing/2014/main" id="{4CD66152-21E4-7FAD-D88D-7B962F0F72E8}"/>
                </a:ext>
              </a:extLst>
            </p:cNvPr>
            <p:cNvSpPr/>
            <p:nvPr/>
          </p:nvSpPr>
          <p:spPr>
            <a:xfrm>
              <a:off x="4490770"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Keep the raw (x, y) boundary points themselves.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Sparse, but requires a separate algorithm to determine free space.</a:t>
              </a:r>
              <a:endParaRPr lang="en-US" sz="1100" dirty="0">
                <a:latin typeface="+mj-lt"/>
              </a:endParaRPr>
            </a:p>
          </p:txBody>
        </p:sp>
      </p:grpSp>
      <p:grpSp>
        <p:nvGrpSpPr>
          <p:cNvPr id="24" name="Group 23">
            <a:extLst>
              <a:ext uri="{FF2B5EF4-FFF2-40B4-BE49-F238E27FC236}">
                <a16:creationId xmlns:a16="http://schemas.microsoft.com/office/drawing/2014/main" id="{90D4FB4A-B8C2-7855-40A4-F0ECD774BFF0}"/>
              </a:ext>
            </a:extLst>
          </p:cNvPr>
          <p:cNvGrpSpPr/>
          <p:nvPr/>
        </p:nvGrpSpPr>
        <p:grpSpPr>
          <a:xfrm>
            <a:off x="8066989" y="1874520"/>
            <a:ext cx="3576218" cy="3108960"/>
            <a:chOff x="8066989" y="1874520"/>
            <a:chExt cx="3576218" cy="3108960"/>
          </a:xfrm>
        </p:grpSpPr>
        <p:sp>
          <p:nvSpPr>
            <p:cNvPr id="16" name="Shape 17">
              <a:extLst>
                <a:ext uri="{FF2B5EF4-FFF2-40B4-BE49-F238E27FC236}">
                  <a16:creationId xmlns:a16="http://schemas.microsoft.com/office/drawing/2014/main" id="{E16280FA-22D8-6B41-A48E-033D44DED684}"/>
                </a:ext>
              </a:extLst>
            </p:cNvPr>
            <p:cNvSpPr/>
            <p:nvPr/>
          </p:nvSpPr>
          <p:spPr>
            <a:xfrm>
              <a:off x="8066989" y="1874520"/>
              <a:ext cx="3576218" cy="3108960"/>
            </a:xfrm>
            <a:prstGeom prst="rect">
              <a:avLst/>
            </a:prstGeom>
            <a:solidFill>
              <a:srgbClr val="F1F5F9"/>
            </a:solidFill>
            <a:ln/>
          </p:spPr>
          <p:txBody>
            <a:bodyPr/>
            <a:lstStyle/>
            <a:p>
              <a:endParaRPr lang="en-US">
                <a:latin typeface="+mj-lt"/>
              </a:endParaRPr>
            </a:p>
          </p:txBody>
        </p:sp>
        <p:sp>
          <p:nvSpPr>
            <p:cNvPr id="17" name="Shape 18">
              <a:extLst>
                <a:ext uri="{FF2B5EF4-FFF2-40B4-BE49-F238E27FC236}">
                  <a16:creationId xmlns:a16="http://schemas.microsoft.com/office/drawing/2014/main" id="{DE1B024A-8505-6D71-80A2-40600A43B654}"/>
                </a:ext>
              </a:extLst>
            </p:cNvPr>
            <p:cNvSpPr/>
            <p:nvPr/>
          </p:nvSpPr>
          <p:spPr>
            <a:xfrm>
              <a:off x="8066989" y="1874520"/>
              <a:ext cx="3576218" cy="45720"/>
            </a:xfrm>
            <a:prstGeom prst="rect">
              <a:avLst/>
            </a:prstGeom>
            <a:solidFill>
              <a:srgbClr val="0891B2"/>
            </a:solidFill>
            <a:ln/>
          </p:spPr>
          <p:txBody>
            <a:bodyPr/>
            <a:lstStyle/>
            <a:p>
              <a:endParaRPr lang="en-US">
                <a:latin typeface="+mj-lt"/>
              </a:endParaRPr>
            </a:p>
          </p:txBody>
        </p:sp>
        <p:sp>
          <p:nvSpPr>
            <p:cNvPr id="18" name="Shape 19">
              <a:extLst>
                <a:ext uri="{FF2B5EF4-FFF2-40B4-BE49-F238E27FC236}">
                  <a16:creationId xmlns:a16="http://schemas.microsoft.com/office/drawing/2014/main" id="{FAFF8E0B-85C2-BF2B-959E-72F6EEF8391F}"/>
                </a:ext>
              </a:extLst>
            </p:cNvPr>
            <p:cNvSpPr/>
            <p:nvPr/>
          </p:nvSpPr>
          <p:spPr>
            <a:xfrm>
              <a:off x="8249869" y="2103120"/>
              <a:ext cx="457200" cy="457200"/>
            </a:xfrm>
            <a:prstGeom prst="ellipse">
              <a:avLst/>
            </a:prstGeom>
            <a:solidFill>
              <a:srgbClr val="13294B"/>
            </a:solidFill>
            <a:ln/>
          </p:spPr>
          <p:txBody>
            <a:bodyPr/>
            <a:lstStyle/>
            <a:p>
              <a:endParaRPr lang="en-US">
                <a:latin typeface="+mj-lt"/>
              </a:endParaRPr>
            </a:p>
          </p:txBody>
        </p:sp>
        <p:sp>
          <p:nvSpPr>
            <p:cNvPr id="19" name="Text 20">
              <a:extLst>
                <a:ext uri="{FF2B5EF4-FFF2-40B4-BE49-F238E27FC236}">
                  <a16:creationId xmlns:a16="http://schemas.microsoft.com/office/drawing/2014/main" id="{695CC2D7-DA23-6188-0735-684CE3601E45}"/>
                </a:ext>
              </a:extLst>
            </p:cNvPr>
            <p:cNvSpPr/>
            <p:nvPr/>
          </p:nvSpPr>
          <p:spPr>
            <a:xfrm>
              <a:off x="8249869"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1">
              <a:extLst>
                <a:ext uri="{FF2B5EF4-FFF2-40B4-BE49-F238E27FC236}">
                  <a16:creationId xmlns:a16="http://schemas.microsoft.com/office/drawing/2014/main" id="{1C575A90-B65E-E406-F371-F330B6F77085}"/>
                </a:ext>
              </a:extLst>
            </p:cNvPr>
            <p:cNvSpPr/>
            <p:nvPr/>
          </p:nvSpPr>
          <p:spPr>
            <a:xfrm>
              <a:off x="8798509"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Feature Map</a:t>
              </a:r>
              <a:endParaRPr lang="en-US" sz="1300" dirty="0">
                <a:latin typeface="+mj-lt"/>
              </a:endParaRPr>
            </a:p>
          </p:txBody>
        </p:sp>
        <p:sp>
          <p:nvSpPr>
            <p:cNvPr id="21" name="Text 22">
              <a:extLst>
                <a:ext uri="{FF2B5EF4-FFF2-40B4-BE49-F238E27FC236}">
                  <a16:creationId xmlns:a16="http://schemas.microsoft.com/office/drawing/2014/main" id="{4B77D083-C2D0-E2DA-CE7A-DD68F1919F38}"/>
                </a:ext>
              </a:extLst>
            </p:cNvPr>
            <p:cNvSpPr/>
            <p:nvPr/>
          </p:nvSpPr>
          <p:spPr>
            <a:xfrm>
              <a:off x="8249869"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Store only semantic landmarks: 'corner at (3.2, 1.7)'. Extremely compact but needs reliable feature extraction.</a:t>
              </a:r>
              <a:endParaRPr lang="en-US" sz="1100" dirty="0">
                <a:latin typeface="+mj-lt"/>
              </a:endParaRPr>
            </a:p>
          </p:txBody>
        </p:sp>
      </p:grpSp>
    </p:spTree>
    <p:extLst>
      <p:ext uri="{BB962C8B-B14F-4D97-AF65-F5344CB8AC3E}">
        <p14:creationId xmlns:p14="http://schemas.microsoft.com/office/powerpoint/2010/main" val="29431396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24B1004-4A12-B9A1-D84E-DD87366F3FF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D0DFAAF-A827-5F4C-8139-1C835BA750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Discretize the world into a regular 2D array of cells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Each cell mᵢ holds a single number: the probability that the cell is occupied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P(mᵢ) = 0 → free. </a:t>
            </a:r>
          </a:p>
          <a:p>
            <a:pPr marL="342900">
              <a:lnSpc>
                <a:spcPct val="100000"/>
              </a:lnSpc>
              <a:spcBef>
                <a:spcPts val="0"/>
              </a:spcBef>
              <a:buSzPts val="3000"/>
            </a:pPr>
            <a:r>
              <a:rPr lang="en-US" sz="2000" dirty="0">
                <a:latin typeface="Arial"/>
                <a:ea typeface="Arial"/>
                <a:cs typeface="Arial"/>
                <a:sym typeface="Arial"/>
              </a:rPr>
              <a:t>P(mᵢ) = 1 → wall. </a:t>
            </a:r>
          </a:p>
          <a:p>
            <a:pPr marL="342900">
              <a:lnSpc>
                <a:spcPct val="100000"/>
              </a:lnSpc>
              <a:spcBef>
                <a:spcPts val="0"/>
              </a:spcBef>
              <a:buSzPts val="3000"/>
            </a:pPr>
            <a:r>
              <a:rPr lang="en-US" sz="2000" dirty="0">
                <a:latin typeface="Arial"/>
                <a:ea typeface="Arial"/>
                <a:cs typeface="Arial"/>
                <a:sym typeface="Arial"/>
              </a:rPr>
              <a:t>P(mᵢ) = 0.5 → unknown, never observed.</a:t>
            </a:r>
          </a:p>
          <a:p>
            <a:pPr marL="342900">
              <a:lnSpc>
                <a:spcPct val="100000"/>
              </a:lnSpc>
              <a:spcBef>
                <a:spcPts val="0"/>
              </a:spcBef>
              <a:buSzPts val="3000"/>
            </a:pPr>
            <a:endParaRPr lang="en-US" sz="2000" dirty="0">
              <a:latin typeface="Arial"/>
              <a:ea typeface="Arial"/>
              <a:cs typeface="Arial"/>
              <a:sym typeface="Arial"/>
            </a:endParaRP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cells are independent by assumption (each updated separately - this is a simplification)</a:t>
            </a:r>
          </a:p>
        </p:txBody>
      </p:sp>
      <p:sp>
        <p:nvSpPr>
          <p:cNvPr id="119" name="Google Shape;119;p29">
            <a:extLst>
              <a:ext uri="{FF2B5EF4-FFF2-40B4-BE49-F238E27FC236}">
                <a16:creationId xmlns:a16="http://schemas.microsoft.com/office/drawing/2014/main" id="{D30DFF4E-D73E-9F92-C842-B436D5095C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05F1E6E-B643-9A8C-659B-2283055E693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Occupancy Grid Maps (OGM)</a:t>
            </a:r>
          </a:p>
        </p:txBody>
      </p:sp>
      <p:pic>
        <p:nvPicPr>
          <p:cNvPr id="121" name="Google Shape;121;p29">
            <a:extLst>
              <a:ext uri="{FF2B5EF4-FFF2-40B4-BE49-F238E27FC236}">
                <a16:creationId xmlns:a16="http://schemas.microsoft.com/office/drawing/2014/main" id="{7340DEE5-74D2-557F-E10C-2234623B9AD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FC0311-4475-7D1A-7E52-29E9CFBFF9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DE5333-37BC-8845-8360-27956CDBDD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AC1F0A-1C58-66B3-4F87-E2B91647BF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07AC4C-208C-506C-63F1-4C764905A8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D19BCF-4D8A-F879-8699-BABA159647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A1A54DBA-9E2C-AC65-949E-17E308E465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65900" y="2291179"/>
            <a:ext cx="4468812" cy="3293660"/>
          </a:xfrm>
          <a:prstGeom prst="rect">
            <a:avLst/>
          </a:prstGeom>
        </p:spPr>
      </p:pic>
    </p:spTree>
    <p:extLst>
      <p:ext uri="{BB962C8B-B14F-4D97-AF65-F5344CB8AC3E}">
        <p14:creationId xmlns:p14="http://schemas.microsoft.com/office/powerpoint/2010/main" val="145802333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603CD5-3CCE-C91B-3B9F-7085977D2A8E}"/>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F68C3A16-B0E1-72B9-C392-72B86602925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In a perfect world we would want to compute the </a:t>
                </a:r>
                <a:r>
                  <a:rPr lang="en-US" sz="2000" b="1" dirty="0">
                    <a:latin typeface="Arial"/>
                    <a:ea typeface="Arial"/>
                    <a:cs typeface="Arial"/>
                    <a:sym typeface="Arial"/>
                  </a:rPr>
                  <a:t>Full Map Posterior</a:t>
                </a:r>
                <a:r>
                  <a:rPr lang="en-US" sz="2000" dirty="0">
                    <a:latin typeface="Arial"/>
                    <a:ea typeface="Arial"/>
                    <a:cs typeface="Arial"/>
                    <a:sym typeface="Arial"/>
                  </a:rPr>
                  <a:t> (used for updating map and the robot’s position for global consistency). If a map </a:t>
                </a:r>
                <a14:m>
                  <m:oMath xmlns:m="http://schemas.openxmlformats.org/officeDocument/2006/math">
                    <m:r>
                      <m:rPr>
                        <m:sty m:val="p"/>
                      </m:rPr>
                      <a:rPr lang="en-US" sz="2000" b="0" i="1" smtClean="0">
                        <a:latin typeface="Cambria Math" panose="02040503050406030204" pitchFamily="18" charset="0"/>
                        <a:ea typeface="Arial"/>
                        <a:cs typeface="Arial"/>
                        <a:sym typeface="Arial"/>
                      </a:rPr>
                      <m:t>m</m:t>
                    </m:r>
                  </m:oMath>
                </a14:m>
                <a:r>
                  <a:rPr lang="en-US" sz="2000" dirty="0">
                    <a:latin typeface="Arial"/>
                    <a:ea typeface="Arial"/>
                    <a:cs typeface="Arial"/>
                    <a:sym typeface="Arial"/>
                  </a:rPr>
                  <a:t> has </a:t>
                </a:r>
                <a14:m>
                  <m:oMath xmlns:m="http://schemas.openxmlformats.org/officeDocument/2006/math">
                    <m:r>
                      <a:rPr lang="en-US" sz="2000" i="1" dirty="0" smtClean="0">
                        <a:latin typeface="Cambria Math" panose="02040503050406030204" pitchFamily="18" charset="0"/>
                        <a:ea typeface="Arial"/>
                        <a:cs typeface="Arial"/>
                        <a:sym typeface="Arial"/>
                      </a:rPr>
                      <m:t>𝑁</m:t>
                    </m:r>
                  </m:oMath>
                </a14:m>
                <a:r>
                  <a:rPr lang="en-US" sz="2000" dirty="0">
                    <a:latin typeface="Arial"/>
                    <a:ea typeface="Arial"/>
                    <a:cs typeface="Arial"/>
                    <a:sym typeface="Arial"/>
                  </a:rPr>
                  <a:t>, cells, and each cell can be either “Occupied” or “Free” there are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𝑁</m:t>
                        </m:r>
                      </m:sup>
                    </m:sSup>
                  </m:oMath>
                </a14:m>
                <a:r>
                  <a:rPr lang="en-US" sz="2000" dirty="0">
                    <a:latin typeface="Arial"/>
                    <a:ea typeface="Arial"/>
                    <a:cs typeface="Arial"/>
                    <a:sym typeface="Arial"/>
                  </a:rPr>
                  <a:t>, possible configurations for that map.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Even for a small maps </a:t>
                </a:r>
                <a14:m>
                  <m:oMath xmlns:m="http://schemas.openxmlformats.org/officeDocument/2006/math">
                    <m:r>
                      <a:rPr lang="en-US" sz="2000" b="0" i="1" smtClean="0">
                        <a:latin typeface="Cambria Math" panose="02040503050406030204" pitchFamily="18" charset="0"/>
                        <a:ea typeface="Arial"/>
                        <a:cs typeface="Arial"/>
                        <a:sym typeface="Arial"/>
                      </a:rPr>
                      <m:t>100×100</m:t>
                    </m:r>
                  </m:oMath>
                </a14:m>
                <a:r>
                  <a:rPr lang="en-US" sz="2000" dirty="0">
                    <a:latin typeface="Arial"/>
                    <a:ea typeface="Arial"/>
                    <a:cs typeface="Arial"/>
                    <a:sym typeface="Arial"/>
                  </a:rPr>
                  <a:t>,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10,000</m:t>
                        </m:r>
                      </m:sup>
                    </m:sSup>
                  </m:oMath>
                </a14:m>
                <a:r>
                  <a:rPr lang="en-US" sz="2000" dirty="0">
                    <a:latin typeface="Arial"/>
                    <a:ea typeface="Arial"/>
                    <a:cs typeface="Arial"/>
                    <a:sym typeface="Arial"/>
                  </a:rPr>
                  <a:t> is larger than the number of atoms in the universe around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266</m:t>
                        </m:r>
                      </m:sup>
                    </m:sSup>
                  </m:oMath>
                </a14:m>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To solve this, we assume that the state of one cell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rial"/>
                    <a:ea typeface="Arial"/>
                    <a:cs typeface="Arial"/>
                    <a:sym typeface="Arial"/>
                  </a:rPr>
                  <a:t> does not depend on the state of its neighbor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rial"/>
                    <a:ea typeface="Arial"/>
                    <a:cs typeface="Arial"/>
                    <a:sym typeface="Arial"/>
                  </a:rPr>
                  <a:t>. This is the "</a:t>
                </a:r>
                <a:r>
                  <a:rPr lang="en-US" sz="2000" b="1" dirty="0">
                    <a:latin typeface="Arial"/>
                    <a:ea typeface="Arial"/>
                    <a:cs typeface="Arial"/>
                    <a:sym typeface="Arial"/>
                  </a:rPr>
                  <a:t>Grid Assumption</a:t>
                </a:r>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While this isn't strictly true (walls are continuous structures, not random dots), it allows us to treat each cell as a separate estimation problem. Mathematically, this decomposes the high-dimensional joint distribution into a product of many simple, independent marginal distributions: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𝑚</m:t>
                          </m:r>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e>
                      </m:nary>
                    </m:oMath>
                  </m:oMathPara>
                </a14:m>
                <a:endParaRPr lang="en-US" sz="20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F68C3A16-B0E1-72B9-C392-72B866029258}"/>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r="-1146" b="-3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C92687-261E-2879-6BB6-2D36F4702F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03EB5D9-E139-0F8E-126D-335821D3329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33291FA6-E93D-AABB-5442-7C600BF8E08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003F41-3194-DBA3-94AD-634D1AAA0D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F750EE-3B85-14D5-0E46-FCAE211CAEC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A2C5F7-6C8E-652B-1962-E994DD0C6AF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D8C8D0-BD54-434F-3B2E-1B65F1186F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01D925-6C2A-4EBB-7292-17413EB744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72912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2B4B6BF-C897-FB80-538B-4F2F0E284ADC}"/>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43D40B2A-8749-A932-CC96-4B906EE33077}"/>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𝑚</m:t>
                          </m:r>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e>
                      </m:nary>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is a problem with this formulation?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Every new scan multiplies the old cell probability by a new likelihood via Bayes' rule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After 50 scans: </a:t>
                </a:r>
                <a14:m>
                  <m:oMath xmlns:m="http://schemas.openxmlformats.org/officeDocument/2006/math">
                    <m:r>
                      <a:rPr lang="en-US" sz="2000" i="1" dirty="0" smtClean="0">
                        <a:latin typeface="Cambria Math" panose="02040503050406030204" pitchFamily="18" charset="0"/>
                        <a:ea typeface="Arial"/>
                        <a:cs typeface="Arial"/>
                        <a:sym typeface="Arial"/>
                      </a:rPr>
                      <m:t>0.6 × 0.55 × 0.6 × 0.55 × … </m:t>
                    </m:r>
                  </m:oMath>
                </a14:m>
                <a:r>
                  <a:rPr lang="en-US" sz="2000" dirty="0">
                    <a:latin typeface="Arial"/>
                    <a:ea typeface="Arial"/>
                    <a:cs typeface="Arial"/>
                    <a:sym typeface="Arial"/>
                  </a:rPr>
                  <a:t>, which creates numbers smaller than 10⁻¹⁵!</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Floating-point underflow: the CPU silently rounds these down to 0, erasing all information</a:t>
                </a:r>
              </a:p>
              <a:p>
                <a:pPr marL="342900">
                  <a:lnSpc>
                    <a:spcPct val="100000"/>
                  </a:lnSpc>
                  <a:spcBef>
                    <a:spcPts val="0"/>
                  </a:spcBef>
                  <a:buSzPts val="3000"/>
                </a:pPr>
                <a:r>
                  <a:rPr lang="en-US" sz="2000" dirty="0">
                    <a:latin typeface="Arial"/>
                    <a:ea typeface="Arial"/>
                    <a:cs typeface="Arial"/>
                    <a:sym typeface="Arial"/>
                  </a:rPr>
                  <a:t>Multiplication is also slower than addition on every processor architecture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How can we transform this into a series of summations instead?</a:t>
                </a:r>
              </a:p>
            </p:txBody>
          </p:sp>
        </mc:Choice>
        <mc:Fallback>
          <p:sp>
            <p:nvSpPr>
              <p:cNvPr id="118" name="Google Shape;118;p29">
                <a:extLst>
                  <a:ext uri="{FF2B5EF4-FFF2-40B4-BE49-F238E27FC236}">
                    <a16:creationId xmlns:a16="http://schemas.microsoft.com/office/drawing/2014/main" id="{43D40B2A-8749-A932-CC96-4B906EE33077}"/>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05DF9F0-D089-90E2-2AB3-0F16BFBC17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E1A514F-6639-99A9-1E0D-7031FFBB09E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FC67D458-BD9C-0466-78E2-A96C07AB86E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8ABA6C-527F-6784-D577-EBB6D1B451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2E560-E335-0C08-8237-252D374C7C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3D2368-D60C-2364-78EE-D808ABC792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F78E783-E5D4-AC1A-63F2-720B879573A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101850-0938-5B27-958C-5A6372276F4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125764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D8373E-72CC-1096-7754-13028F740D5C}"/>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F446E589-BE7E-2772-AE9A-D3764A22E5F9}"/>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To fix this we make use of the </a:t>
                </a:r>
                <a:r>
                  <a:rPr lang="en-US" sz="2000" b="1" dirty="0">
                    <a:latin typeface="Arial"/>
                    <a:ea typeface="Arial"/>
                    <a:cs typeface="Arial"/>
                    <a:sym typeface="Arial"/>
                  </a:rPr>
                  <a:t>Log-Odds</a:t>
                </a:r>
                <a:r>
                  <a:rPr lang="en-US" sz="2000" dirty="0">
                    <a:latin typeface="Arial"/>
                    <a:ea typeface="Arial"/>
                    <a:cs typeface="Arial"/>
                    <a:sym typeface="Arial"/>
                  </a:rPr>
                  <a:t> trick!</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Define the odds of occupancy as the ratio of probabilities</a:t>
                </a:r>
              </a:p>
              <a:p>
                <a:pPr marL="0" indent="0">
                  <a:lnSpc>
                    <a:spcPct val="100000"/>
                  </a:lnSpc>
                  <a:spcBef>
                    <a:spcPts val="0"/>
                  </a:spcBef>
                  <a:buSzPts val="3000"/>
                  <a:buNone/>
                </a:pPr>
                <a:r>
                  <a:rPr lang="en-US" sz="2000" dirty="0">
                    <a:latin typeface="Arial"/>
                    <a:ea typeface="Arial"/>
                    <a:cs typeface="Arial"/>
                    <a:sym typeface="Arial"/>
                  </a:rPr>
                  <a:t>Take the natural log of the odds -  this is the log-odds value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𝑚</m:t>
                    </m:r>
                    <m:r>
                      <a:rPr lang="en-US" sz="2000" i="1" dirty="0" smtClean="0">
                        <a:latin typeface="Cambria Math" panose="02040503050406030204" pitchFamily="18" charset="0"/>
                        <a:ea typeface="Arial"/>
                        <a:cs typeface="Arial"/>
                        <a:sym typeface="Arial"/>
                      </a:rPr>
                      <m:t>ᵢ)</m:t>
                    </m:r>
                  </m:oMath>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num>
                            <m:den>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den>
                          </m:f>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Log-odds = 0 means 50% (unknown). </a:t>
                </a:r>
              </a:p>
              <a:p>
                <a:pPr marL="342900">
                  <a:lnSpc>
                    <a:spcPct val="100000"/>
                  </a:lnSpc>
                  <a:spcBef>
                    <a:spcPts val="0"/>
                  </a:spcBef>
                  <a:buSzPts val="3000"/>
                </a:pPr>
                <a:r>
                  <a:rPr lang="en-US" sz="2000" dirty="0">
                    <a:latin typeface="Arial"/>
                    <a:ea typeface="Arial"/>
                    <a:cs typeface="Arial"/>
                    <a:sym typeface="Arial"/>
                  </a:rPr>
                  <a:t>Positive means occupied. </a:t>
                </a:r>
              </a:p>
              <a:p>
                <a:pPr marL="342900">
                  <a:lnSpc>
                    <a:spcPct val="100000"/>
                  </a:lnSpc>
                  <a:spcBef>
                    <a:spcPts val="0"/>
                  </a:spcBef>
                  <a:buSzPts val="3000"/>
                </a:pPr>
                <a:r>
                  <a:rPr lang="en-US" sz="2000" dirty="0">
                    <a:latin typeface="Arial"/>
                    <a:ea typeface="Arial"/>
                    <a:cs typeface="Arial"/>
                    <a:sym typeface="Arial"/>
                  </a:rPr>
                  <a:t>Negative means free.</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Range is effectively (−∞, +∞), no underflow ever</a:t>
                </a:r>
              </a:p>
              <a:p>
                <a:pPr marL="0" indent="0">
                  <a:lnSpc>
                    <a:spcPct val="100000"/>
                  </a:lnSpc>
                  <a:spcBef>
                    <a:spcPts val="0"/>
                  </a:spcBef>
                  <a:buSzPts val="3000"/>
                  <a:buNone/>
                </a:pPr>
                <a:r>
                  <a:rPr lang="en-US" sz="2000" dirty="0">
                    <a:latin typeface="Arial"/>
                    <a:ea typeface="Arial"/>
                    <a:cs typeface="Arial"/>
                    <a:sym typeface="Arial"/>
                  </a:rPr>
                  <a:t>And crucially, Bayes' update becomes simple addition of log-odds increments!</a:t>
                </a:r>
              </a:p>
            </p:txBody>
          </p:sp>
        </mc:Choice>
        <mc:Fallback>
          <p:sp>
            <p:nvSpPr>
              <p:cNvPr id="118" name="Google Shape;118;p29">
                <a:extLst>
                  <a:ext uri="{FF2B5EF4-FFF2-40B4-BE49-F238E27FC236}">
                    <a16:creationId xmlns:a16="http://schemas.microsoft.com/office/drawing/2014/main" id="{F446E589-BE7E-2772-AE9A-D3764A22E5F9}"/>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0268E3A-712A-52F4-CD17-7713095C59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182925F-31A8-819E-04C5-9C06401C0AF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172D98FC-36CE-0C60-E361-8A2FEB339DC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C1E60DD-3227-2AAE-1F37-3125B8B3F5C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58AD97-A0AD-E6A9-BF88-C94038CDBE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0E0C8E-1D54-CD11-A1F0-8344066ED44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95C8B3-DBD5-F2B4-6F3D-D63148AB68B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75B6929-E850-1E29-1070-2BCB535E86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14485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DCD290D-2010-91D7-B94C-CF025D920FFA}"/>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D8101E35-192E-D7C1-5D08-BAB79132CB64}"/>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Arial"/>
                          <a:cs typeface="Arial"/>
                          <a:sym typeface="Arial"/>
                        </a:rPr>
                        <m:t>𝑙</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r>
                        <a:rPr lang="en-US" sz="2000" i="1">
                          <a:latin typeface="Cambria Math" panose="02040503050406030204" pitchFamily="18" charset="0"/>
                          <a:ea typeface="Arial"/>
                          <a:cs typeface="Arial"/>
                          <a:sym typeface="Arial"/>
                        </a:rPr>
                        <m:t>=</m:t>
                      </m:r>
                      <m:func>
                        <m:funcPr>
                          <m:ctrlPr>
                            <a:rPr lang="en-US" sz="2000" i="1">
                              <a:latin typeface="Cambria Math" panose="02040503050406030204" pitchFamily="18" charset="0"/>
                              <a:ea typeface="Arial"/>
                              <a:cs typeface="Arial"/>
                              <a:sym typeface="Arial"/>
                            </a:rPr>
                          </m:ctrlPr>
                        </m:funcPr>
                        <m:fName>
                          <m:r>
                            <m:rPr>
                              <m:sty m:val="p"/>
                            </m:rPr>
                            <a:rPr lang="en-US" sz="2000">
                              <a:latin typeface="Cambria Math" panose="02040503050406030204" pitchFamily="18" charset="0"/>
                              <a:ea typeface="Arial"/>
                              <a:cs typeface="Arial"/>
                              <a:sym typeface="Arial"/>
                            </a:rPr>
                            <m:t>log</m:t>
                          </m:r>
                        </m:fName>
                        <m:e>
                          <m:f>
                            <m:fPr>
                              <m:ctrlPr>
                                <a:rPr lang="en-US" sz="2000" i="1">
                                  <a:latin typeface="Cambria Math" panose="02040503050406030204" pitchFamily="18" charset="0"/>
                                  <a:ea typeface="Arial"/>
                                  <a:cs typeface="Arial"/>
                                  <a:sym typeface="Arial"/>
                                </a:rPr>
                              </m:ctrlPr>
                            </m:fPr>
                            <m:num>
                              <m:r>
                                <a:rPr lang="en-US" sz="2000" i="1">
                                  <a:latin typeface="Cambria Math" panose="02040503050406030204" pitchFamily="18" charset="0"/>
                                  <a:ea typeface="Arial"/>
                                  <a:cs typeface="Arial"/>
                                  <a:sym typeface="Arial"/>
                                </a:rPr>
                                <m:t>𝑃</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num>
                            <m:den>
                              <m:r>
                                <a:rPr lang="en-US" sz="2000" i="1">
                                  <a:latin typeface="Cambria Math" panose="02040503050406030204" pitchFamily="18" charset="0"/>
                                  <a:ea typeface="Arial"/>
                                  <a:cs typeface="Arial"/>
                                  <a:sym typeface="Arial"/>
                                </a:rPr>
                                <m:t>1−</m:t>
                              </m:r>
                              <m:r>
                                <a:rPr lang="en-US" sz="2000" i="1">
                                  <a:latin typeface="Cambria Math" panose="02040503050406030204" pitchFamily="18" charset="0"/>
                                  <a:ea typeface="Arial"/>
                                  <a:cs typeface="Arial"/>
                                  <a:sym typeface="Arial"/>
                                </a:rPr>
                                <m:t>𝑃</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den>
                          </m:f>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are the values of </a:t>
                </a:r>
                <a14:m>
                  <m:oMath xmlns:m="http://schemas.openxmlformats.org/officeDocument/2006/math">
                    <m:r>
                      <a:rPr lang="en-US" sz="2000" i="1">
                        <a:latin typeface="Cambria Math" panose="02040503050406030204" pitchFamily="18" charset="0"/>
                        <a:ea typeface="Arial"/>
                        <a:cs typeface="Arial"/>
                        <a:sym typeface="Arial"/>
                      </a:rPr>
                      <m:t>𝑙</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oMath>
                </a14:m>
                <a:r>
                  <a:rPr lang="en-US" sz="2000" dirty="0">
                    <a:latin typeface="Arial"/>
                    <a:ea typeface="Arial"/>
                    <a:cs typeface="Arial"/>
                    <a:sym typeface="Arial"/>
                  </a:rPr>
                  <a:t> for the following situations?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happens when you are 100% sure there is a wall? </a:t>
                </a:r>
              </a:p>
              <a:p>
                <a:pPr marL="0" indent="0">
                  <a:lnSpc>
                    <a:spcPct val="100000"/>
                  </a:lnSpc>
                  <a:spcBef>
                    <a:spcPts val="0"/>
                  </a:spcBef>
                  <a:buSzPts val="3000"/>
                  <a:buNone/>
                </a:pPr>
                <a:r>
                  <a:rPr lang="en-US" sz="2000" dirty="0">
                    <a:latin typeface="Arial"/>
                    <a:ea typeface="Arial"/>
                    <a:cs typeface="Arial"/>
                    <a:sym typeface="Arial"/>
                  </a:rPr>
                  <a:t>What about if are 100% sure there isn’t a wall?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How does one convert </a:t>
                </a:r>
                <a14:m>
                  <m:oMath xmlns:m="http://schemas.openxmlformats.org/officeDocument/2006/math">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oMath>
                </a14:m>
                <a:r>
                  <a:rPr lang="en-US" sz="2000" dirty="0">
                    <a:latin typeface="Arial"/>
                    <a:ea typeface="Arial"/>
                    <a:cs typeface="Arial"/>
                    <a:sym typeface="Arial"/>
                  </a:rPr>
                  <a:t> back to the probability </a:t>
                </a:r>
                <a14:m>
                  <m:oMath xmlns:m="http://schemas.openxmlformats.org/officeDocument/2006/math">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oMath>
                </a14:m>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1</m:t>
                          </m:r>
                        </m:num>
                        <m:den>
                          <m:r>
                            <a:rPr lang="en-US" sz="2000" b="0" i="1" smtClean="0">
                              <a:latin typeface="Cambria Math" panose="02040503050406030204" pitchFamily="18" charset="0"/>
                              <a:ea typeface="Arial"/>
                              <a:cs typeface="Arial"/>
                              <a:sym typeface="Arial"/>
                            </a:rPr>
                            <m:t>1+</m:t>
                          </m:r>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𝑒</m:t>
                              </m:r>
                            </m:e>
                            <m:sup>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sup>
                          </m:sSup>
                        </m:den>
                      </m:f>
                    </m:oMath>
                  </m:oMathPara>
                </a14:m>
                <a:endParaRPr lang="en-US" sz="20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D8101E35-192E-D7C1-5D08-BAB79132CB64}"/>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90179E-08C1-7735-074F-26952A4233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74380DD-65F0-A481-0771-E143FDAB61C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B8EBD576-762C-4381-DE9F-7FA7FAFC933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BE3A86-2BEA-3FB5-145D-B0BB617D8F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A9FD8F7-AE68-9A58-0A13-D9FD4268921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767FA96-8E50-F7A0-7CA0-ECBDFE2B129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F4D83B-D040-E17F-76FB-64BBC0094A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4624CE7-19DB-9A93-57A4-C6F945D3D6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0782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5ABF6EA-294F-6A9F-1C5D-E98733731DD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7031BA9-3723-E138-0623-34264334B9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7802858-A5A0-B8EE-5F89-01F0BE32EA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7A494FA5-BE45-B45F-EB98-ADEFAD99CAD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C5AEB6-95F2-DA97-E53D-10BF719566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818390-9CA6-3258-3BA8-353DA2EE31A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6252AC-03DD-8442-561A-8F94520D07F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207BB06-77AF-D869-5F2F-6AC2BB8273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6252F-D334-BA4F-7B60-A9ACAF9815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5A8D1BB4-7B58-B08A-98D7-DCAEE416E2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01410" y="1090723"/>
            <a:ext cx="4937760" cy="4937760"/>
          </a:xfrm>
          <a:prstGeom prst="rect">
            <a:avLst/>
          </a:prstGeom>
        </p:spPr>
      </p:pic>
      <p:pic>
        <p:nvPicPr>
          <p:cNvPr id="6" name="Graphic 5">
            <a:extLst>
              <a:ext uri="{FF2B5EF4-FFF2-40B4-BE49-F238E27FC236}">
                <a16:creationId xmlns:a16="http://schemas.microsoft.com/office/drawing/2014/main" id="{1B5362B7-0ED9-368F-CD30-86D45EAC4F4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063" y="1090723"/>
            <a:ext cx="4937760" cy="4937760"/>
          </a:xfrm>
          <a:prstGeom prst="rect">
            <a:avLst/>
          </a:prstGeom>
        </p:spPr>
      </p:pic>
      <p:sp>
        <p:nvSpPr>
          <p:cNvPr id="7" name="TextBox 6">
            <a:extLst>
              <a:ext uri="{FF2B5EF4-FFF2-40B4-BE49-F238E27FC236}">
                <a16:creationId xmlns:a16="http://schemas.microsoft.com/office/drawing/2014/main" id="{CA10BD36-B8A0-6965-2280-48C539D84B8B}"/>
              </a:ext>
            </a:extLst>
          </p:cNvPr>
          <p:cNvSpPr txBox="1"/>
          <p:nvPr/>
        </p:nvSpPr>
        <p:spPr>
          <a:xfrm>
            <a:off x="2321852" y="6025160"/>
            <a:ext cx="2082182" cy="307777"/>
          </a:xfrm>
          <a:prstGeom prst="rect">
            <a:avLst/>
          </a:prstGeom>
          <a:noFill/>
        </p:spPr>
        <p:txBody>
          <a:bodyPr wrap="square" rtlCol="0">
            <a:spAutoFit/>
          </a:bodyPr>
          <a:lstStyle/>
          <a:p>
            <a:pPr algn="ctr"/>
            <a:r>
              <a:rPr lang="en-US" dirty="0"/>
              <a:t>Log-Odd transformation</a:t>
            </a:r>
          </a:p>
        </p:txBody>
      </p:sp>
      <p:sp>
        <p:nvSpPr>
          <p:cNvPr id="8" name="TextBox 7">
            <a:extLst>
              <a:ext uri="{FF2B5EF4-FFF2-40B4-BE49-F238E27FC236}">
                <a16:creationId xmlns:a16="http://schemas.microsoft.com/office/drawing/2014/main" id="{4EE60714-120A-D5B8-3E50-720E33EEB38C}"/>
              </a:ext>
            </a:extLst>
          </p:cNvPr>
          <p:cNvSpPr txBox="1"/>
          <p:nvPr/>
        </p:nvSpPr>
        <p:spPr>
          <a:xfrm>
            <a:off x="7284777" y="6026267"/>
            <a:ext cx="2771026" cy="307777"/>
          </a:xfrm>
          <a:prstGeom prst="rect">
            <a:avLst/>
          </a:prstGeom>
          <a:noFill/>
        </p:spPr>
        <p:txBody>
          <a:bodyPr wrap="square" rtlCol="0">
            <a:spAutoFit/>
          </a:bodyPr>
          <a:lstStyle/>
          <a:p>
            <a:pPr algn="ctr"/>
            <a:r>
              <a:rPr lang="en-US" dirty="0"/>
              <a:t>Log-Odd inverse transformation</a:t>
            </a:r>
          </a:p>
        </p:txBody>
      </p:sp>
    </p:spTree>
    <p:extLst>
      <p:ext uri="{BB962C8B-B14F-4D97-AF65-F5344CB8AC3E}">
        <p14:creationId xmlns:p14="http://schemas.microsoft.com/office/powerpoint/2010/main" val="423402996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3A276A-36D2-602F-A30A-E182E794D342}"/>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349BEAF5-FC85-224A-111E-7550DAD81E96}"/>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Bayesian Update, is now a simple addition!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Wait what was the Bayesian Update again?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In its raw form, the probability that a cell is occupied at time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rial"/>
                    <a:ea typeface="Arial"/>
                    <a:cs typeface="Arial"/>
                    <a:sym typeface="Arial"/>
                  </a:rPr>
                  <a:t> depends on all previous observations </a:t>
                </a:r>
                <a14:m>
                  <m:oMath xmlns:m="http://schemas.openxmlformats.org/officeDocument/2006/math">
                    <m:r>
                      <a:rPr lang="en-US" sz="2000" i="1" dirty="0" smtClean="0">
                        <a:latin typeface="Cambria Math" panose="02040503050406030204" pitchFamily="18" charset="0"/>
                        <a:ea typeface="Arial"/>
                        <a:cs typeface="Arial"/>
                        <a:sym typeface="Arial"/>
                      </a:rPr>
                      <m:t>𝑧</m:t>
                    </m:r>
                    <m:r>
                      <a:rPr lang="en-US" sz="2000" i="1" dirty="0" smtClean="0">
                        <a:latin typeface="Cambria Math" panose="02040503050406030204" pitchFamily="18" charset="0"/>
                        <a:ea typeface="Arial"/>
                        <a:cs typeface="Arial"/>
                        <a:sym typeface="Arial"/>
                      </a:rPr>
                      <m:t>_{1: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m:t>
                    </m:r>
                  </m:oMath>
                </a14:m>
                <a:r>
                  <a:rPr lang="en-US" sz="2000" dirty="0">
                    <a:latin typeface="Arial"/>
                    <a:ea typeface="Arial"/>
                    <a:cs typeface="Arial"/>
                    <a:sym typeface="Arial"/>
                  </a:rPr>
                  <a:t>. Using Bayes' Rule and assuming the Markov property, the update looks like this: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 xmlns:m="http://schemas.openxmlformats.org/officeDocument/2006/math">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oMath>
                </a14:m>
                <a:r>
                  <a:rPr lang="en-US" sz="2000" dirty="0">
                    <a:latin typeface="Arial"/>
                    <a:ea typeface="Arial"/>
                    <a:cs typeface="Arial"/>
                    <a:sym typeface="Arial"/>
                  </a:rPr>
                  <a:t> = the prior (what we currently believe the map to be)</a:t>
                </a:r>
              </a:p>
              <a:p>
                <a:pPr marL="0" indent="0">
                  <a:lnSpc>
                    <a:spcPct val="100000"/>
                  </a:lnSpc>
                  <a:spcBef>
                    <a:spcPts val="0"/>
                  </a:spcBef>
                  <a:buSzPts val="3000"/>
                  <a:buNone/>
                </a:pPr>
                <a14:m>
                  <m:oMath xmlns:m="http://schemas.openxmlformats.org/officeDocument/2006/math">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oMath>
                </a14:m>
                <a:r>
                  <a:rPr lang="en-US" sz="2000" dirty="0">
                    <a:latin typeface="Arial"/>
                    <a:ea typeface="Arial"/>
                    <a:cs typeface="Arial"/>
                    <a:sym typeface="Arial"/>
                  </a:rPr>
                  <a:t> = Likelihood ( given the current map, how likely is this new data?)</a:t>
                </a:r>
              </a:p>
            </p:txBody>
          </p:sp>
        </mc:Choice>
        <mc:Fallback>
          <p:sp>
            <p:nvSpPr>
              <p:cNvPr id="118" name="Google Shape;118;p29">
                <a:extLst>
                  <a:ext uri="{FF2B5EF4-FFF2-40B4-BE49-F238E27FC236}">
                    <a16:creationId xmlns:a16="http://schemas.microsoft.com/office/drawing/2014/main" id="{349BEAF5-FC85-224A-111E-7550DAD81E96}"/>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881A6C6-0FC4-5BB2-F957-98740659063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ADF68D3-E846-BF3D-A258-6645B8A8C2E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Recursive Bayesian Update</a:t>
            </a:r>
          </a:p>
        </p:txBody>
      </p:sp>
      <p:pic>
        <p:nvPicPr>
          <p:cNvPr id="121" name="Google Shape;121;p29">
            <a:extLst>
              <a:ext uri="{FF2B5EF4-FFF2-40B4-BE49-F238E27FC236}">
                <a16:creationId xmlns:a16="http://schemas.microsoft.com/office/drawing/2014/main" id="{8DE33BE3-8CF7-1BE0-F53F-831B63AF909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CAA261C-C438-9614-D96F-9F56BB90E7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0EC74E-7DD3-FBB5-1049-66E4A9F556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07957D-80C9-332C-E83C-B8E023318A3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FEDD644-83A5-7174-298F-AF4D94D45B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149BD0-9C95-C747-FFEB-85D3435884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695404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9D9A1F-D89B-CD36-A186-8DA1A5DED2DA}"/>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255F53A2-36CB-3A5E-01B9-D285839FE423}"/>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To simplify, we look at the ratio of the cell being </a:t>
                </a:r>
                <a:r>
                  <a:rPr lang="en-US" sz="2000" b="1" dirty="0">
                    <a:latin typeface="Arial"/>
                    <a:ea typeface="Arial"/>
                    <a:cs typeface="Arial"/>
                    <a:sym typeface="Arial"/>
                  </a:rPr>
                  <a:t>occupied</a:t>
                </a:r>
                <a:r>
                  <a:rPr lang="en-US" sz="2000" dirty="0">
                    <a:latin typeface="Arial"/>
                    <a:ea typeface="Arial"/>
                    <a:cs typeface="Arial"/>
                    <a:sym typeface="Arial"/>
                  </a:rPr>
                  <a:t> vs. </a:t>
                </a:r>
                <a:r>
                  <a:rPr lang="en-US" sz="2000" b="1" dirty="0">
                    <a:latin typeface="Arial"/>
                    <a:ea typeface="Arial"/>
                    <a:cs typeface="Arial"/>
                    <a:sym typeface="Arial"/>
                  </a:rPr>
                  <a:t>empty</a:t>
                </a:r>
                <a:r>
                  <a:rPr lang="en-US" sz="2000" dirty="0">
                    <a:latin typeface="Arial"/>
                    <a:ea typeface="Arial"/>
                    <a:cs typeface="Arial"/>
                    <a:sym typeface="Arial"/>
                  </a:rPr>
                  <a: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=0</m:t>
                    </m:r>
                  </m:oMath>
                </a14:m>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Notice three distinct components here: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a:t>
                </a:r>
                <a:r>
                  <a:rPr lang="en-US" sz="2000" b="1" dirty="0">
                    <a:latin typeface="Arial"/>
                    <a:ea typeface="Arial"/>
                    <a:cs typeface="Arial"/>
                    <a:sym typeface="Arial"/>
                  </a:rPr>
                  <a:t>Inverse Sensor Model</a:t>
                </a:r>
                <a:r>
                  <a:rPr lang="en-US" sz="2000" dirty="0">
                    <a:latin typeface="Arial"/>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den>
                    </m:f>
                  </m:oMath>
                </a14:m>
                <a:r>
                  <a:rPr lang="en-US" sz="2000" dirty="0">
                    <a:latin typeface="Arial"/>
                    <a:ea typeface="Arial"/>
                    <a:cs typeface="Arial"/>
                    <a:sym typeface="Arial"/>
                  </a:rPr>
                  <a:t> (What the current laser scan says).</a:t>
                </a:r>
              </a:p>
              <a:p>
                <a:pPr marL="0" indent="0">
                  <a:lnSpc>
                    <a:spcPct val="100000"/>
                  </a:lnSpc>
                  <a:spcBef>
                    <a:spcPts val="0"/>
                  </a:spcBef>
                  <a:buSzPts val="3000"/>
                  <a:buNone/>
                </a:pPr>
                <a:r>
                  <a:rPr lang="en-US" sz="2000" dirty="0">
                    <a:latin typeface="Arial"/>
                    <a:ea typeface="Arial"/>
                    <a:cs typeface="Arial"/>
                    <a:sym typeface="Arial"/>
                  </a:rPr>
                  <a:t>The </a:t>
                </a:r>
                <a:r>
                  <a:rPr lang="en-US" sz="2000" b="1" dirty="0">
                    <a:latin typeface="Arial"/>
                    <a:ea typeface="Arial"/>
                    <a:cs typeface="Arial"/>
                    <a:sym typeface="Arial"/>
                  </a:rPr>
                  <a:t>Prior</a:t>
                </a:r>
                <a:r>
                  <a:rPr lang="en-US" sz="2000" dirty="0">
                    <a:latin typeface="Arial"/>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den>
                    </m:f>
                  </m:oMath>
                </a14:m>
                <a:r>
                  <a:rPr lang="en-US" sz="2000" dirty="0">
                    <a:latin typeface="Arial"/>
                    <a:ea typeface="Arial"/>
                    <a:cs typeface="Arial"/>
                    <a:sym typeface="Arial"/>
                  </a:rPr>
                  <a:t> (The initial belief, usually </a:t>
                </a:r>
                <a14:m>
                  <m:oMath xmlns:m="http://schemas.openxmlformats.org/officeDocument/2006/math">
                    <m:r>
                      <a:rPr lang="en-US" sz="2000" i="1" dirty="0" smtClean="0">
                        <a:latin typeface="Cambria Math" panose="02040503050406030204" pitchFamily="18" charset="0"/>
                        <a:ea typeface="Arial"/>
                        <a:cs typeface="Arial"/>
                        <a:sym typeface="Arial"/>
                      </a:rPr>
                      <m:t>0.5</m:t>
                    </m:r>
                  </m:oMath>
                </a14:m>
                <a:r>
                  <a:rPr lang="en-US" sz="2000" dirty="0">
                    <a:latin typeface="Arial"/>
                    <a:ea typeface="Arial"/>
                    <a:cs typeface="Arial"/>
                    <a:sym typeface="Arial"/>
                  </a:rPr>
                  <a:t>, which cancels out).</a:t>
                </a:r>
              </a:p>
              <a:p>
                <a:pPr marL="0" indent="0">
                  <a:lnSpc>
                    <a:spcPct val="100000"/>
                  </a:lnSpc>
                  <a:spcBef>
                    <a:spcPts val="0"/>
                  </a:spcBef>
                  <a:buSzPts val="3000"/>
                  <a:buNone/>
                </a:pPr>
                <a:r>
                  <a:rPr lang="en-US" sz="2000" dirty="0">
                    <a:latin typeface="Arial"/>
                    <a:ea typeface="Arial"/>
                    <a:cs typeface="Arial"/>
                    <a:sym typeface="Arial"/>
                  </a:rPr>
                  <a:t>The </a:t>
                </a:r>
                <a:r>
                  <a:rPr lang="en-US" sz="2000" b="1" dirty="0">
                    <a:latin typeface="Arial"/>
                    <a:ea typeface="Arial"/>
                    <a:cs typeface="Arial"/>
                    <a:sym typeface="Arial"/>
                  </a:rPr>
                  <a:t>Recursive Belief</a:t>
                </a:r>
                <a:r>
                  <a:rPr lang="en-US" sz="2000" dirty="0">
                    <a:latin typeface="Arial"/>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a14:m>
                <a:r>
                  <a:rPr lang="en-US" sz="2000" dirty="0">
                    <a:latin typeface="Arial"/>
                    <a:ea typeface="Arial"/>
                    <a:cs typeface="Arial"/>
                    <a:sym typeface="Arial"/>
                  </a:rPr>
                  <a:t> (What we already knew).</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255F53A2-36CB-3A5E-01B9-D285839FE423}"/>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8A366E8-E7F3-C545-A5D1-E9AC78EC3E4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5EBC7B-F9B2-4A98-EF54-5253752E11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Recursive Bayesian Update</a:t>
            </a:r>
          </a:p>
        </p:txBody>
      </p:sp>
      <p:pic>
        <p:nvPicPr>
          <p:cNvPr id="121" name="Google Shape;121;p29">
            <a:extLst>
              <a:ext uri="{FF2B5EF4-FFF2-40B4-BE49-F238E27FC236}">
                <a16:creationId xmlns:a16="http://schemas.microsoft.com/office/drawing/2014/main" id="{52305AAC-B43C-FE03-188B-C5D79B00CB0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371B2FA-08F5-4A65-C62B-48AF96670B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D18E93-6586-A5E1-8A80-F9BBC89076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C435C6-8A81-DA07-EC83-748A04E297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4D0EF5-CB57-2430-9652-29BB192171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B96FC83-D957-7EAA-9CA2-A328A10AE4E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1081828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FC5DCD6-2342-55DD-0971-3C182EFB51EE}"/>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07F4ACD1-41C5-A8E6-AFC3-EF5126F4D78A}"/>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d>
                        </m:num>
                        <m:den>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den>
                      </m:f>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When we take the </a:t>
                </a:r>
                <a14:m>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r>
                          <a:rPr lang="en-US" sz="2000" b="0" i="1" dirty="0" smtClean="0">
                            <a:latin typeface="Cambria Math" panose="02040503050406030204" pitchFamily="18" charset="0"/>
                            <a:ea typeface="Arial"/>
                            <a:cs typeface="Arial"/>
                            <a:sym typeface="Arial"/>
                          </a:rPr>
                          <m:t>(⋅)</m:t>
                        </m:r>
                      </m:e>
                    </m:func>
                  </m:oMath>
                </a14:m>
                <a:r>
                  <a:rPr lang="en-US" sz="2000" dirty="0">
                    <a:latin typeface="Arial"/>
                    <a:ea typeface="Arial"/>
                    <a:cs typeface="Arial"/>
                    <a:sym typeface="Arial"/>
                  </a:rPr>
                  <a:t> of the </a:t>
                </a:r>
                <a:r>
                  <a:rPr lang="en-US" sz="2000" b="1" dirty="0">
                    <a:latin typeface="Arial"/>
                    <a:ea typeface="Arial"/>
                    <a:cs typeface="Arial"/>
                    <a:sym typeface="Arial"/>
                  </a:rPr>
                  <a:t>Ratio Form </a:t>
                </a:r>
                <a:r>
                  <a:rPr lang="en-US" sz="2000" dirty="0">
                    <a:latin typeface="Arial"/>
                    <a:ea typeface="Arial"/>
                    <a:cs typeface="Arial"/>
                    <a:sym typeface="Arial"/>
                  </a:rPr>
                  <a:t>equation, all the multiplications turn into additions, and divisions turn into subtractions: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sSub>
                                <m:sSubPr>
                                  <m:ctrlPr>
                                    <a:rPr lang="en-US" sz="2000" i="1" dirty="0" smtClean="0">
                                      <a:latin typeface="Cambria Math" panose="02040503050406030204" pitchFamily="18" charset="0"/>
                                      <a:ea typeface="Arial"/>
                                      <a:cs typeface="Arial"/>
                                      <a:sym typeface="Arial"/>
                                    </a:rPr>
                                  </m:ctrlPr>
                                </m:sSubPr>
                                <m:e>
                                  <m:r>
                                    <m:rPr>
                                      <m:nor/>
                                    </m:rPr>
                                    <a:rPr lang="en-US" sz="2000" i="0" dirty="0" smtClean="0">
                                      <a:latin typeface="Cambria Math" panose="02040503050406030204" pitchFamily="18" charset="0"/>
                                      <a:ea typeface="Arial"/>
                                      <a:cs typeface="Arial"/>
                                      <a:sym typeface="Arial"/>
                                    </a:rPr>
                                    <m:t>Ratio</m:t>
                                  </m:r>
                                </m:e>
                                <m:sub>
                                  <m:r>
                                    <a:rPr lang="en-US" sz="2000" i="1" dirty="0" smtClean="0">
                                      <a:latin typeface="Cambria Math" panose="02040503050406030204" pitchFamily="18" charset="0"/>
                                      <a:ea typeface="Arial"/>
                                      <a:cs typeface="Arial"/>
                                      <a:sym typeface="Arial"/>
                                    </a:rPr>
                                    <m:t>𝑡</m:t>
                                  </m:r>
                                </m:sub>
                              </m:sSub>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Sensor</m:t>
                              </m:r>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Prior</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Ratio</m:t>
                              </m:r>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Old</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Ratio</m:t>
                              </m:r>
                            </m:e>
                          </m:d>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yields the exact formula:</a:t>
                </a:r>
              </a:p>
              <a:p>
                <a:pPr marL="0" indent="0">
                  <a:lnSpc>
                    <a:spcPct val="100000"/>
                  </a:lnSpc>
                  <a:spcBef>
                    <a:spcPts val="0"/>
                  </a:spcBef>
                  <a:buSzPts val="3000"/>
                  <a:buNone/>
                </a:pPr>
                <a:endParaRPr lang="en-US" sz="2000" i="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000" i="0" dirty="0" smtClean="0">
                          <a:latin typeface="Cambria Math" panose="02040503050406030204" pitchFamily="18" charset="0"/>
                          <a:ea typeface="Arial"/>
                          <a:cs typeface="Arial"/>
                          <a:sym typeface="Arial"/>
                        </a:rPr>
                        <m:t>New</m:t>
                      </m:r>
                      <m:r>
                        <m:rPr>
                          <m:nor/>
                        </m:rPr>
                        <a:rPr lang="en-US" sz="2000" i="0"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𝐿</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Old</m:t>
                      </m:r>
                      <m:r>
                        <m:rPr>
                          <m:nor/>
                        </m:rPr>
                        <a:rPr lang="en-US" sz="2000" i="0"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𝐿</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Inverse</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Sensor</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Model</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Prior</m:t>
                      </m:r>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p>
              <a:p>
                <a:pPr marL="0" indent="0">
                  <a:lnSpc>
                    <a:spcPct val="100000"/>
                  </a:lnSpc>
                  <a:spcBef>
                    <a:spcPts val="0"/>
                  </a:spcBef>
                  <a:buSzPts val="3000"/>
                  <a:buNone/>
                </a:pPr>
                <a:endParaRPr lang="en-US" sz="20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07F4ACD1-41C5-A8E6-AFC3-EF5126F4D78A}"/>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r="-5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FD21DDB-932B-BA1F-2A68-172F8FE525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F075F4E-7C8F-3FA0-C2C9-D09A15B0CE9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Recursive Bayesian Update</a:t>
            </a:r>
          </a:p>
        </p:txBody>
      </p:sp>
      <p:pic>
        <p:nvPicPr>
          <p:cNvPr id="121" name="Google Shape;121;p29">
            <a:extLst>
              <a:ext uri="{FF2B5EF4-FFF2-40B4-BE49-F238E27FC236}">
                <a16:creationId xmlns:a16="http://schemas.microsoft.com/office/drawing/2014/main" id="{15301B65-5AFB-7722-DF9E-2BD05BE614E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2D67A9-8BD2-6DBE-66AC-7263AA76C9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43B1A36-F45C-5678-21FD-EA14F13FB9F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B11DB6B-D4EB-BA58-694B-E4C1026BC79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EC5A7C-2842-0023-CFDD-44C28C011C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3AD51C-BBA2-E863-94C1-297B4360E5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1023664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29B746-DDF0-0ADE-2FBD-CC86C5A01C6E}"/>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4BA558B6-A4C5-35D6-D17D-C1CC7BBAB26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sensor-model term is a small positive number (for hits) or small negative number (for passes)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Typical values: +0.9 on hit, −0.4 per pass.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 ghost obstacle slowly decays (more negative), a real wall hardens (more positive)!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is the single most-executed line of code in a running SLAM system!</a:t>
                </a:r>
              </a:p>
            </p:txBody>
          </p:sp>
        </mc:Choice>
        <mc:Fallback>
          <p:sp>
            <p:nvSpPr>
              <p:cNvPr id="118" name="Google Shape;118;p29">
                <a:extLst>
                  <a:ext uri="{FF2B5EF4-FFF2-40B4-BE49-F238E27FC236}">
                    <a16:creationId xmlns:a16="http://schemas.microsoft.com/office/drawing/2014/main" id="{4BA558B6-A4C5-35D6-D17D-C1CC7BBAB268}"/>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05405B8-B9D8-85A5-FF35-0C477AF262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E8AE8EC-A7EE-42C4-A657-EB303440DAA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Recursive Bayesian Update</a:t>
            </a:r>
          </a:p>
        </p:txBody>
      </p:sp>
      <p:pic>
        <p:nvPicPr>
          <p:cNvPr id="121" name="Google Shape;121;p29">
            <a:extLst>
              <a:ext uri="{FF2B5EF4-FFF2-40B4-BE49-F238E27FC236}">
                <a16:creationId xmlns:a16="http://schemas.microsoft.com/office/drawing/2014/main" id="{583390E9-E252-A1F4-A0B4-DB0309A9EDD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8D23ED3-37B2-86F4-CB5C-01C55B4880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3E134D9-294C-EC70-9664-D4F1632912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856F87-CA8C-51BA-716A-F41F37BEF5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D813F4-1003-D389-3E57-76C0003DAA0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37E614-7F34-AE4F-2D6D-45D72AD2B5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989389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4F9D247-289E-2072-2538-00E45D00E93F}"/>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501A3C05-462C-873B-4164-E1BE01B8091D}"/>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Inverse Sensor Model tries to compute “given a laser reading, what do we believe about the cells it passed through?”</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forward model asks: “Given a map, what reading should the sensor produce?”</a:t>
                </a:r>
              </a:p>
              <a:p>
                <a:pPr marL="0" indent="0">
                  <a:lnSpc>
                    <a:spcPct val="100000"/>
                  </a:lnSpc>
                  <a:spcBef>
                    <a:spcPts val="0"/>
                  </a:spcBef>
                  <a:buSzPts val="3000"/>
                  <a:buNone/>
                </a:pPr>
                <a:r>
                  <a:rPr lang="en-US" sz="2000" dirty="0">
                    <a:latin typeface="Arial"/>
                    <a:ea typeface="Arial"/>
                    <a:cs typeface="Arial"/>
                    <a:sym typeface="Arial"/>
                  </a:rPr>
                  <a:t>The inverse model asks the opposite: “Given this reading, what does the map look like?”</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b="1" dirty="0">
                    <a:latin typeface="Arial"/>
                    <a:ea typeface="Arial"/>
                    <a:cs typeface="Arial"/>
                    <a:sym typeface="Arial"/>
                  </a:rPr>
                  <a:t>Rule 1</a:t>
                </a:r>
                <a:r>
                  <a:rPr lang="en-US" sz="2000" dirty="0">
                    <a:latin typeface="Arial"/>
                    <a:ea typeface="Arial"/>
                    <a:cs typeface="Arial"/>
                    <a:sym typeface="Arial"/>
                  </a:rPr>
                  <a:t>: every cell the laser beam </a:t>
                </a:r>
                <a:r>
                  <a:rPr lang="en-US" sz="2000" b="1" dirty="0">
                    <a:latin typeface="Arial"/>
                    <a:ea typeface="Arial"/>
                    <a:cs typeface="Arial"/>
                    <a:sym typeface="Arial"/>
                  </a:rPr>
                  <a:t>passed through</a:t>
                </a:r>
                <a:r>
                  <a:rPr lang="en-US" sz="2000" dirty="0">
                    <a:latin typeface="Arial"/>
                    <a:ea typeface="Arial"/>
                    <a:cs typeface="Arial"/>
                    <a:sym typeface="Arial"/>
                  </a:rPr>
                  <a:t> gets a free-space vote (</a:t>
                </a:r>
                <a:r>
                  <a:rPr lang="en-US" sz="2000" b="1" dirty="0">
                    <a:latin typeface="Arial"/>
                    <a:ea typeface="Arial"/>
                    <a:cs typeface="Arial"/>
                    <a:sym typeface="Arial"/>
                  </a:rPr>
                  <a:t>negative log-odds</a:t>
                </a:r>
                <a:r>
                  <a:rPr lang="en-US" sz="2000" dirty="0">
                    <a:latin typeface="Arial"/>
                    <a:ea typeface="Arial"/>
                    <a:cs typeface="Arial"/>
                    <a:sym typeface="Arial"/>
                  </a:rPr>
                  <a:t>)</a:t>
                </a:r>
              </a:p>
              <a:p>
                <a:pPr marL="342900">
                  <a:lnSpc>
                    <a:spcPct val="100000"/>
                  </a:lnSpc>
                  <a:spcBef>
                    <a:spcPts val="0"/>
                  </a:spcBef>
                  <a:buSzPts val="3000"/>
                </a:pPr>
                <a:r>
                  <a:rPr lang="en-US" sz="2000" b="1" dirty="0">
                    <a:latin typeface="Arial"/>
                    <a:ea typeface="Arial"/>
                    <a:cs typeface="Arial"/>
                    <a:sym typeface="Arial"/>
                  </a:rPr>
                  <a:t>Rule 2</a:t>
                </a:r>
                <a:r>
                  <a:rPr lang="en-US" sz="2000" dirty="0">
                    <a:latin typeface="Arial"/>
                    <a:ea typeface="Arial"/>
                    <a:cs typeface="Arial"/>
                    <a:sym typeface="Arial"/>
                  </a:rPr>
                  <a:t>: the cell where the beam </a:t>
                </a:r>
                <a:r>
                  <a:rPr lang="en-US" sz="2000" b="1" dirty="0">
                    <a:latin typeface="Arial"/>
                    <a:ea typeface="Arial"/>
                    <a:cs typeface="Arial"/>
                    <a:sym typeface="Arial"/>
                  </a:rPr>
                  <a:t>terminated</a:t>
                </a:r>
                <a:r>
                  <a:rPr lang="en-US" sz="2000" dirty="0">
                    <a:latin typeface="Arial"/>
                    <a:ea typeface="Arial"/>
                    <a:cs typeface="Arial"/>
                    <a:sym typeface="Arial"/>
                  </a:rPr>
                  <a:t> gets an occupied vote (</a:t>
                </a:r>
                <a:r>
                  <a:rPr lang="en-US" sz="2000" b="1" dirty="0">
                    <a:latin typeface="Arial"/>
                    <a:ea typeface="Arial"/>
                    <a:cs typeface="Arial"/>
                    <a:sym typeface="Arial"/>
                  </a:rPr>
                  <a:t>positive log-odds</a:t>
                </a:r>
                <a:r>
                  <a:rPr lang="en-US" sz="2000" dirty="0">
                    <a:latin typeface="Arial"/>
                    <a:ea typeface="Arial"/>
                    <a:cs typeface="Arial"/>
                    <a:sym typeface="Arial"/>
                  </a:rPr>
                  <a:t>)</a:t>
                </a:r>
              </a:p>
              <a:p>
                <a:pPr marL="342900">
                  <a:lnSpc>
                    <a:spcPct val="100000"/>
                  </a:lnSpc>
                  <a:spcBef>
                    <a:spcPts val="0"/>
                  </a:spcBef>
                  <a:buSzPts val="3000"/>
                </a:pPr>
                <a:r>
                  <a:rPr lang="en-US" sz="2000" b="1" dirty="0">
                    <a:latin typeface="Arial"/>
                    <a:ea typeface="Arial"/>
                    <a:cs typeface="Arial"/>
                    <a:sym typeface="Arial"/>
                  </a:rPr>
                  <a:t>Rule 3</a:t>
                </a:r>
                <a:r>
                  <a:rPr lang="en-US" sz="2000" dirty="0">
                    <a:latin typeface="Arial"/>
                    <a:ea typeface="Arial"/>
                    <a:cs typeface="Arial"/>
                    <a:sym typeface="Arial"/>
                  </a:rPr>
                  <a:t>: cells </a:t>
                </a:r>
                <a:r>
                  <a:rPr lang="en-US" sz="2000" b="1" dirty="0">
                    <a:latin typeface="Arial"/>
                    <a:ea typeface="Arial"/>
                    <a:cs typeface="Arial"/>
                    <a:sym typeface="Arial"/>
                  </a:rPr>
                  <a:t>behind</a:t>
                </a:r>
                <a:r>
                  <a:rPr lang="en-US" sz="2000" dirty="0">
                    <a:latin typeface="Arial"/>
                    <a:ea typeface="Arial"/>
                    <a:cs typeface="Arial"/>
                    <a:sym typeface="Arial"/>
                  </a:rPr>
                  <a:t> the termination point are unchanged - the laser cannot see through walls</a:t>
                </a:r>
              </a:p>
              <a:p>
                <a:pPr marL="0" indent="0">
                  <a:lnSpc>
                    <a:spcPct val="100000"/>
                  </a:lnSpc>
                  <a:spcBef>
                    <a:spcPts val="0"/>
                  </a:spcBef>
                  <a:buSzPts val="3000"/>
                  <a:buNone/>
                </a:pPr>
                <a:endParaRPr lang="en-US" sz="20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501A3C05-462C-873B-4164-E1BE01B8091D}"/>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96E1F88-5108-98AF-C23E-FCEA275D23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3F7E94B-B05C-4A75-DE9E-8A86E5C6A1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Inverse Sensor Model</a:t>
            </a:r>
          </a:p>
        </p:txBody>
      </p:sp>
      <p:pic>
        <p:nvPicPr>
          <p:cNvPr id="121" name="Google Shape;121;p29">
            <a:extLst>
              <a:ext uri="{FF2B5EF4-FFF2-40B4-BE49-F238E27FC236}">
                <a16:creationId xmlns:a16="http://schemas.microsoft.com/office/drawing/2014/main" id="{F65F2754-EDD3-618A-2404-D364287A41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FB953CC-41E5-D7FA-D297-7440596FCF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403C63-6AAA-C515-31D0-2EA0DD797B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175AC0-E7F5-3351-54FD-05265D9CFF0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08182DE-829E-C15C-20D3-2EBB10840A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5C04D9D-06C6-1703-A344-A50920E2A19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77258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29D39F-6B2D-E91B-7967-4F1A9441720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8C395F7-902E-109C-4B0A-19D5DD2CEB02}"/>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We can implement this by looking along a single beam:</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From range 0 to (d - ε): probability of occupancy is LOW (clearly free space)</a:t>
            </a:r>
          </a:p>
          <a:p>
            <a:pPr marL="342900">
              <a:lnSpc>
                <a:spcPct val="100000"/>
              </a:lnSpc>
              <a:spcBef>
                <a:spcPts val="0"/>
              </a:spcBef>
              <a:buSzPts val="3000"/>
            </a:pPr>
            <a:r>
              <a:rPr lang="en-US" sz="2000" dirty="0">
                <a:latin typeface="Arial"/>
                <a:ea typeface="Arial"/>
                <a:cs typeface="Arial"/>
                <a:sym typeface="Arial"/>
              </a:rPr>
              <a:t>Near the reported range d ± ε: probability shoots HIGH (a surface was detected here)</a:t>
            </a:r>
          </a:p>
          <a:p>
            <a:pPr marL="342900">
              <a:lnSpc>
                <a:spcPct val="100000"/>
              </a:lnSpc>
              <a:spcBef>
                <a:spcPts val="0"/>
              </a:spcBef>
              <a:buSzPts val="3000"/>
            </a:pPr>
            <a:r>
              <a:rPr lang="en-US" sz="2000" dirty="0">
                <a:latin typeface="Arial"/>
                <a:ea typeface="Arial"/>
                <a:cs typeface="Arial"/>
                <a:sym typeface="Arial"/>
              </a:rPr>
              <a:t>Past the reported range d + ε: probability reverts to 0.5 (unknown — beam cannot see)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width ε captures sensor range noise, typically 1-5 cm</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Tuning these thresholds is a real-world engineering decision specific to your LiDAR model. Tuning these will give you different performance results.</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B9F9A48A-610B-E1DD-5F11-9CA3A359212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C19273F-986B-6482-7EF8-577B4779ECE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Inverse Sensor Model</a:t>
            </a:r>
          </a:p>
        </p:txBody>
      </p:sp>
      <p:pic>
        <p:nvPicPr>
          <p:cNvPr id="121" name="Google Shape;121;p29">
            <a:extLst>
              <a:ext uri="{FF2B5EF4-FFF2-40B4-BE49-F238E27FC236}">
                <a16:creationId xmlns:a16="http://schemas.microsoft.com/office/drawing/2014/main" id="{A068D94F-24BA-495F-C99E-C016B1BC85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84B927E-FE64-99F4-8C23-EFD6690232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E6E325A-2603-5172-C3F9-1E55BA0785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0011EF-9A8A-9227-4F26-378734D8A2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B28ECF5-46EF-6036-3F7A-172FEB88A7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6C78C6A-3362-BB1C-2FE5-89DC84A1081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12721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62CE05-5320-3040-AB7C-229CD6943C0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507928A-AC43-346C-1F93-F2118E2ED0CB}"/>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How does the code know exactly which cells a beam has crossed?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is the </a:t>
            </a:r>
            <a:r>
              <a:rPr lang="en-US" sz="2000" b="1" dirty="0" err="1">
                <a:latin typeface="Arial"/>
                <a:ea typeface="Arial"/>
                <a:cs typeface="Arial"/>
                <a:sym typeface="Arial"/>
              </a:rPr>
              <a:t>Bresenham's</a:t>
            </a:r>
            <a:r>
              <a:rPr lang="en-US" sz="2000" b="1" dirty="0">
                <a:latin typeface="Arial"/>
                <a:ea typeface="Arial"/>
                <a:cs typeface="Arial"/>
                <a:sym typeface="Arial"/>
              </a:rPr>
              <a:t> algorithm</a:t>
            </a:r>
            <a:r>
              <a:rPr lang="en-US" sz="2000" dirty="0">
                <a:latin typeface="Arial"/>
                <a:ea typeface="Arial"/>
                <a:cs typeface="Arial"/>
                <a:sym typeface="Arial"/>
              </a:rPr>
              <a:t>! (2D ray casing algorithm!)</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It's a pure-integer algorithm - no trigonometry, no floating-point in the inner loop</a:t>
            </a:r>
          </a:p>
          <a:p>
            <a:pPr marL="0" indent="0">
              <a:lnSpc>
                <a:spcPct val="100000"/>
              </a:lnSpc>
              <a:spcBef>
                <a:spcPts val="0"/>
              </a:spcBef>
              <a:buSzPts val="3000"/>
              <a:buNone/>
            </a:pPr>
            <a:r>
              <a:rPr lang="en-US" sz="2000" dirty="0">
                <a:latin typeface="Arial"/>
                <a:ea typeface="Arial"/>
                <a:cs typeface="Arial"/>
                <a:sym typeface="Arial"/>
              </a:rPr>
              <a:t>Given start (robot pose cell) and end (hit cell), it efficiently enumerates every cell between them to represent a discretized straight line.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Each enumerated cell gets the “FREE space” log-odds update; the final cell gets “HIT”.</a:t>
            </a:r>
          </a:p>
          <a:p>
            <a:pPr marL="0" indent="0">
              <a:lnSpc>
                <a:spcPct val="100000"/>
              </a:lnSpc>
              <a:spcBef>
                <a:spcPts val="0"/>
              </a:spcBef>
              <a:buSzPts val="3000"/>
              <a:buNone/>
            </a:pPr>
            <a:r>
              <a:rPr lang="en-US" sz="2000" dirty="0">
                <a:latin typeface="Arial"/>
                <a:ea typeface="Arial"/>
                <a:cs typeface="Arial"/>
                <a:sym typeface="Arial"/>
              </a:rPr>
              <a:t>At 360 beams per scan × 10 Hz × thousands of cells per beam, speed matters enormously.</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71656D94-CA9D-47BB-BB2C-1866CB9EC4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366E2D1-9736-82AB-9BA2-90DCEC2AE02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Inverse Sensor Model</a:t>
            </a:r>
          </a:p>
        </p:txBody>
      </p:sp>
      <p:pic>
        <p:nvPicPr>
          <p:cNvPr id="121" name="Google Shape;121;p29">
            <a:extLst>
              <a:ext uri="{FF2B5EF4-FFF2-40B4-BE49-F238E27FC236}">
                <a16:creationId xmlns:a16="http://schemas.microsoft.com/office/drawing/2014/main" id="{9154EEE1-C13F-11CE-B9FD-4575E7BA47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DC8E9B-E107-21E8-EAEF-0D577251249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1825C15-3998-6896-3691-C4F650147B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D39792-A894-B6AC-3742-53F8789CC8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1F75C4-0667-7AFD-7FCE-DFD8DF5D72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E87F1D-D65C-CE2C-5795-D8A147F64C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42B940EE-E68B-1D6D-810D-059BF73012D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847011" y="3286080"/>
            <a:ext cx="3958047" cy="2131256"/>
          </a:xfrm>
          <a:prstGeom prst="rect">
            <a:avLst/>
          </a:prstGeom>
        </p:spPr>
      </p:pic>
    </p:spTree>
    <p:extLst>
      <p:ext uri="{BB962C8B-B14F-4D97-AF65-F5344CB8AC3E}">
        <p14:creationId xmlns:p14="http://schemas.microsoft.com/office/powerpoint/2010/main" val="29749105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4E68792-8D68-56AE-FEDD-569F981B17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21A9341-8A91-3EF9-40C1-2D1ED1B05AA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a:lnSpc>
                <a:spcPts val="1425"/>
              </a:lnSpc>
              <a:spcBef>
                <a:spcPts val="0"/>
              </a:spcBef>
              <a:buNone/>
            </a:pPr>
            <a:r>
              <a:rPr lang="en-US" sz="1050" b="0" dirty="0" err="1">
                <a:solidFill>
                  <a:srgbClr val="202020"/>
                </a:solidFill>
                <a:effectLst/>
                <a:latin typeface="Consolas" panose="020B0609020204030204" pitchFamily="49" charset="0"/>
              </a:rPr>
              <a:t>plotLine</a:t>
            </a:r>
            <a:r>
              <a:rPr lang="en-US" sz="1050" b="0" dirty="0">
                <a:solidFill>
                  <a:srgbClr val="202020"/>
                </a:solidFill>
                <a:effectLst/>
                <a:latin typeface="Consolas" panose="020B0609020204030204" pitchFamily="49" charset="0"/>
              </a:rPr>
              <a:t>(</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x1, y1)</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8250DF"/>
                </a:solidFill>
                <a:effectLst/>
                <a:latin typeface="Consolas" panose="020B0609020204030204" pitchFamily="49" charset="0"/>
              </a:rPr>
              <a:t>abs</a:t>
            </a:r>
            <a:r>
              <a:rPr lang="en-US" sz="1050" b="0" dirty="0">
                <a:solidFill>
                  <a:srgbClr val="202020"/>
                </a:solidFill>
                <a:effectLst/>
                <a:latin typeface="Consolas" panose="020B0609020204030204" pitchFamily="49" charset="0"/>
              </a:rPr>
              <a:t>(x1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x1 </a:t>
            </a:r>
            <a:r>
              <a:rPr lang="en-US" sz="1050" b="0" i="1" dirty="0">
                <a:solidFill>
                  <a:srgbClr val="82071E"/>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1</a:t>
            </a:r>
            <a:r>
              <a:rPr lang="en-US" sz="1050" b="0" dirty="0">
                <a:solidFill>
                  <a:srgbClr val="202020"/>
                </a:solidFill>
                <a:effectLst/>
                <a:latin typeface="Consolas" panose="020B0609020204030204" pitchFamily="49" charset="0"/>
              </a:rPr>
              <a:t> : </a:t>
            </a:r>
            <a:r>
              <a:rPr lang="en-US" sz="1050" b="0" dirty="0">
                <a:solidFill>
                  <a:srgbClr val="000000"/>
                </a:solidFill>
                <a:effectLst/>
                <a:latin typeface="Consolas" panose="020B0609020204030204" pitchFamily="49" charset="0"/>
              </a:rPr>
              <a:t>-</a:t>
            </a:r>
            <a:r>
              <a:rPr lang="en-US" sz="1050" b="0" dirty="0">
                <a:solidFill>
                  <a:srgbClr val="098658"/>
                </a:solidFill>
                <a:effectLst/>
                <a:latin typeface="Consolas" panose="020B0609020204030204" pitchFamily="49" charset="0"/>
              </a:rPr>
              <a:t>1</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8250DF"/>
                </a:solidFill>
                <a:effectLst/>
                <a:latin typeface="Consolas" panose="020B0609020204030204" pitchFamily="49" charset="0"/>
              </a:rPr>
              <a:t>abs</a:t>
            </a:r>
            <a:r>
              <a:rPr lang="en-US" sz="1050" b="0" dirty="0">
                <a:solidFill>
                  <a:srgbClr val="202020"/>
                </a:solidFill>
                <a:effectLst/>
                <a:latin typeface="Consolas" panose="020B0609020204030204" pitchFamily="49" charset="0"/>
              </a:rPr>
              <a:t>(y1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sy</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y1 </a:t>
            </a:r>
            <a:r>
              <a:rPr lang="en-US" sz="1050" b="0" i="1" dirty="0">
                <a:solidFill>
                  <a:srgbClr val="82071E"/>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1</a:t>
            </a:r>
            <a:r>
              <a:rPr lang="en-US" sz="1050" b="0" dirty="0">
                <a:solidFill>
                  <a:srgbClr val="202020"/>
                </a:solidFill>
                <a:effectLst/>
                <a:latin typeface="Consolas" panose="020B0609020204030204" pitchFamily="49" charset="0"/>
              </a:rPr>
              <a:t> : </a:t>
            </a:r>
            <a:r>
              <a:rPr lang="en-US" sz="1050" b="0" dirty="0">
                <a:solidFill>
                  <a:srgbClr val="000000"/>
                </a:solidFill>
                <a:effectLst/>
                <a:latin typeface="Consolas" panose="020B0609020204030204" pitchFamily="49" charset="0"/>
              </a:rPr>
              <a:t>-</a:t>
            </a:r>
            <a:r>
              <a:rPr lang="en-US" sz="1050" b="0" dirty="0">
                <a:solidFill>
                  <a:srgbClr val="098658"/>
                </a:solidFill>
                <a:effectLst/>
                <a:latin typeface="Consolas" panose="020B0609020204030204" pitchFamily="49" charset="0"/>
              </a:rPr>
              <a:t>1</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while</a:t>
            </a:r>
            <a:r>
              <a:rPr lang="en-US" sz="1050" b="0" dirty="0">
                <a:solidFill>
                  <a:srgbClr val="202020"/>
                </a:solidFill>
                <a:effectLst/>
                <a:latin typeface="Consolas" panose="020B0609020204030204" pitchFamily="49" charset="0"/>
              </a:rPr>
              <a:t> true</a:t>
            </a:r>
          </a:p>
          <a:p>
            <a:pPr>
              <a:lnSpc>
                <a:spcPts val="1425"/>
              </a:lnSpc>
              <a:spcBef>
                <a:spcPts val="0"/>
              </a:spcBef>
              <a:buNone/>
            </a:pPr>
            <a:r>
              <a:rPr lang="en-US" sz="1050" b="0" dirty="0">
                <a:solidFill>
                  <a:srgbClr val="202020"/>
                </a:solidFill>
                <a:effectLst/>
                <a:latin typeface="Consolas" panose="020B0609020204030204" pitchFamily="49" charset="0"/>
              </a:rPr>
              <a:t>        plot(</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&gt;=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x1 </a:t>
            </a:r>
            <a:r>
              <a:rPr lang="en-US" sz="1050" b="0" dirty="0">
                <a:solidFill>
                  <a:srgbClr val="AF00DB"/>
                </a:solidFill>
                <a:effectLst/>
                <a:latin typeface="Consolas" panose="020B0609020204030204" pitchFamily="49" charset="0"/>
              </a:rPr>
              <a:t>break</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if</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y1 </a:t>
            </a:r>
            <a:r>
              <a:rPr lang="en-US" sz="1050" b="0" dirty="0">
                <a:solidFill>
                  <a:srgbClr val="AF00DB"/>
                </a:solidFill>
                <a:effectLst/>
                <a:latin typeface="Consolas" panose="020B0609020204030204" pitchFamily="49" charset="0"/>
              </a:rPr>
              <a:t>break</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if</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while</a:t>
            </a:r>
            <a:endParaRPr lang="en-US" sz="1050" b="0" dirty="0">
              <a:solidFill>
                <a:srgbClr val="202020"/>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604BEA11-29AE-42A2-33D0-10886510D1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CDBD611-3D5A-3AE5-B6F4-6898AA3832C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Inverse Sensor Model</a:t>
            </a:r>
          </a:p>
        </p:txBody>
      </p:sp>
      <p:pic>
        <p:nvPicPr>
          <p:cNvPr id="121" name="Google Shape;121;p29">
            <a:extLst>
              <a:ext uri="{FF2B5EF4-FFF2-40B4-BE49-F238E27FC236}">
                <a16:creationId xmlns:a16="http://schemas.microsoft.com/office/drawing/2014/main" id="{376BEE4B-3951-B422-0560-E0824773A7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716F0E-61B1-8861-BF84-A051373E4F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5C26E2-3815-E429-619A-BA25369FE2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B889243-900D-8940-11BC-42F5E953B98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379353-1CAA-FDBE-213A-A35178D42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62AFE9-653F-C0F8-4520-03FDBD597FC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Online Media 1" title="Bresenham Line Algorithm for Occupancy Grid">
            <a:hlinkClick r:id="" action="ppaction://media"/>
            <a:extLst>
              <a:ext uri="{FF2B5EF4-FFF2-40B4-BE49-F238E27FC236}">
                <a16:creationId xmlns:a16="http://schemas.microsoft.com/office/drawing/2014/main" id="{43130EE5-44A4-D8F8-C934-A66F9414E1B6}"/>
              </a:ext>
            </a:extLst>
          </p:cNvPr>
          <p:cNvPicPr>
            <a:picLocks noRot="1" noChangeAspect="1"/>
          </p:cNvPicPr>
          <p:nvPr>
            <a:videoFile r:link="rId1"/>
          </p:nvPr>
        </p:nvPicPr>
        <p:blipFill>
          <a:blip r:embed="rId5"/>
          <a:stretch>
            <a:fillRect/>
          </a:stretch>
        </p:blipFill>
        <p:spPr>
          <a:xfrm>
            <a:off x="3794606" y="1149900"/>
            <a:ext cx="8034211" cy="4539340"/>
          </a:xfrm>
          <a:prstGeom prst="rect">
            <a:avLst/>
          </a:prstGeom>
        </p:spPr>
      </p:pic>
    </p:spTree>
    <p:extLst>
      <p:ext uri="{BB962C8B-B14F-4D97-AF65-F5344CB8AC3E}">
        <p14:creationId xmlns:p14="http://schemas.microsoft.com/office/powerpoint/2010/main" val="23222086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9C365D6-54E7-AE76-282F-457BD92EE754}"/>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E301CF62-D4B1-2B37-FB0D-105C66CBDAC9}"/>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Initial: unobserved cell starts at log-odds = 0 (probability 0.5)</a:t>
                </a:r>
              </a:p>
              <a:p>
                <a:pPr marL="0" indent="0">
                  <a:lnSpc>
                    <a:spcPct val="200000"/>
                  </a:lnSpc>
                  <a:spcBef>
                    <a:spcPts val="0"/>
                  </a:spcBef>
                  <a:buSzPts val="3000"/>
                  <a:buNone/>
                </a:pPr>
                <a:endParaRPr lang="en-US" sz="2000" dirty="0">
                  <a:latin typeface="Arial"/>
                  <a:ea typeface="Arial"/>
                  <a:cs typeface="Arial"/>
                  <a:sym typeface="Arial"/>
                </a:endParaRPr>
              </a:p>
              <a:p>
                <a:pPr marL="342900">
                  <a:lnSpc>
                    <a:spcPct val="200000"/>
                  </a:lnSpc>
                  <a:spcBef>
                    <a:spcPts val="0"/>
                  </a:spcBef>
                  <a:buSzPts val="3000"/>
                </a:pPr>
                <a:r>
                  <a:rPr lang="en-US" sz="2000" dirty="0">
                    <a:latin typeface="Arial"/>
                    <a:ea typeface="Arial"/>
                    <a:cs typeface="Arial"/>
                    <a:sym typeface="Arial"/>
                  </a:rPr>
                  <a:t>LiDAR hits it twice: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0 + 0.9 + 0.9 = 1.8</m:t>
                    </m:r>
                    <m:r>
                      <a:rPr lang="en-US" sz="2000" b="0" i="0" dirty="0" smtClean="0">
                        <a:latin typeface="Cambria Math" panose="02040503050406030204" pitchFamily="18" charset="0"/>
                        <a:ea typeface="Arial"/>
                        <a:cs typeface="Arial"/>
                        <a:sym typeface="Arial"/>
                      </a:rPr>
                      <m:t> </m:t>
                    </m:r>
                    <m:r>
                      <a:rPr lang="en-US" sz="2000" b="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0.86</m:t>
                    </m:r>
                  </m:oMath>
                </a14:m>
                <a:r>
                  <a:rPr lang="en-US" sz="2000" dirty="0">
                    <a:latin typeface="Arial"/>
                    <a:ea typeface="Arial"/>
                    <a:cs typeface="Arial"/>
                    <a:sym typeface="Arial"/>
                  </a:rPr>
                  <a:t> (becoming a wall)</a:t>
                </a:r>
              </a:p>
              <a:p>
                <a:pPr marL="342900">
                  <a:lnSpc>
                    <a:spcPct val="200000"/>
                  </a:lnSpc>
                  <a:spcBef>
                    <a:spcPts val="0"/>
                  </a:spcBef>
                  <a:buSzPts val="3000"/>
                </a:pPr>
                <a:r>
                  <a:rPr lang="en-US" sz="2000" dirty="0">
                    <a:latin typeface="Arial"/>
                    <a:ea typeface="Arial"/>
                    <a:cs typeface="Arial"/>
                    <a:sym typeface="Arial"/>
                  </a:rPr>
                  <a:t>A passing laser slices through: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1.8 − 0.4 = 1.4 → </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0.80</m:t>
                    </m:r>
                  </m:oMath>
                </a14:m>
                <a:r>
                  <a:rPr lang="en-US" sz="2000" dirty="0">
                    <a:latin typeface="Arial"/>
                    <a:ea typeface="Arial"/>
                    <a:cs typeface="Arial"/>
                    <a:sym typeface="Arial"/>
                  </a:rPr>
                  <a:t> (still wall, but weakening)</a:t>
                </a:r>
              </a:p>
              <a:p>
                <a:pPr marL="342900">
                  <a:lnSpc>
                    <a:spcPct val="200000"/>
                  </a:lnSpc>
                  <a:spcBef>
                    <a:spcPts val="0"/>
                  </a:spcBef>
                  <a:buSzPts val="3000"/>
                </a:pPr>
                <a:r>
                  <a:rPr lang="en-US" sz="2000" dirty="0">
                    <a:latin typeface="Arial"/>
                    <a:ea typeface="Arial"/>
                    <a:cs typeface="Arial"/>
                    <a:sym typeface="Arial"/>
                  </a:rPr>
                  <a:t>After 5 clean passes: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1.8 − 5 × 0.4 = −0.2 → </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0.45</m:t>
                    </m:r>
                  </m:oMath>
                </a14:m>
                <a:r>
                  <a:rPr lang="en-US" sz="2000" dirty="0">
                    <a:latin typeface="Arial"/>
                    <a:ea typeface="Arial"/>
                    <a:cs typeface="Arial"/>
                    <a:sym typeface="Arial"/>
                  </a:rPr>
                  <a:t> (the “ghost” has dissolved)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−1</m:t>
                        </m:r>
                      </m:sub>
                    </m:sSub>
                    <m:r>
                      <a:rPr lang="en-US" sz="2000" b="0" i="1" smtClean="0">
                        <a:latin typeface="Cambria Math" panose="02040503050406030204" pitchFamily="18" charset="0"/>
                        <a:ea typeface="Arial"/>
                        <a:cs typeface="Arial"/>
                        <a:sym typeface="Arial"/>
                      </a:rPr>
                      <m:t>+</m:t>
                    </m:r>
                    <m:r>
                      <m:rPr>
                        <m:sty m:val="p"/>
                      </m:rPr>
                      <a:rPr lang="en-US" sz="2000" b="0" i="0" smtClean="0">
                        <a:latin typeface="Cambria Math" panose="02040503050406030204" pitchFamily="18" charset="0"/>
                        <a:ea typeface="Arial"/>
                        <a:cs typeface="Arial"/>
                        <a:sym typeface="Arial"/>
                      </a:rPr>
                      <m:t>Δ</m:t>
                    </m:r>
                    <m:r>
                      <a:rPr lang="en-US" sz="2000" b="0" i="1" smtClean="0">
                        <a:latin typeface="Cambria Math" panose="02040503050406030204" pitchFamily="18" charset="0"/>
                        <a:ea typeface="Arial"/>
                        <a:cs typeface="Arial"/>
                        <a:sym typeface="Arial"/>
                      </a:rPr>
                      <m:t>𝑙</m:t>
                    </m:r>
                  </m:oMath>
                </a14:m>
                <a:r>
                  <a:rPr lang="en-US" sz="2000" dirty="0">
                    <a:latin typeface="Arial"/>
                    <a:ea typeface="Arial"/>
                    <a:cs typeface="Arial"/>
                    <a:sym typeface="Arial"/>
                  </a:rPr>
                  <a:t>, where </a:t>
                </a:r>
                <a14:m>
                  <m:oMath xmlns:m="http://schemas.openxmlformats.org/officeDocument/2006/math">
                    <m:r>
                      <m:rPr>
                        <m:sty m:val="p"/>
                      </m:rPr>
                      <a:rPr lang="en-US" sz="2000" b="0" i="0" smtClean="0">
                        <a:latin typeface="Cambria Math" panose="02040503050406030204" pitchFamily="18" charset="0"/>
                        <a:ea typeface="Arial"/>
                        <a:cs typeface="Arial"/>
                        <a:sym typeface="Arial"/>
                      </a:rPr>
                      <m:t>Δ</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h𝑖𝑡</m:t>
                        </m:r>
                      </m:sub>
                    </m:sSub>
                    <m:r>
                      <a:rPr lang="en-US" sz="2000" b="0" i="1" smtClean="0">
                        <a:latin typeface="Cambria Math" panose="02040503050406030204" pitchFamily="18" charset="0"/>
                        <a:ea typeface="Arial"/>
                        <a:cs typeface="Arial"/>
                        <a:sym typeface="Arial"/>
                      </a:rPr>
                      <m:t>=+0.9</m:t>
                    </m:r>
                  </m:oMath>
                </a14:m>
                <a:r>
                  <a:rPr lang="en-US" sz="2000" dirty="0">
                    <a:latin typeface="Arial"/>
                    <a:ea typeface="Arial"/>
                    <a:cs typeface="Arial"/>
                    <a:sym typeface="Arial"/>
                  </a:rPr>
                  <a:t>, </a:t>
                </a:r>
                <a14:m>
                  <m:oMath xmlns:m="http://schemas.openxmlformats.org/officeDocument/2006/math">
                    <m:r>
                      <m:rPr>
                        <m:sty m:val="p"/>
                      </m:rPr>
                      <a:rPr lang="en-US" sz="2000" smtClean="0">
                        <a:latin typeface="Cambria Math" panose="02040503050406030204" pitchFamily="18" charset="0"/>
                        <a:ea typeface="Arial"/>
                        <a:cs typeface="Arial"/>
                        <a:sym typeface="Arial"/>
                      </a:rPr>
                      <m:t>Δ</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m:rPr>
                            <m:sty m:val="p"/>
                          </m:rPr>
                          <a:rPr lang="en-US" sz="2000" b="0" i="1" smtClean="0">
                            <a:latin typeface="Cambria Math" panose="02040503050406030204" pitchFamily="18" charset="0"/>
                            <a:ea typeface="Arial"/>
                            <a:cs typeface="Arial"/>
                            <a:sym typeface="Arial"/>
                          </a:rPr>
                          <m:t>free</m:t>
                        </m:r>
                      </m:sub>
                    </m:sSub>
                    <m:r>
                      <a:rPr lang="en-US" sz="2000" i="1">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−0.4</m:t>
                    </m:r>
                  </m:oMath>
                </a14:m>
                <a:endParaRPr lang="en-US" sz="20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E301CF62-D4B1-2B37-FB0D-105C66CBDAC9}"/>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6E7C382-4B0D-076D-6C42-B41EFB2312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532BAAD-72DB-3F42-AD35-625A0A8128C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 – Inverse Sensor Model</a:t>
            </a:r>
          </a:p>
        </p:txBody>
      </p:sp>
      <p:pic>
        <p:nvPicPr>
          <p:cNvPr id="121" name="Google Shape;121;p29">
            <a:extLst>
              <a:ext uri="{FF2B5EF4-FFF2-40B4-BE49-F238E27FC236}">
                <a16:creationId xmlns:a16="http://schemas.microsoft.com/office/drawing/2014/main" id="{4646F784-A823-E8BB-AB94-EE8A1261B7E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26A2D5-DDCD-77A4-71D9-2BD6BF731B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215B92-FD17-5573-298D-59DEABDD51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69BAC1-789B-EAC3-8BA1-0A1439DF65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E31B222-914D-4535-69D2-68BE857941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9141D5-E6E1-896A-8A43-96B79CC6DD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5282190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F14B029-0862-D9A5-569D-F10FC2F3043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D32FA18-D1E9-230D-C91C-74EBF910416B}"/>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What is the problem with grid worlds?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They are very resolution dependent!</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For a 100 m × 100 m warehouse at 5 cm resolution: 4 million cells</a:t>
            </a:r>
          </a:p>
          <a:p>
            <a:pPr marL="342900">
              <a:lnSpc>
                <a:spcPct val="100000"/>
              </a:lnSpc>
              <a:spcBef>
                <a:spcPts val="0"/>
              </a:spcBef>
              <a:buSzPts val="3000"/>
            </a:pPr>
            <a:r>
              <a:rPr lang="en-US" sz="2000" dirty="0">
                <a:latin typeface="Arial"/>
                <a:ea typeface="Arial"/>
                <a:cs typeface="Arial"/>
                <a:sym typeface="Arial"/>
              </a:rPr>
              <a:t>Drop to 1 cm resolution: 100 million cells - 25× more memory and 25× more update work</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However, what is the problem with increase/decreasing the resolution?</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Too coarse (&gt; 10 cm): doorways and chair legs vanish into “unknown”</a:t>
            </a:r>
          </a:p>
          <a:p>
            <a:pPr marL="342900">
              <a:lnSpc>
                <a:spcPct val="100000"/>
              </a:lnSpc>
              <a:spcBef>
                <a:spcPts val="0"/>
              </a:spcBef>
              <a:buSzPts val="3000"/>
            </a:pPr>
            <a:r>
              <a:rPr lang="en-US" sz="2000" dirty="0">
                <a:latin typeface="Arial"/>
                <a:ea typeface="Arial"/>
                <a:cs typeface="Arial"/>
                <a:sym typeface="Arial"/>
              </a:rPr>
              <a:t>Too fine (&lt; 2 cm): RAM explodes, scan-match speed collapses, and sensor noise dominates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Rule of thumb: pick resolution ≈ the robot's smallest obstacle dimension / 2 (Essentially Nyquist resolution but for grid size)</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DEAF88BF-2DEF-0148-B069-4757C3B5114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C6F97AD-9C49-5D84-6FBB-394B3470DA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3B9F87A2-A8F1-5100-5DB7-1ED44A2F570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5D9BCF-DF45-B4D6-14E2-BC45411FC0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4A0760F-604E-D7E0-8C9B-4F48931CA8C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91F77C-1318-5EE4-64FE-D0D4DAE96FF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AF398D4-3843-D254-0FA0-D301EF008A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A8A58E-2D39-29ED-8656-C7027B19DA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969141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4793E4-AD31-4F31-CA29-A81E48E495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2DED86C-ED0F-8531-DAC2-C816241EF8C1}"/>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other way is to represent the world as raw point clouds.</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A point-cloud map stores only the (x, y) boundary coordinates - no cell structure, so it is less dependent on the available scale of the workspace</a:t>
            </a:r>
          </a:p>
          <a:p>
            <a:pPr marL="342900">
              <a:lnSpc>
                <a:spcPct val="100000"/>
              </a:lnSpc>
              <a:spcBef>
                <a:spcPts val="0"/>
              </a:spcBef>
              <a:buSzPts val="3000"/>
            </a:pPr>
            <a:r>
              <a:rPr lang="en-US" sz="2000" dirty="0">
                <a:latin typeface="Arial"/>
                <a:ea typeface="Arial"/>
                <a:cs typeface="Arial"/>
                <a:sym typeface="Arial"/>
              </a:rPr>
              <a:t>Memory scales with the number of obstacles, not the area of the world</a:t>
            </a:r>
          </a:p>
          <a:p>
            <a:pPr marL="342900">
              <a:lnSpc>
                <a:spcPct val="100000"/>
              </a:lnSpc>
              <a:spcBef>
                <a:spcPts val="0"/>
              </a:spcBef>
              <a:buSzPts val="3000"/>
            </a:pPr>
            <a:r>
              <a:rPr lang="en-US" sz="2000" dirty="0">
                <a:latin typeface="Arial"/>
                <a:ea typeface="Arial"/>
                <a:cs typeface="Arial"/>
                <a:sym typeface="Arial"/>
              </a:rPr>
              <a:t>Perfect for sparse environments (a warehouse with mostly empty aisles) or very large environment (going around a city in a car)</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Downside: there is no explicit “free space” - the planner must infer it by ray-casting on-the-fly</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Often combined with </a:t>
            </a:r>
            <a:r>
              <a:rPr lang="en-US" sz="2000" b="1" dirty="0">
                <a:latin typeface="Arial"/>
                <a:ea typeface="Arial"/>
                <a:cs typeface="Arial"/>
                <a:sym typeface="Arial"/>
              </a:rPr>
              <a:t>voxel </a:t>
            </a:r>
            <a:r>
              <a:rPr lang="en-US" sz="2000" b="1" dirty="0" err="1">
                <a:latin typeface="Arial"/>
                <a:ea typeface="Arial"/>
                <a:cs typeface="Arial"/>
                <a:sym typeface="Arial"/>
              </a:rPr>
              <a:t>downsampling</a:t>
            </a:r>
            <a:r>
              <a:rPr lang="en-US" sz="2000" dirty="0">
                <a:latin typeface="Arial"/>
                <a:ea typeface="Arial"/>
                <a:cs typeface="Arial"/>
                <a:sym typeface="Arial"/>
              </a:rPr>
              <a:t> (discretizing the point cloud into cubes / voxels) to bound memory in feature-dense regions. A bunch of point cloud coordinates are grouped up as a single voxel</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B3C95B48-2C33-0F8F-B795-5AFDE84EC6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7B3630F-300E-8B6F-7C38-734E8FC164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6741F392-427E-68B6-9C76-EE63EA9313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CBFCB1-D2EA-4B3F-88D1-4CF52A96E8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A002BCA-F895-5BEF-2887-6AAE658E6C0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FDF971-8589-71B6-7DCF-44279D004EE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348D08-148B-EBE5-27CB-0DD225E01A1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71893C-1471-2B74-EA2B-5C39876A32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89397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2F4B75-D36C-6259-BD9D-B690A82F795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E9F046F-D78A-0707-B535-09A16C866E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B38AE52-019D-8D5B-711A-34C7C05BF8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C0A5A412-C2B7-14D1-EE8F-592A220DBE1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C241BB-302C-7EB2-1A91-4D385FAEE4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DBB790-63DB-A54E-817B-00D3E15279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89DF100-39AB-DC40-EC3F-987ED8D4F4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7594F2-BEA4-3D25-2569-A115A6CF4D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AA5B05-739E-3A3C-3EFD-BAE313EA95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DA2A8B24-400F-20A3-E930-8B47435FA00A}"/>
              </a:ext>
            </a:extLst>
          </p:cNvPr>
          <p:cNvSpPr>
            <a:spLocks noGrp="1"/>
          </p:cNvSpPr>
          <p:nvPr>
            <p:ph type="body" idx="1"/>
          </p:nvPr>
        </p:nvSpPr>
        <p:spPr/>
        <p:txBody>
          <a:bodyPr/>
          <a:lstStyle/>
          <a:p>
            <a:endParaRPr lang="en-US"/>
          </a:p>
        </p:txBody>
      </p:sp>
      <p:sp>
        <p:nvSpPr>
          <p:cNvPr id="5" name="TextBox 4">
            <a:extLst>
              <a:ext uri="{FF2B5EF4-FFF2-40B4-BE49-F238E27FC236}">
                <a16:creationId xmlns:a16="http://schemas.microsoft.com/office/drawing/2014/main" id="{3C5CC906-7B68-3CF9-498E-2A14B3CA7EFB}"/>
              </a:ext>
            </a:extLst>
          </p:cNvPr>
          <p:cNvSpPr txBox="1"/>
          <p:nvPr/>
        </p:nvSpPr>
        <p:spPr>
          <a:xfrm>
            <a:off x="3047456" y="6254396"/>
            <a:ext cx="6097088" cy="246221"/>
          </a:xfrm>
          <a:prstGeom prst="rect">
            <a:avLst/>
          </a:prstGeom>
          <a:noFill/>
        </p:spPr>
        <p:txBody>
          <a:bodyPr wrap="square">
            <a:spAutoFit/>
          </a:bodyPr>
          <a:lstStyle/>
          <a:p>
            <a:pPr algn="ctr"/>
            <a:r>
              <a:rPr lang="en-US" sz="1000" dirty="0">
                <a:hlinkClick r:id="rId4"/>
              </a:rPr>
              <a:t>https://link.springer.com/chapter/10.1007/978-3-030-20867-7_30</a:t>
            </a:r>
            <a:r>
              <a:rPr lang="en-US" sz="1000" dirty="0"/>
              <a:t> </a:t>
            </a:r>
          </a:p>
        </p:txBody>
      </p:sp>
      <p:pic>
        <p:nvPicPr>
          <p:cNvPr id="7" name="Picture 6">
            <a:extLst>
              <a:ext uri="{FF2B5EF4-FFF2-40B4-BE49-F238E27FC236}">
                <a16:creationId xmlns:a16="http://schemas.microsoft.com/office/drawing/2014/main" id="{CA4B0EBA-3591-752E-8B94-4DED076421FC}"/>
              </a:ext>
            </a:extLst>
          </p:cNvPr>
          <p:cNvPicPr>
            <a:picLocks noChangeAspect="1"/>
          </p:cNvPicPr>
          <p:nvPr/>
        </p:nvPicPr>
        <p:blipFill>
          <a:blip r:embed="rId5"/>
          <a:stretch>
            <a:fillRect/>
          </a:stretch>
        </p:blipFill>
        <p:spPr>
          <a:xfrm>
            <a:off x="265772" y="1291451"/>
            <a:ext cx="5237466" cy="4572000"/>
          </a:xfrm>
          <a:prstGeom prst="rect">
            <a:avLst/>
          </a:prstGeom>
        </p:spPr>
      </p:pic>
      <p:pic>
        <p:nvPicPr>
          <p:cNvPr id="9" name="Picture 8">
            <a:extLst>
              <a:ext uri="{FF2B5EF4-FFF2-40B4-BE49-F238E27FC236}">
                <a16:creationId xmlns:a16="http://schemas.microsoft.com/office/drawing/2014/main" id="{3EEBB267-9700-6CFC-7EAD-A4840F0915FE}"/>
              </a:ext>
            </a:extLst>
          </p:cNvPr>
          <p:cNvPicPr>
            <a:picLocks noChangeAspect="1"/>
          </p:cNvPicPr>
          <p:nvPr/>
        </p:nvPicPr>
        <p:blipFill>
          <a:blip r:embed="rId6"/>
          <a:stretch>
            <a:fillRect/>
          </a:stretch>
        </p:blipFill>
        <p:spPr>
          <a:xfrm>
            <a:off x="5799286" y="1291451"/>
            <a:ext cx="6139337" cy="4572000"/>
          </a:xfrm>
          <a:prstGeom prst="rect">
            <a:avLst/>
          </a:prstGeom>
        </p:spPr>
      </p:pic>
    </p:spTree>
    <p:extLst>
      <p:ext uri="{BB962C8B-B14F-4D97-AF65-F5344CB8AC3E}">
        <p14:creationId xmlns:p14="http://schemas.microsoft.com/office/powerpoint/2010/main" val="72909587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1D4C75-8AB2-2F37-4B9C-CC54D50A3BD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9CB3E9B-D834-92D8-537B-17619D4DA0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CEF1385-34CE-4310-2D3F-44D556DDE6D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60DDCBA2-4160-9651-AD32-A15733471CC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8726A71-748B-AB6D-C072-C40D461106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F360C8-7779-366A-CD26-C0511FC7F6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4085FB-4D44-280E-B55E-73EAFAB871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864513-1DC1-98E5-D22B-0B6176FDF5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3BE22-1ABB-5B06-107D-4644EECA695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12" name="Group 11">
            <a:extLst>
              <a:ext uri="{FF2B5EF4-FFF2-40B4-BE49-F238E27FC236}">
                <a16:creationId xmlns:a16="http://schemas.microsoft.com/office/drawing/2014/main" id="{19949E2C-9A3C-27DE-905D-D2F0F1F55BFF}"/>
              </a:ext>
            </a:extLst>
          </p:cNvPr>
          <p:cNvGrpSpPr/>
          <p:nvPr/>
        </p:nvGrpSpPr>
        <p:grpSpPr>
          <a:xfrm>
            <a:off x="518160" y="1951799"/>
            <a:ext cx="5577840" cy="3566160"/>
            <a:chOff x="563880" y="1188720"/>
            <a:chExt cx="5577840" cy="3566160"/>
          </a:xfrm>
        </p:grpSpPr>
        <p:sp>
          <p:nvSpPr>
            <p:cNvPr id="4" name="Shape 2">
              <a:extLst>
                <a:ext uri="{FF2B5EF4-FFF2-40B4-BE49-F238E27FC236}">
                  <a16:creationId xmlns:a16="http://schemas.microsoft.com/office/drawing/2014/main" id="{79112EA6-344E-9F77-B3DF-6322D8365100}"/>
                </a:ext>
              </a:extLst>
            </p:cNvPr>
            <p:cNvSpPr/>
            <p:nvPr/>
          </p:nvSpPr>
          <p:spPr>
            <a:xfrm>
              <a:off x="563880" y="1188720"/>
              <a:ext cx="5577840" cy="3566160"/>
            </a:xfrm>
            <a:prstGeom prst="rect">
              <a:avLst/>
            </a:prstGeom>
            <a:solidFill>
              <a:srgbClr val="F1F5F9"/>
            </a:solidFill>
            <a:ln/>
          </p:spPr>
          <p:txBody>
            <a:bodyPr/>
            <a:lstStyle/>
            <a:p>
              <a:endParaRPr lang="en-US" dirty="0">
                <a:latin typeface="+mj-lt"/>
              </a:endParaRPr>
            </a:p>
          </p:txBody>
        </p:sp>
        <p:sp>
          <p:nvSpPr>
            <p:cNvPr id="5" name="Shape 3">
              <a:extLst>
                <a:ext uri="{FF2B5EF4-FFF2-40B4-BE49-F238E27FC236}">
                  <a16:creationId xmlns:a16="http://schemas.microsoft.com/office/drawing/2014/main" id="{68303C92-B30E-8AE0-E368-ACD9B2D20130}"/>
                </a:ext>
              </a:extLst>
            </p:cNvPr>
            <p:cNvSpPr/>
            <p:nvPr/>
          </p:nvSpPr>
          <p:spPr>
            <a:xfrm>
              <a:off x="563880" y="1188720"/>
              <a:ext cx="5577840" cy="411480"/>
            </a:xfrm>
            <a:prstGeom prst="rect">
              <a:avLst/>
            </a:prstGeom>
            <a:solidFill>
              <a:srgbClr val="13294B"/>
            </a:solidFill>
            <a:ln/>
          </p:spPr>
          <p:txBody>
            <a:bodyPr/>
            <a:lstStyle/>
            <a:p>
              <a:endParaRPr lang="en-US">
                <a:latin typeface="+mj-lt"/>
              </a:endParaRPr>
            </a:p>
          </p:txBody>
        </p:sp>
        <p:sp>
          <p:nvSpPr>
            <p:cNvPr id="6" name="Text 4">
              <a:extLst>
                <a:ext uri="{FF2B5EF4-FFF2-40B4-BE49-F238E27FC236}">
                  <a16:creationId xmlns:a16="http://schemas.microsoft.com/office/drawing/2014/main" id="{C7F44B11-61FC-61A0-9D57-0102DCF5210B}"/>
                </a:ext>
              </a:extLst>
            </p:cNvPr>
            <p:cNvSpPr/>
            <p:nvPr/>
          </p:nvSpPr>
          <p:spPr>
            <a:xfrm>
              <a:off x="746760" y="1188720"/>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OCCUPANCY GRID</a:t>
              </a:r>
              <a:endParaRPr lang="en-US" sz="1400" dirty="0">
                <a:latin typeface="+mj-lt"/>
              </a:endParaRPr>
            </a:p>
          </p:txBody>
        </p:sp>
        <p:sp>
          <p:nvSpPr>
            <p:cNvPr id="7" name="Text 5">
              <a:extLst>
                <a:ext uri="{FF2B5EF4-FFF2-40B4-BE49-F238E27FC236}">
                  <a16:creationId xmlns:a16="http://schemas.microsoft.com/office/drawing/2014/main" id="{4AA31F8A-EEC0-A883-666E-E2151AF52BA4}"/>
                </a:ext>
              </a:extLst>
            </p:cNvPr>
            <p:cNvSpPr/>
            <p:nvPr/>
          </p:nvSpPr>
          <p:spPr>
            <a:xfrm>
              <a:off x="792480" y="1737360"/>
              <a:ext cx="5120640" cy="2815046"/>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600"/>
                </a:spcAft>
                <a:buSzPct val="100000"/>
              </a:pPr>
              <a:r>
                <a:rPr lang="en-US" sz="1400" b="1" dirty="0">
                  <a:solidFill>
                    <a:srgbClr val="1E293B"/>
                  </a:solidFill>
                  <a:latin typeface="+mj-lt"/>
                  <a:ea typeface="Calibri" pitchFamily="34" charset="-122"/>
                  <a:cs typeface="Calibri" pitchFamily="34" charset="-120"/>
                </a:rPr>
                <a:t>Advantages</a:t>
              </a: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Explicit free-space representation</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Easy for the path planner to consume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Natural decay handles dynamic objects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Most ROS tooling expects this format</a:t>
              </a:r>
            </a:p>
            <a:p>
              <a:pPr marL="342900" indent="-342900">
                <a:spcAft>
                  <a:spcPts val="600"/>
                </a:spcAft>
                <a:buSzPct val="100000"/>
                <a:buChar char="■"/>
              </a:pPr>
              <a:endParaRPr lang="en-US" sz="1400" dirty="0">
                <a:solidFill>
                  <a:srgbClr val="1E293B"/>
                </a:solidFill>
                <a:latin typeface="+mj-lt"/>
                <a:ea typeface="Calibri" pitchFamily="34" charset="-122"/>
                <a:cs typeface="Calibri" pitchFamily="34" charset="-120"/>
              </a:endParaRPr>
            </a:p>
            <a:p>
              <a:pPr>
                <a:spcAft>
                  <a:spcPts val="600"/>
                </a:spcAft>
                <a:buSzPct val="100000"/>
              </a:pPr>
              <a:r>
                <a:rPr lang="en-US" sz="1400" b="1" dirty="0">
                  <a:solidFill>
                    <a:srgbClr val="1E293B"/>
                  </a:solidFill>
                  <a:latin typeface="+mj-lt"/>
                  <a:ea typeface="Calibri" pitchFamily="34" charset="-122"/>
                  <a:cs typeface="Calibri" pitchFamily="34" charset="-120"/>
                </a:rPr>
                <a:t>Disadvantages</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RAM scales with area, not obstacle count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Fixed resolution limits detail</a:t>
              </a:r>
              <a:endParaRPr lang="en-US" sz="1400" dirty="0">
                <a:latin typeface="+mj-lt"/>
              </a:endParaRPr>
            </a:p>
          </p:txBody>
        </p:sp>
      </p:grpSp>
      <p:grpSp>
        <p:nvGrpSpPr>
          <p:cNvPr id="13" name="Group 12">
            <a:extLst>
              <a:ext uri="{FF2B5EF4-FFF2-40B4-BE49-F238E27FC236}">
                <a16:creationId xmlns:a16="http://schemas.microsoft.com/office/drawing/2014/main" id="{B4A78A4D-224C-06B1-D8CD-36C81D65AA1F}"/>
              </a:ext>
            </a:extLst>
          </p:cNvPr>
          <p:cNvGrpSpPr/>
          <p:nvPr/>
        </p:nvGrpSpPr>
        <p:grpSpPr>
          <a:xfrm>
            <a:off x="6370320" y="1951799"/>
            <a:ext cx="5212080" cy="3566160"/>
            <a:chOff x="6416040" y="1188720"/>
            <a:chExt cx="5212080" cy="3566160"/>
          </a:xfrm>
        </p:grpSpPr>
        <p:sp>
          <p:nvSpPr>
            <p:cNvPr id="8" name="Shape 6">
              <a:extLst>
                <a:ext uri="{FF2B5EF4-FFF2-40B4-BE49-F238E27FC236}">
                  <a16:creationId xmlns:a16="http://schemas.microsoft.com/office/drawing/2014/main" id="{49D81BB4-609D-FDF0-B9D1-9CEDD228ADA2}"/>
                </a:ext>
              </a:extLst>
            </p:cNvPr>
            <p:cNvSpPr/>
            <p:nvPr/>
          </p:nvSpPr>
          <p:spPr>
            <a:xfrm>
              <a:off x="6416040" y="1188720"/>
              <a:ext cx="5212080" cy="3566160"/>
            </a:xfrm>
            <a:prstGeom prst="rect">
              <a:avLst/>
            </a:prstGeom>
            <a:solidFill>
              <a:srgbClr val="F1F5F9"/>
            </a:solidFill>
            <a:ln/>
          </p:spPr>
          <p:txBody>
            <a:bodyPr/>
            <a:lstStyle/>
            <a:p>
              <a:endParaRPr lang="en-US">
                <a:latin typeface="+mj-lt"/>
              </a:endParaRPr>
            </a:p>
          </p:txBody>
        </p:sp>
        <p:sp>
          <p:nvSpPr>
            <p:cNvPr id="9" name="Shape 7">
              <a:extLst>
                <a:ext uri="{FF2B5EF4-FFF2-40B4-BE49-F238E27FC236}">
                  <a16:creationId xmlns:a16="http://schemas.microsoft.com/office/drawing/2014/main" id="{755A0AB7-00B6-B134-D674-2D2DCA7F44B0}"/>
                </a:ext>
              </a:extLst>
            </p:cNvPr>
            <p:cNvSpPr/>
            <p:nvPr/>
          </p:nvSpPr>
          <p:spPr>
            <a:xfrm>
              <a:off x="6416040" y="1188720"/>
              <a:ext cx="5212080" cy="411480"/>
            </a:xfrm>
            <a:prstGeom prst="rect">
              <a:avLst/>
            </a:prstGeom>
            <a:solidFill>
              <a:srgbClr val="13294B"/>
            </a:solidFill>
            <a:ln/>
          </p:spPr>
          <p:txBody>
            <a:bodyPr/>
            <a:lstStyle/>
            <a:p>
              <a:endParaRPr lang="en-US">
                <a:latin typeface="+mj-lt"/>
              </a:endParaRPr>
            </a:p>
          </p:txBody>
        </p:sp>
        <p:sp>
          <p:nvSpPr>
            <p:cNvPr id="10" name="Text 8">
              <a:extLst>
                <a:ext uri="{FF2B5EF4-FFF2-40B4-BE49-F238E27FC236}">
                  <a16:creationId xmlns:a16="http://schemas.microsoft.com/office/drawing/2014/main" id="{4291CF37-A81C-B80B-13DB-D4302770790A}"/>
                </a:ext>
              </a:extLst>
            </p:cNvPr>
            <p:cNvSpPr/>
            <p:nvPr/>
          </p:nvSpPr>
          <p:spPr>
            <a:xfrm>
              <a:off x="6598920" y="1188720"/>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POINT CLOUD / SUBMAP</a:t>
              </a:r>
              <a:endParaRPr lang="en-US" sz="1400" dirty="0">
                <a:latin typeface="+mj-lt"/>
              </a:endParaRPr>
            </a:p>
          </p:txBody>
        </p:sp>
        <p:sp>
          <p:nvSpPr>
            <p:cNvPr id="11" name="Text 9">
              <a:extLst>
                <a:ext uri="{FF2B5EF4-FFF2-40B4-BE49-F238E27FC236}">
                  <a16:creationId xmlns:a16="http://schemas.microsoft.com/office/drawing/2014/main" id="{559C3CD8-950B-394A-A40C-7EB086CE3076}"/>
                </a:ext>
              </a:extLst>
            </p:cNvPr>
            <p:cNvSpPr/>
            <p:nvPr/>
          </p:nvSpPr>
          <p:spPr>
            <a:xfrm>
              <a:off x="6644640" y="1737360"/>
              <a:ext cx="4754880" cy="2815046"/>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600"/>
                </a:spcAft>
                <a:buSzPct val="100000"/>
              </a:pPr>
              <a:r>
                <a:rPr lang="en-US" sz="1400" b="1" dirty="0">
                  <a:solidFill>
                    <a:srgbClr val="1E293B"/>
                  </a:solidFill>
                  <a:latin typeface="+mj-lt"/>
                  <a:ea typeface="Calibri" pitchFamily="34" charset="-122"/>
                  <a:cs typeface="Calibri" pitchFamily="34" charset="-120"/>
                </a:rPr>
                <a:t>Advantages</a:t>
              </a: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Memory scales with obstacles only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Can store continuous real coordinates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Great for outdoor or sparse indoor</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Easy to stitch multiple submaps</a:t>
              </a:r>
            </a:p>
            <a:p>
              <a:pPr marL="342900" indent="-342900">
                <a:spcAft>
                  <a:spcPts val="600"/>
                </a:spcAft>
                <a:buSzPct val="100000"/>
                <a:buChar char="■"/>
              </a:pPr>
              <a:endParaRPr lang="en-US" sz="1400" dirty="0">
                <a:solidFill>
                  <a:srgbClr val="1E293B"/>
                </a:solidFill>
                <a:latin typeface="+mj-lt"/>
                <a:ea typeface="Calibri" pitchFamily="34" charset="-122"/>
                <a:cs typeface="Calibri" pitchFamily="34" charset="-120"/>
              </a:endParaRPr>
            </a:p>
            <a:p>
              <a:pPr>
                <a:spcAft>
                  <a:spcPts val="600"/>
                </a:spcAft>
                <a:buSzPct val="100000"/>
              </a:pPr>
              <a:r>
                <a:rPr lang="en-US" sz="1400" b="1" dirty="0">
                  <a:solidFill>
                    <a:srgbClr val="1E293B"/>
                  </a:solidFill>
                  <a:latin typeface="+mj-lt"/>
                  <a:ea typeface="Calibri" pitchFamily="34" charset="-122"/>
                  <a:cs typeface="Calibri" pitchFamily="34" charset="-120"/>
                </a:rPr>
                <a:t>Disadvantages</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No explicit free space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Planner must ray-cast at query time</a:t>
              </a:r>
              <a:endParaRPr lang="en-US" sz="1400" dirty="0">
                <a:latin typeface="+mj-lt"/>
              </a:endParaRPr>
            </a:p>
          </p:txBody>
        </p:sp>
      </p:grpSp>
    </p:spTree>
    <p:extLst>
      <p:ext uri="{BB962C8B-B14F-4D97-AF65-F5344CB8AC3E}">
        <p14:creationId xmlns:p14="http://schemas.microsoft.com/office/powerpoint/2010/main" val="22245797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50A75115-836B-D5D8-F16D-CA13E2BA094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2309C1B-B048-F6BD-B128-68D802B6D19F}"/>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B00A68FC-11C4-1F9D-FCF2-409A0DD19576}"/>
                </a:ext>
              </a:extLst>
            </p:cNvPr>
            <p:cNvSpPr txBox="1"/>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Drift</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8F3667CB-7BB4-87B2-F730-2B19A2B2A44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E95C2023-5369-C823-EC9F-12709719AC2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4AFCDA84-666C-4785-B222-5E5EF13F5BB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B148D001-C0D1-6C8B-C5E1-020D84A445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299E900C-7636-2F3C-2B0A-96FEA9DEF9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EEB235C-7355-475C-0E8A-27274A703C5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B95327FE-C2CD-43A8-A7B4-774C2ABE39CC}"/>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8F1008A-B044-BDED-AFFC-5AFC47238DC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42261846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9239CB-E12E-8935-126D-0EE13C19D2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7509F33-9AE9-D49E-71C3-D156AEDFAC2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Every scan match injects a tiny error - maybe 0.5 mm, maybe 0.01°, because the sensor is inaccurate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That error is added to the next pose estimate - not averaged against it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After 10,000 matches, errors compound: 0.5 mm × 10,000 = 5 meters of position drift</a:t>
            </a:r>
          </a:p>
          <a:p>
            <a:pPr marL="0" indent="0">
              <a:lnSpc>
                <a:spcPct val="100000"/>
              </a:lnSpc>
              <a:spcBef>
                <a:spcPts val="0"/>
              </a:spcBef>
              <a:buSzPts val="3000"/>
              <a:buNone/>
            </a:pPr>
            <a:r>
              <a:rPr lang="en-US" sz="2000" dirty="0">
                <a:latin typeface="Arial"/>
                <a:ea typeface="Arial"/>
                <a:cs typeface="Arial"/>
                <a:sym typeface="Arial"/>
              </a:rPr>
              <a:t>Rotational drift is even worse - 0.01° × 10,000 = 100° of cumulative heading error</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Our carefully optimized local pose is wonderful, but our global trajectory is horrible!</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F8A4665F-638B-EDEB-CE7D-68B3FA48F9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E44492F-4E57-E82D-5065-9D447F9F818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C0860A4A-F2F8-2D72-AC9B-8BFFA11837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28BC97-DCB1-3802-CDCE-0F8C2C0E84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DE263B-2B00-208C-3845-6AFACFDD21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DC90EC-44F2-B7E6-2AAB-FCF3654EF5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A9595B2-8E45-7367-DF88-AA9690C050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A1E0B3-95AC-9C88-5182-05B680BA681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36901513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E55F31-D0C2-B13B-B563-F636E6A67CE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86E25A-EEA8-6DCE-7F63-B434D8CF1F12}"/>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Classic failure: robot maps a big circular corridor, returns to the start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map at the end overlaps the map from the start - but the geometry doesn't match up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walls appear doubled - the same physical wall drawn at two slightly different positions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Corridors bend, right angles become slight curves, the whole map subtly warps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map is locally correct </a:t>
            </a:r>
            <a:r>
              <a:rPr lang="en-US" sz="2000" b="1" dirty="0">
                <a:latin typeface="Arial"/>
                <a:ea typeface="Arial"/>
                <a:cs typeface="Arial"/>
                <a:sym typeface="Arial"/>
              </a:rPr>
              <a:t>everywhere</a:t>
            </a:r>
            <a:r>
              <a:rPr lang="en-US" sz="2000" dirty="0">
                <a:latin typeface="Arial"/>
                <a:ea typeface="Arial"/>
                <a:cs typeface="Arial"/>
                <a:sym typeface="Arial"/>
              </a:rPr>
              <a:t> but globally wrong</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36CD0DF0-C85D-BBBC-2683-40DA37E46A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722E7EC-916E-9511-3546-ED6C1F16BBE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6A7445F9-E1D5-B34E-5863-EE158FFCE6E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7F49F6D-DB13-5742-B2C5-7EEF6794A3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28183DC-0AC5-6A45-D5DE-F21148A1F25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AD05F2-949B-6EBA-0958-6CCC6657268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3B8F4F-9343-0DDB-3911-789A4E855D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5C9D5D-784A-CFC4-4B63-8DB9B7E35B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7452416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6AD055-4FDE-5AA0-8189-CB79519E900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B3D2784-6C96-5BF1-DC1C-14A9862479C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5205B78-74F3-512A-CECC-D400A53462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88C8D6F0-65B3-3EC0-93DC-9C8C154B5A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4EA4C4-6771-A728-3AF4-9DD0C44179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A1F8F90-5BBB-BC68-E40B-3B287EA52E1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D6D66A-4F8E-72A1-DDEE-214333393C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29F802D-2C21-220E-81D3-EABB1BBECB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97BEDF-17B8-13E5-0DD3-6664BD7890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Picture 4">
            <a:extLst>
              <a:ext uri="{FF2B5EF4-FFF2-40B4-BE49-F238E27FC236}">
                <a16:creationId xmlns:a16="http://schemas.microsoft.com/office/drawing/2014/main" id="{6ACD4586-5708-226D-D134-AD3D211B74E6}"/>
              </a:ext>
            </a:extLst>
          </p:cNvPr>
          <p:cNvPicPr>
            <a:picLocks noChangeAspect="1"/>
          </p:cNvPicPr>
          <p:nvPr/>
        </p:nvPicPr>
        <p:blipFill>
          <a:blip r:embed="rId4"/>
          <a:stretch>
            <a:fillRect/>
          </a:stretch>
        </p:blipFill>
        <p:spPr>
          <a:xfrm>
            <a:off x="2507133" y="3214713"/>
            <a:ext cx="6649377" cy="2644761"/>
          </a:xfrm>
          <a:prstGeom prst="rect">
            <a:avLst/>
          </a:prstGeom>
        </p:spPr>
      </p:pic>
      <p:pic>
        <p:nvPicPr>
          <p:cNvPr id="7" name="Picture 6">
            <a:extLst>
              <a:ext uri="{FF2B5EF4-FFF2-40B4-BE49-F238E27FC236}">
                <a16:creationId xmlns:a16="http://schemas.microsoft.com/office/drawing/2014/main" id="{6A00BD3A-0A73-8147-BEE2-AD09DE9C544B}"/>
              </a:ext>
            </a:extLst>
          </p:cNvPr>
          <p:cNvPicPr>
            <a:picLocks noChangeAspect="1"/>
          </p:cNvPicPr>
          <p:nvPr/>
        </p:nvPicPr>
        <p:blipFill>
          <a:blip r:embed="rId5"/>
          <a:stretch>
            <a:fillRect/>
          </a:stretch>
        </p:blipFill>
        <p:spPr>
          <a:xfrm>
            <a:off x="1695749" y="906290"/>
            <a:ext cx="8272147" cy="2127884"/>
          </a:xfrm>
          <a:prstGeom prst="rect">
            <a:avLst/>
          </a:prstGeom>
        </p:spPr>
      </p:pic>
      <p:sp>
        <p:nvSpPr>
          <p:cNvPr id="9" name="TextBox 8">
            <a:extLst>
              <a:ext uri="{FF2B5EF4-FFF2-40B4-BE49-F238E27FC236}">
                <a16:creationId xmlns:a16="http://schemas.microsoft.com/office/drawing/2014/main" id="{27E9F852-8EFE-89A1-65B3-5B99FF8A265C}"/>
              </a:ext>
            </a:extLst>
          </p:cNvPr>
          <p:cNvSpPr txBox="1"/>
          <p:nvPr/>
        </p:nvSpPr>
        <p:spPr>
          <a:xfrm>
            <a:off x="3531056" y="6277819"/>
            <a:ext cx="6235886" cy="246221"/>
          </a:xfrm>
          <a:prstGeom prst="rect">
            <a:avLst/>
          </a:prstGeom>
          <a:noFill/>
        </p:spPr>
        <p:txBody>
          <a:bodyPr wrap="square">
            <a:spAutoFit/>
          </a:bodyPr>
          <a:lstStyle/>
          <a:p>
            <a:pPr algn="ctr"/>
            <a:r>
              <a:rPr lang="en-US" sz="1000" dirty="0">
                <a:hlinkClick r:id="rId6"/>
              </a:rPr>
              <a:t>https://www.sciencedirect.com/science/article/pii/S1568494619302339</a:t>
            </a:r>
            <a:r>
              <a:rPr lang="en-US" sz="1000" dirty="0"/>
              <a:t> (Sorry for the horrible image quality!)</a:t>
            </a:r>
          </a:p>
        </p:txBody>
      </p:sp>
    </p:spTree>
    <p:extLst>
      <p:ext uri="{BB962C8B-B14F-4D97-AF65-F5344CB8AC3E}">
        <p14:creationId xmlns:p14="http://schemas.microsoft.com/office/powerpoint/2010/main" val="27797806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394BE8-4ABA-E401-DDC3-2C2EFD410B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8FCC9A-316B-BF98-3C8E-B3982BAF8993}"/>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If you are continuously going in a circle where every meter the wall changes color, and you end up drifting, is there something that might help you figure out if you have drifted or how to correct for that drift?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If the robot can </a:t>
            </a:r>
            <a:r>
              <a:rPr lang="en-US" sz="2000" b="1" dirty="0">
                <a:latin typeface="Arial"/>
                <a:ea typeface="Arial"/>
                <a:cs typeface="Arial"/>
                <a:sym typeface="Arial"/>
              </a:rPr>
              <a:t>detect</a:t>
            </a:r>
            <a:r>
              <a:rPr lang="en-US" sz="2000" dirty="0">
                <a:latin typeface="Arial"/>
                <a:ea typeface="Arial"/>
                <a:cs typeface="Arial"/>
                <a:sym typeface="Arial"/>
              </a:rPr>
              <a:t> that it has returned to a previously-mapped location…</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…it immediately knows </a:t>
            </a:r>
            <a:r>
              <a:rPr lang="en-US" sz="2000" b="1" dirty="0">
                <a:latin typeface="Arial"/>
                <a:ea typeface="Arial"/>
                <a:cs typeface="Arial"/>
                <a:sym typeface="Arial"/>
              </a:rPr>
              <a:t>exactly</a:t>
            </a:r>
            <a:r>
              <a:rPr lang="en-US" sz="2000" dirty="0">
                <a:latin typeface="Arial"/>
                <a:ea typeface="Arial"/>
                <a:cs typeface="Arial"/>
                <a:sym typeface="Arial"/>
              </a:rPr>
              <a:t> how much total drift accumulated over the loop!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And it can then distribute that error correction backward through every pose in the loop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is the </a:t>
            </a:r>
            <a:r>
              <a:rPr lang="en-US" sz="2000" b="1" dirty="0">
                <a:latin typeface="Arial"/>
                <a:ea typeface="Arial"/>
                <a:cs typeface="Arial"/>
                <a:sym typeface="Arial"/>
              </a:rPr>
              <a:t>single most important trick </a:t>
            </a:r>
            <a:r>
              <a:rPr lang="en-US" sz="2000" dirty="0">
                <a:latin typeface="Arial"/>
                <a:ea typeface="Arial"/>
                <a:cs typeface="Arial"/>
                <a:sym typeface="Arial"/>
              </a:rPr>
              <a:t>in modern SLAM - without it, long runs are impossible!</a:t>
            </a:r>
          </a:p>
        </p:txBody>
      </p:sp>
      <p:sp>
        <p:nvSpPr>
          <p:cNvPr id="119" name="Google Shape;119;p29">
            <a:extLst>
              <a:ext uri="{FF2B5EF4-FFF2-40B4-BE49-F238E27FC236}">
                <a16:creationId xmlns:a16="http://schemas.microsoft.com/office/drawing/2014/main" id="{D9E4AFA1-AF02-8B8E-1BC2-265D88524F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B9EE7C2-D410-F1D3-99BF-F3EFB1C4B55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The World</a:t>
            </a:r>
          </a:p>
        </p:txBody>
      </p:sp>
      <p:pic>
        <p:nvPicPr>
          <p:cNvPr id="121" name="Google Shape;121;p29">
            <a:extLst>
              <a:ext uri="{FF2B5EF4-FFF2-40B4-BE49-F238E27FC236}">
                <a16:creationId xmlns:a16="http://schemas.microsoft.com/office/drawing/2014/main" id="{4365D4B1-B882-9902-0EB5-9CED69305A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DEB7DB4-8CDD-3C45-A01B-134183F571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1D51A1-F58B-6F85-FCB0-8FA1E64116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F801DC-3DE2-0186-37C4-807B453C81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7E8DB-7BEC-C48A-40FE-FF731B7A5D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BCC009-FD1F-C88F-9462-914B925B9A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977484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1E06BB4-03F7-56B6-426D-DAE8FAB76C0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25A5D4B-3FB4-4D4E-72FF-AF5515BD2D58}"/>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367898EE-0D3A-47B9-FB14-2A9DF7880D1E}"/>
                </a:ext>
              </a:extLst>
            </p:cNvPr>
            <p:cNvSpPr txBox="1"/>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The Back-End</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885DDF02-A0EE-02DC-20FE-7BA723DDCD4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C5EC0FD-0B30-7E0A-1572-E703A166FA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B58D21D-0F66-6D8D-AB6D-BCF7535E064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E5E6C816-79FB-6E5F-9984-B410D98916A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0687FF44-267D-D3C1-CC68-DC8F2BE236E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F2C5EAD5-905F-B91A-71FB-91E84294C689}"/>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D2E3EED6-ACF0-A668-2871-4DF99F9A91A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DE77591-AEA9-43D3-89D1-32373F44D9B4}"/>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622351043"/>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F87DD6F-C188-465A-3028-091ADB59FE7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606BAFD-54E3-C35F-2224-AC55826B30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0BA162C-7180-1CB9-5B38-6D6E83DFEF9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Modern SLAM: Front-End vs Back-End</a:t>
            </a:r>
          </a:p>
        </p:txBody>
      </p:sp>
      <p:pic>
        <p:nvPicPr>
          <p:cNvPr id="121" name="Google Shape;121;p29">
            <a:extLst>
              <a:ext uri="{FF2B5EF4-FFF2-40B4-BE49-F238E27FC236}">
                <a16:creationId xmlns:a16="http://schemas.microsoft.com/office/drawing/2014/main" id="{2A4A0EB1-73DE-7873-14D0-54852B328A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5BD2F6-7678-59D3-6E90-D843D09121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8ACF1B-010A-E840-8F9C-36E9B346B1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EC32C97-E502-BDF7-49A2-3261D2845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1FA69-94C5-8F5F-34FA-7BFE26E038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69F905-B208-F803-9A5B-A14B78966E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12" name="Group 11">
            <a:extLst>
              <a:ext uri="{FF2B5EF4-FFF2-40B4-BE49-F238E27FC236}">
                <a16:creationId xmlns:a16="http://schemas.microsoft.com/office/drawing/2014/main" id="{165B3411-E44C-406A-7FF2-9433ED9DC6F9}"/>
              </a:ext>
            </a:extLst>
          </p:cNvPr>
          <p:cNvGrpSpPr/>
          <p:nvPr/>
        </p:nvGrpSpPr>
        <p:grpSpPr>
          <a:xfrm>
            <a:off x="493269" y="2257682"/>
            <a:ext cx="5577840" cy="2599509"/>
            <a:chOff x="563880" y="1188720"/>
            <a:chExt cx="5577840" cy="2599509"/>
          </a:xfrm>
        </p:grpSpPr>
        <p:sp>
          <p:nvSpPr>
            <p:cNvPr id="4" name="Shape 3">
              <a:extLst>
                <a:ext uri="{FF2B5EF4-FFF2-40B4-BE49-F238E27FC236}">
                  <a16:creationId xmlns:a16="http://schemas.microsoft.com/office/drawing/2014/main" id="{0165D7D3-D630-2E69-B86B-8FA2FC401C37}"/>
                </a:ext>
              </a:extLst>
            </p:cNvPr>
            <p:cNvSpPr/>
            <p:nvPr/>
          </p:nvSpPr>
          <p:spPr>
            <a:xfrm>
              <a:off x="563880" y="1188720"/>
              <a:ext cx="5577840" cy="2599509"/>
            </a:xfrm>
            <a:prstGeom prst="rect">
              <a:avLst/>
            </a:prstGeom>
            <a:solidFill>
              <a:srgbClr val="F1F5F9"/>
            </a:solidFill>
            <a:ln/>
          </p:spPr>
          <p:txBody>
            <a:bodyPr/>
            <a:lstStyle/>
            <a:p>
              <a:endParaRPr lang="en-US">
                <a:latin typeface="+mj-lt"/>
              </a:endParaRPr>
            </a:p>
          </p:txBody>
        </p:sp>
        <p:sp>
          <p:nvSpPr>
            <p:cNvPr id="5" name="Shape 4">
              <a:extLst>
                <a:ext uri="{FF2B5EF4-FFF2-40B4-BE49-F238E27FC236}">
                  <a16:creationId xmlns:a16="http://schemas.microsoft.com/office/drawing/2014/main" id="{C48F64F2-A6CE-66E9-DE72-48A7428AFAEE}"/>
                </a:ext>
              </a:extLst>
            </p:cNvPr>
            <p:cNvSpPr/>
            <p:nvPr/>
          </p:nvSpPr>
          <p:spPr>
            <a:xfrm>
              <a:off x="563880" y="1188720"/>
              <a:ext cx="5577840" cy="411480"/>
            </a:xfrm>
            <a:prstGeom prst="rect">
              <a:avLst/>
            </a:prstGeom>
            <a:solidFill>
              <a:srgbClr val="13294B"/>
            </a:solidFill>
            <a:ln/>
          </p:spPr>
          <p:txBody>
            <a:bodyPr/>
            <a:lstStyle/>
            <a:p>
              <a:endParaRPr lang="en-US">
                <a:latin typeface="+mj-lt"/>
              </a:endParaRPr>
            </a:p>
          </p:txBody>
        </p:sp>
        <p:sp>
          <p:nvSpPr>
            <p:cNvPr id="6" name="Text 5">
              <a:extLst>
                <a:ext uri="{FF2B5EF4-FFF2-40B4-BE49-F238E27FC236}">
                  <a16:creationId xmlns:a16="http://schemas.microsoft.com/office/drawing/2014/main" id="{2586DF8B-BA9C-064E-44E9-AF81208AC267}"/>
                </a:ext>
              </a:extLst>
            </p:cNvPr>
            <p:cNvSpPr/>
            <p:nvPr/>
          </p:nvSpPr>
          <p:spPr>
            <a:xfrm>
              <a:off x="746760" y="1188720"/>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FRONT-END</a:t>
              </a:r>
              <a:endParaRPr lang="en-US" sz="1400" dirty="0">
                <a:latin typeface="+mj-lt"/>
              </a:endParaRPr>
            </a:p>
          </p:txBody>
        </p:sp>
        <p:sp>
          <p:nvSpPr>
            <p:cNvPr id="7" name="Text 6">
              <a:extLst>
                <a:ext uri="{FF2B5EF4-FFF2-40B4-BE49-F238E27FC236}">
                  <a16:creationId xmlns:a16="http://schemas.microsoft.com/office/drawing/2014/main" id="{CB73481E-C823-5E7D-643C-03CE4CA31C4E}"/>
                </a:ext>
              </a:extLst>
            </p:cNvPr>
            <p:cNvSpPr/>
            <p:nvPr/>
          </p:nvSpPr>
          <p:spPr>
            <a:xfrm>
              <a:off x="792480" y="1737360"/>
              <a:ext cx="5120640" cy="1867013"/>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Runs at sensor rate (10-100 Hz)</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Input: raw LiDAR + odometry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Output: relative transforms between consecutive poses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Algorithms: ICP variants, RANSAC</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Job: produce the best </a:t>
              </a:r>
              <a:r>
                <a:rPr lang="en-US" sz="1400" b="1" dirty="0">
                  <a:solidFill>
                    <a:srgbClr val="1E293B"/>
                  </a:solidFill>
                  <a:latin typeface="+mj-lt"/>
                  <a:ea typeface="Calibri" pitchFamily="34" charset="-122"/>
                  <a:cs typeface="Calibri" pitchFamily="34" charset="-120"/>
                </a:rPr>
                <a:t>short-term</a:t>
              </a:r>
              <a:r>
                <a:rPr lang="en-US" sz="1400" dirty="0">
                  <a:solidFill>
                    <a:srgbClr val="1E293B"/>
                  </a:solidFill>
                  <a:latin typeface="+mj-lt"/>
                  <a:ea typeface="Calibri" pitchFamily="34" charset="-122"/>
                  <a:cs typeface="Calibri" pitchFamily="34" charset="-120"/>
                </a:rPr>
                <a:t> motion estimate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Lives in the “now”</a:t>
              </a:r>
              <a:endParaRPr lang="en-US" sz="1400" dirty="0">
                <a:latin typeface="+mj-lt"/>
              </a:endParaRPr>
            </a:p>
          </p:txBody>
        </p:sp>
      </p:grpSp>
      <p:grpSp>
        <p:nvGrpSpPr>
          <p:cNvPr id="13" name="Group 12">
            <a:extLst>
              <a:ext uri="{FF2B5EF4-FFF2-40B4-BE49-F238E27FC236}">
                <a16:creationId xmlns:a16="http://schemas.microsoft.com/office/drawing/2014/main" id="{F0DE5590-7399-51F6-29DA-CA703FEEFDB5}"/>
              </a:ext>
            </a:extLst>
          </p:cNvPr>
          <p:cNvGrpSpPr/>
          <p:nvPr/>
        </p:nvGrpSpPr>
        <p:grpSpPr>
          <a:xfrm>
            <a:off x="6345429" y="2257682"/>
            <a:ext cx="5212080" cy="2599509"/>
            <a:chOff x="6416040" y="1188720"/>
            <a:chExt cx="5212080" cy="2599509"/>
          </a:xfrm>
        </p:grpSpPr>
        <p:sp>
          <p:nvSpPr>
            <p:cNvPr id="8" name="Shape 7">
              <a:extLst>
                <a:ext uri="{FF2B5EF4-FFF2-40B4-BE49-F238E27FC236}">
                  <a16:creationId xmlns:a16="http://schemas.microsoft.com/office/drawing/2014/main" id="{FA7A9FCF-EC8B-BD5B-70B4-4251ACCDB46C}"/>
                </a:ext>
              </a:extLst>
            </p:cNvPr>
            <p:cNvSpPr/>
            <p:nvPr/>
          </p:nvSpPr>
          <p:spPr>
            <a:xfrm>
              <a:off x="6416040" y="1188720"/>
              <a:ext cx="5212080" cy="2599509"/>
            </a:xfrm>
            <a:prstGeom prst="rect">
              <a:avLst/>
            </a:prstGeom>
            <a:solidFill>
              <a:srgbClr val="F1F5F9"/>
            </a:solidFill>
            <a:ln/>
          </p:spPr>
          <p:txBody>
            <a:bodyPr/>
            <a:lstStyle/>
            <a:p>
              <a:endParaRPr lang="en-US">
                <a:latin typeface="+mj-lt"/>
              </a:endParaRPr>
            </a:p>
          </p:txBody>
        </p:sp>
        <p:sp>
          <p:nvSpPr>
            <p:cNvPr id="9" name="Shape 8">
              <a:extLst>
                <a:ext uri="{FF2B5EF4-FFF2-40B4-BE49-F238E27FC236}">
                  <a16:creationId xmlns:a16="http://schemas.microsoft.com/office/drawing/2014/main" id="{03254C55-5208-8CE7-2D13-33E3D2AB882B}"/>
                </a:ext>
              </a:extLst>
            </p:cNvPr>
            <p:cNvSpPr/>
            <p:nvPr/>
          </p:nvSpPr>
          <p:spPr>
            <a:xfrm>
              <a:off x="6416040" y="1188720"/>
              <a:ext cx="5212080" cy="411480"/>
            </a:xfrm>
            <a:prstGeom prst="rect">
              <a:avLst/>
            </a:prstGeom>
            <a:solidFill>
              <a:srgbClr val="13294B"/>
            </a:solidFill>
            <a:ln/>
          </p:spPr>
          <p:txBody>
            <a:bodyPr/>
            <a:lstStyle/>
            <a:p>
              <a:endParaRPr lang="en-US">
                <a:latin typeface="+mj-lt"/>
              </a:endParaRPr>
            </a:p>
          </p:txBody>
        </p:sp>
        <p:sp>
          <p:nvSpPr>
            <p:cNvPr id="10" name="Text 9">
              <a:extLst>
                <a:ext uri="{FF2B5EF4-FFF2-40B4-BE49-F238E27FC236}">
                  <a16:creationId xmlns:a16="http://schemas.microsoft.com/office/drawing/2014/main" id="{D689B081-2483-6119-6EC1-07A8B6C5263F}"/>
                </a:ext>
              </a:extLst>
            </p:cNvPr>
            <p:cNvSpPr/>
            <p:nvPr/>
          </p:nvSpPr>
          <p:spPr>
            <a:xfrm>
              <a:off x="6598920" y="1188720"/>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BACK-END</a:t>
              </a:r>
              <a:endParaRPr lang="en-US" sz="1400" dirty="0">
                <a:latin typeface="+mj-lt"/>
              </a:endParaRPr>
            </a:p>
          </p:txBody>
        </p:sp>
        <p:sp>
          <p:nvSpPr>
            <p:cNvPr id="11" name="Text 10">
              <a:extLst>
                <a:ext uri="{FF2B5EF4-FFF2-40B4-BE49-F238E27FC236}">
                  <a16:creationId xmlns:a16="http://schemas.microsoft.com/office/drawing/2014/main" id="{84B875B7-3753-6EDA-1677-B9CF18E5E207}"/>
                </a:ext>
              </a:extLst>
            </p:cNvPr>
            <p:cNvSpPr/>
            <p:nvPr/>
          </p:nvSpPr>
          <p:spPr>
            <a:xfrm>
              <a:off x="6644640" y="1737360"/>
              <a:ext cx="4754880" cy="1867013"/>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Runs slower (1-5 Hz) or asynchronously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Input: stream of relative transforms + loop detections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Output: globally optimized trajectory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Algorithms: Gauss-Newton, Levenberg-Marquardt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Job: redistribute accumulated error </a:t>
              </a:r>
              <a:r>
                <a:rPr lang="en-US" sz="1400" b="1" dirty="0">
                  <a:solidFill>
                    <a:srgbClr val="1E293B"/>
                  </a:solidFill>
                  <a:latin typeface="+mj-lt"/>
                  <a:ea typeface="Calibri" pitchFamily="34" charset="-122"/>
                  <a:cs typeface="Calibri" pitchFamily="34" charset="-120"/>
                </a:rPr>
                <a:t>globally</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Lives in the “history”</a:t>
              </a:r>
              <a:endParaRPr lang="en-US" sz="1400" dirty="0">
                <a:latin typeface="+mj-lt"/>
              </a:endParaRPr>
            </a:p>
          </p:txBody>
        </p:sp>
      </p:grpSp>
    </p:spTree>
    <p:extLst>
      <p:ext uri="{BB962C8B-B14F-4D97-AF65-F5344CB8AC3E}">
        <p14:creationId xmlns:p14="http://schemas.microsoft.com/office/powerpoint/2010/main" val="50196559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1325</TotalTime>
  <Words>8155</Words>
  <Application>Microsoft Office PowerPoint</Application>
  <PresentationFormat>Widescreen</PresentationFormat>
  <Paragraphs>1161</Paragraphs>
  <Slides>111</Slides>
  <Notes>111</Notes>
  <HiddenSlides>0</HiddenSlides>
  <MMClips>2</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111</vt:i4>
      </vt:variant>
    </vt:vector>
  </HeadingPairs>
  <TitlesOfParts>
    <vt:vector size="116"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563</cp:revision>
  <dcterms:created xsi:type="dcterms:W3CDTF">2019-01-14T22:06:33Z</dcterms:created>
  <dcterms:modified xsi:type="dcterms:W3CDTF">2026-04-22T10:53:17Z</dcterms:modified>
</cp:coreProperties>
</file>