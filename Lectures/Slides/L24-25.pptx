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ppm"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7"/>
  </p:notesMasterIdLst>
  <p:sldIdLst>
    <p:sldId id="256" r:id="rId2"/>
    <p:sldId id="417" r:id="rId3"/>
    <p:sldId id="413" r:id="rId4"/>
    <p:sldId id="272" r:id="rId5"/>
    <p:sldId id="490" r:id="rId6"/>
    <p:sldId id="491" r:id="rId7"/>
    <p:sldId id="504" r:id="rId8"/>
    <p:sldId id="493" r:id="rId9"/>
    <p:sldId id="494" r:id="rId10"/>
    <p:sldId id="495" r:id="rId11"/>
    <p:sldId id="496" r:id="rId12"/>
    <p:sldId id="497" r:id="rId13"/>
    <p:sldId id="498" r:id="rId14"/>
    <p:sldId id="499" r:id="rId15"/>
    <p:sldId id="500" r:id="rId16"/>
    <p:sldId id="501" r:id="rId17"/>
    <p:sldId id="502" r:id="rId18"/>
    <p:sldId id="503" r:id="rId19"/>
    <p:sldId id="448" r:id="rId20"/>
    <p:sldId id="505" r:id="rId21"/>
    <p:sldId id="506" r:id="rId22"/>
    <p:sldId id="507" r:id="rId23"/>
    <p:sldId id="509" r:id="rId24"/>
    <p:sldId id="508" r:id="rId25"/>
    <p:sldId id="510" r:id="rId26"/>
    <p:sldId id="511" r:id="rId27"/>
    <p:sldId id="512" r:id="rId28"/>
    <p:sldId id="513" r:id="rId29"/>
    <p:sldId id="514" r:id="rId30"/>
    <p:sldId id="515" r:id="rId31"/>
    <p:sldId id="516" r:id="rId32"/>
    <p:sldId id="525" r:id="rId33"/>
    <p:sldId id="517" r:id="rId34"/>
    <p:sldId id="520" r:id="rId35"/>
    <p:sldId id="519" r:id="rId36"/>
    <p:sldId id="521" r:id="rId37"/>
    <p:sldId id="522" r:id="rId38"/>
    <p:sldId id="523" r:id="rId39"/>
    <p:sldId id="524" r:id="rId40"/>
    <p:sldId id="518" r:id="rId41"/>
    <p:sldId id="526" r:id="rId42"/>
    <p:sldId id="527" r:id="rId43"/>
    <p:sldId id="528" r:id="rId44"/>
    <p:sldId id="529" r:id="rId45"/>
    <p:sldId id="530" r:id="rId46"/>
    <p:sldId id="531" r:id="rId47"/>
    <p:sldId id="532" r:id="rId48"/>
    <p:sldId id="533" r:id="rId49"/>
    <p:sldId id="534" r:id="rId50"/>
    <p:sldId id="552" r:id="rId51"/>
    <p:sldId id="535" r:id="rId52"/>
    <p:sldId id="536" r:id="rId53"/>
    <p:sldId id="537" r:id="rId54"/>
    <p:sldId id="538" r:id="rId55"/>
    <p:sldId id="539" r:id="rId56"/>
    <p:sldId id="540" r:id="rId57"/>
    <p:sldId id="541" r:id="rId58"/>
    <p:sldId id="542" r:id="rId59"/>
    <p:sldId id="545" r:id="rId60"/>
    <p:sldId id="546" r:id="rId61"/>
    <p:sldId id="547" r:id="rId62"/>
    <p:sldId id="548" r:id="rId63"/>
    <p:sldId id="549" r:id="rId64"/>
    <p:sldId id="543" r:id="rId65"/>
    <p:sldId id="550" r:id="rId66"/>
    <p:sldId id="551" r:id="rId67"/>
    <p:sldId id="554" r:id="rId68"/>
    <p:sldId id="555" r:id="rId69"/>
    <p:sldId id="556" r:id="rId70"/>
    <p:sldId id="557" r:id="rId71"/>
    <p:sldId id="565" r:id="rId72"/>
    <p:sldId id="558" r:id="rId73"/>
    <p:sldId id="559" r:id="rId74"/>
    <p:sldId id="560" r:id="rId75"/>
    <p:sldId id="561" r:id="rId76"/>
    <p:sldId id="562" r:id="rId77"/>
    <p:sldId id="563" r:id="rId78"/>
    <p:sldId id="564" r:id="rId79"/>
    <p:sldId id="566" r:id="rId80"/>
    <p:sldId id="567" r:id="rId81"/>
    <p:sldId id="568" r:id="rId82"/>
    <p:sldId id="569" r:id="rId83"/>
    <p:sldId id="570" r:id="rId84"/>
    <p:sldId id="571" r:id="rId85"/>
    <p:sldId id="572" r:id="rId86"/>
    <p:sldId id="573" r:id="rId87"/>
    <p:sldId id="574" r:id="rId88"/>
    <p:sldId id="576" r:id="rId89"/>
    <p:sldId id="575" r:id="rId90"/>
    <p:sldId id="577" r:id="rId91"/>
    <p:sldId id="578" r:id="rId92"/>
    <p:sldId id="580" r:id="rId93"/>
    <p:sldId id="579" r:id="rId94"/>
    <p:sldId id="581" r:id="rId95"/>
    <p:sldId id="582" r:id="rId96"/>
    <p:sldId id="583" r:id="rId97"/>
    <p:sldId id="584" r:id="rId98"/>
    <p:sldId id="585" r:id="rId99"/>
    <p:sldId id="586" r:id="rId100"/>
    <p:sldId id="587" r:id="rId101"/>
    <p:sldId id="588" r:id="rId102"/>
    <p:sldId id="589" r:id="rId103"/>
    <p:sldId id="590" r:id="rId104"/>
    <p:sldId id="591" r:id="rId105"/>
    <p:sldId id="592" r:id="rId106"/>
    <p:sldId id="594" r:id="rId107"/>
    <p:sldId id="593" r:id="rId108"/>
    <p:sldId id="595" r:id="rId109"/>
    <p:sldId id="596" r:id="rId110"/>
    <p:sldId id="606" r:id="rId111"/>
    <p:sldId id="597" r:id="rId112"/>
    <p:sldId id="598" r:id="rId113"/>
    <p:sldId id="599" r:id="rId114"/>
    <p:sldId id="600" r:id="rId115"/>
    <p:sldId id="602" r:id="rId116"/>
    <p:sldId id="258" r:id="rId117"/>
    <p:sldId id="604" r:id="rId118"/>
    <p:sldId id="605" r:id="rId119"/>
    <p:sldId id="607" r:id="rId120"/>
    <p:sldId id="608" r:id="rId121"/>
    <p:sldId id="609" r:id="rId122"/>
    <p:sldId id="613" r:id="rId123"/>
    <p:sldId id="610" r:id="rId124"/>
    <p:sldId id="611" r:id="rId125"/>
    <p:sldId id="612" r:id="rId126"/>
    <p:sldId id="615" r:id="rId127"/>
    <p:sldId id="614" r:id="rId128"/>
    <p:sldId id="616" r:id="rId129"/>
    <p:sldId id="617" r:id="rId130"/>
    <p:sldId id="618" r:id="rId131"/>
    <p:sldId id="621" r:id="rId132"/>
    <p:sldId id="619" r:id="rId133"/>
    <p:sldId id="620" r:id="rId134"/>
    <p:sldId id="622" r:id="rId135"/>
    <p:sldId id="623" r:id="rId136"/>
    <p:sldId id="624" r:id="rId137"/>
    <p:sldId id="626" r:id="rId138"/>
    <p:sldId id="627" r:id="rId139"/>
    <p:sldId id="628" r:id="rId140"/>
    <p:sldId id="629" r:id="rId141"/>
    <p:sldId id="632" r:id="rId142"/>
    <p:sldId id="631" r:id="rId143"/>
    <p:sldId id="630" r:id="rId144"/>
    <p:sldId id="633" r:id="rId145"/>
    <p:sldId id="636" r:id="rId146"/>
    <p:sldId id="640" r:id="rId147"/>
    <p:sldId id="634" r:id="rId148"/>
    <p:sldId id="635" r:id="rId149"/>
    <p:sldId id="637" r:id="rId150"/>
    <p:sldId id="639" r:id="rId151"/>
    <p:sldId id="641" r:id="rId152"/>
    <p:sldId id="638" r:id="rId153"/>
    <p:sldId id="271" r:id="rId154"/>
    <p:sldId id="642" r:id="rId155"/>
    <p:sldId id="270" r:id="rId15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5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9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viewProps" Target="view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775F6B-CE92-7D76-29DC-9332AC216B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8C68E78-8FB9-D179-E67F-8BC1A11681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AF400A-C3AA-286D-B44E-E7661705A5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5988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1DB8CD-CCC3-3A06-A22B-BD6B890F48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4E36DF-6192-8DCC-19BC-E6AE3E994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125E41-DD09-9DB9-3A77-807156511B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79582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A97959B-636F-5C4B-5E5A-D07721A1A3D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6845E92-E64E-EA32-32F5-0EFABC79CAE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B49D3F8-7FD8-986D-661A-0D92EC6259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933707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A0B213-FE4A-2238-5A85-94EF74759E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34ABA4-F021-A783-B3C7-C269EB4F29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499193-6FC3-ED10-BCFA-E839E224EF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9847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4CE519-4969-4FF8-F623-F29D7DC3353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91BC59-E70D-29F0-70F2-39AB3FD1673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18C2E-AEFD-9BC7-BF7F-826177334B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078838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25046-CA84-D8D8-70B1-8C765FB5B9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7AACE-F312-1FC0-70D9-63C3AB22C1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DAFA1D-2B0E-ABAA-81D3-DA5069BBF9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4445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252218-79DB-6584-B0A7-0432111A988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129514-A96F-FE09-1457-01B14A6CB72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0EA40D-477D-6923-70EC-8E618F1484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77919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8904C1-1E09-9D51-92CB-8020E8F32C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03396-424C-2915-29D8-E47F24CD1D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4F06D8-9D4F-85E7-0C19-40008CBD9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92263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5A0524-AF7F-4230-4568-4722F99884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756D4B-1394-A30A-8543-3212A26BDE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68CBC4-214E-53FD-7609-AE131161E0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191206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BED1C3-CE37-0EFF-5EB4-E4070B7D13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04F8A5-CE2A-899C-B989-783BACD747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F30AEA-AA9B-38D4-E019-180549B098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919275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C47FD34-7F0E-2FC3-788E-22097A74D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ED5DA1-F744-825D-834D-7A3800EBD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19EE58-B914-FCD0-917F-1EF5B0B116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02042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0B47ED-387B-B1B9-1F89-07BE5D55D8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CD893-2D34-2E5E-A7BC-E4DBDAC041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02B993-D21E-7974-E5E0-0C3AE6741E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189033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39936E-7A8B-07EE-F46C-97E6996BE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049A0B-D369-1F14-FF15-73A7DE3F3D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C935B2-F837-1A8D-F907-2E4DEA0EED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15810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DBD518-ED97-9618-7C7F-7913C5F8FC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4E6985-F1BF-7DB3-F584-BBD954B6FA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86C997-A80F-44E4-92DB-BED12B0B39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5364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387BB5-959C-E478-3DAD-4D83499245BE}"/>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600C003-0471-BBF4-154A-4FFB21E8B6B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B1C2EF8-7E9F-D5BE-130C-783EC11C60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39928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8E61F2-BD1D-AD62-E214-F0C3250E8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D562E57-C915-9CC6-03F3-51817AE313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B81430-C93B-91DC-336D-883839C6C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5078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82566-68DA-C442-B38E-BED4E04E8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7D3C95-8AFA-6D5E-1669-BCC4F32E1F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3393AB3-B3DF-AEE9-D9F1-7C01912013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65221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5E6374-746D-10C1-E8D9-63F71796B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C62AD8-840E-52E4-37D0-7FF2B00E10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EDC62A-7940-7037-45D6-954BC708BF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655351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355669-EB16-0D1A-A57C-16F2667EE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9D2F24-657B-1DAA-450C-0122225BCE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273792-0E94-F5DE-A1C8-1140D37952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56329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BDCC3B-782B-7862-56F5-DACDF7D3B5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737731-AAAC-3813-057C-1C654264E0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DFA6CE-ED13-FE7B-2167-B9D5949264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89798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61A084-E9EC-2754-E2AE-A42B4D3D36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2BBD9B1-B16E-4243-0D27-E5C73EEE0E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E05557-8266-BFF3-60F2-8C848DAE21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08906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C88B523-41FD-B9A3-2E38-E37CA90ADE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771FFF6-73B3-07A6-5A76-C6E77043982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11B482F-AD19-A0DE-A369-43B187F73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4696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5C159-2F27-0E84-FC20-B0ADA2997D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9BB84A-54A5-BA95-40EC-8148B351BD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8EEBD5-24A3-CCC9-83C0-4CD8C6167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95588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25EA8C-8B0A-8186-F974-7A6CB5F9BE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2D7F00-B86A-0F70-7E23-87255B814B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9A4D6B-E66C-793A-1E31-6AFAF3EAB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042157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7539E70-7DC1-63AB-E2C0-9E34114D8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BD8C7-C472-7BE3-8461-10E962CBD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59E0EA-1B2C-B356-F1EF-E67CDCA1D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708787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FD48A-C901-CFBA-20C6-8157C67E06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D45D09-9B0E-0F8A-C91B-2F9DFE299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21FBAB-D490-2972-1936-720E4F255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40321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0B769F-D7DA-19BD-1597-DAC3FEDE37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F9F79-DE1C-9FBB-2661-0EB2D371B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B239D3-2E44-22D7-5CFA-578429B6C6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001457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2626CE-7521-ECF7-0A26-885144CF6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070F-6669-6B56-39C8-531D9001DA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B41526-943B-36BC-9AF8-D08DD4ADF2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7600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95026F-9C15-E3DA-9165-F280126AD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8F6A77-7198-6E75-3560-7EE6286066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D9472B9-D46E-FB09-BF18-EEE8B876C9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611271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A3506B-2C83-725E-DC8E-70DF5441C6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05F423-988D-36E9-854B-15EA5D548A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9111F6-AEBC-92BB-7B69-0C94D967E7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12276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1D1D44-919A-710C-92F7-EBC5494938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7721BC-C952-5A53-2E42-628994552B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9807A-A68D-942E-C4B8-16858FC6E6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869714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F04D433-3B87-FC9A-F8B8-B0B3EC8A18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031B43-D83F-8D8B-0D7A-2D0DBCE452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38C143-E5EE-0D4E-C818-B7A8CB0DF7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311078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336F1A-6E89-CCFD-EC34-CC27F5E271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DABE72-C7DA-9585-C98E-D9B4FAC204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4E7693-A9FF-37A2-95DE-02AA0EA4BA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55542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69D5FA-A72E-6827-15FD-57E611659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B3BBF-D3EF-238C-905C-79050BA2FE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E39FFB-A19A-DFA5-C1F7-27E1F61B39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60882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2C721F-7AF9-969C-F455-0CF86C5EC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F71400-74C2-CFF2-EA11-FDE667BF48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12BD29-DDA0-3951-F650-B0029B0703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28581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E62010-A1E5-99FE-109D-CCACAA705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1AFC9C-803D-C324-E11E-AD9727E90E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76E856-537F-207A-3DE5-35D8B7F19A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952504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782878-7FFD-F45A-C7A5-107FC4158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2F6684-1C99-3979-FC0A-F722100475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3ABEAAC-F713-7E15-D5AF-052632D34D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94170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FF627FE-B07B-1129-A9C1-2E7AF65AEA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1A13A7-62E2-5AC6-344C-9400057A6F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0781E-1BF1-324E-7C47-3EC96DE50F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602935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C7D19C-CC68-7518-6504-3271B44020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D2415A-885E-1426-6EE8-A57F09E130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07BE08-4A8E-900F-F71B-0033BEA6C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517768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779595-936C-D346-A014-DA6886360A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913018-0614-508B-911C-0A86CD29C6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C5785-C90B-9198-08C3-3460E85351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42042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EFD835-0BF4-606D-CA93-C63A870DFB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8B7B25-8167-92F8-3C46-34F3B040921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994944-0C8C-7BB1-1D01-B6A79E3685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32278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CE889C-A7BB-03AB-FBC1-0FA185C535A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3BF8F0-C611-3A4A-3BC3-E7FD64E3E7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CB2F0A-B105-CF97-8BA9-A1782E2DAD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447015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86E9F9-BD7C-27AD-76CC-B17C73BEC2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5902D5-0B54-3E87-20CE-2BE1BE1423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0CBA19-1B5D-4C1F-A97B-81AE72742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168554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427534-DFFD-538A-5EC2-6D44900267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BD75BB-4130-43F9-0292-489E71C5FD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88D8C-DA6D-B1D5-B6F5-18139F3092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865091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675070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029766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5EF9BA-8FAA-33A2-C7B9-BAA5B8DEAB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084EEF-F14E-C525-B694-2F6E3CA7751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A3986-7730-1F3B-FD4B-AE3CBB9B2B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328984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745AB0-B20D-FD80-F7FB-C98EC5F679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FADE9-F9E3-623F-4295-3B6FD22B46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8F0DE3A-A209-59C4-8F35-F724C0C106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11674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B69666-A0D0-D832-4110-F4AAC623C5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99A5C4-E918-D3DB-7358-FAE81B7A1F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1FF5D8-C375-A4CB-B48C-A529303543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5305803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9E9C2-2856-F995-BE74-265A1E1A94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73DD0A-B72B-1951-14B6-9A97A7C7C9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F74A69-89D6-9C0B-BE99-D30BA77A10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60336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C1BBB3-452B-1BE8-EF0F-A79FF3A2E3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533A07-0675-F3DC-60E6-88721780FF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5A31A3-868D-F870-E2C4-B64FB33B03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299764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18D92A-B26C-FA05-9660-87C478ED46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F8C282-DF5C-E971-D016-AF8322C380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8A1F35-1BF6-4185-BB49-33F07EECD4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65403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BA9FCD-D2A4-C43C-936C-7731FA2F98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FA7F6B-4C18-4272-E09A-E061DBD0D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176EF2F-2D9B-6DAD-97AE-F8AEEE3E39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03284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8704E0-CB78-725C-95BE-C1CEA28975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52CF3-C888-8986-9968-65E4237EA6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321D8D-8FEB-9881-66BB-1F5BD8CCD8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739984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C1F833-ADAA-8362-3907-5F388650B5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4ACD5-7146-B841-E77E-AC626A4149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B5353D2-0367-3BD7-AFB3-9A24C03A59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4029002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52AF54-323F-2567-3F3F-F9FB85D9F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F47B69-0DC1-CB6E-AEFC-141B720D5F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4B4752-EA83-4852-E8DD-375A30B203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471693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1EAB3-FB32-86DC-86D7-2A7C5482CD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70F5EC-EB2A-1EE4-3CCC-EC5A077D5E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D9D269-91A0-8551-0F98-4405AB9363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2727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028594-DE1D-287B-13F5-6934087E7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6D90A5-CF35-4AA4-81DC-B398AF1667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7AF8FB-DC8C-5898-7483-7CE2C358EE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512682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C67749-6B32-61C5-AEA0-0322A6DCA9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436246-6698-B11A-2CCB-465F1A2F5F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B8D328-86ED-022E-DA5F-2B59F684B3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288205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48954E-9114-C4A5-9116-C6BE79204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F57043-5D29-9D11-744B-8C507A22B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27A3E6-D9DA-2FA7-F9D9-21FF4DCE10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71835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A54368-69BA-1200-7500-16D4BAD5F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6B9C85-F539-3BFC-DEDD-A121927B54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B0007E-156D-1A2A-1D05-4F4577C52D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193648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9A4048-2ADB-9B52-7708-951C0BBFE22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69558EF-EE16-15CE-C5F5-87D910C7FB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CFF00BF2-E49A-BE50-81BF-783C656884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5559425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7078AA-9B40-86EB-1911-98B326B9B9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01656-8832-3B6F-280B-900528F641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BC22C-F992-9FA4-9430-E14AEF0848A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3738374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9854A5-1D92-DBB7-9216-A4E7D784A4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7B5A38-3033-2F13-9ADD-4CF4CE19D9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3071B6-6902-E550-2800-4C6BE2EAC5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0368206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B3D920-FC95-EA82-744F-729ED5C3E7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DD9EB1-F860-2FE4-5B3F-9F76050B0D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17D045-68AA-15CD-4106-5F0E586D7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830189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9330A9-9030-7E33-058C-D681E9A08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75BEBF-E905-B3BE-6555-9FFEAB700C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770B138-AECD-8911-FC5B-B412AE7344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18659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3E663-800F-4E12-5615-E2EC7492D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2A5A01-D427-0409-7CF4-3A51589EB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D03B31-B524-9A23-A842-BB11EAD88C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469107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63B06D-166B-C3BF-FB66-4C91F80E86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1125EF-ABB1-198D-26F8-0E7BA618B2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E485DA-5784-16E4-BA1A-B363DFF3F0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589089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D417C97-C488-1A8C-E0B4-1A35A874D69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99CF1D-2BF9-C2BC-E763-D8FE877DC4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80E0EC-EB5D-275E-896D-503E413ED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660833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30EF73-104E-6584-2A49-F07C5B3E92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A017EC-7F1D-827C-474F-4B36FE98BA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4018A4-EA97-60DA-EC80-4E17D3F357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284002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E8AC47-D41F-41B1-3A0C-DFB233031E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FEC756-3A32-D1DF-C6B0-D534C0A4D3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B1105-3853-0286-7364-BAB735ACE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946902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14C1B0-BDE2-9764-330E-AF5FBEE5C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745306-8720-2E34-3615-71E53B1CF3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ECA527-6352-E575-7FBD-582FDD182C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464943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617D04-578A-0D95-1DB4-732BBC6AE4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E0439-6B51-F063-4C8A-E0EF8F5016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1E361BB-9749-5F01-9E37-E40452861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8669286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8831D8-7BB9-E9BF-0B41-F1F71FBC6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C9B9B1-4C22-3E38-E343-DF0A7A8151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92D333-F7E5-314A-FD3B-49A9645AD5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46456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B0A712-4A48-F20B-2351-1464671BF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6C462C-084A-5AE5-2DF9-47A4E0B355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2AD0BC-77BC-5ECC-EE8E-EE7EE80001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165432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1DEFB4-56E3-ED32-C949-B9BE7A20B9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6B190C-3060-6A70-F720-76CE45A116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E0632-957E-BB79-53A6-1669A850C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842780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0B78B43-A3C0-93BE-E2EA-4BA1004438B2}"/>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7A6CF35B-74B2-D3CD-B3FB-FE83C7BB3BE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E908A4F0-8646-68A5-4A9A-F847776490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27753466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E1C4C0-214D-C749-68F3-6434C50DCE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F2C35D-4B22-4B31-6D17-B4A6121A63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AA75C34-DB87-CC48-4797-6FC3772D83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551603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D9D98C-101B-913C-DE81-0E8A00AC18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0E185-D409-7AD5-4907-7C7BD32952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A70B7-388B-6033-3DDF-AC5505E96F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026983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DEF157-38FC-F674-D128-2EEC3C3DFF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EAF8AA-5E7D-76CD-411D-A05419FBB3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46F760-23BC-94E5-E522-AE06DA47A4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611791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653304-2F9D-0DD1-3E89-2558444F67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E70BB5-B858-A444-58A5-413D637707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D004C0-18AA-9E6E-EDDB-A8ECC22184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217020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10A87-73D9-16FD-FA47-BE8778D8C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9F22301-207B-B6AF-27B4-4648E89C8C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09842E-D014-09FD-5DDC-0DA2D43E78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2085864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EA8662-FC72-A59E-FDBD-9AE77FC1C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5EF1F3-CB71-326F-8246-D9FDF610A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040CE5-0458-76D7-7184-FF40CEB631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1164705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017AAC-A30B-7382-F23E-638749B7DA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FD4C3F-B1F4-8436-DA0D-E4657807F2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77966A-B2FD-67CD-D03B-3618C79DCC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7799029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6F531F-3300-FD83-5AE6-A31886446E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5E28CA3-BBBC-9ED3-5635-D229C15436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27A82B-B8BF-AE91-F8CE-1A5678637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91169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466E16-837D-4B9F-407F-6E4BAAB002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8367-FD38-C880-BFE1-F609A99560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5B30A0-D3BE-2798-471F-0C947F8BD8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007943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2D6B35-AD0B-17F5-ABFE-0E0755B627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2460EC-5D98-C3E4-0ED3-0A41998004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D2FD47-E316-69B1-1E20-84A28DF300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9530516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4F938-9B82-CAB6-73FA-1D270852DD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E0990A-2798-DDFE-D214-FD20916ECFC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2E6343-1F52-1BE9-3E81-D6BB60FC5C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55964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1EF55F-F613-DC6B-B9AB-28F7C937828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5F0E6-CE68-4ABC-EA75-0BF7DF3C2C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76A33FE-33F6-83C5-E45A-ABA90407FE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325607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8B1A4-8EA8-CDBD-B73E-A53E5D039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228F4-4697-76A9-101D-2BA69F0BAA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AA8064-BEC2-7659-D560-E2B80FCEEE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7493742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996526-18B3-6188-ABF0-A35766A092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38BA21-EED1-05CF-F392-0BA5615A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9577493-B023-D37F-ABB5-EAA1719652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390794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2F1175-4BBD-17E8-77CE-6639E819E8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B6ACD0-C32C-12D8-E9ED-3F9EAB0704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F0B7FB-8CC2-AD3E-676A-41394A5D2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323764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4D3E0C-511F-74D3-EDD2-9A7ED4DA3C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F0EEB-A45E-E4CF-76BC-085AA8B2F1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ECCE1F-B02C-C7AC-F269-7328609286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8155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368699-687D-CE0F-C743-7100CD4279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F9F429-350E-9079-AC54-F3CCC8665D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2B40E8-D34F-9809-A0CA-8ED9BCB6A5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16414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44C9CC-E7BA-65A2-12AB-614A1C922D8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0674D6-01DB-081A-CE3E-4578192212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7713D7-EE36-2799-23B4-92AF2131C9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0932926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E1C40D9-91E1-656E-EACA-C89887379A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8150B-431A-4ACB-44E2-0FE26C3B58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70FD4F-AD8B-FD36-A5DA-F9FC6F9C94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009028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83695A-A664-7FD2-36CE-04136453C6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C91990-A2F0-E10C-419D-8B4FA6F03F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0759DC-7813-10AB-793D-1939AB364C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766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50D207-ED2E-4A46-A08F-FC18F376A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7CF99F-CC04-F250-38D2-9E4DE7139D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C40D0D-D6A4-62C0-3A61-61AF43FF21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18688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3AE0501-B143-0E65-89D5-9FEBCF72821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D22F238D-89B8-B9C2-2E3E-87EB8C97D35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26BDD81-34D4-5FFE-78A8-52E67C49259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600475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C3F87-69B1-E9AF-5730-D9FB09A6DA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6FE1A7-05AB-D1C9-3C38-36D43168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27CAD-7F61-66A0-52D4-AD2DFEE673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961982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C6F8F-B12F-2588-F11D-9B9F67467A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0AB6-D453-84E2-48B3-B9CAD42B43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E10FA4-A5B2-C353-3261-5BB80F543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1647297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2DE68E-E053-D28C-7092-6F107E2A3D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5F6D97F-FA29-9FF6-0441-5209E8000C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3A5C4-F1B6-6B1E-F82F-9DCF236C17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666599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C3AE6-22E3-FD7B-4E33-1B161BDA5F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534B87-98CE-B804-0B0F-EA814947E4B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2EBE77-05FB-D54F-FD02-84F0B1E368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224119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62D6CB5-20F2-437B-A491-285F7659258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3F020E1-4F16-DEFF-47BC-D48BF8F1143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691E716A-8648-E8F0-1950-F92DA93A43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704164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1092E2-E719-EA62-5AFB-3A5C1AFD7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B57E4-09F2-4EE2-FB5C-B24FB90DC6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509B6C-AF56-F2DA-5C13-C256790A3F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564916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D8B0AF0-FBC3-9B25-2553-9522769F105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2218577E-B6AE-2B73-468F-B8D9293926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EDAB4B7-6D7F-CD8B-7FC0-DA3D9F000D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124886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A58E44-4EE0-4CEF-72F3-2CB47B79BF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CC2515-11A9-BC92-735D-83A8269017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276016-362E-A752-1615-3515C1EC35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3116816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34E434-118A-E658-C445-481F10217A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3EE933-D979-BA09-1CE4-4134377BAC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ECEEC-236B-9830-F105-F7F8875838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68311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432D04-6CCA-BE95-F2F2-25664C2F8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9A07B9-3890-8961-23C6-FA5D5805BD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7B0BA2-DF35-A027-E425-69D918EAA0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758195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BB1877-836A-D98D-F520-1ABE1A987D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3E3FC0-729A-573D-3291-8E399BF767D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4C519D-AC25-D482-5395-F6C386D94BB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5647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7FF575-7156-E471-AE83-B6FEF4ECB7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671EBE-96BE-518E-FE05-B10D91640D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D56B46-7C94-E633-0580-F967E8746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2423082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165759-E95B-AE18-E006-9D581C37C4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D77BB8-23D0-E33E-3A6E-23D331CC9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A6C4E5-98CE-1FBF-FA98-E35D8A23EB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9343512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43E50B-5446-CCB5-45FD-36447CC5A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C6C094-46D2-AD21-D3A8-F567D0D4E0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CF9A0E-D009-2B45-8B05-EBCE390FF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0815265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5E1D37-F87D-C577-06C6-4BD4AFBEB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690FB5-D6FF-0E46-A548-8C364087F3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077251-3D27-89AE-E4F5-83583EFB0C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24994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0D3B06-A4B1-8238-F695-A493714567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731D4F-E5C9-637B-F002-FAD4135C1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410543-DB9F-DE85-9F0A-F0E10EB108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30523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C674BF-22AE-82A0-F1D2-808866A9DC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8A6F99-5897-2435-56D8-252BC28A13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D04005-69C2-BB32-A4D9-8A2CD09E54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1135129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58F314-AA2F-1B33-74F0-3E0FC7A0A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23101-BCAF-D851-1E12-4680D33B58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6E6B81-5627-158E-3ABF-A9F6B00CD2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14795038"/>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1CABF3-F012-BC7C-6324-0556129A4A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CB99CA-9C0B-280B-5154-1A5D08C5FE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29D8DD-A3EA-ECB8-E0A2-942DC139B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376084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26FE3A-A95A-E27E-52FA-34CEB9C6B4B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7809B0-3C69-A128-C102-38D34584C9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C2CB97-C5C6-14E5-6776-637AA88032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38957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E60D30-9C80-F257-773C-2C0383EA5A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08A3E4-4949-08F5-758B-7F2C5543B6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8B2A31-6BC0-E98C-626A-E399C7F7DB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4981964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DEEA22-A866-5B72-4966-0F7E05159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94BCBA-5B33-FDC8-8130-6831F568D7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240D68-2EA0-1CAB-01B1-6A61D3B5F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5306892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B4C297-69E9-4D06-C49C-0B463EC99D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914995-B179-6F69-2E99-70BE48D4FB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01CF03-97D4-33D6-900D-0CA67F4D12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9064719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322E45-F94E-3DCD-B8C8-DE8CF1E749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884B8-A866-9A88-C88A-1491757941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BF34F5-7827-D650-0F43-6434467CD8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973928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EC92E32-7F07-F0AA-0BAC-05B5BA90DB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343051-6C73-A613-7F1D-B12764467B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D3F88CA-7B08-BCCC-BFF9-BEDD48C84D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340863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75CBB7-88A1-4DF0-8872-E91C4FD732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05072E-06F4-594E-2FFB-9E89EF25F4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269A8F-CD0A-D586-0A58-687E1818A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8432299"/>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F50C9A-9632-48BD-E3BD-6F1BA3145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D1D60E-A6AE-906C-4B04-95ED9828F8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E3CBFF-80F0-A524-530E-B71BF259FF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546103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4267AF-D9FF-88B1-836F-1637F3E861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7000D71-D9AF-E597-A2BE-D6AD5090B3D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7408B2-0650-5D81-7526-C5A3DE88F6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7291416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D8C49F-D843-74D7-4E95-D05E239308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54AB2E-E5FB-2684-7D09-8A1777C9A1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BD4E0E-EA60-4E17-D223-93C0DC69C3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7124942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28ABD52-2F69-CE44-CA2E-DBF9E93EDFE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A49C9ED-4359-CF6F-6B77-7CAE778351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FB8F7BD-462A-9004-F283-368D8429873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554231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247F7C-C88E-4948-EFAC-3BD34658D4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562CD56-421D-ACAB-68B2-F45E45C546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89A7C6-CE81-2F27-3019-73E0FAC16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8213844"/>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EE2BEE-3A66-06AE-D037-4CD054169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A42357-0BFA-1FA8-BD7A-DD28B76C09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F81FCB6-5020-A44A-203A-8555FF4DA8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687383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420CAD-659A-56DE-C993-EF4605B5C0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02B87E-AA4B-BDE0-472C-2424A7E2B8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5B0FBD-150D-1AE4-5BD5-D1143A7BE6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3271532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BFA095-7592-536B-9EC6-6C00656829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2E5A53-70BF-4C8B-7FD7-4A4D0853DF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8EA165-D34F-E5A1-22E3-13251272EF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3289242"/>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B45D0D6-594A-D90D-3612-E667424914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E1F270-3723-20C3-AB6F-F15F7BE271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A45DF4-7880-1EDC-FAF4-C0784A699B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5710088"/>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DCE059-659C-3A80-A2EE-10124BF6A0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4FEE2D-9C18-1657-A13B-798B18B246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3D452-51E9-A673-A2D1-BB0C72EAC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3214464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7F28B-D014-FD4F-E6EC-B273D693B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7C93CEE-C3F4-A003-27F5-8080B1C3D2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0EE58FB-4DE9-7197-7E8F-05924D27CE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328698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2DF259-450D-399A-5E35-B4C153C390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CB4EC1-0BF6-E1C9-BC52-87D1D92620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3FDB754-818A-FC76-A765-EA0B267CF0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0036387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9FA990-926D-FE33-144C-97DFCC43F3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42245-1FDE-D054-019A-E3504D703D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DB3F8B-2132-E536-D7B9-8550F3B69C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588291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12D7D4-67F7-37A3-8AF9-669C4617CD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35EC77-5058-82C7-1392-EF0217B67D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689530-D32D-5FF9-4629-9AE81867A0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4157808"/>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7CAA6C-F97E-AE4D-B377-E7B60B80D3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347630-627C-CA7E-D55C-1322786167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3D4853-51CB-1B92-8382-04E6ADB080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73271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D6FAF3-1FD3-C19C-AED8-236D43A876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AB1D52-1202-F40C-83CF-4F3FD511FB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8DBF3C-3984-AB04-B18F-978C1508C1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7664277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35D682-C230-BF3E-99AE-AB2D36F9CA3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14B8D2D-921F-508E-FFD6-F71A71E43FD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A837F88-361A-4559-67F0-DC71676A7E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985700514"/>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FAC1F5-D744-7469-D555-9709EE96D4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D8675-B35C-B076-5D42-4290392680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9B003-55B5-0082-D1D1-9DDDBEA31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39255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87B8ED-22AE-B39F-BF56-A184D2C487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193EC3-D851-B3AB-3D6D-48947FF1AF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03FD44-2184-7594-D867-C55831EC7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1071145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EE983-9376-4376-E2A1-D73B6FBFEF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050DEB-8B43-B421-CAC5-A440B59CD6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2DD2C19-4528-B51A-AA36-D1A0243103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0634430"/>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CD72E-033D-E57C-0733-EA705B89A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054438E-E719-4455-8746-E08623F15E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870BA-43BF-98C4-8AFC-C6C7AAB002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640858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55E86F-95DE-78C6-BA6B-206D12BA01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68951A-C2CD-CCBD-6B43-F9D44A8AC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BAB8C5-EE78-169E-BBC7-E1A174E141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7936069"/>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B6786535-9477-067F-3C18-C383D2359A7F}"/>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C43D572C-C802-7F0E-4A01-4EDB723239D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8CDB1FB-3D18-A0C5-9B25-98B0DC2D2C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39123569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5.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280.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2.xml"/><Relationship Id="rId1" Type="http://schemas.openxmlformats.org/officeDocument/2006/relationships/video" Target="https://www.youtube.com/embed/qsXhYjrJSG4?feature=oembed" TargetMode="External"/><Relationship Id="rId5" Type="http://schemas.openxmlformats.org/officeDocument/2006/relationships/image" Target="../media/image13.jpe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sv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260.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470.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29.svg"/></Relationships>
</file>

<file path=ppt/slides/_rels/slide7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0.svg"/></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svg"/></Relationships>
</file>

<file path=ppt/slides/_rels/slide9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3.svg"/></Relationships>
</file>

<file path=ppt/slides/_rels/slide97.xml.rels><?xml version="1.0" encoding="UTF-8" standalone="yes"?>
<Relationships xmlns="http://schemas.openxmlformats.org/package/2006/relationships"><Relationship Id="rId3" Type="http://schemas.openxmlformats.org/officeDocument/2006/relationships/notesSlide" Target="../notesSlides/notesSlide97.xml"/><Relationship Id="rId2" Type="http://schemas.openxmlformats.org/officeDocument/2006/relationships/slideLayout" Target="../slideLayouts/slideLayout2.xml"/><Relationship Id="rId1" Type="http://schemas.openxmlformats.org/officeDocument/2006/relationships/video" Target="https://www.youtube.com/embed/L_1L8KSsZVs?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9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image" Target="../media/image36.ppm"/><Relationship Id="rId5" Type="http://schemas.openxmlformats.org/officeDocument/2006/relationships/image" Target="../media/image35.ppm"/><Relationship Id="rId4" Type="http://schemas.openxmlformats.org/officeDocument/2006/relationships/hyperlink" Target="https://link.springer.com/chapter/10.1007/978-3-030-20867-7_30"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hyperlink" Target="https://www.sciencedirect.com/science/article/pii/S1568494619302339" TargetMode="External"/><Relationship Id="rId5" Type="http://schemas.openxmlformats.org/officeDocument/2006/relationships/image" Target="../media/image38.jpg"/><Relationship Id="rId4" Type="http://schemas.openxmlformats.org/officeDocument/2006/relationships/image" Target="../media/image37.jpg"/></Relationships>
</file>

<file path=ppt/slides/_rels/slide10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1.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1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3.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4.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5.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6.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7.xml"/><Relationship Id="rId1" Type="http://schemas.openxmlformats.org/officeDocument/2006/relationships/slideLayout" Target="../slideLayouts/slideLayout2.xml"/><Relationship Id="rId5" Type="http://schemas.openxmlformats.org/officeDocument/2006/relationships/hyperlink" Target="https://gtsam.org/2020/06/01/factor-graphs.html" TargetMode="External"/><Relationship Id="rId4" Type="http://schemas.openxmlformats.org/officeDocument/2006/relationships/image" Target="../media/image51.png"/></Relationships>
</file>

<file path=ppt/slides/_rels/slide1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hyperlink" Target="https://gtsam.org/tutorials/intro.html" TargetMode="External"/><Relationship Id="rId5" Type="http://schemas.openxmlformats.org/officeDocument/2006/relationships/image" Target="../media/image53.png"/><Relationship Id="rId4" Type="http://schemas.openxmlformats.org/officeDocument/2006/relationships/image" Target="../media/image52.png"/></Relationships>
</file>

<file path=ppt/slides/_rels/slide11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2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2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30.xml"/><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3.png"/></Relationships>
</file>

<file path=ppt/slides/_rels/slide1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31.xml"/><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3.png"/></Relationships>
</file>

<file path=ppt/slides/_rels/slide13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34.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6.xml"/><Relationship Id="rId1" Type="http://schemas.openxmlformats.org/officeDocument/2006/relationships/slideLayout" Target="../slideLayouts/slideLayout2.xml"/><Relationship Id="rId4" Type="http://schemas.openxmlformats.org/officeDocument/2006/relationships/image" Target="../media/image54.svg"/></Relationships>
</file>

<file path=ppt/slides/_rels/slide1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41.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3.png"/></Relationships>
</file>

<file path=ppt/slides/_rels/slide1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4.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5.xml"/><Relationship Id="rId1" Type="http://schemas.openxmlformats.org/officeDocument/2006/relationships/slideLayout" Target="../slideLayouts/slideLayout2.xml"/><Relationship Id="rId5" Type="http://schemas.openxmlformats.org/officeDocument/2006/relationships/hyperlink" Target="https://medium.com/@anushkasatav07/how-does-a-robot-recognize-where-its-been-place-recognition-and-loop-closure-intuitively-f5e3e3e6346e" TargetMode="External"/><Relationship Id="rId4" Type="http://schemas.openxmlformats.org/officeDocument/2006/relationships/image" Target="../media/image71.gif"/></Relationships>
</file>

<file path=ppt/slides/_rels/slide1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6.xml"/><Relationship Id="rId1" Type="http://schemas.openxmlformats.org/officeDocument/2006/relationships/slideLayout" Target="../slideLayouts/slideLayout2.xml"/><Relationship Id="rId5" Type="http://schemas.openxmlformats.org/officeDocument/2006/relationships/hyperlink" Target="https://yangfan.github.io/projects/SLAM/Graph-based-slam" TargetMode="External"/><Relationship Id="rId4" Type="http://schemas.openxmlformats.org/officeDocument/2006/relationships/image" Target="../media/image72.gif"/></Relationships>
</file>

<file path=ppt/slides/_rels/slide14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4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9.xml"/><Relationship Id="rId1" Type="http://schemas.openxmlformats.org/officeDocument/2006/relationships/slideLayout" Target="../slideLayouts/slideLayout2.xml"/><Relationship Id="rId5" Type="http://schemas.openxmlformats.org/officeDocument/2006/relationships/hyperlink" Target="https://www.cs.cmu.edu/~kaess/pub/Ho18iros.pdf" TargetMode="External"/><Relationship Id="rId4" Type="http://schemas.openxmlformats.org/officeDocument/2006/relationships/image" Target="../media/image73.svg"/></Relationships>
</file>

<file path=ppt/slides/_rels/slide1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2.xml"/><Relationship Id="rId1" Type="http://schemas.openxmlformats.org/officeDocument/2006/relationships/slideLayout" Target="../slideLayouts/slideLayout2.xml"/><Relationship Id="rId5" Type="http://schemas.openxmlformats.org/officeDocument/2006/relationships/hyperlink" Target="https://wilselby.com/2019/06/ouster-os-1-lidar-and-google-cartographer-integration/" TargetMode="External"/><Relationship Id="rId4" Type="http://schemas.openxmlformats.org/officeDocument/2006/relationships/image" Target="../media/image74.gif"/></Relationships>
</file>

<file path=ppt/slides/_rels/slide1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5.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55.xml"/><Relationship Id="rId1" Type="http://schemas.openxmlformats.org/officeDocument/2006/relationships/slideLayout" Target="../slideLayouts/slideLayout1.xml"/><Relationship Id="rId4" Type="http://schemas.openxmlformats.org/officeDocument/2006/relationships/image" Target="../media/image7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24: SLAM, Simultaneous Localization and Mapping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April </a:t>
            </a:r>
            <a:r>
              <a:rPr lang="en-US" sz="1800" dirty="0">
                <a:solidFill>
                  <a:schemeClr val="lt1"/>
                </a:solidFill>
              </a:rPr>
              <a:t>20</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How far are they in their personal project?</a:t>
            </a:r>
          </a:p>
          <a:p>
            <a:pPr marL="800100" lvl="1">
              <a:lnSpc>
                <a:spcPct val="100000"/>
              </a:lnSpc>
              <a:spcBef>
                <a:spcPts val="0"/>
              </a:spcBef>
              <a:buSzPts val="3000"/>
            </a:pPr>
            <a:r>
              <a:rPr lang="en-US" dirty="0">
                <a:latin typeface="Atkinson Hyperlegible Next"/>
                <a:ea typeface="Arial"/>
                <a:cs typeface="Arial"/>
                <a:sym typeface="Arial"/>
              </a:rPr>
              <a:t>What has their biggest challenge been? (other than just having the time to work on it)</a:t>
            </a:r>
            <a:endParaRPr lang="en-US"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400" dirty="0">
                <a:latin typeface="Atkinson Hyperlegible Next"/>
                <a:ea typeface="Arial"/>
                <a:cs typeface="Arial"/>
                <a:sym typeface="Arial"/>
              </a:rPr>
              <a:t>What is their plan for the final project?</a:t>
            </a:r>
          </a:p>
          <a:p>
            <a:pPr marL="800100" lvl="1">
              <a:lnSpc>
                <a:spcPct val="100000"/>
              </a:lnSpc>
              <a:spcBef>
                <a:spcPts val="0"/>
              </a:spcBef>
              <a:buSzPts val="3000"/>
            </a:pPr>
            <a:r>
              <a:rPr lang="en-US" dirty="0">
                <a:solidFill>
                  <a:schemeClr val="dk1"/>
                </a:solidFill>
                <a:latin typeface="Atkinson Hyperlegible Next"/>
                <a:ea typeface="Arial"/>
                <a:cs typeface="Arial"/>
                <a:sym typeface="Arial"/>
              </a:rPr>
              <a:t>If you are talking to someone in the same group, talk to another group!</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Finishing Lab 7 this week. This a 2-week lab! This is the final lab! Afterwards you will just be working on your final project in your teams.</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Clr>
                <a:srgbClr val="000000"/>
              </a:buClr>
              <a:buSzPts val="3000"/>
              <a:defRPr/>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5</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21, 5PM</a:t>
            </a:r>
            <a:endPar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285750" marR="0" lvl="0"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Next homework is primarily the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personal project </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due on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April 22, 9AM</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1AEB17-F730-C197-F2E1-5FE0C31448D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742882-1466-02A4-B5CB-8CC2CFD2331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a couple of steps to understand SLAM, these will be split into 5 parts focused on 2D LiDAR SLAM (since that is the most important one for our robot):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The robot turning on, in a completely unknown environment. Why is this hard?</a:t>
            </a:r>
          </a:p>
          <a:p>
            <a:pPr marL="342900">
              <a:lnSpc>
                <a:spcPct val="100000"/>
              </a:lnSpc>
              <a:spcBef>
                <a:spcPts val="0"/>
              </a:spcBef>
              <a:buSzPts val="3000"/>
            </a:pPr>
            <a:r>
              <a:rPr lang="en-US" sz="2200" dirty="0">
                <a:latin typeface="Atkinson Hyperlegible Next"/>
                <a:ea typeface="Arial"/>
                <a:cs typeface="Arial"/>
                <a:sym typeface="Arial"/>
              </a:rPr>
              <a:t>Localization, “where am I?” (ICP)</a:t>
            </a:r>
          </a:p>
          <a:p>
            <a:pPr marL="342900">
              <a:lnSpc>
                <a:spcPct val="100000"/>
              </a:lnSpc>
              <a:spcBef>
                <a:spcPts val="0"/>
              </a:spcBef>
              <a:buSzPts val="3000"/>
            </a:pPr>
            <a:r>
              <a:rPr lang="en-US" sz="2200" dirty="0">
                <a:latin typeface="Atkinson Hyperlegible Next"/>
                <a:ea typeface="Arial"/>
                <a:cs typeface="Arial"/>
                <a:sym typeface="Arial"/>
              </a:rPr>
              <a:t>Mapping, from the LiDAR, generate occupancy grids</a:t>
            </a:r>
          </a:p>
          <a:p>
            <a:pPr marL="342900">
              <a:lnSpc>
                <a:spcPct val="100000"/>
              </a:lnSpc>
              <a:spcBef>
                <a:spcPts val="0"/>
              </a:spcBef>
              <a:buSzPts val="3000"/>
            </a:pPr>
            <a:r>
              <a:rPr lang="en-US" sz="2200" dirty="0">
                <a:latin typeface="Atkinson Hyperlegible Next"/>
                <a:ea typeface="Arial"/>
                <a:cs typeface="Arial"/>
                <a:sym typeface="Arial"/>
              </a:rPr>
              <a:t>The back-end, pose graphs, factor graphs, and loop closure</a:t>
            </a:r>
          </a:p>
          <a:p>
            <a:pPr marL="342900">
              <a:lnSpc>
                <a:spcPct val="100000"/>
              </a:lnSpc>
              <a:spcBef>
                <a:spcPts val="0"/>
              </a:spcBef>
              <a:buSzPts val="3000"/>
            </a:pPr>
            <a:r>
              <a:rPr lang="en-US" sz="2200" dirty="0">
                <a:latin typeface="Atkinson Hyperlegible Next"/>
                <a:ea typeface="Arial"/>
                <a:cs typeface="Arial"/>
                <a:sym typeface="Arial"/>
              </a:rPr>
              <a:t>Real world situations, dynamic obstacles, ghost obstacles, robust SLAM</a:t>
            </a:r>
          </a:p>
        </p:txBody>
      </p:sp>
      <p:sp>
        <p:nvSpPr>
          <p:cNvPr id="119" name="Google Shape;119;p29">
            <a:extLst>
              <a:ext uri="{FF2B5EF4-FFF2-40B4-BE49-F238E27FC236}">
                <a16:creationId xmlns:a16="http://schemas.microsoft.com/office/drawing/2014/main" id="{D0DE98E0-6FFB-B178-E249-FD0F0ABECB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79D7D57-26B8-3084-EE6B-80D199195B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67AEAB1-2EFF-EC1E-0981-321FA21733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CF0CBC-5F70-8C4A-0539-636AC71DE7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7E63FC-4E78-1BF4-8B3B-BAA5806FF5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99600F-676A-803F-C84C-0894315A10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DAE41B-BD7E-A52C-E3F7-D2BDEC5D92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BB39D8-8128-90A6-5910-F02A839B07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929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5E7E3B-DC71-4742-4A46-5A077086FA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724871-B9CD-C122-6BF1-529AAD390C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will be multiple components that will be used in the SLAM: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Wheel odometry:</a:t>
            </a:r>
          </a:p>
          <a:p>
            <a:pPr marL="800100" lvl="1">
              <a:lnSpc>
                <a:spcPct val="100000"/>
              </a:lnSpc>
              <a:spcBef>
                <a:spcPts val="0"/>
              </a:spcBef>
              <a:buSzPts val="3000"/>
            </a:pPr>
            <a:r>
              <a:rPr lang="en-US" sz="1800" dirty="0">
                <a:latin typeface="Atkinson Hyperlegible Next"/>
                <a:ea typeface="Arial"/>
                <a:cs typeface="Arial"/>
                <a:sym typeface="Arial"/>
              </a:rPr>
              <a:t>Fast, low-latency, but drifts</a:t>
            </a:r>
          </a:p>
          <a:p>
            <a:pPr marL="342900">
              <a:lnSpc>
                <a:spcPct val="100000"/>
              </a:lnSpc>
              <a:spcBef>
                <a:spcPts val="0"/>
              </a:spcBef>
              <a:buSzPts val="3000"/>
            </a:pPr>
            <a:r>
              <a:rPr lang="en-US" sz="2200" dirty="0">
                <a:latin typeface="Atkinson Hyperlegible Next"/>
                <a:ea typeface="Arial"/>
                <a:cs typeface="Arial"/>
                <a:sym typeface="Arial"/>
              </a:rPr>
              <a:t>2D LiDAR</a:t>
            </a:r>
          </a:p>
          <a:p>
            <a:pPr marL="800100" lvl="1">
              <a:lnSpc>
                <a:spcPct val="100000"/>
              </a:lnSpc>
              <a:spcBef>
                <a:spcPts val="0"/>
              </a:spcBef>
              <a:buSzPts val="3000"/>
            </a:pPr>
            <a:r>
              <a:rPr lang="en-US" sz="1800" dirty="0">
                <a:latin typeface="Atkinson Hyperlegible Next"/>
                <a:ea typeface="Arial"/>
                <a:cs typeface="Arial"/>
                <a:sym typeface="Arial"/>
              </a:rPr>
              <a:t>High-resolution geometric ground truth, but it is only one slice of the world</a:t>
            </a:r>
          </a:p>
          <a:p>
            <a:pPr marL="342900">
              <a:lnSpc>
                <a:spcPct val="100000"/>
              </a:lnSpc>
              <a:spcBef>
                <a:spcPts val="0"/>
              </a:spcBef>
              <a:buSzPts val="3000"/>
            </a:pPr>
            <a:r>
              <a:rPr lang="en-US" sz="2200" dirty="0">
                <a:latin typeface="Atkinson Hyperlegible Next"/>
                <a:ea typeface="Arial"/>
                <a:cs typeface="Arial"/>
                <a:sym typeface="Arial"/>
              </a:rPr>
              <a:t>The Front-End:</a:t>
            </a:r>
          </a:p>
          <a:p>
            <a:pPr marL="800100" lvl="1">
              <a:lnSpc>
                <a:spcPct val="100000"/>
              </a:lnSpc>
              <a:spcBef>
                <a:spcPts val="0"/>
              </a:spcBef>
              <a:buSzPts val="3000"/>
            </a:pPr>
            <a:r>
              <a:rPr lang="en-US" sz="1800" dirty="0">
                <a:latin typeface="Atkinson Hyperlegible Next"/>
                <a:ea typeface="Arial"/>
                <a:cs typeface="Arial"/>
                <a:sym typeface="Arial"/>
              </a:rPr>
              <a:t>Converts the raw sequential scans into short-term motion estimates</a:t>
            </a:r>
          </a:p>
          <a:p>
            <a:pPr marL="342900">
              <a:lnSpc>
                <a:spcPct val="100000"/>
              </a:lnSpc>
              <a:spcBef>
                <a:spcPts val="0"/>
              </a:spcBef>
              <a:buSzPts val="3000"/>
            </a:pPr>
            <a:r>
              <a:rPr lang="en-US" sz="2200" dirty="0">
                <a:latin typeface="Atkinson Hyperlegible Next"/>
                <a:ea typeface="Arial"/>
                <a:cs typeface="Arial"/>
                <a:sym typeface="Arial"/>
              </a:rPr>
              <a:t>The Back-End:</a:t>
            </a:r>
          </a:p>
          <a:p>
            <a:pPr marL="800100" lvl="1">
              <a:lnSpc>
                <a:spcPct val="100000"/>
              </a:lnSpc>
              <a:spcBef>
                <a:spcPts val="0"/>
              </a:spcBef>
              <a:buSzPts val="3000"/>
            </a:pPr>
            <a:r>
              <a:rPr lang="en-US" sz="1800" dirty="0">
                <a:latin typeface="Atkinson Hyperlegible Next"/>
                <a:ea typeface="Arial"/>
                <a:cs typeface="Arial"/>
                <a:sym typeface="Arial"/>
              </a:rPr>
              <a:t>Optimizes the entire history when loops close (loop closure)</a:t>
            </a:r>
          </a:p>
          <a:p>
            <a:pPr marL="342900">
              <a:lnSpc>
                <a:spcPct val="100000"/>
              </a:lnSpc>
              <a:spcBef>
                <a:spcPts val="0"/>
              </a:spcBef>
              <a:buSzPts val="3000"/>
            </a:pPr>
            <a:r>
              <a:rPr lang="en-US" sz="2200" dirty="0">
                <a:latin typeface="Atkinson Hyperlegible Next"/>
                <a:ea typeface="Arial"/>
                <a:cs typeface="Arial"/>
                <a:sym typeface="Arial"/>
              </a:rPr>
              <a:t>The Map:</a:t>
            </a:r>
          </a:p>
          <a:p>
            <a:pPr marL="800100" lvl="1">
              <a:lnSpc>
                <a:spcPct val="100000"/>
              </a:lnSpc>
              <a:spcBef>
                <a:spcPts val="0"/>
              </a:spcBef>
              <a:buSzPts val="3000"/>
            </a:pPr>
            <a:r>
              <a:rPr lang="en-US" sz="1800" dirty="0">
                <a:latin typeface="Atkinson Hyperlegible Next"/>
                <a:ea typeface="Arial"/>
                <a:cs typeface="Arial"/>
                <a:sym typeface="Arial"/>
              </a:rPr>
              <a:t>A dynamic-aware model the planner can trust</a:t>
            </a:r>
          </a:p>
        </p:txBody>
      </p:sp>
      <p:sp>
        <p:nvSpPr>
          <p:cNvPr id="119" name="Google Shape;119;p29">
            <a:extLst>
              <a:ext uri="{FF2B5EF4-FFF2-40B4-BE49-F238E27FC236}">
                <a16:creationId xmlns:a16="http://schemas.microsoft.com/office/drawing/2014/main" id="{E95E899C-65BA-A082-1B0C-58ACEFA4A6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F145BF-C683-8286-9147-71B1935411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7A61312-B511-7569-9C00-3C8B9C5CAF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85A2CB-9F46-82D1-6A72-19AA3F7812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F03CE7-9A22-108B-FA3C-98DCF6E93B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AC639F-2AAA-D2B4-B552-15124895DD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135C6A-705A-D250-3247-F731516B1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C0374-26AC-8B56-AA41-AF24660EB5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6823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A6931C0-FCFE-86DD-DFA5-1C0CA557F9B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9D37BBD-044B-E061-B2AC-57425E51F334}"/>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5D3E79BC-35E8-8ADE-971E-0C47F2DECD0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Robot startup</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44F161A-39FC-92AA-88F3-7ED934DF0FC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ADA7A49-85A1-6DFB-40FC-613176529E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8CE32F4-CF7C-5338-5D6A-3CD81FF179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B854ACD-E9DF-82B4-3FD9-779EF852A5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5CA8CD6-481F-8E9D-B7D3-C03E7DED2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FE6185F-81F0-3BC7-EAA9-34E45B39D6E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3C6DB1D-D2F3-FA11-045B-69E8E4A2FCE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9D71201-F81B-1F32-070E-195D98C236A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17174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401C5B-6E85-5B57-2B7A-13BE544BB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10CAA4-F180-166B-E0F2-A437800E39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mobile robot is powered on for the first time inside an unknown warehouse / location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unknown?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No map</a:t>
            </a:r>
          </a:p>
          <a:p>
            <a:pPr marL="342900">
              <a:lnSpc>
                <a:spcPct val="100000"/>
              </a:lnSpc>
              <a:spcBef>
                <a:spcPts val="0"/>
              </a:spcBef>
              <a:buSzPts val="3000"/>
            </a:pPr>
            <a:r>
              <a:rPr lang="en-US" sz="2200" dirty="0">
                <a:latin typeface="Atkinson Hyperlegible Next"/>
                <a:ea typeface="Arial"/>
                <a:cs typeface="Arial"/>
                <a:sym typeface="Arial"/>
              </a:rPr>
              <a:t>No estimate of prior state (position)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Only has sensor streams! The LiDAR, IMU, Odometry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However, there are 2 questions that must be answered at every time-step to function properly and perform safe planning. What are they?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Where am I right now? (Localization)</a:t>
            </a:r>
          </a:p>
          <a:p>
            <a:pPr marL="342900">
              <a:lnSpc>
                <a:spcPct val="100000"/>
              </a:lnSpc>
              <a:spcBef>
                <a:spcPts val="0"/>
              </a:spcBef>
              <a:buSzPts val="3000"/>
            </a:pPr>
            <a:r>
              <a:rPr lang="en-US" sz="2200" dirty="0">
                <a:latin typeface="Atkinson Hyperlegible Next"/>
                <a:ea typeface="Arial"/>
                <a:cs typeface="Arial"/>
                <a:sym typeface="Arial"/>
              </a:rPr>
              <a:t>What does the world around me look like (Mapping)</a:t>
            </a:r>
          </a:p>
          <a:p>
            <a:pPr marL="342900">
              <a:lnSpc>
                <a:spcPct val="100000"/>
              </a:lnSpc>
              <a:spcBef>
                <a:spcPts val="0"/>
              </a:spcBef>
              <a:buSzPts val="3000"/>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CC5AE70-3F9C-83A6-44AE-E62C910845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D8D57F1-E7DC-5DBF-93E0-9FF8C6AC43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6F122D-F57F-86CD-0E9C-6E126823E4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245ED8-5FCF-ADF1-D35E-9AEF7108D0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17A609-1426-373B-6B56-3900C4F0F7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44DB35-0582-5E38-15BA-A6314F158F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CFB09-EE67-F2E5-00A3-FE54D69310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C43FFB2-8DC4-CDAA-7B4D-1DC2341F814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5578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09E2E88-687E-FA43-9FEA-89FF21DD6F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3356AC-3826-9D7C-518E-D87CE517F0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localization, why not just use GPS?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GPS needs line-of-sight to 4+ orbiting satellites, buildings block this completely</a:t>
            </a:r>
          </a:p>
          <a:p>
            <a:pPr marL="342900">
              <a:lnSpc>
                <a:spcPct val="150000"/>
              </a:lnSpc>
              <a:spcBef>
                <a:spcPts val="0"/>
              </a:spcBef>
              <a:buSzPts val="3000"/>
            </a:pPr>
            <a:r>
              <a:rPr lang="en-US" sz="2200" dirty="0">
                <a:latin typeface="Atkinson Hyperlegible Next"/>
                <a:ea typeface="Arial"/>
                <a:cs typeface="Arial"/>
                <a:sym typeface="Arial"/>
              </a:rPr>
              <a:t>Civilian GPS accuracy is ~3-5 m, useless when aisles are 1.5 m wide</a:t>
            </a:r>
          </a:p>
          <a:p>
            <a:pPr marL="342900">
              <a:lnSpc>
                <a:spcPct val="150000"/>
              </a:lnSpc>
              <a:spcBef>
                <a:spcPts val="0"/>
              </a:spcBef>
              <a:buSzPts val="3000"/>
            </a:pPr>
            <a:r>
              <a:rPr lang="en-US" sz="2200" dirty="0">
                <a:latin typeface="Atkinson Hyperlegible Next"/>
                <a:ea typeface="Arial"/>
                <a:cs typeface="Arial"/>
                <a:sym typeface="Arial"/>
              </a:rPr>
              <a:t>Underground environments (mines, subways, basements) receive zero signal</a:t>
            </a:r>
          </a:p>
          <a:p>
            <a:pPr marL="342900">
              <a:lnSpc>
                <a:spcPct val="150000"/>
              </a:lnSpc>
              <a:spcBef>
                <a:spcPts val="0"/>
              </a:spcBef>
              <a:buSzPts val="3000"/>
            </a:pPr>
            <a:r>
              <a:rPr lang="en-US" sz="2200" dirty="0">
                <a:latin typeface="Atkinson Hyperlegible Next"/>
                <a:ea typeface="Arial"/>
                <a:cs typeface="Arial"/>
                <a:sym typeface="Arial"/>
              </a:rPr>
              <a:t>Indoor RTK and UWB beacons work, but require expensive pre-installed infrastructure</a:t>
            </a:r>
          </a:p>
        </p:txBody>
      </p:sp>
      <p:sp>
        <p:nvSpPr>
          <p:cNvPr id="119" name="Google Shape;119;p29">
            <a:extLst>
              <a:ext uri="{FF2B5EF4-FFF2-40B4-BE49-F238E27FC236}">
                <a16:creationId xmlns:a16="http://schemas.microsoft.com/office/drawing/2014/main" id="{283996E2-B153-97D3-190E-28F90129F96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643D34-E0B5-62C8-BC30-3BB8B984BA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3E4436-7822-C12B-EF4B-C2ECF41E59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E35C74-D448-627B-599A-C6A110E74B3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CD8687D-A146-FAF6-055F-979C3E5120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0C7F1D-5E32-AE0F-224E-990410072C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238480-537A-A0B9-2711-2F84438E90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B80BE0-1DFB-B890-651F-5EF5DB699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62848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CAED12-86FE-4B9F-1263-A2D5AF2A56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643B538-7BD5-657B-6D07-B093BB68A1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mapping why not just download a CAD model?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CAD drawings model the specific intended structure; however, not what the actual room is like today!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Furniture, people, tables, drift daily! Just think about this room!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 single misplaced chair renders a pre-programmed path to be unsafe ( as you saw in lab adding an obstacle, we try to go point to point and even in the wall following sometimes it fails)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need a map that reflects reality now!</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is it okay though to have a predefined map?</a:t>
            </a:r>
          </a:p>
        </p:txBody>
      </p:sp>
      <p:sp>
        <p:nvSpPr>
          <p:cNvPr id="119" name="Google Shape;119;p29">
            <a:extLst>
              <a:ext uri="{FF2B5EF4-FFF2-40B4-BE49-F238E27FC236}">
                <a16:creationId xmlns:a16="http://schemas.microsoft.com/office/drawing/2014/main" id="{A623B2AD-5499-800D-C2AB-CAF893B7C7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026B94-4AB5-D82D-C0BF-C2E60DB7E8E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9ED6D8-F670-6E6F-4922-332B16D119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59F4CA-2754-7519-4D82-1AA159E4A7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3A2A15-59FF-3779-37AC-902FAD3D18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231637-E559-11BA-4F59-1FC988F4E24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53853D-D5D0-AB77-7E90-4B9DC463F2E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F26F17-D2EE-4E07-8927-23770E62AA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6655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17BB8D-791A-67EF-27BF-B56B1EC76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D29BDF-D223-D7A2-A0BA-CDAC06D24A8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SLAM, which stands for Simultaneous Localization and Mapping, tries to solve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paradox though. Think about the chicken-and-egg trap…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To build an accurate map you need to know your exact location at every scan</a:t>
            </a:r>
          </a:p>
          <a:p>
            <a:pPr marL="342900">
              <a:lnSpc>
                <a:spcPct val="100000"/>
              </a:lnSpc>
              <a:spcBef>
                <a:spcPts val="0"/>
              </a:spcBef>
              <a:buSzPts val="3000"/>
            </a:pPr>
            <a:r>
              <a:rPr lang="en-US" sz="2200" dirty="0">
                <a:latin typeface="Atkinson Hyperlegible Next"/>
                <a:ea typeface="Arial"/>
                <a:cs typeface="Arial"/>
                <a:sym typeface="Arial"/>
              </a:rPr>
              <a:t>To know your exact location, you need an already-existing map to compare against!</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Classical robotics solves this separately; SLAM does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millisecond:</a:t>
            </a:r>
          </a:p>
          <a:p>
            <a:pPr marL="342900">
              <a:lnSpc>
                <a:spcPct val="100000"/>
              </a:lnSpc>
              <a:spcBef>
                <a:spcPts val="0"/>
              </a:spcBef>
              <a:buSzPts val="3000"/>
            </a:pPr>
            <a:r>
              <a:rPr lang="en-US" sz="2200" dirty="0">
                <a:latin typeface="Atkinson Hyperlegible Next"/>
                <a:ea typeface="Arial"/>
                <a:cs typeface="Arial"/>
                <a:sym typeface="Arial"/>
              </a:rPr>
              <a:t>Estimate motion</a:t>
            </a:r>
          </a:p>
          <a:p>
            <a:pPr marL="342900">
              <a:lnSpc>
                <a:spcPct val="100000"/>
              </a:lnSpc>
              <a:spcBef>
                <a:spcPts val="0"/>
              </a:spcBef>
              <a:buSzPts val="3000"/>
            </a:pPr>
            <a:r>
              <a:rPr lang="en-US" sz="2200" dirty="0">
                <a:latin typeface="Atkinson Hyperlegible Next"/>
                <a:ea typeface="Arial"/>
                <a:cs typeface="Arial"/>
                <a:sym typeface="Arial"/>
              </a:rPr>
              <a:t>Predict where the world should be</a:t>
            </a:r>
          </a:p>
          <a:p>
            <a:pPr marL="342900">
              <a:lnSpc>
                <a:spcPct val="100000"/>
              </a:lnSpc>
              <a:spcBef>
                <a:spcPts val="0"/>
              </a:spcBef>
              <a:buSzPts val="3000"/>
            </a:pPr>
            <a:r>
              <a:rPr lang="en-US" sz="2200" dirty="0">
                <a:latin typeface="Atkinson Hyperlegible Next"/>
                <a:ea typeface="Arial"/>
                <a:cs typeface="Arial"/>
                <a:sym typeface="Arial"/>
              </a:rPr>
              <a:t>Refine both!</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46439A4-678F-4F6F-E4BD-D8D496FD1C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509B39-335B-DB8F-4349-2B5ACBA5F6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6040C-18CE-8D07-1389-E262F24B6C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0367FF-79B1-4B9B-0318-838F95E0CD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6FA39C9-3A8D-ABD5-F7C6-A4AC40C62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03DFFB-10AC-7D10-49D9-7A8EDE728F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FC4E4-FFF7-A12D-FFE3-C86B72D9E4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45B20D-A0EE-6388-A046-A5865F0A14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407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101F5B-FEBA-F5A6-EEBA-5CF95F0E5C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A68BF3-28EB-ECDA-1B51-207A48941E1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Essentially SLAM is trying to maximize the following probability: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a single iteration, which do you think that the robot updates first? It’s pose estimate or the map?</a:t>
            </a:r>
          </a:p>
        </p:txBody>
      </p:sp>
      <p:sp>
        <p:nvSpPr>
          <p:cNvPr id="119" name="Google Shape;119;p29">
            <a:extLst>
              <a:ext uri="{FF2B5EF4-FFF2-40B4-BE49-F238E27FC236}">
                <a16:creationId xmlns:a16="http://schemas.microsoft.com/office/drawing/2014/main" id="{46435FB5-6AF4-C321-3F7E-085F82E45D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6DFCE21-BE52-27A3-D818-764906915B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52BAAA-28CA-91EC-B17F-2116CBED12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E83D88-76FB-5738-855F-5457254270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64B27A-EE9E-D346-F451-C1546FD02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3110B5-CB28-D22C-744A-7A6F71EE15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CCDF5B-D785-EAFF-3630-6278F57732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9344AA-0EBC-D457-6616-7102FD9AEF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1B07C535-9306-06DA-4D19-3397B4B2E1B3}"/>
              </a:ext>
            </a:extLst>
          </p:cNvPr>
          <p:cNvGrpSpPr/>
          <p:nvPr/>
        </p:nvGrpSpPr>
        <p:grpSpPr>
          <a:xfrm>
            <a:off x="1371752" y="2788920"/>
            <a:ext cx="9448495" cy="1280160"/>
            <a:chOff x="1371752" y="2471420"/>
            <a:chExt cx="9448495" cy="1280160"/>
          </a:xfrm>
        </p:grpSpPr>
        <p:sp>
          <p:nvSpPr>
            <p:cNvPr id="6" name="Shape 4">
              <a:extLst>
                <a:ext uri="{FF2B5EF4-FFF2-40B4-BE49-F238E27FC236}">
                  <a16:creationId xmlns:a16="http://schemas.microsoft.com/office/drawing/2014/main" id="{9191F805-4354-CC6C-43EC-E39B7B8DD20A}"/>
                </a:ext>
              </a:extLst>
            </p:cNvPr>
            <p:cNvSpPr/>
            <p:nvPr/>
          </p:nvSpPr>
          <p:spPr>
            <a:xfrm>
              <a:off x="1371752" y="2471420"/>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7" name="Shape 5">
              <a:extLst>
                <a:ext uri="{FF2B5EF4-FFF2-40B4-BE49-F238E27FC236}">
                  <a16:creationId xmlns:a16="http://schemas.microsoft.com/office/drawing/2014/main" id="{C27BBE03-8400-AE28-1FAE-501E748803F7}"/>
                </a:ext>
              </a:extLst>
            </p:cNvPr>
            <p:cNvSpPr/>
            <p:nvPr/>
          </p:nvSpPr>
          <p:spPr>
            <a:xfrm>
              <a:off x="1371752" y="2471420"/>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8" name="Text 6">
                  <a:extLst>
                    <a:ext uri="{FF2B5EF4-FFF2-40B4-BE49-F238E27FC236}">
                      <a16:creationId xmlns:a16="http://schemas.microsoft.com/office/drawing/2014/main" id="{D0E2A134-5090-B89C-53E8-E4D3690A8AC7}"/>
                    </a:ext>
                  </a:extLst>
                </p:cNvPr>
                <p:cNvSpPr/>
                <p:nvPr/>
              </p:nvSpPr>
              <p:spPr>
                <a:xfrm>
                  <a:off x="1554632" y="25171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dirty="0">
                      <a:solidFill>
                        <a:srgbClr val="1E293B"/>
                      </a:solidFill>
                      <a:latin typeface="+mj-lt"/>
                      <a:ea typeface="Cambria" panose="02040503050406030204" pitchFamily="18" charset="0"/>
                      <a:cs typeface="Consolas" pitchFamily="34" charset="-120"/>
                    </a:rPr>
                    <a:t>maximize</a:t>
                  </a:r>
                  <a:r>
                    <a:rPr lang="en-US" sz="2200" dirty="0">
                      <a:solidFill>
                        <a:srgbClr val="1E293B"/>
                      </a:solidFill>
                      <a:latin typeface="Cambria" panose="02040503050406030204" pitchFamily="18" charset="0"/>
                      <a:ea typeface="Cambria" panose="02040503050406030204" pitchFamily="18" charset="0"/>
                      <a:cs typeface="Consolas" pitchFamily="34" charset="-120"/>
                    </a:rPr>
                    <a:t>   </a:t>
                  </a:r>
                  <a14:m>
                    <m:oMath xmlns:m="http://schemas.openxmlformats.org/officeDocument/2006/math">
                      <m:r>
                        <a:rPr lang="en-US" sz="2200" b="0" i="1" smtClean="0">
                          <a:solidFill>
                            <a:srgbClr val="1E293B"/>
                          </a:solidFill>
                          <a:latin typeface="Cambria Math" panose="02040503050406030204" pitchFamily="18" charset="0"/>
                          <a:ea typeface="Consolas" pitchFamily="34" charset="-122"/>
                          <a:cs typeface="Consolas" pitchFamily="34" charset="-120"/>
                        </a:rPr>
                        <m:t>𝑃</m:t>
                      </m:r>
                      <m:d>
                        <m:dPr>
                          <m:sepChr m:val="∣"/>
                          <m:ctrlPr>
                            <a:rPr lang="en-US" sz="2200" b="0" i="1" smtClean="0">
                              <a:solidFill>
                                <a:srgbClr val="1E293B"/>
                              </a:solidFill>
                              <a:latin typeface="Cambria Math" panose="02040503050406030204" pitchFamily="18" charset="0"/>
                              <a:ea typeface="Consolas" pitchFamily="34" charset="-122"/>
                              <a:cs typeface="Consolas" pitchFamily="34" charset="-120"/>
                            </a:rPr>
                          </m:ctrlPr>
                        </m:dPr>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𝑥</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r>
                            <a:rPr lang="en-US" sz="2200" b="0" i="1" smtClean="0">
                              <a:solidFill>
                                <a:srgbClr val="1E293B"/>
                              </a:solidFill>
                              <a:latin typeface="Cambria Math" panose="02040503050406030204" pitchFamily="18" charset="0"/>
                              <a:ea typeface="Consolas" pitchFamily="34" charset="-122"/>
                              <a:cs typeface="Consolas" pitchFamily="34" charset="-120"/>
                            </a:rPr>
                            <m:t>𝑚</m:t>
                          </m:r>
                        </m:e>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𝑧</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𝑢</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e>
                      </m:d>
                    </m:oMath>
                  </a14:m>
                  <a:endParaRPr lang="en-US" sz="2200" dirty="0">
                    <a:latin typeface="Cambria" panose="02040503050406030204" pitchFamily="18" charset="0"/>
                    <a:ea typeface="Cambria" panose="02040503050406030204" pitchFamily="18" charset="0"/>
                  </a:endParaRPr>
                </a:p>
              </p:txBody>
            </p:sp>
          </mc:Choice>
          <mc:Fallback xmlns="">
            <p:sp>
              <p:nvSpPr>
                <p:cNvPr id="8" name="Text 6">
                  <a:extLst>
                    <a:ext uri="{FF2B5EF4-FFF2-40B4-BE49-F238E27FC236}">
                      <a16:creationId xmlns:a16="http://schemas.microsoft.com/office/drawing/2014/main" id="{D0E2A134-5090-B89C-53E8-E4D3690A8AC7}"/>
                    </a:ext>
                  </a:extLst>
                </p:cNvPr>
                <p:cNvSpPr>
                  <a:spLocks noRot="1" noChangeAspect="1" noMove="1" noResize="1" noEditPoints="1" noAdjustHandles="1" noChangeArrowheads="1" noChangeShapeType="1" noTextEdit="1"/>
                </p:cNvSpPr>
                <p:nvPr/>
              </p:nvSpPr>
              <p:spPr>
                <a:xfrm>
                  <a:off x="1554632" y="2517140"/>
                  <a:ext cx="9174175" cy="914400"/>
                </a:xfrm>
                <a:prstGeom prst="rect">
                  <a:avLst/>
                </a:prstGeom>
                <a:blipFill>
                  <a:blip r:embed="rId4"/>
                  <a:stretch>
                    <a:fillRect/>
                  </a:stretch>
                </a:blipFill>
                <a:ln/>
              </p:spPr>
              <p:txBody>
                <a:bodyPr/>
                <a:lstStyle/>
                <a:p>
                  <a:r>
                    <a:rPr lang="en-US">
                      <a:noFill/>
                    </a:rPr>
                    <a:t> </a:t>
                  </a:r>
                </a:p>
              </p:txBody>
            </p:sp>
          </mc:Fallback>
        </mc:AlternateContent>
        <p:sp>
          <p:nvSpPr>
            <p:cNvPr id="9" name="Text 7">
              <a:extLst>
                <a:ext uri="{FF2B5EF4-FFF2-40B4-BE49-F238E27FC236}">
                  <a16:creationId xmlns:a16="http://schemas.microsoft.com/office/drawing/2014/main" id="{ED937B31-D381-8599-CF76-C59C7E9B76EA}"/>
                </a:ext>
              </a:extLst>
            </p:cNvPr>
            <p:cNvSpPr/>
            <p:nvPr/>
          </p:nvSpPr>
          <p:spPr>
            <a:xfrm>
              <a:off x="1554632" y="33858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5E6E85"/>
                  </a:solidFill>
                  <a:latin typeface="+mj-lt"/>
                  <a:ea typeface="Calibri" pitchFamily="34" charset="-122"/>
                  <a:cs typeface="Calibri" pitchFamily="34" charset="-120"/>
                </a:rPr>
                <a:t>Find the most likely trajectory x and map m given all observations z and controls u</a:t>
              </a:r>
              <a:endParaRPr lang="en-US" sz="1000" dirty="0">
                <a:latin typeface="+mj-lt"/>
              </a:endParaRPr>
            </a:p>
          </p:txBody>
        </p:sp>
      </p:grpSp>
    </p:spTree>
    <p:extLst>
      <p:ext uri="{BB962C8B-B14F-4D97-AF65-F5344CB8AC3E}">
        <p14:creationId xmlns:p14="http://schemas.microsoft.com/office/powerpoint/2010/main" val="13842094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51C812-EFF3-37C7-2913-94D0F49B1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990C3C-3793-3AFD-0996-0CF0982B119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Why do we need SLAM at 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some robotics examples where we want to map and plan trajectories in unknown / updating environments?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Robot vacuums must map the unknown living room the first time they're switched on</a:t>
            </a:r>
          </a:p>
          <a:p>
            <a:pPr marL="342900">
              <a:lnSpc>
                <a:spcPct val="100000"/>
              </a:lnSpc>
              <a:spcBef>
                <a:spcPts val="0"/>
              </a:spcBef>
              <a:buSzPts val="3000"/>
            </a:pPr>
            <a:r>
              <a:rPr lang="en-US" sz="2200" dirty="0">
                <a:latin typeface="Atkinson Hyperlegible Next"/>
                <a:ea typeface="Arial"/>
                <a:cs typeface="Arial"/>
                <a:sym typeface="Arial"/>
              </a:rPr>
              <a:t>Self-driving cars use SLAM to reconcile HD maps with new construction, detours, and snow</a:t>
            </a:r>
          </a:p>
          <a:p>
            <a:pPr marL="342900">
              <a:lnSpc>
                <a:spcPct val="100000"/>
              </a:lnSpc>
              <a:spcBef>
                <a:spcPts val="0"/>
              </a:spcBef>
              <a:buSzPts val="3000"/>
            </a:pPr>
            <a:r>
              <a:rPr lang="en-US" sz="2200" dirty="0">
                <a:latin typeface="Atkinson Hyperlegible Next"/>
                <a:ea typeface="Arial"/>
                <a:cs typeface="Arial"/>
                <a:sym typeface="Arial"/>
              </a:rPr>
              <a:t>Mars rovers have no GPS and no human cartographer - everything is SLAM by necessity!</a:t>
            </a:r>
          </a:p>
          <a:p>
            <a:pPr marL="342900">
              <a:lnSpc>
                <a:spcPct val="100000"/>
              </a:lnSpc>
              <a:spcBef>
                <a:spcPts val="0"/>
              </a:spcBef>
              <a:buSzPts val="3000"/>
            </a:pPr>
            <a:r>
              <a:rPr lang="en-US" sz="2200" dirty="0">
                <a:latin typeface="Atkinson Hyperlegible Next"/>
                <a:ea typeface="Arial"/>
                <a:cs typeface="Arial"/>
                <a:sym typeface="Arial"/>
              </a:rPr>
              <a:t>Search-and-rescue drones enter collapsed buildings no person has ever mapped before</a:t>
            </a: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99148DD-D46C-55AB-7D53-2A93D92BC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717265-FF1A-3249-F1B5-595713E640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F3C37F6-B99C-38D4-6BEC-0545327AB22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C8F073-1C17-107F-9361-510EBCC9A4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C725A1-C935-BD10-CEEA-6759B034B2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418BA2-6DB7-173E-4056-CE2953179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25AB33-1895-27BB-EBC3-084FAE8B89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4B4E77-BAB2-3503-A1A3-C6C30088626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3521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80798A-5C6D-4D48-B720-ED772A4BB56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CC70F59-59CD-902E-5BD6-1132F99CBA9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What makes a good SLAM system?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Real-time: the pose estimate must arrive before the robot crashes into the wall</a:t>
            </a:r>
          </a:p>
          <a:p>
            <a:pPr marL="342900">
              <a:lnSpc>
                <a:spcPct val="100000"/>
              </a:lnSpc>
              <a:spcBef>
                <a:spcPts val="0"/>
              </a:spcBef>
              <a:buSzPts val="3000"/>
            </a:pPr>
            <a:r>
              <a:rPr lang="en-US" sz="2200" dirty="0">
                <a:latin typeface="Atkinson Hyperlegible Next"/>
                <a:ea typeface="Arial"/>
                <a:cs typeface="Arial"/>
                <a:sym typeface="Arial"/>
              </a:rPr>
              <a:t>Globally consistent: no double walls, bent corridors, or duplicate rooms in the final map</a:t>
            </a:r>
          </a:p>
          <a:p>
            <a:pPr marL="342900">
              <a:lnSpc>
                <a:spcPct val="100000"/>
              </a:lnSpc>
              <a:spcBef>
                <a:spcPts val="0"/>
              </a:spcBef>
              <a:buSzPts val="3000"/>
            </a:pPr>
            <a:r>
              <a:rPr lang="en-US" sz="2200" dirty="0">
                <a:latin typeface="Atkinson Hyperlegible Next"/>
                <a:ea typeface="Arial"/>
                <a:cs typeface="Arial"/>
                <a:sym typeface="Arial"/>
              </a:rPr>
              <a:t>Robust to noise, to moving people, to sensor dropouts, to wheel slip on tile floors</a:t>
            </a:r>
          </a:p>
          <a:p>
            <a:pPr marL="342900">
              <a:lnSpc>
                <a:spcPct val="100000"/>
              </a:lnSpc>
              <a:spcBef>
                <a:spcPts val="0"/>
              </a:spcBef>
              <a:buSzPts val="3000"/>
            </a:pPr>
            <a:r>
              <a:rPr lang="en-US" sz="2200" dirty="0">
                <a:latin typeface="Atkinson Hyperlegible Next"/>
                <a:ea typeface="Arial"/>
                <a:cs typeface="Arial"/>
                <a:sym typeface="Arial"/>
              </a:rPr>
              <a:t>Memory-bounded: a $50 embedded CPU must hold a 10,000 m² facility's map</a:t>
            </a:r>
          </a:p>
          <a:p>
            <a:pPr marL="342900">
              <a:lnSpc>
                <a:spcPct val="100000"/>
              </a:lnSpc>
              <a:spcBef>
                <a:spcPts val="0"/>
              </a:spcBef>
              <a:buSzPts val="3000"/>
            </a:pPr>
            <a:r>
              <a:rPr lang="en-US" sz="2200" dirty="0">
                <a:latin typeface="Atkinson Hyperlegible Next"/>
                <a:ea typeface="Arial"/>
                <a:cs typeface="Arial"/>
                <a:sym typeface="Arial"/>
              </a:rPr>
              <a:t>Lifelong: the map must stay valid for weeks as the environment slowly evolves</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Which of these five requirements do you think was the hardest to solve historically? Why?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A571382-9BD1-4D5D-D56B-A96E5656A6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74A922-BD79-2FDF-5F38-8733F6782B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91D21B-711A-0E4B-E2E4-B21BE754BD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7CC137-B2BF-EDF3-3429-D8E412C88F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7437F2-82C6-1DED-8863-09A667FBF1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7B2BC9-D382-A527-DDAD-C093CA1C68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E5D1B1-5332-FD81-95EC-9C68BFB17C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4BDC0-6549-D63A-A9EC-FC71025485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0356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C6179E-7949-05E8-2D0A-5EFD7A7517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A43471F-1D06-6830-08F3-543FC77C26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Global Consistency is the hardest to solve.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early SLAM, robots relied primarily on Dead Reckoning or incremental scan-matching. Because every sensor measurement has a non-zero covariance, these small errors integrate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hardest part of global consistency is </a:t>
            </a:r>
            <a:r>
              <a:rPr lang="en-US" sz="2200" b="1" dirty="0">
                <a:latin typeface="Atkinson Hyperlegible Next"/>
                <a:ea typeface="Arial"/>
                <a:cs typeface="Arial"/>
                <a:sym typeface="Arial"/>
              </a:rPr>
              <a:t>Loop Closure</a:t>
            </a:r>
            <a:r>
              <a:rPr lang="en-US" sz="2200" dirty="0">
                <a:latin typeface="Atkinson Hyperlegible Next"/>
                <a:ea typeface="Arial"/>
                <a:cs typeface="Arial"/>
                <a:sym typeface="Arial"/>
              </a:rPr>
              <a:t>. Imagine a robot traveling a 1-kilometer loop. Even a tiny error of 0.5° in orientation can result in the robot returning to its starting point and perceiving the wall to be several meters away from where it "should" be.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system must recognize a previously visited location using only sensor data (often called Place Recognition or Appearance-based SLAM).</a:t>
            </a:r>
          </a:p>
        </p:txBody>
      </p:sp>
      <p:sp>
        <p:nvSpPr>
          <p:cNvPr id="119" name="Google Shape;119;p29">
            <a:extLst>
              <a:ext uri="{FF2B5EF4-FFF2-40B4-BE49-F238E27FC236}">
                <a16:creationId xmlns:a16="http://schemas.microsoft.com/office/drawing/2014/main" id="{9548562F-2C81-705F-31DA-A3545C2425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6499B3-5F7F-03D6-4F50-CF273FF91F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EDF078-008A-3556-C703-EE3385FA31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D71F7-CB83-63D8-6139-EE3F0FA021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5AE8E7-CD79-28C5-E7CE-FB7A910699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6EAD7E-F8B6-5C6D-1C40-000061531C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708B39-943B-53A5-D6B0-4CE50BE048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EF2215-DDD5-2804-ACFA-8D402ED578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7149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CF0C-98CC-7D34-C737-6701199550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B591A1-DAF4-7307-4872-98CEFFCDAF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pose that the SLAM is optimizing for,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𝑋</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𝑦</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𝜃</m:t>
                                    </m:r>
                                  </m:e>
                                  <m:sub>
                                    <m:r>
                                      <a:rPr lang="en-US" sz="2200" b="0" i="1" smtClean="0">
                                        <a:latin typeface="Cambria Math" panose="02040503050406030204" pitchFamily="18" charset="0"/>
                                        <a:ea typeface="Arial"/>
                                        <a:cs typeface="Arial"/>
                                        <a:sym typeface="Arial"/>
                                      </a:rPr>
                                      <m:t>𝑡</m:t>
                                    </m:r>
                                  </m:sub>
                                </m:sSub>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𝑇</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𝑥</m:t>
                                </m:r>
                              </m:e>
                            </m:m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𝑦</m:t>
                                </m:r>
                              </m:e>
                            </m:mr>
                            <m:mr>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1</m:t>
                                </m:r>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SLAM algorithm optimizes some collection of these pose triples over time. Since again we are optimizing the robot’s position / trajectory that it has taken.</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1B591A1-DAF4-7307-4872-98CEFFCDAF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64BAB2F-0808-73E1-78BB-77A819655D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30C026-3464-6074-2A70-E1308F9E9A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46DF92-C0FD-5E5B-358C-ABA604309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3D0EF-3DB5-D4D5-6E09-81B91D1C2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14F2335-A565-AD90-830A-356CB92232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0B7DEF-6F6E-9C2F-29AD-A572B4F2A2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887E01-F650-C2B9-8AA9-2CBBEA6256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D84E35-267E-1FB3-8F17-3D74E295D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286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0C81FA-C236-4637-C323-58A169BB8D1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9862B65-4BC6-7BCE-BB7D-D43A50ED04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SLAM Loop: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Read odometry: produce fast prior estimate of new pose</a:t>
            </a:r>
          </a:p>
          <a:p>
            <a:pPr marL="342900">
              <a:lnSpc>
                <a:spcPct val="150000"/>
              </a:lnSpc>
              <a:spcBef>
                <a:spcPts val="0"/>
              </a:spcBef>
              <a:buSzPts val="3000"/>
            </a:pPr>
            <a:r>
              <a:rPr lang="en-US" sz="2200" dirty="0">
                <a:latin typeface="Atkinson Hyperlegible Next"/>
                <a:ea typeface="Arial"/>
                <a:cs typeface="Arial"/>
                <a:sym typeface="Arial"/>
              </a:rPr>
              <a:t>Read LiDAR: capture current snapshot of the world</a:t>
            </a:r>
          </a:p>
          <a:p>
            <a:pPr marL="342900">
              <a:lnSpc>
                <a:spcPct val="150000"/>
              </a:lnSpc>
              <a:spcBef>
                <a:spcPts val="0"/>
              </a:spcBef>
              <a:buSzPts val="3000"/>
            </a:pPr>
            <a:r>
              <a:rPr lang="en-US" sz="2200" dirty="0">
                <a:latin typeface="Atkinson Hyperlegible Next"/>
                <a:ea typeface="Arial"/>
                <a:cs typeface="Arial"/>
                <a:sym typeface="Arial"/>
              </a:rPr>
              <a:t>Scan-match the snapshot again recent scans: refine the pose estimate</a:t>
            </a:r>
          </a:p>
          <a:p>
            <a:pPr marL="342900">
              <a:lnSpc>
                <a:spcPct val="150000"/>
              </a:lnSpc>
              <a:spcBef>
                <a:spcPts val="0"/>
              </a:spcBef>
              <a:buSzPts val="3000"/>
            </a:pPr>
            <a:r>
              <a:rPr lang="en-US" sz="2200" dirty="0">
                <a:latin typeface="Atkinson Hyperlegible Next"/>
                <a:ea typeface="Arial"/>
                <a:cs typeface="Arial"/>
                <a:sym typeface="Arial"/>
              </a:rPr>
              <a:t>Fuse LiDAR correction with odometry prior: publish the best pose</a:t>
            </a:r>
          </a:p>
          <a:p>
            <a:pPr marL="342900">
              <a:lnSpc>
                <a:spcPct val="150000"/>
              </a:lnSpc>
              <a:spcBef>
                <a:spcPts val="0"/>
              </a:spcBef>
              <a:buSzPts val="3000"/>
            </a:pPr>
            <a:r>
              <a:rPr lang="en-US" sz="2200" dirty="0">
                <a:latin typeface="Atkinson Hyperlegible Next"/>
                <a:ea typeface="Arial"/>
                <a:cs typeface="Arial"/>
                <a:sym typeface="Arial"/>
              </a:rPr>
              <a:t>Updating the map using the newly confirmed pose: repeat</a:t>
            </a:r>
          </a:p>
        </p:txBody>
      </p:sp>
      <p:sp>
        <p:nvSpPr>
          <p:cNvPr id="119" name="Google Shape;119;p29">
            <a:extLst>
              <a:ext uri="{FF2B5EF4-FFF2-40B4-BE49-F238E27FC236}">
                <a16:creationId xmlns:a16="http://schemas.microsoft.com/office/drawing/2014/main" id="{BB8C129D-67E3-880B-8846-A0136FFE6B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F4A5EE-DDEB-C0C6-3264-0236E14FB7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19643D-3894-B080-F2EB-5CB8AA39F2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9AE26C-1729-B286-0EA7-C056C3E333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E1D0E2-AB83-EE7A-F87F-29DC9DC57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74FB30-4EAE-1152-0916-5E3D31C39A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7DCA00-1C90-E014-C959-992AE50786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DE42D-F927-4C8D-3BAD-159480568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679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FAFA041-EFCF-0C03-6CE7-63518DAED8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3B6F294-945B-372C-AE4B-C4BDA4097F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41E585-E7B1-6987-504F-5C94A4F001E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59FA13D-D9F5-75B7-6F27-B46783BEA9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31523-4413-FAD6-A6DB-6948C7D2D9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55BFAD-EB9A-4F9A-ECA5-255A20E41C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EECA10-009A-C17A-879C-DB6EEE7DD6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3E3580-96E1-EC0F-9308-36C08C33A1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BBB27-F7D4-89B4-E32F-2F5893B9BB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lowchart: LiDAR-inertial SLAM pipeline split into a high-frequency front-end and a low-frequency back-end. Front-end: IMU or odometry interrupts at 100 Hz or more feed IMU preintegration (delta v, delta p, delta R), then motion model prediction, x sub t equals f of x sub t minus 1, u sub t, which publishes a fast pose to the local planner and control. A check asks whether a 10 Hz LiDAR scan is ready; if not, the loop returns to the next IMU interrupt. If so, the back-end runs: point cloud deskewing and voxel filtering (using the motion estimate for un-distortion), scan-to-local-map matching by ICP or NDT, then factor graph optimization with iSAM2 or GTSAM using odometry factors. A map manager handles the local window and global map, feeding the local map back to matching and loop closure factors back to the optimizer. It publishes the global map and a corrected pose, which feeds back to the motion model as drift correction.">
            <a:extLst>
              <a:ext uri="{FF2B5EF4-FFF2-40B4-BE49-F238E27FC236}">
                <a16:creationId xmlns:a16="http://schemas.microsoft.com/office/drawing/2014/main" id="{694E4C2D-B133-A7BD-6E7F-280D7170D4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27341" y="881452"/>
            <a:ext cx="5937318" cy="5733187"/>
          </a:xfrm>
          <a:prstGeom prst="rect">
            <a:avLst/>
          </a:prstGeom>
        </p:spPr>
      </p:pic>
    </p:spTree>
    <p:extLst>
      <p:ext uri="{BB962C8B-B14F-4D97-AF65-F5344CB8AC3E}">
        <p14:creationId xmlns:p14="http://schemas.microsoft.com/office/powerpoint/2010/main" val="9821288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321ED334-FF21-478F-D09E-FB9CA0A98E2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9AC788F-B7FB-D965-3755-B2DA54A315FD}"/>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9552A76-BEE5-25E6-ACC6-12B208CF3C8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Where am I?</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595490FA-E6A2-2B57-F286-ED8138915D0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6651B4F-CD5D-D1B1-1DD1-FF86B8CBA82E}"/>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9DD9FC0-817A-B7D0-D7CD-40F7C1EED3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106C3CBD-7B4B-0C98-6CB6-8A454881CC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21A2233-4732-38CC-8301-08C5A7D1E2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F0321B-EE4C-6D91-1382-2A077642741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DC17562-3A51-9A89-CC29-CEA69CE00F9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E3DA8651-E506-D950-F466-23ECA51888A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10166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9FDC1C-10CA-5B64-F083-D53B7EDFB13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50074B-9940-1774-0551-578F615F47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need to perform localization, specifically with LiDAR, we are aligning, the newly provided scan with the previous scan centimeters at a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scan-match boils down to finding one rigid transformation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Given a source point cloud P (current scan) and a target Q (previous scan or map)</a:t>
                </a:r>
              </a:p>
              <a:p>
                <a:pPr marL="342900">
                  <a:lnSpc>
                    <a:spcPct val="100000"/>
                  </a:lnSpc>
                  <a:spcBef>
                    <a:spcPts val="0"/>
                  </a:spcBef>
                  <a:buSzPts val="3000"/>
                </a:pPr>
                <a:r>
                  <a:rPr lang="en-US" sz="2200" dirty="0">
                    <a:latin typeface="Atkinson Hyperlegible Next"/>
                    <a:ea typeface="Arial"/>
                    <a:cs typeface="Arial"/>
                    <a:sym typeface="Arial"/>
                  </a:rPr>
                  <a:t>Find the rotation R and translation t that best overlays P onto Q</a:t>
                </a:r>
              </a:p>
              <a:p>
                <a:pPr marL="342900">
                  <a:lnSpc>
                    <a:spcPct val="100000"/>
                  </a:lnSpc>
                  <a:spcBef>
                    <a:spcPts val="0"/>
                  </a:spcBef>
                  <a:buSzPts val="3000"/>
                </a:pPr>
                <a:r>
                  <a:rPr lang="en-US" sz="2200" dirty="0">
                    <a:latin typeface="Atkinson Hyperlegible Next"/>
                    <a:ea typeface="Arial"/>
                    <a:cs typeface="Arial"/>
                    <a:sym typeface="Arial"/>
                  </a:rPr>
                  <a:t>"Best" = minimizes a chosen error metric over all matched point pairs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we know how the world moved relative to the robot, we know how the robot moved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𝑇</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d>
                        <m:dPr>
                          <m:ctrlPr>
                            <a:rPr lang="en-US" sz="2200" b="0" i="1" smtClean="0">
                              <a:latin typeface="Cambria Math" panose="02040503050406030204" pitchFamily="18" charset="0"/>
                              <a:ea typeface="Arial"/>
                              <a:cs typeface="Arial"/>
                              <a:sym typeface="Arial"/>
                            </a:rPr>
                          </m:ctrlPr>
                        </m:dPr>
                        <m:e>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𝑅</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e>
                      </m:d>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1" smtClean="0">
                              <a:latin typeface="Cambria Math" panose="02040503050406030204" pitchFamily="18" charset="0"/>
                              <a:ea typeface="Arial"/>
                              <a:cs typeface="Arial"/>
                              <a:sym typeface="Arial"/>
                            </a:rPr>
                            <m:t>arg</m:t>
                          </m:r>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min</m:t>
                              </m:r>
                            </m:e>
                            <m:lim>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lim>
                          </m:limLow>
                        </m:fName>
                        <m:e>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r>
                                <a:rPr lang="en-US" sz="2200" b="0" i="1" smtClean="0">
                                  <a:latin typeface="Cambria Math" panose="02040503050406030204" pitchFamily="18" charset="0"/>
                                  <a:ea typeface="Arial"/>
                                  <a:cs typeface="Arial"/>
                                  <a:sym typeface="Arial"/>
                                </a:rPr>
                                <m:t>𝑒𝑟𝑟𝑜𝑟</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nary>
                        </m:e>
                      </m:func>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C50074B-9940-1774-0551-578F615F474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BE03B-60FE-7BB5-D3E9-8E47B47A2A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F05407-9200-EBC6-BB16-BDA1A24DE5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8F9503-ED87-D0D7-414D-2EC52F7BC0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3AC6B1-306C-3510-4D7B-13EDE321045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884ED9-0352-89F0-3FFF-12B8878737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5E0B0E-44CE-3755-B0D2-C4E4153E96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18A9C4-45D0-F988-067F-5E95F6A69E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7D86A8-FFBD-3279-4A98-148A8EEAF5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389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928DE6F-7C95-FBAC-9304-2C0A8AE815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E3B566A-C130-9951-3ECB-4D71D50412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1D wall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Imagine your robot is in a 1D hallway facing a wall,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1: The target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is at global position 0</a:t>
                </a:r>
              </a:p>
              <a:p>
                <a:pPr marL="342900">
                  <a:lnSpc>
                    <a:spcPct val="100000"/>
                  </a:lnSpc>
                  <a:spcBef>
                    <a:spcPts val="0"/>
                  </a:spcBef>
                  <a:buSzPts val="3000"/>
                </a:pPr>
                <a:r>
                  <a:rPr lang="en-US" sz="2200" dirty="0">
                    <a:latin typeface="Atkinson Hyperlegible Next"/>
                    <a:ea typeface="Arial"/>
                    <a:cs typeface="Arial"/>
                    <a:sym typeface="Arial"/>
                  </a:rPr>
                  <a:t>The wall is 5 meters ahead</a:t>
                </a:r>
              </a:p>
              <a:p>
                <a:pPr marL="342900">
                  <a:lnSpc>
                    <a:spcPct val="100000"/>
                  </a:lnSpc>
                  <a:spcBef>
                    <a:spcPts val="0"/>
                  </a:spcBef>
                  <a:buSzPts val="3000"/>
                </a:pPr>
                <a:r>
                  <a:rPr lang="en-US" sz="2200" dirty="0">
                    <a:latin typeface="Atkinson Hyperlegible Next"/>
                    <a:ea typeface="Arial"/>
                    <a:cs typeface="Arial"/>
                    <a:sym typeface="Arial"/>
                  </a:rPr>
                  <a:t>The LiDAR records a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 5</m:t>
                    </m:r>
                  </m:oMath>
                </a14:m>
                <a:r>
                  <a:rPr lang="en-US" sz="2200" dirty="0">
                    <a:latin typeface="Atkinson Hyperlegible Next"/>
                    <a:ea typeface="Arial"/>
                    <a:cs typeface="Arial"/>
                    <a:sym typeface="Arial"/>
                  </a:rPr>
                  <a:t>. This is our prior scan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2: The Source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drives forward 2 meters.</a:t>
                </a:r>
              </a:p>
              <a:p>
                <a:pPr marL="342900">
                  <a:lnSpc>
                    <a:spcPct val="100000"/>
                  </a:lnSpc>
                  <a:spcBef>
                    <a:spcPts val="0"/>
                  </a:spcBef>
                  <a:buSzPts val="3000"/>
                </a:pPr>
                <a:r>
                  <a:rPr lang="en-US" sz="2200" dirty="0">
                    <a:latin typeface="Atkinson Hyperlegible Next"/>
                    <a:ea typeface="Arial"/>
                    <a:cs typeface="Arial"/>
                    <a:sym typeface="Arial"/>
                  </a:rPr>
                  <a:t>The wall has not moved, but because the robot is closer the LiDAR measures the wall as being only 3 meters away</a:t>
                </a:r>
              </a:p>
              <a:p>
                <a:pPr marL="342900">
                  <a:lnSpc>
                    <a:spcPct val="100000"/>
                  </a:lnSpc>
                  <a:spcBef>
                    <a:spcPts val="0"/>
                  </a:spcBef>
                  <a:buSzPts val="3000"/>
                </a:pPr>
                <a:r>
                  <a:rPr lang="en-US" sz="2200" dirty="0">
                    <a:latin typeface="Atkinson Hyperlegible Next"/>
                    <a:ea typeface="Arial"/>
                    <a:cs typeface="Arial"/>
                    <a:sym typeface="Arial"/>
                  </a:rPr>
                  <a:t>The LiDAR records a new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=3</m:t>
                    </m:r>
                  </m:oMath>
                </a14:m>
                <a:r>
                  <a:rPr lang="en-US" sz="2200" dirty="0">
                    <a:latin typeface="Atkinson Hyperlegible Next"/>
                    <a:ea typeface="Arial"/>
                    <a:cs typeface="Arial"/>
                    <a:sym typeface="Arial"/>
                  </a:rPr>
                  <a:t>, this is the new scan</a:t>
                </a:r>
              </a:p>
            </p:txBody>
          </p:sp>
        </mc:Choice>
        <mc:Fallback xmlns="">
          <p:sp>
            <p:nvSpPr>
              <p:cNvPr id="118" name="Google Shape;118;p29">
                <a:extLst>
                  <a:ext uri="{FF2B5EF4-FFF2-40B4-BE49-F238E27FC236}">
                    <a16:creationId xmlns:a16="http://schemas.microsoft.com/office/drawing/2014/main" id="{5E3B566A-C130-9951-3ECB-4D71D50412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r="-982" b="-31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A419A-5795-D829-7707-1A6A5D38C7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7E411F8-306F-94E0-6CEB-08AC8C3F80B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04B2E1-5E2C-A222-0C6C-150C92285AC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30BBF0-E57D-56E7-D4B6-0655EE995C5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CE2675-4A81-CBBC-3C5F-0D2D81EFC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64DB8-6E83-2969-FC92-381B5418A5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377F93-5207-E41D-85A0-68B637EFD2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147C52-68F8-E298-386F-92F5004214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4325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7FEE27-8B31-1A43-52CF-CC21C4488AD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FD8BA5-268D-97D7-E2B7-BA6013C0924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If we just blindly drop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and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 into the same local coordinate space without moving them, they do not align!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sees a point at 3 and a point at 5!</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Now we apply our objective function to find the transformation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(ignoring rotation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oMath>
                </a14:m>
                <a:r>
                  <a:rPr lang="en-US" sz="2200" dirty="0">
                    <a:latin typeface="Atkinson Hyperlegible Next"/>
                    <a:ea typeface="Arial"/>
                    <a:cs typeface="Arial"/>
                    <a:sym typeface="Arial"/>
                  </a:rPr>
                  <a:t> for this 1D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argmin</m:t>
                              </m:r>
                            </m:e>
                            <m:lim>
                              <m:r>
                                <a:rPr lang="en-US" sz="2200" b="0" i="1" smtClean="0">
                                  <a:latin typeface="Cambria Math" panose="02040503050406030204" pitchFamily="18" charset="0"/>
                                  <a:ea typeface="Arial"/>
                                  <a:cs typeface="Arial"/>
                                  <a:sym typeface="Arial"/>
                                </a:rPr>
                                <m:t>𝑡</m:t>
                              </m:r>
                            </m:lim>
                          </m:limLow>
                        </m:fName>
                        <m:e>
                          <m:nary>
                            <m:naryPr>
                              <m:chr m:val="∑"/>
                              <m:subHide m:val="on"/>
                              <m:supHide m:val="on"/>
                              <m:ctrlPr>
                                <a:rPr lang="en-US" sz="2200" b="0" i="1" smtClean="0">
                                  <a:latin typeface="Cambria Math" panose="02040503050406030204" pitchFamily="18" charset="0"/>
                                  <a:ea typeface="Arial"/>
                                  <a:cs typeface="Arial"/>
                                  <a:sym typeface="Arial"/>
                                </a:rPr>
                              </m:ctrlPr>
                            </m:naryPr>
                            <m:sub/>
                            <m:sup/>
                            <m:e>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𝑝</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𝑞</m:t>
                                      </m:r>
                                    </m:e>
                                  </m:d>
                                </m:e>
                                <m:sup>
                                  <m:r>
                                    <a:rPr lang="en-US" sz="2200" b="0" i="1" smtClean="0">
                                      <a:latin typeface="Cambria Math" panose="02040503050406030204" pitchFamily="18" charset="0"/>
                                      <a:ea typeface="Arial"/>
                                      <a:cs typeface="Arial"/>
                                      <a:sym typeface="Arial"/>
                                    </a:rPr>
                                    <m:t>2</m:t>
                                  </m:r>
                                </m:sup>
                              </m:sSup>
                            </m:e>
                          </m:nary>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thus asks: “How much do I need to shift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 = 3</m:t>
                    </m:r>
                  </m:oMath>
                </a14:m>
                <a:r>
                  <a:rPr lang="en-US" sz="2200" dirty="0">
                    <a:latin typeface="Atkinson Hyperlegible Next"/>
                    <a:ea typeface="Arial"/>
                    <a:cs typeface="Arial"/>
                    <a:sym typeface="Arial"/>
                  </a:rPr>
                  <a:t>), so it sits as best it can on top of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=5</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the optimal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in this case?</a:t>
                </a:r>
              </a:p>
            </p:txBody>
          </p:sp>
        </mc:Choice>
        <mc:Fallback xmlns="">
          <p:sp>
            <p:nvSpPr>
              <p:cNvPr id="118" name="Google Shape;118;p29">
                <a:extLst>
                  <a:ext uri="{FF2B5EF4-FFF2-40B4-BE49-F238E27FC236}">
                    <a16:creationId xmlns:a16="http://schemas.microsoft.com/office/drawing/2014/main" id="{EFFD8BA5-268D-97D7-E2B7-BA6013C0924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480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8987F96-CD3E-BBEA-6208-947A557A1D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9A0B3A-0D5A-DA3E-13BC-7B50CD4CAB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5D3B5E-3DF2-DB8F-ED75-D6BD39C6BC2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146F0F-28F6-3B10-0735-F487B9307E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121B4-6DF8-F745-2C27-6FACD34DBF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18B2A5-EC31-FFCC-312A-A83C264CEA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724B50-96E0-D78B-9C0D-3D16DC8C6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4A49B4-1BB6-D2C7-A8A8-1233505D5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61929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E8AFC9-DCA0-A170-785E-58DDC081E8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18E6A7D-7C03-90B5-44C6-DA653933FB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A858E9-4E33-9148-F601-1FC3F17BC0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55BC10-1281-3637-7463-2739E690A6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79D369-68D7-02E2-018D-BF7B7ABB04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C25CBD-F11F-8CF4-2F43-9909419A97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3D52BC-9F31-2358-36E0-3E6F2BB3AC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5E408C-46AF-D3B6-293F-70505363CA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31247C-5581-B68D-86D9-28F24EE13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step diagram of one-dimensional scan matching. Step 1: the robot at global position 0 measures a wall at 5 meters, q equals 5; its local frame matches the global frame. Step 2: the robot moves plus 2 meters to position 2, and its local frame shifts with it; it remeasures the wall at p equals 3. Step 3: the new scan point p is aligned to the previous map point q by finding the shift t: 3 plus t equals 5, so t equals 2, which recovers the robot's movement.">
            <a:extLst>
              <a:ext uri="{FF2B5EF4-FFF2-40B4-BE49-F238E27FC236}">
                <a16:creationId xmlns:a16="http://schemas.microsoft.com/office/drawing/2014/main" id="{C79949CB-594B-F688-E4EF-95F9EBEE64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4827" y="886287"/>
            <a:ext cx="6922346" cy="5715247"/>
          </a:xfrm>
          <a:prstGeom prst="rect">
            <a:avLst/>
          </a:prstGeom>
        </p:spPr>
      </p:pic>
    </p:spTree>
    <p:extLst>
      <p:ext uri="{BB962C8B-B14F-4D97-AF65-F5344CB8AC3E}">
        <p14:creationId xmlns:p14="http://schemas.microsoft.com/office/powerpoint/2010/main" val="9481951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E03BF9-D61A-A4D9-E6F2-9D582C995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9B75BFF-A104-C319-D9E5-F631D31BCDA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algorithm tells you that to align the scans, you must apply a translation of +2 meters to the new scan.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That +2 meters is exactly the distance the robot drove forward!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matches are indeed close to each other in the physical world, but they are offset in the sensors by the exact inverse of the robot's motion.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By finding the transformation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shifts the new local scan (</a:t>
                </a:r>
                <a14:m>
                  <m:oMath xmlns:m="http://schemas.openxmlformats.org/officeDocument/2006/math">
                    <m:r>
                      <a:rPr lang="en-US" sz="2200" i="1" dirty="0" smtClean="0">
                        <a:latin typeface="Cambria Math" panose="02040503050406030204" pitchFamily="18" charset="0"/>
                        <a:ea typeface="Arial"/>
                        <a:cs typeface="Arial"/>
                        <a:sym typeface="Arial"/>
                      </a:rPr>
                      <m:t>𝑃</m:t>
                    </m:r>
                  </m:oMath>
                </a14:m>
                <a:r>
                  <a:rPr lang="en-US" sz="2200" dirty="0">
                    <a:latin typeface="Atkinson Hyperlegible Next"/>
                    <a:ea typeface="Arial"/>
                    <a:cs typeface="Arial"/>
                    <a:sym typeface="Arial"/>
                  </a:rPr>
                  <a:t>) to overlay perfectly onto the global map (</a:t>
                </a:r>
                <a14:m>
                  <m:oMath xmlns:m="http://schemas.openxmlformats.org/officeDocument/2006/math">
                    <m:r>
                      <a:rPr lang="en-US" sz="2200" i="1" dirty="0" smtClean="0">
                        <a:latin typeface="Cambria Math" panose="02040503050406030204" pitchFamily="18" charset="0"/>
                        <a:ea typeface="Arial"/>
                        <a:cs typeface="Arial"/>
                        <a:sym typeface="Arial"/>
                      </a:rPr>
                      <m:t>𝑄</m:t>
                    </m:r>
                  </m:oMath>
                </a14:m>
                <a:r>
                  <a:rPr lang="en-US" sz="2200" dirty="0">
                    <a:latin typeface="Atkinson Hyperlegible Next"/>
                    <a:ea typeface="Arial"/>
                    <a:cs typeface="Arial"/>
                    <a:sym typeface="Arial"/>
                  </a:rPr>
                  <a:t>), you are simultaneously calculating the robot's current pose in the world!</a:t>
                </a:r>
              </a:p>
            </p:txBody>
          </p:sp>
        </mc:Choice>
        <mc:Fallback xmlns="">
          <p:sp>
            <p:nvSpPr>
              <p:cNvPr id="118" name="Google Shape;118;p29">
                <a:extLst>
                  <a:ext uri="{FF2B5EF4-FFF2-40B4-BE49-F238E27FC236}">
                    <a16:creationId xmlns:a16="http://schemas.microsoft.com/office/drawing/2014/main" id="{59B75BFF-A104-C319-D9E5-F631D31BCDA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E13E55C-F724-F4BB-12D9-E7A23717A0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9DF77-EA39-C903-3A6B-B2FA82C3DBD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796EA6-1013-C8CE-2056-DDB9956394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37AB9-1872-DE8B-4A2D-2CDD13A1D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EC9943-4515-5705-D73D-30A4F1B07B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9EE6BC-41CF-3E15-914D-5120B84CBA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CD1BD-0F51-76A7-F5EC-6BDC6FC35C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A2B2D-8F4C-2D25-482F-2829005566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006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7DC8DD-B0E4-119E-6015-DDC2586E86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09DC74-815C-4944-842F-8BB5BD6E1E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mj-lt"/>
                <a:ea typeface="Arial"/>
                <a:cs typeface="Arial"/>
                <a:sym typeface="Arial"/>
              </a:rPr>
              <a:t>They differ in how many hypotheses (position estimates) they track and how they correct errors</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342900">
              <a:lnSpc>
                <a:spcPct val="100000"/>
              </a:lnSpc>
              <a:spcBef>
                <a:spcPts val="0"/>
              </a:spcBef>
              <a:buSzPts val="3000"/>
            </a:pPr>
            <a:r>
              <a:rPr lang="en-US" sz="2200" dirty="0">
                <a:latin typeface="+mj-lt"/>
                <a:ea typeface="Arial"/>
                <a:cs typeface="Arial"/>
                <a:sym typeface="Arial"/>
              </a:rPr>
              <a:t>Modern SLAM combine all three: ICP for the front-end, filters for </a:t>
            </a:r>
            <a:r>
              <a:rPr lang="en-US" sz="2200" dirty="0" err="1">
                <a:latin typeface="+mj-lt"/>
                <a:ea typeface="Arial"/>
                <a:cs typeface="Arial"/>
                <a:sym typeface="Arial"/>
              </a:rPr>
              <a:t>relocalization</a:t>
            </a:r>
            <a:r>
              <a:rPr lang="en-US" sz="2200" dirty="0">
                <a:latin typeface="+mj-lt"/>
                <a:ea typeface="Arial"/>
                <a:cs typeface="Arial"/>
                <a:sym typeface="Arial"/>
              </a:rPr>
              <a:t>, graphs for the backend</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p:txBody>
      </p:sp>
      <p:sp>
        <p:nvSpPr>
          <p:cNvPr id="119" name="Google Shape;119;p29">
            <a:extLst>
              <a:ext uri="{FF2B5EF4-FFF2-40B4-BE49-F238E27FC236}">
                <a16:creationId xmlns:a16="http://schemas.microsoft.com/office/drawing/2014/main" id="{98C0561E-C8E1-AB29-D81F-35A18C54B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78C8A055-196B-C75B-5445-313AB4F478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Three Families of Localization Methods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9EF2F4-A05C-5C2D-3AF1-E4699AEB16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524AF-8A36-90EE-35FA-48CB207D7F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dirty="0">
                <a:solidFill>
                  <a:srgbClr val="13294B"/>
                </a:solidFill>
                <a:latin typeface="+mj-lt"/>
                <a:ea typeface="Arial"/>
                <a:cs typeface="Arial"/>
                <a:sym typeface="Arial"/>
              </a:rPr>
              <a:t>GRAINGER ENGINEERING</a:t>
            </a:r>
            <a:endParaRPr dirty="0">
              <a:latin typeface="+mj-lt"/>
            </a:endParaRPr>
          </a:p>
        </p:txBody>
      </p:sp>
      <p:sp>
        <p:nvSpPr>
          <p:cNvPr id="123" name="Google Shape;123;p29">
            <a:extLst>
              <a:ext uri="{FF2B5EF4-FFF2-40B4-BE49-F238E27FC236}">
                <a16:creationId xmlns:a16="http://schemas.microsoft.com/office/drawing/2014/main" id="{79AE9DE7-8E16-A32E-5BDB-1C9ED88B10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D35F0031-DDFB-1EDD-D9D2-94B17CB314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5A5445-327A-6495-07A5-D496CD8FEB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D19557-4C42-CA8B-1744-B4DF969A88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5" name="Group 24">
            <a:extLst>
              <a:ext uri="{FF2B5EF4-FFF2-40B4-BE49-F238E27FC236}">
                <a16:creationId xmlns:a16="http://schemas.microsoft.com/office/drawing/2014/main" id="{CFC89405-72B7-2D93-E370-341DA655F908}"/>
              </a:ext>
            </a:extLst>
          </p:cNvPr>
          <p:cNvGrpSpPr/>
          <p:nvPr/>
        </p:nvGrpSpPr>
        <p:grpSpPr>
          <a:xfrm>
            <a:off x="548792" y="2107921"/>
            <a:ext cx="11094415" cy="3108960"/>
            <a:chOff x="490456" y="2066326"/>
            <a:chExt cx="11094415" cy="3108960"/>
          </a:xfrm>
        </p:grpSpPr>
        <p:grpSp>
          <p:nvGrpSpPr>
            <p:cNvPr id="22" name="Group 21">
              <a:extLst>
                <a:ext uri="{FF2B5EF4-FFF2-40B4-BE49-F238E27FC236}">
                  <a16:creationId xmlns:a16="http://schemas.microsoft.com/office/drawing/2014/main" id="{176FCF28-30A6-D2C7-F799-770A69A6F9B0}"/>
                </a:ext>
              </a:extLst>
            </p:cNvPr>
            <p:cNvGrpSpPr/>
            <p:nvPr/>
          </p:nvGrpSpPr>
          <p:grpSpPr>
            <a:xfrm>
              <a:off x="490456" y="2066326"/>
              <a:ext cx="3576218" cy="3108960"/>
              <a:chOff x="490456" y="2066326"/>
              <a:chExt cx="3576218" cy="3108960"/>
            </a:xfrm>
          </p:grpSpPr>
          <p:sp>
            <p:nvSpPr>
              <p:cNvPr id="2" name="Shape 3">
                <a:extLst>
                  <a:ext uri="{FF2B5EF4-FFF2-40B4-BE49-F238E27FC236}">
                    <a16:creationId xmlns:a16="http://schemas.microsoft.com/office/drawing/2014/main" id="{8A60497F-655E-1B51-70C1-1B42126E1F87}"/>
                  </a:ext>
                </a:extLst>
              </p:cNvPr>
              <p:cNvSpPr/>
              <p:nvPr/>
            </p:nvSpPr>
            <p:spPr>
              <a:xfrm>
                <a:off x="490456" y="2066326"/>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E3E15BA5-0242-0A9B-CCAE-1E498207A202}"/>
                  </a:ext>
                </a:extLst>
              </p:cNvPr>
              <p:cNvSpPr/>
              <p:nvPr/>
            </p:nvSpPr>
            <p:spPr>
              <a:xfrm>
                <a:off x="490456" y="2066326"/>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10D8C85A-02C0-1C59-006C-E278C973B147}"/>
                  </a:ext>
                </a:extLst>
              </p:cNvPr>
              <p:cNvSpPr/>
              <p:nvPr/>
            </p:nvSpPr>
            <p:spPr>
              <a:xfrm>
                <a:off x="673336" y="2294926"/>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B7FCD533-4108-9494-1568-215BD33B6758}"/>
                  </a:ext>
                </a:extLst>
              </p:cNvPr>
              <p:cNvSpPr/>
              <p:nvPr/>
            </p:nvSpPr>
            <p:spPr>
              <a:xfrm>
                <a:off x="673336"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420B52CF-8943-2DB3-A6C6-C16DF9AD91D0}"/>
                  </a:ext>
                </a:extLst>
              </p:cNvPr>
              <p:cNvSpPr/>
              <p:nvPr/>
            </p:nvSpPr>
            <p:spPr>
              <a:xfrm>
                <a:off x="1221976"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Scan Matching (ICP)</a:t>
                </a:r>
                <a:endParaRPr lang="en-US" dirty="0">
                  <a:latin typeface="+mj-lt"/>
                </a:endParaRPr>
              </a:p>
            </p:txBody>
          </p:sp>
          <p:sp>
            <p:nvSpPr>
              <p:cNvPr id="7" name="Text 8">
                <a:extLst>
                  <a:ext uri="{FF2B5EF4-FFF2-40B4-BE49-F238E27FC236}">
                    <a16:creationId xmlns:a16="http://schemas.microsoft.com/office/drawing/2014/main" id="{3954E4D3-785E-7F1A-5FB4-3B3E19C9FFC3}"/>
                  </a:ext>
                </a:extLst>
              </p:cNvPr>
              <p:cNvSpPr/>
              <p:nvPr/>
            </p:nvSpPr>
            <p:spPr>
              <a:xfrm>
                <a:off x="673336"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ONE best guess.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Iteratively refines it by aligning the latest LiDAR scan to the map.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Fast, deterministic, fragile at initialization.</a:t>
                </a:r>
                <a:endParaRPr lang="en-US" sz="1600" dirty="0">
                  <a:latin typeface="+mj-lt"/>
                </a:endParaRPr>
              </a:p>
            </p:txBody>
          </p:sp>
        </p:grpSp>
        <p:grpSp>
          <p:nvGrpSpPr>
            <p:cNvPr id="23" name="Group 22">
              <a:extLst>
                <a:ext uri="{FF2B5EF4-FFF2-40B4-BE49-F238E27FC236}">
                  <a16:creationId xmlns:a16="http://schemas.microsoft.com/office/drawing/2014/main" id="{2BBECA3C-4E28-175A-1D1E-71DD801E3426}"/>
                </a:ext>
              </a:extLst>
            </p:cNvPr>
            <p:cNvGrpSpPr/>
            <p:nvPr/>
          </p:nvGrpSpPr>
          <p:grpSpPr>
            <a:xfrm>
              <a:off x="4249554" y="2066326"/>
              <a:ext cx="3576218" cy="3108960"/>
              <a:chOff x="4249554" y="2066326"/>
              <a:chExt cx="3576218" cy="3108960"/>
            </a:xfrm>
          </p:grpSpPr>
          <p:sp>
            <p:nvSpPr>
              <p:cNvPr id="9" name="Shape 10">
                <a:extLst>
                  <a:ext uri="{FF2B5EF4-FFF2-40B4-BE49-F238E27FC236}">
                    <a16:creationId xmlns:a16="http://schemas.microsoft.com/office/drawing/2014/main" id="{3E96FF99-C1AF-7372-FAC9-9ECD910FE34F}"/>
                  </a:ext>
                </a:extLst>
              </p:cNvPr>
              <p:cNvSpPr/>
              <p:nvPr/>
            </p:nvSpPr>
            <p:spPr>
              <a:xfrm>
                <a:off x="4249554" y="2066326"/>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5ABF6962-C9E2-AF3C-762A-F1EF5C763934}"/>
                  </a:ext>
                </a:extLst>
              </p:cNvPr>
              <p:cNvSpPr/>
              <p:nvPr/>
            </p:nvSpPr>
            <p:spPr>
              <a:xfrm>
                <a:off x="4249554" y="2066326"/>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C2BDA352-0357-89FC-B350-06721E4DDB6D}"/>
                  </a:ext>
                </a:extLst>
              </p:cNvPr>
              <p:cNvSpPr/>
              <p:nvPr/>
            </p:nvSpPr>
            <p:spPr>
              <a:xfrm>
                <a:off x="4432434" y="2294926"/>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234B68A2-CF2B-A1EC-C9CB-D8B1492988F8}"/>
                  </a:ext>
                </a:extLst>
              </p:cNvPr>
              <p:cNvSpPr/>
              <p:nvPr/>
            </p:nvSpPr>
            <p:spPr>
              <a:xfrm>
                <a:off x="4432434"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B288728E-D4AA-A5C8-F00A-BD77D07F8F8A}"/>
                  </a:ext>
                </a:extLst>
              </p:cNvPr>
              <p:cNvSpPr/>
              <p:nvPr/>
            </p:nvSpPr>
            <p:spPr>
              <a:xfrm>
                <a:off x="4981074"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Particle Filter (MCL)</a:t>
                </a:r>
                <a:endParaRPr lang="en-US" dirty="0">
                  <a:latin typeface="+mj-lt"/>
                </a:endParaRPr>
              </a:p>
            </p:txBody>
          </p:sp>
          <p:sp>
            <p:nvSpPr>
              <p:cNvPr id="14" name="Text 15">
                <a:extLst>
                  <a:ext uri="{FF2B5EF4-FFF2-40B4-BE49-F238E27FC236}">
                    <a16:creationId xmlns:a16="http://schemas.microsoft.com/office/drawing/2014/main" id="{6109BEA4-4428-8A3E-37CE-3821FA4FA8FD}"/>
                  </a:ext>
                </a:extLst>
              </p:cNvPr>
              <p:cNvSpPr/>
              <p:nvPr/>
            </p:nvSpPr>
            <p:spPr>
              <a:xfrm>
                <a:off x="4432434"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Tracks HUNDREDS of weighted hypotheses in parallel.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Probabilistic, handles kidnapping, but memory-heavy for large maps.</a:t>
                </a:r>
                <a:endParaRPr lang="en-US" sz="1600" dirty="0">
                  <a:latin typeface="+mj-lt"/>
                </a:endParaRPr>
              </a:p>
            </p:txBody>
          </p:sp>
        </p:grpSp>
        <p:grpSp>
          <p:nvGrpSpPr>
            <p:cNvPr id="24" name="Group 23">
              <a:extLst>
                <a:ext uri="{FF2B5EF4-FFF2-40B4-BE49-F238E27FC236}">
                  <a16:creationId xmlns:a16="http://schemas.microsoft.com/office/drawing/2014/main" id="{3840B146-6C2F-0B67-E61B-3A5E0899015B}"/>
                </a:ext>
              </a:extLst>
            </p:cNvPr>
            <p:cNvGrpSpPr/>
            <p:nvPr/>
          </p:nvGrpSpPr>
          <p:grpSpPr>
            <a:xfrm>
              <a:off x="8008653" y="2066326"/>
              <a:ext cx="3576218" cy="3108960"/>
              <a:chOff x="8008653" y="2066326"/>
              <a:chExt cx="3576218" cy="3108960"/>
            </a:xfrm>
          </p:grpSpPr>
          <p:sp>
            <p:nvSpPr>
              <p:cNvPr id="16" name="Shape 17">
                <a:extLst>
                  <a:ext uri="{FF2B5EF4-FFF2-40B4-BE49-F238E27FC236}">
                    <a16:creationId xmlns:a16="http://schemas.microsoft.com/office/drawing/2014/main" id="{3DFCC8EB-A703-2A07-E736-B9F8B11DF1B9}"/>
                  </a:ext>
                </a:extLst>
              </p:cNvPr>
              <p:cNvSpPr/>
              <p:nvPr/>
            </p:nvSpPr>
            <p:spPr>
              <a:xfrm>
                <a:off x="8008653" y="2066326"/>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8CE862D2-AC2E-9CC2-C373-7CE5010D85C3}"/>
                  </a:ext>
                </a:extLst>
              </p:cNvPr>
              <p:cNvSpPr/>
              <p:nvPr/>
            </p:nvSpPr>
            <p:spPr>
              <a:xfrm>
                <a:off x="8008653" y="2066326"/>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383C312D-2DAD-1AEB-5E3F-CB976EDD7E61}"/>
                  </a:ext>
                </a:extLst>
              </p:cNvPr>
              <p:cNvSpPr/>
              <p:nvPr/>
            </p:nvSpPr>
            <p:spPr>
              <a:xfrm>
                <a:off x="8191533" y="2294926"/>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4A5BCBA7-3985-8374-2D18-CA7EF419720E}"/>
                  </a:ext>
                </a:extLst>
              </p:cNvPr>
              <p:cNvSpPr/>
              <p:nvPr/>
            </p:nvSpPr>
            <p:spPr>
              <a:xfrm>
                <a:off x="8191533"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7D5B8EF1-0807-74C7-51DD-6CEEE0F5FCC1}"/>
                  </a:ext>
                </a:extLst>
              </p:cNvPr>
              <p:cNvSpPr/>
              <p:nvPr/>
            </p:nvSpPr>
            <p:spPr>
              <a:xfrm>
                <a:off x="8740173"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Graph Optimization</a:t>
                </a:r>
                <a:endParaRPr lang="en-US" dirty="0">
                  <a:latin typeface="+mj-lt"/>
                </a:endParaRPr>
              </a:p>
            </p:txBody>
          </p:sp>
          <p:sp>
            <p:nvSpPr>
              <p:cNvPr id="21" name="Text 22">
                <a:extLst>
                  <a:ext uri="{FF2B5EF4-FFF2-40B4-BE49-F238E27FC236}">
                    <a16:creationId xmlns:a16="http://schemas.microsoft.com/office/drawing/2014/main" id="{F10A191C-6CCE-8F7C-2C8F-68038635ACC1}"/>
                  </a:ext>
                </a:extLst>
              </p:cNvPr>
              <p:cNvSpPr/>
              <p:nvPr/>
            </p:nvSpPr>
            <p:spPr>
              <a:xfrm>
                <a:off x="8191533"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a graph of every past pose + constraints.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Solves them all simultaneously.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Today's gold standard for global consistency.</a:t>
                </a:r>
                <a:endParaRPr lang="en-US" sz="1600" dirty="0">
                  <a:latin typeface="+mj-lt"/>
                </a:endParaRPr>
              </a:p>
            </p:txBody>
          </p:sp>
        </p:grpSp>
      </p:grpSp>
    </p:spTree>
    <p:extLst>
      <p:ext uri="{BB962C8B-B14F-4D97-AF65-F5344CB8AC3E}">
        <p14:creationId xmlns:p14="http://schemas.microsoft.com/office/powerpoint/2010/main" val="1073709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7271E40-2901-B511-C8FC-A97E67C779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5241AD-8DC8-2F2E-0BEF-DCAA1FE187F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A50738B1-EBD3-F19E-6A1A-0FC2835BD74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ICP</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35712FF-5D4D-05A7-8B81-1E1AA6EAF57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2605C-047C-0723-2B08-58F8B6BC326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C81D14EE-F83F-28F0-07AA-E80E45B68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E6360AB-2BB2-AE46-4504-C8CFA17C4F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27209FC-3A81-9617-0397-79FE70D40C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6D9B0F-6222-D52C-A010-88BFC8EF16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EEFC25-2B4B-2B6F-519F-6915EE08811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9CB1C736-3694-B72F-4EC2-23C116CCE603}"/>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12960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A45857-3155-0B23-A82B-AEFA88B2C2A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69596AB-E0EF-314A-CB06-5DE1E9C392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ICP stands for Iterative Closest Point: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Repeat the following 4 steps until the transformation stops changing: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200000"/>
                  </a:lnSpc>
                  <a:spcBef>
                    <a:spcPts val="0"/>
                  </a:spcBef>
                  <a:buSzPts val="3000"/>
                </a:pPr>
                <a:r>
                  <a:rPr lang="en-US" sz="2200" dirty="0">
                    <a:latin typeface="Atkinson Hyperlegible Next"/>
                    <a:ea typeface="Arial"/>
                    <a:cs typeface="Arial"/>
                    <a:sym typeface="Arial"/>
                  </a:rPr>
                  <a:t>Data Association: pair each source point with its nearest target point</a:t>
                </a:r>
              </a:p>
              <a:p>
                <a:pPr marL="342900">
                  <a:lnSpc>
                    <a:spcPct val="200000"/>
                  </a:lnSpc>
                  <a:spcBef>
                    <a:spcPts val="0"/>
                  </a:spcBef>
                  <a:buSzPts val="3000"/>
                </a:pPr>
                <a:r>
                  <a:rPr lang="en-US" sz="2200" dirty="0">
                    <a:latin typeface="Atkinson Hyperlegible Next"/>
                    <a:ea typeface="Arial"/>
                    <a:cs typeface="Arial"/>
                    <a:sym typeface="Arial"/>
                  </a:rPr>
                  <a:t>Transformation: solve for the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 </m:t>
                    </m:r>
                    <m:r>
                      <a:rPr lang="en-US" sz="2200" i="1" dirty="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best aligns the matched pairs</a:t>
                </a:r>
              </a:p>
              <a:p>
                <a:pPr marL="342900">
                  <a:lnSpc>
                    <a:spcPct val="200000"/>
                  </a:lnSpc>
                  <a:spcBef>
                    <a:spcPts val="0"/>
                  </a:spcBef>
                  <a:buSzPts val="3000"/>
                </a:pPr>
                <a:r>
                  <a:rPr lang="en-US" sz="2200" dirty="0">
                    <a:latin typeface="Atkinson Hyperlegible Next"/>
                    <a:ea typeface="Arial"/>
                    <a:cs typeface="Arial"/>
                    <a:sym typeface="Arial"/>
                  </a:rPr>
                  <a:t>Apply: move the source cloud by that transformation</a:t>
                </a:r>
              </a:p>
              <a:p>
                <a:pPr marL="342900">
                  <a:lnSpc>
                    <a:spcPct val="200000"/>
                  </a:lnSpc>
                  <a:spcBef>
                    <a:spcPts val="0"/>
                  </a:spcBef>
                  <a:buSzPts val="3000"/>
                </a:pPr>
                <a:r>
                  <a:rPr lang="en-US" sz="2200" dirty="0">
                    <a:latin typeface="Atkinson Hyperlegible Next"/>
                    <a:ea typeface="Arial"/>
                    <a:cs typeface="Arial"/>
                    <a:sym typeface="Arial"/>
                  </a:rPr>
                  <a:t>Check: if the error has dropped below a threshold stop. Otherwise loop.</a:t>
                </a:r>
              </a:p>
            </p:txBody>
          </p:sp>
        </mc:Choice>
        <mc:Fallback xmlns="">
          <p:sp>
            <p:nvSpPr>
              <p:cNvPr id="118" name="Google Shape;118;p29">
                <a:extLst>
                  <a:ext uri="{FF2B5EF4-FFF2-40B4-BE49-F238E27FC236}">
                    <a16:creationId xmlns:a16="http://schemas.microsoft.com/office/drawing/2014/main" id="{A69596AB-E0EF-314A-CB06-5DE1E9C392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FE1324-EE03-AC60-85B6-4CD87219D7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202AC5-2F33-647C-01A2-12B9B28E74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8AFE4D-BB60-C285-839E-F19E00C2A6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D00D9-F020-F4A6-1723-12CAB6D2D9F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C80EA1-A95B-FE5B-D431-BEE9CC38D5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519249-A3CB-38DC-EED6-3A44ACAE19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9AECAB-87E2-D63E-0974-49E8CA1AFC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6A3903-D12D-F5B2-98F4-B94F478C05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3478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EC0F0E-0481-B301-FC10-30AFEE683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807B12-03E9-C70C-96A3-E7A68DEA65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61BA1D8-D8FF-10C3-4E53-C0C9E7E08E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973E846-2B12-71CF-8FE5-5B7F695451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0E865C-B244-A5B5-79E6-071F8BF8BD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18CF67-66D7-DD8F-B497-A5B57B634E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3BB29-7A41-1E8B-F8EC-D101A45D51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A9FC15-2E1A-91E6-8A70-400FAF95AB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60F21F-1B3E-752B-F714-A780658937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panel ICP example in the x-y plane, with blue circles as target points Q1 to Q3 and red squares as source points P1 to P3. Iteration 1: each P is paired with its nearest Q, so P1 and P2 both match Q2, P3 matches Q3, and Q1 is unmatched. After applying transform T1, the moved points P1', P2' and P3' sit closer and re-pair one-to-one with Q1, Q2 and Q3. At convergence, the final source points lie on the targets, with total error below threshold.">
            <a:extLst>
              <a:ext uri="{FF2B5EF4-FFF2-40B4-BE49-F238E27FC236}">
                <a16:creationId xmlns:a16="http://schemas.microsoft.com/office/drawing/2014/main" id="{B15FABCB-9326-B5A1-346B-EDFBCF9641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18331796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5E9734-5624-215D-EC60-CB87CFF42B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AD3CFDA-E270-C2CA-A8B4-3107027897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starting point of the ICP methods,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Match each source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its geometrically nearest target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Measure the straight-line Euclidean distance between each matched pair</a:t>
                </a:r>
              </a:p>
              <a:p>
                <a:pPr marL="342900">
                  <a:lnSpc>
                    <a:spcPct val="100000"/>
                  </a:lnSpc>
                  <a:spcBef>
                    <a:spcPts val="0"/>
                  </a:spcBef>
                  <a:buSzPts val="3000"/>
                </a:pPr>
                <a:r>
                  <a:rPr lang="en-US" sz="2200" dirty="0">
                    <a:latin typeface="Atkinson Hyperlegible Next"/>
                    <a:ea typeface="Arial"/>
                    <a:cs typeface="Arial"/>
                    <a:sym typeface="Arial"/>
                  </a:rPr>
                  <a:t>Sum the squared distances and minimize over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oMath>
                </a14:m>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exactly what is illustrated in the figure.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happens if you start the initial guess very wrong, say 90 degree off?</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Works very well when two-point clouds start near each other and have clear features.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Falls apart in featureless or repetitive environments (more on that soon)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AD3CFDA-E270-C2CA-A8B4-3107027897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0C16740-FD9B-B31F-A18D-B5484F4555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C1340-EEDF-5DA3-FFDD-1393972A312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F489A5-5628-03E1-B891-5E12386204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964C8-960F-C46C-F63E-3309F44FC3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97F22-8030-DE41-7AF9-3FAEDE9C6E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1B3E26-F585-8208-90FB-5D4FD74CD2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B1207B-928C-A132-5C77-43B8C1DC5C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579A7E-9179-D863-E1AD-7522C3780E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986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B3ED992-E2CC-0686-E2B4-858C1B476AA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904E7A-6FBF-7BFB-A6C5-1C9C10C0A0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F1D3AFB-D122-950D-4FC6-2D9C58CB5B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BDF7E9-98B5-0025-8673-B20FDBD21BA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E60B84-D489-8710-964A-ADC22593AB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58751C-8B41-C506-DEF6-CA4042B6A0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2C6BA9-5E73-8D4F-A4F3-5CAB14A55F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54FB5D-C034-D6D2-F6E5-1C93C12AD4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D5472-5A41-6455-4F2D-16EBC7952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panel ICP example in the x-y plane, with blue circles as target points Q1 to Q3 and red squares as source points P1 to P3. Iteration 1: each P is paired with its nearest Q, so P1 and P2 both match Q2, P3 matches Q3, and Q1 is unmatched. After applying transform T1, the moved points P1', P2' and P3' sit closer and re-pair one-to-one with Q1, Q2 and Q3. At convergence, the final source points lie on the targets, with total error below threshold.">
            <a:extLst>
              <a:ext uri="{FF2B5EF4-FFF2-40B4-BE49-F238E27FC236}">
                <a16:creationId xmlns:a16="http://schemas.microsoft.com/office/drawing/2014/main" id="{81743C38-62B8-77DC-2BF1-B3B213EBF5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864831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D5F1A0-E43C-1831-E1B4-16E12B4ABB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55AC1E-3D62-9573-A818-0A66B72577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every matched pair </a:t>
                </a:r>
                <a14:m>
                  <m:oMath xmlns:m="http://schemas.openxmlformats.org/officeDocument/2006/math">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oMath>
                </a14:m>
                <a:r>
                  <a:rPr lang="en-US" sz="2200" dirty="0">
                    <a:latin typeface="Atkinson Hyperlegible Next"/>
                    <a:ea typeface="Arial"/>
                    <a:cs typeface="Arial"/>
                    <a:sym typeface="Arial"/>
                  </a:rPr>
                  <a:t>, the residual is the 3D (or 2D) vector from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the transformed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objective function is the sum of the squared residual magnitudes, a least-squares problem!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Given that this is a least-squares problem what is the advantage?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a:t>
                </a:r>
                <a:r>
                  <a:rPr lang="en-US" sz="2200" b="1" dirty="0">
                    <a:latin typeface="Atkinson Hyperlegible Next"/>
                    <a:ea typeface="Arial"/>
                    <a:cs typeface="Arial"/>
                    <a:sym typeface="Arial"/>
                  </a:rPr>
                  <a:t>closed-form</a:t>
                </a:r>
                <a:r>
                  <a:rPr lang="en-US" sz="2200" dirty="0">
                    <a:latin typeface="Atkinson Hyperlegible Next"/>
                    <a:ea typeface="Arial"/>
                    <a:cs typeface="Arial"/>
                    <a:sym typeface="Arial"/>
                  </a:rPr>
                  <a:t> solution via Singular Value Decomposition (SVD)</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 iterative non-linear solver needed for each inner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ea typeface="Arial"/>
                          <a:cs typeface="Arial"/>
                          <a:sym typeface="Arial"/>
                        </a:rPr>
                        <m:t>𝐸</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e>
                      </m:d>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sSup>
                            <m:sSupPr>
                              <m:ctrlPr>
                                <a:rPr lang="en-US" sz="2200" b="0" i="1" smtClean="0">
                                  <a:latin typeface="Cambria Math" panose="02040503050406030204" pitchFamily="18" charset="0"/>
                                  <a:ea typeface="Arial"/>
                                  <a:cs typeface="Arial"/>
                                  <a:sym typeface="Arial"/>
                                </a:rPr>
                              </m:ctrlPr>
                            </m:sSupPr>
                            <m:e>
                              <m:d>
                                <m:dPr>
                                  <m:begChr m:val="|"/>
                                  <m:endChr m:val="|"/>
                                  <m:ctrlPr>
                                    <a:rPr lang="en-US" sz="2200" b="0" i="1" smtClean="0">
                                      <a:latin typeface="Cambria Math" panose="02040503050406030204" pitchFamily="18" charset="0"/>
                                      <a:ea typeface="Arial"/>
                                      <a:cs typeface="Arial"/>
                                      <a:sym typeface="Arial"/>
                                    </a:rPr>
                                  </m:ctrlPr>
                                </m:dPr>
                                <m:e>
                                  <m:d>
                                    <m:dPr>
                                      <m:begChr m:val="|"/>
                                      <m:endChr m:val="|"/>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d>
                            </m:e>
                            <m:sup>
                              <m:r>
                                <a:rPr lang="en-US" sz="2200" b="0" i="1" smtClean="0">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555AC1E-3D62-9573-A818-0A66B725772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12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F3F59BF-3FED-23F5-50D5-C938931F37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082CC1-602C-61FF-373F-19A82E03EE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640CA39-335D-129A-2F6E-A5771C5FF0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99EC32-F4AE-FD9F-19E5-A80FFB234A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064F4-0F3F-84C5-823B-858C757614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2431229-0467-1794-9E3A-CF783B9CB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CD0CA8-B888-A2D2-AEB5-E9B42E946F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4B6BC5-248B-43C3-2112-D9F17ECFE4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2114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AE5298-0383-9D11-AA8C-F26C6CFADC6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2587E03-B01B-2B65-28EA-69B28EF5AA0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C2587E03-B01B-2B65-28EA-69B28EF5AA0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82F19B3-2481-85DA-9B55-D1C5524385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202DB96-121D-A9BA-F87B-28DC258428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FA14ED1-0AB4-2687-ADF1-9EED483F4E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336F16-C7FC-17B0-6B00-1821FE82CA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485EBE-A62A-8865-6A12-203C341A42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8EF1E58-AD8B-01A3-50EB-A4E89457DF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C451F7-4E3E-1C69-C6B2-CDF3379678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74223-A16D-181A-7051-3CF98AFD45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9193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D1E00A-59BB-C50A-AA3A-1D6927A3D6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CEF980-2DCF-276E-43A3-377560E6A60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Why is this equation quadratic (and therefore solvable exactly) despite containing rotations?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Rotations involve non-linear trigonometry (sines/cosines), which usually require iterative guessing. How do we solve for it exactly in one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After shifting both point clouds to their center of mass, the translation </a:t>
                </a:r>
                <a14:m>
                  <m:oMath xmlns:m="http://schemas.openxmlformats.org/officeDocument/2006/math">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becomes zero.</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5CEF980-2DCF-276E-43A3-377560E6A60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4C3338-C107-6A28-E36E-8512569FE7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A3F8CC-0EA0-E3A2-8362-CAB744B7E2D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0AD166E-93E9-FB3E-39F7-54EEC8C547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FD545A-CB1F-AA00-B6D5-119E4BA533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AC0162-2F6A-9128-7FF7-11A217CE9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7D7168-4C32-B6DC-3BEB-A4C5B1B738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A5149B-C0EC-3E7E-A6B2-C87855C80A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97A2B6-7369-B000-77E4-AEE59D3660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7860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2CEC2-E270-E614-FCFC-BB522115E3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70C929-9B2B-C028-2296-0925CE757B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must find the Rotation matrix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that minimizes the Sum of Squared Errors (SSE) between the centered source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 and target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nary>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sSup>
                        <m:sSupPr>
                          <m:ctrlPr>
                            <a:rPr lang="en-US" sz="2200" i="1" dirty="0" smtClean="0">
                              <a:latin typeface="Cambria Math" panose="02040503050406030204" pitchFamily="18" charset="0"/>
                              <a:ea typeface="Arial"/>
                              <a:cs typeface="Arial"/>
                              <a:sym typeface="Arial"/>
                            </a:rPr>
                          </m:ctrlPr>
                        </m:sSupPr>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geometric properties of rotation matrices cause the non-linear parts of the equation to self-destruct.</a:t>
                </a:r>
              </a:p>
            </p:txBody>
          </p:sp>
        </mc:Choice>
        <mc:Fallback xmlns="">
          <p:sp>
            <p:nvSpPr>
              <p:cNvPr id="118" name="Google Shape;118;p29">
                <a:extLst>
                  <a:ext uri="{FF2B5EF4-FFF2-40B4-BE49-F238E27FC236}">
                    <a16:creationId xmlns:a16="http://schemas.microsoft.com/office/drawing/2014/main" id="{8D70C929-9B2B-C028-2296-0925CE757B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AFD1BF0-34C5-79F2-456A-02BB1F43B9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4CF1510-86A2-2386-3856-911A6345EE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F29768-B296-391E-2682-1472408AE21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916C0F-8F12-F31A-9346-0EFB7CB33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F1397-344C-0C45-DBCE-CCF7E5F45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5A2B03-FB22-0904-5BFA-1271693458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7A424-807B-945F-965C-83B411778F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3D2931-7564-3589-FD1E-8A4812075A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689419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2E7D5E0-FEDA-A5AF-97EE-D67EF6FBFE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D5C81C0-3ED2-EF14-F9F7-047F2215598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b="1" dirty="0">
                    <a:latin typeface="Atkinson Hyperlegible Next"/>
                    <a:ea typeface="Arial"/>
                    <a:cs typeface="Arial"/>
                    <a:sym typeface="Arial"/>
                  </a:rPr>
                  <a:t>Expand the Quadratic</a:t>
                </a:r>
                <a:r>
                  <a:rPr lang="en-US" sz="2200" dirty="0">
                    <a:latin typeface="Atkinson Hyperlegible Next"/>
                    <a:ea typeface="Arial"/>
                    <a:cs typeface="Arial"/>
                    <a:sym typeface="Arial"/>
                  </a:rPr>
                  <a:t>: Since </a:t>
                </a:r>
                <a14:m>
                  <m:oMath xmlns:m="http://schemas.openxmlformats.org/officeDocument/2006/math">
                    <m:r>
                      <m:rPr>
                        <m:lit/>
                      </m:rPr>
                      <a:rPr lang="en-US" sz="2200" b="0" i="0"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𝑣</m:t>
                    </m:r>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r>
                      <a:rPr lang="en-US" sz="2200" i="1" dirty="0" smtClean="0">
                        <a:latin typeface="Cambria Math" panose="02040503050406030204" pitchFamily="18" charset="0"/>
                        <a:ea typeface="Arial"/>
                        <a:cs typeface="Arial"/>
                        <a:sym typeface="Arial"/>
                      </a:rPr>
                      <m:t>=</m:t>
                    </m:r>
                    <m:sSup>
                      <m:sSupPr>
                        <m:ctrlPr>
                          <a:rPr lang="en-US" sz="2200" i="1" dirty="0" err="1" smtClean="0">
                            <a:latin typeface="Cambria Math" panose="02040503050406030204" pitchFamily="18" charset="0"/>
                            <a:ea typeface="Arial"/>
                            <a:cs typeface="Arial"/>
                            <a:sym typeface="Arial"/>
                          </a:rPr>
                        </m:ctrlPr>
                      </m:sSupPr>
                      <m:e>
                        <m:r>
                          <a:rPr lang="en-US" sz="2200" i="1" dirty="0" err="1" smtClean="0">
                            <a:latin typeface="Cambria Math" panose="02040503050406030204" pitchFamily="18" charset="0"/>
                            <a:ea typeface="Arial"/>
                            <a:cs typeface="Arial"/>
                            <a:sym typeface="Arial"/>
                          </a:rPr>
                          <m:t>𝑣</m:t>
                        </m:r>
                      </m:e>
                      <m:sup>
                        <m:r>
                          <a:rPr lang="en-US" sz="2200" i="1" dirty="0" err="1"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𝑣</m:t>
                    </m:r>
                  </m:oMath>
                </a14:m>
                <a:r>
                  <a:rPr lang="en-US" sz="2200" dirty="0">
                    <a:latin typeface="Atkinson Hyperlegible Next"/>
                    <a:ea typeface="Arial"/>
                    <a:cs typeface="Arial"/>
                    <a:sym typeface="Arial"/>
                  </a:rPr>
                  <a:t>, we expand the error function: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d>
                            <m:dPr>
                              <m:ctrlPr>
                                <a:rPr lang="en-US" sz="2200" i="1" dirty="0" smtClean="0">
                                  <a:latin typeface="Cambria Math" panose="02040503050406030204" pitchFamily="18" charset="0"/>
                                  <a:ea typeface="Arial"/>
                                  <a:cs typeface="Arial"/>
                                  <a:sym typeface="Arial"/>
                                </a:rPr>
                              </m:ctrlPr>
                            </m:dPr>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−2</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Cancellation</a:t>
                </a:r>
                <a:r>
                  <a:rPr lang="en-US" sz="2200" dirty="0">
                    <a:latin typeface="Atkinson Hyperlegible Next"/>
                    <a:ea typeface="Arial"/>
                    <a:cs typeface="Arial"/>
                    <a:sym typeface="Arial"/>
                  </a:rPr>
                  <a:t>: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is a valid rotation matrix, meaning it is orthonormal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𝐼</m:t>
                    </m:r>
                  </m:oMath>
                </a14:m>
                <a:r>
                  <a:rPr lang="en-US" sz="2200" dirty="0">
                    <a:latin typeface="Atkinson Hyperlegible Next"/>
                    <a:ea typeface="Arial"/>
                    <a:cs typeface="Arial"/>
                    <a:sym typeface="Arial"/>
                  </a:rPr>
                  <a:t>). Rotating a vector does not change its length.</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Applying the Property</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𝐼</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m:rPr>
                          <m:lit/>
                        </m:rPr>
                        <a:rPr lang="en-US" sz="2200" b="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Result</a:t>
                </a:r>
                <a:r>
                  <a:rPr lang="en-US" sz="2200" dirty="0">
                    <a:latin typeface="Atkinson Hyperlegible Next"/>
                    <a:ea typeface="Arial"/>
                    <a:cs typeface="Arial"/>
                    <a:sym typeface="Arial"/>
                  </a:rPr>
                  <a:t>: The quadratic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2</m:t>
                        </m:r>
                      </m:sup>
                    </m:sSup>
                  </m:oMath>
                </a14:m>
                <a:r>
                  <a:rPr lang="en-US" sz="2200" dirty="0">
                    <a:latin typeface="Atkinson Hyperlegible Next"/>
                    <a:ea typeface="Arial"/>
                    <a:cs typeface="Arial"/>
                    <a:sym typeface="Arial"/>
                  </a:rPr>
                  <a:t> term completely vanishes, leaving only a linear relationship!</a:t>
                </a:r>
              </a:p>
            </p:txBody>
          </p:sp>
        </mc:Choice>
        <mc:Fallback xmlns="">
          <p:sp>
            <p:nvSpPr>
              <p:cNvPr id="118" name="Google Shape;118;p29">
                <a:extLst>
                  <a:ext uri="{FF2B5EF4-FFF2-40B4-BE49-F238E27FC236}">
                    <a16:creationId xmlns:a16="http://schemas.microsoft.com/office/drawing/2014/main" id="{DD5C81C0-3ED2-EF14-F9F7-047F2215598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4EF6CBA-E4AA-9608-75F4-E2170953A8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C154E1-B1F1-9081-BFB7-97F457BF13C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F9CBEE-C53E-85BE-DA2A-B4D5AA0F6DB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D6DB3D-2E7B-AA60-28FA-7F41F8210A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365DA5-5FF4-DEAE-8FE7-82AFF9F955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2CB9C0-8DB4-7E22-2EE0-E19B3E7B04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D61DEC-4183-534F-FB17-212845C7D5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647638-3D60-5A58-2087-5EF7D04CEE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1187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862886-6416-FACC-C541-5AA29F32A29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088D7D-AEF1-EFC7-1EC9-D7EA1B292B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2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p>
                                <m:sSupPr>
                                  <m:ctrlPr>
                                    <a:rPr lang="en-US" sz="2200" i="1" dirty="0">
                                      <a:latin typeface="Cambria Math" panose="02040503050406030204" pitchFamily="18" charset="0"/>
                                      <a:ea typeface="Arial"/>
                                      <a:cs typeface="Arial"/>
                                      <a:sym typeface="Arial"/>
                                    </a:rPr>
                                  </m:ctrlPr>
                                </m:sSupPr>
                                <m:e>
                                  <m:r>
                                    <a:rPr lang="en-US" sz="2200" i="1" dirty="0">
                                      <a:latin typeface="Cambria Math" panose="02040503050406030204" pitchFamily="18" charset="0"/>
                                      <a:ea typeface="Arial"/>
                                      <a:cs typeface="Arial"/>
                                      <a:sym typeface="Arial"/>
                                    </a:rPr>
                                    <m:t>𝑅</m:t>
                                  </m:r>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b="0" i="1" dirty="0" smtClean="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remove the constant terms from the error function!</a:t>
                </a:r>
              </a:p>
            </p:txBody>
          </p:sp>
        </mc:Choice>
        <mc:Fallback xmlns="">
          <p:sp>
            <p:nvSpPr>
              <p:cNvPr id="118" name="Google Shape;118;p29">
                <a:extLst>
                  <a:ext uri="{FF2B5EF4-FFF2-40B4-BE49-F238E27FC236}">
                    <a16:creationId xmlns:a16="http://schemas.microsoft.com/office/drawing/2014/main" id="{9E088D7D-AEF1-EFC7-1EC9-D7EA1B292B4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104B5A7-05CB-C800-73E5-863FE10B86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795775-6591-3228-E804-9BA135824A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2E11DE-E651-FF50-49B9-9816FED8D8F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19F8A3-288C-6FFF-1DEA-F3E013BB1F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E6E662-6FC4-D452-D93F-541436344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246B526-6B2F-A662-7D46-01FB80EF7E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A4F91A-9AC4-BE8C-0E98-985190DE3B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BD63FB-CF4B-2C59-1E36-75D0931CEEF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112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CDB2BA-DEC4-AB21-5CB6-E0668DF0CAC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BF11F6-9BC3-7CBB-184D-4BB396FB4B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With the </a:t>
                </a:r>
                <a:r>
                  <a:rPr lang="en-US" sz="2200" b="1" dirty="0">
                    <a:latin typeface="Atkinson Hyperlegible Next"/>
                    <a:ea typeface="Arial"/>
                    <a:cs typeface="Arial"/>
                    <a:sym typeface="Arial"/>
                  </a:rPr>
                  <a:t>quadratic term </a:t>
                </a:r>
                <a:r>
                  <a:rPr lang="en-US" sz="2200" dirty="0">
                    <a:latin typeface="Atkinson Hyperlegible Next"/>
                    <a:ea typeface="Arial"/>
                    <a:cs typeface="Arial"/>
                    <a:sym typeface="Arial"/>
                  </a:rPr>
                  <a:t>gone, the problem reduces to straightforward linear algebra.</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Simplify</a:t>
                </a:r>
                <a:r>
                  <a:rPr lang="en-US" sz="2200" dirty="0">
                    <a:latin typeface="Atkinson Hyperlegible Next"/>
                    <a:ea typeface="Arial"/>
                    <a:cs typeface="Arial"/>
                    <a:sym typeface="Arial"/>
                  </a:rPr>
                  <a:t>: The equation is now just the static size of the point clouds (constants) minus a linear term.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minimize the total error, we must maximize the negative term: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200" i="0" dirty="0" smtClean="0">
                          <a:latin typeface="Cambria Math" panose="02040503050406030204" pitchFamily="18" charset="0"/>
                          <a:ea typeface="Arial"/>
                          <a:cs typeface="Arial"/>
                          <a:sym typeface="Arial"/>
                        </a:rPr>
                        <m:t>Maximize</m:t>
                      </m:r>
                      <m:r>
                        <m:rPr>
                          <m:nor/>
                        </m:rPr>
                        <a:rPr lang="en-US" sz="2200" i="0" dirty="0" smtClean="0">
                          <a:latin typeface="Cambria Math" panose="02040503050406030204" pitchFamily="18" charset="0"/>
                          <a:ea typeface="Arial"/>
                          <a:cs typeface="Arial"/>
                          <a:sym typeface="Arial"/>
                        </a:rPr>
                        <m:t>: </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e>
                      </m:nary>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76BF11F6-9BC3-7CBB-184D-4BB396FB4B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170CEE-107F-F51D-0CE1-E686A89D33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D58E09-1580-EE9B-01A8-BB392683DB8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D28CF8-94BB-D0C9-A9EF-E05ABFB61A5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0685E8-3997-7B49-65EA-92E6D976E5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F81CB-2299-3196-D783-951FBE8BFF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E5380-7E4C-F31C-CE5F-81A816E031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3085A74-5931-E17E-4DEA-2B48D3674C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73968-C05E-6820-63FF-63FBBD397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613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903029-FC18-D3A8-A3E4-823015E40F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9529276-6013-D9AB-F3E8-85BB9A42E6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Using a rule of linear algebra (the cyclic property of the Trace operator), we can rewrite the sum of these vector dot products as the Trace (sum of the diagonal) of a matrix multiplication:</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e>
                      </m:nary>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e>
                          </m:nary>
                        </m:e>
                      </m:d>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indent="0">
                  <a:lnSpc>
                    <a:spcPct val="100000"/>
                  </a:lnSpc>
                  <a:spcBef>
                    <a:spcPts val="0"/>
                  </a:spcBef>
                  <a:buClr>
                    <a:srgbClr val="000000"/>
                  </a:buClr>
                  <a:buSzPts val="3000"/>
                  <a:buNone/>
                  <a:defRPr/>
                </a:pPr>
                <a:r>
                  <a:rPr lang="en-US" sz="2200" b="1" dirty="0">
                    <a:solidFill>
                      <a:srgbClr val="000000"/>
                    </a:solidFill>
                    <a:latin typeface="Atkinson Hyperlegible Next"/>
                    <a:ea typeface="Arial"/>
                    <a:cs typeface="Arial"/>
                    <a:sym typeface="Arial"/>
                  </a:rPr>
                  <a:t>The Trace Trick</a:t>
                </a:r>
                <a:r>
                  <a:rPr lang="en-US" sz="2200" dirty="0">
                    <a:solidFill>
                      <a:srgbClr val="000000"/>
                    </a:solidFill>
                    <a:latin typeface="Atkinson Hyperlegible Next"/>
                    <a:ea typeface="Arial"/>
                    <a:cs typeface="Arial"/>
                    <a:sym typeface="Arial"/>
                  </a:rPr>
                  <a:t>: We can rewrite this sum of vectors as the Trace of a matrix multiplication using the cross-covariance matrix (</a:t>
                </a:r>
                <a14:m>
                  <m:oMath xmlns:m="http://schemas.openxmlformats.org/officeDocument/2006/math">
                    <m:r>
                      <a:rPr lang="en-US" sz="2200" i="1" dirty="0">
                        <a:solidFill>
                          <a:srgbClr val="000000"/>
                        </a:solidFill>
                        <a:latin typeface="Cambria Math" panose="02040503050406030204" pitchFamily="18" charset="0"/>
                        <a:ea typeface="Arial"/>
                        <a:cs typeface="Arial"/>
                        <a:sym typeface="Arial"/>
                      </a:rPr>
                      <m:t>𝐻</m:t>
                    </m:r>
                  </m:oMath>
                </a14:m>
                <a:r>
                  <a:rPr lang="en-US" sz="2200" dirty="0">
                    <a:solidFill>
                      <a:srgbClr val="000000"/>
                    </a:solidFill>
                    <a:latin typeface="Atkinson Hyperlegible Next"/>
                    <a:ea typeface="Arial"/>
                    <a:cs typeface="Arial"/>
                    <a:sym typeface="Arial"/>
                  </a:rPr>
                  <a:t>):</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Maximize</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 </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9529276-6013-D9AB-F3E8-85BB9A42E6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AEE70C-E0B9-3FE6-AF27-63CD24D106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A8B9CB-5F94-2968-ACF3-922072453C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96B1AF1-1018-00D9-169E-72EB68865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AD4BC1-7A4A-0028-851F-0ABCA0B789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B42438-0487-2AB6-435D-DB83B37290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7B6CE1-A236-DC9C-614E-941933EC5C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0BD84-06AC-75EC-CDC9-8BC592C58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C4D4B1-86E4-B708-6ABF-435ED7838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23177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C356B8-0B67-6DFC-7C89-8DB600CB1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B97E6A8-0258-A8D4-B6FF-73F82D2B79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1" i="0" u="none" strike="noStrike" kern="0" cap="none" spc="0" normalizeH="0" baseline="0" noProof="0" dirty="0">
                    <a:ln>
                      <a:noFill/>
                    </a:ln>
                    <a:solidFill>
                      <a:srgbClr val="000000"/>
                    </a:solidFill>
                    <a:effectLst/>
                    <a:uLnTx/>
                    <a:uFillTx/>
                    <a:latin typeface="Atkinson Hyperlegible Next"/>
                    <a:ea typeface="Arial"/>
                    <a:cs typeface="Arial"/>
                    <a:sym typeface="Arial"/>
                  </a:rPr>
                  <a:t>The SVD Algorithm</a:t>
                </a: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Singular Value Decomposition is explicitly designed to maximize this matrix trace!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decompose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and perfectly extract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lvl="0" indent="0">
                  <a:lnSpc>
                    <a:spcPct val="100000"/>
                  </a:lnSpc>
                  <a:spcBef>
                    <a:spcPts val="0"/>
                  </a:spcBef>
                  <a:buClr>
                    <a:srgbClr val="000000"/>
                  </a:buClr>
                  <a:buSzPts val="3000"/>
                  <a:buNone/>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can ignore </a:t>
                </a:r>
                <a14:m>
                  <m:oMath xmlns:m="http://schemas.openxmlformats.org/officeDocument/2006/math">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because </a:t>
                </a:r>
                <a14:m>
                  <m:oMath xmlns:m="http://schemas.openxmlformats.org/officeDocument/2006/math">
                    <m:r>
                      <m:rPr>
                        <m:sty m:val="p"/>
                      </m:rPr>
                      <a:rPr lang="en-US" sz="2200" dirty="0">
                        <a:solidFill>
                          <a:srgbClr val="000000"/>
                        </a:solidFill>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represents scaling</a:t>
                </a:r>
                <a:r>
                  <a:rPr kumimoji="0" lang="en-US" sz="2200" b="0" i="0" u="none" strike="noStrike" kern="0" cap="none" spc="0" normalizeH="0" noProof="0" dirty="0">
                    <a:ln>
                      <a:noFill/>
                    </a:ln>
                    <a:solidFill>
                      <a:srgbClr val="000000"/>
                    </a:solidFill>
                    <a:effectLst/>
                    <a:uLnTx/>
                    <a:uFillTx/>
                    <a:latin typeface="Atkinson Hyperlegible Next"/>
                    <a:ea typeface="Arial"/>
                    <a:cs typeface="Arial"/>
                    <a:sym typeface="Arial"/>
                  </a:rPr>
                  <a:t> /stretching and we want our rotation matrix to maintain it’s validity.</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B97E6A8-0258-A8D4-B6FF-73F82D2B79C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F524C99-8CC9-DAED-F80A-2A65875B58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BA3B21-1223-6ACD-3661-6DE594B4C12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55B031-34BF-70AC-15ED-A2011FD423F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C4274B9-392D-5890-CBB7-5CF142C3AE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44D391-6E55-125A-3346-AB6FB5289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827CD2-FE28-9CA7-53DB-7D1A87F703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1185A-3656-3B15-6696-C60C86795A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D6FA2-D649-DEE2-17FA-04310BA2A4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725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C1EC-F06A-3FFA-7F45-B8A46BE5F7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70A6FC4-4DDB-2290-B8E3-6BF9D0708F9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A70A6FC4-4DDB-2290-B8E3-6BF9D0708F9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B5A77FA-2A99-5C93-9CE8-C1A94D0B13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5FC2AC-E001-EE26-6047-B4D68CA750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3C5D19-828F-2FA9-2A8C-CA9CD8C100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64426-7D1B-C4CB-44BC-67EA328E4A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BE16DC-67E2-0E9A-C169-5E32298371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D9A7FF-336F-E739-425C-10422A74C1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37599-1926-9D00-DA2C-12452E0C85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8F1234-E132-4D18-782D-EBB651DCA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69483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877189-550D-357B-780C-C31E827A99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60C757-FA26-756D-83FF-0E71391C6AAB}"/>
              </a:ext>
            </a:extLst>
          </p:cNvPr>
          <p:cNvSpPr txBox="1">
            <a:spLocks noGrp="1"/>
          </p:cNvSpPr>
          <p:nvPr>
            <p:ph type="body" idx="1"/>
          </p:nvPr>
        </p:nvSpPr>
        <p:spPr>
          <a:xfrm>
            <a:off x="376809" y="983446"/>
            <a:ext cx="11177401" cy="5453612"/>
          </a:xfrm>
          <a:prstGeom prst="rect">
            <a:avLst/>
          </a:prstGeom>
          <a:noFill/>
          <a:ln>
            <a:noFill/>
          </a:ln>
        </p:spPr>
        <p:txBody>
          <a:bodyPr spcFirstLastPara="1" wrap="square" lIns="91425" tIns="45700" rIns="91425" bIns="45700" anchor="t" anchorCtr="0">
            <a:noAutofit/>
          </a:bodyPr>
          <a:lstStyle/>
          <a:p>
            <a:pPr algn="ctr">
              <a:lnSpc>
                <a:spcPct val="100000"/>
              </a:lnSpc>
              <a:spcBef>
                <a:spcPts val="0"/>
              </a:spcBef>
              <a:buNone/>
            </a:pPr>
            <a:r>
              <a:rPr lang="en-US" sz="1400" dirty="0">
                <a:latin typeface="Atkinson Hyperlegible Next"/>
                <a:ea typeface="Arial"/>
                <a:cs typeface="Arial"/>
                <a:sym typeface="Arial"/>
              </a:rPr>
              <a:t>Very simple to implement in code as well!</a:t>
            </a:r>
            <a:endParaRPr lang="en-US" sz="1400" b="1" dirty="0">
              <a:solidFill>
                <a:srgbClr val="CF222E"/>
              </a:solidFill>
              <a:effectLst/>
              <a:latin typeface="Consolas" panose="020B0609020204030204" pitchFamily="49" charset="0"/>
            </a:endParaRPr>
          </a:p>
          <a:p>
            <a:pPr>
              <a:lnSpc>
                <a:spcPct val="100000"/>
              </a:lnSpc>
              <a:spcBef>
                <a:spcPts val="0"/>
              </a:spcBef>
              <a:buNone/>
            </a:pPr>
            <a:endParaRPr lang="en-US" sz="800" dirty="0">
              <a:solidFill>
                <a:srgbClr val="CF222E"/>
              </a:solidFill>
              <a:latin typeface="Consolas" panose="020B0609020204030204" pitchFamily="49" charset="0"/>
            </a:endParaRPr>
          </a:p>
          <a:p>
            <a:pPr>
              <a:lnSpc>
                <a:spcPct val="100000"/>
              </a:lnSpc>
              <a:spcBef>
                <a:spcPts val="0"/>
              </a:spcBef>
              <a:buNone/>
            </a:pPr>
            <a:r>
              <a:rPr lang="en-US" sz="900" b="0" dirty="0">
                <a:solidFill>
                  <a:srgbClr val="CF222E"/>
                </a:solidFill>
                <a:effectLst/>
                <a:latin typeface="Consolas" panose="020B0609020204030204" pitchFamily="49" charset="0"/>
              </a:rPr>
              <a:t>def</a:t>
            </a:r>
            <a:r>
              <a:rPr lang="en-US" sz="900" b="0" dirty="0">
                <a:solidFill>
                  <a:srgbClr val="202020"/>
                </a:solidFill>
                <a:effectLst/>
                <a:latin typeface="Consolas" panose="020B0609020204030204" pitchFamily="49" charset="0"/>
              </a:rPr>
              <a:t> </a:t>
            </a:r>
            <a:r>
              <a:rPr lang="en-US" sz="900" b="0" dirty="0">
                <a:solidFill>
                  <a:srgbClr val="8250DF"/>
                </a:solidFill>
                <a:effectLst/>
                <a:latin typeface="Consolas" panose="020B0609020204030204" pitchFamily="49" charset="0"/>
              </a:rPr>
              <a:t>p2p_icp</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A3069"/>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Calculates the P2P ICP Closest Point Transformation</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Input: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source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B: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destination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Output: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T: (m+1)x(m+1) homogeneous transformation matrix</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953800"/>
                </a:solidFill>
                <a:effectLst/>
                <a:latin typeface="Consolas" panose="020B0609020204030204" pitchFamily="49" charset="0"/>
              </a:rPr>
              <a:t>A</a:t>
            </a:r>
            <a:r>
              <a:rPr lang="en-US" sz="900" b="0" dirty="0" err="1">
                <a:solidFill>
                  <a:srgbClr val="202020"/>
                </a:solidFill>
                <a:effectLst/>
                <a:latin typeface="Consolas" panose="020B0609020204030204" pitchFamily="49" charset="0"/>
              </a:rPr>
              <a:t>.shape</a:t>
            </a:r>
            <a:r>
              <a:rPr lang="en-US" sz="900" b="0" dirty="0">
                <a:solidFill>
                  <a:srgbClr val="20202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1: Compute the centroids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2: Build cross-covariance matrix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3: SVD Decomposition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S</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np.linalg.svd</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4: Extract R and t, from SVD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if</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np.linalg.det</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&lt;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np.eye</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t</a:t>
            </a:r>
            <a:r>
              <a:rPr lang="en-US" sz="900" b="0" dirty="0" err="1">
                <a:solidFill>
                  <a:srgbClr val="202020"/>
                </a:solidFill>
                <a:effectLst/>
                <a:latin typeface="Consolas" panose="020B0609020204030204" pitchFamily="49" charset="0"/>
              </a:rPr>
              <a:t>.ravel</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return</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endParaRPr lang="en-US" sz="9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53FA99F-D3AC-D21D-1CCF-3575D68FCE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6218C6-F638-66C1-7D05-D1473066794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6D4E87C-995B-2523-AFCC-977D8D71BC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1D06FE-C044-95C7-D497-0F969E853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A454EA-9BC5-7E86-DBC4-FC962B24D2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BC6146-B4EC-15BE-03DF-EC4BB28A20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AF4BD7-B050-8981-FDEE-709D49C23D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1EADEF3-DA17-E95A-CA92-F85E5B94F1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351818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E5392F-AD07-0E69-5E9B-DA6E30882C6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85F982A-F234-DAB8-D7A9-1BF7F0C8E8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A5E042-D008-C105-1BE5-70632E46176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603758-0928-9176-9E34-B06B26321EA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FB2B51-8C82-A2E9-97BB-A8B8B25C31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AC3F4C-98AB-1806-21B5-EF48C707477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90147-0457-BF4D-E427-328B9A6614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F44FB8-0216-30D9-50C0-6EEF6C4BB5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41684-11AA-14D2-9E27-671C806D8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91EFFD07-38E8-4D7F-3744-DAD0AC1D9992}"/>
                  </a:ext>
                </a:extLst>
              </p:cNvPr>
              <p:cNvSpPr>
                <a:spLocks noGrp="1"/>
              </p:cNvSpPr>
              <p:nvPr>
                <p:ph type="body" idx="1"/>
              </p:nvPr>
            </p:nvSpPr>
            <p:spPr>
              <a:xfrm>
                <a:off x="838200" y="5209383"/>
                <a:ext cx="10515600" cy="967579"/>
              </a:xfrm>
            </p:spPr>
            <p:txBody>
              <a:bodyPr>
                <a:normAutofit fontScale="77500" lnSpcReduction="20000"/>
              </a:bodyPr>
              <a:lstStyle/>
              <a:p>
                <a:r>
                  <a:rPr lang="en-US" dirty="0"/>
                  <a:t>Initial Point Clouds P (</a:t>
                </a:r>
                <a:r>
                  <a:rPr lang="en-US" dirty="0">
                    <a:solidFill>
                      <a:srgbClr val="0070C0"/>
                    </a:solidFill>
                  </a:rPr>
                  <a:t>blue</a:t>
                </a:r>
                <a:r>
                  <a:rPr lang="en-US" dirty="0"/>
                  <a:t>, offset triangle) and Q (</a:t>
                </a:r>
                <a:r>
                  <a:rPr lang="en-US" dirty="0">
                    <a:solidFill>
                      <a:srgbClr val="EA0000"/>
                    </a:solidFill>
                  </a:rPr>
                  <a:t>red</a:t>
                </a:r>
                <a:r>
                  <a:rPr lang="en-US" dirty="0"/>
                  <a:t>, offset and rotated triangle), with their calculated centroids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and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marked and vectors from the origin shown</a:t>
                </a:r>
              </a:p>
            </p:txBody>
          </p:sp>
        </mc:Choice>
        <mc:Fallback xmlns="">
          <p:sp>
            <p:nvSpPr>
              <p:cNvPr id="3" name="Text Placeholder 2">
                <a:extLst>
                  <a:ext uri="{FF2B5EF4-FFF2-40B4-BE49-F238E27FC236}">
                    <a16:creationId xmlns:a16="http://schemas.microsoft.com/office/drawing/2014/main" id="{91EFFD07-38E8-4D7F-3744-DAD0AC1D9992}"/>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a:stretch>
              </a:blipFill>
            </p:spPr>
            <p:txBody>
              <a:bodyPr/>
              <a:lstStyle/>
              <a:p>
                <a:r>
                  <a:rPr lang="en-US">
                    <a:noFill/>
                  </a:rPr>
                  <a:t> </a:t>
                </a:r>
              </a:p>
            </p:txBody>
          </p:sp>
        </mc:Fallback>
      </mc:AlternateContent>
      <p:pic>
        <p:nvPicPr>
          <p:cNvPr id="5" name="Graphic 4" descr="Plot on x-y axes from minus 1 to 6, step 1 of point-to-point ICP: computing centroids. Blue point cloud P is a triangle with vertices at (1, 0), (2, 0) and (1.5, 2); its centroid p bar is at about (1.5, 0.67). Red point cloud Q is a triangle with vertices near (1.67, 4), (3.67, 4.5) and (3.67, 3.5); its centroid q bar is at (3, 4). Arrows from the origin point to each centroid.">
            <a:extLst>
              <a:ext uri="{FF2B5EF4-FFF2-40B4-BE49-F238E27FC236}">
                <a16:creationId xmlns:a16="http://schemas.microsoft.com/office/drawing/2014/main" id="{18BAE210-BBF1-CBAB-22A6-C3EB4E085A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84587" y="929488"/>
            <a:ext cx="4616426" cy="4330874"/>
          </a:xfrm>
          <a:prstGeom prst="rect">
            <a:avLst/>
          </a:prstGeom>
        </p:spPr>
      </p:pic>
    </p:spTree>
    <p:extLst>
      <p:ext uri="{BB962C8B-B14F-4D97-AF65-F5344CB8AC3E}">
        <p14:creationId xmlns:p14="http://schemas.microsoft.com/office/powerpoint/2010/main" val="2500547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C7067F-5553-0959-EA5C-FD29C61ADDC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A4661B9-3087-22FB-2303-5E0CEE00BD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DC3057-86F7-A7CF-6196-E4361CB7C92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ECF76CC-7BC0-0BBA-DAC9-48D1922038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72983E-ADD2-C6DA-2366-DBB3FE66E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4D24E7-3B3F-2BD5-7101-6B62084498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C39ECB-D041-9047-89BD-F36DACA498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2DF911-FED4-53F5-A899-0600D77A7D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02F15D-2FDC-6CBE-491B-B92D924B30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4CC042B-9E45-22D3-E071-C60056D13D04}"/>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Visualization of Step 2 conceptually centering both point clouds at the global origin to compute the cross-covariance matrix H using the relative positions of points to their respective centroids</a:t>
            </a:r>
          </a:p>
        </p:txBody>
      </p:sp>
      <p:pic>
        <p:nvPicPr>
          <p:cNvPr id="5" name="Graphic 4" descr="Plot on centered axes x prime and y prime: both triangles now have their centroids at the origin. Blue P prime points up, with vertices near (0, 1.33), (minus 0.5, minus 0.67) and (0.5, minus 0.67). Red Q prime points left, with vertices near (minus 1.33, 0), (0.67, 0.5) and (0.67, minus 0.5). Q prime is P prime rotated 90 degrees counterclockwise, so only rotation remains. Caption: H equals the sum over i of (p sub i minus p bar) times (q sub i minus q bar) transpose.">
            <a:extLst>
              <a:ext uri="{FF2B5EF4-FFF2-40B4-BE49-F238E27FC236}">
                <a16:creationId xmlns:a16="http://schemas.microsoft.com/office/drawing/2014/main" id="{FD20D93B-0F98-5034-611E-C6C783D4B50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514369" y="929488"/>
            <a:ext cx="4756861" cy="4330874"/>
          </a:xfrm>
          <a:prstGeom prst="rect">
            <a:avLst/>
          </a:prstGeom>
        </p:spPr>
      </p:pic>
    </p:spTree>
    <p:extLst>
      <p:ext uri="{BB962C8B-B14F-4D97-AF65-F5344CB8AC3E}">
        <p14:creationId xmlns:p14="http://schemas.microsoft.com/office/powerpoint/2010/main" val="1330775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E04DC5-9A3F-8B6F-76D6-C2B6910FF9D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F0F1E5-0A31-2F41-A495-F004F2E5B9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C7BF5B-A602-ED97-AE15-31C620EC03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0526884-0468-AD9C-2243-C5AC22D7D5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E26A46D-7BE6-EFFB-D6E2-149BAC70AC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CDC73C-DE55-59A5-CD11-199C60AE99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1859E3-375B-190E-A954-5BE860C595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D18AB5-3E6C-B65E-ABFE-DA4A2AEE5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E25DE7-A128-1D0B-7335-EC1B4E2B26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A95456C2-C8A7-3CA9-903B-E0129A58B8B0}"/>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Visualization of Step 3 SVD decomposition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𝐻</m:t>
                    </m:r>
                    <m:r>
                      <a:rPr lang="en-US" i="1" dirty="0" smtClean="0">
                        <a:latin typeface="Cambria Math" panose="02040503050406030204" pitchFamily="18" charset="0"/>
                      </a:rPr>
                      <m:t>=</m:t>
                    </m:r>
                    <m:r>
                      <a:rPr lang="en-US" i="1" dirty="0" smtClean="0">
                        <a:latin typeface="Cambria Math" panose="02040503050406030204" pitchFamily="18" charset="0"/>
                      </a:rPr>
                      <m:t>𝑈</m:t>
                    </m:r>
                    <m:r>
                      <m:rPr>
                        <m:sty m:val="p"/>
                      </m:rPr>
                      <a:rPr lang="en-US" i="0" dirty="0" smtClean="0">
                        <a:latin typeface="Cambria Math" panose="02040503050406030204" pitchFamily="18" charset="0"/>
                      </a:rPr>
                      <m:t>Σ</m:t>
                    </m:r>
                    <m:sSup>
                      <m:sSupPr>
                        <m:ctrlPr>
                          <a:rPr lang="en-US" i="1" dirty="0" smtClean="0">
                            <a:latin typeface="Cambria Math" panose="02040503050406030204" pitchFamily="18" charset="0"/>
                          </a:rPr>
                        </m:ctrlPr>
                      </m:sSupPr>
                      <m:e>
                        <m:r>
                          <a:rPr lang="en-US" i="1" dirty="0" smtClean="0">
                            <a:latin typeface="Cambria Math" panose="02040503050406030204" pitchFamily="18" charset="0"/>
                          </a:rPr>
                          <m:t>𝑉</m:t>
                        </m:r>
                      </m:e>
                      <m:sup>
                        <m:r>
                          <a:rPr lang="en-US" i="1" dirty="0" smtClean="0">
                            <a:latin typeface="Cambria Math" panose="02040503050406030204" pitchFamily="18" charset="0"/>
                          </a:rPr>
                          <m:t>𝑇</m:t>
                        </m:r>
                      </m:sup>
                    </m:sSup>
                    <m:r>
                      <m:rPr>
                        <m:lit/>
                      </m:rPr>
                      <a:rPr lang="en-US" i="1" dirty="0" smtClean="0">
                        <a:latin typeface="Cambria Math" panose="02040503050406030204" pitchFamily="18" charset="0"/>
                      </a:rPr>
                      <m:t>)</m:t>
                    </m:r>
                  </m:oMath>
                </a14:m>
                <a:r>
                  <a:rPr lang="en-US" dirty="0"/>
                  <a:t>, showing the orthogonal singular vectors U and V as principal axes in the centered frames of reference for P and Q respectively, with illustrative singular values </a:t>
                </a:r>
                <a14:m>
                  <m:oMath xmlns:m="http://schemas.openxmlformats.org/officeDocument/2006/math">
                    <m:r>
                      <m:rPr>
                        <m:lit/>
                      </m:rPr>
                      <a:rPr lang="en-US" i="1" dirty="0" smtClean="0">
                        <a:latin typeface="Cambria Math" panose="02040503050406030204" pitchFamily="18" charset="0"/>
                      </a:rPr>
                      <m:t>(</m:t>
                    </m:r>
                    <m:sSub>
                      <m:sSubPr>
                        <m:ctrlPr>
                          <a:rPr lang="en-US" i="1" dirty="0" err="1" smtClean="0">
                            <a:latin typeface="Cambria Math" panose="02040503050406030204" pitchFamily="18" charset="0"/>
                          </a:rPr>
                        </m:ctrlPr>
                      </m:sSubPr>
                      <m:e>
                        <m:r>
                          <a:rPr lang="en-US" i="1" dirty="0" smtClean="0">
                            <a:latin typeface="Cambria Math" panose="02040503050406030204" pitchFamily="18" charset="0"/>
                          </a:rPr>
                          <m:t>𝜎</m:t>
                        </m:r>
                      </m:e>
                      <m:sub>
                        <m:r>
                          <a:rPr lang="en-US" i="1" dirty="0" err="1" smtClean="0">
                            <a:latin typeface="Cambria Math" panose="02040503050406030204" pitchFamily="18" charset="0"/>
                          </a:rPr>
                          <m:t>𝑖</m:t>
                        </m:r>
                      </m:sub>
                    </m:sSub>
                    <m:r>
                      <m:rPr>
                        <m:lit/>
                      </m:rPr>
                      <a:rPr lang="en-US" i="1" dirty="0" smtClean="0">
                        <a:latin typeface="Cambria Math" panose="02040503050406030204" pitchFamily="18" charset="0"/>
                      </a:rPr>
                      <m:t>)</m:t>
                    </m:r>
                  </m:oMath>
                </a14:m>
                <a:r>
                  <a:rPr lang="en-US" dirty="0"/>
                  <a:t> indicating the scale of variance along these directions.</a:t>
                </a:r>
              </a:p>
            </p:txBody>
          </p:sp>
        </mc:Choice>
        <mc:Fallback xmlns="">
          <p:sp>
            <p:nvSpPr>
              <p:cNvPr id="3" name="Text Placeholder 2">
                <a:extLst>
                  <a:ext uri="{FF2B5EF4-FFF2-40B4-BE49-F238E27FC236}">
                    <a16:creationId xmlns:a16="http://schemas.microsoft.com/office/drawing/2014/main" id="{A95456C2-C8A7-3CA9-903B-E0129A58B8B0}"/>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descr="Two side-by-side plots of centered triangles. In P-space, a tall triangle with its apex at about (0, 1.3) and base vertices near (±0.5, −0.65) has u sub 1 (sigma sub 1) pointing up the y sub P axis, along its long dimension, and the shorter u sub 2 (sigma sub 2) pointing along positive x sub P. In Q-space, the same triangle appears rotated about 90 degrees, with its apex at about (−1.3, 0). v sub 1 points along negative x sub Q toward that apex, and v sub 2 points along negative y sub Q, so the matching axes reveal the rotation between frames.">
            <a:extLst>
              <a:ext uri="{FF2B5EF4-FFF2-40B4-BE49-F238E27FC236}">
                <a16:creationId xmlns:a16="http://schemas.microsoft.com/office/drawing/2014/main" id="{536E3C64-6EBB-C997-8554-1A3F2ECD812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82052" y="1013094"/>
            <a:ext cx="11227896" cy="4263756"/>
          </a:xfrm>
          <a:prstGeom prst="rect">
            <a:avLst/>
          </a:prstGeom>
        </p:spPr>
      </p:pic>
    </p:spTree>
    <p:extLst>
      <p:ext uri="{BB962C8B-B14F-4D97-AF65-F5344CB8AC3E}">
        <p14:creationId xmlns:p14="http://schemas.microsoft.com/office/powerpoint/2010/main" val="20822942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5239AA-AEF5-3089-2D02-D8A9BB48473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9B89790-F0F7-D31B-7A46-E15BBF176C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F871ED-BF79-A998-EE78-CF1D606D9B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3BD780-54F7-8969-1B4A-EBAA5A3D40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B9EC3A-ED8E-51B0-6361-6240EA512D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607FE4-151D-F34B-CA85-17DFF167B9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332E11-4311-FC52-0D06-7F7EEBC2DA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EC569F-4268-DEED-1EF1-837927323E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F0366A-E00A-1E82-BB17-210D88A63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D899695-7819-6E96-3DBA-448A445D352D}"/>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Visualizing Step 4 rotation part, showing how the rotation matrix R is conceptually applied to the centered point cloud P' to align its principal axes with those of centered Q', resulting in the rotated, centered shape P''.</a:t>
            </a:r>
          </a:p>
        </p:txBody>
      </p:sp>
      <p:pic>
        <p:nvPicPr>
          <p:cNvPr id="5" name="Graphic 4" descr="Plot titled Step 4: Rotation R, R equals V U transpose, on x double prime and y double prime axes from minus 2 to 2. A faint purple centered triangle points up, with apex near (0, 1.33) and base corners near (minus 0.5, minus 0.67) and (0.5, minus 0.67). A curved cyan arrow labeled &quot;R (on centered)&quot; sweeps 90 degrees counterclockwise to a cyan triangle labeled P double prime equals R of P prime, now pointing left, with apex near (minus 1.33, 0) and corners near (0.67, plus or minus 0.5).">
            <a:extLst>
              <a:ext uri="{FF2B5EF4-FFF2-40B4-BE49-F238E27FC236}">
                <a16:creationId xmlns:a16="http://schemas.microsoft.com/office/drawing/2014/main" id="{0305EC02-A30E-839C-30BE-F1AB4370998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09676" y="929488"/>
            <a:ext cx="4566247" cy="4330874"/>
          </a:xfrm>
          <a:prstGeom prst="rect">
            <a:avLst/>
          </a:prstGeom>
        </p:spPr>
      </p:pic>
    </p:spTree>
    <p:extLst>
      <p:ext uri="{BB962C8B-B14F-4D97-AF65-F5344CB8AC3E}">
        <p14:creationId xmlns:p14="http://schemas.microsoft.com/office/powerpoint/2010/main" val="23297155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2E2AA1-7FC5-C909-F37D-AAF46E5C752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8DE1703-B261-6430-E51C-4574D58CB8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07343F-E4C9-F48B-B57B-F62B619338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62F1BC-44E4-C368-18BA-CA459E49AA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67CC0-F37D-6B87-963B-547D48B913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109E016-DB80-99C1-9DBB-56AAE361CE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0AB567-0ECB-0063-6BBC-459F1E1DC5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F3A4BA-7CC5-7AA4-6E36-2F638664D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F6FE9-836A-E96E-ECB5-5872A5652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070FF12-13F9-E647-2E3F-F97005440DB6}"/>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Visualizing the Step 4 translation vector calculation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m:t>
                    </m:r>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The vector t shifts the rotated source centroid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directly to the target centroid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Conceptual perfect shape alignment (</a:t>
                </a:r>
                <a:r>
                  <a:rPr lang="en-US" dirty="0">
                    <a:solidFill>
                      <a:srgbClr val="007CAB"/>
                    </a:solidFill>
                  </a:rPr>
                  <a:t>cyan</a:t>
                </a:r>
                <a:r>
                  <a:rPr lang="en-US" dirty="0"/>
                  <a:t> filled triangle) is shown centered on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aligning with the original Q shape.</a:t>
                </a:r>
              </a:p>
            </p:txBody>
          </p:sp>
        </mc:Choice>
        <mc:Fallback xmlns="">
          <p:sp>
            <p:nvSpPr>
              <p:cNvPr id="3" name="Text Placeholder 2">
                <a:extLst>
                  <a:ext uri="{FF2B5EF4-FFF2-40B4-BE49-F238E27FC236}">
                    <a16:creationId xmlns:a16="http://schemas.microsoft.com/office/drawing/2014/main" id="{B070FF12-13F9-E647-2E3F-F97005440DB6}"/>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descr="Plot titled &quot;Step 4: Translation t, t equals q bar minus R p bar&quot; on x-y axes from minus 1 to 6. The original source centroid p bar orig sits near (1.5, 0.6). A magenta vector R p bar runs from the origin to about (minus 0.6, 1.5). A green vector t runs from the tip of R p bar to the target centroid q bar at (3, 4). A cyan triangle with vertices near (1.7, 4), (3.7, 4.5) and (3.7, 3.5) is centered on q bar, labeled P aligned equals R times (P minus p bar) plus q bar.">
            <a:extLst>
              <a:ext uri="{FF2B5EF4-FFF2-40B4-BE49-F238E27FC236}">
                <a16:creationId xmlns:a16="http://schemas.microsoft.com/office/drawing/2014/main" id="{24D571A1-D7AF-E1FF-EA34-3C42C1061DB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97200" y="929488"/>
            <a:ext cx="4591199" cy="4330874"/>
          </a:xfrm>
          <a:prstGeom prst="rect">
            <a:avLst/>
          </a:prstGeom>
        </p:spPr>
      </p:pic>
    </p:spTree>
    <p:extLst>
      <p:ext uri="{BB962C8B-B14F-4D97-AF65-F5344CB8AC3E}">
        <p14:creationId xmlns:p14="http://schemas.microsoft.com/office/powerpoint/2010/main" val="18952397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F27D0C-D461-125C-CA59-CE1CACE70A4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969761-E913-2A48-54F3-4350792A03F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hidden costs the biggest problem is actually the first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For N source points and M target points, naïve nearest-neighbor search is </a:t>
                </a:r>
                <a14:m>
                  <m:oMath xmlns:m="http://schemas.openxmlformats.org/officeDocument/2006/math">
                    <m:r>
                      <a:rPr lang="en-US" sz="2200" i="1" dirty="0" smtClean="0">
                        <a:latin typeface="Cambria Math" panose="02040503050406030204" pitchFamily="18" charset="0"/>
                        <a:ea typeface="Arial"/>
                        <a:cs typeface="Arial"/>
                        <a:sym typeface="Arial"/>
                      </a:rPr>
                      <m:t>𝑂</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N</m:t>
                    </m:r>
                    <m:r>
                      <a:rPr lang="en-US" sz="2200" b="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M</m:t>
                    </m:r>
                    <m:r>
                      <a:rPr lang="en-US" sz="2200" i="1" dirty="0" smtClean="0">
                        <a:latin typeface="Cambria Math" panose="02040503050406030204" pitchFamily="18" charset="0"/>
                        <a:ea typeface="Arial"/>
                        <a:cs typeface="Arial"/>
                        <a:sym typeface="Arial"/>
                      </a:rPr>
                      <m:t>)</m:t>
                    </m:r>
                  </m:oMath>
                </a14:m>
                <a:endParaRPr lang="en-US" sz="2200" dirty="0">
                  <a:latin typeface="Atkinson Hyperlegible Next"/>
                  <a:ea typeface="Arial"/>
                  <a:cs typeface="Arial"/>
                  <a:sym typeface="Arial"/>
                </a:endParaRPr>
              </a:p>
              <a:p>
                <a:pPr marL="800100" lvl="1">
                  <a:lnSpc>
                    <a:spcPct val="100000"/>
                  </a:lnSpc>
                  <a:spcBef>
                    <a:spcPts val="0"/>
                  </a:spcBef>
                  <a:buSzPts val="3000"/>
                </a:pPr>
                <a:r>
                  <a:rPr lang="en-US" dirty="0">
                    <a:latin typeface="Atkinson Hyperlegible Next"/>
                    <a:ea typeface="Arial"/>
                    <a:cs typeface="Arial"/>
                    <a:sym typeface="Arial"/>
                  </a:rPr>
                  <a:t>Just check for each points between each point</a:t>
                </a:r>
              </a:p>
              <a:p>
                <a:pPr marL="342900">
                  <a:lnSpc>
                    <a:spcPct val="100000"/>
                  </a:lnSpc>
                  <a:spcBef>
                    <a:spcPts val="0"/>
                  </a:spcBef>
                  <a:buSzPts val="3000"/>
                </a:pPr>
                <a:r>
                  <a:rPr lang="en-US" sz="2400" dirty="0">
                    <a:latin typeface="Atkinson Hyperlegible Next"/>
                    <a:ea typeface="Arial"/>
                    <a:cs typeface="Arial"/>
                    <a:sym typeface="Arial"/>
                  </a:rPr>
                  <a:t>Solution:</a:t>
                </a:r>
              </a:p>
              <a:p>
                <a:pPr marL="800100" lvl="1">
                  <a:lnSpc>
                    <a:spcPct val="100000"/>
                  </a:lnSpc>
                  <a:spcBef>
                    <a:spcPts val="0"/>
                  </a:spcBef>
                  <a:buSzPts val="3000"/>
                </a:pPr>
                <a:r>
                  <a:rPr lang="en-US" dirty="0">
                    <a:latin typeface="Atkinson Hyperlegible Next"/>
                    <a:ea typeface="Arial"/>
                    <a:cs typeface="Arial"/>
                    <a:sym typeface="Arial"/>
                  </a:rPr>
                  <a:t>Preprocess the target cloud into a </a:t>
                </a:r>
                <a:r>
                  <a:rPr lang="en-US" b="1" dirty="0">
                    <a:latin typeface="Atkinson Hyperlegible Next"/>
                    <a:ea typeface="Arial"/>
                    <a:cs typeface="Arial"/>
                    <a:sym typeface="Arial"/>
                  </a:rPr>
                  <a:t>k-d tree</a:t>
                </a:r>
                <a:r>
                  <a:rPr lang="en-US" dirty="0">
                    <a:latin typeface="Atkinson Hyperlegible Next"/>
                    <a:ea typeface="Arial"/>
                    <a:cs typeface="Arial"/>
                    <a:sym typeface="Arial"/>
                  </a:rPr>
                  <a:t>, binary space portioning structure </a:t>
                </a:r>
                <a14:m>
                  <m:oMath xmlns:m="http://schemas.openxmlformats.org/officeDocument/2006/math">
                    <m:r>
                      <m:rPr>
                        <m:sty m:val="p"/>
                      </m:rPr>
                      <a:rPr lang="en-US" b="0" i="1" smtClean="0">
                        <a:latin typeface="Cambria Math" panose="02040503050406030204" pitchFamily="18" charset="0"/>
                        <a:ea typeface="Arial"/>
                        <a:cs typeface="Arial"/>
                        <a:sym typeface="Arial"/>
                      </a:rPr>
                      <m:t>O</m:t>
                    </m:r>
                    <m:r>
                      <a:rPr lang="en-US" b="0" i="1" smtClean="0">
                        <a:latin typeface="Cambria Math" panose="02040503050406030204" pitchFamily="18" charset="0"/>
                        <a:ea typeface="Arial"/>
                        <a:cs typeface="Arial"/>
                        <a:sym typeface="Arial"/>
                      </a:rPr>
                      <m:t>(</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log</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m:t>
                    </m:r>
                  </m:oMath>
                </a14:m>
                <a:r>
                  <a:rPr lang="en-US" dirty="0">
                    <a:latin typeface="Atkinson Hyperlegible Next"/>
                    <a:ea typeface="Arial"/>
                    <a:cs typeface="Arial"/>
                    <a:sym typeface="Arial"/>
                  </a:rPr>
                  <a:t> construction time</a:t>
                </a:r>
              </a:p>
              <a:p>
                <a:pPr marL="800100" lvl="1">
                  <a:lnSpc>
                    <a:spcPct val="100000"/>
                  </a:lnSpc>
                  <a:spcBef>
                    <a:spcPts val="0"/>
                  </a:spcBef>
                  <a:buSzPts val="3000"/>
                </a:pPr>
                <a:r>
                  <a:rPr lang="en-US" dirty="0">
                    <a:latin typeface="Atkinson Hyperlegible Next"/>
                    <a:ea typeface="Arial"/>
                    <a:cs typeface="Arial"/>
                    <a:sym typeface="Arial"/>
                  </a:rPr>
                  <a:t>K-d nearest-neighbor lookup drops to </a:t>
                </a:r>
                <a14:m>
                  <m:oMath xmlns:m="http://schemas.openxmlformats.org/officeDocument/2006/math">
                    <m:r>
                      <a:rPr lang="en-US" i="1" dirty="0" smtClean="0">
                        <a:latin typeface="Cambria Math" panose="02040503050406030204" pitchFamily="18" charset="0"/>
                        <a:ea typeface="Arial"/>
                        <a:cs typeface="Arial"/>
                        <a:sym typeface="Arial"/>
                      </a:rPr>
                      <m:t>𝑂</m:t>
                    </m:r>
                    <m:d>
                      <m:dPr>
                        <m:ctrlPr>
                          <a:rPr lang="en-US" i="1" dirty="0" smtClean="0">
                            <a:latin typeface="Cambria Math" panose="02040503050406030204" pitchFamily="18" charset="0"/>
                            <a:ea typeface="Arial"/>
                            <a:cs typeface="Arial"/>
                            <a:sym typeface="Arial"/>
                          </a:rPr>
                        </m:ctrlPr>
                      </m:dPr>
                      <m:e>
                        <m:r>
                          <a:rPr lang="en-US" b="0" i="1" dirty="0" smtClean="0">
                            <a:latin typeface="Cambria Math" panose="02040503050406030204" pitchFamily="18" charset="0"/>
                            <a:ea typeface="Arial"/>
                            <a:cs typeface="Arial"/>
                            <a:sym typeface="Arial"/>
                          </a:rPr>
                          <m:t>𝑙𝑜</m:t>
                        </m:r>
                        <m:sSub>
                          <m:sSubPr>
                            <m:ctrlPr>
                              <a:rPr lang="en-US" b="0" i="1" dirty="0" smtClean="0">
                                <a:latin typeface="Cambria Math" panose="02040503050406030204" pitchFamily="18" charset="0"/>
                                <a:ea typeface="Arial"/>
                                <a:cs typeface="Arial"/>
                                <a:sym typeface="Arial"/>
                              </a:rPr>
                            </m:ctrlPr>
                          </m:sSubPr>
                          <m:e>
                            <m:r>
                              <a:rPr lang="en-US" b="0" i="1" dirty="0" smtClean="0">
                                <a:latin typeface="Cambria Math" panose="02040503050406030204" pitchFamily="18" charset="0"/>
                                <a:ea typeface="Arial"/>
                                <a:cs typeface="Arial"/>
                                <a:sym typeface="Arial"/>
                              </a:rPr>
                              <m:t>𝑔</m:t>
                            </m:r>
                          </m:e>
                          <m:sub>
                            <m:r>
                              <a:rPr lang="en-US" b="0" i="1" dirty="0" smtClean="0">
                                <a:latin typeface="Cambria Math" panose="02040503050406030204" pitchFamily="18" charset="0"/>
                                <a:ea typeface="Arial"/>
                                <a:cs typeface="Arial"/>
                                <a:sym typeface="Arial"/>
                              </a:rPr>
                              <m:t>2</m:t>
                            </m:r>
                          </m:sub>
                        </m:sSub>
                        <m:r>
                          <a:rPr lang="en-US" b="0" i="1" dirty="0" smtClean="0">
                            <a:latin typeface="Cambria Math" panose="02040503050406030204" pitchFamily="18" charset="0"/>
                            <a:ea typeface="Arial"/>
                            <a:cs typeface="Arial"/>
                            <a:sym typeface="Arial"/>
                          </a:rPr>
                          <m:t>𝑀</m:t>
                        </m:r>
                      </m:e>
                    </m:d>
                  </m:oMath>
                </a14:m>
                <a:r>
                  <a:rPr lang="en-US" dirty="0">
                    <a:latin typeface="Atkinson Hyperlegible Next"/>
                    <a:ea typeface="Arial"/>
                    <a:cs typeface="Arial"/>
                    <a:sym typeface="Arial"/>
                  </a:rPr>
                  <a:t> per query! A major speedup!</a:t>
                </a:r>
              </a:p>
              <a:p>
                <a:pPr marL="800100" lvl="1">
                  <a:lnSpc>
                    <a:spcPct val="100000"/>
                  </a:lnSpc>
                  <a:spcBef>
                    <a:spcPts val="0"/>
                  </a:spcBef>
                  <a:buSzPts val="3000"/>
                </a:pPr>
                <a:r>
                  <a:rPr lang="en-US" dirty="0">
                    <a:latin typeface="Atkinson Hyperlegible Next"/>
                    <a:ea typeface="Arial"/>
                    <a:cs typeface="Arial"/>
                    <a:sym typeface="Arial"/>
                  </a:rPr>
                  <a:t>Almost every ICP implementation in ROS, PCL and Open3D uses K-D trees internally!</a:t>
                </a:r>
              </a:p>
            </p:txBody>
          </p:sp>
        </mc:Choice>
        <mc:Fallback xmlns="">
          <p:sp>
            <p:nvSpPr>
              <p:cNvPr id="118" name="Google Shape;118;p29">
                <a:extLst>
                  <a:ext uri="{FF2B5EF4-FFF2-40B4-BE49-F238E27FC236}">
                    <a16:creationId xmlns:a16="http://schemas.microsoft.com/office/drawing/2014/main" id="{0E969761-E913-2A48-54F3-4350792A03F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45A19D-858E-572E-4CD7-B1ACBDE794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BC26DFB-0D73-105E-0E58-7480B479AF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194E8CC-A425-39E9-58A9-342CF9B05A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CAA4C8-BF72-69DF-DAFB-1E3D8E875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CE49E2-09EB-C625-779B-A00B484E1D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368529-AE47-41DB-7CFB-12EEFB7603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D6DDCCA-D8E4-5453-1C58-B118B4FAA3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A030D8-212B-AB50-424C-3BBED2E4A8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513417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EADBD8-E1F3-917A-C5E4-34582E5F016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AE7F2E3-8820-C11E-E6E5-3600052AEA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FB9EC1-CE93-89E0-7254-654F602371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FE821F6-FBBE-5F4D-66B4-17B7DBA3291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2BCC0A-B2AF-7967-FF2F-D2C5F5C754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825A7E-DA32-ABA4-0E83-882AD8871F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0E1A23-5AA0-F23E-127B-AB131E4679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74D5ED-911C-C7F3-F471-EF0EC1BA4B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5819A0-83A4-B65E-87F3-81D60DEEB45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20C3EB4A-3A69-D546-8533-82DADD71A6A0}"/>
              </a:ext>
            </a:extLst>
          </p:cNvPr>
          <p:cNvSpPr>
            <a:spLocks noGrp="1"/>
          </p:cNvSpPr>
          <p:nvPr>
            <p:ph type="body" idx="1"/>
          </p:nvPr>
        </p:nvSpPr>
        <p:spPr/>
        <p:txBody>
          <a:bodyPr/>
          <a:lstStyle/>
          <a:p>
            <a:endParaRPr lang="en-US"/>
          </a:p>
        </p:txBody>
      </p:sp>
      <p:pic>
        <p:nvPicPr>
          <p:cNvPr id="4" name="Online Media 3" title="KD Tree" descr="YouTube video: KD Tree (Marius Juston)">
            <a:hlinkClick r:id="" action="ppaction://media"/>
            <a:extLst>
              <a:ext uri="{FF2B5EF4-FFF2-40B4-BE49-F238E27FC236}">
                <a16:creationId xmlns:a16="http://schemas.microsoft.com/office/drawing/2014/main" id="{BEBC29B2-B957-7A7E-A426-22CF6D4709D8}"/>
              </a:ext>
            </a:extLst>
          </p:cNvPr>
          <p:cNvPicPr>
            <a:picLocks noRot="1" noChangeAspect="1"/>
          </p:cNvPicPr>
          <p:nvPr>
            <a:videoFile r:link="rId1"/>
          </p:nvPr>
        </p:nvPicPr>
        <p:blipFill>
          <a:blip r:embed="rId5"/>
          <a:stretch>
            <a:fillRect/>
          </a:stretch>
        </p:blipFill>
        <p:spPr>
          <a:xfrm>
            <a:off x="1282700" y="976780"/>
            <a:ext cx="9626600" cy="5439042"/>
          </a:xfrm>
          <a:prstGeom prst="rect">
            <a:avLst/>
          </a:prstGeom>
        </p:spPr>
      </p:pic>
    </p:spTree>
    <p:extLst>
      <p:ext uri="{BB962C8B-B14F-4D97-AF65-F5344CB8AC3E}">
        <p14:creationId xmlns:p14="http://schemas.microsoft.com/office/powerpoint/2010/main" val="8990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D6F8739-C5C6-FCA4-0FC6-1D1A6FE5A43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Imagine a robot driving straight down a long, flat, featureless corridor!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The left and right walls look geometrically identical at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and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P2P matches each source point to its nearest target point - but that's sideways, not forward!</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the algorithm conclude?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'I haven't moved forward at all' and locks the map in place</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fundamental problem: P2P cannot distinguish 'slide along a wall' from 'did not move'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D6F8739-C5C6-FCA4-0FC6-1D1A6FE5A43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6B052F5-7E65-170F-DB1B-9ADFD4EC8F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8428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6B052F5-7E65-170F-DB1B-9ADFD4EC8F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wo-panel figure of a robot in a featureless corridor. (A) At time t, the robot moves forward between two parallel walls, and its scan points are evenly spaced along each wall. (B) At t plus 1, the new scan points are shifted along the walls by the actual forward drift delta x. The point-to-point match vectors, however, run sideways, perpendicular to the walls. The repeating wall points leave forward motion unconstrained, so ICP cannot recover delta x.">
            <a:extLst>
              <a:ext uri="{FF2B5EF4-FFF2-40B4-BE49-F238E27FC236}">
                <a16:creationId xmlns:a16="http://schemas.microsoft.com/office/drawing/2014/main" id="{E3E09890-3168-E32E-1D7B-91ED2DDD06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4027" y="1522132"/>
            <a:ext cx="11543945" cy="4425493"/>
          </a:xfrm>
          <a:prstGeom prst="rect">
            <a:avLst/>
          </a:prstGeom>
        </p:spPr>
      </p:pic>
    </p:spTree>
    <p:extLst>
      <p:ext uri="{BB962C8B-B14F-4D97-AF65-F5344CB8AC3E}">
        <p14:creationId xmlns:p14="http://schemas.microsoft.com/office/powerpoint/2010/main" val="15989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AB56BA-C36E-32D1-1719-81A27BD424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A1620C-AAEA-7E0D-E442-B592061B7FC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key insight is this, in 2D the world is mostly made of line segments (wall, doors, edges of boxes)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matching a source point to a single target point, match it to the nearest target </a:t>
                </a:r>
                <a:r>
                  <a:rPr lang="en-US" sz="2000" b="1" dirty="0">
                    <a:latin typeface="Atkinson Hyperlegible Next"/>
                    <a:ea typeface="Arial"/>
                    <a:cs typeface="Arial"/>
                    <a:sym typeface="Arial"/>
                  </a:rPr>
                  <a:t>LINE</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each target line segment, compute the unit normal </a:t>
                </a: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(perpendicular to the near wall)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Only the component of the error </a:t>
                </a:r>
                <a:r>
                  <a:rPr lang="en-US" sz="2000" b="1" dirty="0">
                    <a:latin typeface="Atkinson Hyperlegible Next"/>
                    <a:ea typeface="Arial"/>
                    <a:cs typeface="Arial"/>
                    <a:sym typeface="Arial"/>
                  </a:rPr>
                  <a:t>PERPENDICULAR</a:t>
                </a:r>
                <a:r>
                  <a:rPr lang="en-US" sz="2000" dirty="0">
                    <a:latin typeface="Atkinson Hyperlegible Next"/>
                    <a:ea typeface="Arial"/>
                    <a:cs typeface="Arial"/>
                    <a:sym typeface="Arial"/>
                  </a:rPr>
                  <a:t> to the wall is penalized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robot can now slide freely along a smooth corridor with the algorithm resisting it!</a:t>
                </a:r>
              </a:p>
            </p:txBody>
          </p:sp>
        </mc:Choice>
        <mc:Fallback xmlns="">
          <p:sp>
            <p:nvSpPr>
              <p:cNvPr id="118" name="Google Shape;118;p29">
                <a:extLst>
                  <a:ext uri="{FF2B5EF4-FFF2-40B4-BE49-F238E27FC236}">
                    <a16:creationId xmlns:a16="http://schemas.microsoft.com/office/drawing/2014/main" id="{B2A1620C-AAEA-7E0D-E442-B592061B7FC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C1FBE6-635B-A4C0-43A3-0BAC91858B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A22662D-ADE4-8FAB-2235-267E92591B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77CCC7-DE4F-3324-9FA1-C613972245D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1D3C7C-DB51-4506-1DD1-C6CCB33CA6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9B9B2E-1ACA-20CC-A54E-066D1ED786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157A64-6858-C458-F91C-D27BC073A0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44A613-2500-83B6-FA06-C93D27C661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E10E95-6F83-F141-4915-37E0C5B556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5848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8BD5E5-66EC-A5EC-1FF7-B74584BC84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DEA45C0-9C86-75B2-B4AA-BB7BBD79CC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Residual = projection of </a:t>
                </a:r>
                <a14:m>
                  <m:oMath xmlns:m="http://schemas.openxmlformats.org/officeDocument/2006/math">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 </m:t>
                    </m:r>
                  </m:oMath>
                </a14:m>
                <a:r>
                  <a:rPr lang="en-US" sz="2000" dirty="0">
                    <a:latin typeface="Atkinson Hyperlegible Next"/>
                    <a:ea typeface="Arial"/>
                    <a:cs typeface="Arial"/>
                    <a:sym typeface="Arial"/>
                  </a:rPr>
                  <a:t>onto the surface normal nᵢ</a:t>
                </a:r>
              </a:p>
              <a:p>
                <a:pPr marL="342900">
                  <a:lnSpc>
                    <a:spcPct val="100000"/>
                  </a:lnSpc>
                  <a:spcBef>
                    <a:spcPts val="0"/>
                  </a:spcBef>
                  <a:buSzPts val="3000"/>
                </a:pPr>
                <a:r>
                  <a:rPr lang="en-US" sz="2000" dirty="0">
                    <a:latin typeface="Atkinson Hyperlegible Next"/>
                    <a:ea typeface="Arial"/>
                    <a:cs typeface="Arial"/>
                    <a:sym typeface="Arial"/>
                  </a:rPr>
                  <a:t>Motion parallel to the wall contributes ZERO error - the algorithm doesn't resist it, it just slides on the 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high-frequency LiDAR, the angle between consecutive scans is tiny, so we linearize, based on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This turns a hard non-linear problem into ordinary linear least squares!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p>
                            <m:sSupPr>
                              <m:ctrlPr>
                                <a:rPr lang="en-US" sz="2000" b="0" i="1" smtClean="0">
                                  <a:latin typeface="Cambria Math" panose="02040503050406030204" pitchFamily="18" charset="0"/>
                                  <a:ea typeface="Arial"/>
                                  <a:cs typeface="Arial"/>
                                  <a:sym typeface="Arial"/>
                                </a:rPr>
                              </m:ctrlPr>
                            </m:sSupPr>
                            <m:e>
                              <m:d>
                                <m:dPr>
                                  <m:begChr m:val="|"/>
                                  <m:endChr m:val="|"/>
                                  <m:ctrlPr>
                                    <a:rPr lang="en-US" sz="2000" b="0" i="1" smtClean="0">
                                      <a:latin typeface="Cambria Math" panose="02040503050406030204" pitchFamily="18" charset="0"/>
                                      <a:ea typeface="Arial"/>
                                      <a:cs typeface="Arial"/>
                                      <a:sym typeface="Arial"/>
                                    </a:rPr>
                                  </m:ctrlPr>
                                </m:dPr>
                                <m:e>
                                  <m:d>
                                    <m:dPr>
                                      <m:begChr m:val="|"/>
                                      <m:endChr m:val="|"/>
                                      <m:ctrlPr>
                                        <a:rPr lang="en-US" sz="2000" b="0" i="1" smtClean="0">
                                          <a:latin typeface="Cambria Math" panose="02040503050406030204" pitchFamily="18" charset="0"/>
                                          <a:ea typeface="Arial"/>
                                          <a:cs typeface="Arial"/>
                                          <a:sym typeface="Arial"/>
                                        </a:rPr>
                                      </m:ctrlPr>
                                    </m:dPr>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e>
                                  </m:d>
                                </m:e>
                              </m:d>
                            </m:e>
                            <m:sup>
                              <m:r>
                                <a:rPr lang="en-US" sz="2000" b="0" i="1" smtClean="0">
                                  <a:latin typeface="Cambria Math" panose="02040503050406030204" pitchFamily="18" charset="0"/>
                                  <a:ea typeface="Arial"/>
                                  <a:cs typeface="Arial"/>
                                  <a:sym typeface="Arial"/>
                                </a:rPr>
                                <m:t>2</m:t>
                              </m:r>
                            </m:sup>
                          </m:sSup>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Parallel motion = zero error, </a:t>
                </a:r>
                <a14:m>
                  <m:oMath xmlns:m="http://schemas.openxmlformats.org/officeDocument/2006/math">
                    <m:r>
                      <a:rPr lang="en-US" sz="2000" b="0" i="1" smtClean="0">
                        <a:latin typeface="Cambria Math" panose="02040503050406030204" pitchFamily="18" charset="0"/>
                        <a:ea typeface="Arial"/>
                        <a:cs typeface="Arial"/>
                        <a:sym typeface="Arial"/>
                      </a:rPr>
                      <m:t>𝑥</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=0</m:t>
                    </m:r>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Perpendicular motion = penalty, </a:t>
                </a:r>
                <a14:m>
                  <m:oMath xmlns:m="http://schemas.openxmlformats.org/officeDocument/2006/math">
                    <m:r>
                      <a:rPr lang="en-US" sz="2000" i="1" smtClean="0">
                        <a:latin typeface="Cambria Math" panose="02040503050406030204" pitchFamily="18" charset="0"/>
                        <a:ea typeface="Arial"/>
                        <a:cs typeface="Arial"/>
                        <a:sym typeface="Arial"/>
                      </a:rPr>
                      <m:t>𝑥</m:t>
                    </m:r>
                    <m:r>
                      <a:rPr lang="en-US" sz="2000" i="1" smtClean="0">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𝑛</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DEA45C0-9C86-75B2-B4AA-BB7BBD79CCB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E95C04-4D29-075D-FFDA-D497CACFD8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0B943E-8536-92B8-7DF6-2D00ADBDBC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60E55FB-C096-F1A8-C68A-78148CD53BA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0734F-B16F-CF54-7C88-B76B9670E1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505F19-C058-A064-6FCB-09C2E86A03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91BE9F-0440-A499-24FC-DA305A72E4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D126E9-78D4-48D2-8F9E-639EBA0AA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02FAF-AB2D-37D8-5EF1-2EF514C438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24293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16EA2A-93D1-A3F0-75B7-5CC5ADAB6E9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9B34002-0A39-BB31-4668-DDC32232417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2A51B8-83C2-33D7-81F0-655FB8029C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7C1605B-8A28-3998-2D0C-91F707F2B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AA60E51-6928-380C-4DD0-3789FBF89C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B80B1-7C84-9133-59D2-7AA96EAEE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F5FEDA-2571-F0AE-C193-ABA668DF17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5C9113-1C51-B76D-9F3F-947E865D3D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907CF2-93F6-5C16-B747-55B6307CE9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Step 1 of point-to-line ICP: identify correspondences and target normals n sub i. A blue source scan P lies above a red target curve Q. Gray lines pair source points (0.5, 3.5), (2.5, 4.5) and (4.5, 4) with target points (1, 1), (3, 2) and (5, 1.5). Each target point has a faint tangent line and a red normal arrow perpendicular to it: n sub 1 points up-left, n sub 2 straight up, and n sub 3 up and slightly right.">
            <a:extLst>
              <a:ext uri="{FF2B5EF4-FFF2-40B4-BE49-F238E27FC236}">
                <a16:creationId xmlns:a16="http://schemas.microsoft.com/office/drawing/2014/main" id="{A9A4C169-3B8F-0939-6C78-523D572403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548" y="1227221"/>
            <a:ext cx="5827525" cy="4572000"/>
          </a:xfrm>
          <a:prstGeom prst="rect">
            <a:avLst/>
          </a:prstGeom>
        </p:spPr>
      </p:pic>
      <p:pic>
        <p:nvPicPr>
          <p:cNvPr id="7" name="Graphic 6" descr="Plot, Step 5 of point-to-line ICP, apply transform and update, then iterate. The scan's original position, a faint blue curve between y equals 3 and 4.5, has been transformed down onto the red reference curve, whose points are at (1, 1), (3, 2) and (5, 1.5) with faint tangent lines through them. The aligned cyan scan, P sub aligned, has points near (0.5, 0.5), (2.5, 2) and (4.5, 1.6) that lie on those tangent lines but not on the red points. A note reads: points align to structure, not necessarily exact pairs.">
            <a:extLst>
              <a:ext uri="{FF2B5EF4-FFF2-40B4-BE49-F238E27FC236}">
                <a16:creationId xmlns:a16="http://schemas.microsoft.com/office/drawing/2014/main" id="{F7175818-FC9A-A861-6098-08D488DBB5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60179" y="1227221"/>
            <a:ext cx="4761514" cy="4572000"/>
          </a:xfrm>
          <a:prstGeom prst="rect">
            <a:avLst/>
          </a:prstGeom>
        </p:spPr>
      </p:pic>
    </p:spTree>
    <p:extLst>
      <p:ext uri="{BB962C8B-B14F-4D97-AF65-F5344CB8AC3E}">
        <p14:creationId xmlns:p14="http://schemas.microsoft.com/office/powerpoint/2010/main" val="35278539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5FADF4-646F-4F3F-231A-78F7EB20AD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015E32-FAFE-E048-5AE3-7752501866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 you think this generalizes in 3D?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In 3D, a plane is the natural generalization of a line (floor, ceiling, wall surface)</a:t>
            </a:r>
          </a:p>
          <a:p>
            <a:pPr marL="342900">
              <a:lnSpc>
                <a:spcPct val="150000"/>
              </a:lnSpc>
              <a:spcBef>
                <a:spcPts val="0"/>
              </a:spcBef>
              <a:buSzPts val="3000"/>
            </a:pPr>
            <a:r>
              <a:rPr lang="en-US" sz="2000" dirty="0">
                <a:latin typeface="Atkinson Hyperlegible Next"/>
                <a:ea typeface="Arial"/>
                <a:cs typeface="Arial"/>
                <a:sym typeface="Arial"/>
              </a:rPr>
              <a:t>Every target point qᵢ gets a surface-normal vector nᵢ computed from its local neighbors</a:t>
            </a:r>
          </a:p>
          <a:p>
            <a:pPr marL="342900">
              <a:lnSpc>
                <a:spcPct val="150000"/>
              </a:lnSpc>
              <a:spcBef>
                <a:spcPts val="0"/>
              </a:spcBef>
              <a:buSzPts val="3000"/>
            </a:pPr>
            <a:r>
              <a:rPr lang="en-US" sz="2000" dirty="0">
                <a:latin typeface="Atkinson Hyperlegible Next"/>
                <a:ea typeface="Arial"/>
                <a:cs typeface="Arial"/>
                <a:sym typeface="Arial"/>
              </a:rPr>
              <a:t>Error is projected onto nᵢ exactly as in PL-ICP, motion along the plane is free</a:t>
            </a:r>
          </a:p>
          <a:p>
            <a:pPr marL="342900">
              <a:lnSpc>
                <a:spcPct val="150000"/>
              </a:lnSpc>
              <a:spcBef>
                <a:spcPts val="0"/>
              </a:spcBef>
              <a:buSzPts val="3000"/>
            </a:pPr>
            <a:r>
              <a:rPr lang="en-US" sz="2000" dirty="0">
                <a:latin typeface="Atkinson Hyperlegible Next"/>
                <a:ea typeface="Arial"/>
                <a:cs typeface="Arial"/>
                <a:sym typeface="Arial"/>
              </a:rPr>
              <a:t>Converges in far fewer iterations than P2P in structured indoor environments (given that 3D structures provide more constraints / unique presentations)</a:t>
            </a:r>
          </a:p>
        </p:txBody>
      </p:sp>
      <p:sp>
        <p:nvSpPr>
          <p:cNvPr id="119" name="Google Shape;119;p29">
            <a:extLst>
              <a:ext uri="{FF2B5EF4-FFF2-40B4-BE49-F238E27FC236}">
                <a16:creationId xmlns:a16="http://schemas.microsoft.com/office/drawing/2014/main" id="{D864196B-13A3-4212-3F3B-D58FD9AD5E6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084440-D84D-07ED-FC8B-53F278BA08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3: Point-to-Plane 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66DB1A-433A-172D-10F5-F865B15055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386E8-83F7-CA4A-29CA-9F9E1A9195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6F44110-EF4D-D32E-10B1-22C5E802B4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65190D-05BD-43A8-4D82-63D230ECAA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8A1A8C-0DEF-2525-4DA2-DC72036E60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EB126C-5BB6-FE62-C0CF-60CCE92C5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556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6CAF50-AEB3-C9C7-FDCD-A5E3AC8273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AD5A15-4BE7-B88D-E49C-805CFBD54D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if BOTH clouds are noisy? We need uncertainty-aware matching.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P2P assumes source points are perfect, P2Plane assumes target surfaces are perfect</a:t>
            </a:r>
          </a:p>
          <a:p>
            <a:pPr marL="342900">
              <a:lnSpc>
                <a:spcPct val="150000"/>
              </a:lnSpc>
              <a:spcBef>
                <a:spcPts val="0"/>
              </a:spcBef>
              <a:buSzPts val="3000"/>
            </a:pPr>
            <a:r>
              <a:rPr lang="en-US" sz="2000" dirty="0">
                <a:latin typeface="Atkinson Hyperlegible Next"/>
                <a:ea typeface="Arial"/>
                <a:cs typeface="Arial"/>
                <a:sym typeface="Arial"/>
              </a:rPr>
              <a:t>Reality: both clouds carry uncertainty - laser range noise, quantization, timing jitter</a:t>
            </a:r>
          </a:p>
          <a:p>
            <a:pPr marL="342900">
              <a:lnSpc>
                <a:spcPct val="150000"/>
              </a:lnSpc>
              <a:spcBef>
                <a:spcPts val="0"/>
              </a:spcBef>
              <a:buSzPts val="3000"/>
            </a:pPr>
            <a:r>
              <a:rPr lang="en-US" sz="2000" dirty="0">
                <a:latin typeface="Atkinson Hyperlegible Next"/>
                <a:ea typeface="Arial"/>
                <a:cs typeface="Arial"/>
                <a:sym typeface="Arial"/>
              </a:rPr>
              <a:t>GICP attaches a 2×2 (or 3×3) covariance matrix to every point in both clouds</a:t>
            </a:r>
          </a:p>
          <a:p>
            <a:pPr marL="342900">
              <a:lnSpc>
                <a:spcPct val="150000"/>
              </a:lnSpc>
              <a:spcBef>
                <a:spcPts val="0"/>
              </a:spcBef>
              <a:buSzPts val="3000"/>
            </a:pPr>
            <a:r>
              <a:rPr lang="en-US" sz="2000" dirty="0">
                <a:latin typeface="Atkinson Hyperlegible Next"/>
                <a:ea typeface="Arial"/>
                <a:cs typeface="Arial"/>
                <a:sym typeface="Arial"/>
              </a:rPr>
              <a:t>A point on a flat wall has a 'pancake' covariance: certain perpendicular, uncertain along the wall</a:t>
            </a:r>
          </a:p>
          <a:p>
            <a:pPr marL="342900">
              <a:lnSpc>
                <a:spcPct val="150000"/>
              </a:lnSpc>
              <a:spcBef>
                <a:spcPts val="0"/>
              </a:spcBef>
              <a:buSzPts val="3000"/>
            </a:pPr>
            <a:r>
              <a:rPr lang="en-US" sz="2000" dirty="0">
                <a:latin typeface="Atkinson Hyperlegible Next"/>
                <a:ea typeface="Arial"/>
                <a:cs typeface="Arial"/>
                <a:sym typeface="Arial"/>
              </a:rPr>
              <a:t>Alignment is now done in probability space, not distance space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334BB1F-3D02-1A1F-45EC-909773BD82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A62ED2C-D7DF-D3F0-B6B7-F893A2D39E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4: Generalized ICP (GICP)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FF2239-3A16-4858-302C-87E487A48F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18A74C-4443-64FC-4B56-1E71BEA626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3047C3-28D1-7978-06EF-51362579A2B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2EE0F6-269A-DEF5-996E-9A35384BE6D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DE788C-8C0D-BCCC-D842-EE4E450752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0F970F-D862-A0A7-38D9-2EDA8C271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76071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027EA-8625-77B1-9AD9-21FD90565D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592E44-47F4-612D-C6A2-424D844DD564}"/>
                  </a:ext>
                </a:extLst>
              </p:cNvPr>
              <p:cNvSpPr txBox="1">
                <a:spLocks noGrp="1"/>
              </p:cNvSpPr>
              <p:nvPr>
                <p:ph type="body" idx="1"/>
              </p:nvPr>
            </p:nvSpPr>
            <p:spPr>
              <a:xfrm>
                <a:off x="376809" y="1334279"/>
                <a:ext cx="11177401" cy="2741818"/>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Both source and target have covariances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𝑝</m:t>
                        </m:r>
                      </m:sub>
                    </m:sSub>
                  </m:oMath>
                </a14:m>
                <a:r>
                  <a:rPr lang="en-US" sz="2000" dirty="0">
                    <a:latin typeface="Atkinson Hyperlegible Next"/>
                    <a:ea typeface="Arial"/>
                    <a:cs typeface="Arial"/>
                    <a:sym typeface="Arial"/>
                  </a:rPr>
                  <a:t>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𝑞</m:t>
                        </m:r>
                      </m:sub>
                    </m:sSub>
                  </m:oMath>
                </a14:m>
                <a:r>
                  <a:rPr lang="en-US" sz="2000" dirty="0">
                    <a:latin typeface="Atkinson Hyperlegible Next"/>
                    <a:ea typeface="Arial"/>
                    <a:cs typeface="Arial"/>
                    <a:sym typeface="Arial"/>
                  </a:rPr>
                  <a:t> - we combine them into a weighting matrix</a:t>
                </a:r>
              </a:p>
              <a:p>
                <a:pPr marL="342900">
                  <a:lnSpc>
                    <a:spcPct val="100000"/>
                  </a:lnSpc>
                  <a:spcBef>
                    <a:spcPts val="0"/>
                  </a:spcBef>
                  <a:buSzPts val="3000"/>
                </a:pPr>
                <a:r>
                  <a:rPr lang="en-US" sz="2000" dirty="0">
                    <a:latin typeface="Atkinson Hyperlegible Next"/>
                    <a:ea typeface="Arial"/>
                    <a:cs typeface="Arial"/>
                    <a:sym typeface="Arial"/>
                  </a:rPr>
                  <a:t>The resulting form unifies P2P (isotropic noise) and P2Plane (degenerate planar noise)!</a:t>
                </a:r>
              </a:p>
              <a:p>
                <a:pPr marL="342900">
                  <a:lnSpc>
                    <a:spcPct val="100000"/>
                  </a:lnSpc>
                  <a:spcBef>
                    <a:spcPts val="0"/>
                  </a:spcBef>
                  <a:buSzPts val="3000"/>
                </a:pPr>
                <a:r>
                  <a:rPr lang="en-US" sz="2000" dirty="0">
                    <a:latin typeface="Atkinson Hyperlegible Next"/>
                    <a:ea typeface="Arial"/>
                    <a:cs typeface="Arial"/>
                    <a:sym typeface="Arial"/>
                  </a:rPr>
                  <a:t>One framework, tunable for the specific sensor and environment you have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m:t>
                              </m:r>
                            </m:sup>
                          </m:sSubSup>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𝑅</m:t>
                                      </m:r>
                                    </m:e>
                                    <m:sup>
                                      <m:r>
                                        <a:rPr lang="en-US" sz="2000" b="0" i="1" smtClean="0">
                                          <a:latin typeface="Cambria Math" panose="02040503050406030204" pitchFamily="18" charset="0"/>
                                          <a:ea typeface="Arial"/>
                                          <a:cs typeface="Arial"/>
                                          <a:sym typeface="Arial"/>
                                        </a:rPr>
                                        <m:t>⊤</m:t>
                                      </m:r>
                                    </m:sup>
                                  </m:sSup>
                                </m:e>
                              </m:d>
                            </m:e>
                            <m:sup>
                              <m:r>
                                <a:rPr lang="en-US" sz="2000" b="0" i="1" smtClean="0">
                                  <a:latin typeface="Cambria Math" panose="02040503050406030204" pitchFamily="18" charset="0"/>
                                  <a:ea typeface="Arial"/>
                                  <a:cs typeface="Arial"/>
                                  <a:sym typeface="Arial"/>
                                </a:rPr>
                                <m:t>−1</m:t>
                              </m:r>
                            </m:sup>
                          </m:sSup>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Sub>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minimize the “</a:t>
                </a:r>
                <a:r>
                  <a:rPr lang="en-US" sz="2000" dirty="0" err="1">
                    <a:latin typeface="Atkinson Hyperlegible Next"/>
                    <a:ea typeface="Arial"/>
                    <a:cs typeface="Arial"/>
                    <a:sym typeface="Arial"/>
                  </a:rPr>
                  <a:t>Mahalanobis</a:t>
                </a:r>
                <a:r>
                  <a:rPr lang="en-US" sz="2000" dirty="0">
                    <a:latin typeface="Atkinson Hyperlegible Next"/>
                    <a:ea typeface="Arial"/>
                    <a:cs typeface="Arial"/>
                    <a:sym typeface="Arial"/>
                  </a:rPr>
                  <a:t> distance” (just look it up, but it’s just the equation above).</a:t>
                </a:r>
              </a:p>
            </p:txBody>
          </p:sp>
        </mc:Choice>
        <mc:Fallback xmlns="">
          <p:sp>
            <p:nvSpPr>
              <p:cNvPr id="118" name="Google Shape;118;p29">
                <a:extLst>
                  <a:ext uri="{FF2B5EF4-FFF2-40B4-BE49-F238E27FC236}">
                    <a16:creationId xmlns:a16="http://schemas.microsoft.com/office/drawing/2014/main" id="{9F592E44-47F4-612D-C6A2-424D844DD564}"/>
                  </a:ext>
                </a:extLst>
              </p:cNvPr>
              <p:cNvSpPr txBox="1">
                <a:spLocks noGrp="1" noRot="1" noChangeAspect="1" noMove="1" noResize="1" noEditPoints="1" noAdjustHandles="1" noChangeArrowheads="1" noChangeShapeType="1" noTextEdit="1"/>
              </p:cNvSpPr>
              <p:nvPr>
                <p:ph type="body" idx="1"/>
              </p:nvPr>
            </p:nvSpPr>
            <p:spPr>
              <a:xfrm>
                <a:off x="376809" y="1334279"/>
                <a:ext cx="11177401" cy="2741818"/>
              </a:xfrm>
              <a:prstGeom prst="rect">
                <a:avLst/>
              </a:prstGeom>
              <a:blipFill>
                <a:blip r:embed="rId3"/>
                <a:stretch>
                  <a:fillRect l="-1146" t="-6222" r="-109" b="-20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30E89F1-5C4C-FCE7-EA25-1035659FD6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9E2DCC-0AFE-0F04-FE1E-0F4C850AA3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4: Generalized ICP (GICP)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E98A0D0-5CD5-A544-7504-F546A3357A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A54F7-C500-09DA-F446-80335DC526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BE1EE3-5A6C-F987-BF1F-D064797867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FEA87A-4F9A-C2F2-42F8-62DA37F6DA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FAED9-567C-CD3D-63B1-BA4ED015F86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1E7AB-B3B9-59A0-6E5E-1D530187E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panel figure. (A) Probabilistic surface modeling: a red source curve and a blue target curve, each with a point p sub i or q sub i surrounded by a thin ellipse elongated along the curve, its covariance C sub i sup p or C sub i sup q. (B) Plane-to-plane alignment: the transformed point T times p sub i is joined to q sub i by d sub i equals q sub i minus T p sub i. A larger combined ellipse shows the cost to minimize: d sub i transpose times the inverse of C sub i sup q plus R C sub i sup p R transpose, times d sub i.">
            <a:extLst>
              <a:ext uri="{FF2B5EF4-FFF2-40B4-BE49-F238E27FC236}">
                <a16:creationId xmlns:a16="http://schemas.microsoft.com/office/drawing/2014/main" id="{FBBEBDBD-7C39-FD68-1AED-2A027E06B3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36323" y="4051446"/>
            <a:ext cx="6919353" cy="2602503"/>
          </a:xfrm>
          <a:prstGeom prst="rect">
            <a:avLst/>
          </a:prstGeom>
        </p:spPr>
      </p:pic>
    </p:spTree>
    <p:extLst>
      <p:ext uri="{BB962C8B-B14F-4D97-AF65-F5344CB8AC3E}">
        <p14:creationId xmlns:p14="http://schemas.microsoft.com/office/powerpoint/2010/main" val="41036963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B263D4-E8D8-0448-B51A-98A91F64AD0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4198A6-4D12-406F-16A6-7219C728D4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Throw away points, keep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ICP spends most of its time on k-d tree nearest-neighbor lookups</a:t>
            </a:r>
          </a:p>
          <a:p>
            <a:pPr marL="0" indent="0">
              <a:lnSpc>
                <a:spcPct val="100000"/>
              </a:lnSpc>
              <a:spcBef>
                <a:spcPts val="0"/>
              </a:spcBef>
              <a:buSzPts val="3000"/>
              <a:buNone/>
            </a:pPr>
            <a:r>
              <a:rPr lang="en-US" sz="2000" dirty="0">
                <a:latin typeface="Atkinson Hyperlegible Next"/>
                <a:ea typeface="Arial"/>
                <a:cs typeface="Arial"/>
                <a:sym typeface="Arial"/>
              </a:rPr>
              <a:t>NDT eliminates this entirely, no point-to-point matching ever happens</a:t>
            </a:r>
          </a:p>
          <a:p>
            <a:pPr marL="342900">
              <a:lnSpc>
                <a:spcPct val="100000"/>
              </a:lnSpc>
              <a:spcBef>
                <a:spcPts val="0"/>
              </a:spcBef>
              <a:buSzPts val="3000"/>
            </a:pPr>
            <a:endParaRPr lang="en-US" sz="2000" b="1"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Step 1</a:t>
            </a:r>
            <a:r>
              <a:rPr lang="en-US" sz="2000" dirty="0">
                <a:latin typeface="Atkinson Hyperlegible Next"/>
                <a:ea typeface="Arial"/>
                <a:cs typeface="Arial"/>
                <a:sym typeface="Arial"/>
              </a:rPr>
              <a:t>: divide the target map into a regular 2D grid of voxels</a:t>
            </a:r>
          </a:p>
          <a:p>
            <a:pPr marL="342900">
              <a:lnSpc>
                <a:spcPct val="100000"/>
              </a:lnSpc>
              <a:spcBef>
                <a:spcPts val="0"/>
              </a:spcBef>
              <a:buSzPts val="3000"/>
            </a:pPr>
            <a:r>
              <a:rPr lang="en-US" sz="2000" b="1" dirty="0">
                <a:latin typeface="Atkinson Hyperlegible Next"/>
                <a:ea typeface="Arial"/>
                <a:cs typeface="Arial"/>
                <a:sym typeface="Arial"/>
              </a:rPr>
              <a:t>Step 2</a:t>
            </a:r>
            <a:r>
              <a:rPr lang="en-US" sz="2000" dirty="0">
                <a:latin typeface="Atkinson Hyperlegible Next"/>
                <a:ea typeface="Arial"/>
                <a:cs typeface="Arial"/>
                <a:sym typeface="Arial"/>
              </a:rPr>
              <a:t>: for each voxel, compute a Gaussian (mean μ, covariance Σ) over its resident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Scan matching becomes find the transformation that MAXIMIZES the scan's probability under this field</a:t>
            </a:r>
          </a:p>
        </p:txBody>
      </p:sp>
      <p:sp>
        <p:nvSpPr>
          <p:cNvPr id="119" name="Google Shape;119;p29">
            <a:extLst>
              <a:ext uri="{FF2B5EF4-FFF2-40B4-BE49-F238E27FC236}">
                <a16:creationId xmlns:a16="http://schemas.microsoft.com/office/drawing/2014/main" id="{A0AFAADF-3E01-D6E9-57C4-5FD578034D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4AD846-39F2-AA82-4E9E-E28A7FA8EC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5: Normal Distributions Transform (NDT)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F09072-FB4E-1E1F-EA66-9E05EA227C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05BCE7-EFD5-45DF-B318-62BB656DC2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8A5662-31DD-6AFD-606F-C4F290ED514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8EC42-DC2B-140A-6073-CD7C3A7F08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4B9C42-F81F-6C7F-997F-FEA1DEF965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F8AF37-F934-4F83-8D9E-3FF0FF3738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57629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7D462-EA23-8495-F306-6BA008D53E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792FB9A-2880-9959-5E22-ACD5A91F51F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For each source point pᵢ, evaluate the Gaussian of the cell it falls into</a:t>
                </a:r>
              </a:p>
              <a:p>
                <a:pPr marL="342900">
                  <a:lnSpc>
                    <a:spcPct val="100000"/>
                  </a:lnSpc>
                  <a:spcBef>
                    <a:spcPts val="0"/>
                  </a:spcBef>
                  <a:buSzPts val="3000"/>
                </a:pPr>
                <a:r>
                  <a:rPr lang="en-US" sz="2000" dirty="0">
                    <a:latin typeface="Atkinson Hyperlegible Next"/>
                    <a:ea typeface="Arial"/>
                    <a:cs typeface="Arial"/>
                    <a:sym typeface="Arial"/>
                  </a:rPr>
                  <a:t>Sum the log-probabilities (or negative probabilities) across all source points</a:t>
                </a:r>
              </a:p>
              <a:p>
                <a:pPr marL="342900">
                  <a:lnSpc>
                    <a:spcPct val="100000"/>
                  </a:lnSpc>
                  <a:spcBef>
                    <a:spcPts val="0"/>
                  </a:spcBef>
                  <a:buSzPts val="3000"/>
                </a:pPr>
                <a:r>
                  <a:rPr lang="en-US" sz="2000" dirty="0">
                    <a:latin typeface="Atkinson Hyperlegible Next"/>
                    <a:ea typeface="Arial"/>
                    <a:cs typeface="Arial"/>
                    <a:sym typeface="Arial"/>
                  </a:rPr>
                  <a:t>Use Newton's method to find the </a:t>
                </a:r>
                <a14:m>
                  <m:oMath xmlns:m="http://schemas.openxmlformats.org/officeDocument/2006/math">
                    <m:r>
                      <a:rPr lang="en-US" sz="2000" i="1" dirty="0" smtClean="0">
                        <a:latin typeface="Cambria Math" panose="02040503050406030204" pitchFamily="18" charset="0"/>
                        <a:ea typeface="Arial"/>
                        <a:cs typeface="Arial"/>
                        <a:sym typeface="Arial"/>
                      </a:rPr>
                      <m:t>𝑅</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that maximizes this score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Advantage: no neighbor search. </a:t>
                </a:r>
              </a:p>
              <a:p>
                <a:pPr marL="0" indent="0">
                  <a:lnSpc>
                    <a:spcPct val="100000"/>
                  </a:lnSpc>
                  <a:spcBef>
                    <a:spcPts val="0"/>
                  </a:spcBef>
                  <a:buSzPts val="3000"/>
                  <a:buNone/>
                </a:pPr>
                <a:r>
                  <a:rPr lang="en-US" sz="2000" dirty="0">
                    <a:latin typeface="Atkinson Hyperlegible Next"/>
                    <a:ea typeface="Arial"/>
                    <a:cs typeface="Arial"/>
                    <a:sym typeface="Arial"/>
                  </a:rPr>
                  <a:t>Disadvantage: heavily tuned by the voxel size you choose.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Arial"/>
                          <a:cs typeface="Arial"/>
                          <a:sym typeface="Arial"/>
                        </a:rPr>
                        <m:t>𝑠𝑐𝑜𝑟𝑒</m:t>
                      </m:r>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e>
                      </m:d>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Sub>
                      <m:sSup>
                        <m:sSupPr>
                          <m:ctrlPr>
                            <a:rPr lang="en-US" sz="2000" i="1" smtClean="0">
                              <a:latin typeface="Cambria Math" panose="02040503050406030204" pitchFamily="18" charset="0"/>
                              <a:ea typeface="Arial"/>
                              <a:cs typeface="Arial"/>
                              <a:sym typeface="Arial"/>
                            </a:rPr>
                          </m:ctrlPr>
                        </m:sSupPr>
                        <m:e>
                          <m:r>
                            <a:rPr lang="en-US" sz="2000" i="1" smtClean="0">
                              <a:latin typeface="Cambria Math" panose="02040503050406030204" pitchFamily="18" charset="0"/>
                              <a:ea typeface="Arial"/>
                              <a:cs typeface="Arial"/>
                              <a:sym typeface="Arial"/>
                            </a:rPr>
                            <m:t>𝑒</m:t>
                          </m:r>
                        </m:e>
                        <m:sup>
                          <m:r>
                            <a:rPr lang="en-US" sz="2000" i="1" smtClean="0">
                              <a:latin typeface="Cambria Math" panose="02040503050406030204" pitchFamily="18" charset="0"/>
                              <a:ea typeface="Arial"/>
                              <a:cs typeface="Arial"/>
                              <a:sym typeface="Arial"/>
                            </a:rPr>
                            <m:t>−</m:t>
                          </m:r>
                          <m:f>
                            <m:fPr>
                              <m:ctrlPr>
                                <a:rPr lang="en-US" sz="200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2</m:t>
                              </m:r>
                            </m:den>
                          </m:f>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e>
                            <m:sup>
                              <m:r>
                                <a:rPr lang="en-US" sz="2000" i="1" smtClean="0">
                                  <a:latin typeface="Cambria Math" panose="02040503050406030204" pitchFamily="18" charset="0"/>
                                  <a:ea typeface="Arial"/>
                                  <a:cs typeface="Arial"/>
                                  <a:sym typeface="Arial"/>
                                </a:rPr>
                                <m:t>⊤</m:t>
                              </m:r>
                            </m:sup>
                          </m:sSup>
                          <m:sSubSup>
                            <m:sSubSupPr>
                              <m:ctrlPr>
                                <a:rPr lang="en-US" sz="2000" i="1" smtClean="0">
                                  <a:latin typeface="Cambria Math" panose="02040503050406030204" pitchFamily="18" charset="0"/>
                                  <a:ea typeface="Arial"/>
                                  <a:cs typeface="Arial"/>
                                  <a:sym typeface="Arial"/>
                                </a:rPr>
                              </m:ctrlPr>
                            </m:sSubSup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up>
                              <m:r>
                                <a:rPr lang="en-US" sz="2000" i="1" smtClean="0">
                                  <a:latin typeface="Cambria Math" panose="02040503050406030204" pitchFamily="18" charset="0"/>
                                  <a:ea typeface="Arial"/>
                                  <a:cs typeface="Arial"/>
                                  <a:sym typeface="Arial"/>
                                </a:rPr>
                                <m:t>−1</m:t>
                              </m:r>
                            </m:sup>
                          </m:sSubSup>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Minimizing negative likelihood = maximizing the match probability</a:t>
                </a:r>
              </a:p>
            </p:txBody>
          </p:sp>
        </mc:Choice>
        <mc:Fallback xmlns="">
          <p:sp>
            <p:nvSpPr>
              <p:cNvPr id="118" name="Google Shape;118;p29">
                <a:extLst>
                  <a:ext uri="{FF2B5EF4-FFF2-40B4-BE49-F238E27FC236}">
                    <a16:creationId xmlns:a16="http://schemas.microsoft.com/office/drawing/2014/main" id="{F792FB9A-2880-9959-5E22-ACD5A91F51F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85E468-A5C4-8B48-39D3-8C4A032D15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5DDC832-B44B-9281-E77C-6D4BA8AED33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5: Normal Distributions Transform (NDT)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53DCA4-BE99-ADE0-B5A8-1D9A4845B1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6F4FB3-926D-7E3A-91CE-E4FC1AA595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3BD56C6-0091-129A-6708-0A2A550DF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1EBD4B-D46C-982A-7389-6A5CBB4BF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7BAF0C-6468-D5AB-60FD-F9483ED6AC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5C96C9-2C76-EEE2-F26B-BE82CE5879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403517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B9A55-843C-C161-EE2F-20F4AB79A83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5A8075-515D-2CCB-BE64-DD69C2F43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38FCD8F-66E6-A054-2793-6D2C0491B39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9B5B50-27FF-9663-C157-C429B507D0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663387-A3BB-1F6A-5AFB-9BB600E7F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7EF998-8AA2-873E-7268-3ADD3A7ACCA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AF74F-4BC6-7EAE-C7BB-85CCD6797D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FC576-6A84-609E-C8A3-AE033907FB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E4BBB2-CA52-3254-14E2-6903BB0A117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919C4EE9-575E-DAEC-C5B7-301A826B8705}"/>
              </a:ext>
            </a:extLst>
          </p:cNvPr>
          <p:cNvSpPr>
            <a:spLocks noGrp="1"/>
          </p:cNvSpPr>
          <p:nvPr>
            <p:ph type="body" idx="1"/>
          </p:nvPr>
        </p:nvSpPr>
        <p:spPr>
          <a:xfrm>
            <a:off x="838200" y="5209383"/>
            <a:ext cx="10515600" cy="967579"/>
          </a:xfrm>
        </p:spPr>
        <p:txBody>
          <a:bodyPr>
            <a:normAutofit fontScale="77500" lnSpcReduction="20000"/>
          </a:bodyPr>
          <a:lstStyle/>
          <a:p>
            <a:r>
              <a:rPr lang="en-US" dirty="0"/>
              <a:t>The target point cloud (Q) is placed into a regular spatial grid (voxels in 3D, squares in 2D). Cells with fewer than a minimum number of points (e.g., 3 points) are usually ignored to prevent mathematical instability</a:t>
            </a:r>
          </a:p>
        </p:txBody>
      </p:sp>
      <p:pic>
        <p:nvPicPr>
          <p:cNvPr id="5" name="Graphic 4" descr="Plot titled Step 1: Space Subdivision (Voxelization): a 2D x–y plane from 0 to 6 divided into a 3 by 3 grid of 2-unit squares. The red target point cloud Q forms a line rising diagonally from about (2.3, 2.3) to (3.7, 3.7), then running roughly level near y equals 2.8 from x equals 4.3 to 5.7. The square spanning x 2 to 4, y 2 to 4 holds five points and is labeled Active Cell. The next square to the right also holds five points. The bottom-left square has no points and is labeled Empty Cell.">
            <a:extLst>
              <a:ext uri="{FF2B5EF4-FFF2-40B4-BE49-F238E27FC236}">
                <a16:creationId xmlns:a16="http://schemas.microsoft.com/office/drawing/2014/main" id="{1489C5F9-7D67-13E3-0059-079BEF2346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6143" y="929488"/>
            <a:ext cx="4353313" cy="4330874"/>
          </a:xfrm>
          <a:prstGeom prst="rect">
            <a:avLst/>
          </a:prstGeom>
        </p:spPr>
      </p:pic>
    </p:spTree>
    <p:extLst>
      <p:ext uri="{BB962C8B-B14F-4D97-AF65-F5344CB8AC3E}">
        <p14:creationId xmlns:p14="http://schemas.microsoft.com/office/powerpoint/2010/main" val="30754300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04A408-7D0A-B516-2179-C5AE665F95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670D68A-D64C-E7E2-9101-545DF485D6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C90A9D-6DCA-A6F2-EB5C-59B50A424D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B68F67-FDC9-E928-9D60-1C3CB45582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BF3F72-93E2-E742-F43A-7A36FE5075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EFF2D0-F8B5-98A5-4943-70D57A2955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8918D6-C2DB-6527-CF83-C266544778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51D050-D2E8-98FE-51E1-FC425D2C2B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28F1FE-0806-D5D0-F237-B353F90650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746B313B-6E78-53CF-8BE0-00DD056E24AF}"/>
                  </a:ext>
                </a:extLst>
              </p:cNvPr>
              <p:cNvSpPr>
                <a:spLocks noGrp="1"/>
              </p:cNvSpPr>
              <p:nvPr>
                <p:ph type="body" idx="1"/>
              </p:nvPr>
            </p:nvSpPr>
            <p:spPr>
              <a:xfrm>
                <a:off x="838200" y="5209383"/>
                <a:ext cx="10515600" cy="967579"/>
              </a:xfrm>
            </p:spPr>
            <p:txBody>
              <a:bodyPr>
                <a:normAutofit fontScale="70000" lnSpcReduction="20000"/>
              </a:bodyPr>
              <a:lstStyle/>
              <a:p>
                <a:r>
                  <a:rPr lang="en-US" dirty="0"/>
                  <a:t>For every active cell, the sample mean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𝝁</m:t>
                            </m:r>
                          </m:e>
                          <m:sub>
                            <m:r>
                              <a:rPr lang="en-US" i="1" dirty="0" err="1" smtClean="0">
                                <a:latin typeface="Cambria Math" panose="02040503050406030204" pitchFamily="18" charset="0"/>
                              </a:rPr>
                              <m:t>𝒊</m:t>
                            </m:r>
                          </m:sub>
                        </m:sSub>
                      </m:e>
                    </m:d>
                  </m:oMath>
                </a14:m>
                <a:r>
                  <a:rPr lang="en-US" dirty="0"/>
                  <a:t> and covariance matrix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0" dirty="0" smtClean="0">
                                <a:latin typeface="Cambria Math" panose="02040503050406030204" pitchFamily="18" charset="0"/>
                              </a:rPr>
                              <m:t>𝚺</m:t>
                            </m:r>
                          </m:e>
                          <m:sub>
                            <m:r>
                              <a:rPr lang="en-US" i="1" dirty="0" err="1" smtClean="0">
                                <a:latin typeface="Cambria Math" panose="02040503050406030204" pitchFamily="18" charset="0"/>
                              </a:rPr>
                              <m:t>𝒊</m:t>
                            </m:r>
                          </m:sub>
                        </m:sSub>
                      </m:e>
                    </m:d>
                  </m:oMath>
                </a14:m>
                <a:r>
                  <a:rPr lang="en-US" dirty="0"/>
                  <a:t> of the target points are calculated. This transforms the discrete point cloud into a piecewise continuous set of multi-variate Gaussian probability distributions (represented here by covariance ellipses).</a:t>
                </a:r>
              </a:p>
            </p:txBody>
          </p:sp>
        </mc:Choice>
        <mc:Fallback xmlns="">
          <p:sp>
            <p:nvSpPr>
              <p:cNvPr id="3" name="Text Placeholder 2">
                <a:extLst>
                  <a:ext uri="{FF2B5EF4-FFF2-40B4-BE49-F238E27FC236}">
                    <a16:creationId xmlns:a16="http://schemas.microsoft.com/office/drawing/2014/main" id="{746B313B-6E78-53CF-8BE0-00DD056E24AF}"/>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58" b="-1899"/>
                </a:stretch>
              </a:blipFill>
            </p:spPr>
            <p:txBody>
              <a:bodyPr/>
              <a:lstStyle/>
              <a:p>
                <a:r>
                  <a:rPr lang="en-US">
                    <a:noFill/>
                  </a:rPr>
                  <a:t> </a:t>
                </a:r>
              </a:p>
            </p:txBody>
          </p:sp>
        </mc:Fallback>
      </mc:AlternateContent>
      <p:pic>
        <p:nvPicPr>
          <p:cNvPr id="5" name="Graphic 4" descr="Plot titled Step 2, Calculate Local Probability Density Functions: an x-y grid from 0 to 6 divided into 2-by-2 cells. In the cell spanning x 2 to 4, points run diagonally from about (2.3, 2.3) to (3.7, 3.7), so their ellipse is tilted along that diagonal, centered at mean mu sub 1 near (3, 3). In the cell spanning x 4 to 6, points lie nearly level around y equals 2.8, so their ellipse is flat and horizontal, centered at mu sub 2 near (5, 2.8). Label: N of q given mu sub i, Sigma sub i.">
            <a:extLst>
              <a:ext uri="{FF2B5EF4-FFF2-40B4-BE49-F238E27FC236}">
                <a16:creationId xmlns:a16="http://schemas.microsoft.com/office/drawing/2014/main" id="{935A3870-4E40-AB7E-5489-15E08BBF3AA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053037" y="983446"/>
            <a:ext cx="6085926" cy="4334256"/>
          </a:xfrm>
          <a:prstGeom prst="rect">
            <a:avLst/>
          </a:prstGeom>
        </p:spPr>
      </p:pic>
    </p:spTree>
    <p:extLst>
      <p:ext uri="{BB962C8B-B14F-4D97-AF65-F5344CB8AC3E}">
        <p14:creationId xmlns:p14="http://schemas.microsoft.com/office/powerpoint/2010/main" val="18341836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09C134-E235-EA07-C421-D8250E2484C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A54447-D9B1-8A1C-B48D-B21CFD9EE8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DE10B4-BC7D-14E9-DC8F-6B4C662008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AA89EF-F7E5-7A0F-550B-2614AF1755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61C605-26E3-232D-DC07-49BCB1B89E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0EDB2B-81FE-9AE8-F7CD-6133EA4199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FAAC0D-03C7-4F48-BC56-8C44952D15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665662-D0E7-C254-9B9D-3C68CBEDC0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04AE6E-6DE4-E4DA-A158-FACB59150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97A2832-1018-0106-69AD-4ABA2C33394B}"/>
              </a:ext>
            </a:extLst>
          </p:cNvPr>
          <p:cNvSpPr>
            <a:spLocks noGrp="1"/>
          </p:cNvSpPr>
          <p:nvPr>
            <p:ph type="body" idx="1"/>
          </p:nvPr>
        </p:nvSpPr>
        <p:spPr>
          <a:xfrm>
            <a:off x="838200" y="5209383"/>
            <a:ext cx="10515600" cy="967579"/>
          </a:xfrm>
        </p:spPr>
        <p:txBody>
          <a:bodyPr>
            <a:normAutofit fontScale="77500" lnSpcReduction="20000"/>
          </a:bodyPr>
          <a:lstStyle/>
          <a:p>
            <a:r>
              <a:rPr lang="en-US" dirty="0"/>
              <a:t>The source point cloud (P) is projected into the voxel grid using its initial, unoptimized transformation. We determine which spatial cell each source point falls into (or its nearest neighbors if using smoothed NDT).</a:t>
            </a:r>
          </a:p>
        </p:txBody>
      </p:sp>
      <p:pic>
        <p:nvPicPr>
          <p:cNvPr id="5" name="Graphic 4" descr="Plot of the NDT voxel grid, x and y from 0 to 6 with 2-unit cells. Six blue source points P form a shallow arc between y equals 4 and 5, from x equals 1.5 to 4.8. About two units below, two pink Gaussian ellipses mark the target distributions: one tilted diagonally in the cell x 2 to 4, y 2 to 4, and one flat and horizontal in the cell x 4 to 6, y 2 to 4. The point p sub k, at about (2.5, 5), is circled, with an arrow to the tilted ellipse labeled &quot;Evaluate p of p sub k based&quot; on that distribution. The initial pose leaves the source cloud misaligned above the target.">
            <a:extLst>
              <a:ext uri="{FF2B5EF4-FFF2-40B4-BE49-F238E27FC236}">
                <a16:creationId xmlns:a16="http://schemas.microsoft.com/office/drawing/2014/main" id="{114A0657-A83D-04FE-DCEF-BDBD87BC48C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917643" y="983446"/>
            <a:ext cx="4356713" cy="4334256"/>
          </a:xfrm>
          <a:prstGeom prst="rect">
            <a:avLst/>
          </a:prstGeom>
        </p:spPr>
      </p:pic>
    </p:spTree>
    <p:extLst>
      <p:ext uri="{BB962C8B-B14F-4D97-AF65-F5344CB8AC3E}">
        <p14:creationId xmlns:p14="http://schemas.microsoft.com/office/powerpoint/2010/main" val="42769511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C9C347-2A8F-12A6-4AB3-0DB604873BE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0DB4EDF-86F2-4B43-7E0C-3E29827E93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3704D-E500-A12A-00B0-AFBC15FFB9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20D5EE-8925-05E5-9DFF-266DD0330A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4024-C51C-49EA-1F74-C40AD181AB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3F52A2-01E2-6775-BD66-14B25265C9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7148A-E7D3-F70B-C65E-C84F3224C9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08B000-642B-15AF-1CA1-F732559C056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46AA0-30EF-0DD0-9B40-21FE312A29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29E1C6B-9EC6-DD9B-FC39-3947DFAFB6EE}"/>
                  </a:ext>
                </a:extLst>
              </p:cNvPr>
              <p:cNvSpPr>
                <a:spLocks noGrp="1"/>
              </p:cNvSpPr>
              <p:nvPr>
                <p:ph type="body" idx="1"/>
              </p:nvPr>
            </p:nvSpPr>
            <p:spPr>
              <a:xfrm>
                <a:off x="838200" y="5209383"/>
                <a:ext cx="10515600" cy="967579"/>
              </a:xfrm>
            </p:spPr>
            <p:txBody>
              <a:bodyPr>
                <a:normAutofit fontScale="77500" lnSpcReduction="20000"/>
              </a:bodyPr>
              <a:lstStyle/>
              <a:p>
                <a:r>
                  <a:rPr lang="en-US" dirty="0"/>
                  <a:t> NDT entirely drops discrete pairs. Instead, it evaluates the probability density of the target cell at the location of the transformed source point </a:t>
                </a:r>
                <a14:m>
                  <m:oMath xmlns:m="http://schemas.openxmlformats.org/officeDocument/2006/math">
                    <m:r>
                      <m:rPr>
                        <m:lit/>
                      </m:rPr>
                      <a:rPr lang="en-US" i="1" dirty="0" smtClean="0">
                        <a:latin typeface="Cambria Math" panose="02040503050406030204" pitchFamily="18" charset="0"/>
                      </a:rPr>
                      <m:t>(</m:t>
                    </m:r>
                    <m:sSubSup>
                      <m:sSubSupPr>
                        <m:ctrlPr>
                          <a:rPr lang="en-US" i="1" dirty="0" smtClean="0">
                            <a:latin typeface="Cambria Math" panose="02040503050406030204" pitchFamily="18" charset="0"/>
                          </a:rPr>
                        </m:ctrlPr>
                      </m:sSubSupPr>
                      <m:e>
                        <m:r>
                          <a:rPr lang="en-US" i="1" dirty="0" smtClean="0">
                            <a:latin typeface="Cambria Math" panose="02040503050406030204" pitchFamily="18" charset="0"/>
                          </a:rPr>
                          <m:t>𝐱</m:t>
                        </m:r>
                      </m:e>
                      <m:sub>
                        <m:r>
                          <a:rPr lang="en-US" i="1" dirty="0" err="1" smtClean="0">
                            <a:latin typeface="Cambria Math" panose="02040503050406030204" pitchFamily="18" charset="0"/>
                          </a:rPr>
                          <m:t>𝐢</m:t>
                        </m:r>
                      </m:sub>
                      <m:sup>
                        <m:r>
                          <a:rPr lang="en-US" i="1" dirty="0" smtClean="0">
                            <a:latin typeface="Cambria Math" panose="02040503050406030204" pitchFamily="18" charset="0"/>
                          </a:rPr>
                          <m:t>′</m:t>
                        </m:r>
                      </m:sup>
                    </m:sSubSup>
                    <m:r>
                      <m:rPr>
                        <m:lit/>
                      </m:rPr>
                      <a:rPr lang="en-US" i="1" dirty="0" smtClean="0">
                        <a:latin typeface="Cambria Math" panose="02040503050406030204" pitchFamily="18" charset="0"/>
                      </a:rPr>
                      <m:t>)</m:t>
                    </m:r>
                  </m:oMath>
                </a14:m>
                <a:r>
                  <a:rPr lang="en-US" dirty="0"/>
                  <a:t>. The objective function is to maximize the sum of these probabilities for all source points across the grid.</a:t>
                </a:r>
              </a:p>
            </p:txBody>
          </p:sp>
        </mc:Choice>
        <mc:Fallback xmlns="">
          <p:sp>
            <p:nvSpPr>
              <p:cNvPr id="3" name="Text Placeholder 2">
                <a:extLst>
                  <a:ext uri="{FF2B5EF4-FFF2-40B4-BE49-F238E27FC236}">
                    <a16:creationId xmlns:a16="http://schemas.microsoft.com/office/drawing/2014/main" id="{129E1C6B-9EC6-DD9B-FC39-3947DFAFB6EE}"/>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174" b="-10127"/>
                </a:stretch>
              </a:blipFill>
            </p:spPr>
            <p:txBody>
              <a:bodyPr/>
              <a:lstStyle/>
              <a:p>
                <a:r>
                  <a:rPr lang="en-US">
                    <a:noFill/>
                  </a:rPr>
                  <a:t> </a:t>
                </a:r>
              </a:p>
            </p:txBody>
          </p:sp>
        </mc:Fallback>
      </mc:AlternateContent>
      <p:pic>
        <p:nvPicPr>
          <p:cNvPr id="5" name="Graphic 4" descr="Plot of NDT score evaluation, zoomed on cell 1 (x and y from about 2 to 4). Nested red ellipses show the cell's Gaussian, centered at mean mu sub i at (3, 3) and elongated diagonally from lower left to upper right. The transformed point x prime sub i equals T of p sub i comma u sits near (2.4, 3.8), linked to the mean by the vector x prime sub i minus mu sub i. It lies across the narrow axis, outside the contours, so its density is low. Score: s of p sub i is proportional to exp of minus one half times (x prime sub i minus mu sub i) transpose times Sigma sub i inverse times (x prime sub i minus mu sub i).">
            <a:extLst>
              <a:ext uri="{FF2B5EF4-FFF2-40B4-BE49-F238E27FC236}">
                <a16:creationId xmlns:a16="http://schemas.microsoft.com/office/drawing/2014/main" id="{AB26337C-C0FE-785D-664C-E78E4F41C1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609676" y="945448"/>
            <a:ext cx="4566247" cy="4298954"/>
          </a:xfrm>
          <a:prstGeom prst="rect">
            <a:avLst/>
          </a:prstGeom>
        </p:spPr>
      </p:pic>
    </p:spTree>
    <p:extLst>
      <p:ext uri="{BB962C8B-B14F-4D97-AF65-F5344CB8AC3E}">
        <p14:creationId xmlns:p14="http://schemas.microsoft.com/office/powerpoint/2010/main" val="2367960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0E06B-832E-161D-E018-DA09E1DEF16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0DE054-B978-85C8-907E-45B08C665F2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923F4A-C5FB-607E-786B-789676EA1A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4610E48-66C3-CFC7-F46D-A3C3D7A102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593536-5F86-0F60-C543-F6DE5B59C4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3E2DD9-81E7-35EA-9C91-493BB5DF76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C946B1-C42E-C6EF-3599-201C4FE18B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656582-FD19-2868-B182-427056ADF7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F0446D-1807-9E1E-4B3C-29BE58F2A0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0BB05213-4DBC-4434-6E42-CDBCD398DE5F}"/>
              </a:ext>
            </a:extLst>
          </p:cNvPr>
          <p:cNvSpPr>
            <a:spLocks noGrp="1"/>
          </p:cNvSpPr>
          <p:nvPr>
            <p:ph type="body" idx="1"/>
          </p:nvPr>
        </p:nvSpPr>
        <p:spPr>
          <a:xfrm>
            <a:off x="838200" y="5209383"/>
            <a:ext cx="10515600" cy="967579"/>
          </a:xfrm>
        </p:spPr>
        <p:txBody>
          <a:bodyPr>
            <a:normAutofit fontScale="70000" lnSpcReduction="20000"/>
          </a:bodyPr>
          <a:lstStyle/>
          <a:p>
            <a:r>
              <a:rPr lang="en-US" dirty="0"/>
              <a:t>An optimization algorithm (typically Newton's Method) calculates the Hessian and gradient of the objective function to update the transformation parameters (rotation and translation). The source cloud "falls" into the high-probability valleys defined by the target's Gaussian mixture.</a:t>
            </a:r>
          </a:p>
        </p:txBody>
      </p:sp>
      <p:pic>
        <p:nvPicPr>
          <p:cNvPr id="5" name="Graphic 4" descr="Plot on an x–y grid from 0 to 6: faint source points at about (1.5, 4), (2, 4.5) and (2.5, 5) sit above the target. Green arrows labeled delta T carry them down and to the right into a red Gaussian ellipse tilted along the line from (2.5, 2.5) to (3.5, 3.5), where the aligned points P sub aligned lie. A second, nearly horizontal ellipse holds target points near y equals 2.7 between x equals 4.5 and 5.8.">
            <a:extLst>
              <a:ext uri="{FF2B5EF4-FFF2-40B4-BE49-F238E27FC236}">
                <a16:creationId xmlns:a16="http://schemas.microsoft.com/office/drawing/2014/main" id="{B089199C-4AA2-F6DE-DC64-0A87427089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226777" y="983446"/>
            <a:ext cx="5210091" cy="4334256"/>
          </a:xfrm>
          <a:prstGeom prst="rect">
            <a:avLst/>
          </a:prstGeom>
        </p:spPr>
      </p:pic>
    </p:spTree>
    <p:extLst>
      <p:ext uri="{BB962C8B-B14F-4D97-AF65-F5344CB8AC3E}">
        <p14:creationId xmlns:p14="http://schemas.microsoft.com/office/powerpoint/2010/main" val="39706835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125A75-0C9C-9779-87E9-ECDB1B4F963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769082-763B-463E-2F2E-5783369179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Cartographer (2D indoor) uses ICP-style. </a:t>
            </a:r>
            <a:r>
              <a:rPr lang="en-US" sz="2000" dirty="0" err="1">
                <a:latin typeface="Atkinson Hyperlegible Next"/>
                <a:ea typeface="Arial"/>
                <a:cs typeface="Arial"/>
                <a:sym typeface="Arial"/>
              </a:rPr>
              <a:t>Autoware</a:t>
            </a:r>
            <a:r>
              <a:rPr lang="en-US" sz="2000" dirty="0">
                <a:latin typeface="Atkinson Hyperlegible Next"/>
                <a:ea typeface="Arial"/>
                <a:cs typeface="Arial"/>
                <a:sym typeface="Arial"/>
              </a:rPr>
              <a:t> (3D outdoor) uses NDT. The sensor determines the algorithm.</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9D0F379-0442-74DD-5D23-054E5E66FD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452A3D-BB78-9053-B440-608DFE55A60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NDT vs ICP - when to use which</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2FFA83-4A83-663B-5CB4-0861B2A077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D11AA4-EE52-A83D-EB27-BF3C662135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B79515-81D8-6E06-A0D4-A77F321943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499402-F696-13BE-1C1A-6865D50012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6588CA-2B32-072E-5C4D-BC11CD6AAC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01735-A567-E95F-1B15-A342276DBB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58B86177-6212-3374-DF2E-E3FF2DD7FFF3}"/>
              </a:ext>
            </a:extLst>
          </p:cNvPr>
          <p:cNvGrpSpPr/>
          <p:nvPr/>
        </p:nvGrpSpPr>
        <p:grpSpPr>
          <a:xfrm>
            <a:off x="563880" y="2589266"/>
            <a:ext cx="11064240" cy="2636439"/>
            <a:chOff x="376807" y="2550688"/>
            <a:chExt cx="11064240" cy="2636439"/>
          </a:xfrm>
        </p:grpSpPr>
        <p:sp>
          <p:nvSpPr>
            <p:cNvPr id="2" name="Shape 3">
              <a:extLst>
                <a:ext uri="{FF2B5EF4-FFF2-40B4-BE49-F238E27FC236}">
                  <a16:creationId xmlns:a16="http://schemas.microsoft.com/office/drawing/2014/main" id="{6AF41D6D-B229-B5ED-CBC6-12D91D695873}"/>
                </a:ext>
              </a:extLst>
            </p:cNvPr>
            <p:cNvSpPr/>
            <p:nvPr/>
          </p:nvSpPr>
          <p:spPr>
            <a:xfrm>
              <a:off x="376807" y="2550688"/>
              <a:ext cx="5577840" cy="2636439"/>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77FAC326-484D-1987-8534-EBCCE58791BC}"/>
                </a:ext>
              </a:extLst>
            </p:cNvPr>
            <p:cNvSpPr/>
            <p:nvPr/>
          </p:nvSpPr>
          <p:spPr>
            <a:xfrm>
              <a:off x="376807" y="2550688"/>
              <a:ext cx="5577840" cy="411480"/>
            </a:xfrm>
            <a:prstGeom prst="rect">
              <a:avLst/>
            </a:prstGeom>
            <a:solidFill>
              <a:srgbClr val="13294B"/>
            </a:solidFill>
            <a:ln/>
          </p:spPr>
          <p:txBody>
            <a:bodyPr/>
            <a:lstStyle/>
            <a:p>
              <a:endParaRPr lang="en-US">
                <a:latin typeface="+mj-lt"/>
              </a:endParaRPr>
            </a:p>
          </p:txBody>
        </p:sp>
        <p:sp>
          <p:nvSpPr>
            <p:cNvPr id="4" name="Text 5">
              <a:extLst>
                <a:ext uri="{FF2B5EF4-FFF2-40B4-BE49-F238E27FC236}">
                  <a16:creationId xmlns:a16="http://schemas.microsoft.com/office/drawing/2014/main" id="{C6CAB748-1ECC-2F09-1D2F-7121A5161895}"/>
                </a:ext>
              </a:extLst>
            </p:cNvPr>
            <p:cNvSpPr/>
            <p:nvPr/>
          </p:nvSpPr>
          <p:spPr>
            <a:xfrm>
              <a:off x="559687" y="2550688"/>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ICP FAMILY</a:t>
              </a:r>
              <a:endParaRPr lang="en-US" sz="1400" dirty="0">
                <a:latin typeface="+mj-lt"/>
              </a:endParaRPr>
            </a:p>
          </p:txBody>
        </p:sp>
        <p:sp>
          <p:nvSpPr>
            <p:cNvPr id="5" name="Text 6">
              <a:extLst>
                <a:ext uri="{FF2B5EF4-FFF2-40B4-BE49-F238E27FC236}">
                  <a16:creationId xmlns:a16="http://schemas.microsoft.com/office/drawing/2014/main" id="{DC068E20-25B7-1D3E-8DD0-66163267CDC6}"/>
                </a:ext>
              </a:extLst>
            </p:cNvPr>
            <p:cNvSpPr/>
            <p:nvPr/>
          </p:nvSpPr>
          <p:spPr>
            <a:xfrm>
              <a:off x="605407" y="3099328"/>
              <a:ext cx="512064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small point clouds (&lt; 5,000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Very accurate when features are strong</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Needs a good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k-d tree dominates runtime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Gold standard for 2D indoor SLAM</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Struggles with smooth, flat, featureless areas</a:t>
              </a:r>
              <a:endParaRPr lang="en-US" sz="1400" dirty="0">
                <a:latin typeface="+mj-lt"/>
              </a:endParaRPr>
            </a:p>
          </p:txBody>
        </p:sp>
        <p:sp>
          <p:nvSpPr>
            <p:cNvPr id="6" name="Shape 7">
              <a:extLst>
                <a:ext uri="{FF2B5EF4-FFF2-40B4-BE49-F238E27FC236}">
                  <a16:creationId xmlns:a16="http://schemas.microsoft.com/office/drawing/2014/main" id="{7666ABF0-8D92-733E-EB58-267E482807C0}"/>
                </a:ext>
              </a:extLst>
            </p:cNvPr>
            <p:cNvSpPr/>
            <p:nvPr/>
          </p:nvSpPr>
          <p:spPr>
            <a:xfrm>
              <a:off x="6228967" y="2550688"/>
              <a:ext cx="5212080" cy="2636439"/>
            </a:xfrm>
            <a:prstGeom prst="rect">
              <a:avLst/>
            </a:prstGeom>
            <a:solidFill>
              <a:srgbClr val="F1F5F9"/>
            </a:solidFill>
            <a:ln/>
          </p:spPr>
          <p:txBody>
            <a:bodyPr/>
            <a:lstStyle/>
            <a:p>
              <a:endParaRPr lang="en-US">
                <a:latin typeface="+mj-lt"/>
              </a:endParaRPr>
            </a:p>
          </p:txBody>
        </p:sp>
        <p:sp>
          <p:nvSpPr>
            <p:cNvPr id="7" name="Shape 8">
              <a:extLst>
                <a:ext uri="{FF2B5EF4-FFF2-40B4-BE49-F238E27FC236}">
                  <a16:creationId xmlns:a16="http://schemas.microsoft.com/office/drawing/2014/main" id="{D441365F-573A-D21C-F89D-66089162B421}"/>
                </a:ext>
              </a:extLst>
            </p:cNvPr>
            <p:cNvSpPr/>
            <p:nvPr/>
          </p:nvSpPr>
          <p:spPr>
            <a:xfrm>
              <a:off x="6228967" y="2550688"/>
              <a:ext cx="5212080" cy="411480"/>
            </a:xfrm>
            <a:prstGeom prst="rect">
              <a:avLst/>
            </a:prstGeom>
            <a:solidFill>
              <a:srgbClr val="13294B"/>
            </a:solidFill>
            <a:ln/>
          </p:spPr>
          <p:txBody>
            <a:bodyPr/>
            <a:lstStyle/>
            <a:p>
              <a:endParaRPr lang="en-US">
                <a:latin typeface="+mj-lt"/>
              </a:endParaRPr>
            </a:p>
          </p:txBody>
        </p:sp>
        <p:sp>
          <p:nvSpPr>
            <p:cNvPr id="8" name="Text 9">
              <a:extLst>
                <a:ext uri="{FF2B5EF4-FFF2-40B4-BE49-F238E27FC236}">
                  <a16:creationId xmlns:a16="http://schemas.microsoft.com/office/drawing/2014/main" id="{018FA3E3-350F-E701-D17D-44B6D844EBA8}"/>
                </a:ext>
              </a:extLst>
            </p:cNvPr>
            <p:cNvSpPr/>
            <p:nvPr/>
          </p:nvSpPr>
          <p:spPr>
            <a:xfrm>
              <a:off x="6411847" y="2550688"/>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NDT</a:t>
              </a:r>
              <a:endParaRPr lang="en-US" sz="1400" dirty="0">
                <a:latin typeface="+mj-lt"/>
              </a:endParaRPr>
            </a:p>
          </p:txBody>
        </p:sp>
        <p:sp>
          <p:nvSpPr>
            <p:cNvPr id="9" name="Text 10">
              <a:extLst>
                <a:ext uri="{FF2B5EF4-FFF2-40B4-BE49-F238E27FC236}">
                  <a16:creationId xmlns:a16="http://schemas.microsoft.com/office/drawing/2014/main" id="{39ADADEE-C703-263E-54BA-0A527B480338}"/>
                </a:ext>
              </a:extLst>
            </p:cNvPr>
            <p:cNvSpPr/>
            <p:nvPr/>
          </p:nvSpPr>
          <p:spPr>
            <a:xfrm>
              <a:off x="6457567" y="3099328"/>
              <a:ext cx="475488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dense 3D clouds (&gt; 50,000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Smooth cost landscape - larger basin of attraction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Less sensitive to a bad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k-d tree needed - very fast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Common in outdoor autonomous vehicles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Accuracy capped by voxel resolution</a:t>
              </a:r>
              <a:endParaRPr lang="en-US" sz="1400" dirty="0">
                <a:latin typeface="+mj-lt"/>
              </a:endParaRPr>
            </a:p>
          </p:txBody>
        </p:sp>
      </p:grpSp>
    </p:spTree>
    <p:extLst>
      <p:ext uri="{BB962C8B-B14F-4D97-AF65-F5344CB8AC3E}">
        <p14:creationId xmlns:p14="http://schemas.microsoft.com/office/powerpoint/2010/main" val="2830385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F6986B-A9BB-CF8C-A482-E3E9385EED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9F179-A979-7978-1A67-92677E99B9D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Featureless environments (long smooth tunnels, empty parking lots)</a:t>
            </a:r>
          </a:p>
          <a:p>
            <a:pPr marL="342900">
              <a:lnSpc>
                <a:spcPct val="100000"/>
              </a:lnSpc>
              <a:spcBef>
                <a:spcPts val="0"/>
              </a:spcBef>
              <a:buSzPts val="3000"/>
            </a:pPr>
            <a:r>
              <a:rPr lang="en-US" sz="2000" dirty="0">
                <a:latin typeface="Atkinson Hyperlegible Next"/>
                <a:ea typeface="Arial"/>
                <a:cs typeface="Arial"/>
                <a:sym typeface="Arial"/>
              </a:rPr>
              <a:t>no geometric handle, huge amount of drift at the end, essentially just relies on odometry</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Symmetric environments (hallway intersections that all look identical)</a:t>
            </a:r>
          </a:p>
          <a:p>
            <a:pPr marL="342900">
              <a:lnSpc>
                <a:spcPct val="100000"/>
              </a:lnSpc>
              <a:spcBef>
                <a:spcPts val="0"/>
              </a:spcBef>
              <a:buSzPts val="3000"/>
            </a:pPr>
            <a:r>
              <a:rPr lang="en-US" sz="2000" dirty="0">
                <a:latin typeface="Atkinson Hyperlegible Next"/>
                <a:ea typeface="Arial"/>
                <a:cs typeface="Arial"/>
                <a:sym typeface="Arial"/>
              </a:rPr>
              <a:t>perceptual aliasing, unknown rotation / translation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initial guess errors (&gt;30°)</a:t>
            </a:r>
          </a:p>
          <a:p>
            <a:pPr marL="342900">
              <a:lnSpc>
                <a:spcPct val="100000"/>
              </a:lnSpc>
              <a:spcBef>
                <a:spcPts val="0"/>
              </a:spcBef>
              <a:buSzPts val="3000"/>
            </a:pPr>
            <a:r>
              <a:rPr lang="en-US" sz="2000" dirty="0">
                <a:latin typeface="Atkinson Hyperlegible Next"/>
                <a:ea typeface="Arial"/>
                <a:cs typeface="Arial"/>
                <a:sym typeface="Arial"/>
              </a:rPr>
              <a:t>any ICP will converge to a wrong local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Dynamic environments with moving objects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Glass, mirrors, and retroreflectors</a:t>
            </a:r>
          </a:p>
          <a:p>
            <a:pPr marL="342900">
              <a:lnSpc>
                <a:spcPct val="100000"/>
              </a:lnSpc>
              <a:spcBef>
                <a:spcPts val="0"/>
              </a:spcBef>
              <a:buSzPts val="3000"/>
            </a:pPr>
            <a:r>
              <a:rPr lang="en-US" sz="2000" dirty="0">
                <a:latin typeface="Atkinson Hyperlegible Next"/>
                <a:ea typeface="Arial"/>
                <a:cs typeface="Arial"/>
                <a:sym typeface="Arial"/>
              </a:rPr>
              <a:t>The LiDAR returns the wrong values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E51AFA4-76DA-F4CD-2AC1-BDF9A30EDC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A5BFAA-B74C-0449-28D1-BBFE45870D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 Family Failure Modes - What Still Breaks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03AD41-2443-529B-5F4B-AEFE2B20C2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F3E93E-7F7F-1978-D9C9-0E2254AE5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CE838C-2D5A-DB49-437D-E46E764388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FC6C4D-A02E-51E5-E876-700337A7ED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C7835F-0223-76CC-EC22-327641C720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75E2E2-B58B-A83D-1A6A-762B323899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34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9AB0303D-3B67-B7AB-22B4-CD4A8AB3ACB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315A45AC-08A0-1542-1A69-73274209E9FE}"/>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D94BBE5E-E811-F194-053C-F66FB019B8A9}"/>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Monte Carlo estimates</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02B107C1-37B7-8BE5-E564-48BD8F6AF948}"/>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7FD9BBC2-2974-5DD1-43C6-A24C4DC2A2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C610FC0-E532-8DD5-18A6-77006A2E65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531FCD0-FF2D-8B37-6D3E-B8A606666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ED0E577-0663-E042-EF08-E13E797222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8F575FC3-67DD-48D3-DE5E-E317742FDC5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FDBCF8-1893-E855-A5F2-48CC1075D9AA}"/>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E42A8C9-3109-7C9F-956D-1D07C51BA26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1387485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C0BF60-767C-C622-E6F9-C871690475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F65272-699B-CE29-F8E4-15E756F19E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ICP commits to a </a:t>
            </a:r>
            <a:r>
              <a:rPr lang="en-US" sz="2000" b="1" dirty="0">
                <a:latin typeface="Atkinson Hyperlegible Next"/>
                <a:ea typeface="Arial"/>
                <a:cs typeface="Arial"/>
                <a:sym typeface="Arial"/>
              </a:rPr>
              <a:t>single</a:t>
            </a:r>
            <a:r>
              <a:rPr lang="en-US" sz="2000" dirty="0">
                <a:latin typeface="Atkinson Hyperlegible Next"/>
                <a:ea typeface="Arial"/>
                <a:cs typeface="Arial"/>
                <a:sym typeface="Arial"/>
              </a:rPr>
              <a:t> best estimate, so if that estimate is wrong (wrong initialization, symmetric environment), ICP can’t tell you how wrong.</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Real scenarios demand multiple simultaneous hypotheses</a:t>
            </a: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that corridors / floors look similar, a robot could be in Aisle 3 or Aisle 5 or on floor 1 vs floor 2, </a:t>
            </a:r>
            <a:r>
              <a:rPr lang="en-US" sz="2000" dirty="0" err="1">
                <a:latin typeface="Atkinson Hyperlegible Next"/>
                <a:ea typeface="Arial"/>
                <a:cs typeface="Arial"/>
                <a:sym typeface="Arial"/>
              </a:rPr>
              <a:t>etc</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also have the ‘kidnapped robot’, if you lift the robot and drop it elsewhere (like how you do it in lab, where you pick up the robot to take it out of the center area) ICP collapses!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thus needs an algorithm that maintains and updates a full probably distribution over the available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where the </a:t>
            </a:r>
            <a:r>
              <a:rPr lang="en-US" sz="2000" b="1" dirty="0">
                <a:latin typeface="Atkinson Hyperlegible Next"/>
                <a:ea typeface="Arial"/>
                <a:cs typeface="Arial"/>
                <a:sym typeface="Arial"/>
              </a:rPr>
              <a:t>Monte Carlo Localization</a:t>
            </a:r>
            <a:r>
              <a:rPr lang="en-US" sz="2000" dirty="0">
                <a:latin typeface="Atkinson Hyperlegible Next"/>
                <a:ea typeface="Arial"/>
                <a:cs typeface="Arial"/>
                <a:sym typeface="Arial"/>
              </a:rPr>
              <a:t>, also known as the </a:t>
            </a:r>
            <a:r>
              <a:rPr lang="en-US" sz="2000" b="1" dirty="0">
                <a:latin typeface="Atkinson Hyperlegible Next"/>
                <a:ea typeface="Arial"/>
                <a:cs typeface="Arial"/>
                <a:sym typeface="Arial"/>
              </a:rPr>
              <a:t>Particle Filter</a:t>
            </a:r>
            <a:r>
              <a:rPr lang="en-US" sz="20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471424FF-D07F-F6A7-DD70-2FAEB200BC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2BC9D3-D934-0933-4F5C-C9C58A71FC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Why Deterministic ICP Isn’t Always Enough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2BE6BA-123E-8515-FBEB-E4123F1E74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8B3AC1-528E-18E3-AAC4-18295D939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D0ACE1-E98E-ACE0-5EA6-9450113622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B396EE-AF7E-12AA-0B7C-C5C909DA0F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C3174A-DB26-3B94-2F86-581F75F0B9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153FE8-B69F-1B8F-88EB-67B6D73152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0274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429B87-4368-9CCD-35F9-069BE9259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BBEDACE-B9F1-E423-BB9C-C357084D60A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Given a continuous space, we want to compute the probability that we are at a specific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problem?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It is intractable to generate an exact distribution of the full space for a continuous domain!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To understand where we are we make use of the recursive Bayes filter: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r>
                        <a:rPr lang="en-US" sz="1800" i="1" smtClean="0">
                          <a:latin typeface="Cambria Math" panose="02040503050406030204" pitchFamily="18" charset="0"/>
                          <a:cs typeface="Arial"/>
                          <a:sym typeface="Arial"/>
                        </a:rPr>
                        <m:t>=</m:t>
                      </m:r>
                      <m:f>
                        <m:fPr>
                          <m:ctrlPr>
                            <a:rPr lang="en-US" sz="1800" i="1" smtClean="0">
                              <a:latin typeface="Cambria Math" panose="02040503050406030204" pitchFamily="18" charset="0"/>
                              <a:cs typeface="Arial"/>
                              <a:sym typeface="Arial"/>
                            </a:rPr>
                          </m:ctrlPr>
                        </m:fPr>
                        <m:num>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num>
                        <m:den>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d>
                                <m:dPr>
                                  <m:ctrlPr>
                                    <a:rPr lang="en-US" sz="1800" i="1" smtClean="0">
                                      <a:latin typeface="Cambria Math" panose="02040503050406030204" pitchFamily="18" charset="0"/>
                                      <a:cs typeface="Arial"/>
                                      <a:sym typeface="Arial"/>
                                    </a:rPr>
                                  </m:ctrlPr>
                                </m:dPr>
                                <m:e>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nary>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All this is saying is “given my previous location, I have now moved and given the sensor measurement, what is the probability I am at a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problem of intractable integration is extremely common is lots of fields such as machine learning and robotics ( this is the underlying process of the unscented Kalman filter as well)</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BBEDACE-B9F1-E423-BB9C-C357084D60A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FDAE86-D559-AEAC-39D5-E0F67538AB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151378-3533-E015-A7E9-600CAC42CF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B9EDC46-24AD-B2B0-C360-DBA1524716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F82060-7279-76A3-5B43-021F61C880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245059-1A1A-EBDF-0BDF-B34D50FA1D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96EAF8-232D-D14F-65CB-14752BA9E8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78EC73-5B7C-D06B-F05B-D30354DBEF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B0C954-8628-5CDE-CBD3-E70EF743F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7" name="Group 6">
            <a:extLst>
              <a:ext uri="{FF2B5EF4-FFF2-40B4-BE49-F238E27FC236}">
                <a16:creationId xmlns:a16="http://schemas.microsoft.com/office/drawing/2014/main" id="{0A353DE4-9FBE-84A3-50A8-5C6B77F5FF5F}"/>
              </a:ext>
            </a:extLst>
          </p:cNvPr>
          <p:cNvGrpSpPr/>
          <p:nvPr/>
        </p:nvGrpSpPr>
        <p:grpSpPr>
          <a:xfrm>
            <a:off x="3397250" y="3595605"/>
            <a:ext cx="4419600" cy="1243095"/>
            <a:chOff x="3397250" y="3595605"/>
            <a:chExt cx="4419600" cy="1243095"/>
          </a:xfrm>
        </p:grpSpPr>
        <p:sp>
          <p:nvSpPr>
            <p:cNvPr id="2" name="Rectangle 1">
              <a:extLst>
                <a:ext uri="{FF2B5EF4-FFF2-40B4-BE49-F238E27FC236}">
                  <a16:creationId xmlns:a16="http://schemas.microsoft.com/office/drawing/2014/main" id="{D82EE091-7263-9735-B811-BED15419C902}"/>
                </a:ext>
              </a:extLst>
            </p:cNvPr>
            <p:cNvSpPr/>
            <p:nvPr/>
          </p:nvSpPr>
          <p:spPr>
            <a:xfrm>
              <a:off x="3397250" y="4540250"/>
              <a:ext cx="18161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B2727922-0443-FE82-8D39-2EFC8B244C63}"/>
                </a:ext>
              </a:extLst>
            </p:cNvPr>
            <p:cNvCxnSpPr>
              <a:cxnSpLocks/>
              <a:stCxn id="2" idx="0"/>
              <a:endCxn id="5" idx="1"/>
            </p:cNvCxnSpPr>
            <p:nvPr/>
          </p:nvCxnSpPr>
          <p:spPr>
            <a:xfrm flipV="1">
              <a:off x="4305300" y="3744830"/>
              <a:ext cx="2514600"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C17212E5-6F3C-864A-0B5E-4D63D5516808}"/>
                </a:ext>
              </a:extLst>
            </p:cNvPr>
            <p:cNvSpPr/>
            <p:nvPr/>
          </p:nvSpPr>
          <p:spPr>
            <a:xfrm>
              <a:off x="6819900" y="3595605"/>
              <a:ext cx="9969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11F689B6-1928-6492-DDE5-44D36A06E770}"/>
              </a:ext>
            </a:extLst>
          </p:cNvPr>
          <p:cNvGrpSpPr/>
          <p:nvPr/>
        </p:nvGrpSpPr>
        <p:grpSpPr>
          <a:xfrm>
            <a:off x="5505451" y="3597126"/>
            <a:ext cx="1670049" cy="1241574"/>
            <a:chOff x="2573910" y="3597126"/>
            <a:chExt cx="1670049" cy="1241574"/>
          </a:xfrm>
        </p:grpSpPr>
        <p:sp>
          <p:nvSpPr>
            <p:cNvPr id="9" name="Rectangle 8">
              <a:extLst>
                <a:ext uri="{FF2B5EF4-FFF2-40B4-BE49-F238E27FC236}">
                  <a16:creationId xmlns:a16="http://schemas.microsoft.com/office/drawing/2014/main" id="{A95FCC45-C3F2-8FFC-812B-39060EC95011}"/>
                </a:ext>
              </a:extLst>
            </p:cNvPr>
            <p:cNvSpPr/>
            <p:nvPr/>
          </p:nvSpPr>
          <p:spPr>
            <a:xfrm>
              <a:off x="3494659" y="4540250"/>
              <a:ext cx="7493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CD8A202-E980-BF2E-C822-59660750F1F9}"/>
                </a:ext>
              </a:extLst>
            </p:cNvPr>
            <p:cNvCxnSpPr>
              <a:cxnSpLocks/>
              <a:stCxn id="9" idx="0"/>
              <a:endCxn id="11" idx="2"/>
            </p:cNvCxnSpPr>
            <p:nvPr/>
          </p:nvCxnSpPr>
          <p:spPr>
            <a:xfrm flipH="1" flipV="1">
              <a:off x="3231135" y="3895576"/>
              <a:ext cx="638174" cy="6446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9615973-E403-F453-CBCF-8131D657E3AC}"/>
                </a:ext>
              </a:extLst>
            </p:cNvPr>
            <p:cNvSpPr/>
            <p:nvPr/>
          </p:nvSpPr>
          <p:spPr>
            <a:xfrm>
              <a:off x="2573910" y="3597126"/>
              <a:ext cx="13144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03B6182-28B4-8DA6-FEB5-ADA3B315A3D4}"/>
              </a:ext>
            </a:extLst>
          </p:cNvPr>
          <p:cNvGrpSpPr/>
          <p:nvPr/>
        </p:nvGrpSpPr>
        <p:grpSpPr>
          <a:xfrm>
            <a:off x="4445000" y="3595605"/>
            <a:ext cx="6409311" cy="1243095"/>
            <a:chOff x="-379856" y="3597126"/>
            <a:chExt cx="6409311" cy="1243095"/>
          </a:xfrm>
        </p:grpSpPr>
        <p:sp>
          <p:nvSpPr>
            <p:cNvPr id="19" name="Rectangle 18">
              <a:extLst>
                <a:ext uri="{FF2B5EF4-FFF2-40B4-BE49-F238E27FC236}">
                  <a16:creationId xmlns:a16="http://schemas.microsoft.com/office/drawing/2014/main" id="{41737049-090F-503F-7AE3-4972745FCD7B}"/>
                </a:ext>
              </a:extLst>
            </p:cNvPr>
            <p:cNvSpPr/>
            <p:nvPr/>
          </p:nvSpPr>
          <p:spPr>
            <a:xfrm>
              <a:off x="3788408" y="4541771"/>
              <a:ext cx="2241047"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506A2398-7445-1036-20BC-7858FBF47339}"/>
                </a:ext>
              </a:extLst>
            </p:cNvPr>
            <p:cNvCxnSpPr>
              <a:cxnSpLocks/>
              <a:stCxn id="19" idx="0"/>
              <a:endCxn id="21" idx="3"/>
            </p:cNvCxnSpPr>
            <p:nvPr/>
          </p:nvCxnSpPr>
          <p:spPr>
            <a:xfrm flipH="1" flipV="1">
              <a:off x="547246" y="3746351"/>
              <a:ext cx="4361686"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4CC42178-E87A-775A-3074-19A6562A6369}"/>
                </a:ext>
              </a:extLst>
            </p:cNvPr>
            <p:cNvSpPr/>
            <p:nvPr/>
          </p:nvSpPr>
          <p:spPr>
            <a:xfrm>
              <a:off x="-379856" y="3597126"/>
              <a:ext cx="927102"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2FBE7905-F0D7-B915-4F63-8D73E58C3B11}"/>
              </a:ext>
            </a:extLst>
          </p:cNvPr>
          <p:cNvGrpSpPr/>
          <p:nvPr/>
        </p:nvGrpSpPr>
        <p:grpSpPr>
          <a:xfrm>
            <a:off x="1061715" y="3769478"/>
            <a:ext cx="3004959" cy="1355259"/>
            <a:chOff x="3707125" y="3537036"/>
            <a:chExt cx="3004959" cy="1355259"/>
          </a:xfrm>
        </p:grpSpPr>
        <p:sp>
          <p:nvSpPr>
            <p:cNvPr id="28" name="Rectangle 27">
              <a:extLst>
                <a:ext uri="{FF2B5EF4-FFF2-40B4-BE49-F238E27FC236}">
                  <a16:creationId xmlns:a16="http://schemas.microsoft.com/office/drawing/2014/main" id="{E79D63A0-65B0-3DD7-4BB8-D2AAFBCF3FF6}"/>
                </a:ext>
              </a:extLst>
            </p:cNvPr>
            <p:cNvSpPr/>
            <p:nvPr/>
          </p:nvSpPr>
          <p:spPr>
            <a:xfrm>
              <a:off x="3707125" y="4593845"/>
              <a:ext cx="3004959"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A8BA4B89-A2D7-A161-D1BF-A3CE202F64E0}"/>
                </a:ext>
              </a:extLst>
            </p:cNvPr>
            <p:cNvCxnSpPr>
              <a:cxnSpLocks/>
              <a:stCxn id="28" idx="0"/>
              <a:endCxn id="30" idx="2"/>
            </p:cNvCxnSpPr>
            <p:nvPr/>
          </p:nvCxnSpPr>
          <p:spPr>
            <a:xfrm flipV="1">
              <a:off x="5209605" y="3861652"/>
              <a:ext cx="948942" cy="7321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380A162A-1CD0-8FC2-6040-74DCAEAAC87D}"/>
                </a:ext>
              </a:extLst>
            </p:cNvPr>
            <p:cNvSpPr/>
            <p:nvPr/>
          </p:nvSpPr>
          <p:spPr>
            <a:xfrm>
              <a:off x="5694996" y="3537036"/>
              <a:ext cx="927102" cy="32461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5964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xit" presetSubtype="0" fill="hold" nodeType="with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8"/>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18"/>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F1956F-1B03-1B42-D39C-F5DC47273FE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2396C3A-45C8-EFA8-DE05-0C54B213B0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The Prediction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bar>
                        <m:barPr>
                          <m:pos m:val="top"/>
                          <m:ctrlPr>
                            <a:rPr lang="en-US" sz="2000" i="1">
                              <a:latin typeface="Cambria Math" panose="02040503050406030204" pitchFamily="18" charset="0"/>
                              <a:cs typeface="Arial"/>
                              <a:sym typeface="Arial"/>
                            </a:rPr>
                          </m:ctrlPr>
                        </m:barPr>
                        <m:e>
                          <m:r>
                            <a:rPr lang="en-US" sz="2000" i="1">
                              <a:latin typeface="Cambria Math" panose="02040503050406030204" pitchFamily="18" charset="0"/>
                              <a:cs typeface="Arial"/>
                              <a:sym typeface="Arial"/>
                            </a:rPr>
                            <m:t>𝑏𝑒𝑙</m:t>
                          </m:r>
                        </m:e>
                      </m:ba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d>
                      <m:r>
                        <a:rPr lang="en-US" sz="2000" i="1">
                          <a:latin typeface="Cambria Math" panose="02040503050406030204" pitchFamily="18" charset="0"/>
                          <a:cs typeface="Arial"/>
                          <a:sym typeface="Arial"/>
                        </a:rPr>
                        <m:t>=</m:t>
                      </m:r>
                      <m:nary>
                        <m:naryPr>
                          <m:subHide m:val="on"/>
                          <m:supHide m:val="on"/>
                          <m:ctrlPr>
                            <a:rPr lang="en-US" sz="2000" i="1">
                              <a:latin typeface="Cambria Math" panose="02040503050406030204" pitchFamily="18" charset="0"/>
                              <a:cs typeface="Arial"/>
                              <a:sym typeface="Arial"/>
                            </a:rPr>
                          </m:ctrlPr>
                        </m:naryPr>
                        <m:sub/>
                        <m:sup/>
                        <m:e>
                          <m:r>
                            <a:rPr lang="en-US" sz="2000" i="1">
                              <a:latin typeface="Cambria Math" panose="02040503050406030204" pitchFamily="18" charset="0"/>
                              <a:cs typeface="Arial"/>
                              <a:sym typeface="Arial"/>
                            </a:rPr>
                            <m:t>𝑝</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𝑢</m:t>
                                  </m:r>
                                </m:e>
                                <m:sub>
                                  <m:r>
                                    <a:rPr lang="en-US" sz="2000" i="1">
                                      <a:latin typeface="Cambria Math" panose="02040503050406030204" pitchFamily="18" charset="0"/>
                                      <a:cs typeface="Arial"/>
                                      <a:sym typeface="Arial"/>
                                    </a:rPr>
                                    <m:t>𝑡</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r>
                            <a:rPr lang="en-US" sz="2000" i="1">
                              <a:latin typeface="Cambria Math" panose="02040503050406030204" pitchFamily="18" charset="0"/>
                              <a:cs typeface="Arial"/>
                              <a:sym typeface="Arial"/>
                            </a:rPr>
                            <m:t>𝑏𝑒𝑙</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e>
                      </m:nary>
                      <m:r>
                        <a:rPr lang="en-US" sz="2000" i="1">
                          <a:latin typeface="Cambria Math" panose="02040503050406030204" pitchFamily="18" charset="0"/>
                          <a:cs typeface="Arial"/>
                          <a:sym typeface="Arial"/>
                        </a:rPr>
                        <m:t>𝑑</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calculates where the robot thinks it is based on its last position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𝑥</m:t>
                        </m:r>
                      </m:e>
                      <m:sub>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oMath>
                </a14:m>
                <a:r>
                  <a:rPr lang="en-US" sz="2000" dirty="0">
                    <a:latin typeface="Atkinson Hyperlegible Next"/>
                    <a:ea typeface="Arial"/>
                    <a:cs typeface="Arial"/>
                    <a:sym typeface="Arial"/>
                  </a:rPr>
                  <a:t>) and the movement command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𝑢</m:t>
                        </m:r>
                      </m:e>
                      <m:sub>
                        <m:r>
                          <a:rPr lang="en-US" sz="2000" i="1" dirty="0" err="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It requires integrating over every possible state </a:t>
                </a:r>
                <a14:m>
                  <m:oMath xmlns:m="http://schemas.openxmlformats.org/officeDocument/2006/math">
                    <m:r>
                      <a:rPr lang="en-US" sz="2000" i="1" dirty="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b="0" i="1" dirty="0" smtClean="0">
                        <a:latin typeface="Cambria Math" panose="02040503050406030204" pitchFamily="18" charset="0"/>
                        <a:ea typeface="Arial"/>
                        <a:cs typeface="Arial"/>
                        <a:sym typeface="Arial"/>
                      </a:rPr>
                      <m:t>−1</m:t>
                    </m:r>
                    <m:r>
                      <a:rPr lang="en-US" sz="2000" b="0" i="0" dirty="0" smtClean="0">
                        <a:latin typeface="Cambria Math" panose="02040503050406030204" pitchFamily="18" charset="0"/>
                        <a:ea typeface="Arial"/>
                        <a:cs typeface="Arial"/>
                        <a:sym typeface="Arial"/>
                      </a:rPr>
                      <m:t>.</m:t>
                    </m:r>
                  </m:oMath>
                </a14:m>
                <a:endParaRPr lang="en-US" sz="2000" b="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Correction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𝑧</m:t>
                              </m:r>
                            </m:e>
                            <m:sub>
                              <m:r>
                                <a:rPr lang="en-US" sz="200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adjusts the prediction based on actual sensor measurements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Normalization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smtClean="0">
                          <a:latin typeface="Cambria Math" panose="02040503050406030204" pitchFamily="18" charset="0"/>
                          <a:cs typeface="Arial"/>
                          <a:sym typeface="Arial"/>
                        </a:rPr>
                        <m:t>Normalization</m:t>
                      </m:r>
                      <m:r>
                        <a:rPr lang="en-US" sz="2000" b="0" i="1" smtClean="0">
                          <a:latin typeface="Cambria Math" panose="02040503050406030204" pitchFamily="18" charset="0"/>
                          <a:cs typeface="Arial"/>
                          <a:sym typeface="Arial"/>
                        </a:rPr>
                        <m:t>=</m:t>
                      </m:r>
                      <m:nary>
                        <m:naryPr>
                          <m:subHide m:val="on"/>
                          <m:supHide m:val="on"/>
                          <m:ctrlPr>
                            <a:rPr lang="en-US" sz="2000" i="1" smtClean="0">
                              <a:latin typeface="Cambria Math" panose="02040503050406030204" pitchFamily="18" charset="0"/>
                              <a:cs typeface="Arial"/>
                              <a:sym typeface="Arial"/>
                            </a:rPr>
                          </m:ctrlPr>
                        </m:naryPr>
                        <m:sub/>
                        <m:sup/>
                        <m:e>
                          <m:r>
                            <a:rPr lang="en-US" sz="2000" b="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𝑧</m:t>
                                  </m:r>
                                </m:e>
                                <m:sub>
                                  <m:r>
                                    <a:rPr lang="en-US" sz="2000" b="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b="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e>
                      </m:nary>
                      <m:r>
                        <a:rPr lang="en-US" sz="2000" b="0" i="1" smtClean="0">
                          <a:latin typeface="Cambria Math" panose="02040503050406030204" pitchFamily="18" charset="0"/>
                          <a:cs typeface="Arial"/>
                          <a:sym typeface="Arial"/>
                        </a:rPr>
                        <m:t>𝑑</m:t>
                      </m:r>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"intractable" part. It requires integrating over every possible state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to ensure the resulting belief is a valid probability.</a:t>
                </a:r>
              </a:p>
            </p:txBody>
          </p:sp>
        </mc:Choice>
        <mc:Fallback xmlns="">
          <p:sp>
            <p:nvSpPr>
              <p:cNvPr id="118" name="Google Shape;118;p29">
                <a:extLst>
                  <a:ext uri="{FF2B5EF4-FFF2-40B4-BE49-F238E27FC236}">
                    <a16:creationId xmlns:a16="http://schemas.microsoft.com/office/drawing/2014/main" id="{D2396C3A-45C8-EFA8-DE05-0C54B213B01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b="-50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771F59E-E7AF-E0AC-3BD1-D8BF35CEF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162EEE8-D451-D565-4688-F0B67BF69E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88FDE5-A0C7-0C57-BAAF-D56B086566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773563-EED3-E3A9-AF6E-4A6D124C4A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3C0434-3492-3065-1807-C032FC90D8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89EEF1-3457-10F6-0687-C0703354B0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FADC1D-FBA3-C1B5-9076-4BB4EB9186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8FFE2BC-FFE6-23C2-5846-49AFC571A2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0132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77C76A-9C8B-E47A-2339-319DF43BB5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1E33B7-ACFE-C312-03DE-4392841FD6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Instead of doing an integration we can </a:t>
            </a:r>
            <a:r>
              <a:rPr lang="en-US" sz="2000" b="1" dirty="0">
                <a:latin typeface="Atkinson Hyperlegible Next"/>
                <a:ea typeface="Arial"/>
                <a:cs typeface="Arial"/>
                <a:sym typeface="Arial"/>
              </a:rPr>
              <a:t>sample </a:t>
            </a:r>
            <a:r>
              <a:rPr lang="en-US" sz="2000" dirty="0">
                <a:latin typeface="Atkinson Hyperlegible Next"/>
                <a:ea typeface="Arial"/>
                <a:cs typeface="Arial"/>
                <a:sym typeface="Arial"/>
              </a:rPr>
              <a:t>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disperse around the world a “particle”.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“particle” is a single hypothesized pose: (xᵢ, yᵢ, θᵢ) with weight wᵢ</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Spawn 500-5000 particles randomly across the known map at startup</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Each tick: move every particle by the odometry estimate (plus noise)</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Then: weight each particle by how well its simulated LiDAR matches the real LiDAR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resample, particles with high weight duplicate, particles with low weight die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B14FDCB-B3C5-C6D7-94D6-ABC26AFF01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69959B-2A7B-0CB9-7708-837F97E5BC7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F369C71-C372-75DC-15A9-55F2CF13A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5AE1A9-C236-F363-30B5-7AF82B4EBA9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3A1FE-9663-2018-FE60-333966F529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6B6BE6-B1DC-CA9B-726F-BAF3463F8C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34C1E-5FE3-54C8-7861-FC392E6D80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6FA66D-C467-DC7B-012B-9119290AD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3884598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3B56F48-A9CE-FDAC-3690-AB5A9134CF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93E4E0-D906-5960-0A6B-B42D25DDF8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05A8790D-2850-4319-A342-0BCE77D31C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B989BBFA-D485-0515-B05D-F7A7B8C247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5BC141-16F0-0198-0AC1-E1B5B1F8A3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6596A8-C2A0-0B92-E7FF-B0045913FE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A7C46E75-9501-EFC5-7095-B5BEDC21B2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F4A391AC-38A9-F2A7-8315-53414B184C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9683E0D-E7D5-21FD-EBAE-0EF7C31636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FB8E4-A7EB-0294-C1E3-DC0A8D36A2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9" name="Group 28">
            <a:extLst>
              <a:ext uri="{FF2B5EF4-FFF2-40B4-BE49-F238E27FC236}">
                <a16:creationId xmlns:a16="http://schemas.microsoft.com/office/drawing/2014/main" id="{298B4985-5856-2BEB-D1C7-3491BC29CA66}"/>
              </a:ext>
            </a:extLst>
          </p:cNvPr>
          <p:cNvGrpSpPr/>
          <p:nvPr/>
        </p:nvGrpSpPr>
        <p:grpSpPr>
          <a:xfrm>
            <a:off x="548792" y="1874520"/>
            <a:ext cx="2636444" cy="3108960"/>
            <a:chOff x="548792" y="1874520"/>
            <a:chExt cx="2636444" cy="3108960"/>
          </a:xfrm>
        </p:grpSpPr>
        <p:sp>
          <p:nvSpPr>
            <p:cNvPr id="2" name="Shape 2">
              <a:extLst>
                <a:ext uri="{FF2B5EF4-FFF2-40B4-BE49-F238E27FC236}">
                  <a16:creationId xmlns:a16="http://schemas.microsoft.com/office/drawing/2014/main" id="{4D40D20B-342D-C99E-08FB-2C5C791AF3E5}"/>
                </a:ext>
              </a:extLst>
            </p:cNvPr>
            <p:cNvSpPr/>
            <p:nvPr/>
          </p:nvSpPr>
          <p:spPr>
            <a:xfrm>
              <a:off x="548792" y="1874520"/>
              <a:ext cx="2636444" cy="3108960"/>
            </a:xfrm>
            <a:prstGeom prst="rect">
              <a:avLst/>
            </a:prstGeom>
            <a:solidFill>
              <a:srgbClr val="F1F5F9"/>
            </a:solidFill>
            <a:ln/>
          </p:spPr>
          <p:txBody>
            <a:bodyPr/>
            <a:lstStyle/>
            <a:p>
              <a:endParaRPr lang="en-US">
                <a:latin typeface="+mj-lt"/>
              </a:endParaRPr>
            </a:p>
          </p:txBody>
        </p:sp>
        <p:sp>
          <p:nvSpPr>
            <p:cNvPr id="3" name="Shape 3">
              <a:extLst>
                <a:ext uri="{FF2B5EF4-FFF2-40B4-BE49-F238E27FC236}">
                  <a16:creationId xmlns:a16="http://schemas.microsoft.com/office/drawing/2014/main" id="{40468A51-2E81-008F-8881-AA3024EDA270}"/>
                </a:ext>
              </a:extLst>
            </p:cNvPr>
            <p:cNvSpPr/>
            <p:nvPr/>
          </p:nvSpPr>
          <p:spPr>
            <a:xfrm>
              <a:off x="548792" y="1874520"/>
              <a:ext cx="2636444" cy="45720"/>
            </a:xfrm>
            <a:prstGeom prst="rect">
              <a:avLst/>
            </a:prstGeom>
            <a:solidFill>
              <a:srgbClr val="0891B2"/>
            </a:solidFill>
            <a:ln/>
          </p:spPr>
          <p:txBody>
            <a:bodyPr/>
            <a:lstStyle/>
            <a:p>
              <a:endParaRPr lang="en-US">
                <a:latin typeface="+mj-lt"/>
              </a:endParaRPr>
            </a:p>
          </p:txBody>
        </p:sp>
        <p:sp>
          <p:nvSpPr>
            <p:cNvPr id="4" name="Shape 4">
              <a:extLst>
                <a:ext uri="{FF2B5EF4-FFF2-40B4-BE49-F238E27FC236}">
                  <a16:creationId xmlns:a16="http://schemas.microsoft.com/office/drawing/2014/main" id="{10EA5A67-CE87-522F-7C9D-1FE5B447A2B9}"/>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5">
              <a:extLst>
                <a:ext uri="{FF2B5EF4-FFF2-40B4-BE49-F238E27FC236}">
                  <a16:creationId xmlns:a16="http://schemas.microsoft.com/office/drawing/2014/main" id="{B50FA37B-8E60-1841-65AA-8EECA491B1CA}"/>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6">
              <a:extLst>
                <a:ext uri="{FF2B5EF4-FFF2-40B4-BE49-F238E27FC236}">
                  <a16:creationId xmlns:a16="http://schemas.microsoft.com/office/drawing/2014/main" id="{40E49601-8ED4-B926-DECF-BF17DC931E0D}"/>
                </a:ext>
              </a:extLst>
            </p:cNvPr>
            <p:cNvSpPr/>
            <p:nvPr/>
          </p:nvSpPr>
          <p:spPr>
            <a:xfrm>
              <a:off x="1280312"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Predict (Motion)</a:t>
              </a:r>
              <a:endParaRPr lang="en-US" sz="1300" dirty="0">
                <a:latin typeface="+mj-lt"/>
              </a:endParaRPr>
            </a:p>
          </p:txBody>
        </p:sp>
        <p:sp>
          <p:nvSpPr>
            <p:cNvPr id="7" name="Text 7">
              <a:extLst>
                <a:ext uri="{FF2B5EF4-FFF2-40B4-BE49-F238E27FC236}">
                  <a16:creationId xmlns:a16="http://schemas.microsoft.com/office/drawing/2014/main" id="{95B3CFF7-E59D-C5F4-70F0-EA5482D3F020}"/>
                </a:ext>
              </a:extLst>
            </p:cNvPr>
            <p:cNvSpPr/>
            <p:nvPr/>
          </p:nvSpPr>
          <p:spPr>
            <a:xfrm>
              <a:off x="731672"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Apply the odometry motion model to every particle, adding process noise to reflect drift uncertainty.</a:t>
              </a:r>
              <a:endParaRPr lang="en-US" sz="1100" dirty="0">
                <a:latin typeface="+mj-lt"/>
              </a:endParaRPr>
            </a:p>
          </p:txBody>
        </p:sp>
      </p:grpSp>
      <p:grpSp>
        <p:nvGrpSpPr>
          <p:cNvPr id="30" name="Group 29">
            <a:extLst>
              <a:ext uri="{FF2B5EF4-FFF2-40B4-BE49-F238E27FC236}">
                <a16:creationId xmlns:a16="http://schemas.microsoft.com/office/drawing/2014/main" id="{28C22D4E-E192-79DA-403A-B2F7F5487C01}"/>
              </a:ext>
            </a:extLst>
          </p:cNvPr>
          <p:cNvGrpSpPr/>
          <p:nvPr/>
        </p:nvGrpSpPr>
        <p:grpSpPr>
          <a:xfrm>
            <a:off x="3368116" y="1874520"/>
            <a:ext cx="2636444" cy="3108960"/>
            <a:chOff x="3368116" y="1874520"/>
            <a:chExt cx="2636444" cy="3108960"/>
          </a:xfrm>
        </p:grpSpPr>
        <p:sp>
          <p:nvSpPr>
            <p:cNvPr id="9" name="Shape 9">
              <a:extLst>
                <a:ext uri="{FF2B5EF4-FFF2-40B4-BE49-F238E27FC236}">
                  <a16:creationId xmlns:a16="http://schemas.microsoft.com/office/drawing/2014/main" id="{8A9F98E4-6EAA-D2FD-0A3D-C4504E31A90F}"/>
                </a:ext>
              </a:extLst>
            </p:cNvPr>
            <p:cNvSpPr/>
            <p:nvPr/>
          </p:nvSpPr>
          <p:spPr>
            <a:xfrm>
              <a:off x="3368116" y="1874520"/>
              <a:ext cx="2636444" cy="3108960"/>
            </a:xfrm>
            <a:prstGeom prst="rect">
              <a:avLst/>
            </a:prstGeom>
            <a:solidFill>
              <a:srgbClr val="F1F5F9"/>
            </a:solidFill>
            <a:ln/>
          </p:spPr>
          <p:txBody>
            <a:bodyPr/>
            <a:lstStyle/>
            <a:p>
              <a:endParaRPr lang="en-US">
                <a:latin typeface="+mj-lt"/>
              </a:endParaRPr>
            </a:p>
          </p:txBody>
        </p:sp>
        <p:sp>
          <p:nvSpPr>
            <p:cNvPr id="10" name="Shape 10">
              <a:extLst>
                <a:ext uri="{FF2B5EF4-FFF2-40B4-BE49-F238E27FC236}">
                  <a16:creationId xmlns:a16="http://schemas.microsoft.com/office/drawing/2014/main" id="{5794266C-5E21-8FAA-B500-FDA403F51AEA}"/>
                </a:ext>
              </a:extLst>
            </p:cNvPr>
            <p:cNvSpPr/>
            <p:nvPr/>
          </p:nvSpPr>
          <p:spPr>
            <a:xfrm>
              <a:off x="3368116" y="1874520"/>
              <a:ext cx="2636444" cy="45720"/>
            </a:xfrm>
            <a:prstGeom prst="rect">
              <a:avLst/>
            </a:prstGeom>
            <a:solidFill>
              <a:srgbClr val="0891B2"/>
            </a:solidFill>
            <a:ln/>
          </p:spPr>
          <p:txBody>
            <a:bodyPr/>
            <a:lstStyle/>
            <a:p>
              <a:endParaRPr lang="en-US">
                <a:latin typeface="+mj-lt"/>
              </a:endParaRPr>
            </a:p>
          </p:txBody>
        </p:sp>
        <p:sp>
          <p:nvSpPr>
            <p:cNvPr id="11" name="Shape 11">
              <a:extLst>
                <a:ext uri="{FF2B5EF4-FFF2-40B4-BE49-F238E27FC236}">
                  <a16:creationId xmlns:a16="http://schemas.microsoft.com/office/drawing/2014/main" id="{78B6AE56-2A5C-B805-38F6-227D39FEB366}"/>
                </a:ext>
              </a:extLst>
            </p:cNvPr>
            <p:cNvSpPr/>
            <p:nvPr/>
          </p:nvSpPr>
          <p:spPr>
            <a:xfrm>
              <a:off x="3550996" y="2103120"/>
              <a:ext cx="457200" cy="457200"/>
            </a:xfrm>
            <a:prstGeom prst="ellipse">
              <a:avLst/>
            </a:prstGeom>
            <a:solidFill>
              <a:srgbClr val="13294B"/>
            </a:solidFill>
            <a:ln/>
          </p:spPr>
          <p:txBody>
            <a:bodyPr/>
            <a:lstStyle/>
            <a:p>
              <a:endParaRPr lang="en-US">
                <a:latin typeface="+mj-lt"/>
              </a:endParaRPr>
            </a:p>
          </p:txBody>
        </p:sp>
        <p:sp>
          <p:nvSpPr>
            <p:cNvPr id="12" name="Text 12">
              <a:extLst>
                <a:ext uri="{FF2B5EF4-FFF2-40B4-BE49-F238E27FC236}">
                  <a16:creationId xmlns:a16="http://schemas.microsoft.com/office/drawing/2014/main" id="{A2A60D89-6ACC-B15A-8E7A-979FD146EFF6}"/>
                </a:ext>
              </a:extLst>
            </p:cNvPr>
            <p:cNvSpPr/>
            <p:nvPr/>
          </p:nvSpPr>
          <p:spPr>
            <a:xfrm>
              <a:off x="3550996"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3">
              <a:extLst>
                <a:ext uri="{FF2B5EF4-FFF2-40B4-BE49-F238E27FC236}">
                  <a16:creationId xmlns:a16="http://schemas.microsoft.com/office/drawing/2014/main" id="{4E09DAC5-EA6E-3549-FDF7-96DFED7D6998}"/>
                </a:ext>
              </a:extLst>
            </p:cNvPr>
            <p:cNvSpPr/>
            <p:nvPr/>
          </p:nvSpPr>
          <p:spPr>
            <a:xfrm>
              <a:off x="4099636"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Update (Measurement)</a:t>
              </a:r>
              <a:endParaRPr lang="en-US" sz="1300" dirty="0">
                <a:latin typeface="+mj-lt"/>
              </a:endParaRPr>
            </a:p>
          </p:txBody>
        </p:sp>
        <p:sp>
          <p:nvSpPr>
            <p:cNvPr id="14" name="Text 14">
              <a:extLst>
                <a:ext uri="{FF2B5EF4-FFF2-40B4-BE49-F238E27FC236}">
                  <a16:creationId xmlns:a16="http://schemas.microsoft.com/office/drawing/2014/main" id="{6C014EFB-A1CB-FCC3-652B-0E4CC208C5B2}"/>
                </a:ext>
              </a:extLst>
            </p:cNvPr>
            <p:cNvSpPr/>
            <p:nvPr/>
          </p:nvSpPr>
          <p:spPr>
            <a:xfrm>
              <a:off x="3550996"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For each particle, simulate what the LiDAR would see from that pose.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Compute weight wᵢ as the likelihood of the real scan given the simulated one.</a:t>
              </a:r>
              <a:endParaRPr lang="en-US" sz="1100" dirty="0">
                <a:latin typeface="+mj-lt"/>
              </a:endParaRPr>
            </a:p>
          </p:txBody>
        </p:sp>
      </p:grpSp>
      <p:grpSp>
        <p:nvGrpSpPr>
          <p:cNvPr id="31" name="Group 30">
            <a:extLst>
              <a:ext uri="{FF2B5EF4-FFF2-40B4-BE49-F238E27FC236}">
                <a16:creationId xmlns:a16="http://schemas.microsoft.com/office/drawing/2014/main" id="{6718F381-703F-8F87-2C6F-FC9ABD78E0D8}"/>
              </a:ext>
            </a:extLst>
          </p:cNvPr>
          <p:cNvGrpSpPr/>
          <p:nvPr/>
        </p:nvGrpSpPr>
        <p:grpSpPr>
          <a:xfrm>
            <a:off x="6187440" y="1874520"/>
            <a:ext cx="2636444" cy="3108960"/>
            <a:chOff x="6187440" y="1874520"/>
            <a:chExt cx="2636444" cy="3108960"/>
          </a:xfrm>
        </p:grpSpPr>
        <p:sp>
          <p:nvSpPr>
            <p:cNvPr id="16" name="Shape 16">
              <a:extLst>
                <a:ext uri="{FF2B5EF4-FFF2-40B4-BE49-F238E27FC236}">
                  <a16:creationId xmlns:a16="http://schemas.microsoft.com/office/drawing/2014/main" id="{D24772B7-2EB1-1347-6CE9-29FAF896AAB2}"/>
                </a:ext>
              </a:extLst>
            </p:cNvPr>
            <p:cNvSpPr/>
            <p:nvPr/>
          </p:nvSpPr>
          <p:spPr>
            <a:xfrm>
              <a:off x="6187440" y="1874520"/>
              <a:ext cx="2636444" cy="3108960"/>
            </a:xfrm>
            <a:prstGeom prst="rect">
              <a:avLst/>
            </a:prstGeom>
            <a:solidFill>
              <a:srgbClr val="F1F5F9"/>
            </a:solidFill>
            <a:ln/>
          </p:spPr>
          <p:txBody>
            <a:bodyPr/>
            <a:lstStyle/>
            <a:p>
              <a:endParaRPr lang="en-US">
                <a:latin typeface="+mj-lt"/>
              </a:endParaRPr>
            </a:p>
          </p:txBody>
        </p:sp>
        <p:sp>
          <p:nvSpPr>
            <p:cNvPr id="17" name="Shape 17">
              <a:extLst>
                <a:ext uri="{FF2B5EF4-FFF2-40B4-BE49-F238E27FC236}">
                  <a16:creationId xmlns:a16="http://schemas.microsoft.com/office/drawing/2014/main" id="{65896186-7CB9-C04F-DEFA-267A71B16AFF}"/>
                </a:ext>
              </a:extLst>
            </p:cNvPr>
            <p:cNvSpPr/>
            <p:nvPr/>
          </p:nvSpPr>
          <p:spPr>
            <a:xfrm>
              <a:off x="6187440" y="1874520"/>
              <a:ext cx="2636444" cy="45720"/>
            </a:xfrm>
            <a:prstGeom prst="rect">
              <a:avLst/>
            </a:prstGeom>
            <a:solidFill>
              <a:srgbClr val="0891B2"/>
            </a:solidFill>
            <a:ln/>
          </p:spPr>
          <p:txBody>
            <a:bodyPr/>
            <a:lstStyle/>
            <a:p>
              <a:endParaRPr lang="en-US">
                <a:latin typeface="+mj-lt"/>
              </a:endParaRPr>
            </a:p>
          </p:txBody>
        </p:sp>
        <p:sp>
          <p:nvSpPr>
            <p:cNvPr id="18" name="Shape 18">
              <a:extLst>
                <a:ext uri="{FF2B5EF4-FFF2-40B4-BE49-F238E27FC236}">
                  <a16:creationId xmlns:a16="http://schemas.microsoft.com/office/drawing/2014/main" id="{1B2DEC33-9534-234A-611A-0A66B1608EDE}"/>
                </a:ext>
              </a:extLst>
            </p:cNvPr>
            <p:cNvSpPr/>
            <p:nvPr/>
          </p:nvSpPr>
          <p:spPr>
            <a:xfrm>
              <a:off x="6370320" y="2103120"/>
              <a:ext cx="457200" cy="457200"/>
            </a:xfrm>
            <a:prstGeom prst="ellipse">
              <a:avLst/>
            </a:prstGeom>
            <a:solidFill>
              <a:srgbClr val="13294B"/>
            </a:solidFill>
            <a:ln/>
          </p:spPr>
          <p:txBody>
            <a:bodyPr/>
            <a:lstStyle/>
            <a:p>
              <a:endParaRPr lang="en-US">
                <a:latin typeface="+mj-lt"/>
              </a:endParaRPr>
            </a:p>
          </p:txBody>
        </p:sp>
        <p:sp>
          <p:nvSpPr>
            <p:cNvPr id="19" name="Text 19">
              <a:extLst>
                <a:ext uri="{FF2B5EF4-FFF2-40B4-BE49-F238E27FC236}">
                  <a16:creationId xmlns:a16="http://schemas.microsoft.com/office/drawing/2014/main" id="{D394C457-F26F-F10F-EB5E-29CBDD2A6F18}"/>
                </a:ext>
              </a:extLst>
            </p:cNvPr>
            <p:cNvSpPr/>
            <p:nvPr/>
          </p:nvSpPr>
          <p:spPr>
            <a:xfrm>
              <a:off x="637032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0">
              <a:extLst>
                <a:ext uri="{FF2B5EF4-FFF2-40B4-BE49-F238E27FC236}">
                  <a16:creationId xmlns:a16="http://schemas.microsoft.com/office/drawing/2014/main" id="{DC185E78-DCAA-AC52-AF4F-D415C85A61AA}"/>
                </a:ext>
              </a:extLst>
            </p:cNvPr>
            <p:cNvSpPr/>
            <p:nvPr/>
          </p:nvSpPr>
          <p:spPr>
            <a:xfrm>
              <a:off x="6918960"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Resample</a:t>
              </a:r>
              <a:endParaRPr lang="en-US" sz="1300" dirty="0">
                <a:latin typeface="+mj-lt"/>
              </a:endParaRPr>
            </a:p>
          </p:txBody>
        </p:sp>
        <p:sp>
          <p:nvSpPr>
            <p:cNvPr id="21" name="Text 21">
              <a:extLst>
                <a:ext uri="{FF2B5EF4-FFF2-40B4-BE49-F238E27FC236}">
                  <a16:creationId xmlns:a16="http://schemas.microsoft.com/office/drawing/2014/main" id="{DC455CC3-7A02-FE08-0897-F1E1CCF5E141}"/>
                </a:ext>
              </a:extLst>
            </p:cNvPr>
            <p:cNvSpPr/>
            <p:nvPr/>
          </p:nvSpPr>
          <p:spPr>
            <a:xfrm>
              <a:off x="6370320"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Draw N new particles from the old set, with probability proportional to weight.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High-weight particles duplicate; low-weight particles vanish.</a:t>
              </a:r>
              <a:endParaRPr lang="en-US" sz="1100" dirty="0">
                <a:latin typeface="+mj-lt"/>
              </a:endParaRPr>
            </a:p>
          </p:txBody>
        </p:sp>
      </p:grpSp>
      <p:grpSp>
        <p:nvGrpSpPr>
          <p:cNvPr id="32" name="Group 31">
            <a:extLst>
              <a:ext uri="{FF2B5EF4-FFF2-40B4-BE49-F238E27FC236}">
                <a16:creationId xmlns:a16="http://schemas.microsoft.com/office/drawing/2014/main" id="{21657F3D-F63C-EFD3-0614-607B59D0D74A}"/>
              </a:ext>
            </a:extLst>
          </p:cNvPr>
          <p:cNvGrpSpPr/>
          <p:nvPr/>
        </p:nvGrpSpPr>
        <p:grpSpPr>
          <a:xfrm>
            <a:off x="9006763" y="1874520"/>
            <a:ext cx="2636444" cy="3108960"/>
            <a:chOff x="9006763" y="1874520"/>
            <a:chExt cx="2636444" cy="3108960"/>
          </a:xfrm>
        </p:grpSpPr>
        <p:sp>
          <p:nvSpPr>
            <p:cNvPr id="23" name="Shape 23">
              <a:extLst>
                <a:ext uri="{FF2B5EF4-FFF2-40B4-BE49-F238E27FC236}">
                  <a16:creationId xmlns:a16="http://schemas.microsoft.com/office/drawing/2014/main" id="{91432590-E093-93E4-236F-FBDBA348400E}"/>
                </a:ext>
              </a:extLst>
            </p:cNvPr>
            <p:cNvSpPr/>
            <p:nvPr/>
          </p:nvSpPr>
          <p:spPr>
            <a:xfrm>
              <a:off x="9006763" y="1874520"/>
              <a:ext cx="2636444" cy="3108960"/>
            </a:xfrm>
            <a:prstGeom prst="rect">
              <a:avLst/>
            </a:prstGeom>
            <a:solidFill>
              <a:srgbClr val="F1F5F9"/>
            </a:solidFill>
            <a:ln/>
          </p:spPr>
          <p:txBody>
            <a:bodyPr/>
            <a:lstStyle/>
            <a:p>
              <a:endParaRPr lang="en-US">
                <a:latin typeface="+mj-lt"/>
              </a:endParaRPr>
            </a:p>
          </p:txBody>
        </p:sp>
        <p:sp>
          <p:nvSpPr>
            <p:cNvPr id="24" name="Shape 24">
              <a:extLst>
                <a:ext uri="{FF2B5EF4-FFF2-40B4-BE49-F238E27FC236}">
                  <a16:creationId xmlns:a16="http://schemas.microsoft.com/office/drawing/2014/main" id="{88E6A385-1026-0D65-E253-8EC1C631CCDF}"/>
                </a:ext>
              </a:extLst>
            </p:cNvPr>
            <p:cNvSpPr/>
            <p:nvPr/>
          </p:nvSpPr>
          <p:spPr>
            <a:xfrm>
              <a:off x="9006763" y="1874520"/>
              <a:ext cx="2636444" cy="45720"/>
            </a:xfrm>
            <a:prstGeom prst="rect">
              <a:avLst/>
            </a:prstGeom>
            <a:solidFill>
              <a:srgbClr val="0891B2"/>
            </a:solidFill>
            <a:ln/>
          </p:spPr>
          <p:txBody>
            <a:bodyPr/>
            <a:lstStyle/>
            <a:p>
              <a:endParaRPr lang="en-US">
                <a:latin typeface="+mj-lt"/>
              </a:endParaRPr>
            </a:p>
          </p:txBody>
        </p:sp>
        <p:sp>
          <p:nvSpPr>
            <p:cNvPr id="25" name="Shape 25">
              <a:extLst>
                <a:ext uri="{FF2B5EF4-FFF2-40B4-BE49-F238E27FC236}">
                  <a16:creationId xmlns:a16="http://schemas.microsoft.com/office/drawing/2014/main" id="{BD6460F3-C6B9-FA29-0C5A-EC587015BC24}"/>
                </a:ext>
              </a:extLst>
            </p:cNvPr>
            <p:cNvSpPr/>
            <p:nvPr/>
          </p:nvSpPr>
          <p:spPr>
            <a:xfrm>
              <a:off x="9189643" y="2103120"/>
              <a:ext cx="457200" cy="457200"/>
            </a:xfrm>
            <a:prstGeom prst="ellipse">
              <a:avLst/>
            </a:prstGeom>
            <a:solidFill>
              <a:srgbClr val="1E40AF"/>
            </a:solidFill>
            <a:ln/>
          </p:spPr>
          <p:txBody>
            <a:bodyPr/>
            <a:lstStyle/>
            <a:p>
              <a:endParaRPr lang="en-US">
                <a:latin typeface="+mj-lt"/>
              </a:endParaRPr>
            </a:p>
          </p:txBody>
        </p:sp>
        <p:sp>
          <p:nvSpPr>
            <p:cNvPr id="26" name="Text 26">
              <a:extLst>
                <a:ext uri="{FF2B5EF4-FFF2-40B4-BE49-F238E27FC236}">
                  <a16:creationId xmlns:a16="http://schemas.microsoft.com/office/drawing/2014/main" id="{C6237485-CBC3-7C21-94A6-FC4A72AF83EB}"/>
                </a:ext>
              </a:extLst>
            </p:cNvPr>
            <p:cNvSpPr/>
            <p:nvPr/>
          </p:nvSpPr>
          <p:spPr>
            <a:xfrm>
              <a:off x="9189643" y="2103120"/>
              <a:ext cx="457200" cy="457200"/>
            </a:xfrm>
            <a:prstGeom prst="rect">
              <a:avLst/>
            </a:prstGeom>
            <a:solidFill>
              <a:srgbClr val="13294B"/>
            </a:solid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4</a:t>
              </a:r>
              <a:endParaRPr lang="en-US" sz="1800" dirty="0">
                <a:latin typeface="+mj-lt"/>
              </a:endParaRPr>
            </a:p>
          </p:txBody>
        </p:sp>
        <p:sp>
          <p:nvSpPr>
            <p:cNvPr id="27" name="Text 27">
              <a:extLst>
                <a:ext uri="{FF2B5EF4-FFF2-40B4-BE49-F238E27FC236}">
                  <a16:creationId xmlns:a16="http://schemas.microsoft.com/office/drawing/2014/main" id="{C10F9DC7-21DC-B40F-5F0E-BDE215A03215}"/>
                </a:ext>
              </a:extLst>
            </p:cNvPr>
            <p:cNvSpPr/>
            <p:nvPr/>
          </p:nvSpPr>
          <p:spPr>
            <a:xfrm>
              <a:off x="9738283"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Estimate</a:t>
              </a:r>
              <a:endParaRPr lang="en-US" sz="1300" dirty="0">
                <a:latin typeface="+mj-lt"/>
              </a:endParaRPr>
            </a:p>
          </p:txBody>
        </p:sp>
        <p:sp>
          <p:nvSpPr>
            <p:cNvPr id="28" name="Text 28">
              <a:extLst>
                <a:ext uri="{FF2B5EF4-FFF2-40B4-BE49-F238E27FC236}">
                  <a16:creationId xmlns:a16="http://schemas.microsoft.com/office/drawing/2014/main" id="{E6E4391F-C811-7F41-ED50-3B4309CE8919}"/>
                </a:ext>
              </a:extLst>
            </p:cNvPr>
            <p:cNvSpPr/>
            <p:nvPr/>
          </p:nvSpPr>
          <p:spPr>
            <a:xfrm>
              <a:off x="9189643"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The mean (or mode) of the surviving particles is the current best pose estimate.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The spread of the cloud is the uncertainty.</a:t>
              </a:r>
              <a:endParaRPr lang="en-US" sz="1100" dirty="0">
                <a:latin typeface="+mj-lt"/>
              </a:endParaRPr>
            </a:p>
          </p:txBody>
        </p:sp>
      </p:grpSp>
    </p:spTree>
    <p:extLst>
      <p:ext uri="{BB962C8B-B14F-4D97-AF65-F5344CB8AC3E}">
        <p14:creationId xmlns:p14="http://schemas.microsoft.com/office/powerpoint/2010/main" val="1285284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763627-9642-A871-5BF0-02664C2BF4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8FE3EB-A109-0B84-BA99-D6A82837EC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9CBBDC-66BF-9F38-1372-11F565D50C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ECDF05-6528-7716-5FD6-C8F23A9EBC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427593-BB52-A741-C12D-51EDD765EE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D67E5F-84BC-48DB-F0CD-BB6B58B2E8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07D2E1-57D7-207E-5143-1BD1CDD8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A5039B-A33F-8EE3-CB51-40E89DAC4A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42DD3-F599-1C20-2C13-DA37309417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Global initialization of Monte Carlo localization in a 10 by 10 meter area, where belief of x sub 0 equals 1 over the size of X. About a thousand particles, each an arrow with a random heading, are spread uniformly over the whole map. Landmarks sit at (2, 8), (8, 8) and (8, 2). The true robot pose is near (2, 2) facing up-right, while the particle mean is near the center (5, 4.5) facing down-right, so before any measurements the estimate says nothing about the robot's real location.">
            <a:extLst>
              <a:ext uri="{FF2B5EF4-FFF2-40B4-BE49-F238E27FC236}">
                <a16:creationId xmlns:a16="http://schemas.microsoft.com/office/drawing/2014/main" id="{40748070-3272-41C3-D5A9-877BB099CFC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8615441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57AD73-3DCC-14C1-539A-1CF559FE44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E2D661D-C941-6261-3C6B-37BDA47DB9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185C185-7CB2-F3C1-41A1-FA5BF7B33B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1B5004-DAFE-6D38-741F-18AEFDAA9DB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F864C6-EA9A-4FA8-2EF5-5E54631382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1D1684-1938-BA3B-1501-1CDA876A14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5BD4EA-F85E-25F3-B5EC-3F851F8F1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C5358A-871A-814D-D98D-FC806DA3E9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D6C6C-4088-6139-FFC9-919EBE7AB5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titled &quot;Action / Prediction Step&quot; with the equation: bel bar of x sub t equals the integral of p of x sub t given u sub t and x sub t minus 1, times bel of x sub t minus 1, d x sub t minus 1. On a 10 by 10 meter map with landmark stars near (2, 8), (8, 8) and (8, 2), hundreds of particles spread uniformly in random headings each move along a gray one-second arc. The true robot pose sits near (3.3, 4) heading up-right. The particle mean, near (5.5, 4.3) heading up-left, is far from it, so prediction alone does not localize the robot.">
            <a:extLst>
              <a:ext uri="{FF2B5EF4-FFF2-40B4-BE49-F238E27FC236}">
                <a16:creationId xmlns:a16="http://schemas.microsoft.com/office/drawing/2014/main" id="{E044F0E9-46B3-AFDB-4258-F880045052B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7498940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946C42-2C1C-0C43-601D-1124380AEC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C6F81B-7A5C-3FBA-B987-EFACBDB2BD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B4C02D-2571-FDD4-9FD1-3C17519068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658372D-938D-49E5-BC84-CC62168E67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6DF01AA-82FA-4038-29D2-1058390EAE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D0FBEAD-A6B8-218F-4B4C-4A4D631E23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F7B65C-2F46-590B-A473-F5833DE6D35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518680-DDD8-68E8-8C87-10E0225B75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9A353F4-B54F-ED0D-D5D5-04CB6CE7FF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of the measurement (update) step, with weight correction: w sub t superscript m equals eta times exp of the sum of log p of z sub t given x sub t superscript m. In a 10 by 10 meter map with landmarks at (2,8), (8,8) and (8,2), green range circles around the landmarks intersect near the true robot pose at about (3,3). Hundreds of particles spread across the map have near-zero weight. Only particles near the intersection score high, one at about 0.65. The estimated mean pose lies close to the true pose.">
            <a:extLst>
              <a:ext uri="{FF2B5EF4-FFF2-40B4-BE49-F238E27FC236}">
                <a16:creationId xmlns:a16="http://schemas.microsoft.com/office/drawing/2014/main" id="{339E70BD-E16D-312C-7656-B1F9534783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3529234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47F038C-2149-651A-2C27-A07D23955B6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7E5BE68-35B4-3F2E-47A1-EBF4E4ADF2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A6D07C-9114-6CAB-A5E0-8706ED207E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1F24882-E31B-8F77-4298-C253FDD70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3566DB-28C2-ED32-0D5D-B8D3DE1C74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A5F7B9-4FD0-B914-C6ED-D9557724D4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C2366-EDC0-D8A1-7628-0459E4FDCD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2A9A02-D4CA-A3BA-734D-B7AEE4688E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8D723-B16E-5EA0-D1C8-34B4F79C3F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Resampling step of Monte Carlo localization, x sub t superscript m drawn from the weighted set of x sub t superscript i, w sub t superscript i. On a 10 by 10 meter map with landmarks at (2, 8), (8, 8) and (8, 2), six surviving particles cluster between x equals 1.5 and 4, y equals 3 and 5.5, all heading up and to the right, with trails from the lower left. The estimated mean pose, near (3.2, 4.2), lies close to the true robot pose, near (3.1, 3.4).">
            <a:extLst>
              <a:ext uri="{FF2B5EF4-FFF2-40B4-BE49-F238E27FC236}">
                <a16:creationId xmlns:a16="http://schemas.microsoft.com/office/drawing/2014/main" id="{E6A1CC5D-3528-B967-C279-75044A85974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18879872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83E1C8-87CD-48CB-B1D4-F0AFAA2DF83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D5E67FE-CEBB-C341-0595-164EB61665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C64BFE-3F63-B81C-1D5D-7F441EFA111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A37EA5A-5A39-F1C9-6BE5-B3F7CC4A7F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A04EA9-8D9C-1184-B586-FD2CDDB02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350770-BF91-53AA-F1A1-8A71860BEA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4008EF-6EB7-BBF3-9613-96DF08F223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C8F6DF-61BF-567A-A9CB-D10B3D3D33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E16579-F314-1042-D4A4-ED6F7B198F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Second prediction step of Monte Carlo localization on a 10 by 10 meter map with landmarks at (2,8), (8,8) and (8,2). Each particle is moved forward along a noisy arc, leaving gray trails. The particles split into a main cluster near (3.8, 4), matching the true robot pose at the end of a short red arc, and a second cluster near (3.4, 5.8), plus a few strays. The estimated mean pose, near (3.9, 4.7), lies between the clusters, slightly off the true pose.">
            <a:extLst>
              <a:ext uri="{FF2B5EF4-FFF2-40B4-BE49-F238E27FC236}">
                <a16:creationId xmlns:a16="http://schemas.microsoft.com/office/drawing/2014/main" id="{BDF95E64-54D0-046E-19A9-0F58B731CBD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41908712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BA5CEA-9890-4DD1-FC9B-778BA4A1754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AB79F89-DBE2-FF1C-9A8A-7C81EC1254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89E6416-C5E0-9175-E9C4-6F0986B6B1F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B2E99A-12A3-4460-1EB2-114EC91DBC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28FF33-4760-C3F6-44C5-459C44C96A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97135-A5C6-6747-C811-D177F8F2B5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0589BE-0C39-E526-7CFB-DF8EE93CD8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D30E36-0562-CB26-7F05-98BC6B1897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4BA118-01D0-1D1E-1568-AE17158A37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Particle filter after its second measurement update on a 10 by 10 meter map with landmarks at (2, 8), (8, 8) and (8, 2). Green range circles around each landmark intersect near (4, 4.2), where the true robot pose (red arrow) and estimated mean pose (purple arrow) nearly coincide, both heading up and to the right. Most particles form a dense cluster there, with a second cluster near (3.5, 5.8) and a few stragglers. Gray trails show particle paths. All particle weights fall low on the 0 to 0.005 color scale.">
            <a:extLst>
              <a:ext uri="{FF2B5EF4-FFF2-40B4-BE49-F238E27FC236}">
                <a16:creationId xmlns:a16="http://schemas.microsoft.com/office/drawing/2014/main" id="{8ABDE1BB-38AB-A455-03AD-25A978257A2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7803206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9C6017-475B-D8A1-3D36-D1D8E9B8B3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B5906C1-9DC2-4582-6D03-2FA87052C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837159-4E62-273F-C006-CA19D5CE07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826704-28EB-65BD-5F92-C61595288E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47CE00-B598-CF09-C2A1-AACB07760E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28B840-EACC-3EE8-A044-F1666A7EE3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BD88C0-DB73-233B-27FC-14632D328B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F4187E-14BF-A0B3-7B6D-1C402D4CCB0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8300F0-8C2B-9EBA-308B-F7C05754A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Monte Carlo localization after the second resampling step, on a 10 by 10 meter map with landmarks at (2, 8), (8, 8) and (8, 2). A gray path traces the robot's motion from about (2.4, 2) up and to the right. The particles have collapsed into a tight cluster near (4, 4). The estimated pose (particle mean) nearly coincides with the true robot pose, and both point up and to the right, showing that the filter has converged.">
            <a:extLst>
              <a:ext uri="{FF2B5EF4-FFF2-40B4-BE49-F238E27FC236}">
                <a16:creationId xmlns:a16="http://schemas.microsoft.com/office/drawing/2014/main" id="{5D047045-F956-090B-782A-4A80C5B5138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0316004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47358B-3667-71CF-B9CE-37F95B9741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1DA6047-33E1-B34F-7EBF-621D3846B9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particle’s weight is proportional to the measurement likelihood at it’s hypothesized pose (how likely you would see the LiDAR measurement if you are at the current position)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𝑃</m:t>
                    </m:r>
                    <m:d>
                      <m:dPr>
                        <m:sepChr m:val="∣"/>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𝑚</m:t>
                        </m:r>
                      </m:e>
                    </m:d>
                  </m:oMath>
                </a14:m>
                <a:r>
                  <a:rPr lang="en-US" sz="2000" dirty="0">
                    <a:latin typeface="Atkinson Hyperlegible Next"/>
                    <a:ea typeface="Arial"/>
                    <a:cs typeface="Arial"/>
                    <a:sym typeface="Arial"/>
                  </a:rPr>
                  <a:t> then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m:rPr>
                        <m:lit/>
                      </m:rP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with probability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𝑗</m:t>
                        </m:r>
                      </m:sub>
                    </m:sSub>
                    <m:r>
                      <m:rPr>
                        <m:lit/>
                      </m:rPr>
                      <a:rPr lang="en-US" sz="2000" i="1">
                        <a:latin typeface="Cambria Math" panose="02040503050406030204" pitchFamily="18" charset="0"/>
                        <a:ea typeface="Arial"/>
                        <a:cs typeface="Arial"/>
                        <a:sym typeface="Arial"/>
                      </a:rPr>
                      <m:t>}</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weighting, we normalize so all weights sum to 1 - they now encode a discrete distribution! This simulates the continuous probability space! Much more computationally efficient!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Resampling draws N new indices from this distribution using a 'roulette wheel' or low-variance sampler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to the filter if we sample only 10 particles in a 10,000 m² warehouse?</a:t>
                </a:r>
              </a:p>
              <a:p>
                <a:pPr marL="0" indent="0">
                  <a:lnSpc>
                    <a:spcPct val="100000"/>
                  </a:lnSpc>
                  <a:spcBef>
                    <a:spcPts val="0"/>
                  </a:spcBef>
                  <a:buSzPts val="3000"/>
                  <a:buNone/>
                </a:pPr>
                <a:r>
                  <a:rPr lang="en-US" sz="2000" dirty="0">
                    <a:latin typeface="Atkinson Hyperlegible Next"/>
                    <a:ea typeface="Arial"/>
                    <a:cs typeface="Arial"/>
                    <a:sym typeface="Arial"/>
                  </a:rPr>
                  <a:t>How can we improve the filter if we have some kind of prior knowledge of where we will be approximately?</a:t>
                </a:r>
              </a:p>
              <a:p>
                <a:pPr marL="0" indent="0">
                  <a:lnSpc>
                    <a:spcPct val="100000"/>
                  </a:lnSpc>
                  <a:spcBef>
                    <a:spcPts val="0"/>
                  </a:spcBef>
                  <a:buSzPts val="3000"/>
                  <a:buNone/>
                </a:pPr>
                <a:r>
                  <a:rPr lang="en-US" sz="2000" dirty="0">
                    <a:latin typeface="Atkinson Hyperlegible Next"/>
                    <a:ea typeface="Arial"/>
                    <a:cs typeface="Arial"/>
                    <a:sym typeface="Arial"/>
                  </a:rPr>
                  <a:t>If the particle cloud shrinks to a single tight point, is that always a good thing?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1DA6047-33E1-B34F-7EBF-621D3846B95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079E6D-5B53-85AA-6F79-B4FE0758DB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88E3284-6D4E-56CB-6902-4FFACCB54D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CD78919-2043-585A-AEAB-5C3DDBD6DB1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1110BA-807E-AC06-E785-600BF6233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91AD4E-846D-509E-951E-911188DA83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8149F3-DC76-7B35-B3EE-1997A3B59D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BB5D1C-FD22-1763-0BAD-67B4F127FC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5F46D-B329-A3E1-D32F-035C94C05D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302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235C09-888F-47C4-01A2-E26DB69FB9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778A88-7D1E-2FBC-21AD-219A35C75E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Handles the kidnapped-robot problem naturally (particles can be re-seeded anywhere)</a:t>
            </a:r>
          </a:p>
          <a:p>
            <a:pPr marL="342900">
              <a:lnSpc>
                <a:spcPct val="100000"/>
              </a:lnSpc>
              <a:spcBef>
                <a:spcPts val="0"/>
              </a:spcBef>
              <a:buSzPts val="3000"/>
            </a:pPr>
            <a:r>
              <a:rPr lang="en-US" sz="2000" dirty="0">
                <a:latin typeface="Atkinson Hyperlegible Next"/>
                <a:ea typeface="Arial"/>
                <a:cs typeface="Arial"/>
                <a:sym typeface="Arial"/>
              </a:rPr>
              <a:t>Encodes multi-modal beliefs - 'I'm in either Aisle 3 or 5' is expressible</a:t>
            </a:r>
          </a:p>
          <a:p>
            <a:pPr marL="342900">
              <a:lnSpc>
                <a:spcPct val="100000"/>
              </a:lnSpc>
              <a:spcBef>
                <a:spcPts val="0"/>
              </a:spcBef>
              <a:buSzPts val="3000"/>
            </a:pPr>
            <a:r>
              <a:rPr lang="en-US" sz="2000" dirty="0">
                <a:latin typeface="Atkinson Hyperlegible Next"/>
                <a:ea typeface="Arial"/>
                <a:cs typeface="Arial"/>
                <a:sym typeface="Arial"/>
              </a:rPr>
              <a:t>Requires no assumptions about Gaussian noise or linear motion models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Disadvantages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Computationally heavy - every particle does its own LiDAR simulation</a:t>
            </a:r>
          </a:p>
          <a:p>
            <a:pPr marL="342900">
              <a:lnSpc>
                <a:spcPct val="100000"/>
              </a:lnSpc>
              <a:spcBef>
                <a:spcPts val="0"/>
              </a:spcBef>
              <a:buSzPts val="3000"/>
            </a:pPr>
            <a:r>
              <a:rPr lang="en-US" sz="2000" dirty="0">
                <a:latin typeface="Atkinson Hyperlegible Next"/>
                <a:ea typeface="Arial"/>
                <a:cs typeface="Arial"/>
                <a:sym typeface="Arial"/>
              </a:rPr>
              <a:t>Degenerates over time: surviving particles cluster and you lose diversity (particle deprivation)</a:t>
            </a:r>
          </a:p>
          <a:p>
            <a:pPr marL="342900">
              <a:lnSpc>
                <a:spcPct val="100000"/>
              </a:lnSpc>
              <a:spcBef>
                <a:spcPts val="0"/>
              </a:spcBef>
              <a:buSzPts val="3000"/>
            </a:pPr>
            <a:r>
              <a:rPr lang="en-US" sz="2000" dirty="0">
                <a:latin typeface="Atkinson Hyperlegible Next"/>
                <a:ea typeface="Arial"/>
                <a:cs typeface="Arial"/>
                <a:sym typeface="Arial"/>
              </a:rPr>
              <a:t>Not well-suited to the mapping side of SLAM - we'll need graphs for that</a:t>
            </a:r>
          </a:p>
          <a:p>
            <a:pPr marL="342900">
              <a:lnSpc>
                <a:spcPct val="100000"/>
              </a:lnSpc>
              <a:spcBef>
                <a:spcPts val="0"/>
              </a:spcBef>
              <a:buSzPts val="3000"/>
            </a:pPr>
            <a:r>
              <a:rPr lang="en-US" sz="2000" dirty="0">
                <a:latin typeface="Atkinson Hyperlegible Next"/>
                <a:ea typeface="Arial"/>
                <a:cs typeface="Arial"/>
                <a:sym typeface="Arial"/>
              </a:rPr>
              <a:t>Need a initial map / initial state to be able to function appropriately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89BEF94-1357-8016-C547-56BAD1B83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A13659-C631-494D-E33E-DAA07CB19EC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2F2158-4B2A-04AC-F87E-61859CC51A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A88588-2D23-7E48-EE11-E156963E2F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84993A-9EB4-0055-9AE0-4BEC64F6E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B9B8A-11A8-64A3-417F-98E3D437145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3D809C-D048-61BA-1BE4-D38052A173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758399-F5D8-712D-E350-1FFD91C1DF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73131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7FA7759-8697-0344-7FD6-D7EC37AEE7A1}"/>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2A88E45-E200-8092-F1ED-92C350AFD6B2}"/>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CB4FE1FE-8A37-591F-2261-F68AAC67EBC6}"/>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The World</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0A3C23-980A-A254-9D36-A6B3A63B56B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5D12FC01-B16D-3028-3B47-871C9CEE051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A01FCACB-7853-6141-172F-49C7343001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5D24E59-142F-9EE5-885C-989B729BA4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C3C2200-28AE-B2E0-480B-46086008B96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03F03E5-D1AA-B6FD-836C-31146A02212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F92B63-3A28-1DAA-217A-4FA2A47F5D5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187206E-CDFD-C803-705B-0D300EBAB56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41010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52C4E-FE88-0DB7-0A85-C2E3ACFF319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70B1BC-29B0-8394-EAB0-C6DFF8D7E0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Now that we know where we are, we can focus on the mapping!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an accurate pose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𝑥</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and a raw LiDAR scan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we must place that scan into a persistent world model: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The model must survive sensor noise (</a:t>
                </a:r>
                <a:r>
                  <a:rPr lang="en-US" sz="2000" b="1" dirty="0">
                    <a:latin typeface="Atkinson Hyperlegible Next"/>
                    <a:ea typeface="Arial"/>
                    <a:cs typeface="Arial"/>
                    <a:sym typeface="Arial"/>
                  </a:rPr>
                  <a:t>robust</a:t>
                </a:r>
                <a:r>
                  <a:rPr lang="en-US" sz="2000" dirty="0">
                    <a:latin typeface="Atkinson Hyperlegible Next"/>
                    <a:ea typeface="Arial"/>
                    <a:cs typeface="Arial"/>
                    <a:sym typeface="Arial"/>
                  </a:rPr>
                  <a:t>) (one bad beam shouldn't create a wall)</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updatable</a:t>
                </a:r>
                <a:r>
                  <a:rPr lang="en-US" sz="2000" dirty="0">
                    <a:latin typeface="Atkinson Hyperlegible Next"/>
                    <a:ea typeface="Arial"/>
                    <a:cs typeface="Arial"/>
                    <a:sym typeface="Arial"/>
                  </a:rPr>
                  <a:t> (new information should </a:t>
                </a:r>
                <a:r>
                  <a:rPr lang="en-US" sz="2000" b="1" dirty="0">
                    <a:latin typeface="Atkinson Hyperlegible Next"/>
                    <a:ea typeface="Arial"/>
                    <a:cs typeface="Arial"/>
                    <a:sym typeface="Arial"/>
                  </a:rPr>
                  <a:t>refine</a:t>
                </a:r>
                <a:r>
                  <a:rPr lang="en-US" sz="2000" dirty="0">
                    <a:latin typeface="Atkinson Hyperlegible Next"/>
                    <a:ea typeface="Arial"/>
                    <a:cs typeface="Arial"/>
                    <a:sym typeface="Arial"/>
                  </a:rPr>
                  <a:t>, not overwrite, old beliefs)</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compact</a:t>
                </a:r>
                <a:r>
                  <a:rPr lang="en-US" sz="2000" dirty="0">
                    <a:latin typeface="Atkinson Hyperlegible Next"/>
                    <a:ea typeface="Arial"/>
                    <a:cs typeface="Arial"/>
                    <a:sym typeface="Arial"/>
                  </a:rPr>
                  <a:t> (we cannot afford to keep every raw scan in RAM forever)</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err="1">
                    <a:latin typeface="Atkinson Hyperlegible Next"/>
                    <a:ea typeface="Arial"/>
                    <a:cs typeface="Arial"/>
                    <a:sym typeface="Arial"/>
                  </a:rPr>
                  <a:t>queryable</a:t>
                </a:r>
                <a:r>
                  <a:rPr lang="en-US" sz="2000" dirty="0">
                    <a:latin typeface="Atkinson Hyperlegible Next"/>
                    <a:ea typeface="Arial"/>
                    <a:cs typeface="Arial"/>
                    <a:sym typeface="Arial"/>
                  </a:rPr>
                  <a:t> by the path planner - "is this cell safe to drive through?"</a:t>
                </a:r>
              </a:p>
            </p:txBody>
          </p:sp>
        </mc:Choice>
        <mc:Fallback xmlns="">
          <p:sp>
            <p:nvSpPr>
              <p:cNvPr id="118" name="Google Shape;118;p29">
                <a:extLst>
                  <a:ext uri="{FF2B5EF4-FFF2-40B4-BE49-F238E27FC236}">
                    <a16:creationId xmlns:a16="http://schemas.microsoft.com/office/drawing/2014/main" id="{A870B1BC-29B0-8394-EAB0-C6DFF8D7E0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745C903-F446-B9A6-D300-6378D076F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36DCF2-A078-7E3B-E885-9AEED1CDA1B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2A9EC0-ECB6-88BD-CAA8-4E216ED6F8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DC31E-80CF-C89D-021E-CCB8279442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38A7C2-75EF-6330-25EE-5F61B28C0F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3D5D1A-5BBE-EA3F-D6FA-0227A86472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27AE67-C2FE-7E04-786F-A604A3D031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A8FD8-8FDC-0382-8C1B-AE8076746B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4060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B5A64E-E646-82FD-64DF-FD41C3E9285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75E7FF-56C3-1136-8474-1EE91E12E6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DA8729CF-E547-C9A8-31EB-44F7DBD1A8E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7DD85F-594E-2B36-99E0-1D87E2A0A7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A2837-0FDA-B400-9F07-E50D1EC1EC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65EEC94C-8F93-4868-8E7D-5E9CDC0A20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3F1BC6AF-5536-D60F-3851-C6FA91C2EB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63982D-2EEE-417B-A0A4-AD3C76AA69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B81378-D063-2172-6873-3FEC0E582D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2" name="Group 21">
            <a:extLst>
              <a:ext uri="{FF2B5EF4-FFF2-40B4-BE49-F238E27FC236}">
                <a16:creationId xmlns:a16="http://schemas.microsoft.com/office/drawing/2014/main" id="{8B86DE81-39C3-6D41-2A4E-AD81B66AE9F2}"/>
              </a:ext>
            </a:extLst>
          </p:cNvPr>
          <p:cNvGrpSpPr/>
          <p:nvPr/>
        </p:nvGrpSpPr>
        <p:grpSpPr>
          <a:xfrm>
            <a:off x="548792" y="1874520"/>
            <a:ext cx="3576218" cy="3108960"/>
            <a:chOff x="548792" y="1874520"/>
            <a:chExt cx="3576218" cy="3108960"/>
          </a:xfrm>
        </p:grpSpPr>
        <p:sp>
          <p:nvSpPr>
            <p:cNvPr id="2" name="Shape 3">
              <a:extLst>
                <a:ext uri="{FF2B5EF4-FFF2-40B4-BE49-F238E27FC236}">
                  <a16:creationId xmlns:a16="http://schemas.microsoft.com/office/drawing/2014/main" id="{AE02A40A-82CF-8C52-4CFC-09984AEF0AB3}"/>
                </a:ext>
              </a:extLst>
            </p:cNvPr>
            <p:cNvSpPr/>
            <p:nvPr/>
          </p:nvSpPr>
          <p:spPr>
            <a:xfrm>
              <a:off x="548792" y="1874520"/>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28FF5631-F19A-D439-54A3-53AA7CACCA9E}"/>
                </a:ext>
              </a:extLst>
            </p:cNvPr>
            <p:cNvSpPr/>
            <p:nvPr/>
          </p:nvSpPr>
          <p:spPr>
            <a:xfrm>
              <a:off x="548792" y="1874520"/>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D1740276-9C4A-AFB2-D03F-2DECDA4EC246}"/>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A7DA6EB2-C0BF-F9B7-EB41-840CC34FDE75}"/>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0E622DB8-34F6-0B15-34E0-433834017B4A}"/>
                </a:ext>
              </a:extLst>
            </p:cNvPr>
            <p:cNvSpPr/>
            <p:nvPr/>
          </p:nvSpPr>
          <p:spPr>
            <a:xfrm>
              <a:off x="1280312"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Occupancy Grid</a:t>
              </a:r>
              <a:endParaRPr lang="en-US" sz="1300" dirty="0">
                <a:latin typeface="+mj-lt"/>
              </a:endParaRPr>
            </a:p>
          </p:txBody>
        </p:sp>
        <p:sp>
          <p:nvSpPr>
            <p:cNvPr id="7" name="Text 8">
              <a:extLst>
                <a:ext uri="{FF2B5EF4-FFF2-40B4-BE49-F238E27FC236}">
                  <a16:creationId xmlns:a16="http://schemas.microsoft.com/office/drawing/2014/main" id="{F15757B6-6780-4EBF-1F96-481E5D82653A}"/>
                </a:ext>
              </a:extLst>
            </p:cNvPr>
            <p:cNvSpPr/>
            <p:nvPr/>
          </p:nvSpPr>
          <p:spPr>
            <a:xfrm>
              <a:off x="731672"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Divide the world into square cells. Each cell holds a probability of being occupied.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Standard for 2D indoor SLAM.</a:t>
              </a:r>
              <a:endParaRPr lang="en-US" sz="1100" dirty="0">
                <a:latin typeface="+mj-lt"/>
              </a:endParaRPr>
            </a:p>
          </p:txBody>
        </p:sp>
      </p:grpSp>
      <p:grpSp>
        <p:nvGrpSpPr>
          <p:cNvPr id="23" name="Group 22">
            <a:extLst>
              <a:ext uri="{FF2B5EF4-FFF2-40B4-BE49-F238E27FC236}">
                <a16:creationId xmlns:a16="http://schemas.microsoft.com/office/drawing/2014/main" id="{A76E751E-B583-C3B8-BFEE-E6F27658CE4B}"/>
              </a:ext>
            </a:extLst>
          </p:cNvPr>
          <p:cNvGrpSpPr/>
          <p:nvPr/>
        </p:nvGrpSpPr>
        <p:grpSpPr>
          <a:xfrm>
            <a:off x="4307890" y="1874520"/>
            <a:ext cx="3576218" cy="3108960"/>
            <a:chOff x="4307890" y="1874520"/>
            <a:chExt cx="3576218" cy="3108960"/>
          </a:xfrm>
        </p:grpSpPr>
        <p:sp>
          <p:nvSpPr>
            <p:cNvPr id="9" name="Shape 10">
              <a:extLst>
                <a:ext uri="{FF2B5EF4-FFF2-40B4-BE49-F238E27FC236}">
                  <a16:creationId xmlns:a16="http://schemas.microsoft.com/office/drawing/2014/main" id="{CA08B654-09C6-48B1-B391-DBC0E326A496}"/>
                </a:ext>
              </a:extLst>
            </p:cNvPr>
            <p:cNvSpPr/>
            <p:nvPr/>
          </p:nvSpPr>
          <p:spPr>
            <a:xfrm>
              <a:off x="4307890" y="1874520"/>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C0F0857B-B208-B70C-D3E2-9C079F30C49D}"/>
                </a:ext>
              </a:extLst>
            </p:cNvPr>
            <p:cNvSpPr/>
            <p:nvPr/>
          </p:nvSpPr>
          <p:spPr>
            <a:xfrm>
              <a:off x="4307890" y="1874520"/>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9BD85224-149F-9E42-CB32-F1211588FB7E}"/>
                </a:ext>
              </a:extLst>
            </p:cNvPr>
            <p:cNvSpPr/>
            <p:nvPr/>
          </p:nvSpPr>
          <p:spPr>
            <a:xfrm>
              <a:off x="4490770" y="2103120"/>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0A775D30-EDC7-169B-7DCD-87A0B3620324}"/>
                </a:ext>
              </a:extLst>
            </p:cNvPr>
            <p:cNvSpPr/>
            <p:nvPr/>
          </p:nvSpPr>
          <p:spPr>
            <a:xfrm>
              <a:off x="449077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64EE641A-6FB8-E6D3-CBCA-5AEB0F7CF76C}"/>
                </a:ext>
              </a:extLst>
            </p:cNvPr>
            <p:cNvSpPr/>
            <p:nvPr/>
          </p:nvSpPr>
          <p:spPr>
            <a:xfrm>
              <a:off x="5039410"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Point Cloud</a:t>
              </a:r>
              <a:endParaRPr lang="en-US" sz="1300" dirty="0">
                <a:latin typeface="+mj-lt"/>
              </a:endParaRPr>
            </a:p>
          </p:txBody>
        </p:sp>
        <p:sp>
          <p:nvSpPr>
            <p:cNvPr id="14" name="Text 15">
              <a:extLst>
                <a:ext uri="{FF2B5EF4-FFF2-40B4-BE49-F238E27FC236}">
                  <a16:creationId xmlns:a16="http://schemas.microsoft.com/office/drawing/2014/main" id="{4CD66152-21E4-7FAD-D88D-7B962F0F72E8}"/>
                </a:ext>
              </a:extLst>
            </p:cNvPr>
            <p:cNvSpPr/>
            <p:nvPr/>
          </p:nvSpPr>
          <p:spPr>
            <a:xfrm>
              <a:off x="4490770"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Keep the raw (x, y) boundary points themselves.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Sparse, but requires a separate algorithm to determine free space.</a:t>
              </a:r>
              <a:endParaRPr lang="en-US" sz="1100" dirty="0">
                <a:latin typeface="+mj-lt"/>
              </a:endParaRPr>
            </a:p>
          </p:txBody>
        </p:sp>
      </p:grpSp>
      <p:grpSp>
        <p:nvGrpSpPr>
          <p:cNvPr id="24" name="Group 23">
            <a:extLst>
              <a:ext uri="{FF2B5EF4-FFF2-40B4-BE49-F238E27FC236}">
                <a16:creationId xmlns:a16="http://schemas.microsoft.com/office/drawing/2014/main" id="{90D4FB4A-B8C2-7855-40A4-F0ECD774BFF0}"/>
              </a:ext>
            </a:extLst>
          </p:cNvPr>
          <p:cNvGrpSpPr/>
          <p:nvPr/>
        </p:nvGrpSpPr>
        <p:grpSpPr>
          <a:xfrm>
            <a:off x="8066989" y="1874520"/>
            <a:ext cx="3576218" cy="3108960"/>
            <a:chOff x="8066989" y="1874520"/>
            <a:chExt cx="3576218" cy="3108960"/>
          </a:xfrm>
        </p:grpSpPr>
        <p:sp>
          <p:nvSpPr>
            <p:cNvPr id="16" name="Shape 17">
              <a:extLst>
                <a:ext uri="{FF2B5EF4-FFF2-40B4-BE49-F238E27FC236}">
                  <a16:creationId xmlns:a16="http://schemas.microsoft.com/office/drawing/2014/main" id="{E16280FA-22D8-6B41-A48E-033D44DED684}"/>
                </a:ext>
              </a:extLst>
            </p:cNvPr>
            <p:cNvSpPr/>
            <p:nvPr/>
          </p:nvSpPr>
          <p:spPr>
            <a:xfrm>
              <a:off x="8066989" y="1874520"/>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DE1B024A-8505-6D71-80A2-40600A43B654}"/>
                </a:ext>
              </a:extLst>
            </p:cNvPr>
            <p:cNvSpPr/>
            <p:nvPr/>
          </p:nvSpPr>
          <p:spPr>
            <a:xfrm>
              <a:off x="8066989" y="1874520"/>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FAFF8E0B-85C2-BF2B-959E-72F6EEF8391F}"/>
                </a:ext>
              </a:extLst>
            </p:cNvPr>
            <p:cNvSpPr/>
            <p:nvPr/>
          </p:nvSpPr>
          <p:spPr>
            <a:xfrm>
              <a:off x="8249869" y="2103120"/>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695CC2D7-DA23-6188-0735-684CE3601E45}"/>
                </a:ext>
              </a:extLst>
            </p:cNvPr>
            <p:cNvSpPr/>
            <p:nvPr/>
          </p:nvSpPr>
          <p:spPr>
            <a:xfrm>
              <a:off x="8249869"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1C575A90-B65E-E406-F371-F330B6F77085}"/>
                </a:ext>
              </a:extLst>
            </p:cNvPr>
            <p:cNvSpPr/>
            <p:nvPr/>
          </p:nvSpPr>
          <p:spPr>
            <a:xfrm>
              <a:off x="8798509"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Feature Map</a:t>
              </a:r>
              <a:endParaRPr lang="en-US" sz="1300" dirty="0">
                <a:latin typeface="+mj-lt"/>
              </a:endParaRPr>
            </a:p>
          </p:txBody>
        </p:sp>
        <p:sp>
          <p:nvSpPr>
            <p:cNvPr id="21" name="Text 22">
              <a:extLst>
                <a:ext uri="{FF2B5EF4-FFF2-40B4-BE49-F238E27FC236}">
                  <a16:creationId xmlns:a16="http://schemas.microsoft.com/office/drawing/2014/main" id="{4B77D083-C2D0-E2DA-CE7A-DD68F1919F38}"/>
                </a:ext>
              </a:extLst>
            </p:cNvPr>
            <p:cNvSpPr/>
            <p:nvPr/>
          </p:nvSpPr>
          <p:spPr>
            <a:xfrm>
              <a:off x="8249869"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Store only semantic landmarks: 'corner at (3.2, 1.7)'. Extremely compact but needs reliable feature extraction.</a:t>
              </a:r>
              <a:endParaRPr lang="en-US" sz="1100" dirty="0">
                <a:latin typeface="+mj-lt"/>
              </a:endParaRPr>
            </a:p>
          </p:txBody>
        </p:sp>
      </p:grpSp>
    </p:spTree>
    <p:extLst>
      <p:ext uri="{BB962C8B-B14F-4D97-AF65-F5344CB8AC3E}">
        <p14:creationId xmlns:p14="http://schemas.microsoft.com/office/powerpoint/2010/main" val="2943139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4B1004-4A12-B9A1-D84E-DD87366F3F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0DFAAF-A827-5F4C-8139-1C835BA750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Discretize the world into a regular 2D array of cells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cell mᵢ holds a single number: the probability that the cell is occupied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P(mᵢ) = 0 → free. </a:t>
            </a:r>
          </a:p>
          <a:p>
            <a:pPr marL="342900">
              <a:lnSpc>
                <a:spcPct val="100000"/>
              </a:lnSpc>
              <a:spcBef>
                <a:spcPts val="0"/>
              </a:spcBef>
              <a:buSzPts val="3000"/>
            </a:pPr>
            <a:r>
              <a:rPr lang="en-US" sz="2000" dirty="0">
                <a:latin typeface="Atkinson Hyperlegible Next"/>
                <a:ea typeface="Arial"/>
                <a:cs typeface="Arial"/>
                <a:sym typeface="Arial"/>
              </a:rPr>
              <a:t>P(mᵢ) = 1 → wall. </a:t>
            </a:r>
          </a:p>
          <a:p>
            <a:pPr marL="342900">
              <a:lnSpc>
                <a:spcPct val="100000"/>
              </a:lnSpc>
              <a:spcBef>
                <a:spcPts val="0"/>
              </a:spcBef>
              <a:buSzPts val="3000"/>
            </a:pPr>
            <a:r>
              <a:rPr lang="en-US" sz="2000" dirty="0">
                <a:latin typeface="Atkinson Hyperlegible Next"/>
                <a:ea typeface="Arial"/>
                <a:cs typeface="Arial"/>
                <a:sym typeface="Arial"/>
              </a:rPr>
              <a:t>P(mᵢ) = 0.5 → unknown, never observed.</a:t>
            </a: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cells are independent by assumption (each updated separately - this is a simplification)</a:t>
            </a:r>
          </a:p>
        </p:txBody>
      </p:sp>
      <p:sp>
        <p:nvSpPr>
          <p:cNvPr id="119" name="Google Shape;119;p29">
            <a:extLst>
              <a:ext uri="{FF2B5EF4-FFF2-40B4-BE49-F238E27FC236}">
                <a16:creationId xmlns:a16="http://schemas.microsoft.com/office/drawing/2014/main" id="{D30DFF4E-D73E-9F92-C842-B436D5095C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5F1E6E-B643-9A8C-659B-2283055E693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Occupancy Grid Maps (OGM)</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340DEE5-74D2-557F-E10C-2234623B9AD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FC0311-4475-7D1A-7E52-29E9CFBFF9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DE5333-37BC-8845-8360-27956CDBD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AC1F0A-1C58-66B3-4F87-E2B91647BF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07AC4C-208C-506C-63F1-4C764905A8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D19BCF-4D8A-F879-8699-BABA159647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Occupancy grid: a robot on the left fires a fan of about a dozen red range-sensor rays to the right. Each ray ends at a black cell where it hit an obstacle, forming a jagged wall, and these cells get occupancy probability 0.95. Cells the rays pass through are white with probability 0.05, meaning free. All unobserved cells, including those behind the wall, stay gray at 0.5. The legend labels each value as p sub z sub k plus 1 of O sub k plus 1 given z sub k plus 1.">
            <a:extLst>
              <a:ext uri="{FF2B5EF4-FFF2-40B4-BE49-F238E27FC236}">
                <a16:creationId xmlns:a16="http://schemas.microsoft.com/office/drawing/2014/main" id="{A1A54DBA-9E2C-AC65-949E-17E308E465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6674" y="2291179"/>
            <a:ext cx="4347264" cy="3293660"/>
          </a:xfrm>
          <a:prstGeom prst="rect">
            <a:avLst/>
          </a:prstGeom>
        </p:spPr>
      </p:pic>
    </p:spTree>
    <p:extLst>
      <p:ext uri="{BB962C8B-B14F-4D97-AF65-F5344CB8AC3E}">
        <p14:creationId xmlns:p14="http://schemas.microsoft.com/office/powerpoint/2010/main" val="145802333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603CD5-3CCE-C91B-3B9F-7085977D2A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8C3A16-B0E1-72B9-C392-72B86602925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a perfect world we would want to compute the </a:t>
                </a:r>
                <a:r>
                  <a:rPr lang="en-US" sz="2000" b="1" dirty="0">
                    <a:latin typeface="Atkinson Hyperlegible Next"/>
                    <a:ea typeface="Arial"/>
                    <a:cs typeface="Arial"/>
                    <a:sym typeface="Arial"/>
                  </a:rPr>
                  <a:t>Full Map Posterior</a:t>
                </a:r>
                <a:r>
                  <a:rPr lang="en-US" sz="2000" dirty="0">
                    <a:latin typeface="Atkinson Hyperlegible Next"/>
                    <a:ea typeface="Arial"/>
                    <a:cs typeface="Arial"/>
                    <a:sym typeface="Arial"/>
                  </a:rPr>
                  <a:t> (used for updating map and the robot’s position for global consistency). If a map </a:t>
                </a:r>
                <a14:m>
                  <m:oMath xmlns:m="http://schemas.openxmlformats.org/officeDocument/2006/math">
                    <m:r>
                      <m:rPr>
                        <m:sty m:val="p"/>
                      </m:rPr>
                      <a:rPr lang="en-US" sz="2000" b="0" i="1" smtClean="0">
                        <a:latin typeface="Cambria Math" panose="02040503050406030204" pitchFamily="18" charset="0"/>
                        <a:ea typeface="Arial"/>
                        <a:cs typeface="Arial"/>
                        <a:sym typeface="Arial"/>
                      </a:rPr>
                      <m:t>m</m:t>
                    </m:r>
                  </m:oMath>
                </a14:m>
                <a:r>
                  <a:rPr lang="en-US" sz="2000" dirty="0">
                    <a:latin typeface="Atkinson Hyperlegible Next"/>
                    <a:ea typeface="Arial"/>
                    <a:cs typeface="Arial"/>
                    <a:sym typeface="Arial"/>
                  </a:rPr>
                  <a:t> has </a:t>
                </a: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cells, and each cell can be either “Occupied” or “Free” there are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𝑁</m:t>
                        </m:r>
                      </m:sup>
                    </m:sSup>
                  </m:oMath>
                </a14:m>
                <a:r>
                  <a:rPr lang="en-US" sz="2000" dirty="0">
                    <a:latin typeface="Atkinson Hyperlegible Next"/>
                    <a:ea typeface="Arial"/>
                    <a:cs typeface="Arial"/>
                    <a:sym typeface="Arial"/>
                  </a:rPr>
                  <a:t>, possible configurations for that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Even for a small maps </a:t>
                </a:r>
                <a14:m>
                  <m:oMath xmlns:m="http://schemas.openxmlformats.org/officeDocument/2006/math">
                    <m:r>
                      <a:rPr lang="en-US" sz="2000" b="0" i="1" smtClean="0">
                        <a:latin typeface="Cambria Math" panose="02040503050406030204" pitchFamily="18" charset="0"/>
                        <a:ea typeface="Arial"/>
                        <a:cs typeface="Arial"/>
                        <a:sym typeface="Arial"/>
                      </a:rPr>
                      <m:t>100×100</m:t>
                    </m:r>
                  </m:oMath>
                </a14:m>
                <a:r>
                  <a:rPr lang="en-US" sz="2000" dirty="0">
                    <a:latin typeface="Atkinson Hyperlegible Next"/>
                    <a:ea typeface="Arial"/>
                    <a:cs typeface="Arial"/>
                    <a:sym typeface="Arial"/>
                  </a:rPr>
                  <a:t>,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10,000</m:t>
                        </m:r>
                      </m:sup>
                    </m:sSup>
                  </m:oMath>
                </a14:m>
                <a:r>
                  <a:rPr lang="en-US" sz="2000" dirty="0">
                    <a:latin typeface="Atkinson Hyperlegible Next"/>
                    <a:ea typeface="Arial"/>
                    <a:cs typeface="Arial"/>
                    <a:sym typeface="Arial"/>
                  </a:rPr>
                  <a:t> is larger than the number of atoms in the universe around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266</m:t>
                        </m:r>
                      </m:sup>
                    </m:sSup>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solve this, we assume that the state of one cell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does not depend on the state of its neighbor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This is the "</a:t>
                </a:r>
                <a:r>
                  <a:rPr lang="en-US" sz="2000" b="1" dirty="0">
                    <a:latin typeface="Atkinson Hyperlegible Next"/>
                    <a:ea typeface="Arial"/>
                    <a:cs typeface="Arial"/>
                    <a:sym typeface="Arial"/>
                  </a:rPr>
                  <a:t>Grid Assumption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While this isn't strictly true (walls are continuous structures, not random dots), it allows us to treat each cell as a separate estimation problem. Mathematically, this decomposes the high-dimensional joint distribution into a product of many simple, independent marginal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68C3A16-B0E1-72B9-C392-72B86602925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1146" b="-3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C92687-261E-2879-6BB6-2D36F4702F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03EB5D9-E139-0F8E-126D-335821D3329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3291FA6-E93D-AABB-5442-7C600BF8E08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03F41-3194-DBA3-94AD-634D1AAA0D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F750EE-3B85-14D5-0E46-FCAE211CAE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A2C5F7-6C8E-652B-1962-E994DD0C6A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D8C8D0-BD54-434F-3B2E-1B65F1186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01D925-6C2A-4EBB-7292-17413EB74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2912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B4B6BF-C897-FB80-538B-4F2F0E284AD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D40B2A-8749-A932-CC96-4B906EE33077}"/>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a problem with this formulation?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new scan multiplies the old cell probability by a new likelihood via Bayes' rule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50 scans: </a:t>
                </a:r>
                <a14:m>
                  <m:oMath xmlns:m="http://schemas.openxmlformats.org/officeDocument/2006/math">
                    <m:r>
                      <a:rPr lang="en-US" sz="2000" i="1" dirty="0" smtClean="0">
                        <a:latin typeface="Cambria Math" panose="02040503050406030204" pitchFamily="18" charset="0"/>
                        <a:ea typeface="Arial"/>
                        <a:cs typeface="Arial"/>
                        <a:sym typeface="Arial"/>
                      </a:rPr>
                      <m:t>0.6 × 0.55 × 0.6 × 0.55 × … </m:t>
                    </m:r>
                  </m:oMath>
                </a14:m>
                <a:r>
                  <a:rPr lang="en-US" sz="2000" dirty="0">
                    <a:latin typeface="Atkinson Hyperlegible Next"/>
                    <a:ea typeface="Arial"/>
                    <a:cs typeface="Arial"/>
                    <a:sym typeface="Arial"/>
                  </a:rPr>
                  <a:t>, which creates numbers smaller than 10⁻¹⁵!</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Floating-point underflow: the CPU silently rounds these down to 0, erasing all information</a:t>
                </a:r>
              </a:p>
              <a:p>
                <a:pPr marL="342900">
                  <a:lnSpc>
                    <a:spcPct val="100000"/>
                  </a:lnSpc>
                  <a:spcBef>
                    <a:spcPts val="0"/>
                  </a:spcBef>
                  <a:buSzPts val="3000"/>
                </a:pPr>
                <a:r>
                  <a:rPr lang="en-US" sz="2000" dirty="0">
                    <a:latin typeface="Atkinson Hyperlegible Next"/>
                    <a:ea typeface="Arial"/>
                    <a:cs typeface="Arial"/>
                    <a:sym typeface="Arial"/>
                  </a:rPr>
                  <a:t>Multiplication is also slower than addition on every processor architecture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can we transform this into a series of summations instead?</a:t>
                </a:r>
              </a:p>
            </p:txBody>
          </p:sp>
        </mc:Choice>
        <mc:Fallback xmlns="">
          <p:sp>
            <p:nvSpPr>
              <p:cNvPr id="118" name="Google Shape;118;p29">
                <a:extLst>
                  <a:ext uri="{FF2B5EF4-FFF2-40B4-BE49-F238E27FC236}">
                    <a16:creationId xmlns:a16="http://schemas.microsoft.com/office/drawing/2014/main" id="{43D40B2A-8749-A932-CC96-4B906EE33077}"/>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5DF9F0-D089-90E2-2AB3-0F16BFBC17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1A514F-6639-99A9-1E0D-7031FFBB09E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67D458-BD9C-0466-78E2-A96C07AB86E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8ABA6C-527F-6784-D577-EBB6D1B451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2E560-E335-0C08-8237-252D374C7C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3D2368-D60C-2364-78EE-D808ABC792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78E783-E5D4-AC1A-63F2-720B879573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101850-0938-5B27-958C-5A6372276F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2576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D8373E-72CC-1096-7754-13028F740D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46E589-BE7E-2772-AE9A-D3764A22E5F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fix this we make use of the </a:t>
                </a:r>
                <a:r>
                  <a:rPr lang="en-US" sz="2000" b="1" dirty="0">
                    <a:latin typeface="Atkinson Hyperlegible Next"/>
                    <a:ea typeface="Arial"/>
                    <a:cs typeface="Arial"/>
                    <a:sym typeface="Arial"/>
                  </a:rPr>
                  <a:t>Log-Odds</a:t>
                </a:r>
                <a:r>
                  <a:rPr lang="en-US" sz="2000" dirty="0">
                    <a:latin typeface="Atkinson Hyperlegible Next"/>
                    <a:ea typeface="Arial"/>
                    <a:cs typeface="Arial"/>
                    <a:sym typeface="Arial"/>
                  </a:rPr>
                  <a:t> trick!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Define the odds of occupancy as the ratio of probabilities</a:t>
                </a:r>
              </a:p>
              <a:p>
                <a:pPr marL="0" indent="0">
                  <a:lnSpc>
                    <a:spcPct val="100000"/>
                  </a:lnSpc>
                  <a:spcBef>
                    <a:spcPts val="0"/>
                  </a:spcBef>
                  <a:buSzPts val="3000"/>
                  <a:buNone/>
                </a:pPr>
                <a:r>
                  <a:rPr lang="en-US" sz="2000" dirty="0">
                    <a:latin typeface="Atkinson Hyperlegible Next"/>
                    <a:ea typeface="Arial"/>
                    <a:cs typeface="Arial"/>
                    <a:sym typeface="Arial"/>
                  </a:rPr>
                  <a:t>Take the natural log of the odds -  this is the log-odds value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𝑚</m:t>
                    </m:r>
                    <m:r>
                      <a:rPr lang="en-US" sz="2000" i="1" dirty="0" smtClean="0">
                        <a:latin typeface="Cambria Math" panose="02040503050406030204" pitchFamily="18" charset="0"/>
                        <a:ea typeface="Arial"/>
                        <a:cs typeface="Arial"/>
                        <a:sym typeface="Arial"/>
                      </a:rPr>
                      <m:t>ᵢ)</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num>
                            <m:den>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Log-odds = 0 means 50% (unknown). </a:t>
                </a:r>
              </a:p>
              <a:p>
                <a:pPr marL="342900">
                  <a:lnSpc>
                    <a:spcPct val="100000"/>
                  </a:lnSpc>
                  <a:spcBef>
                    <a:spcPts val="0"/>
                  </a:spcBef>
                  <a:buSzPts val="3000"/>
                </a:pPr>
                <a:r>
                  <a:rPr lang="en-US" sz="2000" dirty="0">
                    <a:latin typeface="Atkinson Hyperlegible Next"/>
                    <a:ea typeface="Arial"/>
                    <a:cs typeface="Arial"/>
                    <a:sym typeface="Arial"/>
                  </a:rPr>
                  <a:t>Positive means occupied. </a:t>
                </a:r>
              </a:p>
              <a:p>
                <a:pPr marL="342900">
                  <a:lnSpc>
                    <a:spcPct val="100000"/>
                  </a:lnSpc>
                  <a:spcBef>
                    <a:spcPts val="0"/>
                  </a:spcBef>
                  <a:buSzPts val="3000"/>
                </a:pPr>
                <a:r>
                  <a:rPr lang="en-US" sz="2000" dirty="0">
                    <a:latin typeface="Atkinson Hyperlegible Next"/>
                    <a:ea typeface="Arial"/>
                    <a:cs typeface="Arial"/>
                    <a:sym typeface="Arial"/>
                  </a:rPr>
                  <a:t>Negative means free.</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Range is effectively (−∞, +∞), no underflow ever</a:t>
                </a:r>
              </a:p>
              <a:p>
                <a:pPr marL="0" indent="0">
                  <a:lnSpc>
                    <a:spcPct val="100000"/>
                  </a:lnSpc>
                  <a:spcBef>
                    <a:spcPts val="0"/>
                  </a:spcBef>
                  <a:buSzPts val="3000"/>
                  <a:buNone/>
                </a:pPr>
                <a:r>
                  <a:rPr lang="en-US" sz="2000" dirty="0">
                    <a:latin typeface="Atkinson Hyperlegible Next"/>
                    <a:ea typeface="Arial"/>
                    <a:cs typeface="Arial"/>
                    <a:sym typeface="Arial"/>
                  </a:rPr>
                  <a:t>And crucially, Bayes' update becomes simple addition of log-odds increments!</a:t>
                </a:r>
              </a:p>
            </p:txBody>
          </p:sp>
        </mc:Choice>
        <mc:Fallback xmlns="">
          <p:sp>
            <p:nvSpPr>
              <p:cNvPr id="118" name="Google Shape;118;p29">
                <a:extLst>
                  <a:ext uri="{FF2B5EF4-FFF2-40B4-BE49-F238E27FC236}">
                    <a16:creationId xmlns:a16="http://schemas.microsoft.com/office/drawing/2014/main" id="{F446E589-BE7E-2772-AE9A-D3764A22E5F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268E3A-712A-52F4-CD17-7713095C59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82925F-31A8-819E-04C5-9C06401C0AF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2D98FC-36CE-0C60-E361-8A2FEB339D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1E60DD-3227-2AAE-1F37-3125B8B3F5C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58AD97-A0AD-E6A9-BF88-C94038CDBE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0E0C8E-1D54-CD11-A1F0-8344066ED4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95C8B3-DBD5-F2B4-6F3D-D63148AB68B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75B6929-E850-1E29-1070-2BCB535E86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4485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CD290D-2010-91D7-B94C-CF025D920F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8101E35-192E-D7C1-5D08-BAB79132CB64}"/>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r>
                        <a:rPr lang="en-US" sz="2000" i="1">
                          <a:latin typeface="Cambria Math" panose="02040503050406030204" pitchFamily="18" charset="0"/>
                          <a:ea typeface="Arial"/>
                          <a:cs typeface="Arial"/>
                          <a:sym typeface="Arial"/>
                        </a:rPr>
                        <m:t>=</m:t>
                      </m:r>
                      <m:func>
                        <m:funcPr>
                          <m:ctrlPr>
                            <a:rPr lang="en-US" sz="2000" i="1">
                              <a:latin typeface="Cambria Math" panose="02040503050406030204" pitchFamily="18" charset="0"/>
                              <a:ea typeface="Arial"/>
                              <a:cs typeface="Arial"/>
                              <a:sym typeface="Arial"/>
                            </a:rPr>
                          </m:ctrlPr>
                        </m:funcPr>
                        <m:fName>
                          <m:r>
                            <m:rPr>
                              <m:sty m:val="p"/>
                            </m:rPr>
                            <a:rPr lang="en-US" sz="2000">
                              <a:latin typeface="Cambria Math" panose="02040503050406030204" pitchFamily="18" charset="0"/>
                              <a:ea typeface="Arial"/>
                              <a:cs typeface="Arial"/>
                              <a:sym typeface="Arial"/>
                            </a:rPr>
                            <m:t>log</m:t>
                          </m:r>
                        </m:fName>
                        <m:e>
                          <m:f>
                            <m:fPr>
                              <m:ctrlPr>
                                <a:rPr lang="en-US" sz="2000" i="1">
                                  <a:latin typeface="Cambria Math" panose="02040503050406030204" pitchFamily="18" charset="0"/>
                                  <a:ea typeface="Arial"/>
                                  <a:cs typeface="Arial"/>
                                  <a:sym typeface="Arial"/>
                                </a:rPr>
                              </m:ctrlPr>
                            </m:fPr>
                            <m:num>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num>
                            <m:den>
                              <m:r>
                                <a:rPr lang="en-US" sz="2000" i="1">
                                  <a:latin typeface="Cambria Math" panose="02040503050406030204" pitchFamily="18" charset="0"/>
                                  <a:ea typeface="Arial"/>
                                  <a:cs typeface="Arial"/>
                                  <a:sym typeface="Arial"/>
                                </a:rPr>
                                <m:t>1−</m:t>
                              </m:r>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are the values of </a:t>
                </a:r>
                <a14:m>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for the following situations?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when you are 100% sure there is a wall? </a:t>
                </a:r>
              </a:p>
              <a:p>
                <a:pPr marL="0" indent="0">
                  <a:lnSpc>
                    <a:spcPct val="100000"/>
                  </a:lnSpc>
                  <a:spcBef>
                    <a:spcPts val="0"/>
                  </a:spcBef>
                  <a:buSzPts val="3000"/>
                  <a:buNone/>
                </a:pPr>
                <a:r>
                  <a:rPr lang="en-US" sz="2000" dirty="0">
                    <a:latin typeface="Atkinson Hyperlegible Next"/>
                    <a:ea typeface="Arial"/>
                    <a:cs typeface="Arial"/>
                    <a:sym typeface="Arial"/>
                  </a:rPr>
                  <a:t>What about if are 100% sure there isn’t a wall?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does one convert </a:t>
                </a:r>
                <a14:m>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back to the probability </a:t>
                </a:r>
                <a14:m>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1+</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𝑒</m:t>
                              </m:r>
                            </m:e>
                            <m:sup>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sup>
                          </m:sSup>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8101E35-192E-D7C1-5D08-BAB79132CB64}"/>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90179E-08C1-7735-074F-26952A4233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4380DD-65F0-A481-0771-E143FDAB61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EBD576-762C-4381-DE9F-7FA7FAFC933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BE3A86-2BEA-3FB5-145D-B0BB617D8F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9FD8F7-AE68-9A58-0A13-D9FD426892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767FA96-8E50-F7A0-7CA0-ECBDFE2B12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F4D83B-D040-E17F-76FB-64BBC0094A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624CE7-19DB-9A93-57A4-C6F945D3D6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782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ABF6EA-294F-6A9F-1C5D-E98733731DD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031BA9-3723-E138-0623-34264334B9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802858-A5A0-B8EE-5F89-01F0BE32E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494FA5-BE45-B45F-EB98-ADEFAD99C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C5AEB6-95F2-DA97-E53D-10BF719566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818390-9CA6-3258-3BA8-353DA2EE31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6252AC-03DD-8442-561A-8F94520D07F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7BB06-77AF-D869-5F2F-6AC2BB8273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6252F-D334-BA4F-7B60-A9ACAF981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lot: An S-shaped curve on axes running from 0 to 1, rising from (0, 0) through (0.5, 0.5) to (1, 1). It is nearly vertical at both ends and nearly flat with a gentle slope through the middle. This is the shape of the log-odds (logit) function: it changes slowly for probabilities near 0.5 and grows steeply as probability approaches 0 or 1.">
            <a:extLst>
              <a:ext uri="{FF2B5EF4-FFF2-40B4-BE49-F238E27FC236}">
                <a16:creationId xmlns:a16="http://schemas.microsoft.com/office/drawing/2014/main" id="{5A8D1BB4-7B58-B08A-98D7-DCAEE416E2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01410" y="1090723"/>
            <a:ext cx="4937760" cy="4937760"/>
          </a:xfrm>
          <a:prstGeom prst="rect">
            <a:avLst/>
          </a:prstGeom>
        </p:spPr>
      </p:pic>
      <p:pic>
        <p:nvPicPr>
          <p:cNvPr id="6" name="Graphic 5" descr="Plot of the log-odds transformation: x axis is probability from 0 to 1, y axis is log-odds from minus 2 to 2. The curve rises monotonically through zero at probability 0.5, is nearly linear in the middle, reaches about plus 1 near 0.9 and minus 1 near 0.1, and approaches minus infinity at 0 and plus infinity at 1, shown as dashed vertical asymptotes. Probabilities in the open interval 0 to 1 thus map onto the whole real line.">
            <a:extLst>
              <a:ext uri="{FF2B5EF4-FFF2-40B4-BE49-F238E27FC236}">
                <a16:creationId xmlns:a16="http://schemas.microsoft.com/office/drawing/2014/main" id="{1B5362B7-0ED9-368F-CD30-86D45EAC4F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063" y="1090723"/>
            <a:ext cx="4937760" cy="4937760"/>
          </a:xfrm>
          <a:prstGeom prst="rect">
            <a:avLst/>
          </a:prstGeom>
        </p:spPr>
      </p:pic>
      <p:sp>
        <p:nvSpPr>
          <p:cNvPr id="7" name="TextBox 6">
            <a:extLst>
              <a:ext uri="{FF2B5EF4-FFF2-40B4-BE49-F238E27FC236}">
                <a16:creationId xmlns:a16="http://schemas.microsoft.com/office/drawing/2014/main" id="{CA10BD36-B8A0-6965-2280-48C539D84B8B}"/>
              </a:ext>
            </a:extLst>
          </p:cNvPr>
          <p:cNvSpPr txBox="1"/>
          <p:nvPr/>
        </p:nvSpPr>
        <p:spPr>
          <a:xfrm>
            <a:off x="2321852" y="6025160"/>
            <a:ext cx="2082182" cy="307777"/>
          </a:xfrm>
          <a:prstGeom prst="rect">
            <a:avLst/>
          </a:prstGeom>
          <a:noFill/>
        </p:spPr>
        <p:txBody>
          <a:bodyPr wrap="square" rtlCol="0">
            <a:spAutoFit/>
          </a:bodyPr>
          <a:lstStyle/>
          <a:p>
            <a:pPr algn="ctr"/>
            <a:r>
              <a:rPr lang="en-US" dirty="0"/>
              <a:t>Log-Odd transformation</a:t>
            </a:r>
          </a:p>
        </p:txBody>
      </p:sp>
      <p:sp>
        <p:nvSpPr>
          <p:cNvPr id="8" name="TextBox 7">
            <a:extLst>
              <a:ext uri="{FF2B5EF4-FFF2-40B4-BE49-F238E27FC236}">
                <a16:creationId xmlns:a16="http://schemas.microsoft.com/office/drawing/2014/main" id="{4EE60714-120A-D5B8-3E50-720E33EEB38C}"/>
              </a:ext>
            </a:extLst>
          </p:cNvPr>
          <p:cNvSpPr txBox="1"/>
          <p:nvPr/>
        </p:nvSpPr>
        <p:spPr>
          <a:xfrm>
            <a:off x="7284777" y="6026267"/>
            <a:ext cx="2771026" cy="307777"/>
          </a:xfrm>
          <a:prstGeom prst="rect">
            <a:avLst/>
          </a:prstGeom>
          <a:noFill/>
        </p:spPr>
        <p:txBody>
          <a:bodyPr wrap="square" rtlCol="0">
            <a:spAutoFit/>
          </a:bodyPr>
          <a:lstStyle/>
          <a:p>
            <a:pPr algn="ctr"/>
            <a:r>
              <a:rPr lang="en-US" dirty="0"/>
              <a:t>Log-Odd inverse transformation</a:t>
            </a:r>
          </a:p>
        </p:txBody>
      </p:sp>
    </p:spTree>
    <p:extLst>
      <p:ext uri="{BB962C8B-B14F-4D97-AF65-F5344CB8AC3E}">
        <p14:creationId xmlns:p14="http://schemas.microsoft.com/office/powerpoint/2010/main" val="423402996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3A276A-36D2-602F-A30A-E182E794D3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49BEAF5-FC85-224A-111E-7550DAD81E96}"/>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Bayesian Update, is now a simple addition!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Wait what was the Bayesian Update again?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its raw form, the probability that a cell is occupied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depends on all previous observations </a:t>
                </a:r>
                <a14:m>
                  <m:oMath xmlns:m="http://schemas.openxmlformats.org/officeDocument/2006/math">
                    <m:r>
                      <a:rPr lang="en-US" sz="2000" i="1" dirty="0" smtClean="0">
                        <a:latin typeface="Cambria Math" panose="02040503050406030204" pitchFamily="18" charset="0"/>
                        <a:ea typeface="Arial"/>
                        <a:cs typeface="Arial"/>
                        <a:sym typeface="Arial"/>
                      </a:rPr>
                      <m:t>𝑧</m:t>
                    </m:r>
                    <m:r>
                      <a:rPr lang="en-US" sz="2000" i="1" dirty="0" smtClean="0">
                        <a:latin typeface="Cambria Math" panose="02040503050406030204" pitchFamily="18" charset="0"/>
                        <a:ea typeface="Arial"/>
                        <a:cs typeface="Arial"/>
                        <a:sym typeface="Arial"/>
                      </a:rPr>
                      <m:t>_{1: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Using Bayes' Rule and assuming the Markov property, the update looks like this: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the prior (what we currently believe the map to be)</a:t>
                </a: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Likelihood ( given the current map, how likely is this new data?)</a:t>
                </a:r>
              </a:p>
            </p:txBody>
          </p:sp>
        </mc:Choice>
        <mc:Fallback xmlns="">
          <p:sp>
            <p:nvSpPr>
              <p:cNvPr id="118" name="Google Shape;118;p29">
                <a:extLst>
                  <a:ext uri="{FF2B5EF4-FFF2-40B4-BE49-F238E27FC236}">
                    <a16:creationId xmlns:a16="http://schemas.microsoft.com/office/drawing/2014/main" id="{349BEAF5-FC85-224A-111E-7550DAD81E96}"/>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81A6C6-0FC4-5BB2-F957-9874065906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DF68D3-E846-BF3D-A258-6645B8A8C2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E33BE3-8CF7-1BE0-F53F-831B63AF909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AA261C-C438-9614-D96F-9F56BB90E7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EC74E-7DD3-FBB5-1049-66E4A9F556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7957D-80C9-332C-E83C-B8E023318A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EDD644-83A5-7174-298F-AF4D94D45B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49BD0-9C95-C747-FFEB-85D3435884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69540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9D9A1F-D89B-CD36-A186-8DA1A5DED2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55F53A2-36CB-3A5E-01B9-D285839FE42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simplify, we look at the ratio of the cell being </a:t>
                </a:r>
                <a:r>
                  <a:rPr lang="en-US" sz="2000" b="1" dirty="0">
                    <a:latin typeface="Atkinson Hyperlegible Next"/>
                    <a:ea typeface="Arial"/>
                    <a:cs typeface="Arial"/>
                    <a:sym typeface="Arial"/>
                  </a:rPr>
                  <a:t>occupied</a:t>
                </a:r>
                <a:r>
                  <a:rPr lang="en-US" sz="2000" dirty="0">
                    <a:latin typeface="Atkinson Hyperlegible Next"/>
                    <a:ea typeface="Arial"/>
                    <a:cs typeface="Arial"/>
                    <a:sym typeface="Arial"/>
                  </a:rPr>
                  <a:t> vs. </a:t>
                </a:r>
                <a:r>
                  <a:rPr lang="en-US" sz="2000" b="1" dirty="0">
                    <a:latin typeface="Atkinson Hyperlegible Next"/>
                    <a:ea typeface="Arial"/>
                    <a:cs typeface="Arial"/>
                    <a:sym typeface="Arial"/>
                  </a:rPr>
                  <a:t>empty</a:t>
                </a:r>
                <a:r>
                  <a:rPr lang="en-US" sz="2000" dirty="0">
                    <a:latin typeface="Atkinson Hyperlegible Next"/>
                    <a:ea typeface="Arial"/>
                    <a:cs typeface="Arial"/>
                    <a:sym typeface="Arial"/>
                  </a:rPr>
                  <a: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Notice three distinct components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Inverse Sensor Model</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oMath>
                </a14:m>
                <a:r>
                  <a:rPr lang="en-US" sz="2000" dirty="0">
                    <a:latin typeface="Atkinson Hyperlegible Next"/>
                    <a:ea typeface="Arial"/>
                    <a:cs typeface="Arial"/>
                    <a:sym typeface="Arial"/>
                  </a:rPr>
                  <a:t> (What the current laser scan says).</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Prior</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oMath>
                </a14:m>
                <a:r>
                  <a:rPr lang="en-US" sz="2000" dirty="0">
                    <a:latin typeface="Atkinson Hyperlegible Next"/>
                    <a:ea typeface="Arial"/>
                    <a:cs typeface="Arial"/>
                    <a:sym typeface="Arial"/>
                  </a:rPr>
                  <a:t> (The initial belief, usually </a:t>
                </a:r>
                <a14:m>
                  <m:oMath xmlns:m="http://schemas.openxmlformats.org/officeDocument/2006/math">
                    <m:r>
                      <a:rPr lang="en-US" sz="2000" i="1" dirty="0" smtClean="0">
                        <a:latin typeface="Cambria Math" panose="02040503050406030204" pitchFamily="18" charset="0"/>
                        <a:ea typeface="Arial"/>
                        <a:cs typeface="Arial"/>
                        <a:sym typeface="Arial"/>
                      </a:rPr>
                      <m:t>0.5</m:t>
                    </m:r>
                  </m:oMath>
                </a14:m>
                <a:r>
                  <a:rPr lang="en-US" sz="2000" dirty="0">
                    <a:latin typeface="Atkinson Hyperlegible Next"/>
                    <a:ea typeface="Arial"/>
                    <a:cs typeface="Arial"/>
                    <a:sym typeface="Arial"/>
                  </a:rPr>
                  <a:t>, which cancels out).</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Recursive Belief</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a14:m>
                <a:r>
                  <a:rPr lang="en-US" sz="2000" dirty="0">
                    <a:latin typeface="Atkinson Hyperlegible Next"/>
                    <a:ea typeface="Arial"/>
                    <a:cs typeface="Arial"/>
                    <a:sym typeface="Arial"/>
                  </a:rPr>
                  <a:t> (What we already knew).</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55F53A2-36CB-3A5E-01B9-D285839FE423}"/>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8A366E8-E7F3-C545-A5D1-E9AC78EC3E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5EBC7B-F9B2-4A98-EF54-5253752E11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305AAC-B43C-FE03-188B-C5D79B00C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71B2FA-08F5-4A65-C62B-48AF96670B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D18E93-6586-A5E1-8A80-F9BBC89076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C435C6-8A81-DA07-EC83-748A04E297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D0EF5-CB57-2430-9652-29BB192171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96FC83-D957-7EAA-9CA2-A328A10AE4E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1081828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C5DCD6-2342-55DD-0971-3C182EFB51E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F4ACD1-41C5-A8E6-AFC3-EF5126F4D78A}"/>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num>
                        <m:den>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we take the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of the </a:t>
                </a:r>
                <a:r>
                  <a:rPr lang="en-US" sz="2000" b="1" dirty="0">
                    <a:latin typeface="Atkinson Hyperlegible Next"/>
                    <a:ea typeface="Arial"/>
                    <a:cs typeface="Arial"/>
                    <a:sym typeface="Arial"/>
                  </a:rPr>
                  <a:t>Ratio Form </a:t>
                </a:r>
                <a:r>
                  <a:rPr lang="en-US" sz="2000" dirty="0">
                    <a:latin typeface="Atkinson Hyperlegible Next"/>
                    <a:ea typeface="Arial"/>
                    <a:cs typeface="Arial"/>
                    <a:sym typeface="Arial"/>
                  </a:rPr>
                  <a:t>equation, all the multiplications turn into additions, and divisions turn into subtractions: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sSub>
                                <m:sSubPr>
                                  <m:ctrlPr>
                                    <a:rPr lang="en-US" sz="2000" i="1" dirty="0" smtClean="0">
                                      <a:latin typeface="Cambria Math" panose="02040503050406030204" pitchFamily="18" charset="0"/>
                                      <a:ea typeface="Arial"/>
                                      <a:cs typeface="Arial"/>
                                      <a:sym typeface="Arial"/>
                                    </a:rPr>
                                  </m:ctrlPr>
                                </m:sSubPr>
                                <m:e>
                                  <m:r>
                                    <m:rPr>
                                      <m:nor/>
                                    </m:rPr>
                                    <a:rPr lang="en-US" sz="2000" i="0" dirty="0" smtClean="0">
                                      <a:latin typeface="Cambria Math" panose="02040503050406030204" pitchFamily="18" charset="0"/>
                                      <a:ea typeface="Arial"/>
                                      <a:cs typeface="Arial"/>
                                      <a:sym typeface="Arial"/>
                                    </a:rPr>
                                    <m:t>Ratio</m:t>
                                  </m:r>
                                </m:e>
                                <m:sub>
                                  <m:r>
                                    <a:rPr lang="en-US" sz="2000" i="1" dirty="0" smtClean="0">
                                      <a:latin typeface="Cambria Math" panose="02040503050406030204" pitchFamily="18" charset="0"/>
                                      <a:ea typeface="Arial"/>
                                      <a:cs typeface="Arial"/>
                                      <a:sym typeface="Arial"/>
                                    </a:rPr>
                                    <m:t>𝑡</m:t>
                                  </m:r>
                                </m:sub>
                              </m:sSub>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Sensor</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Prior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yields the exact formula:</a:t>
                </a:r>
              </a:p>
              <a:p>
                <a:pPr marL="0" indent="0">
                  <a:lnSpc>
                    <a:spcPct val="100000"/>
                  </a:lnSpc>
                  <a:spcBef>
                    <a:spcPts val="0"/>
                  </a:spcBef>
                  <a:buSzPts val="3000"/>
                  <a:buNone/>
                </a:pPr>
                <a:endParaRPr lang="en-US" sz="2000" i="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dirty="0" smtClean="0">
                          <a:latin typeface="Cambria Math" panose="02040503050406030204" pitchFamily="18" charset="0"/>
                          <a:ea typeface="Arial"/>
                          <a:cs typeface="Arial"/>
                          <a:sym typeface="Arial"/>
                        </a:rPr>
                        <m:t>New</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Inverse</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Sensor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Model</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Prior</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F4ACD1-41C5-A8E6-AFC3-EF5126F4D78A}"/>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FD21DDB-932B-BA1F-2A68-172F8FE525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F075F4E-7C8F-3FA0-C2C9-D09A15B0CE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5301B65-5AFB-7722-DF9E-2BD05BE614E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2D67A9-8BD2-6DBE-66AC-7263AA76C9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43B1A36-F45C-5678-21FD-EA14F13FB9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B11DB6B-D4EB-BA58-694B-E4C1026BC7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EC5A7C-2842-0023-CFDD-44C28C011C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AD51C-BBA2-E863-94C1-297B4360E5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102366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29B746-DDF0-0ADE-2FBD-CC86C5A01C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BA558B6-A4C5-35D6-D17D-C1CC7BBAB26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sensor-model term is a small positive number (for hits) or small negative number (for passes)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Typical values: +0.9 on hit, −0.4 per pass.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ghost obstacle slowly decays (more negative), a real wall hardens (more positive)!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single most-executed line of code in a running SLAM system!</a:t>
                </a:r>
              </a:p>
            </p:txBody>
          </p:sp>
        </mc:Choice>
        <mc:Fallback xmlns="">
          <p:sp>
            <p:nvSpPr>
              <p:cNvPr id="118" name="Google Shape;118;p29">
                <a:extLst>
                  <a:ext uri="{FF2B5EF4-FFF2-40B4-BE49-F238E27FC236}">
                    <a16:creationId xmlns:a16="http://schemas.microsoft.com/office/drawing/2014/main" id="{4BA558B6-A4C5-35D6-D17D-C1CC7BBAB26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5405B8-B9D8-85A5-FF35-0C477AF2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8AE8EC-A7EE-42C4-A657-EB303440DA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3390E9-E252-A1F4-A0B4-DB0309A9ED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D23ED3-37B2-86F4-CB5C-01C55B4880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E134D9-294C-EC70-9664-D4F1632912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856F87-CA8C-51BA-716A-F41F37BEF5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D813F4-1003-D389-3E57-76C0003DAA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37E614-7F34-AE4F-2D6D-45D72AD2B5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8938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F9D247-289E-2072-2538-00E45D00E93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01A3C05-462C-873B-4164-E1BE01B8091D}"/>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Inverse Sensor Model tries to compute “given a laser reading, what do we believe about the cells it passed through?”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forward model asks: “Given a map, what reading should the sensor produce?”</a:t>
                </a:r>
              </a:p>
              <a:p>
                <a:pPr marL="0" indent="0">
                  <a:lnSpc>
                    <a:spcPct val="100000"/>
                  </a:lnSpc>
                  <a:spcBef>
                    <a:spcPts val="0"/>
                  </a:spcBef>
                  <a:buSzPts val="3000"/>
                  <a:buNone/>
                </a:pPr>
                <a:r>
                  <a:rPr lang="en-US" sz="2000" dirty="0">
                    <a:latin typeface="Atkinson Hyperlegible Next"/>
                    <a:ea typeface="Arial"/>
                    <a:cs typeface="Arial"/>
                    <a:sym typeface="Arial"/>
                  </a:rPr>
                  <a:t>The inverse model asks the opposite: “Given this reading, what does the map look like?”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Rule 1</a:t>
                </a:r>
                <a:r>
                  <a:rPr lang="en-US" sz="2000" dirty="0">
                    <a:latin typeface="Atkinson Hyperlegible Next"/>
                    <a:ea typeface="Arial"/>
                    <a:cs typeface="Arial"/>
                    <a:sym typeface="Arial"/>
                  </a:rPr>
                  <a:t>: every cell the laser beam </a:t>
                </a:r>
                <a:r>
                  <a:rPr lang="en-US" sz="2000" b="1" dirty="0">
                    <a:latin typeface="Atkinson Hyperlegible Next"/>
                    <a:ea typeface="Arial"/>
                    <a:cs typeface="Arial"/>
                    <a:sym typeface="Arial"/>
                  </a:rPr>
                  <a:t>passed through</a:t>
                </a:r>
                <a:r>
                  <a:rPr lang="en-US" sz="2000" dirty="0">
                    <a:latin typeface="Atkinson Hyperlegible Next"/>
                    <a:ea typeface="Arial"/>
                    <a:cs typeface="Arial"/>
                    <a:sym typeface="Arial"/>
                  </a:rPr>
                  <a:t> gets a free-space vote (</a:t>
                </a:r>
                <a:r>
                  <a:rPr lang="en-US" sz="2000" b="1" dirty="0">
                    <a:latin typeface="Atkinson Hyperlegible Next"/>
                    <a:ea typeface="Arial"/>
                    <a:cs typeface="Arial"/>
                    <a:sym typeface="Arial"/>
                  </a:rPr>
                  <a:t>negative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2</a:t>
                </a:r>
                <a:r>
                  <a:rPr lang="en-US" sz="2000" dirty="0">
                    <a:latin typeface="Atkinson Hyperlegible Next"/>
                    <a:ea typeface="Arial"/>
                    <a:cs typeface="Arial"/>
                    <a:sym typeface="Arial"/>
                  </a:rPr>
                  <a:t>: the cell where the beam </a:t>
                </a:r>
                <a:r>
                  <a:rPr lang="en-US" sz="2000" b="1" dirty="0">
                    <a:latin typeface="Atkinson Hyperlegible Next"/>
                    <a:ea typeface="Arial"/>
                    <a:cs typeface="Arial"/>
                    <a:sym typeface="Arial"/>
                  </a:rPr>
                  <a:t>terminated</a:t>
                </a:r>
                <a:r>
                  <a:rPr lang="en-US" sz="2000" dirty="0">
                    <a:latin typeface="Atkinson Hyperlegible Next"/>
                    <a:ea typeface="Arial"/>
                    <a:cs typeface="Arial"/>
                    <a:sym typeface="Arial"/>
                  </a:rPr>
                  <a:t> gets an occupied vote (</a:t>
                </a:r>
                <a:r>
                  <a:rPr lang="en-US" sz="2000" b="1" dirty="0">
                    <a:latin typeface="Atkinson Hyperlegible Next"/>
                    <a:ea typeface="Arial"/>
                    <a:cs typeface="Arial"/>
                    <a:sym typeface="Arial"/>
                  </a:rPr>
                  <a:t>positive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3</a:t>
                </a:r>
                <a:r>
                  <a:rPr lang="en-US" sz="2000" dirty="0">
                    <a:latin typeface="Atkinson Hyperlegible Next"/>
                    <a:ea typeface="Arial"/>
                    <a:cs typeface="Arial"/>
                    <a:sym typeface="Arial"/>
                  </a:rPr>
                  <a:t>: cells </a:t>
                </a:r>
                <a:r>
                  <a:rPr lang="en-US" sz="2000" b="1" dirty="0">
                    <a:latin typeface="Atkinson Hyperlegible Next"/>
                    <a:ea typeface="Arial"/>
                    <a:cs typeface="Arial"/>
                    <a:sym typeface="Arial"/>
                  </a:rPr>
                  <a:t>behind</a:t>
                </a:r>
                <a:r>
                  <a:rPr lang="en-US" sz="2000" dirty="0">
                    <a:latin typeface="Atkinson Hyperlegible Next"/>
                    <a:ea typeface="Arial"/>
                    <a:cs typeface="Arial"/>
                    <a:sym typeface="Arial"/>
                  </a:rPr>
                  <a:t> the termination point are unchanged - the laser cannot see through walls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01A3C05-462C-873B-4164-E1BE01B8091D}"/>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96E1F88-5108-98AF-C23E-FCEA275D23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F7E94B-B05C-4A75-DE9E-8A86E5C6A1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5F2754-EDD3-618A-2404-D364287A41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B953CC-41E5-D7FA-D297-7440596FCF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403C63-6AAA-C515-31D0-2EA0DD797B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175AC0-E7F5-3351-54FD-05265D9CFF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08182DE-829E-C15C-20D3-2EBB10840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04D9D-06C6-1703-A344-A50920E2A1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772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29D39F-6B2D-E91B-7967-4F1A9441720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8C395F7-902E-109C-4B0A-19D5DD2CEB0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can implement this by looking along a single beam: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From range 0 to (d - ε): probability of occupancy is LOW (clearly free space)</a:t>
            </a:r>
          </a:p>
          <a:p>
            <a:pPr marL="342900">
              <a:lnSpc>
                <a:spcPct val="100000"/>
              </a:lnSpc>
              <a:spcBef>
                <a:spcPts val="0"/>
              </a:spcBef>
              <a:buSzPts val="3000"/>
            </a:pPr>
            <a:r>
              <a:rPr lang="en-US" sz="2000" dirty="0">
                <a:latin typeface="Atkinson Hyperlegible Next"/>
                <a:ea typeface="Arial"/>
                <a:cs typeface="Arial"/>
                <a:sym typeface="Arial"/>
              </a:rPr>
              <a:t>Near the reported range d ± ε: probability shoots HIGH (a surface was detected here)</a:t>
            </a:r>
          </a:p>
          <a:p>
            <a:pPr marL="342900">
              <a:lnSpc>
                <a:spcPct val="100000"/>
              </a:lnSpc>
              <a:spcBef>
                <a:spcPts val="0"/>
              </a:spcBef>
              <a:buSzPts val="3000"/>
            </a:pPr>
            <a:r>
              <a:rPr lang="en-US" sz="2000" dirty="0">
                <a:latin typeface="Atkinson Hyperlegible Next"/>
                <a:ea typeface="Arial"/>
                <a:cs typeface="Arial"/>
                <a:sym typeface="Arial"/>
              </a:rPr>
              <a:t>Past the reported range d + ε: probability reverts to 0.5 (unknown — beam cannot see)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width ε captures sensor range noise, typically 1-5 cm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Tuning these thresholds is a real-world engineering decision specific to your LiDAR model. Tuning these will give you different performance results.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9F9A48A-610B-E1DD-5F11-9CA3A359212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19273F-986B-6482-7EF8-577B4779ECE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68D94F-24BA-495F-C99E-C016B1BC8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4B927E-FE64-99F4-8C23-EFD6690232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6E325A-2603-5172-C3F9-1E55BA0785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0011EF-9A8A-9227-4F26-378734D8A2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8ECF5-46EF-6036-3F7A-172FEB88A7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C78C6A-3362-BB1C-2FE5-89DC84A108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1272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62CE05-5320-3040-AB7C-229CD6943C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07928A-AC43-346C-1F93-F2118E2ED0C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does the code know exactly which cells a beam has crossed?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err="1">
                <a:latin typeface="Atkinson Hyperlegible Next"/>
                <a:ea typeface="Arial"/>
                <a:cs typeface="Arial"/>
                <a:sym typeface="Arial"/>
              </a:rPr>
              <a:t>Bresenham's</a:t>
            </a:r>
            <a:r>
              <a:rPr lang="en-US" sz="2000" b="1" dirty="0">
                <a:latin typeface="Atkinson Hyperlegible Next"/>
                <a:ea typeface="Arial"/>
                <a:cs typeface="Arial"/>
                <a:sym typeface="Arial"/>
              </a:rPr>
              <a:t> algorithm</a:t>
            </a:r>
            <a:r>
              <a:rPr lang="en-US" sz="2000" dirty="0">
                <a:latin typeface="Atkinson Hyperlegible Next"/>
                <a:ea typeface="Arial"/>
                <a:cs typeface="Arial"/>
                <a:sym typeface="Arial"/>
              </a:rPr>
              <a:t>! (2D ray casing algorithm!)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It's a pure-integer algorithm - no trigonometry, no floating-point in the inner loop</a:t>
            </a:r>
          </a:p>
          <a:p>
            <a:pPr marL="0" indent="0">
              <a:lnSpc>
                <a:spcPct val="100000"/>
              </a:lnSpc>
              <a:spcBef>
                <a:spcPts val="0"/>
              </a:spcBef>
              <a:buSzPts val="3000"/>
              <a:buNone/>
            </a:pPr>
            <a:r>
              <a:rPr lang="en-US" sz="2000" dirty="0">
                <a:latin typeface="Atkinson Hyperlegible Next"/>
                <a:ea typeface="Arial"/>
                <a:cs typeface="Arial"/>
                <a:sym typeface="Arial"/>
              </a:rPr>
              <a:t>Given start (robot pose cell) and end (hit cell), it efficiently enumerates every cell between them to represent a discretized straight line.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enumerated cell gets the “FREE space” log-odds update; the final cell gets “HIT”.</a:t>
            </a:r>
          </a:p>
          <a:p>
            <a:pPr marL="0" indent="0">
              <a:lnSpc>
                <a:spcPct val="100000"/>
              </a:lnSpc>
              <a:spcBef>
                <a:spcPts val="0"/>
              </a:spcBef>
              <a:buSzPts val="3000"/>
              <a:buNone/>
            </a:pPr>
            <a:r>
              <a:rPr lang="en-US" sz="2000" dirty="0">
                <a:latin typeface="Atkinson Hyperlegible Next"/>
                <a:ea typeface="Arial"/>
                <a:cs typeface="Arial"/>
                <a:sym typeface="Arial"/>
              </a:rPr>
              <a:t>At 360 beams per scan × 10 Hz × thousands of cells per beam, speed matters enormously.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1656D94-CA9D-47BB-BB2C-1866CB9EC4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66E2D1-9736-82AB-9BA2-90DCEC2AE0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54EEE1-C13F-11CE-B9FD-4575E7BA47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DC8E9B-E107-21E8-EAEF-0D57725124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825C15-3998-6896-3691-C4F650147B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D39792-A894-B6AC-3742-53F8789CC8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1F75C4-0667-7AFD-7FCE-DFD8DF5D72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E87F1D-D65C-CE2C-5795-D8A147F64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Grid illustration of Bresenham's line algorithm: a straight line runs from a start cell near the upper left to an end cell near the lower right, sloping down about 4 cells over 10 columns. The 11 cells it passes through are shaded, exactly one per column, forming a staircase of horizontal runs two or three cells long, each stepping down one row. This shows how a beam's continuous path becomes a discrete set of grid cells.">
            <a:extLst>
              <a:ext uri="{FF2B5EF4-FFF2-40B4-BE49-F238E27FC236}">
                <a16:creationId xmlns:a16="http://schemas.microsoft.com/office/drawing/2014/main" id="{42B940EE-E68B-1D6D-810D-059BF73012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47011" y="3286080"/>
            <a:ext cx="3958047" cy="2131256"/>
          </a:xfrm>
          <a:prstGeom prst="rect">
            <a:avLst/>
          </a:prstGeom>
        </p:spPr>
      </p:pic>
    </p:spTree>
    <p:extLst>
      <p:ext uri="{BB962C8B-B14F-4D97-AF65-F5344CB8AC3E}">
        <p14:creationId xmlns:p14="http://schemas.microsoft.com/office/powerpoint/2010/main" val="2974910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E68792-8D68-56AE-FEDD-569F981B1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21A9341-8A91-3EF9-40C1-2D1ED1B05AA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a:lnSpc>
                <a:spcPts val="1425"/>
              </a:lnSpc>
              <a:spcBef>
                <a:spcPts val="0"/>
              </a:spcBef>
              <a:buNone/>
            </a:pPr>
            <a:r>
              <a:rPr lang="en-US" sz="1050" b="0" dirty="0" err="1">
                <a:solidFill>
                  <a:srgbClr val="202020"/>
                </a:solidFill>
                <a:effectLst/>
                <a:latin typeface="Consolas" panose="020B0609020204030204" pitchFamily="49" charset="0"/>
              </a:rPr>
              <a:t>plotLine</a:t>
            </a:r>
            <a:r>
              <a:rPr lang="en-US" sz="1050" b="0" dirty="0">
                <a:solidFill>
                  <a:srgbClr val="202020"/>
                </a:solidFill>
                <a:effectLst/>
                <a:latin typeface="Consolas" panose="020B0609020204030204" pitchFamily="49" charset="0"/>
              </a:rPr>
              <a: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x1, y1)</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(x1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x1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(y1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y1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while</a:t>
            </a:r>
            <a:r>
              <a:rPr lang="en-US" sz="1050" b="0" dirty="0">
                <a:solidFill>
                  <a:srgbClr val="202020"/>
                </a:solidFill>
                <a:effectLst/>
                <a:latin typeface="Consolas" panose="020B0609020204030204" pitchFamily="49" charset="0"/>
              </a:rPr>
              <a:t> true</a:t>
            </a:r>
          </a:p>
          <a:p>
            <a:pPr>
              <a:lnSpc>
                <a:spcPts val="1425"/>
              </a:lnSpc>
              <a:spcBef>
                <a:spcPts val="0"/>
              </a:spcBef>
              <a:buNone/>
            </a:pPr>
            <a:r>
              <a:rPr lang="en-US" sz="1050" b="0" dirty="0">
                <a:solidFill>
                  <a:srgbClr val="202020"/>
                </a:solidFill>
                <a:effectLst/>
                <a:latin typeface="Consolas" panose="020B0609020204030204" pitchFamily="49" charset="0"/>
              </a:rPr>
              <a:t>        plot(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&gt;=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x1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y1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while</a:t>
            </a:r>
            <a:endParaRPr lang="en-US" sz="1050" b="0" dirty="0">
              <a:solidFill>
                <a:srgbClr val="202020"/>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604BEA11-29AE-42A2-33D0-10886510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DBD611-3D5A-3AE5-B6F4-6898AA3832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6BEE4B-3951-B422-0560-E0824773A7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716F0E-61B1-8861-BF84-A051373E4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5C26E2-3815-E429-619A-BA25369FE2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889243-900D-8940-11BC-42F5E953B9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379353-1CAA-FDBE-213A-A35178D42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62AFE9-653F-C0F8-4520-03FDBD597FC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Bresenham Line Algorithm for Occupancy Grid" descr="YouTube video: Bresenham Line Algorithm for Occupancy Grid (Marius Juston)">
            <a:hlinkClick r:id="" action="ppaction://media"/>
            <a:extLst>
              <a:ext uri="{FF2B5EF4-FFF2-40B4-BE49-F238E27FC236}">
                <a16:creationId xmlns:a16="http://schemas.microsoft.com/office/drawing/2014/main" id="{43130EE5-44A4-D8F8-C934-A66F9414E1B6}"/>
              </a:ext>
            </a:extLst>
          </p:cNvPr>
          <p:cNvPicPr>
            <a:picLocks noRot="1" noChangeAspect="1"/>
          </p:cNvPicPr>
          <p:nvPr>
            <a:videoFile r:link="rId1"/>
          </p:nvPr>
        </p:nvPicPr>
        <p:blipFill>
          <a:blip r:embed="rId5"/>
          <a:stretch>
            <a:fillRect/>
          </a:stretch>
        </p:blipFill>
        <p:spPr>
          <a:xfrm>
            <a:off x="3794606" y="1149900"/>
            <a:ext cx="8034211" cy="4539340"/>
          </a:xfrm>
          <a:prstGeom prst="rect">
            <a:avLst/>
          </a:prstGeom>
        </p:spPr>
      </p:pic>
    </p:spTree>
    <p:extLst>
      <p:ext uri="{BB962C8B-B14F-4D97-AF65-F5344CB8AC3E}">
        <p14:creationId xmlns:p14="http://schemas.microsoft.com/office/powerpoint/2010/main" val="2322208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9C365D6-54E7-AE76-282F-457BD92EE75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301CF62-D4B1-2B37-FB0D-105C66CBDAC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Initial: unobserved cell starts at log-odds = 0 (probability 0.5)</a:t>
                </a:r>
              </a:p>
              <a:p>
                <a:pPr marL="0" indent="0">
                  <a:lnSpc>
                    <a:spcPct val="2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LiDAR hits it twice: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0 + 0.9 + 0.9 = 1.8</m:t>
                    </m:r>
                    <m:r>
                      <a:rPr lang="en-US" sz="2000" b="0" i="0" dirty="0" smtClean="0">
                        <a:latin typeface="Cambria Math" panose="02040503050406030204" pitchFamily="18" charset="0"/>
                        <a:ea typeface="Arial"/>
                        <a:cs typeface="Arial"/>
                        <a:sym typeface="Arial"/>
                      </a:rPr>
                      <m:t> </m:t>
                    </m:r>
                    <m:r>
                      <a:rPr lang="en-US" sz="2000" b="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0.86</m:t>
                    </m:r>
                  </m:oMath>
                </a14:m>
                <a:r>
                  <a:rPr lang="en-US" sz="2000" dirty="0">
                    <a:latin typeface="Atkinson Hyperlegible Next"/>
                    <a:ea typeface="Arial"/>
                    <a:cs typeface="Arial"/>
                    <a:sym typeface="Arial"/>
                  </a:rPr>
                  <a:t> (becoming a wall)</a:t>
                </a:r>
              </a:p>
              <a:p>
                <a:pPr marL="342900">
                  <a:lnSpc>
                    <a:spcPct val="200000"/>
                  </a:lnSpc>
                  <a:spcBef>
                    <a:spcPts val="0"/>
                  </a:spcBef>
                  <a:buSzPts val="3000"/>
                </a:pPr>
                <a:r>
                  <a:rPr lang="en-US" sz="2000" dirty="0">
                    <a:latin typeface="Atkinson Hyperlegible Next"/>
                    <a:ea typeface="Arial"/>
                    <a:cs typeface="Arial"/>
                    <a:sym typeface="Arial"/>
                  </a:rPr>
                  <a:t>A passing laser slices through: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1.8 − 0.4 = 1.4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0.80</m:t>
                    </m:r>
                  </m:oMath>
                </a14:m>
                <a:r>
                  <a:rPr lang="en-US" sz="2000" dirty="0">
                    <a:latin typeface="Atkinson Hyperlegible Next"/>
                    <a:ea typeface="Arial"/>
                    <a:cs typeface="Arial"/>
                    <a:sym typeface="Arial"/>
                  </a:rPr>
                  <a:t> (still wall, but weakening)</a:t>
                </a:r>
              </a:p>
              <a:p>
                <a:pPr marL="342900">
                  <a:lnSpc>
                    <a:spcPct val="200000"/>
                  </a:lnSpc>
                  <a:spcBef>
                    <a:spcPts val="0"/>
                  </a:spcBef>
                  <a:buSzPts val="3000"/>
                </a:pPr>
                <a:r>
                  <a:rPr lang="en-US" sz="2000" dirty="0">
                    <a:latin typeface="Atkinson Hyperlegible Next"/>
                    <a:ea typeface="Arial"/>
                    <a:cs typeface="Arial"/>
                    <a:sym typeface="Arial"/>
                  </a:rPr>
                  <a:t>After 5 clean passes: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1.8 − 5 × 0.4 = −0.2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0.45</m:t>
                    </m:r>
                  </m:oMath>
                </a14:m>
                <a:r>
                  <a:rPr lang="en-US" sz="2000" dirty="0">
                    <a:latin typeface="Atkinson Hyperlegible Next"/>
                    <a:ea typeface="Arial"/>
                    <a:cs typeface="Arial"/>
                    <a:sym typeface="Arial"/>
                  </a:rPr>
                  <a:t> (the “ghost” has dissolved)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−1</m:t>
                        </m:r>
                      </m:sub>
                    </m:sSub>
                    <m:r>
                      <a:rPr lang="en-US" sz="2000" b="0" i="1" smtClean="0">
                        <a:latin typeface="Cambria Math" panose="02040503050406030204" pitchFamily="18" charset="0"/>
                        <a:ea typeface="Arial"/>
                        <a:cs typeface="Arial"/>
                        <a:sym typeface="Arial"/>
                      </a:rPr>
                      <m:t>+</m:t>
                    </m:r>
                    <m:r>
                      <m:rPr>
                        <m:sty m:val="p"/>
                      </m:rPr>
                      <a:rPr lang="en-US" sz="2000" b="0" i="0" smtClean="0">
                        <a:latin typeface="Cambria Math" panose="02040503050406030204" pitchFamily="18" charset="0"/>
                        <a:ea typeface="Arial"/>
                        <a:cs typeface="Arial"/>
                        <a:sym typeface="Arial"/>
                      </a:rPr>
                      <m:t>Δ</m:t>
                    </m:r>
                    <m:r>
                      <a:rPr lang="en-US" sz="2000" b="0" i="1" smtClean="0">
                        <a:latin typeface="Cambria Math" panose="02040503050406030204" pitchFamily="18" charset="0"/>
                        <a:ea typeface="Arial"/>
                        <a:cs typeface="Arial"/>
                        <a:sym typeface="Arial"/>
                      </a:rPr>
                      <m:t>𝑙</m:t>
                    </m:r>
                  </m:oMath>
                </a14:m>
                <a:r>
                  <a:rPr lang="en-US" sz="2000" dirty="0">
                    <a:latin typeface="Atkinson Hyperlegible Next"/>
                    <a:ea typeface="Arial"/>
                    <a:cs typeface="Arial"/>
                    <a:sym typeface="Arial"/>
                  </a:rPr>
                  <a:t>, where </a:t>
                </a:r>
                <a14:m>
                  <m:oMath xmlns:m="http://schemas.openxmlformats.org/officeDocument/2006/math">
                    <m:r>
                      <m:rPr>
                        <m:sty m:val="p"/>
                      </m:rPr>
                      <a:rPr lang="en-US" sz="2000" b="0" i="0" smtClean="0">
                        <a:latin typeface="Cambria Math" panose="02040503050406030204" pitchFamily="18" charset="0"/>
                        <a:ea typeface="Arial"/>
                        <a:cs typeface="Arial"/>
                        <a:sym typeface="Arial"/>
                      </a:rPr>
                      <m:t>Δ</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h𝑖𝑡</m:t>
                        </m:r>
                      </m:sub>
                    </m:sSub>
                    <m:r>
                      <a:rPr lang="en-US" sz="2000" b="0" i="1" smtClean="0">
                        <a:latin typeface="Cambria Math" panose="02040503050406030204" pitchFamily="18" charset="0"/>
                        <a:ea typeface="Arial"/>
                        <a:cs typeface="Arial"/>
                        <a:sym typeface="Arial"/>
                      </a:rPr>
                      <m:t>=+0.9</m:t>
                    </m:r>
                  </m:oMath>
                </a14:m>
                <a:r>
                  <a:rPr lang="en-US" sz="2000" dirty="0">
                    <a:latin typeface="Atkinson Hyperlegible Next"/>
                    <a:ea typeface="Arial"/>
                    <a:cs typeface="Arial"/>
                    <a:sym typeface="Arial"/>
                  </a:rPr>
                  <a:t>, </a:t>
                </a:r>
                <a14:m>
                  <m:oMath xmlns:m="http://schemas.openxmlformats.org/officeDocument/2006/math">
                    <m:r>
                      <m:rPr>
                        <m:sty m:val="p"/>
                      </m:rPr>
                      <a:rPr lang="en-US" sz="2000" smtClean="0">
                        <a:latin typeface="Cambria Math" panose="02040503050406030204" pitchFamily="18" charset="0"/>
                        <a:ea typeface="Arial"/>
                        <a:cs typeface="Arial"/>
                        <a:sym typeface="Arial"/>
                      </a:rPr>
                      <m:t>Δ</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m:rPr>
                            <m:sty m:val="p"/>
                          </m:rPr>
                          <a:rPr lang="en-US" sz="2000" b="0" i="1" smtClean="0">
                            <a:latin typeface="Cambria Math" panose="02040503050406030204" pitchFamily="18" charset="0"/>
                            <a:ea typeface="Arial"/>
                            <a:cs typeface="Arial"/>
                            <a:sym typeface="Arial"/>
                          </a:rPr>
                          <m:t>free</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−0.4</m:t>
                    </m:r>
                  </m:oMath>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301CF62-D4B1-2B37-FB0D-105C66CBDAC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6E7C382-4B0D-076D-6C42-B41EFB231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32BAAD-72DB-3F42-AD35-625A0A8128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46F784-A823-E8BB-AB94-EE8A1261B7E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26A2D5-DDCD-77A4-71D9-2BD6BF731B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215B92-FD17-5573-298D-59DEABDD51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69BAC1-789B-EAC3-8BA1-0A1439DF65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31B222-914D-4535-69D2-68BE857941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9141D5-E6E1-896A-8A43-96B79CC6DD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28219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14B029-0862-D9A5-569D-F10FC2F304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32FA18-D1E9-230D-C91C-74EBF910416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is the problem with grid worlds?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They are very resolution dependent!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a 100 m × 100 m warehouse at 5 cm resolution: 4 million cells</a:t>
            </a:r>
          </a:p>
          <a:p>
            <a:pPr marL="342900">
              <a:lnSpc>
                <a:spcPct val="100000"/>
              </a:lnSpc>
              <a:spcBef>
                <a:spcPts val="0"/>
              </a:spcBef>
              <a:buSzPts val="3000"/>
            </a:pPr>
            <a:r>
              <a:rPr lang="en-US" sz="2000" dirty="0">
                <a:latin typeface="Atkinson Hyperlegible Next"/>
                <a:ea typeface="Arial"/>
                <a:cs typeface="Arial"/>
                <a:sym typeface="Arial"/>
              </a:rPr>
              <a:t>Drop to 1 cm resolution: 100 million cells - 25× more memory and 25× more update 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However, what is the problem with increase/decreasing the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Too coarse (&gt; 10 cm): doorways and chair legs vanish into “unknown”</a:t>
            </a:r>
          </a:p>
          <a:p>
            <a:pPr marL="342900">
              <a:lnSpc>
                <a:spcPct val="100000"/>
              </a:lnSpc>
              <a:spcBef>
                <a:spcPts val="0"/>
              </a:spcBef>
              <a:buSzPts val="3000"/>
            </a:pPr>
            <a:r>
              <a:rPr lang="en-US" sz="2000" dirty="0">
                <a:latin typeface="Atkinson Hyperlegible Next"/>
                <a:ea typeface="Arial"/>
                <a:cs typeface="Arial"/>
                <a:sym typeface="Arial"/>
              </a:rPr>
              <a:t>Too fine (&lt; 2 cm): RAM explodes, scan-match speed collapses, and sensor noise dominates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Rule of thumb: pick resolution ≈ the robot's smallest obstacle dimension / 2 (Essentially Nyquist resolution but for grid size)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EAF88BF-2DEF-0148-B069-4757C3B5114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6F97AD-9C49-5D84-6FBB-394B3470DA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9F87A2-A8F1-5100-5DB7-1ED44A2F570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5D9BCF-DF45-B4D6-14E2-BC45411FC0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A0760F-604E-D7E0-8C9B-4F48931CA8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91F77C-1318-5EE4-64FE-D0D4DAE96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398D4-3843-D254-0FA0-D301EF008A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A8A58E-2D39-29ED-8656-C7027B19DA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691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4793E4-AD31-4F31-CA29-A81E48E495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DED86C-ED0F-8531-DAC2-C816241EF8C1}"/>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other way is to represent the world as raw point clouds.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A point-cloud map stores only the (x, y) boundary coordinates - no cell structure, so it is less dependent on the available scale of the workspace</a:t>
            </a:r>
          </a:p>
          <a:p>
            <a:pPr marL="342900">
              <a:lnSpc>
                <a:spcPct val="100000"/>
              </a:lnSpc>
              <a:spcBef>
                <a:spcPts val="0"/>
              </a:spcBef>
              <a:buSzPts val="3000"/>
            </a:pPr>
            <a:r>
              <a:rPr lang="en-US" sz="2000" dirty="0">
                <a:latin typeface="Atkinson Hyperlegible Next"/>
                <a:ea typeface="Arial"/>
                <a:cs typeface="Arial"/>
                <a:sym typeface="Arial"/>
              </a:rPr>
              <a:t>Memory scales with the number of obstacles, not the area of the world</a:t>
            </a:r>
          </a:p>
          <a:p>
            <a:pPr marL="342900">
              <a:lnSpc>
                <a:spcPct val="100000"/>
              </a:lnSpc>
              <a:spcBef>
                <a:spcPts val="0"/>
              </a:spcBef>
              <a:buSzPts val="3000"/>
            </a:pPr>
            <a:r>
              <a:rPr lang="en-US" sz="2000" dirty="0">
                <a:latin typeface="Atkinson Hyperlegible Next"/>
                <a:ea typeface="Arial"/>
                <a:cs typeface="Arial"/>
                <a:sym typeface="Arial"/>
              </a:rPr>
              <a:t>Perfect for sparse environments (a warehouse with mostly empty aisles) or very large environment (going around a city in a car)</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Downside: there is no explicit “free space” - the planner must infer it by ray-casting on-the-fly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Often combined with </a:t>
            </a:r>
            <a:r>
              <a:rPr lang="en-US" sz="2000" b="1" dirty="0">
                <a:latin typeface="Atkinson Hyperlegible Next"/>
                <a:ea typeface="Arial"/>
                <a:cs typeface="Arial"/>
                <a:sym typeface="Arial"/>
              </a:rPr>
              <a:t>voxel </a:t>
            </a:r>
            <a:r>
              <a:rPr lang="en-US" sz="2000" b="1" dirty="0" err="1">
                <a:latin typeface="Atkinson Hyperlegible Next"/>
                <a:ea typeface="Arial"/>
                <a:cs typeface="Arial"/>
                <a:sym typeface="Arial"/>
              </a:rPr>
              <a:t>downsampling</a:t>
            </a:r>
            <a:r>
              <a:rPr lang="en-US" sz="2000" dirty="0">
                <a:latin typeface="Atkinson Hyperlegible Next"/>
                <a:ea typeface="Arial"/>
                <a:cs typeface="Arial"/>
                <a:sym typeface="Arial"/>
              </a:rPr>
              <a:t> (discretizing the point cloud into cubes / voxels) to bound memory in feature-dense regions. A bunch of point cloud coordinates are grouped up as a single voxel</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3C95B48-2C33-0F8F-B795-5AFDE84EC6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7B3630F-300E-8B6F-7C38-734E8FC16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41F392-427E-68B6-9C76-EE63EA9313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CBFCB1-D2EA-4B3F-88D1-4CF52A96E8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A002BCA-F895-5BEF-2887-6AAE658E6C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FDF971-8589-71B6-7DCF-44279D004E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48D08-148B-EBE5-27CB-0DD225E01A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1893C-1471-2B74-EA2B-5C39876A32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89397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2F4B75-D36C-6259-BD9D-B690A82F795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E9F046F-D78A-0707-B535-09A16C866E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38AE52-019D-8D5B-711A-34C7C05BF8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A5A412-C2B7-14D1-EE8F-592A220DBE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241BB-302C-7EB2-1A91-4D385FAEE4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DBB790-63DB-A54E-817B-00D3E1527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9DF100-39AB-DC40-EC3F-987ED8D4F4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7594F2-BEA4-3D25-2569-A115A6CF4D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AA5B05-739E-3A3C-3EFD-BAE313EA95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A2A8B24-400F-20A3-E930-8B47435FA00A}"/>
              </a:ext>
            </a:extLst>
          </p:cNvPr>
          <p:cNvSpPr>
            <a:spLocks noGrp="1"/>
          </p:cNvSpPr>
          <p:nvPr>
            <p:ph type="body" idx="1"/>
          </p:nvPr>
        </p:nvSpPr>
        <p:spPr/>
        <p:txBody>
          <a:bodyPr/>
          <a:lstStyle/>
          <a:p>
            <a:endParaRPr lang="en-US"/>
          </a:p>
        </p:txBody>
      </p:sp>
      <p:sp>
        <p:nvSpPr>
          <p:cNvPr id="5" name="TextBox 4">
            <a:extLst>
              <a:ext uri="{FF2B5EF4-FFF2-40B4-BE49-F238E27FC236}">
                <a16:creationId xmlns:a16="http://schemas.microsoft.com/office/drawing/2014/main" id="{3C5CC906-7B68-3CF9-498E-2A14B3CA7EFB}"/>
              </a:ext>
            </a:extLst>
          </p:cNvPr>
          <p:cNvSpPr txBox="1"/>
          <p:nvPr/>
        </p:nvSpPr>
        <p:spPr>
          <a:xfrm>
            <a:off x="3047456" y="6254396"/>
            <a:ext cx="6097088" cy="246221"/>
          </a:xfrm>
          <a:prstGeom prst="rect">
            <a:avLst/>
          </a:prstGeom>
          <a:noFill/>
        </p:spPr>
        <p:txBody>
          <a:bodyPr wrap="square">
            <a:spAutoFit/>
          </a:bodyPr>
          <a:lstStyle/>
          <a:p>
            <a:pPr algn="ctr"/>
            <a:r>
              <a:rPr lang="en-US" sz="1000" dirty="0">
                <a:hlinkClick r:id="rId4"/>
              </a:rPr>
              <a:t>https://link.springer.com/chapter/10.1007/978-3-030-20867-7_30</a:t>
            </a:r>
            <a:r>
              <a:rPr lang="en-US" sz="1000" dirty="0"/>
              <a:t> </a:t>
            </a:r>
          </a:p>
        </p:txBody>
      </p:sp>
      <p:pic>
        <p:nvPicPr>
          <p:cNvPr id="7" name="Picture 6" descr="Point cloud: a 3D lidar scan of a city street, colored by semantic class. The road surface is purple, trees are yellow, fences and low railings are teal, a street lamp and poles are blue, and a parked car and a bush are light green. It illustrates how a robot's sensors capture the surrounding world as labeled 3D points.">
            <a:extLst>
              <a:ext uri="{FF2B5EF4-FFF2-40B4-BE49-F238E27FC236}">
                <a16:creationId xmlns:a16="http://schemas.microsoft.com/office/drawing/2014/main" id="{CA4B0EBA-3591-752E-8B94-4DED076421FC}"/>
              </a:ext>
            </a:extLst>
          </p:cNvPr>
          <p:cNvPicPr>
            <a:picLocks noChangeAspect="1"/>
          </p:cNvPicPr>
          <p:nvPr/>
        </p:nvPicPr>
        <p:blipFill>
          <a:blip r:embed="rId5"/>
          <a:stretch>
            <a:fillRect/>
          </a:stretch>
        </p:blipFill>
        <p:spPr>
          <a:xfrm>
            <a:off x="265772" y="1291451"/>
            <a:ext cx="5237466" cy="4572000"/>
          </a:xfrm>
          <a:prstGeom prst="rect">
            <a:avLst/>
          </a:prstGeom>
        </p:spPr>
      </p:pic>
      <p:pic>
        <p:nvPicPr>
          <p:cNvPr id="9" name="Picture 8" descr="3D voxel occupancy map of an outdoor street scene, built from range-sensor data, where space is divided into small cubes marked occupied. Recognizable blocky shapes include a flat road surface, two parked cars, a long wall, lamp posts, bushes, and large tree canopies. It illustrates how a robot can represent the world as a volumetric grid for mapping and navigation.">
            <a:extLst>
              <a:ext uri="{FF2B5EF4-FFF2-40B4-BE49-F238E27FC236}">
                <a16:creationId xmlns:a16="http://schemas.microsoft.com/office/drawing/2014/main" id="{3EEBB267-9700-6CFC-7EAD-A4840F0915FE}"/>
              </a:ext>
            </a:extLst>
          </p:cNvPr>
          <p:cNvPicPr>
            <a:picLocks noChangeAspect="1"/>
          </p:cNvPicPr>
          <p:nvPr/>
        </p:nvPicPr>
        <p:blipFill>
          <a:blip r:embed="rId6"/>
          <a:stretch>
            <a:fillRect/>
          </a:stretch>
        </p:blipFill>
        <p:spPr>
          <a:xfrm>
            <a:off x="5799286" y="1291451"/>
            <a:ext cx="6139337" cy="4572000"/>
          </a:xfrm>
          <a:prstGeom prst="rect">
            <a:avLst/>
          </a:prstGeom>
        </p:spPr>
      </p:pic>
    </p:spTree>
    <p:extLst>
      <p:ext uri="{BB962C8B-B14F-4D97-AF65-F5344CB8AC3E}">
        <p14:creationId xmlns:p14="http://schemas.microsoft.com/office/powerpoint/2010/main" val="7290958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1D4C75-8AB2-2F37-4B9C-CC54D50A3B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CB3E9B-D834-92D8-537B-17619D4DA0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EF1385-34CE-4310-2D3F-44D556DDE6D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0DDCBA2-4160-9651-AD32-A15733471C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8726A71-748B-AB6D-C072-C40D461106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F360C8-7779-366A-CD26-C0511FC7F6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085FB-4D44-280E-B55E-73EAFAB871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864513-1DC1-98E5-D22B-0B6176FDF5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3BE22-1ABB-5B06-107D-4644EECA695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9949E2C-9A3C-27DE-905D-D2F0F1F55BFF}"/>
              </a:ext>
            </a:extLst>
          </p:cNvPr>
          <p:cNvGrpSpPr/>
          <p:nvPr/>
        </p:nvGrpSpPr>
        <p:grpSpPr>
          <a:xfrm>
            <a:off x="518160" y="1951799"/>
            <a:ext cx="5577840" cy="3566160"/>
            <a:chOff x="563880" y="1188720"/>
            <a:chExt cx="5577840" cy="3566160"/>
          </a:xfrm>
        </p:grpSpPr>
        <p:sp>
          <p:nvSpPr>
            <p:cNvPr id="4" name="Shape 2">
              <a:extLst>
                <a:ext uri="{FF2B5EF4-FFF2-40B4-BE49-F238E27FC236}">
                  <a16:creationId xmlns:a16="http://schemas.microsoft.com/office/drawing/2014/main" id="{79112EA6-344E-9F77-B3DF-6322D8365100}"/>
                </a:ext>
              </a:extLst>
            </p:cNvPr>
            <p:cNvSpPr/>
            <p:nvPr/>
          </p:nvSpPr>
          <p:spPr>
            <a:xfrm>
              <a:off x="563880" y="1188720"/>
              <a:ext cx="5577840" cy="3566160"/>
            </a:xfrm>
            <a:prstGeom prst="rect">
              <a:avLst/>
            </a:prstGeom>
            <a:solidFill>
              <a:srgbClr val="F1F5F9"/>
            </a:solidFill>
            <a:ln/>
          </p:spPr>
          <p:txBody>
            <a:bodyPr/>
            <a:lstStyle/>
            <a:p>
              <a:endParaRPr lang="en-US" dirty="0">
                <a:latin typeface="+mj-lt"/>
              </a:endParaRPr>
            </a:p>
          </p:txBody>
        </p:sp>
        <p:sp>
          <p:nvSpPr>
            <p:cNvPr id="5" name="Shape 3">
              <a:extLst>
                <a:ext uri="{FF2B5EF4-FFF2-40B4-BE49-F238E27FC236}">
                  <a16:creationId xmlns:a16="http://schemas.microsoft.com/office/drawing/2014/main" id="{68303C92-B30E-8AE0-E368-ACD9B2D20130}"/>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4">
              <a:extLst>
                <a:ext uri="{FF2B5EF4-FFF2-40B4-BE49-F238E27FC236}">
                  <a16:creationId xmlns:a16="http://schemas.microsoft.com/office/drawing/2014/main" id="{C7F44B11-61FC-61A0-9D57-0102DCF5210B}"/>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OCCUPANCY GRID</a:t>
              </a:r>
              <a:endParaRPr lang="en-US" sz="1400" dirty="0">
                <a:latin typeface="+mj-lt"/>
              </a:endParaRPr>
            </a:p>
          </p:txBody>
        </p:sp>
        <p:sp>
          <p:nvSpPr>
            <p:cNvPr id="7" name="Text 5">
              <a:extLst>
                <a:ext uri="{FF2B5EF4-FFF2-40B4-BE49-F238E27FC236}">
                  <a16:creationId xmlns:a16="http://schemas.microsoft.com/office/drawing/2014/main" id="{4AA31F8A-EEC0-A883-666E-E2151AF52BA4}"/>
                </a:ext>
              </a:extLst>
            </p:cNvPr>
            <p:cNvSpPr/>
            <p:nvPr/>
          </p:nvSpPr>
          <p:spPr>
            <a:xfrm>
              <a:off x="792480" y="1737360"/>
              <a:ext cx="512064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Explicit free-space representation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for the path planner to consume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Natural decay handles dynamic objects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Most ROS tooling expects this format</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RAM scales with area, not obstacle count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Fixed resolution limits detail</a:t>
              </a:r>
              <a:endParaRPr lang="en-US" sz="1400" dirty="0">
                <a:latin typeface="+mj-lt"/>
              </a:endParaRPr>
            </a:p>
          </p:txBody>
        </p:sp>
      </p:grpSp>
      <p:grpSp>
        <p:nvGrpSpPr>
          <p:cNvPr id="13" name="Group 12">
            <a:extLst>
              <a:ext uri="{FF2B5EF4-FFF2-40B4-BE49-F238E27FC236}">
                <a16:creationId xmlns:a16="http://schemas.microsoft.com/office/drawing/2014/main" id="{B4A78A4D-224C-06B1-D8CD-36C81D65AA1F}"/>
              </a:ext>
            </a:extLst>
          </p:cNvPr>
          <p:cNvGrpSpPr/>
          <p:nvPr/>
        </p:nvGrpSpPr>
        <p:grpSpPr>
          <a:xfrm>
            <a:off x="6370320" y="1951799"/>
            <a:ext cx="5212080" cy="3566160"/>
            <a:chOff x="6416040" y="1188720"/>
            <a:chExt cx="5212080" cy="3566160"/>
          </a:xfrm>
        </p:grpSpPr>
        <p:sp>
          <p:nvSpPr>
            <p:cNvPr id="8" name="Shape 6">
              <a:extLst>
                <a:ext uri="{FF2B5EF4-FFF2-40B4-BE49-F238E27FC236}">
                  <a16:creationId xmlns:a16="http://schemas.microsoft.com/office/drawing/2014/main" id="{49D81BB4-609D-FDF0-B9D1-9CEDD228ADA2}"/>
                </a:ext>
              </a:extLst>
            </p:cNvPr>
            <p:cNvSpPr/>
            <p:nvPr/>
          </p:nvSpPr>
          <p:spPr>
            <a:xfrm>
              <a:off x="6416040" y="1188720"/>
              <a:ext cx="5212080" cy="3566160"/>
            </a:xfrm>
            <a:prstGeom prst="rect">
              <a:avLst/>
            </a:prstGeom>
            <a:solidFill>
              <a:srgbClr val="F1F5F9"/>
            </a:solidFill>
            <a:ln/>
          </p:spPr>
          <p:txBody>
            <a:bodyPr/>
            <a:lstStyle/>
            <a:p>
              <a:endParaRPr lang="en-US">
                <a:latin typeface="+mj-lt"/>
              </a:endParaRPr>
            </a:p>
          </p:txBody>
        </p:sp>
        <p:sp>
          <p:nvSpPr>
            <p:cNvPr id="9" name="Shape 7">
              <a:extLst>
                <a:ext uri="{FF2B5EF4-FFF2-40B4-BE49-F238E27FC236}">
                  <a16:creationId xmlns:a16="http://schemas.microsoft.com/office/drawing/2014/main" id="{755A0AB7-00B6-B134-D674-2D2DCA7F44B0}"/>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8">
              <a:extLst>
                <a:ext uri="{FF2B5EF4-FFF2-40B4-BE49-F238E27FC236}">
                  <a16:creationId xmlns:a16="http://schemas.microsoft.com/office/drawing/2014/main" id="{4291CF37-A81C-B80B-13DB-D4302770790A}"/>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POINT CLOUD / SUBMAP</a:t>
              </a:r>
              <a:endParaRPr lang="en-US" sz="1400" dirty="0">
                <a:latin typeface="+mj-lt"/>
              </a:endParaRPr>
            </a:p>
          </p:txBody>
        </p:sp>
        <p:sp>
          <p:nvSpPr>
            <p:cNvPr id="11" name="Text 9">
              <a:extLst>
                <a:ext uri="{FF2B5EF4-FFF2-40B4-BE49-F238E27FC236}">
                  <a16:creationId xmlns:a16="http://schemas.microsoft.com/office/drawing/2014/main" id="{559C3CD8-950B-394A-A40C-7EB086CE3076}"/>
                </a:ext>
              </a:extLst>
            </p:cNvPr>
            <p:cNvSpPr/>
            <p:nvPr/>
          </p:nvSpPr>
          <p:spPr>
            <a:xfrm>
              <a:off x="6644640" y="1737360"/>
              <a:ext cx="475488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Memory scales with obstacles only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Can store continuous real coordinates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Great for outdoor or sparse indoor</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to stitch multiple submaps</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explicit free space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Planner must ray-cast at query time</a:t>
              </a:r>
              <a:endParaRPr lang="en-US" sz="1400" dirty="0">
                <a:latin typeface="+mj-lt"/>
              </a:endParaRPr>
            </a:p>
          </p:txBody>
        </p:sp>
      </p:grpSp>
    </p:spTree>
    <p:extLst>
      <p:ext uri="{BB962C8B-B14F-4D97-AF65-F5344CB8AC3E}">
        <p14:creationId xmlns:p14="http://schemas.microsoft.com/office/powerpoint/2010/main" val="22245797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0A75115-836B-D5D8-F16D-CA13E2BA094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309C1B-B048-F6BD-B128-68D802B6D19F}"/>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B00A68FC-11C4-1F9D-FCF2-409A0DD19576}"/>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Drift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F3667CB-7BB4-87B2-F730-2B19A2B2A44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95C2023-5369-C823-EC9F-12709719AC2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AFCDA84-666C-4785-B222-5E5EF13F5BB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148D001-C0D1-6C8B-C5E1-020D84A445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299E900C-7636-2F3C-2B0A-96FEA9DEF9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EEB235C-7355-475C-0E8A-27274A703C5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B95327FE-C2CD-43A8-A7B4-774C2ABE39CC}"/>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F1008A-B044-BDED-AFFC-5AFC47238DC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42261846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9239CB-E12E-8935-126D-0EE13C19D2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7509F33-9AE9-D49E-71C3-D156AEDFAC2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scan match injects a tiny error - maybe 0.5 mm, maybe 0.01°, because the sensor is inaccurate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That error is added to the next pose estimate - not averaged against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10,000 matches, errors compound: 0.5 mm × 10,000 = 5 meters of position drift</a:t>
            </a:r>
          </a:p>
          <a:p>
            <a:pPr marL="0" indent="0">
              <a:lnSpc>
                <a:spcPct val="100000"/>
              </a:lnSpc>
              <a:spcBef>
                <a:spcPts val="0"/>
              </a:spcBef>
              <a:buSzPts val="3000"/>
              <a:buNone/>
            </a:pPr>
            <a:r>
              <a:rPr lang="en-US" sz="2000" dirty="0">
                <a:latin typeface="Atkinson Hyperlegible Next"/>
                <a:ea typeface="Arial"/>
                <a:cs typeface="Arial"/>
                <a:sym typeface="Arial"/>
              </a:rPr>
              <a:t>Rotational drift is even worse - 0.01° × 10,000 = 100° of cumulative heading error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Our carefully optimized local pose is wonderful, but our global trajectory is horrible!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8A4665F-638B-EDEB-CE7D-68B3FA48F9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44492F-4E57-E82D-5065-9D447F9F81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860A4A-F2F8-2D72-AC9B-8BFFA11837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28BC97-DCB1-3802-CDCE-0F8C2C0E84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DE263B-2B00-208C-3845-6AFACFDD21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DC90EC-44F2-B7E6-2AAB-FCF3654EF5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9595B2-8E45-7367-DF88-AA9690C05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A1E0B3-95AC-9C88-5182-05B680BA68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6901513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55F31-D0C2-B13B-B563-F636E6A67CE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86E25A-EEA8-6DCE-7F63-B434D8CF1F1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Classic failure: robot maps a big circular corridor, returns to the start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at the end overlaps the map from the start - but the geometry doesn't match up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walls appear doubled - the same physical wall drawn at two slightly different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Corridors bend, right angles become slight curves, the whole map subtly warps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is locally correct </a:t>
            </a:r>
            <a:r>
              <a:rPr lang="en-US" sz="2000" b="1" dirty="0">
                <a:latin typeface="Atkinson Hyperlegible Next"/>
                <a:ea typeface="Arial"/>
                <a:cs typeface="Arial"/>
                <a:sym typeface="Arial"/>
              </a:rPr>
              <a:t>everywhere</a:t>
            </a:r>
            <a:r>
              <a:rPr lang="en-US" sz="2000" dirty="0">
                <a:latin typeface="Atkinson Hyperlegible Next"/>
                <a:ea typeface="Arial"/>
                <a:cs typeface="Arial"/>
                <a:sym typeface="Arial"/>
              </a:rPr>
              <a:t> but globally wrong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6CD0DF0-C85D-BBBC-2683-40DA37E46A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722E7EC-916E-9511-3546-ED6C1F16BB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7445F9-E1D5-B34E-5863-EE158FFCE6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7F49F6D-DB13-5742-B2C5-7EEF6794A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8183DC-0AC5-6A45-D5DE-F21148A1F2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AD05F2-949B-6EBA-0958-6CCC6657268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3B8F4F-9343-0DDB-3911-789A4E855D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5C9D5D-784A-CFC4-4B63-8DB9B7E35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74524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6AD055-4FDE-5AA0-8189-CB79519E900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B3D2784-6C96-5BF1-DC1C-14A9862479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5205B78-74F3-512A-CECC-D400A53462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C8D6F0-65B3-3EC0-93DC-9C8C154B5A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4EA4C4-6771-A728-3AF4-9DD0C44179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1F8F90-5BBB-BC68-E40B-3B287EA52E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D6D66A-4F8E-72A1-DDEE-214333393C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9F802D-2C21-220E-81D3-EABB1BBECB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97BEDF-17B8-13E5-0DD3-6664BD789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Two side-by-side laser-scan maps of the same corridor junction, with a 2 m scale bar and the robot's path in gray. Scans from two passes are shown in red and blue. In (a), without loop closure, the passes are offset by up to about a meter, producing doubled, misaligned walls. In (b), with loop closure, the red and blue walls overlap into a single consistent map, showing how loop closure corrects accumulated drift.">
            <a:extLst>
              <a:ext uri="{FF2B5EF4-FFF2-40B4-BE49-F238E27FC236}">
                <a16:creationId xmlns:a16="http://schemas.microsoft.com/office/drawing/2014/main" id="{6ACD4586-5708-226D-D134-AD3D211B74E6}"/>
              </a:ext>
            </a:extLst>
          </p:cNvPr>
          <p:cNvPicPr>
            <a:picLocks noChangeAspect="1"/>
          </p:cNvPicPr>
          <p:nvPr/>
        </p:nvPicPr>
        <p:blipFill>
          <a:blip r:embed="rId4"/>
          <a:stretch>
            <a:fillRect/>
          </a:stretch>
        </p:blipFill>
        <p:spPr>
          <a:xfrm>
            <a:off x="2507133" y="3214713"/>
            <a:ext cx="6649377" cy="2644761"/>
          </a:xfrm>
          <a:prstGeom prst="rect">
            <a:avLst/>
          </a:prstGeom>
        </p:spPr>
      </p:pic>
      <p:pic>
        <p:nvPicPr>
          <p:cNvPr id="7" name="Picture 6" descr="Two-panel figure illustrating scan matching for robot pose correction. Left: a green wall outline scanned at the Start position and a blue outline scanned at the End position are misaligned, rotated and shifted, because the End pose from dead reckoning (dashed path) is wrong. Right: after the blue scan is rotated and translated to match the green one, the outlines overlap closely and the corrected robot position is marked &quot;update_End&quot;.">
            <a:extLst>
              <a:ext uri="{FF2B5EF4-FFF2-40B4-BE49-F238E27FC236}">
                <a16:creationId xmlns:a16="http://schemas.microsoft.com/office/drawing/2014/main" id="{6A00BD3A-0A73-8147-BEE2-AD09DE9C544B}"/>
              </a:ext>
            </a:extLst>
          </p:cNvPr>
          <p:cNvPicPr>
            <a:picLocks noChangeAspect="1"/>
          </p:cNvPicPr>
          <p:nvPr/>
        </p:nvPicPr>
        <p:blipFill>
          <a:blip r:embed="rId5"/>
          <a:stretch>
            <a:fillRect/>
          </a:stretch>
        </p:blipFill>
        <p:spPr>
          <a:xfrm>
            <a:off x="1695749" y="906290"/>
            <a:ext cx="8272147" cy="2127884"/>
          </a:xfrm>
          <a:prstGeom prst="rect">
            <a:avLst/>
          </a:prstGeom>
        </p:spPr>
      </p:pic>
      <p:sp>
        <p:nvSpPr>
          <p:cNvPr id="9" name="TextBox 8">
            <a:extLst>
              <a:ext uri="{FF2B5EF4-FFF2-40B4-BE49-F238E27FC236}">
                <a16:creationId xmlns:a16="http://schemas.microsoft.com/office/drawing/2014/main" id="{27E9F852-8EFE-89A1-65B3-5B99FF8A265C}"/>
              </a:ext>
            </a:extLst>
          </p:cNvPr>
          <p:cNvSpPr txBox="1"/>
          <p:nvPr/>
        </p:nvSpPr>
        <p:spPr>
          <a:xfrm>
            <a:off x="3531056" y="6277819"/>
            <a:ext cx="6235886" cy="246221"/>
          </a:xfrm>
          <a:prstGeom prst="rect">
            <a:avLst/>
          </a:prstGeom>
          <a:noFill/>
        </p:spPr>
        <p:txBody>
          <a:bodyPr wrap="square">
            <a:spAutoFit/>
          </a:bodyPr>
          <a:lstStyle/>
          <a:p>
            <a:pPr algn="ctr"/>
            <a:r>
              <a:rPr lang="en-US" sz="1000" dirty="0">
                <a:hlinkClick r:id="rId6"/>
              </a:rPr>
              <a:t>https://www.sciencedirect.com/science/article/pii/S1568494619302339</a:t>
            </a:r>
            <a:r>
              <a:rPr lang="en-US" sz="1000" dirty="0"/>
              <a:t> (Sorry for the horrible image quality!)</a:t>
            </a:r>
          </a:p>
        </p:txBody>
      </p:sp>
    </p:spTree>
    <p:extLst>
      <p:ext uri="{BB962C8B-B14F-4D97-AF65-F5344CB8AC3E}">
        <p14:creationId xmlns:p14="http://schemas.microsoft.com/office/powerpoint/2010/main" val="2779780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94BE8-4ABA-E401-DDC3-2C2EFD410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8FCC9A-316B-BF98-3C8E-B3982BAF899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you are continuously going in a circle where every meter the wall changes color, and you end up drifting, is there something that might help you figure out if you have drifted or how to correct for that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robot can </a:t>
            </a:r>
            <a:r>
              <a:rPr lang="en-US" sz="2000" b="1" dirty="0">
                <a:latin typeface="Atkinson Hyperlegible Next"/>
                <a:ea typeface="Arial"/>
                <a:cs typeface="Arial"/>
                <a:sym typeface="Arial"/>
              </a:rPr>
              <a:t>detect</a:t>
            </a:r>
            <a:r>
              <a:rPr lang="en-US" sz="2000" dirty="0">
                <a:latin typeface="Atkinson Hyperlegible Next"/>
                <a:ea typeface="Arial"/>
                <a:cs typeface="Arial"/>
                <a:sym typeface="Arial"/>
              </a:rPr>
              <a:t> that it has returned to a previously-mapped location…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immediately knows </a:t>
            </a:r>
            <a:r>
              <a:rPr lang="en-US" sz="2000" b="1" dirty="0">
                <a:latin typeface="Atkinson Hyperlegible Next"/>
                <a:ea typeface="Arial"/>
                <a:cs typeface="Arial"/>
                <a:sym typeface="Arial"/>
              </a:rPr>
              <a:t>exactly</a:t>
            </a:r>
            <a:r>
              <a:rPr lang="en-US" sz="2000" dirty="0">
                <a:latin typeface="Atkinson Hyperlegible Next"/>
                <a:ea typeface="Arial"/>
                <a:cs typeface="Arial"/>
                <a:sym typeface="Arial"/>
              </a:rPr>
              <a:t> how much total drift accumulated over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it can then distribute that error correction backward through every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a:latin typeface="Atkinson Hyperlegible Next"/>
                <a:ea typeface="Arial"/>
                <a:cs typeface="Arial"/>
                <a:sym typeface="Arial"/>
              </a:rPr>
              <a:t>single most important trick </a:t>
            </a:r>
            <a:r>
              <a:rPr lang="en-US" sz="2000" dirty="0">
                <a:latin typeface="Atkinson Hyperlegible Next"/>
                <a:ea typeface="Arial"/>
                <a:cs typeface="Arial"/>
                <a:sym typeface="Arial"/>
              </a:rPr>
              <a:t>in modern SLAM - without it, long runs are impossible!</a:t>
            </a:r>
          </a:p>
        </p:txBody>
      </p:sp>
      <p:sp>
        <p:nvSpPr>
          <p:cNvPr id="119" name="Google Shape;119;p29">
            <a:extLst>
              <a:ext uri="{FF2B5EF4-FFF2-40B4-BE49-F238E27FC236}">
                <a16:creationId xmlns:a16="http://schemas.microsoft.com/office/drawing/2014/main" id="{D9E4AFA1-AF02-8B8E-1BC2-265D88524F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9EE7C2-D410-F1D3-99BF-F3EFB1C4B55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365D4B1-B882-9902-0EB5-9CED69305A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7DB4-8CDD-3C45-A01B-134183F571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1D51A1-F58B-6F85-FCB0-8FA1E64116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801DC-3DE2-0186-37C4-807B453C81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7E8DB-7BEC-C48A-40FE-FF731B7A5D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BCC009-FD1F-C88F-9462-914B925B9A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77484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1E06BB4-03F7-56B6-426D-DAE8FAB76C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5A5D4B-3FB4-4D4E-72FF-AF5515BD2D58}"/>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367898EE-0D3A-47B9-FB14-2A9DF7880D1E}"/>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The Back-End</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85DDF02-A0EE-02DC-20FE-7BA723DDCD4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C5EC0FD-0B30-7E0A-1572-E703A166FA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B58D21D-0F66-6D8D-AB6D-BCF7535E06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E5E6C816-79FB-6E5F-9984-B410D98916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0687FF44-267D-D3C1-CC68-DC8F2BE236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F2C5EAD5-905F-B91A-71FB-91E84294C689}"/>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2E3EED6-ACF0-A668-2871-4DF99F9A91A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E77591-AEA9-43D3-89D1-32373F44D9B4}"/>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62235104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87DD6F-C188-465A-3028-091ADB59FE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606BAFD-54E3-C35F-2224-AC55826B30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BA162C-7180-1CB9-5B38-6D6E83DFEF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Modern SLAM: Front-End vs Back-End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A4A0EB1-73DE-7873-14D0-54852B328A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5BD2F6-7678-59D3-6E90-D843D0912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8ACF1B-010A-E840-8F9C-36E9B346B1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C32C97-E502-BDF7-49A2-3261D2845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1FA69-94C5-8F5F-34FA-7BFE26E03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69F905-B208-F803-9A5B-A14B78966E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65B3411-E44C-406A-7FF2-9433ED9DC6F9}"/>
              </a:ext>
            </a:extLst>
          </p:cNvPr>
          <p:cNvGrpSpPr/>
          <p:nvPr/>
        </p:nvGrpSpPr>
        <p:grpSpPr>
          <a:xfrm>
            <a:off x="493269" y="2257682"/>
            <a:ext cx="5577840" cy="2599509"/>
            <a:chOff x="563880" y="1188720"/>
            <a:chExt cx="5577840" cy="2599509"/>
          </a:xfrm>
        </p:grpSpPr>
        <p:sp>
          <p:nvSpPr>
            <p:cNvPr id="4" name="Shape 3">
              <a:extLst>
                <a:ext uri="{FF2B5EF4-FFF2-40B4-BE49-F238E27FC236}">
                  <a16:creationId xmlns:a16="http://schemas.microsoft.com/office/drawing/2014/main" id="{0165D7D3-D630-2E69-B86B-8FA2FC401C37}"/>
                </a:ext>
              </a:extLst>
            </p:cNvPr>
            <p:cNvSpPr/>
            <p:nvPr/>
          </p:nvSpPr>
          <p:spPr>
            <a:xfrm>
              <a:off x="563880" y="1188720"/>
              <a:ext cx="5577840" cy="2599509"/>
            </a:xfrm>
            <a:prstGeom prst="rect">
              <a:avLst/>
            </a:prstGeom>
            <a:solidFill>
              <a:srgbClr val="F1F5F9"/>
            </a:solidFill>
            <a:ln/>
          </p:spPr>
          <p:txBody>
            <a:bodyPr/>
            <a:lstStyle/>
            <a:p>
              <a:endParaRPr lang="en-US">
                <a:latin typeface="+mj-lt"/>
              </a:endParaRPr>
            </a:p>
          </p:txBody>
        </p:sp>
        <p:sp>
          <p:nvSpPr>
            <p:cNvPr id="5" name="Shape 4">
              <a:extLst>
                <a:ext uri="{FF2B5EF4-FFF2-40B4-BE49-F238E27FC236}">
                  <a16:creationId xmlns:a16="http://schemas.microsoft.com/office/drawing/2014/main" id="{C48F64F2-A6CE-66E9-DE72-48A7428AFAEE}"/>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5">
              <a:extLst>
                <a:ext uri="{FF2B5EF4-FFF2-40B4-BE49-F238E27FC236}">
                  <a16:creationId xmlns:a16="http://schemas.microsoft.com/office/drawing/2014/main" id="{2586DF8B-BA9C-064E-44E9-AF81208AC267}"/>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FRONT-END</a:t>
              </a:r>
              <a:endParaRPr lang="en-US" sz="1400" dirty="0">
                <a:latin typeface="+mj-lt"/>
              </a:endParaRPr>
            </a:p>
          </p:txBody>
        </p:sp>
        <p:sp>
          <p:nvSpPr>
            <p:cNvPr id="7" name="Text 6">
              <a:extLst>
                <a:ext uri="{FF2B5EF4-FFF2-40B4-BE49-F238E27FC236}">
                  <a16:creationId xmlns:a16="http://schemas.microsoft.com/office/drawing/2014/main" id="{CB73481E-C823-5E7D-643C-03CE4CA31C4E}"/>
                </a:ext>
              </a:extLst>
            </p:cNvPr>
            <p:cNvSpPr/>
            <p:nvPr/>
          </p:nvSpPr>
          <p:spPr>
            <a:xfrm>
              <a:off x="792480" y="1737360"/>
              <a:ext cx="512064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at sensor rate (10-100 Hz)</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raw LiDAR + odometry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relative transforms between consecutive poses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ICP variants, RANSAC</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produce the best </a:t>
              </a:r>
              <a:r>
                <a:rPr lang="en-US" sz="1400" b="1" dirty="0">
                  <a:solidFill>
                    <a:srgbClr val="1E293B"/>
                  </a:solidFill>
                  <a:latin typeface="+mj-lt"/>
                  <a:ea typeface="Calibri" pitchFamily="34" charset="-122"/>
                  <a:cs typeface="Calibri" pitchFamily="34" charset="-120"/>
                </a:rPr>
                <a:t>short-term</a:t>
              </a:r>
              <a:r>
                <a:rPr lang="en-US" sz="1400" dirty="0">
                  <a:solidFill>
                    <a:srgbClr val="1E293B"/>
                  </a:solidFill>
                  <a:latin typeface="+mj-lt"/>
                  <a:ea typeface="Calibri" pitchFamily="34" charset="-122"/>
                  <a:cs typeface="Calibri" pitchFamily="34" charset="-120"/>
                </a:rPr>
                <a:t> motion estimate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“now”</a:t>
              </a:r>
              <a:endParaRPr lang="en-US" sz="1400" dirty="0">
                <a:latin typeface="+mj-lt"/>
              </a:endParaRPr>
            </a:p>
          </p:txBody>
        </p:sp>
      </p:grpSp>
      <p:grpSp>
        <p:nvGrpSpPr>
          <p:cNvPr id="13" name="Group 12">
            <a:extLst>
              <a:ext uri="{FF2B5EF4-FFF2-40B4-BE49-F238E27FC236}">
                <a16:creationId xmlns:a16="http://schemas.microsoft.com/office/drawing/2014/main" id="{F0DE5590-7399-51F6-29DA-CA703FEEFDB5}"/>
              </a:ext>
            </a:extLst>
          </p:cNvPr>
          <p:cNvGrpSpPr/>
          <p:nvPr/>
        </p:nvGrpSpPr>
        <p:grpSpPr>
          <a:xfrm>
            <a:off x="6345429" y="2257682"/>
            <a:ext cx="5212080" cy="2599509"/>
            <a:chOff x="6416040" y="1188720"/>
            <a:chExt cx="5212080" cy="2599509"/>
          </a:xfrm>
        </p:grpSpPr>
        <p:sp>
          <p:nvSpPr>
            <p:cNvPr id="8" name="Shape 7">
              <a:extLst>
                <a:ext uri="{FF2B5EF4-FFF2-40B4-BE49-F238E27FC236}">
                  <a16:creationId xmlns:a16="http://schemas.microsoft.com/office/drawing/2014/main" id="{FA7A9FCF-EC8B-BD5B-70B4-4251ACCDB46C}"/>
                </a:ext>
              </a:extLst>
            </p:cNvPr>
            <p:cNvSpPr/>
            <p:nvPr/>
          </p:nvSpPr>
          <p:spPr>
            <a:xfrm>
              <a:off x="6416040" y="1188720"/>
              <a:ext cx="5212080" cy="2599509"/>
            </a:xfrm>
            <a:prstGeom prst="rect">
              <a:avLst/>
            </a:prstGeom>
            <a:solidFill>
              <a:srgbClr val="F1F5F9"/>
            </a:solidFill>
            <a:ln/>
          </p:spPr>
          <p:txBody>
            <a:bodyPr/>
            <a:lstStyle/>
            <a:p>
              <a:endParaRPr lang="en-US">
                <a:latin typeface="+mj-lt"/>
              </a:endParaRPr>
            </a:p>
          </p:txBody>
        </p:sp>
        <p:sp>
          <p:nvSpPr>
            <p:cNvPr id="9" name="Shape 8">
              <a:extLst>
                <a:ext uri="{FF2B5EF4-FFF2-40B4-BE49-F238E27FC236}">
                  <a16:creationId xmlns:a16="http://schemas.microsoft.com/office/drawing/2014/main" id="{03254C55-5208-8CE7-2D13-33E3D2AB882B}"/>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9">
              <a:extLst>
                <a:ext uri="{FF2B5EF4-FFF2-40B4-BE49-F238E27FC236}">
                  <a16:creationId xmlns:a16="http://schemas.microsoft.com/office/drawing/2014/main" id="{D689B081-2483-6119-6EC1-07A8B6C5263F}"/>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BACK-END</a:t>
              </a:r>
              <a:endParaRPr lang="en-US" sz="1400" dirty="0">
                <a:latin typeface="+mj-lt"/>
              </a:endParaRPr>
            </a:p>
          </p:txBody>
        </p:sp>
        <p:sp>
          <p:nvSpPr>
            <p:cNvPr id="11" name="Text 10">
              <a:extLst>
                <a:ext uri="{FF2B5EF4-FFF2-40B4-BE49-F238E27FC236}">
                  <a16:creationId xmlns:a16="http://schemas.microsoft.com/office/drawing/2014/main" id="{84B875B7-3753-6EDA-1677-B9CF18E5E207}"/>
                </a:ext>
              </a:extLst>
            </p:cNvPr>
            <p:cNvSpPr/>
            <p:nvPr/>
          </p:nvSpPr>
          <p:spPr>
            <a:xfrm>
              <a:off x="6644640" y="1737360"/>
              <a:ext cx="475488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slower (1-5 Hz) or asynchronously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stream of relative transforms + loop detections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globally optimized trajectory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Gauss-Newton, Levenberg-Marquardt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redistribute accumulated error </a:t>
              </a:r>
              <a:r>
                <a:rPr lang="en-US" sz="1400" b="1" dirty="0">
                  <a:solidFill>
                    <a:srgbClr val="1E293B"/>
                  </a:solidFill>
                  <a:latin typeface="+mj-lt"/>
                  <a:ea typeface="Calibri" pitchFamily="34" charset="-122"/>
                  <a:cs typeface="Calibri" pitchFamily="34" charset="-120"/>
                </a:rPr>
                <a:t>globally</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“history”</a:t>
              </a:r>
              <a:endParaRPr lang="en-US" sz="1400" dirty="0">
                <a:latin typeface="+mj-lt"/>
              </a:endParaRPr>
            </a:p>
          </p:txBody>
        </p:sp>
      </p:grpSp>
    </p:spTree>
    <p:extLst>
      <p:ext uri="{BB962C8B-B14F-4D97-AF65-F5344CB8AC3E}">
        <p14:creationId xmlns:p14="http://schemas.microsoft.com/office/powerpoint/2010/main" val="5019655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0A3A2E5-46CD-CEBC-676C-58B152B03A0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66924DE-67E0-47F3-05F9-70C26DE196D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Pose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0EE66E9-233B-3AF0-B92A-2E4498A6300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62331E9-7B8E-7734-8396-07321BEEA95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9C20F1-F438-8E77-666C-E3A7D2C4EB6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915A59D-DE2F-240C-E3E2-503044279F7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EFB1E3E-35ED-95C9-BBB7-B04DF8E46C2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351975C7-A60D-E357-F477-DB518400A67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8FFD360C-6566-C1F7-8786-80D375B9AA2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D1040A0-1ADC-6619-0B6F-E1B6126442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5ED3D8-87F0-429E-388C-D29D06503A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207297585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18810F-B922-3FF7-B28F-1D8E122F1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474952-7700-4827-DB36-762EE41C57FF}"/>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Forget point clouds for a moment. Think of SLAM as a physical spring network.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nodes</a:t>
            </a:r>
            <a:r>
              <a:rPr lang="en-US" sz="2000" dirty="0">
                <a:latin typeface="Atkinson Hyperlegible Next"/>
                <a:ea typeface="Arial"/>
                <a:cs typeface="Arial"/>
                <a:sym typeface="Arial"/>
              </a:rPr>
              <a:t> are the robot's poses at specific timestamps - one per keyframe</a:t>
            </a:r>
          </a:p>
          <a:p>
            <a:pPr marL="342900">
              <a:lnSpc>
                <a:spcPct val="100000"/>
              </a:lnSpc>
              <a:spcBef>
                <a:spcPts val="0"/>
              </a:spcBef>
              <a:buSzPts val="3000"/>
            </a:pPr>
            <a:r>
              <a:rPr lang="en-US" sz="2000" b="1" dirty="0">
                <a:latin typeface="Atkinson Hyperlegible Next"/>
                <a:ea typeface="Arial"/>
                <a:cs typeface="Arial"/>
                <a:sym typeface="Arial"/>
              </a:rPr>
              <a:t>edges</a:t>
            </a:r>
            <a:r>
              <a:rPr lang="en-US" sz="2000" dirty="0">
                <a:latin typeface="Atkinson Hyperlegible Next"/>
                <a:ea typeface="Arial"/>
                <a:cs typeface="Arial"/>
                <a:sym typeface="Arial"/>
              </a:rPr>
              <a:t> are constraints between two poses – “these two nodes should be 1 m apart”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is a “spring” with a natural length (the measurement) and a stiffness (the confidence)</a:t>
            </a:r>
          </a:p>
          <a:p>
            <a:pPr marL="0" indent="0">
              <a:lnSpc>
                <a:spcPct val="100000"/>
              </a:lnSpc>
              <a:spcBef>
                <a:spcPts val="0"/>
              </a:spcBef>
              <a:buSzPts val="3000"/>
              <a:buNone/>
            </a:pPr>
            <a:r>
              <a:rPr lang="en-US" sz="2000" dirty="0">
                <a:latin typeface="Atkinson Hyperlegible Next"/>
                <a:ea typeface="Arial"/>
                <a:cs typeface="Arial"/>
                <a:sym typeface="Arial"/>
              </a:rPr>
              <a:t>A loop closure is a new edge that suddenly pulls two distant nodes together</a:t>
            </a:r>
          </a:p>
          <a:p>
            <a:pPr marL="0" indent="0">
              <a:lnSpc>
                <a:spcPct val="100000"/>
              </a:lnSpc>
              <a:spcBef>
                <a:spcPts val="0"/>
              </a:spcBef>
              <a:buSzPts val="3000"/>
              <a:buNone/>
            </a:pPr>
            <a:r>
              <a:rPr lang="en-US" sz="2000" dirty="0">
                <a:latin typeface="Atkinson Hyperlegible Next"/>
                <a:ea typeface="Arial"/>
                <a:cs typeface="Arial"/>
                <a:sym typeface="Arial"/>
              </a:rPr>
              <a:t>When the graph is “relaxed” to minimum energy, all edge tensions are balanced - and that's the optimal trajectory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086DBCD-B1D0-3916-7514-29DD0ADCE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0C68FA-CBA8-3603-81AD-0EFDCA1655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E8A528-D16A-D505-30C1-499FCF539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9DB76-26F7-066A-983F-5E5C0EDFFC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6535A1-111D-5C74-2573-BF523A0F1F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C7229D-ACC4-FE8C-0DE2-AFD7209B81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27ACA34-F9D2-E9CB-79F3-CBFE10BEEB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AE531-8879-DA82-0419-C9F9674F4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817E7B6D-2F59-38A8-86FE-2CAD628848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E5AA5C1F-57C9-F0D6-3163-98BBA5A2213A}"/>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Tree>
    <p:extLst>
      <p:ext uri="{BB962C8B-B14F-4D97-AF65-F5344CB8AC3E}">
        <p14:creationId xmlns:p14="http://schemas.microsoft.com/office/powerpoint/2010/main" val="2256096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A8D0AC-B337-B255-3602-7DD090512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E8C0EFB-76C0-8DFD-8D20-D8162F6B54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034FC8A-F9BA-1D2C-7F10-C7E9AAA9F2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BD5E19-C943-0896-3D56-81E279209E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3967A1-EA0B-F998-E0DC-CED902D05F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BB53AB-AC83-2A31-A0D0-0040F43A1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3A6B77-10AE-A657-4D97-B234F2B3B3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620DCD-B516-AFD1-01D7-BAF315E2FC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9E841C-1F2D-4F62-8920-021B7B570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7" name="TextBox 6">
            <a:extLst>
              <a:ext uri="{FF2B5EF4-FFF2-40B4-BE49-F238E27FC236}">
                <a16:creationId xmlns:a16="http://schemas.microsoft.com/office/drawing/2014/main" id="{69A8CE52-34A4-6E13-93B0-DB71A9B5492A}"/>
              </a:ext>
            </a:extLst>
          </p:cNvPr>
          <p:cNvSpPr txBox="1"/>
          <p:nvPr/>
        </p:nvSpPr>
        <p:spPr>
          <a:xfrm>
            <a:off x="3893630" y="6295592"/>
            <a:ext cx="3876386" cy="246221"/>
          </a:xfrm>
          <a:prstGeom prst="rect">
            <a:avLst/>
          </a:prstGeom>
          <a:noFill/>
        </p:spPr>
        <p:txBody>
          <a:bodyPr wrap="square">
            <a:spAutoFit/>
          </a:bodyPr>
          <a:lstStyle/>
          <a:p>
            <a:pPr algn="ctr"/>
            <a:r>
              <a:rPr lang="en-US" sz="1000" dirty="0"/>
              <a:t>https://federicosarrocco.com/blog/graph-slam-tutorial</a:t>
            </a:r>
          </a:p>
        </p:txBody>
      </p:sp>
      <p:pic>
        <p:nvPicPr>
          <p:cNvPr id="1026" name="Picture 2" descr="Plot titled &quot;Optimization Step 0&quot;: the unoptimized initial pose graph. Blue nodes joined by a blue line trace the robot trajectory in a back-and-forth lawnmower pattern, starting at (0, 0) and covering five rows from x of 0 to about 95, at y of about 0, 10, 20, 30 and 40, ending near (93, 45). The path is jagged from odometry drift. Light green edges are constraints linking poses within and between adjacent rows, plus a few long diagonal links, such as one from the start pose to the end.">
            <a:extLst>
              <a:ext uri="{FF2B5EF4-FFF2-40B4-BE49-F238E27FC236}">
                <a16:creationId xmlns:a16="http://schemas.microsoft.com/office/drawing/2014/main" id="{C96CED09-7FCB-36C7-6700-4F9AE2FC7B9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834" t="9094" r="8610" b="6550"/>
          <a:stretch>
            <a:fillRect/>
          </a:stretch>
        </p:blipFill>
        <p:spPr bwMode="auto">
          <a:xfrm>
            <a:off x="3513674" y="868221"/>
            <a:ext cx="5164651" cy="54083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035364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5563A-B5EC-7DF5-B26D-45D458B55E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16A5E4-40E1-8E6E-9627-1176A830B4A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 node xᵢ stores the absolute pose of the robot at time tᵢ: (xᵢ, yᵢ, θᵢ)</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would one want to create a new node? Why that frequency / reason?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Nodes are NOT created every sensor tick - only at 'keyframes' (e.g., after 30 cm of motion)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Keyframing bounds the graph size, keeping optimization real-time</a:t>
            </a:r>
          </a:p>
          <a:p>
            <a:pPr marL="0" indent="0">
              <a:lnSpc>
                <a:spcPct val="100000"/>
              </a:lnSpc>
              <a:spcBef>
                <a:spcPts val="0"/>
              </a:spcBef>
              <a:buSzPts val="3000"/>
              <a:buNone/>
            </a:pPr>
            <a:r>
              <a:rPr lang="en-US" sz="2000" dirty="0">
                <a:latin typeface="Atkinson Hyperlegible Next"/>
                <a:ea typeface="Arial"/>
                <a:cs typeface="Arial"/>
                <a:sym typeface="Arial"/>
              </a:rPr>
              <a:t>A typical 30-minute mission produces 500-2000 nodes - tractable for modern CPUs</a:t>
            </a:r>
          </a:p>
          <a:p>
            <a:pPr marL="0" indent="0">
              <a:lnSpc>
                <a:spcPct val="100000"/>
              </a:lnSpc>
              <a:spcBef>
                <a:spcPts val="0"/>
              </a:spcBef>
              <a:buSzPts val="3000"/>
              <a:buNone/>
            </a:pPr>
            <a:r>
              <a:rPr lang="en-US" sz="2000" dirty="0">
                <a:latin typeface="Atkinson Hyperlegible Next"/>
                <a:ea typeface="Arial"/>
                <a:cs typeface="Arial"/>
                <a:sym typeface="Arial"/>
              </a:rPr>
              <a:t>Each node can also anchor a submap, making the graph a skeleton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66A82B9-922F-8CD5-4E1A-E8BEA4AA75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891D30-F399-9E6D-E236-AFD0CDAF41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2B1C5B-E75D-B621-81F0-80DC1F0071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714741-86A3-A56A-92AC-8E6CE883E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E5E0EA-DBF4-F67E-391C-BE608DCB12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CCD1AF-15EC-AA77-E7EB-4165181CFB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FB05-000E-465E-46F5-DC1F72FAF2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70B99F-D8D2-9F47-223B-7C32C1C92B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336D3C0E-6853-6E73-2D66-427B51A9BD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FC335EDC-C37D-CCCD-C7FC-024DDBF1F80C}"/>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31C268A3-E266-F31A-A045-A3FA4ECFBC4B}"/>
              </a:ext>
            </a:extLst>
          </p:cNvPr>
          <p:cNvSpPr/>
          <p:nvPr/>
        </p:nvSpPr>
        <p:spPr>
          <a:xfrm>
            <a:off x="8032750" y="1987550"/>
            <a:ext cx="7239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AA5C20B-2948-390E-69C7-C66ACF1288E3}"/>
              </a:ext>
            </a:extLst>
          </p:cNvPr>
          <p:cNvCxnSpPr>
            <a:endCxn id="2" idx="1"/>
          </p:cNvCxnSpPr>
          <p:nvPr/>
        </p:nvCxnSpPr>
        <p:spPr>
          <a:xfrm>
            <a:off x="6407150" y="1460500"/>
            <a:ext cx="16256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0546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F03EF2-8A69-F82A-90AC-45F6C4851A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BBDB90-ED68-144F-FBD6-348460EA600E}"/>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An edge zᵢⱼ connects node xᵢ to node xⱼ</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stores the </a:t>
            </a:r>
            <a:r>
              <a:rPr lang="en-US" sz="2000" b="1" dirty="0">
                <a:latin typeface="Atkinson Hyperlegible Next"/>
                <a:ea typeface="Arial"/>
                <a:cs typeface="Arial"/>
                <a:sym typeface="Arial"/>
              </a:rPr>
              <a:t>expected</a:t>
            </a:r>
            <a:r>
              <a:rPr lang="en-US" sz="2000" dirty="0">
                <a:latin typeface="Atkinson Hyperlegible Next"/>
                <a:ea typeface="Arial"/>
                <a:cs typeface="Arial"/>
                <a:sym typeface="Arial"/>
              </a:rPr>
              <a:t> relative pose: 'from node i's frame, node j should be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would the sources of edge be from?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Edges come from two sources: </a:t>
            </a:r>
          </a:p>
          <a:p>
            <a:pPr marL="342900">
              <a:lnSpc>
                <a:spcPct val="100000"/>
              </a:lnSpc>
              <a:spcBef>
                <a:spcPts val="0"/>
              </a:spcBef>
              <a:buSzPts val="3000"/>
            </a:pPr>
            <a:r>
              <a:rPr lang="en-US" sz="2000" dirty="0">
                <a:latin typeface="Atkinson Hyperlegible Next"/>
                <a:ea typeface="Arial"/>
                <a:cs typeface="Arial"/>
                <a:sym typeface="Arial"/>
              </a:rPr>
              <a:t>odometry (between consecutive nodes) and </a:t>
            </a:r>
          </a:p>
          <a:p>
            <a:pPr marL="342900">
              <a:lnSpc>
                <a:spcPct val="100000"/>
              </a:lnSpc>
              <a:spcBef>
                <a:spcPts val="0"/>
              </a:spcBef>
              <a:buSzPts val="3000"/>
            </a:pPr>
            <a:r>
              <a:rPr lang="en-US" sz="2000" dirty="0">
                <a:latin typeface="Atkinson Hyperlegible Next"/>
                <a:ea typeface="Arial"/>
                <a:cs typeface="Arial"/>
                <a:sym typeface="Arial"/>
              </a:rPr>
              <a:t>loop-closure matches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also carries an </a:t>
            </a:r>
            <a:r>
              <a:rPr lang="en-US" sz="2000" b="1" dirty="0">
                <a:latin typeface="Atkinson Hyperlegible Next"/>
                <a:ea typeface="Arial"/>
                <a:cs typeface="Arial"/>
                <a:sym typeface="Arial"/>
              </a:rPr>
              <a:t>information matrix</a:t>
            </a:r>
            <a:r>
              <a:rPr lang="en-US" sz="2000" dirty="0">
                <a:latin typeface="Atkinson Hyperlegible Next"/>
                <a:ea typeface="Arial"/>
                <a:cs typeface="Arial"/>
                <a:sym typeface="Arial"/>
              </a:rPr>
              <a:t> - the spring stiffness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High information = stiff spring (trustworthy edge). </a:t>
            </a:r>
          </a:p>
          <a:p>
            <a:pPr marL="0" indent="0">
              <a:lnSpc>
                <a:spcPct val="100000"/>
              </a:lnSpc>
              <a:spcBef>
                <a:spcPts val="0"/>
              </a:spcBef>
              <a:buSzPts val="3000"/>
              <a:buNone/>
            </a:pPr>
            <a:r>
              <a:rPr lang="en-US" sz="2000" dirty="0">
                <a:latin typeface="Atkinson Hyperlegible Next"/>
                <a:ea typeface="Arial"/>
                <a:cs typeface="Arial"/>
                <a:sym typeface="Arial"/>
              </a:rPr>
              <a:t>Low information = loose spring (noisy edge).</a:t>
            </a:r>
          </a:p>
        </p:txBody>
      </p:sp>
      <p:sp>
        <p:nvSpPr>
          <p:cNvPr id="119" name="Google Shape;119;p29">
            <a:extLst>
              <a:ext uri="{FF2B5EF4-FFF2-40B4-BE49-F238E27FC236}">
                <a16:creationId xmlns:a16="http://schemas.microsoft.com/office/drawing/2014/main" id="{071F26D4-D502-D50F-C13B-D17842E723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C6B226-9E7C-8156-85EF-A716FCEC57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4B6B6D-B099-2A27-45BD-9B1557AB1C8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143C25-AA96-D4E0-4EFF-0E78ABAA660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EA52CA-69F7-C46C-85F1-6D05E5ECB9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955EE55-4144-FEFA-3132-61623806844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37118A-7F99-B04E-F62D-28B1F5BEF75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CE8BBD-BF6B-556F-04A4-C2AFF0B64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E577ADDD-4AEC-D195-080E-7B0BF815BC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D62D04D3-268C-256A-5B33-03DCF487E824}"/>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4DBF5171-84D9-B857-B331-7B0856F43562}"/>
              </a:ext>
            </a:extLst>
          </p:cNvPr>
          <p:cNvSpPr/>
          <p:nvPr/>
        </p:nvSpPr>
        <p:spPr>
          <a:xfrm>
            <a:off x="8629650" y="1987550"/>
            <a:ext cx="9271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01D2E1E3-71BD-993D-D98A-27C57BB06137}"/>
              </a:ext>
            </a:extLst>
          </p:cNvPr>
          <p:cNvCxnSpPr>
            <a:cxnSpLocks/>
            <a:endCxn id="2" idx="1"/>
          </p:cNvCxnSpPr>
          <p:nvPr/>
        </p:nvCxnSpPr>
        <p:spPr>
          <a:xfrm>
            <a:off x="6407150" y="1460500"/>
            <a:ext cx="22225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674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BE243-60C6-CBA3-0F0C-98D2678E0A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8EBF4A-F403-7619-BBCA-CE658636437C}"/>
              </a:ext>
            </a:extLst>
          </p:cNvPr>
          <p:cNvSpPr txBox="1">
            <a:spLocks noGrp="1"/>
          </p:cNvSpPr>
          <p:nvPr>
            <p:ph type="body" idx="1"/>
          </p:nvPr>
        </p:nvSpPr>
        <p:spPr>
          <a:xfrm>
            <a:off x="376809" y="1102041"/>
            <a:ext cx="11177401" cy="37845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we trust an </a:t>
            </a:r>
            <a:r>
              <a:rPr lang="en-US" sz="2000" b="1" dirty="0">
                <a:latin typeface="Atkinson Hyperlegible Next"/>
                <a:ea typeface="Arial"/>
                <a:cs typeface="Arial"/>
                <a:sym typeface="Arial"/>
              </a:rPr>
              <a:t>edge</a:t>
            </a:r>
            <a:r>
              <a:rPr lang="en-US" sz="2000" dirty="0">
                <a:latin typeface="Atkinson Hyperlegible Next"/>
                <a:ea typeface="Arial"/>
                <a:cs typeface="Arial"/>
                <a:sym typeface="Arial"/>
              </a:rPr>
              <a:t> perfectly in X and Y but not in θ, information is high on X/Y and low on θ</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size for a 2D system? What about for a 3D system?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3x3 matrix for 2D, 6x6 for 3D</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it mean for identity matrix? </a:t>
            </a:r>
          </a:p>
          <a:p>
            <a:pPr marL="0" indent="0" algn="ctr">
              <a:lnSpc>
                <a:spcPct val="100000"/>
              </a:lnSpc>
              <a:spcBef>
                <a:spcPts val="0"/>
              </a:spcBef>
              <a:buSzPts val="3000"/>
              <a:buNone/>
            </a:pPr>
            <a:r>
              <a:rPr lang="en-US" sz="2000" dirty="0">
                <a:latin typeface="Atkinson Hyperlegible Next"/>
                <a:ea typeface="Arial"/>
                <a:cs typeface="Arial"/>
                <a:sym typeface="Arial"/>
              </a:rPr>
              <a:t>All constraints are equally stiff, uncertainty is equal for all components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During optimization, each edge's contribution is </a:t>
            </a:r>
            <a:r>
              <a:rPr lang="en-US" sz="2000" b="1" dirty="0">
                <a:latin typeface="Atkinson Hyperlegible Next"/>
                <a:ea typeface="Arial"/>
                <a:cs typeface="Arial"/>
                <a:sym typeface="Arial"/>
              </a:rPr>
              <a:t>weighted by its information </a:t>
            </a:r>
            <a:r>
              <a:rPr lang="en-US" sz="2000" dirty="0">
                <a:latin typeface="Atkinson Hyperlegible Next"/>
                <a:ea typeface="Arial"/>
                <a:cs typeface="Arial"/>
                <a:sym typeface="Arial"/>
              </a:rPr>
              <a:t>- noisy edges contribute less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3B8AE6-450A-492F-E702-66405EDE08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59AD55-7285-12D2-82BA-773E3BCE1A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Information Matrix</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985083-34BA-DF6B-03D2-FC20428A88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7CD13F-A46D-71DD-76B3-49F86E2F23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D536D6-7947-2E5D-61F6-E1DFA6266F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1350B-8BFD-2EBF-2876-5102F29D75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4E56A1-321B-060A-FE70-1DDA045DAC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F0E080-5486-586B-4AD2-904EF6012F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6E5B6CD3-8A69-5373-BF0F-E33ED98FCC79}"/>
              </a:ext>
            </a:extLst>
          </p:cNvPr>
          <p:cNvGrpSpPr/>
          <p:nvPr/>
        </p:nvGrpSpPr>
        <p:grpSpPr>
          <a:xfrm>
            <a:off x="1371752" y="4809526"/>
            <a:ext cx="9448495" cy="1280160"/>
            <a:chOff x="1371752" y="5002109"/>
            <a:chExt cx="9448495" cy="1280160"/>
          </a:xfrm>
        </p:grpSpPr>
        <p:sp>
          <p:nvSpPr>
            <p:cNvPr id="2" name="Shape 4">
              <a:extLst>
                <a:ext uri="{FF2B5EF4-FFF2-40B4-BE49-F238E27FC236}">
                  <a16:creationId xmlns:a16="http://schemas.microsoft.com/office/drawing/2014/main" id="{687459D3-A60C-EFAD-BFE8-76950344E848}"/>
                </a:ext>
              </a:extLst>
            </p:cNvPr>
            <p:cNvSpPr/>
            <p:nvPr/>
          </p:nvSpPr>
          <p:spPr>
            <a:xfrm>
              <a:off x="1371752" y="5002109"/>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3" name="Shape 5">
              <a:extLst>
                <a:ext uri="{FF2B5EF4-FFF2-40B4-BE49-F238E27FC236}">
                  <a16:creationId xmlns:a16="http://schemas.microsoft.com/office/drawing/2014/main" id="{65C41D61-22E7-507A-FF76-CE760EAE9418}"/>
                </a:ext>
              </a:extLst>
            </p:cNvPr>
            <p:cNvSpPr/>
            <p:nvPr/>
          </p:nvSpPr>
          <p:spPr>
            <a:xfrm>
              <a:off x="1371752" y="5002109"/>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F2FD9D17-6950-D272-950C-0EB93CDCC876}"/>
                    </a:ext>
                  </a:extLst>
                </p:cNvPr>
                <p:cNvSpPr/>
                <p:nvPr/>
              </p:nvSpPr>
              <p:spPr>
                <a:xfrm>
                  <a:off x="1554632" y="5047829"/>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 xmlns:m="http://schemas.openxmlformats.org/officeDocument/2006/math">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Ω</m:t>
                      </m:r>
                      <m:r>
                        <a:rPr lang="en-US" sz="2200" b="0" i="1" smtClean="0">
                          <a:solidFill>
                            <a:srgbClr val="1E293B"/>
                          </a:solidFill>
                          <a:latin typeface="Cambria Math" panose="02040503050406030204" pitchFamily="18" charset="0"/>
                          <a:ea typeface="Consolas" pitchFamily="34" charset="-122"/>
                          <a:cs typeface="Consolas" pitchFamily="34" charset="-120"/>
                        </a:rPr>
                        <m:t>=</m:t>
                      </m:r>
                      <m:sSup>
                        <m:sSupPr>
                          <m:ctrlPr>
                            <a:rPr lang="en-US" sz="2200" b="0" i="1" smtClean="0">
                              <a:solidFill>
                                <a:srgbClr val="1E293B"/>
                              </a:solidFill>
                              <a:latin typeface="Cambria Math" panose="02040503050406030204" pitchFamily="18" charset="0"/>
                              <a:ea typeface="Consolas" pitchFamily="34" charset="-122"/>
                              <a:cs typeface="Consolas" pitchFamily="34" charset="-120"/>
                            </a:rPr>
                          </m:ctrlPr>
                        </m:sSupPr>
                        <m:e>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Σ</m:t>
                          </m:r>
                        </m:e>
                        <m:sup>
                          <m:r>
                            <a:rPr lang="en-US" sz="2200" b="0" i="1" smtClean="0">
                              <a:solidFill>
                                <a:srgbClr val="1E293B"/>
                              </a:solidFill>
                              <a:latin typeface="Cambria Math" panose="02040503050406030204" pitchFamily="18" charset="0"/>
                              <a:ea typeface="Consolas" pitchFamily="34" charset="-122"/>
                              <a:cs typeface="Consolas" pitchFamily="34" charset="-120"/>
                            </a:rPr>
                            <m:t>−1</m:t>
                          </m:r>
                        </m:sup>
                      </m:sSup>
                    </m:oMath>
                  </a14:m>
                  <a:r>
                    <a:rPr lang="en-US" sz="2200" dirty="0">
                      <a:solidFill>
                        <a:srgbClr val="1E293B"/>
                      </a:solidFill>
                      <a:latin typeface="+mj-lt"/>
                      <a:ea typeface="Consolas" pitchFamily="34" charset="-122"/>
                      <a:cs typeface="Consolas" pitchFamily="34" charset="-120"/>
                    </a:rPr>
                    <a:t>        (information = inverse covariance)</a:t>
                  </a:r>
                  <a:endParaRPr lang="en-US" sz="2200" dirty="0">
                    <a:latin typeface="+mj-lt"/>
                  </a:endParaRPr>
                </a:p>
              </p:txBody>
            </p:sp>
          </mc:Choice>
          <mc:Fallback xmlns="">
            <p:sp>
              <p:nvSpPr>
                <p:cNvPr id="4" name="Text 6">
                  <a:extLst>
                    <a:ext uri="{FF2B5EF4-FFF2-40B4-BE49-F238E27FC236}">
                      <a16:creationId xmlns:a16="http://schemas.microsoft.com/office/drawing/2014/main" id="{F2FD9D17-6950-D272-950C-0EB93CDCC876}"/>
                    </a:ext>
                  </a:extLst>
                </p:cNvPr>
                <p:cNvSpPr>
                  <a:spLocks noRot="1" noChangeAspect="1" noMove="1" noResize="1" noEditPoints="1" noAdjustHandles="1" noChangeArrowheads="1" noChangeShapeType="1" noTextEdit="1"/>
                </p:cNvSpPr>
                <p:nvPr/>
              </p:nvSpPr>
              <p:spPr>
                <a:xfrm>
                  <a:off x="1554632" y="5047829"/>
                  <a:ext cx="9174175" cy="914400"/>
                </a:xfrm>
                <a:prstGeom prst="rect">
                  <a:avLst/>
                </a:prstGeom>
                <a:blipFill>
                  <a:blip r:embed="rId4"/>
                  <a:stretch>
                    <a:fillRect/>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 7">
                  <a:extLst>
                    <a:ext uri="{FF2B5EF4-FFF2-40B4-BE49-F238E27FC236}">
                      <a16:creationId xmlns:a16="http://schemas.microsoft.com/office/drawing/2014/main" id="{73E676F4-EC87-35BB-73E0-6D4ADBBE9333}"/>
                    </a:ext>
                  </a:extLst>
                </p:cNvPr>
                <p:cNvSpPr/>
                <p:nvPr/>
              </p:nvSpPr>
              <p:spPr>
                <a:xfrm>
                  <a:off x="1554632" y="5916509"/>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000" i="1" dirty="0">
                      <a:solidFill>
                        <a:srgbClr val="5E6E85"/>
                      </a:solidFill>
                      <a:latin typeface="+mj-lt"/>
                      <a:ea typeface="Calibri" pitchFamily="34" charset="-122"/>
                      <a:cs typeface="Calibri" pitchFamily="34" charset="-120"/>
                    </a:rPr>
                    <a:t>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5E6E85"/>
                      </a:solidFill>
                      <a:latin typeface="+mj-lt"/>
                      <a:ea typeface="Calibri" pitchFamily="34" charset="-122"/>
                      <a:cs typeface="Calibri" pitchFamily="34" charset="-120"/>
                    </a:rPr>
                    <a:t> (uncertain) →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Ω</m:t>
                      </m:r>
                    </m:oMath>
                  </a14:m>
                  <a:r>
                    <a:rPr lang="en-US" sz="1000" i="1" dirty="0">
                      <a:solidFill>
                        <a:srgbClr val="5E6E85"/>
                      </a:solidFill>
                      <a:latin typeface="+mj-lt"/>
                      <a:ea typeface="Calibri" pitchFamily="34" charset="-122"/>
                      <a:cs typeface="Calibri" pitchFamily="34" charset="-120"/>
                    </a:rPr>
                    <a:t> (soft spring).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5E6E85"/>
                      </a:solidFill>
                      <a:latin typeface="+mj-lt"/>
                      <a:ea typeface="Calibri" pitchFamily="34" charset="-122"/>
                      <a:cs typeface="Calibri" pitchFamily="34" charset="-120"/>
                    </a:rPr>
                    <a:t> (certain) → 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5E6E85"/>
                      </a:solidFill>
                      <a:latin typeface="+mj-lt"/>
                      <a:ea typeface="Calibri" pitchFamily="34" charset="-122"/>
                      <a:cs typeface="Calibri" pitchFamily="34" charset="-120"/>
                    </a:rPr>
                    <a:t> (rigid spring).</a:t>
                  </a:r>
                  <a:endParaRPr lang="en-US" sz="1000" dirty="0">
                    <a:latin typeface="+mj-lt"/>
                  </a:endParaRPr>
                </a:p>
              </p:txBody>
            </p:sp>
          </mc:Choice>
          <mc:Fallback xmlns="">
            <p:sp>
              <p:nvSpPr>
                <p:cNvPr id="5" name="Text 7">
                  <a:extLst>
                    <a:ext uri="{FF2B5EF4-FFF2-40B4-BE49-F238E27FC236}">
                      <a16:creationId xmlns:a16="http://schemas.microsoft.com/office/drawing/2014/main" id="{73E676F4-EC87-35BB-73E0-6D4ADBBE9333}"/>
                    </a:ext>
                  </a:extLst>
                </p:cNvPr>
                <p:cNvSpPr>
                  <a:spLocks noRot="1" noChangeAspect="1" noMove="1" noResize="1" noEditPoints="1" noAdjustHandles="1" noChangeArrowheads="1" noChangeShapeType="1" noTextEdit="1"/>
                </p:cNvSpPr>
                <p:nvPr/>
              </p:nvSpPr>
              <p:spPr>
                <a:xfrm>
                  <a:off x="1554632" y="5916509"/>
                  <a:ext cx="9174175" cy="320040"/>
                </a:xfrm>
                <a:prstGeom prst="rect">
                  <a:avLst/>
                </a:prstGeom>
                <a:blipFill>
                  <a:blip r:embed="rId5"/>
                  <a:stretch>
                    <a:fillRect/>
                  </a:stretch>
                </a:blipFill>
                <a:ln/>
              </p:spPr>
              <p:txBody>
                <a:bodyPr/>
                <a:lstStyle/>
                <a:p>
                  <a:r>
                    <a:rPr lang="en-US">
                      <a:noFill/>
                    </a:rPr>
                    <a:t> </a:t>
                  </a:r>
                </a:p>
              </p:txBody>
            </p:sp>
          </mc:Fallback>
        </mc:AlternateContent>
      </p:grpSp>
    </p:spTree>
    <p:extLst>
      <p:ext uri="{BB962C8B-B14F-4D97-AF65-F5344CB8AC3E}">
        <p14:creationId xmlns:p14="http://schemas.microsoft.com/office/powerpoint/2010/main" val="2171183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Factor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192BDF-B71A-E349-7ACD-5A4DFB2A8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17DCA3-1690-0A7D-FE71-6FD73317971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Pose graphs connect poses to poses - but reality has more than just poses to track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Factor graphs </a:t>
            </a:r>
            <a:r>
              <a:rPr lang="en-US" sz="2000" dirty="0">
                <a:latin typeface="Atkinson Hyperlegible Next"/>
                <a:ea typeface="Arial"/>
                <a:cs typeface="Arial"/>
                <a:sym typeface="Arial"/>
              </a:rPr>
              <a:t>have two types of nodes: </a:t>
            </a:r>
          </a:p>
          <a:p>
            <a:pPr marL="342900">
              <a:lnSpc>
                <a:spcPct val="100000"/>
              </a:lnSpc>
              <a:spcBef>
                <a:spcPts val="0"/>
              </a:spcBef>
              <a:buSzPts val="3000"/>
            </a:pPr>
            <a:r>
              <a:rPr lang="en-US" sz="2000" b="1" dirty="0">
                <a:latin typeface="Atkinson Hyperlegible Next"/>
                <a:ea typeface="Arial"/>
                <a:cs typeface="Arial"/>
                <a:sym typeface="Arial"/>
              </a:rPr>
              <a:t>Variables</a:t>
            </a:r>
            <a:r>
              <a:rPr lang="en-US" sz="2000" dirty="0">
                <a:latin typeface="Atkinson Hyperlegible Next"/>
                <a:ea typeface="Arial"/>
                <a:cs typeface="Arial"/>
                <a:sym typeface="Arial"/>
              </a:rPr>
              <a:t> (poses, landmarks, biases)</a:t>
            </a:r>
          </a:p>
          <a:p>
            <a:pPr marL="342900">
              <a:lnSpc>
                <a:spcPct val="100000"/>
              </a:lnSpc>
              <a:spcBef>
                <a:spcPts val="0"/>
              </a:spcBef>
              <a:buSzPts val="3000"/>
            </a:pPr>
            <a:r>
              <a:rPr lang="en-US" sz="2000" b="1" dirty="0">
                <a:latin typeface="Atkinson Hyperlegible Next"/>
                <a:ea typeface="Arial"/>
                <a:cs typeface="Arial"/>
                <a:sym typeface="Arial"/>
              </a:rPr>
              <a:t>Factors </a:t>
            </a:r>
            <a:r>
              <a:rPr lang="en-US" sz="2000" dirty="0">
                <a:latin typeface="Atkinson Hyperlegible Next"/>
                <a:ea typeface="Arial"/>
                <a:cs typeface="Arial"/>
                <a:sym typeface="Arial"/>
              </a:rPr>
              <a:t>(measurements)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sensor reading - LiDAR match, odometry, GPS, IMU becomes a factor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Now we can fuse many heterogeneous sensors in one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GTSAM and Ceres libraries are built around this abstraction - and it's the industry standard today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96F9DC-5B5A-1F8A-7608-8688079AFD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565F50-ABBA-C419-CBDC-FCCE435CC6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B9F6D8B-5125-62C7-53C0-61B5F342B73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FBC4F1-27B0-6A52-2E7A-CA42604E80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C4277E-33F2-A79E-59A9-F37BD725C0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28FADE-6314-0D8A-695C-F2F8288DC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5B810-79A6-E1AA-F248-02A6E1CD28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22D724-F728-78B9-FF01-FB033C2B9E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a factor graph from a 2D SLAM problem. About 95 numbered robot poses (cyan, 0 to 94) form a trajectory that starts at the bottom left, arches up to a peak right of center, then descends steeply on the right. Around 45 numbered landmarks (dark blue) are scattered nearby. Gray lines link each landmark to the poses that observed it, with small black dots marking measurement factors along those lines. Consecutive poses are chained by odometry factors.">
            <a:extLst>
              <a:ext uri="{FF2B5EF4-FFF2-40B4-BE49-F238E27FC236}">
                <a16:creationId xmlns:a16="http://schemas.microsoft.com/office/drawing/2014/main" id="{DF6AE405-0BBD-2451-122E-9FAF9CF319F8}"/>
              </a:ext>
            </a:extLst>
          </p:cNvPr>
          <p:cNvPicPr>
            <a:picLocks noChangeAspect="1"/>
          </p:cNvPicPr>
          <p:nvPr/>
        </p:nvPicPr>
        <p:blipFill>
          <a:blip r:embed="rId4"/>
          <a:srcRect/>
          <a:stretch/>
        </p:blipFill>
        <p:spPr>
          <a:xfrm>
            <a:off x="6621658" y="2012915"/>
            <a:ext cx="5187354" cy="3114435"/>
          </a:xfrm>
          <a:prstGeom prst="rect">
            <a:avLst/>
          </a:prstGeom>
        </p:spPr>
      </p:pic>
      <p:sp>
        <p:nvSpPr>
          <p:cNvPr id="7" name="TextBox 6">
            <a:extLst>
              <a:ext uri="{FF2B5EF4-FFF2-40B4-BE49-F238E27FC236}">
                <a16:creationId xmlns:a16="http://schemas.microsoft.com/office/drawing/2014/main" id="{75447FB9-8445-850F-1295-B045DDF7B1F0}"/>
              </a:ext>
            </a:extLst>
          </p:cNvPr>
          <p:cNvSpPr txBox="1"/>
          <p:nvPr/>
        </p:nvSpPr>
        <p:spPr>
          <a:xfrm>
            <a:off x="7277142" y="5165419"/>
            <a:ext cx="3876386" cy="246221"/>
          </a:xfrm>
          <a:prstGeom prst="rect">
            <a:avLst/>
          </a:prstGeom>
          <a:noFill/>
        </p:spPr>
        <p:txBody>
          <a:bodyPr wrap="square">
            <a:spAutoFit/>
          </a:bodyPr>
          <a:lstStyle/>
          <a:p>
            <a:pPr algn="ctr"/>
            <a:r>
              <a:rPr lang="en-US" sz="1000" dirty="0">
                <a:hlinkClick r:id="rId5"/>
              </a:rPr>
              <a:t>https://gtsam.org/2020/06/01/factor-graphs.html</a:t>
            </a:r>
            <a:r>
              <a:rPr lang="en-US" sz="1000" dirty="0"/>
              <a:t> </a:t>
            </a:r>
          </a:p>
        </p:txBody>
      </p:sp>
    </p:spTree>
    <p:extLst>
      <p:ext uri="{BB962C8B-B14F-4D97-AF65-F5344CB8AC3E}">
        <p14:creationId xmlns:p14="http://schemas.microsoft.com/office/powerpoint/2010/main" val="30629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B6DB6-85A9-CC50-7607-FC72FA1A5E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91A20B1-5AF9-A5B2-5C41-721EE96A3F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73B311-2D54-C77A-DD41-400B39C4B8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21E5ED1-1DFD-2018-48B3-D4B5912C6F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8A2762-B1D0-237A-89B3-79C7A49C5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E544-FC53-0A3F-2CB1-516F22CA59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7594B3-8A35-81FE-02F5-EEE219CB36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44A3DF-8B46-964C-6B19-EE54E37EC5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CB3C6E-15E8-25E8-F255-0445295DB3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Plot: Landmark-based SLAM result from the GTSAM tutorial, x from about 0 to 58 and y from 0 to 35. A green chain of robot pose estimates starts near the origin, rises to about (42, 27), then curves down to about (53, 8). Each pose has an elongated uncertainty ellipse that grows larger toward the end of the path. Scattered blue asterisks mark estimated landmark positions, each with its own blue covariance ellipse; landmarks far from the path have larger ellipses.">
            <a:extLst>
              <a:ext uri="{FF2B5EF4-FFF2-40B4-BE49-F238E27FC236}">
                <a16:creationId xmlns:a16="http://schemas.microsoft.com/office/drawing/2014/main" id="{9C2B3218-E3A8-3123-8C75-88B44C97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979" y="1380739"/>
            <a:ext cx="6148583" cy="460375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Plot of a 2D pose SLAM result from the GTSAM tutorial, axes in meters from about minus 10 to 5 horizontally and minus 5 to 7 vertically. The green line is the drifting initial odometry estimate. The blue line is the optimized trajectory, with an uncertainty ellipse at each pose. The robot starts near the origin, loops through squares to the left, and its ellipses grow large with distance traveled. On the right, a square path traversed repeatedly has loop closures, so its ellipses stay tiny.">
            <a:extLst>
              <a:ext uri="{FF2B5EF4-FFF2-40B4-BE49-F238E27FC236}">
                <a16:creationId xmlns:a16="http://schemas.microsoft.com/office/drawing/2014/main" id="{B41A5A28-CC8E-BBA8-F9F0-639EA2E4F5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23258" y="1102041"/>
            <a:ext cx="5812763" cy="483651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4A27A69-F4A4-0F99-45EB-EC8E282D5C3D}"/>
              </a:ext>
            </a:extLst>
          </p:cNvPr>
          <p:cNvSpPr txBox="1"/>
          <p:nvPr/>
        </p:nvSpPr>
        <p:spPr>
          <a:xfrm>
            <a:off x="5131295" y="6008214"/>
            <a:ext cx="2383925" cy="246221"/>
          </a:xfrm>
          <a:prstGeom prst="rect">
            <a:avLst/>
          </a:prstGeom>
          <a:noFill/>
        </p:spPr>
        <p:txBody>
          <a:bodyPr wrap="square">
            <a:spAutoFit/>
          </a:bodyPr>
          <a:lstStyle/>
          <a:p>
            <a:pPr algn="ctr"/>
            <a:r>
              <a:rPr lang="en-US" sz="1000" dirty="0">
                <a:hlinkClick r:id="rId6"/>
              </a:rPr>
              <a:t>https://gtsam.org/tutorials/intro.html</a:t>
            </a:r>
            <a:r>
              <a:rPr lang="en-US" sz="1000" dirty="0"/>
              <a:t> </a:t>
            </a:r>
          </a:p>
        </p:txBody>
      </p:sp>
    </p:spTree>
    <p:extLst>
      <p:ext uri="{BB962C8B-B14F-4D97-AF65-F5344CB8AC3E}">
        <p14:creationId xmlns:p14="http://schemas.microsoft.com/office/powerpoint/2010/main" val="419394430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4FCDDB-6F9B-03F5-6295-8E2FC241A1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0E55E8-C8C0-DF57-E9C5-746836FF692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edge contributes an error vector eᵢⱼ - how wrong this edge's prediction is, given the current node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total “strain energy” is the sum of all edge errors, weighted by their information matrices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job: find the set of node poses X = {x₁, …, xₙ} that minimizes this total strain</a:t>
                </a:r>
              </a:p>
              <a:p>
                <a:pPr marL="0" indent="0">
                  <a:lnSpc>
                    <a:spcPct val="100000"/>
                  </a:lnSpc>
                  <a:spcBef>
                    <a:spcPts val="0"/>
                  </a:spcBef>
                  <a:buSzPts val="3000"/>
                  <a:buNone/>
                </a:pPr>
                <a:r>
                  <a:rPr lang="en-US" sz="2000" dirty="0">
                    <a:latin typeface="Atkinson Hyperlegible Next"/>
                    <a:ea typeface="Arial"/>
                    <a:cs typeface="Arial"/>
                    <a:sym typeface="Arial"/>
                  </a:rPr>
                  <a:t>This is a nonlinear least-squares problem - we cannot solve it in one step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30E55E8-C8C0-DF57-E9C5-746836FF6929}"/>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1A98AB8-004B-85AF-8C0E-B38A79D610D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1F71C13-B848-002B-8A3B-8F3D9CBC2E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60F4FC-2AD4-4D24-6826-B5C419C970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FDC94-BD5A-AF0C-7E91-C9596ECAE7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FB1E5E-A884-CBAE-ACBD-F366CBC67A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53F05D-2116-7914-9E6E-56D112315A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551622-082F-7D9E-3009-54158265FF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0631A-041F-4056-1E1B-E9E2E12D37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6298458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54FDF27-D226-FAA9-2542-388B010C3F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D5DF1E2-0ADF-C1B6-3251-64D1D64BD9F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error vector?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the error between what the edge predicts and what the current layout sys.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absolute poses xᵢ and xⱼ, the implied relative pose is xᵢ⁻¹ ⊗ xⱼ</a:t>
                </a:r>
              </a:p>
              <a:p>
                <a:pPr marL="0" indent="0">
                  <a:lnSpc>
                    <a:spcPct val="100000"/>
                  </a:lnSpc>
                  <a:spcBef>
                    <a:spcPts val="0"/>
                  </a:spcBef>
                  <a:buSzPts val="3000"/>
                  <a:buNone/>
                </a:pPr>
                <a:r>
                  <a:rPr lang="en-US" sz="2000" dirty="0">
                    <a:latin typeface="Atkinson Hyperlegible Next"/>
                    <a:ea typeface="Arial"/>
                    <a:cs typeface="Arial"/>
                    <a:sym typeface="Arial"/>
                  </a:rPr>
                  <a:t>The edge predicts a specific relative pose, zᵢⱼ</a:t>
                </a:r>
              </a:p>
              <a:p>
                <a:pPr marL="0" indent="0">
                  <a:lnSpc>
                    <a:spcPct val="100000"/>
                  </a:lnSpc>
                  <a:spcBef>
                    <a:spcPts val="0"/>
                  </a:spcBef>
                  <a:buSzPts val="3000"/>
                  <a:buNone/>
                </a:pPr>
                <a:r>
                  <a:rPr lang="en-US" sz="2000" dirty="0">
                    <a:latin typeface="Atkinson Hyperlegible Next"/>
                    <a:ea typeface="Arial"/>
                    <a:cs typeface="Arial"/>
                    <a:sym typeface="Arial"/>
                  </a:rPr>
                  <a:t>The error is the “difference” between predicted and implied, expressed as a small pose correction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should this error vector return at a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perfect graph has zero error everywhere - every prediction matches every implied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D5DF1E2-0ADF-C1B6-3251-64D1D64BD9F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F770141-B8D8-0592-3068-358A58FA98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5BC8C3-1806-2D52-13CD-375EB0D47C4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F97ED56-20B2-8D4B-1D7E-1D299964BAA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C34728-3DCD-8E1B-2F0F-7717FFCA25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9E70B-D229-DFEA-78E6-CF2E2AEECA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DEEBF5-2505-1DA8-D611-4087FC4E4E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7642C-B02E-FDEC-2021-DCC61954AF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EEBE91-255D-7AD0-C4EC-C677B8655E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7365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F2B3-456D-7D7C-824C-DCD5059F9D2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F006EA4-0AA0-C7D7-57A1-AFE65C8D9A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you see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(not the element-wise product), it means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then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or “"If I am at </a:t>
                </a:r>
                <a14:m>
                  <m:oMath xmlns:m="http://schemas.openxmlformats.org/officeDocument/2006/math">
                    <m:r>
                      <a:rPr lang="en-US" sz="2000" i="1" dirty="0" smtClean="0">
                        <a:latin typeface="Cambria Math" panose="02040503050406030204" pitchFamily="18" charset="0"/>
                        <a:ea typeface="Arial"/>
                        <a:cs typeface="Arial"/>
                        <a:sym typeface="Arial"/>
                      </a:rPr>
                      <m:t>𝑖</m:t>
                    </m:r>
                  </m:oMath>
                </a14:m>
                <a:r>
                  <a:rPr lang="en-US" sz="2000" dirty="0">
                    <a:latin typeface="Atkinson Hyperlegible Next"/>
                    <a:ea typeface="Arial"/>
                    <a:cs typeface="Arial"/>
                    <a:sym typeface="Arial"/>
                  </a:rPr>
                  <a:t>, where do I think </a:t>
                </a:r>
                <a14:m>
                  <m:oMath xmlns:m="http://schemas.openxmlformats.org/officeDocument/2006/math">
                    <m:r>
                      <a:rPr lang="en-US" sz="2000" i="1" dirty="0" smtClean="0">
                        <a:latin typeface="Cambria Math" panose="02040503050406030204" pitchFamily="18" charset="0"/>
                        <a:ea typeface="Arial"/>
                        <a:cs typeface="Arial"/>
                        <a:sym typeface="Arial"/>
                      </a:rPr>
                      <m:t>𝑗</m:t>
                    </m:r>
                  </m:oMath>
                </a14:m>
                <a:r>
                  <a:rPr lang="en-US" sz="2000" dirty="0">
                    <a:latin typeface="Atkinson Hyperlegible Next"/>
                    <a:ea typeface="Arial"/>
                    <a:cs typeface="Arial"/>
                    <a:sym typeface="Arial"/>
                  </a:rPr>
                  <a:t> is based on my current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Depending on how your poses are represented, this operator maps to specific mathematical operations:</a:t>
                </a:r>
              </a:p>
              <a:p>
                <a:pPr marL="342900">
                  <a:lnSpc>
                    <a:spcPct val="100000"/>
                  </a:lnSpc>
                  <a:spcBef>
                    <a:spcPts val="0"/>
                  </a:spcBef>
                  <a:buSzPts val="3000"/>
                </a:pPr>
                <a:r>
                  <a:rPr lang="en-US" sz="2000" b="1" dirty="0">
                    <a:latin typeface="Atkinson Hyperlegible Next"/>
                    <a:ea typeface="Arial"/>
                    <a:cs typeface="Arial"/>
                    <a:sym typeface="Arial"/>
                  </a:rPr>
                  <a:t>Homogeneous Transformation Matrices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is a matrix in the Special Euclidean Group </a:t>
                </a:r>
                <a14:m>
                  <m:oMath xmlns:m="http://schemas.openxmlformats.org/officeDocument/2006/math">
                    <m:r>
                      <a:rPr lang="en-US" sz="2000" i="1" dirty="0" smtClean="0">
                        <a:latin typeface="Cambria Math" panose="02040503050406030204" pitchFamily="18" charset="0"/>
                        <a:ea typeface="Arial"/>
                        <a:cs typeface="Arial"/>
                        <a:sym typeface="Arial"/>
                      </a:rPr>
                      <m:t>𝑆𝐸</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3</m:t>
                        </m:r>
                      </m:e>
                    </m:d>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simply standard matrix multiplication.</a:t>
                </a:r>
              </a:p>
              <a:p>
                <a:pPr marL="342900">
                  <a:lnSpc>
                    <a:spcPct val="100000"/>
                  </a:lnSpc>
                  <a:spcBef>
                    <a:spcPts val="0"/>
                  </a:spcBef>
                  <a:buSzPts val="3000"/>
                </a:pPr>
                <a:r>
                  <a:rPr lang="en-US" sz="2000" b="1" dirty="0">
                    <a:latin typeface="Atkinson Hyperlegible Next"/>
                    <a:ea typeface="Arial"/>
                    <a:cs typeface="Arial"/>
                    <a:sym typeface="Arial"/>
                  </a:rPr>
                  <a:t>Quaternions/Rotations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represents a rotation,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the quaternion product or rotation matrix multiplication.</a:t>
                </a:r>
              </a:p>
              <a:p>
                <a:pPr marL="342900">
                  <a:lnSpc>
                    <a:spcPct val="100000"/>
                  </a:lnSpc>
                  <a:spcBef>
                    <a:spcPts val="0"/>
                  </a:spcBef>
                  <a:buSzPts val="3000"/>
                </a:pPr>
                <a:r>
                  <a:rPr lang="en-US" sz="2000" b="1" dirty="0">
                    <a:latin typeface="Atkinson Hyperlegible Next"/>
                    <a:ea typeface="Arial"/>
                    <a:cs typeface="Arial"/>
                    <a:sym typeface="Arial"/>
                  </a:rPr>
                  <a:t>Translation + Rotation</a:t>
                </a:r>
                <a:r>
                  <a:rPr lang="en-US" sz="2000" dirty="0">
                    <a:latin typeface="Atkinson Hyperlegible Next"/>
                    <a:ea typeface="Arial"/>
                    <a:cs typeface="Arial"/>
                    <a:sym typeface="Arial"/>
                  </a:rPr>
                  <a:t>: It accounts for the fact that the second translation must be rotated by the first orientation before being added.</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log is not an actual log, but maps the transformation matrix into a vector)</a:t>
                </a:r>
              </a:p>
            </p:txBody>
          </p:sp>
        </mc:Choice>
        <mc:Fallback xmlns="">
          <p:sp>
            <p:nvSpPr>
              <p:cNvPr id="118" name="Google Shape;118;p29">
                <a:extLst>
                  <a:ext uri="{FF2B5EF4-FFF2-40B4-BE49-F238E27FC236}">
                    <a16:creationId xmlns:a16="http://schemas.microsoft.com/office/drawing/2014/main" id="{6F006EA4-0AA0-C7D7-57A1-AFE65C8D9A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DD13D2-B174-B9DC-4B40-70A5AA12C4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0364FA-4745-7DAA-23BC-DED75C6C4D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4680BF-3412-19C5-52D7-2AB93BFFF97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B6FBEA1-57AB-9F9A-78FD-13DA7D4254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78EAA7-DEAE-1FA8-44FA-18674B76B2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9D4BD2-E117-F0A3-D068-1500C9042C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25465D0-E22C-11F9-69DE-683CB3A3D6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0BBFC0-DDA4-6D14-8B90-055297C733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0864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DC3BCF-B673-6CDD-94A7-D501ABBF984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A5E1174-16ED-DBE1-4912-49D5EA37D8F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standard error formulation simplifies in 2D as: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A5E1174-16ED-DBE1-4912-49D5EA37D8F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CFA077-2DC4-CEE0-CF23-3497E6C313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3E6E0A-38BA-43E5-EA29-D47BFA121D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03F2BF-D2BD-DB39-C197-64F00BFC5FC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FD2A5-5F16-D731-B165-0201B09138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117239D-75B5-B81A-6FA9-0157AF507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630156-D01D-8EBD-1254-D3DA8395CF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734652-7F3C-66CC-AB75-F668CFC52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73ABA0-7524-7C25-D402-2CF5985A9B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075163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2CEBA-3AF8-4C21-3BF6-E91053926D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DE8BAB-9234-937A-2E09-073571D25B5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error depends on θ through </a:t>
                </a:r>
                <a14:m>
                  <m:oMath xmlns:m="http://schemas.openxmlformats.org/officeDocument/2006/math">
                    <m:func>
                      <m:funcPr>
                        <m:ctrlPr>
                          <a:rPr lang="en-US" sz="2000" b="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b="0" i="1" dirty="0" smtClean="0">
                                <a:latin typeface="Cambria Math" panose="02040503050406030204" pitchFamily="18" charset="0"/>
                                <a:ea typeface="Arial"/>
                                <a:cs typeface="Arial"/>
                                <a:sym typeface="Arial"/>
                              </a:rPr>
                            </m:ctrlPr>
                          </m:dPr>
                          <m:e>
                            <m:r>
                              <a:rPr lang="en-US" sz="2000" b="0" i="0" dirty="0"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and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 making it non-linear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There is no closed-form solution like the SVD we used for vanilla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must solve iteratively: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guess an initial X,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linearize around it,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step,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repeat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step refines the guess, eventually the error stops dropping meaningfully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Classic tool for this: the Gauss-Newton algorithm, and its more robust cousin Levenberg-Marquardt</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DDE8BAB-9234-937A-2E09-073571D25B5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5E4B7DC-4B60-F68A-DAD4-57D9B6CE709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B2FA2B-4816-5AF0-2D88-DBEA4DC2FE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EC246D-EDCA-8468-19ED-5C419B91AF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34AC2B-65A9-2AD6-4AE7-B240BE94EA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06BEE1-5D55-AAD7-9310-494FE6C484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0F23E0-D89B-9953-4BE9-E8B944692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393E1F-D0B5-EF71-8367-988C290D5E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219F77-3784-9A30-D086-5ED18A1C2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850996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715B8F-84F5-01BC-DB49-83DD4925F58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4D6789C-78AB-2C6E-CCA9-A196A5B7698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1. Linearizing with Taylor Expansion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Assume our current guess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is close to the true optimum </a:t>
                </a:r>
                <a14:m>
                  <m:oMath xmlns:m="http://schemas.openxmlformats.org/officeDocument/2006/math">
                    <m:sSup>
                      <m:sSupPr>
                        <m:ctrlPr>
                          <a:rPr lang="en-US" sz="2000" b="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𝑋</m:t>
                        </m:r>
                      </m:e>
                      <m:sup>
                        <m:r>
                          <a:rPr lang="en-US" sz="2000" i="1" dirty="0" smtClean="0">
                            <a:latin typeface="Cambria Math" panose="02040503050406030204" pitchFamily="18" charset="0"/>
                            <a:ea typeface="Arial"/>
                            <a:cs typeface="Arial"/>
                            <a:sym typeface="Arial"/>
                          </a:rPr>
                          <m:t>∗</m:t>
                        </m:r>
                      </m:sup>
                    </m:s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Parametrize the correction as a small perturbation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e>
                      </m:d>
                      <m:r>
                        <a:rPr lang="en-US" sz="2000" b="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e>
                      </m:d>
                      <m:r>
                        <a:rPr lang="en-US" sz="200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b="0" i="1" dirty="0" smtClean="0">
                              <a:latin typeface="Cambria Math" panose="02040503050406030204" pitchFamily="18" charset="0"/>
                              <a:ea typeface="Arial"/>
                              <a:cs typeface="Arial"/>
                              <a:sym typeface="Arial"/>
                            </a:rPr>
                            <m:t>𝑖𝑗</m:t>
                          </m:r>
                        </m:sub>
                      </m:sSub>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𝐽</m:t>
                        </m:r>
                      </m:e>
                      <m:sub>
                        <m:r>
                          <a:rPr lang="en-US" sz="2000" b="0" i="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the Jacobian, partial derives of the error with respect to </a:t>
                </a:r>
                <a:r>
                  <a:rPr lang="en-US" sz="2000" b="1" dirty="0">
                    <a:latin typeface="Atkinson Hyperlegible Next"/>
                    <a:ea typeface="Arial"/>
                    <a:cs typeface="Arial"/>
                    <a:sym typeface="Arial"/>
                  </a:rPr>
                  <a:t>ALL</a:t>
                </a:r>
                <a:r>
                  <a:rPr lang="en-US" sz="2000" dirty="0">
                    <a:latin typeface="Atkinson Hyperlegible Next"/>
                    <a:ea typeface="Arial"/>
                    <a:cs typeface="Arial"/>
                    <a:sym typeface="Arial"/>
                  </a:rPr>
                  <a:t>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4D6789C-78AB-2C6E-CCA9-A196A5B7698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15E1F6-0BA4-06F7-66FB-7804246123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DDC314-34F4-2C53-BFA3-B641DE1950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2FBA04-5577-D009-F3E2-239D5F5D86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C7274C-592E-7F3A-09C2-F248536C3D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382972-3039-DD4E-6A9B-74E454357C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04151-82FB-DCC2-92BF-7EA42BA7D0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E1C73-AD44-7D4E-93C1-F5FEC11C9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DF58D-1C84-3DB3-3E7F-DA6B05A2A0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028003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64DD53-120C-E583-FD74-5B740C4BAE6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4282317-FD22-7CC7-6C5A-BDEE2F43AF61}"/>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Jacobian Jᵢⱼ has as many rows as the error dimension (3 for 2D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as many columns as the total number of optimization variables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many neighbors do each of the pose have?</a:t>
            </a:r>
          </a:p>
          <a:p>
            <a:pPr marL="0" indent="0" algn="ctr">
              <a:lnSpc>
                <a:spcPct val="100000"/>
              </a:lnSpc>
              <a:spcBef>
                <a:spcPts val="0"/>
              </a:spcBef>
              <a:buSzPts val="3000"/>
              <a:buNone/>
            </a:pPr>
            <a:r>
              <a:rPr lang="en-US" sz="2000" dirty="0">
                <a:latin typeface="Atkinson Hyperlegible Next"/>
                <a:ea typeface="Arial"/>
                <a:cs typeface="Arial"/>
                <a:sym typeface="Arial"/>
              </a:rPr>
              <a:t>Edges only have 2 poses, most poses do not have a lot of neighbors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Most entries are </a:t>
            </a:r>
            <a:r>
              <a:rPr lang="en-US" sz="2000" b="1" dirty="0">
                <a:latin typeface="Atkinson Hyperlegible Next"/>
                <a:ea typeface="Arial"/>
                <a:cs typeface="Arial"/>
                <a:sym typeface="Arial"/>
              </a:rPr>
              <a:t>ZERO </a:t>
            </a:r>
            <a:r>
              <a:rPr lang="en-US" sz="2000" dirty="0">
                <a:latin typeface="Atkinson Hyperlegible Next"/>
                <a:ea typeface="Arial"/>
                <a:cs typeface="Arial"/>
                <a:sym typeface="Arial"/>
              </a:rPr>
              <a:t>- an edge only touches two poses, so only those columns are non-zero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sparsity is what makes graph SLAM scale to thousands of nodes!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Modern </a:t>
            </a:r>
            <a:r>
              <a:rPr lang="en-US" sz="2000" dirty="0" err="1">
                <a:latin typeface="Atkinson Hyperlegible Next"/>
                <a:ea typeface="Arial"/>
                <a:cs typeface="Arial"/>
                <a:sym typeface="Arial"/>
              </a:rPr>
              <a:t>autodiff</a:t>
            </a:r>
            <a:r>
              <a:rPr lang="en-US" sz="2000" dirty="0">
                <a:latin typeface="Atkinson Hyperlegible Next"/>
                <a:ea typeface="Arial"/>
                <a:cs typeface="Arial"/>
                <a:sym typeface="Arial"/>
              </a:rPr>
              <a:t> libraries (Ceres, GTSAM) compute Jacobians automatically - no manual derivation</a:t>
            </a:r>
          </a:p>
        </p:txBody>
      </p:sp>
      <p:sp>
        <p:nvSpPr>
          <p:cNvPr id="119" name="Google Shape;119;p29">
            <a:extLst>
              <a:ext uri="{FF2B5EF4-FFF2-40B4-BE49-F238E27FC236}">
                <a16:creationId xmlns:a16="http://schemas.microsoft.com/office/drawing/2014/main" id="{41850BE0-26EA-99B8-309A-AFF371985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3AF955-E985-A63C-BDF3-6DAD4532AA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D25C9D-77D8-8F88-E18D-8A038C0A3A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EC4061-1D21-EF78-926C-DCCAAD54DA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C3A300-A78F-B0AA-B757-BB60580144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F18432-9ED6-590E-9EE4-ABFB06E54D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74542-1103-F5E5-91A6-16F3C46AD2B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D8021CC-2C48-C329-C47F-415BBD73A9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1376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2A807-4945-1E7E-42DA-96FB7C141E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C3C6C7E-4451-3F2F-F68D-B2B457CBD2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resulting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a wide ribbon of zeros, interrupted only by two non-zero blocks: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7"/>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𝟎</m:t>
                                </m:r>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r>
                                  <a:rPr lang="en-US" sz="2000" i="1" dirty="0" smtClean="0">
                                    <a:latin typeface="Cambria Math" panose="02040503050406030204" pitchFamily="18" charset="0"/>
                                    <a:ea typeface="Arial"/>
                                    <a:cs typeface="Arial"/>
                                    <a:sym typeface="Arial"/>
                                  </a:rPr>
                                  <m:t>𝟎</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C3C6C7E-4451-3F2F-F68D-B2B457CBD2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67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01B0E9-347E-90F5-F642-84E8C1F155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FBC7DD-3B93-A25C-4510-916FAA9942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1F07AD-061D-AF82-BE01-4F2E6007EA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788E46-FBFE-68C2-636F-0ECB3F08BF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C450C0-D283-F45C-1298-DF514CE167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0174E0-9AE6-4582-7B7E-DDD2A5E02B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3A390B-16FA-38C8-2266-6762387CE0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CCDA8-7D51-59CF-9958-91A0380560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711828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AC976B-0FE5-C57A-2027-0A4B0FE77BF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B53E1D-824C-1A6B-06BA-DFC68496D43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𝑨</m:t>
                        </m:r>
                      </m:e>
                      <m:sub>
                        <m:r>
                          <a:rPr lang="en-US" sz="2000" b="1" i="1" dirty="0" err="1" smtClean="0">
                            <a:latin typeface="Cambria Math" panose="02040503050406030204" pitchFamily="18" charset="0"/>
                            <a:ea typeface="Arial"/>
                            <a:cs typeface="Arial"/>
                            <a:sym typeface="Arial"/>
                          </a:rPr>
                          <m:t>𝒊𝒋</m:t>
                        </m:r>
                      </m:sub>
                    </m:sSub>
                  </m:oMath>
                </a14:m>
                <a:r>
                  <a:rPr lang="en-US" sz="2000" b="1" dirty="0">
                    <a:latin typeface="Atkinson Hyperlegible Next"/>
                    <a:ea typeface="Arial"/>
                    <a:cs typeface="Arial"/>
                    <a:sym typeface="Arial"/>
                  </a:rPr>
                  <a:t> (Derivative w.r.t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err="1" smtClean="0">
                            <a:latin typeface="Cambria Math" panose="02040503050406030204" pitchFamily="18" charset="0"/>
                            <a:ea typeface="Arial"/>
                            <a:cs typeface="Arial"/>
                            <a:sym typeface="Arial"/>
                          </a:rPr>
                          <m:t>𝒙</m:t>
                        </m:r>
                      </m:e>
                      <m:sub>
                        <m:r>
                          <a:rPr lang="en-US" sz="2000" b="1" i="1" dirty="0" err="1" smtClean="0">
                            <a:latin typeface="Cambria Math" panose="02040503050406030204" pitchFamily="18" charset="0"/>
                            <a:ea typeface="Arial"/>
                            <a:cs typeface="Arial"/>
                            <a:sym typeface="Arial"/>
                          </a:rPr>
                          <m:t>𝒊</m:t>
                        </m:r>
                      </m:sub>
                    </m:sSub>
                  </m:oMath>
                </a14:m>
                <a:r>
                  <a:rPr lang="en-US" sz="2000" b="1"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differentiate the error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(translation)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𝐴</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Translational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err="1">
                    <a:latin typeface="Atkinson Hyperlegible Next"/>
                    <a:ea typeface="Arial"/>
                    <a:cs typeface="Arial"/>
                    <a:sym typeface="Arial"/>
                  </a:rPr>
                  <a:t>Rotational</a:t>
                </a:r>
                <a:r>
                  <a:rPr lang="en-US" sz="2000" b="1" dirty="0">
                    <a:latin typeface="Atkinson Hyperlegible Next"/>
                    <a:ea typeface="Arial"/>
                    <a:cs typeface="Arial"/>
                    <a:sym typeface="Arial"/>
                  </a:rPr>
                  <a:t>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oMath>
                </a14:m>
                <a:r>
                  <a:rPr lang="en-US" sz="2000" dirty="0">
                    <a:latin typeface="Atkinson Hyperlegible Next"/>
                    <a:ea typeface="Arial"/>
                    <a:cs typeface="Arial"/>
                    <a:sym typeface="Arial"/>
                  </a:rPr>
                  <a:t> requires deriving the rotation matrix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a:t>
                </a:r>
              </a:p>
            </p:txBody>
          </p:sp>
        </mc:Choice>
        <mc:Fallback xmlns="">
          <p:sp>
            <p:nvSpPr>
              <p:cNvPr id="118" name="Google Shape;118;p29">
                <a:extLst>
                  <a:ext uri="{FF2B5EF4-FFF2-40B4-BE49-F238E27FC236}">
                    <a16:creationId xmlns:a16="http://schemas.microsoft.com/office/drawing/2014/main" id="{55B53E1D-824C-1A6B-06BA-DFC68496D430}"/>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52FF48-5E0F-0A01-9D7A-619D6F37A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1E94C58-75A7-01FA-746B-96AA26B75AB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AF0D48-9336-E904-39EF-FC96342B2A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4FC76E-2BC6-2943-010A-EB9CBF7E6C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0717BEB-527B-57B4-8755-60BC3C544E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552C78-0E45-0477-BF9D-B09CD69F1E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D0FDC9-E637-CC7E-3CF7-95AC24231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AFE193F-5DAC-2974-A11A-F123ADF350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047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6C7F35-4112-AF07-7AAD-41629618B0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340C60-1C07-6BCE-F8CA-83483F01331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Let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be the derivative of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w.r.t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𝐴</m:t>
                          </m:r>
                        </m:e>
                        <m:sub>
                          <m:r>
                            <a:rPr lang="en-US" sz="2000" i="1" dirty="0" err="1">
                              <a:latin typeface="Cambria Math" panose="02040503050406030204" pitchFamily="18" charset="0"/>
                              <a:ea typeface="Arial"/>
                              <a:cs typeface="Arial"/>
                              <a:sym typeface="Arial"/>
                            </a:rPr>
                            <m:t>𝑖𝑗</m:t>
                          </m:r>
                        </m:sub>
                      </m:sSub>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e>
                              <m:e>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𝑗</m:t>
                                        </m:r>
                                      </m:sub>
                                    </m:sSub>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𝑖</m:t>
                                        </m:r>
                                      </m:sub>
                                    </m:sSub>
                                  </m:e>
                                </m:d>
                              </m:e>
                            </m:mr>
                            <m:mr>
                              <m:e>
                                <m:r>
                                  <a:rPr lang="en-US" sz="2000" i="1" dirty="0">
                                    <a:latin typeface="Cambria Math" panose="02040503050406030204" pitchFamily="18" charset="0"/>
                                    <a:ea typeface="Arial"/>
                                    <a:cs typeface="Arial"/>
                                    <a:sym typeface="Arial"/>
                                  </a:rPr>
                                  <m:t>0  0</m:t>
                                </m:r>
                              </m:e>
                              <m:e>
                                <m:r>
                                  <a:rPr lang="en-US" sz="2000" i="1" dirty="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(Note: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err="1">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m:t>
                        </m:r>
                      </m:sup>
                    </m:sSubSup>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func>
                                <m:funcPr>
                                  <m:ctrlPr>
                                    <a:rPr lang="en-US" sz="2000" i="1" dirty="0">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r>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
                      </m:e>
                    </m:d>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F6340C60-1C07-6BCE-F8CA-83483F013312}"/>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AB3055-A4BA-9CCD-96CB-FFC93B657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441900-6DDF-A74F-503F-F2A4C16151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EAA146-72EF-3AF6-9656-8B6E5F465F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D17835-1589-DAFD-8E81-067F481F00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D3B19E-AD91-800E-02A6-65BCEE3FF3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4FB47D-D4C3-1A15-AAFE-88A6D1FB4E0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0E05-A14A-FF8B-B91D-DD7C2E1916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4D973-F0E5-294F-4256-8655055CEE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52050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6BDB2E-97B0-BC75-5BFE-DB778D80D9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780FA45-3442-D45F-7101-E43C448FC81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𝑩</m:t>
                        </m:r>
                      </m:e>
                      <m:sub>
                        <m:r>
                          <a:rPr lang="en-US" sz="2000" b="1" i="1" dirty="0" err="1" smtClean="0">
                            <a:latin typeface="Cambria Math" panose="02040503050406030204" pitchFamily="18" charset="0"/>
                            <a:ea typeface="Arial"/>
                            <a:cs typeface="Arial"/>
                            <a:sym typeface="Arial"/>
                          </a:rPr>
                          <m:t>𝒊𝒋</m:t>
                        </m:r>
                      </m:sub>
                    </m:sSub>
                  </m:oMath>
                </a14:m>
                <a:r>
                  <a:rPr lang="en-US" sz="2000" dirty="0">
                    <a:latin typeface="Atkinson Hyperlegible Next"/>
                    <a:ea typeface="Arial"/>
                    <a:cs typeface="Arial"/>
                    <a:sym typeface="Arial"/>
                  </a:rPr>
                  <a:t> (Derivative w.r.t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b="0" i="1" dirty="0" err="1" smtClean="0">
                            <a:latin typeface="Cambria Math" panose="02040503050406030204" pitchFamily="18" charset="0"/>
                            <a:ea typeface="Arial"/>
                            <a:cs typeface="Arial"/>
                            <a:sym typeface="Arial"/>
                          </a:rPr>
                          <m:t>𝑥</m:t>
                        </m:r>
                      </m:e>
                      <m:sub>
                        <m:r>
                          <a:rPr lang="en-US" sz="2000" b="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one is much simpler because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appears linearly in the error function and isn't rotating any coordinate frames.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𝑗</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𝑗</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e>
                              <m:e>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0</m:t>
                                          </m:r>
                                        </m:e>
                                      </m:mr>
                                      <m:mr>
                                        <m:e>
                                          <m:r>
                                            <a:rPr lang="en-US" sz="2000" i="1" dirty="0" smtClean="0">
                                              <a:latin typeface="Cambria Math" panose="02040503050406030204" pitchFamily="18" charset="0"/>
                                              <a:ea typeface="Arial"/>
                                              <a:cs typeface="Arial"/>
                                              <a:sym typeface="Arial"/>
                                            </a:rPr>
                                            <m:t>0</m:t>
                                          </m:r>
                                        </m:e>
                                      </m:mr>
                                    </m:m>
                                  </m:e>
                                </m:d>
                              </m:e>
                            </m:mr>
                            <m:mr>
                              <m:e>
                                <m:r>
                                  <a:rPr lang="en-US" sz="2000" i="1" dirty="0" smtClean="0">
                                    <a:latin typeface="Cambria Math" panose="02040503050406030204" pitchFamily="18" charset="0"/>
                                    <a:ea typeface="Arial"/>
                                    <a:cs typeface="Arial"/>
                                    <a:sym typeface="Arial"/>
                                  </a:rPr>
                                  <m:t>0</m:t>
                                </m:r>
                                <m:r>
                                  <a:rPr lang="en-US" sz="2000" b="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0</m:t>
                                </m:r>
                              </m:e>
                              <m:e>
                                <m:r>
                                  <a:rPr lang="en-US" sz="2000" i="1" dirty="0" smtClean="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780FA45-3442-D45F-7101-E43C448FC81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591548-1763-81CF-BF7A-A45387B8B6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EC759D-4DDB-C9AB-700D-4702508E80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4E5C3C-28F8-D7D1-F1FD-E2FA265853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8C49F0-6287-28A3-8500-510A8E53CD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92A148-DF41-D467-4FD8-0E18737EDE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8CBF81-6D53-8F41-0119-92A7314E5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50D113-C1D8-F975-0A5E-9603E33645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74FAEF-D264-A783-7645-AAEE154083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1288849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F45E10-3718-D1AE-FF49-6A076A3B51C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01F03F7-FB42-0F9B-93C4-FD7A5B7296B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2: Gauss-Newton Normal Equations</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the Taylor approximation and minimizing yields a linear system in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matrix aggregates the “stiffness” of every edge at the current guess</a:t>
                </a: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vector aggregates the “pulling force” of every edge at the current guess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Solve once, apply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to all poses, re-linearize, repeat until convergence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01F03F7-FB42-0F9B-93C4-FD7A5B7296B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F0AC7-3FAA-3CF9-9612-DBEED574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29E012-05E5-EC90-1842-0183F6F23E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26C4E4-C4A3-4E9A-82A4-67EFE114805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60D6DF-730C-0FBC-E22D-AA052BE3AB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2CE263-64C9-E9AD-9D21-7233FD0AE3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F19A3A-11BD-A987-B43D-7CC0C058ED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ECDF5F-382E-4BD0-B583-C8C4140A947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A516B26-6BC0-A532-4538-FE68CC4EA5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Shape 4">
            <a:extLst>
              <a:ext uri="{FF2B5EF4-FFF2-40B4-BE49-F238E27FC236}">
                <a16:creationId xmlns:a16="http://schemas.microsoft.com/office/drawing/2014/main" id="{586CD38B-E63A-1532-31B7-0D126B3C454E}"/>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7FE403DC-61A7-AB4C-D7E9-C8BE582C02C2}"/>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986B85A8-9958-316C-451D-8E404F072494}"/>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986B85A8-9958-316C-451D-8E404F072494}"/>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47BD47D3-3446-0957-95C3-B42C1EFAB446}"/>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5E6E85"/>
                </a:solidFill>
                <a:latin typeface="Atkinson Hyperlegible Next"/>
                <a:ea typeface="Calibri" pitchFamily="34" charset="-122"/>
                <a:cs typeface="Calibri" pitchFamily="34" charset="-120"/>
              </a:rPr>
              <a:t>The heart of every graph-SLAM solver</a:t>
            </a:r>
            <a:endParaRPr lang="en-US" sz="1000" dirty="0"/>
          </a:p>
        </p:txBody>
      </p:sp>
    </p:spTree>
    <p:extLst>
      <p:ext uri="{BB962C8B-B14F-4D97-AF65-F5344CB8AC3E}">
        <p14:creationId xmlns:p14="http://schemas.microsoft.com/office/powerpoint/2010/main" val="170477007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B174E9-FA46-78C4-4A2C-EF2C7FBF9EB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02BF715-DAED-203D-9AEA-79E261D78DE7}"/>
                  </a:ext>
                </a:extLst>
              </p:cNvPr>
              <p:cNvSpPr txBox="1">
                <a:spLocks noGrp="1"/>
              </p:cNvSpPr>
              <p:nvPr>
                <p:ph type="body" idx="1"/>
              </p:nvPr>
            </p:nvSpPr>
            <p:spPr>
              <a:xfrm>
                <a:off x="376807" y="2419329"/>
                <a:ext cx="11177401" cy="410470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Total number of poses (nodes) in your graph.</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𝑘</m:t>
                    </m:r>
                  </m:oMath>
                </a14:m>
                <a:r>
                  <a:rPr lang="en-US" sz="2000" dirty="0">
                    <a:latin typeface="Atkinson Hyperlegible Next"/>
                    <a:ea typeface="Arial"/>
                    <a:cs typeface="Arial"/>
                    <a:sym typeface="Arial"/>
                  </a:rPr>
                  <a:t>: Degrees of freedom per pose (for 2D, </a:t>
                </a:r>
                <a14:m>
                  <m:oMath xmlns:m="http://schemas.openxmlformats.org/officeDocument/2006/math">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 representing </a:t>
                </a:r>
                <a14:m>
                  <m:oMath xmlns:m="http://schemas.openxmlformats.org/officeDocument/2006/math">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𝑑</m:t>
                    </m:r>
                  </m:oMath>
                </a14:m>
                <a:r>
                  <a:rPr lang="en-US" sz="2000" dirty="0">
                    <a:latin typeface="Atkinson Hyperlegible Next"/>
                    <a:ea typeface="Arial"/>
                    <a:cs typeface="Arial"/>
                    <a:sym typeface="Arial"/>
                  </a:rPr>
                  <a:t>: Dimension of a single edge measurement (for a 2D relative pose constraint,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Error Vector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Information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m:rPr>
                            <m:sty m:val="p"/>
                          </m:rPr>
                          <a:rPr lang="en-US" sz="2000" i="0" dirty="0" smtClean="0">
                            <a:latin typeface="Cambria Math" panose="02040503050406030204" pitchFamily="18" charset="0"/>
                            <a:ea typeface="Arial"/>
                            <a:cs typeface="Arial"/>
                            <a:sym typeface="Arial"/>
                          </a:rPr>
                          <m:t>Ω</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𝑑</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Jacobian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Matrix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Vector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Update Vector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02BF715-DAED-203D-9AEA-79E261D78DE7}"/>
                  </a:ext>
                </a:extLst>
              </p:cNvPr>
              <p:cNvSpPr txBox="1">
                <a:spLocks noGrp="1" noRot="1" noChangeAspect="1" noMove="1" noResize="1" noEditPoints="1" noAdjustHandles="1" noChangeArrowheads="1" noChangeShapeType="1" noTextEdit="1"/>
              </p:cNvSpPr>
              <p:nvPr>
                <p:ph type="body" idx="1"/>
              </p:nvPr>
            </p:nvSpPr>
            <p:spPr>
              <a:xfrm>
                <a:off x="376807" y="2419329"/>
                <a:ext cx="11177401" cy="4104706"/>
              </a:xfrm>
              <a:prstGeom prst="rect">
                <a:avLst/>
              </a:prstGeom>
              <a:blipFill>
                <a:blip r:embed="rId3"/>
                <a:stretch>
                  <a:fillRect l="-1146" t="-74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467A06C-9C2D-0CFA-B467-0578BF97C4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8E7EFB-6DAA-3038-65D6-BB64CD12F1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CCD0035-D77D-994E-EAF9-21BBD7589A0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470C1B-ED7C-2197-2699-F7200BCD6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54D6B1-FD40-BDFB-C088-87FE924B00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D6C12B-C727-DA35-668B-30EDAD8A491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ED12AA-8231-A847-11A0-82765C4D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DC5537-1857-735A-4E93-5F0A40905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2E3E4399-53AF-4228-71CB-6239706BE9E9}"/>
              </a:ext>
            </a:extLst>
          </p:cNvPr>
          <p:cNvGrpSpPr/>
          <p:nvPr/>
        </p:nvGrpSpPr>
        <p:grpSpPr>
          <a:xfrm>
            <a:off x="1371752" y="1069664"/>
            <a:ext cx="9448495" cy="1280160"/>
            <a:chOff x="1390802" y="2331720"/>
            <a:chExt cx="9448495" cy="1280160"/>
          </a:xfrm>
        </p:grpSpPr>
        <p:sp>
          <p:nvSpPr>
            <p:cNvPr id="2" name="Shape 4">
              <a:extLst>
                <a:ext uri="{FF2B5EF4-FFF2-40B4-BE49-F238E27FC236}">
                  <a16:creationId xmlns:a16="http://schemas.microsoft.com/office/drawing/2014/main" id="{8CD63C28-9ED6-7EC5-4456-28D07D239219}"/>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E4D36C91-A59F-A647-8177-149038897540}"/>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DD3B971A-B76E-B400-30F4-D60CF7F46755}"/>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DD3B971A-B76E-B400-30F4-D60CF7F46755}"/>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938D8906-E1E6-34C3-A513-0E9B4E95B9D4}"/>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5E6E85"/>
                  </a:solidFill>
                  <a:latin typeface="Atkinson Hyperlegible Next"/>
                  <a:ea typeface="Calibri" pitchFamily="34" charset="-122"/>
                  <a:cs typeface="Calibri" pitchFamily="34" charset="-120"/>
                </a:rPr>
                <a:t>The heart of every graph-SLAM solver</a:t>
              </a:r>
              <a:endParaRPr lang="en-US" sz="1000" dirty="0"/>
            </a:p>
          </p:txBody>
        </p:sp>
      </p:grpSp>
    </p:spTree>
    <p:extLst>
      <p:ext uri="{BB962C8B-B14F-4D97-AF65-F5344CB8AC3E}">
        <p14:creationId xmlns:p14="http://schemas.microsoft.com/office/powerpoint/2010/main" val="725764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1FDD21-D8A8-88EA-4DBC-B1CD36410D5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A5014D4-7EAF-8EA2-588A-5B0BD1381CB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Gauss-Newton is fast near the optimum but unstable far from it,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can be near-singular</a:t>
                </a:r>
              </a:p>
              <a:p>
                <a:pPr marL="0" indent="0">
                  <a:lnSpc>
                    <a:spcPct val="100000"/>
                  </a:lnSpc>
                  <a:spcBef>
                    <a:spcPts val="0"/>
                  </a:spcBef>
                  <a:buSzPts val="3000"/>
                  <a:buNone/>
                </a:pPr>
                <a:r>
                  <a:rPr lang="en-US" sz="2000" dirty="0">
                    <a:latin typeface="Atkinson Hyperlegible Next"/>
                    <a:ea typeface="Arial"/>
                    <a:cs typeface="Arial"/>
                    <a:sym typeface="Arial"/>
                  </a:rPr>
                  <a:t>Levenberg-Marquardt (L-M) adds a damping factor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to the diagonal of H: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𝐻</m:t>
                      </m:r>
                      <m:r>
                        <a:rPr lang="en-US" sz="2000" i="1" dirty="0" smtClean="0">
                          <a:latin typeface="Cambria Math" panose="02040503050406030204" pitchFamily="18" charset="0"/>
                          <a:ea typeface="Arial"/>
                          <a:cs typeface="Arial"/>
                          <a:sym typeface="Arial"/>
                        </a:rPr>
                        <m:t> + </m:t>
                      </m:r>
                      <m:r>
                        <a:rPr lang="el-GR" sz="2000" i="1" dirty="0" smtClean="0">
                          <a:latin typeface="Cambria Math" panose="02040503050406030204" pitchFamily="18" charset="0"/>
                          <a:ea typeface="Arial"/>
                          <a:cs typeface="Arial"/>
                          <a:sym typeface="Arial"/>
                        </a:rPr>
                        <m:t>𝜆</m:t>
                      </m:r>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m:rPr>
                          <m:sty m:val="p"/>
                        </m:rPr>
                        <a:rPr lang="el-GR"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 −</m:t>
                      </m:r>
                      <m:r>
                        <a:rPr lang="en-US" sz="2000" i="1" dirty="0" smtClean="0">
                          <a:latin typeface="Cambria Math" panose="02040503050406030204" pitchFamily="18" charset="0"/>
                          <a:ea typeface="Arial"/>
                          <a:cs typeface="Arial"/>
                          <a:sym typeface="Arial"/>
                        </a:rPr>
                        <m:t>𝑏</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slow, safe gradient descent (small, conservative steps)</a:t>
                </a:r>
              </a:p>
              <a:p>
                <a:pPr marL="0" indent="0">
                  <a:lnSpc>
                    <a:spcPct val="100000"/>
                  </a:lnSpc>
                  <a:spcBef>
                    <a:spcPts val="0"/>
                  </a:spcBef>
                  <a:buSzPts val="3000"/>
                  <a:buNone/>
                </a:pPr>
                <a:r>
                  <a:rPr lang="en-US" sz="2000" dirty="0">
                    <a:latin typeface="Atkinson Hyperlegible Next"/>
                    <a:ea typeface="Arial"/>
                    <a:cs typeface="Arial"/>
                    <a:sym typeface="Arial"/>
                  </a:rPr>
                  <a:t>Small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fast Gauss-Newton (full-size, ambitious steps)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is adaptively tuned at runtime, shrunk on successful steps, grown after failures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just need to know that it is used for robustness)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A5014D4-7EAF-8EA2-588A-5B0BD1381CB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F655BE3-D183-BA47-EB9B-69EF40663C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D83FD-015B-E987-BB42-C02BBB6D12D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E201C6-6DC1-73A1-4EE3-ACF97D5FDC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B790F1-B326-2C2C-D4C8-3BC4EFE95A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9755BF-6F13-E447-EBC9-1D9F040C0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F3986E-15D9-890C-821E-A38ABD0FE5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5C9E47-8F3A-F9FE-54F0-AA5145BEA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2BE430-612D-285D-F5C2-82C3503A74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7411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067DD8-57D2-980B-3EB1-93AB071B78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9CF13C-4107-2EA2-41CC-0407DC3055A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would one solve this system of equation for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000" i="1">
                        <a:latin typeface="Cambria Math" panose="02040503050406030204" pitchFamily="18" charset="0"/>
                        <a:ea typeface="Arial"/>
                        <a:cs typeface="Arial"/>
                      </a:rPr>
                      <m:t>H</m:t>
                    </m:r>
                    <m:r>
                      <a:rPr lang="en-US" sz="2000" i="1">
                        <a:latin typeface="Cambria Math" panose="02040503050406030204" pitchFamily="18" charset="0"/>
                        <a:ea typeface="Arial"/>
                        <a:cs typeface="Arial"/>
                      </a:rPr>
                      <m:t> ⋅</m:t>
                    </m:r>
                    <m:r>
                      <m:rPr>
                        <m:sty m:val="p"/>
                      </m:rPr>
                      <a:rPr lang="en-US" sz="2000" i="1">
                        <a:latin typeface="Cambria Math" panose="02040503050406030204" pitchFamily="18" charset="0"/>
                        <a:ea typeface="Arial"/>
                        <a:cs typeface="Arial"/>
                      </a:rPr>
                      <m:t>Δx</m:t>
                    </m:r>
                    <m:r>
                      <a:rPr lang="en-US" sz="2000" i="1">
                        <a:latin typeface="Cambria Math" panose="02040503050406030204" pitchFamily="18" charset="0"/>
                        <a:ea typeface="Arial"/>
                        <a:cs typeface="Arial"/>
                      </a:rPr>
                      <m:t> = −</m:t>
                    </m:r>
                    <m:r>
                      <m:rPr>
                        <m:sty m:val="p"/>
                      </m:rPr>
                      <a:rPr lang="en-US" sz="2000" i="1">
                        <a:latin typeface="Cambria Math" panose="02040503050406030204" pitchFamily="18" charset="0"/>
                        <a:ea typeface="Arial"/>
                        <a:cs typeface="Arial"/>
                      </a:rPr>
                      <m:t>b</m:t>
                    </m:r>
                  </m:oMath>
                </a14:m>
                <a:r>
                  <a:rPr lang="en-US" sz="2000" dirty="0">
                    <a:ea typeface="Arial"/>
                    <a:cs typeface="Arial"/>
                  </a:rPr>
                  <a:t>, where </a:t>
                </a:r>
                <a14:m>
                  <m:oMath xmlns:m="http://schemas.openxmlformats.org/officeDocument/2006/math">
                    <m:r>
                      <a:rPr lang="en-US" sz="2000" i="1">
                        <a:latin typeface="Cambria Math" panose="02040503050406030204" pitchFamily="18" charset="0"/>
                        <a:ea typeface="Arial"/>
                        <a:cs typeface="Arial"/>
                      </a:rPr>
                      <m:t>𝐻</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𝐽</m:t>
                    </m:r>
                  </m:oMath>
                </a14:m>
                <a:r>
                  <a:rPr lang="en-US" sz="2000" dirty="0">
                    <a:ea typeface="Arial"/>
                    <a:cs typeface="Arial"/>
                  </a:rPr>
                  <a:t> and </a:t>
                </a:r>
                <a14:m>
                  <m:oMath xmlns:m="http://schemas.openxmlformats.org/officeDocument/2006/math">
                    <m:r>
                      <a:rPr lang="en-US" sz="2000" i="1">
                        <a:latin typeface="Cambria Math" panose="02040503050406030204" pitchFamily="18" charset="0"/>
                        <a:ea typeface="Arial"/>
                        <a:cs typeface="Arial"/>
                      </a:rPr>
                      <m:t>𝑏</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m:t>
                    </m:r>
                    <m:r>
                      <a:rPr lang="en-US" sz="2000" i="1">
                        <a:latin typeface="Cambria Math" panose="02040503050406030204" pitchFamily="18" charset="0"/>
                        <a:ea typeface="Arial"/>
                        <a:cs typeface="Arial"/>
                      </a:rPr>
                      <m:t>𝑒</m:t>
                    </m:r>
                  </m:oMath>
                </a14:m>
                <a:endParaRPr lang="en-US" sz="2000" dirty="0">
                  <a:latin typeface="Atkinson Hyperlegible Next"/>
                  <a:ea typeface="Arial"/>
                  <a:cs typeface="Arial"/>
                  <a:sym typeface="Arial"/>
                </a:endParaRP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problem? Think computationally.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 10,000-pose graph in 2D,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has the size of </a:t>
                </a:r>
                <a14:m>
                  <m:oMath xmlns:m="http://schemas.openxmlformats.org/officeDocument/2006/math">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r>
                      <a:rPr lang="en-US" sz="2000" i="1" dirty="0">
                        <a:latin typeface="Cambria Math" panose="02040503050406030204" pitchFamily="18" charset="0"/>
                        <a:ea typeface="Arial"/>
                        <a:cs typeface="Arial"/>
                        <a:sym typeface="Arial"/>
                      </a:rPr>
                      <m:t>×</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oMath>
                </a14:m>
                <a:r>
                  <a:rPr lang="en-US" sz="2000" dirty="0">
                    <a:latin typeface="Atkinson Hyperlegible Next"/>
                    <a:ea typeface="Arial"/>
                    <a:cs typeface="Arial"/>
                    <a:sym typeface="Arial"/>
                  </a:rPr>
                  <a:t>, is a 30,000 × 30,000 matrix - 900 million entries</a:t>
                </a:r>
              </a:p>
              <a:p>
                <a:pPr marL="0" indent="0">
                  <a:lnSpc>
                    <a:spcPct val="100000"/>
                  </a:lnSpc>
                  <a:spcBef>
                    <a:spcPts val="0"/>
                  </a:spcBef>
                  <a:buSzPts val="3000"/>
                  <a:buNone/>
                </a:pPr>
                <a:r>
                  <a:rPr lang="en-US" sz="2000" dirty="0">
                    <a:latin typeface="Atkinson Hyperlegible Next"/>
                    <a:ea typeface="Arial"/>
                    <a:cs typeface="Arial"/>
                    <a:sym typeface="Arial"/>
                  </a:rPr>
                  <a:t>Dense inversion would take minutes and gigabytes - completely infeasible!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But remember that </a:t>
                </a:r>
                <a14:m>
                  <m:oMath xmlns:m="http://schemas.openxmlformats.org/officeDocument/2006/math">
                    <m:r>
                      <a:rPr lang="en-US" sz="2000" i="1" dirty="0" smtClean="0">
                        <a:latin typeface="Cambria Math" panose="02040503050406030204" pitchFamily="18" charset="0"/>
                        <a:ea typeface="Arial"/>
                        <a:cs typeface="Arial"/>
                        <a:sym typeface="Arial"/>
                      </a:rPr>
                      <m:t>𝐽</m:t>
                    </m:r>
                  </m:oMath>
                </a14:m>
                <a:r>
                  <a:rPr lang="en-US" sz="2000" dirty="0">
                    <a:latin typeface="Atkinson Hyperlegible Next"/>
                    <a:ea typeface="Arial"/>
                    <a:cs typeface="Arial"/>
                    <a:sym typeface="Arial"/>
                  </a:rPr>
                  <a:t> was sparse, so 99.9%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is zero and is thus also sparse!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Sparse solvers exploit this structure: they only store non-zeros and skip zero rows/columns!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Cholesky decomposition of a sparse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runs in milliseconds, not minutes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D9CF13C-4107-2EA2-41CC-0407DC3055A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9137BC-9D30-D487-A67D-E2203A8BB6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DA95E9-F93A-B79F-4A33-F7D2C1C008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7D6268-1736-429F-267B-A2C91C5B246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533396-FE88-9901-1EF0-B91E801623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69AEBE-6424-C8C8-C8AB-7FB98C27C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31D66A-6A4E-7D30-2E6D-080DCCE53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3DD7C26-885F-85E8-5C0C-810119D0FF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ABF0AE-F82B-773F-7EAC-1D754EC8BAE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2142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C34485C-99D3-6545-4425-5DB44FDA07D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CAF487-6377-ECFA-2024-7EBB446650C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Loop Closure</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3A4ACDA-C24F-9123-F598-1AB9D082DDB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D122F66-C502-A4B7-5AB4-63C2762F4FD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C68B81-D693-C19F-98B7-01F4592AD39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DBD6225-CECE-D538-3F02-BD651048173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9B362C9-1F00-1DD0-656D-84099BD04C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4DC17C8B-1DF0-B4DD-70F6-418AE41569E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DDC7A2BB-91EB-AA6E-67BC-E4867846035D}"/>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4DF60D6-D019-7C10-77D6-B14C1CA413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DD5667-EA79-4CE3-FC60-035F910B5F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84022527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25DC7A-DF2F-C2AF-5918-FAB9B8BBA7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00ABB-A2EA-6BBE-855B-056AF1BD1CC3}"/>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Loop closure:</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 front-end periodically compares the current scan against historical keyframe scans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Candidate matches are ranked by scan-match score (after an initial coarse filter)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A candidate is promoted to a loop closure only when its score exceeds a strict threshold</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To avoid false positives, some systems also require geometric consistency across nearby frames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When confirmed, a new edge is added connecting current pose back to the matched historical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2F849E-7B2A-25C6-0EA9-3F2658C1D9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FCD0F6-E1C6-6D64-E723-1FC7C8DD6D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E415E45-90F2-5CA1-D5D3-8897505CED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D55BE7-4093-E6B7-7909-4AA763A2E3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74247B-2392-0141-8FF8-1C27A3B4F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BCEA92-3F44-B3A8-414A-3F2CDF5BA2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EBF5B5-0D46-4AAC-E647-0693F94386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03BDC1-9F89-340B-4FEE-486EBFC6FC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289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6A5E99-1A41-1C7C-E535-D27E396D326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3D4AC46-FF28-AE05-5309-FA43A36D8E8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D43EF-62D4-BE5B-1C44-88187C19B8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AE2F43-49EF-B5A7-B852-72EED47E0C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44CEF8-0D7D-D069-F152-AE9ABBF3D7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D63AA8-EF27-84E3-F533-A6375C5C04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BC2C83-CEC3-DE7F-930E-65442CB1A5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39DEF-B6EE-3682-5086-E61953CD48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31D9F6B-6676-EE07-C24E-58E24D81A7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Software architecture diagram of the SLAM system. External C/C++ LiDAR and odometry processes write to shared memory (/lslam_lidar: 228 by 2 float32 points per sweep; /lslam_odom: x, y, theta) and signal Python reader threads via semaphores. Readers feed lidar_q and odom_buffer to the SLAM main loop, which updates the iSAM2 factor graph. The main loop sends new keyframe indices through loop_in_q to a LoopClosureWorker thread. The worker reads keyframe scans and poses under slam_lock and returns relative pose and RMSE through loop_out_q.">
            <a:extLst>
              <a:ext uri="{FF2B5EF4-FFF2-40B4-BE49-F238E27FC236}">
                <a16:creationId xmlns:a16="http://schemas.microsoft.com/office/drawing/2014/main" id="{ECE00094-BEC3-DEB1-565F-4231CAE04C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61154" y="906289"/>
            <a:ext cx="8879091" cy="5617750"/>
          </a:xfrm>
          <a:prstGeom prst="rect">
            <a:avLst/>
          </a:prstGeom>
        </p:spPr>
      </p:pic>
    </p:spTree>
    <p:extLst>
      <p:ext uri="{BB962C8B-B14F-4D97-AF65-F5344CB8AC3E}">
        <p14:creationId xmlns:p14="http://schemas.microsoft.com/office/powerpoint/2010/main" val="419673127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B4EF6-1004-E49B-BD35-6B674E4335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3FD0B5-3A5B-7821-A01F-9BBEB700826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initial </a:t>
            </a:r>
            <a:r>
              <a:rPr lang="en-US" sz="2000" b="1" dirty="0">
                <a:latin typeface="Atkinson Hyperlegible Next"/>
                <a:ea typeface="Arial"/>
                <a:cs typeface="Arial"/>
                <a:sym typeface="Arial"/>
              </a:rPr>
              <a:t>Coarse Filter</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front-end periodically compares the current scan against historical keyframe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Comparing the current scan to every single historical frame is computationally too expensive for real-time systems.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(hint: technique used in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apply an initial coarse filter using spatial data structures like KD-Trees to find poses within a specific radius (e.g., 2.5 meters) before running full alignment.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our specific robot what another filter could we 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also apply a heading limit filter to instantly reject candidates facing a completely different direction. We can do this because our LiDAR is only 240 degrees of FOV, so it can’t see the back.</a:t>
            </a:r>
          </a:p>
        </p:txBody>
      </p:sp>
      <p:sp>
        <p:nvSpPr>
          <p:cNvPr id="119" name="Google Shape;119;p29">
            <a:extLst>
              <a:ext uri="{FF2B5EF4-FFF2-40B4-BE49-F238E27FC236}">
                <a16:creationId xmlns:a16="http://schemas.microsoft.com/office/drawing/2014/main" id="{77A10251-BFD2-6809-9CD1-7827E4A2A9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8210E3-2885-BC65-FE51-432DFBED25C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Coarse Filter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7C560C-CE6B-C2AE-CBF1-769A74061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B1A601-6BB9-6D7E-823D-5B6EFE61C5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ADCDF2-E342-9EB3-A945-97AC0E87F5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01A68C-BB3C-4412-E650-5B923CB6D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B276D-0BA0-0B2B-A864-26AC86E0F2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855AB4-BD98-09C7-CB58-CD22489D06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5238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E71FAB-F99B-C7CC-A50B-99A6A75D903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3B7741-7AA2-7316-70B8-AC2E12B67A4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Raw LiDAR scans produce thousands of points per sweep (for more expensive sensors, ours only has 228!), many hitting the same flat surfaces redundantly.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to reduce the amount of computation?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process 50 points on a flat wall when 1 point could reliably represent that entire local area?</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Voxelization divides the 2D space into a grid of 'cells' (voxels).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All points falling inside the same cell are averaged into a single representative point, massively speeding up the scan-matching pipeline.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can divide the number of LiDAR points but 10x (thus 10x or more computational gains!)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set the voxel size too large (e.g., 1 meter), how would that affect our ability to detect small obstacles like chair legs?</a:t>
            </a:r>
          </a:p>
        </p:txBody>
      </p:sp>
      <p:sp>
        <p:nvSpPr>
          <p:cNvPr id="119" name="Google Shape;119;p29">
            <a:extLst>
              <a:ext uri="{FF2B5EF4-FFF2-40B4-BE49-F238E27FC236}">
                <a16:creationId xmlns:a16="http://schemas.microsoft.com/office/drawing/2014/main" id="{B56EE218-5F26-805C-4895-2DD1247B85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B9CF5B-CB69-2779-F539-812737F310D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Voxelization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C150C0-1632-D220-F828-87049C2412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D00DDC-F903-1D31-5ACD-0C82E50CFD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EE7988-D2B2-1DDA-444D-8168CB38BC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0A6397-5A0C-5F4E-9B04-890EDEB3B6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CC1A5B-C4A6-2D28-1BA6-934415F5CE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750F4D-CB1A-9B55-D4CB-A2772CB87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0593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09EC-08B7-0528-3F8C-C4DC17EF7A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208CA7-6188-C934-5F17-B7409EC5A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 Scan-Match Scoring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start with an initial guess (often from high-frequency IMU/odometry integration) and transform the incoming scan points into the global frame.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measure the error, we need to know which new point corresponds to which historical point in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checking every single point in the map, we use the cached KD-Tree to rapidly find the two nearest neighbors for each transformed point.</a:t>
            </a:r>
          </a:p>
        </p:txBody>
      </p:sp>
      <p:sp>
        <p:nvSpPr>
          <p:cNvPr id="119" name="Google Shape;119;p29">
            <a:extLst>
              <a:ext uri="{FF2B5EF4-FFF2-40B4-BE49-F238E27FC236}">
                <a16:creationId xmlns:a16="http://schemas.microsoft.com/office/drawing/2014/main" id="{C123A8E8-79C3-4FB3-4961-567897F5E6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76CE2C-0553-91C9-BD5B-B7098134049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4507B5-221E-F66F-9F2B-699317910E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0D62A63-6570-528D-9F2C-23C672D34D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3404F83-60EB-034C-032C-345B05CC09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D7DA69-9A38-572C-1466-DE8ED5928B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AF739B-24F5-C214-65AE-B32234FBC1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27FC1E-AA77-AE9F-F2E3-456E20C4C4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6187041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076C98-8EFA-BAEA-9119-9D6CD0B7D1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257A4F-6717-41FC-C4A0-98D34811B3F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Before calculating how to correct the pose, we must filter out bad associations (e.g., points hitting a person walking by).</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First, we reject target pairs that are too far apart, as they likely bridge a gap rather than form a solid surface (objects too far away for the LiDAR or such potential errors).</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Second, we sort the residuals and drop the worst percentage (e.g., rejecting the top 15% of errors). This is called Trimming or Trimmed ICP.</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we apply Huber Loss weights: small errors get a full weight of 1.0, while large errors are scaled down inversely to their magnitude.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is scaling down the weight of a mildly large error via Huber Loss often better than simply applying a hard cutoff and deleting the point entirely?</a:t>
            </a:r>
          </a:p>
          <a:p>
            <a:pPr marL="0" indent="0" algn="ctr">
              <a:lnSpc>
                <a:spcPct val="100000"/>
              </a:lnSpc>
              <a:spcBef>
                <a:spcPts val="0"/>
              </a:spcBef>
              <a:buSzPts val="3000"/>
              <a:buNone/>
            </a:pPr>
            <a:r>
              <a:rPr lang="en-US" sz="2000" dirty="0">
                <a:latin typeface="Atkinson Hyperlegible Next"/>
                <a:ea typeface="Arial"/>
                <a:cs typeface="Arial"/>
                <a:sym typeface="Arial"/>
              </a:rPr>
              <a:t>Huber Loss prevents the complete loss of information for mildly large errors</a:t>
            </a:r>
          </a:p>
        </p:txBody>
      </p:sp>
      <p:sp>
        <p:nvSpPr>
          <p:cNvPr id="119" name="Google Shape;119;p29">
            <a:extLst>
              <a:ext uri="{FF2B5EF4-FFF2-40B4-BE49-F238E27FC236}">
                <a16:creationId xmlns:a16="http://schemas.microsoft.com/office/drawing/2014/main" id="{A1E17219-0979-F2E9-52D7-E29DCAD010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D743D0D-A3F0-D4FD-D2AC-BB353F59D5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19F5CF-E07E-4577-57F1-407A3A9317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48AF22-16FC-1DAF-2357-033F1B8538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C60CC6-9272-1356-4A4B-DD1039987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C273F5-A062-0373-596D-79E22A5217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F57AD0-6301-4830-F699-1E6DE51258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A4E197-61B3-1A8F-3FC9-3CDB8DD201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7919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D59CA-3BA0-B09A-8E36-C0735128F2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EED405D-62DC-96C7-FA88-1C07AF77AE1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Huber loss is a very common robust loss metric that ensures that we do not give too much weight to large errors,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𝑤</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=1, </m:t>
                      </m:r>
                      <m:r>
                        <a:rPr lang="en-US" sz="2000" b="0" i="1" smtClean="0">
                          <a:latin typeface="Cambria Math" panose="02040503050406030204" pitchFamily="18" charset="0"/>
                          <a:ea typeface="Arial"/>
                          <a:cs typeface="Arial"/>
                          <a:sym typeface="Arial"/>
                        </a:rPr>
                        <m:t>𝑖𝑓</m:t>
                      </m:r>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&lt;</m:t>
                      </m:r>
                      <m:r>
                        <a:rPr lang="en-US" sz="2000" b="0" i="1" smtClean="0">
                          <a:latin typeface="Cambria Math" panose="02040503050406030204" pitchFamily="18" charset="0"/>
                          <a:ea typeface="Arial"/>
                          <a:cs typeface="Arial"/>
                          <a:sym typeface="Arial"/>
                        </a:rPr>
                        <m:t>𝛿</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𝑒𝑙𝑠𝑒</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𝛿</m:t>
                          </m:r>
                        </m:num>
                        <m:den>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EED405D-62DC-96C7-FA88-1C07AF77AE1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8C0B7E-D437-8D6D-EFFA-1BE625A75D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EEE2675-87EF-689B-CECF-9F8B4A41FB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2C3D25-3274-EE45-BAA2-BA2061146D4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287281-32EA-1FBF-6009-D714816AC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4C26E3-8BE4-11E2-9491-3EA6CCE31A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880B05-D46C-AEFC-11B4-0A850EF3BB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1F417-5A17-5320-92ED-9CBEC79D19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8E06C2-6561-E598-F6B6-2AC13C95F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of loss versus error from minus 4 to 4. A blue parabola, one half x squared, rises to 8 at both ends. A green Huber loss curve matches the parabola between minus 1 and 1, then continues as straight lines growing linearly, reaching only 3.5 at plus and minus 4. Large errors are therefore penalized far less than under squared loss.">
            <a:extLst>
              <a:ext uri="{FF2B5EF4-FFF2-40B4-BE49-F238E27FC236}">
                <a16:creationId xmlns:a16="http://schemas.microsoft.com/office/drawing/2014/main" id="{7A6228AF-A121-E196-A3EB-03CAD843C0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11535" y="2785636"/>
            <a:ext cx="4907947" cy="3680960"/>
          </a:xfrm>
          <a:prstGeom prst="rect">
            <a:avLst/>
          </a:prstGeom>
        </p:spPr>
      </p:pic>
    </p:spTree>
    <p:extLst>
      <p:ext uri="{BB962C8B-B14F-4D97-AF65-F5344CB8AC3E}">
        <p14:creationId xmlns:p14="http://schemas.microsoft.com/office/powerpoint/2010/main" val="88818964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03D37C-3910-9E9C-B5F2-5F5BF455D4C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43DC06-7B90-0A50-561C-F8D5DDB10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scan-matching, an </a:t>
            </a:r>
            <a:r>
              <a:rPr lang="en-US" sz="2000" b="1" dirty="0">
                <a:latin typeface="Atkinson Hyperlegible Next"/>
                <a:ea typeface="Arial"/>
                <a:cs typeface="Arial"/>
                <a:sym typeface="Arial"/>
              </a:rPr>
              <a:t>inlier</a:t>
            </a:r>
            <a:r>
              <a:rPr lang="en-US" sz="2000" dirty="0">
                <a:latin typeface="Atkinson Hyperlegible Next"/>
                <a:ea typeface="Arial"/>
                <a:cs typeface="Arial"/>
                <a:sym typeface="Arial"/>
              </a:rPr>
              <a:t> is a point from the current LiDAR scan that successfully and reliably aligns with a known physical surface in the historical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Conversely, an </a:t>
            </a:r>
            <a:r>
              <a:rPr lang="en-US" sz="2000" b="1" dirty="0">
                <a:latin typeface="Atkinson Hyperlegible Next"/>
                <a:ea typeface="Arial"/>
                <a:cs typeface="Arial"/>
                <a:sym typeface="Arial"/>
              </a:rPr>
              <a:t>outlier</a:t>
            </a:r>
            <a:r>
              <a:rPr lang="en-US" sz="2000" dirty="0">
                <a:latin typeface="Atkinson Hyperlegible Next"/>
                <a:ea typeface="Arial"/>
                <a:cs typeface="Arial"/>
                <a:sym typeface="Arial"/>
              </a:rPr>
              <a:t> is a point that fails to match the map, usually caused by dynamic objects (like a walking person), sensor noise, or newly placed obstacles.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an inlier to be considered valid in our PL-ICP algorithm, it must pass a strict distance threshold-meaning its perpendicular distance to the target line segment must be extremely small.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also to make it ensure that it also pass geometric sanity checks, such as ensuring the two target points forming the reference line are close together, proving they represent a solid, continuous surface rather than empty space.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Finally, </a:t>
            </a:r>
            <a:r>
              <a:rPr lang="en-US" sz="2000" b="1" dirty="0">
                <a:latin typeface="Atkinson Hyperlegible Next"/>
                <a:ea typeface="Arial"/>
                <a:cs typeface="Arial"/>
                <a:sym typeface="Arial"/>
              </a:rPr>
              <a:t>valid inliers </a:t>
            </a:r>
            <a:r>
              <a:rPr lang="en-US" sz="2000" dirty="0">
                <a:latin typeface="Atkinson Hyperlegible Next"/>
                <a:ea typeface="Arial"/>
                <a:cs typeface="Arial"/>
                <a:sym typeface="Arial"/>
              </a:rPr>
              <a:t>are the only points used to calculate the final RMSE (Root Mean Square Error) score; </a:t>
            </a:r>
            <a:r>
              <a:rPr lang="en-US" sz="2000" b="1" dirty="0">
                <a:latin typeface="Atkinson Hyperlegible Next"/>
                <a:ea typeface="Arial"/>
                <a:cs typeface="Arial"/>
                <a:sym typeface="Arial"/>
              </a:rPr>
              <a:t>outliers</a:t>
            </a:r>
            <a:r>
              <a:rPr lang="en-US" sz="2000" dirty="0">
                <a:latin typeface="Atkinson Hyperlegible Next"/>
                <a:ea typeface="Arial"/>
                <a:cs typeface="Arial"/>
                <a:sym typeface="Arial"/>
              </a:rPr>
              <a:t> are discarded to prevent them from artificially inflating the error of an otherwise good pose guess.</a:t>
            </a:r>
          </a:p>
        </p:txBody>
      </p:sp>
      <p:sp>
        <p:nvSpPr>
          <p:cNvPr id="119" name="Google Shape;119;p29">
            <a:extLst>
              <a:ext uri="{FF2B5EF4-FFF2-40B4-BE49-F238E27FC236}">
                <a16:creationId xmlns:a16="http://schemas.microsoft.com/office/drawing/2014/main" id="{771843EC-2530-6A8C-6E7A-210FC8A370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2FC8B2-FD04-A187-EA54-CB5CE7AF47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8D44B3-C997-D817-12A4-A87F5100AF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EB937D-6DA5-AD2D-2157-6BFC9475F9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1E9680-A337-2FF6-06E7-F9194799A1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E160A4-B781-86C1-C22A-AA4CA46C9F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EABEB-BDEB-BE83-A00F-05630D62C2F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338F32D-F715-D635-8825-D7DCEDBB8B6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5401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DCA1DE-6F93-E4C8-4273-B8138E9CB03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9EA0A62-A37F-13BB-0DF3-1155E0835C86}"/>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then perform the factor-graph optimization with the ICP matching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Once the iterative optimization converges, the system must decide if the resulting match is trustworthy enough to alter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calculates the </a:t>
            </a:r>
            <a:r>
              <a:rPr lang="en-US" sz="2000" b="1" dirty="0">
                <a:latin typeface="Atkinson Hyperlegible Next"/>
                <a:ea typeface="Arial"/>
                <a:cs typeface="Arial"/>
                <a:sym typeface="Arial"/>
              </a:rPr>
              <a:t>RMSE</a:t>
            </a:r>
            <a:r>
              <a:rPr lang="en-US" sz="2000" dirty="0">
                <a:latin typeface="Atkinson Hyperlegible Next"/>
                <a:ea typeface="Arial"/>
                <a:cs typeface="Arial"/>
                <a:sym typeface="Arial"/>
              </a:rPr>
              <a:t> (Root Mean Square Error) of the residuals, but only for the valid inlier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computes the </a:t>
            </a:r>
            <a:r>
              <a:rPr lang="en-US" sz="2000" b="1" dirty="0">
                <a:latin typeface="Atkinson Hyperlegible Next"/>
                <a:ea typeface="Arial"/>
                <a:cs typeface="Arial"/>
                <a:sym typeface="Arial"/>
              </a:rPr>
              <a:t>Inlier Ratio</a:t>
            </a:r>
            <a:r>
              <a:rPr lang="en-US" sz="2000" dirty="0">
                <a:latin typeface="Atkinson Hyperlegible Next"/>
                <a:ea typeface="Arial"/>
                <a:cs typeface="Arial"/>
                <a:sym typeface="Arial"/>
              </a:rPr>
              <a:t>: the fraction of the original LiDAR points that survived the strict filtering and weighting process.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candidate is promoted to a confirmed loop closure only if it has a low RMSE (a tight geometric fit) and a high Inlier Ratio (plenty of overlapping geometry).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Can you describe a real-world scenario where the optimizer returns a perfect RMSE of near 0.0, but a terrible Inlier Ratio of 5%?</a:t>
            </a:r>
          </a:p>
          <a:p>
            <a:pPr marL="0" indent="0" algn="ctr">
              <a:lnSpc>
                <a:spcPct val="100000"/>
              </a:lnSpc>
              <a:spcBef>
                <a:spcPts val="0"/>
              </a:spcBef>
              <a:buSzPts val="3000"/>
              <a:buNone/>
            </a:pPr>
            <a:r>
              <a:rPr lang="en-US" sz="2000" dirty="0">
                <a:latin typeface="Atkinson Hyperlegible Next"/>
                <a:ea typeface="Arial"/>
                <a:cs typeface="Arial"/>
                <a:sym typeface="Arial"/>
              </a:rPr>
              <a:t>You only have 2 valid LiDAR points, being face on to a corridor with a 180-degree FOV.</a:t>
            </a:r>
          </a:p>
        </p:txBody>
      </p:sp>
      <p:sp>
        <p:nvSpPr>
          <p:cNvPr id="119" name="Google Shape;119;p29">
            <a:extLst>
              <a:ext uri="{FF2B5EF4-FFF2-40B4-BE49-F238E27FC236}">
                <a16:creationId xmlns:a16="http://schemas.microsoft.com/office/drawing/2014/main" id="{8E2E4970-DBD2-38DA-E772-A63FA31779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FC5994-062A-E22D-9726-6897D5FB16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75A0B9-6FD5-4205-DCDC-D52F273A26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BBB7A5-1109-9A5A-8BDA-85DED0982C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030133-89FF-4D59-BE52-38581BDD2E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018425-0357-CA27-78AB-BFAC7DD6E8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388073-D137-3677-5C8B-1BB4AEBE4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170E75-CF72-71AC-67ED-3D0FAB57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08167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6AE36D-9FB2-CB8C-7F0A-17B2A8B9B5E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7AE9D3-12AD-7C9B-6F7A-B8C7A69FC5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FD9B56-3568-C5B9-DD0C-9C36EC261B3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06B4FC-5E6A-3CCA-21E0-28933F9003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A4C636-281B-F7CB-8562-ACEAB199D9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BD787E-75FA-3E77-FC57-15AEC9304A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530FD7-D73F-D43D-BADC-F3EC64DC8E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6764BE-4456-6FEB-ED4F-C95799536C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4AB2BC-38D1-D2E6-EA73-ED60946461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Picture 5" descr="Plot: top-down SLAM map titled &quot;Real-time SLAM through SHM+sem, 196 keyframes, 95 loops,&quot; axes in meters from about minus 12 to 12. The robot drives a square loop from minus 4 to 4. Its optimized trajectory (blue) almost exactly overlays the ground truth (green dashed), showing loop closures removed drift. Lidar points form sharp walls: a 24-meter outer square, a central 6-meter box, and several interior wall segments. A few curved arcs of stray gray points remain.">
            <a:extLst>
              <a:ext uri="{FF2B5EF4-FFF2-40B4-BE49-F238E27FC236}">
                <a16:creationId xmlns:a16="http://schemas.microsoft.com/office/drawing/2014/main" id="{9BD424DD-5576-6588-72B8-EA4CD4CCEA28}"/>
              </a:ext>
            </a:extLst>
          </p:cNvPr>
          <p:cNvPicPr>
            <a:picLocks noChangeAspect="1"/>
          </p:cNvPicPr>
          <p:nvPr/>
        </p:nvPicPr>
        <p:blipFill>
          <a:blip r:embed="rId4"/>
          <a:stretch>
            <a:fillRect/>
          </a:stretch>
        </p:blipFill>
        <p:spPr>
          <a:xfrm>
            <a:off x="3270497" y="906290"/>
            <a:ext cx="5651006" cy="5651006"/>
          </a:xfrm>
          <a:prstGeom prst="rect">
            <a:avLst/>
          </a:prstGeom>
        </p:spPr>
      </p:pic>
    </p:spTree>
    <p:extLst>
      <p:ext uri="{BB962C8B-B14F-4D97-AF65-F5344CB8AC3E}">
        <p14:creationId xmlns:p14="http://schemas.microsoft.com/office/powerpoint/2010/main" val="291321085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369FFA-4EBF-0808-52C9-14B778E91D8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7063731-E904-32DA-31F2-75F55CE09308}"/>
              </a:ext>
            </a:extLst>
          </p:cNvPr>
          <p:cNvSpPr txBox="1">
            <a:spLocks noGrp="1"/>
          </p:cNvSpPr>
          <p:nvPr>
            <p:ph type="body" idx="1"/>
          </p:nvPr>
        </p:nvSpPr>
        <p:spPr>
          <a:xfrm>
            <a:off x="376810" y="1102040"/>
            <a:ext cx="7338858"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Once the scan has passed all the criteria's and has been added to the Factor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new loop closure edge carries a HUGE initial error (equal to the accumulated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L-M solver sees this massive residual and is compelled to reduce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minimize total energy, it distributes the correction proportionally across </a:t>
            </a:r>
            <a:r>
              <a:rPr lang="en-US" sz="2000" b="1" dirty="0">
                <a:latin typeface="Atkinson Hyperlegible Next"/>
                <a:ea typeface="Arial"/>
                <a:cs typeface="Arial"/>
                <a:sym typeface="Arial"/>
              </a:rPr>
              <a:t>every</a:t>
            </a:r>
            <a:r>
              <a:rPr lang="en-US" sz="2000" dirty="0">
                <a:latin typeface="Atkinson Hyperlegible Next"/>
                <a:ea typeface="Arial"/>
                <a:cs typeface="Arial"/>
                <a:sym typeface="Arial"/>
              </a:rPr>
              <a:t>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result: the entire trajectory 'snaps' into global consistency in a handful of iterations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Double walls collapse into single walls, curved corridors straighten, the map becomes useful again!</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D9BBCC4-1B78-FCBE-6FA3-00EF25F3A9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6100F4-E185-7775-7C87-36A5F8C49A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341ED16-5D66-A9DC-BAE8-3896D4B8F6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8B520-197C-0B48-48DD-50360F61A6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508583-382C-5CAE-35C2-B2D427DB65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4620DD-59D2-7EF1-AC3C-DB4643DFA1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B6C27F-DD90-B98D-700B-070E7C8E10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A54D98-0035-A714-AC61-650C1744F6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170" name="Picture 2" descr="Plot: graph-based SLAM at iteration 0, with an initial error of about 138.9 million. Blue x's mark robot poses in x-y coordinates, spanning x from about −28 to 9 and y from about −13 to 14. Before optimization, the drifted trajectory forms disjointed, misaligned rectangular loops. Dense green loop-closure edges stretch long distances between poses that should coincide, showing the large accumulated drift the solver must correct.">
            <a:extLst>
              <a:ext uri="{FF2B5EF4-FFF2-40B4-BE49-F238E27FC236}">
                <a16:creationId xmlns:a16="http://schemas.microsoft.com/office/drawing/2014/main" id="{8FDC3884-5ECA-6F2F-63B2-3085052189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72326" y="1848665"/>
            <a:ext cx="4619674" cy="33822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DAFF433-530C-F550-0944-541D2A183265}"/>
              </a:ext>
            </a:extLst>
          </p:cNvPr>
          <p:cNvSpPr txBox="1"/>
          <p:nvPr/>
        </p:nvSpPr>
        <p:spPr>
          <a:xfrm>
            <a:off x="7619166" y="5238911"/>
            <a:ext cx="4525993" cy="400110"/>
          </a:xfrm>
          <a:prstGeom prst="rect">
            <a:avLst/>
          </a:prstGeom>
          <a:noFill/>
        </p:spPr>
        <p:txBody>
          <a:bodyPr wrap="square">
            <a:spAutoFit/>
          </a:bodyPr>
          <a:lstStyle/>
          <a:p>
            <a:pPr algn="ctr"/>
            <a:r>
              <a:rPr lang="en-US" sz="1000" dirty="0">
                <a:hlinkClick r:id="rId5"/>
              </a:rPr>
              <a:t>https://medium.com/@anushkasatav07/how-does-a-robot-recognize-where-its-been-place-recognition-and-loop-closure-intuitively-f5e3e3e6346e</a:t>
            </a:r>
            <a:r>
              <a:rPr lang="en-US" sz="1000" dirty="0"/>
              <a:t> </a:t>
            </a:r>
          </a:p>
        </p:txBody>
      </p:sp>
    </p:spTree>
    <p:extLst>
      <p:ext uri="{BB962C8B-B14F-4D97-AF65-F5344CB8AC3E}">
        <p14:creationId xmlns:p14="http://schemas.microsoft.com/office/powerpoint/2010/main" val="1346761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61925E-B2B4-CCB5-90A6-39F8C45F6F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B7348BB-D2A9-6DC1-3C39-789441FE4B04}"/>
              </a:ext>
            </a:extLst>
          </p:cNvPr>
          <p:cNvSpPr txBox="1">
            <a:spLocks noGrp="1"/>
          </p:cNvSpPr>
          <p:nvPr>
            <p:ph type="body" idx="1"/>
          </p:nvPr>
        </p:nvSpPr>
        <p:spPr>
          <a:xfrm>
            <a:off x="376810" y="1102040"/>
            <a:ext cx="8026845"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reason why we </a:t>
            </a:r>
            <a:r>
              <a:rPr lang="en-US" sz="2000" b="1" dirty="0">
                <a:latin typeface="Atkinson Hyperlegible Next"/>
                <a:ea typeface="Arial"/>
                <a:cs typeface="Arial"/>
                <a:sym typeface="Arial"/>
              </a:rPr>
              <a:t>distribute the error</a:t>
            </a:r>
            <a:r>
              <a:rPr lang="en-US" sz="2000" dirty="0">
                <a:latin typeface="Atkinson Hyperlegible Next"/>
                <a:ea typeface="Arial"/>
                <a:cs typeface="Arial"/>
                <a:sym typeface="Arial"/>
              </a:rPr>
              <a:t> to all the nodes for the loss is the following:</a:t>
            </a:r>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dump all the correction into a single pose, every intermediate pose now has an inconsistent </a:t>
            </a:r>
            <a:r>
              <a:rPr lang="en-US" sz="2000" dirty="0" err="1">
                <a:latin typeface="Atkinson Hyperlegible Next"/>
                <a:ea typeface="Arial"/>
                <a:cs typeface="Arial"/>
                <a:sym typeface="Arial"/>
              </a:rPr>
              <a:t>neighbourhood</a:t>
            </a:r>
            <a:r>
              <a:rPr lang="en-US" sz="2000" dirty="0">
                <a:latin typeface="Atkinson Hyperlegible Next"/>
                <a:ea typeface="Arial"/>
                <a:cs typeface="Arial"/>
                <a:sym typeface="Arial"/>
              </a:rPr>
              <a:t> ( everything has shifted by a huge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accuracy suffers to restore global accuracy - that's a bad trade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By distributing proportionally, each intermediate pose moves by a small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relationships (each short-range edge) remain nearly satisfied - we preserve local accuracy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why L-M minimizes the sum of squared errors: it naturally spreads the blame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E4DB564-8CCD-E792-4529-FF2E03AE42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FDB55AE-B1E1-2A98-77BB-6595F0B955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97D5C5-0B69-63D0-7B30-1E77E00B93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EED0D2-8100-0016-9A2C-2CF42E4E1E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326F-67A6-5B18-9C70-7D37E15FD7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00403-AD7E-1429-348E-95C06CCA66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8F2E9-5550-1CE8-0C6A-5D7DC8F592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2E9FBD-1D37-964D-D477-9A9A1CE8AC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218" name="Picture 2" descr="Plot: graph-based SLAM pose graph at iteration 0, before optimization, with a title giving an initial error of about 1.8 million. Blue x markers trace a robot trajectory around a roughly square loop spanning x from about minus 10 to 15 and y from about 3 to minus 24. Repeated passes are smeared and misaligned, with short spurs sticking out, and dense green constraint edges crisscross between the inconsistent poses, especially along the loop's sides.">
            <a:extLst>
              <a:ext uri="{FF2B5EF4-FFF2-40B4-BE49-F238E27FC236}">
                <a16:creationId xmlns:a16="http://schemas.microsoft.com/office/drawing/2014/main" id="{013150FE-7CE7-7D4F-C4C0-354BBE252DF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979" r="13958"/>
          <a:stretch>
            <a:fillRect/>
          </a:stretch>
        </p:blipFill>
        <p:spPr bwMode="auto">
          <a:xfrm>
            <a:off x="8213634" y="1603060"/>
            <a:ext cx="3857716" cy="39065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BAC4777-D1DE-A509-3449-2C09ED05BB2D}"/>
              </a:ext>
            </a:extLst>
          </p:cNvPr>
          <p:cNvSpPr txBox="1"/>
          <p:nvPr/>
        </p:nvSpPr>
        <p:spPr>
          <a:xfrm>
            <a:off x="8361317" y="5402686"/>
            <a:ext cx="3562350" cy="246221"/>
          </a:xfrm>
          <a:prstGeom prst="rect">
            <a:avLst/>
          </a:prstGeom>
          <a:noFill/>
        </p:spPr>
        <p:txBody>
          <a:bodyPr wrap="square">
            <a:spAutoFit/>
          </a:bodyPr>
          <a:lstStyle/>
          <a:p>
            <a:pPr algn="ctr"/>
            <a:r>
              <a:rPr lang="en-US" sz="1000" dirty="0">
                <a:hlinkClick r:id="rId5"/>
              </a:rPr>
              <a:t>https://yangfan.github.io/projects/SLAM</a:t>
            </a:r>
            <a:r>
              <a:rPr lang="en-US" sz="1000">
                <a:hlinkClick r:id="rId5"/>
              </a:rPr>
              <a:t>/Graph-based-slam</a:t>
            </a:r>
            <a:endParaRPr lang="en-US" sz="1000" dirty="0"/>
          </a:p>
        </p:txBody>
      </p:sp>
    </p:spTree>
    <p:extLst>
      <p:ext uri="{BB962C8B-B14F-4D97-AF65-F5344CB8AC3E}">
        <p14:creationId xmlns:p14="http://schemas.microsoft.com/office/powerpoint/2010/main" val="336455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1D1D2EA-85F3-3329-F43C-917CBB0004FB}"/>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07888FB-82D0-B497-FC15-997B7AD66969}"/>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EE82D46F-8E60-E4D4-2416-2FFE5DDE9B3D}"/>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Scaling</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FE1F60-D5D2-7E7A-BDE3-2B5AC6A6EA8F}"/>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DE894D8-6632-D429-44CB-7937514765D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596FFD4-FA71-58E8-C1DA-6A8807F1ED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EFC8F71-9CF5-AE38-E656-C57EAF309F3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BF32A5C-C8A7-05BB-1B14-A35B9E95BC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B0CEFD3-9233-0C90-7008-40FBAC9A3AF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09950EA0-D5BD-444E-F32F-62E0E221EA2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16846FB-F1C7-0B23-E393-09E6FE6EABE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28226268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C03D94-E771-4FED-2DE4-2B97E31F31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0D2D18E-1567-67CB-905C-66A6D9739EC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So far we've assumed a single large 2D array holding every cell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problem is that when, the graph optimizer snaps the trajectory ( through loop closure), ALL prior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become misaligned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deposited cell was computed assuming the old drifted pose - now those poses have moved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can’t “un-bake” already-written cells without replaying every scan - way too expensive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single-global-grid architecture is fundamentally incompatible with loop closure</a:t>
            </a:r>
          </a:p>
        </p:txBody>
      </p:sp>
      <p:sp>
        <p:nvSpPr>
          <p:cNvPr id="119" name="Google Shape;119;p29">
            <a:extLst>
              <a:ext uri="{FF2B5EF4-FFF2-40B4-BE49-F238E27FC236}">
                <a16:creationId xmlns:a16="http://schemas.microsoft.com/office/drawing/2014/main" id="{3310D81E-9872-03F9-95D1-4FC02738F8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6F05EF-BB04-F2CB-EB39-56A73CF3FE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Scaling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4BE62E-2467-A1DA-C902-43F37CCED4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9DF2CC-6A9B-7EC5-E1D0-C9161E471D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7F5694-205E-9B8B-1222-B1235995B9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3EFEC-BFC8-A68C-7F38-5BE6065B75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DA7D34-3B4B-6A71-4183-EE601F9D34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6482D2-11E2-8637-697E-659CC05C43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044138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AFB941-3288-70F4-C914-79D8EAB3D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8279345-3F2B-635D-62DA-B59AD4935990}"/>
              </a:ext>
            </a:extLst>
          </p:cNvPr>
          <p:cNvSpPr txBox="1">
            <a:spLocks noGrp="1"/>
          </p:cNvSpPr>
          <p:nvPr>
            <p:ph type="body" idx="1"/>
          </p:nvPr>
        </p:nvSpPr>
        <p:spPr>
          <a:xfrm>
            <a:off x="376809" y="1102040"/>
            <a:ext cx="627164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solution, divide the environment into tiles — typical submap size: 10 m × 10 m at 5 cm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 the robot moves, it builds the local submap (small grid, few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robot crosses the edge of the current submap, it </a:t>
            </a:r>
            <a:r>
              <a:rPr lang="en-US" sz="2000" b="1" dirty="0">
                <a:latin typeface="Atkinson Hyperlegible Next"/>
                <a:ea typeface="Arial"/>
                <a:cs typeface="Arial"/>
                <a:sym typeface="Arial"/>
              </a:rPr>
              <a:t>freezes</a:t>
            </a:r>
            <a:r>
              <a:rPr lang="en-US" sz="2000" dirty="0">
                <a:latin typeface="Atkinson Hyperlegible Next"/>
                <a:ea typeface="Arial"/>
                <a:cs typeface="Arial"/>
                <a:sym typeface="Arial"/>
              </a:rPr>
              <a:t> it and starts a new one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submap is independent - no information is shared across boundaries during construction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Critically: each submap is </a:t>
            </a:r>
            <a:r>
              <a:rPr lang="en-US" sz="2000" b="1" dirty="0">
                <a:latin typeface="Atkinson Hyperlegible Next"/>
                <a:ea typeface="Arial"/>
                <a:cs typeface="Arial"/>
                <a:sym typeface="Arial"/>
              </a:rPr>
              <a:t>anchored to a node</a:t>
            </a:r>
            <a:r>
              <a:rPr lang="en-US" sz="2000" dirty="0">
                <a:latin typeface="Atkinson Hyperlegible Next"/>
                <a:ea typeface="Arial"/>
                <a:cs typeface="Arial"/>
                <a:sym typeface="Arial"/>
              </a:rPr>
              <a:t> in the pose graph</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0F84C34-7F46-2557-9506-25A4B32938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230E3FF-CE76-188F-C301-642A191E67F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57A8C1-CE81-9EAD-8C29-E327C052EE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81F627-FAFE-B83E-D518-89F457067D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D0CC33-EE12-6849-C83C-15632DA851C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F8B047-47DA-1808-9F6A-D67F6E9F94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E1EB74-4650-4EC2-36D5-F0F1FD3006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AFF4CF-7915-0B93-3549-137AFEFCED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Four-panel comparison of one global grid versus submaps for loop closure. (a) A single occupancy grid: the robot path runs from start o around to end c, but accumulated drift leaves a misaligned wall and gap alpha, so correction is ambiguous (A or B). (b) The resulting 3D point cloud is smeared and doubled. (c) The same path covered by small, overlapping, rotated submaps anchored to path nodes; after loop closure, the submaps shift rigidly so c meets o. (d) The resulting point cloud is clean and consistent.">
            <a:extLst>
              <a:ext uri="{FF2B5EF4-FFF2-40B4-BE49-F238E27FC236}">
                <a16:creationId xmlns:a16="http://schemas.microsoft.com/office/drawing/2014/main" id="{320CDAC4-80A4-31B8-AD1B-87A27C79FC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6595" y="981439"/>
            <a:ext cx="4334950" cy="5269939"/>
          </a:xfrm>
          <a:prstGeom prst="rect">
            <a:avLst/>
          </a:prstGeom>
        </p:spPr>
      </p:pic>
      <p:sp>
        <p:nvSpPr>
          <p:cNvPr id="6" name="TextBox 5">
            <a:extLst>
              <a:ext uri="{FF2B5EF4-FFF2-40B4-BE49-F238E27FC236}">
                <a16:creationId xmlns:a16="http://schemas.microsoft.com/office/drawing/2014/main" id="{9E70BB2F-D647-1C76-6A2E-9907BA8C0331}"/>
              </a:ext>
            </a:extLst>
          </p:cNvPr>
          <p:cNvSpPr txBox="1"/>
          <p:nvPr/>
        </p:nvSpPr>
        <p:spPr>
          <a:xfrm>
            <a:off x="7841820" y="6328059"/>
            <a:ext cx="2984500" cy="246221"/>
          </a:xfrm>
          <a:prstGeom prst="rect">
            <a:avLst/>
          </a:prstGeom>
          <a:noFill/>
        </p:spPr>
        <p:txBody>
          <a:bodyPr wrap="square">
            <a:spAutoFit/>
          </a:bodyPr>
          <a:lstStyle/>
          <a:p>
            <a:pPr algn="ctr"/>
            <a:r>
              <a:rPr lang="en-US" sz="1000" dirty="0">
                <a:hlinkClick r:id="rId5"/>
              </a:rPr>
              <a:t>https://www.cs.cmu.edu/~kaess/pub/Ho18iros.pdf</a:t>
            </a:r>
            <a:r>
              <a:rPr lang="en-US" sz="1000" dirty="0"/>
              <a:t> </a:t>
            </a:r>
          </a:p>
        </p:txBody>
      </p:sp>
    </p:spTree>
    <p:extLst>
      <p:ext uri="{BB962C8B-B14F-4D97-AF65-F5344CB8AC3E}">
        <p14:creationId xmlns:p14="http://schemas.microsoft.com/office/powerpoint/2010/main" val="208602634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4AA9C8-3670-F75F-2A62-118AC8380D3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70D03D-2CE7-B9A4-52BE-E183169C1C5E}"/>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submap is a </a:t>
            </a:r>
            <a:r>
              <a:rPr lang="en-US" sz="2000" b="1" dirty="0">
                <a:latin typeface="Atkinson Hyperlegible Next"/>
                <a:ea typeface="Arial"/>
                <a:cs typeface="Arial"/>
                <a:sym typeface="Arial"/>
              </a:rPr>
              <a:t>rigid</a:t>
            </a:r>
            <a:r>
              <a:rPr lang="en-US" sz="2000" dirty="0">
                <a:latin typeface="Atkinson Hyperlegible Next"/>
                <a:ea typeface="Arial"/>
                <a:cs typeface="Arial"/>
                <a:sym typeface="Arial"/>
              </a:rPr>
              <a:t> object pinned to one pose node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pose graph optimizer moves that node, the </a:t>
            </a:r>
            <a:r>
              <a:rPr lang="en-US" sz="2000" b="1" dirty="0">
                <a:latin typeface="Atkinson Hyperlegible Next"/>
                <a:ea typeface="Arial"/>
                <a:cs typeface="Arial"/>
                <a:sym typeface="Arial"/>
              </a:rPr>
              <a:t>ENTIRE</a:t>
            </a:r>
            <a:r>
              <a:rPr lang="en-US" sz="2000" dirty="0">
                <a:latin typeface="Atkinson Hyperlegible Next"/>
                <a:ea typeface="Arial"/>
                <a:cs typeface="Arial"/>
                <a:sym typeface="Arial"/>
              </a:rPr>
              <a:t> submap moves with it - translation +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need to be re-baked. No cells re-computed. The submap is just transformed as-is.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global map is implicitly re-assembled on the fly at render time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EA4033F-1E33-1A99-DB44-F5008D5374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22C59E-F86D-0D43-CC4E-2B2A2B18B8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1778FEE-300E-38AE-4C6D-4D867EA6FE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4D7FC-9336-73C7-FFA1-89D4627B06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EE45E9-9F23-404B-8B6B-B47DEB1EF9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3E89CF-813B-92C5-197E-B60EDB47E5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43C3C2-75FF-8F8A-A72D-507D516235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EFD78C-0518-2033-0EF4-14ADDA5B05C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53748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9F4966-3AD2-014F-12D8-5EAC378612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768EE8-D70F-EE4A-4BD4-44F9782FD056}"/>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When the user (or planner) requests the current global map the system fetches every submap + its anchored pose from the optimized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Transforms each submap into the world frame using the current node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Blends overlapping cells by taking maximum occupancy (or averaging probabilities)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Result: a fresh, geometrically-consistent global map, rebuilt in milliseconds</a:t>
            </a:r>
          </a:p>
        </p:txBody>
      </p:sp>
      <p:sp>
        <p:nvSpPr>
          <p:cNvPr id="119" name="Google Shape;119;p29">
            <a:extLst>
              <a:ext uri="{FF2B5EF4-FFF2-40B4-BE49-F238E27FC236}">
                <a16:creationId xmlns:a16="http://schemas.microsoft.com/office/drawing/2014/main" id="{C7D8C335-2FC5-33FB-1A1F-7BE0C3388A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E0FD4-E550-7012-4CD7-9A0929C249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6E97E1-7F07-4E3B-C6F3-89AE4B4312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F6B002A-82B4-7C3A-2A8B-B294D1717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5DEA39B-6F38-D038-8CCA-DDA7B1EE4A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FD6C6A-C3BB-DB49-F2DF-D0E72C1D9B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47DC6B-75F2-C4D7-C9CF-C22325B7D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84CE65-D679-BFD8-9559-0E844AE7EA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2285333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B39852-2880-6656-B3E9-5CD963BE88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F94D9DD-8197-DC11-8F81-158B44FCD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F57E75-71E9-2392-C0CD-D973F370E7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FF7452-A3D2-D6E6-0B17-F3BF2CA3E9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29FD6-C6CF-EBFD-DE5D-2045DDD0A7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E8CB4A-4824-79DE-CAB7-7DDB144983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75B357-B31A-BEF1-A673-6E23661BA6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E14503-1018-EBBB-2C2F-72483A4B19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7BA4DC-534B-2AC9-61AD-FFFFEB36CA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BAFE5337-4D30-CB8B-BA85-5D50E6C07072}"/>
              </a:ext>
            </a:extLst>
          </p:cNvPr>
          <p:cNvSpPr>
            <a:spLocks noGrp="1"/>
          </p:cNvSpPr>
          <p:nvPr>
            <p:ph type="body" idx="1"/>
          </p:nvPr>
        </p:nvSpPr>
        <p:spPr/>
        <p:txBody>
          <a:bodyPr/>
          <a:lstStyle/>
          <a:p>
            <a:endParaRPr lang="en-US"/>
          </a:p>
        </p:txBody>
      </p:sp>
      <p:pic>
        <p:nvPicPr>
          <p:cNvPr id="8194" name="Picture 2" descr="Screenshot: a Google Cartographer occupancy grid map built from Ouster OS-1 lidar scans, with white explored free space on a gray unknown background. A circular scanned region on the left, outlined in green current-scan hits, connects to a rectangular room on the right by a purple and yellow trajectory: the robot's path as it returns toward previously mapped space, where Cartographer can match new scans to the old map to detect a loop closure.">
            <a:extLst>
              <a:ext uri="{FF2B5EF4-FFF2-40B4-BE49-F238E27FC236}">
                <a16:creationId xmlns:a16="http://schemas.microsoft.com/office/drawing/2014/main" id="{CFEE3E84-B35F-73C5-99D7-B2B41B3E8B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008" y="899019"/>
            <a:ext cx="12129984" cy="535667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56E6C29-A2C3-5A3D-452D-41170B14868D}"/>
              </a:ext>
            </a:extLst>
          </p:cNvPr>
          <p:cNvSpPr txBox="1"/>
          <p:nvPr/>
        </p:nvSpPr>
        <p:spPr>
          <a:xfrm>
            <a:off x="2593859" y="6293760"/>
            <a:ext cx="7004282" cy="307777"/>
          </a:xfrm>
          <a:prstGeom prst="rect">
            <a:avLst/>
          </a:prstGeom>
          <a:noFill/>
        </p:spPr>
        <p:txBody>
          <a:bodyPr wrap="square">
            <a:spAutoFit/>
          </a:bodyPr>
          <a:lstStyle/>
          <a:p>
            <a:pPr algn="ctr"/>
            <a:r>
              <a:rPr lang="en-US" dirty="0">
                <a:hlinkClick r:id="rId5"/>
              </a:rPr>
              <a:t>https://wilselby.com/2019/06/ouster-os-1-lidar-and-google-cartographer-integration/</a:t>
            </a:r>
            <a:r>
              <a:rPr lang="en-US" dirty="0"/>
              <a:t> </a:t>
            </a:r>
          </a:p>
        </p:txBody>
      </p:sp>
    </p:spTree>
    <p:extLst>
      <p:ext uri="{BB962C8B-B14F-4D97-AF65-F5344CB8AC3E}">
        <p14:creationId xmlns:p14="http://schemas.microsoft.com/office/powerpoint/2010/main" val="279636696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66AC53DD-4E0B-26D3-C341-EA214CC859BD}"/>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1370FB6F-999B-A6A6-E3D7-B8C7DA00F13A}"/>
              </a:ext>
            </a:extLst>
          </p:cNvPr>
          <p:cNvSpPr/>
          <p:nvPr>
            <p:ph type="title"/>
          </p:nvPr>
        </p:nvSpPr>
        <p:spPr>
          <a:xfrm>
            <a:off x="376808" y="815143"/>
            <a:ext cx="11452009" cy="522771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Thank you everyone for this fantastic semester!</a:t>
            </a:r>
          </a:p>
          <a:p>
            <a:pPr lvl="0" algn="ctr">
              <a:lnSpc>
                <a:spcPct val="100000"/>
              </a:lnSpc>
              <a:spcBef>
                <a:spcPts val="0"/>
              </a:spcBef>
              <a:spcAft>
                <a:spcPts val="0"/>
              </a:spcAft>
            </a:pPr>
            <a:endParaRPr i="0" lang="en-US" sz="6600" b="1" dirty="0">
              <a:solidFill>
                <a:schemeClr val="lt1"/>
              </a:solidFill>
            </a:endParaRPr>
          </a:p>
          <a:p>
            <a:pPr lvl="0" algn="ctr">
              <a:lnSpc>
                <a:spcPct val="100000"/>
              </a:lnSpc>
              <a:spcBef>
                <a:spcPts val="0"/>
              </a:spcBef>
              <a:spcAft>
                <a:spcPts val="0"/>
              </a:spcAft>
            </a:pPr>
            <a:r>
              <a:rPr i="0" lang="en-US" sz="6600" b="1" dirty="0">
                <a:solidFill>
                  <a:schemeClr val="lt1"/>
                </a:solidFill>
              </a:rPr>
              <a:t>Best of luck on the final project!! </a:t>
            </a:r>
            <a:r>
              <a:rPr i="0" lang="en-US" sz="6600" b="1">
                <a:solidFill>
                  <a:schemeClr val="lt1"/>
                </a:solidFill>
              </a:rPr>
              <a:t>🫡</a:t>
            </a:r>
            <a:endParaRPr i="0" lang="en-US" sz="5400" b="1" dirty="0">
              <a:solidFill>
                <a:schemeClr val="lt1"/>
              </a:solidFill>
            </a:endParaRP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1044369A-BA5A-6B34-AA48-0C64E5A2EF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828C4D35-AB3B-D209-D2CE-7817BEBB0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88EBA76-6938-2DE9-54FE-BC9208EDB1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D47F4635-A832-9F00-174A-67F49588B004}"/>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81E8368C-8FB6-4279-F973-EE8199751FD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7DFFE618-54C4-7D0E-D85A-D473FD2BB79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63093271"/>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24–25</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1650</TotalTime>
  <Words>11770</Words>
  <Application>Microsoft Office PowerPoint</Application>
  <PresentationFormat>Widescreen</PresentationFormat>
  <Paragraphs>1657</Paragraphs>
  <Slides>155</Slides>
  <Notes>155</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155</vt:i4>
      </vt:variant>
    </vt:vector>
  </HeadingPairs>
  <TitlesOfParts>
    <vt:vector size="161" baseType="lpstr">
      <vt:lpstr>Arial</vt:lpstr>
      <vt:lpstr>Calibri</vt:lpstr>
      <vt:lpstr>Cambria</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664</cp:revision>
  <dcterms:created xsi:type="dcterms:W3CDTF">2019-01-14T22:06:33Z</dcterms:created>
  <dcterms:modified xsi:type="dcterms:W3CDTF">2026-05-06T10:58:54Z</dcterms:modified>
</cp:coreProperties>
</file>