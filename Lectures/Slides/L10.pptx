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63"/>
  </p:notesMasterIdLst>
  <p:sldIdLst>
    <p:sldId id="256" r:id="rId2"/>
    <p:sldId id="310" r:id="rId3"/>
    <p:sldId id="257" r:id="rId4"/>
    <p:sldId id="258" r:id="rId5"/>
    <p:sldId id="259" r:id="rId6"/>
    <p:sldId id="313" r:id="rId7"/>
    <p:sldId id="314" r:id="rId8"/>
    <p:sldId id="317" r:id="rId9"/>
    <p:sldId id="316" r:id="rId10"/>
    <p:sldId id="315" r:id="rId11"/>
    <p:sldId id="318" r:id="rId12"/>
    <p:sldId id="319" r:id="rId13"/>
    <p:sldId id="320" r:id="rId14"/>
    <p:sldId id="321" r:id="rId15"/>
    <p:sldId id="322" r:id="rId16"/>
    <p:sldId id="323" r:id="rId17"/>
    <p:sldId id="312" r:id="rId18"/>
    <p:sldId id="324" r:id="rId19"/>
    <p:sldId id="325" r:id="rId20"/>
    <p:sldId id="326" r:id="rId21"/>
    <p:sldId id="327" r:id="rId22"/>
    <p:sldId id="328" r:id="rId23"/>
    <p:sldId id="311" r:id="rId24"/>
    <p:sldId id="329" r:id="rId25"/>
    <p:sldId id="330" r:id="rId26"/>
    <p:sldId id="331" r:id="rId27"/>
    <p:sldId id="332" r:id="rId28"/>
    <p:sldId id="333" r:id="rId29"/>
    <p:sldId id="334" r:id="rId30"/>
    <p:sldId id="335" r:id="rId31"/>
    <p:sldId id="337" r:id="rId32"/>
    <p:sldId id="338" r:id="rId33"/>
    <p:sldId id="339" r:id="rId34"/>
    <p:sldId id="340" r:id="rId35"/>
    <p:sldId id="336" r:id="rId36"/>
    <p:sldId id="341" r:id="rId37"/>
    <p:sldId id="342" r:id="rId38"/>
    <p:sldId id="343" r:id="rId39"/>
    <p:sldId id="387" r:id="rId40"/>
    <p:sldId id="392" r:id="rId41"/>
    <p:sldId id="393" r:id="rId42"/>
    <p:sldId id="395" r:id="rId43"/>
    <p:sldId id="394" r:id="rId44"/>
    <p:sldId id="396" r:id="rId45"/>
    <p:sldId id="398" r:id="rId46"/>
    <p:sldId id="405" r:id="rId47"/>
    <p:sldId id="397" r:id="rId48"/>
    <p:sldId id="399" r:id="rId49"/>
    <p:sldId id="401" r:id="rId50"/>
    <p:sldId id="402" r:id="rId51"/>
    <p:sldId id="403" r:id="rId52"/>
    <p:sldId id="404" r:id="rId53"/>
    <p:sldId id="406" r:id="rId54"/>
    <p:sldId id="407" r:id="rId55"/>
    <p:sldId id="408" r:id="rId56"/>
    <p:sldId id="409" r:id="rId57"/>
    <p:sldId id="410" r:id="rId58"/>
    <p:sldId id="411" r:id="rId59"/>
    <p:sldId id="412" r:id="rId60"/>
    <p:sldId id="271" r:id="rId61"/>
    <p:sldId id="270" r:id="rId62"/>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64"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838" autoAdjust="0"/>
    <p:restoredTop sz="94660"/>
  </p:normalViewPr>
  <p:slideViewPr>
    <p:cSldViewPr snapToGrid="0">
      <p:cViewPr varScale="1">
        <p:scale>
          <a:sx n="150" d="100"/>
          <a:sy n="150" d="100"/>
        </p:scale>
        <p:origin x="564" y="1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notesMaster" Target="notesMasters/notesMaster1.xml"/><Relationship Id="rId68"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customschemas.google.com/relationships/presentationmetadata" Target="metadata"/><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1560CD-FFDE-70C6-6183-A453F3E981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57E4E91-ED9F-DE16-BEB6-F07455961AC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63A7F12-DA54-6672-271A-7F884E56D74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999434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Google Shape;115;p2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AA43166-8A95-E881-566F-CAD4671DE37F}"/>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5D551DF6-AB9E-0C6E-93B6-D392D41D69A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620BECC3-FFD6-41EB-10C6-1FBE7846979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24756656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7DBFD4D-AE7D-68F8-0C20-4F90269B2CC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59EEFD2-4ABD-1611-805D-40C4DD0612A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41A35EB-A465-B968-46D2-742B878F02A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3963740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544E87-0EF6-BE29-B579-6FF8B0F3893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E9560C3-C856-7382-D905-259B867585A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B18DF1F-5C35-9117-B92F-4BF7924A404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4545188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FE46F52-EFA8-1F2C-CCA3-C40005553E1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1719A0D-72EF-B7D0-C582-E56B355ED4B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32B6B89-2CF4-ACDF-1977-12F5C7594AB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5176194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957DE5A-A5C4-C9D1-471C-D93B3D697EF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396E94D-904F-F71E-42DE-121AB1E1792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EA4129A-E292-4B95-E833-58CA07B3CF4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8018321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E04A5C2-A0E4-8C0F-AC72-C69B44AD1BA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F4D7197-2140-682B-7E57-F58CD000436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B803DBD-1BAC-97D2-2B45-E50B43FBBEF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4729460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D5F4E15-1AB0-51B8-A72E-1C7CC324219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130D498-039D-014A-244D-4D5A8B0C69F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861235C-A8D1-C2A7-803F-8AE69C8AE4A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9975431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DB94B0C-3F4E-B744-7920-4CFCCB4A1D8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1C29DA7-EBD8-6761-34D7-560A32A8CB1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39FC028-3DA0-97F3-18AB-E0ADFE67CAE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4478936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1BAD955-BED5-2BE4-0327-CAD16938A2B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EEAA1BF-E6D8-F736-52C9-BD3917EAB5C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BE6F9B9-84D8-C099-085F-1E2ADB7EAE7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4106181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3C650CAE-47A8-B85D-00CA-AD07CD37F58E}"/>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B6D49CE6-0EB5-A0DD-8BB5-389DBEF8B81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6127932C-AF78-2089-3C62-AA07FC6F310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53610156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0651213-8B35-560F-7759-7764D7FED94F}"/>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94E3B979-7B93-EAE1-AEF1-557FB7C1B7F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41A24ECE-8009-FD17-8015-7A8B86AB06C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7754663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CDDC444-2663-64AD-C9F4-439798AC1BD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D84AA7E-01EF-AA46-F3EF-DA8AED50D45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15DAAEE-E6BA-1500-4B64-05DE092ACE7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8124025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62E8000-CB92-3A4C-294F-3E054BB5EC9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92DDF51-A013-0964-1D79-297A964005D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E1F7B3D-5DCF-3100-AD2E-94FC8AE883E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4710375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7492335-FBD3-A583-6AA2-D8BFE27806E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9AEB991-DE04-9ECA-9523-2E5A56D9D8D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42E4614-C7E3-A1DD-F21C-7999B7385B7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8694446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5692482-4B47-61B5-65EA-56648A060EE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A830643-B89C-263E-8E5E-48BD6E6DE88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25E3F4C-8045-1EB4-7E3C-B4CA3B96801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0812490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D160F9B-A215-A17B-8053-7FF3F0FFDA8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F34ADB5-936C-260F-EFA2-C12C1D38D31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A5F372D-1045-C0EE-2A6F-D40915C5D75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7517190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FEE22260-D135-2677-127C-B369E1B809F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A6980CB1-3FD5-4D5F-8261-0A3CF3B55FE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908CEC90-7112-495D-B4E0-2B421B9468C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8374862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42C14D7-E780-55AA-4F75-8143EA0CF69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6FE901C-E865-B22C-65ED-4705BD4DA01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9457A86-0291-05A7-AD45-70A2842B305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404630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666E6BC-40B5-22AF-A8A7-82518D66E6F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A950A21-BACD-4639-332D-A4644D59414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DAF0794-FC18-50B4-BD8A-CA0865FD97C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3273358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1BC8E0C2-F55E-82D5-7D0D-AEEEE2153EC5}"/>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D878A16-6351-60A5-4562-EE9767D6A77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FC4F313D-CB6A-05E5-3555-E99E0582422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5977770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66BED32-8511-856D-B8C8-77F1A569ED8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C79D611-CE19-A6CC-D3B7-DF42F1085F5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3BD546B-81C8-87C7-EBB7-1A9CD19C6C7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9776838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7BD36C30-3EE8-1198-B9D1-94B5FF146EB4}"/>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A2D0E8C1-3F1B-6B93-136B-0F63394B134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78974777-6097-1A45-8D81-DB61741A25A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43744032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E72A76E-6E6A-EA50-55DD-70C20DFC21D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2759589-A48B-5967-B686-128C8ACC1C0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6B602DA-FD5F-2074-E05A-E8C54A92470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5293590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49521B6-B356-37C6-5D71-917EAE94FC6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08CE8C6-0817-D5D3-3348-833717CBFF7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FC34C71-A3B3-E160-D0E1-022C34CDE0A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5294702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0C1BC1B-E5F6-025C-037F-9506FA9579F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12B6685-8FF5-C07A-4316-B3F9D3A53B1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C6BD691-9E58-0580-C6A9-7399099E792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0241221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DCD259E-766C-0618-FD59-6BF3218F62A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7EEADBE-E0EC-7510-717E-BA781CCCEB2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FDCEF93-CAA8-F422-1065-5EF872A3018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6644902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338E008-FF89-0B47-1693-5F5BA8BEE12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541FB41-84F3-CA40-1200-E72F89AB492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A45178F-08C2-B5F5-58EB-EF4A74D1F75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1398048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A4B1404-C649-11DA-7412-51D8FDAC61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BF7C5FA-919E-7EE6-B95E-E80BFEAA166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E4BFC9E-C88F-6315-325F-BDA7AB4AC8F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9347559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B0C09FE-791D-491B-8E80-8764EDC1809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983BE00-14C9-243E-5332-D08D43AB23E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3558CBD-9FA7-D649-4B03-2BBD420A48A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0761944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ACA83C1-C5EB-0E3D-3E4B-19CCD8C4A0C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BBA419A-6F23-E879-33AF-D060D903E6F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673CD66-11DD-DDF1-ED61-E28B675D31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7476489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DDBD0C6-DB01-83AE-FC17-7D483F04782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93CF3F9-A873-7927-B9EC-DB76405B29E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83E23AE-91DD-CB3E-F421-6196D239ACE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4627950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ED6C1BF-95E1-5523-2293-A87711142B4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9E67259-27F6-F786-03E6-065EE996B39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68D1632-F159-E5D6-9002-D456EEF496E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3740581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E6A2B2-A172-A77A-F7E2-DAADE14FBB2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6BB7049-C01F-DECB-B8E5-BACD015FEE6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267EE29-D779-B4BC-D825-9EF12DACC16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3130270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607BC8B-0C1E-EE84-6829-3C6DED334AE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DC2D3CB-8011-65E0-3143-933CED90E49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AD7B16D-3D7C-FB11-ADC3-3D31200867F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8009140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9C29792-4A77-46FC-4E2A-32C30E2149B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D594CE-A425-C2F2-1A05-B0A3C19645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E12A5F9-D8AF-3C25-A81F-8B80FF16A83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4794301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8C494AC-3CB3-D447-0BB4-5C5FA572D58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EF888F7-1C04-9E04-E5CD-A003AEA2C12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3B602BB-E80F-0FC0-5DFE-AE6522C12A7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1481706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D69BACB3-9250-501E-492B-02368A646461}"/>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F7FA5AA4-2D06-5E10-E47E-CB58BBC93952}"/>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Correct, you would need 15 SPISTE wires to route between the different sensors, this complicates the circuit and, more wires also means more potential interference!</a:t>
            </a:r>
            <a:endParaRPr dirty="0"/>
          </a:p>
        </p:txBody>
      </p:sp>
      <p:sp>
        <p:nvSpPr>
          <p:cNvPr id="87" name="Google Shape;87;p27:notes">
            <a:extLst>
              <a:ext uri="{FF2B5EF4-FFF2-40B4-BE49-F238E27FC236}">
                <a16:creationId xmlns:a16="http://schemas.microsoft.com/office/drawing/2014/main" id="{1506A244-AFEC-BFDE-AA11-AE195A54631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4572082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1582C02F-C285-F449-8EA1-E1D2F00646F5}"/>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0A8BC2B-1BF1-D612-F9BF-43641C6BD6F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1E2DC188-CDEC-7509-AEFF-4261EDAB4F0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1335838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7090A88-7CE8-CFF4-2F18-8A131D1457B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87886F1-886C-5426-615C-E07CAC45B9C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F6EBE4A-B54F-87FF-7C29-FB4C0F7F63B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962629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64BC3D-6452-DF5F-D9A4-D824FB6DCB0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8D402A8-708B-8999-FE2E-DEFE2466319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4CAB557-4D64-AF74-C1CA-FFA2AFEADF9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63242167"/>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0A038A9-C724-CFD4-FA00-03791AF1149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5017A38-13D9-10D1-7D26-32370DFBBAD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3A98F0E-A8B4-7AC6-0AE6-4FC30C16662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97313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8DCCCF5-0E98-C80D-AD5C-415490B1D7E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7B2FEDB-159A-F08A-B832-F0452A5527A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D7D7E34-683F-B65B-0D1D-8A98D5BCC2E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35262208"/>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27C2667-6FA7-3649-A353-5B09F7FC2DA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C27687E-7EF7-5767-DD72-91F192651AD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330D447-1745-AC3B-2D4C-09F524D63CF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49291575"/>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6ACAC2C-3B9C-0BF7-6012-9D576CEF6D0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5409370-3EAD-9487-DAD9-A0E660B6C24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E52243D-64FD-AC30-E686-4943A1F0B66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73654157"/>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D9F9877-9868-3F44-D95D-47C77CE827B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F69889D-AFD8-5E55-DE1F-21F108BB3C5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8E1D671-B8A2-DD52-55D7-A55FC4CFEFC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03057443"/>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2F60CFF-3499-365F-D27E-D2CE0F6245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D84B49C-9472-9574-FE88-58DFAC2CBDB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871F966-285B-370F-E4A0-6D5E2BD9638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94275737"/>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7359F92-92EE-6DCA-5BA0-48586D8AE43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38ADEA5-30CA-6754-72C3-7B17F0ABA93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C460299-1C2E-8129-90D1-FE2AB98CBF7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6055218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29E40127-582A-3A0E-85A3-63EFB7248A5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68980E48-3660-2FC0-3864-7CE0E747A1C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How do we get the electrical signals to agree on a single clock wave?</a:t>
            </a:r>
            <a:endParaRPr dirty="0"/>
          </a:p>
        </p:txBody>
      </p:sp>
      <p:sp>
        <p:nvSpPr>
          <p:cNvPr id="87" name="Google Shape;87;p27:notes">
            <a:extLst>
              <a:ext uri="{FF2B5EF4-FFF2-40B4-BE49-F238E27FC236}">
                <a16:creationId xmlns:a16="http://schemas.microsoft.com/office/drawing/2014/main" id="{F2A128FA-9E8D-47CF-5904-C3CFB676620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48623613"/>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94AAAB-8BC6-8921-F38A-EBABF0F44D2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8EC11F6-49EA-F5E6-10FC-4DE5FF0756E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AEAD4B2-3CE8-A83A-BDA3-5168650D555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24312639"/>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71CBFB4-8EF2-C10E-F9B4-07DDC70F90F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E05EF9F-11FF-82F6-9958-35D228EA8B0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996EC63-E185-5A52-EB13-FE9752A4D96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2741626"/>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FCA1EA4-1150-7202-D155-3E447F9DC12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3460245-CCF5-A0B7-F2E6-677CCB27AEB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3017F10-C0FF-DD99-9F97-170A808D16A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6308116"/>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F90229A1-C4D5-1E31-B4AE-21F9D76A5FB5}"/>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EB72D92A-40DA-CEAB-651A-6390E806EA6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9234B7F8-5202-0577-2128-19A5F21FE4E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92569866"/>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65EF128-6066-A9F1-7231-CDBCE83D342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D2F2CE0-F6CA-3074-37C2-EAA94DB884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1C8D23E-711B-3969-8670-62F87E480BB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62673390"/>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FBF2369-0DAB-7754-347F-C85C833F002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FEDA960-0BD6-630C-D2CC-D8E05155482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E1D1E9B-4136-F5C6-9A15-5DB9488C1FF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32894796"/>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marius-juston.github.io/SE-423---Class-Material/Homeworks/HW2.pdf"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Homeworks/LabVIEW2.pdf"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8.svg"/><Relationship Id="rId5" Type="http://schemas.openxmlformats.org/officeDocument/2006/relationships/image" Target="../media/image7.png"/><Relationship Id="rId4" Type="http://schemas.openxmlformats.org/officeDocument/2006/relationships/hyperlink" Target="https://en.wikipedia.org/wiki/Electromagnetic_interference" TargetMode="Externa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13.svg"/><Relationship Id="rId5" Type="http://schemas.openxmlformats.org/officeDocument/2006/relationships/image" Target="../media/image12.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16.svg"/><Relationship Id="rId5" Type="http://schemas.openxmlformats.org/officeDocument/2006/relationships/image" Target="../media/image15.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16.svg"/><Relationship Id="rId5" Type="http://schemas.openxmlformats.org/officeDocument/2006/relationships/image" Target="../media/image15.pn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16.svg"/><Relationship Id="rId5" Type="http://schemas.openxmlformats.org/officeDocument/2006/relationships/image" Target="../media/image15.pn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hyperlink" Target="https://commons.wikimedia.org/wiki/File:Prinzip_MIMO.svg" TargetMode="External"/><Relationship Id="rId5" Type="http://schemas.openxmlformats.org/officeDocument/2006/relationships/image" Target="../media/image21.svg"/><Relationship Id="rId4" Type="http://schemas.openxmlformats.org/officeDocument/2006/relationships/image" Target="../media/image20.png"/></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hyperlink" Target="https://www.qsfptek.com/qt-news/half-duplex-vs-full-duplex-vs-simplex-transmission-mode.html?srsltid=AfmBOopvEYPNWR3lh3_nh46jJxnYWESqNo07pANJhJ3pTBwkhLByDD5J" TargetMode="External"/><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23.jpeg"/><Relationship Id="rId5" Type="http://schemas.openxmlformats.org/officeDocument/2006/relationships/hyperlink" Target="https://www.linkedin.com/posts/anis-hassen_communication-modes-simplified-ever-activity-7310553982957948928-FHnT/" TargetMode="External"/><Relationship Id="rId4" Type="http://schemas.openxmlformats.org/officeDocument/2006/relationships/image" Target="../media/image22.gif"/></Relationships>
</file>

<file path=ppt/slides/_rels/slide22.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hyperlink" Target="https://marius-juston.github.io/SE-423---Class-Material/Lectures/Slides/L4.pdf" TargetMode="External"/><Relationship Id="rId2" Type="http://schemas.openxmlformats.org/officeDocument/2006/relationships/notesSlide" Target="../notesSlides/notesSlide23.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Lectures/Slides/L6-7.pdf" TargetMode="External"/></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2.xml"/><Relationship Id="rId5" Type="http://schemas.openxmlformats.org/officeDocument/2006/relationships/image" Target="../media/image25.svg"/><Relationship Id="rId4" Type="http://schemas.openxmlformats.org/officeDocument/2006/relationships/image" Target="../media/image24.png"/></Relationships>
</file>

<file path=ppt/slides/_rels/slide27.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image" Target="../media/image27.svg"/><Relationship Id="rId4" Type="http://schemas.openxmlformats.org/officeDocument/2006/relationships/image" Target="../media/image26.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28.gif"/><Relationship Id="rId4" Type="http://schemas.openxmlformats.org/officeDocument/2006/relationships/hyperlink" Target="https://en.wikipedia.org/wiki/Serial_Peripheral_Interface" TargetMode="External"/></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9.xml"/><Relationship Id="rId1" Type="http://schemas.openxmlformats.org/officeDocument/2006/relationships/slideLayout" Target="../slideLayouts/slideLayout2.xml"/><Relationship Id="rId5" Type="http://schemas.openxmlformats.org/officeDocument/2006/relationships/image" Target="../media/image30.svg"/><Relationship Id="rId4" Type="http://schemas.openxmlformats.org/officeDocument/2006/relationships/image" Target="../media/image29.pn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 Id="rId5" Type="http://schemas.openxmlformats.org/officeDocument/2006/relationships/image" Target="../media/image32.svg"/><Relationship Id="rId4" Type="http://schemas.openxmlformats.org/officeDocument/2006/relationships/image" Target="../media/image31.png"/></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4.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4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5.xml"/><Relationship Id="rId1" Type="http://schemas.openxmlformats.org/officeDocument/2006/relationships/slideLayout" Target="../slideLayouts/slideLayout2.xml"/><Relationship Id="rId5" Type="http://schemas.openxmlformats.org/officeDocument/2006/relationships/image" Target="../media/image34.svg"/><Relationship Id="rId4" Type="http://schemas.openxmlformats.org/officeDocument/2006/relationships/image" Target="../media/image33.png"/></Relationships>
</file>

<file path=ppt/slides/_rels/slide4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6.xml"/><Relationship Id="rId1" Type="http://schemas.openxmlformats.org/officeDocument/2006/relationships/slideLayout" Target="../slideLayouts/slideLayout2.xml"/><Relationship Id="rId5" Type="http://schemas.openxmlformats.org/officeDocument/2006/relationships/image" Target="../media/image36.svg"/><Relationship Id="rId4" Type="http://schemas.openxmlformats.org/officeDocument/2006/relationships/image" Target="../media/image35.png"/></Relationships>
</file>

<file path=ppt/slides/_rels/slide4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40.svg"/><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image" Target="../media/image39.png"/><Relationship Id="rId5" Type="http://schemas.openxmlformats.org/officeDocument/2006/relationships/image" Target="../media/image38.svg"/><Relationship Id="rId4" Type="http://schemas.openxmlformats.org/officeDocument/2006/relationships/image" Target="../media/image37.png"/></Relationships>
</file>

<file path=ppt/slides/_rels/slide4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0.xml"/><Relationship Id="rId1" Type="http://schemas.openxmlformats.org/officeDocument/2006/relationships/slideLayout" Target="../slideLayouts/slideLayout2.xml"/><Relationship Id="rId5" Type="http://schemas.openxmlformats.org/officeDocument/2006/relationships/image" Target="../media/image42.svg"/><Relationship Id="rId4" Type="http://schemas.openxmlformats.org/officeDocument/2006/relationships/image" Target="../media/image41.png"/></Relationships>
</file>

<file path=ppt/slides/_rels/slide5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2.xml"/><Relationship Id="rId1" Type="http://schemas.openxmlformats.org/officeDocument/2006/relationships/slideLayout" Target="../slideLayouts/slideLayout2.xml"/><Relationship Id="rId5" Type="http://schemas.openxmlformats.org/officeDocument/2006/relationships/image" Target="../media/image44.svg"/><Relationship Id="rId4" Type="http://schemas.openxmlformats.org/officeDocument/2006/relationships/image" Target="../media/image43.png"/></Relationships>
</file>

<file path=ppt/slides/_rels/slide5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5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5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6.xml"/><Relationship Id="rId1" Type="http://schemas.openxmlformats.org/officeDocument/2006/relationships/slideLayout" Target="../slideLayouts/slideLayout2.xml"/><Relationship Id="rId5" Type="http://schemas.openxmlformats.org/officeDocument/2006/relationships/image" Target="../media/image46.svg"/><Relationship Id="rId4" Type="http://schemas.openxmlformats.org/officeDocument/2006/relationships/image" Target="../media/image45.png"/></Relationships>
</file>

<file path=ppt/slides/_rels/slide57.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5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60.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61.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61.xml"/><Relationship Id="rId1" Type="http://schemas.openxmlformats.org/officeDocument/2006/relationships/slideLayout" Target="../slideLayouts/slideLayout1.xml"/><Relationship Id="rId4" Type="http://schemas.openxmlformats.org/officeDocument/2006/relationships/image" Target="../media/image48.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lnSpc>
                <a:spcPct val="100000"/>
              </a:lnSpc>
              <a:spcBef>
                <a:spcPts val="600"/>
              </a:spcBef>
              <a:spcAft>
                <a:spcPts val="0"/>
              </a:spcAft>
              <a:buSzPts val="4500"/>
            </a:pPr>
            <a:r>
              <a:rPr i="0" lang="en-US" sz="4500" b="1" dirty="0">
                <a:solidFill>
                  <a:schemeClr val="lt1"/>
                </a:solidFill>
              </a:rPr>
              <a:t>SE 423: Introduction to Mechatronics</a:t>
            </a:r>
            <a:endParaRPr i="0" b="0" lang="en-US" sz="4500" dirty="0">
              <a:solidFill>
                <a:srgbClr val="000000"/>
              </a:solidFill>
            </a:endParaRPr>
          </a:p>
          <a:p>
            <a:pPr marL="0" marR="0" lvl="0" indent="0" algn="ctr" rtl="0">
              <a:lnSpc>
                <a:spcPct val="100000"/>
              </a:lnSpc>
              <a:spcBef>
                <a:spcPts val="600"/>
              </a:spcBef>
              <a:spcAft>
                <a:spcPts val="0"/>
              </a:spcAft>
              <a:buNone/>
            </a:pPr>
            <a:r>
              <a:rPr i="0" b="0" lang="en-US" sz="2500" dirty="0">
                <a:solidFill>
                  <a:schemeClr val="lt1"/>
                </a:solidFill>
              </a:rPr>
              <a:t>Lecture 10: Communication Protocols</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tkinson Hyperlegible Next"/>
                <a:ea typeface="Arial"/>
                <a:cs typeface="Arial"/>
                <a:sym typeface="Arial"/>
              </a:rPr>
              <a:t>Monday, February 23</a:t>
            </a:r>
            <a:r>
              <a:rPr lang="en-US" sz="1800" b="0" i="0" u="none" strike="noStrike" cap="none" baseline="30000" dirty="0">
                <a:solidFill>
                  <a:schemeClr val="lt1"/>
                </a:solidFill>
                <a:latin typeface="Atkinson Hyperlegible Next"/>
                <a:ea typeface="Arial"/>
                <a:cs typeface="Arial"/>
                <a:sym typeface="Arial"/>
              </a:rPr>
              <a:t>rd</a:t>
            </a:r>
            <a:r>
              <a:rPr lang="en-US" sz="1800" b="0" i="0" u="none" strike="noStrike" cap="none" dirty="0">
                <a:solidFill>
                  <a:schemeClr val="lt1"/>
                </a:solidFill>
                <a:latin typeface="Atkinson Hyperlegible Next"/>
                <a:ea typeface="Arial"/>
                <a:cs typeface="Arial"/>
                <a:sym typeface="Arial"/>
              </a:rPr>
              <a:t> 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81D3E48-EB5B-86EE-C4D9-54116487B2D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BCC2F8C-3A4A-AD98-3682-D9499379E41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D83B27"/>
                </a:solidFill>
                <a:latin typeface="Atkinson Hyperlegible Next"/>
                <a:ea typeface="Arial"/>
                <a:cs typeface="Arial"/>
                <a:sym typeface="Arial"/>
              </a:rPr>
              <a:t>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Monday: </a:t>
            </a:r>
            <a:r>
              <a:rPr lang="en-US" sz="1800" dirty="0">
                <a:solidFill>
                  <a:schemeClr val="dk1"/>
                </a:solidFill>
                <a:latin typeface="Atkinson Hyperlegible Next"/>
                <a:ea typeface="Arial"/>
                <a:cs typeface="Arial"/>
                <a:sym typeface="Arial"/>
              </a:rPr>
              <a:t>4-6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Neel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11-1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latin typeface="Atkinson Hyperlegible Next"/>
                <a:ea typeface="Arial"/>
                <a:cs typeface="Arial"/>
                <a:sym typeface="Arial"/>
              </a:rPr>
              <a:t>1-3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solidFill>
                  <a:schemeClr val="dk1"/>
                </a:solidFill>
                <a:latin typeface="Atkinson Hyperlegible Next"/>
                <a:ea typeface="Arial"/>
                <a:cs typeface="Arial"/>
                <a:sym typeface="Arial"/>
              </a:rPr>
              <a:t>2-5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Dan &amp; Marius</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Lab: </a:t>
            </a:r>
            <a:r>
              <a:rPr lang="en-US" sz="1800" dirty="0">
                <a:latin typeface="Atkinson Hyperlegible Next"/>
                <a:ea typeface="Arial"/>
                <a:cs typeface="Arial"/>
                <a:sym typeface="Arial"/>
              </a:rPr>
              <a:t>Starting Lab 4 this week. This a 2-week lab!</a:t>
            </a:r>
            <a:endParaRPr lang="en-US" sz="1800" dirty="0">
              <a:solidFill>
                <a:srgbClr val="E84B36"/>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D83B27"/>
                </a:solidFill>
                <a:latin typeface="Atkinson Hyperlegible Next"/>
                <a:ea typeface="Arial"/>
                <a:cs typeface="Arial"/>
                <a:sym typeface="Arial"/>
              </a:rPr>
              <a:t>Homeworks</a:t>
            </a:r>
            <a:r>
              <a:rPr lang="en-US" sz="1800" b="1" dirty="0">
                <a:solidFill>
                  <a:srgbClr val="D83B27"/>
                </a:solidFill>
                <a:latin typeface="Atkinson Hyperlegible Next"/>
                <a:ea typeface="Arial"/>
                <a:cs typeface="Arial"/>
                <a:sym typeface="Arial"/>
              </a:rPr>
              <a:t>:</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2</a:t>
            </a:r>
            <a:r>
              <a:rPr lang="en-US" sz="1800" dirty="0">
                <a:latin typeface="Atkinson Hyperlegible Next"/>
                <a:ea typeface="Arial"/>
                <a:cs typeface="Arial"/>
                <a:sym typeface="Arial"/>
              </a:rPr>
              <a:t> Ex 3 &amp; 4 are due </a:t>
            </a:r>
            <a:r>
              <a:rPr lang="en-US" sz="1800" b="1" dirty="0">
                <a:latin typeface="Atkinson Hyperlegible Next"/>
                <a:ea typeface="Arial"/>
                <a:cs typeface="Arial"/>
                <a:sym typeface="Arial"/>
              </a:rPr>
              <a:t>February 24,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Answers and code submissions for homework 2 are due </a:t>
            </a:r>
            <a:r>
              <a:rPr lang="en-US" sz="1800" b="1">
                <a:latin typeface="Atkinson Hyperlegible Next"/>
                <a:ea typeface="Arial"/>
                <a:cs typeface="Arial"/>
                <a:sym typeface="Arial"/>
              </a:rPr>
              <a:t>February 25, </a:t>
            </a:r>
            <a:r>
              <a:rPr lang="en-US" sz="1800" b="1" dirty="0">
                <a:latin typeface="Atkinson Hyperlegible Next"/>
                <a:ea typeface="Arial"/>
                <a:cs typeface="Arial"/>
                <a:sym typeface="Arial"/>
              </a:rPr>
              <a:t>9AM</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LabVIEW:</a:t>
            </a:r>
          </a:p>
          <a:p>
            <a:pPr marL="285750" indent="-285750">
              <a:lnSpc>
                <a:spcPct val="100000"/>
              </a:lnSpc>
              <a:spcBef>
                <a:spcPts val="0"/>
              </a:spcBef>
              <a:buSzPts val="3000"/>
            </a:pPr>
            <a:r>
              <a:rPr lang="en-US" sz="1800" dirty="0">
                <a:latin typeface="Atkinson Hyperlegible Next"/>
                <a:ea typeface="Arial"/>
                <a:cs typeface="Arial"/>
                <a:sym typeface="Arial"/>
              </a:rPr>
              <a:t>All check-offs for </a:t>
            </a:r>
            <a:r>
              <a:rPr lang="en-US" sz="1800" dirty="0">
                <a:latin typeface="Atkinson Hyperlegible Next"/>
                <a:ea typeface="Arial"/>
                <a:cs typeface="Arial"/>
                <a:sym typeface="Arial"/>
                <a:hlinkClick r:id="rId4"/>
              </a:rPr>
              <a:t>LabVIEW 2</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February 26, 5PM</a:t>
            </a:r>
          </a:p>
          <a:p>
            <a:pPr marL="285750" indent="-285750">
              <a:lnSpc>
                <a:spcPct val="100000"/>
              </a:lnSpc>
              <a:spcBef>
                <a:spcPts val="0"/>
              </a:spcBef>
              <a:buSzPts val="3000"/>
            </a:pPr>
            <a:endParaRPr lang="en-US" sz="1800" b="1"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9848B8C-9075-59EA-79FA-AF5B8BFAF8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AE21486-AEEC-E367-96A5-81B49AD32D6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8CCE647-4D9B-354D-A2E9-718CA28CD750}"/>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AC87A64-580A-4863-38B3-4D1504C83F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649EAB-2DB3-2DA4-9AD9-5D94AEE695E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41F8E2C-2780-2776-E8ED-542B082247F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628D6E-10A9-03E9-659C-F8F2D0023C6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BEB3CD3-0F72-FD08-8FA5-00AD37965F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958410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p:cNvGrpSpPr/>
        <p:nvPr/>
      </p:nvGrpSpPr>
      <p:grpSpPr>
        <a:xfrm>
          <a:off x="0" y="0"/>
          <a:ext cx="0" cy="0"/>
          <a:chOff x="0" y="0"/>
          <a:chExt cx="0" cy="0"/>
        </a:xfrm>
      </p:grpSpPr>
      <p:grpSp>
        <p:nvGrpSpPr>
          <p:cNvPr id="2" name="Group 1">
            <a:extLst>
              <a:ext uri="{FF2B5EF4-FFF2-40B4-BE49-F238E27FC236}">
                <a16:creationId xmlns:a16="http://schemas.microsoft.com/office/drawing/2014/main" id="{FCD35529-FC63-DDF1-655B-2AC0C85AA128}"/>
              </a:ext>
            </a:extLst>
          </p:cNvPr>
          <p:cNvGrpSpPr/>
          <p:nvPr/>
        </p:nvGrpSpPr>
        <p:grpSpPr>
          <a:xfrm>
            <a:off x="1441528" y="2296815"/>
            <a:ext cx="9308941" cy="2264370"/>
            <a:chOff x="1441528" y="1491040"/>
            <a:chExt cx="9308941" cy="2264370"/>
          </a:xfrm>
        </p:grpSpPr>
        <p:sp>
          <p:nvSpPr>
            <p:cNvPr id="89" name="Google Shape;89;p27"/>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a:t>
              </a:r>
              <a:endParaRPr sz="1400" b="0" i="0" u="none" strike="noStrike" cap="none" dirty="0">
                <a:solidFill>
                  <a:srgbClr val="000000"/>
                </a:solidFill>
                <a:latin typeface="Atkinson Hyperlegible Next"/>
                <a:ea typeface="Arial"/>
                <a:cs typeface="Arial"/>
                <a:sym typeface="Arial"/>
              </a:endParaRPr>
            </a:p>
          </p:txBody>
        </p:sp>
        <p:sp>
          <p:nvSpPr>
            <p:cNvPr id="90" name="Google Shape;90;p27"/>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Homework, Lab, LabVIEW questions?</a:t>
              </a:r>
              <a:endParaRPr sz="1800" b="0" i="0" u="none" strike="noStrike" cap="none" dirty="0">
                <a:solidFill>
                  <a:schemeClr val="lt1"/>
                </a:solidFill>
                <a:latin typeface="Atkinson Hyperlegible Next"/>
                <a:ea typeface="Arial"/>
                <a:cs typeface="Arial"/>
                <a:sym typeface="Arial"/>
              </a:endParaRPr>
            </a:p>
          </p:txBody>
        </p:sp>
        <p:grpSp>
          <p:nvGrpSpPr>
            <p:cNvPr id="91" name="Google Shape;91;p27"/>
            <p:cNvGrpSpPr/>
            <p:nvPr/>
          </p:nvGrpSpPr>
          <p:grpSpPr>
            <a:xfrm>
              <a:off x="3943790" y="2676939"/>
              <a:ext cx="3861740" cy="322845"/>
              <a:chOff x="3943790" y="2676939"/>
              <a:chExt cx="3861740" cy="322845"/>
            </a:xfrm>
          </p:grpSpPr>
          <p:cxnSp>
            <p:nvCxnSpPr>
              <p:cNvPr id="92" name="Google Shape;92;p27"/>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p:cNvGrpSpPr/>
          <p:nvPr/>
        </p:nvGrpSpPr>
        <p:grpSpPr>
          <a:xfrm>
            <a:off x="4066674" y="6601537"/>
            <a:ext cx="5233412" cy="70446"/>
            <a:chOff x="4033424" y="6601537"/>
            <a:chExt cx="5233412" cy="70446"/>
          </a:xfrm>
        </p:grpSpPr>
        <p:cxnSp>
          <p:nvCxnSpPr>
            <p:cNvPr id="98" name="Google Shape;98;p2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Serial Communication</a:t>
            </a:r>
            <a:endParaRPr lang="en-US" sz="1800" b="0" i="0" u="none" strike="noStrike" cap="none" dirty="0">
              <a:solidFill>
                <a:srgbClr val="15264B"/>
              </a:solidFill>
              <a:latin typeface="Atkinson Hyperlegible Next"/>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p:cNvGrpSpPr/>
        <p:nvPr/>
      </p:nvGrpSpPr>
      <p:grpSpPr>
        <a:xfrm>
          <a:off x="0" y="0"/>
          <a:ext cx="0" cy="0"/>
          <a:chOff x="0" y="0"/>
          <a:chExt cx="0" cy="0"/>
        </a:xfrm>
      </p:grpSpPr>
      <p:sp>
        <p:nvSpPr>
          <p:cNvPr id="118" name="Google Shape;118;p29"/>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solidFill>
                  <a:schemeClr val="dk1"/>
                </a:solidFill>
                <a:latin typeface="Atkinson Hyperlegible Next"/>
                <a:ea typeface="Arial"/>
                <a:cs typeface="Arial"/>
                <a:sym typeface="Arial"/>
              </a:rPr>
              <a:t>Communication between different signal could happen in 2 ways, </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ctr" rtl="0">
              <a:lnSpc>
                <a:spcPct val="100000"/>
              </a:lnSpc>
              <a:spcBef>
                <a:spcPts val="0"/>
              </a:spcBef>
              <a:spcAft>
                <a:spcPts val="0"/>
              </a:spcAft>
              <a:buSzPts val="3000"/>
              <a:buNone/>
            </a:pPr>
            <a:r>
              <a:rPr lang="en-US" sz="1800" dirty="0">
                <a:solidFill>
                  <a:schemeClr val="dk1"/>
                </a:solidFill>
                <a:latin typeface="Atkinson Hyperlegible Next"/>
                <a:ea typeface="Arial"/>
                <a:cs typeface="Arial"/>
                <a:sym typeface="Arial"/>
              </a:rPr>
              <a:t>Parallel communication vs Serial communication</a:t>
            </a:r>
          </a:p>
          <a:p>
            <a:pPr marL="0" lvl="0" indent="0" algn="ctr"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rtl="0">
              <a:lnSpc>
                <a:spcPct val="100000"/>
              </a:lnSpc>
              <a:spcBef>
                <a:spcPts val="0"/>
              </a:spcBef>
              <a:spcAft>
                <a:spcPts val="0"/>
              </a:spcAft>
              <a:buSzPts val="3000"/>
              <a:buNone/>
            </a:pPr>
            <a:r>
              <a:rPr lang="en-US" sz="1800" dirty="0">
                <a:latin typeface="Atkinson Hyperlegible Next"/>
                <a:ea typeface="Arial"/>
                <a:cs typeface="Arial"/>
                <a:sym typeface="Arial"/>
              </a:rPr>
              <a:t>Why not do parallel communication?</a:t>
            </a:r>
          </a:p>
          <a:p>
            <a:pPr marL="0" lvl="0" indent="0"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Requires many I/O pins, these are already very limited</a:t>
            </a:r>
          </a:p>
          <a:p>
            <a:pPr marL="285750" indent="-285750">
              <a:lnSpc>
                <a:spcPct val="100000"/>
              </a:lnSpc>
              <a:spcBef>
                <a:spcPts val="0"/>
              </a:spcBef>
              <a:buSzPts val="3000"/>
            </a:pPr>
            <a:r>
              <a:rPr lang="en-US" sz="1800" dirty="0">
                <a:latin typeface="Atkinson Hyperlegible Next"/>
                <a:ea typeface="Arial"/>
                <a:cs typeface="Arial"/>
                <a:sym typeface="Arial"/>
              </a:rPr>
              <a:t>With the wires, we can run into electromagnetic interference (EMI) and cross-talk</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Serial communication, serializes data into single-bit stream, requires much less circuit complexity. What is the trade-off?</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gn="ctr">
              <a:lnSpc>
                <a:spcPct val="100000"/>
              </a:lnSpc>
              <a:spcBef>
                <a:spcPts val="0"/>
              </a:spcBef>
              <a:buSzPts val="3000"/>
              <a:buNone/>
            </a:pPr>
            <a:r>
              <a:rPr lang="en-US" sz="1800" dirty="0">
                <a:latin typeface="Atkinson Hyperlegible Next"/>
                <a:ea typeface="Arial"/>
                <a:cs typeface="Arial"/>
                <a:sym typeface="Arial"/>
              </a:rPr>
              <a:t>Time! </a:t>
            </a:r>
          </a:p>
          <a:p>
            <a:pPr marL="0" indent="0" algn="ctr">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Serializing an N-bit word requires N discrete clock cycles!</a:t>
            </a:r>
          </a:p>
          <a:p>
            <a:pPr marL="285750" indent="-285750">
              <a:lnSpc>
                <a:spcPct val="100000"/>
              </a:lnSpc>
              <a:spcBef>
                <a:spcPts val="0"/>
              </a:spcBef>
              <a:buSzPts val="3000"/>
            </a:pPr>
            <a:endParaRPr lang="en-US" sz="1800" dirty="0">
              <a:latin typeface="Atkinson Hyperlegible Next"/>
              <a:ea typeface="Arial"/>
              <a:cs typeface="Arial"/>
              <a:sym typeface="Arial"/>
            </a:endParaRPr>
          </a:p>
        </p:txBody>
      </p:sp>
      <p:sp>
        <p:nvSpPr>
          <p:cNvPr id="119" name="Google Shape;119;p29"/>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p:cNvGrpSpPr/>
          <p:nvPr/>
        </p:nvGrpSpPr>
        <p:grpSpPr>
          <a:xfrm>
            <a:off x="4066674" y="6601537"/>
            <a:ext cx="5233412" cy="70446"/>
            <a:chOff x="4033424" y="6601537"/>
            <a:chExt cx="5233412" cy="70446"/>
          </a:xfrm>
        </p:grpSpPr>
        <p:cxnSp>
          <p:nvCxnSpPr>
            <p:cNvPr id="125" name="Google Shape;125;p29"/>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8">
                                            <p:txEl>
                                              <p:pRg st="11" end="11"/>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DFAD76F1-3EEB-1CE5-BCF3-2CF0F28E5DAF}"/>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43307880-10A8-466C-A82F-AEF87DAF4436}"/>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Interferences</a:t>
            </a:r>
            <a:endParaRPr lang="en-US"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C1D1F95D-0303-C926-6050-F0B7D14BB208}"/>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1271C797-5FB9-965B-240D-78A6D4BB0916}"/>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7778F9E7-AF03-7080-8DBC-5D3D6C35FD92}"/>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F0F792E9-4626-2DD3-8C2F-A7B486F4A06C}"/>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9A73BED0-95BB-B9E3-7610-7541656B69C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65690095-507F-DB7F-A84A-08C1B586B916}"/>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72176AFC-B1C1-C8A6-2878-52B8AA67CF7A}"/>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40450786-7484-40DA-33F3-14628489E87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8E5976D0-D247-2180-9FE4-1870155FD05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112771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77FECF8-EBAB-6751-1A3F-B8ACA0522B1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E584330-3BFD-10BF-0887-245CBFA444F9}"/>
              </a:ext>
            </a:extLst>
          </p:cNvPr>
          <p:cNvSpPr txBox="1">
            <a:spLocks noGrp="1"/>
          </p:cNvSpPr>
          <p:nvPr>
            <p:ph type="body" idx="1"/>
          </p:nvPr>
        </p:nvSpPr>
        <p:spPr>
          <a:xfrm>
            <a:off x="376810" y="1334279"/>
            <a:ext cx="5719190"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400" dirty="0">
                <a:latin typeface="Atkinson Hyperlegible Next"/>
                <a:ea typeface="Arial"/>
                <a:cs typeface="Arial"/>
                <a:sym typeface="Arial"/>
              </a:rPr>
              <a:t>There are 4 interference couplings:</a:t>
            </a:r>
          </a:p>
          <a:p>
            <a:pPr marL="0" indent="0">
              <a:lnSpc>
                <a:spcPct val="100000"/>
              </a:lnSpc>
              <a:spcBef>
                <a:spcPts val="0"/>
              </a:spcBef>
              <a:buSzPts val="3000"/>
              <a:buNone/>
            </a:pPr>
            <a:endParaRPr lang="en-US" sz="1400" dirty="0">
              <a:latin typeface="Atkinson Hyperlegible Next"/>
              <a:ea typeface="Arial"/>
              <a:cs typeface="Arial"/>
              <a:sym typeface="Arial"/>
            </a:endParaRPr>
          </a:p>
          <a:p>
            <a:pPr marL="285750" indent="-285750">
              <a:lnSpc>
                <a:spcPct val="100000"/>
              </a:lnSpc>
              <a:spcBef>
                <a:spcPts val="0"/>
              </a:spcBef>
              <a:buSzPts val="3000"/>
            </a:pPr>
            <a:r>
              <a:rPr lang="en-US" sz="1400" b="1" dirty="0">
                <a:latin typeface="Atkinson Hyperlegible Next"/>
                <a:ea typeface="Arial"/>
                <a:cs typeface="Arial"/>
                <a:sym typeface="Arial"/>
              </a:rPr>
              <a:t>Conductive</a:t>
            </a:r>
            <a:r>
              <a:rPr lang="en-US" sz="1400" dirty="0">
                <a:latin typeface="Atkinson Hyperlegible Next"/>
                <a:ea typeface="Arial"/>
                <a:cs typeface="Arial"/>
                <a:sym typeface="Arial"/>
              </a:rPr>
              <a:t>: You have physical connection causing interference</a:t>
            </a:r>
          </a:p>
          <a:p>
            <a:pPr marL="285750" indent="-285750">
              <a:lnSpc>
                <a:spcPct val="100000"/>
              </a:lnSpc>
              <a:spcBef>
                <a:spcPts val="0"/>
              </a:spcBef>
              <a:buSzPts val="3000"/>
            </a:pPr>
            <a:r>
              <a:rPr lang="en-US" sz="1400" b="1" dirty="0">
                <a:latin typeface="Atkinson Hyperlegible Next"/>
                <a:ea typeface="Arial"/>
                <a:cs typeface="Arial"/>
                <a:sym typeface="Arial"/>
              </a:rPr>
              <a:t>Inductive</a:t>
            </a:r>
            <a:r>
              <a:rPr lang="en-US" sz="1400" dirty="0">
                <a:latin typeface="Atkinson Hyperlegible Next"/>
                <a:ea typeface="Arial"/>
                <a:cs typeface="Arial"/>
                <a:sym typeface="Arial"/>
              </a:rPr>
              <a:t>: source and victim are separated by a short distance (typically less than a wavelength). Can be of two kinds, electrical induction and magnetic induction. </a:t>
            </a:r>
          </a:p>
          <a:p>
            <a:pPr marL="742950" lvl="1" indent="-285750">
              <a:lnSpc>
                <a:spcPct val="100000"/>
              </a:lnSpc>
              <a:spcBef>
                <a:spcPts val="0"/>
              </a:spcBef>
              <a:buSzPts val="3000"/>
            </a:pPr>
            <a:r>
              <a:rPr lang="en-US" sz="1400" dirty="0">
                <a:latin typeface="Atkinson Hyperlegible Next"/>
                <a:ea typeface="Arial"/>
                <a:cs typeface="Arial"/>
                <a:sym typeface="Arial"/>
              </a:rPr>
              <a:t>It is common to refer to electrical induction as </a:t>
            </a:r>
            <a:r>
              <a:rPr lang="en-US" sz="1400" b="1" dirty="0">
                <a:latin typeface="Atkinson Hyperlegible Next"/>
                <a:ea typeface="Arial"/>
                <a:cs typeface="Arial"/>
                <a:sym typeface="Arial"/>
              </a:rPr>
              <a:t>capacitive</a:t>
            </a:r>
            <a:r>
              <a:rPr lang="en-US" sz="1400" dirty="0">
                <a:latin typeface="Atkinson Hyperlegible Next"/>
                <a:ea typeface="Arial"/>
                <a:cs typeface="Arial"/>
                <a:sym typeface="Arial"/>
              </a:rPr>
              <a:t> coupling, and to magnetic induction as </a:t>
            </a:r>
            <a:r>
              <a:rPr lang="en-US" sz="1400" b="1" dirty="0">
                <a:latin typeface="Atkinson Hyperlegible Next"/>
                <a:ea typeface="Arial"/>
                <a:cs typeface="Arial"/>
                <a:sym typeface="Arial"/>
              </a:rPr>
              <a:t>inductive</a:t>
            </a:r>
            <a:r>
              <a:rPr lang="en-US" sz="1400" dirty="0">
                <a:latin typeface="Atkinson Hyperlegible Next"/>
                <a:ea typeface="Arial"/>
                <a:cs typeface="Arial"/>
                <a:sym typeface="Arial"/>
              </a:rPr>
              <a:t> coupling.</a:t>
            </a:r>
          </a:p>
          <a:p>
            <a:pPr marL="285750" indent="-285750">
              <a:lnSpc>
                <a:spcPct val="100000"/>
              </a:lnSpc>
              <a:spcBef>
                <a:spcPts val="0"/>
              </a:spcBef>
              <a:buSzPts val="3000"/>
            </a:pPr>
            <a:r>
              <a:rPr lang="en-US" sz="1400" b="1" dirty="0">
                <a:latin typeface="Atkinson Hyperlegible Next"/>
                <a:ea typeface="Arial"/>
                <a:cs typeface="Arial"/>
                <a:sym typeface="Arial"/>
              </a:rPr>
              <a:t>Capacitive:</a:t>
            </a:r>
            <a:r>
              <a:rPr lang="en-US" sz="1400" dirty="0">
                <a:latin typeface="Atkinson Hyperlegible Next"/>
                <a:ea typeface="Arial"/>
                <a:cs typeface="Arial"/>
                <a:sym typeface="Arial"/>
              </a:rPr>
              <a:t> occurs when a varying electrical field exists between two adjacent conductors, inducing a change in voltage on the receiving conductor.</a:t>
            </a:r>
          </a:p>
          <a:p>
            <a:pPr marL="285750" indent="-285750">
              <a:lnSpc>
                <a:spcPct val="100000"/>
              </a:lnSpc>
              <a:spcBef>
                <a:spcPts val="0"/>
              </a:spcBef>
              <a:buSzPts val="3000"/>
            </a:pPr>
            <a:r>
              <a:rPr lang="en-US" sz="1400" b="1" dirty="0">
                <a:latin typeface="Atkinson Hyperlegible Next"/>
                <a:ea typeface="Arial"/>
                <a:cs typeface="Arial"/>
                <a:sym typeface="Arial"/>
              </a:rPr>
              <a:t>Inductive:</a:t>
            </a:r>
            <a:r>
              <a:rPr lang="en-US" sz="1400" dirty="0">
                <a:latin typeface="Atkinson Hyperlegible Next"/>
                <a:ea typeface="Arial"/>
                <a:cs typeface="Arial"/>
                <a:sym typeface="Arial"/>
              </a:rPr>
              <a:t> magnetic coupling occurs when a varying magnetic field exists between two parallel conductors, inducing a change in voltage along the receiving conductor.</a:t>
            </a:r>
          </a:p>
          <a:p>
            <a:pPr marL="285750" indent="-285750">
              <a:lnSpc>
                <a:spcPct val="100000"/>
              </a:lnSpc>
              <a:spcBef>
                <a:spcPts val="0"/>
              </a:spcBef>
              <a:buSzPts val="3000"/>
            </a:pPr>
            <a:r>
              <a:rPr lang="en-US" sz="1400" b="1" dirty="0">
                <a:latin typeface="Atkinson Hyperlegible Next"/>
                <a:ea typeface="Arial"/>
                <a:cs typeface="Arial"/>
                <a:sym typeface="Arial"/>
              </a:rPr>
              <a:t>Radiative:</a:t>
            </a:r>
            <a:r>
              <a:rPr lang="en-US" sz="1400" dirty="0">
                <a:latin typeface="Atkinson Hyperlegible Next"/>
                <a:ea typeface="Arial"/>
                <a:cs typeface="Arial"/>
                <a:sym typeface="Arial"/>
              </a:rPr>
              <a:t> electromagnetic coupling occurs when source and victim are separated by a large distance. Source and victim act as radio antennas: the source emits or radiates an electromagnetic wave which is picked up or received by the victim.</a:t>
            </a:r>
          </a:p>
        </p:txBody>
      </p:sp>
      <p:sp>
        <p:nvSpPr>
          <p:cNvPr id="119" name="Google Shape;119;p29">
            <a:extLst>
              <a:ext uri="{FF2B5EF4-FFF2-40B4-BE49-F238E27FC236}">
                <a16:creationId xmlns:a16="http://schemas.microsoft.com/office/drawing/2014/main" id="{284D7BB0-61A9-67FC-EE92-FCE51354AAA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14C4942-D2B2-5C2C-6B0B-EC1676AA119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Interferences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30C2115-54E5-613C-8947-5EE9742311B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68E4B52-87C7-03E0-4D2B-2221E3E2E6D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398937B-C433-974C-6071-64F7F1F225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F6971BA-B5D0-ED25-6D47-0747303D5E0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27603F9-A988-577D-C3A3-D6CD6395BB2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6E84985-2BBC-D75E-FC29-4D57D5720AD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8" name="Group 7">
            <a:extLst>
              <a:ext uri="{FF2B5EF4-FFF2-40B4-BE49-F238E27FC236}">
                <a16:creationId xmlns:a16="http://schemas.microsoft.com/office/drawing/2014/main" id="{6A14C56A-FF96-2426-B536-F84D74CC12ED}"/>
              </a:ext>
            </a:extLst>
          </p:cNvPr>
          <p:cNvGrpSpPr/>
          <p:nvPr/>
        </p:nvGrpSpPr>
        <p:grpSpPr>
          <a:xfrm>
            <a:off x="6269236" y="1626064"/>
            <a:ext cx="5559581" cy="4062325"/>
            <a:chOff x="3543301" y="1928812"/>
            <a:chExt cx="4913074" cy="3200417"/>
          </a:xfrm>
        </p:grpSpPr>
        <p:sp>
          <p:nvSpPr>
            <p:cNvPr id="5" name="TextBox 4">
              <a:extLst>
                <a:ext uri="{FF2B5EF4-FFF2-40B4-BE49-F238E27FC236}">
                  <a16:creationId xmlns:a16="http://schemas.microsoft.com/office/drawing/2014/main" id="{4D3078A5-7752-03DA-28AF-B4F3F489AB95}"/>
                </a:ext>
              </a:extLst>
            </p:cNvPr>
            <p:cNvSpPr txBox="1"/>
            <p:nvPr/>
          </p:nvSpPr>
          <p:spPr>
            <a:xfrm>
              <a:off x="3994169" y="4929187"/>
              <a:ext cx="3675308" cy="200042"/>
            </a:xfrm>
            <a:prstGeom prst="rect">
              <a:avLst/>
            </a:prstGeom>
            <a:noFill/>
          </p:spPr>
          <p:txBody>
            <a:bodyPr wrap="square">
              <a:spAutoFit/>
            </a:bodyPr>
            <a:lstStyle/>
            <a:p>
              <a:pPr algn="ctr"/>
              <a:r>
                <a:rPr lang="en-US" sz="1050" dirty="0">
                  <a:hlinkClick r:id="rId4"/>
                </a:rPr>
                <a:t>https://en.wikipedia.org/wiki/Electromagnetic_interference</a:t>
              </a:r>
              <a:r>
                <a:rPr lang="en-US" sz="1050" dirty="0"/>
                <a:t> </a:t>
              </a:r>
            </a:p>
          </p:txBody>
        </p:sp>
        <p:pic>
          <p:nvPicPr>
            <p:cNvPr id="7" name="Graphic 6" descr="Block diagram of the four ways interference couples from a Source block (left) to a Victim block (right). Radiative: an antenna on the source emits waves across open space toward the victim. Inductive: the source connects to a pair of coupled coils, like a transformer, with one side grounded. Conductive: a wire runs from the coils along the bottom to the victim's side. Capacitive: that wire reaches the victim through a capacitor.">
              <a:extLst>
                <a:ext uri="{FF2B5EF4-FFF2-40B4-BE49-F238E27FC236}">
                  <a16:creationId xmlns:a16="http://schemas.microsoft.com/office/drawing/2014/main" id="{93684A5F-CA2F-28C0-49AD-4A49C4B0AB84}"/>
                </a:ext>
              </a:extLst>
            </p:cNvPr>
            <p:cNvPicPr>
              <a:picLocks noChangeAspect="1"/>
            </p:cNvPicPr>
            <p:nvPr/>
          </p:nvPicPr>
          <p:blipFill>
            <a:blip r:embed="rId5">
              <a:extLst>
                <a:ext uri="{96DAC541-7B7A-43D3-8B79-37D633B846F1}">
                  <asvg:svgBlip xmlns:asvg="http://schemas.microsoft.com/office/drawing/2016/SVG/main" r:embed="rId6"/>
                </a:ext>
              </a:extLst>
            </a:blip>
            <a:srcRect r="3767"/>
            <a:stretch>
              <a:fillRect/>
            </a:stretch>
          </p:blipFill>
          <p:spPr>
            <a:xfrm>
              <a:off x="3543301" y="1928812"/>
              <a:ext cx="4913074" cy="3000375"/>
            </a:xfrm>
            <a:prstGeom prst="rect">
              <a:avLst/>
            </a:prstGeom>
          </p:spPr>
        </p:pic>
      </p:grpSp>
      <p:cxnSp>
        <p:nvCxnSpPr>
          <p:cNvPr id="10" name="Straight Arrow Connector 9">
            <a:extLst>
              <a:ext uri="{FF2B5EF4-FFF2-40B4-BE49-F238E27FC236}">
                <a16:creationId xmlns:a16="http://schemas.microsoft.com/office/drawing/2014/main" id="{C8F2D42A-0976-7F15-4C23-BA3AB1D99CCA}"/>
              </a:ext>
            </a:extLst>
          </p:cNvPr>
          <p:cNvCxnSpPr>
            <a:cxnSpLocks/>
            <a:stCxn id="13" idx="0"/>
          </p:cNvCxnSpPr>
          <p:nvPr/>
        </p:nvCxnSpPr>
        <p:spPr>
          <a:xfrm flipH="1" flipV="1">
            <a:off x="10467642" y="4190538"/>
            <a:ext cx="866441" cy="94637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76855C2B-F69B-16AC-032E-C990BDD8FCFC}"/>
              </a:ext>
            </a:extLst>
          </p:cNvPr>
          <p:cNvSpPr txBox="1"/>
          <p:nvPr/>
        </p:nvSpPr>
        <p:spPr>
          <a:xfrm>
            <a:off x="10742600" y="5136910"/>
            <a:ext cx="1182965" cy="738664"/>
          </a:xfrm>
          <a:prstGeom prst="rect">
            <a:avLst/>
          </a:prstGeom>
          <a:noFill/>
        </p:spPr>
        <p:txBody>
          <a:bodyPr wrap="square" rtlCol="0">
            <a:spAutoFit/>
          </a:bodyPr>
          <a:lstStyle/>
          <a:p>
            <a:pPr algn="ctr"/>
            <a:r>
              <a:rPr lang="en-US" dirty="0">
                <a:solidFill>
                  <a:srgbClr val="EA0000"/>
                </a:solidFill>
              </a:rPr>
              <a:t>Air acts as a conductor as well</a:t>
            </a:r>
          </a:p>
        </p:txBody>
      </p:sp>
    </p:spTree>
    <p:extLst>
      <p:ext uri="{BB962C8B-B14F-4D97-AF65-F5344CB8AC3E}">
        <p14:creationId xmlns:p14="http://schemas.microsoft.com/office/powerpoint/2010/main" val="1261415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040C2A3-EB7B-E7F6-3486-472A4B48AB9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422022D-3D6E-0FD8-3529-1D91E9C5065A}"/>
                  </a:ext>
                </a:extLst>
              </p:cNvPr>
              <p:cNvSpPr txBox="1">
                <a:spLocks noGrp="1"/>
              </p:cNvSpPr>
              <p:nvPr>
                <p:ph type="body" idx="1"/>
              </p:nvPr>
            </p:nvSpPr>
            <p:spPr>
              <a:xfrm>
                <a:off x="376810" y="1334279"/>
                <a:ext cx="1143220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500" dirty="0">
                    <a:latin typeface="Atkinson Hyperlegible Next"/>
                    <a:ea typeface="Arial"/>
                    <a:cs typeface="Arial"/>
                    <a:sym typeface="Arial"/>
                  </a:rPr>
                  <a:t>Let’s try to explain how we get capacitive interference!</a:t>
                </a:r>
              </a:p>
              <a:p>
                <a:pPr marL="0" indent="0">
                  <a:lnSpc>
                    <a:spcPct val="100000"/>
                  </a:lnSpc>
                  <a:spcBef>
                    <a:spcPts val="0"/>
                  </a:spcBef>
                  <a:buSzPts val="3000"/>
                  <a:buNone/>
                </a:pPr>
                <a:endParaRPr lang="en-US" sz="1500" dirty="0">
                  <a:latin typeface="Atkinson Hyperlegible Next"/>
                  <a:ea typeface="Arial"/>
                  <a:cs typeface="Arial"/>
                  <a:sym typeface="Arial"/>
                </a:endParaRPr>
              </a:p>
              <a:p>
                <a:pPr marL="0" indent="0">
                  <a:lnSpc>
                    <a:spcPct val="100000"/>
                  </a:lnSpc>
                  <a:spcBef>
                    <a:spcPts val="0"/>
                  </a:spcBef>
                  <a:buSzPts val="3000"/>
                  <a:buNone/>
                </a:pPr>
                <a:r>
                  <a:rPr lang="en-US" sz="1500" dirty="0">
                    <a:latin typeface="Atkinson Hyperlegible Next"/>
                    <a:ea typeface="Arial"/>
                    <a:cs typeface="Arial"/>
                    <a:sym typeface="Arial"/>
                  </a:rPr>
                  <a:t>Let </a:t>
                </a:r>
                <a14:m>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V</m:t>
                        </m:r>
                      </m:e>
                      <m:sub>
                        <m:r>
                          <a:rPr lang="en-US" sz="1500" b="0" i="1" smtClean="0">
                            <a:latin typeface="Cambria Math" panose="02040503050406030204" pitchFamily="18" charset="0"/>
                            <a:cs typeface="Arial"/>
                            <a:sym typeface="Arial"/>
                          </a:rPr>
                          <m:t>1</m:t>
                        </m:r>
                      </m:sub>
                    </m:sSub>
                    <m:r>
                      <a:rPr lang="en-US" sz="1500" b="0" i="1" smtClean="0">
                        <a:latin typeface="Cambria Math" panose="02040503050406030204" pitchFamily="18" charset="0"/>
                        <a:cs typeface="Arial"/>
                        <a:sym typeface="Arial"/>
                      </a:rPr>
                      <m:t>(</m:t>
                    </m:r>
                    <m:r>
                      <m:rPr>
                        <m:sty m:val="p"/>
                      </m:rPr>
                      <a:rPr lang="en-US" sz="1500" b="0" i="1" smtClean="0">
                        <a:latin typeface="Cambria Math" panose="02040503050406030204" pitchFamily="18" charset="0"/>
                        <a:cs typeface="Arial"/>
                        <a:sym typeface="Arial"/>
                      </a:rPr>
                      <m:t>t</m:t>
                    </m:r>
                    <m:r>
                      <a:rPr lang="en-US" sz="1500" b="0" i="1" smtClean="0">
                        <a:latin typeface="Cambria Math" panose="02040503050406030204" pitchFamily="18" charset="0"/>
                        <a:cs typeface="Arial"/>
                        <a:sym typeface="Arial"/>
                      </a:rPr>
                      <m:t>)</m:t>
                    </m:r>
                  </m:oMath>
                </a14:m>
                <a:r>
                  <a:rPr lang="en-US" sz="1500" dirty="0">
                    <a:latin typeface="Atkinson Hyperlegible Next"/>
                    <a:ea typeface="Arial"/>
                    <a:cs typeface="Arial"/>
                    <a:sym typeface="Arial"/>
                  </a:rPr>
                  <a:t> be the time-varying voltage on the noisy source wires and </a:t>
                </a:r>
                <a14:m>
                  <m:oMath xmlns:m="http://schemas.openxmlformats.org/officeDocument/2006/math">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V</m:t>
                        </m:r>
                      </m:e>
                      <m:sub>
                        <m:r>
                          <a:rPr lang="en-US" sz="1500" b="0" i="1" smtClean="0">
                            <a:latin typeface="Cambria Math" panose="02040503050406030204" pitchFamily="18" charset="0"/>
                            <a:cs typeface="Arial"/>
                            <a:sym typeface="Arial"/>
                          </a:rPr>
                          <m:t>2</m:t>
                        </m:r>
                      </m:sub>
                    </m:sSub>
                    <m:r>
                      <a:rPr lang="en-US" sz="1500" i="1">
                        <a:latin typeface="Cambria Math" panose="02040503050406030204" pitchFamily="18" charset="0"/>
                        <a:cs typeface="Arial"/>
                        <a:sym typeface="Arial"/>
                      </a:rPr>
                      <m:t>(</m:t>
                    </m:r>
                    <m:r>
                      <m:rPr>
                        <m:sty m:val="p"/>
                      </m:rPr>
                      <a:rPr lang="en-US" sz="1500" i="1">
                        <a:latin typeface="Cambria Math" panose="02040503050406030204" pitchFamily="18" charset="0"/>
                        <a:cs typeface="Arial"/>
                        <a:sym typeface="Arial"/>
                      </a:rPr>
                      <m:t>t</m:t>
                    </m:r>
                    <m:r>
                      <a:rPr lang="en-US" sz="1500" i="1">
                        <a:latin typeface="Cambria Math" panose="02040503050406030204" pitchFamily="18" charset="0"/>
                        <a:cs typeface="Arial"/>
                        <a:sym typeface="Arial"/>
                      </a:rPr>
                      <m:t>)</m:t>
                    </m:r>
                  </m:oMath>
                </a14:m>
                <a:r>
                  <a:rPr lang="en-US" sz="1500" dirty="0">
                    <a:latin typeface="Atkinson Hyperlegible Next"/>
                    <a:ea typeface="Arial"/>
                    <a:cs typeface="Arial"/>
                    <a:sym typeface="Arial"/>
                  </a:rPr>
                  <a:t> be the voltage on the victim wire. Let </a:t>
                </a:r>
                <a14:m>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C</m:t>
                        </m:r>
                      </m:e>
                      <m:sub>
                        <m:r>
                          <a:rPr lang="en-US" sz="1500" b="0" i="1" smtClean="0">
                            <a:latin typeface="Cambria Math" panose="02040503050406030204" pitchFamily="18" charset="0"/>
                            <a:cs typeface="Arial"/>
                            <a:sym typeface="Arial"/>
                          </a:rPr>
                          <m:t>12</m:t>
                        </m:r>
                      </m:sub>
                    </m:sSub>
                  </m:oMath>
                </a14:m>
                <a:r>
                  <a:rPr lang="en-US" sz="1500" dirty="0">
                    <a:latin typeface="Atkinson Hyperlegible Next"/>
                    <a:ea typeface="Arial"/>
                    <a:cs typeface="Arial"/>
                    <a:sym typeface="Arial"/>
                  </a:rPr>
                  <a:t> be the mutual stray capacitance between the two wires (could be air), let the victim wire have a resistance of </a:t>
                </a:r>
                <a14:m>
                  <m:oMath xmlns:m="http://schemas.openxmlformats.org/officeDocument/2006/math">
                    <m:r>
                      <m:rPr>
                        <m:sty m:val="p"/>
                      </m:rPr>
                      <a:rPr lang="en-US" sz="1500" b="0" i="1" smtClean="0">
                        <a:latin typeface="Cambria Math" panose="02040503050406030204" pitchFamily="18" charset="0"/>
                        <a:ea typeface="Arial"/>
                        <a:cs typeface="Arial"/>
                        <a:sym typeface="Arial"/>
                      </a:rPr>
                      <m:t>R</m:t>
                    </m:r>
                  </m:oMath>
                </a14:m>
                <a:r>
                  <a:rPr lang="en-US" sz="1500" dirty="0">
                    <a:latin typeface="Atkinson Hyperlegible Next"/>
                    <a:ea typeface="Arial"/>
                    <a:cs typeface="Arial"/>
                    <a:sym typeface="Arial"/>
                  </a:rPr>
                  <a:t>. </a:t>
                </a:r>
              </a:p>
              <a:p>
                <a:pPr marL="0" indent="0">
                  <a:lnSpc>
                    <a:spcPct val="100000"/>
                  </a:lnSpc>
                  <a:spcBef>
                    <a:spcPts val="0"/>
                  </a:spcBef>
                  <a:buSzPts val="3000"/>
                  <a:buNone/>
                </a:pPr>
                <a:endParaRPr lang="en-US" sz="1500" dirty="0">
                  <a:latin typeface="Atkinson Hyperlegible Next"/>
                  <a:ea typeface="Arial"/>
                  <a:cs typeface="Arial"/>
                  <a:sym typeface="Arial"/>
                </a:endParaRPr>
              </a:p>
              <a:p>
                <a:pPr marL="0" indent="0">
                  <a:lnSpc>
                    <a:spcPct val="100000"/>
                  </a:lnSpc>
                  <a:spcBef>
                    <a:spcPts val="0"/>
                  </a:spcBef>
                  <a:buSzPts val="3000"/>
                  <a:buNone/>
                </a:pPr>
                <a:r>
                  <a:rPr lang="en-US" sz="1500" dirty="0">
                    <a:latin typeface="Atkinson Hyperlegible Next"/>
                    <a:ea typeface="Arial"/>
                    <a:cs typeface="Arial"/>
                    <a:sym typeface="Arial"/>
                  </a:rPr>
                  <a:t>The fundamental equation for current through a capacitor is:</a:t>
                </a:r>
              </a:p>
              <a:p>
                <a:pPr marL="0" indent="0">
                  <a:lnSpc>
                    <a:spcPct val="100000"/>
                  </a:lnSpc>
                  <a:spcBef>
                    <a:spcPts val="0"/>
                  </a:spcBef>
                  <a:buSzPts val="3000"/>
                  <a:buNone/>
                </a:pPr>
                <a:endParaRPr lang="en-US" sz="15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1500" b="0" i="1" smtClean="0">
                          <a:latin typeface="Cambria Math" panose="02040503050406030204" pitchFamily="18" charset="0"/>
                          <a:ea typeface="Arial"/>
                          <a:cs typeface="Arial"/>
                          <a:sym typeface="Arial"/>
                        </a:rPr>
                        <m:t>I</m:t>
                      </m:r>
                      <m:r>
                        <a:rPr lang="en-US" sz="1500" b="0" i="1" smtClean="0">
                          <a:latin typeface="Cambria Math" panose="02040503050406030204" pitchFamily="18" charset="0"/>
                          <a:ea typeface="Arial"/>
                          <a:cs typeface="Arial"/>
                          <a:sym typeface="Arial"/>
                        </a:rPr>
                        <m:t>=</m:t>
                      </m:r>
                      <m:r>
                        <m:rPr>
                          <m:sty m:val="p"/>
                        </m:rPr>
                        <a:rPr lang="en-US" sz="1500" b="0" i="1" smtClean="0">
                          <a:latin typeface="Cambria Math" panose="02040503050406030204" pitchFamily="18" charset="0"/>
                          <a:ea typeface="Arial"/>
                          <a:cs typeface="Arial"/>
                          <a:sym typeface="Arial"/>
                        </a:rPr>
                        <m:t>C</m:t>
                      </m:r>
                      <m:f>
                        <m:fPr>
                          <m:ctrlPr>
                            <a:rPr lang="en-US" sz="1500" b="0" i="1" smtClean="0">
                              <a:latin typeface="Cambria Math" panose="02040503050406030204" pitchFamily="18" charset="0"/>
                              <a:cs typeface="Arial"/>
                              <a:sym typeface="Arial"/>
                            </a:rPr>
                          </m:ctrlPr>
                        </m:fPr>
                        <m:num>
                          <m:r>
                            <m:rPr>
                              <m:sty m:val="p"/>
                            </m:rPr>
                            <a:rPr lang="en-US" sz="1500" b="0" i="1" smtClean="0">
                              <a:latin typeface="Cambria Math" panose="02040503050406030204" pitchFamily="18" charset="0"/>
                              <a:cs typeface="Arial"/>
                              <a:sym typeface="Arial"/>
                            </a:rPr>
                            <m:t>dV</m:t>
                          </m:r>
                        </m:num>
                        <m:den>
                          <m:r>
                            <m:rPr>
                              <m:sty m:val="p"/>
                            </m:rPr>
                            <a:rPr lang="en-US" sz="1500" b="0" i="1" smtClean="0">
                              <a:latin typeface="Cambria Math" panose="02040503050406030204" pitchFamily="18" charset="0"/>
                              <a:cs typeface="Arial"/>
                              <a:sym typeface="Arial"/>
                            </a:rPr>
                            <m:t>dt</m:t>
                          </m:r>
                        </m:den>
                      </m:f>
                    </m:oMath>
                  </m:oMathPara>
                </a14:m>
                <a:endParaRPr lang="en-US" sz="1500" dirty="0">
                  <a:latin typeface="Atkinson Hyperlegible Next"/>
                  <a:ea typeface="Arial"/>
                  <a:cs typeface="Arial"/>
                  <a:sym typeface="Arial"/>
                </a:endParaRPr>
              </a:p>
              <a:p>
                <a:pPr marL="0" indent="0">
                  <a:lnSpc>
                    <a:spcPct val="100000"/>
                  </a:lnSpc>
                  <a:spcBef>
                    <a:spcPts val="0"/>
                  </a:spcBef>
                  <a:buSzPts val="3000"/>
                  <a:buNone/>
                </a:pPr>
                <a:endParaRPr lang="en-US" sz="1500" dirty="0">
                  <a:latin typeface="Atkinson Hyperlegible Next"/>
                  <a:ea typeface="Arial"/>
                  <a:cs typeface="Arial"/>
                  <a:sym typeface="Arial"/>
                </a:endParaRPr>
              </a:p>
              <a:p>
                <a:pPr marL="0" indent="0">
                  <a:lnSpc>
                    <a:spcPct val="100000"/>
                  </a:lnSpc>
                  <a:spcBef>
                    <a:spcPts val="0"/>
                  </a:spcBef>
                  <a:buSzPts val="3000"/>
                  <a:buNone/>
                </a:pPr>
                <a:r>
                  <a:rPr lang="en-US" sz="1500" dirty="0">
                    <a:latin typeface="Atkinson Hyperlegible Next"/>
                    <a:ea typeface="Arial"/>
                    <a:cs typeface="Arial"/>
                    <a:sym typeface="Arial"/>
                  </a:rPr>
                  <a:t>The current injected from wire 1 into wire 2, </a:t>
                </a:r>
                <a14:m>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I</m:t>
                        </m:r>
                      </m:e>
                      <m:sub>
                        <m:r>
                          <m:rPr>
                            <m:sty m:val="p"/>
                          </m:rPr>
                          <a:rPr lang="en-US" sz="1500" b="0" i="1" smtClean="0">
                            <a:latin typeface="Cambria Math" panose="02040503050406030204" pitchFamily="18" charset="0"/>
                            <a:cs typeface="Arial"/>
                            <a:sym typeface="Arial"/>
                          </a:rPr>
                          <m:t>noise</m:t>
                        </m:r>
                      </m:sub>
                    </m:sSub>
                  </m:oMath>
                </a14:m>
                <a:r>
                  <a:rPr lang="en-US" sz="1500" dirty="0">
                    <a:latin typeface="Atkinson Hyperlegible Next"/>
                    <a:ea typeface="Arial"/>
                    <a:cs typeface="Arial"/>
                    <a:sym typeface="Arial"/>
                  </a:rPr>
                  <a:t>, is driven from the difference between them across the capacitor.</a:t>
                </a:r>
              </a:p>
              <a:p>
                <a:pPr marL="0" indent="0">
                  <a:lnSpc>
                    <a:spcPct val="100000"/>
                  </a:lnSpc>
                  <a:spcBef>
                    <a:spcPts val="0"/>
                  </a:spcBef>
                  <a:buSzPts val="3000"/>
                  <a:buNone/>
                </a:pPr>
                <a:endParaRPr lang="en-US" sz="15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I</m:t>
                          </m:r>
                        </m:e>
                        <m:sub>
                          <m:r>
                            <m:rPr>
                              <m:sty m:val="p"/>
                            </m:rPr>
                            <a:rPr lang="en-US" sz="1500" b="0" i="1" smtClean="0">
                              <a:latin typeface="Cambria Math" panose="02040503050406030204" pitchFamily="18" charset="0"/>
                              <a:cs typeface="Arial"/>
                              <a:sym typeface="Arial"/>
                            </a:rPr>
                            <m:t>noise</m:t>
                          </m:r>
                        </m:sub>
                      </m:sSub>
                      <m:r>
                        <a:rPr lang="en-US" sz="1500" b="0" i="1" smtClean="0">
                          <a:latin typeface="Cambria Math" panose="02040503050406030204" pitchFamily="18" charset="0"/>
                          <a:cs typeface="Arial"/>
                          <a:sym typeface="Arial"/>
                        </a:rPr>
                        <m:t>=</m:t>
                      </m:r>
                      <m:sSub>
                        <m:sSubPr>
                          <m:ctrlPr>
                            <a:rPr lang="en-US" sz="1500" b="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C</m:t>
                          </m:r>
                        </m:e>
                        <m:sub>
                          <m:r>
                            <a:rPr lang="en-US" sz="1500" b="0" i="1" smtClean="0">
                              <a:latin typeface="Cambria Math" panose="02040503050406030204" pitchFamily="18" charset="0"/>
                              <a:cs typeface="Arial"/>
                              <a:sym typeface="Arial"/>
                            </a:rPr>
                            <m:t>12</m:t>
                          </m:r>
                        </m:sub>
                      </m:sSub>
                      <m:f>
                        <m:fPr>
                          <m:ctrlPr>
                            <a:rPr lang="en-US" sz="1500" b="0" i="1" smtClean="0">
                              <a:latin typeface="Cambria Math" panose="02040503050406030204" pitchFamily="18" charset="0"/>
                              <a:cs typeface="Arial"/>
                              <a:sym typeface="Arial"/>
                            </a:rPr>
                          </m:ctrlPr>
                        </m:fPr>
                        <m:num>
                          <m:r>
                            <m:rPr>
                              <m:sty m:val="p"/>
                            </m:rPr>
                            <a:rPr lang="en-US" sz="1500" b="0" i="1" smtClean="0">
                              <a:latin typeface="Cambria Math" panose="02040503050406030204" pitchFamily="18" charset="0"/>
                              <a:cs typeface="Arial"/>
                              <a:sym typeface="Arial"/>
                            </a:rPr>
                            <m:t>d</m:t>
                          </m:r>
                          <m:r>
                            <a:rPr lang="en-US" sz="1500" b="0" i="1" smtClean="0">
                              <a:latin typeface="Cambria Math" panose="02040503050406030204" pitchFamily="18" charset="0"/>
                              <a:cs typeface="Arial"/>
                              <a:sym typeface="Arial"/>
                            </a:rPr>
                            <m:t>(</m:t>
                          </m:r>
                          <m:sSub>
                            <m:sSubPr>
                              <m:ctrlPr>
                                <a:rPr lang="en-US" sz="1500" b="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V</m:t>
                              </m:r>
                            </m:e>
                            <m:sub>
                              <m:r>
                                <a:rPr lang="en-US" sz="1500" b="0" i="1" smtClean="0">
                                  <a:latin typeface="Cambria Math" panose="02040503050406030204" pitchFamily="18" charset="0"/>
                                  <a:cs typeface="Arial"/>
                                  <a:sym typeface="Arial"/>
                                </a:rPr>
                                <m:t>1</m:t>
                              </m:r>
                            </m:sub>
                          </m:sSub>
                          <m:r>
                            <a:rPr lang="en-US" sz="1500" b="0" i="1" smtClean="0">
                              <a:latin typeface="Cambria Math" panose="02040503050406030204" pitchFamily="18" charset="0"/>
                              <a:cs typeface="Arial"/>
                              <a:sym typeface="Arial"/>
                            </a:rPr>
                            <m:t>−</m:t>
                          </m:r>
                          <m:sSub>
                            <m:sSubPr>
                              <m:ctrlPr>
                                <a:rPr lang="en-US" sz="1500" b="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V</m:t>
                              </m:r>
                            </m:e>
                            <m:sub>
                              <m:r>
                                <a:rPr lang="en-US" sz="1500" b="0" i="1" smtClean="0">
                                  <a:latin typeface="Cambria Math" panose="02040503050406030204" pitchFamily="18" charset="0"/>
                                  <a:cs typeface="Arial"/>
                                  <a:sym typeface="Arial"/>
                                </a:rPr>
                                <m:t>2</m:t>
                              </m:r>
                            </m:sub>
                          </m:sSub>
                          <m:r>
                            <a:rPr lang="en-US" sz="1500" b="0" i="1" smtClean="0">
                              <a:latin typeface="Cambria Math" panose="02040503050406030204" pitchFamily="18" charset="0"/>
                              <a:cs typeface="Arial"/>
                              <a:sym typeface="Arial"/>
                            </a:rPr>
                            <m:t>)</m:t>
                          </m:r>
                        </m:num>
                        <m:den>
                          <m:r>
                            <m:rPr>
                              <m:sty m:val="p"/>
                            </m:rPr>
                            <a:rPr lang="en-US" sz="1500" b="0" i="1" smtClean="0">
                              <a:latin typeface="Cambria Math" panose="02040503050406030204" pitchFamily="18" charset="0"/>
                              <a:cs typeface="Arial"/>
                              <a:sym typeface="Arial"/>
                            </a:rPr>
                            <m:t>dt</m:t>
                          </m:r>
                        </m:den>
                      </m:f>
                    </m:oMath>
                  </m:oMathPara>
                </a14:m>
                <a:endParaRPr lang="en-US" sz="1500" dirty="0">
                  <a:latin typeface="Atkinson Hyperlegible Next"/>
                  <a:ea typeface="Arial"/>
                  <a:cs typeface="Arial"/>
                  <a:sym typeface="Arial"/>
                </a:endParaRPr>
              </a:p>
              <a:p>
                <a:pPr marL="0" indent="0">
                  <a:lnSpc>
                    <a:spcPct val="100000"/>
                  </a:lnSpc>
                  <a:spcBef>
                    <a:spcPts val="0"/>
                  </a:spcBef>
                  <a:buSzPts val="3000"/>
                  <a:buNone/>
                </a:pPr>
                <a:endParaRPr lang="en-US" sz="1500" dirty="0">
                  <a:latin typeface="Atkinson Hyperlegible Next"/>
                  <a:ea typeface="Arial"/>
                  <a:cs typeface="Arial"/>
                  <a:sym typeface="Arial"/>
                </a:endParaRPr>
              </a:p>
              <a:p>
                <a:pPr marL="0" indent="0">
                  <a:lnSpc>
                    <a:spcPct val="100000"/>
                  </a:lnSpc>
                  <a:spcBef>
                    <a:spcPts val="0"/>
                  </a:spcBef>
                  <a:buSzPts val="3000"/>
                  <a:buNone/>
                </a:pPr>
                <a:endParaRPr lang="en-US" sz="1500" dirty="0">
                  <a:latin typeface="Atkinson Hyperlegible Next"/>
                  <a:ea typeface="Arial"/>
                  <a:cs typeface="Arial"/>
                  <a:sym typeface="Arial"/>
                </a:endParaRPr>
              </a:p>
              <a:p>
                <a:pPr marL="0" indent="0">
                  <a:lnSpc>
                    <a:spcPct val="100000"/>
                  </a:lnSpc>
                  <a:spcBef>
                    <a:spcPts val="0"/>
                  </a:spcBef>
                  <a:buSzPts val="3000"/>
                  <a:buNone/>
                </a:pPr>
                <a:r>
                  <a:rPr lang="en-US" sz="1500" dirty="0">
                    <a:latin typeface="Atkinson Hyperlegible Next"/>
                    <a:ea typeface="Arial"/>
                    <a:cs typeface="Arial"/>
                    <a:sym typeface="Arial"/>
                  </a:rPr>
                  <a:t>In practice, the noise source voltage is much larger than the victim’s wire (</a:t>
                </a:r>
                <a14:m>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V</m:t>
                        </m:r>
                      </m:e>
                      <m:sub>
                        <m:r>
                          <a:rPr lang="en-US" sz="1500" b="0" i="1" smtClean="0">
                            <a:latin typeface="Cambria Math" panose="02040503050406030204" pitchFamily="18" charset="0"/>
                            <a:cs typeface="Arial"/>
                            <a:sym typeface="Arial"/>
                          </a:rPr>
                          <m:t>1</m:t>
                        </m:r>
                      </m:sub>
                    </m:sSub>
                    <m:r>
                      <a:rPr lang="en-US" sz="1500" i="1" smtClean="0">
                        <a:latin typeface="Cambria Math" panose="02040503050406030204" pitchFamily="18" charset="0"/>
                        <a:ea typeface="Cambria Math" panose="02040503050406030204" pitchFamily="18" charset="0"/>
                        <a:cs typeface="Arial"/>
                        <a:sym typeface="Arial"/>
                      </a:rPr>
                      <m:t>≫</m:t>
                    </m:r>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V</m:t>
                        </m:r>
                      </m:e>
                      <m:sub>
                        <m:r>
                          <a:rPr lang="en-US" sz="1500" b="0" i="1" smtClean="0">
                            <a:latin typeface="Cambria Math" panose="02040503050406030204" pitchFamily="18" charset="0"/>
                            <a:cs typeface="Arial"/>
                            <a:sym typeface="Arial"/>
                          </a:rPr>
                          <m:t>2</m:t>
                        </m:r>
                      </m:sub>
                    </m:sSub>
                  </m:oMath>
                </a14:m>
                <a:r>
                  <a:rPr lang="en-US" sz="1500" dirty="0">
                    <a:latin typeface="Atkinson Hyperlegible Next"/>
                    <a:ea typeface="Arial"/>
                    <a:cs typeface="Arial"/>
                    <a:sym typeface="Arial"/>
                  </a:rPr>
                  <a:t>), which allows the voltage derivative to simplify to:</a:t>
                </a:r>
              </a:p>
              <a:p>
                <a:pPr marL="0" indent="0">
                  <a:lnSpc>
                    <a:spcPct val="100000"/>
                  </a:lnSpc>
                  <a:spcBef>
                    <a:spcPts val="0"/>
                  </a:spcBef>
                  <a:buSzPts val="3000"/>
                  <a:buNone/>
                </a:pPr>
                <a:endParaRPr lang="en-US" sz="15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I</m:t>
                          </m:r>
                        </m:e>
                        <m:sub>
                          <m:r>
                            <m:rPr>
                              <m:sty m:val="p"/>
                            </m:rPr>
                            <a:rPr lang="en-US" sz="1500" i="1">
                              <a:latin typeface="Cambria Math" panose="02040503050406030204" pitchFamily="18" charset="0"/>
                              <a:cs typeface="Arial"/>
                              <a:sym typeface="Arial"/>
                            </a:rPr>
                            <m:t>noise</m:t>
                          </m:r>
                        </m:sub>
                      </m:sSub>
                      <m:r>
                        <a:rPr lang="en-US" sz="1500" i="1">
                          <a:latin typeface="Cambria Math" panose="02040503050406030204" pitchFamily="18" charset="0"/>
                          <a:cs typeface="Arial"/>
                          <a:sym typeface="Arial"/>
                        </a:rPr>
                        <m:t>=</m:t>
                      </m:r>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C</m:t>
                          </m:r>
                        </m:e>
                        <m:sub>
                          <m:r>
                            <a:rPr lang="en-US" sz="1500" i="1">
                              <a:latin typeface="Cambria Math" panose="02040503050406030204" pitchFamily="18" charset="0"/>
                              <a:cs typeface="Arial"/>
                              <a:sym typeface="Arial"/>
                            </a:rPr>
                            <m:t>12</m:t>
                          </m:r>
                        </m:sub>
                      </m:sSub>
                      <m:f>
                        <m:fPr>
                          <m:ctrlPr>
                            <a:rPr lang="en-US" sz="1500" i="1">
                              <a:latin typeface="Cambria Math" panose="02040503050406030204" pitchFamily="18" charset="0"/>
                              <a:cs typeface="Arial"/>
                              <a:sym typeface="Arial"/>
                            </a:rPr>
                          </m:ctrlPr>
                        </m:fPr>
                        <m:num>
                          <m:r>
                            <m:rPr>
                              <m:sty m:val="p"/>
                            </m:rPr>
                            <a:rPr lang="en-US" sz="1500" i="1">
                              <a:latin typeface="Cambria Math" panose="02040503050406030204" pitchFamily="18" charset="0"/>
                              <a:cs typeface="Arial"/>
                              <a:sym typeface="Arial"/>
                            </a:rPr>
                            <m:t>d</m:t>
                          </m:r>
                          <m:r>
                            <a:rPr lang="en-US" sz="1500" i="1">
                              <a:latin typeface="Cambria Math" panose="02040503050406030204" pitchFamily="18" charset="0"/>
                              <a:cs typeface="Arial"/>
                              <a:sym typeface="Arial"/>
                            </a:rPr>
                            <m:t>(</m:t>
                          </m:r>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V</m:t>
                              </m:r>
                            </m:e>
                            <m:sub>
                              <m:r>
                                <a:rPr lang="en-US" sz="1500" i="1">
                                  <a:latin typeface="Cambria Math" panose="02040503050406030204" pitchFamily="18" charset="0"/>
                                  <a:cs typeface="Arial"/>
                                  <a:sym typeface="Arial"/>
                                </a:rPr>
                                <m:t>1</m:t>
                              </m:r>
                            </m:sub>
                          </m:sSub>
                          <m:r>
                            <a:rPr lang="en-US" sz="1500" i="1">
                              <a:latin typeface="Cambria Math" panose="02040503050406030204" pitchFamily="18" charset="0"/>
                              <a:cs typeface="Arial"/>
                              <a:sym typeface="Arial"/>
                            </a:rPr>
                            <m:t>−</m:t>
                          </m:r>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V</m:t>
                              </m:r>
                            </m:e>
                            <m:sub>
                              <m:r>
                                <a:rPr lang="en-US" sz="1500" i="1">
                                  <a:latin typeface="Cambria Math" panose="02040503050406030204" pitchFamily="18" charset="0"/>
                                  <a:cs typeface="Arial"/>
                                  <a:sym typeface="Arial"/>
                                </a:rPr>
                                <m:t>2</m:t>
                              </m:r>
                            </m:sub>
                          </m:sSub>
                          <m:r>
                            <a:rPr lang="en-US" sz="1500" i="1">
                              <a:latin typeface="Cambria Math" panose="02040503050406030204" pitchFamily="18" charset="0"/>
                              <a:cs typeface="Arial"/>
                              <a:sym typeface="Arial"/>
                            </a:rPr>
                            <m:t>)</m:t>
                          </m:r>
                        </m:num>
                        <m:den>
                          <m:r>
                            <m:rPr>
                              <m:sty m:val="p"/>
                            </m:rPr>
                            <a:rPr lang="en-US" sz="1500" i="1">
                              <a:latin typeface="Cambria Math" panose="02040503050406030204" pitchFamily="18" charset="0"/>
                              <a:cs typeface="Arial"/>
                              <a:sym typeface="Arial"/>
                            </a:rPr>
                            <m:t>dt</m:t>
                          </m:r>
                        </m:den>
                      </m:f>
                      <m:r>
                        <a:rPr lang="en-US" sz="1500" i="1" smtClean="0">
                          <a:latin typeface="Cambria Math" panose="02040503050406030204" pitchFamily="18" charset="0"/>
                          <a:ea typeface="Cambria Math" panose="02040503050406030204" pitchFamily="18" charset="0"/>
                          <a:cs typeface="Arial"/>
                          <a:sym typeface="Arial"/>
                        </a:rPr>
                        <m:t>≈</m:t>
                      </m:r>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C</m:t>
                          </m:r>
                        </m:e>
                        <m:sub>
                          <m:r>
                            <a:rPr lang="en-US" sz="1500" i="1">
                              <a:latin typeface="Cambria Math" panose="02040503050406030204" pitchFamily="18" charset="0"/>
                              <a:cs typeface="Arial"/>
                              <a:sym typeface="Arial"/>
                            </a:rPr>
                            <m:t>12</m:t>
                          </m:r>
                        </m:sub>
                      </m:sSub>
                      <m:f>
                        <m:fPr>
                          <m:ctrlPr>
                            <a:rPr lang="en-US" sz="1500" i="1">
                              <a:latin typeface="Cambria Math" panose="02040503050406030204" pitchFamily="18" charset="0"/>
                              <a:cs typeface="Arial"/>
                              <a:sym typeface="Arial"/>
                            </a:rPr>
                          </m:ctrlPr>
                        </m:fPr>
                        <m:num>
                          <m:r>
                            <m:rPr>
                              <m:sty m:val="p"/>
                            </m:rPr>
                            <a:rPr lang="en-US" sz="1500" i="1">
                              <a:latin typeface="Cambria Math" panose="02040503050406030204" pitchFamily="18" charset="0"/>
                              <a:cs typeface="Arial"/>
                              <a:sym typeface="Arial"/>
                            </a:rPr>
                            <m:t>d</m:t>
                          </m:r>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V</m:t>
                              </m:r>
                            </m:e>
                            <m:sub>
                              <m:r>
                                <a:rPr lang="en-US" sz="1500" i="1">
                                  <a:latin typeface="Cambria Math" panose="02040503050406030204" pitchFamily="18" charset="0"/>
                                  <a:cs typeface="Arial"/>
                                  <a:sym typeface="Arial"/>
                                </a:rPr>
                                <m:t>1</m:t>
                              </m:r>
                            </m:sub>
                          </m:sSub>
                        </m:num>
                        <m:den>
                          <m:r>
                            <m:rPr>
                              <m:sty m:val="p"/>
                            </m:rPr>
                            <a:rPr lang="en-US" sz="1500" i="1">
                              <a:latin typeface="Cambria Math" panose="02040503050406030204" pitchFamily="18" charset="0"/>
                              <a:cs typeface="Arial"/>
                              <a:sym typeface="Arial"/>
                            </a:rPr>
                            <m:t>dt</m:t>
                          </m:r>
                        </m:den>
                      </m:f>
                    </m:oMath>
                  </m:oMathPara>
                </a14:m>
                <a:endParaRPr lang="en-US" sz="15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4422022D-3D6E-0FD8-3529-1D91E9C5065A}"/>
                  </a:ext>
                </a:extLst>
              </p:cNvPr>
              <p:cNvSpPr txBox="1">
                <a:spLocks noGrp="1" noRot="1" noChangeAspect="1" noMove="1" noResize="1" noEditPoints="1" noAdjustHandles="1" noChangeArrowheads="1" noChangeShapeType="1" noTextEdit="1"/>
              </p:cNvSpPr>
              <p:nvPr>
                <p:ph type="body" idx="1"/>
              </p:nvPr>
            </p:nvSpPr>
            <p:spPr>
              <a:xfrm>
                <a:off x="376810" y="1334279"/>
                <a:ext cx="11432202" cy="4821102"/>
              </a:xfrm>
              <a:prstGeom prst="rect">
                <a:avLst/>
              </a:prstGeom>
              <a:blipFill>
                <a:blip r:embed="rId3"/>
                <a:stretch>
                  <a:fillRect l="-213" t="-25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4E6F434-EC53-7704-1D46-996DAD5BEBC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BBFDB0E-6ECD-D980-B5FA-5E87AE54AE5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Interferences - Capacitive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B90F7FD-FB2E-F08C-43AB-B23C2F236BA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0F40BC3-F795-1872-CE66-7DDE02CDF5C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88327DF-9B2B-B914-CF1C-C429C8A5A06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984491F-25F2-0A2D-76A5-B1078B262D4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7218655-DB36-6E32-97C6-CB62756E6A5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5B9392B-E800-F01A-3F83-80E89DB750B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395779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8" end="8"/>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8">
                                            <p:txEl>
                                              <p:pRg st="13" end="1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18">
                                            <p:txEl>
                                              <p:pRg st="15" end="1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7AAC887-D2D2-5A17-9CBA-3C11B96DD3F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E706B594-3503-62C2-C03D-687D4C620BC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solidFill>
                      <a:schemeClr val="dk1"/>
                    </a:solidFill>
                    <a:latin typeface="Atkinson Hyperlegible Next"/>
                    <a:ea typeface="Arial"/>
                    <a:cs typeface="Arial"/>
                    <a:sym typeface="Arial"/>
                  </a:rPr>
                  <a:t>By Ohm’s law, the inject noise current flows through the victim’s wire </a:t>
                </a:r>
                <a:r>
                  <a:rPr lang="en-US" sz="1800" dirty="0" err="1">
                    <a:solidFill>
                      <a:schemeClr val="dk1"/>
                    </a:solidFill>
                    <a:latin typeface="Atkinson Hyperlegible Next"/>
                    <a:ea typeface="Arial"/>
                    <a:cs typeface="Arial"/>
                    <a:sym typeface="Arial"/>
                  </a:rPr>
                  <a:t>impedence</a:t>
                </a:r>
                <a:r>
                  <a:rPr lang="en-US" sz="1800" dirty="0">
                    <a:solidFill>
                      <a:schemeClr val="dk1"/>
                    </a:solidFill>
                    <a:latin typeface="Atkinson Hyperlegible Next"/>
                    <a:ea typeface="Arial"/>
                    <a:cs typeface="Arial"/>
                    <a:sym typeface="Arial"/>
                  </a:rPr>
                  <a:t> to ground (</a:t>
                </a:r>
                <a14:m>
                  <m:oMath xmlns:m="http://schemas.openxmlformats.org/officeDocument/2006/math">
                    <m:r>
                      <m:rPr>
                        <m:sty m:val="p"/>
                      </m:rPr>
                      <a:rPr lang="en-US" sz="1800" b="0" i="1" smtClean="0">
                        <a:solidFill>
                          <a:schemeClr val="dk1"/>
                        </a:solidFill>
                        <a:latin typeface="Cambria Math" panose="02040503050406030204" pitchFamily="18" charset="0"/>
                        <a:ea typeface="Arial"/>
                        <a:cs typeface="Arial"/>
                        <a:sym typeface="Arial"/>
                      </a:rPr>
                      <m:t>R</m:t>
                    </m:r>
                  </m:oMath>
                </a14:m>
                <a:r>
                  <a:rPr lang="en-US" sz="1800" dirty="0">
                    <a:latin typeface="Atkinson Hyperlegible Next"/>
                    <a:ea typeface="Arial"/>
                    <a:cs typeface="Arial"/>
                    <a:sym typeface="Arial"/>
                  </a:rPr>
                  <a:t>), creating a noise voltage:</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1800" i="1" smtClean="0">
                              <a:latin typeface="Cambria Math" panose="02040503050406030204" pitchFamily="18" charset="0"/>
                              <a:cs typeface="Arial"/>
                              <a:sym typeface="Arial"/>
                            </a:rPr>
                          </m:ctrlPr>
                        </m:sSubPr>
                        <m:e>
                          <m:r>
                            <m:rPr>
                              <m:sty m:val="p"/>
                            </m:rPr>
                            <a:rPr lang="en-US" sz="1800" b="0" i="1" smtClean="0">
                              <a:latin typeface="Cambria Math" panose="02040503050406030204" pitchFamily="18" charset="0"/>
                              <a:cs typeface="Arial"/>
                              <a:sym typeface="Arial"/>
                            </a:rPr>
                            <m:t>V</m:t>
                          </m:r>
                        </m:e>
                        <m:sub>
                          <m:r>
                            <m:rPr>
                              <m:sty m:val="p"/>
                            </m:rPr>
                            <a:rPr lang="en-US" sz="1800" b="0" i="1" smtClean="0">
                              <a:latin typeface="Cambria Math" panose="02040503050406030204" pitchFamily="18" charset="0"/>
                              <a:cs typeface="Arial"/>
                              <a:sym typeface="Arial"/>
                            </a:rPr>
                            <m:t>noise</m:t>
                          </m:r>
                        </m:sub>
                      </m:sSub>
                      <m:r>
                        <a:rPr lang="en-US" sz="1800" i="1" smtClean="0">
                          <a:latin typeface="Cambria Math" panose="02040503050406030204" pitchFamily="18" charset="0"/>
                          <a:ea typeface="Cambria Math" panose="02040503050406030204" pitchFamily="18" charset="0"/>
                          <a:cs typeface="Arial"/>
                          <a:sym typeface="Arial"/>
                        </a:rPr>
                        <m:t>≈</m:t>
                      </m:r>
                      <m:sSub>
                        <m:sSubPr>
                          <m:ctrlPr>
                            <a:rPr lang="en-US" sz="1800" i="1" smtClean="0">
                              <a:latin typeface="Cambria Math" panose="02040503050406030204" pitchFamily="18" charset="0"/>
                              <a:ea typeface="Cambria Math" panose="02040503050406030204" pitchFamily="18" charset="0"/>
                              <a:cs typeface="Arial"/>
                              <a:sym typeface="Arial"/>
                            </a:rPr>
                          </m:ctrlPr>
                        </m:sSubPr>
                        <m:e>
                          <m:r>
                            <m:rPr>
                              <m:sty m:val="p"/>
                            </m:rPr>
                            <a:rPr lang="en-US" sz="1800" b="0" i="1" smtClean="0">
                              <a:latin typeface="Cambria Math" panose="02040503050406030204" pitchFamily="18" charset="0"/>
                              <a:ea typeface="Cambria Math" panose="02040503050406030204" pitchFamily="18" charset="0"/>
                              <a:cs typeface="Arial"/>
                              <a:sym typeface="Arial"/>
                            </a:rPr>
                            <m:t>I</m:t>
                          </m:r>
                        </m:e>
                        <m:sub>
                          <m:r>
                            <m:rPr>
                              <m:sty m:val="p"/>
                            </m:rPr>
                            <a:rPr lang="en-US" sz="1800" b="0" i="1" smtClean="0">
                              <a:latin typeface="Cambria Math" panose="02040503050406030204" pitchFamily="18" charset="0"/>
                              <a:ea typeface="Cambria Math" panose="02040503050406030204" pitchFamily="18" charset="0"/>
                              <a:cs typeface="Arial"/>
                              <a:sym typeface="Arial"/>
                            </a:rPr>
                            <m:t>noise</m:t>
                          </m:r>
                        </m:sub>
                      </m:sSub>
                      <m:r>
                        <m:rPr>
                          <m:sty m:val="p"/>
                        </m:rPr>
                        <a:rPr lang="en-US" sz="1800" b="0" i="1" smtClean="0">
                          <a:latin typeface="Cambria Math" panose="02040503050406030204" pitchFamily="18" charset="0"/>
                          <a:ea typeface="Cambria Math" panose="02040503050406030204" pitchFamily="18" charset="0"/>
                          <a:cs typeface="Arial"/>
                          <a:sym typeface="Arial"/>
                        </a:rPr>
                        <m:t>R</m:t>
                      </m:r>
                      <m:r>
                        <a:rPr lang="en-US" sz="1800" i="1">
                          <a:latin typeface="Cambria Math" panose="02040503050406030204" pitchFamily="18" charset="0"/>
                          <a:ea typeface="Cambria Math" panose="02040503050406030204" pitchFamily="18" charset="0"/>
                          <a:cs typeface="Arial"/>
                          <a:sym typeface="Arial"/>
                        </a:rPr>
                        <m:t>≈</m:t>
                      </m:r>
                      <m:r>
                        <m:rPr>
                          <m:sty m:val="p"/>
                        </m:rPr>
                        <a:rPr lang="en-US" sz="1800" b="0" i="1" smtClean="0">
                          <a:latin typeface="Cambria Math" panose="02040503050406030204" pitchFamily="18" charset="0"/>
                          <a:ea typeface="Cambria Math" panose="02040503050406030204" pitchFamily="18" charset="0"/>
                          <a:cs typeface="Arial"/>
                          <a:sym typeface="Arial"/>
                        </a:rPr>
                        <m:t>R</m:t>
                      </m:r>
                      <m:sSub>
                        <m:sSubPr>
                          <m:ctrlPr>
                            <a:rPr lang="en-US" sz="1800" i="1">
                              <a:latin typeface="Cambria Math" panose="02040503050406030204" pitchFamily="18" charset="0"/>
                              <a:cs typeface="Arial"/>
                              <a:sym typeface="Arial"/>
                            </a:rPr>
                          </m:ctrlPr>
                        </m:sSubPr>
                        <m:e>
                          <m:r>
                            <m:rPr>
                              <m:sty m:val="p"/>
                            </m:rPr>
                            <a:rPr lang="en-US" sz="1800" i="1">
                              <a:latin typeface="Cambria Math" panose="02040503050406030204" pitchFamily="18" charset="0"/>
                              <a:cs typeface="Arial"/>
                              <a:sym typeface="Arial"/>
                            </a:rPr>
                            <m:t>C</m:t>
                          </m:r>
                        </m:e>
                        <m:sub>
                          <m:r>
                            <a:rPr lang="en-US" sz="1800" i="1">
                              <a:latin typeface="Cambria Math" panose="02040503050406030204" pitchFamily="18" charset="0"/>
                              <a:cs typeface="Arial"/>
                              <a:sym typeface="Arial"/>
                            </a:rPr>
                            <m:t>12</m:t>
                          </m:r>
                        </m:sub>
                      </m:sSub>
                      <m:f>
                        <m:fPr>
                          <m:ctrlPr>
                            <a:rPr lang="en-US" sz="1800" i="1">
                              <a:latin typeface="Cambria Math" panose="02040503050406030204" pitchFamily="18" charset="0"/>
                              <a:cs typeface="Arial"/>
                              <a:sym typeface="Arial"/>
                            </a:rPr>
                          </m:ctrlPr>
                        </m:fPr>
                        <m:num>
                          <m:r>
                            <m:rPr>
                              <m:sty m:val="p"/>
                            </m:rPr>
                            <a:rPr lang="en-US" sz="1800" i="1">
                              <a:latin typeface="Cambria Math" panose="02040503050406030204" pitchFamily="18" charset="0"/>
                              <a:cs typeface="Arial"/>
                              <a:sym typeface="Arial"/>
                            </a:rPr>
                            <m:t>d</m:t>
                          </m:r>
                          <m:sSub>
                            <m:sSubPr>
                              <m:ctrlPr>
                                <a:rPr lang="en-US" sz="1800" i="1">
                                  <a:latin typeface="Cambria Math" panose="02040503050406030204" pitchFamily="18" charset="0"/>
                                  <a:cs typeface="Arial"/>
                                  <a:sym typeface="Arial"/>
                                </a:rPr>
                              </m:ctrlPr>
                            </m:sSubPr>
                            <m:e>
                              <m:r>
                                <m:rPr>
                                  <m:sty m:val="p"/>
                                </m:rPr>
                                <a:rPr lang="en-US" sz="1800" i="1">
                                  <a:latin typeface="Cambria Math" panose="02040503050406030204" pitchFamily="18" charset="0"/>
                                  <a:cs typeface="Arial"/>
                                  <a:sym typeface="Arial"/>
                                </a:rPr>
                                <m:t>V</m:t>
                              </m:r>
                            </m:e>
                            <m:sub>
                              <m:r>
                                <a:rPr lang="en-US" sz="1800" i="1">
                                  <a:latin typeface="Cambria Math" panose="02040503050406030204" pitchFamily="18" charset="0"/>
                                  <a:cs typeface="Arial"/>
                                  <a:sym typeface="Arial"/>
                                </a:rPr>
                                <m:t>1</m:t>
                              </m:r>
                            </m:sub>
                          </m:sSub>
                        </m:num>
                        <m:den>
                          <m:r>
                            <m:rPr>
                              <m:sty m:val="p"/>
                            </m:rPr>
                            <a:rPr lang="en-US" sz="1800" i="1">
                              <a:latin typeface="Cambria Math" panose="02040503050406030204" pitchFamily="18" charset="0"/>
                              <a:cs typeface="Arial"/>
                              <a:sym typeface="Arial"/>
                            </a:rPr>
                            <m:t>dt</m:t>
                          </m:r>
                        </m:den>
                      </m:f>
                    </m:oMath>
                  </m:oMathPara>
                </a14:m>
                <a:endParaRPr lang="en-US" sz="1800" dirty="0">
                  <a:latin typeface="Atkinson Hyperlegible Next"/>
                  <a:ea typeface="Arial"/>
                  <a:cs typeface="Arial"/>
                  <a:sym typeface="Arial"/>
                </a:endParaRP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The interference voltage </a:t>
                </a:r>
                <a14:m>
                  <m:oMath xmlns:m="http://schemas.openxmlformats.org/officeDocument/2006/math">
                    <m:sSub>
                      <m:sSubPr>
                        <m:ctrlPr>
                          <a:rPr lang="en-US" sz="1800" i="1">
                            <a:latin typeface="Cambria Math" panose="02040503050406030204" pitchFamily="18" charset="0"/>
                            <a:cs typeface="Arial"/>
                            <a:sym typeface="Arial"/>
                          </a:rPr>
                        </m:ctrlPr>
                      </m:sSubPr>
                      <m:e>
                        <m:r>
                          <m:rPr>
                            <m:sty m:val="p"/>
                          </m:rPr>
                          <a:rPr lang="en-US" sz="1800" i="1">
                            <a:latin typeface="Cambria Math" panose="02040503050406030204" pitchFamily="18" charset="0"/>
                            <a:cs typeface="Arial"/>
                            <a:sym typeface="Arial"/>
                          </a:rPr>
                          <m:t>V</m:t>
                        </m:r>
                      </m:e>
                      <m:sub>
                        <m:r>
                          <m:rPr>
                            <m:sty m:val="p"/>
                          </m:rPr>
                          <a:rPr lang="en-US" sz="1800" i="1">
                            <a:latin typeface="Cambria Math" panose="02040503050406030204" pitchFamily="18" charset="0"/>
                            <a:cs typeface="Arial"/>
                            <a:sym typeface="Arial"/>
                          </a:rPr>
                          <m:t>noise</m:t>
                        </m:r>
                      </m:sub>
                    </m:sSub>
                  </m:oMath>
                </a14:m>
                <a:r>
                  <a:rPr lang="en-US" sz="1800" dirty="0">
                    <a:latin typeface="Atkinson Hyperlegible Next"/>
                    <a:ea typeface="Arial"/>
                    <a:cs typeface="Arial"/>
                    <a:sym typeface="Arial"/>
                  </a:rPr>
                  <a:t> is directly proportion to the rate of change of the source voltage, even if the actual voltage amplitude is moderate! </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What causes more digital signal interference?</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gn="ctr">
                  <a:lnSpc>
                    <a:spcPct val="100000"/>
                  </a:lnSpc>
                  <a:spcBef>
                    <a:spcPts val="0"/>
                  </a:spcBef>
                  <a:buSzPts val="3000"/>
                  <a:buNone/>
                </a:pPr>
                <a:r>
                  <a:rPr lang="en-US" sz="1800" dirty="0">
                    <a:latin typeface="Atkinson Hyperlegible Next"/>
                    <a:ea typeface="Arial"/>
                    <a:cs typeface="Arial"/>
                    <a:sym typeface="Arial"/>
                  </a:rPr>
                  <a:t>High-frequency vs low-frequency</a:t>
                </a:r>
              </a:p>
              <a:p>
                <a:pPr marL="0" lvl="0" indent="0" algn="ctr">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Assuming a duty cycle of 50%?</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gn="ctr">
                  <a:lnSpc>
                    <a:spcPct val="100000"/>
                  </a:lnSpc>
                  <a:spcBef>
                    <a:spcPts val="0"/>
                  </a:spcBef>
                  <a:buSzPts val="3000"/>
                  <a:buNone/>
                </a:pPr>
                <a:r>
                  <a:rPr lang="en-US" sz="1800" dirty="0">
                    <a:solidFill>
                      <a:srgbClr val="000000"/>
                    </a:solidFill>
                    <a:latin typeface="Consolas" panose="020B0609020204030204" pitchFamily="49" charset="0"/>
                  </a:rPr>
                  <a:t>EPwm7Regs.</a:t>
                </a:r>
                <a:r>
                  <a:rPr lang="en-US" sz="1800" dirty="0">
                    <a:solidFill>
                      <a:srgbClr val="0000C0"/>
                    </a:solidFill>
                    <a:latin typeface="Consolas" panose="020B0609020204030204" pitchFamily="49" charset="0"/>
                  </a:rPr>
                  <a:t>TBPRD</a:t>
                </a:r>
                <a:r>
                  <a:rPr lang="en-US" sz="1800" dirty="0">
                    <a:solidFill>
                      <a:srgbClr val="000000"/>
                    </a:solidFill>
                    <a:latin typeface="Consolas" panose="020B0609020204030204" pitchFamily="49" charset="0"/>
                  </a:rPr>
                  <a:t> = 5000;  EPwm7Regs.</a:t>
                </a:r>
                <a:r>
                  <a:rPr lang="en-US" sz="1800" dirty="0">
                    <a:solidFill>
                      <a:srgbClr val="0000C0"/>
                    </a:solidFill>
                    <a:latin typeface="Consolas" panose="020B0609020204030204" pitchFamily="49" charset="0"/>
                  </a:rPr>
                  <a:t>TBPRD</a:t>
                </a:r>
                <a:r>
                  <a:rPr lang="en-US" sz="1800" dirty="0">
                    <a:solidFill>
                      <a:srgbClr val="000000"/>
                    </a:solidFill>
                    <a:latin typeface="Consolas" panose="020B0609020204030204" pitchFamily="49" charset="0"/>
                  </a:rPr>
                  <a:t> = 500;</a:t>
                </a:r>
                <a:endParaRPr lang="en-US" sz="1800" dirty="0">
                  <a:latin typeface="Atkinson Hyperlegible Next"/>
                  <a:ea typeface="Arial"/>
                  <a:cs typeface="Arial"/>
                  <a:sym typeface="Arial"/>
                </a:endParaRP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gn="ctr">
                  <a:lnSpc>
                    <a:spcPct val="100000"/>
                  </a:lnSpc>
                  <a:spcBef>
                    <a:spcPts val="0"/>
                  </a:spcBef>
                  <a:buSzPts val="3000"/>
                  <a:buNone/>
                </a:pPr>
                <a:endParaRPr lang="en-US" sz="1800" dirty="0">
                  <a:latin typeface="Atkinson Hyperlegible Next"/>
                  <a:ea typeface="Arial"/>
                  <a:cs typeface="Arial"/>
                  <a:sym typeface="Arial"/>
                </a:endParaRPr>
              </a:p>
              <a:p>
                <a:pPr marL="0" lvl="0" indent="0" algn="ctr">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endParaRPr lang="en-US" sz="18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E706B594-3503-62C2-C03D-687D4C620BCF}"/>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491"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5683C7E-7158-75B0-5659-F3A0CC7F9DB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5ABA672-B9C0-C40E-48E9-C7C4C72EAA5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lang="en-US" sz="2400" b="0" i="0" u="none" strike="noStrike" cap="none" dirty="0">
                <a:solidFill>
                  <a:schemeClr val="lt1"/>
                </a:solidFill>
                <a:latin typeface="Atkinson Hyperlegible Next"/>
                <a:ea typeface="Arial"/>
                <a:cs typeface="Arial"/>
                <a:sym typeface="Arial"/>
              </a:rPr>
              <a:t>Serial Communication -</a:t>
            </a:r>
            <a:r>
              <a:rPr i="0" b="0" lang="en-US" sz="2400" dirty="0">
                <a:solidFill>
                  <a:schemeClr val="lt1"/>
                </a:solidFill>
              </a:rPr>
              <a:t> Interferences - Capacitive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6A5230B-52D6-AEC7-6FB9-E0E728389EA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5BCE374-187C-F87B-0D96-46E82848F44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70872BA-30D8-4AB8-EC55-509E5A0C0BF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B463576-3FCC-78BE-2445-D5CE8DAA64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E51FC57-D594-0E18-9A2B-B374AEB1B72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C49CED8-3749-DBD1-ABDD-540C421201D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Rectangle 1">
            <a:extLst>
              <a:ext uri="{FF2B5EF4-FFF2-40B4-BE49-F238E27FC236}">
                <a16:creationId xmlns:a16="http://schemas.microsoft.com/office/drawing/2014/main" id="{A37AD69F-FA9F-ED67-FBD2-B2216717ADCD}"/>
              </a:ext>
            </a:extLst>
          </p:cNvPr>
          <p:cNvSpPr/>
          <p:nvPr/>
        </p:nvSpPr>
        <p:spPr>
          <a:xfrm>
            <a:off x="4258673" y="4297041"/>
            <a:ext cx="1604997" cy="45400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A8C09F26-E24A-C1A5-34E8-AE2880A14416}"/>
              </a:ext>
            </a:extLst>
          </p:cNvPr>
          <p:cNvSpPr/>
          <p:nvPr/>
        </p:nvSpPr>
        <p:spPr>
          <a:xfrm>
            <a:off x="6096000" y="5370236"/>
            <a:ext cx="2862562" cy="45400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617695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10" end="10"/>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E553810-0993-6CA6-C592-FEEBB293FC51}"/>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E9462B77-3A90-663C-F3D7-57DB59DCCA5F}"/>
                  </a:ext>
                </a:extLst>
              </p:cNvPr>
              <p:cNvSpPr txBox="1">
                <a:spLocks noGrp="1"/>
              </p:cNvSpPr>
              <p:nvPr>
                <p:ph type="body" idx="1"/>
              </p:nvPr>
            </p:nvSpPr>
            <p:spPr>
              <a:xfrm>
                <a:off x="376810" y="1334279"/>
                <a:ext cx="735292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500" dirty="0">
                    <a:latin typeface="Atkinson Hyperlegible Next"/>
                    <a:ea typeface="Arial"/>
                    <a:cs typeface="Arial"/>
                    <a:sym typeface="Arial"/>
                  </a:rPr>
                  <a:t>Let’s try to explain how we get inductive interference!</a:t>
                </a:r>
              </a:p>
              <a:p>
                <a:pPr marL="0" indent="0">
                  <a:lnSpc>
                    <a:spcPct val="100000"/>
                  </a:lnSpc>
                  <a:spcBef>
                    <a:spcPts val="0"/>
                  </a:spcBef>
                  <a:buSzPts val="3000"/>
                  <a:buNone/>
                </a:pPr>
                <a:endParaRPr lang="en-US" sz="1500" dirty="0">
                  <a:latin typeface="Atkinson Hyperlegible Next"/>
                  <a:ea typeface="Arial"/>
                  <a:cs typeface="Arial"/>
                  <a:sym typeface="Arial"/>
                </a:endParaRPr>
              </a:p>
              <a:p>
                <a:pPr marL="0" indent="0">
                  <a:lnSpc>
                    <a:spcPct val="100000"/>
                  </a:lnSpc>
                  <a:spcBef>
                    <a:spcPts val="0"/>
                  </a:spcBef>
                  <a:buSzPts val="3000"/>
                  <a:buNone/>
                </a:pPr>
                <a:r>
                  <a:rPr lang="en-US" sz="1500" dirty="0">
                    <a:latin typeface="Atkinson Hyperlegible Next"/>
                    <a:ea typeface="Arial"/>
                    <a:cs typeface="Arial"/>
                    <a:sym typeface="Arial"/>
                  </a:rPr>
                  <a:t>Coupling between the circuits can occur when the magnetic field lines from one of the circuits pass through the loop formed by the other circuit.</a:t>
                </a:r>
              </a:p>
              <a:p>
                <a:pPr marL="0" indent="0">
                  <a:lnSpc>
                    <a:spcPct val="100000"/>
                  </a:lnSpc>
                  <a:spcBef>
                    <a:spcPts val="0"/>
                  </a:spcBef>
                  <a:buSzPts val="3000"/>
                  <a:buNone/>
                </a:pPr>
                <a:endParaRPr lang="en-US" sz="1500" dirty="0">
                  <a:latin typeface="Atkinson Hyperlegible Next"/>
                  <a:ea typeface="Arial"/>
                  <a:cs typeface="Arial"/>
                  <a:sym typeface="Arial"/>
                </a:endParaRPr>
              </a:p>
              <a:p>
                <a:pPr marL="0" indent="0">
                  <a:lnSpc>
                    <a:spcPct val="100000"/>
                  </a:lnSpc>
                  <a:spcBef>
                    <a:spcPts val="0"/>
                  </a:spcBef>
                  <a:buSzPts val="3000"/>
                  <a:buNone/>
                </a:pPr>
                <a:r>
                  <a:rPr lang="en-US" sz="1500" dirty="0">
                    <a:latin typeface="Atkinson Hyperlegible Next"/>
                    <a:ea typeface="Arial"/>
                    <a:cs typeface="Arial"/>
                    <a:sym typeface="Arial"/>
                  </a:rPr>
                  <a:t>Magnetic coupling is governed by </a:t>
                </a:r>
                <a:r>
                  <a:rPr lang="en-US" sz="1500" b="1" dirty="0">
                    <a:latin typeface="Atkinson Hyperlegible Next"/>
                    <a:ea typeface="Arial"/>
                    <a:cs typeface="Arial"/>
                    <a:sym typeface="Arial"/>
                  </a:rPr>
                  <a:t>Ampere's Law </a:t>
                </a:r>
                <a:r>
                  <a:rPr lang="en-US" sz="1500" dirty="0">
                    <a:latin typeface="Atkinson Hyperlegible Next"/>
                    <a:ea typeface="Arial"/>
                    <a:cs typeface="Arial"/>
                    <a:sym typeface="Arial"/>
                  </a:rPr>
                  <a:t>and </a:t>
                </a:r>
                <a:r>
                  <a:rPr lang="en-US" sz="1500" b="1" dirty="0">
                    <a:latin typeface="Atkinson Hyperlegible Next"/>
                    <a:ea typeface="Arial"/>
                    <a:cs typeface="Arial"/>
                    <a:sym typeface="Arial"/>
                  </a:rPr>
                  <a:t>Faraday's Law </a:t>
                </a:r>
                <a:r>
                  <a:rPr lang="en-US" sz="1500" dirty="0">
                    <a:latin typeface="Atkinson Hyperlegible Next"/>
                    <a:ea typeface="Arial"/>
                    <a:cs typeface="Arial"/>
                    <a:sym typeface="Arial"/>
                  </a:rPr>
                  <a:t>of Induction. A time-varying current in a source wire generates a time-varying magnetic field, which penetrates the loop area formed by the victim wire and its ground return path, inducing an electromotive force (EMF).</a:t>
                </a:r>
              </a:p>
              <a:p>
                <a:pPr marL="0" indent="0">
                  <a:lnSpc>
                    <a:spcPct val="100000"/>
                  </a:lnSpc>
                  <a:spcBef>
                    <a:spcPts val="0"/>
                  </a:spcBef>
                  <a:buSzPts val="3000"/>
                  <a:buNone/>
                </a:pPr>
                <a:endParaRPr lang="en-US" sz="1500" dirty="0">
                  <a:latin typeface="Atkinson Hyperlegible Next"/>
                  <a:ea typeface="Arial"/>
                  <a:cs typeface="Arial"/>
                  <a:sym typeface="Arial"/>
                </a:endParaRPr>
              </a:p>
              <a:p>
                <a:pPr marL="0" indent="0">
                  <a:lnSpc>
                    <a:spcPct val="100000"/>
                  </a:lnSpc>
                  <a:spcBef>
                    <a:spcPts val="0"/>
                  </a:spcBef>
                  <a:buSzPts val="3000"/>
                  <a:buNone/>
                </a:pPr>
                <a:r>
                  <a:rPr lang="en-US" sz="1500" dirty="0">
                    <a:latin typeface="Atkinson Hyperlegible Next"/>
                    <a:ea typeface="Arial"/>
                    <a:cs typeface="Arial"/>
                    <a:sym typeface="Arial"/>
                  </a:rPr>
                  <a:t>Let </a:t>
                </a:r>
                <a14:m>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I</m:t>
                        </m:r>
                      </m:e>
                      <m:sub>
                        <m:r>
                          <a:rPr lang="en-US" sz="1500" b="0" i="1" smtClean="0">
                            <a:latin typeface="Cambria Math" panose="02040503050406030204" pitchFamily="18" charset="0"/>
                            <a:cs typeface="Arial"/>
                            <a:sym typeface="Arial"/>
                          </a:rPr>
                          <m:t>1</m:t>
                        </m:r>
                      </m:sub>
                    </m:sSub>
                    <m:r>
                      <a:rPr lang="en-US" sz="1500" b="0" i="1" smtClean="0">
                        <a:latin typeface="Cambria Math" panose="02040503050406030204" pitchFamily="18" charset="0"/>
                        <a:cs typeface="Arial"/>
                        <a:sym typeface="Arial"/>
                      </a:rPr>
                      <m:t>(</m:t>
                    </m:r>
                    <m:r>
                      <m:rPr>
                        <m:sty m:val="p"/>
                      </m:rPr>
                      <a:rPr lang="en-US" sz="1500" b="0" i="1" smtClean="0">
                        <a:latin typeface="Cambria Math" panose="02040503050406030204" pitchFamily="18" charset="0"/>
                        <a:cs typeface="Arial"/>
                        <a:sym typeface="Arial"/>
                      </a:rPr>
                      <m:t>t</m:t>
                    </m:r>
                    <m:r>
                      <a:rPr lang="en-US" sz="1500" b="0" i="1" smtClean="0">
                        <a:latin typeface="Cambria Math" panose="02040503050406030204" pitchFamily="18" charset="0"/>
                        <a:cs typeface="Arial"/>
                        <a:sym typeface="Arial"/>
                      </a:rPr>
                      <m:t>)</m:t>
                    </m:r>
                  </m:oMath>
                </a14:m>
                <a:r>
                  <a:rPr lang="en-US" sz="1500" dirty="0">
                    <a:latin typeface="Atkinson Hyperlegible Next"/>
                    <a:ea typeface="Arial"/>
                    <a:cs typeface="Arial"/>
                    <a:sym typeface="Arial"/>
                  </a:rPr>
                  <a:t> be the time-varying current for. Assuming it is a long, straight wire, we use Ampere’s Law (</a:t>
                </a:r>
                <a14:m>
                  <m:oMath xmlns:m="http://schemas.openxmlformats.org/officeDocument/2006/math">
                    <m:nary>
                      <m:naryPr>
                        <m:chr m:val="∮"/>
                        <m:grow m:val="on"/>
                        <m:subHide m:val="on"/>
                        <m:supHide m:val="on"/>
                        <m:ctrlPr>
                          <a:rPr lang="en-US" sz="1500" i="1" smtClean="0">
                            <a:latin typeface="Cambria Math" panose="02040503050406030204" pitchFamily="18" charset="0"/>
                            <a:sym typeface="Arial"/>
                          </a:rPr>
                        </m:ctrlPr>
                      </m:naryPr>
                      <m:sub/>
                      <m:sup/>
                      <m:e>
                        <m:r>
                          <a:rPr lang="en-US" sz="1500" b="1" i="1" smtClean="0">
                            <a:latin typeface="Cambria Math" panose="02040503050406030204" pitchFamily="18" charset="0"/>
                            <a:sym typeface="Arial"/>
                          </a:rPr>
                          <m:t>𝑩</m:t>
                        </m:r>
                        <m:r>
                          <a:rPr lang="en-US" sz="1500" i="0" smtClean="0">
                            <a:latin typeface="Cambria Math" panose="02040503050406030204" pitchFamily="18" charset="0"/>
                            <a:sym typeface="Arial"/>
                          </a:rPr>
                          <m:t>⋅ⅆ</m:t>
                        </m:r>
                        <m:r>
                          <a:rPr lang="en-US" sz="1500" b="1" i="1" smtClean="0">
                            <a:latin typeface="Cambria Math" panose="02040503050406030204" pitchFamily="18" charset="0"/>
                            <a:sym typeface="Arial"/>
                          </a:rPr>
                          <m:t>𝒍</m:t>
                        </m:r>
                      </m:e>
                    </m:nary>
                    <m:r>
                      <a:rPr lang="en-US" sz="1500" i="0" smtClean="0">
                        <a:latin typeface="Cambria Math" panose="02040503050406030204" pitchFamily="18" charset="0"/>
                        <a:sym typeface="Arial"/>
                      </a:rPr>
                      <m:t>=</m:t>
                    </m:r>
                    <m:sSub>
                      <m:sSubPr>
                        <m:ctrlPr>
                          <a:rPr lang="en-US" sz="1500" i="1" smtClean="0">
                            <a:latin typeface="Cambria Math" panose="02040503050406030204" pitchFamily="18" charset="0"/>
                            <a:sym typeface="Arial"/>
                          </a:rPr>
                        </m:ctrlPr>
                      </m:sSubPr>
                      <m:e>
                        <m:r>
                          <a:rPr lang="en-US" sz="1500" i="1" smtClean="0">
                            <a:latin typeface="Cambria Math" panose="02040503050406030204" pitchFamily="18" charset="0"/>
                            <a:sym typeface="Arial"/>
                          </a:rPr>
                          <m:t>𝜇</m:t>
                        </m:r>
                      </m:e>
                      <m:sub>
                        <m:r>
                          <a:rPr lang="en-US" sz="1500" i="0" smtClean="0">
                            <a:latin typeface="Cambria Math" panose="02040503050406030204" pitchFamily="18" charset="0"/>
                            <a:sym typeface="Arial"/>
                          </a:rPr>
                          <m:t>0</m:t>
                        </m:r>
                      </m:sub>
                    </m:sSub>
                    <m:sSub>
                      <m:sSubPr>
                        <m:ctrlPr>
                          <a:rPr lang="en-US" sz="1500" i="1" smtClean="0">
                            <a:latin typeface="Cambria Math" panose="02040503050406030204" pitchFamily="18" charset="0"/>
                            <a:sym typeface="Arial"/>
                          </a:rPr>
                        </m:ctrlPr>
                      </m:sSubPr>
                      <m:e>
                        <m:r>
                          <a:rPr lang="en-US" sz="1500" i="1" smtClean="0">
                            <a:latin typeface="Cambria Math" panose="02040503050406030204" pitchFamily="18" charset="0"/>
                            <a:sym typeface="Arial"/>
                          </a:rPr>
                          <m:t>𝐼</m:t>
                        </m:r>
                      </m:e>
                      <m:sub>
                        <m:r>
                          <a:rPr lang="en-US" sz="1500" i="1" smtClean="0">
                            <a:latin typeface="Cambria Math" panose="02040503050406030204" pitchFamily="18" charset="0"/>
                            <a:sym typeface="Arial"/>
                          </a:rPr>
                          <m:t>𝑒𝑛𝑐</m:t>
                        </m:r>
                      </m:sub>
                    </m:sSub>
                  </m:oMath>
                </a14:m>
                <a:r>
                  <a:rPr lang="en-US" sz="1500" dirty="0">
                    <a:latin typeface="Atkinson Hyperlegible Next"/>
                    <a:ea typeface="Arial"/>
                    <a:cs typeface="Arial"/>
                    <a:sym typeface="Arial"/>
                  </a:rPr>
                  <a:t>) to find the magnetic field at radial distance </a:t>
                </a:r>
                <a14:m>
                  <m:oMath xmlns:m="http://schemas.openxmlformats.org/officeDocument/2006/math">
                    <m:r>
                      <m:rPr>
                        <m:sty m:val="p"/>
                      </m:rPr>
                      <a:rPr lang="en-US" sz="1500" b="0" i="1" smtClean="0">
                        <a:latin typeface="Cambria Math" panose="02040503050406030204" pitchFamily="18" charset="0"/>
                        <a:ea typeface="Arial"/>
                        <a:cs typeface="Arial"/>
                        <a:sym typeface="Arial"/>
                      </a:rPr>
                      <m:t>r</m:t>
                    </m:r>
                  </m:oMath>
                </a14:m>
                <a:r>
                  <a:rPr lang="en-US" sz="1500" dirty="0">
                    <a:latin typeface="Atkinson Hyperlegible Next"/>
                    <a:ea typeface="Arial"/>
                    <a:cs typeface="Arial"/>
                    <a:sym typeface="Arial"/>
                  </a:rPr>
                  <a:t>:</a:t>
                </a:r>
              </a:p>
              <a:p>
                <a:pPr marL="0" indent="0">
                  <a:lnSpc>
                    <a:spcPct val="100000"/>
                  </a:lnSpc>
                  <a:spcBef>
                    <a:spcPts val="0"/>
                  </a:spcBef>
                  <a:buSzPts val="3000"/>
                  <a:buNone/>
                </a:pPr>
                <a:endParaRPr lang="en-US" sz="15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1500" i="1" dirty="0" smtClean="0">
                          <a:latin typeface="Cambria Math" panose="02040503050406030204" pitchFamily="18" charset="0"/>
                          <a:sym typeface="Arial"/>
                        </a:rPr>
                        <m:t>𝐵</m:t>
                      </m:r>
                      <m:d>
                        <m:dPr>
                          <m:ctrlPr>
                            <a:rPr lang="en-US" sz="1500" i="1" dirty="0" smtClean="0">
                              <a:latin typeface="Cambria Math" panose="02040503050406030204" pitchFamily="18" charset="0"/>
                              <a:sym typeface="Arial"/>
                            </a:rPr>
                          </m:ctrlPr>
                        </m:dPr>
                        <m:e>
                          <m:r>
                            <a:rPr lang="en-US" sz="1500" i="1" dirty="0" smtClean="0">
                              <a:latin typeface="Cambria Math" panose="02040503050406030204" pitchFamily="18" charset="0"/>
                              <a:sym typeface="Arial"/>
                            </a:rPr>
                            <m:t>𝑟</m:t>
                          </m:r>
                          <m:r>
                            <a:rPr lang="en-US" sz="1500" i="0" dirty="0" smtClean="0">
                              <a:latin typeface="Cambria Math" panose="02040503050406030204" pitchFamily="18" charset="0"/>
                              <a:sym typeface="Arial"/>
                            </a:rPr>
                            <m:t>,</m:t>
                          </m:r>
                          <m:r>
                            <a:rPr lang="en-US" sz="1500" i="1" dirty="0" smtClean="0">
                              <a:latin typeface="Cambria Math" panose="02040503050406030204" pitchFamily="18" charset="0"/>
                              <a:sym typeface="Arial"/>
                            </a:rPr>
                            <m:t>𝑡</m:t>
                          </m:r>
                        </m:e>
                      </m:d>
                      <m:r>
                        <a:rPr lang="en-US" sz="1500" i="0" dirty="0" smtClean="0">
                          <a:latin typeface="Cambria Math" panose="02040503050406030204" pitchFamily="18" charset="0"/>
                          <a:sym typeface="Arial"/>
                        </a:rPr>
                        <m:t>=</m:t>
                      </m:r>
                      <m:f>
                        <m:fPr>
                          <m:ctrlPr>
                            <a:rPr lang="en-US" sz="1500" i="1" dirty="0" smtClean="0">
                              <a:latin typeface="Cambria Math" panose="02040503050406030204" pitchFamily="18" charset="0"/>
                              <a:sym typeface="Arial"/>
                            </a:rPr>
                          </m:ctrlPr>
                        </m:fPr>
                        <m:num>
                          <m:sSub>
                            <m:sSubPr>
                              <m:ctrlPr>
                                <a:rPr lang="en-US" sz="1500" i="1" dirty="0" smtClean="0">
                                  <a:latin typeface="Cambria Math" panose="02040503050406030204" pitchFamily="18" charset="0"/>
                                  <a:sym typeface="Arial"/>
                                </a:rPr>
                              </m:ctrlPr>
                            </m:sSubPr>
                            <m:e>
                              <m:r>
                                <a:rPr lang="en-US" sz="1500" i="1" dirty="0" smtClean="0">
                                  <a:latin typeface="Cambria Math" panose="02040503050406030204" pitchFamily="18" charset="0"/>
                                  <a:sym typeface="Arial"/>
                                </a:rPr>
                                <m:t>𝜇</m:t>
                              </m:r>
                            </m:e>
                            <m:sub>
                              <m:r>
                                <a:rPr lang="en-US" sz="1500" i="0" dirty="0" smtClean="0">
                                  <a:latin typeface="Cambria Math" panose="02040503050406030204" pitchFamily="18" charset="0"/>
                                  <a:sym typeface="Arial"/>
                                </a:rPr>
                                <m:t>0</m:t>
                              </m:r>
                            </m:sub>
                          </m:sSub>
                          <m:sSub>
                            <m:sSubPr>
                              <m:ctrlPr>
                                <a:rPr lang="en-US" sz="1500" i="1" dirty="0" smtClean="0">
                                  <a:latin typeface="Cambria Math" panose="02040503050406030204" pitchFamily="18" charset="0"/>
                                  <a:sym typeface="Arial"/>
                                </a:rPr>
                              </m:ctrlPr>
                            </m:sSubPr>
                            <m:e>
                              <m:r>
                                <a:rPr lang="en-US" sz="1500" i="1" dirty="0" smtClean="0">
                                  <a:latin typeface="Cambria Math" panose="02040503050406030204" pitchFamily="18" charset="0"/>
                                  <a:sym typeface="Arial"/>
                                </a:rPr>
                                <m:t>𝐼</m:t>
                              </m:r>
                            </m:e>
                            <m:sub>
                              <m:r>
                                <a:rPr lang="en-US" sz="1500" i="0" dirty="0" smtClean="0">
                                  <a:latin typeface="Cambria Math" panose="02040503050406030204" pitchFamily="18" charset="0"/>
                                  <a:sym typeface="Arial"/>
                                </a:rPr>
                                <m:t>1</m:t>
                              </m:r>
                            </m:sub>
                          </m:sSub>
                          <m:d>
                            <m:dPr>
                              <m:ctrlPr>
                                <a:rPr lang="en-US" sz="1500" i="1" dirty="0" smtClean="0">
                                  <a:latin typeface="Cambria Math" panose="02040503050406030204" pitchFamily="18" charset="0"/>
                                  <a:sym typeface="Arial"/>
                                </a:rPr>
                              </m:ctrlPr>
                            </m:dPr>
                            <m:e>
                              <m:r>
                                <a:rPr lang="en-US" sz="1500" i="1" dirty="0" smtClean="0">
                                  <a:latin typeface="Cambria Math" panose="02040503050406030204" pitchFamily="18" charset="0"/>
                                  <a:sym typeface="Arial"/>
                                </a:rPr>
                                <m:t>𝑡</m:t>
                              </m:r>
                            </m:e>
                          </m:d>
                        </m:num>
                        <m:den>
                          <m:r>
                            <a:rPr lang="en-US" sz="1500" i="0" dirty="0" smtClean="0">
                              <a:latin typeface="Cambria Math" panose="02040503050406030204" pitchFamily="18" charset="0"/>
                              <a:sym typeface="Arial"/>
                            </a:rPr>
                            <m:t>2</m:t>
                          </m:r>
                          <m:r>
                            <a:rPr lang="en-US" sz="1500" i="1" dirty="0" smtClean="0">
                              <a:latin typeface="Cambria Math" panose="02040503050406030204" pitchFamily="18" charset="0"/>
                              <a:sym typeface="Arial"/>
                            </a:rPr>
                            <m:t>𝜋</m:t>
                          </m:r>
                          <m:r>
                            <a:rPr lang="en-US" sz="1500" i="1" dirty="0" smtClean="0">
                              <a:latin typeface="Cambria Math" panose="02040503050406030204" pitchFamily="18" charset="0"/>
                              <a:sym typeface="Arial"/>
                            </a:rPr>
                            <m:t>𝑟</m:t>
                          </m:r>
                        </m:den>
                      </m:f>
                      <m:acc>
                        <m:accPr>
                          <m:chr m:val="̂"/>
                          <m:ctrlPr>
                            <a:rPr lang="en-US" sz="1500" i="1" dirty="0" smtClean="0">
                              <a:latin typeface="Cambria Math" panose="02040503050406030204" pitchFamily="18" charset="0"/>
                              <a:sym typeface="Arial"/>
                            </a:rPr>
                          </m:ctrlPr>
                        </m:accPr>
                        <m:e>
                          <m:r>
                            <a:rPr lang="en-US" sz="1500" i="1" dirty="0" smtClean="0">
                              <a:latin typeface="Cambria Math" panose="02040503050406030204" pitchFamily="18" charset="0"/>
                              <a:sym typeface="Arial"/>
                            </a:rPr>
                            <m:t>𝜙</m:t>
                          </m:r>
                        </m:e>
                      </m:acc>
                    </m:oMath>
                  </m:oMathPara>
                </a14:m>
                <a:endParaRPr lang="en-US" sz="1500" dirty="0">
                  <a:latin typeface="Atkinson Hyperlegible Next"/>
                  <a:ea typeface="Arial"/>
                  <a:cs typeface="Arial"/>
                  <a:sym typeface="Arial"/>
                </a:endParaRPr>
              </a:p>
              <a:p>
                <a:pPr marL="0" indent="0">
                  <a:lnSpc>
                    <a:spcPct val="100000"/>
                  </a:lnSpc>
                  <a:spcBef>
                    <a:spcPts val="0"/>
                  </a:spcBef>
                  <a:buSzPts val="3000"/>
                  <a:buNone/>
                </a:pPr>
                <a:endParaRPr lang="en-US" sz="1500" dirty="0">
                  <a:latin typeface="Atkinson Hyperlegible Next"/>
                  <a:ea typeface="Arial"/>
                  <a:cs typeface="Arial"/>
                  <a:sym typeface="Arial"/>
                </a:endParaRPr>
              </a:p>
              <a:p>
                <a:pPr marL="0" indent="0">
                  <a:lnSpc>
                    <a:spcPct val="100000"/>
                  </a:lnSpc>
                  <a:spcBef>
                    <a:spcPts val="0"/>
                  </a:spcBef>
                  <a:buSzPts val="3000"/>
                  <a:buNone/>
                </a:pPr>
                <a:r>
                  <a:rPr lang="en-US" sz="1500" dirty="0">
                    <a:latin typeface="Atkinson Hyperlegible Next"/>
                    <a:ea typeface="Arial"/>
                    <a:cs typeface="Arial"/>
                    <a:sym typeface="Arial"/>
                  </a:rPr>
                  <a:t>(there </a:t>
                </a:r>
                <a14:m>
                  <m:oMath xmlns:m="http://schemas.openxmlformats.org/officeDocument/2006/math">
                    <m:sSub>
                      <m:sSubPr>
                        <m:ctrlPr>
                          <a:rPr lang="en-US" sz="1500" i="1" dirty="0">
                            <a:latin typeface="Cambria Math" panose="02040503050406030204" pitchFamily="18" charset="0"/>
                            <a:sym typeface="Arial"/>
                          </a:rPr>
                        </m:ctrlPr>
                      </m:sSubPr>
                      <m:e>
                        <m:r>
                          <a:rPr lang="en-US" sz="1500" i="1" dirty="0">
                            <a:latin typeface="Cambria Math" panose="02040503050406030204" pitchFamily="18" charset="0"/>
                            <a:sym typeface="Arial"/>
                          </a:rPr>
                          <m:t>𝜇</m:t>
                        </m:r>
                      </m:e>
                      <m:sub>
                        <m:r>
                          <a:rPr lang="en-US" sz="1500" dirty="0">
                            <a:latin typeface="Cambria Math" panose="02040503050406030204" pitchFamily="18" charset="0"/>
                            <a:sym typeface="Arial"/>
                          </a:rPr>
                          <m:t>0</m:t>
                        </m:r>
                      </m:sub>
                    </m:sSub>
                  </m:oMath>
                </a14:m>
                <a:r>
                  <a:rPr lang="en-US" sz="1500" dirty="0">
                    <a:latin typeface="Atkinson Hyperlegible Next"/>
                    <a:ea typeface="Arial"/>
                    <a:cs typeface="Arial"/>
                    <a:sym typeface="Arial"/>
                  </a:rPr>
                  <a:t>, is the permeability of free space and </a:t>
                </a:r>
                <a14:m>
                  <m:oMath xmlns:m="http://schemas.openxmlformats.org/officeDocument/2006/math">
                    <m:acc>
                      <m:accPr>
                        <m:chr m:val="̂"/>
                        <m:ctrlPr>
                          <a:rPr lang="en-US" sz="1500" i="1" dirty="0">
                            <a:latin typeface="Cambria Math" panose="02040503050406030204" pitchFamily="18" charset="0"/>
                            <a:sym typeface="Arial"/>
                          </a:rPr>
                        </m:ctrlPr>
                      </m:accPr>
                      <m:e>
                        <m:r>
                          <a:rPr lang="en-US" sz="1500" i="1" dirty="0">
                            <a:latin typeface="Cambria Math" panose="02040503050406030204" pitchFamily="18" charset="0"/>
                            <a:sym typeface="Arial"/>
                          </a:rPr>
                          <m:t>𝜙</m:t>
                        </m:r>
                      </m:e>
                    </m:acc>
                  </m:oMath>
                </a14:m>
                <a:r>
                  <a:rPr lang="en-US" sz="1500" dirty="0">
                    <a:latin typeface="Atkinson Hyperlegible Next"/>
                    <a:ea typeface="Arial"/>
                    <a:cs typeface="Arial"/>
                    <a:sym typeface="Arial"/>
                  </a:rPr>
                  <a:t> represents the flux)</a:t>
                </a:r>
              </a:p>
              <a:p>
                <a:pPr marL="0" indent="0">
                  <a:lnSpc>
                    <a:spcPct val="100000"/>
                  </a:lnSpc>
                  <a:spcBef>
                    <a:spcPts val="0"/>
                  </a:spcBef>
                  <a:buSzPts val="3000"/>
                  <a:buNone/>
                </a:pPr>
                <a:endParaRPr lang="en-US" sz="15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E9462B77-3A90-663C-F3D7-57DB59DCCA5F}"/>
                  </a:ext>
                </a:extLst>
              </p:cNvPr>
              <p:cNvSpPr txBox="1">
                <a:spLocks noGrp="1" noRot="1" noChangeAspect="1" noMove="1" noResize="1" noEditPoints="1" noAdjustHandles="1" noChangeArrowheads="1" noChangeShapeType="1" noTextEdit="1"/>
              </p:cNvSpPr>
              <p:nvPr>
                <p:ph type="body" idx="1"/>
              </p:nvPr>
            </p:nvSpPr>
            <p:spPr>
              <a:xfrm>
                <a:off x="376810" y="1334279"/>
                <a:ext cx="7352927" cy="4821102"/>
              </a:xfrm>
              <a:prstGeom prst="rect">
                <a:avLst/>
              </a:prstGeom>
              <a:blipFill>
                <a:blip r:embed="rId3"/>
                <a:stretch>
                  <a:fillRect l="-332" t="-25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B01F065-F6E7-D6D8-DE0F-AABD0B55A93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5A78B60-B11D-A3DC-1E60-DFC069AF3A0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Interferences - Inductive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141F66B-3AE3-3256-4B55-8A8C9C4F1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5F620FF-E919-339A-F7D0-8CB581A7DFA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26BE268-749B-832D-D911-C5BE24B7ACF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0CE9D18-8E15-C4EC-14CF-BBFB30061CD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65DF155-07AC-5538-C8B8-C11F311B2BA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1BCD11F-7C93-4AE6-D3FF-1FC4A4A872A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Two circuits share a grounded conducting plane. Each has an AC voltage source and a source resistor at one end, a long wire running parallel to the plane, and a load resistor at the far end that returns to the plane. A circular magnetic field H, with arrows showing its direction, wraps around the upper circuit's wire and passes through the loop formed by the neighboring circuit's wire and the plane, coupling the two circuits inductively.">
            <a:extLst>
              <a:ext uri="{FF2B5EF4-FFF2-40B4-BE49-F238E27FC236}">
                <a16:creationId xmlns:a16="http://schemas.microsoft.com/office/drawing/2014/main" id="{3B811EB4-FFC8-B884-FA4E-2DE4D94CF01A}"/>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729737" y="2115192"/>
            <a:ext cx="4099080" cy="2627615"/>
          </a:xfrm>
          <a:prstGeom prst="rect">
            <a:avLst/>
          </a:prstGeom>
        </p:spPr>
      </p:pic>
    </p:spTree>
    <p:extLst>
      <p:ext uri="{BB962C8B-B14F-4D97-AF65-F5344CB8AC3E}">
        <p14:creationId xmlns:p14="http://schemas.microsoft.com/office/powerpoint/2010/main" val="27112019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2C46854-055C-B5AF-C373-DC6DDF6C982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5B6DE34-97B3-499D-8C3E-581B4B505607}"/>
                  </a:ext>
                </a:extLst>
              </p:cNvPr>
              <p:cNvSpPr txBox="1">
                <a:spLocks noGrp="1"/>
              </p:cNvSpPr>
              <p:nvPr>
                <p:ph type="body" idx="1"/>
              </p:nvPr>
            </p:nvSpPr>
            <p:spPr>
              <a:xfrm>
                <a:off x="376810" y="1334279"/>
                <a:ext cx="11529573" cy="79777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500" dirty="0">
                    <a:latin typeface="Atkinson Hyperlegible Next"/>
                    <a:ea typeface="Arial"/>
                    <a:cs typeface="Arial"/>
                    <a:sym typeface="Arial"/>
                  </a:rPr>
                  <a:t>If the victim wire forms a rectangular loop ( not often the case but good enough for showing this specific case), with it’s return path. Having a length </a:t>
                </a:r>
                <a14:m>
                  <m:oMath xmlns:m="http://schemas.openxmlformats.org/officeDocument/2006/math">
                    <m:r>
                      <m:rPr>
                        <m:sty m:val="p"/>
                      </m:rPr>
                      <a:rPr lang="en-US" sz="1500" b="0" i="1" smtClean="0">
                        <a:latin typeface="Cambria Math" panose="02040503050406030204" pitchFamily="18" charset="0"/>
                        <a:ea typeface="Arial"/>
                        <a:cs typeface="Arial"/>
                        <a:sym typeface="Arial"/>
                      </a:rPr>
                      <m:t>l</m:t>
                    </m:r>
                  </m:oMath>
                </a14:m>
                <a:r>
                  <a:rPr lang="en-US" sz="1500" dirty="0">
                    <a:latin typeface="Atkinson Hyperlegible Next"/>
                    <a:ea typeface="Arial"/>
                    <a:cs typeface="Arial"/>
                    <a:sym typeface="Arial"/>
                  </a:rPr>
                  <a:t> and distance </a:t>
                </a:r>
                <a14:m>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r</m:t>
                        </m:r>
                      </m:e>
                      <m:sub>
                        <m:r>
                          <a:rPr lang="en-US" sz="1500" b="0" i="1" smtClean="0">
                            <a:latin typeface="Cambria Math" panose="02040503050406030204" pitchFamily="18" charset="0"/>
                            <a:cs typeface="Arial"/>
                            <a:sym typeface="Arial"/>
                          </a:rPr>
                          <m:t>1</m:t>
                        </m:r>
                      </m:sub>
                    </m:sSub>
                  </m:oMath>
                </a14:m>
                <a:r>
                  <a:rPr lang="en-US" sz="1500" dirty="0">
                    <a:latin typeface="Atkinson Hyperlegible Next"/>
                    <a:ea typeface="Arial"/>
                    <a:cs typeface="Arial"/>
                    <a:sym typeface="Arial"/>
                  </a:rPr>
                  <a:t> and </a:t>
                </a:r>
                <a14:m>
                  <m:oMath xmlns:m="http://schemas.openxmlformats.org/officeDocument/2006/math">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r</m:t>
                        </m:r>
                      </m:e>
                      <m:sub>
                        <m:r>
                          <a:rPr lang="en-US" sz="1500" b="0" i="1" smtClean="0">
                            <a:latin typeface="Cambria Math" panose="02040503050406030204" pitchFamily="18" charset="0"/>
                            <a:cs typeface="Arial"/>
                            <a:sym typeface="Arial"/>
                          </a:rPr>
                          <m:t>2</m:t>
                        </m:r>
                      </m:sub>
                    </m:sSub>
                  </m:oMath>
                </a14:m>
                <a:r>
                  <a:rPr lang="en-US" sz="1500" dirty="0">
                    <a:latin typeface="Atkinson Hyperlegible Next"/>
                    <a:ea typeface="Arial"/>
                    <a:cs typeface="Arial"/>
                    <a:sym typeface="Arial"/>
                  </a:rPr>
                  <a:t> from the source wire. The magnetic flux </a:t>
                </a:r>
                <a14:m>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l-GR" sz="1500" i="1">
                            <a:latin typeface="Cambria Math" panose="02040503050406030204" pitchFamily="18" charset="0"/>
                            <a:ea typeface="Cambria Math" panose="02040503050406030204" pitchFamily="18" charset="0"/>
                            <a:cs typeface="Arial"/>
                            <a:sym typeface="Arial"/>
                          </a:rPr>
                          <m:t>Φ</m:t>
                        </m:r>
                      </m:e>
                      <m:sub>
                        <m:r>
                          <m:rPr>
                            <m:sty m:val="p"/>
                          </m:rPr>
                          <a:rPr lang="en-US" sz="1500" b="0" i="1" smtClean="0">
                            <a:latin typeface="Cambria Math" panose="02040503050406030204" pitchFamily="18" charset="0"/>
                            <a:cs typeface="Arial"/>
                            <a:sym typeface="Arial"/>
                          </a:rPr>
                          <m:t>B</m:t>
                        </m:r>
                      </m:sub>
                    </m:sSub>
                  </m:oMath>
                </a14:m>
                <a:r>
                  <a:rPr lang="en-US" sz="1500" dirty="0">
                    <a:latin typeface="Atkinson Hyperlegible Next"/>
                    <a:ea typeface="Arial"/>
                    <a:cs typeface="Arial"/>
                    <a:sym typeface="Arial"/>
                  </a:rPr>
                  <a:t>, though this loop is the surface integral of the magnetic field.</a:t>
                </a:r>
              </a:p>
            </p:txBody>
          </p:sp>
        </mc:Choice>
        <mc:Fallback xmlns="">
          <p:sp>
            <p:nvSpPr>
              <p:cNvPr id="118" name="Google Shape;118;p29">
                <a:extLst>
                  <a:ext uri="{FF2B5EF4-FFF2-40B4-BE49-F238E27FC236}">
                    <a16:creationId xmlns:a16="http://schemas.microsoft.com/office/drawing/2014/main" id="{45B6DE34-97B3-499D-8C3E-581B4B505607}"/>
                  </a:ext>
                </a:extLst>
              </p:cNvPr>
              <p:cNvSpPr txBox="1">
                <a:spLocks noGrp="1" noRot="1" noChangeAspect="1" noMove="1" noResize="1" noEditPoints="1" noAdjustHandles="1" noChangeArrowheads="1" noChangeShapeType="1" noTextEdit="1"/>
              </p:cNvSpPr>
              <p:nvPr>
                <p:ph type="body" idx="1"/>
              </p:nvPr>
            </p:nvSpPr>
            <p:spPr>
              <a:xfrm>
                <a:off x="376810" y="1334279"/>
                <a:ext cx="11529573" cy="797771"/>
              </a:xfrm>
              <a:prstGeom prst="rect">
                <a:avLst/>
              </a:prstGeom>
              <a:blipFill>
                <a:blip r:embed="rId3"/>
                <a:stretch>
                  <a:fillRect l="-212" t="-1527" b="-534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CEE58DB9-5625-990F-F409-EB9B083C05F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17CA482-AB72-74E5-0248-749A0D818BF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Interferences - Inductive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81E9A12-AB74-EDCA-180A-4B3D72EB2B1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0FB80E4-BF7C-BFC5-F190-CF499181B42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BB2A733-C909-DB25-00C1-A1F2DBAC6A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0EA645-D3D2-7CF1-299D-FDCAED47ED5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77CDCEC-81D1-298B-318D-D346156D1A9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797F273-8E95-CE18-1F68-F4DBF54C924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TextBox 1">
            <a:extLst>
              <a:ext uri="{FF2B5EF4-FFF2-40B4-BE49-F238E27FC236}">
                <a16:creationId xmlns:a16="http://schemas.microsoft.com/office/drawing/2014/main" id="{E39B0FC0-03D0-7B0B-BA2C-429A87EC5F84}"/>
              </a:ext>
            </a:extLst>
          </p:cNvPr>
          <p:cNvSpPr txBox="1"/>
          <p:nvPr/>
        </p:nvSpPr>
        <p:spPr>
          <a:xfrm>
            <a:off x="9264863" y="6014058"/>
            <a:ext cx="1330036" cy="307777"/>
          </a:xfrm>
          <a:prstGeom prst="rect">
            <a:avLst/>
          </a:prstGeom>
          <a:noFill/>
        </p:spPr>
        <p:txBody>
          <a:bodyPr wrap="square" rtlCol="0">
            <a:spAutoFit/>
          </a:bodyPr>
          <a:lstStyle/>
          <a:p>
            <a:pPr algn="ctr"/>
            <a:r>
              <a:rPr lang="en-US" dirty="0"/>
              <a:t>Animate this!</a:t>
            </a:r>
          </a:p>
        </p:txBody>
      </p:sp>
      <p:pic>
        <p:nvPicPr>
          <p:cNvPr id="7" name="Graphic 6" descr="Diagram: A vertical source wire carries current I sub 1 of t upward, surrounded by circular magnetic field lines, B of r, t equals mu naught I sub 1 of t over 2 pi r, in the phi-hat direction. To its right, a rectangular victim loop of height l spans radial distances r sub 1 to r sub 2 from the wire. The field passes into the page through the loop area S, with area element d A equals d r d z.">
            <a:extLst>
              <a:ext uri="{FF2B5EF4-FFF2-40B4-BE49-F238E27FC236}">
                <a16:creationId xmlns:a16="http://schemas.microsoft.com/office/drawing/2014/main" id="{7FBC60A7-C44A-88C2-2880-42A130B2D873}"/>
              </a:ext>
            </a:extLst>
          </p:cNvPr>
          <p:cNvPicPr>
            <a:picLocks noChangeAspect="1"/>
          </p:cNvPicPr>
          <p:nvPr/>
        </p:nvPicPr>
        <p:blipFill>
          <a:blip r:embed="rId5">
            <a:extLst>
              <a:ext uri="{96DAC541-7B7A-43D3-8B79-37D633B846F1}">
                <asvg:svgBlip xmlns:asvg="http://schemas.microsoft.com/office/drawing/2016/SVG/main" r:embed="rId6"/>
              </a:ext>
            </a:extLst>
          </a:blip>
          <a:srcRect/>
          <a:stretch/>
        </p:blipFill>
        <p:spPr>
          <a:xfrm>
            <a:off x="3557421" y="2247275"/>
            <a:ext cx="5077158" cy="4175778"/>
          </a:xfrm>
          <a:prstGeom prst="rect">
            <a:avLst/>
          </a:prstGeom>
        </p:spPr>
      </p:pic>
    </p:spTree>
    <p:extLst>
      <p:ext uri="{BB962C8B-B14F-4D97-AF65-F5344CB8AC3E}">
        <p14:creationId xmlns:p14="http://schemas.microsoft.com/office/powerpoint/2010/main" val="104410724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3AE1F92-AC29-518F-C27B-044A750C34B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13396D8D-BDCA-968E-907C-556491E12358}"/>
                  </a:ext>
                </a:extLst>
              </p:cNvPr>
              <p:cNvSpPr txBox="1">
                <a:spLocks noGrp="1"/>
              </p:cNvSpPr>
              <p:nvPr>
                <p:ph type="body" idx="1"/>
              </p:nvPr>
            </p:nvSpPr>
            <p:spPr>
              <a:xfrm>
                <a:off x="376810" y="1334279"/>
                <a:ext cx="6522754" cy="5074536"/>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Cambria Math" panose="02040503050406030204" pitchFamily="18" charset="0"/>
                    <a:sym typeface="Arial"/>
                  </a:rPr>
                  <a:t>Integrating the field across the area.</a:t>
                </a:r>
              </a:p>
              <a:p>
                <a:pPr marL="0" indent="0">
                  <a:lnSpc>
                    <a:spcPct val="100000"/>
                  </a:lnSpc>
                  <a:spcBef>
                    <a:spcPts val="0"/>
                  </a:spcBef>
                  <a:buSzPts val="3000"/>
                  <a:buNone/>
                </a:pPr>
                <a:endParaRPr lang="en-US" sz="2000" dirty="0">
                  <a:latin typeface="Cambria Math" panose="02040503050406030204" pitchFamily="18" charset="0"/>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smtClean="0">
                              <a:latin typeface="Cambria Math" panose="02040503050406030204" pitchFamily="18" charset="0"/>
                              <a:sym typeface="Arial"/>
                            </a:rPr>
                          </m:ctrlPr>
                        </m:sSubPr>
                        <m:e>
                          <m:r>
                            <a:rPr lang="en-US" sz="2000" i="1" dirty="0">
                              <a:latin typeface="Cambria Math" panose="02040503050406030204" pitchFamily="18" charset="0"/>
                              <a:sym typeface="Arial"/>
                            </a:rPr>
                            <m:t>𝛷</m:t>
                          </m:r>
                        </m:e>
                        <m:sub>
                          <m:r>
                            <a:rPr lang="en-US" sz="2000" i="1" dirty="0">
                              <a:latin typeface="Cambria Math" panose="02040503050406030204" pitchFamily="18" charset="0"/>
                              <a:sym typeface="Arial"/>
                            </a:rPr>
                            <m:t>𝐵</m:t>
                          </m:r>
                        </m:sub>
                      </m:sSub>
                      <m:r>
                        <a:rPr lang="en-US" sz="2000" i="0" dirty="0">
                          <a:latin typeface="Cambria Math" panose="02040503050406030204" pitchFamily="18" charset="0"/>
                          <a:sym typeface="Arial"/>
                        </a:rPr>
                        <m:t>=</m:t>
                      </m:r>
                      <m:nary>
                        <m:naryPr>
                          <m:chr m:val="∬"/>
                          <m:limLoc m:val="subSup"/>
                          <m:supHide m:val="on"/>
                          <m:ctrlPr>
                            <a:rPr lang="en-US" sz="2000" i="1" dirty="0">
                              <a:latin typeface="Cambria Math" panose="02040503050406030204" pitchFamily="18" charset="0"/>
                              <a:sym typeface="Arial"/>
                            </a:rPr>
                          </m:ctrlPr>
                        </m:naryPr>
                        <m:sub>
                          <m:r>
                            <a:rPr lang="en-US" sz="2000" i="1" dirty="0">
                              <a:latin typeface="Cambria Math" panose="02040503050406030204" pitchFamily="18" charset="0"/>
                              <a:sym typeface="Arial"/>
                            </a:rPr>
                            <m:t>𝑆</m:t>
                          </m:r>
                        </m:sub>
                        <m:sup/>
                        <m:e>
                          <m:r>
                            <a:rPr lang="en-US" sz="2000" i="1" dirty="0">
                              <a:latin typeface="Cambria Math" panose="02040503050406030204" pitchFamily="18" charset="0"/>
                              <a:sym typeface="Arial"/>
                            </a:rPr>
                            <m:t>𝐵</m:t>
                          </m:r>
                          <m:r>
                            <a:rPr lang="en-US" sz="2000" i="0" dirty="0">
                              <a:latin typeface="Cambria Math" panose="02040503050406030204" pitchFamily="18" charset="0"/>
                              <a:sym typeface="Arial"/>
                            </a:rPr>
                            <m:t>⋅ⅆ</m:t>
                          </m:r>
                          <m:r>
                            <a:rPr lang="en-US" sz="2000" i="1" dirty="0">
                              <a:latin typeface="Cambria Math" panose="02040503050406030204" pitchFamily="18" charset="0"/>
                              <a:sym typeface="Arial"/>
                            </a:rPr>
                            <m:t>𝐴</m:t>
                          </m:r>
                        </m:e>
                      </m:nary>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Substituting and integrating over the area </a:t>
                </a:r>
                <a14:m>
                  <m:oMath xmlns:m="http://schemas.openxmlformats.org/officeDocument/2006/math">
                    <m:r>
                      <m:rPr>
                        <m:sty m:val="p"/>
                      </m:rPr>
                      <a:rPr lang="en-US" sz="2000" b="0" i="1" smtClean="0">
                        <a:latin typeface="Cambria Math" panose="02040503050406030204" pitchFamily="18" charset="0"/>
                        <a:ea typeface="Arial"/>
                        <a:cs typeface="Arial"/>
                        <a:sym typeface="Arial"/>
                      </a:rPr>
                      <m:t>dA</m:t>
                    </m:r>
                    <m:r>
                      <a:rPr lang="en-US" sz="2000" b="0" i="1" smtClean="0">
                        <a:latin typeface="Cambria Math" panose="02040503050406030204" pitchFamily="18" charset="0"/>
                        <a:ea typeface="Arial"/>
                        <a:cs typeface="Arial"/>
                        <a:sym typeface="Arial"/>
                      </a:rPr>
                      <m:t>=</m:t>
                    </m:r>
                    <m:r>
                      <m:rPr>
                        <m:sty m:val="p"/>
                      </m:rPr>
                      <a:rPr lang="en-US" sz="2000" b="0" i="1" smtClean="0">
                        <a:latin typeface="Cambria Math" panose="02040503050406030204" pitchFamily="18" charset="0"/>
                        <a:ea typeface="Arial"/>
                        <a:cs typeface="Arial"/>
                        <a:sym typeface="Arial"/>
                      </a:rPr>
                      <m:t>l</m:t>
                    </m:r>
                    <m:r>
                      <a:rPr lang="en-US" sz="2000" b="0" i="1" smtClean="0">
                        <a:latin typeface="Cambria Math" panose="02040503050406030204" pitchFamily="18" charset="0"/>
                        <a:ea typeface="Arial"/>
                        <a:cs typeface="Arial"/>
                        <a:sym typeface="Arial"/>
                      </a:rPr>
                      <m:t> </m:t>
                    </m:r>
                    <m:r>
                      <m:rPr>
                        <m:sty m:val="p"/>
                      </m:rPr>
                      <a:rPr lang="en-US" sz="2000" b="0" i="1" smtClean="0">
                        <a:latin typeface="Cambria Math" panose="02040503050406030204" pitchFamily="18" charset="0"/>
                        <a:ea typeface="Arial"/>
                        <a:cs typeface="Arial"/>
                        <a:sym typeface="Arial"/>
                      </a:rPr>
                      <m:t>dr</m:t>
                    </m:r>
                  </m:oMath>
                </a14:m>
                <a:r>
                  <a:rPr lang="en-US" sz="2000" dirty="0">
                    <a:latin typeface="Atkinson Hyperlegible Next"/>
                    <a:ea typeface="Arial"/>
                    <a:cs typeface="Arial"/>
                    <a:sym typeface="Arial"/>
                  </a:rPr>
                  <a:t>:</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smtClean="0">
                              <a:latin typeface="Cambria Math" panose="02040503050406030204" pitchFamily="18" charset="0"/>
                              <a:sym typeface="Arial"/>
                            </a:rPr>
                          </m:ctrlPr>
                        </m:sSubPr>
                        <m:e>
                          <m:r>
                            <a:rPr lang="en-US" sz="2000" i="1" dirty="0" smtClean="0">
                              <a:latin typeface="Cambria Math" panose="02040503050406030204" pitchFamily="18" charset="0"/>
                              <a:sym typeface="Arial"/>
                            </a:rPr>
                            <m:t>𝛷</m:t>
                          </m:r>
                        </m:e>
                        <m:sub>
                          <m:r>
                            <a:rPr lang="en-US" sz="2000" i="1" dirty="0" smtClean="0">
                              <a:latin typeface="Cambria Math" panose="02040503050406030204" pitchFamily="18" charset="0"/>
                              <a:sym typeface="Arial"/>
                            </a:rPr>
                            <m:t>𝐵</m:t>
                          </m:r>
                        </m:sub>
                      </m:sSub>
                      <m:r>
                        <a:rPr lang="en-US" sz="2000" i="0" dirty="0" smtClean="0">
                          <a:latin typeface="Cambria Math" panose="02040503050406030204" pitchFamily="18" charset="0"/>
                          <a:sym typeface="Arial"/>
                        </a:rPr>
                        <m:t>=</m:t>
                      </m:r>
                      <m:nary>
                        <m:naryPr>
                          <m:limLoc m:val="subSup"/>
                          <m:grow m:val="on"/>
                          <m:ctrlPr>
                            <a:rPr lang="en-US" sz="2000" i="1" dirty="0" smtClean="0">
                              <a:latin typeface="Cambria Math" panose="02040503050406030204" pitchFamily="18" charset="0"/>
                              <a:sym typeface="Arial"/>
                            </a:rPr>
                          </m:ctrlPr>
                        </m:naryPr>
                        <m:sub>
                          <m:sSub>
                            <m:sSubPr>
                              <m:ctrlPr>
                                <a:rPr lang="en-US" sz="2000" i="1" dirty="0" smtClean="0">
                                  <a:latin typeface="Cambria Math" panose="02040503050406030204" pitchFamily="18" charset="0"/>
                                  <a:sym typeface="Arial"/>
                                </a:rPr>
                              </m:ctrlPr>
                            </m:sSubPr>
                            <m:e>
                              <m:r>
                                <a:rPr lang="en-US" sz="2000" i="1" dirty="0" smtClean="0">
                                  <a:latin typeface="Cambria Math" panose="02040503050406030204" pitchFamily="18" charset="0"/>
                                  <a:sym typeface="Arial"/>
                                </a:rPr>
                                <m:t>𝑟</m:t>
                              </m:r>
                            </m:e>
                            <m:sub>
                              <m:r>
                                <a:rPr lang="en-US" sz="2000" i="0" dirty="0" smtClean="0">
                                  <a:latin typeface="Cambria Math" panose="02040503050406030204" pitchFamily="18" charset="0"/>
                                  <a:sym typeface="Arial"/>
                                </a:rPr>
                                <m:t>1</m:t>
                              </m:r>
                            </m:sub>
                          </m:sSub>
                        </m:sub>
                        <m:sup>
                          <m:sSub>
                            <m:sSubPr>
                              <m:ctrlPr>
                                <a:rPr lang="en-US" sz="2000" i="1" dirty="0" smtClean="0">
                                  <a:latin typeface="Cambria Math" panose="02040503050406030204" pitchFamily="18" charset="0"/>
                                  <a:sym typeface="Arial"/>
                                </a:rPr>
                              </m:ctrlPr>
                            </m:sSubPr>
                            <m:e>
                              <m:r>
                                <a:rPr lang="en-US" sz="2000" i="1" dirty="0" smtClean="0">
                                  <a:latin typeface="Cambria Math" panose="02040503050406030204" pitchFamily="18" charset="0"/>
                                  <a:sym typeface="Arial"/>
                                </a:rPr>
                                <m:t>𝑟</m:t>
                              </m:r>
                            </m:e>
                            <m:sub>
                              <m:r>
                                <a:rPr lang="en-US" sz="2000" i="0" dirty="0" smtClean="0">
                                  <a:latin typeface="Cambria Math" panose="02040503050406030204" pitchFamily="18" charset="0"/>
                                  <a:sym typeface="Arial"/>
                                </a:rPr>
                                <m:t>2</m:t>
                              </m:r>
                            </m:sub>
                          </m:sSub>
                        </m:sup>
                        <m:e>
                          <m:d>
                            <m:dPr>
                              <m:ctrlPr>
                                <a:rPr lang="en-US" sz="2000" i="1" dirty="0" smtClean="0">
                                  <a:latin typeface="Cambria Math" panose="02040503050406030204" pitchFamily="18" charset="0"/>
                                  <a:sym typeface="Arial"/>
                                </a:rPr>
                              </m:ctrlPr>
                            </m:dPr>
                            <m:e>
                              <m:f>
                                <m:fPr>
                                  <m:ctrlPr>
                                    <a:rPr lang="en-US" sz="2000" i="1" dirty="0" smtClean="0">
                                      <a:latin typeface="Cambria Math" panose="02040503050406030204" pitchFamily="18" charset="0"/>
                                      <a:sym typeface="Arial"/>
                                    </a:rPr>
                                  </m:ctrlPr>
                                </m:fPr>
                                <m:num>
                                  <m:sSub>
                                    <m:sSubPr>
                                      <m:ctrlPr>
                                        <a:rPr lang="en-US" sz="2000" i="1" dirty="0" smtClean="0">
                                          <a:latin typeface="Cambria Math" panose="02040503050406030204" pitchFamily="18" charset="0"/>
                                          <a:sym typeface="Arial"/>
                                        </a:rPr>
                                      </m:ctrlPr>
                                    </m:sSubPr>
                                    <m:e>
                                      <m:r>
                                        <a:rPr lang="en-US" sz="2000" i="1" dirty="0" smtClean="0">
                                          <a:latin typeface="Cambria Math" panose="02040503050406030204" pitchFamily="18" charset="0"/>
                                          <a:sym typeface="Arial"/>
                                        </a:rPr>
                                        <m:t>𝜇</m:t>
                                      </m:r>
                                    </m:e>
                                    <m:sub>
                                      <m:r>
                                        <a:rPr lang="en-US" sz="2000" i="0" dirty="0" smtClean="0">
                                          <a:latin typeface="Cambria Math" panose="02040503050406030204" pitchFamily="18" charset="0"/>
                                          <a:sym typeface="Arial"/>
                                        </a:rPr>
                                        <m:t>0</m:t>
                                      </m:r>
                                    </m:sub>
                                  </m:sSub>
                                  <m:sSub>
                                    <m:sSubPr>
                                      <m:ctrlPr>
                                        <a:rPr lang="en-US" sz="2000" i="1" dirty="0" smtClean="0">
                                          <a:latin typeface="Cambria Math" panose="02040503050406030204" pitchFamily="18" charset="0"/>
                                          <a:sym typeface="Arial"/>
                                        </a:rPr>
                                      </m:ctrlPr>
                                    </m:sSubPr>
                                    <m:e>
                                      <m:r>
                                        <a:rPr lang="en-US" sz="2000" i="1" dirty="0" smtClean="0">
                                          <a:latin typeface="Cambria Math" panose="02040503050406030204" pitchFamily="18" charset="0"/>
                                          <a:sym typeface="Arial"/>
                                        </a:rPr>
                                        <m:t>𝐼</m:t>
                                      </m:r>
                                    </m:e>
                                    <m:sub>
                                      <m:r>
                                        <a:rPr lang="en-US" sz="2000" i="0" dirty="0" smtClean="0">
                                          <a:latin typeface="Cambria Math" panose="02040503050406030204" pitchFamily="18" charset="0"/>
                                          <a:sym typeface="Arial"/>
                                        </a:rPr>
                                        <m:t>1</m:t>
                                      </m:r>
                                    </m:sub>
                                  </m:sSub>
                                  <m:d>
                                    <m:dPr>
                                      <m:ctrlPr>
                                        <a:rPr lang="en-US" sz="2000" i="1" dirty="0" smtClean="0">
                                          <a:latin typeface="Cambria Math" panose="02040503050406030204" pitchFamily="18" charset="0"/>
                                          <a:sym typeface="Arial"/>
                                        </a:rPr>
                                      </m:ctrlPr>
                                    </m:dPr>
                                    <m:e>
                                      <m:r>
                                        <a:rPr lang="en-US" sz="2000" i="1" dirty="0" smtClean="0">
                                          <a:latin typeface="Cambria Math" panose="02040503050406030204" pitchFamily="18" charset="0"/>
                                          <a:sym typeface="Arial"/>
                                        </a:rPr>
                                        <m:t>𝑡</m:t>
                                      </m:r>
                                    </m:e>
                                  </m:d>
                                </m:num>
                                <m:den>
                                  <m:r>
                                    <a:rPr lang="en-US" sz="2000" i="0" dirty="0" smtClean="0">
                                      <a:latin typeface="Cambria Math" panose="02040503050406030204" pitchFamily="18" charset="0"/>
                                      <a:sym typeface="Arial"/>
                                    </a:rPr>
                                    <m:t>2</m:t>
                                  </m:r>
                                  <m:r>
                                    <a:rPr lang="en-US" sz="2000" i="1" dirty="0" smtClean="0">
                                      <a:latin typeface="Cambria Math" panose="02040503050406030204" pitchFamily="18" charset="0"/>
                                      <a:sym typeface="Arial"/>
                                    </a:rPr>
                                    <m:t>𝜋</m:t>
                                  </m:r>
                                  <m:r>
                                    <a:rPr lang="en-US" sz="2000" i="1" dirty="0" smtClean="0">
                                      <a:latin typeface="Cambria Math" panose="02040503050406030204" pitchFamily="18" charset="0"/>
                                      <a:sym typeface="Arial"/>
                                    </a:rPr>
                                    <m:t>𝑟</m:t>
                                  </m:r>
                                </m:den>
                              </m:f>
                            </m:e>
                          </m:d>
                        </m:e>
                      </m:nary>
                      <m:r>
                        <a:rPr lang="en-US" sz="2000" i="1" dirty="0" smtClean="0">
                          <a:latin typeface="Cambria Math" panose="02040503050406030204" pitchFamily="18" charset="0"/>
                          <a:sym typeface="Arial"/>
                        </a:rPr>
                        <m:t>𝑙</m:t>
                      </m:r>
                      <m:sSub>
                        <m:sSubPr>
                          <m:ctrlPr>
                            <a:rPr lang="en-US" sz="2000" i="1" dirty="0" smtClean="0">
                              <a:latin typeface="Cambria Math" panose="02040503050406030204" pitchFamily="18" charset="0"/>
                              <a:sym typeface="Arial"/>
                            </a:rPr>
                          </m:ctrlPr>
                        </m:sSubPr>
                        <m:e>
                          <m:r>
                            <a:rPr lang="en-US" sz="2000" i="1" dirty="0" smtClean="0">
                              <a:latin typeface="Cambria Math" panose="02040503050406030204" pitchFamily="18" charset="0"/>
                              <a:sym typeface="Arial"/>
                            </a:rPr>
                            <m:t>𝑑</m:t>
                          </m:r>
                        </m:e>
                        <m:sub>
                          <m:r>
                            <a:rPr lang="en-US" sz="2000" i="1" dirty="0" smtClean="0">
                              <a:latin typeface="Cambria Math" panose="02040503050406030204" pitchFamily="18" charset="0"/>
                              <a:sym typeface="Arial"/>
                            </a:rPr>
                            <m:t>𝑟</m:t>
                          </m:r>
                        </m:sub>
                      </m:sSub>
                    </m:oMath>
                  </m:oMathPara>
                </a14:m>
                <a:endParaRPr lang="en-US" sz="2000" dirty="0">
                  <a:latin typeface="Atkinson Hyperlegible Next"/>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𝛷</m:t>
                          </m:r>
                        </m:e>
                        <m:sub>
                          <m:r>
                            <a:rPr lang="en-US" sz="2000" i="1" dirty="0">
                              <a:latin typeface="Cambria Math" panose="02040503050406030204" pitchFamily="18" charset="0"/>
                              <a:sym typeface="Arial"/>
                            </a:rPr>
                            <m:t>𝐵</m:t>
                          </m:r>
                        </m:sub>
                      </m:sSub>
                      <m:r>
                        <a:rPr lang="en-US" sz="2000" dirty="0">
                          <a:latin typeface="Cambria Math" panose="02040503050406030204" pitchFamily="18" charset="0"/>
                          <a:sym typeface="Arial"/>
                        </a:rPr>
                        <m:t>=</m:t>
                      </m:r>
                      <m:f>
                        <m:fPr>
                          <m:ctrlPr>
                            <a:rPr lang="en-US" sz="2000" i="1" dirty="0" smtClean="0">
                              <a:latin typeface="Cambria Math" panose="02040503050406030204" pitchFamily="18" charset="0"/>
                              <a:sym typeface="Arial"/>
                            </a:rPr>
                          </m:ctrlPr>
                        </m:fPr>
                        <m:num>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𝜇</m:t>
                              </m:r>
                            </m:e>
                            <m:sub>
                              <m:r>
                                <a:rPr lang="en-US" sz="2000" dirty="0">
                                  <a:latin typeface="Cambria Math" panose="02040503050406030204" pitchFamily="18" charset="0"/>
                                  <a:sym typeface="Arial"/>
                                </a:rPr>
                                <m:t>0</m:t>
                              </m:r>
                            </m:sub>
                          </m:sSub>
                          <m:sSub>
                            <m:sSubPr>
                              <m:ctrlPr>
                                <a:rPr lang="en-US" sz="2000" i="1" dirty="0">
                                  <a:latin typeface="Cambria Math" panose="02040503050406030204" pitchFamily="18" charset="0"/>
                                  <a:sym typeface="Arial"/>
                                </a:rPr>
                              </m:ctrlPr>
                            </m:sSubPr>
                            <m:e>
                              <m:r>
                                <m:rPr>
                                  <m:sty m:val="p"/>
                                </m:rPr>
                                <a:rPr lang="en-US" sz="2000" b="0" i="1" dirty="0" smtClean="0">
                                  <a:latin typeface="Cambria Math" panose="02040503050406030204" pitchFamily="18" charset="0"/>
                                  <a:sym typeface="Arial"/>
                                </a:rPr>
                                <m:t>l</m:t>
                              </m:r>
                              <m:r>
                                <a:rPr lang="en-US" sz="2000" i="1" dirty="0">
                                  <a:latin typeface="Cambria Math" panose="02040503050406030204" pitchFamily="18" charset="0"/>
                                  <a:sym typeface="Arial"/>
                                </a:rPr>
                                <m:t>𝐼</m:t>
                              </m:r>
                            </m:e>
                            <m:sub>
                              <m:r>
                                <a:rPr lang="en-US" sz="2000" dirty="0">
                                  <a:latin typeface="Cambria Math" panose="02040503050406030204" pitchFamily="18" charset="0"/>
                                  <a:sym typeface="Arial"/>
                                </a:rPr>
                                <m:t>1</m:t>
                              </m:r>
                            </m:sub>
                          </m:sSub>
                          <m:d>
                            <m:dPr>
                              <m:ctrlPr>
                                <a:rPr lang="en-US" sz="2000" i="1" dirty="0">
                                  <a:latin typeface="Cambria Math" panose="02040503050406030204" pitchFamily="18" charset="0"/>
                                  <a:sym typeface="Arial"/>
                                </a:rPr>
                              </m:ctrlPr>
                            </m:dPr>
                            <m:e>
                              <m:r>
                                <a:rPr lang="en-US" sz="2000" i="1" dirty="0">
                                  <a:latin typeface="Cambria Math" panose="02040503050406030204" pitchFamily="18" charset="0"/>
                                  <a:sym typeface="Arial"/>
                                </a:rPr>
                                <m:t>𝑡</m:t>
                              </m:r>
                            </m:e>
                          </m:d>
                        </m:num>
                        <m:den>
                          <m:r>
                            <a:rPr lang="en-US" sz="2000" dirty="0">
                              <a:latin typeface="Cambria Math" panose="02040503050406030204" pitchFamily="18" charset="0"/>
                              <a:sym typeface="Arial"/>
                            </a:rPr>
                            <m:t>2</m:t>
                          </m:r>
                          <m:r>
                            <a:rPr lang="en-US" sz="2000" i="1" dirty="0">
                              <a:latin typeface="Cambria Math" panose="02040503050406030204" pitchFamily="18" charset="0"/>
                              <a:sym typeface="Arial"/>
                            </a:rPr>
                            <m:t>𝜋</m:t>
                          </m:r>
                        </m:den>
                      </m:f>
                      <m:nary>
                        <m:naryPr>
                          <m:limLoc m:val="subSup"/>
                          <m:grow m:val="on"/>
                          <m:ctrlPr>
                            <a:rPr lang="en-US" sz="2000" i="1" dirty="0">
                              <a:latin typeface="Cambria Math" panose="02040503050406030204" pitchFamily="18" charset="0"/>
                              <a:sym typeface="Arial"/>
                            </a:rPr>
                          </m:ctrlPr>
                        </m:naryPr>
                        <m:sub>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𝑟</m:t>
                              </m:r>
                            </m:e>
                            <m:sub>
                              <m:r>
                                <a:rPr lang="en-US" sz="2000" dirty="0">
                                  <a:latin typeface="Cambria Math" panose="02040503050406030204" pitchFamily="18" charset="0"/>
                                  <a:sym typeface="Arial"/>
                                </a:rPr>
                                <m:t>1</m:t>
                              </m:r>
                            </m:sub>
                          </m:sSub>
                        </m:sub>
                        <m:sup>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𝑟</m:t>
                              </m:r>
                            </m:e>
                            <m:sub>
                              <m:r>
                                <a:rPr lang="en-US" sz="2000" dirty="0">
                                  <a:latin typeface="Cambria Math" panose="02040503050406030204" pitchFamily="18" charset="0"/>
                                  <a:sym typeface="Arial"/>
                                </a:rPr>
                                <m:t>2</m:t>
                              </m:r>
                            </m:sub>
                          </m:sSub>
                        </m:sup>
                        <m:e>
                          <m:f>
                            <m:fPr>
                              <m:ctrlPr>
                                <a:rPr lang="en-US" sz="2000" i="1" dirty="0" smtClean="0">
                                  <a:latin typeface="Cambria Math" panose="02040503050406030204" pitchFamily="18" charset="0"/>
                                  <a:sym typeface="Arial"/>
                                </a:rPr>
                              </m:ctrlPr>
                            </m:fPr>
                            <m:num>
                              <m:r>
                                <a:rPr lang="en-US" sz="2000" b="0" i="1" dirty="0" smtClean="0">
                                  <a:latin typeface="Cambria Math" panose="02040503050406030204" pitchFamily="18" charset="0"/>
                                  <a:sym typeface="Arial"/>
                                </a:rPr>
                                <m:t>1</m:t>
                              </m:r>
                            </m:num>
                            <m:den>
                              <m:r>
                                <m:rPr>
                                  <m:sty m:val="p"/>
                                </m:rPr>
                                <a:rPr lang="en-US" sz="2000" b="0" i="1" dirty="0" smtClean="0">
                                  <a:latin typeface="Cambria Math" panose="02040503050406030204" pitchFamily="18" charset="0"/>
                                  <a:sym typeface="Arial"/>
                                </a:rPr>
                                <m:t>r</m:t>
                              </m:r>
                            </m:den>
                          </m:f>
                          <m:r>
                            <a:rPr lang="en-US" sz="2000" b="0" i="1" dirty="0" smtClean="0">
                              <a:latin typeface="Cambria Math" panose="02040503050406030204" pitchFamily="18" charset="0"/>
                              <a:sym typeface="Arial"/>
                            </a:rPr>
                            <m:t> </m:t>
                          </m:r>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𝑑</m:t>
                              </m:r>
                            </m:e>
                            <m:sub>
                              <m:r>
                                <a:rPr lang="en-US" sz="2000" i="1" dirty="0">
                                  <a:latin typeface="Cambria Math" panose="02040503050406030204" pitchFamily="18" charset="0"/>
                                  <a:sym typeface="Arial"/>
                                </a:rPr>
                                <m:t>𝑟</m:t>
                              </m:r>
                            </m:sub>
                          </m:sSub>
                        </m:e>
                      </m:nary>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𝛷</m:t>
                          </m:r>
                        </m:e>
                        <m:sub>
                          <m:r>
                            <a:rPr lang="en-US" sz="2000" i="1" dirty="0">
                              <a:latin typeface="Cambria Math" panose="02040503050406030204" pitchFamily="18" charset="0"/>
                              <a:sym typeface="Arial"/>
                            </a:rPr>
                            <m:t>𝐵</m:t>
                          </m:r>
                        </m:sub>
                      </m:sSub>
                      <m:r>
                        <a:rPr lang="en-US" sz="2000" dirty="0">
                          <a:latin typeface="Cambria Math" panose="02040503050406030204" pitchFamily="18" charset="0"/>
                          <a:sym typeface="Arial"/>
                        </a:rPr>
                        <m:t>=</m:t>
                      </m:r>
                      <m:f>
                        <m:fPr>
                          <m:ctrlPr>
                            <a:rPr lang="en-US" sz="2000" i="1" dirty="0">
                              <a:latin typeface="Cambria Math" panose="02040503050406030204" pitchFamily="18" charset="0"/>
                              <a:sym typeface="Arial"/>
                            </a:rPr>
                          </m:ctrlPr>
                        </m:fPr>
                        <m:num>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𝜇</m:t>
                              </m:r>
                            </m:e>
                            <m:sub>
                              <m:r>
                                <a:rPr lang="en-US" sz="2000" dirty="0">
                                  <a:latin typeface="Cambria Math" panose="02040503050406030204" pitchFamily="18" charset="0"/>
                                  <a:sym typeface="Arial"/>
                                </a:rPr>
                                <m:t>0</m:t>
                              </m:r>
                            </m:sub>
                          </m:sSub>
                          <m:sSub>
                            <m:sSubPr>
                              <m:ctrlPr>
                                <a:rPr lang="en-US" sz="2000" i="1" dirty="0">
                                  <a:latin typeface="Cambria Math" panose="02040503050406030204" pitchFamily="18" charset="0"/>
                                  <a:sym typeface="Arial"/>
                                </a:rPr>
                              </m:ctrlPr>
                            </m:sSubPr>
                            <m:e>
                              <m:r>
                                <m:rPr>
                                  <m:sty m:val="p"/>
                                </m:rPr>
                                <a:rPr lang="en-US" sz="2000" i="1" dirty="0">
                                  <a:latin typeface="Cambria Math" panose="02040503050406030204" pitchFamily="18" charset="0"/>
                                  <a:sym typeface="Arial"/>
                                </a:rPr>
                                <m:t>l</m:t>
                              </m:r>
                              <m:r>
                                <a:rPr lang="en-US" sz="2000" i="1" dirty="0">
                                  <a:latin typeface="Cambria Math" panose="02040503050406030204" pitchFamily="18" charset="0"/>
                                  <a:sym typeface="Arial"/>
                                </a:rPr>
                                <m:t>𝐼</m:t>
                              </m:r>
                            </m:e>
                            <m:sub>
                              <m:r>
                                <a:rPr lang="en-US" sz="2000" dirty="0">
                                  <a:latin typeface="Cambria Math" panose="02040503050406030204" pitchFamily="18" charset="0"/>
                                  <a:sym typeface="Arial"/>
                                </a:rPr>
                                <m:t>1</m:t>
                              </m:r>
                            </m:sub>
                          </m:sSub>
                          <m:d>
                            <m:dPr>
                              <m:ctrlPr>
                                <a:rPr lang="en-US" sz="2000" i="1" dirty="0">
                                  <a:latin typeface="Cambria Math" panose="02040503050406030204" pitchFamily="18" charset="0"/>
                                  <a:sym typeface="Arial"/>
                                </a:rPr>
                              </m:ctrlPr>
                            </m:dPr>
                            <m:e>
                              <m:r>
                                <a:rPr lang="en-US" sz="2000" i="1" dirty="0">
                                  <a:latin typeface="Cambria Math" panose="02040503050406030204" pitchFamily="18" charset="0"/>
                                  <a:sym typeface="Arial"/>
                                </a:rPr>
                                <m:t>𝑡</m:t>
                              </m:r>
                            </m:e>
                          </m:d>
                        </m:num>
                        <m:den>
                          <m:r>
                            <a:rPr lang="en-US" sz="2000" dirty="0">
                              <a:latin typeface="Cambria Math" panose="02040503050406030204" pitchFamily="18" charset="0"/>
                              <a:sym typeface="Arial"/>
                            </a:rPr>
                            <m:t>2</m:t>
                          </m:r>
                          <m:r>
                            <a:rPr lang="en-US" sz="2000" i="1" dirty="0">
                              <a:latin typeface="Cambria Math" panose="02040503050406030204" pitchFamily="18" charset="0"/>
                              <a:sym typeface="Arial"/>
                            </a:rPr>
                            <m:t>𝜋</m:t>
                          </m:r>
                          <m:r>
                            <a:rPr lang="en-US" sz="2000" i="1" dirty="0">
                              <a:latin typeface="Cambria Math" panose="02040503050406030204" pitchFamily="18" charset="0"/>
                              <a:sym typeface="Arial"/>
                            </a:rPr>
                            <m:t>𝑟</m:t>
                          </m:r>
                        </m:den>
                      </m:f>
                      <m:func>
                        <m:funcPr>
                          <m:ctrlPr>
                            <a:rPr lang="en-US" sz="2000" i="1" dirty="0" smtClean="0">
                              <a:latin typeface="Cambria Math" panose="02040503050406030204" pitchFamily="18" charset="0"/>
                              <a:sym typeface="Arial"/>
                            </a:rPr>
                          </m:ctrlPr>
                        </m:funcPr>
                        <m:fName>
                          <m:r>
                            <m:rPr>
                              <m:sty m:val="p"/>
                            </m:rPr>
                            <a:rPr lang="en-US" sz="2000" i="0" dirty="0" smtClean="0">
                              <a:latin typeface="Cambria Math" panose="02040503050406030204" pitchFamily="18" charset="0"/>
                              <a:sym typeface="Arial"/>
                            </a:rPr>
                            <m:t>ln</m:t>
                          </m:r>
                        </m:fName>
                        <m:e>
                          <m:f>
                            <m:fPr>
                              <m:ctrlPr>
                                <a:rPr lang="en-US" sz="2000" i="1" dirty="0" smtClean="0">
                                  <a:latin typeface="Cambria Math" panose="02040503050406030204" pitchFamily="18" charset="0"/>
                                  <a:sym typeface="Arial"/>
                                </a:rPr>
                              </m:ctrlPr>
                            </m:fPr>
                            <m:num>
                              <m:sSub>
                                <m:sSubPr>
                                  <m:ctrlPr>
                                    <a:rPr lang="en-US" sz="2000" i="1" dirty="0" smtClean="0">
                                      <a:latin typeface="Cambria Math" panose="02040503050406030204" pitchFamily="18" charset="0"/>
                                      <a:sym typeface="Arial"/>
                                    </a:rPr>
                                  </m:ctrlPr>
                                </m:sSubPr>
                                <m:e>
                                  <m:r>
                                    <m:rPr>
                                      <m:sty m:val="p"/>
                                    </m:rPr>
                                    <a:rPr lang="en-US" sz="2000" b="0" i="1" dirty="0" smtClean="0">
                                      <a:latin typeface="Cambria Math" panose="02040503050406030204" pitchFamily="18" charset="0"/>
                                      <a:sym typeface="Arial"/>
                                    </a:rPr>
                                    <m:t>r</m:t>
                                  </m:r>
                                </m:e>
                                <m:sub>
                                  <m:r>
                                    <a:rPr lang="en-US" sz="2000" b="0" i="1" dirty="0" smtClean="0">
                                      <a:latin typeface="Cambria Math" panose="02040503050406030204" pitchFamily="18" charset="0"/>
                                      <a:sym typeface="Arial"/>
                                    </a:rPr>
                                    <m:t>2</m:t>
                                  </m:r>
                                </m:sub>
                              </m:sSub>
                            </m:num>
                            <m:den>
                              <m:sSub>
                                <m:sSubPr>
                                  <m:ctrlPr>
                                    <a:rPr lang="en-US" sz="2000" i="1" dirty="0" smtClean="0">
                                      <a:latin typeface="Cambria Math" panose="02040503050406030204" pitchFamily="18" charset="0"/>
                                      <a:sym typeface="Arial"/>
                                    </a:rPr>
                                  </m:ctrlPr>
                                </m:sSubPr>
                                <m:e>
                                  <m:r>
                                    <m:rPr>
                                      <m:sty m:val="p"/>
                                    </m:rPr>
                                    <a:rPr lang="en-US" sz="2000" b="0" i="1" dirty="0" smtClean="0">
                                      <a:latin typeface="Cambria Math" panose="02040503050406030204" pitchFamily="18" charset="0"/>
                                      <a:sym typeface="Arial"/>
                                    </a:rPr>
                                    <m:t>r</m:t>
                                  </m:r>
                                </m:e>
                                <m:sub>
                                  <m:r>
                                    <a:rPr lang="en-US" sz="2000" b="0" i="1" dirty="0" smtClean="0">
                                      <a:latin typeface="Cambria Math" panose="02040503050406030204" pitchFamily="18" charset="0"/>
                                      <a:sym typeface="Arial"/>
                                    </a:rPr>
                                    <m:t>1</m:t>
                                  </m:r>
                                </m:sub>
                              </m:sSub>
                            </m:den>
                          </m:f>
                        </m:e>
                      </m:func>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13396D8D-BDCA-968E-907C-556491E12358}"/>
                  </a:ext>
                </a:extLst>
              </p:cNvPr>
              <p:cNvSpPr txBox="1">
                <a:spLocks noGrp="1" noRot="1" noChangeAspect="1" noMove="1" noResize="1" noEditPoints="1" noAdjustHandles="1" noChangeArrowheads="1" noChangeShapeType="1" noTextEdit="1"/>
              </p:cNvSpPr>
              <p:nvPr>
                <p:ph type="body" idx="1"/>
              </p:nvPr>
            </p:nvSpPr>
            <p:spPr>
              <a:xfrm>
                <a:off x="376810" y="1334279"/>
                <a:ext cx="6522754" cy="5074536"/>
              </a:xfrm>
              <a:prstGeom prst="rect">
                <a:avLst/>
              </a:prstGeom>
              <a:blipFill>
                <a:blip r:embed="rId3"/>
                <a:stretch>
                  <a:fillRect l="-1028" t="-72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3002FC6-E3E8-572A-B600-7CBBCF1C373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308B95C-0BBF-CC82-9110-FC475C78CD7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Interferences - Inductive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3888AFC-D075-BD8D-DD0B-338D1F71CF3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95F8CA8-84D8-8DFA-EBE3-24C97D9167E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523BD92-7754-557F-8C94-5FB9E703BDF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8CD042B-EC95-EC00-0937-18D32098E3D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93941CD-DC0D-2212-5B6D-10F40B533C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83B8BBB-B406-ECA8-EF03-B57F4AA9A15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Diagram: A vertical source wire carries current I sub 1 of t upward, surrounded by circular magnetic field lines, B of r, t equals mu naught I sub 1 of t over 2 pi r, in the phi-hat direction. To its right, a rectangular victim loop of height l spans radial distances r sub 1 to r sub 2 from the wire. The field passes into the page through the loop area S, with area element d A equals d r d z.">
            <a:extLst>
              <a:ext uri="{FF2B5EF4-FFF2-40B4-BE49-F238E27FC236}">
                <a16:creationId xmlns:a16="http://schemas.microsoft.com/office/drawing/2014/main" id="{D302A98A-CEE1-9372-173D-59C903A10761}"/>
              </a:ext>
            </a:extLst>
          </p:cNvPr>
          <p:cNvPicPr>
            <a:picLocks noChangeAspect="1"/>
          </p:cNvPicPr>
          <p:nvPr/>
        </p:nvPicPr>
        <p:blipFill>
          <a:blip r:embed="rId5">
            <a:extLst>
              <a:ext uri="{96DAC541-7B7A-43D3-8B79-37D633B846F1}">
                <asvg:svgBlip xmlns:asvg="http://schemas.microsoft.com/office/drawing/2016/SVG/main" r:embed="rId6"/>
              </a:ext>
            </a:extLst>
          </a:blip>
          <a:srcRect/>
          <a:stretch/>
        </p:blipFill>
        <p:spPr>
          <a:xfrm>
            <a:off x="6899564" y="1341110"/>
            <a:ext cx="5077158" cy="4175778"/>
          </a:xfrm>
          <a:prstGeom prst="rect">
            <a:avLst/>
          </a:prstGeom>
        </p:spPr>
      </p:pic>
    </p:spTree>
    <p:extLst>
      <p:ext uri="{BB962C8B-B14F-4D97-AF65-F5344CB8AC3E}">
        <p14:creationId xmlns:p14="http://schemas.microsoft.com/office/powerpoint/2010/main" val="4690886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CB3F5C-6E8E-B82B-51A6-A25B573E457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E5C311E-7499-8CF3-2861-156FCBB5C636}"/>
                  </a:ext>
                </a:extLst>
              </p:cNvPr>
              <p:cNvSpPr txBox="1">
                <a:spLocks noGrp="1"/>
              </p:cNvSpPr>
              <p:nvPr>
                <p:ph type="body" idx="1"/>
              </p:nvPr>
            </p:nvSpPr>
            <p:spPr>
              <a:xfrm>
                <a:off x="376810" y="1334279"/>
                <a:ext cx="6522754" cy="5074536"/>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Faraday’s Law states that the induced voltage (EMF) in a closed loop is equal to the negative rate of change of magnetic flux through the loop: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cs typeface="Arial"/>
                              <a:sym typeface="Arial"/>
                            </a:rPr>
                          </m:ctrlPr>
                        </m:sSubPr>
                        <m:e>
                          <m:r>
                            <m:rPr>
                              <m:sty m:val="p"/>
                            </m:rPr>
                            <a:rPr lang="en-US" sz="2000" i="1">
                              <a:latin typeface="Cambria Math" panose="02040503050406030204" pitchFamily="18" charset="0"/>
                              <a:cs typeface="Arial"/>
                              <a:sym typeface="Arial"/>
                            </a:rPr>
                            <m:t>V</m:t>
                          </m:r>
                        </m:e>
                        <m:sub>
                          <m:r>
                            <m:rPr>
                              <m:sty m:val="p"/>
                            </m:rPr>
                            <a:rPr lang="en-US" sz="2000" i="1">
                              <a:latin typeface="Cambria Math" panose="02040503050406030204" pitchFamily="18" charset="0"/>
                              <a:cs typeface="Arial"/>
                              <a:sym typeface="Arial"/>
                            </a:rPr>
                            <m:t>noise</m:t>
                          </m:r>
                        </m:sub>
                      </m:sSub>
                      <m:r>
                        <a:rPr lang="en-US" sz="2000" i="1">
                          <a:latin typeface="Cambria Math" panose="02040503050406030204" pitchFamily="18" charset="0"/>
                          <a:cs typeface="Arial"/>
                          <a:sym typeface="Arial"/>
                        </a:rPr>
                        <m:t>=−</m:t>
                      </m:r>
                      <m:f>
                        <m:fPr>
                          <m:ctrlPr>
                            <a:rPr lang="en-US" sz="2000" i="1">
                              <a:latin typeface="Cambria Math" panose="02040503050406030204" pitchFamily="18" charset="0"/>
                              <a:cs typeface="Arial"/>
                              <a:sym typeface="Arial"/>
                            </a:rPr>
                          </m:ctrlPr>
                        </m:fPr>
                        <m:num>
                          <m:r>
                            <m:rPr>
                              <m:sty m:val="p"/>
                            </m:rPr>
                            <a:rPr lang="en-US" sz="2000" i="1">
                              <a:latin typeface="Cambria Math" panose="02040503050406030204" pitchFamily="18" charset="0"/>
                              <a:cs typeface="Arial"/>
                              <a:sym typeface="Arial"/>
                            </a:rPr>
                            <m:t>d</m:t>
                          </m:r>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𝛷</m:t>
                              </m:r>
                            </m:e>
                            <m:sub>
                              <m:r>
                                <a:rPr lang="en-US" sz="2000" i="1" dirty="0">
                                  <a:latin typeface="Cambria Math" panose="02040503050406030204" pitchFamily="18" charset="0"/>
                                  <a:sym typeface="Arial"/>
                                </a:rPr>
                                <m:t>𝐵</m:t>
                              </m:r>
                            </m:sub>
                          </m:sSub>
                        </m:num>
                        <m:den>
                          <m:r>
                            <m:rPr>
                              <m:sty m:val="p"/>
                            </m:rPr>
                            <a:rPr lang="en-US" sz="2000" i="1">
                              <a:latin typeface="Cambria Math" panose="02040503050406030204" pitchFamily="18" charset="0"/>
                              <a:cs typeface="Arial"/>
                              <a:sym typeface="Arial"/>
                            </a:rPr>
                            <m:t>dt</m:t>
                          </m:r>
                        </m:den>
                      </m:f>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Substituting we get: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cs typeface="Arial"/>
                              <a:sym typeface="Arial"/>
                            </a:rPr>
                          </m:ctrlPr>
                        </m:sSubPr>
                        <m:e>
                          <m:r>
                            <m:rPr>
                              <m:sty m:val="p"/>
                            </m:rPr>
                            <a:rPr lang="en-US" sz="2000" i="1">
                              <a:latin typeface="Cambria Math" panose="02040503050406030204" pitchFamily="18" charset="0"/>
                              <a:cs typeface="Arial"/>
                              <a:sym typeface="Arial"/>
                            </a:rPr>
                            <m:t>V</m:t>
                          </m:r>
                        </m:e>
                        <m:sub>
                          <m:r>
                            <m:rPr>
                              <m:sty m:val="p"/>
                            </m:rPr>
                            <a:rPr lang="en-US" sz="2000" i="1">
                              <a:latin typeface="Cambria Math" panose="02040503050406030204" pitchFamily="18" charset="0"/>
                              <a:cs typeface="Arial"/>
                              <a:sym typeface="Arial"/>
                            </a:rPr>
                            <m:t>noise</m:t>
                          </m:r>
                        </m:sub>
                      </m:sSub>
                      <m:r>
                        <a:rPr lang="en-US" sz="2000" i="1">
                          <a:latin typeface="Cambria Math" panose="02040503050406030204" pitchFamily="18" charset="0"/>
                          <a:cs typeface="Arial"/>
                          <a:sym typeface="Arial"/>
                        </a:rPr>
                        <m:t>=−</m:t>
                      </m:r>
                      <m:f>
                        <m:fPr>
                          <m:ctrlPr>
                            <a:rPr lang="en-US" sz="2000" i="1" dirty="0">
                              <a:latin typeface="Cambria Math" panose="02040503050406030204" pitchFamily="18" charset="0"/>
                              <a:sym typeface="Arial"/>
                            </a:rPr>
                          </m:ctrlPr>
                        </m:fPr>
                        <m:num>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𝜇</m:t>
                              </m:r>
                            </m:e>
                            <m:sub>
                              <m:r>
                                <a:rPr lang="en-US" sz="2000" dirty="0">
                                  <a:latin typeface="Cambria Math" panose="02040503050406030204" pitchFamily="18" charset="0"/>
                                  <a:sym typeface="Arial"/>
                                </a:rPr>
                                <m:t>0</m:t>
                              </m:r>
                            </m:sub>
                          </m:sSub>
                          <m:r>
                            <m:rPr>
                              <m:sty m:val="p"/>
                            </m:rPr>
                            <a:rPr lang="en-US" sz="2000" b="0" i="1" dirty="0" smtClean="0">
                              <a:latin typeface="Cambria Math" panose="02040503050406030204" pitchFamily="18" charset="0"/>
                              <a:sym typeface="Arial"/>
                            </a:rPr>
                            <m:t>l</m:t>
                          </m:r>
                        </m:num>
                        <m:den>
                          <m:r>
                            <a:rPr lang="en-US" sz="2000" dirty="0">
                              <a:latin typeface="Cambria Math" panose="02040503050406030204" pitchFamily="18" charset="0"/>
                              <a:sym typeface="Arial"/>
                            </a:rPr>
                            <m:t>2</m:t>
                          </m:r>
                          <m:r>
                            <a:rPr lang="en-US" sz="2000" i="1" dirty="0">
                              <a:latin typeface="Cambria Math" panose="02040503050406030204" pitchFamily="18" charset="0"/>
                              <a:sym typeface="Arial"/>
                            </a:rPr>
                            <m:t>𝜋</m:t>
                          </m:r>
                          <m:r>
                            <a:rPr lang="en-US" sz="2000" i="1" dirty="0">
                              <a:latin typeface="Cambria Math" panose="02040503050406030204" pitchFamily="18" charset="0"/>
                              <a:sym typeface="Arial"/>
                            </a:rPr>
                            <m:t>𝑟</m:t>
                          </m:r>
                        </m:den>
                      </m:f>
                      <m:func>
                        <m:funcPr>
                          <m:ctrlPr>
                            <a:rPr lang="en-US" sz="2000" i="1" dirty="0">
                              <a:latin typeface="Cambria Math" panose="02040503050406030204" pitchFamily="18" charset="0"/>
                              <a:sym typeface="Arial"/>
                            </a:rPr>
                          </m:ctrlPr>
                        </m:funcPr>
                        <m:fName>
                          <m:r>
                            <m:rPr>
                              <m:sty m:val="p"/>
                            </m:rPr>
                            <a:rPr lang="en-US" sz="2000" dirty="0">
                              <a:latin typeface="Cambria Math" panose="02040503050406030204" pitchFamily="18" charset="0"/>
                              <a:sym typeface="Arial"/>
                            </a:rPr>
                            <m:t>ln</m:t>
                          </m:r>
                        </m:fName>
                        <m:e>
                          <m:f>
                            <m:fPr>
                              <m:ctrlPr>
                                <a:rPr lang="en-US" sz="2000" i="1" dirty="0">
                                  <a:latin typeface="Cambria Math" panose="02040503050406030204" pitchFamily="18" charset="0"/>
                                  <a:sym typeface="Arial"/>
                                </a:rPr>
                              </m:ctrlPr>
                            </m:fPr>
                            <m:num>
                              <m:sSub>
                                <m:sSubPr>
                                  <m:ctrlPr>
                                    <a:rPr lang="en-US" sz="2000" i="1" dirty="0">
                                      <a:latin typeface="Cambria Math" panose="02040503050406030204" pitchFamily="18" charset="0"/>
                                      <a:sym typeface="Arial"/>
                                    </a:rPr>
                                  </m:ctrlPr>
                                </m:sSubPr>
                                <m:e>
                                  <m:r>
                                    <m:rPr>
                                      <m:sty m:val="p"/>
                                    </m:rPr>
                                    <a:rPr lang="en-US" sz="2000" i="1" dirty="0">
                                      <a:latin typeface="Cambria Math" panose="02040503050406030204" pitchFamily="18" charset="0"/>
                                      <a:sym typeface="Arial"/>
                                    </a:rPr>
                                    <m:t>r</m:t>
                                  </m:r>
                                </m:e>
                                <m:sub>
                                  <m:r>
                                    <a:rPr lang="en-US" sz="2000" i="1" dirty="0">
                                      <a:latin typeface="Cambria Math" panose="02040503050406030204" pitchFamily="18" charset="0"/>
                                      <a:sym typeface="Arial"/>
                                    </a:rPr>
                                    <m:t>2</m:t>
                                  </m:r>
                                </m:sub>
                              </m:sSub>
                            </m:num>
                            <m:den>
                              <m:sSub>
                                <m:sSubPr>
                                  <m:ctrlPr>
                                    <a:rPr lang="en-US" sz="2000" i="1" dirty="0">
                                      <a:latin typeface="Cambria Math" panose="02040503050406030204" pitchFamily="18" charset="0"/>
                                      <a:sym typeface="Arial"/>
                                    </a:rPr>
                                  </m:ctrlPr>
                                </m:sSubPr>
                                <m:e>
                                  <m:r>
                                    <m:rPr>
                                      <m:sty m:val="p"/>
                                    </m:rPr>
                                    <a:rPr lang="en-US" sz="2000" i="1" dirty="0">
                                      <a:latin typeface="Cambria Math" panose="02040503050406030204" pitchFamily="18" charset="0"/>
                                      <a:sym typeface="Arial"/>
                                    </a:rPr>
                                    <m:t>r</m:t>
                                  </m:r>
                                </m:e>
                                <m:sub>
                                  <m:r>
                                    <a:rPr lang="en-US" sz="2000" i="1" dirty="0">
                                      <a:latin typeface="Cambria Math" panose="02040503050406030204" pitchFamily="18" charset="0"/>
                                      <a:sym typeface="Arial"/>
                                    </a:rPr>
                                    <m:t>1</m:t>
                                  </m:r>
                                </m:sub>
                              </m:sSub>
                            </m:den>
                          </m:f>
                          <m:r>
                            <a:rPr lang="en-US" sz="2000" i="1" dirty="0" smtClean="0">
                              <a:latin typeface="Cambria Math" panose="02040503050406030204" pitchFamily="18" charset="0"/>
                              <a:ea typeface="Cambria Math" panose="02040503050406030204" pitchFamily="18" charset="0"/>
                              <a:sym typeface="Arial"/>
                            </a:rPr>
                            <m:t>×</m:t>
                          </m:r>
                          <m:f>
                            <m:fPr>
                              <m:ctrlPr>
                                <a:rPr lang="en-US" sz="2000" i="1">
                                  <a:latin typeface="Cambria Math" panose="02040503050406030204" pitchFamily="18" charset="0"/>
                                  <a:cs typeface="Arial"/>
                                  <a:sym typeface="Arial"/>
                                </a:rPr>
                              </m:ctrlPr>
                            </m:fPr>
                            <m:num>
                              <m:r>
                                <m:rPr>
                                  <m:sty m:val="p"/>
                                </m:rPr>
                                <a:rPr lang="en-US" sz="2000" i="1">
                                  <a:latin typeface="Cambria Math" panose="02040503050406030204" pitchFamily="18" charset="0"/>
                                  <a:cs typeface="Arial"/>
                                  <a:sym typeface="Arial"/>
                                </a:rPr>
                                <m:t>d</m:t>
                              </m:r>
                              <m:sSub>
                                <m:sSubPr>
                                  <m:ctrlPr>
                                    <a:rPr lang="en-US" sz="2000" i="1" dirty="0">
                                      <a:latin typeface="Cambria Math" panose="02040503050406030204" pitchFamily="18" charset="0"/>
                                      <a:sym typeface="Arial"/>
                                    </a:rPr>
                                  </m:ctrlPr>
                                </m:sSubPr>
                                <m:e>
                                  <m:r>
                                    <m:rPr>
                                      <m:sty m:val="p"/>
                                    </m:rPr>
                                    <a:rPr lang="en-US" sz="2000" b="0" i="1" dirty="0" smtClean="0">
                                      <a:latin typeface="Cambria Math" panose="02040503050406030204" pitchFamily="18" charset="0"/>
                                      <a:sym typeface="Arial"/>
                                    </a:rPr>
                                    <m:t>I</m:t>
                                  </m:r>
                                </m:e>
                                <m:sub>
                                  <m:r>
                                    <a:rPr lang="en-US" sz="2000" b="0" i="1" dirty="0" smtClean="0">
                                      <a:latin typeface="Cambria Math" panose="02040503050406030204" pitchFamily="18" charset="0"/>
                                      <a:sym typeface="Arial"/>
                                    </a:rPr>
                                    <m:t>1</m:t>
                                  </m:r>
                                </m:sub>
                              </m:sSub>
                              <m:r>
                                <a:rPr lang="en-US" sz="2000" b="0" i="1" dirty="0" smtClean="0">
                                  <a:latin typeface="Cambria Math" panose="02040503050406030204" pitchFamily="18" charset="0"/>
                                  <a:sym typeface="Arial"/>
                                </a:rPr>
                                <m:t>(</m:t>
                              </m:r>
                              <m:r>
                                <m:rPr>
                                  <m:sty m:val="p"/>
                                </m:rPr>
                                <a:rPr lang="en-US" sz="2000" b="0" i="1" dirty="0" smtClean="0">
                                  <a:latin typeface="Cambria Math" panose="02040503050406030204" pitchFamily="18" charset="0"/>
                                  <a:sym typeface="Arial"/>
                                </a:rPr>
                                <m:t>t</m:t>
                              </m:r>
                              <m:r>
                                <a:rPr lang="en-US" sz="2000" b="0" i="1" dirty="0" smtClean="0">
                                  <a:latin typeface="Cambria Math" panose="02040503050406030204" pitchFamily="18" charset="0"/>
                                  <a:sym typeface="Arial"/>
                                </a:rPr>
                                <m:t>)</m:t>
                              </m:r>
                            </m:num>
                            <m:den>
                              <m:r>
                                <m:rPr>
                                  <m:sty m:val="p"/>
                                </m:rPr>
                                <a:rPr lang="en-US" sz="2000" i="1">
                                  <a:latin typeface="Cambria Math" panose="02040503050406030204" pitchFamily="18" charset="0"/>
                                  <a:cs typeface="Arial"/>
                                  <a:sym typeface="Arial"/>
                                </a:rPr>
                                <m:t>dt</m:t>
                              </m:r>
                            </m:den>
                          </m:f>
                        </m:e>
                      </m:func>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DE5C311E-7499-8CF3-2861-156FCBB5C636}"/>
                  </a:ext>
                </a:extLst>
              </p:cNvPr>
              <p:cNvSpPr txBox="1">
                <a:spLocks noGrp="1" noRot="1" noChangeAspect="1" noMove="1" noResize="1" noEditPoints="1" noAdjustHandles="1" noChangeArrowheads="1" noChangeShapeType="1" noTextEdit="1"/>
              </p:cNvSpPr>
              <p:nvPr>
                <p:ph type="body" idx="1"/>
              </p:nvPr>
            </p:nvSpPr>
            <p:spPr>
              <a:xfrm>
                <a:off x="376810" y="1334279"/>
                <a:ext cx="6522754" cy="5074536"/>
              </a:xfrm>
              <a:prstGeom prst="rect">
                <a:avLst/>
              </a:prstGeom>
              <a:blipFill>
                <a:blip r:embed="rId3"/>
                <a:stretch>
                  <a:fillRect l="-1028" t="-60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3F112B1-E6E1-AA67-74D6-7C4A971EEF8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9DA730E-BFA0-88D0-75AE-38E738356E3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Interferences - Inductive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618560E-9B76-88CC-E452-9BE8C745558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48069D4-C784-D34B-261D-480048B8586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C2567D9-699D-3DC5-D22C-6BB5EA9818B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16CDFA-8140-D355-7733-B4622131B46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E7B5226-E8CC-6E43-C05A-3AA00361C74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212C46A-BA33-2E31-5466-A3D5AE9B82B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Diagram: A vertical source wire carries current I sub 1 of t upward, surrounded by circular magnetic field lines, B of r, t equals mu naught I sub 1 of t over 2 pi r, in the phi-hat direction. To its right, a rectangular victim loop of height l spans radial distances r sub 1 to r sub 2 from the wire. The field passes into the page through the loop area S, with area element d A equals d r d z.">
            <a:extLst>
              <a:ext uri="{FF2B5EF4-FFF2-40B4-BE49-F238E27FC236}">
                <a16:creationId xmlns:a16="http://schemas.microsoft.com/office/drawing/2014/main" id="{5247E9EB-6C19-47E0-2230-76E8EDED30CD}"/>
              </a:ext>
            </a:extLst>
          </p:cNvPr>
          <p:cNvPicPr>
            <a:picLocks noChangeAspect="1"/>
          </p:cNvPicPr>
          <p:nvPr/>
        </p:nvPicPr>
        <p:blipFill>
          <a:blip r:embed="rId5">
            <a:extLst>
              <a:ext uri="{96DAC541-7B7A-43D3-8B79-37D633B846F1}">
                <asvg:svgBlip xmlns:asvg="http://schemas.microsoft.com/office/drawing/2016/SVG/main" r:embed="rId6"/>
              </a:ext>
            </a:extLst>
          </a:blip>
          <a:srcRect/>
          <a:stretch/>
        </p:blipFill>
        <p:spPr>
          <a:xfrm>
            <a:off x="6899564" y="1341110"/>
            <a:ext cx="5077158" cy="4175778"/>
          </a:xfrm>
          <a:prstGeom prst="rect">
            <a:avLst/>
          </a:prstGeom>
        </p:spPr>
      </p:pic>
    </p:spTree>
    <p:extLst>
      <p:ext uri="{BB962C8B-B14F-4D97-AF65-F5344CB8AC3E}">
        <p14:creationId xmlns:p14="http://schemas.microsoft.com/office/powerpoint/2010/main" val="30606808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DF17008-1B7C-7A5C-D565-DABBBBCD140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3C69FC21-4FE2-D5D3-B148-B6E085C215E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solidFill>
                      <a:schemeClr val="dk1"/>
                    </a:solidFill>
                    <a:latin typeface="Atkinson Hyperlegible Next"/>
                    <a:ea typeface="Arial"/>
                    <a:cs typeface="Arial"/>
                    <a:sym typeface="Arial"/>
                  </a:rPr>
                  <a:t>Thus, given the final inference noise,</a:t>
                </a: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1800" i="1">
                              <a:latin typeface="Cambria Math" panose="02040503050406030204" pitchFamily="18" charset="0"/>
                              <a:cs typeface="Arial"/>
                              <a:sym typeface="Arial"/>
                            </a:rPr>
                          </m:ctrlPr>
                        </m:sSubPr>
                        <m:e>
                          <m:r>
                            <m:rPr>
                              <m:sty m:val="p"/>
                            </m:rPr>
                            <a:rPr lang="en-US" sz="1800" i="1">
                              <a:latin typeface="Cambria Math" panose="02040503050406030204" pitchFamily="18" charset="0"/>
                              <a:cs typeface="Arial"/>
                              <a:sym typeface="Arial"/>
                            </a:rPr>
                            <m:t>V</m:t>
                          </m:r>
                        </m:e>
                        <m:sub>
                          <m:r>
                            <m:rPr>
                              <m:sty m:val="p"/>
                            </m:rPr>
                            <a:rPr lang="en-US" sz="1800" i="1">
                              <a:latin typeface="Cambria Math" panose="02040503050406030204" pitchFamily="18" charset="0"/>
                              <a:cs typeface="Arial"/>
                              <a:sym typeface="Arial"/>
                            </a:rPr>
                            <m:t>noise</m:t>
                          </m:r>
                        </m:sub>
                      </m:sSub>
                      <m:r>
                        <a:rPr lang="en-US" sz="1800" i="1">
                          <a:latin typeface="Cambria Math" panose="02040503050406030204" pitchFamily="18" charset="0"/>
                          <a:cs typeface="Arial"/>
                          <a:sym typeface="Arial"/>
                        </a:rPr>
                        <m:t>=−</m:t>
                      </m:r>
                      <m:f>
                        <m:fPr>
                          <m:ctrlPr>
                            <a:rPr lang="en-US" sz="1800" i="1" dirty="0">
                              <a:latin typeface="Cambria Math" panose="02040503050406030204" pitchFamily="18" charset="0"/>
                              <a:sym typeface="Arial"/>
                            </a:rPr>
                          </m:ctrlPr>
                        </m:fPr>
                        <m:num>
                          <m:sSub>
                            <m:sSubPr>
                              <m:ctrlPr>
                                <a:rPr lang="en-US" sz="1800" i="1" dirty="0">
                                  <a:latin typeface="Cambria Math" panose="02040503050406030204" pitchFamily="18" charset="0"/>
                                  <a:sym typeface="Arial"/>
                                </a:rPr>
                              </m:ctrlPr>
                            </m:sSubPr>
                            <m:e>
                              <m:r>
                                <a:rPr lang="en-US" sz="1800" i="1" dirty="0">
                                  <a:latin typeface="Cambria Math" panose="02040503050406030204" pitchFamily="18" charset="0"/>
                                  <a:sym typeface="Arial"/>
                                </a:rPr>
                                <m:t>𝜇</m:t>
                              </m:r>
                            </m:e>
                            <m:sub>
                              <m:r>
                                <a:rPr lang="en-US" sz="1800" dirty="0">
                                  <a:latin typeface="Cambria Math" panose="02040503050406030204" pitchFamily="18" charset="0"/>
                                  <a:sym typeface="Arial"/>
                                </a:rPr>
                                <m:t>0</m:t>
                              </m:r>
                            </m:sub>
                          </m:sSub>
                          <m:r>
                            <m:rPr>
                              <m:sty m:val="p"/>
                            </m:rPr>
                            <a:rPr lang="en-US" sz="1800" i="1" dirty="0">
                              <a:latin typeface="Cambria Math" panose="02040503050406030204" pitchFamily="18" charset="0"/>
                              <a:sym typeface="Arial"/>
                            </a:rPr>
                            <m:t>l</m:t>
                          </m:r>
                        </m:num>
                        <m:den>
                          <m:r>
                            <a:rPr lang="en-US" sz="1800" dirty="0">
                              <a:latin typeface="Cambria Math" panose="02040503050406030204" pitchFamily="18" charset="0"/>
                              <a:sym typeface="Arial"/>
                            </a:rPr>
                            <m:t>2</m:t>
                          </m:r>
                          <m:r>
                            <a:rPr lang="en-US" sz="1800" i="1" dirty="0">
                              <a:latin typeface="Cambria Math" panose="02040503050406030204" pitchFamily="18" charset="0"/>
                              <a:sym typeface="Arial"/>
                            </a:rPr>
                            <m:t>𝜋</m:t>
                          </m:r>
                          <m:r>
                            <a:rPr lang="en-US" sz="1800" i="1" dirty="0">
                              <a:latin typeface="Cambria Math" panose="02040503050406030204" pitchFamily="18" charset="0"/>
                              <a:sym typeface="Arial"/>
                            </a:rPr>
                            <m:t>𝑟</m:t>
                          </m:r>
                        </m:den>
                      </m:f>
                      <m:func>
                        <m:funcPr>
                          <m:ctrlPr>
                            <a:rPr lang="en-US" sz="1800" i="1" dirty="0">
                              <a:latin typeface="Cambria Math" panose="02040503050406030204" pitchFamily="18" charset="0"/>
                              <a:sym typeface="Arial"/>
                            </a:rPr>
                          </m:ctrlPr>
                        </m:funcPr>
                        <m:fName>
                          <m:r>
                            <m:rPr>
                              <m:sty m:val="p"/>
                            </m:rPr>
                            <a:rPr lang="en-US" sz="1800" dirty="0">
                              <a:latin typeface="Cambria Math" panose="02040503050406030204" pitchFamily="18" charset="0"/>
                              <a:sym typeface="Arial"/>
                            </a:rPr>
                            <m:t>ln</m:t>
                          </m:r>
                        </m:fName>
                        <m:e>
                          <m:f>
                            <m:fPr>
                              <m:ctrlPr>
                                <a:rPr lang="en-US" sz="1800" i="1" dirty="0">
                                  <a:latin typeface="Cambria Math" panose="02040503050406030204" pitchFamily="18" charset="0"/>
                                  <a:sym typeface="Arial"/>
                                </a:rPr>
                              </m:ctrlPr>
                            </m:fPr>
                            <m:num>
                              <m:sSub>
                                <m:sSubPr>
                                  <m:ctrlPr>
                                    <a:rPr lang="en-US" sz="1800" i="1" dirty="0">
                                      <a:latin typeface="Cambria Math" panose="02040503050406030204" pitchFamily="18" charset="0"/>
                                      <a:sym typeface="Arial"/>
                                    </a:rPr>
                                  </m:ctrlPr>
                                </m:sSubPr>
                                <m:e>
                                  <m:r>
                                    <m:rPr>
                                      <m:sty m:val="p"/>
                                    </m:rPr>
                                    <a:rPr lang="en-US" sz="1800" i="1" dirty="0">
                                      <a:latin typeface="Cambria Math" panose="02040503050406030204" pitchFamily="18" charset="0"/>
                                      <a:sym typeface="Arial"/>
                                    </a:rPr>
                                    <m:t>r</m:t>
                                  </m:r>
                                </m:e>
                                <m:sub>
                                  <m:r>
                                    <a:rPr lang="en-US" sz="1800" i="1" dirty="0">
                                      <a:latin typeface="Cambria Math" panose="02040503050406030204" pitchFamily="18" charset="0"/>
                                      <a:sym typeface="Arial"/>
                                    </a:rPr>
                                    <m:t>2</m:t>
                                  </m:r>
                                </m:sub>
                              </m:sSub>
                            </m:num>
                            <m:den>
                              <m:sSub>
                                <m:sSubPr>
                                  <m:ctrlPr>
                                    <a:rPr lang="en-US" sz="1800" i="1" dirty="0">
                                      <a:latin typeface="Cambria Math" panose="02040503050406030204" pitchFamily="18" charset="0"/>
                                      <a:sym typeface="Arial"/>
                                    </a:rPr>
                                  </m:ctrlPr>
                                </m:sSubPr>
                                <m:e>
                                  <m:r>
                                    <m:rPr>
                                      <m:sty m:val="p"/>
                                    </m:rPr>
                                    <a:rPr lang="en-US" sz="1800" i="1" dirty="0">
                                      <a:latin typeface="Cambria Math" panose="02040503050406030204" pitchFamily="18" charset="0"/>
                                      <a:sym typeface="Arial"/>
                                    </a:rPr>
                                    <m:t>r</m:t>
                                  </m:r>
                                </m:e>
                                <m:sub>
                                  <m:r>
                                    <a:rPr lang="en-US" sz="1800" i="1" dirty="0">
                                      <a:latin typeface="Cambria Math" panose="02040503050406030204" pitchFamily="18" charset="0"/>
                                      <a:sym typeface="Arial"/>
                                    </a:rPr>
                                    <m:t>1</m:t>
                                  </m:r>
                                </m:sub>
                              </m:sSub>
                            </m:den>
                          </m:f>
                          <m:r>
                            <a:rPr lang="en-US" sz="1800" i="1" dirty="0">
                              <a:latin typeface="Cambria Math" panose="02040503050406030204" pitchFamily="18" charset="0"/>
                              <a:ea typeface="Cambria Math" panose="02040503050406030204" pitchFamily="18" charset="0"/>
                              <a:sym typeface="Arial"/>
                            </a:rPr>
                            <m:t>×</m:t>
                          </m:r>
                          <m:f>
                            <m:fPr>
                              <m:ctrlPr>
                                <a:rPr lang="en-US" sz="1800" i="1">
                                  <a:latin typeface="Cambria Math" panose="02040503050406030204" pitchFamily="18" charset="0"/>
                                  <a:cs typeface="Arial"/>
                                  <a:sym typeface="Arial"/>
                                </a:rPr>
                              </m:ctrlPr>
                            </m:fPr>
                            <m:num>
                              <m:r>
                                <m:rPr>
                                  <m:sty m:val="p"/>
                                </m:rPr>
                                <a:rPr lang="en-US" sz="1800" i="1">
                                  <a:latin typeface="Cambria Math" panose="02040503050406030204" pitchFamily="18" charset="0"/>
                                  <a:cs typeface="Arial"/>
                                  <a:sym typeface="Arial"/>
                                </a:rPr>
                                <m:t>d</m:t>
                              </m:r>
                              <m:sSub>
                                <m:sSubPr>
                                  <m:ctrlPr>
                                    <a:rPr lang="en-US" sz="1800" i="1" dirty="0">
                                      <a:latin typeface="Cambria Math" panose="02040503050406030204" pitchFamily="18" charset="0"/>
                                      <a:sym typeface="Arial"/>
                                    </a:rPr>
                                  </m:ctrlPr>
                                </m:sSubPr>
                                <m:e>
                                  <m:r>
                                    <m:rPr>
                                      <m:sty m:val="p"/>
                                    </m:rPr>
                                    <a:rPr lang="en-US" sz="1800" i="1" dirty="0">
                                      <a:latin typeface="Cambria Math" panose="02040503050406030204" pitchFamily="18" charset="0"/>
                                      <a:sym typeface="Arial"/>
                                    </a:rPr>
                                    <m:t>I</m:t>
                                  </m:r>
                                </m:e>
                                <m:sub>
                                  <m:r>
                                    <a:rPr lang="en-US" sz="1800" i="1" dirty="0">
                                      <a:latin typeface="Cambria Math" panose="02040503050406030204" pitchFamily="18" charset="0"/>
                                      <a:sym typeface="Arial"/>
                                    </a:rPr>
                                    <m:t>1</m:t>
                                  </m:r>
                                </m:sub>
                              </m:sSub>
                              <m:r>
                                <a:rPr lang="en-US" sz="1800" i="1" dirty="0">
                                  <a:latin typeface="Cambria Math" panose="02040503050406030204" pitchFamily="18" charset="0"/>
                                  <a:sym typeface="Arial"/>
                                </a:rPr>
                                <m:t>(</m:t>
                              </m:r>
                              <m:r>
                                <m:rPr>
                                  <m:sty m:val="p"/>
                                </m:rPr>
                                <a:rPr lang="en-US" sz="1800" i="1" dirty="0">
                                  <a:latin typeface="Cambria Math" panose="02040503050406030204" pitchFamily="18" charset="0"/>
                                  <a:sym typeface="Arial"/>
                                </a:rPr>
                                <m:t>t</m:t>
                              </m:r>
                              <m:r>
                                <a:rPr lang="en-US" sz="1800" i="1" dirty="0">
                                  <a:latin typeface="Cambria Math" panose="02040503050406030204" pitchFamily="18" charset="0"/>
                                  <a:sym typeface="Arial"/>
                                </a:rPr>
                                <m:t>)</m:t>
                              </m:r>
                            </m:num>
                            <m:den>
                              <m:r>
                                <m:rPr>
                                  <m:sty m:val="p"/>
                                </m:rPr>
                                <a:rPr lang="en-US" sz="1800" i="1">
                                  <a:latin typeface="Cambria Math" panose="02040503050406030204" pitchFamily="18" charset="0"/>
                                  <a:cs typeface="Arial"/>
                                  <a:sym typeface="Arial"/>
                                </a:rPr>
                                <m:t>dt</m:t>
                              </m:r>
                            </m:den>
                          </m:f>
                        </m:e>
                      </m:func>
                    </m:oMath>
                  </m:oMathPara>
                </a14:m>
                <a:endParaRPr lang="en-US" sz="1800" dirty="0">
                  <a:latin typeface="Atkinson Hyperlegible Next"/>
                  <a:ea typeface="Arial"/>
                  <a:cs typeface="Arial"/>
                  <a:sym typeface="Arial"/>
                </a:endParaRP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The interference voltage </a:t>
                </a:r>
                <a14:m>
                  <m:oMath xmlns:m="http://schemas.openxmlformats.org/officeDocument/2006/math">
                    <m:sSub>
                      <m:sSubPr>
                        <m:ctrlPr>
                          <a:rPr lang="en-US" sz="1800" i="1">
                            <a:latin typeface="Cambria Math" panose="02040503050406030204" pitchFamily="18" charset="0"/>
                            <a:cs typeface="Arial"/>
                            <a:sym typeface="Arial"/>
                          </a:rPr>
                        </m:ctrlPr>
                      </m:sSubPr>
                      <m:e>
                        <m:r>
                          <m:rPr>
                            <m:sty m:val="p"/>
                          </m:rPr>
                          <a:rPr lang="en-US" sz="1800" i="1">
                            <a:latin typeface="Cambria Math" panose="02040503050406030204" pitchFamily="18" charset="0"/>
                            <a:cs typeface="Arial"/>
                            <a:sym typeface="Arial"/>
                          </a:rPr>
                          <m:t>V</m:t>
                        </m:r>
                      </m:e>
                      <m:sub>
                        <m:r>
                          <m:rPr>
                            <m:sty m:val="p"/>
                          </m:rPr>
                          <a:rPr lang="en-US" sz="1800" i="1">
                            <a:latin typeface="Cambria Math" panose="02040503050406030204" pitchFamily="18" charset="0"/>
                            <a:cs typeface="Arial"/>
                            <a:sym typeface="Arial"/>
                          </a:rPr>
                          <m:t>noise</m:t>
                        </m:r>
                      </m:sub>
                    </m:sSub>
                  </m:oMath>
                </a14:m>
                <a:r>
                  <a:rPr lang="en-US" sz="1800" dirty="0">
                    <a:latin typeface="Atkinson Hyperlegible Next"/>
                    <a:ea typeface="Arial"/>
                    <a:cs typeface="Arial"/>
                    <a:sym typeface="Arial"/>
                  </a:rPr>
                  <a:t> is directly proportion to the rate of change of the current in the interfering wire! </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This is why heavy machinery or circuits that draw massive, pulsating currents (like motor drives) are notorious sources of magnetic Electromagnetic Interference (EMI)!</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gn="ctr">
                  <a:lnSpc>
                    <a:spcPct val="100000"/>
                  </a:lnSpc>
                  <a:spcBef>
                    <a:spcPts val="0"/>
                  </a:spcBef>
                  <a:buSzPts val="3000"/>
                  <a:buNone/>
                </a:pPr>
                <a:endParaRPr lang="en-US" sz="1800" dirty="0">
                  <a:latin typeface="Atkinson Hyperlegible Next"/>
                  <a:ea typeface="Arial"/>
                  <a:cs typeface="Arial"/>
                  <a:sym typeface="Arial"/>
                </a:endParaRPr>
              </a:p>
              <a:p>
                <a:pPr marL="0" lvl="0" indent="0" algn="ctr">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endParaRPr lang="en-US" sz="18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3C69FC21-4FE2-D5D3-B148-B6E085C215EF}"/>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491"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1782D00-2F9E-CB81-BF19-73F2CF122E6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189DC00-0F1C-7538-4AA6-0F1C569B6CD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lang="en-US" sz="2400" b="0" i="0" u="none" strike="noStrike" cap="none" dirty="0">
                <a:solidFill>
                  <a:schemeClr val="lt1"/>
                </a:solidFill>
                <a:latin typeface="Atkinson Hyperlegible Next"/>
                <a:ea typeface="Arial"/>
                <a:cs typeface="Arial"/>
                <a:sym typeface="Arial"/>
              </a:rPr>
              <a:t>Serial Communication -</a:t>
            </a:r>
            <a:r>
              <a:rPr i="0" b="0" lang="en-US" sz="2400" dirty="0">
                <a:solidFill>
                  <a:schemeClr val="lt1"/>
                </a:solidFill>
              </a:rPr>
              <a:t> Interferences - Capacitive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BA2DCD9-805B-BBC8-D52E-ED32F7CC2C6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234D1F8-BC9A-FAD3-DF33-DC28A3B501D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E122DA3-15A3-22CC-86AB-2204A0E75F7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F13C6AC-2D99-2185-3360-7F8CF7E6D35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1901639-5B12-A481-BBAE-7E7A06E3506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C358338-80EC-C714-C1B9-D6F901134B8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35678719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EDC9B6DE-CD64-5B1D-4001-E8D9BF4DE8C8}"/>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9C75C4BB-CFBC-E823-E88A-C70278DBB765}"/>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Serial Communication</a:t>
            </a:r>
            <a:endParaRPr lang="en-US"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A7AA5307-D48E-1E1B-468D-4CD9036B6A8E}"/>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0022EC9C-AF68-6E2E-E94C-C0D4931ED873}"/>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1C9B0655-9B3F-61BE-1528-B0FA56E77389}"/>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7C000F50-1313-4F99-8FCC-B64799CAC77A}"/>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52EB9EDA-9BF9-1FD5-8AD7-15889A955A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4D5276A4-A574-7AF1-5F39-7AF7DD1E7972}"/>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2C8B979D-1673-B96E-CA5F-4A8BEB8A438C}"/>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D412B2F6-B81B-889C-2487-F175A54E5E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97958489-3A84-5021-1F6B-F1182744F3D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471764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6F0F552A-34B4-E9A2-EF72-F0F5E62741D9}"/>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8B475722-7852-B794-D7AC-24FB25E51702}"/>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E3BCEA4A-B251-BC65-0A4B-A707B06A45DB}"/>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Notation</a:t>
              </a:r>
              <a:endParaRPr sz="1400" b="0" i="0" u="none" strike="noStrike" cap="none" dirty="0">
                <a:solidFill>
                  <a:srgbClr val="000000"/>
                </a:solidFill>
                <a:latin typeface="Atkinson Hyperlegible Next"/>
                <a:ea typeface="Arial"/>
                <a:cs typeface="Arial"/>
                <a:sym typeface="Arial"/>
              </a:endParaRPr>
            </a:p>
          </p:txBody>
        </p:sp>
        <p:grpSp>
          <p:nvGrpSpPr>
            <p:cNvPr id="91" name="Google Shape;91;p27">
              <a:extLst>
                <a:ext uri="{FF2B5EF4-FFF2-40B4-BE49-F238E27FC236}">
                  <a16:creationId xmlns:a16="http://schemas.microsoft.com/office/drawing/2014/main" id="{4AB43262-0C4F-F28F-38CC-5DB57B4AB5F4}"/>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55242F9D-4C47-443A-6DA3-EA300AA72D5B}"/>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DC775022-A041-8ED9-5EBB-7621D8FD49AC}"/>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E8AAFAB7-145A-DEBD-B18C-21C31EFD1DB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FD2C60DB-BA4F-B08F-70BE-851172669B9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4247FBCA-4866-1130-EB46-8EA483B11B5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94C0373D-A724-54AE-21B4-CCFF4DAEF0FB}"/>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17CCF91C-4EFA-5DD5-4703-989E601B6AB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519CA8C5-0427-651D-39E5-F00778AC1F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157016150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31F62EC-16B5-C75E-0F3C-9785154A38B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1E50CBD-6144-F5D1-4782-0C605B8F2E2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400" dirty="0">
                <a:solidFill>
                  <a:schemeClr val="dk1"/>
                </a:solidFill>
                <a:latin typeface="Atkinson Hyperlegible Next"/>
                <a:ea typeface="Arial"/>
                <a:cs typeface="Arial"/>
                <a:sym typeface="Arial"/>
              </a:rPr>
              <a:t>We want to be able to communicate with multiple devices. We can a “Master / Slave” paradigm in communication.</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“Master / Slave” is still commonly used but sometimes called Peripheral In and Peripheral Out.</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The “Master” Node, holds the authority to initiate data transfers and generates the synchronization clock.</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The “Slave” Nodes are strictly reactive and remain low until explicitly addressed.</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Think of it as the “Master” node as a “Teacher” asking you to do something, the “Slave” nodes are the “students” doing the work and reporting the results back.</a:t>
            </a:r>
          </a:p>
        </p:txBody>
      </p:sp>
      <p:sp>
        <p:nvSpPr>
          <p:cNvPr id="119" name="Google Shape;119;p29">
            <a:extLst>
              <a:ext uri="{FF2B5EF4-FFF2-40B4-BE49-F238E27FC236}">
                <a16:creationId xmlns:a16="http://schemas.microsoft.com/office/drawing/2014/main" id="{6A625270-3C0C-BD48-721C-32F70E1D8C3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9D48B32-E626-95D5-4084-96C399CE9FE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Multiple Devices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1AE29E5-A472-309A-3DE1-B0247F0031A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2C3DD1A-4D34-65BD-E439-AFE51B5AC51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DB5910B-29AD-3125-843A-31E18936851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3DFE6AF-7AB6-AD0A-A80D-FFB5AD79FEC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4C39E0D-8327-E057-CB04-9201E824846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203CAFB-3F8B-C2CB-1998-48A1DD97640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47047557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EB0367F-A769-47E2-3D45-03753F24B31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600BA93-AE60-F4ED-B7E2-C577ADC8729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FC7063A-110F-CA01-BB52-0E860F07E02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Multiple Devices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2F2D3D4-7109-1D43-62E8-48434D27DD2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100FC39-51BC-794E-1381-CD0F692BB60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9655E87-219E-51D2-0837-6EBFCEEE242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8CAF377-E40A-6F63-BDC5-8FBE436B45D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302BEBE-0916-C76B-9888-602ED06E765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37A743D-86D6-8A51-C14D-AA236921564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Four antenna configurations between a transmitter (Tx) and receiver (Rx), named by antenna count. SISO, single input single output: one transmit antenna, one receive antenna. SIMO, single input multiple output: one transmit antenna, several receive antennas. MISO, multiple input single output: several transmit antennas, one receive antenna. MIMO, multiple input multiple output: several antennas on both ends. &quot;Input&quot; refers to the transmit side and &quot;output&quot; to the receive side.">
            <a:extLst>
              <a:ext uri="{FF2B5EF4-FFF2-40B4-BE49-F238E27FC236}">
                <a16:creationId xmlns:a16="http://schemas.microsoft.com/office/drawing/2014/main" id="{F2DB4266-0321-68D1-A7B8-0DC3666EEF0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518275" y="951070"/>
            <a:ext cx="5155450" cy="5425369"/>
          </a:xfrm>
          <a:prstGeom prst="rect">
            <a:avLst/>
          </a:prstGeom>
        </p:spPr>
      </p:pic>
      <p:sp>
        <p:nvSpPr>
          <p:cNvPr id="6" name="TextBox 5">
            <a:extLst>
              <a:ext uri="{FF2B5EF4-FFF2-40B4-BE49-F238E27FC236}">
                <a16:creationId xmlns:a16="http://schemas.microsoft.com/office/drawing/2014/main" id="{82C2F912-C93C-F03C-4DE7-D6A1862D2C91}"/>
              </a:ext>
            </a:extLst>
          </p:cNvPr>
          <p:cNvSpPr txBox="1"/>
          <p:nvPr/>
        </p:nvSpPr>
        <p:spPr>
          <a:xfrm>
            <a:off x="4500716" y="6418067"/>
            <a:ext cx="4296566" cy="253916"/>
          </a:xfrm>
          <a:prstGeom prst="rect">
            <a:avLst/>
          </a:prstGeom>
          <a:noFill/>
        </p:spPr>
        <p:txBody>
          <a:bodyPr wrap="square" rtlCol="0">
            <a:spAutoFit/>
          </a:bodyPr>
          <a:lstStyle/>
          <a:p>
            <a:pPr algn="ctr"/>
            <a:r>
              <a:rPr lang="en-US" sz="1050" dirty="0">
                <a:hlinkClick r:id="rId6"/>
              </a:rPr>
              <a:t>https://commons.wikimedia.org/wiki/File:Prinzip_MIMO.svg</a:t>
            </a:r>
            <a:r>
              <a:rPr lang="en-US" sz="1050" dirty="0"/>
              <a:t> </a:t>
            </a:r>
          </a:p>
        </p:txBody>
      </p:sp>
    </p:spTree>
    <p:extLst>
      <p:ext uri="{BB962C8B-B14F-4D97-AF65-F5344CB8AC3E}">
        <p14:creationId xmlns:p14="http://schemas.microsoft.com/office/powerpoint/2010/main" val="392805804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10395DD-37F8-A7B6-B647-B9252064B8E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A0CE324-C301-C820-0EE3-90E95E3E0F5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400" dirty="0">
                <a:solidFill>
                  <a:schemeClr val="dk1"/>
                </a:solidFill>
                <a:latin typeface="Atkinson Hyperlegible Next"/>
                <a:ea typeface="Arial"/>
                <a:cs typeface="Arial"/>
                <a:sym typeface="Arial"/>
              </a:rPr>
              <a:t>Asynchronous networks (SCI/UART) operate </a:t>
            </a:r>
            <a:r>
              <a:rPr lang="en-US" sz="2400" b="1" dirty="0">
                <a:solidFill>
                  <a:schemeClr val="dk1"/>
                </a:solidFill>
                <a:latin typeface="Atkinson Hyperlegible Next"/>
                <a:ea typeface="Arial"/>
                <a:cs typeface="Arial"/>
                <a:sym typeface="Arial"/>
              </a:rPr>
              <a:t>without</a:t>
            </a:r>
            <a:r>
              <a:rPr lang="en-US" sz="2400" dirty="0">
                <a:solidFill>
                  <a:schemeClr val="dk1"/>
                </a:solidFill>
                <a:latin typeface="Atkinson Hyperlegible Next"/>
                <a:ea typeface="Arial"/>
                <a:cs typeface="Arial"/>
                <a:sym typeface="Arial"/>
              </a:rPr>
              <a:t> a shared, physical clock line routing between nodes.</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Nodes rely on independent, internal clocks that must be pre-configured to a matching baud-rate! ( Remember the UART lecture? )</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What could be some issue?</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You don’t properly communicate the correct baud rate</a:t>
            </a:r>
          </a:p>
          <a:p>
            <a:pPr marL="285750" indent="-285750">
              <a:lnSpc>
                <a:spcPct val="100000"/>
              </a:lnSpc>
              <a:spcBef>
                <a:spcPts val="0"/>
              </a:spcBef>
              <a:buSzPts val="3000"/>
            </a:pPr>
            <a:r>
              <a:rPr lang="en-US" sz="2400" dirty="0">
                <a:latin typeface="Atkinson Hyperlegible Next"/>
                <a:ea typeface="Arial"/>
                <a:cs typeface="Arial"/>
                <a:sym typeface="Arial"/>
              </a:rPr>
              <a:t>The internal clocks could drift causing the receiver to sample data out of phase, corrupting the data </a:t>
            </a:r>
          </a:p>
        </p:txBody>
      </p:sp>
      <p:sp>
        <p:nvSpPr>
          <p:cNvPr id="119" name="Google Shape;119;p29">
            <a:extLst>
              <a:ext uri="{FF2B5EF4-FFF2-40B4-BE49-F238E27FC236}">
                <a16:creationId xmlns:a16="http://schemas.microsoft.com/office/drawing/2014/main" id="{4FF97E9A-F5E6-3433-689A-CCC2E6693A8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0120183-E4BD-0BFF-1D1F-994A2686453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Asynchronous Communication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8904CD0-286D-F91F-A905-291355B1331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2128093-8245-C834-0815-A4E443B42F2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2F280F5-871C-8483-F445-F9DADA4EE0D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908C8AF-CFF8-B3D7-0D5F-4E49923C019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7CC7DAE-10AB-41E0-9B9B-2B6C6243EB5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F972DEB-BDE9-BCF5-9C46-0A12169A370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805119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3B0CF8A-0E0A-4767-51A8-52D7250B796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A62CEA2-560B-AD6B-6C17-48FA06E0D81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400" dirty="0">
                <a:solidFill>
                  <a:schemeClr val="dk1"/>
                </a:solidFill>
                <a:latin typeface="Atkinson Hyperlegible Next"/>
                <a:ea typeface="Arial"/>
                <a:cs typeface="Arial"/>
                <a:sym typeface="Arial"/>
              </a:rPr>
              <a:t>Synchronous networks (SPI/I2C) operate </a:t>
            </a:r>
            <a:r>
              <a:rPr lang="en-US" sz="2400" b="1" dirty="0">
                <a:solidFill>
                  <a:schemeClr val="dk1"/>
                </a:solidFill>
                <a:latin typeface="Atkinson Hyperlegible Next"/>
                <a:ea typeface="Arial"/>
                <a:cs typeface="Arial"/>
                <a:sym typeface="Arial"/>
              </a:rPr>
              <a:t>with</a:t>
            </a:r>
            <a:r>
              <a:rPr lang="en-US" sz="2400" dirty="0">
                <a:solidFill>
                  <a:schemeClr val="dk1"/>
                </a:solidFill>
                <a:latin typeface="Atkinson Hyperlegible Next"/>
                <a:ea typeface="Arial"/>
                <a:cs typeface="Arial"/>
                <a:sym typeface="Arial"/>
              </a:rPr>
              <a:t> a shared, physical clock line routing between nodes. The Master node routes a clock to all Slave devices.</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This shared clock signal dictates the precise times that data lines are driven and sampled!</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What could be some issue?</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Extra wiring required, at least one for the clock and one for the data</a:t>
            </a:r>
          </a:p>
          <a:p>
            <a:pPr marL="285750" indent="-285750">
              <a:lnSpc>
                <a:spcPct val="100000"/>
              </a:lnSpc>
              <a:spcBef>
                <a:spcPts val="0"/>
              </a:spcBef>
              <a:buSzPts val="3000"/>
            </a:pPr>
            <a:endParaRPr lang="en-US" sz="2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454969F-8A71-33EB-BDDA-023FEEF854B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E984245-CE1C-4896-8B04-18863A6EF0A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Synchronous Communication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DDF8414-A14A-E3F2-87F4-9EFDA1C7D3B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38881F2-A36F-71CB-43DF-BD63ED2A396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1C1BA1D-E816-4D19-F1B9-98A0DAEF361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71C4689-D273-4081-F35D-CE02FCEEFD3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876D6BA-E347-1DED-E635-0E672349829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CBA2052-6DB8-94EA-4649-9A483759D90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085019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6F53376-15D0-00FB-0E3A-16785845D1F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8AE2CAC-0D6E-C146-E18D-483CB9E8C6C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CC53E3B-0565-87E3-0E78-684BE597409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Simplex vs Half-Duplex vs Full-Duplex</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369FBA1-653F-A825-F0D1-FA441B8AD95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5A3CFE2-F40B-F97D-15C9-D419A9AB838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DAAA91E-1C80-9815-07B5-B44ABFA2E2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0967FF0-0709-1B3B-BA44-F441E173F36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5501262-88A2-9A72-68B8-20DF8F18F73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3CB847B-612D-5161-C8B2-65CA94AE74F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7" name="Group 6">
            <a:extLst>
              <a:ext uri="{FF2B5EF4-FFF2-40B4-BE49-F238E27FC236}">
                <a16:creationId xmlns:a16="http://schemas.microsoft.com/office/drawing/2014/main" id="{3C3DA59E-3B3B-AB7C-F807-AE38038C7567}"/>
              </a:ext>
            </a:extLst>
          </p:cNvPr>
          <p:cNvGrpSpPr/>
          <p:nvPr/>
        </p:nvGrpSpPr>
        <p:grpSpPr>
          <a:xfrm>
            <a:off x="8734649" y="982357"/>
            <a:ext cx="3094168" cy="5567470"/>
            <a:chOff x="8734649" y="982357"/>
            <a:chExt cx="3094168" cy="5567470"/>
          </a:xfrm>
        </p:grpSpPr>
        <p:pic>
          <p:nvPicPr>
            <p:cNvPr id="3076" name="Picture 4" descr="Three panels compare communication modes between Device A and Device B, each joined by a single line. Simplex: only Device A has a signal dot, so data flows one way, A to B. Half-duplex: also a single dot at Device A, representing one direction at a time, with the link able to reverse. Full-duplex: dots at both Device A and Device B, so both send simultaneously.">
              <a:extLst>
                <a:ext uri="{FF2B5EF4-FFF2-40B4-BE49-F238E27FC236}">
                  <a16:creationId xmlns:a16="http://schemas.microsoft.com/office/drawing/2014/main" id="{99E9D030-886D-7734-B32F-4BB8C199C523}"/>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6542" t="4466" r="6233" b="2696"/>
            <a:stretch>
              <a:fillRect/>
            </a:stretch>
          </p:blipFill>
          <p:spPr bwMode="auto">
            <a:xfrm>
              <a:off x="8734649" y="982357"/>
              <a:ext cx="3094168" cy="5312664"/>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E0475FB5-0F61-16D6-E1BE-22C648CB3ACB}"/>
                </a:ext>
              </a:extLst>
            </p:cNvPr>
            <p:cNvSpPr txBox="1"/>
            <p:nvPr/>
          </p:nvSpPr>
          <p:spPr>
            <a:xfrm>
              <a:off x="8734650" y="6242050"/>
              <a:ext cx="3094167" cy="307777"/>
            </a:xfrm>
            <a:prstGeom prst="rect">
              <a:avLst/>
            </a:prstGeom>
            <a:noFill/>
          </p:spPr>
          <p:txBody>
            <a:bodyPr wrap="square" rtlCol="0">
              <a:spAutoFit/>
            </a:bodyPr>
            <a:lstStyle/>
            <a:p>
              <a:pPr algn="ctr"/>
              <a:r>
                <a:rPr lang="en-US" sz="700" dirty="0">
                  <a:hlinkClick r:id="rId5"/>
                </a:rPr>
                <a:t>https://www.linkedin.com/posts/anis-hassen_communication-modes-simplified-ever-activity-7310553982957948928-FHnT/</a:t>
              </a:r>
              <a:r>
                <a:rPr lang="en-US" sz="700" dirty="0"/>
                <a:t> </a:t>
              </a:r>
            </a:p>
          </p:txBody>
        </p:sp>
      </p:grpSp>
      <p:grpSp>
        <p:nvGrpSpPr>
          <p:cNvPr id="6" name="Group 5">
            <a:extLst>
              <a:ext uri="{FF2B5EF4-FFF2-40B4-BE49-F238E27FC236}">
                <a16:creationId xmlns:a16="http://schemas.microsoft.com/office/drawing/2014/main" id="{FEFBC80E-7EB9-E901-911A-ED2807369EE2}"/>
              </a:ext>
            </a:extLst>
          </p:cNvPr>
          <p:cNvGrpSpPr/>
          <p:nvPr/>
        </p:nvGrpSpPr>
        <p:grpSpPr>
          <a:xfrm>
            <a:off x="216400" y="982357"/>
            <a:ext cx="8312150" cy="5513608"/>
            <a:chOff x="216400" y="982357"/>
            <a:chExt cx="8312150" cy="5513608"/>
          </a:xfrm>
        </p:grpSpPr>
        <p:pic>
          <p:nvPicPr>
            <p:cNvPr id="3074" name="Picture 2" descr="Three rows compare transmission modes between pairs of walkie-talkies. Simplex: data flows only left to right; the return direction is blocked. Half-duplex: data can flow in either direction, but only one direction at a time, left to right or right to left. Full-duplex: data flows in both directions simultaneously.">
              <a:extLst>
                <a:ext uri="{FF2B5EF4-FFF2-40B4-BE49-F238E27FC236}">
                  <a16:creationId xmlns:a16="http://schemas.microsoft.com/office/drawing/2014/main" id="{CD66EAA8-F009-4E81-E5AB-3F7F4FC56A0D}"/>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493" r="2565"/>
            <a:stretch>
              <a:fillRect/>
            </a:stretch>
          </p:blipFill>
          <p:spPr bwMode="auto">
            <a:xfrm>
              <a:off x="216400" y="982357"/>
              <a:ext cx="8312150" cy="5307723"/>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22AAE732-0000-3CAB-107F-6913C420520C}"/>
                </a:ext>
              </a:extLst>
            </p:cNvPr>
            <p:cNvSpPr txBox="1"/>
            <p:nvPr/>
          </p:nvSpPr>
          <p:spPr>
            <a:xfrm>
              <a:off x="747652" y="6295910"/>
              <a:ext cx="7249646" cy="200055"/>
            </a:xfrm>
            <a:prstGeom prst="rect">
              <a:avLst/>
            </a:prstGeom>
            <a:noFill/>
          </p:spPr>
          <p:txBody>
            <a:bodyPr wrap="square" rtlCol="0">
              <a:spAutoFit/>
            </a:bodyPr>
            <a:lstStyle/>
            <a:p>
              <a:pPr algn="ctr"/>
              <a:r>
                <a:rPr lang="en-US" sz="700" dirty="0">
                  <a:hlinkClick r:id="rId7"/>
                </a:rPr>
                <a:t>https://www.qsfptek.com/qt-news/half-duplex-vs-full-duplex-vs-simplex-transmission-mode.html?srsltid=AfmBOopvEYPNWR3lh3_nh46jJxnYWESqNo07pANJhJ3pTBwkhLByDD5J</a:t>
              </a:r>
              <a:r>
                <a:rPr lang="en-US" sz="700" dirty="0"/>
                <a:t> </a:t>
              </a:r>
            </a:p>
          </p:txBody>
        </p:sp>
      </p:grpSp>
    </p:spTree>
    <p:extLst>
      <p:ext uri="{BB962C8B-B14F-4D97-AF65-F5344CB8AC3E}">
        <p14:creationId xmlns:p14="http://schemas.microsoft.com/office/powerpoint/2010/main" val="106080498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B4D2AB9D-2457-3211-C0D4-DE135DFAAEC9}"/>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957135A9-31CC-D8EA-1584-009E664D3D7E}"/>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7D3AA029-9DAF-CA5C-CC72-86F6C481A94D}"/>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Protocols</a:t>
              </a:r>
              <a:endParaRPr sz="1400" b="0" i="0" u="none" strike="noStrike" cap="none" dirty="0">
                <a:solidFill>
                  <a:srgbClr val="000000"/>
                </a:solidFill>
                <a:latin typeface="Atkinson Hyperlegible Next"/>
                <a:ea typeface="Arial"/>
                <a:cs typeface="Arial"/>
                <a:sym typeface="Arial"/>
              </a:endParaRPr>
            </a:p>
          </p:txBody>
        </p:sp>
        <p:grpSp>
          <p:nvGrpSpPr>
            <p:cNvPr id="91" name="Google Shape;91;p27">
              <a:extLst>
                <a:ext uri="{FF2B5EF4-FFF2-40B4-BE49-F238E27FC236}">
                  <a16:creationId xmlns:a16="http://schemas.microsoft.com/office/drawing/2014/main" id="{0D5D6850-CB56-3AA3-B8A1-77B54555F9CA}"/>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ABAA4E85-8BFE-612F-03A7-D582E7A24C04}"/>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2C1FCE07-7739-7976-0281-85EB57EEFE62}"/>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C96BD22F-4C43-AC9C-9F54-F694529DED4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AC4CA889-AF22-6E85-92EF-A110A86E85A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99F85255-AAD3-BD95-8535-ABE4F735CB1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C814889B-3CBF-D837-0CDA-28FC1BA52746}"/>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FDAEA03-58FF-93F6-3AA0-8B81758BFDB5}"/>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D549A4B5-E4AB-DCC3-1A49-92E3173D7D4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185786768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EF98DDE-B645-BBE4-5756-DF6A05CC329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EE6462F-EB74-1857-0B24-DB61ED15232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200" dirty="0">
                <a:solidFill>
                  <a:schemeClr val="dk1"/>
                </a:solidFill>
                <a:latin typeface="Atkinson Hyperlegible Next"/>
                <a:ea typeface="Arial"/>
                <a:cs typeface="Arial"/>
                <a:sym typeface="Arial"/>
              </a:rPr>
              <a:t>The Red Board supports a lot of communication protocols:</a:t>
            </a:r>
          </a:p>
          <a:p>
            <a:pPr marL="285750" indent="-285750">
              <a:lnSpc>
                <a:spcPct val="100000"/>
              </a:lnSpc>
              <a:spcBef>
                <a:spcPts val="0"/>
              </a:spcBef>
              <a:buSzPts val="3000"/>
            </a:pPr>
            <a:r>
              <a:rPr lang="en-US" sz="2200" b="1" dirty="0">
                <a:latin typeface="Atkinson Hyperlegible Next"/>
                <a:ea typeface="Arial"/>
                <a:cs typeface="Arial"/>
                <a:sym typeface="Arial"/>
              </a:rPr>
              <a:t>SCI</a:t>
            </a:r>
            <a:r>
              <a:rPr lang="en-US" sz="2200" dirty="0">
                <a:latin typeface="Atkinson Hyperlegible Next"/>
                <a:ea typeface="Arial"/>
                <a:cs typeface="Arial"/>
                <a:sym typeface="Arial"/>
              </a:rPr>
              <a:t> – Serial Communications Interface - The classic UART. It is asynchronous, requiring only two wires (TX/RX), but limited in speed due to the lack of a shared clock. Discussed in </a:t>
            </a:r>
            <a:r>
              <a:rPr lang="en-US" sz="2200" dirty="0">
                <a:latin typeface="Atkinson Hyperlegible Next"/>
                <a:ea typeface="Arial"/>
                <a:cs typeface="Arial"/>
                <a:sym typeface="Arial"/>
                <a:hlinkClick r:id="rId3"/>
              </a:rPr>
              <a:t>Lecture 4</a:t>
            </a:r>
            <a:r>
              <a:rPr lang="en-US" sz="2200" dirty="0">
                <a:latin typeface="Atkinson Hyperlegible Next"/>
                <a:ea typeface="Arial"/>
                <a:cs typeface="Arial"/>
                <a:sym typeface="Arial"/>
              </a:rPr>
              <a:t>.</a:t>
            </a:r>
          </a:p>
          <a:p>
            <a:pPr marL="285750" indent="-285750">
              <a:lnSpc>
                <a:spcPct val="100000"/>
              </a:lnSpc>
              <a:spcBef>
                <a:spcPts val="0"/>
              </a:spcBef>
              <a:buSzPts val="3000"/>
            </a:pPr>
            <a:endParaRPr lang="en-US" sz="2200" dirty="0">
              <a:latin typeface="Atkinson Hyperlegible Next"/>
              <a:ea typeface="Arial"/>
              <a:cs typeface="Arial"/>
              <a:sym typeface="Arial"/>
            </a:endParaRPr>
          </a:p>
          <a:p>
            <a:pPr marL="285750" indent="-285750">
              <a:lnSpc>
                <a:spcPct val="100000"/>
              </a:lnSpc>
              <a:spcBef>
                <a:spcPts val="0"/>
              </a:spcBef>
              <a:buSzPts val="3000"/>
            </a:pPr>
            <a:r>
              <a:rPr lang="en-US" sz="2200" b="1" dirty="0">
                <a:latin typeface="Atkinson Hyperlegible Next"/>
                <a:ea typeface="Arial"/>
                <a:cs typeface="Arial"/>
                <a:sym typeface="Arial"/>
              </a:rPr>
              <a:t>SPI</a:t>
            </a:r>
            <a:r>
              <a:rPr lang="en-US" sz="2200" dirty="0">
                <a:latin typeface="Atkinson Hyperlegible Next"/>
                <a:ea typeface="Arial"/>
                <a:cs typeface="Arial"/>
                <a:sym typeface="Arial"/>
              </a:rPr>
              <a:t> – Serial Peripheral Interface - A high-speed synchronous serial input and output (I/O) port. It requires four wires and dominates high-frequency sensor and motor driver applications. Discussed in </a:t>
            </a:r>
            <a:r>
              <a:rPr lang="en-US" sz="2200" dirty="0">
                <a:latin typeface="Atkinson Hyperlegible Next"/>
                <a:ea typeface="Arial"/>
                <a:cs typeface="Arial"/>
                <a:sym typeface="Arial"/>
                <a:hlinkClick r:id="rId4"/>
              </a:rPr>
              <a:t>Lecture 6-7</a:t>
            </a:r>
            <a:endParaRPr lang="en-US" sz="2200" dirty="0">
              <a:latin typeface="Atkinson Hyperlegible Next"/>
              <a:ea typeface="Arial"/>
              <a:cs typeface="Arial"/>
              <a:sym typeface="Arial"/>
            </a:endParaRPr>
          </a:p>
          <a:p>
            <a:pPr marL="285750" indent="-285750">
              <a:lnSpc>
                <a:spcPct val="100000"/>
              </a:lnSpc>
              <a:spcBef>
                <a:spcPts val="0"/>
              </a:spcBef>
              <a:buSzPts val="3000"/>
            </a:pPr>
            <a:endParaRPr lang="en-US" sz="2200" dirty="0">
              <a:latin typeface="Atkinson Hyperlegible Next"/>
              <a:ea typeface="Arial"/>
              <a:cs typeface="Arial"/>
              <a:sym typeface="Arial"/>
            </a:endParaRPr>
          </a:p>
          <a:p>
            <a:pPr marL="285750" indent="-285750">
              <a:lnSpc>
                <a:spcPct val="100000"/>
              </a:lnSpc>
              <a:spcBef>
                <a:spcPts val="0"/>
              </a:spcBef>
              <a:buSzPts val="3000"/>
            </a:pPr>
            <a:r>
              <a:rPr lang="en-US" sz="2200" b="1" dirty="0">
                <a:latin typeface="Atkinson Hyperlegible Next"/>
                <a:ea typeface="Arial"/>
                <a:cs typeface="Arial"/>
                <a:sym typeface="Arial"/>
              </a:rPr>
              <a:t>I2C</a:t>
            </a:r>
            <a:r>
              <a:rPr lang="en-US" sz="2200" dirty="0">
                <a:latin typeface="Atkinson Hyperlegible Next"/>
                <a:ea typeface="Arial"/>
                <a:cs typeface="Arial"/>
                <a:sym typeface="Arial"/>
              </a:rPr>
              <a:t> – Inter-Integrated Circuit Module - A synchronous, two-wire bus using software addressing rather than hardware routing. Uses less wires some can be advantageous over SPI.</a:t>
            </a:r>
          </a:p>
        </p:txBody>
      </p:sp>
      <p:sp>
        <p:nvSpPr>
          <p:cNvPr id="119" name="Google Shape;119;p29">
            <a:extLst>
              <a:ext uri="{FF2B5EF4-FFF2-40B4-BE49-F238E27FC236}">
                <a16:creationId xmlns:a16="http://schemas.microsoft.com/office/drawing/2014/main" id="{D509A953-34FF-EDC4-89AC-1D041972D5F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F9FEF23-FA48-B358-65A6-EAD8D453DCC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04A900D-EF32-489F-02FA-1EDF247A3714}"/>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2D157C4-14C2-D186-2058-7B8BEAC3932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559E22A-9CFF-92DA-34D1-5CDABD737EE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4AED68D-70A7-3D5F-ED5D-ACDD2586471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785742C-E51F-C713-500A-5C187E15A5D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C43059D-61AB-99B2-30BB-9D3C1BCBEBE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6294826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A37AC97-3F7F-C5C7-1A7D-DB688807DF3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C82BCD4-24AD-A55D-29C2-6252D8BD149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200" dirty="0">
                <a:solidFill>
                  <a:schemeClr val="dk1"/>
                </a:solidFill>
                <a:latin typeface="Atkinson Hyperlegible Next"/>
                <a:ea typeface="Arial"/>
                <a:cs typeface="Arial"/>
                <a:sym typeface="Arial"/>
              </a:rPr>
              <a:t>The Red Board supports a lot of communication protocols:</a:t>
            </a:r>
          </a:p>
          <a:p>
            <a:pPr marL="285750" indent="-285750">
              <a:lnSpc>
                <a:spcPct val="100000"/>
              </a:lnSpc>
              <a:spcBef>
                <a:spcPts val="0"/>
              </a:spcBef>
              <a:buSzPts val="3000"/>
            </a:pPr>
            <a:r>
              <a:rPr lang="en-US" sz="2200" b="1" dirty="0">
                <a:latin typeface="Atkinson Hyperlegible Next"/>
                <a:ea typeface="Arial"/>
                <a:cs typeface="Arial"/>
                <a:sym typeface="Arial"/>
              </a:rPr>
              <a:t>CAN</a:t>
            </a:r>
            <a:r>
              <a:rPr lang="en-US" sz="2200" dirty="0">
                <a:latin typeface="Atkinson Hyperlegible Next"/>
                <a:ea typeface="Arial"/>
                <a:cs typeface="Arial"/>
                <a:sym typeface="Arial"/>
              </a:rPr>
              <a:t> – Controller Area Network - A highly robust, differential-signaling serial bus designed for automotive environments. It prioritizes message IDs and deterministic collision resolution over raw speed.</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285750" indent="-285750">
              <a:lnSpc>
                <a:spcPct val="100000"/>
              </a:lnSpc>
              <a:spcBef>
                <a:spcPts val="0"/>
              </a:spcBef>
              <a:buSzPts val="3000"/>
            </a:pPr>
            <a:r>
              <a:rPr lang="en-US" sz="2200" b="1" dirty="0" err="1">
                <a:latin typeface="Atkinson Hyperlegible Next"/>
                <a:ea typeface="Arial"/>
                <a:cs typeface="Arial"/>
                <a:sym typeface="Arial"/>
              </a:rPr>
              <a:t>McBSP</a:t>
            </a:r>
            <a:r>
              <a:rPr lang="en-US" sz="2200" dirty="0">
                <a:latin typeface="Atkinson Hyperlegible Next"/>
                <a:ea typeface="Arial"/>
                <a:cs typeface="Arial"/>
                <a:sym typeface="Arial"/>
              </a:rPr>
              <a:t> – Multichannel Buffered Serial Port - A high-speed synchronous serial port capable of handling complex audio streams and telecommunications data.</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285750" indent="-285750">
              <a:lnSpc>
                <a:spcPct val="100000"/>
              </a:lnSpc>
              <a:spcBef>
                <a:spcPts val="0"/>
              </a:spcBef>
              <a:buSzPts val="3000"/>
            </a:pPr>
            <a:r>
              <a:rPr lang="en-US" sz="2200" b="1" dirty="0">
                <a:latin typeface="Atkinson Hyperlegible Next"/>
                <a:ea typeface="Arial"/>
                <a:cs typeface="Arial"/>
                <a:sym typeface="Arial"/>
              </a:rPr>
              <a:t>USB</a:t>
            </a:r>
            <a:r>
              <a:rPr lang="en-US" sz="2200" dirty="0">
                <a:latin typeface="Atkinson Hyperlegible Next"/>
                <a:ea typeface="Arial"/>
                <a:cs typeface="Arial"/>
                <a:sym typeface="Arial"/>
              </a:rPr>
              <a:t> – Universal Serial Bus - A complex, differential standard used primarily for interfacing the embedded system with host PCs for data logging or firmware updates.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285750" indent="-285750">
              <a:lnSpc>
                <a:spcPct val="100000"/>
              </a:lnSpc>
              <a:spcBef>
                <a:spcPts val="0"/>
              </a:spcBef>
              <a:buSzPts val="3000"/>
            </a:pPr>
            <a:r>
              <a:rPr lang="en-US" sz="2200" b="1" dirty="0" err="1">
                <a:latin typeface="Atkinson Hyperlegible Next"/>
                <a:ea typeface="Arial"/>
                <a:cs typeface="Arial"/>
                <a:sym typeface="Arial"/>
              </a:rPr>
              <a:t>uPP</a:t>
            </a:r>
            <a:r>
              <a:rPr lang="en-US" sz="2200" dirty="0">
                <a:latin typeface="Atkinson Hyperlegible Next"/>
                <a:ea typeface="Arial"/>
                <a:cs typeface="Arial"/>
                <a:sym typeface="Arial"/>
              </a:rPr>
              <a:t> - Universal Parallel Port - A high-speed parallel interface used for connecting directly to FPGAs or massive data-acquisition modules (high-speed ADC).</a:t>
            </a:r>
          </a:p>
        </p:txBody>
      </p:sp>
      <p:sp>
        <p:nvSpPr>
          <p:cNvPr id="119" name="Google Shape;119;p29">
            <a:extLst>
              <a:ext uri="{FF2B5EF4-FFF2-40B4-BE49-F238E27FC236}">
                <a16:creationId xmlns:a16="http://schemas.microsoft.com/office/drawing/2014/main" id="{490F2AEF-C308-6C69-8192-6A3D11936DF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93DB5E0-7E03-9375-7DED-51DBA1C290C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625CE1D-DBC5-E794-D26D-0664C39FF1D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9F33CEA-6097-27AC-96CC-8B2682452DA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FA79B5C-62A9-290E-3F21-4B7505FE5DC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ACB6F1B-99FB-7828-B415-0C215014BEB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52A695C-6644-B0C9-217E-6D5AA82AFAA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F2C9516-CE55-8195-BB96-324549B1C2F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319134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6E90625A-9078-156F-B6A1-401CCE8326D4}"/>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99AFDC12-7B22-50E9-8DD3-4690FB639A68}"/>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07AEA660-E915-AE40-2C20-5964643D8AAE}"/>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SCI / UART</a:t>
              </a:r>
              <a:endParaRPr sz="1400" b="0" i="0" u="none" strike="noStrike" cap="none" dirty="0">
                <a:solidFill>
                  <a:srgbClr val="000000"/>
                </a:solidFill>
                <a:latin typeface="Atkinson Hyperlegible Next"/>
                <a:ea typeface="Arial"/>
                <a:cs typeface="Arial"/>
                <a:sym typeface="Arial"/>
              </a:endParaRPr>
            </a:p>
          </p:txBody>
        </p:sp>
        <p:grpSp>
          <p:nvGrpSpPr>
            <p:cNvPr id="91" name="Google Shape;91;p27">
              <a:extLst>
                <a:ext uri="{FF2B5EF4-FFF2-40B4-BE49-F238E27FC236}">
                  <a16:creationId xmlns:a16="http://schemas.microsoft.com/office/drawing/2014/main" id="{1DA2B9A3-8A6A-FAFA-669E-652C26943454}"/>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D36D3443-F5EE-2480-11CF-D3C53E6A9DA0}"/>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339385CC-8092-7134-E76F-6C774111CB89}"/>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BC3321DF-4F11-1823-A0AD-9D817E0A70B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78475933-7067-5115-DBEB-7889C12FF01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C8703854-82A4-5410-63D0-A3D90D732AF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0311F12E-A60F-6DE8-C009-10F9891EA5B2}"/>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CF3A0FF-06E2-74E0-BD80-252F9F50CD6E}"/>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2A939E0D-800D-BBED-15F9-64C08901CFE0}"/>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158510615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8AFA798-9BC3-992F-DE00-7A1126761EC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589EC1F-48AC-C1A0-EC0C-3532BB482D5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2200" b="1" dirty="0">
                <a:latin typeface="Atkinson Hyperlegible Next"/>
                <a:ea typeface="Arial"/>
                <a:cs typeface="Arial"/>
                <a:sym typeface="Arial"/>
              </a:rPr>
              <a:t>Asynchronous</a:t>
            </a:r>
            <a:r>
              <a:rPr lang="en-US" sz="2200" dirty="0">
                <a:latin typeface="Atkinson Hyperlegible Next"/>
                <a:ea typeface="Arial"/>
                <a:cs typeface="Arial"/>
                <a:sym typeface="Arial"/>
              </a:rPr>
              <a:t>: No shared clock wire. Timing relies on agreed-upon Baud Rate.</a:t>
            </a:r>
          </a:p>
          <a:p>
            <a:pPr marL="0" lvl="0" indent="0">
              <a:lnSpc>
                <a:spcPct val="100000"/>
              </a:lnSpc>
              <a:spcBef>
                <a:spcPts val="0"/>
              </a:spcBef>
              <a:buSzPts val="3000"/>
              <a:buNone/>
            </a:pPr>
            <a:endParaRPr lang="en-US" sz="2200" dirty="0">
              <a:latin typeface="Atkinson Hyperlegible Next"/>
              <a:ea typeface="Arial"/>
              <a:cs typeface="Arial"/>
              <a:sym typeface="Arial"/>
            </a:endParaRPr>
          </a:p>
          <a:p>
            <a:pPr marL="114300" lvl="0" indent="0" algn="ctr">
              <a:buClr>
                <a:srgbClr val="000000"/>
              </a:buClr>
              <a:buNone/>
            </a:pPr>
            <a:r>
              <a:rPr lang="en-US" sz="1800" dirty="0" err="1">
                <a:solidFill>
                  <a:srgbClr val="000000"/>
                </a:solidFill>
                <a:latin typeface="Consolas" panose="020B0609020204030204" pitchFamily="49" charset="0"/>
              </a:rPr>
              <a:t>init_serialSCIA</a:t>
            </a:r>
            <a:r>
              <a:rPr lang="en-US" sz="1800" dirty="0">
                <a:solidFill>
                  <a:srgbClr val="000000"/>
                </a:solidFill>
                <a:latin typeface="Consolas" panose="020B0609020204030204" pitchFamily="49" charset="0"/>
              </a:rPr>
              <a:t>(&amp;SerialA,115200);</a:t>
            </a:r>
            <a:endParaRPr lang="en-US" sz="1800" dirty="0">
              <a:solidFill>
                <a:srgbClr val="000000"/>
              </a:solidFill>
              <a:latin typeface="Atkinson Hyperlegible Next"/>
            </a:endParaRPr>
          </a:p>
          <a:p>
            <a:pPr marL="0" lvl="0" indent="0">
              <a:lnSpc>
                <a:spcPct val="100000"/>
              </a:lnSpc>
              <a:spcBef>
                <a:spcPts val="0"/>
              </a:spcBef>
              <a:buSzPts val="3000"/>
              <a:buNone/>
            </a:pPr>
            <a:endParaRPr lang="en-US" sz="2200" dirty="0">
              <a:latin typeface="Atkinson Hyperlegible Next"/>
              <a:ea typeface="Arial"/>
              <a:cs typeface="Arial"/>
              <a:sym typeface="Arial"/>
            </a:endParaRPr>
          </a:p>
          <a:p>
            <a:pPr marL="0" lvl="0" indent="0">
              <a:lnSpc>
                <a:spcPct val="100000"/>
              </a:lnSpc>
              <a:spcBef>
                <a:spcPts val="0"/>
              </a:spcBef>
              <a:buSzPts val="3000"/>
              <a:buNone/>
            </a:pPr>
            <a:endParaRPr lang="en-US" sz="22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endParaRPr lang="en-US" sz="22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6B9BF5F0-457C-4E03-05A4-52C30532A0C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AC3FDC0-4294-4748-4B32-802F62E91CD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SCI / UART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C50A938-DD5E-52AF-1CA9-E1138F16801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967A8A6-916E-A3D8-2000-BBDA2A9936D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2C767B3-18CC-7410-A90D-AEB33559539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584D76E-B978-AC85-66B0-65FE7AA6D77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43A9B12-15C8-B715-D59E-5B99997FD69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B8BE521-C5BE-B235-B9FD-F59C2053850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 name="Graphic 1" descr="Timing diagram of two SCI (serial communication interface) data frames from Figure 19-3. The line idles high, then a low start bit is followed by eight data bits sent LSB first through MSB, an optional parity bit, and a high stop bit back to idle. Top frame is idle-line mode, for normal nonmultiprocessor communication. Bottom frame is address-bit mode, which inserts an extra address/data bit after the MSB, before parity, to mark whether the frame carries an address or data.">
            <a:extLst>
              <a:ext uri="{FF2B5EF4-FFF2-40B4-BE49-F238E27FC236}">
                <a16:creationId xmlns:a16="http://schemas.microsoft.com/office/drawing/2014/main" id="{7F3DCA0B-06EC-CDAB-5F7A-048D3BBDB4C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77146" y="2747500"/>
            <a:ext cx="10437708" cy="3592382"/>
          </a:xfrm>
          <a:prstGeom prst="rect">
            <a:avLst/>
          </a:prstGeom>
        </p:spPr>
      </p:pic>
    </p:spTree>
    <p:extLst>
      <p:ext uri="{BB962C8B-B14F-4D97-AF65-F5344CB8AC3E}">
        <p14:creationId xmlns:p14="http://schemas.microsoft.com/office/powerpoint/2010/main" val="68037842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6A0E2740-7630-D3AF-878D-DC6BC376ED68}"/>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17C6B595-3CD2-C7CB-F48E-3032BE3B645B}"/>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8CC7C99E-324F-4290-ACFE-0E2D50EC83D5}"/>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SPI</a:t>
              </a:r>
              <a:endParaRPr sz="1400" b="0" i="0" u="none" strike="noStrike" cap="none" dirty="0">
                <a:solidFill>
                  <a:srgbClr val="000000"/>
                </a:solidFill>
                <a:latin typeface="Atkinson Hyperlegible Next"/>
                <a:ea typeface="Arial"/>
                <a:cs typeface="Arial"/>
                <a:sym typeface="Arial"/>
              </a:endParaRPr>
            </a:p>
          </p:txBody>
        </p:sp>
        <p:grpSp>
          <p:nvGrpSpPr>
            <p:cNvPr id="91" name="Google Shape;91;p27">
              <a:extLst>
                <a:ext uri="{FF2B5EF4-FFF2-40B4-BE49-F238E27FC236}">
                  <a16:creationId xmlns:a16="http://schemas.microsoft.com/office/drawing/2014/main" id="{ACCB0847-714E-0755-C06F-CB227BEB853F}"/>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B5E211AB-C88C-2CB5-8676-F238F700C85B}"/>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2E47F6B4-5228-76E2-4FDD-8509ECDDE0FD}"/>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49CA9C54-FDCC-27E9-0788-1BB634D86E5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763700EE-FC38-B4E4-B9A9-CA1BF5CE666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784BC4D5-CF5F-370C-5401-4CEFEFF6F76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7E07FE74-EFD8-6D77-C709-767D3DD6B660}"/>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891FB91F-D98B-02B7-3DA6-797F281CB7DE}"/>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62E80ADB-A2C3-AE7C-E90F-55925015333E}"/>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185463224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144FEC4-F8F6-89C7-072A-F70CD8AD4BF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0153D6E-13A5-F39A-8E08-3FC06E9CE46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200" dirty="0">
                <a:latin typeface="Atkinson Hyperlegible Next"/>
                <a:ea typeface="Arial"/>
                <a:cs typeface="Arial"/>
                <a:sym typeface="Arial"/>
              </a:rPr>
              <a:t>This is full-duplex protocol, capable of simultaneous transmission and reception during a single clock cycle.</a:t>
            </a:r>
          </a:p>
          <a:p>
            <a:pPr marL="0" lvl="0" indent="0" algn="l" rtl="0">
              <a:lnSpc>
                <a:spcPct val="100000"/>
              </a:lnSpc>
              <a:spcBef>
                <a:spcPts val="0"/>
              </a:spcBef>
              <a:spcAft>
                <a:spcPts val="0"/>
              </a:spcAft>
              <a:buSzPts val="3000"/>
              <a:buNone/>
            </a:pPr>
            <a:endParaRPr lang="en-US" sz="22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200" dirty="0">
                <a:latin typeface="Atkinson Hyperlegible Next"/>
                <a:ea typeface="Arial"/>
                <a:cs typeface="Arial"/>
                <a:sym typeface="Arial"/>
              </a:rPr>
              <a:t>Multi-device communication is supported by the master or slave operation of the SPI.</a:t>
            </a:r>
          </a:p>
          <a:p>
            <a:pPr marL="0" lvl="0" indent="0" algn="l" rtl="0">
              <a:lnSpc>
                <a:spcPct val="100000"/>
              </a:lnSpc>
              <a:spcBef>
                <a:spcPts val="0"/>
              </a:spcBef>
              <a:spcAft>
                <a:spcPts val="0"/>
              </a:spcAft>
              <a:buSzPts val="3000"/>
              <a:buNone/>
            </a:pPr>
            <a:endParaRPr lang="en-US" sz="22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200" dirty="0">
                <a:latin typeface="Atkinson Hyperlegible Next"/>
                <a:ea typeface="Arial"/>
                <a:cs typeface="Arial"/>
                <a:sym typeface="Arial"/>
              </a:rPr>
              <a:t>Has 4 wires:</a:t>
            </a:r>
          </a:p>
          <a:p>
            <a:pPr marL="0" lvl="0" indent="0" algn="l" rtl="0">
              <a:lnSpc>
                <a:spcPct val="100000"/>
              </a:lnSpc>
              <a:spcBef>
                <a:spcPts val="0"/>
              </a:spcBef>
              <a:spcAft>
                <a:spcPts val="0"/>
              </a:spcAft>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b="1" dirty="0">
                <a:latin typeface="Atkinson Hyperlegible Next"/>
                <a:ea typeface="Arial"/>
                <a:cs typeface="Arial"/>
                <a:sym typeface="Arial"/>
              </a:rPr>
              <a:t>SPICLK</a:t>
            </a:r>
            <a:r>
              <a:rPr lang="en-US" sz="2200" dirty="0">
                <a:latin typeface="Atkinson Hyperlegible Next"/>
                <a:ea typeface="Arial"/>
                <a:cs typeface="Arial"/>
                <a:sym typeface="Arial"/>
              </a:rPr>
              <a:t>: The SPI serial-clock pin, supplying the synchronous heartbeat</a:t>
            </a:r>
          </a:p>
          <a:p>
            <a:pPr marL="342900">
              <a:lnSpc>
                <a:spcPct val="100000"/>
              </a:lnSpc>
              <a:spcBef>
                <a:spcPts val="0"/>
              </a:spcBef>
              <a:buSzPts val="3000"/>
            </a:pPr>
            <a:r>
              <a:rPr lang="en-US" sz="2200" b="1" dirty="0">
                <a:latin typeface="Atkinson Hyperlegible Next"/>
                <a:ea typeface="Arial"/>
                <a:cs typeface="Arial"/>
                <a:sym typeface="Arial"/>
              </a:rPr>
              <a:t>SPISIMO</a:t>
            </a:r>
            <a:r>
              <a:rPr lang="en-US" sz="2200" dirty="0">
                <a:latin typeface="Atkinson Hyperlegible Next"/>
                <a:ea typeface="Arial"/>
                <a:cs typeface="Arial"/>
                <a:sym typeface="Arial"/>
              </a:rPr>
              <a:t>: The SPI slave-input/master-output pin</a:t>
            </a:r>
          </a:p>
          <a:p>
            <a:pPr marL="342900">
              <a:lnSpc>
                <a:spcPct val="100000"/>
              </a:lnSpc>
              <a:spcBef>
                <a:spcPts val="0"/>
              </a:spcBef>
              <a:buSzPts val="3000"/>
            </a:pPr>
            <a:r>
              <a:rPr lang="en-US" sz="2200" b="1" dirty="0">
                <a:latin typeface="Atkinson Hyperlegible Next"/>
                <a:ea typeface="Arial"/>
                <a:cs typeface="Arial"/>
                <a:sym typeface="Arial"/>
              </a:rPr>
              <a:t>SPISOMI</a:t>
            </a:r>
            <a:r>
              <a:rPr lang="en-US" sz="2200" dirty="0">
                <a:latin typeface="Atkinson Hyperlegible Next"/>
                <a:ea typeface="Arial"/>
                <a:cs typeface="Arial"/>
                <a:sym typeface="Arial"/>
              </a:rPr>
              <a:t>: The SPI slave-output/master-input pin</a:t>
            </a:r>
          </a:p>
          <a:p>
            <a:pPr marL="342900">
              <a:lnSpc>
                <a:spcPct val="100000"/>
              </a:lnSpc>
              <a:spcBef>
                <a:spcPts val="0"/>
              </a:spcBef>
              <a:buSzPts val="3000"/>
            </a:pPr>
            <a:r>
              <a:rPr lang="en-US" sz="2200" b="1" dirty="0">
                <a:latin typeface="Atkinson Hyperlegible Next"/>
                <a:ea typeface="Arial"/>
                <a:cs typeface="Arial"/>
                <a:sym typeface="Arial"/>
              </a:rPr>
              <a:t>SPISTE</a:t>
            </a:r>
            <a:r>
              <a:rPr lang="en-US" sz="2200" dirty="0">
                <a:latin typeface="Atkinson Hyperlegible Next"/>
                <a:ea typeface="Arial"/>
                <a:cs typeface="Arial"/>
                <a:sym typeface="Arial"/>
              </a:rPr>
              <a:t>: The SPI slave transmit-enable pin</a:t>
            </a:r>
          </a:p>
          <a:p>
            <a:pPr marL="342900">
              <a:lnSpc>
                <a:spcPct val="100000"/>
              </a:lnSpc>
              <a:spcBef>
                <a:spcPts val="0"/>
              </a:spcBef>
              <a:buSzPts val="3000"/>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All four pins can be used as general-purpose input/output (GPIO) if the SPI module is not used by the system</a:t>
            </a:r>
          </a:p>
        </p:txBody>
      </p:sp>
      <p:sp>
        <p:nvSpPr>
          <p:cNvPr id="119" name="Google Shape;119;p29">
            <a:extLst>
              <a:ext uri="{FF2B5EF4-FFF2-40B4-BE49-F238E27FC236}">
                <a16:creationId xmlns:a16="http://schemas.microsoft.com/office/drawing/2014/main" id="{EF079DDE-859F-E9D9-3720-A9A3356A5B1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48E2184-734C-3F76-2088-B47AA211C9E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SPI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7D4D1E0-C163-FF25-21C5-154E3F1F0DD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4E1C8A1-3D5D-FAEE-026C-EA4060BD4E1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F169A76-7327-DD1A-A2D7-23AE12B2728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5A0E1A-B050-59B2-7D49-9ABFA49806D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C85F99C-6AB8-F792-22F0-1FBE0EB322A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DD5F7B6-1199-C945-4990-D5060D2827A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490583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7284FE1-E9DC-00E6-F6E2-1C2ADDE3524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06C2B6D-7F85-67B2-82D3-79A52FA6B4C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FEDFDCD-1998-A83B-83AC-BED243396EA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SPI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F3E8680-590F-D210-2EF1-48F36467A7E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B34A491-FDC4-1DBB-9AEF-4B8F9E3012B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D146B73-6142-3914-2DBC-2787FD31694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B308452-7851-4648-D289-D31D5BC2546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010588B-D5F2-FD61-0FC5-32A96DBED91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B79F794-D3EF-A710-8C64-EB005E0D4AB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Block diagram of the SPI module's CPU interface. The CPU's SYSCLK feeds a low-speed prescaler, producing LSPCLK, which is ANDed with an enable bit from register PCLKCR8 to form the SPI bit clock. SYSCLK and the reset signal SYSRS also go directly to the SPI. The SPI exchanges SPISIMO, SPISOMI, SPICLK and SPISTE-bar (active low) with the GPIO mux. It sends interrupts SPIINT and SPITXINT to the PIE and DMA requests SPIRXDMA and SPITXDMA to the DMA. CPU, SPI, PIE and DMA share a peripheral bus.">
            <a:extLst>
              <a:ext uri="{FF2B5EF4-FFF2-40B4-BE49-F238E27FC236}">
                <a16:creationId xmlns:a16="http://schemas.microsoft.com/office/drawing/2014/main" id="{37104FA7-F39F-8F31-1F55-4826818DCDA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885950" y="1095675"/>
            <a:ext cx="8420100" cy="5341385"/>
          </a:xfrm>
          <a:prstGeom prst="rect">
            <a:avLst/>
          </a:prstGeom>
        </p:spPr>
      </p:pic>
    </p:spTree>
    <p:extLst>
      <p:ext uri="{BB962C8B-B14F-4D97-AF65-F5344CB8AC3E}">
        <p14:creationId xmlns:p14="http://schemas.microsoft.com/office/powerpoint/2010/main" val="137224556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43AE2F2-612A-CC5F-B7D8-E007D6231DF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3E7553C-0531-1539-0A26-90E4725B384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200" dirty="0">
                <a:latin typeface="Atkinson Hyperlegible Next"/>
                <a:ea typeface="Arial"/>
                <a:cs typeface="Arial"/>
                <a:sym typeface="Arial"/>
              </a:rPr>
              <a:t>Has 2 interrupt signal:</a:t>
            </a:r>
          </a:p>
          <a:p>
            <a:pPr marL="0" lvl="0" indent="0" algn="l" rtl="0">
              <a:lnSpc>
                <a:spcPct val="100000"/>
              </a:lnSpc>
              <a:spcBef>
                <a:spcPts val="0"/>
              </a:spcBef>
              <a:spcAft>
                <a:spcPts val="0"/>
              </a:spcAft>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b="1" dirty="0">
                <a:latin typeface="Atkinson Hyperlegible Next"/>
                <a:ea typeface="Arial"/>
                <a:cs typeface="Arial"/>
                <a:sym typeface="Arial"/>
              </a:rPr>
              <a:t>SPIINT: </a:t>
            </a:r>
            <a:r>
              <a:rPr lang="en-US" sz="2400" dirty="0"/>
              <a:t>Transmit interrupt/ Receive Interrupt in non-FIFO mode</a:t>
            </a:r>
            <a:endParaRPr lang="en-US" sz="2200" dirty="0">
              <a:latin typeface="Atkinson Hyperlegible Next"/>
              <a:ea typeface="Arial"/>
              <a:cs typeface="Arial"/>
              <a:sym typeface="Arial"/>
            </a:endParaRPr>
          </a:p>
          <a:p>
            <a:pPr marL="342900">
              <a:lnSpc>
                <a:spcPct val="100000"/>
              </a:lnSpc>
              <a:spcBef>
                <a:spcPts val="0"/>
              </a:spcBef>
              <a:buSzPts val="3000"/>
            </a:pPr>
            <a:r>
              <a:rPr lang="en-US" sz="2400" b="1" dirty="0"/>
              <a:t>SPIRXINT: </a:t>
            </a:r>
            <a:r>
              <a:rPr lang="en-US" sz="2400" dirty="0"/>
              <a:t>Receive interrupt in FIFO mode</a:t>
            </a:r>
            <a:endParaRPr lang="en-US" sz="2400" b="1" dirty="0">
              <a:latin typeface="Atkinson Hyperlegible Next"/>
              <a:ea typeface="Arial"/>
              <a:cs typeface="Arial"/>
              <a:sym typeface="Arial"/>
            </a:endParaRPr>
          </a:p>
          <a:p>
            <a:pPr marL="342900">
              <a:lnSpc>
                <a:spcPct val="100000"/>
              </a:lnSpc>
              <a:spcBef>
                <a:spcPts val="0"/>
              </a:spcBef>
              <a:buSzPts val="3000"/>
            </a:pPr>
            <a:r>
              <a:rPr lang="en-US" sz="2400" b="1" dirty="0"/>
              <a:t>SPITXINT: </a:t>
            </a:r>
            <a:r>
              <a:rPr lang="en-US" sz="2400" dirty="0"/>
              <a:t>Transmit interrupt in FIFO mode</a:t>
            </a:r>
          </a:p>
          <a:p>
            <a:pPr marL="342900">
              <a:lnSpc>
                <a:spcPct val="100000"/>
              </a:lnSpc>
              <a:spcBef>
                <a:spcPts val="0"/>
              </a:spcBef>
              <a:buSzPts val="3000"/>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Can also integrate with the DMA (limited to 16-bit register read/writes and only works when FIFO is enabled)</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342900">
              <a:lnSpc>
                <a:spcPct val="100000"/>
              </a:lnSpc>
              <a:spcBef>
                <a:spcPts val="0"/>
              </a:spcBef>
              <a:buSzPts val="3000"/>
            </a:pPr>
            <a:r>
              <a:rPr lang="en-US" sz="2400" b="1" dirty="0"/>
              <a:t>SPITXDMA</a:t>
            </a:r>
            <a:r>
              <a:rPr lang="en-US" sz="2400" dirty="0"/>
              <a:t>: Transmit request to DMA</a:t>
            </a:r>
          </a:p>
          <a:p>
            <a:pPr marL="342900">
              <a:lnSpc>
                <a:spcPct val="100000"/>
              </a:lnSpc>
              <a:spcBef>
                <a:spcPts val="0"/>
              </a:spcBef>
              <a:buSzPts val="3000"/>
            </a:pPr>
            <a:r>
              <a:rPr lang="en-US" sz="2400" b="1" dirty="0"/>
              <a:t>SPIRXDMA</a:t>
            </a:r>
            <a:r>
              <a:rPr lang="en-US" sz="2400" dirty="0"/>
              <a:t>: Receive request to DMA</a:t>
            </a:r>
            <a:endParaRPr lang="en-US" sz="22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33F3420D-6516-22E6-540E-5B0DC22D051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9BB4F42-B762-AEC8-AFB4-1592EEDFE44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SPI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8368B17-F3B3-6B98-394A-4630CA7AB39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FC44A90-552A-61EC-FC7F-1EF1871CEE4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C8BAC4-F5DD-AC2B-F80A-82EA81698EC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037CB65-1BC5-3AB7-0D3A-44F23A62DF0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FB69A63-BE9E-B097-BFD7-FD5DF9B1EA7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1A760E7-FAF0-6AEA-584E-2951423815A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4396063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8" end="8"/>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8BBB06D-4537-9077-FC64-31B182D1D6F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2FD9E63C-2556-595F-62E4-10FF5188E35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Atkinson Hyperlegible Next"/>
                    <a:ea typeface="Arial"/>
                    <a:cs typeface="Arial"/>
                    <a:sym typeface="Arial"/>
                  </a:rPr>
                  <a:t>The SPI module supports 125 different baud rates using the SPIBRR register:</a:t>
                </a:r>
              </a:p>
              <a:p>
                <a:pPr marL="0" lvl="0" indent="0" algn="l" rtl="0">
                  <a:lnSpc>
                    <a:spcPct val="100000"/>
                  </a:lnSpc>
                  <a:spcBef>
                    <a:spcPts val="0"/>
                  </a:spcBef>
                  <a:spcAft>
                    <a:spcPts val="0"/>
                  </a:spcAft>
                  <a:buSzPts val="3000"/>
                  <a:buNone/>
                </a:pPr>
                <a:endParaRPr lang="en-US" sz="20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000" dirty="0">
                    <a:latin typeface="Atkinson Hyperlegible Next"/>
                    <a:ea typeface="Arial"/>
                    <a:cs typeface="Arial"/>
                    <a:sym typeface="Arial"/>
                  </a:rPr>
                  <a:t>For SPIBRR = 3 to 127:</a:t>
                </a:r>
              </a:p>
              <a:p>
                <a:pPr marL="0" lvl="0" indent="0" algn="l" rtl="0">
                  <a:lnSpc>
                    <a:spcPct val="100000"/>
                  </a:lnSpc>
                  <a:spcBef>
                    <a:spcPts val="0"/>
                  </a:spcBef>
                  <a:spcAft>
                    <a:spcPts val="0"/>
                  </a:spcAft>
                  <a:buSzPts val="3000"/>
                  <a:buNone/>
                </a:pPr>
                <a:endParaRPr lang="en-US" sz="20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14:m>
                  <m:oMathPara xmlns:m="http://schemas.openxmlformats.org/officeDocument/2006/math">
                    <m:oMathParaPr>
                      <m:jc m:val="centerGroup"/>
                    </m:oMathParaPr>
                    <m:oMath xmlns:m="http://schemas.openxmlformats.org/officeDocument/2006/math">
                      <m:r>
                        <m:rPr>
                          <m:sty m:val="p"/>
                        </m:rPr>
                        <a:rPr lang="en-US" sz="2000" b="0" i="1" smtClean="0">
                          <a:latin typeface="Cambria Math" panose="02040503050406030204" pitchFamily="18" charset="0"/>
                          <a:ea typeface="Arial"/>
                          <a:cs typeface="Arial"/>
                          <a:sym typeface="Arial"/>
                        </a:rPr>
                        <m:t>SPI</m:t>
                      </m:r>
                      <m:r>
                        <a:rPr lang="en-US" sz="2000" b="0" i="1" smtClean="0">
                          <a:latin typeface="Cambria Math" panose="02040503050406030204" pitchFamily="18" charset="0"/>
                          <a:ea typeface="Arial"/>
                          <a:cs typeface="Arial"/>
                          <a:sym typeface="Arial"/>
                        </a:rPr>
                        <m:t> </m:t>
                      </m:r>
                      <m:r>
                        <m:rPr>
                          <m:sty m:val="p"/>
                        </m:rPr>
                        <a:rPr lang="en-US" sz="2000" b="0" i="1" smtClean="0">
                          <a:latin typeface="Cambria Math" panose="02040503050406030204" pitchFamily="18" charset="0"/>
                          <a:ea typeface="Arial"/>
                          <a:cs typeface="Arial"/>
                          <a:sym typeface="Arial"/>
                        </a:rPr>
                        <m:t>Baud</m:t>
                      </m:r>
                      <m:r>
                        <a:rPr lang="en-US" sz="2000" b="0" i="1" smtClean="0">
                          <a:latin typeface="Cambria Math" panose="02040503050406030204" pitchFamily="18" charset="0"/>
                          <a:ea typeface="Arial"/>
                          <a:cs typeface="Arial"/>
                          <a:sym typeface="Arial"/>
                        </a:rPr>
                        <m:t> </m:t>
                      </m:r>
                      <m:r>
                        <m:rPr>
                          <m:sty m:val="p"/>
                        </m:rPr>
                        <a:rPr lang="en-US" sz="2000" b="0" i="1" smtClean="0">
                          <a:latin typeface="Cambria Math" panose="02040503050406030204" pitchFamily="18" charset="0"/>
                          <a:ea typeface="Arial"/>
                          <a:cs typeface="Arial"/>
                          <a:sym typeface="Arial"/>
                        </a:rPr>
                        <m:t>Rate</m:t>
                      </m:r>
                      <m:r>
                        <a:rPr lang="en-US" sz="2000" b="0" i="1" smtClean="0">
                          <a:latin typeface="Cambria Math" panose="02040503050406030204" pitchFamily="18" charset="0"/>
                          <a:ea typeface="Arial"/>
                          <a:cs typeface="Arial"/>
                          <a:sym typeface="Arial"/>
                        </a:rPr>
                        <m:t> = </m:t>
                      </m:r>
                      <m:f>
                        <m:fPr>
                          <m:ctrlPr>
                            <a:rPr lang="en-US" sz="2000" b="0" i="1" smtClean="0">
                              <a:latin typeface="Cambria Math" panose="02040503050406030204" pitchFamily="18" charset="0"/>
                              <a:cs typeface="Arial"/>
                              <a:sym typeface="Arial"/>
                            </a:rPr>
                          </m:ctrlPr>
                        </m:fPr>
                        <m:num>
                          <m:r>
                            <m:rPr>
                              <m:sty m:val="p"/>
                            </m:rPr>
                            <a:rPr lang="en-US" sz="2000" b="0" i="1" smtClean="0">
                              <a:latin typeface="Cambria Math" panose="02040503050406030204" pitchFamily="18" charset="0"/>
                              <a:cs typeface="Arial"/>
                              <a:sym typeface="Arial"/>
                            </a:rPr>
                            <m:t>LSPCLK</m:t>
                          </m:r>
                        </m:num>
                        <m:den>
                          <m:r>
                            <m:rPr>
                              <m:sty m:val="p"/>
                            </m:rPr>
                            <a:rPr lang="en-US" sz="2000" b="0" i="1" smtClean="0">
                              <a:latin typeface="Cambria Math" panose="02040503050406030204" pitchFamily="18" charset="0"/>
                              <a:cs typeface="Arial"/>
                              <a:sym typeface="Arial"/>
                            </a:rPr>
                            <m:t>SPIBRR</m:t>
                          </m:r>
                          <m:r>
                            <a:rPr lang="en-US" sz="2000" b="0" i="1" smtClean="0">
                              <a:latin typeface="Cambria Math" panose="02040503050406030204" pitchFamily="18" charset="0"/>
                              <a:cs typeface="Arial"/>
                              <a:sym typeface="Arial"/>
                            </a:rPr>
                            <m:t> + 1</m:t>
                          </m:r>
                        </m:den>
                      </m:f>
                    </m:oMath>
                  </m:oMathPara>
                </a14:m>
                <a:endParaRPr lang="en-US" sz="20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endParaRPr lang="en-US" sz="20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000" dirty="0">
                    <a:latin typeface="Atkinson Hyperlegible Next"/>
                    <a:ea typeface="Arial"/>
                    <a:cs typeface="Arial"/>
                    <a:sym typeface="Arial"/>
                  </a:rPr>
                  <a:t>For SPIBRR = 0, 1, or 2:</a:t>
                </a:r>
              </a:p>
              <a:p>
                <a:pPr marL="0" lvl="0" indent="0" algn="l" rtl="0">
                  <a:lnSpc>
                    <a:spcPct val="100000"/>
                  </a:lnSpc>
                  <a:spcBef>
                    <a:spcPts val="0"/>
                  </a:spcBef>
                  <a:spcAft>
                    <a:spcPts val="0"/>
                  </a:spcAft>
                  <a:buSzPts val="3000"/>
                  <a:buNone/>
                </a:pPr>
                <a:endParaRPr lang="en-US" sz="2000" dirty="0">
                  <a:latin typeface="Atkinson Hyperlegible Next"/>
                  <a:ea typeface="Arial"/>
                  <a:cs typeface="Arial"/>
                  <a:sym typeface="Arial"/>
                </a:endParaRPr>
              </a:p>
              <a:p>
                <a:pPr marL="0" lv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2000" i="1">
                          <a:latin typeface="Cambria Math" panose="02040503050406030204" pitchFamily="18" charset="0"/>
                          <a:ea typeface="Arial"/>
                          <a:cs typeface="Arial"/>
                          <a:sym typeface="Arial"/>
                        </a:rPr>
                        <m:t>SPI</m:t>
                      </m:r>
                      <m:r>
                        <a:rPr lang="en-US" sz="2000" i="1">
                          <a:latin typeface="Cambria Math" panose="02040503050406030204" pitchFamily="18" charset="0"/>
                          <a:ea typeface="Arial"/>
                          <a:cs typeface="Arial"/>
                          <a:sym typeface="Arial"/>
                        </a:rPr>
                        <m:t> </m:t>
                      </m:r>
                      <m:r>
                        <m:rPr>
                          <m:sty m:val="p"/>
                        </m:rPr>
                        <a:rPr lang="en-US" sz="2000" i="1">
                          <a:latin typeface="Cambria Math" panose="02040503050406030204" pitchFamily="18" charset="0"/>
                          <a:ea typeface="Arial"/>
                          <a:cs typeface="Arial"/>
                          <a:sym typeface="Arial"/>
                        </a:rPr>
                        <m:t>Baud</m:t>
                      </m:r>
                      <m:r>
                        <a:rPr lang="en-US" sz="2000" i="1">
                          <a:latin typeface="Cambria Math" panose="02040503050406030204" pitchFamily="18" charset="0"/>
                          <a:ea typeface="Arial"/>
                          <a:cs typeface="Arial"/>
                          <a:sym typeface="Arial"/>
                        </a:rPr>
                        <m:t> </m:t>
                      </m:r>
                      <m:r>
                        <m:rPr>
                          <m:sty m:val="p"/>
                        </m:rPr>
                        <a:rPr lang="en-US" sz="2000" i="1">
                          <a:latin typeface="Cambria Math" panose="02040503050406030204" pitchFamily="18" charset="0"/>
                          <a:ea typeface="Arial"/>
                          <a:cs typeface="Arial"/>
                          <a:sym typeface="Arial"/>
                        </a:rPr>
                        <m:t>Rate</m:t>
                      </m:r>
                      <m:r>
                        <a:rPr lang="en-US" sz="2000" i="1">
                          <a:latin typeface="Cambria Math" panose="02040503050406030204" pitchFamily="18" charset="0"/>
                          <a:ea typeface="Arial"/>
                          <a:cs typeface="Arial"/>
                          <a:sym typeface="Arial"/>
                        </a:rPr>
                        <m:t> = </m:t>
                      </m:r>
                      <m:f>
                        <m:fPr>
                          <m:ctrlPr>
                            <a:rPr lang="en-US" sz="2000" i="1">
                              <a:latin typeface="Cambria Math" panose="02040503050406030204" pitchFamily="18" charset="0"/>
                              <a:cs typeface="Arial"/>
                              <a:sym typeface="Arial"/>
                            </a:rPr>
                          </m:ctrlPr>
                        </m:fPr>
                        <m:num>
                          <m:r>
                            <m:rPr>
                              <m:sty m:val="p"/>
                            </m:rPr>
                            <a:rPr lang="en-US" sz="2000" i="1">
                              <a:latin typeface="Cambria Math" panose="02040503050406030204" pitchFamily="18" charset="0"/>
                              <a:cs typeface="Arial"/>
                              <a:sym typeface="Arial"/>
                            </a:rPr>
                            <m:t>LSPCLK</m:t>
                          </m:r>
                        </m:num>
                        <m:den>
                          <m:r>
                            <a:rPr lang="en-US" sz="2000" b="0" i="1" smtClean="0">
                              <a:latin typeface="Cambria Math" panose="02040503050406030204" pitchFamily="18" charset="0"/>
                              <a:cs typeface="Arial"/>
                              <a:sym typeface="Arial"/>
                            </a:rPr>
                            <m:t>4</m:t>
                          </m:r>
                        </m:den>
                      </m:f>
                    </m:oMath>
                  </m:oMathPara>
                </a14:m>
                <a:endParaRPr lang="en-US" sz="2000" dirty="0">
                  <a:latin typeface="Atkinson Hyperlegible Next"/>
                  <a:ea typeface="Arial"/>
                  <a:cs typeface="Arial"/>
                  <a:sym typeface="Arial"/>
                </a:endParaRPr>
              </a:p>
              <a:p>
                <a:pPr marL="0" lvl="0" indent="0">
                  <a:lnSpc>
                    <a:spcPct val="100000"/>
                  </a:lnSpc>
                  <a:spcBef>
                    <a:spcPts val="0"/>
                  </a:spcBef>
                  <a:buSzPts val="3000"/>
                  <a:buNone/>
                </a:pPr>
                <a:endParaRPr lang="en-US" sz="2000" dirty="0">
                  <a:latin typeface="Atkinson Hyperlegible Next"/>
                  <a:ea typeface="Arial"/>
                  <a:cs typeface="Arial"/>
                  <a:sym typeface="Arial"/>
                </a:endParaRPr>
              </a:p>
              <a:p>
                <a:pPr marL="0" lvl="0" indent="0">
                  <a:lnSpc>
                    <a:spcPct val="100000"/>
                  </a:lnSpc>
                  <a:spcBef>
                    <a:spcPts val="0"/>
                  </a:spcBef>
                  <a:buSzPts val="3000"/>
                  <a:buNone/>
                </a:pPr>
                <a:r>
                  <a:rPr lang="en-US" sz="2000" dirty="0">
                    <a:latin typeface="Atkinson Hyperlegible Next"/>
                    <a:ea typeface="Arial"/>
                    <a:cs typeface="Arial"/>
                    <a:sym typeface="Arial"/>
                  </a:rPr>
                  <a:t>LSPCLK = Low-speed peripheral clock frequency of the device. Like the </a:t>
                </a:r>
                <a:r>
                  <a:rPr lang="en-US" sz="2000" dirty="0" err="1">
                    <a:latin typeface="Atkinson Hyperlegible Next"/>
                    <a:ea typeface="Arial"/>
                    <a:cs typeface="Arial"/>
                    <a:sym typeface="Arial"/>
                  </a:rPr>
                  <a:t>ePWM</a:t>
                </a:r>
                <a:r>
                  <a:rPr lang="en-US" sz="2000" dirty="0">
                    <a:latin typeface="Atkinson Hyperlegible Next"/>
                    <a:ea typeface="Arial"/>
                    <a:cs typeface="Arial"/>
                    <a:sym typeface="Arial"/>
                  </a:rPr>
                  <a:t> it is 50 </a:t>
                </a:r>
                <a:r>
                  <a:rPr lang="en-US" sz="2000" dirty="0" err="1">
                    <a:latin typeface="Atkinson Hyperlegible Next"/>
                    <a:ea typeface="Arial"/>
                    <a:cs typeface="Arial"/>
                    <a:sym typeface="Arial"/>
                  </a:rPr>
                  <a:t>MHz.</a:t>
                </a:r>
                <a:endParaRPr lang="en-US" sz="2000" dirty="0">
                  <a:latin typeface="Atkinson Hyperlegible Next"/>
                  <a:ea typeface="Arial"/>
                  <a:cs typeface="Arial"/>
                  <a:sym typeface="Arial"/>
                </a:endParaRPr>
              </a:p>
              <a:p>
                <a:pPr marL="0" lvl="0" indent="0">
                  <a:lnSpc>
                    <a:spcPct val="100000"/>
                  </a:lnSpc>
                  <a:spcBef>
                    <a:spcPts val="0"/>
                  </a:spcBef>
                  <a:buSzPts val="3000"/>
                  <a:buNone/>
                </a:pPr>
                <a:endParaRPr lang="en-US" sz="2000" dirty="0">
                  <a:latin typeface="Atkinson Hyperlegible Next"/>
                  <a:ea typeface="Arial"/>
                  <a:cs typeface="Arial"/>
                  <a:sym typeface="Arial"/>
                </a:endParaRPr>
              </a:p>
              <a:p>
                <a:pPr marL="0" lvl="0" indent="0">
                  <a:lnSpc>
                    <a:spcPct val="100000"/>
                  </a:lnSpc>
                  <a:spcBef>
                    <a:spcPts val="0"/>
                  </a:spcBef>
                  <a:buSzPts val="3000"/>
                  <a:buNone/>
                </a:pPr>
                <a:r>
                  <a:rPr lang="en-US" sz="2000" dirty="0">
                    <a:latin typeface="Atkinson Hyperlegible Next"/>
                    <a:ea typeface="Arial"/>
                    <a:cs typeface="Arial"/>
                    <a:sym typeface="Arial"/>
                  </a:rPr>
                  <a:t>In </a:t>
                </a:r>
                <a:r>
                  <a:rPr lang="en-US" sz="2000" b="1" dirty="0">
                    <a:latin typeface="Atkinson Hyperlegible Next"/>
                    <a:ea typeface="Arial"/>
                    <a:cs typeface="Arial"/>
                    <a:sym typeface="Arial"/>
                  </a:rPr>
                  <a:t>master </a:t>
                </a:r>
                <a:r>
                  <a:rPr lang="en-US" sz="2000" dirty="0">
                    <a:latin typeface="Atkinson Hyperlegible Next"/>
                    <a:ea typeface="Arial"/>
                    <a:cs typeface="Arial"/>
                    <a:sym typeface="Arial"/>
                  </a:rPr>
                  <a:t>mode, the SPI clock is generated by the SPI and is output on the SPICLK pin.</a:t>
                </a:r>
              </a:p>
            </p:txBody>
          </p:sp>
        </mc:Choice>
        <mc:Fallback xmlns="">
          <p:sp>
            <p:nvSpPr>
              <p:cNvPr id="118" name="Google Shape;118;p29">
                <a:extLst>
                  <a:ext uri="{FF2B5EF4-FFF2-40B4-BE49-F238E27FC236}">
                    <a16:creationId xmlns:a16="http://schemas.microsoft.com/office/drawing/2014/main" id="{2FD9E63C-2556-595F-62E4-10FF5188E35C}"/>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EDFF50B-E9FC-B3C7-9FEC-89DC88149F9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D47E0A6-DA2E-EB86-1691-22841E29B9D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SPI - SPICLK</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24CB510-5B58-9C10-A961-11D38573C5E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482486C-02ED-7A58-8752-75F8FECB23A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DD08FC4-2814-698D-A874-E0FF2070ADB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3A21B5E-16C6-9F79-EE93-07B9D8409E4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FDC23B9-423F-47D4-4FC9-6DE9A444CE1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060AC62-4B23-EC82-D9B3-AB4FD309BC7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5302302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8">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CC5B38E-850E-8E68-CBEB-7F0526A07FC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62C33B7-B0F4-FE47-9A49-2B15E3D7144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3200" dirty="0">
                <a:latin typeface="Atkinson Hyperlegible Next"/>
                <a:ea typeface="Arial"/>
                <a:cs typeface="Arial"/>
                <a:sym typeface="Arial"/>
              </a:rPr>
              <a:t>The </a:t>
            </a:r>
            <a:r>
              <a:rPr lang="en-US" sz="3200" b="1" dirty="0">
                <a:latin typeface="Atkinson Hyperlegible Next"/>
                <a:ea typeface="Arial"/>
                <a:cs typeface="Arial"/>
                <a:sym typeface="Arial"/>
              </a:rPr>
              <a:t>SPISIMO</a:t>
            </a:r>
            <a:r>
              <a:rPr lang="en-US" sz="3200" dirty="0">
                <a:latin typeface="Atkinson Hyperlegible Next"/>
                <a:ea typeface="Arial"/>
                <a:cs typeface="Arial"/>
                <a:sym typeface="Arial"/>
              </a:rPr>
              <a:t> pin acts as the primary transmission pin </a:t>
            </a:r>
            <a:r>
              <a:rPr lang="en-US" sz="3200" b="1" dirty="0">
                <a:latin typeface="Atkinson Hyperlegible Next"/>
                <a:ea typeface="Arial"/>
                <a:cs typeface="Arial"/>
                <a:sym typeface="Arial"/>
              </a:rPr>
              <a:t>from </a:t>
            </a:r>
            <a:r>
              <a:rPr lang="en-US" sz="3200" dirty="0">
                <a:latin typeface="Atkinson Hyperlegible Next"/>
                <a:ea typeface="Arial"/>
                <a:cs typeface="Arial"/>
                <a:sym typeface="Arial"/>
              </a:rPr>
              <a:t>the controller </a:t>
            </a:r>
            <a:r>
              <a:rPr lang="en-US" sz="3200" b="1" dirty="0">
                <a:latin typeface="Atkinson Hyperlegible Next"/>
                <a:ea typeface="Arial"/>
                <a:cs typeface="Arial"/>
                <a:sym typeface="Arial"/>
              </a:rPr>
              <a:t>to </a:t>
            </a:r>
            <a:r>
              <a:rPr lang="en-US" sz="3200" dirty="0">
                <a:latin typeface="Atkinson Hyperlegible Next"/>
                <a:ea typeface="Arial"/>
                <a:cs typeface="Arial"/>
                <a:sym typeface="Arial"/>
              </a:rPr>
              <a:t>the peripheral</a:t>
            </a:r>
          </a:p>
          <a:p>
            <a:pPr marL="0" lvl="0" indent="0" algn="l" rtl="0">
              <a:lnSpc>
                <a:spcPct val="100000"/>
              </a:lnSpc>
              <a:spcBef>
                <a:spcPts val="0"/>
              </a:spcBef>
              <a:spcAft>
                <a:spcPts val="0"/>
              </a:spcAft>
              <a:buSzPts val="3000"/>
              <a:buNone/>
            </a:pPr>
            <a:endParaRPr lang="en-US" sz="32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3200" dirty="0">
                <a:latin typeface="Atkinson Hyperlegible Next"/>
                <a:ea typeface="Arial"/>
                <a:cs typeface="Arial"/>
                <a:sym typeface="Arial"/>
              </a:rPr>
              <a:t>If the MCU (Microcontroller Unit), is configured as the master, data is shifted out of it’s transmit buffer and onto this line!</a:t>
            </a:r>
          </a:p>
          <a:p>
            <a:pPr marL="0" lvl="0" indent="0" algn="l" rtl="0">
              <a:lnSpc>
                <a:spcPct val="100000"/>
              </a:lnSpc>
              <a:spcBef>
                <a:spcPts val="0"/>
              </a:spcBef>
              <a:spcAft>
                <a:spcPts val="0"/>
              </a:spcAft>
              <a:buSzPts val="3000"/>
              <a:buNone/>
            </a:pPr>
            <a:endParaRPr lang="en-US" sz="32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3200" dirty="0">
                <a:latin typeface="Atkinson Hyperlegible Next"/>
                <a:ea typeface="Arial"/>
                <a:cs typeface="Arial"/>
                <a:sym typeface="Arial"/>
              </a:rPr>
              <a:t>If the MCU is configured as a slave, this pin receives the incoming data from the network’s master.</a:t>
            </a:r>
          </a:p>
        </p:txBody>
      </p:sp>
      <p:sp>
        <p:nvSpPr>
          <p:cNvPr id="119" name="Google Shape;119;p29">
            <a:extLst>
              <a:ext uri="{FF2B5EF4-FFF2-40B4-BE49-F238E27FC236}">
                <a16:creationId xmlns:a16="http://schemas.microsoft.com/office/drawing/2014/main" id="{42839ED7-1F4C-B900-2BA6-2BD518035C7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04E9EFC-94D6-A915-80E2-1DB358318E3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SPI – SPISIMO (Master Output)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7942637-A915-F581-B4EB-A1FCCE7FDAD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CEE6E5A-EC5C-B965-A447-E27A9376D90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B648222-98A7-F398-4BE0-DB33A043399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3655D45-B8D6-615E-1AAB-64475BE9590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CF649C2-3366-A59C-4C99-31F2856435F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D38FF2F-DC22-3CBC-2481-AEB89D5C9FC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95560276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98ECC21-0235-5246-DCAA-F11DDAB11EC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8F0297A-E039-3270-D99A-F06B0FE740E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3200" dirty="0">
                <a:latin typeface="Atkinson Hyperlegible Next"/>
                <a:ea typeface="Arial"/>
                <a:cs typeface="Arial"/>
                <a:sym typeface="Arial"/>
              </a:rPr>
              <a:t>The </a:t>
            </a:r>
            <a:r>
              <a:rPr lang="en-US" sz="3200" b="1" dirty="0">
                <a:latin typeface="Atkinson Hyperlegible Next"/>
                <a:ea typeface="Arial"/>
                <a:cs typeface="Arial"/>
                <a:sym typeface="Arial"/>
              </a:rPr>
              <a:t>SPISOMI</a:t>
            </a:r>
            <a:r>
              <a:rPr lang="en-US" sz="3200" dirty="0">
                <a:latin typeface="Atkinson Hyperlegible Next"/>
                <a:ea typeface="Arial"/>
                <a:cs typeface="Arial"/>
                <a:sym typeface="Arial"/>
              </a:rPr>
              <a:t> pin acts as the primary receiver pin </a:t>
            </a:r>
            <a:r>
              <a:rPr lang="en-US" sz="3200" b="1" dirty="0">
                <a:latin typeface="Atkinson Hyperlegible Next"/>
                <a:ea typeface="Arial"/>
                <a:cs typeface="Arial"/>
                <a:sym typeface="Arial"/>
              </a:rPr>
              <a:t>from </a:t>
            </a:r>
            <a:r>
              <a:rPr lang="en-US" sz="3200" dirty="0">
                <a:latin typeface="Atkinson Hyperlegible Next"/>
                <a:ea typeface="Arial"/>
                <a:cs typeface="Arial"/>
                <a:sym typeface="Arial"/>
              </a:rPr>
              <a:t>the peripheral back </a:t>
            </a:r>
            <a:r>
              <a:rPr lang="en-US" sz="3200" b="1" dirty="0">
                <a:latin typeface="Atkinson Hyperlegible Next"/>
                <a:ea typeface="Arial"/>
                <a:cs typeface="Arial"/>
                <a:sym typeface="Arial"/>
              </a:rPr>
              <a:t>to </a:t>
            </a:r>
            <a:r>
              <a:rPr lang="en-US" sz="3200" dirty="0">
                <a:latin typeface="Atkinson Hyperlegible Next"/>
                <a:ea typeface="Arial"/>
                <a:cs typeface="Arial"/>
                <a:sym typeface="Arial"/>
              </a:rPr>
              <a:t>the MCU.</a:t>
            </a:r>
          </a:p>
          <a:p>
            <a:pPr marL="0" lvl="0" indent="0" algn="l" rtl="0">
              <a:lnSpc>
                <a:spcPct val="100000"/>
              </a:lnSpc>
              <a:spcBef>
                <a:spcPts val="0"/>
              </a:spcBef>
              <a:spcAft>
                <a:spcPts val="0"/>
              </a:spcAft>
              <a:buSzPts val="3000"/>
              <a:buNone/>
            </a:pPr>
            <a:endParaRPr lang="en-US" sz="32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3200" dirty="0">
                <a:latin typeface="Atkinson Hyperlegible Next"/>
                <a:ea typeface="Arial"/>
                <a:cs typeface="Arial"/>
                <a:sym typeface="Arial"/>
              </a:rPr>
              <a:t>When the SPI transmits data, it can receive characters simultaneously, placing them in the receiver buffer </a:t>
            </a:r>
            <a:r>
              <a:rPr lang="en-US" sz="3200" b="1" dirty="0">
                <a:latin typeface="Atkinson Hyperlegible Next"/>
                <a:ea typeface="Arial"/>
                <a:cs typeface="Arial"/>
                <a:sym typeface="Arial"/>
              </a:rPr>
              <a:t>SPIRXBUF</a:t>
            </a:r>
            <a:r>
              <a:rPr lang="en-US" sz="3200" dirty="0">
                <a:latin typeface="Atkinson Hyperlegible Next"/>
                <a:ea typeface="Arial"/>
                <a:cs typeface="Arial"/>
                <a:sym typeface="Arial"/>
              </a:rPr>
              <a:t>.</a:t>
            </a:r>
          </a:p>
          <a:p>
            <a:pPr marL="0" lvl="0" indent="0" algn="l" rtl="0">
              <a:lnSpc>
                <a:spcPct val="100000"/>
              </a:lnSpc>
              <a:spcBef>
                <a:spcPts val="0"/>
              </a:spcBef>
              <a:spcAft>
                <a:spcPts val="0"/>
              </a:spcAft>
              <a:buSzPts val="3000"/>
              <a:buNone/>
            </a:pPr>
            <a:endParaRPr lang="en-US" sz="32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3200" dirty="0">
                <a:latin typeface="Atkinson Hyperlegible Next"/>
                <a:ea typeface="Arial"/>
                <a:cs typeface="Arial"/>
                <a:sym typeface="Arial"/>
              </a:rPr>
              <a:t>The incoming data is stored right-justified within this register</a:t>
            </a:r>
          </a:p>
        </p:txBody>
      </p:sp>
      <p:sp>
        <p:nvSpPr>
          <p:cNvPr id="119" name="Google Shape;119;p29">
            <a:extLst>
              <a:ext uri="{FF2B5EF4-FFF2-40B4-BE49-F238E27FC236}">
                <a16:creationId xmlns:a16="http://schemas.microsoft.com/office/drawing/2014/main" id="{F046BF22-42D0-A0CC-F8E7-6E900454225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5151CF3-9331-0DAB-95B4-B76A38AB66E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SPI – SPISOMI (Master Input)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F7733BA-51E0-691E-A2A6-8C075604001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661B270-91AC-FC21-1684-D5BF10BFD4B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F023484-694F-ED8F-79BE-621AB614865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8FD1BB7-C1BB-C9C4-9EE9-E6B3B1CE5AC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E98B622-6311-731D-316D-79DD110EB47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5354B45-ACCB-D00A-53C6-198FAA02C81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8602409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5CDD15-AFE6-7605-AF0A-5D10FB2F48A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BCF4FB4-1BEA-AC6A-3F06-DD74FDFE7AB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dirty="0">
                <a:latin typeface="Atkinson Hyperlegible Next"/>
                <a:ea typeface="Arial"/>
                <a:cs typeface="Arial"/>
                <a:sym typeface="Arial"/>
              </a:rPr>
              <a:t>The </a:t>
            </a:r>
            <a:r>
              <a:rPr lang="en-US" b="1" dirty="0">
                <a:latin typeface="Atkinson Hyperlegible Next"/>
                <a:ea typeface="Arial"/>
                <a:cs typeface="Arial"/>
                <a:sym typeface="Arial"/>
              </a:rPr>
              <a:t>SPISTE</a:t>
            </a:r>
            <a:r>
              <a:rPr lang="en-US" dirty="0">
                <a:latin typeface="Atkinson Hyperlegible Next"/>
                <a:ea typeface="Arial"/>
                <a:cs typeface="Arial"/>
                <a:sym typeface="Arial"/>
              </a:rPr>
              <a:t> provides the ability to gate any clock and data pulses when SPI is in slave mode.</a:t>
            </a:r>
          </a:p>
          <a:p>
            <a:pPr marL="0" lvl="0" indent="0" algn="l" rtl="0">
              <a:lnSpc>
                <a:spcPct val="100000"/>
              </a:lnSpc>
              <a:spcBef>
                <a:spcPts val="0"/>
              </a:spcBef>
              <a:spcAft>
                <a:spcPts val="0"/>
              </a:spcAft>
              <a:buSzPts val="3000"/>
              <a:buNone/>
            </a:pPr>
            <a:endParaRPr lang="en-US" b="1"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dirty="0">
                <a:latin typeface="Atkinson Hyperlegible Next"/>
                <a:ea typeface="Arial"/>
                <a:cs typeface="Arial"/>
                <a:sym typeface="Arial"/>
              </a:rPr>
              <a:t>An active </a:t>
            </a:r>
            <a:r>
              <a:rPr lang="en-US" b="1" dirty="0">
                <a:latin typeface="Atkinson Hyperlegible Next"/>
                <a:ea typeface="Arial"/>
                <a:cs typeface="Arial"/>
                <a:sym typeface="Arial"/>
              </a:rPr>
              <a:t>SPISTE</a:t>
            </a:r>
            <a:r>
              <a:rPr lang="en-US" dirty="0">
                <a:latin typeface="Atkinson Hyperlegible Next"/>
                <a:ea typeface="Arial"/>
                <a:cs typeface="Arial"/>
                <a:sym typeface="Arial"/>
              </a:rPr>
              <a:t> will not allow the slave to receive data, preventing the SPI slave from losing synchronization with the master.</a:t>
            </a:r>
          </a:p>
          <a:p>
            <a:pPr marL="0" lvl="0" indent="0" algn="l" rtl="0">
              <a:lnSpc>
                <a:spcPct val="100000"/>
              </a:lnSpc>
              <a:spcBef>
                <a:spcPts val="0"/>
              </a:spcBef>
              <a:spcAft>
                <a:spcPts val="0"/>
              </a:spcAft>
              <a:buSzPts val="3000"/>
              <a:buNone/>
            </a:pPr>
            <a:endParaRPr lang="en-US"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dirty="0">
                <a:latin typeface="Atkinson Hyperlegible Next"/>
                <a:ea typeface="Arial"/>
                <a:cs typeface="Arial"/>
                <a:sym typeface="Arial"/>
              </a:rPr>
              <a:t>Toggling the </a:t>
            </a:r>
            <a:r>
              <a:rPr lang="en-US" b="1" dirty="0">
                <a:latin typeface="Atkinson Hyperlegible Next"/>
                <a:ea typeface="Arial"/>
                <a:cs typeface="Arial"/>
                <a:sym typeface="Arial"/>
              </a:rPr>
              <a:t>SPISWRESET</a:t>
            </a:r>
            <a:r>
              <a:rPr lang="en-US" dirty="0">
                <a:latin typeface="Atkinson Hyperlegible Next"/>
                <a:ea typeface="Arial"/>
                <a:cs typeface="Arial"/>
                <a:sym typeface="Arial"/>
              </a:rPr>
              <a:t> bit will reset the internal bit counter and allow a desynchronized slave to recover.</a:t>
            </a:r>
          </a:p>
        </p:txBody>
      </p:sp>
      <p:sp>
        <p:nvSpPr>
          <p:cNvPr id="119" name="Google Shape;119;p29">
            <a:extLst>
              <a:ext uri="{FF2B5EF4-FFF2-40B4-BE49-F238E27FC236}">
                <a16:creationId xmlns:a16="http://schemas.microsoft.com/office/drawing/2014/main" id="{5A261050-3D7F-6018-7427-007591F52CC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24DB46D-7DC0-1270-25F4-79CD5E23CB1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SPI – SPISTE (Slave Transmit Enable)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DAF2B11-7E8E-42B6-5552-09139306962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0E403C6-A5BF-3150-F5E8-3769EB52BCD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2AEFCE6-D04D-2467-7F9B-4D9682032A6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38020E7-89E1-8AA3-4761-AEA9005F481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B5672D0-3BEB-B5C3-3FAA-184428A1CD4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A9B83F0-E7F8-E3E7-B860-5F7CA01C60F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84644025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3484EB3-7ADF-0B3F-6113-7663E2C8DED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3303FD9-BEA6-DF6F-19C6-CD5B716D0E7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5DB55C3-4C34-072B-DAEC-F7505A532E8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SPI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C1D719C-887E-69EF-24D6-1AE1DF131C5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C2B721C-3728-4781-3E59-328508D8BE4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8682E44-516C-34BD-9D39-6B6247AA592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A40C99F-96E8-B584-FFCB-39C3C5F41F6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DEE1D6E-8EDE-8B12-8BF5-527E6108362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458611A-0B1D-B91D-EE2C-ADB66C17B40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5" name="TextBox 4">
            <a:extLst>
              <a:ext uri="{FF2B5EF4-FFF2-40B4-BE49-F238E27FC236}">
                <a16:creationId xmlns:a16="http://schemas.microsoft.com/office/drawing/2014/main" id="{F2EE5986-6E63-AB28-8A27-F0791EBCC56F}"/>
              </a:ext>
            </a:extLst>
          </p:cNvPr>
          <p:cNvSpPr txBox="1"/>
          <p:nvPr/>
        </p:nvSpPr>
        <p:spPr>
          <a:xfrm>
            <a:off x="4839249" y="6251431"/>
            <a:ext cx="3619500" cy="253916"/>
          </a:xfrm>
          <a:prstGeom prst="rect">
            <a:avLst/>
          </a:prstGeom>
          <a:noFill/>
        </p:spPr>
        <p:txBody>
          <a:bodyPr wrap="square">
            <a:spAutoFit/>
          </a:bodyPr>
          <a:lstStyle/>
          <a:p>
            <a:pPr algn="ctr"/>
            <a:r>
              <a:rPr lang="en-US" sz="1050" dirty="0">
                <a:hlinkClick r:id="rId4"/>
              </a:rPr>
              <a:t>https://en.wikipedia.org/wiki/Serial_Peripheral_Interface</a:t>
            </a:r>
            <a:r>
              <a:rPr lang="en-US" sz="1050" dirty="0"/>
              <a:t> </a:t>
            </a:r>
          </a:p>
        </p:txBody>
      </p:sp>
      <p:pic>
        <p:nvPicPr>
          <p:cNvPr id="7" name="Picture 6" descr="SPI data exchange between a Master and a Slave, each with an empty 8-bit shift register above a memory array. The master's memory holds bytes M0 to M7; the slave's holds S0 to S15. SCK and MOSI run from master to slave, entering the slave register's left end. MISO runs from the slave register's rightmost bit back to the master register's leftmost bit. The two registers form a loop, so each clock pulse shifts one bit each way, swapping register contents.">
            <a:extLst>
              <a:ext uri="{FF2B5EF4-FFF2-40B4-BE49-F238E27FC236}">
                <a16:creationId xmlns:a16="http://schemas.microsoft.com/office/drawing/2014/main" id="{647DD6B5-C8C7-BE73-FB99-988487132B67}"/>
              </a:ext>
            </a:extLst>
          </p:cNvPr>
          <p:cNvPicPr>
            <a:picLocks noChangeAspect="1"/>
          </p:cNvPicPr>
          <p:nvPr/>
        </p:nvPicPr>
        <p:blipFill>
          <a:blip r:embed="rId5"/>
          <a:stretch>
            <a:fillRect/>
          </a:stretch>
        </p:blipFill>
        <p:spPr>
          <a:xfrm>
            <a:off x="423862" y="2081212"/>
            <a:ext cx="11344275" cy="2695575"/>
          </a:xfrm>
          <a:prstGeom prst="rect">
            <a:avLst/>
          </a:prstGeom>
        </p:spPr>
      </p:pic>
    </p:spTree>
    <p:extLst>
      <p:ext uri="{BB962C8B-B14F-4D97-AF65-F5344CB8AC3E}">
        <p14:creationId xmlns:p14="http://schemas.microsoft.com/office/powerpoint/2010/main" val="250957774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7117FF3-D79A-4E6D-75C3-CE94ED729B6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F2FD01B-408F-E151-CDE7-E4201C6F18F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The system can be compressed by setting the </a:t>
            </a:r>
            <a:r>
              <a:rPr lang="en-US" sz="1800" b="1" dirty="0">
                <a:latin typeface="Atkinson Hyperlegible Next"/>
                <a:ea typeface="Arial"/>
                <a:cs typeface="Arial"/>
                <a:sym typeface="Arial"/>
              </a:rPr>
              <a:t>TRIWIRE</a:t>
            </a:r>
            <a:r>
              <a:rPr lang="en-US" sz="1800" dirty="0">
                <a:latin typeface="Atkinson Hyperlegible Next"/>
                <a:ea typeface="Arial"/>
                <a:cs typeface="Arial"/>
                <a:sym typeface="Arial"/>
              </a:rPr>
              <a:t> bit to 1, enabling a 3-wire SPI mode.</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SPI 3-wire mode allows for SPI communication over three pins instead of the normal four pins.</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Because in 3-wire mode, the receive and transmit paths within the SPI are connected, any data transmitted by the SPI module is also received by itself. The application software must take care to perform a dummy read to clear the SPI data register of the additional received data.</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This helps reduce pin count on your microcontroller when interfacing with peripherals that do not require full-duplex communication.</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If you only need to send/read commands and occasionally read/send data (not simultaneously), 3-wire saves wiring complexity without losing functionality.</a:t>
            </a:r>
          </a:p>
        </p:txBody>
      </p:sp>
      <p:sp>
        <p:nvSpPr>
          <p:cNvPr id="119" name="Google Shape;119;p29">
            <a:extLst>
              <a:ext uri="{FF2B5EF4-FFF2-40B4-BE49-F238E27FC236}">
                <a16:creationId xmlns:a16="http://schemas.microsoft.com/office/drawing/2014/main" id="{7BFEB8EA-0E4F-2EAC-C59E-34F83F5376C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E60C4D4-092F-24FC-70E2-4A6FDF1DC1D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SPI – 3-wire mode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EC345F1-C0B5-77BF-2EFC-16C759F24F8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C3A5B73-18EC-95BA-6963-29C225325AB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FB7D5C2-0E3C-4C21-2AA2-DF365254E17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04E95C-CB19-D7B8-C42C-39E4409048B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B7DD552-0BF9-485D-B66F-19FCBB77910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B00B087-3BE3-41E6-55F8-128DC1FFB57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3738346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DF1D52B-88FB-4B21-6A7A-48542FFB119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AB5E393-A3EA-A3F7-16EC-C7934B6E0CA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To successfully transmit data, the master and slave must share an identical clock wave mapping.</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The clock polarity select bit (</a:t>
            </a:r>
            <a:r>
              <a:rPr lang="en-US" sz="1800" b="1" dirty="0">
                <a:latin typeface="Atkinson Hyperlegible Next"/>
                <a:ea typeface="Arial"/>
                <a:cs typeface="Arial"/>
                <a:sym typeface="Arial"/>
              </a:rPr>
              <a:t>CLKPOLARITY</a:t>
            </a:r>
            <a:r>
              <a:rPr lang="en-US" sz="1800" dirty="0">
                <a:latin typeface="Atkinson Hyperlegible Next"/>
                <a:ea typeface="Arial"/>
                <a:cs typeface="Arial"/>
                <a:sym typeface="Arial"/>
              </a:rPr>
              <a:t>) and the clock phase select bit (</a:t>
            </a:r>
            <a:r>
              <a:rPr lang="en-US" sz="1800" b="1" dirty="0">
                <a:latin typeface="Atkinson Hyperlegible Next"/>
                <a:ea typeface="Arial"/>
                <a:cs typeface="Arial"/>
                <a:sym typeface="Arial"/>
              </a:rPr>
              <a:t>CLK_PHASE</a:t>
            </a:r>
            <a:r>
              <a:rPr lang="en-US" sz="1800" dirty="0">
                <a:latin typeface="Atkinson Hyperlegible Next"/>
                <a:ea typeface="Arial"/>
                <a:cs typeface="Arial"/>
                <a:sym typeface="Arial"/>
              </a:rPr>
              <a:t>) control four different clocking schemes on the </a:t>
            </a:r>
            <a:r>
              <a:rPr lang="en-US" sz="1800" b="1" dirty="0">
                <a:latin typeface="Atkinson Hyperlegible Next"/>
                <a:ea typeface="Arial"/>
                <a:cs typeface="Arial"/>
                <a:sym typeface="Arial"/>
              </a:rPr>
              <a:t>SPICLK</a:t>
            </a:r>
            <a:r>
              <a:rPr lang="en-US" sz="1800" dirty="0">
                <a:latin typeface="Atkinson Hyperlegible Next"/>
                <a:ea typeface="Arial"/>
                <a:cs typeface="Arial"/>
                <a:sym typeface="Arial"/>
              </a:rPr>
              <a:t> pin.</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b="1" dirty="0">
                <a:latin typeface="Atkinson Hyperlegible Next"/>
                <a:ea typeface="Arial"/>
                <a:cs typeface="Arial"/>
                <a:sym typeface="Arial"/>
              </a:rPr>
              <a:t>CLKPOLARITY</a:t>
            </a:r>
            <a:r>
              <a:rPr lang="en-US" sz="1800" dirty="0">
                <a:latin typeface="Atkinson Hyperlegible Next"/>
                <a:ea typeface="Arial"/>
                <a:cs typeface="Arial"/>
                <a:sym typeface="Arial"/>
              </a:rPr>
              <a:t> selects the active edge, either rising or falling, of the clock</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b="1" dirty="0">
                <a:latin typeface="Atkinson Hyperlegible Next"/>
                <a:ea typeface="Arial"/>
                <a:cs typeface="Arial"/>
                <a:sym typeface="Arial"/>
              </a:rPr>
              <a:t>CLK_PHASE </a:t>
            </a:r>
            <a:r>
              <a:rPr lang="en-US" sz="1800" dirty="0">
                <a:latin typeface="Atkinson Hyperlegible Next"/>
                <a:ea typeface="Arial"/>
                <a:cs typeface="Arial"/>
                <a:sym typeface="Arial"/>
              </a:rPr>
              <a:t>selects a half-cycle delay of the clock.</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Very dependent on your sensor, look at and understand your dataset to know what is expected!</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If </a:t>
            </a:r>
            <a:r>
              <a:rPr lang="en-US" sz="1800" b="1" dirty="0">
                <a:latin typeface="Atkinson Hyperlegible Next"/>
                <a:ea typeface="Arial"/>
                <a:cs typeface="Arial"/>
                <a:sym typeface="Arial"/>
              </a:rPr>
              <a:t>CLKPOLARITY</a:t>
            </a:r>
            <a:r>
              <a:rPr lang="en-US" sz="1800" dirty="0">
                <a:latin typeface="Atkinson Hyperlegible Next"/>
                <a:ea typeface="Arial"/>
                <a:cs typeface="Arial"/>
                <a:sym typeface="Arial"/>
              </a:rPr>
              <a:t> and </a:t>
            </a:r>
            <a:r>
              <a:rPr lang="en-US" sz="1800" b="1" dirty="0">
                <a:latin typeface="Atkinson Hyperlegible Next"/>
                <a:ea typeface="Arial"/>
                <a:cs typeface="Arial"/>
                <a:sym typeface="Arial"/>
              </a:rPr>
              <a:t>CLK_PHASE</a:t>
            </a:r>
            <a:r>
              <a:rPr lang="en-US" sz="1800" dirty="0">
                <a:latin typeface="Atkinson Hyperlegible Next"/>
                <a:ea typeface="Arial"/>
                <a:cs typeface="Arial"/>
                <a:sym typeface="Arial"/>
              </a:rPr>
              <a:t> can only 0 or 1 each, how many different modes are there available?</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gn="ctr">
              <a:lnSpc>
                <a:spcPct val="100000"/>
              </a:lnSpc>
              <a:spcBef>
                <a:spcPts val="0"/>
              </a:spcBef>
              <a:buSzPts val="3000"/>
              <a:buNone/>
            </a:pPr>
            <a:r>
              <a:rPr lang="en-US" sz="1800" dirty="0">
                <a:latin typeface="Atkinson Hyperlegible Next"/>
                <a:ea typeface="Arial"/>
                <a:cs typeface="Arial"/>
                <a:sym typeface="Arial"/>
              </a:rPr>
              <a:t>4 Modes!</a:t>
            </a:r>
          </a:p>
        </p:txBody>
      </p:sp>
      <p:sp>
        <p:nvSpPr>
          <p:cNvPr id="119" name="Google Shape;119;p29">
            <a:extLst>
              <a:ext uri="{FF2B5EF4-FFF2-40B4-BE49-F238E27FC236}">
                <a16:creationId xmlns:a16="http://schemas.microsoft.com/office/drawing/2014/main" id="{A1FC147D-272D-7DC0-8061-875C174157A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B98CECE-7032-DBE7-EA67-9F7E009C01C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SPI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E33E0F5-E0C4-C971-0B0E-56D1C80A4AE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DC46077-EA7A-7E22-65B9-D382F1C66D9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8E2001D-A723-FCCF-8558-F03BDF8E09B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0DD7F2-39FC-F4DF-DB77-DF919EB8A19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DE126E3-EED5-A37F-D56C-B51F7CA9AF9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D50334B-2460-FB7A-282A-1C50909667D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413146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D5EBC93-2C11-C4EE-C644-76FFD4B0744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799FA6D-EE91-A13E-C628-A9AFF64352A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2000" dirty="0"/>
              <a:t>Rising Edge Without Delay: </a:t>
            </a:r>
            <a:r>
              <a:rPr lang="en-US" sz="2000" b="1" dirty="0"/>
              <a:t>CLKPOLARITY</a:t>
            </a:r>
            <a:r>
              <a:rPr lang="en-US" sz="2000" dirty="0"/>
              <a:t> = 0 and </a:t>
            </a:r>
            <a:r>
              <a:rPr lang="en-US" sz="2000" b="1" dirty="0"/>
              <a:t>CLK_PHASE </a:t>
            </a:r>
            <a:r>
              <a:rPr lang="en-US" sz="2000" dirty="0"/>
              <a:t>= 0</a:t>
            </a:r>
          </a:p>
          <a:p>
            <a:pPr marL="285750" indent="-285750">
              <a:lnSpc>
                <a:spcPct val="100000"/>
              </a:lnSpc>
              <a:spcBef>
                <a:spcPts val="0"/>
              </a:spcBef>
              <a:buSzPts val="3000"/>
            </a:pPr>
            <a:r>
              <a:rPr lang="en-US" sz="2000" dirty="0"/>
              <a:t>The SPI transmits data on the </a:t>
            </a:r>
            <a:r>
              <a:rPr lang="en-US" sz="2000" b="1" dirty="0"/>
              <a:t>rising edge </a:t>
            </a:r>
            <a:r>
              <a:rPr lang="en-US" sz="2000" dirty="0"/>
              <a:t>of the SPICLK signal.</a:t>
            </a:r>
          </a:p>
          <a:p>
            <a:pPr marL="285750" indent="-285750">
              <a:lnSpc>
                <a:spcPct val="100000"/>
              </a:lnSpc>
              <a:spcBef>
                <a:spcPts val="0"/>
              </a:spcBef>
              <a:buSzPts val="3000"/>
            </a:pPr>
            <a:r>
              <a:rPr lang="en-US" sz="2000" dirty="0"/>
              <a:t>The SPI receives data on the </a:t>
            </a:r>
            <a:r>
              <a:rPr lang="en-US" sz="2000" b="1" dirty="0"/>
              <a:t>falling edge </a:t>
            </a:r>
            <a:r>
              <a:rPr lang="en-US" sz="2000" dirty="0"/>
              <a:t>of the SPICLK signal.</a:t>
            </a:r>
          </a:p>
          <a:p>
            <a:pPr marL="0" indent="0">
              <a:lnSpc>
                <a:spcPct val="100000"/>
              </a:lnSpc>
              <a:spcBef>
                <a:spcPts val="0"/>
              </a:spcBef>
              <a:buSzPts val="3000"/>
              <a:buNone/>
            </a:pPr>
            <a:endParaRPr lang="en-US" sz="2000" dirty="0"/>
          </a:p>
          <a:p>
            <a:pPr marL="0" indent="0">
              <a:lnSpc>
                <a:spcPct val="100000"/>
              </a:lnSpc>
              <a:spcBef>
                <a:spcPts val="0"/>
              </a:spcBef>
              <a:buSzPts val="3000"/>
              <a:buNone/>
            </a:pPr>
            <a:r>
              <a:rPr lang="en-US" sz="2000" dirty="0"/>
              <a:t>Rising Edge With Delay: </a:t>
            </a:r>
            <a:r>
              <a:rPr lang="en-US" sz="2000" b="1" dirty="0"/>
              <a:t>CLKPOLARITY</a:t>
            </a:r>
            <a:r>
              <a:rPr lang="en-US" sz="2000" dirty="0"/>
              <a:t> = 0 and </a:t>
            </a:r>
            <a:r>
              <a:rPr lang="en-US" sz="2000" b="1" dirty="0"/>
              <a:t>CLK_PHASE </a:t>
            </a:r>
            <a:r>
              <a:rPr lang="en-US" sz="2000" dirty="0"/>
              <a:t>= 1</a:t>
            </a:r>
          </a:p>
          <a:p>
            <a:pPr marL="285750" indent="-285750">
              <a:lnSpc>
                <a:spcPct val="100000"/>
              </a:lnSpc>
              <a:spcBef>
                <a:spcPts val="0"/>
              </a:spcBef>
              <a:buSzPts val="3000"/>
            </a:pPr>
            <a:r>
              <a:rPr lang="en-US" sz="2000" dirty="0">
                <a:latin typeface="Atkinson Hyperlegible Next"/>
                <a:ea typeface="Arial"/>
                <a:cs typeface="Arial"/>
                <a:sym typeface="Arial"/>
              </a:rPr>
              <a:t>The SPI transmits data </a:t>
            </a:r>
            <a:r>
              <a:rPr lang="en-US" sz="2000" b="1" dirty="0">
                <a:latin typeface="Atkinson Hyperlegible Next"/>
                <a:ea typeface="Arial"/>
                <a:cs typeface="Arial"/>
                <a:sym typeface="Arial"/>
              </a:rPr>
              <a:t>one half-cycle ahead of the rising edge</a:t>
            </a:r>
            <a:r>
              <a:rPr lang="en-US" sz="2000" dirty="0">
                <a:latin typeface="Atkinson Hyperlegible Next"/>
                <a:ea typeface="Arial"/>
                <a:cs typeface="Arial"/>
                <a:sym typeface="Arial"/>
              </a:rPr>
              <a:t> of the SPICLK signal.</a:t>
            </a:r>
          </a:p>
          <a:p>
            <a:pPr marL="285750" indent="-285750">
              <a:lnSpc>
                <a:spcPct val="100000"/>
              </a:lnSpc>
              <a:spcBef>
                <a:spcPts val="0"/>
              </a:spcBef>
              <a:buSzPts val="3000"/>
            </a:pPr>
            <a:r>
              <a:rPr lang="en-US" sz="2000" dirty="0">
                <a:latin typeface="Atkinson Hyperlegible Next"/>
                <a:ea typeface="Arial"/>
                <a:cs typeface="Arial"/>
                <a:sym typeface="Arial"/>
              </a:rPr>
              <a:t>The SPI receives data on the </a:t>
            </a:r>
            <a:r>
              <a:rPr lang="en-US" sz="2000" b="1" dirty="0">
                <a:latin typeface="Atkinson Hyperlegible Next"/>
                <a:ea typeface="Arial"/>
                <a:cs typeface="Arial"/>
                <a:sym typeface="Arial"/>
              </a:rPr>
              <a:t>rising edge </a:t>
            </a:r>
            <a:r>
              <a:rPr lang="en-US" sz="2000" dirty="0">
                <a:latin typeface="Atkinson Hyperlegible Next"/>
                <a:ea typeface="Arial"/>
                <a:cs typeface="Arial"/>
                <a:sym typeface="Arial"/>
              </a:rPr>
              <a:t>of the SPICLK signal.</a:t>
            </a:r>
          </a:p>
          <a:p>
            <a:pPr marL="285750" indent="-28575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t>Falling Edge Without Delay: </a:t>
            </a:r>
            <a:r>
              <a:rPr lang="en-US" sz="2000" b="1" dirty="0"/>
              <a:t>CLKPOLARITY</a:t>
            </a:r>
            <a:r>
              <a:rPr lang="en-US" sz="2000" dirty="0"/>
              <a:t> = 1 and </a:t>
            </a:r>
            <a:r>
              <a:rPr lang="en-US" sz="2000" b="1" dirty="0"/>
              <a:t>CLK_PHASE </a:t>
            </a:r>
            <a:r>
              <a:rPr lang="en-US" sz="2000" dirty="0"/>
              <a:t>= 0</a:t>
            </a:r>
          </a:p>
          <a:p>
            <a:pPr marL="285750" indent="-285750">
              <a:lnSpc>
                <a:spcPct val="100000"/>
              </a:lnSpc>
              <a:spcBef>
                <a:spcPts val="0"/>
              </a:spcBef>
              <a:buSzPts val="3000"/>
            </a:pPr>
            <a:r>
              <a:rPr lang="en-US" sz="2000" dirty="0">
                <a:latin typeface="Atkinson Hyperlegible Next"/>
                <a:ea typeface="Arial"/>
                <a:cs typeface="Arial"/>
                <a:sym typeface="Arial"/>
              </a:rPr>
              <a:t>The SPI transmits data </a:t>
            </a:r>
            <a:r>
              <a:rPr lang="en-US" sz="2000" b="1" dirty="0">
                <a:latin typeface="Atkinson Hyperlegible Next"/>
                <a:ea typeface="Arial"/>
                <a:cs typeface="Arial"/>
                <a:sym typeface="Arial"/>
              </a:rPr>
              <a:t>falling edge </a:t>
            </a:r>
            <a:r>
              <a:rPr lang="en-US" sz="2000" dirty="0">
                <a:latin typeface="Atkinson Hyperlegible Next"/>
                <a:ea typeface="Arial"/>
                <a:cs typeface="Arial"/>
                <a:sym typeface="Arial"/>
              </a:rPr>
              <a:t>of the SPICLK signal.</a:t>
            </a:r>
          </a:p>
          <a:p>
            <a:pPr marL="285750" indent="-285750">
              <a:lnSpc>
                <a:spcPct val="100000"/>
              </a:lnSpc>
              <a:spcBef>
                <a:spcPts val="0"/>
              </a:spcBef>
              <a:buSzPts val="3000"/>
            </a:pPr>
            <a:r>
              <a:rPr lang="en-US" sz="2000" dirty="0">
                <a:latin typeface="Atkinson Hyperlegible Next"/>
                <a:ea typeface="Arial"/>
                <a:cs typeface="Arial"/>
                <a:sym typeface="Arial"/>
              </a:rPr>
              <a:t>The SPI receives data on the </a:t>
            </a:r>
            <a:r>
              <a:rPr lang="en-US" sz="2000" b="1" dirty="0">
                <a:latin typeface="Atkinson Hyperlegible Next"/>
                <a:ea typeface="Arial"/>
                <a:cs typeface="Arial"/>
                <a:sym typeface="Arial"/>
              </a:rPr>
              <a:t>rising edge </a:t>
            </a:r>
            <a:r>
              <a:rPr lang="en-US" sz="2000" dirty="0">
                <a:latin typeface="Atkinson Hyperlegible Next"/>
                <a:ea typeface="Arial"/>
                <a:cs typeface="Arial"/>
                <a:sym typeface="Arial"/>
              </a:rPr>
              <a:t>of the SPICLK signal.</a:t>
            </a:r>
          </a:p>
          <a:p>
            <a:pPr marL="285750" indent="-28575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t>Falling Edge With Delay: </a:t>
            </a:r>
            <a:r>
              <a:rPr lang="en-US" sz="2000" b="1" dirty="0"/>
              <a:t>CLKPOLARITY</a:t>
            </a:r>
            <a:r>
              <a:rPr lang="en-US" sz="2000" dirty="0"/>
              <a:t> = 1 and </a:t>
            </a:r>
            <a:r>
              <a:rPr lang="en-US" sz="2000" b="1" dirty="0"/>
              <a:t>CLK_PHASE </a:t>
            </a:r>
            <a:r>
              <a:rPr lang="en-US" sz="2000" dirty="0"/>
              <a:t>= 1</a:t>
            </a:r>
          </a:p>
          <a:p>
            <a:pPr marL="285750" indent="-285750">
              <a:lnSpc>
                <a:spcPct val="100000"/>
              </a:lnSpc>
              <a:spcBef>
                <a:spcPts val="0"/>
              </a:spcBef>
              <a:buSzPts val="3000"/>
            </a:pPr>
            <a:r>
              <a:rPr lang="en-US" sz="2000" dirty="0">
                <a:latin typeface="Atkinson Hyperlegible Next"/>
                <a:ea typeface="Arial"/>
                <a:cs typeface="Arial"/>
                <a:sym typeface="Arial"/>
              </a:rPr>
              <a:t>The SPI transmits data </a:t>
            </a:r>
            <a:r>
              <a:rPr lang="en-US" sz="2000" b="1" dirty="0">
                <a:latin typeface="Atkinson Hyperlegible Next"/>
                <a:ea typeface="Arial"/>
                <a:cs typeface="Arial"/>
                <a:sym typeface="Arial"/>
              </a:rPr>
              <a:t>one half-cycle ahead of the falling edge </a:t>
            </a:r>
            <a:r>
              <a:rPr lang="en-US" sz="2000" dirty="0">
                <a:latin typeface="Atkinson Hyperlegible Next"/>
                <a:ea typeface="Arial"/>
                <a:cs typeface="Arial"/>
                <a:sym typeface="Arial"/>
              </a:rPr>
              <a:t>of the SPICLK signal.</a:t>
            </a:r>
          </a:p>
          <a:p>
            <a:pPr marL="285750" indent="-285750">
              <a:lnSpc>
                <a:spcPct val="100000"/>
              </a:lnSpc>
              <a:spcBef>
                <a:spcPts val="0"/>
              </a:spcBef>
              <a:buSzPts val="3000"/>
            </a:pPr>
            <a:r>
              <a:rPr lang="en-US" sz="2000" dirty="0">
                <a:latin typeface="Atkinson Hyperlegible Next"/>
                <a:ea typeface="Arial"/>
                <a:cs typeface="Arial"/>
                <a:sym typeface="Arial"/>
              </a:rPr>
              <a:t>The SPI receives data on the </a:t>
            </a:r>
            <a:r>
              <a:rPr lang="en-US" sz="2000" b="1" dirty="0">
                <a:latin typeface="Atkinson Hyperlegible Next"/>
                <a:ea typeface="Arial"/>
                <a:cs typeface="Arial"/>
                <a:sym typeface="Arial"/>
              </a:rPr>
              <a:t>falling edge </a:t>
            </a:r>
            <a:r>
              <a:rPr lang="en-US" sz="2000" dirty="0">
                <a:latin typeface="Atkinson Hyperlegible Next"/>
                <a:ea typeface="Arial"/>
                <a:cs typeface="Arial"/>
                <a:sym typeface="Arial"/>
              </a:rPr>
              <a:t>of the SPICLK signal.</a:t>
            </a:r>
          </a:p>
        </p:txBody>
      </p:sp>
      <p:sp>
        <p:nvSpPr>
          <p:cNvPr id="119" name="Google Shape;119;p29">
            <a:extLst>
              <a:ext uri="{FF2B5EF4-FFF2-40B4-BE49-F238E27FC236}">
                <a16:creationId xmlns:a16="http://schemas.microsoft.com/office/drawing/2014/main" id="{F86BCD1E-9445-A503-955D-FA134776F51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2CA28CE-660E-C139-1CA5-82DBADA3930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SPI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68D80FE-A2BA-623D-4126-354579FB24C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BE91B12-4D03-F3E8-68A6-FB617718F81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CBC6453-2DBD-E3CA-28FE-E3F0C452390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354189E-21FA-7149-818C-7C8F218BA2E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DD3FC35-F134-64FE-A734-A948D473C42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0453609-3613-5B02-DD12-7E0407A4284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2171544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8">
                                            <p:txEl>
                                              <p:pRg st="5" end="5"/>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8">
                                            <p:txEl>
                                              <p:pRg st="9" end="9"/>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2" end="12"/>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18">
                                            <p:txEl>
                                              <p:pRg st="13" end="13"/>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18">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F4481CE-9E3D-FCD5-84B8-BF89B7AC129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821E877-0319-C596-2C2C-4303B31DC0B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74EE54B-1F1D-8250-4A09-B4AD0329075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SPI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9A91297-B33E-FFC9-DCC4-F620390A977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A09F547-F404-6386-E268-500D5E1E35C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FD2EE8-1927-47CB-767D-760CEB4EC3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7ACF77D-6109-E666-9335-B0C379FBF64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1831EC6-1511-0248-5425-B94CC2F3843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F65C4A2-4203-9BF1-6296-B83966E3DA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Timing diagram: TI's four SPI clock modes over an 8-bit transfer. Rising edge without delay idles low and rises at each cycle start; with delay, it rises mid-cycle. Falling edge without delay idles high and falls at each cycle start; with delay, it falls mid-cycle. The data line (SPISIMO/SPISOMI) changes at cycle boundaries, sending the MSB in cycle 1 through the LSB in cycle 8. Active-low SPISTE stays low for the whole byte, and receive latch points fall mid-cycle.">
            <a:extLst>
              <a:ext uri="{FF2B5EF4-FFF2-40B4-BE49-F238E27FC236}">
                <a16:creationId xmlns:a16="http://schemas.microsoft.com/office/drawing/2014/main" id="{9260AE3A-C439-4AAE-1D54-D8DA2A1046C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060714" y="935653"/>
            <a:ext cx="8070573" cy="5471885"/>
          </a:xfrm>
          <a:prstGeom prst="rect">
            <a:avLst/>
          </a:prstGeom>
        </p:spPr>
      </p:pic>
      <p:graphicFrame>
        <p:nvGraphicFramePr>
          <p:cNvPr id="8" name="Table 7">
            <a:extLst>
              <a:ext uri="{FF2B5EF4-FFF2-40B4-BE49-F238E27FC236}">
                <a16:creationId xmlns:a16="http://schemas.microsoft.com/office/drawing/2014/main" id="{6E144E7D-15DC-6E6F-5CFB-5C9F4BBC3A17}"/>
              </a:ext>
            </a:extLst>
          </p:cNvPr>
          <p:cNvGraphicFramePr>
            <a:graphicFrameLocks noGrp="1"/>
          </p:cNvGraphicFramePr>
          <p:nvPr/>
        </p:nvGraphicFramePr>
        <p:xfrm>
          <a:off x="117061" y="1139735"/>
          <a:ext cx="1943652" cy="3180475"/>
        </p:xfrm>
        <a:graphic>
          <a:graphicData uri="http://schemas.openxmlformats.org/drawingml/2006/table">
            <a:tbl>
              <a:tblPr firstRow="1" bandRow="1">
                <a:tableStyleId>{5C22544A-7EE6-4342-B048-85BDC9FD1C3A}</a:tableStyleId>
              </a:tblPr>
              <a:tblGrid>
                <a:gridCol w="971826">
                  <a:extLst>
                    <a:ext uri="{9D8B030D-6E8A-4147-A177-3AD203B41FA5}">
                      <a16:colId xmlns:a16="http://schemas.microsoft.com/office/drawing/2014/main" val="92026252"/>
                    </a:ext>
                  </a:extLst>
                </a:gridCol>
                <a:gridCol w="971826">
                  <a:extLst>
                    <a:ext uri="{9D8B030D-6E8A-4147-A177-3AD203B41FA5}">
                      <a16:colId xmlns:a16="http://schemas.microsoft.com/office/drawing/2014/main" val="3319111987"/>
                    </a:ext>
                  </a:extLst>
                </a:gridCol>
              </a:tblGrid>
              <a:tr h="636095">
                <a:tc>
                  <a:txBody>
                    <a:bodyPr/>
                    <a:lstStyle/>
                    <a:p>
                      <a:pPr algn="ctr"/>
                      <a:r>
                        <a:rPr lang="en-US" dirty="0"/>
                        <a:t>Polarity</a:t>
                      </a:r>
                    </a:p>
                  </a:txBody>
                  <a:tcPr anchor="ctr"/>
                </a:tc>
                <a:tc>
                  <a:txBody>
                    <a:bodyPr/>
                    <a:lstStyle/>
                    <a:p>
                      <a:pPr algn="ctr"/>
                      <a:r>
                        <a:rPr lang="en-US" dirty="0"/>
                        <a:t>Phase</a:t>
                      </a:r>
                    </a:p>
                  </a:txBody>
                  <a:tcPr anchor="ctr"/>
                </a:tc>
                <a:extLst>
                  <a:ext uri="{0D108BD9-81ED-4DB2-BD59-A6C34878D82A}">
                    <a16:rowId xmlns:a16="http://schemas.microsoft.com/office/drawing/2014/main" val="3745624164"/>
                  </a:ext>
                </a:extLst>
              </a:tr>
              <a:tr h="636095">
                <a:tc>
                  <a:txBody>
                    <a:bodyPr/>
                    <a:lstStyle/>
                    <a:p>
                      <a:pPr algn="ctr"/>
                      <a:r>
                        <a:rPr lang="en-US" dirty="0"/>
                        <a:t>0</a:t>
                      </a:r>
                    </a:p>
                  </a:txBody>
                  <a:tcPr anchor="ctr"/>
                </a:tc>
                <a:tc>
                  <a:txBody>
                    <a:bodyPr/>
                    <a:lstStyle/>
                    <a:p>
                      <a:pPr algn="ctr"/>
                      <a:r>
                        <a:rPr lang="en-US" dirty="0"/>
                        <a:t>0</a:t>
                      </a:r>
                    </a:p>
                  </a:txBody>
                  <a:tcPr anchor="ctr"/>
                </a:tc>
                <a:extLst>
                  <a:ext uri="{0D108BD9-81ED-4DB2-BD59-A6C34878D82A}">
                    <a16:rowId xmlns:a16="http://schemas.microsoft.com/office/drawing/2014/main" val="239835093"/>
                  </a:ext>
                </a:extLst>
              </a:tr>
              <a:tr h="636095">
                <a:tc>
                  <a:txBody>
                    <a:bodyPr/>
                    <a:lstStyle/>
                    <a:p>
                      <a:pPr algn="ctr"/>
                      <a:r>
                        <a:rPr lang="en-US" dirty="0"/>
                        <a:t>0</a:t>
                      </a:r>
                    </a:p>
                  </a:txBody>
                  <a:tcPr anchor="ctr"/>
                </a:tc>
                <a:tc>
                  <a:txBody>
                    <a:bodyPr/>
                    <a:lstStyle/>
                    <a:p>
                      <a:pPr algn="ctr"/>
                      <a:r>
                        <a:rPr lang="en-US" dirty="0"/>
                        <a:t>1</a:t>
                      </a:r>
                    </a:p>
                  </a:txBody>
                  <a:tcPr anchor="ctr"/>
                </a:tc>
                <a:extLst>
                  <a:ext uri="{0D108BD9-81ED-4DB2-BD59-A6C34878D82A}">
                    <a16:rowId xmlns:a16="http://schemas.microsoft.com/office/drawing/2014/main" val="4230236753"/>
                  </a:ext>
                </a:extLst>
              </a:tr>
              <a:tr h="636095">
                <a:tc>
                  <a:txBody>
                    <a:bodyPr/>
                    <a:lstStyle/>
                    <a:p>
                      <a:pPr algn="ctr"/>
                      <a:r>
                        <a:rPr lang="en-US" dirty="0"/>
                        <a:t>1</a:t>
                      </a:r>
                    </a:p>
                  </a:txBody>
                  <a:tcPr anchor="ctr"/>
                </a:tc>
                <a:tc>
                  <a:txBody>
                    <a:bodyPr/>
                    <a:lstStyle/>
                    <a:p>
                      <a:pPr algn="ctr"/>
                      <a:r>
                        <a:rPr lang="en-US" dirty="0"/>
                        <a:t>0</a:t>
                      </a:r>
                    </a:p>
                  </a:txBody>
                  <a:tcPr anchor="ctr"/>
                </a:tc>
                <a:extLst>
                  <a:ext uri="{0D108BD9-81ED-4DB2-BD59-A6C34878D82A}">
                    <a16:rowId xmlns:a16="http://schemas.microsoft.com/office/drawing/2014/main" val="477358395"/>
                  </a:ext>
                </a:extLst>
              </a:tr>
              <a:tr h="636095">
                <a:tc>
                  <a:txBody>
                    <a:bodyPr/>
                    <a:lstStyle/>
                    <a:p>
                      <a:pPr algn="ctr"/>
                      <a:r>
                        <a:rPr lang="en-US" dirty="0"/>
                        <a:t>1</a:t>
                      </a:r>
                    </a:p>
                  </a:txBody>
                  <a:tcPr anchor="ctr"/>
                </a:tc>
                <a:tc>
                  <a:txBody>
                    <a:bodyPr/>
                    <a:lstStyle/>
                    <a:p>
                      <a:pPr algn="ctr"/>
                      <a:r>
                        <a:rPr lang="en-US" dirty="0"/>
                        <a:t>1</a:t>
                      </a:r>
                    </a:p>
                  </a:txBody>
                  <a:tcPr anchor="ctr"/>
                </a:tc>
                <a:extLst>
                  <a:ext uri="{0D108BD9-81ED-4DB2-BD59-A6C34878D82A}">
                    <a16:rowId xmlns:a16="http://schemas.microsoft.com/office/drawing/2014/main" val="419066989"/>
                  </a:ext>
                </a:extLst>
              </a:tr>
            </a:tbl>
          </a:graphicData>
        </a:graphic>
      </p:graphicFrame>
    </p:spTree>
    <p:extLst>
      <p:ext uri="{BB962C8B-B14F-4D97-AF65-F5344CB8AC3E}">
        <p14:creationId xmlns:p14="http://schemas.microsoft.com/office/powerpoint/2010/main" val="238457851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8AA2D9A-4F0D-5CFB-85DD-44B83CEDC44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6037133-21E7-ABE4-E59E-4A9B8223B1CD}"/>
              </a:ext>
            </a:extLst>
          </p:cNvPr>
          <p:cNvSpPr txBox="1">
            <a:spLocks noGrp="1"/>
          </p:cNvSpPr>
          <p:nvPr>
            <p:ph type="body" idx="1"/>
          </p:nvPr>
        </p:nvSpPr>
        <p:spPr>
          <a:xfrm>
            <a:off x="214662" y="3613196"/>
            <a:ext cx="2456175" cy="567408"/>
          </a:xfrm>
          <a:prstGeom prst="rect">
            <a:avLst/>
          </a:prstGeom>
          <a:noFill/>
          <a:ln>
            <a:noFill/>
          </a:ln>
        </p:spPr>
        <p:txBody>
          <a:bodyPr spcFirstLastPara="1" wrap="square" lIns="91425" tIns="45700" rIns="91425" bIns="45700" anchor="t" anchorCtr="0">
            <a:noAutofit/>
          </a:bodyPr>
          <a:lstStyle/>
          <a:p>
            <a:pPr marL="114300" indent="0">
              <a:buNone/>
            </a:pPr>
            <a:r>
              <a:rPr lang="en-US" sz="1800" dirty="0">
                <a:solidFill>
                  <a:srgbClr val="EA0000"/>
                </a:solidFill>
                <a:latin typeface="+mj-lt"/>
              </a:rPr>
              <a:t>What is this registry?</a:t>
            </a:r>
          </a:p>
        </p:txBody>
      </p:sp>
      <p:sp>
        <p:nvSpPr>
          <p:cNvPr id="119" name="Google Shape;119;p29">
            <a:extLst>
              <a:ext uri="{FF2B5EF4-FFF2-40B4-BE49-F238E27FC236}">
                <a16:creationId xmlns:a16="http://schemas.microsoft.com/office/drawing/2014/main" id="{681A0D4A-2AF0-4D18-1D07-D3F7FD7467B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55C4FC0-2EDE-4155-F99A-16CC3D82588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SPI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FAD2D90-87ED-5DBF-604A-DEB8B660583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FD47AF8-2E72-D5C8-70CD-DCBF1BDC313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934C81B-1250-64D2-7A40-713811B2862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9D18668-F942-CA06-845A-C4C419CE39E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D3C8662-4B20-4DF3-1908-8ED12F7FEA0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42E81C0-72AA-379C-EC70-A58A445FA1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Block diagram of TI SPI module in master mode. Words from a 16-level TX FIFO pass through SPITXBUF into the SPIDAT shift register, which shifts out on SPISIMO when TALK is enabled. Incoming bits on SPISOMI (or SPISIMO in three-wire mode, selected by TRIWIRE) shift back into SPIDAT, then go through SPIRXBUF to a 16-level RX FIFO. A state-control block clocked by LSPCLK, configured by CLKPOLARITY, CLK_PHASE, SPICHAR and SPIBRR, drives the SPICLK output and the active-low SPISTE enable.">
            <a:extLst>
              <a:ext uri="{FF2B5EF4-FFF2-40B4-BE49-F238E27FC236}">
                <a16:creationId xmlns:a16="http://schemas.microsoft.com/office/drawing/2014/main" id="{A2C751A5-B34B-D3F6-4EA0-0BA4554B903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59101" y="1015602"/>
            <a:ext cx="5752986" cy="5476401"/>
          </a:xfrm>
          <a:prstGeom prst="rect">
            <a:avLst/>
          </a:prstGeom>
        </p:spPr>
      </p:pic>
      <p:cxnSp>
        <p:nvCxnSpPr>
          <p:cNvPr id="6" name="Straight Arrow Connector 5">
            <a:extLst>
              <a:ext uri="{FF2B5EF4-FFF2-40B4-BE49-F238E27FC236}">
                <a16:creationId xmlns:a16="http://schemas.microsoft.com/office/drawing/2014/main" id="{BBDCD480-53B6-1B12-6CBE-D187B4F8A2CA}"/>
              </a:ext>
            </a:extLst>
          </p:cNvPr>
          <p:cNvCxnSpPr>
            <a:cxnSpLocks/>
            <a:stCxn id="118" idx="2"/>
          </p:cNvCxnSpPr>
          <p:nvPr/>
        </p:nvCxnSpPr>
        <p:spPr>
          <a:xfrm>
            <a:off x="1442750" y="4180604"/>
            <a:ext cx="1872772" cy="166179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7D9949BA-79AB-ED08-D582-E57071277C76}"/>
              </a:ext>
            </a:extLst>
          </p:cNvPr>
          <p:cNvCxnSpPr>
            <a:cxnSpLocks/>
            <a:stCxn id="118" idx="2"/>
          </p:cNvCxnSpPr>
          <p:nvPr/>
        </p:nvCxnSpPr>
        <p:spPr>
          <a:xfrm>
            <a:off x="1442750" y="4180604"/>
            <a:ext cx="1872772" cy="138473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3291793F-D77F-A632-4663-3AF450DD5C70}"/>
              </a:ext>
            </a:extLst>
          </p:cNvPr>
          <p:cNvCxnSpPr>
            <a:cxnSpLocks/>
            <a:stCxn id="118" idx="3"/>
          </p:cNvCxnSpPr>
          <p:nvPr/>
        </p:nvCxnSpPr>
        <p:spPr>
          <a:xfrm>
            <a:off x="2670837" y="3896900"/>
            <a:ext cx="644685"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E607E795-D483-C24E-D6A2-3DFA766E147C}"/>
              </a:ext>
            </a:extLst>
          </p:cNvPr>
          <p:cNvCxnSpPr>
            <a:cxnSpLocks/>
          </p:cNvCxnSpPr>
          <p:nvPr/>
        </p:nvCxnSpPr>
        <p:spPr>
          <a:xfrm flipV="1">
            <a:off x="2670836" y="3289209"/>
            <a:ext cx="598637" cy="59810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236D5DB3-4160-CFBF-3A0C-0D3D386919D9}"/>
              </a:ext>
            </a:extLst>
          </p:cNvPr>
          <p:cNvCxnSpPr>
            <a:cxnSpLocks/>
            <a:stCxn id="118" idx="3"/>
          </p:cNvCxnSpPr>
          <p:nvPr/>
        </p:nvCxnSpPr>
        <p:spPr>
          <a:xfrm flipV="1">
            <a:off x="2670837" y="3336139"/>
            <a:ext cx="1585399" cy="56076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719125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xit" presetSubtype="0" fill="hold" nodeType="withEffect">
                                  <p:stCondLst>
                                    <p:cond delay="0"/>
                                  </p:stCondLst>
                                  <p:childTnLst>
                                    <p:set>
                                      <p:cBhvr>
                                        <p:cTn id="12" dur="1" fill="hold">
                                          <p:stCondLst>
                                            <p:cond delay="0"/>
                                          </p:stCondLst>
                                        </p:cTn>
                                        <p:tgtEl>
                                          <p:spTgt spid="6"/>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xit" presetSubtype="0" fill="hold" nodeType="withEffect">
                                  <p:stCondLst>
                                    <p:cond delay="0"/>
                                  </p:stCondLst>
                                  <p:childTnLst>
                                    <p:set>
                                      <p:cBhvr>
                                        <p:cTn id="18" dur="1" fill="hold">
                                          <p:stCondLst>
                                            <p:cond delay="0"/>
                                          </p:stCondLst>
                                        </p:cTn>
                                        <p:tgtEl>
                                          <p:spTgt spid="8"/>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par>
                                <p:cTn id="23" presetID="1" presetClass="exit" presetSubtype="0" fill="hold" nodeType="withEffect">
                                  <p:stCondLst>
                                    <p:cond delay="0"/>
                                  </p:stCondLst>
                                  <p:childTnLst>
                                    <p:set>
                                      <p:cBhvr>
                                        <p:cTn id="24" dur="1" fill="hold">
                                          <p:stCondLst>
                                            <p:cond delay="0"/>
                                          </p:stCondLst>
                                        </p:cTn>
                                        <p:tgtEl>
                                          <p:spTgt spid="11"/>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4"/>
                                        </p:tgtEl>
                                        <p:attrNameLst>
                                          <p:attrName>style.visibility</p:attrName>
                                        </p:attrNameLst>
                                      </p:cBhvr>
                                      <p:to>
                                        <p:strVal val="visible"/>
                                      </p:to>
                                    </p:set>
                                  </p:childTnLst>
                                </p:cTn>
                              </p:par>
                              <p:par>
                                <p:cTn id="29" presetID="1" presetClass="exit" presetSubtype="0" fill="hold" nodeType="withEffect">
                                  <p:stCondLst>
                                    <p:cond delay="0"/>
                                  </p:stCondLst>
                                  <p:childTnLst>
                                    <p:set>
                                      <p:cBhvr>
                                        <p:cTn id="30" dur="1" fill="hold">
                                          <p:stCondLst>
                                            <p:cond delay="0"/>
                                          </p:stCondLst>
                                        </p:cTn>
                                        <p:tgtEl>
                                          <p:spTgt spid="1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47BB3E1-6E1A-44DC-0599-20BA8D6382C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0200B1E-59A5-5DD3-C0A3-6A42067F67C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The problem is that this can only allow you to communicate to one peripheral, what about if you want to communicate multiple peripherals, i.e., addressing all your wheel motors individually?</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In many systems, a SPI master may be connected to multiple SPI slaves using multiple instances of </a:t>
            </a:r>
            <a:r>
              <a:rPr lang="en-US" sz="1800" b="1" dirty="0">
                <a:latin typeface="Atkinson Hyperlegible Next"/>
                <a:ea typeface="Arial"/>
                <a:cs typeface="Arial"/>
                <a:sym typeface="Arial"/>
              </a:rPr>
              <a:t>SPISTE</a:t>
            </a:r>
            <a:r>
              <a:rPr lang="en-US" sz="1800" dirty="0">
                <a:latin typeface="Atkinson Hyperlegible Next"/>
                <a:ea typeface="Arial"/>
                <a:cs typeface="Arial"/>
                <a:sym typeface="Arial"/>
              </a:rPr>
              <a:t> (You selectively choose which SPI slave to enable and read the incoming data). </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Though this SPI module </a:t>
            </a:r>
            <a:r>
              <a:rPr lang="en-US" sz="1800" b="1" dirty="0">
                <a:latin typeface="Atkinson Hyperlegible Next"/>
                <a:ea typeface="Arial"/>
                <a:cs typeface="Arial"/>
                <a:sym typeface="Arial"/>
              </a:rPr>
              <a:t>does not natively support multiple SPISTE signals</a:t>
            </a:r>
            <a:r>
              <a:rPr lang="en-US" sz="1800" dirty="0">
                <a:latin typeface="Atkinson Hyperlegible Next"/>
                <a:ea typeface="Arial"/>
                <a:cs typeface="Arial"/>
                <a:sym typeface="Arial"/>
              </a:rPr>
              <a:t>, it is possible to emulate this behavior in software using GPIOs. </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In this configuration, the SPI must be configured as the </a:t>
            </a:r>
            <a:r>
              <a:rPr lang="en-US" sz="1800" b="1" dirty="0">
                <a:latin typeface="Atkinson Hyperlegible Next"/>
                <a:ea typeface="Arial"/>
                <a:cs typeface="Arial"/>
                <a:sym typeface="Arial"/>
              </a:rPr>
              <a:t>master</a:t>
            </a:r>
            <a:r>
              <a:rPr lang="en-US" sz="1800" dirty="0">
                <a:latin typeface="Atkinson Hyperlegible Next"/>
                <a:ea typeface="Arial"/>
                <a:cs typeface="Arial"/>
                <a:sym typeface="Arial"/>
              </a:rPr>
              <a:t>. Rather than using the GPIO Mux to select SPISTE, the application would configure pins to be GPIO outputs, </a:t>
            </a:r>
            <a:r>
              <a:rPr lang="en-US" sz="1800" b="1" dirty="0">
                <a:latin typeface="Atkinson Hyperlegible Next"/>
                <a:ea typeface="Arial"/>
                <a:cs typeface="Arial"/>
                <a:sym typeface="Arial"/>
              </a:rPr>
              <a:t>one GPIO per SPI slave</a:t>
            </a:r>
            <a:r>
              <a:rPr lang="en-US" sz="1800" dirty="0">
                <a:latin typeface="Atkinson Hyperlegible Next"/>
                <a:ea typeface="Arial"/>
                <a:cs typeface="Arial"/>
                <a:sym typeface="Arial"/>
              </a:rPr>
              <a:t>. </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Before transmitting any data, the application would drive the desired GPIO to the active state. </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Immediately after the transmission has been completed, the GPIO chip select would be driven to the inactive state. This process can be repeated for many slaves which share the SPICLK, SPISIMO, and SPISOMI lines! Essentially creating a </a:t>
            </a:r>
            <a:r>
              <a:rPr lang="en-US" sz="1800" b="1" dirty="0">
                <a:latin typeface="Atkinson Hyperlegible Next"/>
                <a:ea typeface="Arial"/>
                <a:cs typeface="Arial"/>
                <a:sym typeface="Arial"/>
              </a:rPr>
              <a:t>SPISTE pin mux!</a:t>
            </a: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0031E1B-3762-A8B2-8113-06902AD650E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D39AFD9-F10C-A3CC-01A3-A48164FE31C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SPI – Multiple Slaves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87F5880-B6A4-4D89-618C-9127FBD0A8D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B541E52-2810-B5EE-F26E-46624782877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19D0E66-04A7-2098-D41A-3C11B7902F4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AD142DD-EEF9-97D4-78B1-409BA656648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54FF4AF-70A3-A6AB-20E2-9564CFDF485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7910CE7-C09B-2922-8BE6-25DE1F3FA47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2232346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FD3DA57-ED24-5D05-75BC-7BE3EF59469A}"/>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1EAFD47A-F5AC-7C5A-3353-C8627D84FD82}"/>
              </a:ext>
            </a:extLst>
          </p:cNvPr>
          <p:cNvSpPr/>
          <p:nvPr>
            <p:ph type="title"/>
          </p:nvPr>
        </p:nvSpPr>
        <p:spPr>
          <a:xfrm>
            <a:off x="1026302" y="2274858"/>
            <a:ext cx="10139396" cy="2308284"/>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4800" b="1" i="0" u="none" strike="noStrike" cap="none" dirty="0">
                <a:solidFill>
                  <a:schemeClr val="lt1"/>
                </a:solidFill>
                <a:latin typeface="Atkinson Hyperlegible Next"/>
                <a:ea typeface="Arial"/>
                <a:cs typeface="Arial"/>
                <a:sym typeface="Arial"/>
              </a:rPr>
              <a:t>What happens if you want to communicate with 15 temperature sensors?</a:t>
            </a:r>
            <a:endParaRPr sz="1100" b="0" i="0" u="none" strike="noStrike" cap="none" dirty="0">
              <a:solidFill>
                <a:srgbClr val="000000"/>
              </a:solidFill>
              <a:latin typeface="Atkinson Hyperlegible Next"/>
              <a:ea typeface="Arial"/>
              <a:cs typeface="Arial"/>
              <a:sym typeface="Arial"/>
            </a:endParaRPr>
          </a:p>
        </p:txBody>
      </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4379E6E5-B909-8DBB-9356-1D0A49331E9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5D2E71F0-3BC8-F7A8-8226-5500502243A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57E8071F-D599-0B85-1A0C-D05F189034A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E67F08F8-E495-3293-8231-30567D0D61B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6F5211B6-398D-3B48-6347-22EF4F887239}"/>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530FFD4D-8480-6630-54C1-7A349C76FFA0}"/>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50287154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621D344B-34C4-C335-DD49-4E27E5841F2A}"/>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8751D50D-A562-407A-425A-46CB493D7547}"/>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9BAF097B-4B41-24EB-93FD-D7BB11662E9B}"/>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I2C</a:t>
              </a:r>
              <a:endParaRPr sz="1400" b="0" i="0" u="none" strike="noStrike" cap="none" dirty="0">
                <a:solidFill>
                  <a:srgbClr val="000000"/>
                </a:solidFill>
                <a:latin typeface="Atkinson Hyperlegible Next"/>
                <a:ea typeface="Arial"/>
                <a:cs typeface="Arial"/>
                <a:sym typeface="Arial"/>
              </a:endParaRPr>
            </a:p>
          </p:txBody>
        </p:sp>
        <p:grpSp>
          <p:nvGrpSpPr>
            <p:cNvPr id="91" name="Google Shape;91;p27">
              <a:extLst>
                <a:ext uri="{FF2B5EF4-FFF2-40B4-BE49-F238E27FC236}">
                  <a16:creationId xmlns:a16="http://schemas.microsoft.com/office/drawing/2014/main" id="{4C88420D-27D3-6A7F-E259-B8AB9971B5FA}"/>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D5100363-33AA-F297-53EC-F698EC7DBBE0}"/>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B85D6D7A-BAE9-F05C-245C-2AD52823284B}"/>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AACA8BFC-6902-9915-431F-CDD0ABC690C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88C3552A-315C-7AFD-45A0-B6597BC8671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52FFF52A-D67A-F7A3-668A-D4E22C0A77B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97DB60A1-F2DE-6038-F546-8D0E2D0B10CB}"/>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EF434972-6740-9A13-FB07-31A6D8234C0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44A0F022-25C1-15B9-440E-3B25D737B331}"/>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151425524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F7487F3-F8C5-A4D7-FBE6-64BE928883A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1D357FDE-29D5-D17D-51AB-6167DAF284C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The I2C bus consists of 2 wires: Serial Data (SDA) and Serial Clock (SCL). Instead of relying active push-pull transistors like SPI (which forces a line high or low), I2C uses an open-draw architecture with passive pull-up resistors.</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lvl="0" indent="0">
                  <a:lnSpc>
                    <a:spcPct val="100000"/>
                  </a:lnSpc>
                  <a:spcBef>
                    <a:spcPts val="0"/>
                  </a:spcBef>
                  <a:buSzPts val="3000"/>
                  <a:buNone/>
                </a:pPr>
                <a:r>
                  <a:rPr lang="en-US" sz="2400" dirty="0">
                    <a:latin typeface="Atkinson Hyperlegible Next"/>
                    <a:ea typeface="Arial"/>
                    <a:cs typeface="Arial"/>
                    <a:sym typeface="Arial"/>
                  </a:rPr>
                  <a:t>When a microcontroller wants to send a logical 1, it simply “lets go” of the wire, and the physical pull-up resistor pulls the voltage to </a:t>
                </a:r>
                <a14:m>
                  <m:oMath xmlns:m="http://schemas.openxmlformats.org/officeDocument/2006/math">
                    <m:sSub>
                      <m:sSubPr>
                        <m:ctrlPr>
                          <a:rPr lang="en-US" sz="2400" i="1" smtClean="0">
                            <a:latin typeface="Cambria Math" panose="02040503050406030204" pitchFamily="18" charset="0"/>
                            <a:cs typeface="Arial"/>
                            <a:sym typeface="Arial"/>
                          </a:rPr>
                        </m:ctrlPr>
                      </m:sSubPr>
                      <m:e>
                        <m:r>
                          <m:rPr>
                            <m:sty m:val="p"/>
                          </m:rPr>
                          <a:rPr lang="en-US" sz="2400" b="0" i="1" smtClean="0">
                            <a:latin typeface="Cambria Math" panose="02040503050406030204" pitchFamily="18" charset="0"/>
                            <a:cs typeface="Arial"/>
                            <a:sym typeface="Arial"/>
                          </a:rPr>
                          <m:t>V</m:t>
                        </m:r>
                      </m:e>
                      <m:sub>
                        <m:r>
                          <m:rPr>
                            <m:sty m:val="p"/>
                          </m:rPr>
                          <a:rPr lang="en-US" sz="2400" b="0" i="1" smtClean="0">
                            <a:latin typeface="Cambria Math" panose="02040503050406030204" pitchFamily="18" charset="0"/>
                            <a:cs typeface="Arial"/>
                            <a:sym typeface="Arial"/>
                          </a:rPr>
                          <m:t>cc</m:t>
                        </m:r>
                      </m:sub>
                    </m:sSub>
                  </m:oMath>
                </a14:m>
                <a:r>
                  <a:rPr lang="en-US" sz="2400" dirty="0">
                    <a:latin typeface="Atkinson Hyperlegible Next"/>
                    <a:ea typeface="Arial"/>
                    <a:cs typeface="Arial"/>
                    <a:sym typeface="Arial"/>
                  </a:rPr>
                  <a:t> (e.g., 3.3V). When it wants to send a logical 0, an internal transistor connects the wire to ground.</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Why?</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If 2 devices accidentally talk at the exact same time, and one sends a 0 (pulls to ground), while the other sends a 1 (let’s go), the line safely goes to ground. There is no short circuit!</a:t>
                </a:r>
              </a:p>
            </p:txBody>
          </p:sp>
        </mc:Choice>
        <mc:Fallback xmlns="">
          <p:sp>
            <p:nvSpPr>
              <p:cNvPr id="118" name="Google Shape;118;p29">
                <a:extLst>
                  <a:ext uri="{FF2B5EF4-FFF2-40B4-BE49-F238E27FC236}">
                    <a16:creationId xmlns:a16="http://schemas.microsoft.com/office/drawing/2014/main" id="{1D357FDE-29D5-D17D-51AB-6167DAF284C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r="-1528" b="-354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A028D5C-EF47-A065-84B7-9A37F345153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284915D-79F7-C7EA-DDF4-820E489628F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I2C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EC77E2A-ECB7-4349-CFE9-6C1226BB7CF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A234193-D738-D71E-4335-BD4FBB266AA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F2DE2C0-A824-993B-E084-DBC20A4EBB7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1CADFDB-5942-3297-5DF3-5708D85C49E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3DDD364-E8B8-459B-20D8-F6962B39727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7D1AEC0-6763-9B36-1651-A82B03C2D57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5645373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B84DF02-4701-ED5E-434F-8C62DEB83DA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765134A-8C9D-26E7-934A-6E5D256A91D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BD7B67E-5ACC-AEF3-5CDC-3C4F91C27A9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I2C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6551F54-CD75-F325-D74A-A484A37F778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F391FDC-C7F4-99E5-0EA7-62410D182D2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F8D305A-6BAA-F931-F3DD-5E6C61DE126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BB607B4-2187-F9DF-DB29-249F6C3FD7B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71FF328-E131-F39C-CC4B-0BC683D7CAF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9DD6BA5-DF87-8D67-85C8-A996B881DA2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Circuit: an I2C bus of two shared lines, serial data (SDA) and serial clock (SCL), each tied to V sub DD through its own pullup resistor. Four devices connect in parallel to both lines: a 28x I2C module, an I2C EPROM, an I2C controller, and a second 28x I2C module. Every device shares the same two wires, so many modules can communicate over just two signals.">
            <a:extLst>
              <a:ext uri="{FF2B5EF4-FFF2-40B4-BE49-F238E27FC236}">
                <a16:creationId xmlns:a16="http://schemas.microsoft.com/office/drawing/2014/main" id="{87F78193-1707-7908-BA06-B40E6782147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69201" y="1145610"/>
            <a:ext cx="11119236" cy="5105772"/>
          </a:xfrm>
          <a:prstGeom prst="rect">
            <a:avLst/>
          </a:prstGeom>
        </p:spPr>
      </p:pic>
    </p:spTree>
    <p:extLst>
      <p:ext uri="{BB962C8B-B14F-4D97-AF65-F5344CB8AC3E}">
        <p14:creationId xmlns:p14="http://schemas.microsoft.com/office/powerpoint/2010/main" val="267520599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6F672AC-7FFD-4B4F-0053-69785110245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0086514-791C-25F8-446D-D9D53D32311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E6E730E-0980-D699-20E9-8BEB629F689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I2C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035AD2B-C0E5-3CD6-4815-457D08A66A0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8ABF4D9-2A46-B81E-C9D5-2DB42F78AB9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20DE947-4BAB-83AA-E0F6-6356BB9DD4B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F558268-D3A5-5422-F89E-D01A71DE6CC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43F4A17-9C79-78C7-E37F-1F7D1A3B597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0C110E5-0BA2-6222-8F03-97C0DC82D13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Block diagram of the TI I2C module. Bidirectional SDA and SCL pins connect to the module. To transmit, the CPU writes over the peripheral bus to I2CDXR (or through the TX FIFO), which loads the I2CXSR shift register that drives SDA. To receive, SDA shifts into I2CRSR, then I2CDRR, which the bus reads directly or via the RX FIFO. TX and RX FIFO interrupts are ORed into a FIFO interrupt to the CPU/PIE. Control/status registers sit on the bus. A clock synchronizer, prescaler, noise filters and arbitrator support the link. Seven interrupt sources combine into I2C INT to the CPU/PIE.">
            <a:extLst>
              <a:ext uri="{FF2B5EF4-FFF2-40B4-BE49-F238E27FC236}">
                <a16:creationId xmlns:a16="http://schemas.microsoft.com/office/drawing/2014/main" id="{7C788A6C-9173-E3C2-5AA8-97894712E55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000375" y="1053754"/>
            <a:ext cx="6191250" cy="5373235"/>
          </a:xfrm>
          <a:prstGeom prst="rect">
            <a:avLst/>
          </a:prstGeom>
        </p:spPr>
      </p:pic>
    </p:spTree>
    <p:extLst>
      <p:ext uri="{BB962C8B-B14F-4D97-AF65-F5344CB8AC3E}">
        <p14:creationId xmlns:p14="http://schemas.microsoft.com/office/powerpoint/2010/main" val="172899709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BE9971E-13D8-A1E6-F0ED-F7B23E3E457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9FAD190-6CBF-E568-10EF-CE6FBEFABE1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Because there is no Chip Select wires, the Master must should a specific “Address” onto the bus. Every slave device listens. The protocol is strictly framed as:</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342900">
              <a:lnSpc>
                <a:spcPct val="100000"/>
              </a:lnSpc>
              <a:spcBef>
                <a:spcPts val="0"/>
              </a:spcBef>
              <a:buSzPts val="3000"/>
            </a:pPr>
            <a:r>
              <a:rPr lang="en-US" sz="2400" b="1" dirty="0">
                <a:latin typeface="Atkinson Hyperlegible Next"/>
                <a:ea typeface="Arial"/>
                <a:cs typeface="Arial"/>
                <a:sym typeface="Arial"/>
              </a:rPr>
              <a:t>START condition</a:t>
            </a:r>
            <a:r>
              <a:rPr lang="en-US" sz="2400" dirty="0">
                <a:latin typeface="Atkinson Hyperlegible Next"/>
                <a:ea typeface="Arial"/>
                <a:cs typeface="Arial"/>
                <a:sym typeface="Arial"/>
              </a:rPr>
              <a:t>: The Master pulls SDA low while SCL remains high. This violates normal data rules, acting as a wake-up for all devices.</a:t>
            </a:r>
          </a:p>
          <a:p>
            <a:pPr marL="342900">
              <a:lnSpc>
                <a:spcPct val="100000"/>
              </a:lnSpc>
              <a:spcBef>
                <a:spcPts val="0"/>
              </a:spcBef>
              <a:buSzPts val="3000"/>
            </a:pPr>
            <a:r>
              <a:rPr lang="en-US" sz="2400" b="1" dirty="0">
                <a:latin typeface="Atkinson Hyperlegible Next"/>
                <a:ea typeface="Arial"/>
                <a:cs typeface="Arial"/>
                <a:sym typeface="Arial"/>
              </a:rPr>
              <a:t>Addressing</a:t>
            </a:r>
            <a:r>
              <a:rPr lang="en-US" sz="2400" dirty="0">
                <a:latin typeface="Atkinson Hyperlegible Next"/>
                <a:ea typeface="Arial"/>
                <a:cs typeface="Arial"/>
                <a:sym typeface="Arial"/>
              </a:rPr>
              <a:t>: The Master transmits a 7-bit (or 10-bit) hardware </a:t>
            </a:r>
            <a:r>
              <a:rPr lang="en-US" sz="2400" dirty="0" err="1">
                <a:latin typeface="Atkinson Hyperlegible Next"/>
                <a:ea typeface="Arial"/>
                <a:cs typeface="Arial"/>
                <a:sym typeface="Arial"/>
              </a:rPr>
              <a:t>addres</a:t>
            </a:r>
            <a:r>
              <a:rPr lang="en-US" sz="2400" dirty="0">
                <a:latin typeface="Atkinson Hyperlegible Next"/>
                <a:ea typeface="Arial"/>
                <a:cs typeface="Arial"/>
                <a:sym typeface="Arial"/>
              </a:rPr>
              <a:t>, </a:t>
            </a:r>
            <a:r>
              <a:rPr lang="en-US" sz="2400" dirty="0" err="1">
                <a:latin typeface="Atkinson Hyperlegible Next"/>
                <a:ea typeface="Arial"/>
                <a:cs typeface="Arial"/>
                <a:sym typeface="Arial"/>
              </a:rPr>
              <a:t>folled</a:t>
            </a:r>
            <a:r>
              <a:rPr lang="en-US" sz="2400" dirty="0">
                <a:latin typeface="Atkinson Hyperlegible Next"/>
                <a:ea typeface="Arial"/>
                <a:cs typeface="Arial"/>
                <a:sym typeface="Arial"/>
              </a:rPr>
              <a:t> by a Read/Write direction bit.</a:t>
            </a:r>
          </a:p>
          <a:p>
            <a:pPr marL="342900">
              <a:lnSpc>
                <a:spcPct val="100000"/>
              </a:lnSpc>
              <a:spcBef>
                <a:spcPts val="0"/>
              </a:spcBef>
              <a:buSzPts val="3000"/>
            </a:pPr>
            <a:r>
              <a:rPr lang="en-US" sz="2400" b="1" dirty="0">
                <a:latin typeface="Atkinson Hyperlegible Next"/>
                <a:ea typeface="Arial"/>
                <a:cs typeface="Arial"/>
                <a:sym typeface="Arial"/>
              </a:rPr>
              <a:t>Acknowledge (ACK): </a:t>
            </a:r>
            <a:r>
              <a:rPr lang="en-US" sz="2400" dirty="0">
                <a:latin typeface="Atkinson Hyperlegible Next"/>
                <a:ea typeface="Arial"/>
                <a:cs typeface="Arial"/>
                <a:sym typeface="Arial"/>
              </a:rPr>
              <a:t>The specific Slave that matches the address pulls the SDA line low on the 9</a:t>
            </a:r>
            <a:r>
              <a:rPr lang="en-US" sz="2400" baseline="30000" dirty="0">
                <a:latin typeface="Atkinson Hyperlegible Next"/>
                <a:ea typeface="Arial"/>
                <a:cs typeface="Arial"/>
                <a:sym typeface="Arial"/>
              </a:rPr>
              <a:t>th</a:t>
            </a:r>
            <a:r>
              <a:rPr lang="en-US" sz="2400" dirty="0">
                <a:latin typeface="Atkinson Hyperlegible Next"/>
                <a:ea typeface="Arial"/>
                <a:cs typeface="Arial"/>
                <a:sym typeface="Arial"/>
              </a:rPr>
              <a:t> clock cycle to say “I am here”</a:t>
            </a:r>
          </a:p>
          <a:p>
            <a:pPr marL="342900">
              <a:lnSpc>
                <a:spcPct val="100000"/>
              </a:lnSpc>
              <a:spcBef>
                <a:spcPts val="0"/>
              </a:spcBef>
              <a:buSzPts val="3000"/>
            </a:pPr>
            <a:r>
              <a:rPr lang="en-US" sz="2400" b="1" dirty="0">
                <a:latin typeface="Atkinson Hyperlegible Next"/>
                <a:ea typeface="Arial"/>
                <a:cs typeface="Arial"/>
                <a:sym typeface="Arial"/>
              </a:rPr>
              <a:t>Data Transfer: </a:t>
            </a:r>
            <a:r>
              <a:rPr lang="en-US" sz="2400" dirty="0">
                <a:latin typeface="Atkinson Hyperlegible Next"/>
                <a:ea typeface="Arial"/>
                <a:cs typeface="Arial"/>
                <a:sym typeface="Arial"/>
              </a:rPr>
              <a:t>Butes are clocked across the SDA line</a:t>
            </a:r>
          </a:p>
          <a:p>
            <a:pPr marL="342900">
              <a:lnSpc>
                <a:spcPct val="100000"/>
              </a:lnSpc>
              <a:spcBef>
                <a:spcPts val="0"/>
              </a:spcBef>
              <a:buSzPts val="3000"/>
            </a:pPr>
            <a:r>
              <a:rPr lang="en-US" sz="2400" b="1" dirty="0">
                <a:latin typeface="Atkinson Hyperlegible Next"/>
                <a:ea typeface="Arial"/>
                <a:cs typeface="Arial"/>
                <a:sym typeface="Arial"/>
              </a:rPr>
              <a:t>STOP Condition: </a:t>
            </a:r>
            <a:r>
              <a:rPr lang="en-US" sz="2400" dirty="0">
                <a:latin typeface="Atkinson Hyperlegible Next"/>
                <a:ea typeface="Arial"/>
                <a:cs typeface="Arial"/>
                <a:sym typeface="Arial"/>
              </a:rPr>
              <a:t>The Master releases SDA while SCL is high, signaling the bus is free.</a:t>
            </a:r>
          </a:p>
        </p:txBody>
      </p:sp>
      <p:sp>
        <p:nvSpPr>
          <p:cNvPr id="119" name="Google Shape;119;p29">
            <a:extLst>
              <a:ext uri="{FF2B5EF4-FFF2-40B4-BE49-F238E27FC236}">
                <a16:creationId xmlns:a16="http://schemas.microsoft.com/office/drawing/2014/main" id="{8F3E41B2-88A7-5916-F31D-7DB6B765AA2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0628E1F-1AA7-256E-1384-65A804075CA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I2C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77122E7-92DB-A6AD-213E-2E195575F08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4A68C82-4892-9817-1154-1E2D1A4DBF9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28A589C-F79B-37BF-C994-1D5A2FB3ABE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1C4B192-38EC-CA60-8758-E2B09B86A36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E255656-97A1-3E35-62F0-7ED594396F6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24C7368-817C-7E14-C36E-99F75522D40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871860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36A3864-4F69-11BA-53FC-2912087497C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BE3CBC1-7785-28EF-DB97-973C8332462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690C082-325F-EF50-430C-78F7525E222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I2C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CD7A86B-22A4-7413-443C-8B39BE5648D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9CB6B79-A899-83F2-6284-D4ED53BBABB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B5EA53-CBE5-ED60-A230-D261570A86A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790389-EAA8-F085-F3F4-8E4D238B5E4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BC3DBA3-198A-C4A3-DF54-8DD00434914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1D30128-EDC6-AEAD-553F-9710289F0FF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Timing diagram of an I2C transfer with 7-bit address and 8-bit data on lines SDA and SCL. START: SDA falls while SCL is high. Seven address bits follow, MSB first, then the R/W-bar bit on clock 8 and the slave's acknowledge (SDA held low) on clock 9. Eight data bits follow, then a ninth-clock acknowledge or no-acknowledge from the receiver. STOP: SDA rises while SCL is high. SDA changes only while SCL is low.">
            <a:extLst>
              <a:ext uri="{FF2B5EF4-FFF2-40B4-BE49-F238E27FC236}">
                <a16:creationId xmlns:a16="http://schemas.microsoft.com/office/drawing/2014/main" id="{B029C68A-1543-011F-D3B6-A4CE4200B82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511854" y="1072273"/>
            <a:ext cx="9168291" cy="2927348"/>
          </a:xfrm>
          <a:prstGeom prst="rect">
            <a:avLst/>
          </a:prstGeom>
        </p:spPr>
      </p:pic>
      <p:pic>
        <p:nvPicPr>
          <p:cNvPr id="7" name="Graphic 6" descr="I2C 7-bit addressing frame format (FDF equals 0, XA equals 0 in I2CMDR), fields in order with bit widths: start bit S (1 bit), 7-bit slave address, R slash W bar (1 bit), ACK (1 bit), Data (n bits), ACK (1 bit), Data (n bits), ACK (1 bit), stop bit P (1 bit). Each data byte is followed by an acknowledge bit.">
            <a:extLst>
              <a:ext uri="{FF2B5EF4-FFF2-40B4-BE49-F238E27FC236}">
                <a16:creationId xmlns:a16="http://schemas.microsoft.com/office/drawing/2014/main" id="{1A4A4412-5944-0B4E-16E8-7FDCA80BC15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246256" y="4203673"/>
            <a:ext cx="9798109" cy="1362069"/>
          </a:xfrm>
          <a:prstGeom prst="rect">
            <a:avLst/>
          </a:prstGeom>
        </p:spPr>
      </p:pic>
      <p:sp>
        <p:nvSpPr>
          <p:cNvPr id="8" name="Google Shape;118;p29">
            <a:extLst>
              <a:ext uri="{FF2B5EF4-FFF2-40B4-BE49-F238E27FC236}">
                <a16:creationId xmlns:a16="http://schemas.microsoft.com/office/drawing/2014/main" id="{5C0D0C41-61BB-1A43-AF16-5292C2E3741F}"/>
              </a:ext>
            </a:extLst>
          </p:cNvPr>
          <p:cNvSpPr txBox="1">
            <a:spLocks noGrp="1"/>
          </p:cNvSpPr>
          <p:nvPr>
            <p:ph type="body" idx="1"/>
          </p:nvPr>
        </p:nvSpPr>
        <p:spPr>
          <a:xfrm>
            <a:off x="376809" y="5674257"/>
            <a:ext cx="11177401" cy="811714"/>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R/W=0: The I2C master writes (transmits) data to the addressed slave.</a:t>
            </a:r>
          </a:p>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R/W=1: The I2C master reads (receives) data from the slave.</a:t>
            </a:r>
          </a:p>
        </p:txBody>
      </p:sp>
    </p:spTree>
    <p:extLst>
      <p:ext uri="{BB962C8B-B14F-4D97-AF65-F5344CB8AC3E}">
        <p14:creationId xmlns:p14="http://schemas.microsoft.com/office/powerpoint/2010/main" val="116473845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CAEDD3C-36CE-F798-2D34-19995D124E7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E006DE9-3D78-FFFD-23E6-B477CB7EE29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2400" dirty="0"/>
              <a:t>An extra clock cycle dedicated for acknowledgement (</a:t>
            </a:r>
            <a:r>
              <a:rPr lang="en-US" sz="2400" b="1" dirty="0"/>
              <a:t>ACK</a:t>
            </a:r>
            <a:r>
              <a:rPr lang="en-US" sz="2400" dirty="0"/>
              <a:t>) is inserted after each byte. </a:t>
            </a:r>
          </a:p>
          <a:p>
            <a:pPr marL="0" lvl="0" indent="0">
              <a:lnSpc>
                <a:spcPct val="100000"/>
              </a:lnSpc>
              <a:spcBef>
                <a:spcPts val="0"/>
              </a:spcBef>
              <a:buSzPts val="3000"/>
              <a:buNone/>
            </a:pPr>
            <a:endParaRPr lang="en-US" sz="2400" dirty="0"/>
          </a:p>
          <a:p>
            <a:pPr marL="0" lvl="0" indent="0">
              <a:lnSpc>
                <a:spcPct val="100000"/>
              </a:lnSpc>
              <a:spcBef>
                <a:spcPts val="0"/>
              </a:spcBef>
              <a:buSzPts val="3000"/>
              <a:buNone/>
            </a:pPr>
            <a:r>
              <a:rPr lang="en-US" sz="2400" dirty="0"/>
              <a:t>If the </a:t>
            </a:r>
            <a:r>
              <a:rPr lang="en-US" sz="2400" b="1" dirty="0"/>
              <a:t>ACK</a:t>
            </a:r>
            <a:r>
              <a:rPr lang="en-US" sz="2400" dirty="0"/>
              <a:t> bit is inserted by the slave after the first byte from the master, it is followed by n bits of data from the transmitter (master or slave depending on the R/W bit). </a:t>
            </a:r>
          </a:p>
          <a:p>
            <a:pPr marL="0" lvl="0" indent="0">
              <a:lnSpc>
                <a:spcPct val="100000"/>
              </a:lnSpc>
              <a:spcBef>
                <a:spcPts val="0"/>
              </a:spcBef>
              <a:buSzPts val="3000"/>
              <a:buNone/>
            </a:pPr>
            <a:endParaRPr lang="en-US" sz="2400" dirty="0"/>
          </a:p>
          <a:p>
            <a:pPr marL="0" lvl="0" indent="0">
              <a:lnSpc>
                <a:spcPct val="100000"/>
              </a:lnSpc>
              <a:spcBef>
                <a:spcPts val="0"/>
              </a:spcBef>
              <a:buSzPts val="3000"/>
              <a:buNone/>
            </a:pPr>
            <a:r>
              <a:rPr lang="en-US" sz="2400" dirty="0"/>
              <a:t>n is a number from 1-8 determined by the bit count (</a:t>
            </a:r>
            <a:r>
              <a:rPr lang="en-US" sz="2400" b="1" dirty="0"/>
              <a:t>BC</a:t>
            </a:r>
            <a:r>
              <a:rPr lang="en-US" sz="2400" dirty="0"/>
              <a:t>) field of the </a:t>
            </a:r>
            <a:r>
              <a:rPr lang="en-US" sz="2400" b="1" dirty="0"/>
              <a:t>I2CMDR</a:t>
            </a:r>
            <a:r>
              <a:rPr lang="en-US" sz="2400" dirty="0"/>
              <a:t>. </a:t>
            </a:r>
          </a:p>
          <a:p>
            <a:pPr marL="0" lvl="0" indent="0">
              <a:lnSpc>
                <a:spcPct val="100000"/>
              </a:lnSpc>
              <a:spcBef>
                <a:spcPts val="0"/>
              </a:spcBef>
              <a:buSzPts val="3000"/>
              <a:buNone/>
            </a:pPr>
            <a:endParaRPr lang="en-US" sz="2400" dirty="0"/>
          </a:p>
          <a:p>
            <a:pPr marL="0" lvl="0" indent="0">
              <a:lnSpc>
                <a:spcPct val="100000"/>
              </a:lnSpc>
              <a:spcBef>
                <a:spcPts val="0"/>
              </a:spcBef>
              <a:buSzPts val="3000"/>
              <a:buNone/>
            </a:pPr>
            <a:r>
              <a:rPr lang="en-US" sz="2400" dirty="0"/>
              <a:t>After the data bits have been transferred, the receiver inserts an ACK bit.</a:t>
            </a:r>
          </a:p>
          <a:p>
            <a:pPr marL="0" lvl="0" indent="0">
              <a:lnSpc>
                <a:spcPct val="100000"/>
              </a:lnSpc>
              <a:spcBef>
                <a:spcPts val="0"/>
              </a:spcBef>
              <a:buSzPts val="3000"/>
              <a:buNone/>
            </a:pPr>
            <a:endParaRPr lang="en-US" sz="2400" dirty="0"/>
          </a:p>
          <a:p>
            <a:pPr marL="0" lvl="0" indent="0">
              <a:lnSpc>
                <a:spcPct val="100000"/>
              </a:lnSpc>
              <a:spcBef>
                <a:spcPts val="0"/>
              </a:spcBef>
              <a:buSzPts val="3000"/>
              <a:buNone/>
            </a:pPr>
            <a:r>
              <a:rPr lang="en-US" sz="2400" dirty="0"/>
              <a:t>We can have a 10-bit slave address. The problem is that we have a maximum of 8 bits that we send at a time!</a:t>
            </a:r>
          </a:p>
          <a:p>
            <a:pPr marL="0" lvl="0" indent="0">
              <a:lnSpc>
                <a:spcPct val="100000"/>
              </a:lnSpc>
              <a:spcBef>
                <a:spcPts val="0"/>
              </a:spcBef>
              <a:buSzPts val="3000"/>
              <a:buNone/>
            </a:pPr>
            <a:endParaRPr lang="en-US" sz="2400" dirty="0">
              <a:latin typeface="Atkinson Hyperlegible Next"/>
              <a:ea typeface="Arial"/>
              <a:cs typeface="Arial"/>
              <a:sym typeface="Arial"/>
            </a:endParaRPr>
          </a:p>
          <a:p>
            <a:pPr marL="0" lvl="0" indent="0">
              <a:lnSpc>
                <a:spcPct val="100000"/>
              </a:lnSpc>
              <a:spcBef>
                <a:spcPts val="0"/>
              </a:spcBef>
              <a:buSzPts val="3000"/>
              <a:buNone/>
            </a:pPr>
            <a:endParaRPr lang="en-US" sz="2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C339E387-5944-AE70-BEE4-8EB52E34C54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C32EDE0-99EC-80EA-64F6-C87F629D762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I2C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0600181-BF00-DB2D-E878-11CC4D0D776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A010EFD-97E0-85C5-9CA5-A9569898441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49C965B-815D-8CB1-51C2-17F70DC865F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C7016E4-1A2E-1E14-068B-22374F8EE16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7E7CBDE-B0B6-F2C2-94C4-9C388E13187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F83E08F-08C5-5935-D307-429A83FE36F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9399253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8E392E1-612C-C130-1945-EF331F96F11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4A05257-8C25-10FD-41A6-F0BF5F22CEF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3DBBBE2-A23D-CEB2-B0F7-D5174A08BD4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I2C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9DAA26B-288A-57B7-B8F7-A47772DFFB2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EDDE3A1-A9B1-5BEC-EACE-6EC6F4EC64D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774DB5E-85E6-1D6D-3F00-C5CC2CF3A75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51275BB-3821-6EF9-FE62-ABF5096B0B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D91A37C-DD8E-55C3-8CC2-183B53C3BA3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2B9B64D-7D92-B705-7F64-3BBD27BBA72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Frame diagram of I2C 10-bit addressing (FDF equals 0, XA equals 1 in I2CMDR), fields in order with bit widths: Start bit; 7 bits &quot;1 1 1 1 0 x x&quot;, where x x are the 2 most significant address bits; 1 read/not-write bit; ACK; 8 bits holding the 8 least significant bits of the slave address; ACK; n data bits; ACK; Stop bit.">
            <a:extLst>
              <a:ext uri="{FF2B5EF4-FFF2-40B4-BE49-F238E27FC236}">
                <a16:creationId xmlns:a16="http://schemas.microsoft.com/office/drawing/2014/main" id="{53F754A7-3686-6B9D-9B12-97F1F3E76F8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41885" y="3047999"/>
            <a:ext cx="11508231" cy="1644033"/>
          </a:xfrm>
          <a:prstGeom prst="rect">
            <a:avLst/>
          </a:prstGeom>
        </p:spPr>
      </p:pic>
    </p:spTree>
    <p:extLst>
      <p:ext uri="{BB962C8B-B14F-4D97-AF65-F5344CB8AC3E}">
        <p14:creationId xmlns:p14="http://schemas.microsoft.com/office/powerpoint/2010/main" val="305727926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75BECFD-9724-832F-7DA6-5F4F59F51C6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38DD1D0-1783-6E64-BD44-26CBD0D5F2D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2400" dirty="0"/>
              <a:t>I2C allows </a:t>
            </a:r>
            <a:r>
              <a:rPr lang="en-US" sz="2400"/>
              <a:t>multiple MCU </a:t>
            </a:r>
            <a:r>
              <a:rPr lang="en-US" sz="2400" dirty="0"/>
              <a:t>to exist on the same two wires, potentially attempting a START condition simultaneously.</a:t>
            </a:r>
          </a:p>
          <a:p>
            <a:pPr marL="0" lvl="0" indent="0">
              <a:lnSpc>
                <a:spcPct val="100000"/>
              </a:lnSpc>
              <a:spcBef>
                <a:spcPts val="0"/>
              </a:spcBef>
              <a:buSzPts val="3000"/>
              <a:buNone/>
            </a:pPr>
            <a:endParaRPr lang="en-US" sz="2400" dirty="0">
              <a:latin typeface="Atkinson Hyperlegible Next"/>
              <a:ea typeface="Arial"/>
              <a:cs typeface="Arial"/>
              <a:sym typeface="Arial"/>
            </a:endParaRPr>
          </a:p>
          <a:p>
            <a:pPr marL="0" lvl="0" indent="0">
              <a:lnSpc>
                <a:spcPct val="100000"/>
              </a:lnSpc>
              <a:spcBef>
                <a:spcPts val="0"/>
              </a:spcBef>
              <a:buSzPts val="3000"/>
              <a:buNone/>
            </a:pPr>
            <a:r>
              <a:rPr lang="en-US" sz="2400" dirty="0">
                <a:latin typeface="Atkinson Hyperlegible Next"/>
                <a:ea typeface="Arial"/>
                <a:cs typeface="Arial"/>
                <a:sym typeface="Arial"/>
              </a:rPr>
              <a:t>Both Masters begin clocking out their addresses bit-by-bit, monitoring the actual voltage on the SDA line.</a:t>
            </a:r>
          </a:p>
          <a:p>
            <a:pPr marL="0" lvl="0" indent="0">
              <a:lnSpc>
                <a:spcPct val="100000"/>
              </a:lnSpc>
              <a:spcBef>
                <a:spcPts val="0"/>
              </a:spcBef>
              <a:buSzPts val="3000"/>
              <a:buNone/>
            </a:pPr>
            <a:endParaRPr lang="en-US" sz="2400" dirty="0">
              <a:latin typeface="Atkinson Hyperlegible Next"/>
              <a:ea typeface="Arial"/>
              <a:cs typeface="Arial"/>
              <a:sym typeface="Arial"/>
            </a:endParaRPr>
          </a:p>
          <a:p>
            <a:pPr marL="0" lvl="0" indent="0">
              <a:lnSpc>
                <a:spcPct val="100000"/>
              </a:lnSpc>
              <a:spcBef>
                <a:spcPts val="0"/>
              </a:spcBef>
              <a:buSzPts val="3000"/>
              <a:buNone/>
            </a:pPr>
            <a:r>
              <a:rPr lang="en-US" sz="2400" dirty="0">
                <a:latin typeface="Atkinson Hyperlegible Next"/>
                <a:ea typeface="Arial"/>
                <a:cs typeface="Arial"/>
                <a:sym typeface="Arial"/>
              </a:rPr>
              <a:t>If Master A transmits a 1 (lets go) but physically measures a 0 on the SDA line, it determines another Master (Master B) is pulling it low.</a:t>
            </a:r>
          </a:p>
          <a:p>
            <a:pPr marL="0" lvl="0" indent="0">
              <a:lnSpc>
                <a:spcPct val="100000"/>
              </a:lnSpc>
              <a:spcBef>
                <a:spcPts val="0"/>
              </a:spcBef>
              <a:buSzPts val="3000"/>
              <a:buNone/>
            </a:pPr>
            <a:endParaRPr lang="en-US" sz="2400" dirty="0">
              <a:latin typeface="Atkinson Hyperlegible Next"/>
              <a:ea typeface="Arial"/>
              <a:cs typeface="Arial"/>
              <a:sym typeface="Arial"/>
            </a:endParaRPr>
          </a:p>
          <a:p>
            <a:pPr marL="0" lvl="0" indent="0">
              <a:lnSpc>
                <a:spcPct val="100000"/>
              </a:lnSpc>
              <a:spcBef>
                <a:spcPts val="0"/>
              </a:spcBef>
              <a:buSzPts val="3000"/>
              <a:buNone/>
            </a:pPr>
            <a:r>
              <a:rPr lang="en-US" sz="2400" dirty="0">
                <a:latin typeface="Atkinson Hyperlegible Next"/>
                <a:ea typeface="Arial"/>
                <a:cs typeface="Arial"/>
                <a:sym typeface="Arial"/>
              </a:rPr>
              <a:t>Master A instantly realizes it has lost arbitration, ceases transmission, and returns to slave/listening mode without corrupting Master B's packet. </a:t>
            </a:r>
          </a:p>
        </p:txBody>
      </p:sp>
      <p:sp>
        <p:nvSpPr>
          <p:cNvPr id="119" name="Google Shape;119;p29">
            <a:extLst>
              <a:ext uri="{FF2B5EF4-FFF2-40B4-BE49-F238E27FC236}">
                <a16:creationId xmlns:a16="http://schemas.microsoft.com/office/drawing/2014/main" id="{A5FDE61E-A420-3291-E4E6-9D747E1F587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4E075C7-BD88-26A7-8EEA-EDC5CA3EC99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I2C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4E763B4-A8D9-20C6-BDAF-1ABFD1180A6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83E09BC-9EEC-1BF7-3F23-CE20579623D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2281C0E-4E25-712E-A3BB-8C1ED32A073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4C92344-305F-8243-B4B9-B057EA3082A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C0F9952-1400-EAC4-B4CF-5C4E26E2C0A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8C3377F-3447-5A08-619A-C7EBBE75A17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4590528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4D4377E-6022-DF57-4F54-BDC8BB583767}"/>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AC7E5EC-E9C4-6EE7-3246-CC93AB2A4A3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B3832A8-CC55-1448-B1BB-E9F074EE807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I2C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FF0413C-DFDA-C427-2DC8-3703C0BBFE2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5C57DF7-BD8B-1F6D-B38C-50F7EC2F630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A9751AE-3C29-7FB3-0560-1283C1915BE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D181074-2FD7-9EDC-FA44-D4BF9D74BB8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B42D78A-E902-68E0-42BE-4C1CB667F44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85078D0-1C76-5CE1-D6EA-457598B6140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Timing diagram: I2C arbitration between two master-transmitters, with traces for the SCL clock, data from device 1, data from device 2, and the SDA bus line. Both devices send 1 then 0, so SDA matches both. On the third bit, device 1 releases SDA high for a 1 while device 2 drives 0. Because the line is wired-AND, SDA stays low. Device 1 sees the mismatch, loses arbitration and switches off. Device 2 drives SDA through its full sequence: 1, 0, 0, 1, 0, 1.">
            <a:extLst>
              <a:ext uri="{FF2B5EF4-FFF2-40B4-BE49-F238E27FC236}">
                <a16:creationId xmlns:a16="http://schemas.microsoft.com/office/drawing/2014/main" id="{61188845-24DF-5C13-BC45-4F51B682913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760" y="1180443"/>
            <a:ext cx="9882125" cy="5146940"/>
          </a:xfrm>
          <a:prstGeom prst="rect">
            <a:avLst/>
          </a:prstGeom>
        </p:spPr>
      </p:pic>
    </p:spTree>
    <p:extLst>
      <p:ext uri="{BB962C8B-B14F-4D97-AF65-F5344CB8AC3E}">
        <p14:creationId xmlns:p14="http://schemas.microsoft.com/office/powerpoint/2010/main" val="345726999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AD7BF95E-8667-4A44-BA67-BD4F57432EFE}"/>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45719416-3BD5-E383-A0CB-E73179505DAD}"/>
              </a:ext>
            </a:extLst>
          </p:cNvPr>
          <p:cNvSpPr/>
          <p:nvPr>
            <p:ph type="title"/>
          </p:nvPr>
        </p:nvSpPr>
        <p:spPr>
          <a:xfrm>
            <a:off x="1026302" y="2274858"/>
            <a:ext cx="10139396" cy="2308284"/>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4800" b="1" i="0" u="none" strike="noStrike" cap="none" dirty="0">
                <a:solidFill>
                  <a:schemeClr val="lt1"/>
                </a:solidFill>
                <a:latin typeface="Atkinson Hyperlegible Next"/>
                <a:ea typeface="Arial"/>
                <a:cs typeface="Arial"/>
                <a:sym typeface="Arial"/>
              </a:rPr>
              <a:t>If you have 2 masters sending Serial Clock (SCL) signals what is a problem?</a:t>
            </a:r>
            <a:endParaRPr sz="1100" b="0" i="0" u="none" strike="noStrike" cap="none" dirty="0">
              <a:solidFill>
                <a:srgbClr val="000000"/>
              </a:solidFill>
              <a:latin typeface="Atkinson Hyperlegible Next"/>
              <a:ea typeface="Arial"/>
              <a:cs typeface="Arial"/>
              <a:sym typeface="Arial"/>
            </a:endParaRPr>
          </a:p>
        </p:txBody>
      </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F3A6ACC7-D95C-0659-DC85-D61DF2001C8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7BFB8DCC-EEAF-87C0-FF44-DB896716858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694B86FB-033C-E635-CF45-FBE1DCFEA2F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1FCC97C0-4059-7882-76D8-D1740F00B160}"/>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46BB1CB7-6A4D-56EC-F957-7B965616A557}"/>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407D31D6-E7C2-6977-4F50-7952BC02DD5F}"/>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53193153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24A41A8-CD52-99E7-AB74-235F610D154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A463925-3294-DFB3-2070-A69BA4B88FE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2400" dirty="0">
                <a:latin typeface="Atkinson Hyperlegible Next"/>
                <a:ea typeface="Arial"/>
                <a:cs typeface="Arial"/>
                <a:sym typeface="Arial"/>
              </a:rPr>
              <a:t>The microcontrollers on the bus can only drive the SCL line as such:</a:t>
            </a:r>
          </a:p>
          <a:p>
            <a:pPr marL="0" lvl="0" indent="0">
              <a:lnSpc>
                <a:spcPct val="100000"/>
              </a:lnSpc>
              <a:spcBef>
                <a:spcPts val="0"/>
              </a:spcBef>
              <a:buSzPts val="3000"/>
              <a:buNone/>
            </a:pPr>
            <a:endParaRPr lang="en-US" sz="2400" dirty="0">
              <a:latin typeface="Atkinson Hyperlegible Next"/>
              <a:ea typeface="Arial"/>
              <a:cs typeface="Arial"/>
              <a:sym typeface="Arial"/>
            </a:endParaRPr>
          </a:p>
          <a:p>
            <a:pPr marL="342900">
              <a:lnSpc>
                <a:spcPct val="100000"/>
              </a:lnSpc>
              <a:spcBef>
                <a:spcPts val="0"/>
              </a:spcBef>
              <a:buSzPts val="3000"/>
            </a:pPr>
            <a:r>
              <a:rPr lang="en-US" sz="2400" b="1" dirty="0">
                <a:latin typeface="Atkinson Hyperlegible Next"/>
                <a:ea typeface="Arial"/>
                <a:cs typeface="Arial"/>
                <a:sym typeface="Arial"/>
              </a:rPr>
              <a:t>Drive LOW</a:t>
            </a:r>
            <a:r>
              <a:rPr lang="en-US" sz="2400" dirty="0">
                <a:latin typeface="Atkinson Hyperlegible Next"/>
                <a:ea typeface="Arial"/>
                <a:cs typeface="Arial"/>
                <a:sym typeface="Arial"/>
              </a:rPr>
              <a:t>: They can turn on an internal transistor to connect the SCL line to ground (0V)</a:t>
            </a:r>
          </a:p>
          <a:p>
            <a:pPr marL="342900">
              <a:lnSpc>
                <a:spcPct val="100000"/>
              </a:lnSpc>
              <a:spcBef>
                <a:spcPts val="0"/>
              </a:spcBef>
              <a:buSzPts val="3000"/>
            </a:pPr>
            <a:r>
              <a:rPr lang="en-US" sz="2400" b="1" dirty="0">
                <a:latin typeface="Atkinson Hyperlegible Next"/>
                <a:ea typeface="Arial"/>
                <a:cs typeface="Arial"/>
                <a:sym typeface="Arial"/>
              </a:rPr>
              <a:t>Release HIGH</a:t>
            </a:r>
            <a:r>
              <a:rPr lang="en-US" sz="2400" dirty="0">
                <a:latin typeface="Atkinson Hyperlegible Next"/>
                <a:ea typeface="Arial"/>
                <a:cs typeface="Arial"/>
                <a:sym typeface="Arial"/>
              </a:rPr>
              <a:t>: They can turn </a:t>
            </a:r>
            <a:r>
              <a:rPr lang="en-US" sz="2400" b="1" i="1" dirty="0">
                <a:latin typeface="Atkinson Hyperlegible Next"/>
                <a:ea typeface="Arial"/>
                <a:cs typeface="Arial"/>
                <a:sym typeface="Arial"/>
              </a:rPr>
              <a:t>off</a:t>
            </a:r>
            <a:r>
              <a:rPr lang="en-US" sz="2400" dirty="0">
                <a:latin typeface="Atkinson Hyperlegible Next"/>
                <a:ea typeface="Arial"/>
                <a:cs typeface="Arial"/>
                <a:sym typeface="Arial"/>
              </a:rPr>
              <a:t> the transistor, letting go of the line. They cannot force the line high; they rely entirely on the pull-up resistor to pull the voltage back up</a:t>
            </a:r>
          </a:p>
          <a:p>
            <a:pPr marL="0" lvl="0" indent="0">
              <a:lnSpc>
                <a:spcPct val="100000"/>
              </a:lnSpc>
              <a:spcBef>
                <a:spcPts val="0"/>
              </a:spcBef>
              <a:buSzPts val="3000"/>
              <a:buNone/>
            </a:pPr>
            <a:endParaRPr lang="en-US" sz="2400" dirty="0">
              <a:latin typeface="Atkinson Hyperlegible Next"/>
              <a:ea typeface="Arial"/>
              <a:cs typeface="Arial"/>
              <a:sym typeface="Arial"/>
            </a:endParaRPr>
          </a:p>
          <a:p>
            <a:pPr marL="0" lvl="0" indent="0">
              <a:lnSpc>
                <a:spcPct val="100000"/>
              </a:lnSpc>
              <a:spcBef>
                <a:spcPts val="0"/>
              </a:spcBef>
              <a:buSzPts val="3000"/>
              <a:buNone/>
            </a:pPr>
            <a:r>
              <a:rPr lang="en-US" sz="2400" dirty="0">
                <a:latin typeface="Atkinson Hyperlegible Next"/>
                <a:ea typeface="Arial"/>
                <a:cs typeface="Arial"/>
                <a:sym typeface="Arial"/>
              </a:rPr>
              <a:t>Because of this, the SCL line acts as a massive physical </a:t>
            </a:r>
            <a:r>
              <a:rPr lang="en-US" sz="2400" b="1" dirty="0">
                <a:latin typeface="Atkinson Hyperlegible Next"/>
                <a:ea typeface="Arial"/>
                <a:cs typeface="Arial"/>
                <a:sym typeface="Arial"/>
              </a:rPr>
              <a:t>AND</a:t>
            </a:r>
            <a:r>
              <a:rPr lang="en-US" sz="2400" dirty="0">
                <a:latin typeface="Atkinson Hyperlegible Next"/>
                <a:ea typeface="Arial"/>
                <a:cs typeface="Arial"/>
                <a:sym typeface="Arial"/>
              </a:rPr>
              <a:t> gate.</a:t>
            </a:r>
          </a:p>
          <a:p>
            <a:pPr marL="342900">
              <a:lnSpc>
                <a:spcPct val="100000"/>
              </a:lnSpc>
              <a:spcBef>
                <a:spcPts val="0"/>
              </a:spcBef>
              <a:buSzPts val="3000"/>
            </a:pPr>
            <a:r>
              <a:rPr lang="en-US" sz="2400" dirty="0">
                <a:latin typeface="Atkinson Hyperlegible Next"/>
                <a:ea typeface="Arial"/>
                <a:cs typeface="Arial"/>
                <a:sym typeface="Arial"/>
              </a:rPr>
              <a:t>The SCL line will only transition HIGH if </a:t>
            </a:r>
            <a:r>
              <a:rPr lang="en-US" sz="2400" b="1" dirty="0">
                <a:latin typeface="Atkinson Hyperlegible Next"/>
                <a:ea typeface="Arial"/>
                <a:cs typeface="Arial"/>
                <a:sym typeface="Arial"/>
              </a:rPr>
              <a:t>ALL</a:t>
            </a:r>
            <a:r>
              <a:rPr lang="en-US" sz="2400" dirty="0">
                <a:latin typeface="Atkinson Hyperlegible Next"/>
                <a:ea typeface="Arial"/>
                <a:cs typeface="Arial"/>
                <a:sym typeface="Arial"/>
              </a:rPr>
              <a:t> devices let go of it.</a:t>
            </a:r>
          </a:p>
          <a:p>
            <a:pPr marL="342900">
              <a:lnSpc>
                <a:spcPct val="100000"/>
              </a:lnSpc>
              <a:spcBef>
                <a:spcPts val="0"/>
              </a:spcBef>
              <a:buSzPts val="3000"/>
            </a:pPr>
            <a:r>
              <a:rPr lang="en-US" sz="2400" dirty="0">
                <a:latin typeface="Atkinson Hyperlegible Next"/>
                <a:ea typeface="Arial"/>
                <a:cs typeface="Arial"/>
                <a:sym typeface="Arial"/>
              </a:rPr>
              <a:t>The SCL line will instantly transition LOW if </a:t>
            </a:r>
            <a:r>
              <a:rPr lang="en-US" sz="2400" b="1" dirty="0">
                <a:latin typeface="Atkinson Hyperlegible Next"/>
                <a:ea typeface="Arial"/>
                <a:cs typeface="Arial"/>
                <a:sym typeface="Arial"/>
              </a:rPr>
              <a:t>ANY</a:t>
            </a:r>
            <a:r>
              <a:rPr lang="en-US" sz="2400" dirty="0">
                <a:latin typeface="Atkinson Hyperlegible Next"/>
                <a:ea typeface="Arial"/>
                <a:cs typeface="Arial"/>
                <a:sym typeface="Arial"/>
              </a:rPr>
              <a:t> device pulls it to ground.</a:t>
            </a:r>
          </a:p>
        </p:txBody>
      </p:sp>
      <p:sp>
        <p:nvSpPr>
          <p:cNvPr id="119" name="Google Shape;119;p29">
            <a:extLst>
              <a:ext uri="{FF2B5EF4-FFF2-40B4-BE49-F238E27FC236}">
                <a16:creationId xmlns:a16="http://schemas.microsoft.com/office/drawing/2014/main" id="{E959204E-565B-D1B5-164E-DFDB9828F27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76316FF-FACF-B41C-011A-B29BB33EF7D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I2C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0EB4395-8BF9-CAD0-9A68-22A4877AA23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D50C7B0-4A70-AACE-FE33-6224AB6479F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A632AD2-DD73-A222-8583-651D398636D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78F1484-5986-8E5E-6E1D-6087540D03B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649364C-440E-B595-A427-FFBCC85D133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553F227-5AFF-47F2-5D10-F84AC8623E8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85270726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20F126F-ABE0-53FE-4040-5DD70C8F730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643EF024-AE49-44D7-3D0E-BDBE542A198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1800" dirty="0">
                    <a:latin typeface="Atkinson Hyperlegible Next"/>
                    <a:ea typeface="Arial"/>
                    <a:cs typeface="Arial"/>
                    <a:sym typeface="Arial"/>
                  </a:rPr>
                  <a:t>Masters attempt to begin their clock cycles by pulling the SCL line LOW.</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Whichever Master pulls the line LOW first instantly forces the entire physical bus to 0V.</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The other Masters, seeing the line go LOW, immediately synchronize its internal state machine to this falling edge and beings counting its own programmed LOW period</a:t>
                </a:r>
                <a14:m>
                  <m:oMath xmlns:m="http://schemas.openxmlformats.org/officeDocument/2006/math">
                    <a:fld id="{825F15A7-03F4-43D7-82C5-3E23DA2F108C}" type="mathplaceholder">
                      <a:rPr lang="en-US" sz="1800" i="1" smtClean="0">
                        <a:latin typeface="Cambria Math" panose="02040503050406030204" pitchFamily="18" charset="0"/>
                        <a:cs typeface="Arial"/>
                        <a:sym typeface="Arial"/>
                      </a:rPr>
                      <a:t>.</a:t>
                    </a:fld>
                  </m:oMath>
                </a14:m>
                <a:endParaRPr lang="en-US" sz="1800" dirty="0">
                  <a:latin typeface="Atkinson Hyperlegible Next"/>
                  <a:ea typeface="Arial"/>
                  <a:cs typeface="Arial"/>
                  <a:sym typeface="Arial"/>
                </a:endParaRP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The synchronized LOW period is strictly determined by the Master with the </a:t>
                </a:r>
                <a:r>
                  <a:rPr lang="en-US" sz="1800" b="1" dirty="0">
                    <a:latin typeface="Atkinson Hyperlegible Next"/>
                    <a:ea typeface="Arial"/>
                    <a:cs typeface="Arial"/>
                    <a:sym typeface="Arial"/>
                  </a:rPr>
                  <a:t>longest</a:t>
                </a:r>
                <a:r>
                  <a:rPr lang="en-US" sz="1800" dirty="0">
                    <a:latin typeface="Atkinson Hyperlegible Next"/>
                    <a:ea typeface="Arial"/>
                    <a:cs typeface="Arial"/>
                    <a:sym typeface="Arial"/>
                  </a:rPr>
                  <a:t> programmed LOW period.</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The synchronized HIGH period is strictly determined by the Master with the </a:t>
                </a:r>
                <a:r>
                  <a:rPr lang="en-US" sz="1800" b="1" dirty="0">
                    <a:latin typeface="Atkinson Hyperlegible Next"/>
                    <a:ea typeface="Arial"/>
                    <a:cs typeface="Arial"/>
                    <a:sym typeface="Arial"/>
                  </a:rPr>
                  <a:t>shortest</a:t>
                </a:r>
                <a:r>
                  <a:rPr lang="en-US" sz="1800" dirty="0">
                    <a:latin typeface="Atkinson Hyperlegible Next"/>
                    <a:ea typeface="Arial"/>
                    <a:cs typeface="Arial"/>
                    <a:sym typeface="Arial"/>
                  </a:rPr>
                  <a:t> programmed HIGH period.</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If a device pulls down the clock line for a longer time, the result is that all clock generators must enter the wait state. In this way, a slave slows down a fast master, and the slow device creates enough time to store a received byte or to prepare a byte to be transmitted.</a:t>
                </a:r>
              </a:p>
            </p:txBody>
          </p:sp>
        </mc:Choice>
        <mc:Fallback xmlns="">
          <p:sp>
            <p:nvSpPr>
              <p:cNvPr id="118" name="Google Shape;118;p29">
                <a:extLst>
                  <a:ext uri="{FF2B5EF4-FFF2-40B4-BE49-F238E27FC236}">
                    <a16:creationId xmlns:a16="http://schemas.microsoft.com/office/drawing/2014/main" id="{643EF024-AE49-44D7-3D0E-BDBE542A1980}"/>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491" t="-759" r="-49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73FBB912-3BE1-0FDC-0F8D-75F17807F43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B753FFA-1062-4F7F-C60E-4F17B9216E1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I2C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2671A65-398A-4E29-D9CF-2D806A346A5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4AB7BC8-64B4-8E68-C76C-0246C7DE4C7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1BA12BC-D4AB-639E-6A19-7D09BC8BE62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2E3CBD1-9AE4-6CC7-3BF7-78BDF5533B7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58DF4DC-5B6B-F42C-2A96-D7B2FE5FA56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4E81CC8-3FD2-8E53-EBDC-72FAEEE66C3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513426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E85744D-8F64-9B67-7C52-05D0B3EA7A0F}"/>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833CF3F-84C2-34A0-2BA3-F9A8B80F23F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1C10439-E04A-9BA5-3801-684146A10E9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I2C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93BF50D-F511-4BE4-3D97-103ADE76195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B019C62-854F-AE33-B3C6-E7D14E4E486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6DD070C-1E94-C3FD-5B89-2C48DF26124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4649661-4C33-DF20-5644-DD94DD874D1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B21825C-F709-ED5C-85D5-10058831D15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7FE6DA0-F44D-7571-BF30-5345E2AEA9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Timing diagram: Synchronization of two I2C clock generators during arbitration. Device 1 pulls SCL low first, and the bus line goes low immediately. Device 2 goes low later and releases later. When device 1 releases its clock high, the bus stays low because device 2 still holds it, so device 1 enters a wait state. The bus goes high only when device 2 releases, starting the HIGH period for both. Both then pull low together. The wired-AND bus follows the longest low and shortest high.">
            <a:extLst>
              <a:ext uri="{FF2B5EF4-FFF2-40B4-BE49-F238E27FC236}">
                <a16:creationId xmlns:a16="http://schemas.microsoft.com/office/drawing/2014/main" id="{89F6B071-B715-7FBB-0E30-D060E408D0E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91126" y="1205042"/>
            <a:ext cx="11281394" cy="5097742"/>
          </a:xfrm>
          <a:prstGeom prst="rect">
            <a:avLst/>
          </a:prstGeom>
        </p:spPr>
      </p:pic>
    </p:spTree>
    <p:extLst>
      <p:ext uri="{BB962C8B-B14F-4D97-AF65-F5344CB8AC3E}">
        <p14:creationId xmlns:p14="http://schemas.microsoft.com/office/powerpoint/2010/main" val="172644757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4C84DABF-1A65-C6B6-59B9-E38B0BF872E4}"/>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28BFBCFF-B319-7084-60B4-F40A9B4A3E3F}"/>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DFEEFAD1-FD07-DA27-3395-E9F381198CEC}"/>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I2C Code</a:t>
              </a:r>
              <a:endParaRPr sz="1400" b="0" i="0" u="none" strike="noStrike" cap="none" dirty="0">
                <a:solidFill>
                  <a:srgbClr val="000000"/>
                </a:solidFill>
                <a:latin typeface="Atkinson Hyperlegible Next"/>
                <a:ea typeface="Arial"/>
                <a:cs typeface="Arial"/>
                <a:sym typeface="Arial"/>
              </a:endParaRPr>
            </a:p>
          </p:txBody>
        </p:sp>
        <p:grpSp>
          <p:nvGrpSpPr>
            <p:cNvPr id="91" name="Google Shape;91;p27">
              <a:extLst>
                <a:ext uri="{FF2B5EF4-FFF2-40B4-BE49-F238E27FC236}">
                  <a16:creationId xmlns:a16="http://schemas.microsoft.com/office/drawing/2014/main" id="{C1953101-C1B4-8CB0-EDF2-2B63B55E05F5}"/>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B27C0305-474B-0245-D124-55042940E23D}"/>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A189254-DAC8-83C7-CCA9-AA7F71F3AA12}"/>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7C3506FF-25B6-D07B-BC27-27559D006FF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647443F8-13EA-9F99-6347-86686C2F1BE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9DC57D0-865F-E52A-7998-32204E9C691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71ABA7B5-D926-F07C-904B-3086E1D28534}"/>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CEE29D37-31CC-3B06-AD9F-5E2CFB3184DF}"/>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3E25C5FF-1F7B-1CC5-6931-30EDADB0D41E}"/>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106308410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6AB9445-A2D5-5FC1-BDC2-BEBA1C2E88E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64F7AAD-1DF6-2CFB-9ED5-A6E399F504C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en-US" sz="1400" dirty="0">
                <a:solidFill>
                  <a:srgbClr val="7F0055"/>
                </a:solidFill>
                <a:latin typeface="Consolas" panose="020B0609020204030204" pitchFamily="49" charset="0"/>
              </a:rPr>
              <a:t>void</a:t>
            </a:r>
            <a:r>
              <a:rPr lang="en-US" sz="1400" dirty="0">
                <a:solidFill>
                  <a:srgbClr val="000000"/>
                </a:solidFill>
                <a:latin typeface="Consolas" panose="020B0609020204030204" pitchFamily="49" charset="0"/>
              </a:rPr>
              <a:t> I2CA_Init(</a:t>
            </a:r>
            <a:r>
              <a:rPr lang="en-US" sz="1400" dirty="0">
                <a:solidFill>
                  <a:srgbClr val="7F0055"/>
                </a:solidFill>
                <a:latin typeface="Consolas" panose="020B0609020204030204" pitchFamily="49" charset="0"/>
              </a:rPr>
              <a:t>void</a:t>
            </a: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1. Set the </a:t>
            </a:r>
            <a:r>
              <a:rPr lang="en-US" sz="1400" dirty="0" err="1">
                <a:solidFill>
                  <a:srgbClr val="3F7F5F"/>
                </a:solidFill>
                <a:latin typeface="Consolas" panose="020B0609020204030204" pitchFamily="49" charset="0"/>
              </a:rPr>
              <a:t>Prescaler</a:t>
            </a:r>
            <a:r>
              <a:rPr lang="en-US" sz="1400" dirty="0">
                <a:solidFill>
                  <a:srgbClr val="3F7F5F"/>
                </a:solidFill>
                <a:latin typeface="Consolas" panose="020B0609020204030204" pitchFamily="49" charset="0"/>
              </a:rPr>
              <a:t> to generate the Module Clock</a:t>
            </a:r>
          </a:p>
          <a:p>
            <a:pPr marL="114300" indent="0" algn="l">
              <a:spcBef>
                <a:spcPts val="0"/>
              </a:spcBef>
              <a:buNone/>
            </a:pPr>
            <a:r>
              <a:rPr lang="en-US" sz="1400" dirty="0">
                <a:solidFill>
                  <a:srgbClr val="000000"/>
                </a:solidFill>
                <a:latin typeface="Consolas" panose="020B0609020204030204" pitchFamily="49" charset="0"/>
              </a:rPr>
              <a:t>    I2caRegs.</a:t>
            </a:r>
            <a:r>
              <a:rPr lang="en-US" sz="1400" dirty="0">
                <a:solidFill>
                  <a:srgbClr val="0000C0"/>
                </a:solidFill>
                <a:latin typeface="Consolas" panose="020B0609020204030204" pitchFamily="49" charset="0"/>
              </a:rPr>
              <a:t>I2CPSC</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 = 16;   </a:t>
            </a:r>
            <a:r>
              <a:rPr lang="en-US" sz="1400" dirty="0">
                <a:solidFill>
                  <a:srgbClr val="3F7F5F"/>
                </a:solidFill>
                <a:latin typeface="Consolas" panose="020B0609020204030204" pitchFamily="49" charset="0"/>
              </a:rPr>
              <a:t>// Divides high-speed system clock down to ~7-12 MHz</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2. Define the exact characteristics of the SCL wave</a:t>
            </a:r>
          </a:p>
          <a:p>
            <a:pPr marL="114300" indent="0" algn="l">
              <a:spcBef>
                <a:spcPts val="0"/>
              </a:spcBef>
              <a:buNone/>
            </a:pPr>
            <a:r>
              <a:rPr lang="en-US" sz="1400" dirty="0">
                <a:solidFill>
                  <a:srgbClr val="000000"/>
                </a:solidFill>
                <a:latin typeface="Consolas" panose="020B0609020204030204" pitchFamily="49" charset="0"/>
              </a:rPr>
              <a:t>    I2caRegs.</a:t>
            </a:r>
            <a:r>
              <a:rPr lang="en-US" sz="1400" dirty="0">
                <a:solidFill>
                  <a:srgbClr val="0000C0"/>
                </a:solidFill>
                <a:latin typeface="Consolas" panose="020B0609020204030204" pitchFamily="49" charset="0"/>
              </a:rPr>
              <a:t>I2CCLKL</a:t>
            </a:r>
            <a:r>
              <a:rPr lang="en-US" sz="1400" dirty="0">
                <a:solidFill>
                  <a:srgbClr val="000000"/>
                </a:solidFill>
                <a:latin typeface="Consolas" panose="020B0609020204030204" pitchFamily="49" charset="0"/>
              </a:rPr>
              <a:t> = 10;      </a:t>
            </a:r>
            <a:r>
              <a:rPr lang="en-US" sz="1400" dirty="0">
                <a:solidFill>
                  <a:srgbClr val="3F7F5F"/>
                </a:solidFill>
                <a:latin typeface="Consolas" panose="020B0609020204030204" pitchFamily="49" charset="0"/>
              </a:rPr>
              <a:t>// Defines the duration of the SCL LOW period</a:t>
            </a:r>
          </a:p>
          <a:p>
            <a:pPr marL="114300" indent="0" algn="l">
              <a:spcBef>
                <a:spcPts val="0"/>
              </a:spcBef>
              <a:buNone/>
            </a:pPr>
            <a:r>
              <a:rPr lang="en-US" sz="1400" dirty="0">
                <a:solidFill>
                  <a:srgbClr val="000000"/>
                </a:solidFill>
                <a:latin typeface="Consolas" panose="020B0609020204030204" pitchFamily="49" charset="0"/>
              </a:rPr>
              <a:t>    I2caRegs.</a:t>
            </a:r>
            <a:r>
              <a:rPr lang="en-US" sz="1400" dirty="0">
                <a:solidFill>
                  <a:srgbClr val="0000C0"/>
                </a:solidFill>
                <a:latin typeface="Consolas" panose="020B0609020204030204" pitchFamily="49" charset="0"/>
              </a:rPr>
              <a:t>I2CCLKH</a:t>
            </a:r>
            <a:r>
              <a:rPr lang="en-US" sz="1400" dirty="0">
                <a:solidFill>
                  <a:srgbClr val="000000"/>
                </a:solidFill>
                <a:latin typeface="Consolas" panose="020B0609020204030204" pitchFamily="49" charset="0"/>
              </a:rPr>
              <a:t> = 5;       </a:t>
            </a:r>
            <a:r>
              <a:rPr lang="en-US" sz="1400" dirty="0">
                <a:solidFill>
                  <a:srgbClr val="3F7F5F"/>
                </a:solidFill>
                <a:latin typeface="Consolas" panose="020B0609020204030204" pitchFamily="49" charset="0"/>
              </a:rPr>
              <a:t>// Defines the duration of the SCL HIGH period</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3. Enable Interrupts for critical network events</a:t>
            </a:r>
          </a:p>
          <a:p>
            <a:pPr marL="114300" indent="0" algn="l">
              <a:spcBef>
                <a:spcPts val="0"/>
              </a:spcBef>
              <a:buNone/>
            </a:pPr>
            <a:r>
              <a:rPr lang="en-US" sz="1400" dirty="0">
                <a:solidFill>
                  <a:srgbClr val="000000"/>
                </a:solidFill>
                <a:latin typeface="Consolas" panose="020B0609020204030204" pitchFamily="49" charset="0"/>
              </a:rPr>
              <a:t>    I2caRegs.</a:t>
            </a:r>
            <a:r>
              <a:rPr lang="en-US" sz="1400" dirty="0">
                <a:solidFill>
                  <a:srgbClr val="0000C0"/>
                </a:solidFill>
                <a:latin typeface="Consolas" panose="020B0609020204030204" pitchFamily="49" charset="0"/>
              </a:rPr>
              <a:t>I2CIER</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 = 0x24; </a:t>
            </a:r>
            <a:r>
              <a:rPr lang="en-US" sz="1400" dirty="0">
                <a:solidFill>
                  <a:srgbClr val="3F7F5F"/>
                </a:solidFill>
                <a:latin typeface="Consolas" panose="020B0609020204030204" pitchFamily="49" charset="0"/>
              </a:rPr>
              <a:t>// Enable Start Condition Detected (SCD) &amp; Register Access Ready (ARDY)</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4. Take the I2C module out of reset</a:t>
            </a:r>
          </a:p>
          <a:p>
            <a:pPr marL="114300" indent="0" algn="l">
              <a:spcBef>
                <a:spcPts val="0"/>
              </a:spcBef>
              <a:buNone/>
            </a:pPr>
            <a:r>
              <a:rPr lang="en-US" sz="1400" dirty="0">
                <a:solidFill>
                  <a:srgbClr val="000000"/>
                </a:solidFill>
                <a:latin typeface="Consolas" panose="020B0609020204030204" pitchFamily="49" charset="0"/>
              </a:rPr>
              <a:t>    I2caRegs.</a:t>
            </a:r>
            <a:r>
              <a:rPr lang="en-US" sz="1400" dirty="0">
                <a:solidFill>
                  <a:srgbClr val="0000C0"/>
                </a:solidFill>
                <a:latin typeface="Consolas" panose="020B0609020204030204" pitchFamily="49" charset="0"/>
              </a:rPr>
              <a:t>I2CMDR</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 = 0x0020; </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5. Enable the 16-level Transmit and Receive FIFOs</a:t>
            </a:r>
          </a:p>
          <a:p>
            <a:pPr marL="114300" indent="0" algn="l">
              <a:spcBef>
                <a:spcPts val="0"/>
              </a:spcBef>
              <a:buNone/>
            </a:pPr>
            <a:r>
              <a:rPr lang="en-US" sz="1400" dirty="0">
                <a:solidFill>
                  <a:srgbClr val="000000"/>
                </a:solidFill>
                <a:latin typeface="Consolas" panose="020B0609020204030204" pitchFamily="49" charset="0"/>
              </a:rPr>
              <a:t>    I2caRegs.</a:t>
            </a:r>
            <a:r>
              <a:rPr lang="en-US" sz="1400" dirty="0">
                <a:solidFill>
                  <a:srgbClr val="0000C0"/>
                </a:solidFill>
                <a:latin typeface="Consolas" panose="020B0609020204030204" pitchFamily="49" charset="0"/>
              </a:rPr>
              <a:t>I2CFFTX</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 = 0x6000; </a:t>
            </a:r>
            <a:r>
              <a:rPr lang="en-US" sz="1400" dirty="0">
                <a:solidFill>
                  <a:srgbClr val="3F7F5F"/>
                </a:solidFill>
                <a:latin typeface="Consolas" panose="020B0609020204030204" pitchFamily="49" charset="0"/>
              </a:rPr>
              <a:t>// Enable FIFO mode and TXFIFO</a:t>
            </a:r>
          </a:p>
          <a:p>
            <a:pPr marL="114300" indent="0" algn="l">
              <a:spcBef>
                <a:spcPts val="0"/>
              </a:spcBef>
              <a:buNone/>
            </a:pPr>
            <a:r>
              <a:rPr lang="en-US" sz="1400" dirty="0">
                <a:solidFill>
                  <a:srgbClr val="000000"/>
                </a:solidFill>
                <a:latin typeface="Consolas" panose="020B0609020204030204" pitchFamily="49" charset="0"/>
              </a:rPr>
              <a:t>    I2caRegs.</a:t>
            </a:r>
            <a:r>
              <a:rPr lang="en-US" sz="1400" dirty="0">
                <a:solidFill>
                  <a:srgbClr val="0000C0"/>
                </a:solidFill>
                <a:latin typeface="Consolas" panose="020B0609020204030204" pitchFamily="49" charset="0"/>
              </a:rPr>
              <a:t>I2CFFRX</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 = 0x2040; </a:t>
            </a:r>
            <a:r>
              <a:rPr lang="en-US" sz="1400" dirty="0">
                <a:solidFill>
                  <a:srgbClr val="3F7F5F"/>
                </a:solidFill>
                <a:latin typeface="Consolas" panose="020B0609020204030204" pitchFamily="49" charset="0"/>
              </a:rPr>
              <a:t>// Enable RXFIFO and clear interrupt flags</a:t>
            </a:r>
          </a:p>
          <a:p>
            <a:pPr marL="114300" indent="0" algn="l">
              <a:spcBef>
                <a:spcPts val="0"/>
              </a:spcBef>
              <a:buNone/>
            </a:pPr>
            <a:r>
              <a:rPr lang="en-US" sz="1400" dirty="0">
                <a:solidFill>
                  <a:srgbClr val="000000"/>
                </a:solidFill>
                <a:latin typeface="Consolas" panose="020B0609020204030204" pitchFamily="49" charset="0"/>
              </a:rPr>
              <a:t>}</a:t>
            </a:r>
          </a:p>
          <a:p>
            <a:pPr marL="114300" indent="0" algn="l">
              <a:spcBef>
                <a:spcPts val="0"/>
              </a:spcBef>
              <a:buNone/>
            </a:pPr>
            <a:endParaRPr lang="en-US" sz="1400" dirty="0">
              <a:solidFill>
                <a:srgbClr val="000000"/>
              </a:solidFill>
              <a:latin typeface="Consolas" panose="020B0609020204030204" pitchFamily="49" charset="0"/>
              <a:ea typeface="Arial"/>
              <a:cs typeface="Arial"/>
              <a:sym typeface="Arial"/>
            </a:endParaRPr>
          </a:p>
          <a:p>
            <a:pPr marL="114300" indent="0">
              <a:spcBef>
                <a:spcPts val="0"/>
              </a:spcBef>
              <a:buNone/>
            </a:pPr>
            <a:r>
              <a:rPr lang="en-US" sz="1400" dirty="0">
                <a:latin typeface="Atkinson Hyperlegible Next"/>
                <a:ea typeface="Arial"/>
                <a:cs typeface="Arial"/>
                <a:sym typeface="Arial"/>
              </a:rPr>
              <a:t>Notice that </a:t>
            </a:r>
            <a:r>
              <a:rPr lang="en-US" sz="1400" dirty="0">
                <a:solidFill>
                  <a:srgbClr val="0000C0"/>
                </a:solidFill>
                <a:latin typeface="Consolas" panose="020B0609020204030204" pitchFamily="49" charset="0"/>
              </a:rPr>
              <a:t>I2CCLKL</a:t>
            </a:r>
            <a:r>
              <a:rPr lang="en-US" sz="1400" dirty="0">
                <a:latin typeface="Atkinson Hyperlegible Next"/>
                <a:ea typeface="Arial"/>
                <a:cs typeface="Arial"/>
                <a:sym typeface="Arial"/>
              </a:rPr>
              <a:t> (10) is mathematically larger than </a:t>
            </a:r>
            <a:r>
              <a:rPr lang="en-US" sz="1400" dirty="0">
                <a:solidFill>
                  <a:srgbClr val="0000C0"/>
                </a:solidFill>
                <a:latin typeface="Consolas" panose="020B0609020204030204" pitchFamily="49" charset="0"/>
              </a:rPr>
              <a:t>I2CCLKH</a:t>
            </a:r>
            <a:r>
              <a:rPr lang="en-US" sz="1400" dirty="0">
                <a:latin typeface="Atkinson Hyperlegible Next"/>
                <a:ea typeface="Arial"/>
                <a:cs typeface="Arial"/>
                <a:sym typeface="Arial"/>
              </a:rPr>
              <a:t> (5). Because the physical bus relies on passive pull-up resistors to transition HIGH, the rise-time is inherently slower, compared to the transistors, than the fall-time (which is actively pulled LOW by a transistor).</a:t>
            </a:r>
          </a:p>
        </p:txBody>
      </p:sp>
      <p:sp>
        <p:nvSpPr>
          <p:cNvPr id="119" name="Google Shape;119;p29">
            <a:extLst>
              <a:ext uri="{FF2B5EF4-FFF2-40B4-BE49-F238E27FC236}">
                <a16:creationId xmlns:a16="http://schemas.microsoft.com/office/drawing/2014/main" id="{895F2CF9-F9F3-853C-93A6-089F5EECECD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4E18208-B2D2-2EA9-4104-1A4E6257BBD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I2C - Init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98F12A4-E1E6-5C24-9100-6B1E328460A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D654F67-44EB-984F-1CDC-AA66144EBFD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E7D704D-26FA-6372-2EEE-C3B7BE81D5D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5F22221-BB8D-4ABD-3F2C-9DF51F5C2E0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F23AE3F-1633-9D7C-DC38-12ABF363C73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5B159FC-EA3B-C2C2-22D6-327F6226D69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0144042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7F4231-B65F-212C-0CA4-631254DC90F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3F088E7-1145-C609-7933-790D8E932D6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nn-NO" sz="1000" dirty="0">
                <a:solidFill>
                  <a:srgbClr val="005032"/>
                </a:solidFill>
                <a:latin typeface="Consolas" panose="020B0609020204030204" pitchFamily="49" charset="0"/>
              </a:rPr>
              <a:t>Uint16</a:t>
            </a:r>
            <a:r>
              <a:rPr lang="nn-NO" sz="1000" dirty="0">
                <a:solidFill>
                  <a:srgbClr val="000000"/>
                </a:solidFill>
                <a:latin typeface="Consolas" panose="020B0609020204030204" pitchFamily="49" charset="0"/>
              </a:rPr>
              <a:t> I2CA_WriteData(</a:t>
            </a:r>
            <a:r>
              <a:rPr lang="nn-NO" sz="1000" dirty="0">
                <a:solidFill>
                  <a:srgbClr val="7F0055"/>
                </a:solidFill>
                <a:latin typeface="Consolas" panose="020B0609020204030204" pitchFamily="49" charset="0"/>
              </a:rPr>
              <a:t>struct</a:t>
            </a:r>
            <a:r>
              <a:rPr lang="nn-NO" sz="1000" dirty="0">
                <a:solidFill>
                  <a:srgbClr val="000000"/>
                </a:solidFill>
                <a:latin typeface="Consolas" panose="020B0609020204030204" pitchFamily="49" charset="0"/>
              </a:rPr>
              <a:t> </a:t>
            </a:r>
            <a:r>
              <a:rPr lang="nn-NO" sz="1000" dirty="0">
                <a:solidFill>
                  <a:srgbClr val="005032"/>
                </a:solidFill>
                <a:latin typeface="Consolas" panose="020B0609020204030204" pitchFamily="49" charset="0"/>
              </a:rPr>
              <a:t>I2CMSG</a:t>
            </a:r>
            <a:r>
              <a:rPr lang="nn-NO" sz="1000" dirty="0">
                <a:solidFill>
                  <a:srgbClr val="000000"/>
                </a:solidFill>
                <a:latin typeface="Consolas" panose="020B0609020204030204" pitchFamily="49" charset="0"/>
              </a:rPr>
              <a:t> *msg) {</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1. Verify if the previous message completed?</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if</a:t>
            </a:r>
            <a:r>
              <a:rPr lang="en-US" sz="1000" dirty="0">
                <a:solidFill>
                  <a:srgbClr val="000000"/>
                </a:solidFill>
                <a:latin typeface="Consolas" panose="020B0609020204030204" pitchFamily="49" charset="0"/>
              </a:rPr>
              <a:t>(I2caRegs.</a:t>
            </a:r>
            <a:r>
              <a:rPr lang="en-US" sz="1000" dirty="0">
                <a:solidFill>
                  <a:srgbClr val="0000C0"/>
                </a:solidFill>
                <a:latin typeface="Consolas" panose="020B0609020204030204" pitchFamily="49" charset="0"/>
              </a:rPr>
              <a:t>I2CMDR</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bit</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STP</a:t>
            </a:r>
            <a:r>
              <a:rPr lang="en-US" sz="1000" dirty="0">
                <a:solidFill>
                  <a:srgbClr val="000000"/>
                </a:solidFill>
                <a:latin typeface="Consolas" panose="020B0609020204030204" pitchFamily="49" charset="0"/>
              </a:rPr>
              <a:t> == 1) {</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return</a:t>
            </a:r>
            <a:r>
              <a:rPr lang="en-US" sz="1000" dirty="0">
                <a:solidFill>
                  <a:srgbClr val="000000"/>
                </a:solidFill>
                <a:latin typeface="Consolas" panose="020B0609020204030204" pitchFamily="49" charset="0"/>
              </a:rPr>
              <a:t> I2C_STP_NOT_READY_ERROR;</a:t>
            </a:r>
          </a:p>
          <a:p>
            <a:pPr marL="114300" indent="0" algn="l">
              <a:spcBef>
                <a:spcPts val="0"/>
              </a:spcBef>
              <a:buNone/>
            </a:pPr>
            <a:r>
              <a:rPr lang="en-US" sz="1000" dirty="0">
                <a:solidFill>
                  <a:srgbClr val="000000"/>
                </a:solidFill>
                <a:latin typeface="Consolas" panose="020B0609020204030204" pitchFamily="49" charset="0"/>
              </a:rPr>
              <a:t>    }</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2. Verify if another Master using the bus?</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if</a:t>
            </a:r>
            <a:r>
              <a:rPr lang="en-US" sz="1000" dirty="0">
                <a:solidFill>
                  <a:srgbClr val="000000"/>
                </a:solidFill>
                <a:latin typeface="Consolas" panose="020B0609020204030204" pitchFamily="49" charset="0"/>
              </a:rPr>
              <a:t>(I2caRegs.</a:t>
            </a:r>
            <a:r>
              <a:rPr lang="en-US" sz="1000" dirty="0">
                <a:solidFill>
                  <a:srgbClr val="0000C0"/>
                </a:solidFill>
                <a:latin typeface="Consolas" panose="020B0609020204030204" pitchFamily="49" charset="0"/>
              </a:rPr>
              <a:t>I2CSTR</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bit</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BB</a:t>
            </a:r>
            <a:r>
              <a:rPr lang="en-US" sz="1000" dirty="0">
                <a:solidFill>
                  <a:srgbClr val="000000"/>
                </a:solidFill>
                <a:latin typeface="Consolas" panose="020B0609020204030204" pitchFamily="49" charset="0"/>
              </a:rPr>
              <a:t> == 1) {</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return</a:t>
            </a:r>
            <a:r>
              <a:rPr lang="en-US" sz="1000" dirty="0">
                <a:solidFill>
                  <a:srgbClr val="000000"/>
                </a:solidFill>
                <a:latin typeface="Consolas" panose="020B0609020204030204" pitchFamily="49" charset="0"/>
              </a:rPr>
              <a:t> I2C_BUS_BUSY_ERROR;</a:t>
            </a:r>
          </a:p>
          <a:p>
            <a:pPr marL="114300" indent="0" algn="l">
              <a:spcBef>
                <a:spcPts val="0"/>
              </a:spcBef>
              <a:buNone/>
            </a:pPr>
            <a:r>
              <a:rPr lang="en-US" sz="1000" dirty="0">
                <a:solidFill>
                  <a:srgbClr val="000000"/>
                </a:solidFill>
                <a:latin typeface="Consolas" panose="020B0609020204030204" pitchFamily="49" charset="0"/>
              </a:rPr>
              <a:t>    }</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3. Broadcast the Slave's address (EEPROM is typically 0x50)</a:t>
            </a:r>
          </a:p>
          <a:p>
            <a:pPr marL="114300" indent="0">
              <a:spcBef>
                <a:spcPts val="0"/>
              </a:spcBef>
              <a:buNone/>
            </a:pPr>
            <a:r>
              <a:rPr lang="en-US" sz="1000" dirty="0">
                <a:solidFill>
                  <a:srgbClr val="000000"/>
                </a:solidFill>
                <a:latin typeface="Consolas" panose="020B0609020204030204" pitchFamily="49" charset="0"/>
              </a:rPr>
              <a:t>    I2caRegs.</a:t>
            </a:r>
            <a:r>
              <a:rPr lang="en-US" sz="1000" dirty="0">
                <a:solidFill>
                  <a:srgbClr val="0000C0"/>
                </a:solidFill>
                <a:latin typeface="Consolas" panose="020B0609020204030204" pitchFamily="49" charset="0"/>
              </a:rPr>
              <a:t>I2CSAR</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all</a:t>
            </a:r>
            <a:r>
              <a:rPr lang="en-US" sz="1000" dirty="0">
                <a:solidFill>
                  <a:srgbClr val="000000"/>
                </a:solidFill>
                <a:latin typeface="Consolas" panose="020B0609020204030204" pitchFamily="49" charset="0"/>
              </a:rPr>
              <a:t> = msg-&gt;</a:t>
            </a:r>
            <a:r>
              <a:rPr lang="en-US" sz="1000" dirty="0" err="1">
                <a:solidFill>
                  <a:srgbClr val="0000C0"/>
                </a:solidFill>
                <a:latin typeface="Consolas" panose="020B0609020204030204" pitchFamily="49" charset="0"/>
              </a:rPr>
              <a:t>SlaveAddress</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 </a:t>
            </a:r>
            <a:endParaRPr lang="en-US" sz="1000" dirty="0">
              <a:solidFill>
                <a:srgbClr val="000000"/>
              </a:solidFill>
              <a:latin typeface="Consolas" panose="020B0609020204030204" pitchFamily="49" charset="0"/>
            </a:endParaRP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4. Define exactly how many bytes we will transmit</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(2 bytes for the EEPROM memory address + the actual data bytes)</a:t>
            </a:r>
          </a:p>
          <a:p>
            <a:pPr marL="114300" indent="0" algn="l">
              <a:spcBef>
                <a:spcPts val="0"/>
              </a:spcBef>
              <a:buNone/>
            </a:pPr>
            <a:r>
              <a:rPr lang="en-US" sz="1000" dirty="0">
                <a:solidFill>
                  <a:srgbClr val="000000"/>
                </a:solidFill>
                <a:latin typeface="Consolas" panose="020B0609020204030204" pitchFamily="49" charset="0"/>
              </a:rPr>
              <a:t>    I2caRegs.</a:t>
            </a:r>
            <a:r>
              <a:rPr lang="en-US" sz="1000" dirty="0">
                <a:solidFill>
                  <a:srgbClr val="0000C0"/>
                </a:solidFill>
                <a:latin typeface="Consolas" panose="020B0609020204030204" pitchFamily="49" charset="0"/>
              </a:rPr>
              <a:t>I2CCNT</a:t>
            </a:r>
            <a:r>
              <a:rPr lang="en-US" sz="1000" dirty="0">
                <a:solidFill>
                  <a:srgbClr val="000000"/>
                </a:solidFill>
                <a:latin typeface="Consolas" panose="020B0609020204030204" pitchFamily="49" charset="0"/>
              </a:rPr>
              <a:t> = 2 + msg-&gt;</a:t>
            </a:r>
            <a:r>
              <a:rPr lang="en-US" sz="1000" dirty="0" err="1">
                <a:solidFill>
                  <a:srgbClr val="0000C0"/>
                </a:solidFill>
                <a:latin typeface="Consolas" panose="020B0609020204030204" pitchFamily="49" charset="0"/>
              </a:rPr>
              <a:t>NumOfBytes</a:t>
            </a:r>
            <a:r>
              <a:rPr lang="en-US" sz="1000" dirty="0">
                <a:solidFill>
                  <a:srgbClr val="000000"/>
                </a:solidFill>
                <a:latin typeface="Consolas" panose="020B0609020204030204" pitchFamily="49" charset="0"/>
              </a:rPr>
              <a:t>;</a:t>
            </a:r>
          </a:p>
          <a:p>
            <a:pPr marL="114300" indent="0" algn="l">
              <a:spcBef>
                <a:spcPts val="0"/>
              </a:spcBef>
              <a:buNone/>
            </a:pPr>
            <a:endParaRPr lang="en-US" sz="1000" dirty="0">
              <a:latin typeface="Consolas" panose="020B0609020204030204" pitchFamily="49" charset="0"/>
            </a:endParaRP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4. Push the EEPROM memory pointer into the Transmit FIFO (think of the Slave's address as the apartment address and this as setting the specific apartment number we want to write to)</a:t>
            </a:r>
          </a:p>
          <a:p>
            <a:pPr marL="114300" indent="0" algn="l">
              <a:spcBef>
                <a:spcPts val="0"/>
              </a:spcBef>
              <a:buNone/>
            </a:pPr>
            <a:r>
              <a:rPr lang="en-US" sz="1000" dirty="0">
                <a:solidFill>
                  <a:srgbClr val="000000"/>
                </a:solidFill>
                <a:latin typeface="Consolas" panose="020B0609020204030204" pitchFamily="49" charset="0"/>
              </a:rPr>
              <a:t>    I2caRegs.</a:t>
            </a:r>
            <a:r>
              <a:rPr lang="en-US" sz="1000" dirty="0">
                <a:solidFill>
                  <a:srgbClr val="0000C0"/>
                </a:solidFill>
                <a:latin typeface="Consolas" panose="020B0609020204030204" pitchFamily="49" charset="0"/>
              </a:rPr>
              <a:t>I2CDXR</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all</a:t>
            </a:r>
            <a:r>
              <a:rPr lang="en-US" sz="1000" dirty="0">
                <a:solidFill>
                  <a:srgbClr val="000000"/>
                </a:solidFill>
                <a:latin typeface="Consolas" panose="020B0609020204030204" pitchFamily="49" charset="0"/>
              </a:rPr>
              <a:t> = msg-&gt;</a:t>
            </a:r>
            <a:r>
              <a:rPr lang="en-US" sz="1000" dirty="0" err="1">
                <a:solidFill>
                  <a:srgbClr val="0000C0"/>
                </a:solidFill>
                <a:latin typeface="Consolas" panose="020B0609020204030204" pitchFamily="49" charset="0"/>
              </a:rPr>
              <a:t>MemoryHighAddr</a:t>
            </a:r>
            <a:r>
              <a:rPr lang="en-US" sz="1000" dirty="0">
                <a:solidFill>
                  <a:srgbClr val="000000"/>
                </a:solidFill>
                <a:latin typeface="Consolas" panose="020B0609020204030204" pitchFamily="49" charset="0"/>
              </a:rPr>
              <a:t>;</a:t>
            </a:r>
          </a:p>
          <a:p>
            <a:pPr marL="114300" indent="0" algn="l">
              <a:spcBef>
                <a:spcPts val="0"/>
              </a:spcBef>
              <a:buNone/>
            </a:pPr>
            <a:r>
              <a:rPr lang="en-US" sz="1000" dirty="0">
                <a:solidFill>
                  <a:srgbClr val="000000"/>
                </a:solidFill>
                <a:latin typeface="Consolas" panose="020B0609020204030204" pitchFamily="49" charset="0"/>
              </a:rPr>
              <a:t>    I2caRegs.</a:t>
            </a:r>
            <a:r>
              <a:rPr lang="en-US" sz="1000" dirty="0">
                <a:solidFill>
                  <a:srgbClr val="0000C0"/>
                </a:solidFill>
                <a:latin typeface="Consolas" panose="020B0609020204030204" pitchFamily="49" charset="0"/>
              </a:rPr>
              <a:t>I2CDXR</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all</a:t>
            </a:r>
            <a:r>
              <a:rPr lang="en-US" sz="1000" dirty="0">
                <a:solidFill>
                  <a:srgbClr val="000000"/>
                </a:solidFill>
                <a:latin typeface="Consolas" panose="020B0609020204030204" pitchFamily="49" charset="0"/>
              </a:rPr>
              <a:t> = msg-&gt;</a:t>
            </a:r>
            <a:r>
              <a:rPr lang="en-US" sz="1000" dirty="0" err="1">
                <a:solidFill>
                  <a:srgbClr val="0000C0"/>
                </a:solidFill>
                <a:latin typeface="Consolas" panose="020B0609020204030204" pitchFamily="49" charset="0"/>
              </a:rPr>
              <a:t>MemoryLowAddr</a:t>
            </a:r>
            <a:r>
              <a:rPr lang="en-US" sz="1000" dirty="0">
                <a:solidFill>
                  <a:srgbClr val="000000"/>
                </a:solidFill>
                <a:latin typeface="Consolas" panose="020B0609020204030204" pitchFamily="49" charset="0"/>
              </a:rPr>
              <a:t>;</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5. Push the actual data payload into the Transmit FIFO</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for</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int</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i</a:t>
            </a:r>
            <a:r>
              <a:rPr lang="en-US" sz="1000" dirty="0">
                <a:solidFill>
                  <a:srgbClr val="000000"/>
                </a:solidFill>
                <a:latin typeface="Consolas" panose="020B0609020204030204" pitchFamily="49" charset="0"/>
              </a:rPr>
              <a:t> = 0; </a:t>
            </a:r>
            <a:r>
              <a:rPr lang="en-US" sz="1000" dirty="0" err="1">
                <a:solidFill>
                  <a:srgbClr val="000000"/>
                </a:solidFill>
                <a:latin typeface="Consolas" panose="020B0609020204030204" pitchFamily="49" charset="0"/>
              </a:rPr>
              <a:t>i</a:t>
            </a:r>
            <a:r>
              <a:rPr lang="en-US" sz="1000" dirty="0">
                <a:solidFill>
                  <a:srgbClr val="000000"/>
                </a:solidFill>
                <a:latin typeface="Consolas" panose="020B0609020204030204" pitchFamily="49" charset="0"/>
              </a:rPr>
              <a:t> &lt; msg-&gt;</a:t>
            </a:r>
            <a:r>
              <a:rPr lang="en-US" sz="1000" dirty="0" err="1">
                <a:solidFill>
                  <a:srgbClr val="0000C0"/>
                </a:solidFill>
                <a:latin typeface="Consolas" panose="020B0609020204030204" pitchFamily="49" charset="0"/>
              </a:rPr>
              <a:t>NumOfBytes</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i</a:t>
            </a:r>
            <a:r>
              <a:rPr lang="en-US" sz="1000" dirty="0">
                <a:solidFill>
                  <a:srgbClr val="000000"/>
                </a:solidFill>
                <a:latin typeface="Consolas" panose="020B0609020204030204" pitchFamily="49" charset="0"/>
              </a:rPr>
              <a:t>++) {</a:t>
            </a:r>
          </a:p>
          <a:p>
            <a:pPr marL="114300" indent="0" algn="l">
              <a:spcBef>
                <a:spcPts val="0"/>
              </a:spcBef>
              <a:buNone/>
            </a:pPr>
            <a:r>
              <a:rPr lang="en-US" sz="1000" dirty="0">
                <a:solidFill>
                  <a:srgbClr val="000000"/>
                </a:solidFill>
                <a:latin typeface="Consolas" panose="020B0609020204030204" pitchFamily="49" charset="0"/>
              </a:rPr>
              <a:t>        I2caRegs.</a:t>
            </a:r>
            <a:r>
              <a:rPr lang="en-US" sz="1000" dirty="0">
                <a:solidFill>
                  <a:srgbClr val="0000C0"/>
                </a:solidFill>
                <a:latin typeface="Consolas" panose="020B0609020204030204" pitchFamily="49" charset="0"/>
              </a:rPr>
              <a:t>I2CDXR</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all</a:t>
            </a:r>
            <a:r>
              <a:rPr lang="en-US" sz="1000" dirty="0">
                <a:solidFill>
                  <a:srgbClr val="000000"/>
                </a:solidFill>
                <a:latin typeface="Consolas" panose="020B0609020204030204" pitchFamily="49" charset="0"/>
              </a:rPr>
              <a:t> = *(msg-&gt;</a:t>
            </a:r>
            <a:r>
              <a:rPr lang="en-US" sz="1000" dirty="0" err="1">
                <a:solidFill>
                  <a:srgbClr val="0000C0"/>
                </a:solidFill>
                <a:latin typeface="Consolas" panose="020B0609020204030204" pitchFamily="49" charset="0"/>
              </a:rPr>
              <a:t>MsgBuffer</a:t>
            </a:r>
            <a:r>
              <a:rPr lang="en-US" sz="1000" dirty="0">
                <a:solidFill>
                  <a:srgbClr val="000000"/>
                </a:solidFill>
                <a:latin typeface="Consolas" panose="020B0609020204030204" pitchFamily="49" charset="0"/>
              </a:rPr>
              <a:t> + </a:t>
            </a:r>
            <a:r>
              <a:rPr lang="en-US" sz="1000" dirty="0" err="1">
                <a:solidFill>
                  <a:srgbClr val="000000"/>
                </a:solidFill>
                <a:latin typeface="Consolas" panose="020B0609020204030204" pitchFamily="49" charset="0"/>
              </a:rPr>
              <a:t>i</a:t>
            </a:r>
            <a:r>
              <a:rPr lang="en-US" sz="1000" dirty="0">
                <a:solidFill>
                  <a:srgbClr val="000000"/>
                </a:solidFill>
                <a:latin typeface="Consolas" panose="020B0609020204030204" pitchFamily="49" charset="0"/>
              </a:rPr>
              <a:t>);</a:t>
            </a:r>
          </a:p>
          <a:p>
            <a:pPr marL="114300" indent="0" algn="l">
              <a:spcBef>
                <a:spcPts val="0"/>
              </a:spcBef>
              <a:buNone/>
            </a:pPr>
            <a:r>
              <a:rPr lang="en-US" sz="1000" dirty="0">
                <a:solidFill>
                  <a:srgbClr val="000000"/>
                </a:solidFill>
                <a:latin typeface="Consolas" panose="020B0609020204030204" pitchFamily="49" charset="0"/>
              </a:rPr>
              <a:t>    }</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6. Command the hardware to execute the transaction</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0x6E20 sets: FREE (run during debug), START, STOP, MASTER, TRANSMIT, and ENABLE bits</a:t>
            </a:r>
          </a:p>
          <a:p>
            <a:pPr marL="114300" indent="0" algn="l">
              <a:spcBef>
                <a:spcPts val="0"/>
              </a:spcBef>
              <a:buNone/>
            </a:pPr>
            <a:r>
              <a:rPr lang="en-US" sz="1000" dirty="0">
                <a:solidFill>
                  <a:srgbClr val="000000"/>
                </a:solidFill>
                <a:latin typeface="Consolas" panose="020B0609020204030204" pitchFamily="49" charset="0"/>
              </a:rPr>
              <a:t>    I2caRegs.</a:t>
            </a:r>
            <a:r>
              <a:rPr lang="en-US" sz="1000" dirty="0">
                <a:solidFill>
                  <a:srgbClr val="0000C0"/>
                </a:solidFill>
                <a:latin typeface="Consolas" panose="020B0609020204030204" pitchFamily="49" charset="0"/>
              </a:rPr>
              <a:t>I2CMDR</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all</a:t>
            </a:r>
            <a:r>
              <a:rPr lang="en-US" sz="1000" dirty="0">
                <a:solidFill>
                  <a:srgbClr val="000000"/>
                </a:solidFill>
                <a:latin typeface="Consolas" panose="020B0609020204030204" pitchFamily="49" charset="0"/>
              </a:rPr>
              <a:t> = 0x6E20;</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return</a:t>
            </a:r>
            <a:r>
              <a:rPr lang="en-US" sz="1000" dirty="0">
                <a:solidFill>
                  <a:srgbClr val="000000"/>
                </a:solidFill>
                <a:latin typeface="Consolas" panose="020B0609020204030204" pitchFamily="49" charset="0"/>
              </a:rPr>
              <a:t> I2C_SUCCESS;</a:t>
            </a:r>
          </a:p>
          <a:p>
            <a:pPr marL="114300" indent="0" algn="l">
              <a:spcBef>
                <a:spcPts val="0"/>
              </a:spcBef>
              <a:buNone/>
            </a:pPr>
            <a:r>
              <a:rPr lang="en-US" sz="1000" dirty="0">
                <a:solidFill>
                  <a:srgbClr val="000000"/>
                </a:solidFill>
                <a:latin typeface="Consolas" panose="020B0609020204030204" pitchFamily="49" charset="0"/>
              </a:rPr>
              <a:t>}</a:t>
            </a:r>
            <a:endParaRPr lang="en-US" sz="1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444DCDA8-B2DC-D389-AC24-934093A1F4A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3F19BD0-8C1F-F2BA-2D97-1FA5B92539C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I2C - Init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1BB0513-306A-FD0C-E69D-E0B72EF85B9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5DED8B8-74B5-A936-A54B-451973AFB47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D8CA38-1255-BEE8-59E1-F4649DD77E0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0719A25-255F-57E9-4EA4-F8775804FBC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DC82D69-0F8D-E590-1CB5-E4F4FF04DF1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7C34F90-B255-9CFB-5140-9BEB92DB78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17568922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p:nvPr>
            <p:ph type="title"/>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6600" b="1" dirty="0">
                <a:solidFill>
                  <a:schemeClr val="lt1"/>
                </a:solidFill>
              </a:rPr>
              <a:t>Questions</a:t>
            </a:r>
            <a:r>
              <a:rPr i="0" lang="en-US" sz="5400" b="1" dirty="0">
                <a:solidFill>
                  <a:schemeClr val="lt1"/>
                </a:solidFill>
              </a:rPr>
              <a:t>?</a:t>
            </a:r>
          </a:p>
        </p:txBody>
      </p:sp>
      <p:pic>
        <p:nvPicPr>
          <p:cNvPr id="265" name="Google Shape;265;p37">
            <a:extLst>
              <a:ext uri="{C183D7F6-B498-43B3-948B-1728B52AA6E4}">
                <adec:decorative xmlns:adec="http://schemas.microsoft.com/office/drawing/2017/decorative" val="1"/>
              </a:ex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 10</a:t>
            </a:r>
          </a:p>
        </p:txBody>
      </p:sp>
      <p:pic>
        <p:nvPicPr>
          <p:cNvPr id="275" name="Google Shape;275;p3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963</TotalTime>
  <Words>4431</Words>
  <Application>Microsoft Office PowerPoint</Application>
  <PresentationFormat>Widescreen</PresentationFormat>
  <Paragraphs>550</Paragraphs>
  <Slides>61</Slides>
  <Notes>61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61</vt:i4>
      </vt:variant>
    </vt:vector>
  </HeadingPairs>
  <TitlesOfParts>
    <vt:vector size="66" baseType="lpstr">
      <vt:lpstr>Arial</vt:lpstr>
      <vt:lpstr>Calibri</vt:lpstr>
      <vt:lpstr>Cambria Math</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244</cp:revision>
  <dcterms:created xsi:type="dcterms:W3CDTF">2019-01-14T22:06:33Z</dcterms:created>
  <dcterms:modified xsi:type="dcterms:W3CDTF">2026-02-24T02:58:25Z</dcterms:modified>
</cp:coreProperties>
</file>