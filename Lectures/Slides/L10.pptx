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3"/>
  </p:notesMasterIdLst>
  <p:sldIdLst>
    <p:sldId id="256" r:id="rId2"/>
    <p:sldId id="310" r:id="rId3"/>
    <p:sldId id="257" r:id="rId4"/>
    <p:sldId id="258" r:id="rId5"/>
    <p:sldId id="259" r:id="rId6"/>
    <p:sldId id="313" r:id="rId7"/>
    <p:sldId id="314" r:id="rId8"/>
    <p:sldId id="317" r:id="rId9"/>
    <p:sldId id="316" r:id="rId10"/>
    <p:sldId id="315" r:id="rId11"/>
    <p:sldId id="318" r:id="rId12"/>
    <p:sldId id="319" r:id="rId13"/>
    <p:sldId id="320" r:id="rId14"/>
    <p:sldId id="321" r:id="rId15"/>
    <p:sldId id="322" r:id="rId16"/>
    <p:sldId id="323" r:id="rId17"/>
    <p:sldId id="312" r:id="rId18"/>
    <p:sldId id="324" r:id="rId19"/>
    <p:sldId id="325" r:id="rId20"/>
    <p:sldId id="326" r:id="rId21"/>
    <p:sldId id="327" r:id="rId22"/>
    <p:sldId id="328" r:id="rId23"/>
    <p:sldId id="311" r:id="rId24"/>
    <p:sldId id="329" r:id="rId25"/>
    <p:sldId id="330" r:id="rId26"/>
    <p:sldId id="331" r:id="rId27"/>
    <p:sldId id="332" r:id="rId28"/>
    <p:sldId id="333" r:id="rId29"/>
    <p:sldId id="334" r:id="rId30"/>
    <p:sldId id="335" r:id="rId31"/>
    <p:sldId id="337" r:id="rId32"/>
    <p:sldId id="338" r:id="rId33"/>
    <p:sldId id="339" r:id="rId34"/>
    <p:sldId id="340" r:id="rId35"/>
    <p:sldId id="336" r:id="rId36"/>
    <p:sldId id="341" r:id="rId37"/>
    <p:sldId id="342" r:id="rId38"/>
    <p:sldId id="343" r:id="rId39"/>
    <p:sldId id="387" r:id="rId40"/>
    <p:sldId id="392" r:id="rId41"/>
    <p:sldId id="393" r:id="rId42"/>
    <p:sldId id="395" r:id="rId43"/>
    <p:sldId id="394" r:id="rId44"/>
    <p:sldId id="396" r:id="rId45"/>
    <p:sldId id="398" r:id="rId46"/>
    <p:sldId id="405" r:id="rId47"/>
    <p:sldId id="397" r:id="rId48"/>
    <p:sldId id="399" r:id="rId49"/>
    <p:sldId id="401" r:id="rId50"/>
    <p:sldId id="402" r:id="rId51"/>
    <p:sldId id="403" r:id="rId52"/>
    <p:sldId id="404" r:id="rId53"/>
    <p:sldId id="406" r:id="rId54"/>
    <p:sldId id="407" r:id="rId55"/>
    <p:sldId id="408" r:id="rId56"/>
    <p:sldId id="409" r:id="rId57"/>
    <p:sldId id="410" r:id="rId58"/>
    <p:sldId id="411" r:id="rId59"/>
    <p:sldId id="412" r:id="rId60"/>
    <p:sldId id="271" r:id="rId61"/>
    <p:sldId id="270" r:id="rId6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4"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38" autoAdjust="0"/>
    <p:restoredTop sz="94660"/>
  </p:normalViewPr>
  <p:slideViewPr>
    <p:cSldViewPr snapToGrid="0">
      <p:cViewPr varScale="1">
        <p:scale>
          <a:sx n="150" d="100"/>
          <a:sy n="150" d="100"/>
        </p:scale>
        <p:origin x="56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the title slide for SE 423, Introduction to Mechatronics, Lecture 10: Communication Protocols, presented by Marius Juston on Monday, February 23rd 2026. The University of Illinois Urbana-Champaign logo sits above the title on a dark blue background of faint hand-drawn equations and diagrams.</a:t>
            </a:r>
          </a:p>
          <a:p>
            <a:pPr marL="0" lvl="0" indent="0" algn="l" rtl="0">
              <a:spcBef>
                <a:spcPts val="0"/>
              </a:spcBef>
              <a:spcAft>
                <a:spcPts val="600"/>
              </a:spcAft>
              <a:buNone/>
            </a:pPr>
            <a:r>
              <a:rPr lang="en-US" dirty="0"/>
              <a:t>Today covers how devices exchange data serially: noise and interference on wires, then three protocols your Red Board uses, SCI/UART, SPI and I2C. First, a few reminders.</a:t>
            </a: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11560CD-FFDE-70C6-6183-A453F3E9816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57E4E91-ED9F-DE16-BEB6-F07455961AC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lists this week's reminders in four groups: office hours, lab, homework, and LabVIEW.</a:t>
            </a:r>
          </a:p>
          <a:p>
            <a:pPr marL="0" lvl="0" indent="0" algn="l" rtl="0">
              <a:lnSpc>
                <a:spcPct val="100000"/>
              </a:lnSpc>
              <a:spcBef>
                <a:spcPts val="0"/>
              </a:spcBef>
              <a:spcAft>
                <a:spcPts val="600"/>
              </a:spcAft>
              <a:buSzPts val="1400"/>
              <a:buNone/>
            </a:pPr>
            <a:r>
              <a:rPr lang="en-US" dirty="0"/>
              <a:t>Office hours are Monday from 4 to 6 PM with Neel; Tuesday from 11 AM to 1 PM with Lakshmi; Tuesday from 1 to 3 PM with Samuel; and Tuesday from 2 to 5 PM with Dan and Marius.</a:t>
            </a:r>
          </a:p>
          <a:p>
            <a:pPr marL="0" lvl="0" indent="0" algn="l" rtl="0">
              <a:lnSpc>
                <a:spcPct val="100000"/>
              </a:lnSpc>
              <a:spcBef>
                <a:spcPts val="0"/>
              </a:spcBef>
              <a:spcAft>
                <a:spcPts val="600"/>
              </a:spcAft>
              <a:buSzPts val="1400"/>
              <a:buNone/>
            </a:pPr>
            <a:r>
              <a:rPr lang="en-US" dirty="0"/>
              <a:t>In lab, you start Lab 4 this week. It is a two-week lab, so plan your time across both sessions.</a:t>
            </a:r>
          </a:p>
          <a:p>
            <a:pPr marL="0" lvl="0" indent="0" algn="l" rtl="0">
              <a:lnSpc>
                <a:spcPct val="100000"/>
              </a:lnSpc>
              <a:spcBef>
                <a:spcPts val="0"/>
              </a:spcBef>
              <a:spcAft>
                <a:spcPts val="600"/>
              </a:spcAft>
              <a:buSzPts val="1400"/>
              <a:buNone/>
            </a:pPr>
            <a:r>
              <a:rPr lang="en-US" dirty="0"/>
              <a:t>For homework 2, the check-offs for Exercises 3 and 4 are due Tuesday, February 24, at 5 PM, which is the end of office hours that day. Get checked off during office hours before 5 PM. Your answers and code submissions for homework 2 are due Wednesday, February 25, at 9 AM. The words "homework 2" on the slide link to the assignment.</a:t>
            </a:r>
          </a:p>
          <a:p>
            <a:pPr marL="0" lvl="0" indent="0" algn="l" rtl="0">
              <a:lnSpc>
                <a:spcPct val="100000"/>
              </a:lnSpc>
              <a:spcBef>
                <a:spcPts val="0"/>
              </a:spcBef>
              <a:spcAft>
                <a:spcPts val="600"/>
              </a:spcAft>
              <a:buSzPts val="1400"/>
              <a:buNone/>
            </a:pPr>
            <a:r>
              <a:rPr lang="en-US" dirty="0"/>
              <a:t>For LabVIEW 2, all check-offs are due Thursday, February 26, at 5 PM. "LabVIEW 2" on the slide links to that assignment.</a:t>
            </a:r>
          </a:p>
          <a:p>
            <a:pPr marL="0" lvl="0" indent="0" algn="l" rtl="0">
              <a:lnSpc>
                <a:spcPct val="100000"/>
              </a:lnSpc>
              <a:spcBef>
                <a:spcPts val="0"/>
              </a:spcBef>
              <a:spcAft>
                <a:spcPts val="600"/>
              </a:spcAft>
              <a:buSzPts val="1400"/>
              <a:buNone/>
            </a:pPr>
            <a:r>
              <a:rPr lang="en-US" dirty="0"/>
              <a:t>Next comes a chance to ask about homework, lab, or LabVIEW before today's topic, serial communication.</a:t>
            </a:r>
          </a:p>
        </p:txBody>
      </p:sp>
      <p:sp>
        <p:nvSpPr>
          <p:cNvPr id="116" name="Google Shape;116;p29:notes">
            <a:extLst>
              <a:ext uri="{FF2B5EF4-FFF2-40B4-BE49-F238E27FC236}">
                <a16:creationId xmlns:a16="http://schemas.microsoft.com/office/drawing/2014/main" id="{063A7F12-DA54-6672-271A-7F884E56D7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9943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is a pause for questions. It shows the word "Questions?" in large white text on the dark blue Illinois background, with the prompt "Homework, Lab, LabVIEW questions?" underneath.</a:t>
            </a:r>
          </a:p>
          <a:p>
            <a:pPr marL="0" lvl="0" indent="0" algn="l" rtl="0">
              <a:spcBef>
                <a:spcPts val="0"/>
              </a:spcBef>
              <a:spcAft>
                <a:spcPts val="600"/>
              </a:spcAft>
              <a:buNone/>
            </a:pPr>
            <a:r>
              <a:rPr lang="en-US" dirty="0"/>
              <a:t>Ask now about Homework 2, the start of the two-week Lab 4, or the LabVIEW 2 check-offs from the reminders. After that, the lecture moves on to its main topic, communication protocols. It begins with serial communication and why you would choose it over parallel communication.</a:t>
            </a:r>
          </a:p>
        </p:txBody>
      </p:sp>
      <p:sp>
        <p:nvSpPr>
          <p:cNvPr id="87" name="Google Shape;8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It shows the words "Serial Communication" in large dark blue text on the orange University of Illinois background, which has faint hand-drawn equations and diagrams as decoration.</a:t>
            </a:r>
          </a:p>
          <a:p>
            <a:pPr marL="0" lvl="0" indent="0" algn="l" rtl="0">
              <a:spcBef>
                <a:spcPts val="0"/>
              </a:spcBef>
              <a:spcAft>
                <a:spcPts val="600"/>
              </a:spcAft>
              <a:buNone/>
            </a:pPr>
            <a:r>
              <a:rPr lang="en-US" dirty="0"/>
              <a:t>This section opens Lecture 10 on communication protocols. You first look at why the Red Board sends data one bit at a time rather than many bits in parallel. Then you see what interference can corrupt those signals. Finally you meet the protocols you will use on the robot: SCI/UART, SPI, and I2C.</a:t>
            </a:r>
          </a:p>
          <a:p>
            <a:pPr marL="0" lvl="0" indent="0" algn="l" rtl="0">
              <a:spcBef>
                <a:spcPts val="0"/>
              </a:spcBef>
              <a:spcAft>
                <a:spcPts val="600"/>
              </a:spcAft>
              <a:buNone/>
            </a:pPr>
            <a:r>
              <a:rPr lang="en-US" dirty="0"/>
              <a:t>The next slide starts with the trade-off between parallel and serial communication.</a:t>
            </a: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with no figures. It states that devices can exchange data in two ways, parallel communication or serial communication, and asks why we would not simply use parallel. It gives two reasons. First, parallel needs many I/O pins, and pins on a microcontroller are already very limited. Second, running many wires side by side invites electromagnetic interference, or EMI, and cross-talk. Serial communication instead serializes the data into a single-bit stream and needs much less circuit complexity. The slide then asks what the trade-off is, answers "Time!", and closes with: serializing an N-bit word requires N discrete clock cycles.</a:t>
            </a:r>
          </a:p>
          <a:p>
            <a:pPr marL="0" lvl="0" indent="0" algn="l" rtl="0">
              <a:lnSpc>
                <a:spcPct val="100000"/>
              </a:lnSpc>
              <a:spcBef>
                <a:spcPts val="0"/>
              </a:spcBef>
              <a:spcAft>
                <a:spcPts val="600"/>
              </a:spcAft>
              <a:buSzPts val="1400"/>
              <a:buNone/>
            </a:pPr>
            <a:r>
              <a:rPr lang="en-US" dirty="0"/>
              <a:t>In parallel communication, every bit of a word has its own wire, so a 16-bit value needs 16 data lines plus control lines, and the whole word arrives in one clock cycle. In serial communication, those 16 bits go one after another down a single data line, so the same word takes 16 clock cycles. You trade pins and wiring for transfer time. On the Red Board this trade is almost always worth it. The F28379D's pins are shared among PWM, ADC, encoder, and GPIO functions. Serial peripherals like SCI (UART) and SPI let you reach sensors, DACs, and the Raspberry Pi with just two to four wires.</a:t>
            </a:r>
          </a:p>
          <a:p>
            <a:pPr marL="0" lvl="0" indent="0" algn="l" rtl="0">
              <a:lnSpc>
                <a:spcPct val="100000"/>
              </a:lnSpc>
              <a:spcBef>
                <a:spcPts val="0"/>
              </a:spcBef>
              <a:spcAft>
                <a:spcPts val="600"/>
              </a:spcAft>
              <a:buSzPts val="1400"/>
              <a:buNone/>
            </a:pPr>
            <a:r>
              <a:rPr lang="en-US" dirty="0"/>
              <a:t>Cross-talk means a signal on one wire induces an unwanted signal on a neighboring wire. That idea leads directly into the next slides, which look at how interference couples between conductors.</a:t>
            </a:r>
          </a:p>
          <a:p>
            <a:pPr marL="0" lvl="0" indent="0" algn="l" rtl="0">
              <a:lnSpc>
                <a:spcPct val="100000"/>
              </a:lnSpc>
              <a:spcBef>
                <a:spcPts val="0"/>
              </a:spcBef>
              <a:spcAft>
                <a:spcPts val="600"/>
              </a:spcAft>
              <a:buSzPts val="1400"/>
              <a:buNone/>
            </a:pPr>
            <a:r>
              <a:rPr lang="en-US" dirty="0"/>
              <a:t>Quick check: if your SPI clock runs at 1 MHz, how long does it take to send one 16-bit word? The answer is 16 microseconds.</a:t>
            </a:r>
          </a:p>
        </p:txBody>
      </p:sp>
      <p:sp>
        <p:nvSpPr>
          <p:cNvPr id="116" name="Google Shape;11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AA43166-8A95-E881-566F-CAD4671DE37F}"/>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5D551DF6-AB9E-0C6E-93B6-D392D41D69A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with the single word "Interferences" in large dark blue text on the orange Grainger Engineering background. The faint chalk-style sketches of equations, a cube and chemical structures are decoration only.</a:t>
            </a:r>
          </a:p>
          <a:p>
            <a:pPr marL="0" lvl="0" indent="0" algn="l" rtl="0">
              <a:spcBef>
                <a:spcPts val="0"/>
              </a:spcBef>
              <a:spcAft>
                <a:spcPts val="600"/>
              </a:spcAft>
              <a:buNone/>
            </a:pPr>
            <a:r>
              <a:rPr lang="en-US" dirty="0"/>
              <a:t>On the last slide, one reason to avoid parallel communication was electromagnetic interference and cross-talk between neighbouring wires. This section looks at that noise in detail. Next you see the four ways interference couples from a source to a victim wire: conductive, capacitive, inductive and radiative.</a:t>
            </a:r>
          </a:p>
        </p:txBody>
      </p:sp>
      <p:sp>
        <p:nvSpPr>
          <p:cNvPr id="102" name="Google Shape;102;p28:notes">
            <a:extLst>
              <a:ext uri="{FF2B5EF4-FFF2-40B4-BE49-F238E27FC236}">
                <a16:creationId xmlns:a16="http://schemas.microsoft.com/office/drawing/2014/main" id="{620BECC3-FFD6-41EB-10C6-1FBE7846979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7566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7DBFD4D-AE7D-68F8-0C20-4F90269B2CC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59EEFD2-4ABD-1611-805D-40C4DD0612A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lists the four ways interference couples from a noise source into a victim circuit. The text says "There are 4 interference couplings." Conductive coupling means a physical connection carries the interference. Near-field coupling, which the slide labels "Inductive," happens when source and victim are close, typically less than a wavelength apart. It comes in two kinds. Electrical induction is usually called capacitive coupling: a varying electric field between two adjacent conductors induces a voltage change on the receiving conductor. Magnetic induction is usually called inductive coupling: a varying magnetic field between two parallel conductors induces a voltage along the receiving conductor. Radiative coupling happens over large distances, where source and victim act as radio antennas and the victim picks up the wave the source emits.</a:t>
            </a:r>
          </a:p>
          <a:p>
            <a:pPr marL="0" lvl="0" indent="0" algn="l" rtl="0">
              <a:lnSpc>
                <a:spcPct val="100000"/>
              </a:lnSpc>
              <a:spcBef>
                <a:spcPts val="0"/>
              </a:spcBef>
              <a:spcAft>
                <a:spcPts val="600"/>
              </a:spcAft>
              <a:buSzPts val="1400"/>
              <a:buNone/>
            </a:pPr>
            <a:r>
              <a:rPr lang="en-US" dirty="0"/>
              <a:t>The diagram shows a red Source box on the left and a blue Victim box on the right. Across the top, an antenna on the source sends curved wavefronts toward the victim, labeled Radiative. Below the source, two coils are wrapped around a shared dashed core, like a transformer, with a downward arrow labeled Inductive and one side tied to ground. A wire along the bottom, labeled Conductive, runs to the victim's side. There it reaches the victim through a capacitor, labeled Capacitive with an upward arrow. A red arrow points to the capacitor with the note "Air acts as a conductor as well." The point is that the air gap between two wires forms a stray capacitor, so noise crosses it with no physical connection. The source is https://en.wikipedia.org/wiki/Electromagnetic_interference.</a:t>
            </a:r>
          </a:p>
          <a:p>
            <a:pPr marL="0" lvl="0" indent="0" algn="l" rtl="0">
              <a:lnSpc>
                <a:spcPct val="100000"/>
              </a:lnSpc>
              <a:spcBef>
                <a:spcPts val="0"/>
              </a:spcBef>
              <a:spcAft>
                <a:spcPts val="600"/>
              </a:spcAft>
              <a:buSzPts val="1400"/>
              <a:buNone/>
            </a:pPr>
            <a:r>
              <a:rPr lang="en-US" dirty="0"/>
              <a:t>These couplings are why the previous slide said parallel buses suffer from EMI and cross-talk. On your robot, the motor wires and PWM lines are typical sources, and the sensor and SPI wires running beside them are typical victims.</a:t>
            </a:r>
          </a:p>
          <a:p>
            <a:pPr marL="0" lvl="0" indent="0" algn="l" rtl="0">
              <a:lnSpc>
                <a:spcPct val="100000"/>
              </a:lnSpc>
              <a:spcBef>
                <a:spcPts val="0"/>
              </a:spcBef>
              <a:spcAft>
                <a:spcPts val="600"/>
              </a:spcAft>
              <a:buSzPts val="1400"/>
              <a:buNone/>
            </a:pPr>
            <a:r>
              <a:rPr lang="en-US" dirty="0"/>
              <a:t>Next, we derive capacitive coupling with an equation to see why fast-switching edges inject the most noise.</a:t>
            </a:r>
          </a:p>
        </p:txBody>
      </p:sp>
      <p:sp>
        <p:nvSpPr>
          <p:cNvPr id="116" name="Google Shape;116;p29:notes">
            <a:extLst>
              <a:ext uri="{FF2B5EF4-FFF2-40B4-BE49-F238E27FC236}">
                <a16:creationId xmlns:a16="http://schemas.microsoft.com/office/drawing/2014/main" id="{E41A35EB-A465-B968-46D2-742B878F02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39637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544E87-0EF6-BE29-B579-6FF8B0F3893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E9560C3-C856-7382-D905-259B867585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derives capacitive interference from the capacitor equation. It is all text and equations, with no figure. In the last slide we listed the four coupling types; now we look at capacitive coupling in detail.</a:t>
            </a:r>
          </a:p>
          <a:p>
            <a:pPr marL="0" lvl="0" indent="0" algn="l" rtl="0">
              <a:lnSpc>
                <a:spcPct val="100000"/>
              </a:lnSpc>
              <a:spcBef>
                <a:spcPts val="0"/>
              </a:spcBef>
              <a:spcAft>
                <a:spcPts val="600"/>
              </a:spcAft>
              <a:buSzPts val="1400"/>
              <a:buNone/>
            </a:pPr>
            <a:r>
              <a:rPr lang="en-US" dirty="0"/>
              <a:t>The slide sets up the variables. V1(t) is the time-varying voltage on the noisy source wire. V2(t) is the voltage on the victim wire. C12 is the mutual stray capacitance between the two wires. The victim wire has a resistance R. "Stray" means nobody put a capacitor there on purpose. Any two conductors near each other, with air or insulation between them acting as the dielectric, form a small capacitor.</a:t>
            </a:r>
          </a:p>
          <a:p>
            <a:pPr marL="0" lvl="0" indent="0" algn="l" rtl="0">
              <a:lnSpc>
                <a:spcPct val="100000"/>
              </a:lnSpc>
              <a:spcBef>
                <a:spcPts val="0"/>
              </a:spcBef>
              <a:spcAft>
                <a:spcPts val="600"/>
              </a:spcAft>
              <a:buSzPts val="1400"/>
              <a:buNone/>
            </a:pPr>
            <a:r>
              <a:rPr lang="en-US" dirty="0"/>
              <a:t>Next comes the fundamental capacitor equation: current equals capacitance times the time derivative of voltage, I = C*dV/dt. A capacitor only passes current when the voltage across it is changing.</a:t>
            </a:r>
          </a:p>
          <a:p>
            <a:pPr marL="0" lvl="0" indent="0" algn="l" rtl="0">
              <a:lnSpc>
                <a:spcPct val="100000"/>
              </a:lnSpc>
              <a:spcBef>
                <a:spcPts val="0"/>
              </a:spcBef>
              <a:spcAft>
                <a:spcPts val="600"/>
              </a:spcAft>
              <a:buSzPts val="1400"/>
              <a:buNone/>
            </a:pPr>
            <a:r>
              <a:rPr lang="en-US" dirty="0"/>
              <a:t>The voltage across the stray capacitor is the difference between the two wires. So the noise current injected from wire 1 into wire 2 is I_noise = C12*d(V1 - V2)/dt.</a:t>
            </a:r>
          </a:p>
          <a:p>
            <a:pPr marL="0" lvl="0" indent="0" algn="l" rtl="0">
              <a:lnSpc>
                <a:spcPct val="100000"/>
              </a:lnSpc>
              <a:spcBef>
                <a:spcPts val="0"/>
              </a:spcBef>
              <a:spcAft>
                <a:spcPts val="600"/>
              </a:spcAft>
              <a:buSzPts val="1400"/>
              <a:buNone/>
            </a:pPr>
            <a:r>
              <a:rPr lang="en-US" dirty="0"/>
              <a:t>In practice the noise source voltage is much larger than the victim's voltage, V1 &gt;&gt; V2. You can then drop V2, which gives I_noise ≈ C12*dV1/dt.</a:t>
            </a:r>
          </a:p>
          <a:p>
            <a:pPr marL="0" lvl="0" indent="0" algn="l" rtl="0">
              <a:lnSpc>
                <a:spcPct val="100000"/>
              </a:lnSpc>
              <a:spcBef>
                <a:spcPts val="0"/>
              </a:spcBef>
              <a:spcAft>
                <a:spcPts val="600"/>
              </a:spcAft>
              <a:buSzPts val="1400"/>
              <a:buNone/>
            </a:pPr>
            <a:r>
              <a:rPr lang="en-US" dirty="0"/>
              <a:t>The key insight is that the noise current depends on how fast V1 changes, not on how big it is. A modest voltage with sharp edges, like a fast PWM or clock line, can inject more noise than a large but slow signal.</a:t>
            </a:r>
          </a:p>
          <a:p>
            <a:pPr marL="0" lvl="0" indent="0" algn="l" rtl="0">
              <a:lnSpc>
                <a:spcPct val="100000"/>
              </a:lnSpc>
              <a:spcBef>
                <a:spcPts val="0"/>
              </a:spcBef>
              <a:spcAft>
                <a:spcPts val="600"/>
              </a:spcAft>
              <a:buSzPts val="1400"/>
              <a:buNone/>
            </a:pPr>
            <a:r>
              <a:rPr lang="en-US" dirty="0"/>
              <a:t>Quick check: does doubling the distance between the wires increase or decrease I_noise? It decreases, because C12 shrinks.</a:t>
            </a:r>
          </a:p>
          <a:p>
            <a:pPr marL="0" lvl="0" indent="0" algn="l" rtl="0">
              <a:lnSpc>
                <a:spcPct val="100000"/>
              </a:lnSpc>
              <a:spcBef>
                <a:spcPts val="0"/>
              </a:spcBef>
              <a:spcAft>
                <a:spcPts val="600"/>
              </a:spcAft>
              <a:buSzPts val="1400"/>
              <a:buNone/>
            </a:pPr>
            <a:r>
              <a:rPr lang="en-US" dirty="0"/>
              <a:t>On the next slide, this current flows through the victim's resistance R and becomes a noise voltage.</a:t>
            </a:r>
          </a:p>
        </p:txBody>
      </p:sp>
      <p:sp>
        <p:nvSpPr>
          <p:cNvPr id="116" name="Google Shape;116;p29:notes">
            <a:extLst>
              <a:ext uri="{FF2B5EF4-FFF2-40B4-BE49-F238E27FC236}">
                <a16:creationId xmlns:a16="http://schemas.microsoft.com/office/drawing/2014/main" id="{0B18DF1F-5C35-9117-B92F-4BF7924A404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454518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FE46F52-EFA8-1F2C-CCA3-C40005553E1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1719A0D-72EF-B7D0-C582-E56B355ED4B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finishes the capacitive coupling derivation from the previous slide and turns it into a practical rule.</a:t>
            </a:r>
          </a:p>
          <a:p>
            <a:pPr marL="0" lvl="0" indent="0" algn="l" rtl="0">
              <a:lnSpc>
                <a:spcPct val="100000"/>
              </a:lnSpc>
              <a:spcBef>
                <a:spcPts val="0"/>
              </a:spcBef>
              <a:spcAft>
                <a:spcPts val="600"/>
              </a:spcAft>
              <a:buSzPts val="1400"/>
              <a:buNone/>
            </a:pPr>
            <a:r>
              <a:rPr lang="en-US" dirty="0"/>
              <a:t>The text says that, by Ohm's law, the injected noise current flows through the victim wire's impedance to ground, R, and creates a noise voltage. The equation reads: V_noise is approximately I_noise times R, which is approximately R times C_12 times dV_1/dt. In words, the noise voltage is the victim's resistance times the mutual stray capacitance times the rate of change of the source voltage. The slide stresses that V_noise is directly proportional to the rate of change of the source voltage, even when the voltage amplitude itself is moderate.</a:t>
            </a:r>
          </a:p>
          <a:p>
            <a:pPr marL="0" lvl="0" indent="0" algn="l" rtl="0">
              <a:lnSpc>
                <a:spcPct val="100000"/>
              </a:lnSpc>
              <a:spcBef>
                <a:spcPts val="0"/>
              </a:spcBef>
              <a:spcAft>
                <a:spcPts val="600"/>
              </a:spcAft>
              <a:buSzPts val="1400"/>
              <a:buNone/>
            </a:pPr>
            <a:r>
              <a:rPr lang="en-US" dirty="0"/>
              <a:t>The slide then asks: what causes more digital signal interference, high-frequency or low-frequency? A red box highlights "High-frequency." It then asks which of two PWM settings is worse, assuming a 50% duty cycle: EPwm7Regs.TBPRD = 5000 or EPwm7Regs.TBPRD = 500. A red box highlights TBPRD = 500.</a:t>
            </a:r>
          </a:p>
          <a:p>
            <a:pPr marL="0" lvl="0" indent="0" algn="l" rtl="0">
              <a:lnSpc>
                <a:spcPct val="100000"/>
              </a:lnSpc>
              <a:spcBef>
                <a:spcPts val="0"/>
              </a:spcBef>
              <a:spcAft>
                <a:spcPts val="600"/>
              </a:spcAft>
              <a:buSzPts val="1400"/>
              <a:buNone/>
            </a:pPr>
            <a:r>
              <a:rPr lang="en-US" dirty="0"/>
              <a:t>Here is why. TBPRD sets the PWM period in time-base clock counts, so a smaller TBPRD gives a shorter period and a higher frequency. At 500 counts the period is about one tenth as long, so the frequency is about ten times higher. Each switching edge has a large dV/dt and injects a pulse of noise current. A ten-times-faster PWM produces ten times as many edges per second, and for sinusoidal components dV/dt itself scales with frequency.</a:t>
            </a:r>
          </a:p>
          <a:p>
            <a:pPr marL="0" lvl="0" indent="0" algn="l" rtl="0">
              <a:lnSpc>
                <a:spcPct val="100000"/>
              </a:lnSpc>
              <a:spcBef>
                <a:spcPts val="0"/>
              </a:spcBef>
              <a:spcAft>
                <a:spcPts val="600"/>
              </a:spcAft>
              <a:buSzPts val="1400"/>
              <a:buNone/>
            </a:pPr>
            <a:r>
              <a:rPr lang="en-US" dirty="0"/>
              <a:t>A common mistake is to assume that a 3.3 V signal is too small to cause trouble. It is the fast edges, not the amplitude, that couple noise. On your robot, keep fast PWM motor wires away from sensor and SPI lines.</a:t>
            </a:r>
          </a:p>
          <a:p>
            <a:pPr marL="0" lvl="0" indent="0" algn="l" rtl="0">
              <a:lnSpc>
                <a:spcPct val="100000"/>
              </a:lnSpc>
              <a:spcBef>
                <a:spcPts val="0"/>
              </a:spcBef>
              <a:spcAft>
                <a:spcPts val="600"/>
              </a:spcAft>
              <a:buSzPts val="1400"/>
              <a:buNone/>
            </a:pPr>
            <a:r>
              <a:rPr lang="en-US" dirty="0"/>
              <a:t>Next, you look at the magnetic counterpart: inductive coupling.</a:t>
            </a:r>
          </a:p>
        </p:txBody>
      </p:sp>
      <p:sp>
        <p:nvSpPr>
          <p:cNvPr id="116" name="Google Shape;116;p29:notes">
            <a:extLst>
              <a:ext uri="{FF2B5EF4-FFF2-40B4-BE49-F238E27FC236}">
                <a16:creationId xmlns:a16="http://schemas.microsoft.com/office/drawing/2014/main" id="{C32B6B89-2CF4-ACDF-1977-12F5C7594A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517619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957DE5A-A5C4-C9D1-471C-D93B3D697EF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396E94D-904F-F71E-42DE-121AB1E179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moves from capacitive coupling to inductive (magnetic) coupling. Capacitive coupling depends on how fast the source voltage changes. Inductive coupling depends on how fast the source current changes.</a:t>
            </a:r>
          </a:p>
          <a:p>
            <a:pPr marL="0" lvl="0" indent="0" algn="l" rtl="0">
              <a:lnSpc>
                <a:spcPct val="100000"/>
              </a:lnSpc>
              <a:spcBef>
                <a:spcPts val="0"/>
              </a:spcBef>
              <a:spcAft>
                <a:spcPts val="600"/>
              </a:spcAft>
              <a:buSzPts val="1400"/>
              <a:buNone/>
            </a:pPr>
            <a:r>
              <a:rPr lang="en-US" dirty="0"/>
              <a:t>The figure shows two circuits above a shared grounded conducting plane. Each circuit has an AC voltage source and a source resistor at one end, a long wire running parallel to the plane, and a load resistor at the far end that returns to the plane. A circular magnetic field, labelled H, wraps around the upper circuit's wire, with arrows showing its direction. Those field lines pass through the loop formed by the neighboring wire and the plane. That loop is the key: the victim wire plus its ground return path encloses an area, and magnetic flux through that area couples the two circuits.</a:t>
            </a:r>
          </a:p>
          <a:p>
            <a:pPr marL="0" lvl="0" indent="0" algn="l" rtl="0">
              <a:lnSpc>
                <a:spcPct val="100000"/>
              </a:lnSpc>
              <a:spcBef>
                <a:spcPts val="0"/>
              </a:spcBef>
              <a:spcAft>
                <a:spcPts val="600"/>
              </a:spcAft>
              <a:buSzPts val="1400"/>
              <a:buNone/>
            </a:pPr>
            <a:r>
              <a:rPr lang="en-US" dirty="0"/>
              <a:t>Two laws govern this. Ampere's Law says a current creates a magnetic field. Faraday's Law says a changing magnetic flux through a loop induces an electromotive force, or EMF, which is a voltage driving current around that loop.</a:t>
            </a:r>
          </a:p>
          <a:p>
            <a:pPr marL="0" lvl="0" indent="0" algn="l" rtl="0">
              <a:lnSpc>
                <a:spcPct val="100000"/>
              </a:lnSpc>
              <a:spcBef>
                <a:spcPts val="0"/>
              </a:spcBef>
              <a:spcAft>
                <a:spcPts val="600"/>
              </a:spcAft>
              <a:buSzPts val="1400"/>
              <a:buNone/>
            </a:pPr>
            <a:r>
              <a:rPr lang="en-US" dirty="0"/>
              <a:t>Let I_1(t) be the time-varying current in the source wire. For a long, straight wire, Ampere's Law, the closed line integral of B dot dl = mu_0 * I_enc, gives the field at radial distance r:</a:t>
            </a:r>
          </a:p>
          <a:p>
            <a:pPr marL="0" lvl="0" indent="0" algn="l" rtl="0">
              <a:lnSpc>
                <a:spcPct val="100000"/>
              </a:lnSpc>
              <a:spcBef>
                <a:spcPts val="0"/>
              </a:spcBef>
              <a:spcAft>
                <a:spcPts val="600"/>
              </a:spcAft>
              <a:buSzPts val="1400"/>
              <a:buNone/>
            </a:pPr>
            <a:r>
              <a:rPr lang="en-US" dirty="0"/>
              <a:t>B(r,t) = (mu_0 * I_1(t)) / (2*pi*r) in the phi-hat direction.</a:t>
            </a:r>
          </a:p>
          <a:p>
            <a:pPr marL="0" lvl="0" indent="0" algn="l" rtl="0">
              <a:lnSpc>
                <a:spcPct val="100000"/>
              </a:lnSpc>
              <a:spcBef>
                <a:spcPts val="0"/>
              </a:spcBef>
              <a:spcAft>
                <a:spcPts val="600"/>
              </a:spcAft>
              <a:buSzPts val="1400"/>
              <a:buNone/>
            </a:pPr>
            <a:r>
              <a:rPr lang="en-US" dirty="0"/>
              <a:t>Here mu_0 is the permeability of free space. The slide says phi-hat "represents the flux". More precisely, phi-hat is the azimuthal unit vector, the direction that circles around the wire, and the field in that direction is what produces flux through the victim loop. Notice that the field falls off as 1/r, so distance between wires helps.</a:t>
            </a:r>
          </a:p>
          <a:p>
            <a:pPr marL="0" lvl="0" indent="0" algn="l" rtl="0">
              <a:lnSpc>
                <a:spcPct val="100000"/>
              </a:lnSpc>
              <a:spcBef>
                <a:spcPts val="0"/>
              </a:spcBef>
              <a:spcAft>
                <a:spcPts val="600"/>
              </a:spcAft>
              <a:buSzPts val="1400"/>
              <a:buNone/>
            </a:pPr>
            <a:r>
              <a:rPr lang="en-US" dirty="0"/>
              <a:t>Next, you integrate this field over the victim loop's area to get the flux.</a:t>
            </a:r>
          </a:p>
        </p:txBody>
      </p:sp>
      <p:sp>
        <p:nvSpPr>
          <p:cNvPr id="116" name="Google Shape;116;p29:notes">
            <a:extLst>
              <a:ext uri="{FF2B5EF4-FFF2-40B4-BE49-F238E27FC236}">
                <a16:creationId xmlns:a16="http://schemas.microsoft.com/office/drawing/2014/main" id="{7EA4129A-E292-4B95-E833-58CA07B3CF4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80183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E04A5C2-A0E4-8C0F-AC72-C69B44AD1BA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F4D7197-2140-682B-7E57-F58CD000436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sets up the geometry for calculating how much of the source wire's magnetic field actually passes through the victim circuit. The text says that if the victim wire and its return path form a rectangular loop (rarely exact in practice, but good enough for this case), with length l and distances r_1 and r_2 from the source wire, then the magnetic flux Phi_B through the loop is the surface integral of the magnetic field.</a:t>
            </a:r>
          </a:p>
          <a:p>
            <a:pPr marL="0" lvl="0" indent="0" algn="l" rtl="0">
              <a:lnSpc>
                <a:spcPct val="100000"/>
              </a:lnSpc>
              <a:spcBef>
                <a:spcPts val="0"/>
              </a:spcBef>
              <a:spcAft>
                <a:spcPts val="600"/>
              </a:spcAft>
              <a:buSzPts val="1400"/>
              <a:buNone/>
            </a:pPr>
            <a:r>
              <a:rPr lang="en-US" dirty="0"/>
              <a:t>The diagram shows a long vertical black source wire carrying current I_1(t) upward. Red dashed circles wrap around it, labeled with the field from the previous slide: B(r,t) = mu_0*I_1(t)/(2*pi*r) in the phi-hat direction, which reads "mu naught times I one of t over two pi r." To the right is a light blue rectangle labeled "Victim Loop Area (S)." Its height is l, its near edge sits r_1 from the wire, and its far edge sits r_2 from the wire. Blue arrows on the loop edges show a direction of travel around the loop. The interior is filled with circled-x symbols, meaning the field points into the page. You can confirm this with the right-hand rule: with your thumb pointing up along the current, your fingers curl into the page on the right side of the wire. A small area element is labeled dA = dr*dz.</a:t>
            </a:r>
          </a:p>
          <a:p>
            <a:pPr marL="0" lvl="0" indent="0" algn="l" rtl="0">
              <a:lnSpc>
                <a:spcPct val="100000"/>
              </a:lnSpc>
              <a:spcBef>
                <a:spcPts val="0"/>
              </a:spcBef>
              <a:spcAft>
                <a:spcPts val="600"/>
              </a:spcAft>
              <a:buSzPts val="1400"/>
              <a:buNone/>
            </a:pPr>
            <a:r>
              <a:rPr lang="en-US" dirty="0"/>
              <a:t>Written out, the flux is Phi_B = integral over S of B dot dA. Because B is perpendicular to the loop everywhere, the dot product is simply B times dr*dz. Notice that B is not uniform across the loop. It falls off as 1/r, so the near edge at r_1 collects much more flux than the far edge at r_2. That is why you must integrate over the area instead of multiplying B by the area.</a:t>
            </a:r>
          </a:p>
          <a:p>
            <a:pPr marL="0" lvl="0" indent="0" algn="l" rtl="0">
              <a:lnSpc>
                <a:spcPct val="100000"/>
              </a:lnSpc>
              <a:spcBef>
                <a:spcPts val="0"/>
              </a:spcBef>
              <a:spcAft>
                <a:spcPts val="600"/>
              </a:spcAft>
              <a:buSzPts val="1400"/>
              <a:buNone/>
            </a:pPr>
            <a:r>
              <a:rPr lang="en-US" dirty="0"/>
              <a:t>As a quick check, ask yourself what happens to the flux if you move the loop farther away while keeping its width r_2 - r_1 the same. The next slide carries out this integral.</a:t>
            </a:r>
          </a:p>
        </p:txBody>
      </p:sp>
      <p:sp>
        <p:nvSpPr>
          <p:cNvPr id="116" name="Google Shape;116;p29:notes">
            <a:extLst>
              <a:ext uri="{FF2B5EF4-FFF2-40B4-BE49-F238E27FC236}">
                <a16:creationId xmlns:a16="http://schemas.microsoft.com/office/drawing/2014/main" id="{DB803DBD-1BAC-97D2-2B45-E50B43FBBEF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472946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D5F4E15-1AB0-51B8-A72E-1C7CC324219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130D498-039D-014A-244D-4D5A8B0C69F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carries out the flux integral set up on the previous slide. The diagram on the right is the same as before: a vertical source wire carrying current I_1(t) upward, circular red magnetic field lines around it, and a blue rectangular victim loop of height l spanning radial distances r_1 to r_2 from the wire, with the field pointing into the page through the loop area S.</a:t>
            </a:r>
          </a:p>
          <a:p>
            <a:pPr marL="0" lvl="0" indent="0" algn="l" rtl="0">
              <a:lnSpc>
                <a:spcPct val="100000"/>
              </a:lnSpc>
              <a:spcBef>
                <a:spcPts val="0"/>
              </a:spcBef>
              <a:spcAft>
                <a:spcPts val="600"/>
              </a:spcAft>
              <a:buSzPts val="1400"/>
              <a:buNone/>
            </a:pPr>
            <a:r>
              <a:rPr lang="en-US" dirty="0"/>
              <a:t>The left side starts from the definition of flux: Phi_B equals the double integral over S of B dot dA, written Phi_B = ∬_S B · dA. Because B points straight into the loop everywhere, the dot product is just B times dA. B depends only on r, not on height z, so integrating dA = dr dz over the height gives a strip of area l dr. That is the substitution dA = l dr on the slide.</a:t>
            </a:r>
          </a:p>
          <a:p>
            <a:pPr marL="0" lvl="0" indent="0" algn="l" rtl="0">
              <a:lnSpc>
                <a:spcPct val="100000"/>
              </a:lnSpc>
              <a:spcBef>
                <a:spcPts val="0"/>
              </a:spcBef>
              <a:spcAft>
                <a:spcPts val="600"/>
              </a:spcAft>
              <a:buSzPts val="1400"/>
              <a:buNone/>
            </a:pPr>
            <a:r>
              <a:rPr lang="en-US" dirty="0"/>
              <a:t>Plugging in B = mu_0*I_1(t)/(2*pi*r) gives Phi_B = integral from r_1 to r_2 of (mu_0*I_1(t)/(2*pi*r)) * l dr. Everything except 1/r is constant, so it comes out of the integral: Phi_B = (mu_0*l*I_1(t)/(2*pi)) times the integral from r_1 to r_2 of (1/r) dr. The integral of 1/r is a natural log, so Phi_B = (mu_0*l*I_1(t)/(2*pi)) * ln(r_2/r_1).</a:t>
            </a:r>
          </a:p>
          <a:p>
            <a:pPr marL="0" lvl="0" indent="0" algn="l" rtl="0">
              <a:lnSpc>
                <a:spcPct val="100000"/>
              </a:lnSpc>
              <a:spcBef>
                <a:spcPts val="0"/>
              </a:spcBef>
              <a:spcAft>
                <a:spcPts val="600"/>
              </a:spcAft>
              <a:buSzPts val="1400"/>
              <a:buNone/>
            </a:pPr>
            <a:r>
              <a:rPr lang="en-US" dirty="0"/>
              <a:t>Watch one detail: the last line on the slide shows an extra r in the denominator. That r should not be there, because r is the integration variable and disappears once you integrate.</a:t>
            </a:r>
          </a:p>
          <a:p>
            <a:pPr marL="0" lvl="0" indent="0" algn="l" rtl="0">
              <a:lnSpc>
                <a:spcPct val="100000"/>
              </a:lnSpc>
              <a:spcBef>
                <a:spcPts val="0"/>
              </a:spcBef>
              <a:spcAft>
                <a:spcPts val="600"/>
              </a:spcAft>
              <a:buSzPts val="1400"/>
              <a:buNone/>
            </a:pPr>
            <a:r>
              <a:rPr lang="en-US" dirty="0"/>
              <a:t>Notice what the result tells you. Flux grows with the loop height l and with the current, and it depends on the log of the distance ratio. Next, Faraday's Law turns this flux into an induced voltage.</a:t>
            </a:r>
          </a:p>
        </p:txBody>
      </p:sp>
      <p:sp>
        <p:nvSpPr>
          <p:cNvPr id="116" name="Google Shape;116;p29:notes">
            <a:extLst>
              <a:ext uri="{FF2B5EF4-FFF2-40B4-BE49-F238E27FC236}">
                <a16:creationId xmlns:a16="http://schemas.microsoft.com/office/drawing/2014/main" id="{A861235C-A8D1-C2A7-803F-8AE69C8AE4A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99754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DB94B0C-3F4E-B744-7920-4CFCCB4A1D8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1C29DA7-EBD8-6761-34D7-560A32A8CB1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finishes the inductive coupling derivation. The left side states Faraday's Law: the induced voltage, or EMF, in a closed loop equals the negative rate of change of magnetic flux through that loop. Written out, V_noise = -dPhi_B/dt, "V noise equals minus the time derivative of the magnetic flux Phi B." The right side repeats the diagram from the last two slides. A vertical source wire carries current I_1(t) upward, with circular field lines B(r,t) = mu_0*I_1(t)/(2*pi*r) around it. A rectangular victim loop of height l sits between radial distances r_1 and r_2 from the wire, and the field passes into the page through the loop.</a:t>
            </a:r>
          </a:p>
          <a:p>
            <a:pPr marL="0" lvl="0" indent="0" algn="l" rtl="0">
              <a:lnSpc>
                <a:spcPct val="100000"/>
              </a:lnSpc>
              <a:spcBef>
                <a:spcPts val="0"/>
              </a:spcBef>
              <a:spcAft>
                <a:spcPts val="600"/>
              </a:spcAft>
              <a:buSzPts val="1400"/>
              <a:buNone/>
            </a:pPr>
            <a:r>
              <a:rPr lang="en-US" dirty="0"/>
              <a:t>On the previous slide you integrated B over the loop area and got the flux Phi_B = (mu_0*l/(2*pi))*ln(r_2/r_1)*I_1(t). The geometry does not change with time; only the current does. So when you take the time derivative, everything except I_1 comes out as a constant. That gives the slide's result, V_noise = -(mu_0*l/(2*pi))*ln(r_2/r_1)*dI_1/dt, "minus mu naught l over two pi, times the natural log of r two over r one, times the rate of change of I one."</a:t>
            </a:r>
          </a:p>
          <a:p>
            <a:pPr marL="0" lvl="0" indent="0" algn="l" rtl="0">
              <a:lnSpc>
                <a:spcPct val="100000"/>
              </a:lnSpc>
              <a:spcBef>
                <a:spcPts val="0"/>
              </a:spcBef>
              <a:spcAft>
                <a:spcPts val="600"/>
              </a:spcAft>
              <a:buSzPts val="1400"/>
              <a:buNone/>
            </a:pPr>
            <a:r>
              <a:rPr lang="en-US" dirty="0"/>
              <a:t>One caution when you copy this down: the slide shows an extra r in the denominator, but r was integrated out, so the constant factor is just mu_0*l/(2*pi).</a:t>
            </a:r>
          </a:p>
          <a:p>
            <a:pPr marL="0" lvl="0" indent="0" algn="l" rtl="0">
              <a:lnSpc>
                <a:spcPct val="100000"/>
              </a:lnSpc>
              <a:spcBef>
                <a:spcPts val="0"/>
              </a:spcBef>
              <a:spcAft>
                <a:spcPts val="600"/>
              </a:spcAft>
              <a:buSzPts val="1400"/>
              <a:buNone/>
            </a:pPr>
            <a:r>
              <a:rPr lang="en-US" dirty="0"/>
              <a:t>The constant mu_0*l/(2*pi)*ln(r_2/r_1) is the mutual inductance between the wire and the loop. A longer loop, a larger loop area, or a loop closer to the source all increase it.</a:t>
            </a:r>
          </a:p>
          <a:p>
            <a:pPr marL="0" lvl="0" indent="0" algn="l" rtl="0">
              <a:lnSpc>
                <a:spcPct val="100000"/>
              </a:lnSpc>
              <a:spcBef>
                <a:spcPts val="0"/>
              </a:spcBef>
              <a:spcAft>
                <a:spcPts val="600"/>
              </a:spcAft>
              <a:buSzPts val="1400"/>
              <a:buNone/>
            </a:pPr>
            <a:r>
              <a:rPr lang="en-US" dirty="0"/>
              <a:t>Quick check: does a large but steady DC current induce noise in your signal wire?</a:t>
            </a:r>
          </a:p>
          <a:p>
            <a:pPr marL="0" lvl="0" indent="0" algn="l" rtl="0">
              <a:lnSpc>
                <a:spcPct val="100000"/>
              </a:lnSpc>
              <a:spcBef>
                <a:spcPts val="0"/>
              </a:spcBef>
              <a:spcAft>
                <a:spcPts val="600"/>
              </a:spcAft>
              <a:buSzPts val="1400"/>
              <a:buNone/>
            </a:pPr>
            <a:r>
              <a:rPr lang="en-US" dirty="0"/>
              <a:t>The next slide answers this. The noise depends on how fast the current changes, not on how large it is.</a:t>
            </a:r>
          </a:p>
        </p:txBody>
      </p:sp>
      <p:sp>
        <p:nvSpPr>
          <p:cNvPr id="116" name="Google Shape;116;p29:notes">
            <a:extLst>
              <a:ext uri="{FF2B5EF4-FFF2-40B4-BE49-F238E27FC236}">
                <a16:creationId xmlns:a16="http://schemas.microsoft.com/office/drawing/2014/main" id="{839FC028-3DA0-97F3-18AB-E0ADFE67CAE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44789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1BAD955-BED5-2BE4-0327-CAD16938A2B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EEAA1BF-E6D8-F736-52C9-BD3917EAB5C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gives the final result of the inductive-coupling derivation from the last two slides. The title says "Capacitive," but the content is the magnetic, or inductive, case: the vertical source wire carrying current I_1(t) and the rectangular victim loop of height l spanning radial distances r_1 to r_2.</a:t>
            </a:r>
          </a:p>
          <a:p>
            <a:pPr marL="0" lvl="0" indent="0" algn="l" rtl="0">
              <a:lnSpc>
                <a:spcPct val="100000"/>
              </a:lnSpc>
              <a:spcBef>
                <a:spcPts val="0"/>
              </a:spcBef>
              <a:spcAft>
                <a:spcPts val="600"/>
              </a:spcAft>
              <a:buSzPts val="1400"/>
              <a:buNone/>
            </a:pPr>
            <a:r>
              <a:rPr lang="en-US" dirty="0"/>
              <a:t>The slide reads "Thus, given the final interference noise," followed by the equation V_noise = -(mu_0*l/(2*pi*r)) * ln(r_2/r_1) * dI_1(t)/dt. In words: the noise voltage equals minus mu-naught times l over two pi r, times the natural log of r_2 over r_1, times the time derivative of the source current. Once you integrate across the loop, the variable r disappears and only the ratio r_2/r_1 remains. So the coefficient is really mu_0*l/(2*pi) * ln(r_2/r_1). That constant is the mutual inductance M between the two circuits, which gives the compact form V_noise = -M * dI_1/dt.</a:t>
            </a:r>
          </a:p>
          <a:p>
            <a:pPr marL="0" lvl="0" indent="0" algn="l" rtl="0">
              <a:lnSpc>
                <a:spcPct val="100000"/>
              </a:lnSpc>
              <a:spcBef>
                <a:spcPts val="0"/>
              </a:spcBef>
              <a:spcAft>
                <a:spcPts val="600"/>
              </a:spcAft>
              <a:buSzPts val="1400"/>
              <a:buNone/>
            </a:pPr>
            <a:r>
              <a:rPr lang="en-US" dirty="0"/>
              <a:t>The key takeaway, stated on the slide, is that the interference voltage is directly proportional to the rate of change of the current in the interfering wire. A large steady current induces nothing. A fast-changing current induces a lot. That is why heavy machinery and circuits that draw massive, pulsating currents, such as motor drives, are notorious sources of magnetic electromagnetic interference, or EMI.</a:t>
            </a:r>
          </a:p>
          <a:p>
            <a:pPr marL="0" lvl="0" indent="0" algn="l" rtl="0">
              <a:lnSpc>
                <a:spcPct val="100000"/>
              </a:lnSpc>
              <a:spcBef>
                <a:spcPts val="0"/>
              </a:spcBef>
              <a:spcAft>
                <a:spcPts val="600"/>
              </a:spcAft>
              <a:buSzPts val="1400"/>
              <a:buNone/>
            </a:pPr>
            <a:r>
              <a:rPr lang="en-US" dirty="0"/>
              <a:t>On your robot, the PWM-driven motor leads switch amps of current in nanoseconds, so dI/dt is huge. The formula also tells you how to fight the noise. You can make l and the loop area small with short wires and twisted pairs, keep signal wires far from motor wires, which shrinks ln(r_2/r_1), and route encoder and SPI lines away from motor power.</a:t>
            </a:r>
          </a:p>
          <a:p>
            <a:pPr marL="0" lvl="0" indent="0" algn="l" rtl="0">
              <a:lnSpc>
                <a:spcPct val="100000"/>
              </a:lnSpc>
              <a:spcBef>
                <a:spcPts val="0"/>
              </a:spcBef>
              <a:spcAft>
                <a:spcPts val="600"/>
              </a:spcAft>
              <a:buSzPts val="1400"/>
              <a:buNone/>
            </a:pPr>
            <a:r>
              <a:rPr lang="en-US" dirty="0"/>
              <a:t>Quick check: if you double the motor PWM edge speed, what happens to V_noise? It roughly doubles.</a:t>
            </a:r>
          </a:p>
          <a:p>
            <a:pPr marL="0" lvl="0" indent="0" algn="l" rtl="0">
              <a:lnSpc>
                <a:spcPct val="100000"/>
              </a:lnSpc>
              <a:spcBef>
                <a:spcPts val="0"/>
              </a:spcBef>
              <a:spcAft>
                <a:spcPts val="600"/>
              </a:spcAft>
              <a:buSzPts val="1400"/>
              <a:buNone/>
            </a:pPr>
            <a:r>
              <a:rPr lang="en-US" dirty="0"/>
              <a:t>Next, we return to serial communication itself.</a:t>
            </a:r>
          </a:p>
        </p:txBody>
      </p:sp>
      <p:sp>
        <p:nvSpPr>
          <p:cNvPr id="116" name="Google Shape;116;p29:notes">
            <a:extLst>
              <a:ext uri="{FF2B5EF4-FFF2-40B4-BE49-F238E27FC236}">
                <a16:creationId xmlns:a16="http://schemas.microsoft.com/office/drawing/2014/main" id="{6BE6F9B9-84D8-C099-085F-1E2ADB7EAE7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10618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C650CAE-47A8-B85D-00CA-AD07CD37F58E}"/>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B6D49CE6-0EB5-A0DD-8BB5-389DBEF8B81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slide shows the title "Serial Communication" in dark blue on the orange Illinois background, with faint hand-drawn equations and diagrams as decoration.</a:t>
            </a:r>
          </a:p>
          <a:p>
            <a:pPr marL="0" lvl="0" indent="0" algn="l" rtl="0">
              <a:spcBef>
                <a:spcPts val="0"/>
              </a:spcBef>
              <a:spcAft>
                <a:spcPts val="600"/>
              </a:spcAft>
              <a:buNone/>
            </a:pPr>
            <a:r>
              <a:rPr lang="en-US" dirty="0"/>
              <a:t>You have just seen why wires pick up noise: capacitive coupling from changing voltages, and inductive coupling from changing currents such as motor drives. Now we return to how devices actually exchange data over those wires. Next you will see some notation, then how one master device coordinates several slave devices on a shared link.</a:t>
            </a:r>
          </a:p>
        </p:txBody>
      </p:sp>
      <p:sp>
        <p:nvSpPr>
          <p:cNvPr id="102" name="Google Shape;102;p28:notes">
            <a:extLst>
              <a:ext uri="{FF2B5EF4-FFF2-40B4-BE49-F238E27FC236}">
                <a16:creationId xmlns:a16="http://schemas.microsoft.com/office/drawing/2014/main" id="{6127932C-AF78-2089-3C62-AA07FC6F310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61015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0651213-8B35-560F-7759-7764D7FED94F}"/>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94E3B979-7B93-EAE1-AEF1-557FB7C1B7F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divider titled "Notation," in white text with an orange accent line underneath, on the dark blue Illinois background with faint hand-drawn equations and diagrams.</a:t>
            </a:r>
          </a:p>
          <a:p>
            <a:pPr marL="0" lvl="0" indent="0" algn="l" rtl="0">
              <a:spcBef>
                <a:spcPts val="0"/>
              </a:spcBef>
              <a:spcAft>
                <a:spcPts val="600"/>
              </a:spcAft>
              <a:buNone/>
            </a:pPr>
            <a:r>
              <a:rPr lang="en-US" dirty="0"/>
              <a:t>You have just seen why noise, such as inductive coupling from motor drives, matters for serial wiring. Before comparing specific protocols, this section sets up the vocabulary used to describe them: master and slave roles, SISO through MIMO configurations, asynchronous versus synchronous timing, and simplex, half-duplex and full-duplex links.</a:t>
            </a:r>
          </a:p>
        </p:txBody>
      </p:sp>
      <p:sp>
        <p:nvSpPr>
          <p:cNvPr id="87" name="Google Shape;87;p27:notes">
            <a:extLst>
              <a:ext uri="{FF2B5EF4-FFF2-40B4-BE49-F238E27FC236}">
                <a16:creationId xmlns:a16="http://schemas.microsoft.com/office/drawing/2014/main" id="{41A24ECE-8009-FD17-8015-7A8B86AB06C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75466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CDDC444-2663-64AD-C9F4-439798AC1BD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D84AA7E-01EF-AA46-F3EF-DA8AED50D45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all text. It introduces the master/slave paradigm for talking to more than one device on a communication link. The slide says the master node holds the authority to start every data transfer and generates the synchronization clock. The slave nodes are strictly reactive: they stay quiet (idle, or "low") until they are explicitly addressed. The slide also notes that master/slave is still common terminology, but newer documents use peripheral-based names.</a:t>
            </a:r>
          </a:p>
          <a:p>
            <a:pPr marL="0" lvl="0" indent="0" algn="l" rtl="0">
              <a:lnSpc>
                <a:spcPct val="100000"/>
              </a:lnSpc>
              <a:spcBef>
                <a:spcPts val="0"/>
              </a:spcBef>
              <a:spcAft>
                <a:spcPts val="600"/>
              </a:spcAft>
              <a:buSzPts val="1400"/>
              <a:buNone/>
            </a:pPr>
            <a:r>
              <a:rPr lang="en-US" dirty="0"/>
              <a:t>Some background on those newer names. Many datasheets now say "controller" and "peripheral" instead of master and slave. The SPI signal names change to match: PICO means peripheral in, controller out, and POCI means peripheral out, controller in. When you read TI documentation for the F28379D you will see the older names, such as SPISIMO (slave in, master out) and SPISOMI (slave out, master in), so you should recognize both sets.</a:t>
            </a:r>
          </a:p>
          <a:p>
            <a:pPr marL="0" lvl="0" indent="0" algn="l" rtl="0">
              <a:lnSpc>
                <a:spcPct val="100000"/>
              </a:lnSpc>
              <a:spcBef>
                <a:spcPts val="0"/>
              </a:spcBef>
              <a:spcAft>
                <a:spcPts val="600"/>
              </a:spcAft>
              <a:buSzPts val="1400"/>
              <a:buNone/>
            </a:pPr>
            <a:r>
              <a:rPr lang="en-US" dirty="0"/>
              <a:t>The slide's analogy: the master is a teacher who asks you to do something, and the slaves are students who do the work and report the results back. A student does not shout out answers unprompted. Likewise, a slave does not drive the bus or send data until the master selects it and supplies the clock. This rule is what lets several devices share the same wires without talking over each other.</a:t>
            </a:r>
          </a:p>
          <a:p>
            <a:pPr marL="0" lvl="0" indent="0" algn="l" rtl="0">
              <a:lnSpc>
                <a:spcPct val="100000"/>
              </a:lnSpc>
              <a:spcBef>
                <a:spcPts val="0"/>
              </a:spcBef>
              <a:spcAft>
                <a:spcPts val="600"/>
              </a:spcAft>
              <a:buSzPts val="1400"/>
              <a:buNone/>
            </a:pPr>
            <a:r>
              <a:rPr lang="en-US" dirty="0"/>
              <a:t>On your robot, the F28379D Red Board is the master on its SPI bus. It generates SPICLK and decides when to read a sensor such as the IMU, which only answers when its chip select is asserted.</a:t>
            </a:r>
          </a:p>
          <a:p>
            <a:pPr marL="0" lvl="0" indent="0" algn="l" rtl="0">
              <a:lnSpc>
                <a:spcPct val="100000"/>
              </a:lnSpc>
              <a:spcBef>
                <a:spcPts val="0"/>
              </a:spcBef>
              <a:spcAft>
                <a:spcPts val="600"/>
              </a:spcAft>
              <a:buSzPts val="1400"/>
              <a:buNone/>
            </a:pPr>
            <a:r>
              <a:rPr lang="en-US" dirty="0"/>
              <a:t>A common misconception is that the slave "sends whenever it has data." In clocked master/slave buses, no clock from the master means no transfer.</a:t>
            </a:r>
          </a:p>
          <a:p>
            <a:pPr marL="0" lvl="0" indent="0" algn="l" rtl="0">
              <a:lnSpc>
                <a:spcPct val="100000"/>
              </a:lnSpc>
              <a:spcBef>
                <a:spcPts val="0"/>
              </a:spcBef>
              <a:spcAft>
                <a:spcPts val="600"/>
              </a:spcAft>
              <a:buSzPts val="1400"/>
              <a:buNone/>
            </a:pPr>
            <a:r>
              <a:rPr lang="en-US" dirty="0"/>
              <a:t>Next, you look at how links are classified by how many transmitters and receivers they have: SISO, SIMO, MISO, and MIMO.</a:t>
            </a:r>
          </a:p>
        </p:txBody>
      </p:sp>
      <p:sp>
        <p:nvSpPr>
          <p:cNvPr id="116" name="Google Shape;116;p29:notes">
            <a:extLst>
              <a:ext uri="{FF2B5EF4-FFF2-40B4-BE49-F238E27FC236}">
                <a16:creationId xmlns:a16="http://schemas.microsoft.com/office/drawing/2014/main" id="{D15DAAEE-E6BA-1500-4B64-05DE092ACE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12402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62E8000-CB92-3A4C-294F-3E054BB5EC9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92DDF51-A013-0964-1D79-297A964005D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a diagram from Wikimedia Commons (https://commons.wikimedia.org/wiki/File:Prinzip_MIMO.svg) with four rows, each pairing a transmitter box labeled Tx on the left with a receiver box labeled Rx on the right. The transmitter's antennas are drawn with radio waves coming off them; the receiver's antennas are plain. Vertical dots between antennas mean "one or more additional antennas."</a:t>
            </a:r>
          </a:p>
          <a:p>
            <a:pPr marL="0" lvl="0" indent="0" algn="l" rtl="0">
              <a:lnSpc>
                <a:spcPct val="100000"/>
              </a:lnSpc>
              <a:spcBef>
                <a:spcPts val="0"/>
              </a:spcBef>
              <a:spcAft>
                <a:spcPts val="600"/>
              </a:spcAft>
              <a:buSzPts val="1400"/>
              <a:buNone/>
            </a:pPr>
            <a:r>
              <a:rPr lang="en-US" dirty="0"/>
              <a:t>The rows are named by antenna count. SISO, single input single output, has one antenna on each side. SIMO, single input multiple output, has one transmit antenna and several receive antennas. MISO, multiple input single output, has several transmit antennas and one receive antenna. MIMO, multiple input multiple output, has several on both sides. The naming is from the point of view of the channel between the devices: "input" is what goes into the channel, which is the transmit side, and "output" is what comes out of it, which is the receive side.</a:t>
            </a:r>
          </a:p>
          <a:p>
            <a:pPr marL="0" lvl="0" indent="0" algn="l" rtl="0">
              <a:lnSpc>
                <a:spcPct val="100000"/>
              </a:lnSpc>
              <a:spcBef>
                <a:spcPts val="0"/>
              </a:spcBef>
              <a:spcAft>
                <a:spcPts val="600"/>
              </a:spcAft>
              <a:buSzPts val="1400"/>
              <a:buNone/>
            </a:pPr>
            <a:r>
              <a:rPr lang="en-US" dirty="0"/>
              <a:t>The point is vocabulary. Once you have more than two devices, you need a way to describe how many sources and how many destinations share a link. A master talking to several slaves on one bus is conceptually a single source reaching multiple destinations.</a:t>
            </a:r>
          </a:p>
          <a:p>
            <a:pPr marL="0" lvl="0" indent="0" algn="l" rtl="0">
              <a:lnSpc>
                <a:spcPct val="100000"/>
              </a:lnSpc>
              <a:spcBef>
                <a:spcPts val="0"/>
              </a:spcBef>
              <a:spcAft>
                <a:spcPts val="600"/>
              </a:spcAft>
              <a:buSzPts val="1400"/>
              <a:buNone/>
            </a:pPr>
            <a:r>
              <a:rPr lang="en-US" dirty="0"/>
              <a:t>Be careful with one term. Later in this lecture, on SPI, you will see MISO again, but there it means "Master In, Slave Out," a single data wire. That has nothing to do with antennas. The F28379D documentation avoids the clash by calling that wire SPISOMI.</a:t>
            </a:r>
          </a:p>
          <a:p>
            <a:pPr marL="0" lvl="0" indent="0" algn="l" rtl="0">
              <a:lnSpc>
                <a:spcPct val="100000"/>
              </a:lnSpc>
              <a:spcBef>
                <a:spcPts val="0"/>
              </a:spcBef>
              <a:spcAft>
                <a:spcPts val="600"/>
              </a:spcAft>
              <a:buSzPts val="1400"/>
              <a:buNone/>
            </a:pPr>
            <a:r>
              <a:rPr lang="en-US" dirty="0"/>
              <a:t>Next you look at how devices on a shared link stay in step in time: asynchronously, without a shared clock, or synchronously, with one.</a:t>
            </a:r>
          </a:p>
        </p:txBody>
      </p:sp>
      <p:sp>
        <p:nvSpPr>
          <p:cNvPr id="116" name="Google Shape;116;p29:notes">
            <a:extLst>
              <a:ext uri="{FF2B5EF4-FFF2-40B4-BE49-F238E27FC236}">
                <a16:creationId xmlns:a16="http://schemas.microsoft.com/office/drawing/2014/main" id="{BE1F7B3D-5DCF-3100-AD2E-94FC8AE883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71037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7492335-FBD3-A583-6AA2-D8BFE27806E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9AEB991-DE04-9ECA-9523-2E5A56D9D8D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It says that asynchronous networks, such as SCI or UART, operate without a shared physical clock line between nodes. Each node runs on its own independent internal clock, and both sides must be pre-configured to the same baud rate, which you saw in the UART lecture. The slide then asks what could go wrong and lists two issues: you fail to communicate the correct baud rate, or the internal clocks drift so the receiver samples the data out of phase and corrupts it.</a:t>
            </a:r>
          </a:p>
          <a:p>
            <a:pPr marL="0" lvl="0" indent="0" algn="l" rtl="0">
              <a:lnSpc>
                <a:spcPct val="100000"/>
              </a:lnSpc>
              <a:spcBef>
                <a:spcPts val="0"/>
              </a:spcBef>
              <a:spcAft>
                <a:spcPts val="600"/>
              </a:spcAft>
              <a:buSzPts val="1400"/>
              <a:buNone/>
            </a:pPr>
            <a:r>
              <a:rPr lang="en-US" dirty="0"/>
              <a:t>The baud rate is the number of signal symbols per second. For UART each symbol is one bit, so at 115200 baud each bit lasts about 1/115200 seconds, roughly 8.7 microseconds. With no clock wire, the receiver only knows where each bit is by counting time from the falling edge of the start bit. The receiver re-synchronizes on every new start bit, so clock drift only has to stay small over one frame of about ten bits. Even so, a mismatch of a few percent shifts the sampling point far enough to read the wrong bit.</a:t>
            </a:r>
          </a:p>
          <a:p>
            <a:pPr marL="0" lvl="0" indent="0" algn="l" rtl="0">
              <a:lnSpc>
                <a:spcPct val="100000"/>
              </a:lnSpc>
              <a:spcBef>
                <a:spcPts val="0"/>
              </a:spcBef>
              <a:spcAft>
                <a:spcPts val="600"/>
              </a:spcAft>
              <a:buSzPts val="1400"/>
              <a:buNone/>
            </a:pPr>
            <a:r>
              <a:rPr lang="en-US" dirty="0"/>
              <a:t>A common mistake in lab is setting the Red Board SCI and your terminal program to different baud rates. The symptom is garbled characters rather than silence, which tells you the wiring works but the timing does not.</a:t>
            </a:r>
          </a:p>
          <a:p>
            <a:pPr marL="0" lvl="0" indent="0" algn="l" rtl="0">
              <a:lnSpc>
                <a:spcPct val="100000"/>
              </a:lnSpc>
              <a:spcBef>
                <a:spcPts val="0"/>
              </a:spcBef>
              <a:spcAft>
                <a:spcPts val="600"/>
              </a:spcAft>
              <a:buSzPts val="1400"/>
              <a:buNone/>
            </a:pPr>
            <a:r>
              <a:rPr lang="en-US" dirty="0"/>
              <a:t>Quick check: why does a longer frame make clock drift more dangerous?</a:t>
            </a:r>
          </a:p>
          <a:p>
            <a:pPr marL="0" lvl="0" indent="0" algn="l" rtl="0">
              <a:lnSpc>
                <a:spcPct val="100000"/>
              </a:lnSpc>
              <a:spcBef>
                <a:spcPts val="0"/>
              </a:spcBef>
              <a:spcAft>
                <a:spcPts val="600"/>
              </a:spcAft>
              <a:buSzPts val="1400"/>
              <a:buNone/>
            </a:pPr>
            <a:r>
              <a:rPr lang="en-US" dirty="0"/>
              <a:t>Next, you will see the alternative: synchronous protocols, where the master shares a clock line with every device.</a:t>
            </a:r>
          </a:p>
        </p:txBody>
      </p:sp>
      <p:sp>
        <p:nvSpPr>
          <p:cNvPr id="116" name="Google Shape;116;p29:notes">
            <a:extLst>
              <a:ext uri="{FF2B5EF4-FFF2-40B4-BE49-F238E27FC236}">
                <a16:creationId xmlns:a16="http://schemas.microsoft.com/office/drawing/2014/main" id="{842E4614-C7E3-A1DD-F21C-7999B7385B7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869444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5692482-4B47-61B5-65EA-56648A060EE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A830643-B89C-263E-8E5E-48BD6E6DE88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the counterpart to the asynchronous slide you just saw. It has text only, no figures. It states that synchronous networks, such as SPI and I2C, operate with a shared, physical clock line routed between nodes. The Master node drives that clock to all Slave devices. The shared clock dictates the precise times at which the data lines are driven and sampled. The slide then asks, "What could be some issue?" and gives one answer: extra wiring is required, at least one wire for the clock and one for the data.</a:t>
            </a:r>
          </a:p>
          <a:p>
            <a:pPr marL="0" lvl="0" indent="0" algn="l" rtl="0">
              <a:lnSpc>
                <a:spcPct val="100000"/>
              </a:lnSpc>
              <a:spcBef>
                <a:spcPts val="0"/>
              </a:spcBef>
              <a:spcAft>
                <a:spcPts val="600"/>
              </a:spcAft>
              <a:buSzPts val="1400"/>
              <a:buNone/>
            </a:pPr>
            <a:r>
              <a:rPr lang="en-US" dirty="0"/>
              <a:t>Compare this with UART. There, each side runs its own internal clock at a pre-agreed baud rate, so a wrong baud setting or clock drift corrupts the data. Here the receiver never has to guess when a bit arrives. It samples on a clock edge that the Master provides. That removes the baud-rate mismatch and drift problems entirely, and it lets the Master choose, or even vary, the clock speed. Slaves simply follow whatever clock they receive.</a:t>
            </a:r>
          </a:p>
          <a:p>
            <a:pPr marL="0" lvl="0" indent="0" algn="l" rtl="0">
              <a:lnSpc>
                <a:spcPct val="100000"/>
              </a:lnSpc>
              <a:spcBef>
                <a:spcPts val="0"/>
              </a:spcBef>
              <a:spcAft>
                <a:spcPts val="600"/>
              </a:spcAft>
              <a:buSzPts val="1400"/>
              <a:buNone/>
            </a:pPr>
            <a:r>
              <a:rPr lang="en-US" dirty="0"/>
              <a:t>The cost is hardware. I2C needs two lines, a clock (SCL) and a data line (SDA). SPI on the F28379D uses four: SPICLK, SPISIMO, SPISOMI and SPISTE. More wires mean more pins on the Red Board, more connections to route, and more conductors exposed to the capacitive and inductive interference discussed earlier.</a:t>
            </a:r>
          </a:p>
          <a:p>
            <a:pPr marL="0" lvl="0" indent="0" algn="l" rtl="0">
              <a:lnSpc>
                <a:spcPct val="100000"/>
              </a:lnSpc>
              <a:spcBef>
                <a:spcPts val="0"/>
              </a:spcBef>
              <a:spcAft>
                <a:spcPts val="600"/>
              </a:spcAft>
              <a:buSzPts val="1400"/>
              <a:buNone/>
            </a:pPr>
            <a:r>
              <a:rPr lang="en-US" dirty="0"/>
              <a:t>Quick check: if the Master stops toggling the clock mid-transfer, what does a Slave do? It just waits, because nothing advances without a clock edge.</a:t>
            </a:r>
          </a:p>
          <a:p>
            <a:pPr marL="0" lvl="0" indent="0" algn="l" rtl="0">
              <a:lnSpc>
                <a:spcPct val="100000"/>
              </a:lnSpc>
              <a:spcBef>
                <a:spcPts val="0"/>
              </a:spcBef>
              <a:spcAft>
                <a:spcPts val="600"/>
              </a:spcAft>
              <a:buSzPts val="1400"/>
              <a:buNone/>
            </a:pPr>
            <a:r>
              <a:rPr lang="en-US" dirty="0"/>
              <a:t>Next, you look at another way to classify links: whether data flows in one direction or both, which covers simplex, half-duplex and full-duplex communication.</a:t>
            </a:r>
          </a:p>
        </p:txBody>
      </p:sp>
      <p:sp>
        <p:nvSpPr>
          <p:cNvPr id="116" name="Google Shape;116;p29:notes">
            <a:extLst>
              <a:ext uri="{FF2B5EF4-FFF2-40B4-BE49-F238E27FC236}">
                <a16:creationId xmlns:a16="http://schemas.microsoft.com/office/drawing/2014/main" id="{925E3F4C-8045-1EB4-7E3C-B4CA3B9680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081249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D160F9B-A215-A17B-8053-7FF3F0FFDA8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F34ADB5-936C-260F-EFA2-C12C1D38D31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compares three communication modes, which describe the direction data can travel on a link. The left side shows pairs of walkie-talkies in three rows. In simplex, the left-to-right arrow has a green check and the right-to-left arrow has a red X, so data flows one way only. In half-duplex, two pictures are joined by "or": either left to right is allowed and the return is blocked, or the reverse. Data can go both ways, but only one direction at a time. In full-duplex, both arrows have green checks, so both radios send at the same time. The right side shows the same idea as boxes labeled Device A and Device B joined by one line. Simplex and half-duplex have a signal dot only at Device A, while full-duplex has dots at both devices. The images come from qsfptek and a LinkedIn post, linked at the bottom of the slide.</a:t>
            </a:r>
          </a:p>
          <a:p>
            <a:pPr marL="0" lvl="0" indent="0" algn="l" rtl="0">
              <a:lnSpc>
                <a:spcPct val="100000"/>
              </a:lnSpc>
              <a:spcBef>
                <a:spcPts val="0"/>
              </a:spcBef>
              <a:spcAft>
                <a:spcPts val="600"/>
              </a:spcAft>
              <a:buSzPts val="1400"/>
              <a:buNone/>
            </a:pPr>
            <a:r>
              <a:rPr lang="en-US" dirty="0"/>
              <a:t>Simplex is like a radio broadcast. A sensor that only streams data, or a display that only receives, needs a single data line. Half-duplex is the walkie-talkie: you say "over" so the other side knows it can talk. On a wire, the devices must agree on who drives the shared line, or two outputs fight each other. Full-duplex usually needs separate wires for each direction.</a:t>
            </a:r>
          </a:p>
          <a:p>
            <a:pPr marL="0" lvl="0" indent="0" algn="l" rtl="0">
              <a:lnSpc>
                <a:spcPct val="100000"/>
              </a:lnSpc>
              <a:spcBef>
                <a:spcPts val="0"/>
              </a:spcBef>
              <a:spcAft>
                <a:spcPts val="600"/>
              </a:spcAft>
              <a:buSzPts val="1400"/>
              <a:buNone/>
            </a:pPr>
            <a:r>
              <a:rPr lang="en-US" dirty="0"/>
              <a:t>Keep this vocabulary in mind as you meet the protocols. UART uses separate TX and RX lines and is full-duplex. Standard SPI is full-duplex, while its 3-wire mode is half-duplex. I2C shares a single data line, SDA, so it is half-duplex.</a:t>
            </a:r>
          </a:p>
          <a:p>
            <a:pPr marL="0" lvl="0" indent="0" algn="l" rtl="0">
              <a:lnSpc>
                <a:spcPct val="100000"/>
              </a:lnSpc>
              <a:spcBef>
                <a:spcPts val="0"/>
              </a:spcBef>
              <a:spcAft>
                <a:spcPts val="600"/>
              </a:spcAft>
              <a:buSzPts val="1400"/>
              <a:buNone/>
            </a:pPr>
            <a:r>
              <a:rPr lang="en-US" dirty="0"/>
              <a:t>Quick check: why can't two devices drive the same wire at once? Next, we look at the protocols the Red Board supports.</a:t>
            </a:r>
          </a:p>
        </p:txBody>
      </p:sp>
      <p:sp>
        <p:nvSpPr>
          <p:cNvPr id="116" name="Google Shape;116;p29:notes">
            <a:extLst>
              <a:ext uri="{FF2B5EF4-FFF2-40B4-BE49-F238E27FC236}">
                <a16:creationId xmlns:a16="http://schemas.microsoft.com/office/drawing/2014/main" id="{BA5F372D-1045-C0EE-2A6F-D40915C5D7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751719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EE22260-D135-2677-127C-B369E1B809F8}"/>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A6980CB1-3FD5-4D5F-8261-0A3CF3B55FE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It reads "Protocols" in large white text with an orange underline, on the dark blue Grainger Engineering background with faint hand-drawn equation sketches.</a:t>
            </a:r>
          </a:p>
          <a:p>
            <a:pPr marL="0" lvl="0" indent="0" algn="l" rtl="0">
              <a:spcBef>
                <a:spcPts val="0"/>
              </a:spcBef>
              <a:spcAft>
                <a:spcPts val="600"/>
              </a:spcAft>
              <a:buNone/>
            </a:pPr>
            <a:r>
              <a:rPr lang="en-US" dirty="0"/>
              <a:t>So far you have the building blocks: interference, asynchronous versus synchronous timing, and simplex, half-duplex and full-duplex links. Now we put those pieces together into actual protocols. Next you see the list the Red Board supports, from SCI/UART, SPI and I2C to CAN, McBSP, USB and uPP. As each one comes up, ask yourself whether it shares a clock and which duplex mode it uses.</a:t>
            </a:r>
          </a:p>
        </p:txBody>
      </p:sp>
      <p:sp>
        <p:nvSpPr>
          <p:cNvPr id="87" name="Google Shape;87;p27:notes">
            <a:extLst>
              <a:ext uri="{FF2B5EF4-FFF2-40B4-BE49-F238E27FC236}">
                <a16:creationId xmlns:a16="http://schemas.microsoft.com/office/drawing/2014/main" id="{908CEC90-7112-495D-B4E0-2B421B9468C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37486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42C14D7-E780-55AA-4F75-8143EA0CF69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6FE901C-E865-B22C-65ED-4705BD4DA01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"Serial Communication," opens the protocols section with a list of the serial interfaces built into the Red Board's TMS320F28379D. It names three, each with a one-line summary, and two include links back to earlier lectures.</a:t>
            </a:r>
          </a:p>
          <a:p>
            <a:pPr marL="0" lvl="0" indent="0" algn="l" rtl="0">
              <a:lnSpc>
                <a:spcPct val="100000"/>
              </a:lnSpc>
              <a:spcBef>
                <a:spcPts val="0"/>
              </a:spcBef>
              <a:spcAft>
                <a:spcPts val="600"/>
              </a:spcAft>
              <a:buSzPts val="1400"/>
              <a:buNone/>
            </a:pPr>
            <a:r>
              <a:rPr lang="en-US" dirty="0"/>
              <a:t>The first is SCI, the Serial Communications Interface, which is the classic UART. It is asynchronous and needs only two wires, TX for transmit and RX for receive. There is no shared clock, so both sides must agree on a baud rate in advance, and clock mismatch limits how fast it can go. The slide links to Lecture 4, where you used SCI to talk to the PC terminal. A common mistake is wiring TX to TX: one device's TX must connect to the other's RX.</a:t>
            </a:r>
          </a:p>
          <a:p>
            <a:pPr marL="0" lvl="0" indent="0" algn="l" rtl="0">
              <a:lnSpc>
                <a:spcPct val="100000"/>
              </a:lnSpc>
              <a:spcBef>
                <a:spcPts val="0"/>
              </a:spcBef>
              <a:spcAft>
                <a:spcPts val="600"/>
              </a:spcAft>
              <a:buSzPts val="1400"/>
              <a:buNone/>
            </a:pPr>
            <a:r>
              <a:rPr lang="en-US" dirty="0"/>
              <a:t>The second is SPI, the Serial Peripheral Interface, a high-speed synchronous port. It uses four wires: a clock, one data line in each direction, and a chip-select (enable) line. The master supplies the shared clock, so SPI runs much faster than a UART. That speed is why it dominates fast sensor and motor-driver links. The slide links to Lectures 6 and 7, where you read the IMU and other devices over SPI.</a:t>
            </a:r>
          </a:p>
          <a:p>
            <a:pPr marL="0" lvl="0" indent="0" algn="l" rtl="0">
              <a:lnSpc>
                <a:spcPct val="100000"/>
              </a:lnSpc>
              <a:spcBef>
                <a:spcPts val="0"/>
              </a:spcBef>
              <a:spcAft>
                <a:spcPts val="600"/>
              </a:spcAft>
              <a:buSzPts val="1400"/>
              <a:buNone/>
            </a:pPr>
            <a:r>
              <a:rPr lang="en-US" dirty="0"/>
              <a:t>The third is I2C, the Inter-Integrated Circuit module, a synchronous bus that uses only two wires, clock and data. It picks a device by sending an address over the bus, which the slide calls software addressing. SPI instead routes a separate chip-select wire to each device. Because I2C needs fewer wires, it can be the better choice when many devices share a bus.</a:t>
            </a:r>
          </a:p>
          <a:p>
            <a:pPr marL="0" lvl="0" indent="0" algn="l" rtl="0">
              <a:lnSpc>
                <a:spcPct val="100000"/>
              </a:lnSpc>
              <a:spcBef>
                <a:spcPts val="0"/>
              </a:spcBef>
              <a:spcAft>
                <a:spcPts val="600"/>
              </a:spcAft>
              <a:buSzPts val="1400"/>
              <a:buNone/>
            </a:pPr>
            <a:r>
              <a:rPr lang="en-US" dirty="0"/>
              <a:t>Relating this to the duplex modes from two slides back: UART and SPI are full-duplex, while I2C is half-duplex. The next slide lists the board's remaining interfaces: CAN, McBSP, USB and uPP.</a:t>
            </a:r>
          </a:p>
        </p:txBody>
      </p:sp>
      <p:sp>
        <p:nvSpPr>
          <p:cNvPr id="116" name="Google Shape;116;p29:notes">
            <a:extLst>
              <a:ext uri="{FF2B5EF4-FFF2-40B4-BE49-F238E27FC236}">
                <a16:creationId xmlns:a16="http://schemas.microsoft.com/office/drawing/2014/main" id="{99457A86-0291-05A7-AD45-70A2842B30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40463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666E6BC-40B5-22AF-A8A7-82518D66E6F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A950A21-BACD-4639-332D-A4644D59414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continues the list of communication peripherals on the Red Board's TMS320F28379D. The previous slide covered SCI, SPI and I2C. This one lists four more: CAN, McBSP, USB and uPP, each with a one-line description.</a:t>
            </a:r>
          </a:p>
          <a:p>
            <a:pPr marL="0" lvl="0" indent="0" algn="l" rtl="0">
              <a:lnSpc>
                <a:spcPct val="100000"/>
              </a:lnSpc>
              <a:spcBef>
                <a:spcPts val="0"/>
              </a:spcBef>
              <a:spcAft>
                <a:spcPts val="600"/>
              </a:spcAft>
              <a:buSzPts val="1400"/>
              <a:buNone/>
            </a:pPr>
            <a:r>
              <a:rPr lang="en-US" dirty="0"/>
              <a:t>CAN, the Controller Area Network, is a robust bus built for cars. It uses differential signaling: the information is carried as the voltage difference between two wires. Noise that couples equally onto both wires, like the capacitive and inductive interference from earlier in the lecture, cancels out. Every CAN message carries an ID that also acts as its priority. When two nodes transmit at once, the lower ID wins arbitration without either message being corrupted. That is what deterministic collision resolution means: CAN gives up raw speed in exchange for reliability.</a:t>
            </a:r>
          </a:p>
          <a:p>
            <a:pPr marL="0" lvl="0" indent="0" algn="l" rtl="0">
              <a:lnSpc>
                <a:spcPct val="100000"/>
              </a:lnSpc>
              <a:spcBef>
                <a:spcPts val="0"/>
              </a:spcBef>
              <a:spcAft>
                <a:spcPts val="600"/>
              </a:spcAft>
              <a:buSzPts val="1400"/>
              <a:buNone/>
            </a:pPr>
            <a:r>
              <a:rPr lang="en-US" dirty="0"/>
              <a:t>McBSP, the Multichannel Buffered Serial Port, is a high-speed synchronous port. Its buffering and multiple channels suit continuous streams such as audio codecs and telecommunications data.</a:t>
            </a:r>
          </a:p>
          <a:p>
            <a:pPr marL="0" lvl="0" indent="0" algn="l" rtl="0">
              <a:lnSpc>
                <a:spcPct val="100000"/>
              </a:lnSpc>
              <a:spcBef>
                <a:spcPts val="0"/>
              </a:spcBef>
              <a:spcAft>
                <a:spcPts val="600"/>
              </a:spcAft>
              <a:buSzPts val="1400"/>
              <a:buNone/>
            </a:pPr>
            <a:r>
              <a:rPr lang="en-US" dirty="0"/>
              <a:t>USB, the Universal Serial Bus, is also differential. It is a much more complex protocol, used mainly to connect the embedded system to a host PC for data logging or firmware updates.</a:t>
            </a:r>
          </a:p>
          <a:p>
            <a:pPr marL="0" lvl="0" indent="0" algn="l" rtl="0">
              <a:lnSpc>
                <a:spcPct val="100000"/>
              </a:lnSpc>
              <a:spcBef>
                <a:spcPts val="0"/>
              </a:spcBef>
              <a:spcAft>
                <a:spcPts val="600"/>
              </a:spcAft>
              <a:buSzPts val="1400"/>
              <a:buNone/>
            </a:pPr>
            <a:r>
              <a:rPr lang="en-US" dirty="0"/>
              <a:t>uPP, the Universal Parallel Port, is the odd one out. It is parallel rather than serial: it moves many bits at once on separate wires. It is used to connect directly to FPGAs or fast data-acquisition hardware such as high-speed ADCs.</a:t>
            </a:r>
          </a:p>
          <a:p>
            <a:pPr marL="0" lvl="0" indent="0" algn="l" rtl="0">
              <a:lnSpc>
                <a:spcPct val="100000"/>
              </a:lnSpc>
              <a:spcBef>
                <a:spcPts val="0"/>
              </a:spcBef>
              <a:spcAft>
                <a:spcPts val="600"/>
              </a:spcAft>
              <a:buSzPts val="1400"/>
              <a:buNone/>
            </a:pPr>
            <a:r>
              <a:rPr lang="en-US" dirty="0"/>
              <a:t>In SE 423 you mostly use SCI, SPI and I2C, but it helps to know these options exist. As a quick check, ask yourself why both CAN and USB use differential pairs.</a:t>
            </a:r>
          </a:p>
          <a:p>
            <a:pPr marL="0" lvl="0" indent="0" algn="l" rtl="0">
              <a:lnSpc>
                <a:spcPct val="100000"/>
              </a:lnSpc>
              <a:spcBef>
                <a:spcPts val="0"/>
              </a:spcBef>
              <a:spcAft>
                <a:spcPts val="600"/>
              </a:spcAft>
              <a:buSzPts val="1400"/>
              <a:buNone/>
            </a:pPr>
            <a:r>
              <a:rPr lang="en-US" dirty="0"/>
              <a:t>Next, the lecture returns to SCI, the UART, to look at its frame structure.</a:t>
            </a:r>
          </a:p>
        </p:txBody>
      </p:sp>
      <p:sp>
        <p:nvSpPr>
          <p:cNvPr id="116" name="Google Shape;116;p29:notes">
            <a:extLst>
              <a:ext uri="{FF2B5EF4-FFF2-40B4-BE49-F238E27FC236}">
                <a16:creationId xmlns:a16="http://schemas.microsoft.com/office/drawing/2014/main" id="{BDAF0794-FC18-50B4-BD8A-CA0865FD97C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327335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BC8E0C2-F55E-82D5-7D0D-AEEEE2153EC5}"/>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5D878A16-6351-60A5-4562-EE9767D6A77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title slide reads "SCI / UART" in large white letters on the dark blue Illinois background, with an orange accent line underneath and faint hand-drawn engineering sketches behind it.</a:t>
            </a:r>
          </a:p>
          <a:p>
            <a:pPr marL="0" lvl="0" indent="0" algn="l" rtl="0">
              <a:spcBef>
                <a:spcPts val="0"/>
              </a:spcBef>
              <a:spcAft>
                <a:spcPts val="600"/>
              </a:spcAft>
              <a:buNone/>
            </a:pPr>
            <a:r>
              <a:rPr lang="en-US" dirty="0"/>
              <a:t>From the list of protocols the Red Board supports, you now look at each one more closely, starting with SCI, the Serial Communications Interface, which is TI's name for a classic UART. You first used it in Lecture 4. The next slide reviews how it works without a shared clock, relying on an agreed baud rate.</a:t>
            </a:r>
          </a:p>
        </p:txBody>
      </p:sp>
      <p:sp>
        <p:nvSpPr>
          <p:cNvPr id="87" name="Google Shape;87;p27:notes">
            <a:extLst>
              <a:ext uri="{FF2B5EF4-FFF2-40B4-BE49-F238E27FC236}">
                <a16:creationId xmlns:a16="http://schemas.microsoft.com/office/drawing/2014/main" id="{FC4F313D-CB6A-05E5-3555-E99E058242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97777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66BED32-8511-856D-B8C8-77F1A569ED8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C79D611-CE19-A6CC-D3B7-DF42F1085F5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how the SCI, or UART, actually puts bits on the wire. The SCI (serial communication interface) is TI's name for what is generally called a UART, a universal asynchronous receiver-transmitter. The headline reads: "Asynchronous: no shared clock wire. Timing relies on agreed-upon baud rate." Below it is one line of code, init_serialSCIA(&amp;SerialA,115200);, which configures SCI A on the Red Board to run at 115200 baud.</a:t>
            </a:r>
          </a:p>
          <a:p>
            <a:pPr marL="0" lvl="0" indent="0" algn="l" rtl="0">
              <a:lnSpc>
                <a:spcPct val="100000"/>
              </a:lnSpc>
              <a:spcBef>
                <a:spcPts val="0"/>
              </a:spcBef>
              <a:spcAft>
                <a:spcPts val="600"/>
              </a:spcAft>
              <a:buSzPts val="1400"/>
              <a:buNone/>
            </a:pPr>
            <a:r>
              <a:rPr lang="en-US" dirty="0"/>
              <a:t>The figure, Figure 19-3 from the TI reference manual, shows two frame formats as timing diagrams. In both, the line idles high. A frame begins with a low start bit, followed by eight data bits sent least significant bit first through most significant bit, then an optional parity bit, and finally a high stop bit that returns the line to idle. The top frame is idle-line mode, used for normal communication between two devices. The bottom frame is address-bit mode. It inserts an extra address/data bit after the MSB and before parity, which flags whether the frame carries an address or data so that several processors can share one line.</a:t>
            </a:r>
          </a:p>
          <a:p>
            <a:pPr marL="0" lvl="0" indent="0" algn="l" rtl="0">
              <a:lnSpc>
                <a:spcPct val="100000"/>
              </a:lnSpc>
              <a:spcBef>
                <a:spcPts val="0"/>
              </a:spcBef>
              <a:spcAft>
                <a:spcPts val="600"/>
              </a:spcAft>
              <a:buSzPts val="1400"/>
              <a:buNone/>
            </a:pPr>
            <a:r>
              <a:rPr lang="en-US" dirty="0"/>
              <a:t>Because there is no clock wire, the receiver detects the falling edge of the start bit and then samples each bit at the expected time. At 115200 baud, each bit lasts 1/115200, or about 8.68 microseconds. With 8 data bits, no parity and 1 stop bit, each byte costs 10 bit times, so you get roughly 11,520 bytes per second.</a:t>
            </a:r>
          </a:p>
          <a:p>
            <a:pPr marL="0" lvl="0" indent="0" algn="l" rtl="0">
              <a:lnSpc>
                <a:spcPct val="100000"/>
              </a:lnSpc>
              <a:spcBef>
                <a:spcPts val="0"/>
              </a:spcBef>
              <a:spcAft>
                <a:spcPts val="600"/>
              </a:spcAft>
              <a:buSzPts val="1400"/>
              <a:buNone/>
            </a:pPr>
            <a:r>
              <a:rPr lang="en-US" dirty="0"/>
              <a:t>A common mistake is a baud rate mismatch between the two ends, which shows up as garbage characters. Another is wiring TX to TX instead of TX to RX. Next, SPI solves the timing problem by adding a shared clock.</a:t>
            </a:r>
          </a:p>
        </p:txBody>
      </p:sp>
      <p:sp>
        <p:nvSpPr>
          <p:cNvPr id="116" name="Google Shape;116;p29:notes">
            <a:extLst>
              <a:ext uri="{FF2B5EF4-FFF2-40B4-BE49-F238E27FC236}">
                <a16:creationId xmlns:a16="http://schemas.microsoft.com/office/drawing/2014/main" id="{03BD546B-81C8-87C7-EBB7-1A9CD19C6C7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977683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BD36C30-3EE8-1198-B9D1-94B5FF146EB4}"/>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A2D0E8C1-3F1B-6B93-136B-0F63394B134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It reads "SPI" in large white letters above a short orange accent line, on the course's dark blue background with faint hand-drawn engineering sketches.</a:t>
            </a:r>
          </a:p>
          <a:p>
            <a:pPr marL="0" lvl="0" indent="0" algn="l" rtl="0">
              <a:spcBef>
                <a:spcPts val="0"/>
              </a:spcBef>
              <a:spcAft>
                <a:spcPts val="600"/>
              </a:spcAft>
              <a:buNone/>
            </a:pPr>
            <a:r>
              <a:rPr lang="en-US" dirty="0"/>
              <a:t>SPI stands for Serial Peripheral Interface. You just saw that SCI/UART is asynchronous and relies on an agreed baud rate. SPI takes the other approach: it is synchronous, with the master supplying a shared clock wire. Next you see its four signals and why it can send and receive at the same time.</a:t>
            </a:r>
          </a:p>
        </p:txBody>
      </p:sp>
      <p:sp>
        <p:nvSpPr>
          <p:cNvPr id="87" name="Google Shape;87;p27:notes">
            <a:extLst>
              <a:ext uri="{FF2B5EF4-FFF2-40B4-BE49-F238E27FC236}">
                <a16:creationId xmlns:a16="http://schemas.microsoft.com/office/drawing/2014/main" id="{78974777-6097-1A45-8D81-DB61741A25A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74403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E72A76E-6E6A-EA50-55DD-70C20DFC21D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2759589-A48B-5967-B686-128C8ACC1C0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introduces SPI, the Serial Peripheral Interface, in text only. It makes three points: SPI is full-duplex, it supports multiple devices through master and slave operation, and it uses four wires. The wires are SPICLK, the serial clock that supplies the synchronous heartbeat; SPISIMO, slave-input master-output; SPISOMI, slave-output master-input; and SPISTE, slave transmit-enable. The slide closes by noting that all four pins can serve as general-purpose I/O (GPIO) if the SPI module is not in use.</a:t>
            </a:r>
          </a:p>
          <a:p>
            <a:pPr marL="0" lvl="0" indent="0" algn="l" rtl="0">
              <a:lnSpc>
                <a:spcPct val="100000"/>
              </a:lnSpc>
              <a:spcBef>
                <a:spcPts val="0"/>
              </a:spcBef>
              <a:spcAft>
                <a:spcPts val="600"/>
              </a:spcAft>
              <a:buSzPts val="1400"/>
              <a:buNone/>
            </a:pPr>
            <a:r>
              <a:rPr lang="en-US" dirty="0"/>
              <a:t>Compare this with SCI/UART on the previous slides. SCI has no shared clock, so both sides must agree on a baud rate such as 115200. SPI is synchronous: the master drives SPICLK, and every edge tells both devices exactly when to shift and sample a bit.</a:t>
            </a:r>
          </a:p>
          <a:p>
            <a:pPr marL="0" lvl="0" indent="0" algn="l" rtl="0">
              <a:lnSpc>
                <a:spcPct val="100000"/>
              </a:lnSpc>
              <a:spcBef>
                <a:spcPts val="0"/>
              </a:spcBef>
              <a:spcAft>
                <a:spcPts val="600"/>
              </a:spcAft>
              <a:buSzPts val="1400"/>
              <a:buNone/>
            </a:pPr>
            <a:r>
              <a:rPr lang="en-US" dirty="0"/>
              <a:t>Full-duplex works because master and slave each hold a shift register. On every clock cycle, one bit leaves the master on SIMO while one bit returns from the slave on SOMI. A practical consequence is that you cannot read without writing. To receive a word, the master transmits one, often a dummy value.</a:t>
            </a:r>
          </a:p>
          <a:p>
            <a:pPr marL="0" lvl="0" indent="0" algn="l" rtl="0">
              <a:lnSpc>
                <a:spcPct val="100000"/>
              </a:lnSpc>
              <a:spcBef>
                <a:spcPts val="0"/>
              </a:spcBef>
              <a:spcAft>
                <a:spcPts val="600"/>
              </a:spcAft>
              <a:buSzPts val="1400"/>
              <a:buNone/>
            </a:pPr>
            <a:r>
              <a:rPr lang="en-US" dirty="0"/>
              <a:t>SPISTE selects which slave is listening. On the F28379D it is active low, shown with a bar in the next diagram.</a:t>
            </a:r>
          </a:p>
          <a:p>
            <a:pPr marL="0" lvl="0" indent="0" algn="l" rtl="0">
              <a:lnSpc>
                <a:spcPct val="100000"/>
              </a:lnSpc>
              <a:spcBef>
                <a:spcPts val="0"/>
              </a:spcBef>
              <a:spcAft>
                <a:spcPts val="600"/>
              </a:spcAft>
              <a:buSzPts val="1400"/>
              <a:buNone/>
            </a:pPr>
            <a:r>
              <a:rPr lang="en-US" dirty="0"/>
              <a:t>A common mistake: unlike UART, where TX crosses to RX, SPI wires connect by name. SIMO goes to SIMO and SOMI goes to SOMI.</a:t>
            </a:r>
          </a:p>
          <a:p>
            <a:pPr marL="0" lvl="0" indent="0" algn="l" rtl="0">
              <a:lnSpc>
                <a:spcPct val="100000"/>
              </a:lnSpc>
              <a:spcBef>
                <a:spcPts val="0"/>
              </a:spcBef>
              <a:spcAft>
                <a:spcPts val="600"/>
              </a:spcAft>
              <a:buSzPts val="1400"/>
              <a:buNone/>
            </a:pPr>
            <a:r>
              <a:rPr lang="en-US" dirty="0"/>
              <a:t>The GPIO note matters because these pins pass through the GPIO mux. In your code you choose whether a pin acts as an SPI pin or as a plain GPIO.</a:t>
            </a:r>
          </a:p>
          <a:p>
            <a:pPr marL="0" lvl="0" indent="0" algn="l" rtl="0">
              <a:lnSpc>
                <a:spcPct val="100000"/>
              </a:lnSpc>
              <a:spcBef>
                <a:spcPts val="0"/>
              </a:spcBef>
              <a:spcAft>
                <a:spcPts val="600"/>
              </a:spcAft>
              <a:buSzPts val="1400"/>
              <a:buNone/>
            </a:pPr>
            <a:r>
              <a:rPr lang="en-US" dirty="0"/>
              <a:t>Next, we look at the block diagram showing how the SPI module connects to the clock, interrupts and DMA.</a:t>
            </a:r>
          </a:p>
        </p:txBody>
      </p:sp>
      <p:sp>
        <p:nvSpPr>
          <p:cNvPr id="116" name="Google Shape;116;p29:notes">
            <a:extLst>
              <a:ext uri="{FF2B5EF4-FFF2-40B4-BE49-F238E27FC236}">
                <a16:creationId xmlns:a16="http://schemas.microsoft.com/office/drawing/2014/main" id="{06B602DA-FD5F-2074-E05A-E8C54A9247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529359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49521B6-B356-37C6-5D71-917EAE94FC6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08CE8C6-0817-D5D3-3348-833717CBFF7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Figure 18-1 from the TI technical reference manual, the SPI CPU interface. It is a block diagram of how the SPI module connects to the rest of the F28379D, and it maps the four pins from the previous slide onto real hardware.</a:t>
            </a:r>
          </a:p>
          <a:p>
            <a:pPr marL="0" lvl="0" indent="0" algn="l" rtl="0">
              <a:lnSpc>
                <a:spcPct val="100000"/>
              </a:lnSpc>
              <a:spcBef>
                <a:spcPts val="0"/>
              </a:spcBef>
              <a:spcAft>
                <a:spcPts val="600"/>
              </a:spcAft>
              <a:buSzPts val="1400"/>
              <a:buNone/>
            </a:pPr>
            <a:r>
              <a:rPr lang="en-US" dirty="0"/>
              <a:t>Start at the top. The CPU's system clock, SYSCLK, feeds a low-speed prescaler, which divides it down to LSPCLK, the low-speed peripheral clock. LSPCLK passes through an AND gate whose other input is an enable bit in register PCLKCR8. The gate's output is the SPI's bit clock. So if you forget to set the SPI's bit in PCLKCR8, the module gets no clock and silently does nothing. That is a common reason a first SPI program never transmits. SYSCLK and the system reset signal SYSRS also go directly into the SPI block.</a:t>
            </a:r>
          </a:p>
          <a:p>
            <a:pPr marL="0" lvl="0" indent="0" algn="l" rtl="0">
              <a:lnSpc>
                <a:spcPct val="100000"/>
              </a:lnSpc>
              <a:spcBef>
                <a:spcPts val="0"/>
              </a:spcBef>
              <a:spcAft>
                <a:spcPts val="600"/>
              </a:spcAft>
              <a:buSzPts val="1400"/>
              <a:buNone/>
            </a:pPr>
            <a:r>
              <a:rPr lang="en-US" dirty="0"/>
              <a:t>On the left, the SPI exchanges its four signals with the GPIO mux: SPISIMO, SPISOMI, SPICLK and SPISTE. SPISTE is drawn with a bar over it, meaning it is active low: the slave is selected when that line is pulled to 0. The GPIO mux is why you must configure which physical pins carry these signals. Otherwise those pins stay ordinary GPIO.</a:t>
            </a:r>
          </a:p>
          <a:p>
            <a:pPr marL="0" lvl="0" indent="0" algn="l" rtl="0">
              <a:lnSpc>
                <a:spcPct val="100000"/>
              </a:lnSpc>
              <a:spcBef>
                <a:spcPts val="0"/>
              </a:spcBef>
              <a:spcAft>
                <a:spcPts val="600"/>
              </a:spcAft>
              <a:buSzPts val="1400"/>
              <a:buNone/>
            </a:pPr>
            <a:r>
              <a:rPr lang="en-US" dirty="0"/>
              <a:t>On the right, the SPI sends interrupt lines SPIINT and SPITXINT to the PIE, the peripheral interrupt expansion block. It also sends request lines SPIRXDMA and SPITXDMA to the DMA controller. The CPU, SPI, PIE and DMA all share the peripheral bus, shown as the large vertical arrow, which is how your code reads and writes the SPI registers.</a:t>
            </a:r>
          </a:p>
          <a:p>
            <a:pPr marL="0" lvl="0" indent="0" algn="l" rtl="0">
              <a:lnSpc>
                <a:spcPct val="100000"/>
              </a:lnSpc>
              <a:spcBef>
                <a:spcPts val="0"/>
              </a:spcBef>
              <a:spcAft>
                <a:spcPts val="600"/>
              </a:spcAft>
              <a:buSzPts val="1400"/>
              <a:buNone/>
            </a:pPr>
            <a:r>
              <a:rPr lang="en-US" dirty="0"/>
              <a:t>Next, you look at those interrupt and DMA signals in detail, then at how LSPCLK sets the SPI baud rate.</a:t>
            </a:r>
          </a:p>
        </p:txBody>
      </p:sp>
      <p:sp>
        <p:nvSpPr>
          <p:cNvPr id="116" name="Google Shape;116;p29:notes">
            <a:extLst>
              <a:ext uri="{FF2B5EF4-FFF2-40B4-BE49-F238E27FC236}">
                <a16:creationId xmlns:a16="http://schemas.microsoft.com/office/drawing/2014/main" id="{4FC34C71-A3B3-E160-D0E1-022C34CDE0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29470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0C1BC1B-E5F6-025C-037F-9506FA9579F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12B6685-8FF5-C07A-4316-B3F9D3A53B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lists the SPI module's interrupt signals and its connection to the DMA controller. These are the lines you saw leaving the SPI block in the diagram on the previous slide.</a:t>
            </a:r>
          </a:p>
          <a:p>
            <a:pPr marL="0" lvl="0" indent="0" algn="l" rtl="0">
              <a:lnSpc>
                <a:spcPct val="100000"/>
              </a:lnSpc>
              <a:spcBef>
                <a:spcPts val="0"/>
              </a:spcBef>
              <a:spcAft>
                <a:spcPts val="600"/>
              </a:spcAft>
              <a:buSzPts val="1400"/>
              <a:buNone/>
            </a:pPr>
            <a:r>
              <a:rPr lang="en-US" dirty="0"/>
              <a:t>The slide says the SPI has two interrupt signals, then lists three names, because one physical line has two names. In non-FIFO mode the first line is called SPIINT and fires for both transmit and receive events, once per word. In FIFO mode the same line is called SPIRXINT and fires on receive events. SPITXINT is the second line, the transmit interrupt in FIFO mode. Both lines go to the PIE, the peripheral interrupt expansion block that routes interrupts to the CPU.</a:t>
            </a:r>
          </a:p>
          <a:p>
            <a:pPr marL="0" lvl="0" indent="0" algn="l" rtl="0">
              <a:lnSpc>
                <a:spcPct val="100000"/>
              </a:lnSpc>
              <a:spcBef>
                <a:spcPts val="0"/>
              </a:spcBef>
              <a:spcAft>
                <a:spcPts val="600"/>
              </a:spcAft>
              <a:buSzPts val="1400"/>
              <a:buNone/>
            </a:pPr>
            <a:r>
              <a:rPr lang="en-US" dirty="0"/>
              <a:t>A FIFO is a first-in, first-out buffer. With the FIFO enabled, the SPI can queue several words. You choose how many words arrive before SPIRXINT fires, or how few remain before SPITXINT asks for more. The CPU then handles a batch of words in one interrupt instead of one interrupt per word.</a:t>
            </a:r>
          </a:p>
          <a:p>
            <a:pPr marL="0" lvl="0" indent="0" algn="l" rtl="0">
              <a:lnSpc>
                <a:spcPct val="100000"/>
              </a:lnSpc>
              <a:spcBef>
                <a:spcPts val="0"/>
              </a:spcBef>
              <a:spcAft>
                <a:spcPts val="600"/>
              </a:spcAft>
              <a:buSzPts val="1400"/>
              <a:buNone/>
            </a:pPr>
            <a:r>
              <a:rPr lang="en-US" dirty="0"/>
              <a:t>The DMA, or direct memory access controller, goes one step further. It moves data between the SPI and memory with no CPU instructions at all. The SPI requests a transfer with SPITXDMA, a transmit request to the DMA, or SPIRXDMA, a receive request to the DMA. There are two limits: DMA transfers are 16-bit register reads and writes only, and they work only when the FIFO is enabled.</a:t>
            </a:r>
          </a:p>
          <a:p>
            <a:pPr marL="0" lvl="0" indent="0" algn="l" rtl="0">
              <a:lnSpc>
                <a:spcPct val="100000"/>
              </a:lnSpc>
              <a:spcBef>
                <a:spcPts val="0"/>
              </a:spcBef>
              <a:spcAft>
                <a:spcPts val="600"/>
              </a:spcAft>
              <a:buSzPts val="1400"/>
              <a:buNone/>
            </a:pPr>
            <a:r>
              <a:rPr lang="en-US" dirty="0"/>
              <a:t>A common mistake is enabling FIFO mode and then waiting on SPIINT behavior. Check which mode you configured before writing your interrupt service routine.</a:t>
            </a:r>
          </a:p>
          <a:p>
            <a:pPr marL="0" lvl="0" indent="0" algn="l" rtl="0">
              <a:lnSpc>
                <a:spcPct val="100000"/>
              </a:lnSpc>
              <a:spcBef>
                <a:spcPts val="0"/>
              </a:spcBef>
              <a:spcAft>
                <a:spcPts val="600"/>
              </a:spcAft>
              <a:buSzPts val="1400"/>
              <a:buNone/>
            </a:pPr>
            <a:r>
              <a:rPr lang="en-US" dirty="0"/>
              <a:t>Next, you look at each of the four SPI pins in turn, starting with SPICLK and how the baud rate is set.</a:t>
            </a:r>
          </a:p>
        </p:txBody>
      </p:sp>
      <p:sp>
        <p:nvSpPr>
          <p:cNvPr id="116" name="Google Shape;116;p29:notes">
            <a:extLst>
              <a:ext uri="{FF2B5EF4-FFF2-40B4-BE49-F238E27FC236}">
                <a16:creationId xmlns:a16="http://schemas.microsoft.com/office/drawing/2014/main" id="{CC6BD691-9E58-0580-C6A9-7399099E792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024122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DCD259E-766C-0618-FD59-6BF3218F62A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7EEADBE-E0EC-7510-717E-BA781CCCEB2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covers SPICLK, the clock pin. The text says the SPI module supports 125 different baud rates, set by the SPIBRR register. There are two formulas. For SPIBRR from 3 to 127, the SPI baud rate equals LSPCLK divided by the quantity SPIBRR plus 1, written SPI baud rate = LSPCLK / (SPIBRR + 1). For SPIBRR equal to 0, 1, or 2, the SPI baud rate equals LSPCLK divided by 4, written SPI baud rate = LSPCLK / 4. LSPCLK is the low-speed peripheral clock, which is 50 MHz on our board, the same as the ePWM. In master mode, the SPI generates the clock itself and outputs it on the SPICLK pin.</a:t>
            </a:r>
          </a:p>
          <a:p>
            <a:pPr marL="0" lvl="0" indent="0" algn="l" rtl="0">
              <a:lnSpc>
                <a:spcPct val="100000"/>
              </a:lnSpc>
              <a:spcBef>
                <a:spcPts val="0"/>
              </a:spcBef>
              <a:spcAft>
                <a:spcPts val="600"/>
              </a:spcAft>
              <a:buSzPts val="1400"/>
              <a:buNone/>
            </a:pPr>
            <a:r>
              <a:rPr lang="en-US" dirty="0"/>
              <a:t>This is the LSPCLK you saw coming out of the low-speed prescaler in the block diagram two slides ago. Now you see how the SPI divides it down to a bit clock. The count of 125 comes from SPIBRR values 3 through 127. Values 0 to 2 just repeat the divide-by-4 case.</a:t>
            </a:r>
          </a:p>
          <a:p>
            <a:pPr marL="0" lvl="0" indent="0" algn="l" rtl="0">
              <a:lnSpc>
                <a:spcPct val="100000"/>
              </a:lnSpc>
              <a:spcBef>
                <a:spcPts val="0"/>
              </a:spcBef>
              <a:spcAft>
                <a:spcPts val="600"/>
              </a:spcAft>
              <a:buSzPts val="1400"/>
              <a:buNone/>
            </a:pPr>
            <a:r>
              <a:rPr lang="en-US" dirty="0"/>
              <a:t>Here are the numbers. The fastest rate is 50 MHz / 4 = 12.5 MHz. The slowest is 50 MHz / 128, about 390.6 kHz. To get 1 MHz, you solve 50 MHz / (SPIBRR + 1) = 1 MHz, so SPIBRR = 49. A common mistake is forgetting the plus 1 and writing 50. Also check your peripheral's datasheet for its maximum SPI clock before you pick the fastest setting.</a:t>
            </a:r>
          </a:p>
          <a:p>
            <a:pPr marL="0" lvl="0" indent="0" algn="l" rtl="0">
              <a:lnSpc>
                <a:spcPct val="100000"/>
              </a:lnSpc>
              <a:spcBef>
                <a:spcPts val="0"/>
              </a:spcBef>
              <a:spcAft>
                <a:spcPts val="600"/>
              </a:spcAft>
              <a:buSzPts val="1400"/>
              <a:buNone/>
            </a:pPr>
            <a:r>
              <a:rPr lang="en-US" dirty="0"/>
              <a:t>Quick check: what SPIBRR gives 5 MHz? The answer is 9.</a:t>
            </a:r>
          </a:p>
          <a:p>
            <a:pPr marL="0" lvl="0" indent="0" algn="l" rtl="0">
              <a:lnSpc>
                <a:spcPct val="100000"/>
              </a:lnSpc>
              <a:spcBef>
                <a:spcPts val="0"/>
              </a:spcBef>
              <a:spcAft>
                <a:spcPts val="600"/>
              </a:spcAft>
              <a:buSzPts val="1400"/>
              <a:buNone/>
            </a:pPr>
            <a:r>
              <a:rPr lang="en-US" dirty="0"/>
              <a:t>In slave mode, the master drives SPICLK instead. Next, you look at the data lines, starting with SPISIMO.</a:t>
            </a:r>
          </a:p>
        </p:txBody>
      </p:sp>
      <p:sp>
        <p:nvSpPr>
          <p:cNvPr id="116" name="Google Shape;116;p29:notes">
            <a:extLst>
              <a:ext uri="{FF2B5EF4-FFF2-40B4-BE49-F238E27FC236}">
                <a16:creationId xmlns:a16="http://schemas.microsoft.com/office/drawing/2014/main" id="{FFDCEF93-CAA8-F422-1065-5EF872A3018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664490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338E008-FF89-0B47-1693-5F5BA8BEE12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541FB41-84F3-CA40-1200-E72F89AB492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"Serial Communication, SPI, SPISIMO (Master Output)," has three short statements and no figures. First, the SPISIMO pin is the primary transmission pin from the controller to the peripheral. Second, if the MCU, or microcontroller unit, is configured as the master, data is shifted out of its transmit buffer and onto this line. Third, if the MCU is configured as a slave, the same pin receives incoming data from the network's master.</a:t>
            </a:r>
          </a:p>
          <a:p>
            <a:pPr marL="0" lvl="0" indent="0" algn="l" rtl="0">
              <a:lnSpc>
                <a:spcPct val="100000"/>
              </a:lnSpc>
              <a:spcBef>
                <a:spcPts val="0"/>
              </a:spcBef>
              <a:spcAft>
                <a:spcPts val="600"/>
              </a:spcAft>
              <a:buSzPts val="1400"/>
              <a:buNone/>
            </a:pPr>
            <a:r>
              <a:rPr lang="en-US" dirty="0"/>
              <a:t>On the last slide you saw how the master generates SPICLK. Now we look at the data line that clock drives. Read the name as "Slave In, Master Out": SPI Slave In Master Out. Newer documents call the same signal PICO, Peripheral In Controller Out, which is why the slide uses both "controller" and "master."</a:t>
            </a:r>
          </a:p>
          <a:p>
            <a:pPr marL="0" lvl="0" indent="0" algn="l" rtl="0">
              <a:lnSpc>
                <a:spcPct val="100000"/>
              </a:lnSpc>
              <a:spcBef>
                <a:spcPts val="0"/>
              </a:spcBef>
              <a:spcAft>
                <a:spcPts val="600"/>
              </a:spcAft>
              <a:buSzPts val="1400"/>
              <a:buNone/>
            </a:pPr>
            <a:r>
              <a:rPr lang="en-US" dirty="0"/>
              <a:t>The pin's role depends on the mode, but its direction on the bus never changes. Data on this wire always flows from master to slave. On the F28379D, when the chip is master, you write a value to the SPI transmit buffer, SPITXBUF. On each SPICLK edge, one bit shifts out of the shift register onto SPISIMO, most significant bit first. If your character length is less than 16 bits, TI requires the data in SPITXBUF to be left-justified.</a:t>
            </a:r>
          </a:p>
          <a:p>
            <a:pPr marL="0" lvl="0" indent="0" algn="l" rtl="0">
              <a:lnSpc>
                <a:spcPct val="100000"/>
              </a:lnSpc>
              <a:spcBef>
                <a:spcPts val="0"/>
              </a:spcBef>
              <a:spcAft>
                <a:spcPts val="600"/>
              </a:spcAft>
              <a:buSzPts val="1400"/>
              <a:buNone/>
            </a:pPr>
            <a:r>
              <a:rPr lang="en-US" dirty="0"/>
              <a:t>A common wiring mistake comes from UART habits, where you cross TX to RX. In SPI you do not cross the data lines. Connect the master's SIMO to the slave's SIMO.</a:t>
            </a:r>
          </a:p>
          <a:p>
            <a:pPr marL="0" lvl="0" indent="0" algn="l" rtl="0">
              <a:lnSpc>
                <a:spcPct val="100000"/>
              </a:lnSpc>
              <a:spcBef>
                <a:spcPts val="0"/>
              </a:spcBef>
              <a:spcAft>
                <a:spcPts val="600"/>
              </a:spcAft>
              <a:buSzPts val="1400"/>
              <a:buNone/>
            </a:pPr>
            <a:r>
              <a:rPr lang="en-US" dirty="0"/>
              <a:t>Quick check: if the Red Board is a slave, is its SPISIMO an input or an output? It is an input. Next, the return path: SPISOMI.</a:t>
            </a:r>
          </a:p>
        </p:txBody>
      </p:sp>
      <p:sp>
        <p:nvSpPr>
          <p:cNvPr id="116" name="Google Shape;116;p29:notes">
            <a:extLst>
              <a:ext uri="{FF2B5EF4-FFF2-40B4-BE49-F238E27FC236}">
                <a16:creationId xmlns:a16="http://schemas.microsoft.com/office/drawing/2014/main" id="{8A45178F-08C2-B5F5-58EB-EF4A74D1F7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39804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A4B1404-C649-11DA-7412-51D8FDAC619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BF7C5FA-919E-7EE6-B95E-E80BFEAA166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covers the third SPI pin, SPISOMI, short for Slave Out, Master In. The slide has three statements. First, SPISOMI is the primary receive pin, carrying data from the peripheral back to the MCU. Second, while the SPI transmits, it can receive characters at the same time and places them in the receive buffer register, SPIRXBUF. Third, the incoming data is stored right-justified in that register.</a:t>
            </a:r>
          </a:p>
          <a:p>
            <a:pPr marL="0" lvl="0" indent="0" algn="l" rtl="0">
              <a:lnSpc>
                <a:spcPct val="100000"/>
              </a:lnSpc>
              <a:spcBef>
                <a:spcPts val="0"/>
              </a:spcBef>
              <a:spcAft>
                <a:spcPts val="600"/>
              </a:spcAft>
              <a:buSzPts val="1400"/>
              <a:buNone/>
            </a:pPr>
            <a:r>
              <a:rPr lang="en-US" dirty="0"/>
              <a:t>On the previous slide, SPISIMO carried data out of the master. SPISOMI is its mirror image. When the F28379D is the master, this pin is an input. If the MCU were configured as a slave, the roles flip and it drives this line toward the master.</a:t>
            </a:r>
          </a:p>
          <a:p>
            <a:pPr marL="0" lvl="0" indent="0" algn="l" rtl="0">
              <a:lnSpc>
                <a:spcPct val="100000"/>
              </a:lnSpc>
              <a:spcBef>
                <a:spcPts val="0"/>
              </a:spcBef>
              <a:spcAft>
                <a:spcPts val="600"/>
              </a:spcAft>
              <a:buSzPts val="1400"/>
              <a:buNone/>
            </a:pPr>
            <a:r>
              <a:rPr lang="en-US" dirty="0"/>
              <a:t>The key idea is that SPI is full-duplex. On every SPICLK edge, one bit leaves on SIMO and one bit arrives on SOMI. Sending a 16-bit word therefore always brings a 16-bit word back. This has a practical consequence: to read from a sensor, you must transmit something, even dummy bytes, because the master's transmission is what generates the clock.</a:t>
            </a:r>
          </a:p>
          <a:p>
            <a:pPr marL="0" lvl="0" indent="0" algn="l" rtl="0">
              <a:lnSpc>
                <a:spcPct val="100000"/>
              </a:lnSpc>
              <a:spcBef>
                <a:spcPts val="0"/>
              </a:spcBef>
              <a:spcAft>
                <a:spcPts val="600"/>
              </a:spcAft>
              <a:buSzPts val="1400"/>
              <a:buNone/>
            </a:pPr>
            <a:r>
              <a:rPr lang="en-US" dirty="0"/>
              <a:t>Right-justified means the received bits occupy the least significant end of SPIRXBUF. If you configure an 8-bit character length, the byte appears in bits 7 to 0. Contrast this with transmit data, which on this device you write left-justified into SPIDAT or SPITXBUF. Mixing up the two justifications is a common bug.</a:t>
            </a:r>
          </a:p>
          <a:p>
            <a:pPr marL="0" lvl="0" indent="0" algn="l" rtl="0">
              <a:lnSpc>
                <a:spcPct val="100000"/>
              </a:lnSpc>
              <a:spcBef>
                <a:spcPts val="0"/>
              </a:spcBef>
              <a:spcAft>
                <a:spcPts val="600"/>
              </a:spcAft>
              <a:buSzPts val="1400"/>
              <a:buNone/>
            </a:pPr>
            <a:r>
              <a:rPr lang="en-US" dirty="0"/>
              <a:t>Another common mistake is forgetting to read SPIRXBUF after each transfer. Unread data causes an overrun, and the FIFO fills with stale values. When you talk to SPI devices on the robot in lab, every write you make has a matching read.</a:t>
            </a:r>
          </a:p>
          <a:p>
            <a:pPr marL="0" lvl="0" indent="0" algn="l" rtl="0">
              <a:lnSpc>
                <a:spcPct val="100000"/>
              </a:lnSpc>
              <a:spcBef>
                <a:spcPts val="0"/>
              </a:spcBef>
              <a:spcAft>
                <a:spcPts val="600"/>
              </a:spcAft>
              <a:buSzPts val="1400"/>
              <a:buNone/>
            </a:pPr>
            <a:r>
              <a:rPr lang="en-US" dirty="0"/>
              <a:t>Next, you see how SPISTE, the select line, keeps a slave synchronized with the master.</a:t>
            </a:r>
          </a:p>
        </p:txBody>
      </p:sp>
      <p:sp>
        <p:nvSpPr>
          <p:cNvPr id="116" name="Google Shape;116;p29:notes">
            <a:extLst>
              <a:ext uri="{FF2B5EF4-FFF2-40B4-BE49-F238E27FC236}">
                <a16:creationId xmlns:a16="http://schemas.microsoft.com/office/drawing/2014/main" id="{7E4BFC9E-C88F-6315-325F-BDA7AB4AC8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34755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B0C09FE-791D-491B-8E80-8764EDC1809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983BE00-14C9-243E-5332-D08D43AB23E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covers the fourth SPI signal, SPISTE, the Slave Transmit Enable pin. You may know it by its generic names, chip select or slave select. The slide is text only and makes three points. First, SPISTE lets a slave-mode SPI gate, or block, clock and data pulses. Second, it keeps the slave from receiving data, so the slave cannot lose synchronization with the master. Third, toggling the SPISWRESET bit resets the internal bit counter so a desynchronized slave can recover.</a:t>
            </a:r>
          </a:p>
          <a:p>
            <a:pPr marL="0" lvl="0" indent="0" algn="l" rtl="0">
              <a:lnSpc>
                <a:spcPct val="100000"/>
              </a:lnSpc>
              <a:spcBef>
                <a:spcPts val="0"/>
              </a:spcBef>
              <a:spcAft>
                <a:spcPts val="600"/>
              </a:spcAft>
              <a:buSzPts val="1400"/>
              <a:buNone/>
            </a:pPr>
            <a:r>
              <a:rPr lang="en-US" dirty="0"/>
              <a:t>SPISTE is active low. When the master pulls it low, the slave is selected and shifts in bits on each SPICLK edge. When the line is high, the slave ignores any clock or data on the shared bus. Read "active" on the slide as "the gate is in effect." TI's reference manual words it more precisely: an inactive, or high, SPISTE keeps the slave from receiving. This gating matters because the slave counts clock edges to decide when a full character has arrived. If noise produces a stray clock pulse, the count shifts by one bit, and every later word comes out misaligned. Recall the capacitive and inductive interference from earlier in the lecture.</a:t>
            </a:r>
          </a:p>
          <a:p>
            <a:pPr marL="0" lvl="0" indent="0" algn="l" rtl="0">
              <a:lnSpc>
                <a:spcPct val="100000"/>
              </a:lnSpc>
              <a:spcBef>
                <a:spcPts val="0"/>
              </a:spcBef>
              <a:spcAft>
                <a:spcPts val="600"/>
              </a:spcAft>
              <a:buSzPts val="1400"/>
              <a:buNone/>
            </a:pPr>
            <a:r>
              <a:rPr lang="en-US" dirty="0"/>
              <a:t>If misalignment does happen, toggling SPISWRESET, the SPI software reset bit, clears the bit counter. The slave then starts fresh at the next word boundary.</a:t>
            </a:r>
          </a:p>
          <a:p>
            <a:pPr marL="0" lvl="0" indent="0" algn="l" rtl="0">
              <a:lnSpc>
                <a:spcPct val="100000"/>
              </a:lnSpc>
              <a:spcBef>
                <a:spcPts val="0"/>
              </a:spcBef>
              <a:spcAft>
                <a:spcPts val="600"/>
              </a:spcAft>
              <a:buSzPts val="1400"/>
              <a:buNone/>
            </a:pPr>
            <a:r>
              <a:rPr lang="en-US" dirty="0"/>
              <a:t>On the Red Board, the F28379D is usually the master, so you drive the select line low to choose a chip and high when the transfer ends. A common mistake is releasing the select line before the last bit has finished shifting.</a:t>
            </a:r>
          </a:p>
          <a:p>
            <a:pPr marL="0" lvl="0" indent="0" algn="l" rtl="0">
              <a:lnSpc>
                <a:spcPct val="100000"/>
              </a:lnSpc>
              <a:spcBef>
                <a:spcPts val="0"/>
              </a:spcBef>
              <a:spcAft>
                <a:spcPts val="600"/>
              </a:spcAft>
              <a:buSzPts val="1400"/>
              <a:buNone/>
            </a:pPr>
            <a:r>
              <a:rPr lang="en-US" dirty="0"/>
              <a:t>Next, you will see how the master and slave shift registers form a loop during a transfer.</a:t>
            </a:r>
          </a:p>
        </p:txBody>
      </p:sp>
      <p:sp>
        <p:nvSpPr>
          <p:cNvPr id="116" name="Google Shape;116;p29:notes">
            <a:extLst>
              <a:ext uri="{FF2B5EF4-FFF2-40B4-BE49-F238E27FC236}">
                <a16:creationId xmlns:a16="http://schemas.microsoft.com/office/drawing/2014/main" id="{93558CBD-9FA7-D649-4B03-2BBD420A48A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76194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ACA83C1-C5EB-0E3D-3E4B-19CCD8C4A0C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BBA419A-6F23-E879-33AF-D060D903E6F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an animated-style diagram of how SPI actually moves data, adapted from the Wikipedia article on the Serial Peripheral Interface (https://en.wikipedia.org/wiki/Serial_Peripheral_Interface). On the left is the Master and on the right is the Slave. Each has an empty 8-bit shift register drawn as a row of eight boxes, and below it a memory array. The master's memory holds bytes labeled M0 through M7, and the slave's holds S0 through S15. Three arrows connect the two devices. SCK, the clock, in purple, and MOSI, master out slave in, in green, both run from master to slave, with MOSI entering the left end of the slave's register. MISO, master in slave out, in blue, runs from the rightmost bit of the slave's register back to the leftmost bit of the master's register.</a:t>
            </a:r>
          </a:p>
          <a:p>
            <a:pPr marL="0" lvl="0" indent="0" algn="l" rtl="0">
              <a:lnSpc>
                <a:spcPct val="100000"/>
              </a:lnSpc>
              <a:spcBef>
                <a:spcPts val="0"/>
              </a:spcBef>
              <a:spcAft>
                <a:spcPts val="600"/>
              </a:spcAft>
              <a:buSzPts val="1400"/>
              <a:buNone/>
            </a:pPr>
            <a:r>
              <a:rPr lang="en-US" dirty="0"/>
              <a:t>The key idea is that the two 8-bit registers form one 16-bit ring. On each clock pulse the master shifts one bit out on MOSI while the slave shifts one bit out on MISO. After eight clocks the master's byte is in the slave and the slave's byte is in the master. SPI never just sends or just receives; every transfer is an exchange. On the F28379D, this is why writing SPITXBUF also fills SPIRXBUF, the receive buffer from slide 33, with whatever the slave shifted back.</a:t>
            </a:r>
          </a:p>
          <a:p>
            <a:pPr marL="0" lvl="0" indent="0" algn="l" rtl="0">
              <a:lnSpc>
                <a:spcPct val="100000"/>
              </a:lnSpc>
              <a:spcBef>
                <a:spcPts val="0"/>
              </a:spcBef>
              <a:spcAft>
                <a:spcPts val="600"/>
              </a:spcAft>
              <a:buSzPts val="1400"/>
              <a:buNone/>
            </a:pPr>
            <a:r>
              <a:rPr lang="en-US" dirty="0"/>
              <a:t>A common mistake follows from this. To read a sensor you must transmit something, often a dummy byte, just to generate the clocks. Whenever you transmit, you also need to read SPIRXBUF to clear it, even if you ignore the value.</a:t>
            </a:r>
          </a:p>
          <a:p>
            <a:pPr marL="0" lvl="0" indent="0" algn="l" rtl="0">
              <a:lnSpc>
                <a:spcPct val="100000"/>
              </a:lnSpc>
              <a:spcBef>
                <a:spcPts val="0"/>
              </a:spcBef>
              <a:spcAft>
                <a:spcPts val="600"/>
              </a:spcAft>
              <a:buSzPts val="1400"/>
              <a:buNone/>
            </a:pPr>
            <a:r>
              <a:rPr lang="en-US" dirty="0"/>
              <a:t>Keep this loop in mind for the next slide. In 3-wire mode the transmit and receive paths are joined, so the SPI module receives its own transmitted data.</a:t>
            </a:r>
          </a:p>
        </p:txBody>
      </p:sp>
      <p:sp>
        <p:nvSpPr>
          <p:cNvPr id="116" name="Google Shape;116;p29:notes">
            <a:extLst>
              <a:ext uri="{FF2B5EF4-FFF2-40B4-BE49-F238E27FC236}">
                <a16:creationId xmlns:a16="http://schemas.microsoft.com/office/drawing/2014/main" id="{7673CD66-11DD-DDF1-ED61-E28B675D31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747648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DDBD0C6-DB01-83AE-FC17-7D483F04782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93CF3F9-A873-7927-B9EC-DB76405B29E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with no figures. It introduces 3-wire SPI mode on the F28379D: setting the TRIWIRE bit to 1 lets the SPI run over three pins instead of the usual four.</a:t>
            </a:r>
          </a:p>
          <a:p>
            <a:pPr marL="0" lvl="0" indent="0" algn="l" rtl="0">
              <a:lnSpc>
                <a:spcPct val="100000"/>
              </a:lnSpc>
              <a:spcBef>
                <a:spcPts val="0"/>
              </a:spcBef>
              <a:spcAft>
                <a:spcPts val="600"/>
              </a:spcAft>
              <a:buSzPts val="1400"/>
              <a:buNone/>
            </a:pPr>
            <a:r>
              <a:rPr lang="en-US" dirty="0"/>
              <a:t>On the previous slide you saw that standard SPI is a loop. The master's and slave's shift registers are joined by two separate data lines, SPISIMO and SPISOMI, so every clock pulse moves one bit each way at the same time. That is full-duplex communication. 3-wire mode merges those two data lines into a single shared data line. You keep SPICLK, one data line and SPISTE, the chip select. The cost is that data can only travel in one direction at a time, so the link becomes half-duplex.</a:t>
            </a:r>
          </a:p>
          <a:p>
            <a:pPr marL="0" lvl="0" indent="0" algn="l" rtl="0">
              <a:lnSpc>
                <a:spcPct val="100000"/>
              </a:lnSpc>
              <a:spcBef>
                <a:spcPts val="0"/>
              </a:spcBef>
              <a:spcAft>
                <a:spcPts val="600"/>
              </a:spcAft>
              <a:buSzPts val="1400"/>
              <a:buNone/>
            </a:pPr>
            <a:r>
              <a:rPr lang="en-US" dirty="0"/>
              <a:t>The slide warns about a side effect. In 3-wire mode the transmit and receive paths inside the SPI module are tied together, so whatever the module transmits it also receives. After you send a byte or word, the receive buffer holds your own echoed data. Your software must do a dummy read, meaning it reads the SPI receive register and discards the value, to clear it. If you skip this, the next "real" read returns stale data or the buffer overruns. This is a common mistake.</a:t>
            </a:r>
          </a:p>
          <a:p>
            <a:pPr marL="0" lvl="0" indent="0" algn="l" rtl="0">
              <a:lnSpc>
                <a:spcPct val="100000"/>
              </a:lnSpc>
              <a:spcBef>
                <a:spcPts val="0"/>
              </a:spcBef>
              <a:spcAft>
                <a:spcPts val="600"/>
              </a:spcAft>
              <a:buSzPts val="1400"/>
              <a:buNone/>
            </a:pPr>
            <a:r>
              <a:rPr lang="en-US" dirty="0"/>
              <a:t>The benefit is a lower pin count. Many sensors and displays work by "send a command, then read the reply," and they never need to send and receive simultaneously. For those devices, 3-wire mode saves a pin and some wiring without losing functionality.</a:t>
            </a:r>
          </a:p>
          <a:p>
            <a:pPr marL="0" lvl="0" indent="0" algn="l" rtl="0">
              <a:lnSpc>
                <a:spcPct val="100000"/>
              </a:lnSpc>
              <a:spcBef>
                <a:spcPts val="0"/>
              </a:spcBef>
              <a:spcAft>
                <a:spcPts val="600"/>
              </a:spcAft>
              <a:buSzPts val="1400"/>
              <a:buNone/>
            </a:pPr>
            <a:r>
              <a:rPr lang="en-US" dirty="0"/>
              <a:t>Quick check: why would a device that streams data back while you send new commands be a poor fit for 3-wire mode?</a:t>
            </a:r>
          </a:p>
          <a:p>
            <a:pPr marL="0" lvl="0" indent="0" algn="l" rtl="0">
              <a:lnSpc>
                <a:spcPct val="100000"/>
              </a:lnSpc>
              <a:spcBef>
                <a:spcPts val="0"/>
              </a:spcBef>
              <a:spcAft>
                <a:spcPts val="600"/>
              </a:spcAft>
              <a:buSzPts val="1400"/>
              <a:buNone/>
            </a:pPr>
            <a:r>
              <a:rPr lang="en-US" dirty="0"/>
              <a:t>Next, you look at how the master and slave agree on clock timing through CLKPOLARITY and CLK_PHASE.</a:t>
            </a:r>
          </a:p>
        </p:txBody>
      </p:sp>
      <p:sp>
        <p:nvSpPr>
          <p:cNvPr id="116" name="Google Shape;116;p29:notes">
            <a:extLst>
              <a:ext uri="{FF2B5EF4-FFF2-40B4-BE49-F238E27FC236}">
                <a16:creationId xmlns:a16="http://schemas.microsoft.com/office/drawing/2014/main" id="{E83E23AE-91DD-CB3E-F421-6196D239ACE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462795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ED6C1BF-95E1-5523-2293-A87711142B4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9E67259-27F6-F786-03E6-065EE996B39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It states that for SPI to work, the master and slave must agree on exactly how the clock waveform maps to the data. Two bits on the F28379D's SPI module set this: CLKPOLARITY, the clock polarity select bit, and CLK_PHASE, the clock phase select bit. Together they define four clocking schemes on the SPICLK pin. The slide closes with a question: if each bit can only be 0 or 1, how many modes exist? The answer, shown at the bottom, is 4 modes, since 2 times 2 = 4.</a:t>
            </a:r>
          </a:p>
          <a:p>
            <a:pPr marL="0" lvl="0" indent="0" algn="l" rtl="0">
              <a:lnSpc>
                <a:spcPct val="100000"/>
              </a:lnSpc>
              <a:spcBef>
                <a:spcPts val="0"/>
              </a:spcBef>
              <a:spcAft>
                <a:spcPts val="600"/>
              </a:spcAft>
              <a:buSzPts val="1400"/>
              <a:buNone/>
            </a:pPr>
            <a:r>
              <a:rPr lang="en-US" dirty="0"/>
              <a:t>Recall from slide 35 that each clock pulse shifts one bit out of the master's register and one bit into it. Every bit therefore has to be placed on the line at one moment and sampled at another. CLKPOLARITY chooses whether the active edge is rising or falling, which also sets whether the clock idles low or high. CLK_PHASE adds a half-cycle delay, so data is set up half a clock period earlier relative to that edge.</a:t>
            </a:r>
          </a:p>
          <a:p>
            <a:pPr marL="0" lvl="0" indent="0" algn="l" rtl="0">
              <a:lnSpc>
                <a:spcPct val="100000"/>
              </a:lnSpc>
              <a:spcBef>
                <a:spcPts val="0"/>
              </a:spcBef>
              <a:spcAft>
                <a:spcPts val="600"/>
              </a:spcAft>
              <a:buSzPts val="1400"/>
              <a:buNone/>
            </a:pPr>
            <a:r>
              <a:rPr lang="en-US" dirty="0"/>
              <a:t>The slide's phrase "your dataset" means your sensor's datasheet. Its timing diagram tells you which edge the device drives data on and which edge it samples on, and your settings must match it.</a:t>
            </a:r>
          </a:p>
          <a:p>
            <a:pPr marL="0" lvl="0" indent="0" algn="l" rtl="0">
              <a:lnSpc>
                <a:spcPct val="100000"/>
              </a:lnSpc>
              <a:spcBef>
                <a:spcPts val="0"/>
              </a:spcBef>
              <a:spcAft>
                <a:spcPts val="600"/>
              </a:spcAft>
              <a:buSzPts val="1400"/>
              <a:buNone/>
            </a:pPr>
            <a:r>
              <a:rPr lang="en-US" dirty="0"/>
              <a:t>A common mistake is choosing the wrong mode. The bus still clocks, but every byte comes back shifted by one bit or as garbage, so check the timing diagram first when you bring up the robot's SPI sensors. Also note that other vendors label modes 0 to 3 using CPOL and CPHA, and those numbers do not always line up with TI's bit settings. Match the waveforms, not the mode number.</a:t>
            </a:r>
          </a:p>
          <a:p>
            <a:pPr marL="0" lvl="0" indent="0" algn="l" rtl="0">
              <a:lnSpc>
                <a:spcPct val="100000"/>
              </a:lnSpc>
              <a:spcBef>
                <a:spcPts val="0"/>
              </a:spcBef>
              <a:spcAft>
                <a:spcPts val="600"/>
              </a:spcAft>
              <a:buSzPts val="1400"/>
              <a:buNone/>
            </a:pPr>
            <a:r>
              <a:rPr lang="en-US" dirty="0"/>
              <a:t>The next slide walks through each of the four modes, and slide 39 shows their timing diagram.</a:t>
            </a:r>
          </a:p>
        </p:txBody>
      </p:sp>
      <p:sp>
        <p:nvSpPr>
          <p:cNvPr id="116" name="Google Shape;116;p29:notes">
            <a:extLst>
              <a:ext uri="{FF2B5EF4-FFF2-40B4-BE49-F238E27FC236}">
                <a16:creationId xmlns:a16="http://schemas.microsoft.com/office/drawing/2014/main" id="{068D1632-F159-E5D6-9002-D456EEF496E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374058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E6A2B2-A172-A77A-F7E2-DAADE14FBB2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6BB7049-C01F-DECB-B8E5-BACD015FEE6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lists the four SPI clocking schemes on the TMS320F28379D, one for each combination of the CLKPOLARITY and CLK_PHASE bits. Each scheme has a name, its two bit settings, and two lines: the clock edge on which the SPI transmits and the edge on which it receives.</a:t>
            </a:r>
          </a:p>
          <a:p>
            <a:pPr marL="0" lvl="0" indent="0" algn="l" rtl="0">
              <a:lnSpc>
                <a:spcPct val="100000"/>
              </a:lnSpc>
              <a:spcBef>
                <a:spcPts val="0"/>
              </a:spcBef>
              <a:spcAft>
                <a:spcPts val="600"/>
              </a:spcAft>
              <a:buSzPts val="1400"/>
              <a:buNone/>
            </a:pPr>
            <a:r>
              <a:rPr lang="en-US" dirty="0"/>
              <a:t>Rising edge without delay, CLKPOLARITY = 0 and CLK_PHASE = 0: transmit on the rising edge of SPICLK, receive on the falling edge.</a:t>
            </a:r>
          </a:p>
          <a:p>
            <a:pPr marL="0" lvl="0" indent="0" algn="l" rtl="0">
              <a:lnSpc>
                <a:spcPct val="100000"/>
              </a:lnSpc>
              <a:spcBef>
                <a:spcPts val="0"/>
              </a:spcBef>
              <a:spcAft>
                <a:spcPts val="600"/>
              </a:spcAft>
              <a:buSzPts val="1400"/>
              <a:buNone/>
            </a:pPr>
            <a:r>
              <a:rPr lang="en-US" dirty="0"/>
              <a:t>Rising edge with delay, CLKPOLARITY = 0 and CLK_PHASE = 1: transmit one half-cycle ahead of the rising edge, receive on the rising edge.</a:t>
            </a:r>
          </a:p>
          <a:p>
            <a:pPr marL="0" lvl="0" indent="0" algn="l" rtl="0">
              <a:lnSpc>
                <a:spcPct val="100000"/>
              </a:lnSpc>
              <a:spcBef>
                <a:spcPts val="0"/>
              </a:spcBef>
              <a:spcAft>
                <a:spcPts val="600"/>
              </a:spcAft>
              <a:buSzPts val="1400"/>
              <a:buNone/>
            </a:pPr>
            <a:r>
              <a:rPr lang="en-US" dirty="0"/>
              <a:t>Falling edge without delay, CLKPOLARITY = 1 and CLK_PHASE = 0: transmit on the falling edge, receive on the rising edge.</a:t>
            </a:r>
          </a:p>
          <a:p>
            <a:pPr marL="0" lvl="0" indent="0" algn="l" rtl="0">
              <a:lnSpc>
                <a:spcPct val="100000"/>
              </a:lnSpc>
              <a:spcBef>
                <a:spcPts val="0"/>
              </a:spcBef>
              <a:spcAft>
                <a:spcPts val="600"/>
              </a:spcAft>
              <a:buSzPts val="1400"/>
              <a:buNone/>
            </a:pPr>
            <a:r>
              <a:rPr lang="en-US" dirty="0"/>
              <a:t>Falling edge with delay, CLKPOLARITY = 1 and CLK_PHASE = 1: transmit one half-cycle ahead of the falling edge, receive on the falling edge.</a:t>
            </a:r>
          </a:p>
          <a:p>
            <a:pPr marL="0" lvl="0" indent="0" algn="l" rtl="0">
              <a:lnSpc>
                <a:spcPct val="100000"/>
              </a:lnSpc>
              <a:spcBef>
                <a:spcPts val="0"/>
              </a:spcBef>
              <a:spcAft>
                <a:spcPts val="600"/>
              </a:spcAft>
              <a:buSzPts val="1400"/>
              <a:buNone/>
            </a:pPr>
            <a:r>
              <a:rPr lang="en-US" dirty="0"/>
              <a:t>These are the four modes from the question on the last slide. There is a pattern that saves you memorizing the table. CLKPOLARITY sets the idle level of the clock: 0 idles low and 1 idles high. CLK_PHASE decides which edge gets the data. Without delay, data goes out on the named edge and is read on the opposite edge. With delay, data goes out half a cycle early, so it is stable when it is read on the named edge. In every mode, one edge changes the data and the other edge samples it, which gives the line time to settle before it is read.</a:t>
            </a:r>
          </a:p>
          <a:p>
            <a:pPr marL="0" lvl="0" indent="0" algn="l" rtl="0">
              <a:lnSpc>
                <a:spcPct val="100000"/>
              </a:lnSpc>
              <a:spcBef>
                <a:spcPts val="0"/>
              </a:spcBef>
              <a:spcAft>
                <a:spcPts val="600"/>
              </a:spcAft>
              <a:buSzPts val="1400"/>
              <a:buNone/>
            </a:pPr>
            <a:r>
              <a:rPr lang="en-US" dirty="0"/>
              <a:t>A common mistake is to assume that TI's bit names match the CPOL and CPHA "SPI mode 0 to 3" numbering in sensor datasheets. They do not map one to one. For example, a standard mode 0 device, which idles low and samples on the rising edge, matches TI's "rising edge with delay." Choose the setting by matching the datasheet's timing diagram, not its mode number.</a:t>
            </a:r>
          </a:p>
          <a:p>
            <a:pPr marL="0" lvl="0" indent="0" algn="l" rtl="0">
              <a:lnSpc>
                <a:spcPct val="100000"/>
              </a:lnSpc>
              <a:spcBef>
                <a:spcPts val="0"/>
              </a:spcBef>
              <a:spcAft>
                <a:spcPts val="600"/>
              </a:spcAft>
              <a:buSzPts val="1400"/>
              <a:buNone/>
            </a:pPr>
            <a:r>
              <a:rPr lang="en-US" dirty="0"/>
              <a:t>The next slide shows all four schemes as timing diagrams.</a:t>
            </a:r>
          </a:p>
        </p:txBody>
      </p:sp>
      <p:sp>
        <p:nvSpPr>
          <p:cNvPr id="116" name="Google Shape;116;p29:notes">
            <a:extLst>
              <a:ext uri="{FF2B5EF4-FFF2-40B4-BE49-F238E27FC236}">
                <a16:creationId xmlns:a16="http://schemas.microsoft.com/office/drawing/2014/main" id="{1267EE29-D779-B4BC-D825-9EF12DACC1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313027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607BC8B-0C1E-EE84-6829-3C6DED334AE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DC2D3CB-8011-65E0-3143-933CED90E49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puts the four clocking schemes from the previous slide side by side. On the left, a table lists the four combinations of Polarity and Phase: 0 and 0, 0 and 1, 1 and 0, and 1 and 1. On the right is TI's Figure 18-7, "SPICLK Signal Options," a timing diagram of one 8-bit transfer with clock cycles numbered 1 through 8 across the top. Dashed vertical lines mark the cycle boundaries.</a:t>
            </a:r>
          </a:p>
          <a:p>
            <a:pPr marL="0" lvl="0" indent="0" algn="l" rtl="0">
              <a:lnSpc>
                <a:spcPct val="100000"/>
              </a:lnSpc>
              <a:spcBef>
                <a:spcPts val="0"/>
              </a:spcBef>
              <a:spcAft>
                <a:spcPts val="600"/>
              </a:spcAft>
              <a:buSzPts val="1400"/>
              <a:buNone/>
            </a:pPr>
            <a:r>
              <a:rPr lang="en-US" dirty="0"/>
              <a:t>The first four traces are the SPICLK options, matching the table rows. "Rising edge without delay" idles low and rises at the start of each cycle. "Rising edge with delay" also idles low but rises in the middle of each cycle. "Falling edge without delay" idles high and falls at the start of each cycle. "Falling edge with delay" idles high and falls mid-cycle.</a:t>
            </a:r>
          </a:p>
          <a:p>
            <a:pPr marL="0" lvl="0" indent="0" algn="l" rtl="0">
              <a:lnSpc>
                <a:spcPct val="100000"/>
              </a:lnSpc>
              <a:spcBef>
                <a:spcPts val="0"/>
              </a:spcBef>
              <a:spcAft>
                <a:spcPts val="600"/>
              </a:spcAft>
              <a:buSzPts val="1400"/>
              <a:buNone/>
            </a:pPr>
            <a:r>
              <a:rPr lang="en-US" dirty="0"/>
              <a:t>Below the clocks, the SPISIMO/SPISOMI data line changes only at the cycle boundaries. It sends the MSB, the most significant bit, in cycle 1 and the LSB, the least significant bit, in cycle 8. Before cycle 1 the line still holds the previous data bit, as the note at the bottom says. The active-low SPISTE line into the slave drops low before the first cycle and stays low for the whole byte. The receive latch points sit at the middle of every cycle.</a:t>
            </a:r>
          </a:p>
          <a:p>
            <a:pPr marL="0" lvl="0" indent="0" algn="l" rtl="0">
              <a:lnSpc>
                <a:spcPct val="100000"/>
              </a:lnSpc>
              <a:spcBef>
                <a:spcPts val="0"/>
              </a:spcBef>
              <a:spcAft>
                <a:spcPts val="600"/>
              </a:spcAft>
              <a:buSzPts val="1400"/>
              <a:buNone/>
            </a:pPr>
            <a:r>
              <a:rPr lang="en-US" dirty="0"/>
              <a:t>The key idea is that the data timing is the same in all four modes. Bits change at the boundaries and are sampled mid-cycle. Polarity and phase only decide which clock edge lines up with those moments. Sampling in the middle gives each bit half a cycle to settle on the wire.</a:t>
            </a:r>
          </a:p>
          <a:p>
            <a:pPr marL="0" lvl="0" indent="0" algn="l" rtl="0">
              <a:lnSpc>
                <a:spcPct val="100000"/>
              </a:lnSpc>
              <a:spcBef>
                <a:spcPts val="0"/>
              </a:spcBef>
              <a:spcAft>
                <a:spcPts val="600"/>
              </a:spcAft>
              <a:buSzPts val="1400"/>
              <a:buNone/>
            </a:pPr>
            <a:r>
              <a:rPr lang="en-US" dirty="0"/>
              <a:t>A common mistake is trusting mode numbers alone. Sensor datasheets may label CPOL and CPHA differently from TI's CLKPOLARITY and CLK_PHASE. Compare the timing diagrams directly.</a:t>
            </a:r>
          </a:p>
          <a:p>
            <a:pPr marL="0" lvl="0" indent="0" algn="l" rtl="0">
              <a:lnSpc>
                <a:spcPct val="100000"/>
              </a:lnSpc>
              <a:spcBef>
                <a:spcPts val="0"/>
              </a:spcBef>
              <a:spcAft>
                <a:spcPts val="600"/>
              </a:spcAft>
              <a:buSzPts val="1400"/>
              <a:buNone/>
            </a:pPr>
            <a:r>
              <a:rPr lang="en-US" dirty="0"/>
              <a:t>Next, you see the SPI registers that implement this.</a:t>
            </a:r>
          </a:p>
        </p:txBody>
      </p:sp>
      <p:sp>
        <p:nvSpPr>
          <p:cNvPr id="116" name="Google Shape;116;p29:notes">
            <a:extLst>
              <a:ext uri="{FF2B5EF4-FFF2-40B4-BE49-F238E27FC236}">
                <a16:creationId xmlns:a16="http://schemas.microsoft.com/office/drawing/2014/main" id="{9AD7B16D-3D7C-FB11-ADC3-3D31200867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800914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9C29792-4A77-46FC-4E2A-32C30E2149B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DD594CE-A425-C2F2-1A05-B0A3C19645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TI's Figure 18-5, "SPI Module Master Configuration," with red arrows and the question "What is this registry?" (the correct term is register). At the top, a dashed box labeled SPIFFENA holds two 16-level FIFOs, RX FIFO_0 to RX FIFO_15 and TX FIFO_0 to TX FIFO_15. Below them sit SPIRXBUF and SPITXBUF, and below those the SPIDAT shift register, all joined by 16-bit paths. On the right, SPIDAT shifts out on SPISIMO when TALK is enabled. Bits come in on SPISOMI, or on SPISIMO in three-wire mode, chosen by a TRIWIRE multiplexer. At the bottom, a State Control block clocked by LSPCLK holds CLKPOLARITY, CLK_PHASE, SPICHAR and SPIBRR, and drives SPICLK and the active-low SPISTE.</a:t>
            </a:r>
          </a:p>
          <a:p>
            <a:pPr marL="0" lvl="0" indent="0" algn="l" rtl="0">
              <a:lnSpc>
                <a:spcPct val="100000"/>
              </a:lnSpc>
              <a:spcBef>
                <a:spcPts val="0"/>
              </a:spcBef>
              <a:spcAft>
                <a:spcPts val="600"/>
              </a:spcAft>
              <a:buSzPts val="1400"/>
              <a:buNone/>
            </a:pPr>
            <a:r>
              <a:rPr lang="en-US" dirty="0"/>
              <a:t>Here is what each arrowed register does. SPITXBUF holds the next word to send. SPIDAT is the shift register that moves bits out and in on each clock edge. When a transfer finishes, the received word is copied into SPIRXBUF. With SPIFFENA set, the 16-deep FIFOs let you queue several words and read them back later instead of handling one word at a time.</a:t>
            </a:r>
          </a:p>
          <a:p>
            <a:pPr marL="0" lvl="0" indent="0" algn="l" rtl="0">
              <a:lnSpc>
                <a:spcPct val="100000"/>
              </a:lnSpc>
              <a:spcBef>
                <a:spcPts val="0"/>
              </a:spcBef>
              <a:spcAft>
                <a:spcPts val="600"/>
              </a:spcAft>
              <a:buSzPts val="1400"/>
              <a:buNone/>
            </a:pPr>
            <a:r>
              <a:rPr lang="en-US" dirty="0"/>
              <a:t>SPICHAR sets the word length, from 1 to 16 bits, as SPICHAR + 1. SPIBRR sets the bit rate: SPI baud = LSPCLK / (SPIBRR + 1) for SPIBRR from 3 to 127. For SPIBRR of 0, 1 or 2, the rate is LSPCLK / 4.</a:t>
            </a:r>
          </a:p>
          <a:p>
            <a:pPr marL="0" lvl="0" indent="0" algn="l" rtl="0">
              <a:lnSpc>
                <a:spcPct val="100000"/>
              </a:lnSpc>
              <a:spcBef>
                <a:spcPts val="0"/>
              </a:spcBef>
              <a:spcAft>
                <a:spcPts val="600"/>
              </a:spcAft>
              <a:buSzPts val="1400"/>
              <a:buNone/>
            </a:pPr>
            <a:r>
              <a:rPr lang="en-US" dirty="0"/>
              <a:t>A common mistake: for words shorter than 16 bits, you must left-justify the data you write to SPITXBUF. Received data comes back right-justified in SPIRXBUF.</a:t>
            </a:r>
          </a:p>
          <a:p>
            <a:pPr marL="0" lvl="0" indent="0" algn="l" rtl="0">
              <a:lnSpc>
                <a:spcPct val="100000"/>
              </a:lnSpc>
              <a:spcBef>
                <a:spcPts val="0"/>
              </a:spcBef>
              <a:spcAft>
                <a:spcPts val="600"/>
              </a:spcAft>
              <a:buSzPts val="1400"/>
              <a:buNone/>
            </a:pPr>
            <a:r>
              <a:rPr lang="en-US" dirty="0"/>
              <a:t>CLKPOLARITY and CLK_PHASE are the four clock modes from the previous slide. Next, we look at how to talk to more than one device.</a:t>
            </a:r>
          </a:p>
        </p:txBody>
      </p:sp>
      <p:sp>
        <p:nvSpPr>
          <p:cNvPr id="116" name="Google Shape;116;p29:notes">
            <a:extLst>
              <a:ext uri="{FF2B5EF4-FFF2-40B4-BE49-F238E27FC236}">
                <a16:creationId xmlns:a16="http://schemas.microsoft.com/office/drawing/2014/main" id="{9E12A5F9-D8AF-3C25-A81F-8B80FF16A83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479430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8C494AC-3CB3-D447-0BB4-5C5FA572D58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EF888F7-1C04-9E04-E5CD-A003AEA2C1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with no figures. It poses a problem: the SPI setup so far has one SPISTE line, so you can talk to only one peripheral. What if you need several, for example addressing each wheel motor individually?</a:t>
            </a:r>
          </a:p>
          <a:p>
            <a:pPr marL="0" lvl="0" indent="0" algn="l" rtl="0">
              <a:lnSpc>
                <a:spcPct val="100000"/>
              </a:lnSpc>
              <a:spcBef>
                <a:spcPts val="0"/>
              </a:spcBef>
              <a:spcAft>
                <a:spcPts val="600"/>
              </a:spcAft>
              <a:buSzPts val="1400"/>
              <a:buNone/>
            </a:pPr>
            <a:r>
              <a:rPr lang="en-US" dirty="0"/>
              <a:t>The slide's answer has several steps. Many systems connect one master to multiple slaves by giving each slave its own SPISTE, or chip select, line, and you enable only the slave you want to talk to. The TMS320F28379D SPI module does not natively support multiple SPISTE signals, but you can emulate them in software with GPIOs. The SPI must be configured as the master. Instead of using the GPIO mux to route the SPISTE function to a pin, you configure ordinary pins as GPIO outputs, one GPIO per slave. Before transmitting, you drive the chosen GPIO to its active state. Immediately after the transmission completes, you drive it back to inactive. All slaves share SPICLK, SPISIMO and SPISOMI, so you have effectively built your own SPISTE pin mux.</a:t>
            </a:r>
          </a:p>
          <a:p>
            <a:pPr marL="0" lvl="0" indent="0" algn="l" rtl="0">
              <a:lnSpc>
                <a:spcPct val="100000"/>
              </a:lnSpc>
              <a:spcBef>
                <a:spcPts val="0"/>
              </a:spcBef>
              <a:spcAft>
                <a:spcPts val="600"/>
              </a:spcAft>
              <a:buSzPts val="1400"/>
              <a:buNone/>
            </a:pPr>
            <a:r>
              <a:rPr lang="en-US" dirty="0"/>
              <a:t>Recall from the timing diagram that SPISTE is active low. Initialize every chip-select GPIO high (inactive) before the first transfer, and make sure only one is ever low at a time. Otherwise two slaves drive SPISOMI at once and the data is corrupted.</a:t>
            </a:r>
          </a:p>
          <a:p>
            <a:pPr marL="0" lvl="0" indent="0" algn="l" rtl="0">
              <a:lnSpc>
                <a:spcPct val="100000"/>
              </a:lnSpc>
              <a:spcBef>
                <a:spcPts val="0"/>
              </a:spcBef>
              <a:spcAft>
                <a:spcPts val="600"/>
              </a:spcAft>
              <a:buSzPts val="1400"/>
              <a:buNone/>
            </a:pPr>
            <a:r>
              <a:rPr lang="en-US" dirty="0"/>
              <a:t>A common mistake is raising the chip select as soon as you write to the transmit buffer. Writing to the buffer does not mean the bits have finished shifting out of SPIDAT. Wait until the transfer is actually done, for instance until the expected words arrive in the receive FIFO.</a:t>
            </a:r>
          </a:p>
          <a:p>
            <a:pPr marL="0" lvl="0" indent="0" algn="l" rtl="0">
              <a:lnSpc>
                <a:spcPct val="100000"/>
              </a:lnSpc>
              <a:spcBef>
                <a:spcPts val="0"/>
              </a:spcBef>
              <a:spcAft>
                <a:spcPts val="600"/>
              </a:spcAft>
              <a:buSzPts val="1400"/>
              <a:buNone/>
            </a:pPr>
            <a:r>
              <a:rPr lang="en-US" dirty="0"/>
              <a:t>Each new slave costs one more pin. That raises the question on the next slide: what if you have 15 temperature sensors?</a:t>
            </a:r>
          </a:p>
        </p:txBody>
      </p:sp>
      <p:sp>
        <p:nvSpPr>
          <p:cNvPr id="116" name="Google Shape;116;p29:notes">
            <a:extLst>
              <a:ext uri="{FF2B5EF4-FFF2-40B4-BE49-F238E27FC236}">
                <a16:creationId xmlns:a16="http://schemas.microsoft.com/office/drawing/2014/main" id="{63B602BB-E80F-0FC0-5DFE-AE6522C12A7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148170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69BACB3-9250-501E-492B-02368A646461}"/>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F7FA5AA4-2D06-5E10-E47E-CB58BBC9395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poses one question in large white text on the dark blue Illinois background: what happens if you want to communicate with 15 temperature sensors?</a:t>
            </a:r>
          </a:p>
          <a:p>
            <a:pPr marL="0" lvl="0" indent="0" algn="l" rtl="0">
              <a:spcBef>
                <a:spcPts val="0"/>
              </a:spcBef>
              <a:spcAft>
                <a:spcPts val="600"/>
              </a:spcAft>
              <a:buNone/>
            </a:pPr>
            <a:r>
              <a:rPr lang="en-US" dirty="0"/>
              <a:t>Take a moment to think about it using the GPIO chip-select scheme from the previous slide. The answer is that you would need 15 separate SPISTE wires, one GPIO per sensor, routed to the different sensors. That complicates the circuit, uses up pins, and more wires also means more potential interference. This limitation is what motivates I2C, which addresses devices over only two shared wires.</a:t>
            </a:r>
          </a:p>
        </p:txBody>
      </p:sp>
      <p:sp>
        <p:nvSpPr>
          <p:cNvPr id="87" name="Google Shape;87;p27:notes">
            <a:extLst>
              <a:ext uri="{FF2B5EF4-FFF2-40B4-BE49-F238E27FC236}">
                <a16:creationId xmlns:a16="http://schemas.microsoft.com/office/drawing/2014/main" id="{1506A244-AFEC-BFDE-AA11-AE195A5463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57208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582C02F-C285-F449-8EA1-E1D2F00646F5}"/>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50A8BC2B-1BF1-D612-F9BF-43641C6BD6F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title slide reads "I2C" in large white letters on a dark blue background, with an orange accent line beneath it and faint hand-drawn math sketches as decoration. I2C stands for Inter-Integrated Circuit.</a:t>
            </a:r>
          </a:p>
          <a:p>
            <a:pPr marL="0" lvl="0" indent="0" algn="l" rtl="0">
              <a:spcBef>
                <a:spcPts val="0"/>
              </a:spcBef>
              <a:spcAft>
                <a:spcPts val="600"/>
              </a:spcAft>
              <a:buNone/>
            </a:pPr>
            <a:r>
              <a:rPr lang="en-US" dirty="0"/>
              <a:t>The previous slide asked how you would talk to 15 temperature sensors. With SPI, each sensor needs its own chip-select line, so that means 15 GPIOs. I2C solves this with only two shared wires, serial data (SDA) and serial clock (SCL), plus device addressing. Next, you see how its open-drain design makes that sharing safe.</a:t>
            </a:r>
          </a:p>
        </p:txBody>
      </p:sp>
      <p:sp>
        <p:nvSpPr>
          <p:cNvPr id="87" name="Google Shape;87;p27:notes">
            <a:extLst>
              <a:ext uri="{FF2B5EF4-FFF2-40B4-BE49-F238E27FC236}">
                <a16:creationId xmlns:a16="http://schemas.microsoft.com/office/drawing/2014/main" id="{1E2DC188-CDEC-7509-AEFF-4261EDAB4F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33583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7090A88-7CE8-CFF4-2F18-8A131D1457B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87886F1-886C-5426-615C-E07CAC45B9C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introduces how I2C works at the electrical level. It is all text, with no figures. It says the I2C bus uses just two wires: Serial Data, SDA, and Serial Clock, SCL. SPI uses active push-pull drivers that force a line high or low. I2C instead uses an open-drain architecture with passive pull-up resistors. The slide spells it "open-draw", but the standard term is open-drain, named after the drain terminal of the output transistor.</a:t>
            </a:r>
          </a:p>
          <a:p>
            <a:pPr marL="0" lvl="0" indent="0" algn="l" rtl="0">
              <a:lnSpc>
                <a:spcPct val="100000"/>
              </a:lnSpc>
              <a:spcBef>
                <a:spcPts val="0"/>
              </a:spcBef>
              <a:spcAft>
                <a:spcPts val="600"/>
              </a:spcAft>
              <a:buSzPts val="1400"/>
              <a:buNone/>
            </a:pPr>
            <a:r>
              <a:rPr lang="en-US" dirty="0"/>
              <a:t>To send a logical 1, a device simply "lets go" of the wire, and the pull-up resistor pulls the line up to V_cc, for example 3.3 V. To send a logical 0, an internal transistor connects the wire to ground. The slide then asks "Why?"</a:t>
            </a:r>
          </a:p>
          <a:p>
            <a:pPr marL="0" lvl="0" indent="0" algn="l" rtl="0">
              <a:lnSpc>
                <a:spcPct val="100000"/>
              </a:lnSpc>
              <a:spcBef>
                <a:spcPts val="0"/>
              </a:spcBef>
              <a:spcAft>
                <a:spcPts val="600"/>
              </a:spcAft>
              <a:buSzPts val="1400"/>
              <a:buNone/>
            </a:pPr>
            <a:r>
              <a:rPr lang="en-US" dirty="0"/>
              <a:t>The answer is safety when devices collide. Suppose two devices talk at the same instant, and one pulls the line low while the other releases it. The line simply goes to ground. There is no short circuit, because only the resistor is sourcing current.</a:t>
            </a:r>
          </a:p>
          <a:p>
            <a:pPr marL="0" lvl="0" indent="0" algn="l" rtl="0">
              <a:lnSpc>
                <a:spcPct val="100000"/>
              </a:lnSpc>
              <a:spcBef>
                <a:spcPts val="0"/>
              </a:spcBef>
              <a:spcAft>
                <a:spcPts val="600"/>
              </a:spcAft>
              <a:buSzPts val="1400"/>
              <a:buNone/>
            </a:pPr>
            <a:r>
              <a:rPr lang="en-US" dirty="0"/>
              <a:t>Compare that with two push-pull outputs, one driving high and one driving low. That connects V_cc almost directly to ground through two transistors, which can damage the pins. This behavior is often called "wired-AND": the line is high only if every device releases it.</a:t>
            </a:r>
          </a:p>
          <a:p>
            <a:pPr marL="0" lvl="0" indent="0" algn="l" rtl="0">
              <a:lnSpc>
                <a:spcPct val="100000"/>
              </a:lnSpc>
              <a:spcBef>
                <a:spcPts val="0"/>
              </a:spcBef>
              <a:spcAft>
                <a:spcPts val="600"/>
              </a:spcAft>
              <a:buSzPts val="1400"/>
              <a:buNone/>
            </a:pPr>
            <a:r>
              <a:rPr lang="en-US" dirty="0"/>
              <a:t>Recall the question from two slides ago about talking to 15 temperature sensors. With SPI, each sensor would need its own chip-select line. Open-drain is what lets many devices share the same two wires safely.</a:t>
            </a:r>
          </a:p>
          <a:p>
            <a:pPr marL="0" lvl="0" indent="0" algn="l" rtl="0">
              <a:lnSpc>
                <a:spcPct val="100000"/>
              </a:lnSpc>
              <a:spcBef>
                <a:spcPts val="0"/>
              </a:spcBef>
              <a:spcAft>
                <a:spcPts val="600"/>
              </a:spcAft>
              <a:buSzPts val="1400"/>
              <a:buNone/>
            </a:pPr>
            <a:r>
              <a:rPr lang="en-US" dirty="0"/>
              <a:t>A common mistake is forgetting the pull-up resistors. Without them, nothing ever pulls the line high, and the bus never reads a 1.</a:t>
            </a:r>
          </a:p>
          <a:p>
            <a:pPr marL="0" lvl="0" indent="0" algn="l" rtl="0">
              <a:lnSpc>
                <a:spcPct val="100000"/>
              </a:lnSpc>
              <a:spcBef>
                <a:spcPts val="0"/>
              </a:spcBef>
              <a:spcAft>
                <a:spcPts val="600"/>
              </a:spcAft>
              <a:buSzPts val="1400"/>
              <a:buNone/>
            </a:pPr>
            <a:r>
              <a:rPr lang="en-US" dirty="0"/>
              <a:t>The next slide shows exactly this: four devices sharing SDA and SCL, each line with its own pull-up to V_DD.</a:t>
            </a:r>
          </a:p>
        </p:txBody>
      </p:sp>
      <p:sp>
        <p:nvSpPr>
          <p:cNvPr id="116" name="Google Shape;116;p29:notes">
            <a:extLst>
              <a:ext uri="{FF2B5EF4-FFF2-40B4-BE49-F238E27FC236}">
                <a16:creationId xmlns:a16="http://schemas.microsoft.com/office/drawing/2014/main" id="{4F6EBE4A-B54F-87FF-7C29-FB4C0F7F63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962629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F64BC3D-6452-DF5F-D9A4-D824FB6DCB0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8D402A8-708B-8999-FE2E-DEFE2466319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Figure 20-1 from the TI reference manual, titled "Multiple I2C Modules Connected." Two horizontal lines run across the slide: serial data, SDA, on top and serial clock, SCL, below it. At the upper left, a supply rail labeled V_DD connects to each line through its own pullup resistor. Four devices hang off the bus. Above the lines are a "28x I2C" module and an "I2C controller." Below them are an "I2C EPROM" and a second "28x I2C" module. Each device has exactly two connections, one to SDA and one to SCL. "28x" refers to TI C28x processors like the F28379D on your Red Board.</a:t>
            </a:r>
          </a:p>
          <a:p>
            <a:pPr marL="0" lvl="0" indent="0" algn="l" rtl="0">
              <a:lnSpc>
                <a:spcPct val="100000"/>
              </a:lnSpc>
              <a:spcBef>
                <a:spcPts val="0"/>
              </a:spcBef>
              <a:spcAft>
                <a:spcPts val="600"/>
              </a:spcAft>
              <a:buSzPts val="1400"/>
              <a:buNone/>
            </a:pPr>
            <a:r>
              <a:rPr lang="en-US" dirty="0"/>
              <a:t>This picture puts the open-drain idea from the previous slide into practice. No device ever drives a line high. Each one can only pull SDA or SCL to ground or let go. The single pair of pullup resistors holds both lines at V_DD whenever nobody is pulling. Because of this, you can parallel as many devices as you like on the same two wires without risking a short.</a:t>
            </a:r>
          </a:p>
          <a:p>
            <a:pPr marL="0" lvl="0" indent="0" algn="l" rtl="0">
              <a:lnSpc>
                <a:spcPct val="100000"/>
              </a:lnSpc>
              <a:spcBef>
                <a:spcPts val="0"/>
              </a:spcBef>
              <a:spcAft>
                <a:spcPts val="600"/>
              </a:spcAft>
              <a:buSzPts val="1400"/>
              <a:buNone/>
            </a:pPr>
            <a:r>
              <a:rPr lang="en-US" dirty="0"/>
              <a:t>Go back to the question from slide 42 about 15 temperature sensors. With SPI you need a separate chip-select line for each slave. With I2C you still need only two wires. The cost is that the master must now say which device it is talking to, and that is where addresses come in.</a:t>
            </a:r>
          </a:p>
          <a:p>
            <a:pPr marL="0" lvl="0" indent="0" algn="l" rtl="0">
              <a:lnSpc>
                <a:spcPct val="100000"/>
              </a:lnSpc>
              <a:spcBef>
                <a:spcPts val="0"/>
              </a:spcBef>
              <a:spcAft>
                <a:spcPts val="600"/>
              </a:spcAft>
              <a:buSzPts val="1400"/>
              <a:buNone/>
            </a:pPr>
            <a:r>
              <a:rPr lang="en-US" dirty="0"/>
              <a:t>A common mistake is forgetting the pullups entirely, or adding a pair on every breakout board. Remember that the whole bus shares one effective pair.</a:t>
            </a:r>
          </a:p>
          <a:p>
            <a:pPr marL="0" lvl="0" indent="0" algn="l" rtl="0">
              <a:lnSpc>
                <a:spcPct val="100000"/>
              </a:lnSpc>
              <a:spcBef>
                <a:spcPts val="0"/>
              </a:spcBef>
              <a:spcAft>
                <a:spcPts val="600"/>
              </a:spcAft>
              <a:buSzPts val="1400"/>
              <a:buNone/>
            </a:pPr>
            <a:r>
              <a:rPr lang="en-US" dirty="0"/>
              <a:t>Next you see how the TI I2C module is built inside, and then how a transaction is framed.</a:t>
            </a:r>
          </a:p>
        </p:txBody>
      </p:sp>
      <p:sp>
        <p:nvSpPr>
          <p:cNvPr id="116" name="Google Shape;116;p29:notes">
            <a:extLst>
              <a:ext uri="{FF2B5EF4-FFF2-40B4-BE49-F238E27FC236}">
                <a16:creationId xmlns:a16="http://schemas.microsoft.com/office/drawing/2014/main" id="{A4CAB557-4D64-AF74-C1CA-FFA2AFEADF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632421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0A038A9-C724-CFD4-FA00-03791AF1149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5017A38-13D9-10D1-7D26-32370DFBBAD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Figure 20-2 from the TI technical reference manual: the conceptual block diagram of the I2C module inside the F28379D. On the left, two bidirectional pins, SDA and SCL, enter a large box labeled I2C module. On the right, a vertical peripheral bus connects the module to the CPU.</a:t>
            </a:r>
          </a:p>
          <a:p>
            <a:pPr marL="0" lvl="0" indent="0" algn="l" rtl="0">
              <a:lnSpc>
                <a:spcPct val="100000"/>
              </a:lnSpc>
              <a:spcBef>
                <a:spcPts val="0"/>
              </a:spcBef>
              <a:spcAft>
                <a:spcPts val="600"/>
              </a:spcAft>
              <a:buSzPts val="1400"/>
              <a:buNone/>
            </a:pPr>
            <a:r>
              <a:rPr lang="en-US" dirty="0"/>
              <a:t>The data path should look familiar from SPI and SCI. To transmit, the CPU writes a byte over the peripheral bus into I2CDXR, the data transmit register, either directly or through the TX FIFO. That byte moves into I2CXSR, the transmit shift register, which shifts it out bit by bit onto SDA. Receiving works in reverse. Bits arrive on SDA into I2CRSR, the receive shift register. The completed byte is copied into I2CDRR, the data receive register, where the CPU reads it directly or through the RX FIFO. You never touch the shift registers yourself; you only read and write the data registers.</a:t>
            </a:r>
          </a:p>
          <a:p>
            <a:pPr marL="0" lvl="0" indent="0" algn="l" rtl="0">
              <a:lnSpc>
                <a:spcPct val="100000"/>
              </a:lnSpc>
              <a:spcBef>
                <a:spcPts val="0"/>
              </a:spcBef>
              <a:spcAft>
                <a:spcPts val="600"/>
              </a:spcAft>
              <a:buSzPts val="1400"/>
              <a:buNone/>
            </a:pPr>
            <a:r>
              <a:rPr lang="en-US" dirty="0"/>
              <a:t>The TX and RX FIFO interrupts pass through an OR gate into a single FIFO interrupt to the CPU/PIE. A stack of control and status registers also sits on the bus.</a:t>
            </a:r>
          </a:p>
          <a:p>
            <a:pPr marL="0" lvl="0" indent="0" algn="l" rtl="0">
              <a:lnSpc>
                <a:spcPct val="100000"/>
              </a:lnSpc>
              <a:spcBef>
                <a:spcPts val="0"/>
              </a:spcBef>
              <a:spcAft>
                <a:spcPts val="600"/>
              </a:spcAft>
              <a:buSzPts val="1400"/>
              <a:buNone/>
            </a:pPr>
            <a:r>
              <a:rPr lang="en-US" dirty="0"/>
              <a:t>Below the data path are four support blocks. The clock synchronizer and prescaler generate and align SCL. The noise filters clean up the slow edges that pull-up resistors produce. The arbitrator handles two masters trying to drive the bus at once, which works safely only because of the open-drain wiring from the last two slides. Finally, seven interrupt sources, such as arbitration lost, no-acknowledge, and data ready, are combined into one I2C INT line to the PIE.</a:t>
            </a:r>
          </a:p>
          <a:p>
            <a:pPr marL="0" lvl="0" indent="0" algn="l" rtl="0">
              <a:lnSpc>
                <a:spcPct val="100000"/>
              </a:lnSpc>
              <a:spcBef>
                <a:spcPts val="0"/>
              </a:spcBef>
              <a:spcAft>
                <a:spcPts val="600"/>
              </a:spcAft>
              <a:buSzPts val="1400"/>
              <a:buNone/>
            </a:pPr>
            <a:r>
              <a:rPr lang="en-US" dirty="0"/>
              <a:t>Next, you see how a transfer is framed with START, address, ACK, and STOP.</a:t>
            </a:r>
          </a:p>
        </p:txBody>
      </p:sp>
      <p:sp>
        <p:nvSpPr>
          <p:cNvPr id="116" name="Google Shape;116;p29:notes">
            <a:extLst>
              <a:ext uri="{FF2B5EF4-FFF2-40B4-BE49-F238E27FC236}">
                <a16:creationId xmlns:a16="http://schemas.microsoft.com/office/drawing/2014/main" id="{63A98F0E-A8B4-7AC6-0AE6-4FC30C1666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7313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8DCCCF5-0E98-C80D-AD5C-415490B1D7E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7B2FEDB-159A-F08A-B832-F0452A5527A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lists, in order, the five parts of every I2C transaction. Because I2C has no chip select wires, the master cannot pick a device by pulling a dedicated line low the way it does with SPISTE in SPI. Instead it puts a specific address onto the shared bus, and every slave listens and compares that address to its own.</a:t>
            </a:r>
          </a:p>
          <a:p>
            <a:pPr marL="0" lvl="0" indent="0" algn="l" rtl="0">
              <a:lnSpc>
                <a:spcPct val="100000"/>
              </a:lnSpc>
              <a:spcBef>
                <a:spcPts val="0"/>
              </a:spcBef>
              <a:spcAft>
                <a:spcPts val="600"/>
              </a:spcAft>
              <a:buSzPts val="1400"/>
              <a:buNone/>
            </a:pPr>
            <a:r>
              <a:rPr lang="en-US" dirty="0"/>
              <a:t>First is the START condition: the master pulls SDA, the data line, low while SCL, the clock line, stays high. Normally SDA may change only while SCL is low, so an SDA edge while SCL is high breaks that rule on purpose. That is how every device recognizes a START and wakes up.</a:t>
            </a:r>
          </a:p>
          <a:p>
            <a:pPr marL="0" lvl="0" indent="0" algn="l" rtl="0">
              <a:lnSpc>
                <a:spcPct val="100000"/>
              </a:lnSpc>
              <a:spcBef>
                <a:spcPts val="0"/>
              </a:spcBef>
              <a:spcAft>
                <a:spcPts val="600"/>
              </a:spcAft>
              <a:buSzPts val="1400"/>
              <a:buNone/>
            </a:pPr>
            <a:r>
              <a:rPr lang="en-US" dirty="0"/>
              <a:t>Next is addressing: the master sends a 7-bit address (or a 10-bit one), followed by a Read/Write direction bit. Seven bits allow 2^7 = 128 possible addresses.</a:t>
            </a:r>
          </a:p>
          <a:p>
            <a:pPr marL="0" lvl="0" indent="0" algn="l" rtl="0">
              <a:lnSpc>
                <a:spcPct val="100000"/>
              </a:lnSpc>
              <a:spcBef>
                <a:spcPts val="0"/>
              </a:spcBef>
              <a:spcAft>
                <a:spcPts val="600"/>
              </a:spcAft>
              <a:buSzPts val="1400"/>
              <a:buNone/>
            </a:pPr>
            <a:r>
              <a:rPr lang="en-US" dirty="0"/>
              <a:t>Then comes the acknowledge, or ACK. On the 9th clock cycle, only the slave whose address matched pulls SDA low, which says "I am here." If no device answers, the pullup resistor leaves SDA high, and that is a no-acknowledge.</a:t>
            </a:r>
          </a:p>
          <a:p>
            <a:pPr marL="0" lvl="0" indent="0" algn="l" rtl="0">
              <a:lnSpc>
                <a:spcPct val="100000"/>
              </a:lnSpc>
              <a:spcBef>
                <a:spcPts val="0"/>
              </a:spcBef>
              <a:spcAft>
                <a:spcPts val="600"/>
              </a:spcAft>
              <a:buSzPts val="1400"/>
              <a:buNone/>
            </a:pPr>
            <a:r>
              <a:rPr lang="en-US" dirty="0"/>
              <a:t>After that, data bytes are clocked across SDA, and each byte gets its own acknowledge.</a:t>
            </a:r>
          </a:p>
          <a:p>
            <a:pPr marL="0" lvl="0" indent="0" algn="l" rtl="0">
              <a:lnSpc>
                <a:spcPct val="100000"/>
              </a:lnSpc>
              <a:spcBef>
                <a:spcPts val="0"/>
              </a:spcBef>
              <a:spcAft>
                <a:spcPts val="600"/>
              </a:spcAft>
              <a:buSzPts val="1400"/>
              <a:buNone/>
            </a:pPr>
            <a:r>
              <a:rPr lang="en-US" dirty="0"/>
              <a:t>Finally, the STOP condition: the master releases SDA so it rises while SCL is high, which signals that the bus is free.</a:t>
            </a:r>
          </a:p>
          <a:p>
            <a:pPr marL="0" lvl="0" indent="0" algn="l" rtl="0">
              <a:lnSpc>
                <a:spcPct val="100000"/>
              </a:lnSpc>
              <a:spcBef>
                <a:spcPts val="0"/>
              </a:spcBef>
              <a:spcAft>
                <a:spcPts val="600"/>
              </a:spcAft>
              <a:buSzPts val="1400"/>
              <a:buNone/>
            </a:pPr>
            <a:r>
              <a:rPr lang="en-US" dirty="0"/>
              <a:t>A common mistake is address format. Many datasheets list an 8-bit value that already includes the R/W bit, while the F28379D's I2C module expects the 7-bit address. If no device ever acknowledges, check this first.</a:t>
            </a:r>
          </a:p>
          <a:p>
            <a:pPr marL="0" lvl="0" indent="0" algn="l" rtl="0">
              <a:lnSpc>
                <a:spcPct val="100000"/>
              </a:lnSpc>
              <a:spcBef>
                <a:spcPts val="0"/>
              </a:spcBef>
              <a:spcAft>
                <a:spcPts val="600"/>
              </a:spcAft>
              <a:buSzPts val="1400"/>
              <a:buNone/>
            </a:pPr>
            <a:r>
              <a:rPr lang="en-US" dirty="0"/>
              <a:t>Quick check: why do the pullups on the bus from slide 45 matter for both the NACK and the STOP? Next, you see these same steps drawn as a timing diagram.</a:t>
            </a:r>
          </a:p>
        </p:txBody>
      </p:sp>
      <p:sp>
        <p:nvSpPr>
          <p:cNvPr id="116" name="Google Shape;116;p29:notes">
            <a:extLst>
              <a:ext uri="{FF2B5EF4-FFF2-40B4-BE49-F238E27FC236}">
                <a16:creationId xmlns:a16="http://schemas.microsoft.com/office/drawing/2014/main" id="{FD7D7E34-683F-B65B-0D1D-8A98D5BCC2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52622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27C2667-6FA7-3649-A353-5B09F7FC2DA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C27687E-7EF7-5767-DD72-91F192651AD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turns the framing rules from the previous slide into an actual waveform. The top figure, TI Figure 20-7, is a timing diagram of two lines: SDA, the data line, above SCL, the clock line. It shows a 7-bit address with 8-bit data. On the left, a dashed box marks the START condition: SDA falls while SCL is still high. Then come seven address bits, most significant bit first, on clocks 1 through 7. Clock 8 carries the R/W-bar bit, and on clock 9 the slave holds SDA low as its acknowledgement. Eight data bits follow, then a ninth clock where the receiver sends either an acknowledge or a no-acknowledge. On the right, a dashed box marks the STOP condition: SDA rises while SCL is high.</a:t>
            </a:r>
          </a:p>
          <a:p>
            <a:pPr marL="0" lvl="0" indent="0" algn="l" rtl="0">
              <a:lnSpc>
                <a:spcPct val="100000"/>
              </a:lnSpc>
              <a:spcBef>
                <a:spcPts val="0"/>
              </a:spcBef>
              <a:spcAft>
                <a:spcPts val="600"/>
              </a:spcAft>
              <a:buSzPts val="1400"/>
              <a:buNone/>
            </a:pPr>
            <a:r>
              <a:rPr lang="en-US" dirty="0"/>
              <a:t>Look at where SDA changes. Data only changes while SCL is low, and it is read while SCL is high. START and STOP are the only times SDA changes during a high clock, so every device on the bus can recognise them.</a:t>
            </a:r>
          </a:p>
          <a:p>
            <a:pPr marL="0" lvl="0" indent="0" algn="l" rtl="0">
              <a:lnSpc>
                <a:spcPct val="100000"/>
              </a:lnSpc>
              <a:spcBef>
                <a:spcPts val="0"/>
              </a:spcBef>
              <a:spcAft>
                <a:spcPts val="600"/>
              </a:spcAft>
              <a:buSzPts val="1400"/>
              <a:buNone/>
            </a:pPr>
            <a:r>
              <a:rPr lang="en-US" dirty="0"/>
              <a:t>The bottom figure, Figure 20-8, shows the same frame as a row of fields, used when FDF = 0 and XA = 0 in I2CMDR. The fields are: S (1 bit), the slave address (7 bits), R/W-bar (1 bit), ACK (1), Data (n bits), ACK (1), Data (n bits), ACK (1), and P (1). Every data byte gets its own acknowledge.</a:t>
            </a:r>
          </a:p>
          <a:p>
            <a:pPr marL="0" lvl="0" indent="0" algn="l" rtl="0">
              <a:lnSpc>
                <a:spcPct val="100000"/>
              </a:lnSpc>
              <a:spcBef>
                <a:spcPts val="0"/>
              </a:spcBef>
              <a:spcAft>
                <a:spcPts val="600"/>
              </a:spcAft>
              <a:buSzPts val="1400"/>
              <a:buNone/>
            </a:pPr>
            <a:r>
              <a:rPr lang="en-US" dirty="0"/>
              <a:t>The bar over W means the bit is active low. R/W = 0 means the master writes to the slave, and R/W = 1 means the master reads from the slave. When the master is reading, it sends a NACK on the last byte to tell the slave to stop sending.</a:t>
            </a:r>
          </a:p>
          <a:p>
            <a:pPr marL="0" lvl="0" indent="0" algn="l" rtl="0">
              <a:lnSpc>
                <a:spcPct val="100000"/>
              </a:lnSpc>
              <a:spcBef>
                <a:spcPts val="0"/>
              </a:spcBef>
              <a:spcAft>
                <a:spcPts val="600"/>
              </a:spcAft>
              <a:buSzPts val="1400"/>
              <a:buNone/>
            </a:pPr>
            <a:r>
              <a:rPr lang="en-US" dirty="0"/>
              <a:t>A common mistake: some datasheets list an "8-bit address" that already includes the R/W bit. Check whether you need to shift it before you load it into the slave address register.</a:t>
            </a:r>
          </a:p>
          <a:p>
            <a:pPr marL="0" lvl="0" indent="0" algn="l" rtl="0">
              <a:lnSpc>
                <a:spcPct val="100000"/>
              </a:lnSpc>
              <a:spcBef>
                <a:spcPts val="0"/>
              </a:spcBef>
              <a:spcAft>
                <a:spcPts val="600"/>
              </a:spcAft>
              <a:buSzPts val="1400"/>
              <a:buNone/>
            </a:pPr>
            <a:r>
              <a:rPr lang="en-US" dirty="0"/>
              <a:t>Next, we look closer at the ACK clock and what happens with 10-bit addresses.</a:t>
            </a:r>
          </a:p>
        </p:txBody>
      </p:sp>
      <p:sp>
        <p:nvSpPr>
          <p:cNvPr id="116" name="Google Shape;116;p29:notes">
            <a:extLst>
              <a:ext uri="{FF2B5EF4-FFF2-40B4-BE49-F238E27FC236}">
                <a16:creationId xmlns:a16="http://schemas.microsoft.com/office/drawing/2014/main" id="{1330D447-1745-AC3B-2D4C-09F524D63CF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492915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6ACAC2C-3B9C-0BF7-6012-9D576CEF6D0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5409370-3EAD-9487-DAD9-A0E660B6C24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text only, with five statements about acknowledgement and data length in an I2C frame. It expands on the 7-bit frame from the previous slide: start, address, R/W bit, ACK, data, ACK, stop.</a:t>
            </a:r>
          </a:p>
          <a:p>
            <a:pPr marL="0" lvl="0" indent="0" algn="l" rtl="0">
              <a:lnSpc>
                <a:spcPct val="100000"/>
              </a:lnSpc>
              <a:spcBef>
                <a:spcPts val="0"/>
              </a:spcBef>
              <a:spcAft>
                <a:spcPts val="600"/>
              </a:spcAft>
              <a:buSzPts val="1400"/>
              <a:buNone/>
            </a:pPr>
            <a:r>
              <a:rPr lang="en-US" dirty="0"/>
              <a:t>First, every byte on I2C costs nine clock cycles, not eight. The ninth clock is reserved for the acknowledge bit, ACK. During that cycle the transmitter releases SDA and the receiver pulls it low to say "I got it." If SDA stays high, that is a NACK (no-acknowledge).</a:t>
            </a:r>
          </a:p>
          <a:p>
            <a:pPr marL="0" lvl="0" indent="0" algn="l" rtl="0">
              <a:lnSpc>
                <a:spcPct val="100000"/>
              </a:lnSpc>
              <a:spcBef>
                <a:spcPts val="0"/>
              </a:spcBef>
              <a:spcAft>
                <a:spcPts val="600"/>
              </a:spcAft>
              <a:buSzPts val="1400"/>
              <a:buNone/>
            </a:pPr>
            <a:r>
              <a:rPr lang="en-US" dirty="0"/>
              <a:t>Second, after the master sends the address byte, the addressed slave answers with ACK. Then n data bits follow, and the R/W bit decides who sends them. With R/W = 0 the master transmits and the slave acknowledges. With R/W = 1 the slave transmits and the master acknowledges. When reading, the master usually sends NACK after the last byte it wants, which tells the slave to stop sending.</a:t>
            </a:r>
          </a:p>
          <a:p>
            <a:pPr marL="0" lvl="0" indent="0" algn="l" rtl="0">
              <a:lnSpc>
                <a:spcPct val="100000"/>
              </a:lnSpc>
              <a:spcBef>
                <a:spcPts val="0"/>
              </a:spcBef>
              <a:spcAft>
                <a:spcPts val="600"/>
              </a:spcAft>
              <a:buSzPts val="1400"/>
              <a:buNone/>
            </a:pPr>
            <a:r>
              <a:rPr lang="en-US" dirty="0"/>
              <a:t>Third, n can be 1 to 8 bits. It is set by the bit count field, BC, in the I2CMDR, the I2C mode register on the F28379D. Watch the encoding: on this chip BC = 0 means 8 bits, not zero bits. Check the reference manual when you write your init code later in this lecture.</a:t>
            </a:r>
          </a:p>
          <a:p>
            <a:pPr marL="0" lvl="0" indent="0" algn="l" rtl="0">
              <a:lnSpc>
                <a:spcPct val="100000"/>
              </a:lnSpc>
              <a:spcBef>
                <a:spcPts val="0"/>
              </a:spcBef>
              <a:spcAft>
                <a:spcPts val="600"/>
              </a:spcAft>
              <a:buSzPts val="1400"/>
              <a:buNone/>
            </a:pPr>
            <a:r>
              <a:rPr lang="en-US" dirty="0"/>
              <a:t>Finally, I2C also supports 10-bit slave addresses, but the frame carries at most 8 bits before each ACK. So how do you fit 10 address bits?</a:t>
            </a:r>
          </a:p>
          <a:p>
            <a:pPr marL="0" lvl="0" indent="0" algn="l" rtl="0">
              <a:lnSpc>
                <a:spcPct val="100000"/>
              </a:lnSpc>
              <a:spcBef>
                <a:spcPts val="0"/>
              </a:spcBef>
              <a:spcAft>
                <a:spcPts val="600"/>
              </a:spcAft>
              <a:buSzPts val="1400"/>
              <a:buNone/>
            </a:pPr>
            <a:r>
              <a:rPr lang="en-US" dirty="0"/>
              <a:t>Quick check: how many SCL clocks does a 7-bit address plus two data bytes take, ignoring start and stop? The answer is 27.</a:t>
            </a:r>
          </a:p>
          <a:p>
            <a:pPr marL="0" lvl="0" indent="0" algn="l" rtl="0">
              <a:lnSpc>
                <a:spcPct val="100000"/>
              </a:lnSpc>
              <a:spcBef>
                <a:spcPts val="0"/>
              </a:spcBef>
              <a:spcAft>
                <a:spcPts val="600"/>
              </a:spcAft>
              <a:buSzPts val="1400"/>
              <a:buNone/>
            </a:pPr>
            <a:r>
              <a:rPr lang="en-US" dirty="0"/>
              <a:t>The next slide shows how the 10-bit address is split across two bytes.</a:t>
            </a:r>
          </a:p>
        </p:txBody>
      </p:sp>
      <p:sp>
        <p:nvSpPr>
          <p:cNvPr id="116" name="Google Shape;116;p29:notes">
            <a:extLst>
              <a:ext uri="{FF2B5EF4-FFF2-40B4-BE49-F238E27FC236}">
                <a16:creationId xmlns:a16="http://schemas.microsoft.com/office/drawing/2014/main" id="{9E52243D-64FD-AC30-E686-4943A1F0B6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736541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D9F9877-9868-3F44-D95D-47C77CE827B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F69889D-AFD8-5E55-DE1F-21F108BB3C5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problem from the last slide: how do you send a 10-bit slave address when I2C moves only 8 bits at a time? The figure is Figure 20-9 from the TMS320F28379D reference manual, "I2C Module 10-Bit Addressing Format," with FDF = 0 and XA = 1 in the I2CMDR register. XA is the expanded-address bit that selects 10-bit mode.</a:t>
            </a:r>
          </a:p>
          <a:p>
            <a:pPr marL="0" lvl="0" indent="0" algn="l" rtl="0">
              <a:lnSpc>
                <a:spcPct val="100000"/>
              </a:lnSpc>
              <a:spcBef>
                <a:spcPts val="0"/>
              </a:spcBef>
              <a:spcAft>
                <a:spcPts val="600"/>
              </a:spcAft>
              <a:buSzPts val="1400"/>
              <a:buNone/>
            </a:pPr>
            <a:r>
              <a:rPr lang="en-US" dirty="0"/>
              <a:t>Reading the frame left to right with bit widths: a 1-bit START, S. Then 7 bits written as 1 1 1 1 0 x x, where x x are the 2 most significant bits of the slave address. Then the 1-bit R/W-bar, then a 1-bit ACK. Next come 8 bits labelled "8 LSBs of slave address," followed by an ACK. After that are n data bits, another ACK, and a 1-bit STOP, P.</a:t>
            </a:r>
          </a:p>
          <a:p>
            <a:pPr marL="0" lvl="0" indent="0" algn="l" rtl="0">
              <a:lnSpc>
                <a:spcPct val="100000"/>
              </a:lnSpc>
              <a:spcBef>
                <a:spcPts val="0"/>
              </a:spcBef>
              <a:spcAft>
                <a:spcPts val="600"/>
              </a:spcAft>
              <a:buSzPts val="1400"/>
              <a:buNone/>
            </a:pPr>
            <a:r>
              <a:rPr lang="en-US" dirty="0"/>
              <a:t>The key idea is that the address is split across two bytes. The first byte begins with the reserved pattern 11110. No legal 7-bit device uses this pattern as an address, so ordinary 7-bit slaves ignore the transfer. Only 10-bit devices whose top two bits match keep listening, and they acknowledge. The second byte supplies the remaining 8 bits, so 2 + 8 = 10 address bits in total, or 1024 possible addresses.</a:t>
            </a:r>
          </a:p>
          <a:p>
            <a:pPr marL="0" lvl="0" indent="0" algn="l" rtl="0">
              <a:lnSpc>
                <a:spcPct val="100000"/>
              </a:lnSpc>
              <a:spcBef>
                <a:spcPts val="0"/>
              </a:spcBef>
              <a:spcAft>
                <a:spcPts val="600"/>
              </a:spcAft>
              <a:buSzPts val="1400"/>
              <a:buNone/>
            </a:pPr>
            <a:r>
              <a:rPr lang="en-US" dirty="0"/>
              <a:t>A common mistake is to count "1 1 1 1 0" as part of the address. It is only a flag that says "10-bit address follows."</a:t>
            </a:r>
          </a:p>
          <a:p>
            <a:pPr marL="0" lvl="0" indent="0" algn="l" rtl="0">
              <a:lnSpc>
                <a:spcPct val="100000"/>
              </a:lnSpc>
              <a:spcBef>
                <a:spcPts val="0"/>
              </a:spcBef>
              <a:spcAft>
                <a:spcPts val="600"/>
              </a:spcAft>
              <a:buSzPts val="1400"/>
              <a:buNone/>
            </a:pPr>
            <a:r>
              <a:rPr lang="en-US" dirty="0"/>
              <a:t>A quick check for you: what would the first byte look like for slave address 0x2A5 when writing? The top two bits are 10, so the byte is 11110 10 0.</a:t>
            </a:r>
          </a:p>
          <a:p>
            <a:pPr marL="0" lvl="0" indent="0" algn="l" rtl="0">
              <a:lnSpc>
                <a:spcPct val="100000"/>
              </a:lnSpc>
              <a:spcBef>
                <a:spcPts val="0"/>
              </a:spcBef>
              <a:spcAft>
                <a:spcPts val="600"/>
              </a:spcAft>
              <a:buSzPts val="1400"/>
              <a:buNone/>
            </a:pPr>
            <a:r>
              <a:rPr lang="en-US" dirty="0"/>
              <a:t>Next, you see what happens when two masters try to start a transfer at the same time.</a:t>
            </a:r>
          </a:p>
        </p:txBody>
      </p:sp>
      <p:sp>
        <p:nvSpPr>
          <p:cNvPr id="116" name="Google Shape;116;p29:notes">
            <a:extLst>
              <a:ext uri="{FF2B5EF4-FFF2-40B4-BE49-F238E27FC236}">
                <a16:creationId xmlns:a16="http://schemas.microsoft.com/office/drawing/2014/main" id="{98E1D671-B8A2-DD52-55D7-A55FC4CFEFC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030574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2F60CFF-3499-365F-D27E-D2CE0F62451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D84B49C-9472-9574-FE88-58DFAC2CBDB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introduces multi-master arbitration on I2C. It has four statements and no figure. First, I2C lets several microcontrollers share the same two wires, and two of them may try to issue a START condition at the same moment. Second, both masters clock out their addresses bit by bit while monitoring the actual voltage on SDA, the data line. Third, if Master A sends a 1, meaning it lets go of the line, but measures a 0, it concludes that another master, Master B, is pulling SDA low. Fourth, Master A immediately knows it has lost arbitration, stops transmitting, and returns to slave or listening mode without corrupting Master B's packet.</a:t>
            </a:r>
          </a:p>
          <a:p>
            <a:pPr marL="0" lvl="0" indent="0" algn="l" rtl="0">
              <a:lnSpc>
                <a:spcPct val="100000"/>
              </a:lnSpc>
              <a:spcBef>
                <a:spcPts val="0"/>
              </a:spcBef>
              <a:spcAft>
                <a:spcPts val="600"/>
              </a:spcAft>
              <a:buSzPts val="1400"/>
              <a:buNone/>
            </a:pPr>
            <a:r>
              <a:rPr lang="en-US" dirty="0"/>
              <a:t>Having covered 7-bit and 10-bit addressing, we now ask what happens when two devices both want to be master. The answer comes from the open-drain wiring. No device ever drives SDA high. A pull-up resistor holds the line high, and any device can only pull it low. This makes the bus a wired-AND: if anyone outputs 0, the line reads 0. So a master sending 0 never sees a conflict, and only the master sending 1 can detect one. That is why the lower address wins arbitration.</a:t>
            </a:r>
          </a:p>
          <a:p>
            <a:pPr marL="0" lvl="0" indent="0" algn="l" rtl="0">
              <a:lnSpc>
                <a:spcPct val="100000"/>
              </a:lnSpc>
              <a:spcBef>
                <a:spcPts val="0"/>
              </a:spcBef>
              <a:spcAft>
                <a:spcPts val="600"/>
              </a:spcAft>
              <a:buSzPts val="1400"/>
              <a:buNone/>
            </a:pPr>
            <a:r>
              <a:rPr lang="en-US" dirty="0"/>
              <a:t>Arbitration is non-destructive. The winner never notices the contest, so no time or data is lost. A common mistake is to think a push-pull output would work the same way. It would not: a high and a low output fighting each other is a short circuit.</a:t>
            </a:r>
          </a:p>
          <a:p>
            <a:pPr marL="0" lvl="0" indent="0" algn="l" rtl="0">
              <a:lnSpc>
                <a:spcPct val="100000"/>
              </a:lnSpc>
              <a:spcBef>
                <a:spcPts val="0"/>
              </a:spcBef>
              <a:spcAft>
                <a:spcPts val="600"/>
              </a:spcAft>
              <a:buSzPts val="1400"/>
              <a:buNone/>
            </a:pPr>
            <a:r>
              <a:rPr lang="en-US" dirty="0"/>
              <a:t>Check yourself: if two masters send addresses 0x50 and 0x48, which one wins? The next slide shows this bit-by-bit contest as a timing diagram.</a:t>
            </a:r>
          </a:p>
        </p:txBody>
      </p:sp>
      <p:sp>
        <p:nvSpPr>
          <p:cNvPr id="116" name="Google Shape;116;p29:notes">
            <a:extLst>
              <a:ext uri="{FF2B5EF4-FFF2-40B4-BE49-F238E27FC236}">
                <a16:creationId xmlns:a16="http://schemas.microsoft.com/office/drawing/2014/main" id="{A871F966-285B-370F-E4A0-6D5E2BD9638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942757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7359F92-92EE-6DCA-5BA0-48586D8AE43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38ADEA5-30CA-6754-72C3-7B17F0ABA93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Figure 20-13 from TI's reference manual, "Arbitration Procedure Between Two Master-Transmitters." It is the picture behind the rules on the previous slide. Four traces are stacked over time. The top trace is the bus clock, SCL, a steady train of pulses. Below it is the data device 1 wants to send, then the data device 2 wants to send, and at the bottom is what actually appears on the shared data line, SDA. A vertical dashed line marks a reference point in time across all four traces.</a:t>
            </a:r>
          </a:p>
          <a:p>
            <a:pPr marL="0" lvl="0" indent="0" algn="l" rtl="0">
              <a:lnSpc>
                <a:spcPct val="100000"/>
              </a:lnSpc>
              <a:spcBef>
                <a:spcPts val="0"/>
              </a:spcBef>
              <a:spcAft>
                <a:spcPts val="600"/>
              </a:spcAft>
              <a:buSzPts val="1400"/>
              <a:buNone/>
            </a:pPr>
            <a:r>
              <a:rPr lang="en-US" dirty="0"/>
              <a:t>For the first two bits, both devices send 1, then 0. They agree, so SDA matches both. On the third bit they disagree. Device 1 wants a 1, so it releases the line. Device 2 wants a 0, so it pulls the line low. Because SDA is wired-AND (open-drain outputs with a pull-up), any device pulling low wins, and SDA reads 0. Device 1 checks SDA, sees 0 instead of the 1 it sent, and stops. The label reads "Device #1 loses arbitration and switches off," and its trace turns dashed from that point on. The arrow labeled "Device #2 drives SDA" shows that device 2 finishes its full sequence, 1, 0, 0, 1, 0, 1, and SDA carries exactly that.</a:t>
            </a:r>
          </a:p>
          <a:p>
            <a:pPr marL="0" lvl="0" indent="0" algn="l" rtl="0">
              <a:lnSpc>
                <a:spcPct val="100000"/>
              </a:lnSpc>
              <a:spcBef>
                <a:spcPts val="0"/>
              </a:spcBef>
              <a:spcAft>
                <a:spcPts val="600"/>
              </a:spcAft>
              <a:buSzPts val="1400"/>
              <a:buNone/>
            </a:pPr>
            <a:r>
              <a:rPr lang="en-US" dirty="0"/>
              <a:t>The key point is that this arbitration is lossless. Device 2 never knows there was a conflict, and its packet is not corrupted. As a consequence, the master sending the first 0 where the other sends a 1 wins. A message with a numerically lower address therefore gets priority.</a:t>
            </a:r>
          </a:p>
          <a:p>
            <a:pPr marL="0" lvl="0" indent="0" algn="l" rtl="0">
              <a:lnSpc>
                <a:spcPct val="100000"/>
              </a:lnSpc>
              <a:spcBef>
                <a:spcPts val="0"/>
              </a:spcBef>
              <a:spcAft>
                <a:spcPts val="600"/>
              </a:spcAft>
              <a:buSzPts val="1400"/>
              <a:buNone/>
            </a:pPr>
            <a:r>
              <a:rPr lang="en-US" dirty="0"/>
              <a:t>Quick check: what would happen if device 1 drove the line actively high instead of releasing it? You would get a short circuit and garbage on the bus.</a:t>
            </a:r>
          </a:p>
          <a:p>
            <a:pPr marL="0" lvl="0" indent="0" algn="l" rtl="0">
              <a:lnSpc>
                <a:spcPct val="100000"/>
              </a:lnSpc>
              <a:spcBef>
                <a:spcPts val="0"/>
              </a:spcBef>
              <a:spcAft>
                <a:spcPts val="600"/>
              </a:spcAft>
              <a:buSzPts val="1400"/>
              <a:buNone/>
            </a:pPr>
            <a:r>
              <a:rPr lang="en-US" dirty="0"/>
              <a:t>The same wired-AND idea also governs the clock, which is the question on the next slide.</a:t>
            </a:r>
          </a:p>
        </p:txBody>
      </p:sp>
      <p:sp>
        <p:nvSpPr>
          <p:cNvPr id="116" name="Google Shape;116;p29:notes">
            <a:extLst>
              <a:ext uri="{FF2B5EF4-FFF2-40B4-BE49-F238E27FC236}">
                <a16:creationId xmlns:a16="http://schemas.microsoft.com/office/drawing/2014/main" id="{FC460299-1C2E-8129-90D1-FE2AB98CBF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05521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9E40127-582A-3A0E-85A3-63EFB7248A58}"/>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68980E48-3660-2FC0-3864-7CE0E747A1C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is a discussion question in large white text on the dark blue title background: "If you have 2 masters sending Serial Clock (SCL) signals, what is a problem?"</a:t>
            </a:r>
          </a:p>
          <a:p>
            <a:pPr marL="0" lvl="0" indent="0" algn="l" rtl="0">
              <a:spcBef>
                <a:spcPts val="0"/>
              </a:spcBef>
              <a:spcAft>
                <a:spcPts val="600"/>
              </a:spcAft>
              <a:buNone/>
            </a:pPr>
            <a:r>
              <a:rPr lang="en-US" dirty="0"/>
              <a:t>The arbitration you just saw on SDA quietly assumed both masters share one clock, so each bit is compared at the same moment. But each master generates SCL from its own internal timer, with its own frequency and phase. Their edges will not line up, so who decides when a bit is valid?</a:t>
            </a:r>
          </a:p>
          <a:p>
            <a:pPr marL="0" lvl="0" indent="0" algn="l" rtl="0">
              <a:spcBef>
                <a:spcPts val="0"/>
              </a:spcBef>
              <a:spcAft>
                <a:spcPts val="600"/>
              </a:spcAft>
              <a:buNone/>
            </a:pPr>
            <a:r>
              <a:rPr lang="en-US" dirty="0"/>
              <a:t>So the question for you is: how do we get the electrical signals to agree on a single clock wave? Think about how the open-drain lines behave, which the next slides explain.</a:t>
            </a:r>
          </a:p>
        </p:txBody>
      </p:sp>
      <p:sp>
        <p:nvSpPr>
          <p:cNvPr id="87" name="Google Shape;87;p27:notes">
            <a:extLst>
              <a:ext uri="{FF2B5EF4-FFF2-40B4-BE49-F238E27FC236}">
                <a16:creationId xmlns:a16="http://schemas.microsoft.com/office/drawing/2014/main" id="{F2A128FA-9E8D-47CF-5904-C3CFB676620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86236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F94AAAB-8BC6-8921-F38A-EBABF0F44D2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8EC11F6-49EA-F5E6-10FC-4DE5FF0756E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answers the question from the previous slide: what happens when two masters both try to drive the Serial Clock line, SCL? The text explains how any device on the bus is physically allowed to drive SCL, and what that means for the voltage on the wire.</a:t>
            </a:r>
          </a:p>
          <a:p>
            <a:pPr marL="0" lvl="0" indent="0" algn="l" rtl="0">
              <a:lnSpc>
                <a:spcPct val="100000"/>
              </a:lnSpc>
              <a:spcBef>
                <a:spcPts val="0"/>
              </a:spcBef>
              <a:spcAft>
                <a:spcPts val="600"/>
              </a:spcAft>
              <a:buSzPts val="1400"/>
              <a:buNone/>
            </a:pPr>
            <a:r>
              <a:rPr lang="en-US" dirty="0"/>
              <a:t>Each device has only two options. It can drive the line LOW by turning on an internal transistor that connects SCL to ground, 0 V. Or it can release the line by turning that transistor off, letting go of the wire. A device can never force the line high. The only thing that pulls SCL back up is the external pull-up resistor. This arrangement is called open-drain (or open-collector) output.</a:t>
            </a:r>
          </a:p>
          <a:p>
            <a:pPr marL="0" lvl="0" indent="0" algn="l" rtl="0">
              <a:lnSpc>
                <a:spcPct val="100000"/>
              </a:lnSpc>
              <a:spcBef>
                <a:spcPts val="0"/>
              </a:spcBef>
              <a:spcAft>
                <a:spcPts val="600"/>
              </a:spcAft>
              <a:buSzPts val="1400"/>
              <a:buNone/>
            </a:pPr>
            <a:r>
              <a:rPr lang="en-US" dirty="0"/>
              <a:t>Because of this, SCL behaves as one big physical AND gate, called a wired-AND. The line goes HIGH only if ALL devices have released it, and it goes LOW the instant ANY device pulls it to ground. In logic form, SCL = device1 AND device2 AND ... AND deviceN, where each device's term is 1 when it has released the line.</a:t>
            </a:r>
          </a:p>
          <a:p>
            <a:pPr marL="0" lvl="0" indent="0" algn="l" rtl="0">
              <a:lnSpc>
                <a:spcPct val="100000"/>
              </a:lnSpc>
              <a:spcBef>
                <a:spcPts val="0"/>
              </a:spcBef>
              <a:spcAft>
                <a:spcPts val="600"/>
              </a:spcAft>
              <a:buSzPts val="1400"/>
              <a:buNone/>
            </a:pPr>
            <a:r>
              <a:rPr lang="en-US" dirty="0"/>
              <a:t>This is why two clocks do not fight. With push-pull outputs, one master driving high while another drives low would short the supply to ground through the two transistors. With open-drain outputs, low simply wins. SDA works the same way, which is what made the arbitration on slide 52 possible.</a:t>
            </a:r>
          </a:p>
          <a:p>
            <a:pPr marL="0" lvl="0" indent="0" algn="l" rtl="0">
              <a:lnSpc>
                <a:spcPct val="100000"/>
              </a:lnSpc>
              <a:spcBef>
                <a:spcPts val="0"/>
              </a:spcBef>
              <a:spcAft>
                <a:spcPts val="600"/>
              </a:spcAft>
              <a:buSzPts val="1400"/>
              <a:buNone/>
            </a:pPr>
            <a:r>
              <a:rPr lang="en-US" dirty="0"/>
              <a:t>A common mistake is to configure I2C pins as push-pull GPIO, or to forget the pull-up resistors. Without pull-ups the line never rises.</a:t>
            </a:r>
          </a:p>
          <a:p>
            <a:pPr marL="0" lvl="0" indent="0" algn="l" rtl="0">
              <a:lnSpc>
                <a:spcPct val="100000"/>
              </a:lnSpc>
              <a:spcBef>
                <a:spcPts val="0"/>
              </a:spcBef>
              <a:spcAft>
                <a:spcPts val="600"/>
              </a:spcAft>
              <a:buSzPts val="1400"/>
              <a:buNone/>
            </a:pPr>
            <a:r>
              <a:rPr lang="en-US" dirty="0"/>
              <a:t>Quick check: if one master releases SCL but a slow slave is still holding it low, what voltage does the bus show? The next slides use exactly this behavior to synchronize clocks.</a:t>
            </a:r>
          </a:p>
        </p:txBody>
      </p:sp>
      <p:sp>
        <p:nvSpPr>
          <p:cNvPr id="116" name="Google Shape;116;p29:notes">
            <a:extLst>
              <a:ext uri="{FF2B5EF4-FFF2-40B4-BE49-F238E27FC236}">
                <a16:creationId xmlns:a16="http://schemas.microsoft.com/office/drawing/2014/main" id="{EAEAD4B2-3CE8-A83A-BDA3-5168650D55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2431263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71CBFB4-8EF2-C10E-F9B4-07DDC70F90F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E05EF9F-11FF-82F6-9958-35D228EA8B0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all text, with no figures. It walks through how two or more I2C masters end up sharing a single clock on the SCL line, building directly on the wired-AND behavior from the previous slide.</a:t>
            </a:r>
          </a:p>
          <a:p>
            <a:pPr marL="0" lvl="0" indent="0" algn="l" rtl="0">
              <a:lnSpc>
                <a:spcPct val="100000"/>
              </a:lnSpc>
              <a:spcBef>
                <a:spcPts val="0"/>
              </a:spcBef>
              <a:spcAft>
                <a:spcPts val="600"/>
              </a:spcAft>
              <a:buSzPts val="1400"/>
              <a:buNone/>
            </a:pPr>
            <a:r>
              <a:rPr lang="en-US" dirty="0"/>
              <a:t>Here is the sequence the slide describes. Each master starts a clock cycle by pulling SCL LOW. Whichever master does this first drives the whole bus to 0 V at once, because any single device pulling low wins. The other masters see that falling edge, reset their internal clock state machines to it, and start counting their own programmed LOW periods.</a:t>
            </a:r>
          </a:p>
          <a:p>
            <a:pPr marL="0" lvl="0" indent="0" algn="l" rtl="0">
              <a:lnSpc>
                <a:spcPct val="100000"/>
              </a:lnSpc>
              <a:spcBef>
                <a:spcPts val="0"/>
              </a:spcBef>
              <a:spcAft>
                <a:spcPts val="600"/>
              </a:spcAft>
              <a:buSzPts val="1400"/>
              <a:buNone/>
            </a:pPr>
            <a:r>
              <a:rPr lang="en-US" dirty="0"/>
              <a:t>Two rules fall out of the wired-AND, and the slide puts them in bold. The synchronized LOW period is set by the master with the longest programmed LOW time. A master that finishes early releases SCL, but the line stays low while anyone is still holding it, so the early master waits. The synchronized HIGH period is set by the master with the shortest programmed HIGH time. As soon as any master's HIGH count ends, it pulls the line low again, and that ends the HIGH phase for everyone.</a:t>
            </a:r>
          </a:p>
          <a:p>
            <a:pPr marL="0" lvl="0" indent="0" algn="l" rtl="0">
              <a:lnSpc>
                <a:spcPct val="100000"/>
              </a:lnSpc>
              <a:spcBef>
                <a:spcPts val="0"/>
              </a:spcBef>
              <a:spcAft>
                <a:spcPts val="600"/>
              </a:spcAft>
              <a:buSzPts val="1400"/>
              <a:buNone/>
            </a:pPr>
            <a:r>
              <a:rPr lang="en-US" dirty="0"/>
              <a:t>The last point applies the same mechanism to slaves, and it is called clock stretching. A slow slave can hold SCL low after a bit, forcing every clock generator into a wait state. This gives the slave time to store a received byte or prepare the next byte to send. A common mistake is assuming the master alone sets the bit rate; on a real bus, the slowest device has the final say.</a:t>
            </a:r>
          </a:p>
          <a:p>
            <a:pPr marL="0" lvl="0" indent="0" algn="l" rtl="0">
              <a:lnSpc>
                <a:spcPct val="100000"/>
              </a:lnSpc>
              <a:spcBef>
                <a:spcPts val="0"/>
              </a:spcBef>
              <a:spcAft>
                <a:spcPts val="600"/>
              </a:spcAft>
              <a:buSzPts val="1400"/>
              <a:buNone/>
            </a:pPr>
            <a:r>
              <a:rPr lang="en-US" dirty="0"/>
              <a:t>Quick check: if master A wants 5 microseconds low and 4 high, and master B wants 3 low and 6 high, the shared clock is 5 microseconds low and 4 high.</a:t>
            </a:r>
          </a:p>
          <a:p>
            <a:pPr marL="0" lvl="0" indent="0" algn="l" rtl="0">
              <a:lnSpc>
                <a:spcPct val="100000"/>
              </a:lnSpc>
              <a:spcBef>
                <a:spcPts val="0"/>
              </a:spcBef>
              <a:spcAft>
                <a:spcPts val="600"/>
              </a:spcAft>
              <a:buSzPts val="1400"/>
              <a:buNone/>
            </a:pPr>
            <a:r>
              <a:rPr lang="en-US" dirty="0"/>
              <a:t>Next, a timing diagram shows exactly this synchronization between two devices.</a:t>
            </a:r>
          </a:p>
        </p:txBody>
      </p:sp>
      <p:sp>
        <p:nvSpPr>
          <p:cNvPr id="116" name="Google Shape;116;p29:notes">
            <a:extLst>
              <a:ext uri="{FF2B5EF4-FFF2-40B4-BE49-F238E27FC236}">
                <a16:creationId xmlns:a16="http://schemas.microsoft.com/office/drawing/2014/main" id="{1996EC63-E185-5A52-EB13-FE9752A4D9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27416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FCA1EA4-1150-7202-D155-3E447F9DC12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3460245-CCF5-A0B7-F2E6-677CCB27AEB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Figure 20-12 from the TI technical reference manual, "Synchronization of Two I2C Clock Generators During Arbitration." It turns the rules from the last slide into a timing diagram with three traces stacked vertically: SCL from device number 1, SCL from device number 2, and the actual bus line SCL.</a:t>
            </a:r>
          </a:p>
          <a:p>
            <a:pPr marL="0" lvl="0" indent="0" algn="l" rtl="0">
              <a:lnSpc>
                <a:spcPct val="100000"/>
              </a:lnSpc>
              <a:spcBef>
                <a:spcPts val="0"/>
              </a:spcBef>
              <a:spcAft>
                <a:spcPts val="600"/>
              </a:spcAft>
              <a:buSzPts val="1400"/>
              <a:buNone/>
            </a:pPr>
            <a:r>
              <a:rPr lang="en-US" dirty="0"/>
              <a:t>Reading left to right: device 1 pulls its clock low first, and the bus line drops to low at that same instant, because any device pulling low forces the whole line to 0 V. Device 2 drops a little later. Being already low, the bus does not change. Device 1 finishes its low period first and releases its clock, but the bus stays low because device 2 is still holding it down.</a:t>
            </a:r>
          </a:p>
          <a:p>
            <a:pPr marL="0" lvl="0" indent="0" algn="l" rtl="0">
              <a:lnSpc>
                <a:spcPct val="100000"/>
              </a:lnSpc>
              <a:spcBef>
                <a:spcPts val="0"/>
              </a:spcBef>
              <a:spcAft>
                <a:spcPts val="600"/>
              </a:spcAft>
              <a:buSzPts val="1400"/>
              <a:buNone/>
            </a:pPr>
            <a:r>
              <a:rPr lang="en-US" dirty="0"/>
              <a:t>The interval between device 1 releasing and device 2 releasing is labeled "Wait state." During it, device 1 sees that the line has not risen and waits. When device 2 finally releases, the bus rises. A dashed line labeled "Start HIGH period" marks the moment both devices begin counting their high time together. Shortly after, both pull low again, and the bus follows.</a:t>
            </a:r>
          </a:p>
          <a:p>
            <a:pPr marL="0" lvl="0" indent="0" algn="l" rtl="0">
              <a:lnSpc>
                <a:spcPct val="100000"/>
              </a:lnSpc>
              <a:spcBef>
                <a:spcPts val="0"/>
              </a:spcBef>
              <a:spcAft>
                <a:spcPts val="600"/>
              </a:spcAft>
              <a:buSzPts val="1400"/>
              <a:buNone/>
            </a:pPr>
            <a:r>
              <a:rPr lang="en-US" dirty="0"/>
              <a:t>The key takeaway is the wired-AND behavior. The bus low time is set by the device with the longest low period, and the bus high time is set by the device with the shortest high period. This same mechanism is clock stretching, where a slow slave holds SCL low to buy time to store or prepare a byte.</a:t>
            </a:r>
          </a:p>
          <a:p>
            <a:pPr marL="0" lvl="0" indent="0" algn="l" rtl="0">
              <a:lnSpc>
                <a:spcPct val="100000"/>
              </a:lnSpc>
              <a:spcBef>
                <a:spcPts val="0"/>
              </a:spcBef>
              <a:spcAft>
                <a:spcPts val="600"/>
              </a:spcAft>
              <a:buSzPts val="1400"/>
              <a:buNone/>
            </a:pPr>
            <a:r>
              <a:rPr lang="en-US" dirty="0"/>
              <a:t>A common mistake is assuming the master's programmed clock is exactly what appears on the wire. It is only a request; the bus decides.</a:t>
            </a:r>
          </a:p>
          <a:p>
            <a:pPr marL="0" lvl="0" indent="0" algn="l" rtl="0">
              <a:lnSpc>
                <a:spcPct val="100000"/>
              </a:lnSpc>
              <a:spcBef>
                <a:spcPts val="0"/>
              </a:spcBef>
              <a:spcAft>
                <a:spcPts val="600"/>
              </a:spcAft>
              <a:buSzPts val="1400"/>
              <a:buNone/>
            </a:pPr>
            <a:r>
              <a:rPr lang="en-US" dirty="0"/>
              <a:t>Next, you see how these low and high periods are set in code on the F28379D.</a:t>
            </a:r>
          </a:p>
        </p:txBody>
      </p:sp>
      <p:sp>
        <p:nvSpPr>
          <p:cNvPr id="116" name="Google Shape;116;p29:notes">
            <a:extLst>
              <a:ext uri="{FF2B5EF4-FFF2-40B4-BE49-F238E27FC236}">
                <a16:creationId xmlns:a16="http://schemas.microsoft.com/office/drawing/2014/main" id="{E3017F10-C0FF-DD99-9F97-170A808D16A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630811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90229A1-C4D5-1E31-B4AE-21F9D76A5FB5}"/>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EB72D92A-40DA-CEAB-651A-6390E806EA6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that reads "I2C Code" in large white text, with a short orange accent line beneath it, on the dark blue Grainger Engineering background with faint hand-drawn equations and diagrams.</a:t>
            </a:r>
          </a:p>
          <a:p>
            <a:pPr marL="0" lvl="0" indent="0" algn="l" rtl="0">
              <a:spcBef>
                <a:spcPts val="0"/>
              </a:spcBef>
              <a:spcAft>
                <a:spcPts val="600"/>
              </a:spcAft>
              <a:buNone/>
            </a:pPr>
            <a:r>
              <a:rPr lang="en-US" dirty="0"/>
              <a:t>You have just seen how I2C masters share the SCL line through clock synchronization and arbitration. Now you move from the protocol to the registers. The next two slides walk through initializing the F28379D's I2C-A module and writing a message to an EEPROM slave.</a:t>
            </a:r>
          </a:p>
        </p:txBody>
      </p:sp>
      <p:sp>
        <p:nvSpPr>
          <p:cNvPr id="87" name="Google Shape;87;p27:notes">
            <a:extLst>
              <a:ext uri="{FF2B5EF4-FFF2-40B4-BE49-F238E27FC236}">
                <a16:creationId xmlns:a16="http://schemas.microsoft.com/office/drawing/2014/main" id="{9234B7F8-5202-0577-2128-19A5F21FE4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25698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65EF128-6066-A9F1-7231-CDBCE83D342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D2F2CE0-F6CA-3074-37C2-EAA94DB884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complete initialization function for the I2C-A module on the F28379D, written in C as void I2CA_Init(void). It has five numbered steps, each one or two register writes with a comment.</a:t>
            </a:r>
          </a:p>
          <a:p>
            <a:pPr marL="0" lvl="0" indent="0" algn="l" rtl="0">
              <a:lnSpc>
                <a:spcPct val="100000"/>
              </a:lnSpc>
              <a:spcBef>
                <a:spcPts val="0"/>
              </a:spcBef>
              <a:spcAft>
                <a:spcPts val="600"/>
              </a:spcAft>
              <a:buSzPts val="1400"/>
              <a:buNone/>
            </a:pPr>
            <a:r>
              <a:rPr lang="en-US" dirty="0"/>
              <a:t>Step 1 sets the prescaler: I2CPSC = 16. The module clock equals SYSCLK / (I2CPSC + 1). With the 200 MHz system clock that is 200 / 17, about 11.8 MHz, inside the 7 to 12 MHz range the I2C module requires.</a:t>
            </a:r>
          </a:p>
          <a:p>
            <a:pPr marL="0" lvl="0" indent="0" algn="l" rtl="0">
              <a:lnSpc>
                <a:spcPct val="100000"/>
              </a:lnSpc>
              <a:spcBef>
                <a:spcPts val="0"/>
              </a:spcBef>
              <a:spcAft>
                <a:spcPts val="600"/>
              </a:spcAft>
              <a:buSzPts val="1400"/>
              <a:buNone/>
            </a:pPr>
            <a:r>
              <a:rPr lang="en-US" dirty="0"/>
              <a:t>Step 2 shapes the SCL clock: I2CCLKL = 10 sets the length of the LOW period and I2CCLKH = 5 sets the HIGH period, both in module-clock cycles. The hardware adds a small fixed offset to each, so together they give an SCL rate of a few hundred kilohertz.</a:t>
            </a:r>
          </a:p>
          <a:p>
            <a:pPr marL="0" lvl="0" indent="0" algn="l" rtl="0">
              <a:lnSpc>
                <a:spcPct val="100000"/>
              </a:lnSpc>
              <a:spcBef>
                <a:spcPts val="0"/>
              </a:spcBef>
              <a:spcAft>
                <a:spcPts val="600"/>
              </a:spcAft>
              <a:buSzPts val="1400"/>
              <a:buNone/>
            </a:pPr>
            <a:r>
              <a:rPr lang="en-US" dirty="0"/>
              <a:t>Step 3 writes 0x24 to I2CIER, which enables two interrupts: Start Condition Detected (SCD) and Register Access Ready (ARDY).</a:t>
            </a:r>
          </a:p>
          <a:p>
            <a:pPr marL="0" lvl="0" indent="0" algn="l" rtl="0">
              <a:lnSpc>
                <a:spcPct val="100000"/>
              </a:lnSpc>
              <a:spcBef>
                <a:spcPts val="0"/>
              </a:spcBef>
              <a:spcAft>
                <a:spcPts val="600"/>
              </a:spcAft>
              <a:buSzPts val="1400"/>
              <a:buNone/>
            </a:pPr>
            <a:r>
              <a:rPr lang="en-US" dirty="0"/>
              <a:t>Step 4 writes 0x0020 to I2CMDR. That sets the IRS bit, which takes the module out of reset.</a:t>
            </a:r>
          </a:p>
          <a:p>
            <a:pPr marL="0" lvl="0" indent="0" algn="l" rtl="0">
              <a:lnSpc>
                <a:spcPct val="100000"/>
              </a:lnSpc>
              <a:spcBef>
                <a:spcPts val="0"/>
              </a:spcBef>
              <a:spcAft>
                <a:spcPts val="600"/>
              </a:spcAft>
              <a:buSzPts val="1400"/>
              <a:buNone/>
            </a:pPr>
            <a:r>
              <a:rPr lang="en-US" dirty="0"/>
              <a:t>Step 5 enables the 16-level FIFOs. I2CFFTX = 0x6000 turns on FIFO mode and the transmit FIFO. I2CFFRX = 0x2040 enables the receive FIFO and clears its interrupt flag.</a:t>
            </a:r>
          </a:p>
          <a:p>
            <a:pPr marL="0" lvl="0" indent="0" algn="l" rtl="0">
              <a:lnSpc>
                <a:spcPct val="100000"/>
              </a:lnSpc>
              <a:spcBef>
                <a:spcPts val="0"/>
              </a:spcBef>
              <a:spcAft>
                <a:spcPts val="600"/>
              </a:spcAft>
              <a:buSzPts val="1400"/>
              <a:buNone/>
            </a:pPr>
            <a:r>
              <a:rPr lang="en-US" dirty="0"/>
              <a:t>The note under the code explains why LOW is longer than HIGH. SCL is pulled low actively by a transistor, so it falls fast. It is pulled high only by a passive pull-up resistor charging the bus capacitance, so it rises slowly. The I2C specification also requires a longer minimum low time than high time. This is the same open-drain, wired-AND bus behind the clock synchronization on slide 56.</a:t>
            </a:r>
          </a:p>
          <a:p>
            <a:pPr marL="0" lvl="0" indent="0" algn="l" rtl="0">
              <a:lnSpc>
                <a:spcPct val="100000"/>
              </a:lnSpc>
              <a:spcBef>
                <a:spcPts val="0"/>
              </a:spcBef>
              <a:spcAft>
                <a:spcPts val="600"/>
              </a:spcAft>
              <a:buSzPts val="1400"/>
              <a:buNone/>
            </a:pPr>
            <a:r>
              <a:rPr lang="en-US" dirty="0"/>
              <a:t>A common mistake is to change the prescaler or clock registers while the module is running. Notice that this code configures them before setting IRS.</a:t>
            </a:r>
          </a:p>
          <a:p>
            <a:pPr marL="0" lvl="0" indent="0" algn="l" rtl="0">
              <a:lnSpc>
                <a:spcPct val="100000"/>
              </a:lnSpc>
              <a:spcBef>
                <a:spcPts val="0"/>
              </a:spcBef>
              <a:spcAft>
                <a:spcPts val="600"/>
              </a:spcAft>
              <a:buSzPts val="1400"/>
              <a:buNone/>
            </a:pPr>
            <a:r>
              <a:rPr lang="en-US" dirty="0"/>
              <a:t>Next, you use this configured module to write data to an EEPROM.</a:t>
            </a:r>
          </a:p>
        </p:txBody>
      </p:sp>
      <p:sp>
        <p:nvSpPr>
          <p:cNvPr id="116" name="Google Shape;116;p29:notes">
            <a:extLst>
              <a:ext uri="{FF2B5EF4-FFF2-40B4-BE49-F238E27FC236}">
                <a16:creationId xmlns:a16="http://schemas.microsoft.com/office/drawing/2014/main" id="{31C8D23E-711B-3969-8670-62F87E480BB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6267339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FBF2369-0DAB-7754-347F-C85C833F002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FEDA960-0BD6-630C-D2CC-D8E05155482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follows the initialization routine from the previous slide with the function that actually sends data: I2CA_WriteData, which writes bytes to an I2C EEPROM through the I2C-A module of the F28379D. It takes a pointer to an I2CMSG structure holding the slave address, the memory address and the data buffer, and it returns a status code.</a:t>
            </a:r>
          </a:p>
          <a:p>
            <a:pPr marL="0" lvl="0" indent="0" algn="l" rtl="0">
              <a:lnSpc>
                <a:spcPct val="100000"/>
              </a:lnSpc>
              <a:spcBef>
                <a:spcPts val="0"/>
              </a:spcBef>
              <a:spcAft>
                <a:spcPts val="600"/>
              </a:spcAft>
              <a:buSzPts val="1400"/>
              <a:buNone/>
            </a:pPr>
            <a:r>
              <a:rPr lang="en-US" dirty="0"/>
              <a:t>The code performs six steps. First, it checks the STP bit of the mode register I2CMDR. STP stays 1 until the previous stop condition has gone out, so if it is still set, the function returns I2C_STP_NOT_READY_ERROR. Second, it checks the bus-busy bit BB in the status register I2CSTR. If another master is holding the bus, it returns I2C_BUS_BUSY_ERROR. This is the multi-master problem from a few slides ago. Third, it loads the slave address register I2CSAR. A typical EEPROM sits at 0x50. The address is not sent yet; the hardware sends it automatically after the START condition. Fourth, it sets the count register I2CCNT to 2 + NumOfBytes, because two bytes of EEPROM memory address precede the data. Next, it pushes the memory high and low address bytes into the transmit FIFO through I2CDXR. In the slide's analogy, the slave address is the building, and this memory address is the apartment number. Fifth, a for loop pushes each data byte from MsgBuffer into the FIFO. Sixth, it writes 0x6E20 to I2CMDR. That value sets FREE (0x4000), START (0x2000), STOP (0x0800), MASTER (0x0400), TRANSMIT (0x0200) and the reset-release bit IRS (0x0020). The hardware then runs the whole transaction on its own.</a:t>
            </a:r>
          </a:p>
          <a:p>
            <a:pPr marL="0" lvl="0" indent="0" algn="l" rtl="0">
              <a:lnSpc>
                <a:spcPct val="100000"/>
              </a:lnSpc>
              <a:spcBef>
                <a:spcPts val="0"/>
              </a:spcBef>
              <a:spcAft>
                <a:spcPts val="600"/>
              </a:spcAft>
              <a:buSzPts val="1400"/>
              <a:buNone/>
            </a:pPr>
            <a:r>
              <a:rPr lang="en-US" dirty="0"/>
              <a:t>A common mistake: the FIFO is only 16 levels deep, so 2 + NumOfBytes must not exceed 16. That leaves at most 14 data bytes per call.</a:t>
            </a:r>
          </a:p>
        </p:txBody>
      </p:sp>
      <p:sp>
        <p:nvSpPr>
          <p:cNvPr id="116" name="Google Shape;116;p29:notes">
            <a:extLst>
              <a:ext uri="{FF2B5EF4-FFF2-40B4-BE49-F238E27FC236}">
                <a16:creationId xmlns:a16="http://schemas.microsoft.com/office/drawing/2014/main" id="{3E1D1E9B-4136-F5C6-9A15-5DB9488C1F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3289479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shows the single word "Questions?" in large white text on the dark blue Grainger Engineering background, with faint hand-drawn equations and diagrams behind it and the Illinois logo in the corner.</a:t>
            </a:r>
          </a:p>
          <a:p>
            <a:pPr marL="0" lvl="0" indent="0" algn="l" rtl="0">
              <a:spcBef>
                <a:spcPts val="0"/>
              </a:spcBef>
              <a:spcAft>
                <a:spcPts val="600"/>
              </a:spcAft>
              <a:buNone/>
            </a:pPr>
            <a:r>
              <a:rPr lang="en-US" dirty="0"/>
              <a:t>We have just finished the I2C initialization and write code, which closes today's tour of serial communication: noise and interference, SCI/UART, SPI, and I2C. Before we wrap up, ask about anything unclear. For example, why can SPI reach 15 sensors only with extra chip-select lines, while I2C reaches them by address?</a:t>
            </a: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closing slide marks the end of Lecture 10. It shows the orange Grainger College of Engineering background with the University of Illinois block I logo and the text "The Grainger College of Engineering, University of Illinois Urbana-Champaign." Faint hand-drawn sketches of equations, molecules and diagrams fill the background as decoration.</a:t>
            </a:r>
          </a:p>
          <a:p>
            <a:pPr marL="0" lvl="0" indent="0" algn="l" rtl="0">
              <a:spcBef>
                <a:spcPts val="0"/>
              </a:spcBef>
              <a:spcAft>
                <a:spcPts val="600"/>
              </a:spcAft>
              <a:buNone/>
            </a:pPr>
            <a:r>
              <a:rPr lang="en-US" dirty="0"/>
              <a:t>Today you went from noise and interference on serial lines through UART, SPI and I2C, ending with the I2C write routine. Review how each protocol handles clocking, addressing and multiple devices before using them with the Red Board.</a:t>
            </a: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marius-juston.github.io/SE-423---Class-Material/Homeworks/HW2.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marius-juston.github.io/SE-423---Class-Material/Homeworks/LabVIEW2.pdf"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hyperlink" Target="https://en.wikipedia.org/wiki/Electromagnetic_interference"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commons.wikimedia.org/wiki/File:Prinzip_MIMO.svg" TargetMode="External"/><Relationship Id="rId5" Type="http://schemas.openxmlformats.org/officeDocument/2006/relationships/image" Target="../media/image21.sv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www.qsfptek.com/qt-news/half-duplex-vs-full-duplex-vs-simplex-transmission-mode.html?srsltid=AfmBOopvEYPNWR3lh3_nh46jJxnYWESqNo07pANJhJ3pTBwkhLByDD5J"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hyperlink" Target="https://www.linkedin.com/posts/anis-hassen_communication-modes-simplified-ever-activity-7310553982957948928-FHnT/" TargetMode="External"/><Relationship Id="rId4" Type="http://schemas.openxmlformats.org/officeDocument/2006/relationships/image" Target="../media/image22.gif"/></Relationships>
</file>

<file path=ppt/slides/_rels/slide2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hyperlink" Target="https://marius-juston.github.io/SE-423---Class-Material/Lectures/Slides/L4.pdf"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marius-juston.github.io/SE-423---Class-Material/Lectures/Slides/L6-7.pdf"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5.sv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27.sv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28.gif"/><Relationship Id="rId4" Type="http://schemas.openxmlformats.org/officeDocument/2006/relationships/hyperlink" Target="https://en.wikipedia.org/wiki/Serial_Peripheral_Interface"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30.svg"/><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32.svg"/><Relationship Id="rId4" Type="http://schemas.openxmlformats.org/officeDocument/2006/relationships/image" Target="../media/image31.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34.svg"/><Relationship Id="rId4" Type="http://schemas.openxmlformats.org/officeDocument/2006/relationships/image" Target="../media/image33.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36.svg"/><Relationship Id="rId4" Type="http://schemas.openxmlformats.org/officeDocument/2006/relationships/image" Target="../media/image35.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0.sv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42.svg"/><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44.svg"/><Relationship Id="rId4" Type="http://schemas.openxmlformats.org/officeDocument/2006/relationships/image" Target="../media/image43.png"/></Relationships>
</file>

<file path=ppt/slides/_rels/slide5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46.svg"/><Relationship Id="rId4" Type="http://schemas.openxmlformats.org/officeDocument/2006/relationships/image" Target="../media/image45.png"/></Relationships>
</file>

<file path=ppt/slides/_rels/slide5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p:nvPr>
            <p:ph type="title"/>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lnSpc>
                <a:spcPct val="100000"/>
              </a:lnSpc>
              <a:spcBef>
                <a:spcPts val="600"/>
              </a:spcBef>
              <a:spcAft>
                <a:spcPts val="0"/>
              </a:spcAft>
              <a:buSzPts val="4500"/>
            </a:pPr>
            <a:r>
              <a:rPr i="0" lang="en-US" sz="4500" b="1" dirty="0">
                <a:solidFill>
                  <a:schemeClr val="lt1"/>
                </a:solidFill>
              </a:rPr>
              <a:t>SE 423: Introduction to Mechatronics</a:t>
            </a:r>
            <a:endParaRPr i="0" b="0" lang="en-US" sz="4500" dirty="0">
              <a:solidFill>
                <a:srgbClr val="000000"/>
              </a:solidFill>
            </a:endParaRPr>
          </a:p>
          <a:p>
            <a:pPr marL="0" marR="0" lvl="0" indent="0" algn="ctr" rtl="0">
              <a:lnSpc>
                <a:spcPct val="100000"/>
              </a:lnSpc>
              <a:spcBef>
                <a:spcPts val="600"/>
              </a:spcBef>
              <a:spcAft>
                <a:spcPts val="0"/>
              </a:spcAft>
              <a:buNone/>
            </a:pPr>
            <a:r>
              <a:rPr i="0" b="0" lang="en-US" sz="2500" dirty="0">
                <a:solidFill>
                  <a:schemeClr val="lt1"/>
                </a:solidFill>
              </a:rPr>
              <a:t>Lecture 10: Communication Protocols</a:t>
            </a:r>
            <a:endParaRPr i="0" b="0" sz="1400" dirty="0">
              <a:solidFill>
                <a:srgbClr val="000000"/>
              </a:solidFill>
            </a:endParaRPr>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Atkinson Hyperlegible Next"/>
                <a:ea typeface="Arial"/>
                <a:cs typeface="Arial"/>
                <a:sym typeface="Arial"/>
              </a:rPr>
              <a:t>Monday, February 23</a:t>
            </a:r>
            <a:r>
              <a:rPr lang="en-US" sz="1800" b="0" i="0" u="none" strike="noStrike" cap="none" baseline="30000" dirty="0">
                <a:solidFill>
                  <a:schemeClr val="lt1"/>
                </a:solidFill>
                <a:latin typeface="Atkinson Hyperlegible Next"/>
                <a:ea typeface="Arial"/>
                <a:cs typeface="Arial"/>
                <a:sym typeface="Arial"/>
              </a:rPr>
              <a:t>rd</a:t>
            </a:r>
            <a:r>
              <a:rPr lang="en-US" sz="1800" b="0" i="0" u="none" strike="noStrike" cap="none" dirty="0">
                <a:solidFill>
                  <a:schemeClr val="lt1"/>
                </a:solidFill>
                <a:latin typeface="Atkinson Hyperlegible Next"/>
                <a:ea typeface="Arial"/>
                <a:cs typeface="Arial"/>
                <a:sym typeface="Arial"/>
              </a:rPr>
              <a:t> 2026</a:t>
            </a:r>
            <a:endParaRPr sz="1800" b="0" i="0" u="none" strike="noStrike" cap="none" dirty="0">
              <a:solidFill>
                <a:schemeClr val="lt1"/>
              </a:solidFill>
              <a:latin typeface="Atkinson Hyperlegible Next"/>
              <a:ea typeface="Arial"/>
              <a:cs typeface="Arial"/>
              <a:sym typeface="Arial"/>
            </a:endParaRPr>
          </a:p>
        </p:txBody>
      </p:sp>
      <p:pic>
        <p:nvPicPr>
          <p:cNvPr id="84" name="Google Shape;84;p26">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81D3E48-EB5B-86EE-C4D9-54116487B2D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BCC2F8C-3A4A-AD98-3682-D9499379E41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D83B27"/>
                </a:solidFill>
                <a:latin typeface="Atkinson Hyperlegible Next"/>
                <a:ea typeface="Arial"/>
                <a:cs typeface="Arial"/>
                <a:sym typeface="Arial"/>
              </a:rPr>
              <a:t>Office Hours:</a:t>
            </a:r>
            <a:endParaRPr lang="en-US" sz="2600" b="1" dirty="0">
              <a:solidFill>
                <a:srgbClr val="E84B36"/>
              </a:solidFill>
              <a:latin typeface="Atkinson Hyperlegible Next"/>
              <a:ea typeface="Arial"/>
              <a:cs typeface="Arial"/>
              <a:sym typeface="Arial"/>
            </a:endParaRP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Monday: </a:t>
            </a:r>
            <a:r>
              <a:rPr lang="en-US" sz="1800" dirty="0">
                <a:solidFill>
                  <a:schemeClr val="dk1"/>
                </a:solidFill>
                <a:latin typeface="Atkinson Hyperlegible Next"/>
                <a:ea typeface="Arial"/>
                <a:cs typeface="Arial"/>
                <a:sym typeface="Arial"/>
              </a:rPr>
              <a:t>4-6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Neel</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11-1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latin typeface="Atkinson Hyperlegible Next"/>
                <a:ea typeface="Arial"/>
                <a:cs typeface="Arial"/>
                <a:sym typeface="Arial"/>
              </a:rPr>
              <a:t>1-3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solidFill>
                  <a:schemeClr val="dk1"/>
                </a:solidFill>
                <a:latin typeface="Atkinson Hyperlegible Next"/>
                <a:ea typeface="Arial"/>
                <a:cs typeface="Arial"/>
                <a:sym typeface="Arial"/>
              </a:rPr>
              <a:t>2-5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Dan &amp; Marius</a:t>
            </a: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D83B27"/>
                </a:solidFill>
                <a:latin typeface="Atkinson Hyperlegible Next"/>
                <a:ea typeface="Arial"/>
                <a:cs typeface="Arial"/>
                <a:sym typeface="Arial"/>
              </a:rPr>
              <a:t>Lab: </a:t>
            </a:r>
            <a:r>
              <a:rPr lang="en-US" sz="1800" dirty="0">
                <a:latin typeface="Atkinson Hyperlegible Next"/>
                <a:ea typeface="Arial"/>
                <a:cs typeface="Arial"/>
                <a:sym typeface="Arial"/>
              </a:rPr>
              <a:t>Starting Lab 4 this week. This a 2-week lab!</a:t>
            </a:r>
            <a:endParaRPr lang="en-US" sz="1800" dirty="0">
              <a:solidFill>
                <a:srgbClr val="E84B36"/>
              </a:solidFill>
              <a:latin typeface="Atkinson Hyperlegible Next"/>
              <a:ea typeface="Arial"/>
              <a:cs typeface="Arial"/>
              <a:sym typeface="Arial"/>
            </a:endParaRP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r>
              <a:rPr lang="en-US" sz="1800" b="1" dirty="0" err="1">
                <a:solidFill>
                  <a:srgbClr val="D83B27"/>
                </a:solidFill>
                <a:latin typeface="Atkinson Hyperlegible Next"/>
                <a:ea typeface="Arial"/>
                <a:cs typeface="Arial"/>
                <a:sym typeface="Arial"/>
              </a:rPr>
              <a:t>Homeworks</a:t>
            </a:r>
            <a:r>
              <a:rPr lang="en-US" sz="1800" b="1" dirty="0">
                <a:solidFill>
                  <a:srgbClr val="D83B27"/>
                </a:solidFill>
                <a:latin typeface="Atkinson Hyperlegible Next"/>
                <a:ea typeface="Arial"/>
                <a:cs typeface="Arial"/>
                <a:sym typeface="Arial"/>
              </a:rPr>
              <a:t>:</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2</a:t>
            </a:r>
            <a:r>
              <a:rPr lang="en-US" sz="1800" dirty="0">
                <a:latin typeface="Atkinson Hyperlegible Next"/>
                <a:ea typeface="Arial"/>
                <a:cs typeface="Arial"/>
                <a:sym typeface="Arial"/>
              </a:rPr>
              <a:t> Ex 3 &amp; 4 are due </a:t>
            </a:r>
            <a:r>
              <a:rPr lang="en-US" sz="1800" b="1" dirty="0">
                <a:latin typeface="Atkinson Hyperlegible Next"/>
                <a:ea typeface="Arial"/>
                <a:cs typeface="Arial"/>
                <a:sym typeface="Arial"/>
              </a:rPr>
              <a:t>February 24, 5PM (The end of office hours)</a:t>
            </a: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Answers and code submissions for homework 2 are due </a:t>
            </a:r>
            <a:r>
              <a:rPr lang="en-US" sz="1800" b="1">
                <a:latin typeface="Atkinson Hyperlegible Next"/>
                <a:ea typeface="Arial"/>
                <a:cs typeface="Arial"/>
                <a:sym typeface="Arial"/>
              </a:rPr>
              <a:t>February 25, </a:t>
            </a:r>
            <a:r>
              <a:rPr lang="en-US" sz="1800" b="1" dirty="0">
                <a:latin typeface="Atkinson Hyperlegible Next"/>
                <a:ea typeface="Arial"/>
                <a:cs typeface="Arial"/>
                <a:sym typeface="Arial"/>
              </a:rPr>
              <a:t>9AM</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D83B27"/>
                </a:solidFill>
                <a:latin typeface="Atkinson Hyperlegible Next"/>
                <a:ea typeface="Arial"/>
                <a:cs typeface="Arial"/>
                <a:sym typeface="Arial"/>
              </a:rPr>
              <a:t>LabVIEW:</a:t>
            </a:r>
          </a:p>
          <a:p>
            <a:pPr marL="285750" indent="-285750">
              <a:lnSpc>
                <a:spcPct val="100000"/>
              </a:lnSpc>
              <a:spcBef>
                <a:spcPts val="0"/>
              </a:spcBef>
              <a:buSzPts val="3000"/>
            </a:pPr>
            <a:r>
              <a:rPr lang="en-US" sz="1800" dirty="0">
                <a:latin typeface="Atkinson Hyperlegible Next"/>
                <a:ea typeface="Arial"/>
                <a:cs typeface="Arial"/>
                <a:sym typeface="Arial"/>
              </a:rPr>
              <a:t>All check-offs for </a:t>
            </a:r>
            <a:r>
              <a:rPr lang="en-US" sz="1800" dirty="0">
                <a:latin typeface="Atkinson Hyperlegible Next"/>
                <a:ea typeface="Arial"/>
                <a:cs typeface="Arial"/>
                <a:sym typeface="Arial"/>
                <a:hlinkClick r:id="rId4"/>
              </a:rPr>
              <a:t>LabVIEW 2</a:t>
            </a:r>
            <a:r>
              <a:rPr lang="en-US" sz="1800" dirty="0">
                <a:latin typeface="Atkinson Hyperlegible Next"/>
                <a:ea typeface="Arial"/>
                <a:cs typeface="Arial"/>
                <a:sym typeface="Arial"/>
              </a:rPr>
              <a:t> are due </a:t>
            </a:r>
            <a:r>
              <a:rPr lang="en-US" sz="1800" b="1" dirty="0">
                <a:latin typeface="Atkinson Hyperlegible Next"/>
                <a:ea typeface="Arial"/>
                <a:cs typeface="Arial"/>
                <a:sym typeface="Arial"/>
              </a:rPr>
              <a:t>February 26, 5PM</a:t>
            </a:r>
          </a:p>
          <a:p>
            <a:pPr marL="285750" indent="-285750">
              <a:lnSpc>
                <a:spcPct val="100000"/>
              </a:lnSpc>
              <a:spcBef>
                <a:spcPts val="0"/>
              </a:spcBef>
              <a:buSzPts val="3000"/>
            </a:pPr>
            <a:endParaRPr lang="en-US" sz="1800" b="1"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19848B8C-9075-59EA-79FA-AF5B8BFAF8D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AE21486-AEEC-E367-96A5-81B49AD32D6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Reminders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8CCE647-4D9B-354D-A2E9-718CA28CD750}"/>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AC87A64-580A-4863-38B3-4D1504C83F5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3649EAB-2DB3-2DA4-9AD9-5D94AEE695E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41F8E2C-2780-2776-E8ED-542B082247F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D628D6E-10A9-03E9-659C-F8F2D0023C6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BEB3CD3-0F72-FD08-8FA5-00AD37965F2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795841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FCD35529-FC63-DDF1-655B-2AC0C85AA128}"/>
              </a:ext>
            </a:extLst>
          </p:cNvPr>
          <p:cNvGrpSpPr/>
          <p:nvPr/>
        </p:nvGrpSpPr>
        <p:grpSpPr>
          <a:xfrm>
            <a:off x="1441528" y="2296815"/>
            <a:ext cx="9308941" cy="2264370"/>
            <a:chOff x="1441528" y="1491040"/>
            <a:chExt cx="9308941" cy="2264370"/>
          </a:xfrm>
        </p:grpSpPr>
        <p:sp>
          <p:nvSpPr>
            <p:cNvPr id="89" name="Google Shape;89;p27"/>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Questions? (1/2)</a:t>
              </a:r>
              <a:endParaRPr sz="1400" b="0" i="0" u="none" strike="noStrike" cap="none" dirty="0">
                <a:solidFill>
                  <a:srgbClr val="000000"/>
                </a:solidFill>
                <a:latin typeface="Atkinson Hyperlegible Next"/>
                <a:ea typeface="Arial"/>
                <a:cs typeface="Arial"/>
                <a:sym typeface="Arial"/>
              </a:endParaRPr>
            </a:p>
          </p:txBody>
        </p:sp>
        <p:sp>
          <p:nvSpPr>
            <p:cNvPr id="90" name="Google Shape;90;p27"/>
            <p:cNvSpPr txBox="1"/>
            <p:nvPr/>
          </p:nvSpPr>
          <p:spPr>
            <a:xfrm>
              <a:off x="1441528" y="3232230"/>
              <a:ext cx="930894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tkinson Hyperlegible Next"/>
                  <a:ea typeface="Arial"/>
                  <a:cs typeface="Arial"/>
                  <a:sym typeface="Arial"/>
                </a:rPr>
                <a:t>Homework, Lab, LabVIEW questions?</a:t>
              </a:r>
              <a:endParaRPr sz="1800" b="0" i="0" u="none" strike="noStrike" cap="none" dirty="0">
                <a:solidFill>
                  <a:schemeClr val="lt1"/>
                </a:solidFill>
                <a:latin typeface="Atkinson Hyperlegible Next"/>
                <a:ea typeface="Arial"/>
                <a:cs typeface="Arial"/>
                <a:sym typeface="Arial"/>
              </a:endParaRPr>
            </a:p>
          </p:txBody>
        </p:sp>
        <p:grpSp>
          <p:nvGrpSpPr>
            <p:cNvPr id="91" name="Google Shape;91;p27"/>
            <p:cNvGrpSpPr/>
            <p:nvPr/>
          </p:nvGrpSpPr>
          <p:grpSpPr>
            <a:xfrm>
              <a:off x="3943790" y="2676939"/>
              <a:ext cx="3861740" cy="322845"/>
              <a:chOff x="3943790" y="2676939"/>
              <a:chExt cx="3861740" cy="322845"/>
            </a:xfrm>
          </p:grpSpPr>
          <p:cxnSp>
            <p:nvCxnSpPr>
              <p:cNvPr id="92" name="Google Shape;92;p27"/>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grpSp>
      <p:pic>
        <p:nvPicPr>
          <p:cNvPr id="94" name="Google Shape;94;p27">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p:cNvGrpSpPr/>
          <p:nvPr/>
        </p:nvGrpSpPr>
        <p:grpSpPr>
          <a:xfrm>
            <a:off x="4066674" y="6601537"/>
            <a:ext cx="5233412" cy="70446"/>
            <a:chOff x="4033424" y="6601537"/>
            <a:chExt cx="5233412" cy="70446"/>
          </a:xfrm>
        </p:grpSpPr>
        <p:cxnSp>
          <p:nvCxnSpPr>
            <p:cNvPr id="98" name="Google Shape;98;p27"/>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Serial Communication (1/5)</a:t>
            </a:r>
            <a:endParaRPr lang="en-US" sz="1800" b="0" i="0" u="none" strike="noStrike" cap="none" dirty="0">
              <a:solidFill>
                <a:srgbClr val="15264B"/>
              </a:solidFill>
              <a:latin typeface="Atkinson Hyperlegible Next"/>
              <a:ea typeface="Arial"/>
              <a:cs typeface="Arial"/>
              <a:sym typeface="Aria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9"/>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dirty="0">
                <a:solidFill>
                  <a:schemeClr val="dk1"/>
                </a:solidFill>
                <a:latin typeface="Atkinson Hyperlegible Next"/>
                <a:ea typeface="Arial"/>
                <a:cs typeface="Arial"/>
                <a:sym typeface="Arial"/>
              </a:rPr>
              <a:t>Communication between different signal could happen in 2 ways, </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gn="ctr" rtl="0">
              <a:lnSpc>
                <a:spcPct val="100000"/>
              </a:lnSpc>
              <a:spcBef>
                <a:spcPts val="0"/>
              </a:spcBef>
              <a:spcAft>
                <a:spcPts val="0"/>
              </a:spcAft>
              <a:buSzPts val="3000"/>
              <a:buNone/>
            </a:pPr>
            <a:r>
              <a:rPr lang="en-US" sz="1800" dirty="0">
                <a:solidFill>
                  <a:schemeClr val="dk1"/>
                </a:solidFill>
                <a:latin typeface="Atkinson Hyperlegible Next"/>
                <a:ea typeface="Arial"/>
                <a:cs typeface="Arial"/>
                <a:sym typeface="Arial"/>
              </a:rPr>
              <a:t>Parallel communication vs Serial communication</a:t>
            </a:r>
          </a:p>
          <a:p>
            <a:pPr marL="0" lvl="0" indent="0" algn="ctr"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rtl="0">
              <a:lnSpc>
                <a:spcPct val="100000"/>
              </a:lnSpc>
              <a:spcBef>
                <a:spcPts val="0"/>
              </a:spcBef>
              <a:spcAft>
                <a:spcPts val="0"/>
              </a:spcAft>
              <a:buSzPts val="3000"/>
              <a:buNone/>
            </a:pPr>
            <a:r>
              <a:rPr lang="en-US" sz="1800" dirty="0">
                <a:latin typeface="Atkinson Hyperlegible Next"/>
                <a:ea typeface="Arial"/>
                <a:cs typeface="Arial"/>
                <a:sym typeface="Arial"/>
              </a:rPr>
              <a:t>Why not do parallel communication?</a:t>
            </a:r>
          </a:p>
          <a:p>
            <a:pPr marL="0" lvl="0" indent="0"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Requires many I/O pins, these are already very limited</a:t>
            </a:r>
          </a:p>
          <a:p>
            <a:pPr marL="285750" indent="-285750">
              <a:lnSpc>
                <a:spcPct val="100000"/>
              </a:lnSpc>
              <a:spcBef>
                <a:spcPts val="0"/>
              </a:spcBef>
              <a:buSzPts val="3000"/>
            </a:pPr>
            <a:r>
              <a:rPr lang="en-US" sz="1800" dirty="0">
                <a:latin typeface="Atkinson Hyperlegible Next"/>
                <a:ea typeface="Arial"/>
                <a:cs typeface="Arial"/>
                <a:sym typeface="Arial"/>
              </a:rPr>
              <a:t>With the wires, we can run into electromagnetic interference (EMI) and cross-talk</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Serial communication, serializes data into single-bit stream, requires much less circuit complexity. What is the trade-off?</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gn="ctr">
              <a:lnSpc>
                <a:spcPct val="100000"/>
              </a:lnSpc>
              <a:spcBef>
                <a:spcPts val="0"/>
              </a:spcBef>
              <a:buSzPts val="3000"/>
              <a:buNone/>
            </a:pPr>
            <a:r>
              <a:rPr lang="en-US" sz="1800" dirty="0">
                <a:latin typeface="Atkinson Hyperlegible Next"/>
                <a:ea typeface="Arial"/>
                <a:cs typeface="Arial"/>
                <a:sym typeface="Arial"/>
              </a:rPr>
              <a:t>Time! </a:t>
            </a:r>
          </a:p>
          <a:p>
            <a:pPr marL="0" indent="0" algn="ctr">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Serializing an N-bit word requires N discrete clock cycles!</a:t>
            </a:r>
          </a:p>
          <a:p>
            <a:pPr marL="285750" indent="-285750">
              <a:lnSpc>
                <a:spcPct val="100000"/>
              </a:lnSpc>
              <a:spcBef>
                <a:spcPts val="0"/>
              </a:spcBef>
              <a:buSzPts val="3000"/>
            </a:pPr>
            <a:endParaRPr lang="en-US" sz="1800" dirty="0">
              <a:latin typeface="Atkinson Hyperlegible Next"/>
              <a:ea typeface="Arial"/>
              <a:cs typeface="Arial"/>
              <a:sym typeface="Arial"/>
            </a:endParaRPr>
          </a:p>
        </p:txBody>
      </p:sp>
      <p:sp>
        <p:nvSpPr>
          <p:cNvPr id="119" name="Google Shape;119;p29"/>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(2/5)</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p:cNvGrpSpPr/>
          <p:nvPr/>
        </p:nvGrpSpPr>
        <p:grpSpPr>
          <a:xfrm>
            <a:off x="4066674" y="6601537"/>
            <a:ext cx="5233412" cy="70446"/>
            <a:chOff x="4033424" y="6601537"/>
            <a:chExt cx="5233412" cy="70446"/>
          </a:xfrm>
        </p:grpSpPr>
        <p:cxnSp>
          <p:nvCxnSpPr>
            <p:cNvPr id="125" name="Google Shape;125;p29"/>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8">
                                            <p:txEl>
                                              <p:pRg st="11" end="1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8">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DFAD76F1-3EEB-1CE5-BCF3-2CF0F28E5DAF}"/>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43307880-10A8-466C-A82F-AEF87DAF4436}"/>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Interferences</a:t>
            </a:r>
            <a:endParaRPr lang="en-US"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C1D1F95D-0303-C926-6050-F0B7D14BB208}"/>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1271C797-5FB9-965B-240D-78A6D4BB0916}"/>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7778F9E7-AF03-7080-8DBC-5D3D6C35FD92}"/>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F0F792E9-4626-2DD3-8C2F-A7B486F4A06C}"/>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9A73BED0-95BB-B9E3-7610-7541656B69C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65690095-507F-DB7F-A84A-08C1B586B916}"/>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72176AFC-B1C1-C8A6-2878-52B8AA67CF7A}"/>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40450786-7484-40DA-33F3-14628489E87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8E5976D0-D247-2180-9FE4-1870155FD05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011277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77FECF8-EBAB-6751-1A3F-B8ACA0522B1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E584330-3BFD-10BF-0887-245CBFA444F9}"/>
              </a:ext>
            </a:extLst>
          </p:cNvPr>
          <p:cNvSpPr txBox="1">
            <a:spLocks noGrp="1"/>
          </p:cNvSpPr>
          <p:nvPr>
            <p:ph type="body" idx="1"/>
          </p:nvPr>
        </p:nvSpPr>
        <p:spPr>
          <a:xfrm>
            <a:off x="376810" y="1334279"/>
            <a:ext cx="5719190"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400" dirty="0">
                <a:latin typeface="Atkinson Hyperlegible Next"/>
                <a:ea typeface="Arial"/>
                <a:cs typeface="Arial"/>
                <a:sym typeface="Arial"/>
              </a:rPr>
              <a:t>There are 4 interference couplings:</a:t>
            </a:r>
          </a:p>
          <a:p>
            <a:pPr marL="0" indent="0">
              <a:lnSpc>
                <a:spcPct val="100000"/>
              </a:lnSpc>
              <a:spcBef>
                <a:spcPts val="0"/>
              </a:spcBef>
              <a:buSzPts val="3000"/>
              <a:buNone/>
            </a:pPr>
            <a:endParaRPr lang="en-US" sz="1400" dirty="0">
              <a:latin typeface="Atkinson Hyperlegible Next"/>
              <a:ea typeface="Arial"/>
              <a:cs typeface="Arial"/>
              <a:sym typeface="Arial"/>
            </a:endParaRPr>
          </a:p>
          <a:p>
            <a:pPr marL="285750" indent="-285750">
              <a:lnSpc>
                <a:spcPct val="100000"/>
              </a:lnSpc>
              <a:spcBef>
                <a:spcPts val="0"/>
              </a:spcBef>
              <a:buSzPts val="3000"/>
            </a:pPr>
            <a:r>
              <a:rPr lang="en-US" sz="1400" b="1" dirty="0">
                <a:latin typeface="Atkinson Hyperlegible Next"/>
                <a:ea typeface="Arial"/>
                <a:cs typeface="Arial"/>
                <a:sym typeface="Arial"/>
              </a:rPr>
              <a:t>Conductive</a:t>
            </a:r>
            <a:r>
              <a:rPr lang="en-US" sz="1400" dirty="0">
                <a:latin typeface="Atkinson Hyperlegible Next"/>
                <a:ea typeface="Arial"/>
                <a:cs typeface="Arial"/>
                <a:sym typeface="Arial"/>
              </a:rPr>
              <a:t>: You have physical connection causing interference</a:t>
            </a:r>
          </a:p>
          <a:p>
            <a:pPr marL="285750" indent="-285750">
              <a:lnSpc>
                <a:spcPct val="100000"/>
              </a:lnSpc>
              <a:spcBef>
                <a:spcPts val="0"/>
              </a:spcBef>
              <a:buSzPts val="3000"/>
            </a:pPr>
            <a:r>
              <a:rPr lang="en-US" sz="1400" b="1" dirty="0">
                <a:latin typeface="Atkinson Hyperlegible Next"/>
                <a:ea typeface="Arial"/>
                <a:cs typeface="Arial"/>
                <a:sym typeface="Arial"/>
              </a:rPr>
              <a:t>Inductive</a:t>
            </a:r>
            <a:r>
              <a:rPr lang="en-US" sz="1400" dirty="0">
                <a:latin typeface="Atkinson Hyperlegible Next"/>
                <a:ea typeface="Arial"/>
                <a:cs typeface="Arial"/>
                <a:sym typeface="Arial"/>
              </a:rPr>
              <a:t>: source and victim are separated by a short distance (typically less than a wavelength). Can be of two kinds, electrical induction and magnetic induction. </a:t>
            </a:r>
          </a:p>
          <a:p>
            <a:pPr marL="742950" lvl="1" indent="-285750">
              <a:lnSpc>
                <a:spcPct val="100000"/>
              </a:lnSpc>
              <a:spcBef>
                <a:spcPts val="0"/>
              </a:spcBef>
              <a:buSzPts val="3000"/>
            </a:pPr>
            <a:r>
              <a:rPr lang="en-US" sz="1400" dirty="0">
                <a:latin typeface="Atkinson Hyperlegible Next"/>
                <a:ea typeface="Arial"/>
                <a:cs typeface="Arial"/>
                <a:sym typeface="Arial"/>
              </a:rPr>
              <a:t>It is common to refer to electrical induction as </a:t>
            </a:r>
            <a:r>
              <a:rPr lang="en-US" sz="1400" b="1" dirty="0">
                <a:latin typeface="Atkinson Hyperlegible Next"/>
                <a:ea typeface="Arial"/>
                <a:cs typeface="Arial"/>
                <a:sym typeface="Arial"/>
              </a:rPr>
              <a:t>capacitive</a:t>
            </a:r>
            <a:r>
              <a:rPr lang="en-US" sz="1400" dirty="0">
                <a:latin typeface="Atkinson Hyperlegible Next"/>
                <a:ea typeface="Arial"/>
                <a:cs typeface="Arial"/>
                <a:sym typeface="Arial"/>
              </a:rPr>
              <a:t> coupling, and to magnetic induction as </a:t>
            </a:r>
            <a:r>
              <a:rPr lang="en-US" sz="1400" b="1" dirty="0">
                <a:latin typeface="Atkinson Hyperlegible Next"/>
                <a:ea typeface="Arial"/>
                <a:cs typeface="Arial"/>
                <a:sym typeface="Arial"/>
              </a:rPr>
              <a:t>inductive</a:t>
            </a:r>
            <a:r>
              <a:rPr lang="en-US" sz="1400" dirty="0">
                <a:latin typeface="Atkinson Hyperlegible Next"/>
                <a:ea typeface="Arial"/>
                <a:cs typeface="Arial"/>
                <a:sym typeface="Arial"/>
              </a:rPr>
              <a:t> coupling.</a:t>
            </a:r>
          </a:p>
          <a:p>
            <a:pPr marL="285750" indent="-285750">
              <a:lnSpc>
                <a:spcPct val="100000"/>
              </a:lnSpc>
              <a:spcBef>
                <a:spcPts val="0"/>
              </a:spcBef>
              <a:buSzPts val="3000"/>
            </a:pPr>
            <a:r>
              <a:rPr lang="en-US" sz="1400" b="1" dirty="0">
                <a:latin typeface="Atkinson Hyperlegible Next"/>
                <a:ea typeface="Arial"/>
                <a:cs typeface="Arial"/>
                <a:sym typeface="Arial"/>
              </a:rPr>
              <a:t>Capacitive:</a:t>
            </a:r>
            <a:r>
              <a:rPr lang="en-US" sz="1400" dirty="0">
                <a:latin typeface="Atkinson Hyperlegible Next"/>
                <a:ea typeface="Arial"/>
                <a:cs typeface="Arial"/>
                <a:sym typeface="Arial"/>
              </a:rPr>
              <a:t> occurs when a varying electrical field exists between two adjacent conductors, inducing a change in voltage on the receiving conductor.</a:t>
            </a:r>
          </a:p>
          <a:p>
            <a:pPr marL="285750" indent="-285750">
              <a:lnSpc>
                <a:spcPct val="100000"/>
              </a:lnSpc>
              <a:spcBef>
                <a:spcPts val="0"/>
              </a:spcBef>
              <a:buSzPts val="3000"/>
            </a:pPr>
            <a:r>
              <a:rPr lang="en-US" sz="1400" b="1" dirty="0">
                <a:latin typeface="Atkinson Hyperlegible Next"/>
                <a:ea typeface="Arial"/>
                <a:cs typeface="Arial"/>
                <a:sym typeface="Arial"/>
              </a:rPr>
              <a:t>Inductive:</a:t>
            </a:r>
            <a:r>
              <a:rPr lang="en-US" sz="1400" dirty="0">
                <a:latin typeface="Atkinson Hyperlegible Next"/>
                <a:ea typeface="Arial"/>
                <a:cs typeface="Arial"/>
                <a:sym typeface="Arial"/>
              </a:rPr>
              <a:t> magnetic coupling occurs when a varying magnetic field exists between two parallel conductors, inducing a change in voltage along the receiving conductor.</a:t>
            </a:r>
          </a:p>
          <a:p>
            <a:pPr marL="285750" indent="-285750">
              <a:lnSpc>
                <a:spcPct val="100000"/>
              </a:lnSpc>
              <a:spcBef>
                <a:spcPts val="0"/>
              </a:spcBef>
              <a:buSzPts val="3000"/>
            </a:pPr>
            <a:r>
              <a:rPr lang="en-US" sz="1400" b="1" dirty="0">
                <a:latin typeface="Atkinson Hyperlegible Next"/>
                <a:ea typeface="Arial"/>
                <a:cs typeface="Arial"/>
                <a:sym typeface="Arial"/>
              </a:rPr>
              <a:t>Radiative:</a:t>
            </a:r>
            <a:r>
              <a:rPr lang="en-US" sz="1400" dirty="0">
                <a:latin typeface="Atkinson Hyperlegible Next"/>
                <a:ea typeface="Arial"/>
                <a:cs typeface="Arial"/>
                <a:sym typeface="Arial"/>
              </a:rPr>
              <a:t> electromagnetic coupling occurs when source and victim are separated by a large distance. Source and victim act as radio antennas: the source emits or radiates an electromagnetic wave which is picked up or received by the victim.</a:t>
            </a:r>
          </a:p>
        </p:txBody>
      </p:sp>
      <p:sp>
        <p:nvSpPr>
          <p:cNvPr id="119" name="Google Shape;119;p29">
            <a:extLst>
              <a:ext uri="{FF2B5EF4-FFF2-40B4-BE49-F238E27FC236}">
                <a16:creationId xmlns:a16="http://schemas.microsoft.com/office/drawing/2014/main" id="{284D7BB0-61A9-67FC-EE92-FCE51354AAA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14C4942-D2B2-5C2C-6B0B-EC1676AA119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Interferences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30C2115-54E5-613C-8947-5EE9742311B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68E4B52-87C7-03E0-4D2B-2221E3E2E6D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398937B-C433-974C-6071-64F7F1F225B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F6971BA-B5D0-ED25-6D47-0747303D5E0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27603F9-A988-577D-C3A3-D6CD6395BB2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6E84985-2BBC-D75E-FC29-4D57D5720AD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pSp>
        <p:nvGrpSpPr>
          <p:cNvPr id="8" name="Group 7">
            <a:extLst>
              <a:ext uri="{FF2B5EF4-FFF2-40B4-BE49-F238E27FC236}">
                <a16:creationId xmlns:a16="http://schemas.microsoft.com/office/drawing/2014/main" id="{6A14C56A-FF96-2426-B536-F84D74CC12ED}"/>
              </a:ext>
            </a:extLst>
          </p:cNvPr>
          <p:cNvGrpSpPr/>
          <p:nvPr/>
        </p:nvGrpSpPr>
        <p:grpSpPr>
          <a:xfrm>
            <a:off x="6269236" y="1626064"/>
            <a:ext cx="5559581" cy="4062325"/>
            <a:chOff x="3543301" y="1928812"/>
            <a:chExt cx="4913074" cy="3200417"/>
          </a:xfrm>
        </p:grpSpPr>
        <p:sp>
          <p:nvSpPr>
            <p:cNvPr id="5" name="TextBox 4">
              <a:extLst>
                <a:ext uri="{FF2B5EF4-FFF2-40B4-BE49-F238E27FC236}">
                  <a16:creationId xmlns:a16="http://schemas.microsoft.com/office/drawing/2014/main" id="{4D3078A5-7752-03DA-28AF-B4F3F489AB95}"/>
                </a:ext>
              </a:extLst>
            </p:cNvPr>
            <p:cNvSpPr txBox="1"/>
            <p:nvPr/>
          </p:nvSpPr>
          <p:spPr>
            <a:xfrm>
              <a:off x="3994169" y="4929187"/>
              <a:ext cx="3675308" cy="200042"/>
            </a:xfrm>
            <a:prstGeom prst="rect">
              <a:avLst/>
            </a:prstGeom>
            <a:noFill/>
          </p:spPr>
          <p:txBody>
            <a:bodyPr wrap="square">
              <a:spAutoFit/>
            </a:bodyPr>
            <a:lstStyle/>
            <a:p>
              <a:pPr algn="ctr"/>
              <a:r>
                <a:rPr lang="en-US" sz="1050" dirty="0">
                  <a:hlinkClick r:id="rId4"/>
                </a:rPr>
                <a:t>https://en.wikipedia.org/wiki/Electromagnetic_interference</a:t>
              </a:r>
              <a:r>
                <a:rPr lang="en-US" sz="1050" dirty="0"/>
                <a:t> </a:t>
              </a:r>
            </a:p>
          </p:txBody>
        </p:sp>
        <p:pic>
          <p:nvPicPr>
            <p:cNvPr id="7" name="Graphic 6" descr="Block diagram of the four ways interference couples from a Source block (left) to a Victim block (right). Radiative: an antenna on the source emits waves across open space toward the victim. Inductive: the source connects to a pair of coupled coils, like a transformer, with one side grounded. Conductive: a wire runs from the coils along the bottom to the victim's side. Capacitive: that wire reaches the victim through a capacitor.">
              <a:extLst>
                <a:ext uri="{FF2B5EF4-FFF2-40B4-BE49-F238E27FC236}">
                  <a16:creationId xmlns:a16="http://schemas.microsoft.com/office/drawing/2014/main" id="{93684A5F-CA2F-28C0-49AD-4A49C4B0AB84}"/>
                </a:ext>
              </a:extLst>
            </p:cNvPr>
            <p:cNvPicPr>
              <a:picLocks noChangeAspect="1"/>
            </p:cNvPicPr>
            <p:nvPr/>
          </p:nvPicPr>
          <p:blipFill>
            <a:blip r:embed="rId5">
              <a:extLst>
                <a:ext uri="{96DAC541-7B7A-43D3-8B79-37D633B846F1}">
                  <asvg:svgBlip xmlns:asvg="http://schemas.microsoft.com/office/drawing/2016/SVG/main" r:embed="rId6"/>
                </a:ext>
              </a:extLst>
            </a:blip>
            <a:srcRect r="3767"/>
            <a:stretch>
              <a:fillRect/>
            </a:stretch>
          </p:blipFill>
          <p:spPr>
            <a:xfrm>
              <a:off x="3543301" y="1928812"/>
              <a:ext cx="4913074" cy="3000375"/>
            </a:xfrm>
            <a:prstGeom prst="rect">
              <a:avLst/>
            </a:prstGeom>
          </p:spPr>
        </p:pic>
      </p:grpSp>
      <p:cxnSp>
        <p:nvCxnSpPr>
          <p:cNvPr id="10" name="Straight Arrow Connector 9">
            <a:extLst>
              <a:ext uri="{FF2B5EF4-FFF2-40B4-BE49-F238E27FC236}">
                <a16:creationId xmlns:a16="http://schemas.microsoft.com/office/drawing/2014/main" id="{C8F2D42A-0976-7F15-4C23-BA3AB1D99CCA}"/>
              </a:ext>
            </a:extLst>
          </p:cNvPr>
          <p:cNvCxnSpPr>
            <a:cxnSpLocks/>
            <a:stCxn id="13" idx="0"/>
          </p:cNvCxnSpPr>
          <p:nvPr/>
        </p:nvCxnSpPr>
        <p:spPr>
          <a:xfrm flipH="1" flipV="1">
            <a:off x="10467642" y="4190538"/>
            <a:ext cx="866441" cy="94637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6855C2B-F69B-16AC-032E-C990BDD8FCFC}"/>
              </a:ext>
            </a:extLst>
          </p:cNvPr>
          <p:cNvSpPr txBox="1"/>
          <p:nvPr/>
        </p:nvSpPr>
        <p:spPr>
          <a:xfrm>
            <a:off x="10742600" y="5136910"/>
            <a:ext cx="1182965" cy="738664"/>
          </a:xfrm>
          <a:prstGeom prst="rect">
            <a:avLst/>
          </a:prstGeom>
          <a:noFill/>
        </p:spPr>
        <p:txBody>
          <a:bodyPr wrap="square" rtlCol="0">
            <a:spAutoFit/>
          </a:bodyPr>
          <a:lstStyle/>
          <a:p>
            <a:pPr algn="ctr"/>
            <a:r>
              <a:rPr lang="en-US" dirty="0">
                <a:solidFill>
                  <a:srgbClr val="EA0000"/>
                </a:solidFill>
              </a:rPr>
              <a:t>Air acts as a conductor as well</a:t>
            </a:r>
          </a:p>
        </p:txBody>
      </p:sp>
    </p:spTree>
    <p:extLst>
      <p:ext uri="{BB962C8B-B14F-4D97-AF65-F5344CB8AC3E}">
        <p14:creationId xmlns:p14="http://schemas.microsoft.com/office/powerpoint/2010/main" val="126141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040C2A3-EB7B-E7F6-3486-472A4B48AB9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422022D-3D6E-0FD8-3529-1D91E9C5065A}"/>
                  </a:ext>
                </a:extLst>
              </p:cNvPr>
              <p:cNvSpPr txBox="1">
                <a:spLocks noGrp="1"/>
              </p:cNvSpPr>
              <p:nvPr>
                <p:ph type="body" idx="1"/>
              </p:nvPr>
            </p:nvSpPr>
            <p:spPr>
              <a:xfrm>
                <a:off x="376810" y="1334279"/>
                <a:ext cx="11432202"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500" dirty="0">
                    <a:latin typeface="Atkinson Hyperlegible Next"/>
                    <a:ea typeface="Arial"/>
                    <a:cs typeface="Arial"/>
                    <a:sym typeface="Arial"/>
                  </a:rPr>
                  <a:t>Let’s try to explain how we get capacitive interference!</a:t>
                </a:r>
              </a:p>
              <a:p>
                <a:pPr marL="0" indent="0">
                  <a:lnSpc>
                    <a:spcPct val="100000"/>
                  </a:lnSpc>
                  <a:spcBef>
                    <a:spcPts val="0"/>
                  </a:spcBef>
                  <a:buSzPts val="3000"/>
                  <a:buNone/>
                </a:pPr>
                <a:endParaRPr lang="en-US" sz="1500" dirty="0">
                  <a:latin typeface="Atkinson Hyperlegible Next"/>
                  <a:ea typeface="Arial"/>
                  <a:cs typeface="Arial"/>
                  <a:sym typeface="Arial"/>
                </a:endParaRPr>
              </a:p>
              <a:p>
                <a:pPr marL="0" indent="0">
                  <a:lnSpc>
                    <a:spcPct val="100000"/>
                  </a:lnSpc>
                  <a:spcBef>
                    <a:spcPts val="0"/>
                  </a:spcBef>
                  <a:buSzPts val="3000"/>
                  <a:buNone/>
                </a:pPr>
                <a:r>
                  <a:rPr lang="en-US" sz="1500" dirty="0">
                    <a:latin typeface="Atkinson Hyperlegible Next"/>
                    <a:ea typeface="Arial"/>
                    <a:cs typeface="Arial"/>
                    <a:sym typeface="Arial"/>
                  </a:rPr>
                  <a:t>Let </a:t>
                </a:r>
                <a14:m>
                  <m:oMath xmlns:m="http://schemas.openxmlformats.org/officeDocument/2006/math">
                    <m:sSub>
                      <m:sSubPr>
                        <m:ctrlPr>
                          <a:rPr lang="en-US" sz="1500" i="1" smtClean="0">
                            <a:latin typeface="Cambria Math" panose="02040503050406030204" pitchFamily="18" charset="0"/>
                            <a:cs typeface="Arial"/>
                            <a:sym typeface="Arial"/>
                          </a:rPr>
                        </m:ctrlPr>
                      </m:sSubPr>
                      <m:e>
                        <m:r>
                          <m:rPr>
                            <m:sty m:val="p"/>
                          </m:rPr>
                          <a:rPr lang="en-US" sz="1500" b="0" i="1" smtClean="0">
                            <a:latin typeface="Cambria Math" panose="02040503050406030204" pitchFamily="18" charset="0"/>
                            <a:cs typeface="Arial"/>
                            <a:sym typeface="Arial"/>
                          </a:rPr>
                          <m:t>V</m:t>
                        </m:r>
                      </m:e>
                      <m:sub>
                        <m:r>
                          <a:rPr lang="en-US" sz="1500" b="0" i="1" smtClean="0">
                            <a:latin typeface="Cambria Math" panose="02040503050406030204" pitchFamily="18" charset="0"/>
                            <a:cs typeface="Arial"/>
                            <a:sym typeface="Arial"/>
                          </a:rPr>
                          <m:t>1</m:t>
                        </m:r>
                      </m:sub>
                    </m:sSub>
                    <m:r>
                      <a:rPr lang="en-US" sz="1500" b="0" i="1" smtClean="0">
                        <a:latin typeface="Cambria Math" panose="02040503050406030204" pitchFamily="18" charset="0"/>
                        <a:cs typeface="Arial"/>
                        <a:sym typeface="Arial"/>
                      </a:rPr>
                      <m:t>(</m:t>
                    </m:r>
                    <m:r>
                      <m:rPr>
                        <m:sty m:val="p"/>
                      </m:rPr>
                      <a:rPr lang="en-US" sz="1500" b="0" i="1" smtClean="0">
                        <a:latin typeface="Cambria Math" panose="02040503050406030204" pitchFamily="18" charset="0"/>
                        <a:cs typeface="Arial"/>
                        <a:sym typeface="Arial"/>
                      </a:rPr>
                      <m:t>t</m:t>
                    </m:r>
                    <m:r>
                      <a:rPr lang="en-US" sz="1500" b="0" i="1" smtClean="0">
                        <a:latin typeface="Cambria Math" panose="02040503050406030204" pitchFamily="18" charset="0"/>
                        <a:cs typeface="Arial"/>
                        <a:sym typeface="Arial"/>
                      </a:rPr>
                      <m:t>)</m:t>
                    </m:r>
                  </m:oMath>
                </a14:m>
                <a:r>
                  <a:rPr lang="en-US" sz="1500" dirty="0">
                    <a:latin typeface="Atkinson Hyperlegible Next"/>
                    <a:ea typeface="Arial"/>
                    <a:cs typeface="Arial"/>
                    <a:sym typeface="Arial"/>
                  </a:rPr>
                  <a:t> be the time-varying voltage on the noisy source wires and </a:t>
                </a:r>
                <a14:m>
                  <m:oMath xmlns:m="http://schemas.openxmlformats.org/officeDocument/2006/math">
                    <m:sSub>
                      <m:sSubPr>
                        <m:ctrlPr>
                          <a:rPr lang="en-US" sz="1500" i="1">
                            <a:latin typeface="Cambria Math" panose="02040503050406030204" pitchFamily="18" charset="0"/>
                            <a:cs typeface="Arial"/>
                            <a:sym typeface="Arial"/>
                          </a:rPr>
                        </m:ctrlPr>
                      </m:sSubPr>
                      <m:e>
                        <m:r>
                          <m:rPr>
                            <m:sty m:val="p"/>
                          </m:rPr>
                          <a:rPr lang="en-US" sz="1500" i="1">
                            <a:latin typeface="Cambria Math" panose="02040503050406030204" pitchFamily="18" charset="0"/>
                            <a:cs typeface="Arial"/>
                            <a:sym typeface="Arial"/>
                          </a:rPr>
                          <m:t>V</m:t>
                        </m:r>
                      </m:e>
                      <m:sub>
                        <m:r>
                          <a:rPr lang="en-US" sz="1500" b="0" i="1" smtClean="0">
                            <a:latin typeface="Cambria Math" panose="02040503050406030204" pitchFamily="18" charset="0"/>
                            <a:cs typeface="Arial"/>
                            <a:sym typeface="Arial"/>
                          </a:rPr>
                          <m:t>2</m:t>
                        </m:r>
                      </m:sub>
                    </m:sSub>
                    <m:r>
                      <a:rPr lang="en-US" sz="1500" i="1">
                        <a:latin typeface="Cambria Math" panose="02040503050406030204" pitchFamily="18" charset="0"/>
                        <a:cs typeface="Arial"/>
                        <a:sym typeface="Arial"/>
                      </a:rPr>
                      <m:t>(</m:t>
                    </m:r>
                    <m:r>
                      <m:rPr>
                        <m:sty m:val="p"/>
                      </m:rPr>
                      <a:rPr lang="en-US" sz="1500" i="1">
                        <a:latin typeface="Cambria Math" panose="02040503050406030204" pitchFamily="18" charset="0"/>
                        <a:cs typeface="Arial"/>
                        <a:sym typeface="Arial"/>
                      </a:rPr>
                      <m:t>t</m:t>
                    </m:r>
                    <m:r>
                      <a:rPr lang="en-US" sz="1500" i="1">
                        <a:latin typeface="Cambria Math" panose="02040503050406030204" pitchFamily="18" charset="0"/>
                        <a:cs typeface="Arial"/>
                        <a:sym typeface="Arial"/>
                      </a:rPr>
                      <m:t>)</m:t>
                    </m:r>
                  </m:oMath>
                </a14:m>
                <a:r>
                  <a:rPr lang="en-US" sz="1500" dirty="0">
                    <a:latin typeface="Atkinson Hyperlegible Next"/>
                    <a:ea typeface="Arial"/>
                    <a:cs typeface="Arial"/>
                    <a:sym typeface="Arial"/>
                  </a:rPr>
                  <a:t> be the voltage on the victim wire. Let </a:t>
                </a:r>
                <a14:m>
                  <m:oMath xmlns:m="http://schemas.openxmlformats.org/officeDocument/2006/math">
                    <m:sSub>
                      <m:sSubPr>
                        <m:ctrlPr>
                          <a:rPr lang="en-US" sz="1500" i="1" smtClean="0">
                            <a:latin typeface="Cambria Math" panose="02040503050406030204" pitchFamily="18" charset="0"/>
                            <a:cs typeface="Arial"/>
                            <a:sym typeface="Arial"/>
                          </a:rPr>
                        </m:ctrlPr>
                      </m:sSubPr>
                      <m:e>
                        <m:r>
                          <m:rPr>
                            <m:sty m:val="p"/>
                          </m:rPr>
                          <a:rPr lang="en-US" sz="1500" b="0" i="1" smtClean="0">
                            <a:latin typeface="Cambria Math" panose="02040503050406030204" pitchFamily="18" charset="0"/>
                            <a:cs typeface="Arial"/>
                            <a:sym typeface="Arial"/>
                          </a:rPr>
                          <m:t>C</m:t>
                        </m:r>
                      </m:e>
                      <m:sub>
                        <m:r>
                          <a:rPr lang="en-US" sz="1500" b="0" i="1" smtClean="0">
                            <a:latin typeface="Cambria Math" panose="02040503050406030204" pitchFamily="18" charset="0"/>
                            <a:cs typeface="Arial"/>
                            <a:sym typeface="Arial"/>
                          </a:rPr>
                          <m:t>12</m:t>
                        </m:r>
                      </m:sub>
                    </m:sSub>
                  </m:oMath>
                </a14:m>
                <a:r>
                  <a:rPr lang="en-US" sz="1500" dirty="0">
                    <a:latin typeface="Atkinson Hyperlegible Next"/>
                    <a:ea typeface="Arial"/>
                    <a:cs typeface="Arial"/>
                    <a:sym typeface="Arial"/>
                  </a:rPr>
                  <a:t> be the mutual stray capacitance between the two wires (could be air), let the victim wire have a resistance of </a:t>
                </a:r>
                <a14:m>
                  <m:oMath xmlns:m="http://schemas.openxmlformats.org/officeDocument/2006/math">
                    <m:r>
                      <m:rPr>
                        <m:sty m:val="p"/>
                      </m:rPr>
                      <a:rPr lang="en-US" sz="1500" b="0" i="1" smtClean="0">
                        <a:latin typeface="Cambria Math" panose="02040503050406030204" pitchFamily="18" charset="0"/>
                        <a:ea typeface="Arial"/>
                        <a:cs typeface="Arial"/>
                        <a:sym typeface="Arial"/>
                      </a:rPr>
                      <m:t>R</m:t>
                    </m:r>
                  </m:oMath>
                </a14:m>
                <a:r>
                  <a:rPr lang="en-US" sz="1500" dirty="0">
                    <a:latin typeface="Atkinson Hyperlegible Next"/>
                    <a:ea typeface="Arial"/>
                    <a:cs typeface="Arial"/>
                    <a:sym typeface="Arial"/>
                  </a:rPr>
                  <a:t>. </a:t>
                </a:r>
              </a:p>
              <a:p>
                <a:pPr marL="0" indent="0">
                  <a:lnSpc>
                    <a:spcPct val="100000"/>
                  </a:lnSpc>
                  <a:spcBef>
                    <a:spcPts val="0"/>
                  </a:spcBef>
                  <a:buSzPts val="3000"/>
                  <a:buNone/>
                </a:pPr>
                <a:endParaRPr lang="en-US" sz="1500" dirty="0">
                  <a:latin typeface="Atkinson Hyperlegible Next"/>
                  <a:ea typeface="Arial"/>
                  <a:cs typeface="Arial"/>
                  <a:sym typeface="Arial"/>
                </a:endParaRPr>
              </a:p>
              <a:p>
                <a:pPr marL="0" indent="0">
                  <a:lnSpc>
                    <a:spcPct val="100000"/>
                  </a:lnSpc>
                  <a:spcBef>
                    <a:spcPts val="0"/>
                  </a:spcBef>
                  <a:buSzPts val="3000"/>
                  <a:buNone/>
                </a:pPr>
                <a:r>
                  <a:rPr lang="en-US" sz="1500" dirty="0">
                    <a:latin typeface="Atkinson Hyperlegible Next"/>
                    <a:ea typeface="Arial"/>
                    <a:cs typeface="Arial"/>
                    <a:sym typeface="Arial"/>
                  </a:rPr>
                  <a:t>The fundamental equation for current through a capacitor is:</a:t>
                </a:r>
              </a:p>
              <a:p>
                <a:pPr marL="0" indent="0">
                  <a:lnSpc>
                    <a:spcPct val="100000"/>
                  </a:lnSpc>
                  <a:spcBef>
                    <a:spcPts val="0"/>
                  </a:spcBef>
                  <a:buSzPts val="3000"/>
                  <a:buNone/>
                </a:pPr>
                <a:endParaRPr lang="en-US" sz="15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1500" b="0" i="1" smtClean="0">
                          <a:latin typeface="Cambria Math" panose="02040503050406030204" pitchFamily="18" charset="0"/>
                          <a:ea typeface="Arial"/>
                          <a:cs typeface="Arial"/>
                          <a:sym typeface="Arial"/>
                        </a:rPr>
                        <m:t>I</m:t>
                      </m:r>
                      <m:r>
                        <a:rPr lang="en-US" sz="1500" b="0" i="1" smtClean="0">
                          <a:latin typeface="Cambria Math" panose="02040503050406030204" pitchFamily="18" charset="0"/>
                          <a:ea typeface="Arial"/>
                          <a:cs typeface="Arial"/>
                          <a:sym typeface="Arial"/>
                        </a:rPr>
                        <m:t>=</m:t>
                      </m:r>
                      <m:r>
                        <m:rPr>
                          <m:sty m:val="p"/>
                        </m:rPr>
                        <a:rPr lang="en-US" sz="1500" b="0" i="1" smtClean="0">
                          <a:latin typeface="Cambria Math" panose="02040503050406030204" pitchFamily="18" charset="0"/>
                          <a:ea typeface="Arial"/>
                          <a:cs typeface="Arial"/>
                          <a:sym typeface="Arial"/>
                        </a:rPr>
                        <m:t>C</m:t>
                      </m:r>
                      <m:f>
                        <m:fPr>
                          <m:ctrlPr>
                            <a:rPr lang="en-US" sz="1500" b="0" i="1" smtClean="0">
                              <a:latin typeface="Cambria Math" panose="02040503050406030204" pitchFamily="18" charset="0"/>
                              <a:cs typeface="Arial"/>
                              <a:sym typeface="Arial"/>
                            </a:rPr>
                          </m:ctrlPr>
                        </m:fPr>
                        <m:num>
                          <m:r>
                            <m:rPr>
                              <m:sty m:val="p"/>
                            </m:rPr>
                            <a:rPr lang="en-US" sz="1500" b="0" i="1" smtClean="0">
                              <a:latin typeface="Cambria Math" panose="02040503050406030204" pitchFamily="18" charset="0"/>
                              <a:cs typeface="Arial"/>
                              <a:sym typeface="Arial"/>
                            </a:rPr>
                            <m:t>dV</m:t>
                          </m:r>
                        </m:num>
                        <m:den>
                          <m:r>
                            <m:rPr>
                              <m:sty m:val="p"/>
                            </m:rPr>
                            <a:rPr lang="en-US" sz="1500" b="0" i="1" smtClean="0">
                              <a:latin typeface="Cambria Math" panose="02040503050406030204" pitchFamily="18" charset="0"/>
                              <a:cs typeface="Arial"/>
                              <a:sym typeface="Arial"/>
                            </a:rPr>
                            <m:t>dt</m:t>
                          </m:r>
                        </m:den>
                      </m:f>
                    </m:oMath>
                  </m:oMathPara>
                </a14:m>
                <a:endParaRPr lang="en-US" sz="1500" dirty="0">
                  <a:latin typeface="Atkinson Hyperlegible Next"/>
                  <a:ea typeface="Arial"/>
                  <a:cs typeface="Arial"/>
                  <a:sym typeface="Arial"/>
                </a:endParaRPr>
              </a:p>
              <a:p>
                <a:pPr marL="0" indent="0">
                  <a:lnSpc>
                    <a:spcPct val="100000"/>
                  </a:lnSpc>
                  <a:spcBef>
                    <a:spcPts val="0"/>
                  </a:spcBef>
                  <a:buSzPts val="3000"/>
                  <a:buNone/>
                </a:pPr>
                <a:endParaRPr lang="en-US" sz="1500" dirty="0">
                  <a:latin typeface="Atkinson Hyperlegible Next"/>
                  <a:ea typeface="Arial"/>
                  <a:cs typeface="Arial"/>
                  <a:sym typeface="Arial"/>
                </a:endParaRPr>
              </a:p>
              <a:p>
                <a:pPr marL="0" indent="0">
                  <a:lnSpc>
                    <a:spcPct val="100000"/>
                  </a:lnSpc>
                  <a:spcBef>
                    <a:spcPts val="0"/>
                  </a:spcBef>
                  <a:buSzPts val="3000"/>
                  <a:buNone/>
                </a:pPr>
                <a:r>
                  <a:rPr lang="en-US" sz="1500" dirty="0">
                    <a:latin typeface="Atkinson Hyperlegible Next"/>
                    <a:ea typeface="Arial"/>
                    <a:cs typeface="Arial"/>
                    <a:sym typeface="Arial"/>
                  </a:rPr>
                  <a:t>The current injected from wire 1 into wire 2, </a:t>
                </a:r>
                <a14:m>
                  <m:oMath xmlns:m="http://schemas.openxmlformats.org/officeDocument/2006/math">
                    <m:sSub>
                      <m:sSubPr>
                        <m:ctrlPr>
                          <a:rPr lang="en-US" sz="1500" i="1" smtClean="0">
                            <a:latin typeface="Cambria Math" panose="02040503050406030204" pitchFamily="18" charset="0"/>
                            <a:cs typeface="Arial"/>
                            <a:sym typeface="Arial"/>
                          </a:rPr>
                        </m:ctrlPr>
                      </m:sSubPr>
                      <m:e>
                        <m:r>
                          <m:rPr>
                            <m:sty m:val="p"/>
                          </m:rPr>
                          <a:rPr lang="en-US" sz="1500" b="0" i="1" smtClean="0">
                            <a:latin typeface="Cambria Math" panose="02040503050406030204" pitchFamily="18" charset="0"/>
                            <a:cs typeface="Arial"/>
                            <a:sym typeface="Arial"/>
                          </a:rPr>
                          <m:t>I</m:t>
                        </m:r>
                      </m:e>
                      <m:sub>
                        <m:r>
                          <m:rPr>
                            <m:sty m:val="p"/>
                          </m:rPr>
                          <a:rPr lang="en-US" sz="1500" b="0" i="1" smtClean="0">
                            <a:latin typeface="Cambria Math" panose="02040503050406030204" pitchFamily="18" charset="0"/>
                            <a:cs typeface="Arial"/>
                            <a:sym typeface="Arial"/>
                          </a:rPr>
                          <m:t>noise</m:t>
                        </m:r>
                      </m:sub>
                    </m:sSub>
                  </m:oMath>
                </a14:m>
                <a:r>
                  <a:rPr lang="en-US" sz="1500" dirty="0">
                    <a:latin typeface="Atkinson Hyperlegible Next"/>
                    <a:ea typeface="Arial"/>
                    <a:cs typeface="Arial"/>
                    <a:sym typeface="Arial"/>
                  </a:rPr>
                  <a:t>, is driven from the difference between them across the capacitor.</a:t>
                </a:r>
              </a:p>
              <a:p>
                <a:pPr marL="0" indent="0">
                  <a:lnSpc>
                    <a:spcPct val="100000"/>
                  </a:lnSpc>
                  <a:spcBef>
                    <a:spcPts val="0"/>
                  </a:spcBef>
                  <a:buSzPts val="3000"/>
                  <a:buNone/>
                </a:pPr>
                <a:endParaRPr lang="en-US" sz="15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1500" i="1" smtClean="0">
                              <a:latin typeface="Cambria Math" panose="02040503050406030204" pitchFamily="18" charset="0"/>
                              <a:cs typeface="Arial"/>
                              <a:sym typeface="Arial"/>
                            </a:rPr>
                          </m:ctrlPr>
                        </m:sSubPr>
                        <m:e>
                          <m:r>
                            <m:rPr>
                              <m:sty m:val="p"/>
                            </m:rPr>
                            <a:rPr lang="en-US" sz="1500" b="0" i="1" smtClean="0">
                              <a:latin typeface="Cambria Math" panose="02040503050406030204" pitchFamily="18" charset="0"/>
                              <a:cs typeface="Arial"/>
                              <a:sym typeface="Arial"/>
                            </a:rPr>
                            <m:t>I</m:t>
                          </m:r>
                        </m:e>
                        <m:sub>
                          <m:r>
                            <m:rPr>
                              <m:sty m:val="p"/>
                            </m:rPr>
                            <a:rPr lang="en-US" sz="1500" b="0" i="1" smtClean="0">
                              <a:latin typeface="Cambria Math" panose="02040503050406030204" pitchFamily="18" charset="0"/>
                              <a:cs typeface="Arial"/>
                              <a:sym typeface="Arial"/>
                            </a:rPr>
                            <m:t>noise</m:t>
                          </m:r>
                        </m:sub>
                      </m:sSub>
                      <m:r>
                        <a:rPr lang="en-US" sz="1500" b="0" i="1" smtClean="0">
                          <a:latin typeface="Cambria Math" panose="02040503050406030204" pitchFamily="18" charset="0"/>
                          <a:cs typeface="Arial"/>
                          <a:sym typeface="Arial"/>
                        </a:rPr>
                        <m:t>=</m:t>
                      </m:r>
                      <m:sSub>
                        <m:sSubPr>
                          <m:ctrlPr>
                            <a:rPr lang="en-US" sz="1500" b="0" i="1" smtClean="0">
                              <a:latin typeface="Cambria Math" panose="02040503050406030204" pitchFamily="18" charset="0"/>
                              <a:cs typeface="Arial"/>
                              <a:sym typeface="Arial"/>
                            </a:rPr>
                          </m:ctrlPr>
                        </m:sSubPr>
                        <m:e>
                          <m:r>
                            <m:rPr>
                              <m:sty m:val="p"/>
                            </m:rPr>
                            <a:rPr lang="en-US" sz="1500" b="0" i="1" smtClean="0">
                              <a:latin typeface="Cambria Math" panose="02040503050406030204" pitchFamily="18" charset="0"/>
                              <a:cs typeface="Arial"/>
                              <a:sym typeface="Arial"/>
                            </a:rPr>
                            <m:t>C</m:t>
                          </m:r>
                        </m:e>
                        <m:sub>
                          <m:r>
                            <a:rPr lang="en-US" sz="1500" b="0" i="1" smtClean="0">
                              <a:latin typeface="Cambria Math" panose="02040503050406030204" pitchFamily="18" charset="0"/>
                              <a:cs typeface="Arial"/>
                              <a:sym typeface="Arial"/>
                            </a:rPr>
                            <m:t>12</m:t>
                          </m:r>
                        </m:sub>
                      </m:sSub>
                      <m:f>
                        <m:fPr>
                          <m:ctrlPr>
                            <a:rPr lang="en-US" sz="1500" b="0" i="1" smtClean="0">
                              <a:latin typeface="Cambria Math" panose="02040503050406030204" pitchFamily="18" charset="0"/>
                              <a:cs typeface="Arial"/>
                              <a:sym typeface="Arial"/>
                            </a:rPr>
                          </m:ctrlPr>
                        </m:fPr>
                        <m:num>
                          <m:r>
                            <m:rPr>
                              <m:sty m:val="p"/>
                            </m:rPr>
                            <a:rPr lang="en-US" sz="1500" b="0" i="1" smtClean="0">
                              <a:latin typeface="Cambria Math" panose="02040503050406030204" pitchFamily="18" charset="0"/>
                              <a:cs typeface="Arial"/>
                              <a:sym typeface="Arial"/>
                            </a:rPr>
                            <m:t>d</m:t>
                          </m:r>
                          <m:r>
                            <a:rPr lang="en-US" sz="1500" b="0" i="1" smtClean="0">
                              <a:latin typeface="Cambria Math" panose="02040503050406030204" pitchFamily="18" charset="0"/>
                              <a:cs typeface="Arial"/>
                              <a:sym typeface="Arial"/>
                            </a:rPr>
                            <m:t>(</m:t>
                          </m:r>
                          <m:sSub>
                            <m:sSubPr>
                              <m:ctrlPr>
                                <a:rPr lang="en-US" sz="1500" b="0" i="1" smtClean="0">
                                  <a:latin typeface="Cambria Math" panose="02040503050406030204" pitchFamily="18" charset="0"/>
                                  <a:cs typeface="Arial"/>
                                  <a:sym typeface="Arial"/>
                                </a:rPr>
                              </m:ctrlPr>
                            </m:sSubPr>
                            <m:e>
                              <m:r>
                                <m:rPr>
                                  <m:sty m:val="p"/>
                                </m:rPr>
                                <a:rPr lang="en-US" sz="1500" b="0" i="1" smtClean="0">
                                  <a:latin typeface="Cambria Math" panose="02040503050406030204" pitchFamily="18" charset="0"/>
                                  <a:cs typeface="Arial"/>
                                  <a:sym typeface="Arial"/>
                                </a:rPr>
                                <m:t>V</m:t>
                              </m:r>
                            </m:e>
                            <m:sub>
                              <m:r>
                                <a:rPr lang="en-US" sz="1500" b="0" i="1" smtClean="0">
                                  <a:latin typeface="Cambria Math" panose="02040503050406030204" pitchFamily="18" charset="0"/>
                                  <a:cs typeface="Arial"/>
                                  <a:sym typeface="Arial"/>
                                </a:rPr>
                                <m:t>1</m:t>
                              </m:r>
                            </m:sub>
                          </m:sSub>
                          <m:r>
                            <a:rPr lang="en-US" sz="1500" b="0" i="1" smtClean="0">
                              <a:latin typeface="Cambria Math" panose="02040503050406030204" pitchFamily="18" charset="0"/>
                              <a:cs typeface="Arial"/>
                              <a:sym typeface="Arial"/>
                            </a:rPr>
                            <m:t>−</m:t>
                          </m:r>
                          <m:sSub>
                            <m:sSubPr>
                              <m:ctrlPr>
                                <a:rPr lang="en-US" sz="1500" b="0" i="1" smtClean="0">
                                  <a:latin typeface="Cambria Math" panose="02040503050406030204" pitchFamily="18" charset="0"/>
                                  <a:cs typeface="Arial"/>
                                  <a:sym typeface="Arial"/>
                                </a:rPr>
                              </m:ctrlPr>
                            </m:sSubPr>
                            <m:e>
                              <m:r>
                                <m:rPr>
                                  <m:sty m:val="p"/>
                                </m:rPr>
                                <a:rPr lang="en-US" sz="1500" b="0" i="1" smtClean="0">
                                  <a:latin typeface="Cambria Math" panose="02040503050406030204" pitchFamily="18" charset="0"/>
                                  <a:cs typeface="Arial"/>
                                  <a:sym typeface="Arial"/>
                                </a:rPr>
                                <m:t>V</m:t>
                              </m:r>
                            </m:e>
                            <m:sub>
                              <m:r>
                                <a:rPr lang="en-US" sz="1500" b="0" i="1" smtClean="0">
                                  <a:latin typeface="Cambria Math" panose="02040503050406030204" pitchFamily="18" charset="0"/>
                                  <a:cs typeface="Arial"/>
                                  <a:sym typeface="Arial"/>
                                </a:rPr>
                                <m:t>2</m:t>
                              </m:r>
                            </m:sub>
                          </m:sSub>
                          <m:r>
                            <a:rPr lang="en-US" sz="1500" b="0" i="1" smtClean="0">
                              <a:latin typeface="Cambria Math" panose="02040503050406030204" pitchFamily="18" charset="0"/>
                              <a:cs typeface="Arial"/>
                              <a:sym typeface="Arial"/>
                            </a:rPr>
                            <m:t>)</m:t>
                          </m:r>
                        </m:num>
                        <m:den>
                          <m:r>
                            <m:rPr>
                              <m:sty m:val="p"/>
                            </m:rPr>
                            <a:rPr lang="en-US" sz="1500" b="0" i="1" smtClean="0">
                              <a:latin typeface="Cambria Math" panose="02040503050406030204" pitchFamily="18" charset="0"/>
                              <a:cs typeface="Arial"/>
                              <a:sym typeface="Arial"/>
                            </a:rPr>
                            <m:t>dt</m:t>
                          </m:r>
                        </m:den>
                      </m:f>
                    </m:oMath>
                  </m:oMathPara>
                </a14:m>
                <a:endParaRPr lang="en-US" sz="1500" dirty="0">
                  <a:latin typeface="Atkinson Hyperlegible Next"/>
                  <a:ea typeface="Arial"/>
                  <a:cs typeface="Arial"/>
                  <a:sym typeface="Arial"/>
                </a:endParaRPr>
              </a:p>
              <a:p>
                <a:pPr marL="0" indent="0">
                  <a:lnSpc>
                    <a:spcPct val="100000"/>
                  </a:lnSpc>
                  <a:spcBef>
                    <a:spcPts val="0"/>
                  </a:spcBef>
                  <a:buSzPts val="3000"/>
                  <a:buNone/>
                </a:pPr>
                <a:endParaRPr lang="en-US" sz="1500" dirty="0">
                  <a:latin typeface="Atkinson Hyperlegible Next"/>
                  <a:ea typeface="Arial"/>
                  <a:cs typeface="Arial"/>
                  <a:sym typeface="Arial"/>
                </a:endParaRPr>
              </a:p>
              <a:p>
                <a:pPr marL="0" indent="0">
                  <a:lnSpc>
                    <a:spcPct val="100000"/>
                  </a:lnSpc>
                  <a:spcBef>
                    <a:spcPts val="0"/>
                  </a:spcBef>
                  <a:buSzPts val="3000"/>
                  <a:buNone/>
                </a:pPr>
                <a:endParaRPr lang="en-US" sz="1500" dirty="0">
                  <a:latin typeface="Atkinson Hyperlegible Next"/>
                  <a:ea typeface="Arial"/>
                  <a:cs typeface="Arial"/>
                  <a:sym typeface="Arial"/>
                </a:endParaRPr>
              </a:p>
              <a:p>
                <a:pPr marL="0" indent="0">
                  <a:lnSpc>
                    <a:spcPct val="100000"/>
                  </a:lnSpc>
                  <a:spcBef>
                    <a:spcPts val="0"/>
                  </a:spcBef>
                  <a:buSzPts val="3000"/>
                  <a:buNone/>
                </a:pPr>
                <a:r>
                  <a:rPr lang="en-US" sz="1500" dirty="0">
                    <a:latin typeface="Atkinson Hyperlegible Next"/>
                    <a:ea typeface="Arial"/>
                    <a:cs typeface="Arial"/>
                    <a:sym typeface="Arial"/>
                  </a:rPr>
                  <a:t>In practice, the noise source voltage is much larger than the victim’s wire (</a:t>
                </a:r>
                <a14:m>
                  <m:oMath xmlns:m="http://schemas.openxmlformats.org/officeDocument/2006/math">
                    <m:sSub>
                      <m:sSubPr>
                        <m:ctrlPr>
                          <a:rPr lang="en-US" sz="1500" i="1" smtClean="0">
                            <a:latin typeface="Cambria Math" panose="02040503050406030204" pitchFamily="18" charset="0"/>
                            <a:cs typeface="Arial"/>
                            <a:sym typeface="Arial"/>
                          </a:rPr>
                        </m:ctrlPr>
                      </m:sSubPr>
                      <m:e>
                        <m:r>
                          <m:rPr>
                            <m:sty m:val="p"/>
                          </m:rPr>
                          <a:rPr lang="en-US" sz="1500" b="0" i="1" smtClean="0">
                            <a:latin typeface="Cambria Math" panose="02040503050406030204" pitchFamily="18" charset="0"/>
                            <a:cs typeface="Arial"/>
                            <a:sym typeface="Arial"/>
                          </a:rPr>
                          <m:t>V</m:t>
                        </m:r>
                      </m:e>
                      <m:sub>
                        <m:r>
                          <a:rPr lang="en-US" sz="1500" b="0" i="1" smtClean="0">
                            <a:latin typeface="Cambria Math" panose="02040503050406030204" pitchFamily="18" charset="0"/>
                            <a:cs typeface="Arial"/>
                            <a:sym typeface="Arial"/>
                          </a:rPr>
                          <m:t>1</m:t>
                        </m:r>
                      </m:sub>
                    </m:sSub>
                    <m:r>
                      <a:rPr lang="en-US" sz="1500" i="1" smtClean="0">
                        <a:latin typeface="Cambria Math" panose="02040503050406030204" pitchFamily="18" charset="0"/>
                        <a:ea typeface="Cambria Math" panose="02040503050406030204" pitchFamily="18" charset="0"/>
                        <a:cs typeface="Arial"/>
                        <a:sym typeface="Arial"/>
                      </a:rPr>
                      <m:t>≫</m:t>
                    </m:r>
                    <m:sSub>
                      <m:sSubPr>
                        <m:ctrlPr>
                          <a:rPr lang="en-US" sz="1500" i="1">
                            <a:latin typeface="Cambria Math" panose="02040503050406030204" pitchFamily="18" charset="0"/>
                            <a:cs typeface="Arial"/>
                            <a:sym typeface="Arial"/>
                          </a:rPr>
                        </m:ctrlPr>
                      </m:sSubPr>
                      <m:e>
                        <m:r>
                          <m:rPr>
                            <m:sty m:val="p"/>
                          </m:rPr>
                          <a:rPr lang="en-US" sz="1500" i="1">
                            <a:latin typeface="Cambria Math" panose="02040503050406030204" pitchFamily="18" charset="0"/>
                            <a:cs typeface="Arial"/>
                            <a:sym typeface="Arial"/>
                          </a:rPr>
                          <m:t>V</m:t>
                        </m:r>
                      </m:e>
                      <m:sub>
                        <m:r>
                          <a:rPr lang="en-US" sz="1500" b="0" i="1" smtClean="0">
                            <a:latin typeface="Cambria Math" panose="02040503050406030204" pitchFamily="18" charset="0"/>
                            <a:cs typeface="Arial"/>
                            <a:sym typeface="Arial"/>
                          </a:rPr>
                          <m:t>2</m:t>
                        </m:r>
                      </m:sub>
                    </m:sSub>
                  </m:oMath>
                </a14:m>
                <a:r>
                  <a:rPr lang="en-US" sz="1500" dirty="0">
                    <a:latin typeface="Atkinson Hyperlegible Next"/>
                    <a:ea typeface="Arial"/>
                    <a:cs typeface="Arial"/>
                    <a:sym typeface="Arial"/>
                  </a:rPr>
                  <a:t>), which allows the voltage derivative to simplify to:</a:t>
                </a:r>
              </a:p>
              <a:p>
                <a:pPr marL="0" indent="0">
                  <a:lnSpc>
                    <a:spcPct val="100000"/>
                  </a:lnSpc>
                  <a:spcBef>
                    <a:spcPts val="0"/>
                  </a:spcBef>
                  <a:buSzPts val="3000"/>
                  <a:buNone/>
                </a:pPr>
                <a:endParaRPr lang="en-US" sz="15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1500" i="1">
                              <a:latin typeface="Cambria Math" panose="02040503050406030204" pitchFamily="18" charset="0"/>
                              <a:cs typeface="Arial"/>
                              <a:sym typeface="Arial"/>
                            </a:rPr>
                          </m:ctrlPr>
                        </m:sSubPr>
                        <m:e>
                          <m:r>
                            <m:rPr>
                              <m:sty m:val="p"/>
                            </m:rPr>
                            <a:rPr lang="en-US" sz="1500" i="1">
                              <a:latin typeface="Cambria Math" panose="02040503050406030204" pitchFamily="18" charset="0"/>
                              <a:cs typeface="Arial"/>
                              <a:sym typeface="Arial"/>
                            </a:rPr>
                            <m:t>I</m:t>
                          </m:r>
                        </m:e>
                        <m:sub>
                          <m:r>
                            <m:rPr>
                              <m:sty m:val="p"/>
                            </m:rPr>
                            <a:rPr lang="en-US" sz="1500" i="1">
                              <a:latin typeface="Cambria Math" panose="02040503050406030204" pitchFamily="18" charset="0"/>
                              <a:cs typeface="Arial"/>
                              <a:sym typeface="Arial"/>
                            </a:rPr>
                            <m:t>noise</m:t>
                          </m:r>
                        </m:sub>
                      </m:sSub>
                      <m:r>
                        <a:rPr lang="en-US" sz="1500" i="1">
                          <a:latin typeface="Cambria Math" panose="02040503050406030204" pitchFamily="18" charset="0"/>
                          <a:cs typeface="Arial"/>
                          <a:sym typeface="Arial"/>
                        </a:rPr>
                        <m:t>=</m:t>
                      </m:r>
                      <m:sSub>
                        <m:sSubPr>
                          <m:ctrlPr>
                            <a:rPr lang="en-US" sz="1500" i="1">
                              <a:latin typeface="Cambria Math" panose="02040503050406030204" pitchFamily="18" charset="0"/>
                              <a:cs typeface="Arial"/>
                              <a:sym typeface="Arial"/>
                            </a:rPr>
                          </m:ctrlPr>
                        </m:sSubPr>
                        <m:e>
                          <m:r>
                            <m:rPr>
                              <m:sty m:val="p"/>
                            </m:rPr>
                            <a:rPr lang="en-US" sz="1500" i="1">
                              <a:latin typeface="Cambria Math" panose="02040503050406030204" pitchFamily="18" charset="0"/>
                              <a:cs typeface="Arial"/>
                              <a:sym typeface="Arial"/>
                            </a:rPr>
                            <m:t>C</m:t>
                          </m:r>
                        </m:e>
                        <m:sub>
                          <m:r>
                            <a:rPr lang="en-US" sz="1500" i="1">
                              <a:latin typeface="Cambria Math" panose="02040503050406030204" pitchFamily="18" charset="0"/>
                              <a:cs typeface="Arial"/>
                              <a:sym typeface="Arial"/>
                            </a:rPr>
                            <m:t>12</m:t>
                          </m:r>
                        </m:sub>
                      </m:sSub>
                      <m:f>
                        <m:fPr>
                          <m:ctrlPr>
                            <a:rPr lang="en-US" sz="1500" i="1">
                              <a:latin typeface="Cambria Math" panose="02040503050406030204" pitchFamily="18" charset="0"/>
                              <a:cs typeface="Arial"/>
                              <a:sym typeface="Arial"/>
                            </a:rPr>
                          </m:ctrlPr>
                        </m:fPr>
                        <m:num>
                          <m:r>
                            <m:rPr>
                              <m:sty m:val="p"/>
                            </m:rPr>
                            <a:rPr lang="en-US" sz="1500" i="1">
                              <a:latin typeface="Cambria Math" panose="02040503050406030204" pitchFamily="18" charset="0"/>
                              <a:cs typeface="Arial"/>
                              <a:sym typeface="Arial"/>
                            </a:rPr>
                            <m:t>d</m:t>
                          </m:r>
                          <m:r>
                            <a:rPr lang="en-US" sz="1500" i="1">
                              <a:latin typeface="Cambria Math" panose="02040503050406030204" pitchFamily="18" charset="0"/>
                              <a:cs typeface="Arial"/>
                              <a:sym typeface="Arial"/>
                            </a:rPr>
                            <m:t>(</m:t>
                          </m:r>
                          <m:sSub>
                            <m:sSubPr>
                              <m:ctrlPr>
                                <a:rPr lang="en-US" sz="1500" i="1">
                                  <a:latin typeface="Cambria Math" panose="02040503050406030204" pitchFamily="18" charset="0"/>
                                  <a:cs typeface="Arial"/>
                                  <a:sym typeface="Arial"/>
                                </a:rPr>
                              </m:ctrlPr>
                            </m:sSubPr>
                            <m:e>
                              <m:r>
                                <m:rPr>
                                  <m:sty m:val="p"/>
                                </m:rPr>
                                <a:rPr lang="en-US" sz="1500" i="1">
                                  <a:latin typeface="Cambria Math" panose="02040503050406030204" pitchFamily="18" charset="0"/>
                                  <a:cs typeface="Arial"/>
                                  <a:sym typeface="Arial"/>
                                </a:rPr>
                                <m:t>V</m:t>
                              </m:r>
                            </m:e>
                            <m:sub>
                              <m:r>
                                <a:rPr lang="en-US" sz="1500" i="1">
                                  <a:latin typeface="Cambria Math" panose="02040503050406030204" pitchFamily="18" charset="0"/>
                                  <a:cs typeface="Arial"/>
                                  <a:sym typeface="Arial"/>
                                </a:rPr>
                                <m:t>1</m:t>
                              </m:r>
                            </m:sub>
                          </m:sSub>
                          <m:r>
                            <a:rPr lang="en-US" sz="1500" i="1">
                              <a:latin typeface="Cambria Math" panose="02040503050406030204" pitchFamily="18" charset="0"/>
                              <a:cs typeface="Arial"/>
                              <a:sym typeface="Arial"/>
                            </a:rPr>
                            <m:t>−</m:t>
                          </m:r>
                          <m:sSub>
                            <m:sSubPr>
                              <m:ctrlPr>
                                <a:rPr lang="en-US" sz="1500" i="1">
                                  <a:latin typeface="Cambria Math" panose="02040503050406030204" pitchFamily="18" charset="0"/>
                                  <a:cs typeface="Arial"/>
                                  <a:sym typeface="Arial"/>
                                </a:rPr>
                              </m:ctrlPr>
                            </m:sSubPr>
                            <m:e>
                              <m:r>
                                <m:rPr>
                                  <m:sty m:val="p"/>
                                </m:rPr>
                                <a:rPr lang="en-US" sz="1500" i="1">
                                  <a:latin typeface="Cambria Math" panose="02040503050406030204" pitchFamily="18" charset="0"/>
                                  <a:cs typeface="Arial"/>
                                  <a:sym typeface="Arial"/>
                                </a:rPr>
                                <m:t>V</m:t>
                              </m:r>
                            </m:e>
                            <m:sub>
                              <m:r>
                                <a:rPr lang="en-US" sz="1500" i="1">
                                  <a:latin typeface="Cambria Math" panose="02040503050406030204" pitchFamily="18" charset="0"/>
                                  <a:cs typeface="Arial"/>
                                  <a:sym typeface="Arial"/>
                                </a:rPr>
                                <m:t>2</m:t>
                              </m:r>
                            </m:sub>
                          </m:sSub>
                          <m:r>
                            <a:rPr lang="en-US" sz="1500" i="1">
                              <a:latin typeface="Cambria Math" panose="02040503050406030204" pitchFamily="18" charset="0"/>
                              <a:cs typeface="Arial"/>
                              <a:sym typeface="Arial"/>
                            </a:rPr>
                            <m:t>)</m:t>
                          </m:r>
                        </m:num>
                        <m:den>
                          <m:r>
                            <m:rPr>
                              <m:sty m:val="p"/>
                            </m:rPr>
                            <a:rPr lang="en-US" sz="1500" i="1">
                              <a:latin typeface="Cambria Math" panose="02040503050406030204" pitchFamily="18" charset="0"/>
                              <a:cs typeface="Arial"/>
                              <a:sym typeface="Arial"/>
                            </a:rPr>
                            <m:t>dt</m:t>
                          </m:r>
                        </m:den>
                      </m:f>
                      <m:r>
                        <a:rPr lang="en-US" sz="1500" i="1" smtClean="0">
                          <a:latin typeface="Cambria Math" panose="02040503050406030204" pitchFamily="18" charset="0"/>
                          <a:ea typeface="Cambria Math" panose="02040503050406030204" pitchFamily="18" charset="0"/>
                          <a:cs typeface="Arial"/>
                          <a:sym typeface="Arial"/>
                        </a:rPr>
                        <m:t>≈</m:t>
                      </m:r>
                      <m:sSub>
                        <m:sSubPr>
                          <m:ctrlPr>
                            <a:rPr lang="en-US" sz="1500" i="1">
                              <a:latin typeface="Cambria Math" panose="02040503050406030204" pitchFamily="18" charset="0"/>
                              <a:cs typeface="Arial"/>
                              <a:sym typeface="Arial"/>
                            </a:rPr>
                          </m:ctrlPr>
                        </m:sSubPr>
                        <m:e>
                          <m:r>
                            <m:rPr>
                              <m:sty m:val="p"/>
                            </m:rPr>
                            <a:rPr lang="en-US" sz="1500" i="1">
                              <a:latin typeface="Cambria Math" panose="02040503050406030204" pitchFamily="18" charset="0"/>
                              <a:cs typeface="Arial"/>
                              <a:sym typeface="Arial"/>
                            </a:rPr>
                            <m:t>C</m:t>
                          </m:r>
                        </m:e>
                        <m:sub>
                          <m:r>
                            <a:rPr lang="en-US" sz="1500" i="1">
                              <a:latin typeface="Cambria Math" panose="02040503050406030204" pitchFamily="18" charset="0"/>
                              <a:cs typeface="Arial"/>
                              <a:sym typeface="Arial"/>
                            </a:rPr>
                            <m:t>12</m:t>
                          </m:r>
                        </m:sub>
                      </m:sSub>
                      <m:f>
                        <m:fPr>
                          <m:ctrlPr>
                            <a:rPr lang="en-US" sz="1500" i="1">
                              <a:latin typeface="Cambria Math" panose="02040503050406030204" pitchFamily="18" charset="0"/>
                              <a:cs typeface="Arial"/>
                              <a:sym typeface="Arial"/>
                            </a:rPr>
                          </m:ctrlPr>
                        </m:fPr>
                        <m:num>
                          <m:r>
                            <m:rPr>
                              <m:sty m:val="p"/>
                            </m:rPr>
                            <a:rPr lang="en-US" sz="1500" i="1">
                              <a:latin typeface="Cambria Math" panose="02040503050406030204" pitchFamily="18" charset="0"/>
                              <a:cs typeface="Arial"/>
                              <a:sym typeface="Arial"/>
                            </a:rPr>
                            <m:t>d</m:t>
                          </m:r>
                          <m:sSub>
                            <m:sSubPr>
                              <m:ctrlPr>
                                <a:rPr lang="en-US" sz="1500" i="1">
                                  <a:latin typeface="Cambria Math" panose="02040503050406030204" pitchFamily="18" charset="0"/>
                                  <a:cs typeface="Arial"/>
                                  <a:sym typeface="Arial"/>
                                </a:rPr>
                              </m:ctrlPr>
                            </m:sSubPr>
                            <m:e>
                              <m:r>
                                <m:rPr>
                                  <m:sty m:val="p"/>
                                </m:rPr>
                                <a:rPr lang="en-US" sz="1500" i="1">
                                  <a:latin typeface="Cambria Math" panose="02040503050406030204" pitchFamily="18" charset="0"/>
                                  <a:cs typeface="Arial"/>
                                  <a:sym typeface="Arial"/>
                                </a:rPr>
                                <m:t>V</m:t>
                              </m:r>
                            </m:e>
                            <m:sub>
                              <m:r>
                                <a:rPr lang="en-US" sz="1500" i="1">
                                  <a:latin typeface="Cambria Math" panose="02040503050406030204" pitchFamily="18" charset="0"/>
                                  <a:cs typeface="Arial"/>
                                  <a:sym typeface="Arial"/>
                                </a:rPr>
                                <m:t>1</m:t>
                              </m:r>
                            </m:sub>
                          </m:sSub>
                        </m:num>
                        <m:den>
                          <m:r>
                            <m:rPr>
                              <m:sty m:val="p"/>
                            </m:rPr>
                            <a:rPr lang="en-US" sz="1500" i="1">
                              <a:latin typeface="Cambria Math" panose="02040503050406030204" pitchFamily="18" charset="0"/>
                              <a:cs typeface="Arial"/>
                              <a:sym typeface="Arial"/>
                            </a:rPr>
                            <m:t>dt</m:t>
                          </m:r>
                        </m:den>
                      </m:f>
                    </m:oMath>
                  </m:oMathPara>
                </a14:m>
                <a:endParaRPr lang="en-US" sz="15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4422022D-3D6E-0FD8-3529-1D91E9C5065A}"/>
                  </a:ext>
                </a:extLst>
              </p:cNvPr>
              <p:cNvSpPr txBox="1">
                <a:spLocks noGrp="1" noRot="1" noChangeAspect="1" noMove="1" noResize="1" noEditPoints="1" noAdjustHandles="1" noChangeArrowheads="1" noChangeShapeType="1" noTextEdit="1"/>
              </p:cNvSpPr>
              <p:nvPr>
                <p:ph type="body" idx="1"/>
              </p:nvPr>
            </p:nvSpPr>
            <p:spPr>
              <a:xfrm>
                <a:off x="376810" y="1334279"/>
                <a:ext cx="11432202" cy="4821102"/>
              </a:xfrm>
              <a:prstGeom prst="rect">
                <a:avLst/>
              </a:prstGeom>
              <a:blipFill>
                <a:blip r:embed="rId3"/>
                <a:stretch>
                  <a:fillRect l="-213" t="-253"/>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4E6F434-EC53-7704-1D46-996DAD5BEBC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BBFDB0E-6ECD-D980-B5FA-5E87AE54AE5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Interferences - Capacitive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B90F7FD-FB2E-F08C-43AB-B23C2F236BA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0F40BC3-F795-1872-CE66-7DDE02CDF5C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88327DF-9B2B-B914-CF1C-C429C8A5A06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984491F-25F2-0A2D-76A5-B1078B262D4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7218655-DB36-6E32-97C6-CB62756E6A5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5B9392B-E800-F01A-3F83-80E89DB750B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39577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8" end="8"/>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8">
                                            <p:txEl>
                                              <p:pRg st="13" end="1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8">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7AAC887-D2D2-5A17-9CBA-3C11B96DD3F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E706B594-3503-62C2-C03D-687D4C620BC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dirty="0">
                    <a:solidFill>
                      <a:schemeClr val="dk1"/>
                    </a:solidFill>
                    <a:latin typeface="Atkinson Hyperlegible Next"/>
                    <a:ea typeface="Arial"/>
                    <a:cs typeface="Arial"/>
                    <a:sym typeface="Arial"/>
                  </a:rPr>
                  <a:t>By Ohm’s law, the inject noise current flows through the victim’s wire </a:t>
                </a:r>
                <a:r>
                  <a:rPr lang="en-US" sz="1800" dirty="0" err="1">
                    <a:solidFill>
                      <a:schemeClr val="dk1"/>
                    </a:solidFill>
                    <a:latin typeface="Atkinson Hyperlegible Next"/>
                    <a:ea typeface="Arial"/>
                    <a:cs typeface="Arial"/>
                    <a:sym typeface="Arial"/>
                  </a:rPr>
                  <a:t>impedence</a:t>
                </a:r>
                <a:r>
                  <a:rPr lang="en-US" sz="1800" dirty="0">
                    <a:solidFill>
                      <a:schemeClr val="dk1"/>
                    </a:solidFill>
                    <a:latin typeface="Atkinson Hyperlegible Next"/>
                    <a:ea typeface="Arial"/>
                    <a:cs typeface="Arial"/>
                    <a:sym typeface="Arial"/>
                  </a:rPr>
                  <a:t> to ground (</a:t>
                </a:r>
                <a14:m>
                  <m:oMath xmlns:m="http://schemas.openxmlformats.org/officeDocument/2006/math">
                    <m:r>
                      <m:rPr>
                        <m:sty m:val="p"/>
                      </m:rPr>
                      <a:rPr lang="en-US" sz="1800" b="0" i="1" smtClean="0">
                        <a:solidFill>
                          <a:schemeClr val="dk1"/>
                        </a:solidFill>
                        <a:latin typeface="Cambria Math" panose="02040503050406030204" pitchFamily="18" charset="0"/>
                        <a:ea typeface="Arial"/>
                        <a:cs typeface="Arial"/>
                        <a:sym typeface="Arial"/>
                      </a:rPr>
                      <m:t>R</m:t>
                    </m:r>
                  </m:oMath>
                </a14:m>
                <a:r>
                  <a:rPr lang="en-US" sz="1800" dirty="0">
                    <a:latin typeface="Atkinson Hyperlegible Next"/>
                    <a:ea typeface="Arial"/>
                    <a:cs typeface="Arial"/>
                    <a:sym typeface="Arial"/>
                  </a:rPr>
                  <a:t>), creating a noise voltage:</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cs typeface="Arial"/>
                              <a:sym typeface="Arial"/>
                            </a:rPr>
                          </m:ctrlPr>
                        </m:sSubPr>
                        <m:e>
                          <m:r>
                            <m:rPr>
                              <m:sty m:val="p"/>
                            </m:rPr>
                            <a:rPr lang="en-US" sz="1800" b="0" i="1" smtClean="0">
                              <a:latin typeface="Cambria Math" panose="02040503050406030204" pitchFamily="18" charset="0"/>
                              <a:cs typeface="Arial"/>
                              <a:sym typeface="Arial"/>
                            </a:rPr>
                            <m:t>V</m:t>
                          </m:r>
                        </m:e>
                        <m:sub>
                          <m:r>
                            <m:rPr>
                              <m:sty m:val="p"/>
                            </m:rPr>
                            <a:rPr lang="en-US" sz="1800" b="0" i="1" smtClean="0">
                              <a:latin typeface="Cambria Math" panose="02040503050406030204" pitchFamily="18" charset="0"/>
                              <a:cs typeface="Arial"/>
                              <a:sym typeface="Arial"/>
                            </a:rPr>
                            <m:t>noise</m:t>
                          </m:r>
                        </m:sub>
                      </m:sSub>
                      <m:r>
                        <a:rPr lang="en-US" sz="1800" i="1" smtClean="0">
                          <a:latin typeface="Cambria Math" panose="02040503050406030204" pitchFamily="18" charset="0"/>
                          <a:ea typeface="Cambria Math" panose="02040503050406030204" pitchFamily="18" charset="0"/>
                          <a:cs typeface="Arial"/>
                          <a:sym typeface="Arial"/>
                        </a:rPr>
                        <m:t>≈</m:t>
                      </m:r>
                      <m:sSub>
                        <m:sSubPr>
                          <m:ctrlPr>
                            <a:rPr lang="en-US" sz="1800" i="1" smtClean="0">
                              <a:latin typeface="Cambria Math" panose="02040503050406030204" pitchFamily="18" charset="0"/>
                              <a:ea typeface="Cambria Math" panose="02040503050406030204" pitchFamily="18" charset="0"/>
                              <a:cs typeface="Arial"/>
                              <a:sym typeface="Arial"/>
                            </a:rPr>
                          </m:ctrlPr>
                        </m:sSubPr>
                        <m:e>
                          <m:r>
                            <m:rPr>
                              <m:sty m:val="p"/>
                            </m:rPr>
                            <a:rPr lang="en-US" sz="1800" b="0" i="1" smtClean="0">
                              <a:latin typeface="Cambria Math" panose="02040503050406030204" pitchFamily="18" charset="0"/>
                              <a:ea typeface="Cambria Math" panose="02040503050406030204" pitchFamily="18" charset="0"/>
                              <a:cs typeface="Arial"/>
                              <a:sym typeface="Arial"/>
                            </a:rPr>
                            <m:t>I</m:t>
                          </m:r>
                        </m:e>
                        <m:sub>
                          <m:r>
                            <m:rPr>
                              <m:sty m:val="p"/>
                            </m:rPr>
                            <a:rPr lang="en-US" sz="1800" b="0" i="1" smtClean="0">
                              <a:latin typeface="Cambria Math" panose="02040503050406030204" pitchFamily="18" charset="0"/>
                              <a:ea typeface="Cambria Math" panose="02040503050406030204" pitchFamily="18" charset="0"/>
                              <a:cs typeface="Arial"/>
                              <a:sym typeface="Arial"/>
                            </a:rPr>
                            <m:t>noise</m:t>
                          </m:r>
                        </m:sub>
                      </m:sSub>
                      <m:r>
                        <m:rPr>
                          <m:sty m:val="p"/>
                        </m:rPr>
                        <a:rPr lang="en-US" sz="1800" b="0" i="1" smtClean="0">
                          <a:latin typeface="Cambria Math" panose="02040503050406030204" pitchFamily="18" charset="0"/>
                          <a:ea typeface="Cambria Math" panose="02040503050406030204" pitchFamily="18" charset="0"/>
                          <a:cs typeface="Arial"/>
                          <a:sym typeface="Arial"/>
                        </a:rPr>
                        <m:t>R</m:t>
                      </m:r>
                      <m:r>
                        <a:rPr lang="en-US" sz="1800" i="1">
                          <a:latin typeface="Cambria Math" panose="02040503050406030204" pitchFamily="18" charset="0"/>
                          <a:ea typeface="Cambria Math" panose="02040503050406030204" pitchFamily="18" charset="0"/>
                          <a:cs typeface="Arial"/>
                          <a:sym typeface="Arial"/>
                        </a:rPr>
                        <m:t>≈</m:t>
                      </m:r>
                      <m:r>
                        <m:rPr>
                          <m:sty m:val="p"/>
                        </m:rPr>
                        <a:rPr lang="en-US" sz="1800" b="0" i="1" smtClean="0">
                          <a:latin typeface="Cambria Math" panose="02040503050406030204" pitchFamily="18" charset="0"/>
                          <a:ea typeface="Cambria Math" panose="02040503050406030204" pitchFamily="18" charset="0"/>
                          <a:cs typeface="Arial"/>
                          <a:sym typeface="Arial"/>
                        </a:rPr>
                        <m:t>R</m:t>
                      </m:r>
                      <m:sSub>
                        <m:sSubPr>
                          <m:ctrlPr>
                            <a:rPr lang="en-US" sz="1800" i="1">
                              <a:latin typeface="Cambria Math" panose="02040503050406030204" pitchFamily="18" charset="0"/>
                              <a:cs typeface="Arial"/>
                              <a:sym typeface="Arial"/>
                            </a:rPr>
                          </m:ctrlPr>
                        </m:sSubPr>
                        <m:e>
                          <m:r>
                            <m:rPr>
                              <m:sty m:val="p"/>
                            </m:rPr>
                            <a:rPr lang="en-US" sz="1800" i="1">
                              <a:latin typeface="Cambria Math" panose="02040503050406030204" pitchFamily="18" charset="0"/>
                              <a:cs typeface="Arial"/>
                              <a:sym typeface="Arial"/>
                            </a:rPr>
                            <m:t>C</m:t>
                          </m:r>
                        </m:e>
                        <m:sub>
                          <m:r>
                            <a:rPr lang="en-US" sz="1800" i="1">
                              <a:latin typeface="Cambria Math" panose="02040503050406030204" pitchFamily="18" charset="0"/>
                              <a:cs typeface="Arial"/>
                              <a:sym typeface="Arial"/>
                            </a:rPr>
                            <m:t>12</m:t>
                          </m:r>
                        </m:sub>
                      </m:sSub>
                      <m:f>
                        <m:fPr>
                          <m:ctrlPr>
                            <a:rPr lang="en-US" sz="1800" i="1">
                              <a:latin typeface="Cambria Math" panose="02040503050406030204" pitchFamily="18" charset="0"/>
                              <a:cs typeface="Arial"/>
                              <a:sym typeface="Arial"/>
                            </a:rPr>
                          </m:ctrlPr>
                        </m:fPr>
                        <m:num>
                          <m:r>
                            <m:rPr>
                              <m:sty m:val="p"/>
                            </m:rPr>
                            <a:rPr lang="en-US" sz="1800" i="1">
                              <a:latin typeface="Cambria Math" panose="02040503050406030204" pitchFamily="18" charset="0"/>
                              <a:cs typeface="Arial"/>
                              <a:sym typeface="Arial"/>
                            </a:rPr>
                            <m:t>d</m:t>
                          </m:r>
                          <m:sSub>
                            <m:sSubPr>
                              <m:ctrlPr>
                                <a:rPr lang="en-US" sz="1800" i="1">
                                  <a:latin typeface="Cambria Math" panose="02040503050406030204" pitchFamily="18" charset="0"/>
                                  <a:cs typeface="Arial"/>
                                  <a:sym typeface="Arial"/>
                                </a:rPr>
                              </m:ctrlPr>
                            </m:sSubPr>
                            <m:e>
                              <m:r>
                                <m:rPr>
                                  <m:sty m:val="p"/>
                                </m:rPr>
                                <a:rPr lang="en-US" sz="1800" i="1">
                                  <a:latin typeface="Cambria Math" panose="02040503050406030204" pitchFamily="18" charset="0"/>
                                  <a:cs typeface="Arial"/>
                                  <a:sym typeface="Arial"/>
                                </a:rPr>
                                <m:t>V</m:t>
                              </m:r>
                            </m:e>
                            <m:sub>
                              <m:r>
                                <a:rPr lang="en-US" sz="1800" i="1">
                                  <a:latin typeface="Cambria Math" panose="02040503050406030204" pitchFamily="18" charset="0"/>
                                  <a:cs typeface="Arial"/>
                                  <a:sym typeface="Arial"/>
                                </a:rPr>
                                <m:t>1</m:t>
                              </m:r>
                            </m:sub>
                          </m:sSub>
                        </m:num>
                        <m:den>
                          <m:r>
                            <m:rPr>
                              <m:sty m:val="p"/>
                            </m:rPr>
                            <a:rPr lang="en-US" sz="1800" i="1">
                              <a:latin typeface="Cambria Math" panose="02040503050406030204" pitchFamily="18" charset="0"/>
                              <a:cs typeface="Arial"/>
                              <a:sym typeface="Arial"/>
                            </a:rPr>
                            <m:t>dt</m:t>
                          </m:r>
                        </m:den>
                      </m:f>
                    </m:oMath>
                  </m:oMathPara>
                </a14:m>
                <a:endParaRPr lang="en-US" sz="1800" dirty="0">
                  <a:latin typeface="Atkinson Hyperlegible Next"/>
                  <a:ea typeface="Arial"/>
                  <a:cs typeface="Arial"/>
                  <a:sym typeface="Arial"/>
                </a:endParaRP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The interference voltage </a:t>
                </a:r>
                <a14:m>
                  <m:oMath xmlns:m="http://schemas.openxmlformats.org/officeDocument/2006/math">
                    <m:sSub>
                      <m:sSubPr>
                        <m:ctrlPr>
                          <a:rPr lang="en-US" sz="1800" i="1">
                            <a:latin typeface="Cambria Math" panose="02040503050406030204" pitchFamily="18" charset="0"/>
                            <a:cs typeface="Arial"/>
                            <a:sym typeface="Arial"/>
                          </a:rPr>
                        </m:ctrlPr>
                      </m:sSubPr>
                      <m:e>
                        <m:r>
                          <m:rPr>
                            <m:sty m:val="p"/>
                          </m:rPr>
                          <a:rPr lang="en-US" sz="1800" i="1">
                            <a:latin typeface="Cambria Math" panose="02040503050406030204" pitchFamily="18" charset="0"/>
                            <a:cs typeface="Arial"/>
                            <a:sym typeface="Arial"/>
                          </a:rPr>
                          <m:t>V</m:t>
                        </m:r>
                      </m:e>
                      <m:sub>
                        <m:r>
                          <m:rPr>
                            <m:sty m:val="p"/>
                          </m:rPr>
                          <a:rPr lang="en-US" sz="1800" i="1">
                            <a:latin typeface="Cambria Math" panose="02040503050406030204" pitchFamily="18" charset="0"/>
                            <a:cs typeface="Arial"/>
                            <a:sym typeface="Arial"/>
                          </a:rPr>
                          <m:t>noise</m:t>
                        </m:r>
                      </m:sub>
                    </m:sSub>
                  </m:oMath>
                </a14:m>
                <a:r>
                  <a:rPr lang="en-US" sz="1800" dirty="0">
                    <a:latin typeface="Atkinson Hyperlegible Next"/>
                    <a:ea typeface="Arial"/>
                    <a:cs typeface="Arial"/>
                    <a:sym typeface="Arial"/>
                  </a:rPr>
                  <a:t> is directly proportion to the rate of change of the source voltage, even if the actual voltage amplitude is moderate! </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What causes more digital signal interference?</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gn="ctr">
                  <a:lnSpc>
                    <a:spcPct val="100000"/>
                  </a:lnSpc>
                  <a:spcBef>
                    <a:spcPts val="0"/>
                  </a:spcBef>
                  <a:buSzPts val="3000"/>
                  <a:buNone/>
                </a:pPr>
                <a:r>
                  <a:rPr lang="en-US" sz="1800" dirty="0">
                    <a:latin typeface="Atkinson Hyperlegible Next"/>
                    <a:ea typeface="Arial"/>
                    <a:cs typeface="Arial"/>
                    <a:sym typeface="Arial"/>
                  </a:rPr>
                  <a:t>High-frequency vs low-frequency</a:t>
                </a:r>
              </a:p>
              <a:p>
                <a:pPr marL="0" lvl="0" indent="0" algn="ctr">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Assuming a duty cycle of 50%?</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gn="ctr">
                  <a:lnSpc>
                    <a:spcPct val="100000"/>
                  </a:lnSpc>
                  <a:spcBef>
                    <a:spcPts val="0"/>
                  </a:spcBef>
                  <a:buSzPts val="3000"/>
                  <a:buNone/>
                </a:pPr>
                <a:r>
                  <a:rPr lang="en-US" sz="1800" dirty="0">
                    <a:solidFill>
                      <a:srgbClr val="000000"/>
                    </a:solidFill>
                    <a:latin typeface="Consolas" panose="020B0609020204030204" pitchFamily="49" charset="0"/>
                  </a:rPr>
                  <a:t>EPwm7Regs.</a:t>
                </a:r>
                <a:r>
                  <a:rPr lang="en-US" sz="1800" dirty="0">
                    <a:solidFill>
                      <a:srgbClr val="0000C0"/>
                    </a:solidFill>
                    <a:latin typeface="Consolas" panose="020B0609020204030204" pitchFamily="49" charset="0"/>
                  </a:rPr>
                  <a:t>TBPRD</a:t>
                </a:r>
                <a:r>
                  <a:rPr lang="en-US" sz="1800" dirty="0">
                    <a:solidFill>
                      <a:srgbClr val="000000"/>
                    </a:solidFill>
                    <a:latin typeface="Consolas" panose="020B0609020204030204" pitchFamily="49" charset="0"/>
                  </a:rPr>
                  <a:t> = 5000;  EPwm7Regs.</a:t>
                </a:r>
                <a:r>
                  <a:rPr lang="en-US" sz="1800" dirty="0">
                    <a:solidFill>
                      <a:srgbClr val="0000C0"/>
                    </a:solidFill>
                    <a:latin typeface="Consolas" panose="020B0609020204030204" pitchFamily="49" charset="0"/>
                  </a:rPr>
                  <a:t>TBPRD</a:t>
                </a:r>
                <a:r>
                  <a:rPr lang="en-US" sz="1800" dirty="0">
                    <a:solidFill>
                      <a:srgbClr val="000000"/>
                    </a:solidFill>
                    <a:latin typeface="Consolas" panose="020B0609020204030204" pitchFamily="49" charset="0"/>
                  </a:rPr>
                  <a:t> = 500;</a:t>
                </a:r>
                <a:endParaRPr lang="en-US" sz="1800" dirty="0">
                  <a:latin typeface="Atkinson Hyperlegible Next"/>
                  <a:ea typeface="Arial"/>
                  <a:cs typeface="Arial"/>
                  <a:sym typeface="Arial"/>
                </a:endParaRP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gn="ctr">
                  <a:lnSpc>
                    <a:spcPct val="100000"/>
                  </a:lnSpc>
                  <a:spcBef>
                    <a:spcPts val="0"/>
                  </a:spcBef>
                  <a:buSzPts val="3000"/>
                  <a:buNone/>
                </a:pPr>
                <a:endParaRPr lang="en-US" sz="1800" dirty="0">
                  <a:latin typeface="Atkinson Hyperlegible Next"/>
                  <a:ea typeface="Arial"/>
                  <a:cs typeface="Arial"/>
                  <a:sym typeface="Arial"/>
                </a:endParaRPr>
              </a:p>
              <a:p>
                <a:pPr marL="0" lvl="0" indent="0" algn="ctr">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endParaRPr lang="en-US" sz="18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E706B594-3503-62C2-C03D-687D4C620BCF}"/>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491"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5683C7E-7158-75B0-5659-F3A0CC7F9DB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5ABA672-B9C0-C40E-48E9-C7C4C72EAA5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lang="en-US" sz="2400" b="0" i="0" u="none" strike="noStrike" cap="none" dirty="0">
                <a:solidFill>
                  <a:schemeClr val="lt1"/>
                </a:solidFill>
                <a:latin typeface="Atkinson Hyperlegible Next"/>
                <a:ea typeface="Arial"/>
                <a:cs typeface="Arial"/>
                <a:sym typeface="Arial"/>
              </a:rPr>
              <a:t>Serial Communication -</a:t>
            </a:r>
            <a:r>
              <a:rPr i="0" b="0" lang="en-US" sz="2400" dirty="0">
                <a:solidFill>
                  <a:schemeClr val="lt1"/>
                </a:solidFill>
              </a:rPr>
              <a:t> Interferences - Capacitive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6A5230B-52D6-AEC7-6FB9-E0E728389EA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5BCE374-187C-F87B-0D96-46E82848F44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70872BA-30D8-4AB8-EC55-509E5A0C0BF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B463576-3FCC-78BE-2445-D5CE8DAA643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E51FC57-D594-0E18-9A2B-B374AEB1B72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C49CED8-3749-DBD1-ABDD-540C421201D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 name="Rectangle 1">
            <a:extLst>
              <a:ext uri="{FF2B5EF4-FFF2-40B4-BE49-F238E27FC236}">
                <a16:creationId xmlns:a16="http://schemas.microsoft.com/office/drawing/2014/main" id="{A37AD69F-FA9F-ED67-FBD2-B2216717ADCD}"/>
              </a:ext>
            </a:extLst>
          </p:cNvPr>
          <p:cNvSpPr/>
          <p:nvPr/>
        </p:nvSpPr>
        <p:spPr>
          <a:xfrm>
            <a:off x="4258673" y="4297041"/>
            <a:ext cx="1604997" cy="45400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8C09F26-E24A-C1A5-34E8-AE2880A14416}"/>
              </a:ext>
            </a:extLst>
          </p:cNvPr>
          <p:cNvSpPr/>
          <p:nvPr/>
        </p:nvSpPr>
        <p:spPr>
          <a:xfrm>
            <a:off x="6096000" y="5370236"/>
            <a:ext cx="2862562" cy="45400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176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E553810-0993-6CA6-C592-FEEBB293FC5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E9462B77-3A90-663C-F3D7-57DB59DCCA5F}"/>
                  </a:ext>
                </a:extLst>
              </p:cNvPr>
              <p:cNvSpPr txBox="1">
                <a:spLocks noGrp="1"/>
              </p:cNvSpPr>
              <p:nvPr>
                <p:ph type="body" idx="1"/>
              </p:nvPr>
            </p:nvSpPr>
            <p:spPr>
              <a:xfrm>
                <a:off x="376810" y="1334279"/>
                <a:ext cx="7352927"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500" dirty="0">
                    <a:latin typeface="Atkinson Hyperlegible Next"/>
                    <a:ea typeface="Arial"/>
                    <a:cs typeface="Arial"/>
                    <a:sym typeface="Arial"/>
                  </a:rPr>
                  <a:t>Let’s try to explain how we get inductive interference!</a:t>
                </a:r>
              </a:p>
              <a:p>
                <a:pPr marL="0" indent="0">
                  <a:lnSpc>
                    <a:spcPct val="100000"/>
                  </a:lnSpc>
                  <a:spcBef>
                    <a:spcPts val="0"/>
                  </a:spcBef>
                  <a:buSzPts val="3000"/>
                  <a:buNone/>
                </a:pPr>
                <a:endParaRPr lang="en-US" sz="1500" dirty="0">
                  <a:latin typeface="Atkinson Hyperlegible Next"/>
                  <a:ea typeface="Arial"/>
                  <a:cs typeface="Arial"/>
                  <a:sym typeface="Arial"/>
                </a:endParaRPr>
              </a:p>
              <a:p>
                <a:pPr marL="0" indent="0">
                  <a:lnSpc>
                    <a:spcPct val="100000"/>
                  </a:lnSpc>
                  <a:spcBef>
                    <a:spcPts val="0"/>
                  </a:spcBef>
                  <a:buSzPts val="3000"/>
                  <a:buNone/>
                </a:pPr>
                <a:r>
                  <a:rPr lang="en-US" sz="1500" dirty="0">
                    <a:latin typeface="Atkinson Hyperlegible Next"/>
                    <a:ea typeface="Arial"/>
                    <a:cs typeface="Arial"/>
                    <a:sym typeface="Arial"/>
                  </a:rPr>
                  <a:t>Coupling between the circuits can occur when the magnetic field lines from one of the circuits pass through the loop formed by the other circuit.</a:t>
                </a:r>
              </a:p>
              <a:p>
                <a:pPr marL="0" indent="0">
                  <a:lnSpc>
                    <a:spcPct val="100000"/>
                  </a:lnSpc>
                  <a:spcBef>
                    <a:spcPts val="0"/>
                  </a:spcBef>
                  <a:buSzPts val="3000"/>
                  <a:buNone/>
                </a:pPr>
                <a:endParaRPr lang="en-US" sz="1500" dirty="0">
                  <a:latin typeface="Atkinson Hyperlegible Next"/>
                  <a:ea typeface="Arial"/>
                  <a:cs typeface="Arial"/>
                  <a:sym typeface="Arial"/>
                </a:endParaRPr>
              </a:p>
              <a:p>
                <a:pPr marL="0" indent="0">
                  <a:lnSpc>
                    <a:spcPct val="100000"/>
                  </a:lnSpc>
                  <a:spcBef>
                    <a:spcPts val="0"/>
                  </a:spcBef>
                  <a:buSzPts val="3000"/>
                  <a:buNone/>
                </a:pPr>
                <a:r>
                  <a:rPr lang="en-US" sz="1500" dirty="0">
                    <a:latin typeface="Atkinson Hyperlegible Next"/>
                    <a:ea typeface="Arial"/>
                    <a:cs typeface="Arial"/>
                    <a:sym typeface="Arial"/>
                  </a:rPr>
                  <a:t>Magnetic coupling is governed by </a:t>
                </a:r>
                <a:r>
                  <a:rPr lang="en-US" sz="1500" b="1" dirty="0">
                    <a:latin typeface="Atkinson Hyperlegible Next"/>
                    <a:ea typeface="Arial"/>
                    <a:cs typeface="Arial"/>
                    <a:sym typeface="Arial"/>
                  </a:rPr>
                  <a:t>Ampere's Law </a:t>
                </a:r>
                <a:r>
                  <a:rPr lang="en-US" sz="1500" dirty="0">
                    <a:latin typeface="Atkinson Hyperlegible Next"/>
                    <a:ea typeface="Arial"/>
                    <a:cs typeface="Arial"/>
                    <a:sym typeface="Arial"/>
                  </a:rPr>
                  <a:t>and </a:t>
                </a:r>
                <a:r>
                  <a:rPr lang="en-US" sz="1500" b="1" dirty="0">
                    <a:latin typeface="Atkinson Hyperlegible Next"/>
                    <a:ea typeface="Arial"/>
                    <a:cs typeface="Arial"/>
                    <a:sym typeface="Arial"/>
                  </a:rPr>
                  <a:t>Faraday's Law </a:t>
                </a:r>
                <a:r>
                  <a:rPr lang="en-US" sz="1500" dirty="0">
                    <a:latin typeface="Atkinson Hyperlegible Next"/>
                    <a:ea typeface="Arial"/>
                    <a:cs typeface="Arial"/>
                    <a:sym typeface="Arial"/>
                  </a:rPr>
                  <a:t>of Induction. A time-varying current in a source wire generates a time-varying magnetic field, which penetrates the loop area formed by the victim wire and its ground return path, inducing an electromotive force (EMF).</a:t>
                </a:r>
              </a:p>
              <a:p>
                <a:pPr marL="0" indent="0">
                  <a:lnSpc>
                    <a:spcPct val="100000"/>
                  </a:lnSpc>
                  <a:spcBef>
                    <a:spcPts val="0"/>
                  </a:spcBef>
                  <a:buSzPts val="3000"/>
                  <a:buNone/>
                </a:pPr>
                <a:endParaRPr lang="en-US" sz="1500" dirty="0">
                  <a:latin typeface="Atkinson Hyperlegible Next"/>
                  <a:ea typeface="Arial"/>
                  <a:cs typeface="Arial"/>
                  <a:sym typeface="Arial"/>
                </a:endParaRPr>
              </a:p>
              <a:p>
                <a:pPr marL="0" indent="0">
                  <a:lnSpc>
                    <a:spcPct val="100000"/>
                  </a:lnSpc>
                  <a:spcBef>
                    <a:spcPts val="0"/>
                  </a:spcBef>
                  <a:buSzPts val="3000"/>
                  <a:buNone/>
                </a:pPr>
                <a:r>
                  <a:rPr lang="en-US" sz="1500" dirty="0">
                    <a:latin typeface="Atkinson Hyperlegible Next"/>
                    <a:ea typeface="Arial"/>
                    <a:cs typeface="Arial"/>
                    <a:sym typeface="Arial"/>
                  </a:rPr>
                  <a:t>Let </a:t>
                </a:r>
                <a14:m>
                  <m:oMath xmlns:m="http://schemas.openxmlformats.org/officeDocument/2006/math">
                    <m:sSub>
                      <m:sSubPr>
                        <m:ctrlPr>
                          <a:rPr lang="en-US" sz="1500" i="1" smtClean="0">
                            <a:latin typeface="Cambria Math" panose="02040503050406030204" pitchFamily="18" charset="0"/>
                            <a:cs typeface="Arial"/>
                            <a:sym typeface="Arial"/>
                          </a:rPr>
                        </m:ctrlPr>
                      </m:sSubPr>
                      <m:e>
                        <m:r>
                          <m:rPr>
                            <m:sty m:val="p"/>
                          </m:rPr>
                          <a:rPr lang="en-US" sz="1500" b="0" i="1" smtClean="0">
                            <a:latin typeface="Cambria Math" panose="02040503050406030204" pitchFamily="18" charset="0"/>
                            <a:cs typeface="Arial"/>
                            <a:sym typeface="Arial"/>
                          </a:rPr>
                          <m:t>I</m:t>
                        </m:r>
                      </m:e>
                      <m:sub>
                        <m:r>
                          <a:rPr lang="en-US" sz="1500" b="0" i="1" smtClean="0">
                            <a:latin typeface="Cambria Math" panose="02040503050406030204" pitchFamily="18" charset="0"/>
                            <a:cs typeface="Arial"/>
                            <a:sym typeface="Arial"/>
                          </a:rPr>
                          <m:t>1</m:t>
                        </m:r>
                      </m:sub>
                    </m:sSub>
                    <m:r>
                      <a:rPr lang="en-US" sz="1500" b="0" i="1" smtClean="0">
                        <a:latin typeface="Cambria Math" panose="02040503050406030204" pitchFamily="18" charset="0"/>
                        <a:cs typeface="Arial"/>
                        <a:sym typeface="Arial"/>
                      </a:rPr>
                      <m:t>(</m:t>
                    </m:r>
                    <m:r>
                      <m:rPr>
                        <m:sty m:val="p"/>
                      </m:rPr>
                      <a:rPr lang="en-US" sz="1500" b="0" i="1" smtClean="0">
                        <a:latin typeface="Cambria Math" panose="02040503050406030204" pitchFamily="18" charset="0"/>
                        <a:cs typeface="Arial"/>
                        <a:sym typeface="Arial"/>
                      </a:rPr>
                      <m:t>t</m:t>
                    </m:r>
                    <m:r>
                      <a:rPr lang="en-US" sz="1500" b="0" i="1" smtClean="0">
                        <a:latin typeface="Cambria Math" panose="02040503050406030204" pitchFamily="18" charset="0"/>
                        <a:cs typeface="Arial"/>
                        <a:sym typeface="Arial"/>
                      </a:rPr>
                      <m:t>)</m:t>
                    </m:r>
                  </m:oMath>
                </a14:m>
                <a:r>
                  <a:rPr lang="en-US" sz="1500" dirty="0">
                    <a:latin typeface="Atkinson Hyperlegible Next"/>
                    <a:ea typeface="Arial"/>
                    <a:cs typeface="Arial"/>
                    <a:sym typeface="Arial"/>
                  </a:rPr>
                  <a:t> be the time-varying current for. Assuming it is a long, straight wire, we use Ampere’s Law (</a:t>
                </a:r>
                <a14:m>
                  <m:oMath xmlns:m="http://schemas.openxmlformats.org/officeDocument/2006/math">
                    <m:nary>
                      <m:naryPr>
                        <m:chr m:val="∮"/>
                        <m:grow m:val="on"/>
                        <m:subHide m:val="on"/>
                        <m:supHide m:val="on"/>
                        <m:ctrlPr>
                          <a:rPr lang="en-US" sz="1500" i="1" smtClean="0">
                            <a:latin typeface="Cambria Math" panose="02040503050406030204" pitchFamily="18" charset="0"/>
                            <a:sym typeface="Arial"/>
                          </a:rPr>
                        </m:ctrlPr>
                      </m:naryPr>
                      <m:sub/>
                      <m:sup/>
                      <m:e>
                        <m:r>
                          <a:rPr lang="en-US" sz="1500" b="1" i="1" smtClean="0">
                            <a:latin typeface="Cambria Math" panose="02040503050406030204" pitchFamily="18" charset="0"/>
                            <a:sym typeface="Arial"/>
                          </a:rPr>
                          <m:t>𝑩</m:t>
                        </m:r>
                        <m:r>
                          <a:rPr lang="en-US" sz="1500" i="0" smtClean="0">
                            <a:latin typeface="Cambria Math" panose="02040503050406030204" pitchFamily="18" charset="0"/>
                            <a:sym typeface="Arial"/>
                          </a:rPr>
                          <m:t>⋅ⅆ</m:t>
                        </m:r>
                        <m:r>
                          <a:rPr lang="en-US" sz="1500" b="1" i="1" smtClean="0">
                            <a:latin typeface="Cambria Math" panose="02040503050406030204" pitchFamily="18" charset="0"/>
                            <a:sym typeface="Arial"/>
                          </a:rPr>
                          <m:t>𝒍</m:t>
                        </m:r>
                      </m:e>
                    </m:nary>
                    <m:r>
                      <a:rPr lang="en-US" sz="1500" i="0" smtClean="0">
                        <a:latin typeface="Cambria Math" panose="02040503050406030204" pitchFamily="18" charset="0"/>
                        <a:sym typeface="Arial"/>
                      </a:rPr>
                      <m:t>=</m:t>
                    </m:r>
                    <m:sSub>
                      <m:sSubPr>
                        <m:ctrlPr>
                          <a:rPr lang="en-US" sz="1500" i="1" smtClean="0">
                            <a:latin typeface="Cambria Math" panose="02040503050406030204" pitchFamily="18" charset="0"/>
                            <a:sym typeface="Arial"/>
                          </a:rPr>
                        </m:ctrlPr>
                      </m:sSubPr>
                      <m:e>
                        <m:r>
                          <a:rPr lang="en-US" sz="1500" i="1" smtClean="0">
                            <a:latin typeface="Cambria Math" panose="02040503050406030204" pitchFamily="18" charset="0"/>
                            <a:sym typeface="Arial"/>
                          </a:rPr>
                          <m:t>𝜇</m:t>
                        </m:r>
                      </m:e>
                      <m:sub>
                        <m:r>
                          <a:rPr lang="en-US" sz="1500" i="0" smtClean="0">
                            <a:latin typeface="Cambria Math" panose="02040503050406030204" pitchFamily="18" charset="0"/>
                            <a:sym typeface="Arial"/>
                          </a:rPr>
                          <m:t>0</m:t>
                        </m:r>
                      </m:sub>
                    </m:sSub>
                    <m:sSub>
                      <m:sSubPr>
                        <m:ctrlPr>
                          <a:rPr lang="en-US" sz="1500" i="1" smtClean="0">
                            <a:latin typeface="Cambria Math" panose="02040503050406030204" pitchFamily="18" charset="0"/>
                            <a:sym typeface="Arial"/>
                          </a:rPr>
                        </m:ctrlPr>
                      </m:sSubPr>
                      <m:e>
                        <m:r>
                          <a:rPr lang="en-US" sz="1500" i="1" smtClean="0">
                            <a:latin typeface="Cambria Math" panose="02040503050406030204" pitchFamily="18" charset="0"/>
                            <a:sym typeface="Arial"/>
                          </a:rPr>
                          <m:t>𝐼</m:t>
                        </m:r>
                      </m:e>
                      <m:sub>
                        <m:r>
                          <a:rPr lang="en-US" sz="1500" i="1" smtClean="0">
                            <a:latin typeface="Cambria Math" panose="02040503050406030204" pitchFamily="18" charset="0"/>
                            <a:sym typeface="Arial"/>
                          </a:rPr>
                          <m:t>𝑒𝑛𝑐</m:t>
                        </m:r>
                      </m:sub>
                    </m:sSub>
                  </m:oMath>
                </a14:m>
                <a:r>
                  <a:rPr lang="en-US" sz="1500" dirty="0">
                    <a:latin typeface="Atkinson Hyperlegible Next"/>
                    <a:ea typeface="Arial"/>
                    <a:cs typeface="Arial"/>
                    <a:sym typeface="Arial"/>
                  </a:rPr>
                  <a:t>) to find the magnetic field at radial distance </a:t>
                </a:r>
                <a14:m>
                  <m:oMath xmlns:m="http://schemas.openxmlformats.org/officeDocument/2006/math">
                    <m:r>
                      <m:rPr>
                        <m:sty m:val="p"/>
                      </m:rPr>
                      <a:rPr lang="en-US" sz="1500" b="0" i="1" smtClean="0">
                        <a:latin typeface="Cambria Math" panose="02040503050406030204" pitchFamily="18" charset="0"/>
                        <a:ea typeface="Arial"/>
                        <a:cs typeface="Arial"/>
                        <a:sym typeface="Arial"/>
                      </a:rPr>
                      <m:t>r</m:t>
                    </m:r>
                  </m:oMath>
                </a14:m>
                <a:r>
                  <a:rPr lang="en-US" sz="1500" dirty="0">
                    <a:latin typeface="Atkinson Hyperlegible Next"/>
                    <a:ea typeface="Arial"/>
                    <a:cs typeface="Arial"/>
                    <a:sym typeface="Arial"/>
                  </a:rPr>
                  <a:t>:</a:t>
                </a:r>
              </a:p>
              <a:p>
                <a:pPr marL="0" indent="0">
                  <a:lnSpc>
                    <a:spcPct val="100000"/>
                  </a:lnSpc>
                  <a:spcBef>
                    <a:spcPts val="0"/>
                  </a:spcBef>
                  <a:buSzPts val="3000"/>
                  <a:buNone/>
                </a:pPr>
                <a:endParaRPr lang="en-US" sz="15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1500" i="1" dirty="0" smtClean="0">
                          <a:latin typeface="Cambria Math" panose="02040503050406030204" pitchFamily="18" charset="0"/>
                          <a:sym typeface="Arial"/>
                        </a:rPr>
                        <m:t>𝐵</m:t>
                      </m:r>
                      <m:d>
                        <m:dPr>
                          <m:ctrlPr>
                            <a:rPr lang="en-US" sz="1500" i="1" dirty="0" smtClean="0">
                              <a:latin typeface="Cambria Math" panose="02040503050406030204" pitchFamily="18" charset="0"/>
                              <a:sym typeface="Arial"/>
                            </a:rPr>
                          </m:ctrlPr>
                        </m:dPr>
                        <m:e>
                          <m:r>
                            <a:rPr lang="en-US" sz="1500" i="1" dirty="0" smtClean="0">
                              <a:latin typeface="Cambria Math" panose="02040503050406030204" pitchFamily="18" charset="0"/>
                              <a:sym typeface="Arial"/>
                            </a:rPr>
                            <m:t>𝑟</m:t>
                          </m:r>
                          <m:r>
                            <a:rPr lang="en-US" sz="1500" i="0" dirty="0" smtClean="0">
                              <a:latin typeface="Cambria Math" panose="02040503050406030204" pitchFamily="18" charset="0"/>
                              <a:sym typeface="Arial"/>
                            </a:rPr>
                            <m:t>,</m:t>
                          </m:r>
                          <m:r>
                            <a:rPr lang="en-US" sz="1500" i="1" dirty="0" smtClean="0">
                              <a:latin typeface="Cambria Math" panose="02040503050406030204" pitchFamily="18" charset="0"/>
                              <a:sym typeface="Arial"/>
                            </a:rPr>
                            <m:t>𝑡</m:t>
                          </m:r>
                        </m:e>
                      </m:d>
                      <m:r>
                        <a:rPr lang="en-US" sz="1500" i="0" dirty="0" smtClean="0">
                          <a:latin typeface="Cambria Math" panose="02040503050406030204" pitchFamily="18" charset="0"/>
                          <a:sym typeface="Arial"/>
                        </a:rPr>
                        <m:t>=</m:t>
                      </m:r>
                      <m:f>
                        <m:fPr>
                          <m:ctrlPr>
                            <a:rPr lang="en-US" sz="1500" i="1" dirty="0" smtClean="0">
                              <a:latin typeface="Cambria Math" panose="02040503050406030204" pitchFamily="18" charset="0"/>
                              <a:sym typeface="Arial"/>
                            </a:rPr>
                          </m:ctrlPr>
                        </m:fPr>
                        <m:num>
                          <m:sSub>
                            <m:sSubPr>
                              <m:ctrlPr>
                                <a:rPr lang="en-US" sz="1500" i="1" dirty="0" smtClean="0">
                                  <a:latin typeface="Cambria Math" panose="02040503050406030204" pitchFamily="18" charset="0"/>
                                  <a:sym typeface="Arial"/>
                                </a:rPr>
                              </m:ctrlPr>
                            </m:sSubPr>
                            <m:e>
                              <m:r>
                                <a:rPr lang="en-US" sz="1500" i="1" dirty="0" smtClean="0">
                                  <a:latin typeface="Cambria Math" panose="02040503050406030204" pitchFamily="18" charset="0"/>
                                  <a:sym typeface="Arial"/>
                                </a:rPr>
                                <m:t>𝜇</m:t>
                              </m:r>
                            </m:e>
                            <m:sub>
                              <m:r>
                                <a:rPr lang="en-US" sz="1500" i="0" dirty="0" smtClean="0">
                                  <a:latin typeface="Cambria Math" panose="02040503050406030204" pitchFamily="18" charset="0"/>
                                  <a:sym typeface="Arial"/>
                                </a:rPr>
                                <m:t>0</m:t>
                              </m:r>
                            </m:sub>
                          </m:sSub>
                          <m:sSub>
                            <m:sSubPr>
                              <m:ctrlPr>
                                <a:rPr lang="en-US" sz="1500" i="1" dirty="0" smtClean="0">
                                  <a:latin typeface="Cambria Math" panose="02040503050406030204" pitchFamily="18" charset="0"/>
                                  <a:sym typeface="Arial"/>
                                </a:rPr>
                              </m:ctrlPr>
                            </m:sSubPr>
                            <m:e>
                              <m:r>
                                <a:rPr lang="en-US" sz="1500" i="1" dirty="0" smtClean="0">
                                  <a:latin typeface="Cambria Math" panose="02040503050406030204" pitchFamily="18" charset="0"/>
                                  <a:sym typeface="Arial"/>
                                </a:rPr>
                                <m:t>𝐼</m:t>
                              </m:r>
                            </m:e>
                            <m:sub>
                              <m:r>
                                <a:rPr lang="en-US" sz="1500" i="0" dirty="0" smtClean="0">
                                  <a:latin typeface="Cambria Math" panose="02040503050406030204" pitchFamily="18" charset="0"/>
                                  <a:sym typeface="Arial"/>
                                </a:rPr>
                                <m:t>1</m:t>
                              </m:r>
                            </m:sub>
                          </m:sSub>
                          <m:d>
                            <m:dPr>
                              <m:ctrlPr>
                                <a:rPr lang="en-US" sz="1500" i="1" dirty="0" smtClean="0">
                                  <a:latin typeface="Cambria Math" panose="02040503050406030204" pitchFamily="18" charset="0"/>
                                  <a:sym typeface="Arial"/>
                                </a:rPr>
                              </m:ctrlPr>
                            </m:dPr>
                            <m:e>
                              <m:r>
                                <a:rPr lang="en-US" sz="1500" i="1" dirty="0" smtClean="0">
                                  <a:latin typeface="Cambria Math" panose="02040503050406030204" pitchFamily="18" charset="0"/>
                                  <a:sym typeface="Arial"/>
                                </a:rPr>
                                <m:t>𝑡</m:t>
                              </m:r>
                            </m:e>
                          </m:d>
                        </m:num>
                        <m:den>
                          <m:r>
                            <a:rPr lang="en-US" sz="1500" i="0" dirty="0" smtClean="0">
                              <a:latin typeface="Cambria Math" panose="02040503050406030204" pitchFamily="18" charset="0"/>
                              <a:sym typeface="Arial"/>
                            </a:rPr>
                            <m:t>2</m:t>
                          </m:r>
                          <m:r>
                            <a:rPr lang="en-US" sz="1500" i="1" dirty="0" smtClean="0">
                              <a:latin typeface="Cambria Math" panose="02040503050406030204" pitchFamily="18" charset="0"/>
                              <a:sym typeface="Arial"/>
                            </a:rPr>
                            <m:t>𝜋</m:t>
                          </m:r>
                          <m:r>
                            <a:rPr lang="en-US" sz="1500" i="1" dirty="0" smtClean="0">
                              <a:latin typeface="Cambria Math" panose="02040503050406030204" pitchFamily="18" charset="0"/>
                              <a:sym typeface="Arial"/>
                            </a:rPr>
                            <m:t>𝑟</m:t>
                          </m:r>
                        </m:den>
                      </m:f>
                      <m:acc>
                        <m:accPr>
                          <m:chr m:val="̂"/>
                          <m:ctrlPr>
                            <a:rPr lang="en-US" sz="1500" i="1" dirty="0" smtClean="0">
                              <a:latin typeface="Cambria Math" panose="02040503050406030204" pitchFamily="18" charset="0"/>
                              <a:sym typeface="Arial"/>
                            </a:rPr>
                          </m:ctrlPr>
                        </m:accPr>
                        <m:e>
                          <m:r>
                            <a:rPr lang="en-US" sz="1500" i="1" dirty="0" smtClean="0">
                              <a:latin typeface="Cambria Math" panose="02040503050406030204" pitchFamily="18" charset="0"/>
                              <a:sym typeface="Arial"/>
                            </a:rPr>
                            <m:t>𝜙</m:t>
                          </m:r>
                        </m:e>
                      </m:acc>
                    </m:oMath>
                  </m:oMathPara>
                </a14:m>
                <a:endParaRPr lang="en-US" sz="1500" dirty="0">
                  <a:latin typeface="Atkinson Hyperlegible Next"/>
                  <a:ea typeface="Arial"/>
                  <a:cs typeface="Arial"/>
                  <a:sym typeface="Arial"/>
                </a:endParaRPr>
              </a:p>
              <a:p>
                <a:pPr marL="0" indent="0">
                  <a:lnSpc>
                    <a:spcPct val="100000"/>
                  </a:lnSpc>
                  <a:spcBef>
                    <a:spcPts val="0"/>
                  </a:spcBef>
                  <a:buSzPts val="3000"/>
                  <a:buNone/>
                </a:pPr>
                <a:endParaRPr lang="en-US" sz="1500" dirty="0">
                  <a:latin typeface="Atkinson Hyperlegible Next"/>
                  <a:ea typeface="Arial"/>
                  <a:cs typeface="Arial"/>
                  <a:sym typeface="Arial"/>
                </a:endParaRPr>
              </a:p>
              <a:p>
                <a:pPr marL="0" indent="0">
                  <a:lnSpc>
                    <a:spcPct val="100000"/>
                  </a:lnSpc>
                  <a:spcBef>
                    <a:spcPts val="0"/>
                  </a:spcBef>
                  <a:buSzPts val="3000"/>
                  <a:buNone/>
                </a:pPr>
                <a:r>
                  <a:rPr lang="en-US" sz="1500" dirty="0">
                    <a:latin typeface="Atkinson Hyperlegible Next"/>
                    <a:ea typeface="Arial"/>
                    <a:cs typeface="Arial"/>
                    <a:sym typeface="Arial"/>
                  </a:rPr>
                  <a:t>(there </a:t>
                </a:r>
                <a14:m>
                  <m:oMath xmlns:m="http://schemas.openxmlformats.org/officeDocument/2006/math">
                    <m:sSub>
                      <m:sSubPr>
                        <m:ctrlPr>
                          <a:rPr lang="en-US" sz="1500" i="1" dirty="0">
                            <a:latin typeface="Cambria Math" panose="02040503050406030204" pitchFamily="18" charset="0"/>
                            <a:sym typeface="Arial"/>
                          </a:rPr>
                        </m:ctrlPr>
                      </m:sSubPr>
                      <m:e>
                        <m:r>
                          <a:rPr lang="en-US" sz="1500" i="1" dirty="0">
                            <a:latin typeface="Cambria Math" panose="02040503050406030204" pitchFamily="18" charset="0"/>
                            <a:sym typeface="Arial"/>
                          </a:rPr>
                          <m:t>𝜇</m:t>
                        </m:r>
                      </m:e>
                      <m:sub>
                        <m:r>
                          <a:rPr lang="en-US" sz="1500" dirty="0">
                            <a:latin typeface="Cambria Math" panose="02040503050406030204" pitchFamily="18" charset="0"/>
                            <a:sym typeface="Arial"/>
                          </a:rPr>
                          <m:t>0</m:t>
                        </m:r>
                      </m:sub>
                    </m:sSub>
                  </m:oMath>
                </a14:m>
                <a:r>
                  <a:rPr lang="en-US" sz="1500" dirty="0">
                    <a:latin typeface="Atkinson Hyperlegible Next"/>
                    <a:ea typeface="Arial"/>
                    <a:cs typeface="Arial"/>
                    <a:sym typeface="Arial"/>
                  </a:rPr>
                  <a:t>, is the permeability of free space and </a:t>
                </a:r>
                <a14:m>
                  <m:oMath xmlns:m="http://schemas.openxmlformats.org/officeDocument/2006/math">
                    <m:acc>
                      <m:accPr>
                        <m:chr m:val="̂"/>
                        <m:ctrlPr>
                          <a:rPr lang="en-US" sz="1500" i="1" dirty="0">
                            <a:latin typeface="Cambria Math" panose="02040503050406030204" pitchFamily="18" charset="0"/>
                            <a:sym typeface="Arial"/>
                          </a:rPr>
                        </m:ctrlPr>
                      </m:accPr>
                      <m:e>
                        <m:r>
                          <a:rPr lang="en-US" sz="1500" i="1" dirty="0">
                            <a:latin typeface="Cambria Math" panose="02040503050406030204" pitchFamily="18" charset="0"/>
                            <a:sym typeface="Arial"/>
                          </a:rPr>
                          <m:t>𝜙</m:t>
                        </m:r>
                      </m:e>
                    </m:acc>
                  </m:oMath>
                </a14:m>
                <a:r>
                  <a:rPr lang="en-US" sz="1500" dirty="0">
                    <a:latin typeface="Atkinson Hyperlegible Next"/>
                    <a:ea typeface="Arial"/>
                    <a:cs typeface="Arial"/>
                    <a:sym typeface="Arial"/>
                  </a:rPr>
                  <a:t> represents the flux)</a:t>
                </a:r>
              </a:p>
              <a:p>
                <a:pPr marL="0" indent="0">
                  <a:lnSpc>
                    <a:spcPct val="100000"/>
                  </a:lnSpc>
                  <a:spcBef>
                    <a:spcPts val="0"/>
                  </a:spcBef>
                  <a:buSzPts val="3000"/>
                  <a:buNone/>
                </a:pPr>
                <a:endParaRPr lang="en-US" sz="15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E9462B77-3A90-663C-F3D7-57DB59DCCA5F}"/>
                  </a:ext>
                </a:extLst>
              </p:cNvPr>
              <p:cNvSpPr txBox="1">
                <a:spLocks noGrp="1" noRot="1" noChangeAspect="1" noMove="1" noResize="1" noEditPoints="1" noAdjustHandles="1" noChangeArrowheads="1" noChangeShapeType="1" noTextEdit="1"/>
              </p:cNvSpPr>
              <p:nvPr>
                <p:ph type="body" idx="1"/>
              </p:nvPr>
            </p:nvSpPr>
            <p:spPr>
              <a:xfrm>
                <a:off x="376810" y="1334279"/>
                <a:ext cx="7352927" cy="4821102"/>
              </a:xfrm>
              <a:prstGeom prst="rect">
                <a:avLst/>
              </a:prstGeom>
              <a:blipFill>
                <a:blip r:embed="rId3"/>
                <a:stretch>
                  <a:fillRect l="-332" t="-253"/>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B01F065-F6E7-D6D8-DE0F-AABD0B55A93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5A78B60-B11D-A3DC-1E60-DFC069AF3A0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Interferences - Inductive (1/4)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141F66B-3AE3-3256-4B55-8A8C9C4F1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5F620FF-E919-339A-F7D0-8CB581A7DFA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26BE268-749B-832D-D911-C5BE24B7ACF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0CE9D18-8E15-C4EC-14CF-BBFB30061CD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65DF155-07AC-5538-C8B8-C11F311B2BA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1BCD11F-7C93-4AE6-D3FF-1FC4A4A872A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wo circuits share a grounded conducting plane. Each has an AC voltage source and a source resistor at one end, a long wire running parallel to the plane, and a load resistor at the far end that returns to the plane. A circular magnetic field H, with arrows showing its direction, wraps around the upper circuit's wire and passes through the loop formed by the neighboring circuit's wire and the plane, coupling the two circuits inductively.">
            <a:extLst>
              <a:ext uri="{FF2B5EF4-FFF2-40B4-BE49-F238E27FC236}">
                <a16:creationId xmlns:a16="http://schemas.microsoft.com/office/drawing/2014/main" id="{3B811EB4-FFC8-B884-FA4E-2DE4D94CF01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29737" y="2115192"/>
            <a:ext cx="4099080" cy="2627615"/>
          </a:xfrm>
          <a:prstGeom prst="rect">
            <a:avLst/>
          </a:prstGeom>
        </p:spPr>
      </p:pic>
    </p:spTree>
    <p:extLst>
      <p:ext uri="{BB962C8B-B14F-4D97-AF65-F5344CB8AC3E}">
        <p14:creationId xmlns:p14="http://schemas.microsoft.com/office/powerpoint/2010/main" val="2711201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2C46854-055C-B5AF-C373-DC6DDF6C982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5B6DE34-97B3-499D-8C3E-581B4B505607}"/>
                  </a:ext>
                </a:extLst>
              </p:cNvPr>
              <p:cNvSpPr txBox="1">
                <a:spLocks noGrp="1"/>
              </p:cNvSpPr>
              <p:nvPr>
                <p:ph type="body" idx="1"/>
              </p:nvPr>
            </p:nvSpPr>
            <p:spPr>
              <a:xfrm>
                <a:off x="376810" y="1334279"/>
                <a:ext cx="11529573" cy="797771"/>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500" dirty="0">
                    <a:latin typeface="Atkinson Hyperlegible Next"/>
                    <a:ea typeface="Arial"/>
                    <a:cs typeface="Arial"/>
                    <a:sym typeface="Arial"/>
                  </a:rPr>
                  <a:t>If the victim wire forms a rectangular loop ( not often the case but good enough for showing this specific case), with it’s return path. Having a length </a:t>
                </a:r>
                <a14:m>
                  <m:oMath xmlns:m="http://schemas.openxmlformats.org/officeDocument/2006/math">
                    <m:r>
                      <m:rPr>
                        <m:sty m:val="p"/>
                      </m:rPr>
                      <a:rPr lang="en-US" sz="1500" b="0" i="1" smtClean="0">
                        <a:latin typeface="Cambria Math" panose="02040503050406030204" pitchFamily="18" charset="0"/>
                        <a:ea typeface="Arial"/>
                        <a:cs typeface="Arial"/>
                        <a:sym typeface="Arial"/>
                      </a:rPr>
                      <m:t>l</m:t>
                    </m:r>
                  </m:oMath>
                </a14:m>
                <a:r>
                  <a:rPr lang="en-US" sz="1500" dirty="0">
                    <a:latin typeface="Atkinson Hyperlegible Next"/>
                    <a:ea typeface="Arial"/>
                    <a:cs typeface="Arial"/>
                    <a:sym typeface="Arial"/>
                  </a:rPr>
                  <a:t> and distance </a:t>
                </a:r>
                <a14:m>
                  <m:oMath xmlns:m="http://schemas.openxmlformats.org/officeDocument/2006/math">
                    <m:sSub>
                      <m:sSubPr>
                        <m:ctrlPr>
                          <a:rPr lang="en-US" sz="1500" i="1" smtClean="0">
                            <a:latin typeface="Cambria Math" panose="02040503050406030204" pitchFamily="18" charset="0"/>
                            <a:cs typeface="Arial"/>
                            <a:sym typeface="Arial"/>
                          </a:rPr>
                        </m:ctrlPr>
                      </m:sSubPr>
                      <m:e>
                        <m:r>
                          <m:rPr>
                            <m:sty m:val="p"/>
                          </m:rPr>
                          <a:rPr lang="en-US" sz="1500" b="0" i="1" smtClean="0">
                            <a:latin typeface="Cambria Math" panose="02040503050406030204" pitchFamily="18" charset="0"/>
                            <a:cs typeface="Arial"/>
                            <a:sym typeface="Arial"/>
                          </a:rPr>
                          <m:t>r</m:t>
                        </m:r>
                      </m:e>
                      <m:sub>
                        <m:r>
                          <a:rPr lang="en-US" sz="1500" b="0" i="1" smtClean="0">
                            <a:latin typeface="Cambria Math" panose="02040503050406030204" pitchFamily="18" charset="0"/>
                            <a:cs typeface="Arial"/>
                            <a:sym typeface="Arial"/>
                          </a:rPr>
                          <m:t>1</m:t>
                        </m:r>
                      </m:sub>
                    </m:sSub>
                  </m:oMath>
                </a14:m>
                <a:r>
                  <a:rPr lang="en-US" sz="1500" dirty="0">
                    <a:latin typeface="Atkinson Hyperlegible Next"/>
                    <a:ea typeface="Arial"/>
                    <a:cs typeface="Arial"/>
                    <a:sym typeface="Arial"/>
                  </a:rPr>
                  <a:t> and </a:t>
                </a:r>
                <a14:m>
                  <m:oMath xmlns:m="http://schemas.openxmlformats.org/officeDocument/2006/math">
                    <m:sSub>
                      <m:sSubPr>
                        <m:ctrlPr>
                          <a:rPr lang="en-US" sz="1500" i="1">
                            <a:latin typeface="Cambria Math" panose="02040503050406030204" pitchFamily="18" charset="0"/>
                            <a:cs typeface="Arial"/>
                            <a:sym typeface="Arial"/>
                          </a:rPr>
                        </m:ctrlPr>
                      </m:sSubPr>
                      <m:e>
                        <m:r>
                          <m:rPr>
                            <m:sty m:val="p"/>
                          </m:rPr>
                          <a:rPr lang="en-US" sz="1500" i="1">
                            <a:latin typeface="Cambria Math" panose="02040503050406030204" pitchFamily="18" charset="0"/>
                            <a:cs typeface="Arial"/>
                            <a:sym typeface="Arial"/>
                          </a:rPr>
                          <m:t>r</m:t>
                        </m:r>
                      </m:e>
                      <m:sub>
                        <m:r>
                          <a:rPr lang="en-US" sz="1500" b="0" i="1" smtClean="0">
                            <a:latin typeface="Cambria Math" panose="02040503050406030204" pitchFamily="18" charset="0"/>
                            <a:cs typeface="Arial"/>
                            <a:sym typeface="Arial"/>
                          </a:rPr>
                          <m:t>2</m:t>
                        </m:r>
                      </m:sub>
                    </m:sSub>
                  </m:oMath>
                </a14:m>
                <a:r>
                  <a:rPr lang="en-US" sz="1500" dirty="0">
                    <a:latin typeface="Atkinson Hyperlegible Next"/>
                    <a:ea typeface="Arial"/>
                    <a:cs typeface="Arial"/>
                    <a:sym typeface="Arial"/>
                  </a:rPr>
                  <a:t> from the source wire. The magnetic flux </a:t>
                </a:r>
                <a14:m>
                  <m:oMath xmlns:m="http://schemas.openxmlformats.org/officeDocument/2006/math">
                    <m:sSub>
                      <m:sSubPr>
                        <m:ctrlPr>
                          <a:rPr lang="en-US" sz="1500" i="1" smtClean="0">
                            <a:latin typeface="Cambria Math" panose="02040503050406030204" pitchFamily="18" charset="0"/>
                            <a:cs typeface="Arial"/>
                            <a:sym typeface="Arial"/>
                          </a:rPr>
                        </m:ctrlPr>
                      </m:sSubPr>
                      <m:e>
                        <m:r>
                          <m:rPr>
                            <m:sty m:val="p"/>
                          </m:rPr>
                          <a:rPr lang="el-GR" sz="1500" i="1">
                            <a:latin typeface="Cambria Math" panose="02040503050406030204" pitchFamily="18" charset="0"/>
                            <a:ea typeface="Cambria Math" panose="02040503050406030204" pitchFamily="18" charset="0"/>
                            <a:cs typeface="Arial"/>
                            <a:sym typeface="Arial"/>
                          </a:rPr>
                          <m:t>Φ</m:t>
                        </m:r>
                      </m:e>
                      <m:sub>
                        <m:r>
                          <m:rPr>
                            <m:sty m:val="p"/>
                          </m:rPr>
                          <a:rPr lang="en-US" sz="1500" b="0" i="1" smtClean="0">
                            <a:latin typeface="Cambria Math" panose="02040503050406030204" pitchFamily="18" charset="0"/>
                            <a:cs typeface="Arial"/>
                            <a:sym typeface="Arial"/>
                          </a:rPr>
                          <m:t>B</m:t>
                        </m:r>
                      </m:sub>
                    </m:sSub>
                  </m:oMath>
                </a14:m>
                <a:r>
                  <a:rPr lang="en-US" sz="1500" dirty="0">
                    <a:latin typeface="Atkinson Hyperlegible Next"/>
                    <a:ea typeface="Arial"/>
                    <a:cs typeface="Arial"/>
                    <a:sym typeface="Arial"/>
                  </a:rPr>
                  <a:t>, though this loop is the surface integral of the magnetic field.</a:t>
                </a:r>
              </a:p>
            </p:txBody>
          </p:sp>
        </mc:Choice>
        <mc:Fallback xmlns="">
          <p:sp>
            <p:nvSpPr>
              <p:cNvPr id="118" name="Google Shape;118;p29">
                <a:extLst>
                  <a:ext uri="{FF2B5EF4-FFF2-40B4-BE49-F238E27FC236}">
                    <a16:creationId xmlns:a16="http://schemas.microsoft.com/office/drawing/2014/main" id="{45B6DE34-97B3-499D-8C3E-581B4B505607}"/>
                  </a:ext>
                </a:extLst>
              </p:cNvPr>
              <p:cNvSpPr txBox="1">
                <a:spLocks noGrp="1" noRot="1" noChangeAspect="1" noMove="1" noResize="1" noEditPoints="1" noAdjustHandles="1" noChangeArrowheads="1" noChangeShapeType="1" noTextEdit="1"/>
              </p:cNvSpPr>
              <p:nvPr>
                <p:ph type="body" idx="1"/>
              </p:nvPr>
            </p:nvSpPr>
            <p:spPr>
              <a:xfrm>
                <a:off x="376810" y="1334279"/>
                <a:ext cx="11529573" cy="797771"/>
              </a:xfrm>
              <a:prstGeom prst="rect">
                <a:avLst/>
              </a:prstGeom>
              <a:blipFill>
                <a:blip r:embed="rId3"/>
                <a:stretch>
                  <a:fillRect l="-212" t="-1527" b="-534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CEE58DB9-5625-990F-F409-EB9B083C05F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17CA482-AB72-74E5-0248-749A0D818BF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Interferences - Inductive (2/4)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81E9A12-AB74-EDCA-180A-4B3D72EB2B1C}"/>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0FB80E4-BF7C-BFC5-F190-CF499181B42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BB2A733-C909-DB25-00C1-A1F2DBAC6A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80EA645-D3D2-7CF1-299D-FDCAED47ED5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77CDCEC-81D1-298B-318D-D346156D1A9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797F273-8E95-CE18-1F68-F4DBF54C924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 name="TextBox 1">
            <a:extLst>
              <a:ext uri="{FF2B5EF4-FFF2-40B4-BE49-F238E27FC236}">
                <a16:creationId xmlns:a16="http://schemas.microsoft.com/office/drawing/2014/main" id="{E39B0FC0-03D0-7B0B-BA2C-429A87EC5F84}"/>
              </a:ext>
            </a:extLst>
          </p:cNvPr>
          <p:cNvSpPr txBox="1"/>
          <p:nvPr/>
        </p:nvSpPr>
        <p:spPr>
          <a:xfrm>
            <a:off x="9264863" y="6014058"/>
            <a:ext cx="1330036" cy="307777"/>
          </a:xfrm>
          <a:prstGeom prst="rect">
            <a:avLst/>
          </a:prstGeom>
          <a:noFill/>
        </p:spPr>
        <p:txBody>
          <a:bodyPr wrap="square" rtlCol="0">
            <a:spAutoFit/>
          </a:bodyPr>
          <a:lstStyle/>
          <a:p>
            <a:pPr algn="ctr"/>
            <a:r>
              <a:rPr lang="en-US" dirty="0"/>
              <a:t>Animate this!</a:t>
            </a:r>
          </a:p>
        </p:txBody>
      </p:sp>
      <p:pic>
        <p:nvPicPr>
          <p:cNvPr id="7" name="Graphic 6" descr="Diagram: A vertical source wire carries current I sub 1 of t upward, surrounded by circular magnetic field lines, B of r, t equals mu naught I sub 1 of t over 2 pi r, in the phi-hat direction. To its right, a rectangular victim loop of height l spans radial distances r sub 1 to r sub 2 from the wire. The field passes into the page through the loop area S, with area element d A equals d r d z.">
            <a:extLst>
              <a:ext uri="{FF2B5EF4-FFF2-40B4-BE49-F238E27FC236}">
                <a16:creationId xmlns:a16="http://schemas.microsoft.com/office/drawing/2014/main" id="{7FBC60A7-C44A-88C2-2880-42A130B2D873}"/>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557421" y="2247275"/>
            <a:ext cx="5077158" cy="4175778"/>
          </a:xfrm>
          <a:prstGeom prst="rect">
            <a:avLst/>
          </a:prstGeom>
        </p:spPr>
      </p:pic>
    </p:spTree>
    <p:extLst>
      <p:ext uri="{BB962C8B-B14F-4D97-AF65-F5344CB8AC3E}">
        <p14:creationId xmlns:p14="http://schemas.microsoft.com/office/powerpoint/2010/main" val="1044107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3AE1F92-AC29-518F-C27B-044A750C34B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13396D8D-BDCA-968E-907C-556491E12358}"/>
                  </a:ext>
                </a:extLst>
              </p:cNvPr>
              <p:cNvSpPr txBox="1">
                <a:spLocks noGrp="1"/>
              </p:cNvSpPr>
              <p:nvPr>
                <p:ph type="body" idx="1"/>
              </p:nvPr>
            </p:nvSpPr>
            <p:spPr>
              <a:xfrm>
                <a:off x="376810" y="1334279"/>
                <a:ext cx="6522754" cy="5074536"/>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Cambria Math" panose="02040503050406030204" pitchFamily="18" charset="0"/>
                    <a:sym typeface="Arial"/>
                  </a:rPr>
                  <a:t>Integrating the field across the area.</a:t>
                </a:r>
              </a:p>
              <a:p>
                <a:pPr marL="0" indent="0">
                  <a:lnSpc>
                    <a:spcPct val="100000"/>
                  </a:lnSpc>
                  <a:spcBef>
                    <a:spcPts val="0"/>
                  </a:spcBef>
                  <a:buSzPts val="3000"/>
                  <a:buNone/>
                </a:pPr>
                <a:endParaRPr lang="en-US" sz="2000" dirty="0">
                  <a:latin typeface="Cambria Math" panose="02040503050406030204" pitchFamily="18" charset="0"/>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sym typeface="Arial"/>
                            </a:rPr>
                          </m:ctrlPr>
                        </m:sSubPr>
                        <m:e>
                          <m:r>
                            <a:rPr lang="en-US" sz="2000" i="1" dirty="0">
                              <a:latin typeface="Cambria Math" panose="02040503050406030204" pitchFamily="18" charset="0"/>
                              <a:sym typeface="Arial"/>
                            </a:rPr>
                            <m:t>𝛷</m:t>
                          </m:r>
                        </m:e>
                        <m:sub>
                          <m:r>
                            <a:rPr lang="en-US" sz="2000" i="1" dirty="0">
                              <a:latin typeface="Cambria Math" panose="02040503050406030204" pitchFamily="18" charset="0"/>
                              <a:sym typeface="Arial"/>
                            </a:rPr>
                            <m:t>𝐵</m:t>
                          </m:r>
                        </m:sub>
                      </m:sSub>
                      <m:r>
                        <a:rPr lang="en-US" sz="2000" i="0" dirty="0">
                          <a:latin typeface="Cambria Math" panose="02040503050406030204" pitchFamily="18" charset="0"/>
                          <a:sym typeface="Arial"/>
                        </a:rPr>
                        <m:t>=</m:t>
                      </m:r>
                      <m:nary>
                        <m:naryPr>
                          <m:chr m:val="∬"/>
                          <m:limLoc m:val="subSup"/>
                          <m:supHide m:val="on"/>
                          <m:ctrlPr>
                            <a:rPr lang="en-US" sz="2000" i="1" dirty="0">
                              <a:latin typeface="Cambria Math" panose="02040503050406030204" pitchFamily="18" charset="0"/>
                              <a:sym typeface="Arial"/>
                            </a:rPr>
                          </m:ctrlPr>
                        </m:naryPr>
                        <m:sub>
                          <m:r>
                            <a:rPr lang="en-US" sz="2000" i="1" dirty="0">
                              <a:latin typeface="Cambria Math" panose="02040503050406030204" pitchFamily="18" charset="0"/>
                              <a:sym typeface="Arial"/>
                            </a:rPr>
                            <m:t>𝑆</m:t>
                          </m:r>
                        </m:sub>
                        <m:sup/>
                        <m:e>
                          <m:r>
                            <a:rPr lang="en-US" sz="2000" i="1" dirty="0">
                              <a:latin typeface="Cambria Math" panose="02040503050406030204" pitchFamily="18" charset="0"/>
                              <a:sym typeface="Arial"/>
                            </a:rPr>
                            <m:t>𝐵</m:t>
                          </m:r>
                          <m:r>
                            <a:rPr lang="en-US" sz="2000" i="0" dirty="0">
                              <a:latin typeface="Cambria Math" panose="02040503050406030204" pitchFamily="18" charset="0"/>
                              <a:sym typeface="Arial"/>
                            </a:rPr>
                            <m:t>⋅ⅆ</m:t>
                          </m:r>
                          <m:r>
                            <a:rPr lang="en-US" sz="2000" i="1" dirty="0">
                              <a:latin typeface="Cambria Math" panose="02040503050406030204" pitchFamily="18" charset="0"/>
                              <a:sym typeface="Arial"/>
                            </a:rPr>
                            <m:t>𝐴</m:t>
                          </m:r>
                        </m:e>
                      </m:nary>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Substituting and integrating over the area </a:t>
                </a:r>
                <a14:m>
                  <m:oMath xmlns:m="http://schemas.openxmlformats.org/officeDocument/2006/math">
                    <m:r>
                      <m:rPr>
                        <m:sty m:val="p"/>
                      </m:rPr>
                      <a:rPr lang="en-US" sz="2000" b="0" i="1" smtClean="0">
                        <a:latin typeface="Cambria Math" panose="02040503050406030204" pitchFamily="18" charset="0"/>
                        <a:ea typeface="Arial"/>
                        <a:cs typeface="Arial"/>
                        <a:sym typeface="Arial"/>
                      </a:rPr>
                      <m:t>dA</m:t>
                    </m:r>
                    <m:r>
                      <a:rPr lang="en-US" sz="2000" b="0" i="1" smtClean="0">
                        <a:latin typeface="Cambria Math" panose="02040503050406030204" pitchFamily="18" charset="0"/>
                        <a:ea typeface="Arial"/>
                        <a:cs typeface="Arial"/>
                        <a:sym typeface="Arial"/>
                      </a:rPr>
                      <m:t>=</m:t>
                    </m:r>
                    <m:r>
                      <m:rPr>
                        <m:sty m:val="p"/>
                      </m:rPr>
                      <a:rPr lang="en-US" sz="2000" b="0" i="1" smtClean="0">
                        <a:latin typeface="Cambria Math" panose="02040503050406030204" pitchFamily="18" charset="0"/>
                        <a:ea typeface="Arial"/>
                        <a:cs typeface="Arial"/>
                        <a:sym typeface="Arial"/>
                      </a:rPr>
                      <m:t>l</m:t>
                    </m:r>
                    <m:r>
                      <a:rPr lang="en-US" sz="2000" b="0" i="1" smtClean="0">
                        <a:latin typeface="Cambria Math" panose="02040503050406030204" pitchFamily="18" charset="0"/>
                        <a:ea typeface="Arial"/>
                        <a:cs typeface="Arial"/>
                        <a:sym typeface="Arial"/>
                      </a:rPr>
                      <m:t> </m:t>
                    </m:r>
                    <m:r>
                      <m:rPr>
                        <m:sty m:val="p"/>
                      </m:rPr>
                      <a:rPr lang="en-US" sz="2000" b="0" i="1" smtClean="0">
                        <a:latin typeface="Cambria Math" panose="02040503050406030204" pitchFamily="18" charset="0"/>
                        <a:ea typeface="Arial"/>
                        <a:cs typeface="Arial"/>
                        <a:sym typeface="Arial"/>
                      </a:rPr>
                      <m:t>dr</m:t>
                    </m:r>
                  </m:oMath>
                </a14:m>
                <a:r>
                  <a:rPr lang="en-US" sz="2000" dirty="0">
                    <a:latin typeface="Atkinson Hyperlegible Next"/>
                    <a:ea typeface="Arial"/>
                    <a:cs typeface="Arial"/>
                    <a:sym typeface="Arial"/>
                  </a:rPr>
                  <a:t>:</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dirty="0" smtClean="0">
                              <a:latin typeface="Cambria Math" panose="02040503050406030204" pitchFamily="18" charset="0"/>
                              <a:sym typeface="Arial"/>
                            </a:rPr>
                          </m:ctrlPr>
                        </m:sSubPr>
                        <m:e>
                          <m:r>
                            <a:rPr lang="en-US" sz="2000" i="1" dirty="0" smtClean="0">
                              <a:latin typeface="Cambria Math" panose="02040503050406030204" pitchFamily="18" charset="0"/>
                              <a:sym typeface="Arial"/>
                            </a:rPr>
                            <m:t>𝛷</m:t>
                          </m:r>
                        </m:e>
                        <m:sub>
                          <m:r>
                            <a:rPr lang="en-US" sz="2000" i="1" dirty="0" smtClean="0">
                              <a:latin typeface="Cambria Math" panose="02040503050406030204" pitchFamily="18" charset="0"/>
                              <a:sym typeface="Arial"/>
                            </a:rPr>
                            <m:t>𝐵</m:t>
                          </m:r>
                        </m:sub>
                      </m:sSub>
                      <m:r>
                        <a:rPr lang="en-US" sz="2000" i="0" dirty="0" smtClean="0">
                          <a:latin typeface="Cambria Math" panose="02040503050406030204" pitchFamily="18" charset="0"/>
                          <a:sym typeface="Arial"/>
                        </a:rPr>
                        <m:t>=</m:t>
                      </m:r>
                      <m:nary>
                        <m:naryPr>
                          <m:limLoc m:val="subSup"/>
                          <m:grow m:val="on"/>
                          <m:ctrlPr>
                            <a:rPr lang="en-US" sz="2000" i="1" dirty="0" smtClean="0">
                              <a:latin typeface="Cambria Math" panose="02040503050406030204" pitchFamily="18" charset="0"/>
                              <a:sym typeface="Arial"/>
                            </a:rPr>
                          </m:ctrlPr>
                        </m:naryPr>
                        <m:sub>
                          <m:sSub>
                            <m:sSubPr>
                              <m:ctrlPr>
                                <a:rPr lang="en-US" sz="2000" i="1" dirty="0" smtClean="0">
                                  <a:latin typeface="Cambria Math" panose="02040503050406030204" pitchFamily="18" charset="0"/>
                                  <a:sym typeface="Arial"/>
                                </a:rPr>
                              </m:ctrlPr>
                            </m:sSubPr>
                            <m:e>
                              <m:r>
                                <a:rPr lang="en-US" sz="2000" i="1" dirty="0" smtClean="0">
                                  <a:latin typeface="Cambria Math" panose="02040503050406030204" pitchFamily="18" charset="0"/>
                                  <a:sym typeface="Arial"/>
                                </a:rPr>
                                <m:t>𝑟</m:t>
                              </m:r>
                            </m:e>
                            <m:sub>
                              <m:r>
                                <a:rPr lang="en-US" sz="2000" i="0" dirty="0" smtClean="0">
                                  <a:latin typeface="Cambria Math" panose="02040503050406030204" pitchFamily="18" charset="0"/>
                                  <a:sym typeface="Arial"/>
                                </a:rPr>
                                <m:t>1</m:t>
                              </m:r>
                            </m:sub>
                          </m:sSub>
                        </m:sub>
                        <m:sup>
                          <m:sSub>
                            <m:sSubPr>
                              <m:ctrlPr>
                                <a:rPr lang="en-US" sz="2000" i="1" dirty="0" smtClean="0">
                                  <a:latin typeface="Cambria Math" panose="02040503050406030204" pitchFamily="18" charset="0"/>
                                  <a:sym typeface="Arial"/>
                                </a:rPr>
                              </m:ctrlPr>
                            </m:sSubPr>
                            <m:e>
                              <m:r>
                                <a:rPr lang="en-US" sz="2000" i="1" dirty="0" smtClean="0">
                                  <a:latin typeface="Cambria Math" panose="02040503050406030204" pitchFamily="18" charset="0"/>
                                  <a:sym typeface="Arial"/>
                                </a:rPr>
                                <m:t>𝑟</m:t>
                              </m:r>
                            </m:e>
                            <m:sub>
                              <m:r>
                                <a:rPr lang="en-US" sz="2000" i="0" dirty="0" smtClean="0">
                                  <a:latin typeface="Cambria Math" panose="02040503050406030204" pitchFamily="18" charset="0"/>
                                  <a:sym typeface="Arial"/>
                                </a:rPr>
                                <m:t>2</m:t>
                              </m:r>
                            </m:sub>
                          </m:sSub>
                        </m:sup>
                        <m:e>
                          <m:d>
                            <m:dPr>
                              <m:ctrlPr>
                                <a:rPr lang="en-US" sz="2000" i="1" dirty="0" smtClean="0">
                                  <a:latin typeface="Cambria Math" panose="02040503050406030204" pitchFamily="18" charset="0"/>
                                  <a:sym typeface="Arial"/>
                                </a:rPr>
                              </m:ctrlPr>
                            </m:dPr>
                            <m:e>
                              <m:f>
                                <m:fPr>
                                  <m:ctrlPr>
                                    <a:rPr lang="en-US" sz="2000" i="1" dirty="0" smtClean="0">
                                      <a:latin typeface="Cambria Math" panose="02040503050406030204" pitchFamily="18" charset="0"/>
                                      <a:sym typeface="Arial"/>
                                    </a:rPr>
                                  </m:ctrlPr>
                                </m:fPr>
                                <m:num>
                                  <m:sSub>
                                    <m:sSubPr>
                                      <m:ctrlPr>
                                        <a:rPr lang="en-US" sz="2000" i="1" dirty="0" smtClean="0">
                                          <a:latin typeface="Cambria Math" panose="02040503050406030204" pitchFamily="18" charset="0"/>
                                          <a:sym typeface="Arial"/>
                                        </a:rPr>
                                      </m:ctrlPr>
                                    </m:sSubPr>
                                    <m:e>
                                      <m:r>
                                        <a:rPr lang="en-US" sz="2000" i="1" dirty="0" smtClean="0">
                                          <a:latin typeface="Cambria Math" panose="02040503050406030204" pitchFamily="18" charset="0"/>
                                          <a:sym typeface="Arial"/>
                                        </a:rPr>
                                        <m:t>𝜇</m:t>
                                      </m:r>
                                    </m:e>
                                    <m:sub>
                                      <m:r>
                                        <a:rPr lang="en-US" sz="2000" i="0" dirty="0" smtClean="0">
                                          <a:latin typeface="Cambria Math" panose="02040503050406030204" pitchFamily="18" charset="0"/>
                                          <a:sym typeface="Arial"/>
                                        </a:rPr>
                                        <m:t>0</m:t>
                                      </m:r>
                                    </m:sub>
                                  </m:sSub>
                                  <m:sSub>
                                    <m:sSubPr>
                                      <m:ctrlPr>
                                        <a:rPr lang="en-US" sz="2000" i="1" dirty="0" smtClean="0">
                                          <a:latin typeface="Cambria Math" panose="02040503050406030204" pitchFamily="18" charset="0"/>
                                          <a:sym typeface="Arial"/>
                                        </a:rPr>
                                      </m:ctrlPr>
                                    </m:sSubPr>
                                    <m:e>
                                      <m:r>
                                        <a:rPr lang="en-US" sz="2000" i="1" dirty="0" smtClean="0">
                                          <a:latin typeface="Cambria Math" panose="02040503050406030204" pitchFamily="18" charset="0"/>
                                          <a:sym typeface="Arial"/>
                                        </a:rPr>
                                        <m:t>𝐼</m:t>
                                      </m:r>
                                    </m:e>
                                    <m:sub>
                                      <m:r>
                                        <a:rPr lang="en-US" sz="2000" i="0" dirty="0" smtClean="0">
                                          <a:latin typeface="Cambria Math" panose="02040503050406030204" pitchFamily="18" charset="0"/>
                                          <a:sym typeface="Arial"/>
                                        </a:rPr>
                                        <m:t>1</m:t>
                                      </m:r>
                                    </m:sub>
                                  </m:sSub>
                                  <m:d>
                                    <m:dPr>
                                      <m:ctrlPr>
                                        <a:rPr lang="en-US" sz="2000" i="1" dirty="0" smtClean="0">
                                          <a:latin typeface="Cambria Math" panose="02040503050406030204" pitchFamily="18" charset="0"/>
                                          <a:sym typeface="Arial"/>
                                        </a:rPr>
                                      </m:ctrlPr>
                                    </m:dPr>
                                    <m:e>
                                      <m:r>
                                        <a:rPr lang="en-US" sz="2000" i="1" dirty="0" smtClean="0">
                                          <a:latin typeface="Cambria Math" panose="02040503050406030204" pitchFamily="18" charset="0"/>
                                          <a:sym typeface="Arial"/>
                                        </a:rPr>
                                        <m:t>𝑡</m:t>
                                      </m:r>
                                    </m:e>
                                  </m:d>
                                </m:num>
                                <m:den>
                                  <m:r>
                                    <a:rPr lang="en-US" sz="2000" i="0" dirty="0" smtClean="0">
                                      <a:latin typeface="Cambria Math" panose="02040503050406030204" pitchFamily="18" charset="0"/>
                                      <a:sym typeface="Arial"/>
                                    </a:rPr>
                                    <m:t>2</m:t>
                                  </m:r>
                                  <m:r>
                                    <a:rPr lang="en-US" sz="2000" i="1" dirty="0" smtClean="0">
                                      <a:latin typeface="Cambria Math" panose="02040503050406030204" pitchFamily="18" charset="0"/>
                                      <a:sym typeface="Arial"/>
                                    </a:rPr>
                                    <m:t>𝜋</m:t>
                                  </m:r>
                                  <m:r>
                                    <a:rPr lang="en-US" sz="2000" i="1" dirty="0" smtClean="0">
                                      <a:latin typeface="Cambria Math" panose="02040503050406030204" pitchFamily="18" charset="0"/>
                                      <a:sym typeface="Arial"/>
                                    </a:rPr>
                                    <m:t>𝑟</m:t>
                                  </m:r>
                                </m:den>
                              </m:f>
                            </m:e>
                          </m:d>
                        </m:e>
                      </m:nary>
                      <m:r>
                        <a:rPr lang="en-US" sz="2000" i="1" dirty="0" smtClean="0">
                          <a:latin typeface="Cambria Math" panose="02040503050406030204" pitchFamily="18" charset="0"/>
                          <a:sym typeface="Arial"/>
                        </a:rPr>
                        <m:t>𝑙</m:t>
                      </m:r>
                      <m:sSub>
                        <m:sSubPr>
                          <m:ctrlPr>
                            <a:rPr lang="en-US" sz="2000" i="1" dirty="0" smtClean="0">
                              <a:latin typeface="Cambria Math" panose="02040503050406030204" pitchFamily="18" charset="0"/>
                              <a:sym typeface="Arial"/>
                            </a:rPr>
                          </m:ctrlPr>
                        </m:sSubPr>
                        <m:e>
                          <m:r>
                            <a:rPr lang="en-US" sz="2000" i="1" dirty="0" smtClean="0">
                              <a:latin typeface="Cambria Math" panose="02040503050406030204" pitchFamily="18" charset="0"/>
                              <a:sym typeface="Arial"/>
                            </a:rPr>
                            <m:t>𝑑</m:t>
                          </m:r>
                        </m:e>
                        <m:sub>
                          <m:r>
                            <a:rPr lang="en-US" sz="2000" i="1" dirty="0" smtClean="0">
                              <a:latin typeface="Cambria Math" panose="02040503050406030204" pitchFamily="18" charset="0"/>
                              <a:sym typeface="Arial"/>
                            </a:rPr>
                            <m:t>𝑟</m:t>
                          </m:r>
                        </m:sub>
                      </m:sSub>
                    </m:oMath>
                  </m:oMathPara>
                </a14:m>
                <a:endParaRPr lang="en-US" sz="2000" dirty="0">
                  <a:latin typeface="Atkinson Hyperlegible Next"/>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sym typeface="Arial"/>
                            </a:rPr>
                          </m:ctrlPr>
                        </m:sSubPr>
                        <m:e>
                          <m:r>
                            <a:rPr lang="en-US" sz="2000" i="1" dirty="0">
                              <a:latin typeface="Cambria Math" panose="02040503050406030204" pitchFamily="18" charset="0"/>
                              <a:sym typeface="Arial"/>
                            </a:rPr>
                            <m:t>𝛷</m:t>
                          </m:r>
                        </m:e>
                        <m:sub>
                          <m:r>
                            <a:rPr lang="en-US" sz="2000" i="1" dirty="0">
                              <a:latin typeface="Cambria Math" panose="02040503050406030204" pitchFamily="18" charset="0"/>
                              <a:sym typeface="Arial"/>
                            </a:rPr>
                            <m:t>𝐵</m:t>
                          </m:r>
                        </m:sub>
                      </m:sSub>
                      <m:r>
                        <a:rPr lang="en-US" sz="2000" dirty="0">
                          <a:latin typeface="Cambria Math" panose="02040503050406030204" pitchFamily="18" charset="0"/>
                          <a:sym typeface="Arial"/>
                        </a:rPr>
                        <m:t>=</m:t>
                      </m:r>
                      <m:f>
                        <m:fPr>
                          <m:ctrlPr>
                            <a:rPr lang="en-US" sz="2000" i="1" dirty="0" smtClean="0">
                              <a:latin typeface="Cambria Math" panose="02040503050406030204" pitchFamily="18" charset="0"/>
                              <a:sym typeface="Arial"/>
                            </a:rPr>
                          </m:ctrlPr>
                        </m:fPr>
                        <m:num>
                          <m:sSub>
                            <m:sSubPr>
                              <m:ctrlPr>
                                <a:rPr lang="en-US" sz="2000" i="1" dirty="0">
                                  <a:latin typeface="Cambria Math" panose="02040503050406030204" pitchFamily="18" charset="0"/>
                                  <a:sym typeface="Arial"/>
                                </a:rPr>
                              </m:ctrlPr>
                            </m:sSubPr>
                            <m:e>
                              <m:r>
                                <a:rPr lang="en-US" sz="2000" i="1" dirty="0">
                                  <a:latin typeface="Cambria Math" panose="02040503050406030204" pitchFamily="18" charset="0"/>
                                  <a:sym typeface="Arial"/>
                                </a:rPr>
                                <m:t>𝜇</m:t>
                              </m:r>
                            </m:e>
                            <m:sub>
                              <m:r>
                                <a:rPr lang="en-US" sz="2000" dirty="0">
                                  <a:latin typeface="Cambria Math" panose="02040503050406030204" pitchFamily="18" charset="0"/>
                                  <a:sym typeface="Arial"/>
                                </a:rPr>
                                <m:t>0</m:t>
                              </m:r>
                            </m:sub>
                          </m:sSub>
                          <m:sSub>
                            <m:sSubPr>
                              <m:ctrlPr>
                                <a:rPr lang="en-US" sz="2000" i="1" dirty="0">
                                  <a:latin typeface="Cambria Math" panose="02040503050406030204" pitchFamily="18" charset="0"/>
                                  <a:sym typeface="Arial"/>
                                </a:rPr>
                              </m:ctrlPr>
                            </m:sSubPr>
                            <m:e>
                              <m:r>
                                <m:rPr>
                                  <m:sty m:val="p"/>
                                </m:rPr>
                                <a:rPr lang="en-US" sz="2000" b="0" i="1" dirty="0" smtClean="0">
                                  <a:latin typeface="Cambria Math" panose="02040503050406030204" pitchFamily="18" charset="0"/>
                                  <a:sym typeface="Arial"/>
                                </a:rPr>
                                <m:t>l</m:t>
                              </m:r>
                              <m:r>
                                <a:rPr lang="en-US" sz="2000" i="1" dirty="0">
                                  <a:latin typeface="Cambria Math" panose="02040503050406030204" pitchFamily="18" charset="0"/>
                                  <a:sym typeface="Arial"/>
                                </a:rPr>
                                <m:t>𝐼</m:t>
                              </m:r>
                            </m:e>
                            <m:sub>
                              <m:r>
                                <a:rPr lang="en-US" sz="2000" dirty="0">
                                  <a:latin typeface="Cambria Math" panose="02040503050406030204" pitchFamily="18" charset="0"/>
                                  <a:sym typeface="Arial"/>
                                </a:rPr>
                                <m:t>1</m:t>
                              </m:r>
                            </m:sub>
                          </m:sSub>
                          <m:d>
                            <m:dPr>
                              <m:ctrlPr>
                                <a:rPr lang="en-US" sz="2000" i="1" dirty="0">
                                  <a:latin typeface="Cambria Math" panose="02040503050406030204" pitchFamily="18" charset="0"/>
                                  <a:sym typeface="Arial"/>
                                </a:rPr>
                              </m:ctrlPr>
                            </m:dPr>
                            <m:e>
                              <m:r>
                                <a:rPr lang="en-US" sz="2000" i="1" dirty="0">
                                  <a:latin typeface="Cambria Math" panose="02040503050406030204" pitchFamily="18" charset="0"/>
                                  <a:sym typeface="Arial"/>
                                </a:rPr>
                                <m:t>𝑡</m:t>
                              </m:r>
                            </m:e>
                          </m:d>
                        </m:num>
                        <m:den>
                          <m:r>
                            <a:rPr lang="en-US" sz="2000" dirty="0">
                              <a:latin typeface="Cambria Math" panose="02040503050406030204" pitchFamily="18" charset="0"/>
                              <a:sym typeface="Arial"/>
                            </a:rPr>
                            <m:t>2</m:t>
                          </m:r>
                          <m:r>
                            <a:rPr lang="en-US" sz="2000" i="1" dirty="0">
                              <a:latin typeface="Cambria Math" panose="02040503050406030204" pitchFamily="18" charset="0"/>
                              <a:sym typeface="Arial"/>
                            </a:rPr>
                            <m:t>𝜋</m:t>
                          </m:r>
                        </m:den>
                      </m:f>
                      <m:nary>
                        <m:naryPr>
                          <m:limLoc m:val="subSup"/>
                          <m:grow m:val="on"/>
                          <m:ctrlPr>
                            <a:rPr lang="en-US" sz="2000" i="1" dirty="0">
                              <a:latin typeface="Cambria Math" panose="02040503050406030204" pitchFamily="18" charset="0"/>
                              <a:sym typeface="Arial"/>
                            </a:rPr>
                          </m:ctrlPr>
                        </m:naryPr>
                        <m:sub>
                          <m:sSub>
                            <m:sSubPr>
                              <m:ctrlPr>
                                <a:rPr lang="en-US" sz="2000" i="1" dirty="0">
                                  <a:latin typeface="Cambria Math" panose="02040503050406030204" pitchFamily="18" charset="0"/>
                                  <a:sym typeface="Arial"/>
                                </a:rPr>
                              </m:ctrlPr>
                            </m:sSubPr>
                            <m:e>
                              <m:r>
                                <a:rPr lang="en-US" sz="2000" i="1" dirty="0">
                                  <a:latin typeface="Cambria Math" panose="02040503050406030204" pitchFamily="18" charset="0"/>
                                  <a:sym typeface="Arial"/>
                                </a:rPr>
                                <m:t>𝑟</m:t>
                              </m:r>
                            </m:e>
                            <m:sub>
                              <m:r>
                                <a:rPr lang="en-US" sz="2000" dirty="0">
                                  <a:latin typeface="Cambria Math" panose="02040503050406030204" pitchFamily="18" charset="0"/>
                                  <a:sym typeface="Arial"/>
                                </a:rPr>
                                <m:t>1</m:t>
                              </m:r>
                            </m:sub>
                          </m:sSub>
                        </m:sub>
                        <m:sup>
                          <m:sSub>
                            <m:sSubPr>
                              <m:ctrlPr>
                                <a:rPr lang="en-US" sz="2000" i="1" dirty="0">
                                  <a:latin typeface="Cambria Math" panose="02040503050406030204" pitchFamily="18" charset="0"/>
                                  <a:sym typeface="Arial"/>
                                </a:rPr>
                              </m:ctrlPr>
                            </m:sSubPr>
                            <m:e>
                              <m:r>
                                <a:rPr lang="en-US" sz="2000" i="1" dirty="0">
                                  <a:latin typeface="Cambria Math" panose="02040503050406030204" pitchFamily="18" charset="0"/>
                                  <a:sym typeface="Arial"/>
                                </a:rPr>
                                <m:t>𝑟</m:t>
                              </m:r>
                            </m:e>
                            <m:sub>
                              <m:r>
                                <a:rPr lang="en-US" sz="2000" dirty="0">
                                  <a:latin typeface="Cambria Math" panose="02040503050406030204" pitchFamily="18" charset="0"/>
                                  <a:sym typeface="Arial"/>
                                </a:rPr>
                                <m:t>2</m:t>
                              </m:r>
                            </m:sub>
                          </m:sSub>
                        </m:sup>
                        <m:e>
                          <m:f>
                            <m:fPr>
                              <m:ctrlPr>
                                <a:rPr lang="en-US" sz="2000" i="1" dirty="0" smtClean="0">
                                  <a:latin typeface="Cambria Math" panose="02040503050406030204" pitchFamily="18" charset="0"/>
                                  <a:sym typeface="Arial"/>
                                </a:rPr>
                              </m:ctrlPr>
                            </m:fPr>
                            <m:num>
                              <m:r>
                                <a:rPr lang="en-US" sz="2000" b="0" i="1" dirty="0" smtClean="0">
                                  <a:latin typeface="Cambria Math" panose="02040503050406030204" pitchFamily="18" charset="0"/>
                                  <a:sym typeface="Arial"/>
                                </a:rPr>
                                <m:t>1</m:t>
                              </m:r>
                            </m:num>
                            <m:den>
                              <m:r>
                                <m:rPr>
                                  <m:sty m:val="p"/>
                                </m:rPr>
                                <a:rPr lang="en-US" sz="2000" b="0" i="1" dirty="0" smtClean="0">
                                  <a:latin typeface="Cambria Math" panose="02040503050406030204" pitchFamily="18" charset="0"/>
                                  <a:sym typeface="Arial"/>
                                </a:rPr>
                                <m:t>r</m:t>
                              </m:r>
                            </m:den>
                          </m:f>
                          <m:r>
                            <a:rPr lang="en-US" sz="2000" b="0" i="1" dirty="0" smtClean="0">
                              <a:latin typeface="Cambria Math" panose="02040503050406030204" pitchFamily="18" charset="0"/>
                              <a:sym typeface="Arial"/>
                            </a:rPr>
                            <m:t> </m:t>
                          </m:r>
                          <m:sSub>
                            <m:sSubPr>
                              <m:ctrlPr>
                                <a:rPr lang="en-US" sz="2000" i="1" dirty="0">
                                  <a:latin typeface="Cambria Math" panose="02040503050406030204" pitchFamily="18" charset="0"/>
                                  <a:sym typeface="Arial"/>
                                </a:rPr>
                              </m:ctrlPr>
                            </m:sSubPr>
                            <m:e>
                              <m:r>
                                <a:rPr lang="en-US" sz="2000" i="1" dirty="0">
                                  <a:latin typeface="Cambria Math" panose="02040503050406030204" pitchFamily="18" charset="0"/>
                                  <a:sym typeface="Arial"/>
                                </a:rPr>
                                <m:t>𝑑</m:t>
                              </m:r>
                            </m:e>
                            <m:sub>
                              <m:r>
                                <a:rPr lang="en-US" sz="2000" i="1" dirty="0">
                                  <a:latin typeface="Cambria Math" panose="02040503050406030204" pitchFamily="18" charset="0"/>
                                  <a:sym typeface="Arial"/>
                                </a:rPr>
                                <m:t>𝑟</m:t>
                              </m:r>
                            </m:sub>
                          </m:sSub>
                        </m:e>
                      </m:nary>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sym typeface="Arial"/>
                            </a:rPr>
                          </m:ctrlPr>
                        </m:sSubPr>
                        <m:e>
                          <m:r>
                            <a:rPr lang="en-US" sz="2000" i="1" dirty="0">
                              <a:latin typeface="Cambria Math" panose="02040503050406030204" pitchFamily="18" charset="0"/>
                              <a:sym typeface="Arial"/>
                            </a:rPr>
                            <m:t>𝛷</m:t>
                          </m:r>
                        </m:e>
                        <m:sub>
                          <m:r>
                            <a:rPr lang="en-US" sz="2000" i="1" dirty="0">
                              <a:latin typeface="Cambria Math" panose="02040503050406030204" pitchFamily="18" charset="0"/>
                              <a:sym typeface="Arial"/>
                            </a:rPr>
                            <m:t>𝐵</m:t>
                          </m:r>
                        </m:sub>
                      </m:sSub>
                      <m:r>
                        <a:rPr lang="en-US" sz="2000" dirty="0">
                          <a:latin typeface="Cambria Math" panose="02040503050406030204" pitchFamily="18" charset="0"/>
                          <a:sym typeface="Arial"/>
                        </a:rPr>
                        <m:t>=</m:t>
                      </m:r>
                      <m:f>
                        <m:fPr>
                          <m:ctrlPr>
                            <a:rPr lang="en-US" sz="2000" i="1" dirty="0">
                              <a:latin typeface="Cambria Math" panose="02040503050406030204" pitchFamily="18" charset="0"/>
                              <a:sym typeface="Arial"/>
                            </a:rPr>
                          </m:ctrlPr>
                        </m:fPr>
                        <m:num>
                          <m:sSub>
                            <m:sSubPr>
                              <m:ctrlPr>
                                <a:rPr lang="en-US" sz="2000" i="1" dirty="0">
                                  <a:latin typeface="Cambria Math" panose="02040503050406030204" pitchFamily="18" charset="0"/>
                                  <a:sym typeface="Arial"/>
                                </a:rPr>
                              </m:ctrlPr>
                            </m:sSubPr>
                            <m:e>
                              <m:r>
                                <a:rPr lang="en-US" sz="2000" i="1" dirty="0">
                                  <a:latin typeface="Cambria Math" panose="02040503050406030204" pitchFamily="18" charset="0"/>
                                  <a:sym typeface="Arial"/>
                                </a:rPr>
                                <m:t>𝜇</m:t>
                              </m:r>
                            </m:e>
                            <m:sub>
                              <m:r>
                                <a:rPr lang="en-US" sz="2000" dirty="0">
                                  <a:latin typeface="Cambria Math" panose="02040503050406030204" pitchFamily="18" charset="0"/>
                                  <a:sym typeface="Arial"/>
                                </a:rPr>
                                <m:t>0</m:t>
                              </m:r>
                            </m:sub>
                          </m:sSub>
                          <m:sSub>
                            <m:sSubPr>
                              <m:ctrlPr>
                                <a:rPr lang="en-US" sz="2000" i="1" dirty="0">
                                  <a:latin typeface="Cambria Math" panose="02040503050406030204" pitchFamily="18" charset="0"/>
                                  <a:sym typeface="Arial"/>
                                </a:rPr>
                              </m:ctrlPr>
                            </m:sSubPr>
                            <m:e>
                              <m:r>
                                <m:rPr>
                                  <m:sty m:val="p"/>
                                </m:rPr>
                                <a:rPr lang="en-US" sz="2000" i="1" dirty="0">
                                  <a:latin typeface="Cambria Math" panose="02040503050406030204" pitchFamily="18" charset="0"/>
                                  <a:sym typeface="Arial"/>
                                </a:rPr>
                                <m:t>l</m:t>
                              </m:r>
                              <m:r>
                                <a:rPr lang="en-US" sz="2000" i="1" dirty="0">
                                  <a:latin typeface="Cambria Math" panose="02040503050406030204" pitchFamily="18" charset="0"/>
                                  <a:sym typeface="Arial"/>
                                </a:rPr>
                                <m:t>𝐼</m:t>
                              </m:r>
                            </m:e>
                            <m:sub>
                              <m:r>
                                <a:rPr lang="en-US" sz="2000" dirty="0">
                                  <a:latin typeface="Cambria Math" panose="02040503050406030204" pitchFamily="18" charset="0"/>
                                  <a:sym typeface="Arial"/>
                                </a:rPr>
                                <m:t>1</m:t>
                              </m:r>
                            </m:sub>
                          </m:sSub>
                          <m:d>
                            <m:dPr>
                              <m:ctrlPr>
                                <a:rPr lang="en-US" sz="2000" i="1" dirty="0">
                                  <a:latin typeface="Cambria Math" panose="02040503050406030204" pitchFamily="18" charset="0"/>
                                  <a:sym typeface="Arial"/>
                                </a:rPr>
                              </m:ctrlPr>
                            </m:dPr>
                            <m:e>
                              <m:r>
                                <a:rPr lang="en-US" sz="2000" i="1" dirty="0">
                                  <a:latin typeface="Cambria Math" panose="02040503050406030204" pitchFamily="18" charset="0"/>
                                  <a:sym typeface="Arial"/>
                                </a:rPr>
                                <m:t>𝑡</m:t>
                              </m:r>
                            </m:e>
                          </m:d>
                        </m:num>
                        <m:den>
                          <m:r>
                            <a:rPr lang="en-US" sz="2000" dirty="0">
                              <a:latin typeface="Cambria Math" panose="02040503050406030204" pitchFamily="18" charset="0"/>
                              <a:sym typeface="Arial"/>
                            </a:rPr>
                            <m:t>2</m:t>
                          </m:r>
                          <m:r>
                            <a:rPr lang="en-US" sz="2000" i="1" dirty="0">
                              <a:latin typeface="Cambria Math" panose="02040503050406030204" pitchFamily="18" charset="0"/>
                              <a:sym typeface="Arial"/>
                            </a:rPr>
                            <m:t>𝜋</m:t>
                          </m:r>
                          <m:r>
                            <a:rPr lang="en-US" sz="2000" i="1" dirty="0">
                              <a:latin typeface="Cambria Math" panose="02040503050406030204" pitchFamily="18" charset="0"/>
                              <a:sym typeface="Arial"/>
                            </a:rPr>
                            <m:t>𝑟</m:t>
                          </m:r>
                        </m:den>
                      </m:f>
                      <m:func>
                        <m:funcPr>
                          <m:ctrlPr>
                            <a:rPr lang="en-US" sz="2000" i="1" dirty="0" smtClean="0">
                              <a:latin typeface="Cambria Math" panose="02040503050406030204" pitchFamily="18" charset="0"/>
                              <a:sym typeface="Arial"/>
                            </a:rPr>
                          </m:ctrlPr>
                        </m:funcPr>
                        <m:fName>
                          <m:r>
                            <m:rPr>
                              <m:sty m:val="p"/>
                            </m:rPr>
                            <a:rPr lang="en-US" sz="2000" i="0" dirty="0" smtClean="0">
                              <a:latin typeface="Cambria Math" panose="02040503050406030204" pitchFamily="18" charset="0"/>
                              <a:sym typeface="Arial"/>
                            </a:rPr>
                            <m:t>ln</m:t>
                          </m:r>
                        </m:fName>
                        <m:e>
                          <m:f>
                            <m:fPr>
                              <m:ctrlPr>
                                <a:rPr lang="en-US" sz="2000" i="1" dirty="0" smtClean="0">
                                  <a:latin typeface="Cambria Math" panose="02040503050406030204" pitchFamily="18" charset="0"/>
                                  <a:sym typeface="Arial"/>
                                </a:rPr>
                              </m:ctrlPr>
                            </m:fPr>
                            <m:num>
                              <m:sSub>
                                <m:sSubPr>
                                  <m:ctrlPr>
                                    <a:rPr lang="en-US" sz="2000" i="1" dirty="0" smtClean="0">
                                      <a:latin typeface="Cambria Math" panose="02040503050406030204" pitchFamily="18" charset="0"/>
                                      <a:sym typeface="Arial"/>
                                    </a:rPr>
                                  </m:ctrlPr>
                                </m:sSubPr>
                                <m:e>
                                  <m:r>
                                    <m:rPr>
                                      <m:sty m:val="p"/>
                                    </m:rPr>
                                    <a:rPr lang="en-US" sz="2000" b="0" i="1" dirty="0" smtClean="0">
                                      <a:latin typeface="Cambria Math" panose="02040503050406030204" pitchFamily="18" charset="0"/>
                                      <a:sym typeface="Arial"/>
                                    </a:rPr>
                                    <m:t>r</m:t>
                                  </m:r>
                                </m:e>
                                <m:sub>
                                  <m:r>
                                    <a:rPr lang="en-US" sz="2000" b="0" i="1" dirty="0" smtClean="0">
                                      <a:latin typeface="Cambria Math" panose="02040503050406030204" pitchFamily="18" charset="0"/>
                                      <a:sym typeface="Arial"/>
                                    </a:rPr>
                                    <m:t>2</m:t>
                                  </m:r>
                                </m:sub>
                              </m:sSub>
                            </m:num>
                            <m:den>
                              <m:sSub>
                                <m:sSubPr>
                                  <m:ctrlPr>
                                    <a:rPr lang="en-US" sz="2000" i="1" dirty="0" smtClean="0">
                                      <a:latin typeface="Cambria Math" panose="02040503050406030204" pitchFamily="18" charset="0"/>
                                      <a:sym typeface="Arial"/>
                                    </a:rPr>
                                  </m:ctrlPr>
                                </m:sSubPr>
                                <m:e>
                                  <m:r>
                                    <m:rPr>
                                      <m:sty m:val="p"/>
                                    </m:rPr>
                                    <a:rPr lang="en-US" sz="2000" b="0" i="1" dirty="0" smtClean="0">
                                      <a:latin typeface="Cambria Math" panose="02040503050406030204" pitchFamily="18" charset="0"/>
                                      <a:sym typeface="Arial"/>
                                    </a:rPr>
                                    <m:t>r</m:t>
                                  </m:r>
                                </m:e>
                                <m:sub>
                                  <m:r>
                                    <a:rPr lang="en-US" sz="2000" b="0" i="1" dirty="0" smtClean="0">
                                      <a:latin typeface="Cambria Math" panose="02040503050406030204" pitchFamily="18" charset="0"/>
                                      <a:sym typeface="Arial"/>
                                    </a:rPr>
                                    <m:t>1</m:t>
                                  </m:r>
                                </m:sub>
                              </m:sSub>
                            </m:den>
                          </m:f>
                        </m:e>
                      </m:func>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13396D8D-BDCA-968E-907C-556491E12358}"/>
                  </a:ext>
                </a:extLst>
              </p:cNvPr>
              <p:cNvSpPr txBox="1">
                <a:spLocks noGrp="1" noRot="1" noChangeAspect="1" noMove="1" noResize="1" noEditPoints="1" noAdjustHandles="1" noChangeArrowheads="1" noChangeShapeType="1" noTextEdit="1"/>
              </p:cNvSpPr>
              <p:nvPr>
                <p:ph type="body" idx="1"/>
              </p:nvPr>
            </p:nvSpPr>
            <p:spPr>
              <a:xfrm>
                <a:off x="376810" y="1334279"/>
                <a:ext cx="6522754" cy="5074536"/>
              </a:xfrm>
              <a:prstGeom prst="rect">
                <a:avLst/>
              </a:prstGeom>
              <a:blipFill>
                <a:blip r:embed="rId3"/>
                <a:stretch>
                  <a:fillRect l="-1028" t="-72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D3002FC6-E3E8-572A-B600-7CBBCF1C373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308B95C-0BBF-CC82-9110-FC475C78CD7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Interferences - Inductive (3/4)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3888AFC-D075-BD8D-DD0B-338D1F71CF3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95F8CA8-84D8-8DFA-EBE3-24C97D9167E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523BD92-7754-557F-8C94-5FB9E703BDF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8CD042B-EC95-EC00-0937-18D32098E3D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93941CD-DC0D-2212-5B6D-10F40B533C6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83B8BBB-B406-ECA8-EF03-B57F4AA9A15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Diagram: A vertical source wire carries current I sub 1 of t upward, surrounded by circular magnetic field lines, B of r, t equals mu naught I sub 1 of t over 2 pi r, in the phi-hat direction. To its right, a rectangular victim loop of height l spans radial distances r sub 1 to r sub 2 from the wire. The field passes into the page through the loop area S, with area element d A equals d r d z.">
            <a:extLst>
              <a:ext uri="{FF2B5EF4-FFF2-40B4-BE49-F238E27FC236}">
                <a16:creationId xmlns:a16="http://schemas.microsoft.com/office/drawing/2014/main" id="{D302A98A-CEE1-9372-173D-59C903A1076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6899564" y="1341110"/>
            <a:ext cx="5077158" cy="4175778"/>
          </a:xfrm>
          <a:prstGeom prst="rect">
            <a:avLst/>
          </a:prstGeom>
        </p:spPr>
      </p:pic>
    </p:spTree>
    <p:extLst>
      <p:ext uri="{BB962C8B-B14F-4D97-AF65-F5344CB8AC3E}">
        <p14:creationId xmlns:p14="http://schemas.microsoft.com/office/powerpoint/2010/main" val="469088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9CB3F5C-6E8E-B82B-51A6-A25B573E457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DE5C311E-7499-8CF3-2861-156FCBB5C636}"/>
                  </a:ext>
                </a:extLst>
              </p:cNvPr>
              <p:cNvSpPr txBox="1">
                <a:spLocks noGrp="1"/>
              </p:cNvSpPr>
              <p:nvPr>
                <p:ph type="body" idx="1"/>
              </p:nvPr>
            </p:nvSpPr>
            <p:spPr>
              <a:xfrm>
                <a:off x="376810" y="1334279"/>
                <a:ext cx="6522754" cy="5074536"/>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Faraday’s Law states that the induced voltage (EMF) in a closed loop is equal to the negative rate of change of magnetic flux through the loop:</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cs typeface="Arial"/>
                              <a:sym typeface="Arial"/>
                            </a:rPr>
                          </m:ctrlPr>
                        </m:sSubPr>
                        <m:e>
                          <m:r>
                            <m:rPr>
                              <m:sty m:val="p"/>
                            </m:rPr>
                            <a:rPr lang="en-US" sz="2000" i="1">
                              <a:latin typeface="Cambria Math" panose="02040503050406030204" pitchFamily="18" charset="0"/>
                              <a:cs typeface="Arial"/>
                              <a:sym typeface="Arial"/>
                            </a:rPr>
                            <m:t>V</m:t>
                          </m:r>
                        </m:e>
                        <m:sub>
                          <m:r>
                            <m:rPr>
                              <m:sty m:val="p"/>
                            </m:rPr>
                            <a:rPr lang="en-US" sz="2000" i="1">
                              <a:latin typeface="Cambria Math" panose="02040503050406030204" pitchFamily="18" charset="0"/>
                              <a:cs typeface="Arial"/>
                              <a:sym typeface="Arial"/>
                            </a:rPr>
                            <m:t>noise</m:t>
                          </m:r>
                        </m:sub>
                      </m:sSub>
                      <m:r>
                        <a:rPr lang="en-US" sz="2000" i="1">
                          <a:latin typeface="Cambria Math" panose="02040503050406030204" pitchFamily="18" charset="0"/>
                          <a:cs typeface="Arial"/>
                          <a:sym typeface="Arial"/>
                        </a:rPr>
                        <m:t>=−</m:t>
                      </m:r>
                      <m:f>
                        <m:fPr>
                          <m:ctrlPr>
                            <a:rPr lang="en-US" sz="2000" i="1">
                              <a:latin typeface="Cambria Math" panose="02040503050406030204" pitchFamily="18" charset="0"/>
                              <a:cs typeface="Arial"/>
                              <a:sym typeface="Arial"/>
                            </a:rPr>
                          </m:ctrlPr>
                        </m:fPr>
                        <m:num>
                          <m:r>
                            <m:rPr>
                              <m:sty m:val="p"/>
                            </m:rPr>
                            <a:rPr lang="en-US" sz="2000" i="1">
                              <a:latin typeface="Cambria Math" panose="02040503050406030204" pitchFamily="18" charset="0"/>
                              <a:cs typeface="Arial"/>
                              <a:sym typeface="Arial"/>
                            </a:rPr>
                            <m:t>d</m:t>
                          </m:r>
                          <m:sSub>
                            <m:sSubPr>
                              <m:ctrlPr>
                                <a:rPr lang="en-US" sz="2000" i="1" dirty="0">
                                  <a:latin typeface="Cambria Math" panose="02040503050406030204" pitchFamily="18" charset="0"/>
                                  <a:sym typeface="Arial"/>
                                </a:rPr>
                              </m:ctrlPr>
                            </m:sSubPr>
                            <m:e>
                              <m:r>
                                <a:rPr lang="en-US" sz="2000" i="1" dirty="0">
                                  <a:latin typeface="Cambria Math" panose="02040503050406030204" pitchFamily="18" charset="0"/>
                                  <a:sym typeface="Arial"/>
                                </a:rPr>
                                <m:t>𝛷</m:t>
                              </m:r>
                            </m:e>
                            <m:sub>
                              <m:r>
                                <a:rPr lang="en-US" sz="2000" i="1" dirty="0">
                                  <a:latin typeface="Cambria Math" panose="02040503050406030204" pitchFamily="18" charset="0"/>
                                  <a:sym typeface="Arial"/>
                                </a:rPr>
                                <m:t>𝐵</m:t>
                              </m:r>
                            </m:sub>
                          </m:sSub>
                        </m:num>
                        <m:den>
                          <m:r>
                            <m:rPr>
                              <m:sty m:val="p"/>
                            </m:rPr>
                            <a:rPr lang="en-US" sz="2000" i="1">
                              <a:latin typeface="Cambria Math" panose="02040503050406030204" pitchFamily="18" charset="0"/>
                              <a:cs typeface="Arial"/>
                              <a:sym typeface="Arial"/>
                            </a:rPr>
                            <m:t>dt</m:t>
                          </m:r>
                        </m:den>
                      </m:f>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Substituting we get: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cs typeface="Arial"/>
                              <a:sym typeface="Arial"/>
                            </a:rPr>
                          </m:ctrlPr>
                        </m:sSubPr>
                        <m:e>
                          <m:r>
                            <m:rPr>
                              <m:sty m:val="p"/>
                            </m:rPr>
                            <a:rPr lang="en-US" sz="2000" i="1">
                              <a:latin typeface="Cambria Math" panose="02040503050406030204" pitchFamily="18" charset="0"/>
                              <a:cs typeface="Arial"/>
                              <a:sym typeface="Arial"/>
                            </a:rPr>
                            <m:t>V</m:t>
                          </m:r>
                        </m:e>
                        <m:sub>
                          <m:r>
                            <m:rPr>
                              <m:sty m:val="p"/>
                            </m:rPr>
                            <a:rPr lang="en-US" sz="2000" i="1">
                              <a:latin typeface="Cambria Math" panose="02040503050406030204" pitchFamily="18" charset="0"/>
                              <a:cs typeface="Arial"/>
                              <a:sym typeface="Arial"/>
                            </a:rPr>
                            <m:t>noise</m:t>
                          </m:r>
                        </m:sub>
                      </m:sSub>
                      <m:r>
                        <a:rPr lang="en-US" sz="2000" i="1">
                          <a:latin typeface="Cambria Math" panose="02040503050406030204" pitchFamily="18" charset="0"/>
                          <a:cs typeface="Arial"/>
                          <a:sym typeface="Arial"/>
                        </a:rPr>
                        <m:t>=−</m:t>
                      </m:r>
                      <m:f>
                        <m:fPr>
                          <m:ctrlPr>
                            <a:rPr lang="en-US" sz="2000" i="1" dirty="0">
                              <a:latin typeface="Cambria Math" panose="02040503050406030204" pitchFamily="18" charset="0"/>
                              <a:sym typeface="Arial"/>
                            </a:rPr>
                          </m:ctrlPr>
                        </m:fPr>
                        <m:num>
                          <m:sSub>
                            <m:sSubPr>
                              <m:ctrlPr>
                                <a:rPr lang="en-US" sz="2000" i="1" dirty="0">
                                  <a:latin typeface="Cambria Math" panose="02040503050406030204" pitchFamily="18" charset="0"/>
                                  <a:sym typeface="Arial"/>
                                </a:rPr>
                              </m:ctrlPr>
                            </m:sSubPr>
                            <m:e>
                              <m:r>
                                <a:rPr lang="en-US" sz="2000" i="1" dirty="0">
                                  <a:latin typeface="Cambria Math" panose="02040503050406030204" pitchFamily="18" charset="0"/>
                                  <a:sym typeface="Arial"/>
                                </a:rPr>
                                <m:t>𝜇</m:t>
                              </m:r>
                            </m:e>
                            <m:sub>
                              <m:r>
                                <a:rPr lang="en-US" sz="2000" dirty="0">
                                  <a:latin typeface="Cambria Math" panose="02040503050406030204" pitchFamily="18" charset="0"/>
                                  <a:sym typeface="Arial"/>
                                </a:rPr>
                                <m:t>0</m:t>
                              </m:r>
                            </m:sub>
                          </m:sSub>
                          <m:r>
                            <m:rPr>
                              <m:sty m:val="p"/>
                            </m:rPr>
                            <a:rPr lang="en-US" sz="2000" b="0" i="1" dirty="0" smtClean="0">
                              <a:latin typeface="Cambria Math" panose="02040503050406030204" pitchFamily="18" charset="0"/>
                              <a:sym typeface="Arial"/>
                            </a:rPr>
                            <m:t>l</m:t>
                          </m:r>
                        </m:num>
                        <m:den>
                          <m:r>
                            <a:rPr lang="en-US" sz="2000" dirty="0">
                              <a:latin typeface="Cambria Math" panose="02040503050406030204" pitchFamily="18" charset="0"/>
                              <a:sym typeface="Arial"/>
                            </a:rPr>
                            <m:t>2</m:t>
                          </m:r>
                          <m:r>
                            <a:rPr lang="en-US" sz="2000" i="1" dirty="0">
                              <a:latin typeface="Cambria Math" panose="02040503050406030204" pitchFamily="18" charset="0"/>
                              <a:sym typeface="Arial"/>
                            </a:rPr>
                            <m:t>𝜋</m:t>
                          </m:r>
                          <m:r>
                            <a:rPr lang="en-US" sz="2000" i="1" dirty="0">
                              <a:latin typeface="Cambria Math" panose="02040503050406030204" pitchFamily="18" charset="0"/>
                              <a:sym typeface="Arial"/>
                            </a:rPr>
                            <m:t>𝑟</m:t>
                          </m:r>
                        </m:den>
                      </m:f>
                      <m:func>
                        <m:funcPr>
                          <m:ctrlPr>
                            <a:rPr lang="en-US" sz="2000" i="1" dirty="0">
                              <a:latin typeface="Cambria Math" panose="02040503050406030204" pitchFamily="18" charset="0"/>
                              <a:sym typeface="Arial"/>
                            </a:rPr>
                          </m:ctrlPr>
                        </m:funcPr>
                        <m:fName>
                          <m:r>
                            <m:rPr>
                              <m:sty m:val="p"/>
                            </m:rPr>
                            <a:rPr lang="en-US" sz="2000" dirty="0">
                              <a:latin typeface="Cambria Math" panose="02040503050406030204" pitchFamily="18" charset="0"/>
                              <a:sym typeface="Arial"/>
                            </a:rPr>
                            <m:t>ln</m:t>
                          </m:r>
                        </m:fName>
                        <m:e>
                          <m:f>
                            <m:fPr>
                              <m:ctrlPr>
                                <a:rPr lang="en-US" sz="2000" i="1" dirty="0">
                                  <a:latin typeface="Cambria Math" panose="02040503050406030204" pitchFamily="18" charset="0"/>
                                  <a:sym typeface="Arial"/>
                                </a:rPr>
                              </m:ctrlPr>
                            </m:fPr>
                            <m:num>
                              <m:sSub>
                                <m:sSubPr>
                                  <m:ctrlPr>
                                    <a:rPr lang="en-US" sz="2000" i="1" dirty="0">
                                      <a:latin typeface="Cambria Math" panose="02040503050406030204" pitchFamily="18" charset="0"/>
                                      <a:sym typeface="Arial"/>
                                    </a:rPr>
                                  </m:ctrlPr>
                                </m:sSubPr>
                                <m:e>
                                  <m:r>
                                    <m:rPr>
                                      <m:sty m:val="p"/>
                                    </m:rPr>
                                    <a:rPr lang="en-US" sz="2000" i="1" dirty="0">
                                      <a:latin typeface="Cambria Math" panose="02040503050406030204" pitchFamily="18" charset="0"/>
                                      <a:sym typeface="Arial"/>
                                    </a:rPr>
                                    <m:t>r</m:t>
                                  </m:r>
                                </m:e>
                                <m:sub>
                                  <m:r>
                                    <a:rPr lang="en-US" sz="2000" i="1" dirty="0">
                                      <a:latin typeface="Cambria Math" panose="02040503050406030204" pitchFamily="18" charset="0"/>
                                      <a:sym typeface="Arial"/>
                                    </a:rPr>
                                    <m:t>2</m:t>
                                  </m:r>
                                </m:sub>
                              </m:sSub>
                            </m:num>
                            <m:den>
                              <m:sSub>
                                <m:sSubPr>
                                  <m:ctrlPr>
                                    <a:rPr lang="en-US" sz="2000" i="1" dirty="0">
                                      <a:latin typeface="Cambria Math" panose="02040503050406030204" pitchFamily="18" charset="0"/>
                                      <a:sym typeface="Arial"/>
                                    </a:rPr>
                                  </m:ctrlPr>
                                </m:sSubPr>
                                <m:e>
                                  <m:r>
                                    <m:rPr>
                                      <m:sty m:val="p"/>
                                    </m:rPr>
                                    <a:rPr lang="en-US" sz="2000" i="1" dirty="0">
                                      <a:latin typeface="Cambria Math" panose="02040503050406030204" pitchFamily="18" charset="0"/>
                                      <a:sym typeface="Arial"/>
                                    </a:rPr>
                                    <m:t>r</m:t>
                                  </m:r>
                                </m:e>
                                <m:sub>
                                  <m:r>
                                    <a:rPr lang="en-US" sz="2000" i="1" dirty="0">
                                      <a:latin typeface="Cambria Math" panose="02040503050406030204" pitchFamily="18" charset="0"/>
                                      <a:sym typeface="Arial"/>
                                    </a:rPr>
                                    <m:t>1</m:t>
                                  </m:r>
                                </m:sub>
                              </m:sSub>
                            </m:den>
                          </m:f>
                          <m:r>
                            <a:rPr lang="en-US" sz="2000" i="1" dirty="0" smtClean="0">
                              <a:latin typeface="Cambria Math" panose="02040503050406030204" pitchFamily="18" charset="0"/>
                              <a:ea typeface="Cambria Math" panose="02040503050406030204" pitchFamily="18" charset="0"/>
                              <a:sym typeface="Arial"/>
                            </a:rPr>
                            <m:t>×</m:t>
                          </m:r>
                          <m:f>
                            <m:fPr>
                              <m:ctrlPr>
                                <a:rPr lang="en-US" sz="2000" i="1">
                                  <a:latin typeface="Cambria Math" panose="02040503050406030204" pitchFamily="18" charset="0"/>
                                  <a:cs typeface="Arial"/>
                                  <a:sym typeface="Arial"/>
                                </a:rPr>
                              </m:ctrlPr>
                            </m:fPr>
                            <m:num>
                              <m:r>
                                <m:rPr>
                                  <m:sty m:val="p"/>
                                </m:rPr>
                                <a:rPr lang="en-US" sz="2000" i="1">
                                  <a:latin typeface="Cambria Math" panose="02040503050406030204" pitchFamily="18" charset="0"/>
                                  <a:cs typeface="Arial"/>
                                  <a:sym typeface="Arial"/>
                                </a:rPr>
                                <m:t>d</m:t>
                              </m:r>
                              <m:sSub>
                                <m:sSubPr>
                                  <m:ctrlPr>
                                    <a:rPr lang="en-US" sz="2000" i="1" dirty="0">
                                      <a:latin typeface="Cambria Math" panose="02040503050406030204" pitchFamily="18" charset="0"/>
                                      <a:sym typeface="Arial"/>
                                    </a:rPr>
                                  </m:ctrlPr>
                                </m:sSubPr>
                                <m:e>
                                  <m:r>
                                    <m:rPr>
                                      <m:sty m:val="p"/>
                                    </m:rPr>
                                    <a:rPr lang="en-US" sz="2000" b="0" i="1" dirty="0" smtClean="0">
                                      <a:latin typeface="Cambria Math" panose="02040503050406030204" pitchFamily="18" charset="0"/>
                                      <a:sym typeface="Arial"/>
                                    </a:rPr>
                                    <m:t>I</m:t>
                                  </m:r>
                                </m:e>
                                <m:sub>
                                  <m:r>
                                    <a:rPr lang="en-US" sz="2000" b="0" i="1" dirty="0" smtClean="0">
                                      <a:latin typeface="Cambria Math" panose="02040503050406030204" pitchFamily="18" charset="0"/>
                                      <a:sym typeface="Arial"/>
                                    </a:rPr>
                                    <m:t>1</m:t>
                                  </m:r>
                                </m:sub>
                              </m:sSub>
                              <m:r>
                                <a:rPr lang="en-US" sz="2000" b="0" i="1" dirty="0" smtClean="0">
                                  <a:latin typeface="Cambria Math" panose="02040503050406030204" pitchFamily="18" charset="0"/>
                                  <a:sym typeface="Arial"/>
                                </a:rPr>
                                <m:t>(</m:t>
                              </m:r>
                              <m:r>
                                <m:rPr>
                                  <m:sty m:val="p"/>
                                </m:rPr>
                                <a:rPr lang="en-US" sz="2000" b="0" i="1" dirty="0" smtClean="0">
                                  <a:latin typeface="Cambria Math" panose="02040503050406030204" pitchFamily="18" charset="0"/>
                                  <a:sym typeface="Arial"/>
                                </a:rPr>
                                <m:t>t</m:t>
                              </m:r>
                              <m:r>
                                <a:rPr lang="en-US" sz="2000" b="0" i="1" dirty="0" smtClean="0">
                                  <a:latin typeface="Cambria Math" panose="02040503050406030204" pitchFamily="18" charset="0"/>
                                  <a:sym typeface="Arial"/>
                                </a:rPr>
                                <m:t>)</m:t>
                              </m:r>
                            </m:num>
                            <m:den>
                              <m:r>
                                <m:rPr>
                                  <m:sty m:val="p"/>
                                </m:rPr>
                                <a:rPr lang="en-US" sz="2000" i="1">
                                  <a:latin typeface="Cambria Math" panose="02040503050406030204" pitchFamily="18" charset="0"/>
                                  <a:cs typeface="Arial"/>
                                  <a:sym typeface="Arial"/>
                                </a:rPr>
                                <m:t>dt</m:t>
                              </m:r>
                            </m:den>
                          </m:f>
                        </m:e>
                      </m:func>
                    </m:oMath>
                  </m:oMathPara>
                </a14:m>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DE5C311E-7499-8CF3-2861-156FCBB5C636}"/>
                  </a:ext>
                </a:extLst>
              </p:cNvPr>
              <p:cNvSpPr txBox="1">
                <a:spLocks noGrp="1" noRot="1" noChangeAspect="1" noMove="1" noResize="1" noEditPoints="1" noAdjustHandles="1" noChangeArrowheads="1" noChangeShapeType="1" noTextEdit="1"/>
              </p:cNvSpPr>
              <p:nvPr>
                <p:ph type="body" idx="1"/>
              </p:nvPr>
            </p:nvSpPr>
            <p:spPr>
              <a:xfrm>
                <a:off x="376810" y="1334279"/>
                <a:ext cx="6522754" cy="5074536"/>
              </a:xfrm>
              <a:prstGeom prst="rect">
                <a:avLst/>
              </a:prstGeom>
              <a:blipFill>
                <a:blip r:embed="rId3"/>
                <a:stretch>
                  <a:fillRect l="-1028" t="-60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13F112B1-E6E1-AA67-74D6-7C4A971EEF8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9DA730E-BFA0-88D0-75AE-38E738356E3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Interferences - Inductive (4/4)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618560E-9B76-88CC-E452-9BE8C745558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48069D4-C784-D34B-261D-480048B8586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C2567D9-699D-3DC5-D22C-6BB5EA9818B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816CDFA-8140-D355-7733-B4622131B46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E7B5226-E8CC-6E43-C05A-3AA00361C74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212C46A-BA33-2E31-5466-A3D5AE9B82B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Diagram: A vertical source wire carries current I sub 1 of t upward, surrounded by circular magnetic field lines, B of r, t equals mu naught I sub 1 of t over 2 pi r, in the phi-hat direction. To its right, a rectangular victim loop of height l spans radial distances r sub 1 to r sub 2 from the wire. The field passes into the page through the loop area S, with area element d A equals d r d z.">
            <a:extLst>
              <a:ext uri="{FF2B5EF4-FFF2-40B4-BE49-F238E27FC236}">
                <a16:creationId xmlns:a16="http://schemas.microsoft.com/office/drawing/2014/main" id="{5247E9EB-6C19-47E0-2230-76E8EDED30CD}"/>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6899564" y="1341110"/>
            <a:ext cx="5077158" cy="4175778"/>
          </a:xfrm>
          <a:prstGeom prst="rect">
            <a:avLst/>
          </a:prstGeom>
        </p:spPr>
      </p:pic>
    </p:spTree>
    <p:extLst>
      <p:ext uri="{BB962C8B-B14F-4D97-AF65-F5344CB8AC3E}">
        <p14:creationId xmlns:p14="http://schemas.microsoft.com/office/powerpoint/2010/main" val="3060680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DF17008-1B7C-7A5C-D565-DABBBBCD140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3C69FC21-4FE2-D5D3-B148-B6E085C215E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dirty="0">
                    <a:solidFill>
                      <a:schemeClr val="dk1"/>
                    </a:solidFill>
                    <a:latin typeface="Atkinson Hyperlegible Next"/>
                    <a:ea typeface="Arial"/>
                    <a:cs typeface="Arial"/>
                    <a:sym typeface="Arial"/>
                  </a:rPr>
                  <a:t>Thus, given the final inference noise,</a:t>
                </a:r>
                <a:endParaRPr lang="en-US" sz="18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1800" i="1">
                              <a:latin typeface="Cambria Math" panose="02040503050406030204" pitchFamily="18" charset="0"/>
                              <a:cs typeface="Arial"/>
                              <a:sym typeface="Arial"/>
                            </a:rPr>
                          </m:ctrlPr>
                        </m:sSubPr>
                        <m:e>
                          <m:r>
                            <m:rPr>
                              <m:sty m:val="p"/>
                            </m:rPr>
                            <a:rPr lang="en-US" sz="1800" i="1">
                              <a:latin typeface="Cambria Math" panose="02040503050406030204" pitchFamily="18" charset="0"/>
                              <a:cs typeface="Arial"/>
                              <a:sym typeface="Arial"/>
                            </a:rPr>
                            <m:t>V</m:t>
                          </m:r>
                        </m:e>
                        <m:sub>
                          <m:r>
                            <m:rPr>
                              <m:sty m:val="p"/>
                            </m:rPr>
                            <a:rPr lang="en-US" sz="1800" i="1">
                              <a:latin typeface="Cambria Math" panose="02040503050406030204" pitchFamily="18" charset="0"/>
                              <a:cs typeface="Arial"/>
                              <a:sym typeface="Arial"/>
                            </a:rPr>
                            <m:t>noise</m:t>
                          </m:r>
                        </m:sub>
                      </m:sSub>
                      <m:r>
                        <a:rPr lang="en-US" sz="1800" i="1">
                          <a:latin typeface="Cambria Math" panose="02040503050406030204" pitchFamily="18" charset="0"/>
                          <a:cs typeface="Arial"/>
                          <a:sym typeface="Arial"/>
                        </a:rPr>
                        <m:t>=−</m:t>
                      </m:r>
                      <m:f>
                        <m:fPr>
                          <m:ctrlPr>
                            <a:rPr lang="en-US" sz="1800" i="1" dirty="0">
                              <a:latin typeface="Cambria Math" panose="02040503050406030204" pitchFamily="18" charset="0"/>
                              <a:sym typeface="Arial"/>
                            </a:rPr>
                          </m:ctrlPr>
                        </m:fPr>
                        <m:num>
                          <m:sSub>
                            <m:sSubPr>
                              <m:ctrlPr>
                                <a:rPr lang="en-US" sz="1800" i="1" dirty="0">
                                  <a:latin typeface="Cambria Math" panose="02040503050406030204" pitchFamily="18" charset="0"/>
                                  <a:sym typeface="Arial"/>
                                </a:rPr>
                              </m:ctrlPr>
                            </m:sSubPr>
                            <m:e>
                              <m:r>
                                <a:rPr lang="en-US" sz="1800" i="1" dirty="0">
                                  <a:latin typeface="Cambria Math" panose="02040503050406030204" pitchFamily="18" charset="0"/>
                                  <a:sym typeface="Arial"/>
                                </a:rPr>
                                <m:t>𝜇</m:t>
                              </m:r>
                            </m:e>
                            <m:sub>
                              <m:r>
                                <a:rPr lang="en-US" sz="1800" dirty="0">
                                  <a:latin typeface="Cambria Math" panose="02040503050406030204" pitchFamily="18" charset="0"/>
                                  <a:sym typeface="Arial"/>
                                </a:rPr>
                                <m:t>0</m:t>
                              </m:r>
                            </m:sub>
                          </m:sSub>
                          <m:r>
                            <m:rPr>
                              <m:sty m:val="p"/>
                            </m:rPr>
                            <a:rPr lang="en-US" sz="1800" i="1" dirty="0">
                              <a:latin typeface="Cambria Math" panose="02040503050406030204" pitchFamily="18" charset="0"/>
                              <a:sym typeface="Arial"/>
                            </a:rPr>
                            <m:t>l</m:t>
                          </m:r>
                        </m:num>
                        <m:den>
                          <m:r>
                            <a:rPr lang="en-US" sz="1800" dirty="0">
                              <a:latin typeface="Cambria Math" panose="02040503050406030204" pitchFamily="18" charset="0"/>
                              <a:sym typeface="Arial"/>
                            </a:rPr>
                            <m:t>2</m:t>
                          </m:r>
                          <m:r>
                            <a:rPr lang="en-US" sz="1800" i="1" dirty="0">
                              <a:latin typeface="Cambria Math" panose="02040503050406030204" pitchFamily="18" charset="0"/>
                              <a:sym typeface="Arial"/>
                            </a:rPr>
                            <m:t>𝜋</m:t>
                          </m:r>
                          <m:r>
                            <a:rPr lang="en-US" sz="1800" i="1" dirty="0">
                              <a:latin typeface="Cambria Math" panose="02040503050406030204" pitchFamily="18" charset="0"/>
                              <a:sym typeface="Arial"/>
                            </a:rPr>
                            <m:t>𝑟</m:t>
                          </m:r>
                        </m:den>
                      </m:f>
                      <m:func>
                        <m:funcPr>
                          <m:ctrlPr>
                            <a:rPr lang="en-US" sz="1800" i="1" dirty="0">
                              <a:latin typeface="Cambria Math" panose="02040503050406030204" pitchFamily="18" charset="0"/>
                              <a:sym typeface="Arial"/>
                            </a:rPr>
                          </m:ctrlPr>
                        </m:funcPr>
                        <m:fName>
                          <m:r>
                            <m:rPr>
                              <m:sty m:val="p"/>
                            </m:rPr>
                            <a:rPr lang="en-US" sz="1800" dirty="0">
                              <a:latin typeface="Cambria Math" panose="02040503050406030204" pitchFamily="18" charset="0"/>
                              <a:sym typeface="Arial"/>
                            </a:rPr>
                            <m:t>ln</m:t>
                          </m:r>
                        </m:fName>
                        <m:e>
                          <m:f>
                            <m:fPr>
                              <m:ctrlPr>
                                <a:rPr lang="en-US" sz="1800" i="1" dirty="0">
                                  <a:latin typeface="Cambria Math" panose="02040503050406030204" pitchFamily="18" charset="0"/>
                                  <a:sym typeface="Arial"/>
                                </a:rPr>
                              </m:ctrlPr>
                            </m:fPr>
                            <m:num>
                              <m:sSub>
                                <m:sSubPr>
                                  <m:ctrlPr>
                                    <a:rPr lang="en-US" sz="1800" i="1" dirty="0">
                                      <a:latin typeface="Cambria Math" panose="02040503050406030204" pitchFamily="18" charset="0"/>
                                      <a:sym typeface="Arial"/>
                                    </a:rPr>
                                  </m:ctrlPr>
                                </m:sSubPr>
                                <m:e>
                                  <m:r>
                                    <m:rPr>
                                      <m:sty m:val="p"/>
                                    </m:rPr>
                                    <a:rPr lang="en-US" sz="1800" i="1" dirty="0">
                                      <a:latin typeface="Cambria Math" panose="02040503050406030204" pitchFamily="18" charset="0"/>
                                      <a:sym typeface="Arial"/>
                                    </a:rPr>
                                    <m:t>r</m:t>
                                  </m:r>
                                </m:e>
                                <m:sub>
                                  <m:r>
                                    <a:rPr lang="en-US" sz="1800" i="1" dirty="0">
                                      <a:latin typeface="Cambria Math" panose="02040503050406030204" pitchFamily="18" charset="0"/>
                                      <a:sym typeface="Arial"/>
                                    </a:rPr>
                                    <m:t>2</m:t>
                                  </m:r>
                                </m:sub>
                              </m:sSub>
                            </m:num>
                            <m:den>
                              <m:sSub>
                                <m:sSubPr>
                                  <m:ctrlPr>
                                    <a:rPr lang="en-US" sz="1800" i="1" dirty="0">
                                      <a:latin typeface="Cambria Math" panose="02040503050406030204" pitchFamily="18" charset="0"/>
                                      <a:sym typeface="Arial"/>
                                    </a:rPr>
                                  </m:ctrlPr>
                                </m:sSubPr>
                                <m:e>
                                  <m:r>
                                    <m:rPr>
                                      <m:sty m:val="p"/>
                                    </m:rPr>
                                    <a:rPr lang="en-US" sz="1800" i="1" dirty="0">
                                      <a:latin typeface="Cambria Math" panose="02040503050406030204" pitchFamily="18" charset="0"/>
                                      <a:sym typeface="Arial"/>
                                    </a:rPr>
                                    <m:t>r</m:t>
                                  </m:r>
                                </m:e>
                                <m:sub>
                                  <m:r>
                                    <a:rPr lang="en-US" sz="1800" i="1" dirty="0">
                                      <a:latin typeface="Cambria Math" panose="02040503050406030204" pitchFamily="18" charset="0"/>
                                      <a:sym typeface="Arial"/>
                                    </a:rPr>
                                    <m:t>1</m:t>
                                  </m:r>
                                </m:sub>
                              </m:sSub>
                            </m:den>
                          </m:f>
                          <m:r>
                            <a:rPr lang="en-US" sz="1800" i="1" dirty="0">
                              <a:latin typeface="Cambria Math" panose="02040503050406030204" pitchFamily="18" charset="0"/>
                              <a:ea typeface="Cambria Math" panose="02040503050406030204" pitchFamily="18" charset="0"/>
                              <a:sym typeface="Arial"/>
                            </a:rPr>
                            <m:t>×</m:t>
                          </m:r>
                          <m:f>
                            <m:fPr>
                              <m:ctrlPr>
                                <a:rPr lang="en-US" sz="1800" i="1">
                                  <a:latin typeface="Cambria Math" panose="02040503050406030204" pitchFamily="18" charset="0"/>
                                  <a:cs typeface="Arial"/>
                                  <a:sym typeface="Arial"/>
                                </a:rPr>
                              </m:ctrlPr>
                            </m:fPr>
                            <m:num>
                              <m:r>
                                <m:rPr>
                                  <m:sty m:val="p"/>
                                </m:rPr>
                                <a:rPr lang="en-US" sz="1800" i="1">
                                  <a:latin typeface="Cambria Math" panose="02040503050406030204" pitchFamily="18" charset="0"/>
                                  <a:cs typeface="Arial"/>
                                  <a:sym typeface="Arial"/>
                                </a:rPr>
                                <m:t>d</m:t>
                              </m:r>
                              <m:sSub>
                                <m:sSubPr>
                                  <m:ctrlPr>
                                    <a:rPr lang="en-US" sz="1800" i="1" dirty="0">
                                      <a:latin typeface="Cambria Math" panose="02040503050406030204" pitchFamily="18" charset="0"/>
                                      <a:sym typeface="Arial"/>
                                    </a:rPr>
                                  </m:ctrlPr>
                                </m:sSubPr>
                                <m:e>
                                  <m:r>
                                    <m:rPr>
                                      <m:sty m:val="p"/>
                                    </m:rPr>
                                    <a:rPr lang="en-US" sz="1800" i="1" dirty="0">
                                      <a:latin typeface="Cambria Math" panose="02040503050406030204" pitchFamily="18" charset="0"/>
                                      <a:sym typeface="Arial"/>
                                    </a:rPr>
                                    <m:t>I</m:t>
                                  </m:r>
                                </m:e>
                                <m:sub>
                                  <m:r>
                                    <a:rPr lang="en-US" sz="1800" i="1" dirty="0">
                                      <a:latin typeface="Cambria Math" panose="02040503050406030204" pitchFamily="18" charset="0"/>
                                      <a:sym typeface="Arial"/>
                                    </a:rPr>
                                    <m:t>1</m:t>
                                  </m:r>
                                </m:sub>
                              </m:sSub>
                              <m:r>
                                <a:rPr lang="en-US" sz="1800" i="1" dirty="0">
                                  <a:latin typeface="Cambria Math" panose="02040503050406030204" pitchFamily="18" charset="0"/>
                                  <a:sym typeface="Arial"/>
                                </a:rPr>
                                <m:t>(</m:t>
                              </m:r>
                              <m:r>
                                <m:rPr>
                                  <m:sty m:val="p"/>
                                </m:rPr>
                                <a:rPr lang="en-US" sz="1800" i="1" dirty="0">
                                  <a:latin typeface="Cambria Math" panose="02040503050406030204" pitchFamily="18" charset="0"/>
                                  <a:sym typeface="Arial"/>
                                </a:rPr>
                                <m:t>t</m:t>
                              </m:r>
                              <m:r>
                                <a:rPr lang="en-US" sz="1800" i="1" dirty="0">
                                  <a:latin typeface="Cambria Math" panose="02040503050406030204" pitchFamily="18" charset="0"/>
                                  <a:sym typeface="Arial"/>
                                </a:rPr>
                                <m:t>)</m:t>
                              </m:r>
                            </m:num>
                            <m:den>
                              <m:r>
                                <m:rPr>
                                  <m:sty m:val="p"/>
                                </m:rPr>
                                <a:rPr lang="en-US" sz="1800" i="1">
                                  <a:latin typeface="Cambria Math" panose="02040503050406030204" pitchFamily="18" charset="0"/>
                                  <a:cs typeface="Arial"/>
                                  <a:sym typeface="Arial"/>
                                </a:rPr>
                                <m:t>dt</m:t>
                              </m:r>
                            </m:den>
                          </m:f>
                        </m:e>
                      </m:func>
                    </m:oMath>
                  </m:oMathPara>
                </a14:m>
                <a:endParaRPr lang="en-US" sz="1800" dirty="0">
                  <a:latin typeface="Atkinson Hyperlegible Next"/>
                  <a:ea typeface="Arial"/>
                  <a:cs typeface="Arial"/>
                  <a:sym typeface="Arial"/>
                </a:endParaRP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The interference voltage </a:t>
                </a:r>
                <a14:m>
                  <m:oMath xmlns:m="http://schemas.openxmlformats.org/officeDocument/2006/math">
                    <m:sSub>
                      <m:sSubPr>
                        <m:ctrlPr>
                          <a:rPr lang="en-US" sz="1800" i="1">
                            <a:latin typeface="Cambria Math" panose="02040503050406030204" pitchFamily="18" charset="0"/>
                            <a:cs typeface="Arial"/>
                            <a:sym typeface="Arial"/>
                          </a:rPr>
                        </m:ctrlPr>
                      </m:sSubPr>
                      <m:e>
                        <m:r>
                          <m:rPr>
                            <m:sty m:val="p"/>
                          </m:rPr>
                          <a:rPr lang="en-US" sz="1800" i="1">
                            <a:latin typeface="Cambria Math" panose="02040503050406030204" pitchFamily="18" charset="0"/>
                            <a:cs typeface="Arial"/>
                            <a:sym typeface="Arial"/>
                          </a:rPr>
                          <m:t>V</m:t>
                        </m:r>
                      </m:e>
                      <m:sub>
                        <m:r>
                          <m:rPr>
                            <m:sty m:val="p"/>
                          </m:rPr>
                          <a:rPr lang="en-US" sz="1800" i="1">
                            <a:latin typeface="Cambria Math" panose="02040503050406030204" pitchFamily="18" charset="0"/>
                            <a:cs typeface="Arial"/>
                            <a:sym typeface="Arial"/>
                          </a:rPr>
                          <m:t>noise</m:t>
                        </m:r>
                      </m:sub>
                    </m:sSub>
                  </m:oMath>
                </a14:m>
                <a:r>
                  <a:rPr lang="en-US" sz="1800" dirty="0">
                    <a:latin typeface="Atkinson Hyperlegible Next"/>
                    <a:ea typeface="Arial"/>
                    <a:cs typeface="Arial"/>
                    <a:sym typeface="Arial"/>
                  </a:rPr>
                  <a:t> is directly proportion to the rate of change of the current in the interfering wire! </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This is why heavy machinery or circuits that draw massive, pulsating currents (like motor drives) are notorious sources of magnetic Electromagnetic Interference (EMI)!</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gn="ctr">
                  <a:lnSpc>
                    <a:spcPct val="100000"/>
                  </a:lnSpc>
                  <a:spcBef>
                    <a:spcPts val="0"/>
                  </a:spcBef>
                  <a:buSzPts val="3000"/>
                  <a:buNone/>
                </a:pPr>
                <a:endParaRPr lang="en-US" sz="1800" dirty="0">
                  <a:latin typeface="Atkinson Hyperlegible Next"/>
                  <a:ea typeface="Arial"/>
                  <a:cs typeface="Arial"/>
                  <a:sym typeface="Arial"/>
                </a:endParaRPr>
              </a:p>
              <a:p>
                <a:pPr marL="0" lvl="0" indent="0" algn="ctr">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endParaRPr lang="en-US" sz="18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3C69FC21-4FE2-D5D3-B148-B6E085C215EF}"/>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491"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81782D00-2F9E-CB81-BF19-73F2CF122E6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189DC00-0F1C-7538-4AA6-0F1C569B6CD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lang="en-US" sz="2400" b="0" i="0" u="none" strike="noStrike" cap="none" dirty="0">
                <a:solidFill>
                  <a:schemeClr val="lt1"/>
                </a:solidFill>
                <a:latin typeface="Atkinson Hyperlegible Next"/>
                <a:ea typeface="Arial"/>
                <a:cs typeface="Arial"/>
                <a:sym typeface="Arial"/>
              </a:rPr>
              <a:t>Serial Communication -</a:t>
            </a:r>
            <a:r>
              <a:rPr i="0" b="0" lang="en-US" sz="2400" dirty="0">
                <a:solidFill>
                  <a:schemeClr val="lt1"/>
                </a:solidFill>
              </a:rPr>
              <a:t> Interferences - Capacitive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BA2DCD9-805B-BBC8-D52E-ED32F7CC2C6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234D1F8-BC9A-FAD3-DF33-DC28A3B501D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E122DA3-15A3-22CC-86AB-2204A0E75F7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F13C6AC-2D99-2185-3360-7F8CF7E6D35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1901639-5B12-A481-BBAE-7E7A06E3506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C358338-80EC-C714-C1B9-D6F901134B8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356787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EDC9B6DE-CD64-5B1D-4001-E8D9BF4DE8C8}"/>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9C75C4BB-CFBC-E823-E88A-C70278DBB765}"/>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Serial Communication (3/5)</a:t>
            </a:r>
            <a:endParaRPr lang="en-US"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A7AA5307-D48E-1E1B-468D-4CD9036B6A8E}"/>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0022EC9C-AF68-6E2E-E94C-C0D4931ED873}"/>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1C9B0655-9B3F-61BE-1528-B0FA56E77389}"/>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7C000F50-1313-4F99-8FCC-B64799CAC77A}"/>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52EB9EDA-9BF9-1FD5-8AD7-15889A955A6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4D5276A4-A574-7AF1-5F39-7AF7DD1E7972}"/>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2C8B979D-1673-B96E-CA5F-4A8BEB8A438C}"/>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D412B2F6-B81B-889C-2487-F175A54E5E9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97958489-3A84-5021-1F6B-F1182744F3D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04717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6F0F552A-34B4-E9A2-EF72-F0F5E62741D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B475722-7852-B794-D7AC-24FB25E51702}"/>
              </a:ext>
            </a:extLst>
          </p:cNvPr>
          <p:cNvGrpSpPr/>
          <p:nvPr/>
        </p:nvGrpSpPr>
        <p:grpSpPr>
          <a:xfrm>
            <a:off x="2206906" y="2674628"/>
            <a:ext cx="7778187" cy="1508744"/>
            <a:chOff x="2206906" y="1491040"/>
            <a:chExt cx="7778187" cy="1508744"/>
          </a:xfrm>
        </p:grpSpPr>
        <p:sp>
          <p:nvSpPr>
            <p:cNvPr id="89" name="Google Shape;89;p27">
              <a:extLst>
                <a:ext uri="{FF2B5EF4-FFF2-40B4-BE49-F238E27FC236}">
                  <a16:creationId xmlns:a16="http://schemas.microsoft.com/office/drawing/2014/main" id="{E3BCEA4A-B251-BC65-0A4B-A707B06A45DB}"/>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Notation</a:t>
              </a:r>
              <a:endParaRPr sz="1400" b="0" i="0" u="none" strike="noStrike" cap="none" dirty="0">
                <a:solidFill>
                  <a:srgbClr val="000000"/>
                </a:solidFill>
                <a:latin typeface="Atkinson Hyperlegible Next"/>
                <a:ea typeface="Arial"/>
                <a:cs typeface="Arial"/>
                <a:sym typeface="Arial"/>
              </a:endParaRPr>
            </a:p>
          </p:txBody>
        </p:sp>
        <p:grpSp>
          <p:nvGrpSpPr>
            <p:cNvPr id="91" name="Google Shape;91;p27">
              <a:extLst>
                <a:ext uri="{FF2B5EF4-FFF2-40B4-BE49-F238E27FC236}">
                  <a16:creationId xmlns:a16="http://schemas.microsoft.com/office/drawing/2014/main" id="{4AB43262-0C4F-F28F-38CC-5DB57B4AB5F4}"/>
                </a:ext>
              </a:extLst>
            </p:cNvPr>
            <p:cNvGrpSpPr/>
            <p:nvPr/>
          </p:nvGrpSpPr>
          <p:grpSpPr>
            <a:xfrm>
              <a:off x="3943790" y="2676939"/>
              <a:ext cx="3861740" cy="322845"/>
              <a:chOff x="3943790" y="2676939"/>
              <a:chExt cx="3861740" cy="322845"/>
            </a:xfrm>
          </p:grpSpPr>
          <p:cxnSp>
            <p:nvCxnSpPr>
              <p:cNvPr id="92" name="Google Shape;92;p27">
                <a:extLst>
                  <a:ext uri="{FF2B5EF4-FFF2-40B4-BE49-F238E27FC236}">
                    <a16:creationId xmlns:a16="http://schemas.microsoft.com/office/drawing/2014/main" id="{55242F9D-4C47-443A-6DA3-EA300AA72D5B}"/>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DC775022-A041-8ED9-5EBB-7621D8FD49AC}"/>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E8AAFAB7-145A-DEBD-B18C-21C31EFD1DB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FD2C60DB-BA4F-B08F-70BE-851172669B9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4247FBCA-4866-1130-EB46-8EA483B11B5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94C0373D-A724-54AE-21B4-CCFF4DAEF0FB}"/>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17CCF91C-4EFA-5DD5-4703-989E601B6AB3}"/>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519CA8C5-0427-651D-39E5-F00778AC1F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1570161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31F62EC-16B5-C75E-0F3C-9785154A38B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81E50CBD-6144-F5D1-4782-0C605B8F2E2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400" dirty="0">
                <a:solidFill>
                  <a:schemeClr val="dk1"/>
                </a:solidFill>
                <a:latin typeface="Atkinson Hyperlegible Next"/>
                <a:ea typeface="Arial"/>
                <a:cs typeface="Arial"/>
                <a:sym typeface="Arial"/>
              </a:rPr>
              <a:t>We want to be able to communicate with multiple devices. We can a “Master / Slave” paradigm in communication.</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400" dirty="0">
                <a:latin typeface="Atkinson Hyperlegible Next"/>
                <a:ea typeface="Arial"/>
                <a:cs typeface="Arial"/>
                <a:sym typeface="Arial"/>
              </a:rPr>
              <a:t>“Master / Slave” is still commonly used but sometimes called Peripheral In and Peripheral Out.</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400" dirty="0">
                <a:latin typeface="Atkinson Hyperlegible Next"/>
                <a:ea typeface="Arial"/>
                <a:cs typeface="Arial"/>
                <a:sym typeface="Arial"/>
              </a:rPr>
              <a:t>The “Master” Node, holds the authority to initiate data transfers and generates the synchronization clock.</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400" dirty="0">
                <a:latin typeface="Atkinson Hyperlegible Next"/>
                <a:ea typeface="Arial"/>
                <a:cs typeface="Arial"/>
                <a:sym typeface="Arial"/>
              </a:rPr>
              <a:t>The “Slave” Nodes are strictly reactive and remain low until explicitly addressed.</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400" dirty="0">
                <a:latin typeface="Atkinson Hyperlegible Next"/>
                <a:ea typeface="Arial"/>
                <a:cs typeface="Arial"/>
                <a:sym typeface="Arial"/>
              </a:rPr>
              <a:t>Think of it as the “Master” node as a “Teacher” asking you to do something, the “Slave” nodes are the “students” doing the work and reporting the results back.</a:t>
            </a:r>
          </a:p>
        </p:txBody>
      </p:sp>
      <p:sp>
        <p:nvSpPr>
          <p:cNvPr id="119" name="Google Shape;119;p29">
            <a:extLst>
              <a:ext uri="{FF2B5EF4-FFF2-40B4-BE49-F238E27FC236}">
                <a16:creationId xmlns:a16="http://schemas.microsoft.com/office/drawing/2014/main" id="{6A625270-3C0C-BD48-721C-32F70E1D8C3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9D48B32-E626-95D5-4084-96C399CE9FE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Multiple Devices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1AE29E5-A472-309A-3DE1-B0247F0031A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2C3DD1A-4D34-65BD-E439-AFE51B5AC51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DB5910B-29AD-3125-843A-31E18936851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3DFE6AF-7AB6-AD0A-A80D-FFB5AD79FEC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4C39E0D-8327-E057-CB04-9201E824846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203CAFB-3F8B-C2CB-1998-48A1DD97640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470475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EB0367F-A769-47E2-3D45-03753F24B316}"/>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600BA93-AE60-F4ED-B7E2-C577ADC8729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FC7063A-110F-CA01-BB52-0E860F07E02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Multiple Devices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2F2D3D4-7109-1D43-62E8-48434D27DD2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100FC39-51BC-794E-1381-CD0F692BB60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9655E87-219E-51D2-0837-6EBFCEEE242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8CAF377-E40A-6F63-BDC5-8FBE436B45D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302BEBE-0916-C76B-9888-602ED06E765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37A743D-86D6-8A51-C14D-AA236921564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Four antenna configurations between a transmitter (Tx) and receiver (Rx), named by antenna count. SISO, single input single output: one transmit antenna, one receive antenna. SIMO, single input multiple output: one transmit antenna, several receive antennas. MISO, multiple input single output: several transmit antennas, one receive antenna. MIMO, multiple input multiple output: several antennas on both ends. &quot;Input&quot; refers to the transmit side and &quot;output&quot; to the receive side.">
            <a:extLst>
              <a:ext uri="{FF2B5EF4-FFF2-40B4-BE49-F238E27FC236}">
                <a16:creationId xmlns:a16="http://schemas.microsoft.com/office/drawing/2014/main" id="{F2DB4266-0321-68D1-A7B8-0DC3666EEF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18275" y="951070"/>
            <a:ext cx="5155450" cy="5425369"/>
          </a:xfrm>
          <a:prstGeom prst="rect">
            <a:avLst/>
          </a:prstGeom>
        </p:spPr>
      </p:pic>
      <p:sp>
        <p:nvSpPr>
          <p:cNvPr id="6" name="TextBox 5">
            <a:extLst>
              <a:ext uri="{FF2B5EF4-FFF2-40B4-BE49-F238E27FC236}">
                <a16:creationId xmlns:a16="http://schemas.microsoft.com/office/drawing/2014/main" id="{82C2F912-C93C-F03C-4DE7-D6A1862D2C91}"/>
              </a:ext>
            </a:extLst>
          </p:cNvPr>
          <p:cNvSpPr txBox="1"/>
          <p:nvPr/>
        </p:nvSpPr>
        <p:spPr>
          <a:xfrm>
            <a:off x="4500716" y="6418067"/>
            <a:ext cx="4296566" cy="253916"/>
          </a:xfrm>
          <a:prstGeom prst="rect">
            <a:avLst/>
          </a:prstGeom>
          <a:noFill/>
        </p:spPr>
        <p:txBody>
          <a:bodyPr wrap="square" rtlCol="0">
            <a:spAutoFit/>
          </a:bodyPr>
          <a:lstStyle/>
          <a:p>
            <a:pPr algn="ctr"/>
            <a:r>
              <a:rPr lang="en-US" sz="1050" dirty="0">
                <a:hlinkClick r:id="rId6"/>
              </a:rPr>
              <a:t>https://commons.wikimedia.org/wiki/File:Prinzip_MIMO.svg</a:t>
            </a:r>
            <a:r>
              <a:rPr lang="en-US" sz="1050" dirty="0"/>
              <a:t> </a:t>
            </a:r>
          </a:p>
        </p:txBody>
      </p:sp>
    </p:spTree>
    <p:extLst>
      <p:ext uri="{BB962C8B-B14F-4D97-AF65-F5344CB8AC3E}">
        <p14:creationId xmlns:p14="http://schemas.microsoft.com/office/powerpoint/2010/main" val="3928058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10395DD-37F8-A7B6-B647-B9252064B8E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8A0CE324-C301-C820-0EE3-90E95E3E0F5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400" dirty="0">
                <a:solidFill>
                  <a:schemeClr val="dk1"/>
                </a:solidFill>
                <a:latin typeface="Atkinson Hyperlegible Next"/>
                <a:ea typeface="Arial"/>
                <a:cs typeface="Arial"/>
                <a:sym typeface="Arial"/>
              </a:rPr>
              <a:t>Asynchronous networks (SCI/UART) operate </a:t>
            </a:r>
            <a:r>
              <a:rPr lang="en-US" sz="2400" b="1" dirty="0">
                <a:solidFill>
                  <a:schemeClr val="dk1"/>
                </a:solidFill>
                <a:latin typeface="Atkinson Hyperlegible Next"/>
                <a:ea typeface="Arial"/>
                <a:cs typeface="Arial"/>
                <a:sym typeface="Arial"/>
              </a:rPr>
              <a:t>without</a:t>
            </a:r>
            <a:r>
              <a:rPr lang="en-US" sz="2400" dirty="0">
                <a:solidFill>
                  <a:schemeClr val="dk1"/>
                </a:solidFill>
                <a:latin typeface="Atkinson Hyperlegible Next"/>
                <a:ea typeface="Arial"/>
                <a:cs typeface="Arial"/>
                <a:sym typeface="Arial"/>
              </a:rPr>
              <a:t> a shared, physical clock line routing between nodes.</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400" dirty="0">
                <a:latin typeface="Atkinson Hyperlegible Next"/>
                <a:ea typeface="Arial"/>
                <a:cs typeface="Arial"/>
                <a:sym typeface="Arial"/>
              </a:rPr>
              <a:t>Nodes rely on independent, internal clocks that must be pre-configured to a matching baud-rate! ( Remember the UART lecture? )</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400" dirty="0">
                <a:latin typeface="Atkinson Hyperlegible Next"/>
                <a:ea typeface="Arial"/>
                <a:cs typeface="Arial"/>
                <a:sym typeface="Arial"/>
              </a:rPr>
              <a:t>What could be some issue?</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latin typeface="Atkinson Hyperlegible Next"/>
                <a:ea typeface="Arial"/>
                <a:cs typeface="Arial"/>
                <a:sym typeface="Arial"/>
              </a:rPr>
              <a:t>You don’t properly communicate the correct baud rate</a:t>
            </a:r>
          </a:p>
          <a:p>
            <a:pPr marL="285750" indent="-285750">
              <a:lnSpc>
                <a:spcPct val="100000"/>
              </a:lnSpc>
              <a:spcBef>
                <a:spcPts val="0"/>
              </a:spcBef>
              <a:buSzPts val="3000"/>
            </a:pPr>
            <a:r>
              <a:rPr lang="en-US" sz="2400" dirty="0">
                <a:latin typeface="Atkinson Hyperlegible Next"/>
                <a:ea typeface="Arial"/>
                <a:cs typeface="Arial"/>
                <a:sym typeface="Arial"/>
              </a:rPr>
              <a:t>The internal clocks could drift causing the receiver to sample data out of phase, corrupting the data </a:t>
            </a:r>
          </a:p>
        </p:txBody>
      </p:sp>
      <p:sp>
        <p:nvSpPr>
          <p:cNvPr id="119" name="Google Shape;119;p29">
            <a:extLst>
              <a:ext uri="{FF2B5EF4-FFF2-40B4-BE49-F238E27FC236}">
                <a16:creationId xmlns:a16="http://schemas.microsoft.com/office/drawing/2014/main" id="{4FF97E9A-F5E6-3433-689A-CCC2E6693A8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0120183-E4BD-0BFF-1D1F-994A2686453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Asynchronous Communication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8904CD0-286D-F91F-A905-291355B1331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2128093-8245-C834-0815-A4E443B42F2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2F280F5-871C-8483-F445-F9DADA4EE0D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908C8AF-CFF8-B3D7-0D5F-4E49923C019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7CC7DAE-10AB-41E0-9B9B-2B6C6243EB5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F972DEB-BDE9-BCF5-9C46-0A12169A370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805119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3B0CF8A-0E0A-4767-51A8-52D7250B796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A62CEA2-560B-AD6B-6C17-48FA06E0D81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400" dirty="0">
                <a:solidFill>
                  <a:schemeClr val="dk1"/>
                </a:solidFill>
                <a:latin typeface="Atkinson Hyperlegible Next"/>
                <a:ea typeface="Arial"/>
                <a:cs typeface="Arial"/>
                <a:sym typeface="Arial"/>
              </a:rPr>
              <a:t>Synchronous networks (SPI/I2C) operate </a:t>
            </a:r>
            <a:r>
              <a:rPr lang="en-US" sz="2400" b="1" dirty="0">
                <a:solidFill>
                  <a:schemeClr val="dk1"/>
                </a:solidFill>
                <a:latin typeface="Atkinson Hyperlegible Next"/>
                <a:ea typeface="Arial"/>
                <a:cs typeface="Arial"/>
                <a:sym typeface="Arial"/>
              </a:rPr>
              <a:t>with</a:t>
            </a:r>
            <a:r>
              <a:rPr lang="en-US" sz="2400" dirty="0">
                <a:solidFill>
                  <a:schemeClr val="dk1"/>
                </a:solidFill>
                <a:latin typeface="Atkinson Hyperlegible Next"/>
                <a:ea typeface="Arial"/>
                <a:cs typeface="Arial"/>
                <a:sym typeface="Arial"/>
              </a:rPr>
              <a:t> a shared, physical clock line routing between nodes. The Master node routes a clock to all Slave devices.</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400" dirty="0">
                <a:latin typeface="Atkinson Hyperlegible Next"/>
                <a:ea typeface="Arial"/>
                <a:cs typeface="Arial"/>
                <a:sym typeface="Arial"/>
              </a:rPr>
              <a:t>This shared clock signal dictates the precise times that data lines are driven and sampled!</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400" dirty="0">
                <a:latin typeface="Atkinson Hyperlegible Next"/>
                <a:ea typeface="Arial"/>
                <a:cs typeface="Arial"/>
                <a:sym typeface="Arial"/>
              </a:rPr>
              <a:t>What could be some issue?</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latin typeface="Atkinson Hyperlegible Next"/>
                <a:ea typeface="Arial"/>
                <a:cs typeface="Arial"/>
                <a:sym typeface="Arial"/>
              </a:rPr>
              <a:t>Extra wiring required, at least one for the clock and one for the data</a:t>
            </a:r>
          </a:p>
          <a:p>
            <a:pPr marL="285750" indent="-285750">
              <a:lnSpc>
                <a:spcPct val="100000"/>
              </a:lnSpc>
              <a:spcBef>
                <a:spcPts val="0"/>
              </a:spcBef>
              <a:buSzPts val="3000"/>
            </a:pPr>
            <a:endParaRPr lang="en-US" sz="24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A454969F-8A71-33EB-BDDA-023FEEF854B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E984245-CE1C-4896-8B04-18863A6EF0A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Synchronous Communication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DDF8414-A14A-E3F2-87F4-9EFDA1C7D3B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38881F2-A36F-71CB-43DF-BD63ED2A396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1C1BA1D-E816-4D19-F1B9-98A0DAEF361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71C4689-D273-4081-F35D-CE02FCEEFD3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876D6BA-E347-1DED-E635-0E672349829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CBA2052-6DB8-94EA-4649-9A483759D90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08501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6F53376-15D0-00FB-0E3A-16785845D1FB}"/>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58AE2CAC-0D6E-C146-E18D-483CB9E8C6C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CC53E3B-0565-87E3-0E78-684BE597409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Simplex vs Half-Duplex vs Full-Duplex</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369FBA1-653F-A825-F0D1-FA441B8AD95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5A3CFE2-F40B-F97D-15C9-D419A9AB838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DAAA91E-1C80-9815-07B5-B44ABFA2E2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0967FF0-0709-1B3B-BA44-F441E173F36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5501262-88A2-9A72-68B8-20DF8F18F73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3CB847B-612D-5161-C8B2-65CA94AE74F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pSp>
        <p:nvGrpSpPr>
          <p:cNvPr id="7" name="Group 6">
            <a:extLst>
              <a:ext uri="{FF2B5EF4-FFF2-40B4-BE49-F238E27FC236}">
                <a16:creationId xmlns:a16="http://schemas.microsoft.com/office/drawing/2014/main" id="{3C3DA59E-3B3B-AB7C-F807-AE38038C7567}"/>
              </a:ext>
            </a:extLst>
          </p:cNvPr>
          <p:cNvGrpSpPr/>
          <p:nvPr/>
        </p:nvGrpSpPr>
        <p:grpSpPr>
          <a:xfrm>
            <a:off x="8734649" y="982357"/>
            <a:ext cx="3094168" cy="5567470"/>
            <a:chOff x="8734649" y="982357"/>
            <a:chExt cx="3094168" cy="5567470"/>
          </a:xfrm>
        </p:grpSpPr>
        <p:pic>
          <p:nvPicPr>
            <p:cNvPr id="3076" name="Picture 4" descr="Three panels compare communication modes between Device A and Device B, each joined by a single line. Simplex: only Device A has a signal dot, so data flows one way, A to B. Half-duplex: also a single dot at Device A, representing one direction at a time, with the link able to reverse. Full-duplex: dots at both Device A and Device B, so both send simultaneously.">
              <a:extLst>
                <a:ext uri="{FF2B5EF4-FFF2-40B4-BE49-F238E27FC236}">
                  <a16:creationId xmlns:a16="http://schemas.microsoft.com/office/drawing/2014/main" id="{99E9D030-886D-7734-B32F-4BB8C199C52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542" t="4466" r="6233" b="2696"/>
            <a:stretch>
              <a:fillRect/>
            </a:stretch>
          </p:blipFill>
          <p:spPr bwMode="auto">
            <a:xfrm>
              <a:off x="8734649" y="982357"/>
              <a:ext cx="3094168" cy="53126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0475FB5-0F61-16D6-E1BE-22C648CB3ACB}"/>
                </a:ext>
              </a:extLst>
            </p:cNvPr>
            <p:cNvSpPr txBox="1"/>
            <p:nvPr/>
          </p:nvSpPr>
          <p:spPr>
            <a:xfrm>
              <a:off x="8734650" y="6242050"/>
              <a:ext cx="3094167" cy="307777"/>
            </a:xfrm>
            <a:prstGeom prst="rect">
              <a:avLst/>
            </a:prstGeom>
            <a:noFill/>
          </p:spPr>
          <p:txBody>
            <a:bodyPr wrap="square" rtlCol="0">
              <a:spAutoFit/>
            </a:bodyPr>
            <a:lstStyle/>
            <a:p>
              <a:pPr algn="ctr"/>
              <a:r>
                <a:rPr lang="en-US" sz="700" dirty="0">
                  <a:hlinkClick r:id="rId5"/>
                </a:rPr>
                <a:t>https://www.linkedin.com/posts/anis-hassen_communication-modes-simplified-ever-activity-7310553982957948928-FHnT/</a:t>
              </a:r>
              <a:r>
                <a:rPr lang="en-US" sz="700" dirty="0"/>
                <a:t> </a:t>
              </a:r>
            </a:p>
          </p:txBody>
        </p:sp>
      </p:grpSp>
      <p:grpSp>
        <p:nvGrpSpPr>
          <p:cNvPr id="6" name="Group 5">
            <a:extLst>
              <a:ext uri="{FF2B5EF4-FFF2-40B4-BE49-F238E27FC236}">
                <a16:creationId xmlns:a16="http://schemas.microsoft.com/office/drawing/2014/main" id="{FEFBC80E-7EB9-E901-911A-ED2807369EE2}"/>
              </a:ext>
            </a:extLst>
          </p:cNvPr>
          <p:cNvGrpSpPr/>
          <p:nvPr/>
        </p:nvGrpSpPr>
        <p:grpSpPr>
          <a:xfrm>
            <a:off x="216400" y="982357"/>
            <a:ext cx="8312150" cy="5513608"/>
            <a:chOff x="216400" y="982357"/>
            <a:chExt cx="8312150" cy="5513608"/>
          </a:xfrm>
        </p:grpSpPr>
        <p:pic>
          <p:nvPicPr>
            <p:cNvPr id="3074" name="Picture 2" descr="Three rows compare transmission modes between pairs of walkie-talkies. Simplex: data flows only left to right; the return direction is blocked. Half-duplex: data can flow in either direction, but only one direction at a time, left to right or right to left. Full-duplex: data flows in both directions simultaneously.">
              <a:extLst>
                <a:ext uri="{FF2B5EF4-FFF2-40B4-BE49-F238E27FC236}">
                  <a16:creationId xmlns:a16="http://schemas.microsoft.com/office/drawing/2014/main" id="{CD66EAA8-F009-4E81-E5AB-3F7F4FC56A0D}"/>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493" r="2565"/>
            <a:stretch>
              <a:fillRect/>
            </a:stretch>
          </p:blipFill>
          <p:spPr bwMode="auto">
            <a:xfrm>
              <a:off x="216400" y="982357"/>
              <a:ext cx="8312150" cy="530772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2AAE732-0000-3CAB-107F-6913C420520C}"/>
                </a:ext>
              </a:extLst>
            </p:cNvPr>
            <p:cNvSpPr txBox="1"/>
            <p:nvPr/>
          </p:nvSpPr>
          <p:spPr>
            <a:xfrm>
              <a:off x="747652" y="6295910"/>
              <a:ext cx="7249646" cy="200055"/>
            </a:xfrm>
            <a:prstGeom prst="rect">
              <a:avLst/>
            </a:prstGeom>
            <a:noFill/>
          </p:spPr>
          <p:txBody>
            <a:bodyPr wrap="square" rtlCol="0">
              <a:spAutoFit/>
            </a:bodyPr>
            <a:lstStyle/>
            <a:p>
              <a:pPr algn="ctr"/>
              <a:r>
                <a:rPr lang="en-US" sz="700" dirty="0">
                  <a:hlinkClick r:id="rId7"/>
                </a:rPr>
                <a:t>https://www.qsfptek.com/qt-news/half-duplex-vs-full-duplex-vs-simplex-transmission-mode.html?srsltid=AfmBOopvEYPNWR3lh3_nh46jJxnYWESqNo07pANJhJ3pTBwkhLByDD5J</a:t>
              </a:r>
              <a:r>
                <a:rPr lang="en-US" sz="700" dirty="0"/>
                <a:t> </a:t>
              </a:r>
            </a:p>
          </p:txBody>
        </p:sp>
      </p:grpSp>
    </p:spTree>
    <p:extLst>
      <p:ext uri="{BB962C8B-B14F-4D97-AF65-F5344CB8AC3E}">
        <p14:creationId xmlns:p14="http://schemas.microsoft.com/office/powerpoint/2010/main" val="1060804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B4D2AB9D-2457-3211-C0D4-DE135DFAAEC9}"/>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57135A9-31CC-D8EA-1584-009E664D3D7E}"/>
              </a:ext>
            </a:extLst>
          </p:cNvPr>
          <p:cNvGrpSpPr/>
          <p:nvPr/>
        </p:nvGrpSpPr>
        <p:grpSpPr>
          <a:xfrm>
            <a:off x="2206906" y="2674628"/>
            <a:ext cx="7778187" cy="1508744"/>
            <a:chOff x="2206906" y="1491040"/>
            <a:chExt cx="7778187" cy="1508744"/>
          </a:xfrm>
        </p:grpSpPr>
        <p:sp>
          <p:nvSpPr>
            <p:cNvPr id="89" name="Google Shape;89;p27">
              <a:extLst>
                <a:ext uri="{FF2B5EF4-FFF2-40B4-BE49-F238E27FC236}">
                  <a16:creationId xmlns:a16="http://schemas.microsoft.com/office/drawing/2014/main" id="{7D3AA029-9DAF-CA5C-CC72-86F6C481A94D}"/>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Protocols</a:t>
              </a:r>
              <a:endParaRPr sz="1400" b="0" i="0" u="none" strike="noStrike" cap="none" dirty="0">
                <a:solidFill>
                  <a:srgbClr val="000000"/>
                </a:solidFill>
                <a:latin typeface="Atkinson Hyperlegible Next"/>
                <a:ea typeface="Arial"/>
                <a:cs typeface="Arial"/>
                <a:sym typeface="Arial"/>
              </a:endParaRPr>
            </a:p>
          </p:txBody>
        </p:sp>
        <p:grpSp>
          <p:nvGrpSpPr>
            <p:cNvPr id="91" name="Google Shape;91;p27">
              <a:extLst>
                <a:ext uri="{FF2B5EF4-FFF2-40B4-BE49-F238E27FC236}">
                  <a16:creationId xmlns:a16="http://schemas.microsoft.com/office/drawing/2014/main" id="{0D5D6850-CB56-3AA3-B8A1-77B54555F9CA}"/>
                </a:ext>
              </a:extLst>
            </p:cNvPr>
            <p:cNvGrpSpPr/>
            <p:nvPr/>
          </p:nvGrpSpPr>
          <p:grpSpPr>
            <a:xfrm>
              <a:off x="3943790" y="2676939"/>
              <a:ext cx="3861740" cy="322845"/>
              <a:chOff x="3943790" y="2676939"/>
              <a:chExt cx="3861740" cy="322845"/>
            </a:xfrm>
          </p:grpSpPr>
          <p:cxnSp>
            <p:nvCxnSpPr>
              <p:cNvPr id="92" name="Google Shape;92;p27">
                <a:extLst>
                  <a:ext uri="{FF2B5EF4-FFF2-40B4-BE49-F238E27FC236}">
                    <a16:creationId xmlns:a16="http://schemas.microsoft.com/office/drawing/2014/main" id="{ABAA4E85-8BFE-612F-03A7-D582E7A24C04}"/>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2C1FCE07-7739-7976-0281-85EB57EEFE62}"/>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C96BD22F-4C43-AC9C-9F54-F694529DED4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AC4CA889-AF22-6E85-92EF-A110A86E85A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99F85255-AAD3-BD95-8535-ABE4F735CB1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C814889B-3CBF-D837-0CDA-28FC1BA52746}"/>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AFDAEA03-58FF-93F6-3AA0-8B81758BFDB5}"/>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D549A4B5-E4AB-DCC3-1A49-92E3173D7D4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1857867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EF98DDE-B645-BBE4-5756-DF6A05CC329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EE6462F-EB74-1857-0B24-DB61ED15232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200" dirty="0">
                <a:solidFill>
                  <a:schemeClr val="dk1"/>
                </a:solidFill>
                <a:latin typeface="Atkinson Hyperlegible Next"/>
                <a:ea typeface="Arial"/>
                <a:cs typeface="Arial"/>
                <a:sym typeface="Arial"/>
              </a:rPr>
              <a:t>The Red Board supports a lot of communication protocols:</a:t>
            </a:r>
          </a:p>
          <a:p>
            <a:pPr marL="285750" indent="-285750">
              <a:lnSpc>
                <a:spcPct val="100000"/>
              </a:lnSpc>
              <a:spcBef>
                <a:spcPts val="0"/>
              </a:spcBef>
              <a:buSzPts val="3000"/>
            </a:pPr>
            <a:r>
              <a:rPr lang="en-US" sz="2200" b="1" dirty="0">
                <a:latin typeface="Atkinson Hyperlegible Next"/>
                <a:ea typeface="Arial"/>
                <a:cs typeface="Arial"/>
                <a:sym typeface="Arial"/>
              </a:rPr>
              <a:t>SCI</a:t>
            </a:r>
            <a:r>
              <a:rPr lang="en-US" sz="2200" dirty="0">
                <a:latin typeface="Atkinson Hyperlegible Next"/>
                <a:ea typeface="Arial"/>
                <a:cs typeface="Arial"/>
                <a:sym typeface="Arial"/>
              </a:rPr>
              <a:t> – Serial Communications Interface - The classic UART. It is asynchronous, requiring only two wires (TX/RX), but limited in speed due to the lack of a shared clock. Discussed in </a:t>
            </a:r>
            <a:r>
              <a:rPr lang="en-US" sz="2200" dirty="0">
                <a:latin typeface="Atkinson Hyperlegible Next"/>
                <a:ea typeface="Arial"/>
                <a:cs typeface="Arial"/>
                <a:sym typeface="Arial"/>
                <a:hlinkClick r:id="rId3"/>
              </a:rPr>
              <a:t>Lecture 4</a:t>
            </a:r>
            <a:r>
              <a:rPr lang="en-US" sz="2200" dirty="0">
                <a:latin typeface="Atkinson Hyperlegible Next"/>
                <a:ea typeface="Arial"/>
                <a:cs typeface="Arial"/>
                <a:sym typeface="Arial"/>
              </a:rPr>
              <a:t>.</a:t>
            </a:r>
          </a:p>
          <a:p>
            <a:pPr marL="285750" indent="-285750">
              <a:lnSpc>
                <a:spcPct val="100000"/>
              </a:lnSpc>
              <a:spcBef>
                <a:spcPts val="0"/>
              </a:spcBef>
              <a:buSzPts val="3000"/>
            </a:pPr>
            <a:endParaRPr lang="en-US" sz="2200" dirty="0">
              <a:latin typeface="Atkinson Hyperlegible Next"/>
              <a:ea typeface="Arial"/>
              <a:cs typeface="Arial"/>
              <a:sym typeface="Arial"/>
            </a:endParaRPr>
          </a:p>
          <a:p>
            <a:pPr marL="285750" indent="-285750">
              <a:lnSpc>
                <a:spcPct val="100000"/>
              </a:lnSpc>
              <a:spcBef>
                <a:spcPts val="0"/>
              </a:spcBef>
              <a:buSzPts val="3000"/>
            </a:pPr>
            <a:r>
              <a:rPr lang="en-US" sz="2200" b="1" dirty="0">
                <a:latin typeface="Atkinson Hyperlegible Next"/>
                <a:ea typeface="Arial"/>
                <a:cs typeface="Arial"/>
                <a:sym typeface="Arial"/>
              </a:rPr>
              <a:t>SPI</a:t>
            </a:r>
            <a:r>
              <a:rPr lang="en-US" sz="2200" dirty="0">
                <a:latin typeface="Atkinson Hyperlegible Next"/>
                <a:ea typeface="Arial"/>
                <a:cs typeface="Arial"/>
                <a:sym typeface="Arial"/>
              </a:rPr>
              <a:t> – Serial Peripheral Interface - A high-speed synchronous serial input and output (I/O) port. It requires four wires and dominates high-frequency sensor and motor driver applications. Discussed in </a:t>
            </a:r>
            <a:r>
              <a:rPr lang="en-US" sz="2200" dirty="0">
                <a:latin typeface="Atkinson Hyperlegible Next"/>
                <a:ea typeface="Arial"/>
                <a:cs typeface="Arial"/>
                <a:sym typeface="Arial"/>
                <a:hlinkClick r:id="rId4"/>
              </a:rPr>
              <a:t>Lecture 6-7</a:t>
            </a:r>
            <a:endParaRPr lang="en-US" sz="2200" dirty="0">
              <a:latin typeface="Atkinson Hyperlegible Next"/>
              <a:ea typeface="Arial"/>
              <a:cs typeface="Arial"/>
              <a:sym typeface="Arial"/>
            </a:endParaRPr>
          </a:p>
          <a:p>
            <a:pPr marL="285750" indent="-285750">
              <a:lnSpc>
                <a:spcPct val="100000"/>
              </a:lnSpc>
              <a:spcBef>
                <a:spcPts val="0"/>
              </a:spcBef>
              <a:buSzPts val="3000"/>
            </a:pPr>
            <a:endParaRPr lang="en-US" sz="2200" dirty="0">
              <a:latin typeface="Atkinson Hyperlegible Next"/>
              <a:ea typeface="Arial"/>
              <a:cs typeface="Arial"/>
              <a:sym typeface="Arial"/>
            </a:endParaRPr>
          </a:p>
          <a:p>
            <a:pPr marL="285750" indent="-285750">
              <a:lnSpc>
                <a:spcPct val="100000"/>
              </a:lnSpc>
              <a:spcBef>
                <a:spcPts val="0"/>
              </a:spcBef>
              <a:buSzPts val="3000"/>
            </a:pPr>
            <a:r>
              <a:rPr lang="en-US" sz="2200" b="1" dirty="0">
                <a:latin typeface="Atkinson Hyperlegible Next"/>
                <a:ea typeface="Arial"/>
                <a:cs typeface="Arial"/>
                <a:sym typeface="Arial"/>
              </a:rPr>
              <a:t>I2C</a:t>
            </a:r>
            <a:r>
              <a:rPr lang="en-US" sz="2200" dirty="0">
                <a:latin typeface="Atkinson Hyperlegible Next"/>
                <a:ea typeface="Arial"/>
                <a:cs typeface="Arial"/>
                <a:sym typeface="Arial"/>
              </a:rPr>
              <a:t> – Inter-Integrated Circuit Module - A synchronous, two-wire bus using software addressing rather than hardware routing. Uses less wires some can be advantageous over SPI.</a:t>
            </a:r>
          </a:p>
        </p:txBody>
      </p:sp>
      <p:sp>
        <p:nvSpPr>
          <p:cNvPr id="119" name="Google Shape;119;p29">
            <a:extLst>
              <a:ext uri="{FF2B5EF4-FFF2-40B4-BE49-F238E27FC236}">
                <a16:creationId xmlns:a16="http://schemas.microsoft.com/office/drawing/2014/main" id="{D509A953-34FF-EDC4-89AC-1D041972D5F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F9FEF23-FA48-B358-65A6-EAD8D453DCC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(4/5)</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04A900D-EF32-489F-02FA-1EDF247A3714}"/>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2D157C4-14C2-D186-2058-7B8BEAC3932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559E22A-9CFF-92DA-34D1-5CDABD737EE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4AED68D-70A7-3D5F-ED5D-ACDD2586471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785742C-E51F-C713-500A-5C187E15A5D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C43059D-61AB-99B2-30BB-9D3C1BCBEBE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62948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A37AC97-3F7F-C5C7-1A7D-DB688807DF3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C82BCD4-24AD-A55D-29C2-6252D8BD149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200" dirty="0">
                <a:solidFill>
                  <a:schemeClr val="dk1"/>
                </a:solidFill>
                <a:latin typeface="Atkinson Hyperlegible Next"/>
                <a:ea typeface="Arial"/>
                <a:cs typeface="Arial"/>
                <a:sym typeface="Arial"/>
              </a:rPr>
              <a:t>The Red Board supports a lot of communication protocols:</a:t>
            </a:r>
          </a:p>
          <a:p>
            <a:pPr marL="285750" indent="-285750">
              <a:lnSpc>
                <a:spcPct val="100000"/>
              </a:lnSpc>
              <a:spcBef>
                <a:spcPts val="0"/>
              </a:spcBef>
              <a:buSzPts val="3000"/>
            </a:pPr>
            <a:r>
              <a:rPr lang="en-US" sz="2200" b="1" dirty="0">
                <a:latin typeface="Atkinson Hyperlegible Next"/>
                <a:ea typeface="Arial"/>
                <a:cs typeface="Arial"/>
                <a:sym typeface="Arial"/>
              </a:rPr>
              <a:t>CAN</a:t>
            </a:r>
            <a:r>
              <a:rPr lang="en-US" sz="2200" dirty="0">
                <a:latin typeface="Atkinson Hyperlegible Next"/>
                <a:ea typeface="Arial"/>
                <a:cs typeface="Arial"/>
                <a:sym typeface="Arial"/>
              </a:rPr>
              <a:t> – Controller Area Network - A highly robust, differential-signaling serial bus designed for automotive environments. It prioritizes message IDs and deterministic collision resolution over raw speed.</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285750" indent="-285750">
              <a:lnSpc>
                <a:spcPct val="100000"/>
              </a:lnSpc>
              <a:spcBef>
                <a:spcPts val="0"/>
              </a:spcBef>
              <a:buSzPts val="3000"/>
            </a:pPr>
            <a:r>
              <a:rPr lang="en-US" sz="2200" b="1" dirty="0" err="1">
                <a:latin typeface="Atkinson Hyperlegible Next"/>
                <a:ea typeface="Arial"/>
                <a:cs typeface="Arial"/>
                <a:sym typeface="Arial"/>
              </a:rPr>
              <a:t>McBSP</a:t>
            </a:r>
            <a:r>
              <a:rPr lang="en-US" sz="2200" dirty="0">
                <a:latin typeface="Atkinson Hyperlegible Next"/>
                <a:ea typeface="Arial"/>
                <a:cs typeface="Arial"/>
                <a:sym typeface="Arial"/>
              </a:rPr>
              <a:t> – Multichannel Buffered Serial Port - A high-speed synchronous serial port capable of handling complex audio streams and telecommunications data.</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285750" indent="-285750">
              <a:lnSpc>
                <a:spcPct val="100000"/>
              </a:lnSpc>
              <a:spcBef>
                <a:spcPts val="0"/>
              </a:spcBef>
              <a:buSzPts val="3000"/>
            </a:pPr>
            <a:r>
              <a:rPr lang="en-US" sz="2200" b="1" dirty="0">
                <a:latin typeface="Atkinson Hyperlegible Next"/>
                <a:ea typeface="Arial"/>
                <a:cs typeface="Arial"/>
                <a:sym typeface="Arial"/>
              </a:rPr>
              <a:t>USB</a:t>
            </a:r>
            <a:r>
              <a:rPr lang="en-US" sz="2200" dirty="0">
                <a:latin typeface="Atkinson Hyperlegible Next"/>
                <a:ea typeface="Arial"/>
                <a:cs typeface="Arial"/>
                <a:sym typeface="Arial"/>
              </a:rPr>
              <a:t> – Universal Serial Bus - A complex, differential standard used primarily for interfacing the embedded system with host PCs for data logging or firmware updates.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285750" indent="-285750">
              <a:lnSpc>
                <a:spcPct val="100000"/>
              </a:lnSpc>
              <a:spcBef>
                <a:spcPts val="0"/>
              </a:spcBef>
              <a:buSzPts val="3000"/>
            </a:pPr>
            <a:r>
              <a:rPr lang="en-US" sz="2200" b="1" dirty="0" err="1">
                <a:latin typeface="Atkinson Hyperlegible Next"/>
                <a:ea typeface="Arial"/>
                <a:cs typeface="Arial"/>
                <a:sym typeface="Arial"/>
              </a:rPr>
              <a:t>uPP</a:t>
            </a:r>
            <a:r>
              <a:rPr lang="en-US" sz="2200" dirty="0">
                <a:latin typeface="Atkinson Hyperlegible Next"/>
                <a:ea typeface="Arial"/>
                <a:cs typeface="Arial"/>
                <a:sym typeface="Arial"/>
              </a:rPr>
              <a:t> - Universal Parallel Port - A high-speed parallel interface used for connecting directly to FPGAs or massive data-acquisition modules (high-speed ADC).</a:t>
            </a:r>
          </a:p>
        </p:txBody>
      </p:sp>
      <p:sp>
        <p:nvSpPr>
          <p:cNvPr id="119" name="Google Shape;119;p29">
            <a:extLst>
              <a:ext uri="{FF2B5EF4-FFF2-40B4-BE49-F238E27FC236}">
                <a16:creationId xmlns:a16="http://schemas.microsoft.com/office/drawing/2014/main" id="{490F2AEF-C308-6C69-8192-6A3D11936DF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93DB5E0-7E03-9375-7DED-51DBA1C290C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(5/5)</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625CE1D-DBC5-E794-D26D-0664C39FF1D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9F33CEA-6097-27AC-96CC-8B2682452DA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FA79B5C-62A9-290E-3F21-4B7505FE5DC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ACB6F1B-99FB-7828-B415-0C215014BEB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52A695C-6644-B0C9-217E-6D5AA82AFAA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F2C9516-CE55-8195-BB96-324549B1C2F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31913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6E90625A-9078-156F-B6A1-401CCE8326D4}"/>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9AFDC12-7B22-50E9-8DD3-4690FB639A68}"/>
              </a:ext>
            </a:extLst>
          </p:cNvPr>
          <p:cNvGrpSpPr/>
          <p:nvPr/>
        </p:nvGrpSpPr>
        <p:grpSpPr>
          <a:xfrm>
            <a:off x="2206906" y="2674628"/>
            <a:ext cx="7778187" cy="1508744"/>
            <a:chOff x="2206906" y="1491040"/>
            <a:chExt cx="7778187" cy="1508744"/>
          </a:xfrm>
        </p:grpSpPr>
        <p:sp>
          <p:nvSpPr>
            <p:cNvPr id="89" name="Google Shape;89;p27">
              <a:extLst>
                <a:ext uri="{FF2B5EF4-FFF2-40B4-BE49-F238E27FC236}">
                  <a16:creationId xmlns:a16="http://schemas.microsoft.com/office/drawing/2014/main" id="{07AEA660-E915-AE40-2C20-5964643D8AAE}"/>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SCI / UART</a:t>
              </a:r>
              <a:endParaRPr sz="1400" b="0" i="0" u="none" strike="noStrike" cap="none" dirty="0">
                <a:solidFill>
                  <a:srgbClr val="000000"/>
                </a:solidFill>
                <a:latin typeface="Atkinson Hyperlegible Next"/>
                <a:ea typeface="Arial"/>
                <a:cs typeface="Arial"/>
                <a:sym typeface="Arial"/>
              </a:endParaRPr>
            </a:p>
          </p:txBody>
        </p:sp>
        <p:grpSp>
          <p:nvGrpSpPr>
            <p:cNvPr id="91" name="Google Shape;91;p27">
              <a:extLst>
                <a:ext uri="{FF2B5EF4-FFF2-40B4-BE49-F238E27FC236}">
                  <a16:creationId xmlns:a16="http://schemas.microsoft.com/office/drawing/2014/main" id="{1DA2B9A3-8A6A-FAFA-669E-652C26943454}"/>
                </a:ext>
              </a:extLst>
            </p:cNvPr>
            <p:cNvGrpSpPr/>
            <p:nvPr/>
          </p:nvGrpSpPr>
          <p:grpSpPr>
            <a:xfrm>
              <a:off x="3943790" y="2676939"/>
              <a:ext cx="3861740" cy="322845"/>
              <a:chOff x="3943790" y="2676939"/>
              <a:chExt cx="3861740" cy="322845"/>
            </a:xfrm>
          </p:grpSpPr>
          <p:cxnSp>
            <p:nvCxnSpPr>
              <p:cNvPr id="92" name="Google Shape;92;p27">
                <a:extLst>
                  <a:ext uri="{FF2B5EF4-FFF2-40B4-BE49-F238E27FC236}">
                    <a16:creationId xmlns:a16="http://schemas.microsoft.com/office/drawing/2014/main" id="{D36D3443-F5EE-2480-11CF-D3C53E6A9DA0}"/>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339385CC-8092-7134-E76F-6C774111CB89}"/>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BC3321DF-4F11-1823-A0AD-9D817E0A70B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78475933-7067-5115-DBEB-7889C12FF01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C8703854-82A4-5410-63D0-A3D90D732AF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0311F12E-A60F-6DE8-C009-10F9891EA5B2}"/>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ACF3A0FF-06E2-74E0-BD80-252F9F50CD6E}"/>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2A939E0D-800D-BBED-15F9-64C08901CFE0}"/>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15851061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8AFA798-9BC3-992F-DE00-7A1126761ECC}"/>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589EC1F-48AC-C1A0-EC0C-3532BB482D5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200" b="1" dirty="0">
                <a:latin typeface="Atkinson Hyperlegible Next"/>
                <a:ea typeface="Arial"/>
                <a:cs typeface="Arial"/>
                <a:sym typeface="Arial"/>
              </a:rPr>
              <a:t>Asynchronous</a:t>
            </a:r>
            <a:r>
              <a:rPr lang="en-US" sz="2200" dirty="0">
                <a:latin typeface="Atkinson Hyperlegible Next"/>
                <a:ea typeface="Arial"/>
                <a:cs typeface="Arial"/>
                <a:sym typeface="Arial"/>
              </a:rPr>
              <a:t>: No shared clock wire. Timing relies on agreed-upon Baud Rate.</a:t>
            </a:r>
          </a:p>
          <a:p>
            <a:pPr marL="0" lvl="0" indent="0">
              <a:lnSpc>
                <a:spcPct val="100000"/>
              </a:lnSpc>
              <a:spcBef>
                <a:spcPts val="0"/>
              </a:spcBef>
              <a:buSzPts val="3000"/>
              <a:buNone/>
            </a:pPr>
            <a:endParaRPr lang="en-US" sz="2200" dirty="0">
              <a:latin typeface="Atkinson Hyperlegible Next"/>
              <a:ea typeface="Arial"/>
              <a:cs typeface="Arial"/>
              <a:sym typeface="Arial"/>
            </a:endParaRPr>
          </a:p>
          <a:p>
            <a:pPr marL="114300" lvl="0" indent="0" algn="ctr">
              <a:buClr>
                <a:srgbClr val="000000"/>
              </a:buClr>
              <a:buNone/>
            </a:pPr>
            <a:r>
              <a:rPr lang="en-US" sz="1800" dirty="0" err="1">
                <a:solidFill>
                  <a:srgbClr val="000000"/>
                </a:solidFill>
                <a:latin typeface="Consolas" panose="020B0609020204030204" pitchFamily="49" charset="0"/>
              </a:rPr>
              <a:t>init_serialSCIA</a:t>
            </a:r>
            <a:r>
              <a:rPr lang="en-US" sz="1800" dirty="0">
                <a:solidFill>
                  <a:srgbClr val="000000"/>
                </a:solidFill>
                <a:latin typeface="Consolas" panose="020B0609020204030204" pitchFamily="49" charset="0"/>
              </a:rPr>
              <a:t>(&amp;SerialA,115200);</a:t>
            </a:r>
            <a:endParaRPr lang="en-US" sz="1800" dirty="0">
              <a:solidFill>
                <a:srgbClr val="000000"/>
              </a:solidFill>
              <a:latin typeface="Atkinson Hyperlegible Next"/>
            </a:endParaRPr>
          </a:p>
          <a:p>
            <a:pPr marL="0" lvl="0" indent="0">
              <a:lnSpc>
                <a:spcPct val="100000"/>
              </a:lnSpc>
              <a:spcBef>
                <a:spcPts val="0"/>
              </a:spcBef>
              <a:buSzPts val="3000"/>
              <a:buNone/>
            </a:pPr>
            <a:endParaRPr lang="en-US" sz="2200" dirty="0">
              <a:latin typeface="Atkinson Hyperlegible Next"/>
              <a:ea typeface="Arial"/>
              <a:cs typeface="Arial"/>
              <a:sym typeface="Arial"/>
            </a:endParaRPr>
          </a:p>
          <a:p>
            <a:pPr marL="0" lvl="0" indent="0">
              <a:lnSpc>
                <a:spcPct val="100000"/>
              </a:lnSpc>
              <a:spcBef>
                <a:spcPts val="0"/>
              </a:spcBef>
              <a:buSzPts val="3000"/>
              <a:buNone/>
            </a:pPr>
            <a:endParaRPr lang="en-US" sz="22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endParaRPr lang="en-US" sz="22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6B9BF5F0-457C-4E03-05A4-52C30532A0C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AC3FDC0-4294-4748-4B32-802F62E91CD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SCI / UART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C50A938-DD5E-52AF-1CA9-E1138F16801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967A8A6-916E-A3D8-2000-BBDA2A9936D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2C767B3-18CC-7410-A90D-AEB33559539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584D76E-B978-AC85-66B0-65FE7AA6D77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43A9B12-15C8-B715-D59E-5B99997FD69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B8BE521-C5BE-B235-B9FD-F59C2053850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 name="Graphic 1" descr="Timing diagram of two SCI (serial communication interface) data frames from Figure 19-3. The line idles high, then a low start bit is followed by eight data bits sent LSB first through MSB, an optional parity bit, and a high stop bit back to idle. Top frame is idle-line mode, for normal nonmultiprocessor communication. Bottom frame is address-bit mode, which inserts an extra address/data bit after the MSB, before parity, to mark whether the frame carries an address or data.">
            <a:extLst>
              <a:ext uri="{FF2B5EF4-FFF2-40B4-BE49-F238E27FC236}">
                <a16:creationId xmlns:a16="http://schemas.microsoft.com/office/drawing/2014/main" id="{7F3DCA0B-06EC-CDAB-5F7A-048D3BBDB4C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7146" y="2747500"/>
            <a:ext cx="10437708" cy="3592382"/>
          </a:xfrm>
          <a:prstGeom prst="rect">
            <a:avLst/>
          </a:prstGeom>
        </p:spPr>
      </p:pic>
    </p:spTree>
    <p:extLst>
      <p:ext uri="{BB962C8B-B14F-4D97-AF65-F5344CB8AC3E}">
        <p14:creationId xmlns:p14="http://schemas.microsoft.com/office/powerpoint/2010/main" val="6803784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6A0E2740-7630-D3AF-878D-DC6BC376ED6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17C6B595-3CD2-C7CB-F48E-3032BE3B645B}"/>
              </a:ext>
            </a:extLst>
          </p:cNvPr>
          <p:cNvGrpSpPr/>
          <p:nvPr/>
        </p:nvGrpSpPr>
        <p:grpSpPr>
          <a:xfrm>
            <a:off x="2206906" y="2674628"/>
            <a:ext cx="7778187" cy="1508744"/>
            <a:chOff x="2206906" y="1491040"/>
            <a:chExt cx="7778187" cy="1508744"/>
          </a:xfrm>
        </p:grpSpPr>
        <p:sp>
          <p:nvSpPr>
            <p:cNvPr id="89" name="Google Shape;89;p27">
              <a:extLst>
                <a:ext uri="{FF2B5EF4-FFF2-40B4-BE49-F238E27FC236}">
                  <a16:creationId xmlns:a16="http://schemas.microsoft.com/office/drawing/2014/main" id="{8CC7C99E-324F-4290-ACFE-0E2D50EC83D5}"/>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SPI (1/3)</a:t>
              </a:r>
              <a:endParaRPr sz="1400" b="0" i="0" u="none" strike="noStrike" cap="none" dirty="0">
                <a:solidFill>
                  <a:srgbClr val="000000"/>
                </a:solidFill>
                <a:latin typeface="Atkinson Hyperlegible Next"/>
                <a:ea typeface="Arial"/>
                <a:cs typeface="Arial"/>
                <a:sym typeface="Arial"/>
              </a:endParaRPr>
            </a:p>
          </p:txBody>
        </p:sp>
        <p:grpSp>
          <p:nvGrpSpPr>
            <p:cNvPr id="91" name="Google Shape;91;p27">
              <a:extLst>
                <a:ext uri="{FF2B5EF4-FFF2-40B4-BE49-F238E27FC236}">
                  <a16:creationId xmlns:a16="http://schemas.microsoft.com/office/drawing/2014/main" id="{ACCB0847-714E-0755-C06F-CB227BEB853F}"/>
                </a:ext>
              </a:extLst>
            </p:cNvPr>
            <p:cNvGrpSpPr/>
            <p:nvPr/>
          </p:nvGrpSpPr>
          <p:grpSpPr>
            <a:xfrm>
              <a:off x="3943790" y="2676939"/>
              <a:ext cx="3861740" cy="322845"/>
              <a:chOff x="3943790" y="2676939"/>
              <a:chExt cx="3861740" cy="322845"/>
            </a:xfrm>
          </p:grpSpPr>
          <p:cxnSp>
            <p:nvCxnSpPr>
              <p:cNvPr id="92" name="Google Shape;92;p27">
                <a:extLst>
                  <a:ext uri="{FF2B5EF4-FFF2-40B4-BE49-F238E27FC236}">
                    <a16:creationId xmlns:a16="http://schemas.microsoft.com/office/drawing/2014/main" id="{B5E211AB-C88C-2CB5-8676-F238F700C85B}"/>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2E47F6B4-5228-76E2-4FDD-8509ECDDE0FD}"/>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49CA9C54-FDCC-27E9-0788-1BB634D86E5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763700EE-FC38-B4E4-B9A9-CA1BF5CE666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784BC4D5-CF5F-370C-5401-4CEFEFF6F76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7E07FE74-EFD8-6D77-C709-767D3DD6B660}"/>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891FB91F-D98B-02B7-3DA6-797F281CB7DE}"/>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62E80ADB-A2C3-AE7C-E90F-55925015333E}"/>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18546322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144FEC4-F8F6-89C7-072A-F70CD8AD4BF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0153D6E-13A5-F39A-8E08-3FC06E9CE46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200" dirty="0">
                <a:latin typeface="Atkinson Hyperlegible Next"/>
                <a:ea typeface="Arial"/>
                <a:cs typeface="Arial"/>
                <a:sym typeface="Arial"/>
              </a:rPr>
              <a:t>This is full-duplex protocol, capable of simultaneous transmission and reception during a single clock cycle.</a:t>
            </a:r>
          </a:p>
          <a:p>
            <a:pPr marL="0" lvl="0" indent="0" algn="l" rtl="0">
              <a:lnSpc>
                <a:spcPct val="100000"/>
              </a:lnSpc>
              <a:spcBef>
                <a:spcPts val="0"/>
              </a:spcBef>
              <a:spcAft>
                <a:spcPts val="0"/>
              </a:spcAft>
              <a:buSzPts val="3000"/>
              <a:buNone/>
            </a:pPr>
            <a:endParaRPr lang="en-US" sz="22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200" dirty="0">
                <a:latin typeface="Atkinson Hyperlegible Next"/>
                <a:ea typeface="Arial"/>
                <a:cs typeface="Arial"/>
                <a:sym typeface="Arial"/>
              </a:rPr>
              <a:t>Multi-device communication is supported by the master or slave operation of the SPI.</a:t>
            </a:r>
          </a:p>
          <a:p>
            <a:pPr marL="0" lvl="0" indent="0" algn="l" rtl="0">
              <a:lnSpc>
                <a:spcPct val="100000"/>
              </a:lnSpc>
              <a:spcBef>
                <a:spcPts val="0"/>
              </a:spcBef>
              <a:spcAft>
                <a:spcPts val="0"/>
              </a:spcAft>
              <a:buSzPts val="3000"/>
              <a:buNone/>
            </a:pPr>
            <a:endParaRPr lang="en-US" sz="22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200" dirty="0">
                <a:latin typeface="Atkinson Hyperlegible Next"/>
                <a:ea typeface="Arial"/>
                <a:cs typeface="Arial"/>
                <a:sym typeface="Arial"/>
              </a:rPr>
              <a:t>Has 4 wires:</a:t>
            </a:r>
          </a:p>
          <a:p>
            <a:pPr marL="0" lvl="0" indent="0" algn="l" rtl="0">
              <a:lnSpc>
                <a:spcPct val="100000"/>
              </a:lnSpc>
              <a:spcBef>
                <a:spcPts val="0"/>
              </a:spcBef>
              <a:spcAft>
                <a:spcPts val="0"/>
              </a:spcAft>
              <a:buSzPts val="3000"/>
              <a:buNone/>
            </a:pPr>
            <a:endParaRPr lang="en-US" sz="2200" dirty="0">
              <a:latin typeface="Atkinson Hyperlegible Next"/>
              <a:ea typeface="Arial"/>
              <a:cs typeface="Arial"/>
              <a:sym typeface="Arial"/>
            </a:endParaRPr>
          </a:p>
          <a:p>
            <a:pPr marL="342900">
              <a:lnSpc>
                <a:spcPct val="100000"/>
              </a:lnSpc>
              <a:spcBef>
                <a:spcPts val="0"/>
              </a:spcBef>
              <a:buSzPts val="3000"/>
            </a:pPr>
            <a:r>
              <a:rPr lang="en-US" sz="2200" b="1" dirty="0">
                <a:latin typeface="Atkinson Hyperlegible Next"/>
                <a:ea typeface="Arial"/>
                <a:cs typeface="Arial"/>
                <a:sym typeface="Arial"/>
              </a:rPr>
              <a:t>SPICLK</a:t>
            </a:r>
            <a:r>
              <a:rPr lang="en-US" sz="2200" dirty="0">
                <a:latin typeface="Atkinson Hyperlegible Next"/>
                <a:ea typeface="Arial"/>
                <a:cs typeface="Arial"/>
                <a:sym typeface="Arial"/>
              </a:rPr>
              <a:t>: The SPI serial-clock pin, supplying the synchronous heartbeat</a:t>
            </a:r>
          </a:p>
          <a:p>
            <a:pPr marL="342900">
              <a:lnSpc>
                <a:spcPct val="100000"/>
              </a:lnSpc>
              <a:spcBef>
                <a:spcPts val="0"/>
              </a:spcBef>
              <a:buSzPts val="3000"/>
            </a:pPr>
            <a:r>
              <a:rPr lang="en-US" sz="2200" b="1" dirty="0">
                <a:latin typeface="Atkinson Hyperlegible Next"/>
                <a:ea typeface="Arial"/>
                <a:cs typeface="Arial"/>
                <a:sym typeface="Arial"/>
              </a:rPr>
              <a:t>SPISIMO</a:t>
            </a:r>
            <a:r>
              <a:rPr lang="en-US" sz="2200" dirty="0">
                <a:latin typeface="Atkinson Hyperlegible Next"/>
                <a:ea typeface="Arial"/>
                <a:cs typeface="Arial"/>
                <a:sym typeface="Arial"/>
              </a:rPr>
              <a:t>: The SPI slave-input/master-output pin</a:t>
            </a:r>
          </a:p>
          <a:p>
            <a:pPr marL="342900">
              <a:lnSpc>
                <a:spcPct val="100000"/>
              </a:lnSpc>
              <a:spcBef>
                <a:spcPts val="0"/>
              </a:spcBef>
              <a:buSzPts val="3000"/>
            </a:pPr>
            <a:r>
              <a:rPr lang="en-US" sz="2200" b="1" dirty="0">
                <a:latin typeface="Atkinson Hyperlegible Next"/>
                <a:ea typeface="Arial"/>
                <a:cs typeface="Arial"/>
                <a:sym typeface="Arial"/>
              </a:rPr>
              <a:t>SPISOMI</a:t>
            </a:r>
            <a:r>
              <a:rPr lang="en-US" sz="2200" dirty="0">
                <a:latin typeface="Atkinson Hyperlegible Next"/>
                <a:ea typeface="Arial"/>
                <a:cs typeface="Arial"/>
                <a:sym typeface="Arial"/>
              </a:rPr>
              <a:t>: The SPI slave-output/master-input pin</a:t>
            </a:r>
          </a:p>
          <a:p>
            <a:pPr marL="342900">
              <a:lnSpc>
                <a:spcPct val="100000"/>
              </a:lnSpc>
              <a:spcBef>
                <a:spcPts val="0"/>
              </a:spcBef>
              <a:buSzPts val="3000"/>
            </a:pPr>
            <a:r>
              <a:rPr lang="en-US" sz="2200" b="1" dirty="0">
                <a:latin typeface="Atkinson Hyperlegible Next"/>
                <a:ea typeface="Arial"/>
                <a:cs typeface="Arial"/>
                <a:sym typeface="Arial"/>
              </a:rPr>
              <a:t>SPISTE</a:t>
            </a:r>
            <a:r>
              <a:rPr lang="en-US" sz="2200" dirty="0">
                <a:latin typeface="Atkinson Hyperlegible Next"/>
                <a:ea typeface="Arial"/>
                <a:cs typeface="Arial"/>
                <a:sym typeface="Arial"/>
              </a:rPr>
              <a:t>: The SPI slave transmit-enable pin</a:t>
            </a:r>
          </a:p>
          <a:p>
            <a:pPr marL="342900">
              <a:lnSpc>
                <a:spcPct val="100000"/>
              </a:lnSpc>
              <a:spcBef>
                <a:spcPts val="0"/>
              </a:spcBef>
              <a:buSzPts val="3000"/>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All four pins can be used as general-purpose input/output (GPIO) if the SPI module is not used by the system</a:t>
            </a:r>
          </a:p>
        </p:txBody>
      </p:sp>
      <p:sp>
        <p:nvSpPr>
          <p:cNvPr id="119" name="Google Shape;119;p29">
            <a:extLst>
              <a:ext uri="{FF2B5EF4-FFF2-40B4-BE49-F238E27FC236}">
                <a16:creationId xmlns:a16="http://schemas.microsoft.com/office/drawing/2014/main" id="{EF079DDE-859F-E9D9-3720-A9A3356A5B1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48E2184-734C-3F76-2088-B47AA211C9E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SPI (1/4)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7D4D1E0-C163-FF25-21C5-154E3F1F0DD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4E1C8A1-3D5D-FAEE-026C-EA4060BD4E1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F169A76-7327-DD1A-A2D7-23AE12B2728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15A0E1A-B050-59B2-7D49-9ABFA49806D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C85F99C-6AB8-F792-22F0-1FBE0EB322A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DD5F7B6-1199-C945-4990-D5060D2827A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49058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9" end="9"/>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7284FE1-E9DC-00E6-F6E2-1C2ADDE3524D}"/>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806C2B6D-7F85-67B2-82D3-79A52FA6B4C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FEDFDCD-1998-A83B-83AC-BED243396EA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SPI (2/4)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F3E8680-590F-D210-2EF1-48F36467A7E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B34A491-FDC4-1DBB-9AEF-4B8F9E3012B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D146B73-6142-3914-2DBC-2787FD31694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B308452-7851-4648-D289-D31D5BC2546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010588B-D5F2-FD61-0FC5-32A96DBED91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B79F794-D3EF-A710-8C64-EB005E0D4AB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Block diagram of the SPI module's CPU interface. The CPU's SYSCLK feeds a low-speed prescaler, producing LSPCLK, which is ANDed with an enable bit from register PCLKCR8 to form the SPI bit clock. SYSCLK and the reset signal SYSRS also go directly to the SPI. The SPI exchanges SPISIMO, SPISOMI, SPICLK and SPISTE-bar (active low) with the GPIO mux. It sends interrupts SPIINT and SPITXINT to the PIE and DMA requests SPIRXDMA and SPITXDMA to the DMA. CPU, SPI, PIE and DMA share a peripheral bus.">
            <a:extLst>
              <a:ext uri="{FF2B5EF4-FFF2-40B4-BE49-F238E27FC236}">
                <a16:creationId xmlns:a16="http://schemas.microsoft.com/office/drawing/2014/main" id="{37104FA7-F39F-8F31-1F55-4826818DCDA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85950" y="1095675"/>
            <a:ext cx="8420100" cy="5341385"/>
          </a:xfrm>
          <a:prstGeom prst="rect">
            <a:avLst/>
          </a:prstGeom>
        </p:spPr>
      </p:pic>
    </p:spTree>
    <p:extLst>
      <p:ext uri="{BB962C8B-B14F-4D97-AF65-F5344CB8AC3E}">
        <p14:creationId xmlns:p14="http://schemas.microsoft.com/office/powerpoint/2010/main" val="13722455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43AE2F2-612A-CC5F-B7D8-E007D6231DF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3E7553C-0531-1539-0A26-90E4725B384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200" dirty="0">
                <a:latin typeface="Atkinson Hyperlegible Next"/>
                <a:ea typeface="Arial"/>
                <a:cs typeface="Arial"/>
                <a:sym typeface="Arial"/>
              </a:rPr>
              <a:t>Has 2 interrupt signal:</a:t>
            </a:r>
          </a:p>
          <a:p>
            <a:pPr marL="0" lvl="0" indent="0" algn="l" rtl="0">
              <a:lnSpc>
                <a:spcPct val="100000"/>
              </a:lnSpc>
              <a:spcBef>
                <a:spcPts val="0"/>
              </a:spcBef>
              <a:spcAft>
                <a:spcPts val="0"/>
              </a:spcAft>
              <a:buSzPts val="3000"/>
              <a:buNone/>
            </a:pPr>
            <a:endParaRPr lang="en-US" sz="2200" dirty="0">
              <a:latin typeface="Atkinson Hyperlegible Next"/>
              <a:ea typeface="Arial"/>
              <a:cs typeface="Arial"/>
              <a:sym typeface="Arial"/>
            </a:endParaRPr>
          </a:p>
          <a:p>
            <a:pPr marL="342900">
              <a:lnSpc>
                <a:spcPct val="100000"/>
              </a:lnSpc>
              <a:spcBef>
                <a:spcPts val="0"/>
              </a:spcBef>
              <a:buSzPts val="3000"/>
            </a:pPr>
            <a:r>
              <a:rPr lang="en-US" sz="2200" b="1" dirty="0">
                <a:latin typeface="Atkinson Hyperlegible Next"/>
                <a:ea typeface="Arial"/>
                <a:cs typeface="Arial"/>
                <a:sym typeface="Arial"/>
              </a:rPr>
              <a:t>SPIINT: </a:t>
            </a:r>
            <a:r>
              <a:rPr lang="en-US" sz="2400" dirty="0"/>
              <a:t>Transmit interrupt/ Receive Interrupt in non-FIFO mode</a:t>
            </a:r>
            <a:endParaRPr lang="en-US" sz="2200" dirty="0">
              <a:latin typeface="Atkinson Hyperlegible Next"/>
              <a:ea typeface="Arial"/>
              <a:cs typeface="Arial"/>
              <a:sym typeface="Arial"/>
            </a:endParaRPr>
          </a:p>
          <a:p>
            <a:pPr marL="342900">
              <a:lnSpc>
                <a:spcPct val="100000"/>
              </a:lnSpc>
              <a:spcBef>
                <a:spcPts val="0"/>
              </a:spcBef>
              <a:buSzPts val="3000"/>
            </a:pPr>
            <a:r>
              <a:rPr lang="en-US" sz="2400" b="1" dirty="0"/>
              <a:t>SPIRXINT: </a:t>
            </a:r>
            <a:r>
              <a:rPr lang="en-US" sz="2400" dirty="0"/>
              <a:t>Receive interrupt in FIFO mode</a:t>
            </a:r>
            <a:endParaRPr lang="en-US" sz="2400" b="1" dirty="0">
              <a:latin typeface="Atkinson Hyperlegible Next"/>
              <a:ea typeface="Arial"/>
              <a:cs typeface="Arial"/>
              <a:sym typeface="Arial"/>
            </a:endParaRPr>
          </a:p>
          <a:p>
            <a:pPr marL="342900">
              <a:lnSpc>
                <a:spcPct val="100000"/>
              </a:lnSpc>
              <a:spcBef>
                <a:spcPts val="0"/>
              </a:spcBef>
              <a:buSzPts val="3000"/>
            </a:pPr>
            <a:r>
              <a:rPr lang="en-US" sz="2400" b="1" dirty="0"/>
              <a:t>SPITXINT: </a:t>
            </a:r>
            <a:r>
              <a:rPr lang="en-US" sz="2400" dirty="0"/>
              <a:t>Transmit interrupt in FIFO mode</a:t>
            </a:r>
          </a:p>
          <a:p>
            <a:pPr marL="342900">
              <a:lnSpc>
                <a:spcPct val="100000"/>
              </a:lnSpc>
              <a:spcBef>
                <a:spcPts val="0"/>
              </a:spcBef>
              <a:buSzPts val="3000"/>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Can also integrate with the DMA (limited to 16-bit register read/writes and only works when FIFO is enabled)</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342900">
              <a:lnSpc>
                <a:spcPct val="100000"/>
              </a:lnSpc>
              <a:spcBef>
                <a:spcPts val="0"/>
              </a:spcBef>
              <a:buSzPts val="3000"/>
            </a:pPr>
            <a:r>
              <a:rPr lang="en-US" sz="2400" b="1" dirty="0"/>
              <a:t>SPITXDMA</a:t>
            </a:r>
            <a:r>
              <a:rPr lang="en-US" sz="2400" dirty="0"/>
              <a:t>: Transmit request to DMA</a:t>
            </a:r>
          </a:p>
          <a:p>
            <a:pPr marL="342900">
              <a:lnSpc>
                <a:spcPct val="100000"/>
              </a:lnSpc>
              <a:spcBef>
                <a:spcPts val="0"/>
              </a:spcBef>
              <a:buSzPts val="3000"/>
            </a:pPr>
            <a:r>
              <a:rPr lang="en-US" sz="2400" b="1" dirty="0"/>
              <a:t>SPIRXDMA</a:t>
            </a:r>
            <a:r>
              <a:rPr lang="en-US" sz="2400" dirty="0"/>
              <a:t>: Receive request to DMA</a:t>
            </a:r>
            <a:endParaRPr lang="en-US" sz="22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33F3420D-6516-22E6-540E-5B0DC22D051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9BB4F42-B762-AEC8-AFB4-1592EEDFE44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SPI (3/4)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8368B17-F3B3-6B98-394A-4630CA7AB39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FC44A90-552A-61EC-FC7F-1EF1871CEE4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3C8BAC4-F5DD-AC2B-F80A-82EA81698EC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037CB65-1BC5-3AB7-0D3A-44F23A62DF0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FB69A63-BE9E-B097-BFD7-FD5DF9B1EA7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1A760E7-FAF0-6AEA-584E-2951423815A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439606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8BBB06D-4537-9077-FC64-31B182D1D6F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2FD9E63C-2556-595F-62E4-10FF5188E35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000" dirty="0">
                    <a:latin typeface="Atkinson Hyperlegible Next"/>
                    <a:ea typeface="Arial"/>
                    <a:cs typeface="Arial"/>
                    <a:sym typeface="Arial"/>
                  </a:rPr>
                  <a:t>The SPI module supports 125 different baud rates using the SPIBRR register:</a:t>
                </a:r>
              </a:p>
              <a:p>
                <a:pPr marL="0" lvl="0" indent="0" algn="l" rtl="0">
                  <a:lnSpc>
                    <a:spcPct val="100000"/>
                  </a:lnSpc>
                  <a:spcBef>
                    <a:spcPts val="0"/>
                  </a:spcBef>
                  <a:spcAft>
                    <a:spcPts val="0"/>
                  </a:spcAft>
                  <a:buSzPts val="3000"/>
                  <a:buNone/>
                </a:pPr>
                <a:endParaRPr lang="en-US" sz="20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000" dirty="0">
                    <a:latin typeface="Atkinson Hyperlegible Next"/>
                    <a:ea typeface="Arial"/>
                    <a:cs typeface="Arial"/>
                    <a:sym typeface="Arial"/>
                  </a:rPr>
                  <a:t>For SPIBRR = 3 to 127:</a:t>
                </a:r>
              </a:p>
              <a:p>
                <a:pPr marL="0" lvl="0" indent="0" algn="l" rtl="0">
                  <a:lnSpc>
                    <a:spcPct val="100000"/>
                  </a:lnSpc>
                  <a:spcBef>
                    <a:spcPts val="0"/>
                  </a:spcBef>
                  <a:spcAft>
                    <a:spcPts val="0"/>
                  </a:spcAft>
                  <a:buSzPts val="3000"/>
                  <a:buNone/>
                </a:pPr>
                <a:endParaRPr lang="en-US" sz="20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14:m>
                  <m:oMathPara xmlns:m="http://schemas.openxmlformats.org/officeDocument/2006/math">
                    <m:oMathParaPr>
                      <m:jc m:val="centerGroup"/>
                    </m:oMathParaPr>
                    <m:oMath xmlns:m="http://schemas.openxmlformats.org/officeDocument/2006/math">
                      <m:r>
                        <m:rPr>
                          <m:sty m:val="p"/>
                        </m:rPr>
                        <a:rPr lang="en-US" sz="2000" b="0" i="1" smtClean="0">
                          <a:latin typeface="Cambria Math" panose="02040503050406030204" pitchFamily="18" charset="0"/>
                          <a:ea typeface="Arial"/>
                          <a:cs typeface="Arial"/>
                          <a:sym typeface="Arial"/>
                        </a:rPr>
                        <m:t>SPI</m:t>
                      </m:r>
                      <m:r>
                        <a:rPr lang="en-US" sz="2000" b="0" i="1" smtClean="0">
                          <a:latin typeface="Cambria Math" panose="02040503050406030204" pitchFamily="18" charset="0"/>
                          <a:ea typeface="Arial"/>
                          <a:cs typeface="Arial"/>
                          <a:sym typeface="Arial"/>
                        </a:rPr>
                        <m:t> </m:t>
                      </m:r>
                      <m:r>
                        <m:rPr>
                          <m:sty m:val="p"/>
                        </m:rPr>
                        <a:rPr lang="en-US" sz="2000" b="0" i="1" smtClean="0">
                          <a:latin typeface="Cambria Math" panose="02040503050406030204" pitchFamily="18" charset="0"/>
                          <a:ea typeface="Arial"/>
                          <a:cs typeface="Arial"/>
                          <a:sym typeface="Arial"/>
                        </a:rPr>
                        <m:t>Baud</m:t>
                      </m:r>
                      <m:r>
                        <a:rPr lang="en-US" sz="2000" b="0" i="1" smtClean="0">
                          <a:latin typeface="Cambria Math" panose="02040503050406030204" pitchFamily="18" charset="0"/>
                          <a:ea typeface="Arial"/>
                          <a:cs typeface="Arial"/>
                          <a:sym typeface="Arial"/>
                        </a:rPr>
                        <m:t> </m:t>
                      </m:r>
                      <m:r>
                        <m:rPr>
                          <m:sty m:val="p"/>
                        </m:rPr>
                        <a:rPr lang="en-US" sz="2000" b="0" i="1" smtClean="0">
                          <a:latin typeface="Cambria Math" panose="02040503050406030204" pitchFamily="18" charset="0"/>
                          <a:ea typeface="Arial"/>
                          <a:cs typeface="Arial"/>
                          <a:sym typeface="Arial"/>
                        </a:rPr>
                        <m:t>Rate</m:t>
                      </m:r>
                      <m:r>
                        <a:rPr lang="en-US" sz="2000" b="0" i="1" smtClean="0">
                          <a:latin typeface="Cambria Math" panose="02040503050406030204" pitchFamily="18" charset="0"/>
                          <a:ea typeface="Arial"/>
                          <a:cs typeface="Arial"/>
                          <a:sym typeface="Arial"/>
                        </a:rPr>
                        <m:t> = </m:t>
                      </m:r>
                      <m:f>
                        <m:fPr>
                          <m:ctrlPr>
                            <a:rPr lang="en-US" sz="2000" b="0" i="1" smtClean="0">
                              <a:latin typeface="Cambria Math" panose="02040503050406030204" pitchFamily="18" charset="0"/>
                              <a:cs typeface="Arial"/>
                              <a:sym typeface="Arial"/>
                            </a:rPr>
                          </m:ctrlPr>
                        </m:fPr>
                        <m:num>
                          <m:r>
                            <m:rPr>
                              <m:sty m:val="p"/>
                            </m:rPr>
                            <a:rPr lang="en-US" sz="2000" b="0" i="1" smtClean="0">
                              <a:latin typeface="Cambria Math" panose="02040503050406030204" pitchFamily="18" charset="0"/>
                              <a:cs typeface="Arial"/>
                              <a:sym typeface="Arial"/>
                            </a:rPr>
                            <m:t>LSPCLK</m:t>
                          </m:r>
                        </m:num>
                        <m:den>
                          <m:r>
                            <m:rPr>
                              <m:sty m:val="p"/>
                            </m:rPr>
                            <a:rPr lang="en-US" sz="2000" b="0" i="1" smtClean="0">
                              <a:latin typeface="Cambria Math" panose="02040503050406030204" pitchFamily="18" charset="0"/>
                              <a:cs typeface="Arial"/>
                              <a:sym typeface="Arial"/>
                            </a:rPr>
                            <m:t>SPIBRR</m:t>
                          </m:r>
                          <m:r>
                            <a:rPr lang="en-US" sz="2000" b="0" i="1" smtClean="0">
                              <a:latin typeface="Cambria Math" panose="02040503050406030204" pitchFamily="18" charset="0"/>
                              <a:cs typeface="Arial"/>
                              <a:sym typeface="Arial"/>
                            </a:rPr>
                            <m:t> + 1</m:t>
                          </m:r>
                        </m:den>
                      </m:f>
                    </m:oMath>
                  </m:oMathPara>
                </a14:m>
                <a:endParaRPr lang="en-US" sz="20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endParaRPr lang="en-US" sz="20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000" dirty="0">
                    <a:latin typeface="Atkinson Hyperlegible Next"/>
                    <a:ea typeface="Arial"/>
                    <a:cs typeface="Arial"/>
                    <a:sym typeface="Arial"/>
                  </a:rPr>
                  <a:t>For SPIBRR = 0, 1, or 2:</a:t>
                </a:r>
              </a:p>
              <a:p>
                <a:pPr marL="0" lvl="0" indent="0" algn="l" rtl="0">
                  <a:lnSpc>
                    <a:spcPct val="100000"/>
                  </a:lnSpc>
                  <a:spcBef>
                    <a:spcPts val="0"/>
                  </a:spcBef>
                  <a:spcAft>
                    <a:spcPts val="0"/>
                  </a:spcAft>
                  <a:buSzPts val="3000"/>
                  <a:buNone/>
                </a:pPr>
                <a:endParaRPr lang="en-US" sz="2000" dirty="0">
                  <a:latin typeface="Atkinson Hyperlegible Next"/>
                  <a:ea typeface="Arial"/>
                  <a:cs typeface="Arial"/>
                  <a:sym typeface="Arial"/>
                </a:endParaRPr>
              </a:p>
              <a:p>
                <a:pPr marL="0" lv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2000" i="1">
                          <a:latin typeface="Cambria Math" panose="02040503050406030204" pitchFamily="18" charset="0"/>
                          <a:ea typeface="Arial"/>
                          <a:cs typeface="Arial"/>
                          <a:sym typeface="Arial"/>
                        </a:rPr>
                        <m:t>SPI</m:t>
                      </m:r>
                      <m:r>
                        <a:rPr lang="en-US" sz="2000" i="1">
                          <a:latin typeface="Cambria Math" panose="02040503050406030204" pitchFamily="18" charset="0"/>
                          <a:ea typeface="Arial"/>
                          <a:cs typeface="Arial"/>
                          <a:sym typeface="Arial"/>
                        </a:rPr>
                        <m:t> </m:t>
                      </m:r>
                      <m:r>
                        <m:rPr>
                          <m:sty m:val="p"/>
                        </m:rPr>
                        <a:rPr lang="en-US" sz="2000" i="1">
                          <a:latin typeface="Cambria Math" panose="02040503050406030204" pitchFamily="18" charset="0"/>
                          <a:ea typeface="Arial"/>
                          <a:cs typeface="Arial"/>
                          <a:sym typeface="Arial"/>
                        </a:rPr>
                        <m:t>Baud</m:t>
                      </m:r>
                      <m:r>
                        <a:rPr lang="en-US" sz="2000" i="1">
                          <a:latin typeface="Cambria Math" panose="02040503050406030204" pitchFamily="18" charset="0"/>
                          <a:ea typeface="Arial"/>
                          <a:cs typeface="Arial"/>
                          <a:sym typeface="Arial"/>
                        </a:rPr>
                        <m:t> </m:t>
                      </m:r>
                      <m:r>
                        <m:rPr>
                          <m:sty m:val="p"/>
                        </m:rPr>
                        <a:rPr lang="en-US" sz="2000" i="1">
                          <a:latin typeface="Cambria Math" panose="02040503050406030204" pitchFamily="18" charset="0"/>
                          <a:ea typeface="Arial"/>
                          <a:cs typeface="Arial"/>
                          <a:sym typeface="Arial"/>
                        </a:rPr>
                        <m:t>Rate</m:t>
                      </m:r>
                      <m:r>
                        <a:rPr lang="en-US" sz="2000" i="1">
                          <a:latin typeface="Cambria Math" panose="02040503050406030204" pitchFamily="18" charset="0"/>
                          <a:ea typeface="Arial"/>
                          <a:cs typeface="Arial"/>
                          <a:sym typeface="Arial"/>
                        </a:rPr>
                        <m:t> = </m:t>
                      </m:r>
                      <m:f>
                        <m:fPr>
                          <m:ctrlPr>
                            <a:rPr lang="en-US" sz="2000" i="1">
                              <a:latin typeface="Cambria Math" panose="02040503050406030204" pitchFamily="18" charset="0"/>
                              <a:cs typeface="Arial"/>
                              <a:sym typeface="Arial"/>
                            </a:rPr>
                          </m:ctrlPr>
                        </m:fPr>
                        <m:num>
                          <m:r>
                            <m:rPr>
                              <m:sty m:val="p"/>
                            </m:rPr>
                            <a:rPr lang="en-US" sz="2000" i="1">
                              <a:latin typeface="Cambria Math" panose="02040503050406030204" pitchFamily="18" charset="0"/>
                              <a:cs typeface="Arial"/>
                              <a:sym typeface="Arial"/>
                            </a:rPr>
                            <m:t>LSPCLK</m:t>
                          </m:r>
                        </m:num>
                        <m:den>
                          <m:r>
                            <a:rPr lang="en-US" sz="2000" b="0" i="1" smtClean="0">
                              <a:latin typeface="Cambria Math" panose="02040503050406030204" pitchFamily="18" charset="0"/>
                              <a:cs typeface="Arial"/>
                              <a:sym typeface="Arial"/>
                            </a:rPr>
                            <m:t>4</m:t>
                          </m:r>
                        </m:den>
                      </m:f>
                    </m:oMath>
                  </m:oMathPara>
                </a14:m>
                <a:endParaRPr lang="en-US" sz="2000" dirty="0">
                  <a:latin typeface="Atkinson Hyperlegible Next"/>
                  <a:ea typeface="Arial"/>
                  <a:cs typeface="Arial"/>
                  <a:sym typeface="Arial"/>
                </a:endParaRPr>
              </a:p>
              <a:p>
                <a:pPr marL="0" lvl="0" indent="0">
                  <a:lnSpc>
                    <a:spcPct val="100000"/>
                  </a:lnSpc>
                  <a:spcBef>
                    <a:spcPts val="0"/>
                  </a:spcBef>
                  <a:buSzPts val="3000"/>
                  <a:buNone/>
                </a:pPr>
                <a:endParaRPr lang="en-US" sz="2000" dirty="0">
                  <a:latin typeface="Atkinson Hyperlegible Next"/>
                  <a:ea typeface="Arial"/>
                  <a:cs typeface="Arial"/>
                  <a:sym typeface="Arial"/>
                </a:endParaRPr>
              </a:p>
              <a:p>
                <a:pPr marL="0" lvl="0" indent="0">
                  <a:lnSpc>
                    <a:spcPct val="100000"/>
                  </a:lnSpc>
                  <a:spcBef>
                    <a:spcPts val="0"/>
                  </a:spcBef>
                  <a:buSzPts val="3000"/>
                  <a:buNone/>
                </a:pPr>
                <a:r>
                  <a:rPr lang="en-US" sz="2000" dirty="0">
                    <a:latin typeface="Atkinson Hyperlegible Next"/>
                    <a:ea typeface="Arial"/>
                    <a:cs typeface="Arial"/>
                    <a:sym typeface="Arial"/>
                  </a:rPr>
                  <a:t>LSPCLK = Low-speed peripheral clock frequency of the device. Like the </a:t>
                </a:r>
                <a:r>
                  <a:rPr lang="en-US" sz="2000" dirty="0" err="1">
                    <a:latin typeface="Atkinson Hyperlegible Next"/>
                    <a:ea typeface="Arial"/>
                    <a:cs typeface="Arial"/>
                    <a:sym typeface="Arial"/>
                  </a:rPr>
                  <a:t>ePWM</a:t>
                </a:r>
                <a:r>
                  <a:rPr lang="en-US" sz="2000" dirty="0">
                    <a:latin typeface="Atkinson Hyperlegible Next"/>
                    <a:ea typeface="Arial"/>
                    <a:cs typeface="Arial"/>
                    <a:sym typeface="Arial"/>
                  </a:rPr>
                  <a:t> it is 50 </a:t>
                </a:r>
                <a:r>
                  <a:rPr lang="en-US" sz="2000" dirty="0" err="1">
                    <a:latin typeface="Atkinson Hyperlegible Next"/>
                    <a:ea typeface="Arial"/>
                    <a:cs typeface="Arial"/>
                    <a:sym typeface="Arial"/>
                  </a:rPr>
                  <a:t>MHz.</a:t>
                </a:r>
                <a:endParaRPr lang="en-US" sz="2000" dirty="0">
                  <a:latin typeface="Atkinson Hyperlegible Next"/>
                  <a:ea typeface="Arial"/>
                  <a:cs typeface="Arial"/>
                  <a:sym typeface="Arial"/>
                </a:endParaRPr>
              </a:p>
              <a:p>
                <a:pPr marL="0" lvl="0" indent="0">
                  <a:lnSpc>
                    <a:spcPct val="100000"/>
                  </a:lnSpc>
                  <a:spcBef>
                    <a:spcPts val="0"/>
                  </a:spcBef>
                  <a:buSzPts val="3000"/>
                  <a:buNone/>
                </a:pPr>
                <a:endParaRPr lang="en-US" sz="2000" dirty="0">
                  <a:latin typeface="Atkinson Hyperlegible Next"/>
                  <a:ea typeface="Arial"/>
                  <a:cs typeface="Arial"/>
                  <a:sym typeface="Arial"/>
                </a:endParaRPr>
              </a:p>
              <a:p>
                <a:pPr marL="0" lvl="0" indent="0">
                  <a:lnSpc>
                    <a:spcPct val="100000"/>
                  </a:lnSpc>
                  <a:spcBef>
                    <a:spcPts val="0"/>
                  </a:spcBef>
                  <a:buSzPts val="3000"/>
                  <a:buNone/>
                </a:pPr>
                <a:r>
                  <a:rPr lang="en-US" sz="2000" dirty="0">
                    <a:latin typeface="Atkinson Hyperlegible Next"/>
                    <a:ea typeface="Arial"/>
                    <a:cs typeface="Arial"/>
                    <a:sym typeface="Arial"/>
                  </a:rPr>
                  <a:t>In </a:t>
                </a:r>
                <a:r>
                  <a:rPr lang="en-US" sz="2000" b="1" dirty="0">
                    <a:latin typeface="Atkinson Hyperlegible Next"/>
                    <a:ea typeface="Arial"/>
                    <a:cs typeface="Arial"/>
                    <a:sym typeface="Arial"/>
                  </a:rPr>
                  <a:t>master </a:t>
                </a:r>
                <a:r>
                  <a:rPr lang="en-US" sz="2000" dirty="0">
                    <a:latin typeface="Atkinson Hyperlegible Next"/>
                    <a:ea typeface="Arial"/>
                    <a:cs typeface="Arial"/>
                    <a:sym typeface="Arial"/>
                  </a:rPr>
                  <a:t>mode, the SPI clock is generated by the SPI and is output on the SPICLK pin.</a:t>
                </a:r>
              </a:p>
            </p:txBody>
          </p:sp>
        </mc:Choice>
        <mc:Fallback xmlns="">
          <p:sp>
            <p:nvSpPr>
              <p:cNvPr id="118" name="Google Shape;118;p29">
                <a:extLst>
                  <a:ext uri="{FF2B5EF4-FFF2-40B4-BE49-F238E27FC236}">
                    <a16:creationId xmlns:a16="http://schemas.microsoft.com/office/drawing/2014/main" id="{2FD9E63C-2556-595F-62E4-10FF5188E35C}"/>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600" t="-63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EDFF50B-E9FC-B3C7-9FEC-89DC88149F9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D47E0A6-DA2E-EB86-1691-22841E29B9D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SPI - SPICLK</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24CB510-5B58-9C10-A961-11D38573C5E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482486C-02ED-7A58-8752-75F8FECB23A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DD08FC4-2814-698D-A874-E0FF2070ADB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3A21B5E-16C6-9F79-EE93-07B9D8409E4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FDC23B9-423F-47D4-4FC9-6DE9A444CE1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060AC62-4B23-EC82-D9B3-AB4FD309BC7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530230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8">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CC5B38E-850E-8E68-CBEB-7F0526A07FCC}"/>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62C33B7-B0F4-FE47-9A49-2B15E3D7144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3200" dirty="0">
                <a:latin typeface="Atkinson Hyperlegible Next"/>
                <a:ea typeface="Arial"/>
                <a:cs typeface="Arial"/>
                <a:sym typeface="Arial"/>
              </a:rPr>
              <a:t>The </a:t>
            </a:r>
            <a:r>
              <a:rPr lang="en-US" sz="3200" b="1" dirty="0">
                <a:latin typeface="Atkinson Hyperlegible Next"/>
                <a:ea typeface="Arial"/>
                <a:cs typeface="Arial"/>
                <a:sym typeface="Arial"/>
              </a:rPr>
              <a:t>SPISIMO</a:t>
            </a:r>
            <a:r>
              <a:rPr lang="en-US" sz="3200" dirty="0">
                <a:latin typeface="Atkinson Hyperlegible Next"/>
                <a:ea typeface="Arial"/>
                <a:cs typeface="Arial"/>
                <a:sym typeface="Arial"/>
              </a:rPr>
              <a:t> pin acts as the primary transmission pin </a:t>
            </a:r>
            <a:r>
              <a:rPr lang="en-US" sz="3200" b="1" dirty="0">
                <a:latin typeface="Atkinson Hyperlegible Next"/>
                <a:ea typeface="Arial"/>
                <a:cs typeface="Arial"/>
                <a:sym typeface="Arial"/>
              </a:rPr>
              <a:t>from </a:t>
            </a:r>
            <a:r>
              <a:rPr lang="en-US" sz="3200" dirty="0">
                <a:latin typeface="Atkinson Hyperlegible Next"/>
                <a:ea typeface="Arial"/>
                <a:cs typeface="Arial"/>
                <a:sym typeface="Arial"/>
              </a:rPr>
              <a:t>the controller </a:t>
            </a:r>
            <a:r>
              <a:rPr lang="en-US" sz="3200" b="1" dirty="0">
                <a:latin typeface="Atkinson Hyperlegible Next"/>
                <a:ea typeface="Arial"/>
                <a:cs typeface="Arial"/>
                <a:sym typeface="Arial"/>
              </a:rPr>
              <a:t>to </a:t>
            </a:r>
            <a:r>
              <a:rPr lang="en-US" sz="3200" dirty="0">
                <a:latin typeface="Atkinson Hyperlegible Next"/>
                <a:ea typeface="Arial"/>
                <a:cs typeface="Arial"/>
                <a:sym typeface="Arial"/>
              </a:rPr>
              <a:t>the peripheral</a:t>
            </a:r>
          </a:p>
          <a:p>
            <a:pPr marL="0" lvl="0" indent="0" algn="l" rtl="0">
              <a:lnSpc>
                <a:spcPct val="100000"/>
              </a:lnSpc>
              <a:spcBef>
                <a:spcPts val="0"/>
              </a:spcBef>
              <a:spcAft>
                <a:spcPts val="0"/>
              </a:spcAft>
              <a:buSzPts val="3000"/>
              <a:buNone/>
            </a:pPr>
            <a:endParaRPr lang="en-US" sz="32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3200" dirty="0">
                <a:latin typeface="Atkinson Hyperlegible Next"/>
                <a:ea typeface="Arial"/>
                <a:cs typeface="Arial"/>
                <a:sym typeface="Arial"/>
              </a:rPr>
              <a:t>If the MCU (Microcontroller Unit), is configured as the master, data is shifted out of it’s transmit buffer and onto this line!</a:t>
            </a:r>
          </a:p>
          <a:p>
            <a:pPr marL="0" lvl="0" indent="0" algn="l" rtl="0">
              <a:lnSpc>
                <a:spcPct val="100000"/>
              </a:lnSpc>
              <a:spcBef>
                <a:spcPts val="0"/>
              </a:spcBef>
              <a:spcAft>
                <a:spcPts val="0"/>
              </a:spcAft>
              <a:buSzPts val="3000"/>
              <a:buNone/>
            </a:pPr>
            <a:endParaRPr lang="en-US" sz="32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3200" dirty="0">
                <a:latin typeface="Atkinson Hyperlegible Next"/>
                <a:ea typeface="Arial"/>
                <a:cs typeface="Arial"/>
                <a:sym typeface="Arial"/>
              </a:rPr>
              <a:t>If the MCU is configured as a slave, this pin receives the incoming data from the network’s master.</a:t>
            </a:r>
          </a:p>
        </p:txBody>
      </p:sp>
      <p:sp>
        <p:nvSpPr>
          <p:cNvPr id="119" name="Google Shape;119;p29">
            <a:extLst>
              <a:ext uri="{FF2B5EF4-FFF2-40B4-BE49-F238E27FC236}">
                <a16:creationId xmlns:a16="http://schemas.microsoft.com/office/drawing/2014/main" id="{42839ED7-1F4C-B900-2BA6-2BD518035C7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04E9EFC-94D6-A915-80E2-1DB358318E3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SPI – SPISIMO (Master Output)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7942637-A915-F581-B4EB-A1FCCE7FDAD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CEE6E5A-EC5C-B965-A447-E27A9376D90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B648222-98A7-F398-4BE0-DB33A043399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3655D45-B8D6-615E-1AAB-64475BE9590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CF649C2-3366-A59C-4C99-31F2856435F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D38FF2F-DC22-3CBC-2481-AEB89D5C9FC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9556027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98ECC21-0235-5246-DCAA-F11DDAB11EC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8F0297A-E039-3270-D99A-F06B0FE740E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3200" dirty="0">
                <a:latin typeface="Atkinson Hyperlegible Next"/>
                <a:ea typeface="Arial"/>
                <a:cs typeface="Arial"/>
                <a:sym typeface="Arial"/>
              </a:rPr>
              <a:t>The </a:t>
            </a:r>
            <a:r>
              <a:rPr lang="en-US" sz="3200" b="1" dirty="0">
                <a:latin typeface="Atkinson Hyperlegible Next"/>
                <a:ea typeface="Arial"/>
                <a:cs typeface="Arial"/>
                <a:sym typeface="Arial"/>
              </a:rPr>
              <a:t>SPISOMI</a:t>
            </a:r>
            <a:r>
              <a:rPr lang="en-US" sz="3200" dirty="0">
                <a:latin typeface="Atkinson Hyperlegible Next"/>
                <a:ea typeface="Arial"/>
                <a:cs typeface="Arial"/>
                <a:sym typeface="Arial"/>
              </a:rPr>
              <a:t> pin acts as the primary receiver pin </a:t>
            </a:r>
            <a:r>
              <a:rPr lang="en-US" sz="3200" b="1" dirty="0">
                <a:latin typeface="Atkinson Hyperlegible Next"/>
                <a:ea typeface="Arial"/>
                <a:cs typeface="Arial"/>
                <a:sym typeface="Arial"/>
              </a:rPr>
              <a:t>from </a:t>
            </a:r>
            <a:r>
              <a:rPr lang="en-US" sz="3200" dirty="0">
                <a:latin typeface="Atkinson Hyperlegible Next"/>
                <a:ea typeface="Arial"/>
                <a:cs typeface="Arial"/>
                <a:sym typeface="Arial"/>
              </a:rPr>
              <a:t>the peripheral back </a:t>
            </a:r>
            <a:r>
              <a:rPr lang="en-US" sz="3200" b="1" dirty="0">
                <a:latin typeface="Atkinson Hyperlegible Next"/>
                <a:ea typeface="Arial"/>
                <a:cs typeface="Arial"/>
                <a:sym typeface="Arial"/>
              </a:rPr>
              <a:t>to </a:t>
            </a:r>
            <a:r>
              <a:rPr lang="en-US" sz="3200" dirty="0">
                <a:latin typeface="Atkinson Hyperlegible Next"/>
                <a:ea typeface="Arial"/>
                <a:cs typeface="Arial"/>
                <a:sym typeface="Arial"/>
              </a:rPr>
              <a:t>the MCU.</a:t>
            </a:r>
          </a:p>
          <a:p>
            <a:pPr marL="0" lvl="0" indent="0" algn="l" rtl="0">
              <a:lnSpc>
                <a:spcPct val="100000"/>
              </a:lnSpc>
              <a:spcBef>
                <a:spcPts val="0"/>
              </a:spcBef>
              <a:spcAft>
                <a:spcPts val="0"/>
              </a:spcAft>
              <a:buSzPts val="3000"/>
              <a:buNone/>
            </a:pPr>
            <a:endParaRPr lang="en-US" sz="32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3200" dirty="0">
                <a:latin typeface="Atkinson Hyperlegible Next"/>
                <a:ea typeface="Arial"/>
                <a:cs typeface="Arial"/>
                <a:sym typeface="Arial"/>
              </a:rPr>
              <a:t>When the SPI transmits data, it can receive characters simultaneously, placing them in the receiver buffer </a:t>
            </a:r>
            <a:r>
              <a:rPr lang="en-US" sz="3200" b="1" dirty="0">
                <a:latin typeface="Atkinson Hyperlegible Next"/>
                <a:ea typeface="Arial"/>
                <a:cs typeface="Arial"/>
                <a:sym typeface="Arial"/>
              </a:rPr>
              <a:t>SPIRXBUF</a:t>
            </a:r>
            <a:r>
              <a:rPr lang="en-US" sz="3200" dirty="0">
                <a:latin typeface="Atkinson Hyperlegible Next"/>
                <a:ea typeface="Arial"/>
                <a:cs typeface="Arial"/>
                <a:sym typeface="Arial"/>
              </a:rPr>
              <a:t>.</a:t>
            </a:r>
          </a:p>
          <a:p>
            <a:pPr marL="0" lvl="0" indent="0" algn="l" rtl="0">
              <a:lnSpc>
                <a:spcPct val="100000"/>
              </a:lnSpc>
              <a:spcBef>
                <a:spcPts val="0"/>
              </a:spcBef>
              <a:spcAft>
                <a:spcPts val="0"/>
              </a:spcAft>
              <a:buSzPts val="3000"/>
              <a:buNone/>
            </a:pPr>
            <a:endParaRPr lang="en-US" sz="32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3200" dirty="0">
                <a:latin typeface="Atkinson Hyperlegible Next"/>
                <a:ea typeface="Arial"/>
                <a:cs typeface="Arial"/>
                <a:sym typeface="Arial"/>
              </a:rPr>
              <a:t>The incoming data is stored right-justified within this register</a:t>
            </a:r>
          </a:p>
        </p:txBody>
      </p:sp>
      <p:sp>
        <p:nvSpPr>
          <p:cNvPr id="119" name="Google Shape;119;p29">
            <a:extLst>
              <a:ext uri="{FF2B5EF4-FFF2-40B4-BE49-F238E27FC236}">
                <a16:creationId xmlns:a16="http://schemas.microsoft.com/office/drawing/2014/main" id="{F046BF22-42D0-A0CC-F8E7-6E900454225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5151CF3-9331-0DAB-95B4-B76A38AB66E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SPI – SPISOMI (Master Input)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F7733BA-51E0-691E-A2A6-8C075604001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661B270-91AC-FC21-1684-D5BF10BFD4B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F023484-694F-ED8F-79BE-621AB614865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8FD1BB7-C1BB-C9C4-9EE9-E6B3B1CE5AC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E98B622-6311-731D-316D-79DD110EB47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5354B45-ACCB-D00A-53C6-198FAA02C81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7860240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B5CDD15-AFE6-7605-AF0A-5D10FB2F48A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BCF4FB4-1BEA-AC6A-3F06-DD74FDFE7AB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dirty="0">
                <a:latin typeface="Atkinson Hyperlegible Next"/>
                <a:ea typeface="Arial"/>
                <a:cs typeface="Arial"/>
                <a:sym typeface="Arial"/>
              </a:rPr>
              <a:t>The </a:t>
            </a:r>
            <a:r>
              <a:rPr lang="en-US" b="1" dirty="0">
                <a:latin typeface="Atkinson Hyperlegible Next"/>
                <a:ea typeface="Arial"/>
                <a:cs typeface="Arial"/>
                <a:sym typeface="Arial"/>
              </a:rPr>
              <a:t>SPISTE</a:t>
            </a:r>
            <a:r>
              <a:rPr lang="en-US" dirty="0">
                <a:latin typeface="Atkinson Hyperlegible Next"/>
                <a:ea typeface="Arial"/>
                <a:cs typeface="Arial"/>
                <a:sym typeface="Arial"/>
              </a:rPr>
              <a:t> provides the ability to gate any clock and data pulses when SPI is in slave mode.</a:t>
            </a:r>
          </a:p>
          <a:p>
            <a:pPr marL="0" lvl="0" indent="0" algn="l" rtl="0">
              <a:lnSpc>
                <a:spcPct val="100000"/>
              </a:lnSpc>
              <a:spcBef>
                <a:spcPts val="0"/>
              </a:spcBef>
              <a:spcAft>
                <a:spcPts val="0"/>
              </a:spcAft>
              <a:buSzPts val="3000"/>
              <a:buNone/>
            </a:pPr>
            <a:endParaRPr lang="en-US" b="1"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dirty="0">
                <a:latin typeface="Atkinson Hyperlegible Next"/>
                <a:ea typeface="Arial"/>
                <a:cs typeface="Arial"/>
                <a:sym typeface="Arial"/>
              </a:rPr>
              <a:t>An active </a:t>
            </a:r>
            <a:r>
              <a:rPr lang="en-US" b="1" dirty="0">
                <a:latin typeface="Atkinson Hyperlegible Next"/>
                <a:ea typeface="Arial"/>
                <a:cs typeface="Arial"/>
                <a:sym typeface="Arial"/>
              </a:rPr>
              <a:t>SPISTE</a:t>
            </a:r>
            <a:r>
              <a:rPr lang="en-US" dirty="0">
                <a:latin typeface="Atkinson Hyperlegible Next"/>
                <a:ea typeface="Arial"/>
                <a:cs typeface="Arial"/>
                <a:sym typeface="Arial"/>
              </a:rPr>
              <a:t> will not allow the slave to receive data, preventing the SPI slave from losing synchronization with the master.</a:t>
            </a:r>
          </a:p>
          <a:p>
            <a:pPr marL="0" lvl="0" indent="0" algn="l" rtl="0">
              <a:lnSpc>
                <a:spcPct val="100000"/>
              </a:lnSpc>
              <a:spcBef>
                <a:spcPts val="0"/>
              </a:spcBef>
              <a:spcAft>
                <a:spcPts val="0"/>
              </a:spcAft>
              <a:buSzPts val="3000"/>
              <a:buNone/>
            </a:pPr>
            <a:endParaRPr lang="en-US"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dirty="0">
                <a:latin typeface="Atkinson Hyperlegible Next"/>
                <a:ea typeface="Arial"/>
                <a:cs typeface="Arial"/>
                <a:sym typeface="Arial"/>
              </a:rPr>
              <a:t>Toggling the </a:t>
            </a:r>
            <a:r>
              <a:rPr lang="en-US" b="1" dirty="0">
                <a:latin typeface="Atkinson Hyperlegible Next"/>
                <a:ea typeface="Arial"/>
                <a:cs typeface="Arial"/>
                <a:sym typeface="Arial"/>
              </a:rPr>
              <a:t>SPISWRESET</a:t>
            </a:r>
            <a:r>
              <a:rPr lang="en-US" dirty="0">
                <a:latin typeface="Atkinson Hyperlegible Next"/>
                <a:ea typeface="Arial"/>
                <a:cs typeface="Arial"/>
                <a:sym typeface="Arial"/>
              </a:rPr>
              <a:t> bit will reset the internal bit counter and allow a desynchronized slave to recover.</a:t>
            </a:r>
          </a:p>
        </p:txBody>
      </p:sp>
      <p:sp>
        <p:nvSpPr>
          <p:cNvPr id="119" name="Google Shape;119;p29">
            <a:extLst>
              <a:ext uri="{FF2B5EF4-FFF2-40B4-BE49-F238E27FC236}">
                <a16:creationId xmlns:a16="http://schemas.microsoft.com/office/drawing/2014/main" id="{5A261050-3D7F-6018-7427-007591F52CC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24DB46D-7DC0-1270-25F4-79CD5E23CB1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SPI – SPISTE (Slave Transmit Enable)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DAF2B11-7E8E-42B6-5552-09139306962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0E403C6-A5BF-3150-F5E8-3769EB52BCD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2AEFCE6-D04D-2467-7F9B-4D9682032A6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38020E7-89E1-8AA3-4761-AEA9005F481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B5672D0-3BEB-B5C3-3FAA-184428A1CD4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A9B83F0-E7F8-E3E7-B860-5F7CA01C60F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8464402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3484EB3-7ADF-0B3F-6113-7663E2C8DED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3303FD9-BEA6-DF6F-19C6-CD5B716D0E7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5DB55C3-4C34-072B-DAEC-F7505A532E8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SPI (4/4)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C1D719C-887E-69EF-24D6-1AE1DF131C5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C2B721C-3728-4781-3E59-328508D8BE4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8682E44-516C-34BD-9D39-6B6247AA592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A40C99F-96E8-B584-FFCB-39C3C5F41F6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DEE1D6E-8EDE-8B12-8BF5-527E6108362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458611A-0B1D-B91D-EE2C-ADB66C17B40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5" name="TextBox 4">
            <a:extLst>
              <a:ext uri="{FF2B5EF4-FFF2-40B4-BE49-F238E27FC236}">
                <a16:creationId xmlns:a16="http://schemas.microsoft.com/office/drawing/2014/main" id="{F2EE5986-6E63-AB28-8A27-F0791EBCC56F}"/>
              </a:ext>
            </a:extLst>
          </p:cNvPr>
          <p:cNvSpPr txBox="1"/>
          <p:nvPr/>
        </p:nvSpPr>
        <p:spPr>
          <a:xfrm>
            <a:off x="4839249" y="6251431"/>
            <a:ext cx="3619500" cy="253916"/>
          </a:xfrm>
          <a:prstGeom prst="rect">
            <a:avLst/>
          </a:prstGeom>
          <a:noFill/>
        </p:spPr>
        <p:txBody>
          <a:bodyPr wrap="square">
            <a:spAutoFit/>
          </a:bodyPr>
          <a:lstStyle/>
          <a:p>
            <a:pPr algn="ctr"/>
            <a:r>
              <a:rPr lang="en-US" sz="1050" dirty="0">
                <a:hlinkClick r:id="rId4"/>
              </a:rPr>
              <a:t>https://en.wikipedia.org/wiki/Serial_Peripheral_Interface</a:t>
            </a:r>
            <a:r>
              <a:rPr lang="en-US" sz="1050" dirty="0"/>
              <a:t> </a:t>
            </a:r>
          </a:p>
        </p:txBody>
      </p:sp>
      <p:pic>
        <p:nvPicPr>
          <p:cNvPr id="7" name="Picture 6" descr="SPI data exchange between a Master and a Slave, each with an empty 8-bit shift register above a memory array. The master's memory holds bytes M0 to M7; the slave's holds S0 to S15. SCK and MOSI run from master to slave, entering the slave register's left end. MISO runs from the slave register's rightmost bit back to the master register's leftmost bit. The two registers form a loop, so each clock pulse shifts one bit each way, swapping register contents.">
            <a:extLst>
              <a:ext uri="{FF2B5EF4-FFF2-40B4-BE49-F238E27FC236}">
                <a16:creationId xmlns:a16="http://schemas.microsoft.com/office/drawing/2014/main" id="{647DD6B5-C8C7-BE73-FB99-988487132B67}"/>
              </a:ext>
            </a:extLst>
          </p:cNvPr>
          <p:cNvPicPr>
            <a:picLocks noChangeAspect="1"/>
          </p:cNvPicPr>
          <p:nvPr/>
        </p:nvPicPr>
        <p:blipFill>
          <a:blip r:embed="rId5"/>
          <a:stretch>
            <a:fillRect/>
          </a:stretch>
        </p:blipFill>
        <p:spPr>
          <a:xfrm>
            <a:off x="423862" y="2081212"/>
            <a:ext cx="11344275" cy="2695575"/>
          </a:xfrm>
          <a:prstGeom prst="rect">
            <a:avLst/>
          </a:prstGeom>
        </p:spPr>
      </p:pic>
    </p:spTree>
    <p:extLst>
      <p:ext uri="{BB962C8B-B14F-4D97-AF65-F5344CB8AC3E}">
        <p14:creationId xmlns:p14="http://schemas.microsoft.com/office/powerpoint/2010/main" val="25095777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7117FF3-D79A-4E6D-75C3-CE94ED729B6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F2FD01B-408F-E151-CDE7-E4201C6F18F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The system can be compressed by setting the </a:t>
            </a:r>
            <a:r>
              <a:rPr lang="en-US" sz="1800" b="1" dirty="0">
                <a:latin typeface="Atkinson Hyperlegible Next"/>
                <a:ea typeface="Arial"/>
                <a:cs typeface="Arial"/>
                <a:sym typeface="Arial"/>
              </a:rPr>
              <a:t>TRIWIRE</a:t>
            </a:r>
            <a:r>
              <a:rPr lang="en-US" sz="1800" dirty="0">
                <a:latin typeface="Atkinson Hyperlegible Next"/>
                <a:ea typeface="Arial"/>
                <a:cs typeface="Arial"/>
                <a:sym typeface="Arial"/>
              </a:rPr>
              <a:t> bit to 1, enabling a 3-wire SPI mode.</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SPI 3-wire mode allows for SPI communication over three pins instead of the normal four pins.</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Because in 3-wire mode, the receive and transmit paths within the SPI are connected, any data transmitted by the SPI module is also received by itself. The application software must take care to perform a dummy read to clear the SPI data register of the additional received data.</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This helps reduce pin count on your microcontroller when interfacing with peripherals that do not require full-duplex communication.</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If you only need to send/read commands and occasionally read/send data (not simultaneously), 3-wire saves wiring complexity without losing functionality.</a:t>
            </a:r>
          </a:p>
        </p:txBody>
      </p:sp>
      <p:sp>
        <p:nvSpPr>
          <p:cNvPr id="119" name="Google Shape;119;p29">
            <a:extLst>
              <a:ext uri="{FF2B5EF4-FFF2-40B4-BE49-F238E27FC236}">
                <a16:creationId xmlns:a16="http://schemas.microsoft.com/office/drawing/2014/main" id="{7BFEB8EA-0E4F-2EAC-C59E-34F83F5376C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E60C4D4-092F-24FC-70E2-4A6FDF1DC1D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SPI – 3-wire mode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EC345F1-C0B5-77BF-2EFC-16C759F24F8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C3A5B73-18EC-95BA-6963-29C225325AB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FB7D5C2-0E3C-4C21-2AA2-DF365254E17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104E95C-CB19-D7B8-C42C-39E4409048B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B7DD552-0BF9-485D-B66F-19FCBB77910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B00B087-3BE3-41E6-55F8-128DC1FFB57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37383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DF1D52B-88FB-4B21-6A7A-48542FFB119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AB5E393-A3EA-A3F7-16EC-C7934B6E0CA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To successfully transmit data, the master and slave must share an identical clock wave mapping.</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The clock polarity select bit (</a:t>
            </a:r>
            <a:r>
              <a:rPr lang="en-US" sz="1800" b="1" dirty="0">
                <a:latin typeface="Atkinson Hyperlegible Next"/>
                <a:ea typeface="Arial"/>
                <a:cs typeface="Arial"/>
                <a:sym typeface="Arial"/>
              </a:rPr>
              <a:t>CLKPOLARITY</a:t>
            </a:r>
            <a:r>
              <a:rPr lang="en-US" sz="1800" dirty="0">
                <a:latin typeface="Atkinson Hyperlegible Next"/>
                <a:ea typeface="Arial"/>
                <a:cs typeface="Arial"/>
                <a:sym typeface="Arial"/>
              </a:rPr>
              <a:t>) and the clock phase select bit (</a:t>
            </a:r>
            <a:r>
              <a:rPr lang="en-US" sz="1800" b="1" dirty="0">
                <a:latin typeface="Atkinson Hyperlegible Next"/>
                <a:ea typeface="Arial"/>
                <a:cs typeface="Arial"/>
                <a:sym typeface="Arial"/>
              </a:rPr>
              <a:t>CLK_PHASE</a:t>
            </a:r>
            <a:r>
              <a:rPr lang="en-US" sz="1800" dirty="0">
                <a:latin typeface="Atkinson Hyperlegible Next"/>
                <a:ea typeface="Arial"/>
                <a:cs typeface="Arial"/>
                <a:sym typeface="Arial"/>
              </a:rPr>
              <a:t>) control four different clocking schemes on the </a:t>
            </a:r>
            <a:r>
              <a:rPr lang="en-US" sz="1800" b="1" dirty="0">
                <a:latin typeface="Atkinson Hyperlegible Next"/>
                <a:ea typeface="Arial"/>
                <a:cs typeface="Arial"/>
                <a:sym typeface="Arial"/>
              </a:rPr>
              <a:t>SPICLK</a:t>
            </a:r>
            <a:r>
              <a:rPr lang="en-US" sz="1800" dirty="0">
                <a:latin typeface="Atkinson Hyperlegible Next"/>
                <a:ea typeface="Arial"/>
                <a:cs typeface="Arial"/>
                <a:sym typeface="Arial"/>
              </a:rPr>
              <a:t> pin.</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1800" b="1" dirty="0">
                <a:latin typeface="Atkinson Hyperlegible Next"/>
                <a:ea typeface="Arial"/>
                <a:cs typeface="Arial"/>
                <a:sym typeface="Arial"/>
              </a:rPr>
              <a:t>CLKPOLARITY</a:t>
            </a:r>
            <a:r>
              <a:rPr lang="en-US" sz="1800" dirty="0">
                <a:latin typeface="Atkinson Hyperlegible Next"/>
                <a:ea typeface="Arial"/>
                <a:cs typeface="Arial"/>
                <a:sym typeface="Arial"/>
              </a:rPr>
              <a:t> selects the active edge, either rising or falling, of the clock</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1800" b="1" dirty="0">
                <a:latin typeface="Atkinson Hyperlegible Next"/>
                <a:ea typeface="Arial"/>
                <a:cs typeface="Arial"/>
                <a:sym typeface="Arial"/>
              </a:rPr>
              <a:t>CLK_PHASE </a:t>
            </a:r>
            <a:r>
              <a:rPr lang="en-US" sz="1800" dirty="0">
                <a:latin typeface="Atkinson Hyperlegible Next"/>
                <a:ea typeface="Arial"/>
                <a:cs typeface="Arial"/>
                <a:sym typeface="Arial"/>
              </a:rPr>
              <a:t>selects a half-cycle delay of the clock.</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Very dependent on your sensor, look at and understand your dataset to know what is expected!</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If </a:t>
            </a:r>
            <a:r>
              <a:rPr lang="en-US" sz="1800" b="1" dirty="0">
                <a:latin typeface="Atkinson Hyperlegible Next"/>
                <a:ea typeface="Arial"/>
                <a:cs typeface="Arial"/>
                <a:sym typeface="Arial"/>
              </a:rPr>
              <a:t>CLKPOLARITY</a:t>
            </a:r>
            <a:r>
              <a:rPr lang="en-US" sz="1800" dirty="0">
                <a:latin typeface="Atkinson Hyperlegible Next"/>
                <a:ea typeface="Arial"/>
                <a:cs typeface="Arial"/>
                <a:sym typeface="Arial"/>
              </a:rPr>
              <a:t> and </a:t>
            </a:r>
            <a:r>
              <a:rPr lang="en-US" sz="1800" b="1" dirty="0">
                <a:latin typeface="Atkinson Hyperlegible Next"/>
                <a:ea typeface="Arial"/>
                <a:cs typeface="Arial"/>
                <a:sym typeface="Arial"/>
              </a:rPr>
              <a:t>CLK_PHASE</a:t>
            </a:r>
            <a:r>
              <a:rPr lang="en-US" sz="1800" dirty="0">
                <a:latin typeface="Atkinson Hyperlegible Next"/>
                <a:ea typeface="Arial"/>
                <a:cs typeface="Arial"/>
                <a:sym typeface="Arial"/>
              </a:rPr>
              <a:t> can only 0 or 1 each, how many different modes are there available?</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gn="ctr">
              <a:lnSpc>
                <a:spcPct val="100000"/>
              </a:lnSpc>
              <a:spcBef>
                <a:spcPts val="0"/>
              </a:spcBef>
              <a:buSzPts val="3000"/>
              <a:buNone/>
            </a:pPr>
            <a:r>
              <a:rPr lang="en-US" sz="1800" dirty="0">
                <a:latin typeface="Atkinson Hyperlegible Next"/>
                <a:ea typeface="Arial"/>
                <a:cs typeface="Arial"/>
                <a:sym typeface="Arial"/>
              </a:rPr>
              <a:t>4 Modes!</a:t>
            </a:r>
          </a:p>
        </p:txBody>
      </p:sp>
      <p:sp>
        <p:nvSpPr>
          <p:cNvPr id="119" name="Google Shape;119;p29">
            <a:extLst>
              <a:ext uri="{FF2B5EF4-FFF2-40B4-BE49-F238E27FC236}">
                <a16:creationId xmlns:a16="http://schemas.microsoft.com/office/drawing/2014/main" id="{A1FC147D-272D-7DC0-8061-875C174157A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B98CECE-7032-DBE7-EA67-9F7E009C01C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SPI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E33E0F5-E0C4-C971-0B0E-56D1C80A4AE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DC46077-EA7A-7E22-65B9-D382F1C66D9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8E2001D-A723-FCCF-8558-F03BDF8E09B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10DD7F2-39FC-F4DF-DB77-DF919EB8A19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DE126E3-EED5-A37F-D56C-B51F7CA9AF9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D50334B-2460-FB7A-282A-1C50909667D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41314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D5EBC93-2C11-C4EE-C644-76FFD4B0744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799FA6D-EE91-A13E-C628-A9AFF64352A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000" dirty="0"/>
              <a:t>Rising Edge Without Delay: </a:t>
            </a:r>
            <a:r>
              <a:rPr lang="en-US" sz="2000" b="1" dirty="0"/>
              <a:t>CLKPOLARITY</a:t>
            </a:r>
            <a:r>
              <a:rPr lang="en-US" sz="2000" dirty="0"/>
              <a:t> = 0 and </a:t>
            </a:r>
            <a:r>
              <a:rPr lang="en-US" sz="2000" b="1" dirty="0"/>
              <a:t>CLK_PHASE </a:t>
            </a:r>
            <a:r>
              <a:rPr lang="en-US" sz="2000" dirty="0"/>
              <a:t>= 0</a:t>
            </a:r>
          </a:p>
          <a:p>
            <a:pPr marL="285750" indent="-285750">
              <a:lnSpc>
                <a:spcPct val="100000"/>
              </a:lnSpc>
              <a:spcBef>
                <a:spcPts val="0"/>
              </a:spcBef>
              <a:buSzPts val="3000"/>
            </a:pPr>
            <a:r>
              <a:rPr lang="en-US" sz="2000" dirty="0"/>
              <a:t>The SPI transmits data on the </a:t>
            </a:r>
            <a:r>
              <a:rPr lang="en-US" sz="2000" b="1" dirty="0"/>
              <a:t>rising edge </a:t>
            </a:r>
            <a:r>
              <a:rPr lang="en-US" sz="2000" dirty="0"/>
              <a:t>of the SPICLK signal.</a:t>
            </a:r>
          </a:p>
          <a:p>
            <a:pPr marL="285750" indent="-285750">
              <a:lnSpc>
                <a:spcPct val="100000"/>
              </a:lnSpc>
              <a:spcBef>
                <a:spcPts val="0"/>
              </a:spcBef>
              <a:buSzPts val="3000"/>
            </a:pPr>
            <a:r>
              <a:rPr lang="en-US" sz="2000" dirty="0"/>
              <a:t>The SPI receives data on the </a:t>
            </a:r>
            <a:r>
              <a:rPr lang="en-US" sz="2000" b="1" dirty="0"/>
              <a:t>falling edge </a:t>
            </a:r>
            <a:r>
              <a:rPr lang="en-US" sz="2000" dirty="0"/>
              <a:t>of the SPICLK signal.</a:t>
            </a:r>
          </a:p>
          <a:p>
            <a:pPr marL="0" indent="0">
              <a:lnSpc>
                <a:spcPct val="100000"/>
              </a:lnSpc>
              <a:spcBef>
                <a:spcPts val="0"/>
              </a:spcBef>
              <a:buSzPts val="3000"/>
              <a:buNone/>
            </a:pPr>
            <a:endParaRPr lang="en-US" sz="2000" dirty="0"/>
          </a:p>
          <a:p>
            <a:pPr marL="0" indent="0">
              <a:lnSpc>
                <a:spcPct val="100000"/>
              </a:lnSpc>
              <a:spcBef>
                <a:spcPts val="0"/>
              </a:spcBef>
              <a:buSzPts val="3000"/>
              <a:buNone/>
            </a:pPr>
            <a:r>
              <a:rPr lang="en-US" sz="2000" dirty="0"/>
              <a:t>Rising Edge With Delay: </a:t>
            </a:r>
            <a:r>
              <a:rPr lang="en-US" sz="2000" b="1" dirty="0"/>
              <a:t>CLKPOLARITY</a:t>
            </a:r>
            <a:r>
              <a:rPr lang="en-US" sz="2000" dirty="0"/>
              <a:t> = 0 and </a:t>
            </a:r>
            <a:r>
              <a:rPr lang="en-US" sz="2000" b="1" dirty="0"/>
              <a:t>CLK_PHASE </a:t>
            </a:r>
            <a:r>
              <a:rPr lang="en-US" sz="2000" dirty="0"/>
              <a:t>= 1</a:t>
            </a:r>
          </a:p>
          <a:p>
            <a:pPr marL="285750" indent="-285750">
              <a:lnSpc>
                <a:spcPct val="100000"/>
              </a:lnSpc>
              <a:spcBef>
                <a:spcPts val="0"/>
              </a:spcBef>
              <a:buSzPts val="3000"/>
            </a:pPr>
            <a:r>
              <a:rPr lang="en-US" sz="2000" dirty="0">
                <a:latin typeface="Atkinson Hyperlegible Next"/>
                <a:ea typeface="Arial"/>
                <a:cs typeface="Arial"/>
                <a:sym typeface="Arial"/>
              </a:rPr>
              <a:t>The SPI transmits data </a:t>
            </a:r>
            <a:r>
              <a:rPr lang="en-US" sz="2000" b="1" dirty="0">
                <a:latin typeface="Atkinson Hyperlegible Next"/>
                <a:ea typeface="Arial"/>
                <a:cs typeface="Arial"/>
                <a:sym typeface="Arial"/>
              </a:rPr>
              <a:t>one half-cycle ahead of the rising edge</a:t>
            </a:r>
            <a:r>
              <a:rPr lang="en-US" sz="2000" dirty="0">
                <a:latin typeface="Atkinson Hyperlegible Next"/>
                <a:ea typeface="Arial"/>
                <a:cs typeface="Arial"/>
                <a:sym typeface="Arial"/>
              </a:rPr>
              <a:t> of the SPICLK signal.</a:t>
            </a:r>
          </a:p>
          <a:p>
            <a:pPr marL="285750" indent="-285750">
              <a:lnSpc>
                <a:spcPct val="100000"/>
              </a:lnSpc>
              <a:spcBef>
                <a:spcPts val="0"/>
              </a:spcBef>
              <a:buSzPts val="3000"/>
            </a:pPr>
            <a:r>
              <a:rPr lang="en-US" sz="2000" dirty="0">
                <a:latin typeface="Atkinson Hyperlegible Next"/>
                <a:ea typeface="Arial"/>
                <a:cs typeface="Arial"/>
                <a:sym typeface="Arial"/>
              </a:rPr>
              <a:t>The SPI receives data on the </a:t>
            </a:r>
            <a:r>
              <a:rPr lang="en-US" sz="2000" b="1" dirty="0">
                <a:latin typeface="Atkinson Hyperlegible Next"/>
                <a:ea typeface="Arial"/>
                <a:cs typeface="Arial"/>
                <a:sym typeface="Arial"/>
              </a:rPr>
              <a:t>rising edge </a:t>
            </a:r>
            <a:r>
              <a:rPr lang="en-US" sz="2000" dirty="0">
                <a:latin typeface="Atkinson Hyperlegible Next"/>
                <a:ea typeface="Arial"/>
                <a:cs typeface="Arial"/>
                <a:sym typeface="Arial"/>
              </a:rPr>
              <a:t>of the SPICLK signal.</a:t>
            </a:r>
          </a:p>
          <a:p>
            <a:pPr marL="285750" indent="-28575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t>Falling Edge Without Delay: </a:t>
            </a:r>
            <a:r>
              <a:rPr lang="en-US" sz="2000" b="1" dirty="0"/>
              <a:t>CLKPOLARITY</a:t>
            </a:r>
            <a:r>
              <a:rPr lang="en-US" sz="2000" dirty="0"/>
              <a:t> = 1 and </a:t>
            </a:r>
            <a:r>
              <a:rPr lang="en-US" sz="2000" b="1" dirty="0"/>
              <a:t>CLK_PHASE </a:t>
            </a:r>
            <a:r>
              <a:rPr lang="en-US" sz="2000" dirty="0"/>
              <a:t>= 0</a:t>
            </a:r>
          </a:p>
          <a:p>
            <a:pPr marL="285750" indent="-285750">
              <a:lnSpc>
                <a:spcPct val="100000"/>
              </a:lnSpc>
              <a:spcBef>
                <a:spcPts val="0"/>
              </a:spcBef>
              <a:buSzPts val="3000"/>
            </a:pPr>
            <a:r>
              <a:rPr lang="en-US" sz="2000" dirty="0">
                <a:latin typeface="Atkinson Hyperlegible Next"/>
                <a:ea typeface="Arial"/>
                <a:cs typeface="Arial"/>
                <a:sym typeface="Arial"/>
              </a:rPr>
              <a:t>The SPI transmits data </a:t>
            </a:r>
            <a:r>
              <a:rPr lang="en-US" sz="2000" b="1" dirty="0">
                <a:latin typeface="Atkinson Hyperlegible Next"/>
                <a:ea typeface="Arial"/>
                <a:cs typeface="Arial"/>
                <a:sym typeface="Arial"/>
              </a:rPr>
              <a:t>falling edge </a:t>
            </a:r>
            <a:r>
              <a:rPr lang="en-US" sz="2000" dirty="0">
                <a:latin typeface="Atkinson Hyperlegible Next"/>
                <a:ea typeface="Arial"/>
                <a:cs typeface="Arial"/>
                <a:sym typeface="Arial"/>
              </a:rPr>
              <a:t>of the SPICLK signal.</a:t>
            </a:r>
          </a:p>
          <a:p>
            <a:pPr marL="285750" indent="-285750">
              <a:lnSpc>
                <a:spcPct val="100000"/>
              </a:lnSpc>
              <a:spcBef>
                <a:spcPts val="0"/>
              </a:spcBef>
              <a:buSzPts val="3000"/>
            </a:pPr>
            <a:r>
              <a:rPr lang="en-US" sz="2000" dirty="0">
                <a:latin typeface="Atkinson Hyperlegible Next"/>
                <a:ea typeface="Arial"/>
                <a:cs typeface="Arial"/>
                <a:sym typeface="Arial"/>
              </a:rPr>
              <a:t>The SPI receives data on the </a:t>
            </a:r>
            <a:r>
              <a:rPr lang="en-US" sz="2000" b="1" dirty="0">
                <a:latin typeface="Atkinson Hyperlegible Next"/>
                <a:ea typeface="Arial"/>
                <a:cs typeface="Arial"/>
                <a:sym typeface="Arial"/>
              </a:rPr>
              <a:t>rising edge </a:t>
            </a:r>
            <a:r>
              <a:rPr lang="en-US" sz="2000" dirty="0">
                <a:latin typeface="Atkinson Hyperlegible Next"/>
                <a:ea typeface="Arial"/>
                <a:cs typeface="Arial"/>
                <a:sym typeface="Arial"/>
              </a:rPr>
              <a:t>of the SPICLK signal.</a:t>
            </a:r>
          </a:p>
          <a:p>
            <a:pPr marL="285750" indent="-285750">
              <a:lnSpc>
                <a:spcPct val="100000"/>
              </a:lnSpc>
              <a:spcBef>
                <a:spcPts val="0"/>
              </a:spcBef>
              <a:buSzPts val="3000"/>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t>Falling Edge With Delay: </a:t>
            </a:r>
            <a:r>
              <a:rPr lang="en-US" sz="2000" b="1" dirty="0"/>
              <a:t>CLKPOLARITY</a:t>
            </a:r>
            <a:r>
              <a:rPr lang="en-US" sz="2000" dirty="0"/>
              <a:t> = 1 and </a:t>
            </a:r>
            <a:r>
              <a:rPr lang="en-US" sz="2000" b="1" dirty="0"/>
              <a:t>CLK_PHASE </a:t>
            </a:r>
            <a:r>
              <a:rPr lang="en-US" sz="2000" dirty="0"/>
              <a:t>= 1</a:t>
            </a:r>
          </a:p>
          <a:p>
            <a:pPr marL="285750" indent="-285750">
              <a:lnSpc>
                <a:spcPct val="100000"/>
              </a:lnSpc>
              <a:spcBef>
                <a:spcPts val="0"/>
              </a:spcBef>
              <a:buSzPts val="3000"/>
            </a:pPr>
            <a:r>
              <a:rPr lang="en-US" sz="2000" dirty="0">
                <a:latin typeface="Atkinson Hyperlegible Next"/>
                <a:ea typeface="Arial"/>
                <a:cs typeface="Arial"/>
                <a:sym typeface="Arial"/>
              </a:rPr>
              <a:t>The SPI transmits data </a:t>
            </a:r>
            <a:r>
              <a:rPr lang="en-US" sz="2000" b="1" dirty="0">
                <a:latin typeface="Atkinson Hyperlegible Next"/>
                <a:ea typeface="Arial"/>
                <a:cs typeface="Arial"/>
                <a:sym typeface="Arial"/>
              </a:rPr>
              <a:t>one half-cycle ahead of the falling edge </a:t>
            </a:r>
            <a:r>
              <a:rPr lang="en-US" sz="2000" dirty="0">
                <a:latin typeface="Atkinson Hyperlegible Next"/>
                <a:ea typeface="Arial"/>
                <a:cs typeface="Arial"/>
                <a:sym typeface="Arial"/>
              </a:rPr>
              <a:t>of the SPICLK signal.</a:t>
            </a:r>
          </a:p>
          <a:p>
            <a:pPr marL="285750" indent="-285750">
              <a:lnSpc>
                <a:spcPct val="100000"/>
              </a:lnSpc>
              <a:spcBef>
                <a:spcPts val="0"/>
              </a:spcBef>
              <a:buSzPts val="3000"/>
            </a:pPr>
            <a:r>
              <a:rPr lang="en-US" sz="2000" dirty="0">
                <a:latin typeface="Atkinson Hyperlegible Next"/>
                <a:ea typeface="Arial"/>
                <a:cs typeface="Arial"/>
                <a:sym typeface="Arial"/>
              </a:rPr>
              <a:t>The SPI receives data on the </a:t>
            </a:r>
            <a:r>
              <a:rPr lang="en-US" sz="2000" b="1" dirty="0">
                <a:latin typeface="Atkinson Hyperlegible Next"/>
                <a:ea typeface="Arial"/>
                <a:cs typeface="Arial"/>
                <a:sym typeface="Arial"/>
              </a:rPr>
              <a:t>falling edge </a:t>
            </a:r>
            <a:r>
              <a:rPr lang="en-US" sz="2000" dirty="0">
                <a:latin typeface="Atkinson Hyperlegible Next"/>
                <a:ea typeface="Arial"/>
                <a:cs typeface="Arial"/>
                <a:sym typeface="Arial"/>
              </a:rPr>
              <a:t>of the SPICLK signal.</a:t>
            </a:r>
          </a:p>
        </p:txBody>
      </p:sp>
      <p:sp>
        <p:nvSpPr>
          <p:cNvPr id="119" name="Google Shape;119;p29">
            <a:extLst>
              <a:ext uri="{FF2B5EF4-FFF2-40B4-BE49-F238E27FC236}">
                <a16:creationId xmlns:a16="http://schemas.microsoft.com/office/drawing/2014/main" id="{F86BCD1E-9445-A503-955D-FA134776F51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2CA28CE-660E-C139-1CA5-82DBADA3930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SPI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68D80FE-A2BA-623D-4126-354579FB24C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BE91B12-4D03-F3E8-68A6-FB617718F81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CBC6453-2DBD-E3CA-28FE-E3F0C452390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354189E-21FA-7149-818C-7C8F218BA2E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DD3FC35-F134-64FE-A734-A948D473C42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0453609-3613-5B02-DD12-7E0407A4284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217154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
                                            <p:txEl>
                                              <p:pRg st="5" end="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8">
                                            <p:txEl>
                                              <p:pRg st="9" end="9"/>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12" end="1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8">
                                            <p:txEl>
                                              <p:pRg st="13" end="1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F4481CE-9E3D-FCD5-84B8-BF89B7AC129E}"/>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0821E877-0319-C596-2C2C-4303B31DC0B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74EE54B-1F1D-8250-4A09-B4AD0329075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SPI (2/3)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9A91297-B33E-FFC9-DCC4-F620390A977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A09F547-F404-6386-E268-500D5E1E35C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CFD2EE8-1927-47CB-767D-760CEB4EC35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7ACF77D-6109-E666-9335-B0C379FBF64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1831EC6-1511-0248-5425-B94CC2F3843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F65C4A2-4203-9BF1-6296-B83966E3DA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Timing diagram: TI's four SPI clock modes over an 8-bit transfer. Rising edge without delay idles low and rises at each cycle start; with delay, it rises mid-cycle. Falling edge without delay idles high and falls at each cycle start; with delay, it falls mid-cycle. The data line (SPISIMO/SPISOMI) changes at cycle boundaries, sending the MSB in cycle 1 through the LSB in cycle 8. Active-low SPISTE stays low for the whole byte, and receive latch points fall mid-cycle.">
            <a:extLst>
              <a:ext uri="{FF2B5EF4-FFF2-40B4-BE49-F238E27FC236}">
                <a16:creationId xmlns:a16="http://schemas.microsoft.com/office/drawing/2014/main" id="{9260AE3A-C439-4AAE-1D54-D8DA2A1046C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60714" y="935653"/>
            <a:ext cx="8070573" cy="5471885"/>
          </a:xfrm>
          <a:prstGeom prst="rect">
            <a:avLst/>
          </a:prstGeom>
        </p:spPr>
      </p:pic>
      <p:graphicFrame>
        <p:nvGraphicFramePr>
          <p:cNvPr id="8" name="Table 7">
            <a:extLst>
              <a:ext uri="{FF2B5EF4-FFF2-40B4-BE49-F238E27FC236}">
                <a16:creationId xmlns:a16="http://schemas.microsoft.com/office/drawing/2014/main" id="{6E144E7D-15DC-6E6F-5CFB-5C9F4BBC3A17}"/>
              </a:ext>
            </a:extLst>
          </p:cNvPr>
          <p:cNvGraphicFramePr>
            <a:graphicFrameLocks noGrp="1"/>
          </p:cNvGraphicFramePr>
          <p:nvPr/>
        </p:nvGraphicFramePr>
        <p:xfrm>
          <a:off x="117061" y="1139735"/>
          <a:ext cx="1943652" cy="3180475"/>
        </p:xfrm>
        <a:graphic>
          <a:graphicData uri="http://schemas.openxmlformats.org/drawingml/2006/table">
            <a:tbl>
              <a:tblPr firstRow="1" bandRow="1">
                <a:tableStyleId>{5C22544A-7EE6-4342-B048-85BDC9FD1C3A}</a:tableStyleId>
              </a:tblPr>
              <a:tblGrid>
                <a:gridCol w="971826">
                  <a:extLst>
                    <a:ext uri="{9D8B030D-6E8A-4147-A177-3AD203B41FA5}">
                      <a16:colId xmlns:a16="http://schemas.microsoft.com/office/drawing/2014/main" val="92026252"/>
                    </a:ext>
                  </a:extLst>
                </a:gridCol>
                <a:gridCol w="971826">
                  <a:extLst>
                    <a:ext uri="{9D8B030D-6E8A-4147-A177-3AD203B41FA5}">
                      <a16:colId xmlns:a16="http://schemas.microsoft.com/office/drawing/2014/main" val="3319111987"/>
                    </a:ext>
                  </a:extLst>
                </a:gridCol>
              </a:tblGrid>
              <a:tr h="636095">
                <a:tc>
                  <a:txBody>
                    <a:bodyPr/>
                    <a:lstStyle/>
                    <a:p>
                      <a:pPr algn="ctr"/>
                      <a:r>
                        <a:rPr lang="en-US" dirty="0"/>
                        <a:t>Polarity</a:t>
                      </a:r>
                    </a:p>
                  </a:txBody>
                  <a:tcPr anchor="ctr"/>
                </a:tc>
                <a:tc>
                  <a:txBody>
                    <a:bodyPr/>
                    <a:lstStyle/>
                    <a:p>
                      <a:pPr algn="ctr"/>
                      <a:r>
                        <a:rPr lang="en-US" dirty="0"/>
                        <a:t>Phase</a:t>
                      </a:r>
                    </a:p>
                  </a:txBody>
                  <a:tcPr anchor="ctr"/>
                </a:tc>
                <a:extLst>
                  <a:ext uri="{0D108BD9-81ED-4DB2-BD59-A6C34878D82A}">
                    <a16:rowId xmlns:a16="http://schemas.microsoft.com/office/drawing/2014/main" val="3745624164"/>
                  </a:ext>
                </a:extLst>
              </a:tr>
              <a:tr h="636095">
                <a:tc>
                  <a:txBody>
                    <a:bodyPr/>
                    <a:lstStyle/>
                    <a:p>
                      <a:pPr algn="ctr"/>
                      <a:r>
                        <a:rPr lang="en-US" dirty="0"/>
                        <a:t>0</a:t>
                      </a:r>
                    </a:p>
                  </a:txBody>
                  <a:tcPr anchor="ctr"/>
                </a:tc>
                <a:tc>
                  <a:txBody>
                    <a:bodyPr/>
                    <a:lstStyle/>
                    <a:p>
                      <a:pPr algn="ctr"/>
                      <a:r>
                        <a:rPr lang="en-US" dirty="0"/>
                        <a:t>0</a:t>
                      </a:r>
                    </a:p>
                  </a:txBody>
                  <a:tcPr anchor="ctr"/>
                </a:tc>
                <a:extLst>
                  <a:ext uri="{0D108BD9-81ED-4DB2-BD59-A6C34878D82A}">
                    <a16:rowId xmlns:a16="http://schemas.microsoft.com/office/drawing/2014/main" val="239835093"/>
                  </a:ext>
                </a:extLst>
              </a:tr>
              <a:tr h="636095">
                <a:tc>
                  <a:txBody>
                    <a:bodyPr/>
                    <a:lstStyle/>
                    <a:p>
                      <a:pPr algn="ctr"/>
                      <a:r>
                        <a:rPr lang="en-US" dirty="0"/>
                        <a:t>0</a:t>
                      </a:r>
                    </a:p>
                  </a:txBody>
                  <a:tcPr anchor="ctr"/>
                </a:tc>
                <a:tc>
                  <a:txBody>
                    <a:bodyPr/>
                    <a:lstStyle/>
                    <a:p>
                      <a:pPr algn="ctr"/>
                      <a:r>
                        <a:rPr lang="en-US" dirty="0"/>
                        <a:t>1</a:t>
                      </a:r>
                    </a:p>
                  </a:txBody>
                  <a:tcPr anchor="ctr"/>
                </a:tc>
                <a:extLst>
                  <a:ext uri="{0D108BD9-81ED-4DB2-BD59-A6C34878D82A}">
                    <a16:rowId xmlns:a16="http://schemas.microsoft.com/office/drawing/2014/main" val="4230236753"/>
                  </a:ext>
                </a:extLst>
              </a:tr>
              <a:tr h="636095">
                <a:tc>
                  <a:txBody>
                    <a:bodyPr/>
                    <a:lstStyle/>
                    <a:p>
                      <a:pPr algn="ctr"/>
                      <a:r>
                        <a:rPr lang="en-US" dirty="0"/>
                        <a:t>1</a:t>
                      </a:r>
                    </a:p>
                  </a:txBody>
                  <a:tcPr anchor="ctr"/>
                </a:tc>
                <a:tc>
                  <a:txBody>
                    <a:bodyPr/>
                    <a:lstStyle/>
                    <a:p>
                      <a:pPr algn="ctr"/>
                      <a:r>
                        <a:rPr lang="en-US" dirty="0"/>
                        <a:t>0</a:t>
                      </a:r>
                    </a:p>
                  </a:txBody>
                  <a:tcPr anchor="ctr"/>
                </a:tc>
                <a:extLst>
                  <a:ext uri="{0D108BD9-81ED-4DB2-BD59-A6C34878D82A}">
                    <a16:rowId xmlns:a16="http://schemas.microsoft.com/office/drawing/2014/main" val="477358395"/>
                  </a:ext>
                </a:extLst>
              </a:tr>
              <a:tr h="636095">
                <a:tc>
                  <a:txBody>
                    <a:bodyPr/>
                    <a:lstStyle/>
                    <a:p>
                      <a:pPr algn="ctr"/>
                      <a:r>
                        <a:rPr lang="en-US" dirty="0"/>
                        <a:t>1</a:t>
                      </a:r>
                    </a:p>
                  </a:txBody>
                  <a:tcPr anchor="ctr"/>
                </a:tc>
                <a:tc>
                  <a:txBody>
                    <a:bodyPr/>
                    <a:lstStyle/>
                    <a:p>
                      <a:pPr algn="ctr"/>
                      <a:r>
                        <a:rPr lang="en-US" dirty="0"/>
                        <a:t>1</a:t>
                      </a:r>
                    </a:p>
                  </a:txBody>
                  <a:tcPr anchor="ctr"/>
                </a:tc>
                <a:extLst>
                  <a:ext uri="{0D108BD9-81ED-4DB2-BD59-A6C34878D82A}">
                    <a16:rowId xmlns:a16="http://schemas.microsoft.com/office/drawing/2014/main" val="419066989"/>
                  </a:ext>
                </a:extLst>
              </a:tr>
            </a:tbl>
          </a:graphicData>
        </a:graphic>
      </p:graphicFrame>
    </p:spTree>
    <p:extLst>
      <p:ext uri="{BB962C8B-B14F-4D97-AF65-F5344CB8AC3E}">
        <p14:creationId xmlns:p14="http://schemas.microsoft.com/office/powerpoint/2010/main" val="23845785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8AA2D9A-4F0D-5CFB-85DD-44B83CEDC44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6037133-21E7-ABE4-E59E-4A9B8223B1CD}"/>
              </a:ext>
            </a:extLst>
          </p:cNvPr>
          <p:cNvSpPr txBox="1">
            <a:spLocks noGrp="1"/>
          </p:cNvSpPr>
          <p:nvPr>
            <p:ph type="body" idx="1"/>
          </p:nvPr>
        </p:nvSpPr>
        <p:spPr>
          <a:xfrm>
            <a:off x="214662" y="3613196"/>
            <a:ext cx="2456175" cy="567408"/>
          </a:xfrm>
          <a:prstGeom prst="rect">
            <a:avLst/>
          </a:prstGeom>
          <a:noFill/>
          <a:ln>
            <a:noFill/>
          </a:ln>
        </p:spPr>
        <p:txBody>
          <a:bodyPr spcFirstLastPara="1" wrap="square" lIns="91425" tIns="45700" rIns="91425" bIns="45700" anchor="t" anchorCtr="0">
            <a:noAutofit/>
          </a:bodyPr>
          <a:lstStyle/>
          <a:p>
            <a:pPr marL="114300" indent="0">
              <a:buNone/>
            </a:pPr>
            <a:r>
              <a:rPr lang="en-US" sz="1800" dirty="0">
                <a:solidFill>
                  <a:srgbClr val="EA0000"/>
                </a:solidFill>
                <a:latin typeface="+mj-lt"/>
              </a:rPr>
              <a:t>What is this registry?</a:t>
            </a:r>
          </a:p>
        </p:txBody>
      </p:sp>
      <p:sp>
        <p:nvSpPr>
          <p:cNvPr id="119" name="Google Shape;119;p29">
            <a:extLst>
              <a:ext uri="{FF2B5EF4-FFF2-40B4-BE49-F238E27FC236}">
                <a16:creationId xmlns:a16="http://schemas.microsoft.com/office/drawing/2014/main" id="{681A0D4A-2AF0-4D18-1D07-D3F7FD7467B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55C4FC0-2EDE-4155-F99A-16CC3D82588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SPI (3/3)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FAD2D90-87ED-5DBF-604A-DEB8B660583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FD47AF8-2E72-D5C8-70CD-DCBF1BDC313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934C81B-1250-64D2-7A40-713811B2862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9D18668-F942-CA06-845A-C4C419CE39E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D3C8662-4B20-4DF3-1908-8ED12F7FEA0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42E81C0-72AA-379C-EC70-A58A445FA19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Block diagram of TI SPI module in master mode. Words from a 16-level TX FIFO pass through SPITXBUF into the SPIDAT shift register, which shifts out on SPISIMO when TALK is enabled. Incoming bits on SPISOMI (or SPISIMO in three-wire mode, selected by TRIWIRE) shift back into SPIDAT, then go through SPIRXBUF to a 16-level RX FIFO. A state-control block clocked by LSPCLK, configured by CLKPOLARITY, CLK_PHASE, SPICHAR and SPIBRR, drives the SPICLK output and the active-low SPISTE enable.">
            <a:extLst>
              <a:ext uri="{FF2B5EF4-FFF2-40B4-BE49-F238E27FC236}">
                <a16:creationId xmlns:a16="http://schemas.microsoft.com/office/drawing/2014/main" id="{A2C751A5-B34B-D3F6-4EA0-0BA4554B903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59101" y="1015602"/>
            <a:ext cx="5752986" cy="5476401"/>
          </a:xfrm>
          <a:prstGeom prst="rect">
            <a:avLst/>
          </a:prstGeom>
        </p:spPr>
      </p:pic>
      <p:cxnSp>
        <p:nvCxnSpPr>
          <p:cNvPr id="6" name="Straight Arrow Connector 5">
            <a:extLst>
              <a:ext uri="{FF2B5EF4-FFF2-40B4-BE49-F238E27FC236}">
                <a16:creationId xmlns:a16="http://schemas.microsoft.com/office/drawing/2014/main" id="{BBDCD480-53B6-1B12-6CBE-D187B4F8A2CA}"/>
              </a:ext>
            </a:extLst>
          </p:cNvPr>
          <p:cNvCxnSpPr>
            <a:cxnSpLocks/>
            <a:stCxn id="118" idx="2"/>
          </p:cNvCxnSpPr>
          <p:nvPr/>
        </p:nvCxnSpPr>
        <p:spPr>
          <a:xfrm>
            <a:off x="1442750" y="4180604"/>
            <a:ext cx="1872772" cy="166179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D9949BA-79AB-ED08-D582-E57071277C76}"/>
              </a:ext>
            </a:extLst>
          </p:cNvPr>
          <p:cNvCxnSpPr>
            <a:cxnSpLocks/>
            <a:stCxn id="118" idx="2"/>
          </p:cNvCxnSpPr>
          <p:nvPr/>
        </p:nvCxnSpPr>
        <p:spPr>
          <a:xfrm>
            <a:off x="1442750" y="4180604"/>
            <a:ext cx="1872772" cy="138473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291793F-D77F-A632-4663-3AF450DD5C70}"/>
              </a:ext>
            </a:extLst>
          </p:cNvPr>
          <p:cNvCxnSpPr>
            <a:cxnSpLocks/>
            <a:stCxn id="118" idx="3"/>
          </p:cNvCxnSpPr>
          <p:nvPr/>
        </p:nvCxnSpPr>
        <p:spPr>
          <a:xfrm>
            <a:off x="2670837" y="3896900"/>
            <a:ext cx="64468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607E795-D483-C24E-D6A2-3DFA766E147C}"/>
              </a:ext>
            </a:extLst>
          </p:cNvPr>
          <p:cNvCxnSpPr>
            <a:cxnSpLocks/>
          </p:cNvCxnSpPr>
          <p:nvPr/>
        </p:nvCxnSpPr>
        <p:spPr>
          <a:xfrm flipV="1">
            <a:off x="2670836" y="3289209"/>
            <a:ext cx="598637" cy="59810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36D5DB3-4160-CFBF-3A0C-0D3D386919D9}"/>
              </a:ext>
            </a:extLst>
          </p:cNvPr>
          <p:cNvCxnSpPr>
            <a:cxnSpLocks/>
            <a:stCxn id="118" idx="3"/>
          </p:cNvCxnSpPr>
          <p:nvPr/>
        </p:nvCxnSpPr>
        <p:spPr>
          <a:xfrm flipV="1">
            <a:off x="2670837" y="3336139"/>
            <a:ext cx="1585399" cy="56076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1912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1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47BB3E1-6E1A-44DC-0599-20BA8D6382C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0200B1E-59A5-5DD3-C0A3-6A42067F67C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The problem is that this can only allow you to communicate to one peripheral, what about if you want to communicate multiple peripherals, i.e., addressing all your wheel motors individually?</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In many systems, a SPI master may be connected to multiple SPI slaves using multiple instances of </a:t>
            </a:r>
            <a:r>
              <a:rPr lang="en-US" sz="1800" b="1" dirty="0">
                <a:latin typeface="Atkinson Hyperlegible Next"/>
                <a:ea typeface="Arial"/>
                <a:cs typeface="Arial"/>
                <a:sym typeface="Arial"/>
              </a:rPr>
              <a:t>SPISTE</a:t>
            </a:r>
            <a:r>
              <a:rPr lang="en-US" sz="1800" dirty="0">
                <a:latin typeface="Atkinson Hyperlegible Next"/>
                <a:ea typeface="Arial"/>
                <a:cs typeface="Arial"/>
                <a:sym typeface="Arial"/>
              </a:rPr>
              <a:t> (You selectively choose which SPI slave to enable and read the incoming data). </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Though this SPI module </a:t>
            </a:r>
            <a:r>
              <a:rPr lang="en-US" sz="1800" b="1" dirty="0">
                <a:latin typeface="Atkinson Hyperlegible Next"/>
                <a:ea typeface="Arial"/>
                <a:cs typeface="Arial"/>
                <a:sym typeface="Arial"/>
              </a:rPr>
              <a:t>does not natively support multiple SPISTE signals</a:t>
            </a:r>
            <a:r>
              <a:rPr lang="en-US" sz="1800" dirty="0">
                <a:latin typeface="Atkinson Hyperlegible Next"/>
                <a:ea typeface="Arial"/>
                <a:cs typeface="Arial"/>
                <a:sym typeface="Arial"/>
              </a:rPr>
              <a:t>, it is possible to emulate this behavior in software using GPIOs. </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In this configuration, the SPI must be configured as the </a:t>
            </a:r>
            <a:r>
              <a:rPr lang="en-US" sz="1800" b="1" dirty="0">
                <a:latin typeface="Atkinson Hyperlegible Next"/>
                <a:ea typeface="Arial"/>
                <a:cs typeface="Arial"/>
                <a:sym typeface="Arial"/>
              </a:rPr>
              <a:t>master</a:t>
            </a:r>
            <a:r>
              <a:rPr lang="en-US" sz="1800" dirty="0">
                <a:latin typeface="Atkinson Hyperlegible Next"/>
                <a:ea typeface="Arial"/>
                <a:cs typeface="Arial"/>
                <a:sym typeface="Arial"/>
              </a:rPr>
              <a:t>. Rather than using the GPIO Mux to select SPISTE, the application would configure pins to be GPIO outputs, </a:t>
            </a:r>
            <a:r>
              <a:rPr lang="en-US" sz="1800" b="1" dirty="0">
                <a:latin typeface="Atkinson Hyperlegible Next"/>
                <a:ea typeface="Arial"/>
                <a:cs typeface="Arial"/>
                <a:sym typeface="Arial"/>
              </a:rPr>
              <a:t>one GPIO per SPI slave</a:t>
            </a:r>
            <a:r>
              <a:rPr lang="en-US" sz="1800" dirty="0">
                <a:latin typeface="Atkinson Hyperlegible Next"/>
                <a:ea typeface="Arial"/>
                <a:cs typeface="Arial"/>
                <a:sym typeface="Arial"/>
              </a:rPr>
              <a:t>. </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Before transmitting any data, the application would drive the desired GPIO to the active state. </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Immediately after the transmission has been completed, the GPIO chip select would be driven to the inactive state. This process can be repeated for many slaves which share the SPICLK, SPISIMO, and SPISOMI lines! Essentially creating a </a:t>
            </a:r>
            <a:r>
              <a:rPr lang="en-US" sz="1800" b="1" dirty="0">
                <a:latin typeface="Atkinson Hyperlegible Next"/>
                <a:ea typeface="Arial"/>
                <a:cs typeface="Arial"/>
                <a:sym typeface="Arial"/>
              </a:rPr>
              <a:t>SPISTE pin mux!</a:t>
            </a:r>
            <a:endParaRPr lang="en-US" sz="18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A0031E1B-3762-A8B2-8113-06902AD650E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D39AFD9-F10C-A3CC-01A3-A48164FE31C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SPI – Multiple Slaves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87F5880-B6A4-4D89-618C-9127FBD0A8D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B541E52-2810-B5EE-F26E-46624782877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19D0E66-04A7-2098-D41A-3C11B7902F4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AD142DD-EEF9-97D4-78B1-409BA656648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54FF4AF-70A3-A6AB-20E2-9564CFDF485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7910CE7-C09B-2922-8BE6-25DE1F3FA47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22323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8FD3DA57-ED24-5D05-75BC-7BE3EF59469A}"/>
            </a:ext>
          </a:extLst>
        </p:cNvPr>
        <p:cNvGrpSpPr/>
        <p:nvPr/>
      </p:nvGrpSpPr>
      <p:grpSpPr>
        <a:xfrm>
          <a:off x="0" y="0"/>
          <a:ext cx="0" cy="0"/>
          <a:chOff x="0" y="0"/>
          <a:chExt cx="0" cy="0"/>
        </a:xfrm>
      </p:grpSpPr>
      <p:sp>
        <p:nvSpPr>
          <p:cNvPr id="89" name="Google Shape;89;p27">
            <a:extLst>
              <a:ext uri="{FF2B5EF4-FFF2-40B4-BE49-F238E27FC236}">
                <a16:creationId xmlns:a16="http://schemas.microsoft.com/office/drawing/2014/main" id="{1EAFD47A-F5AC-7C5A-3353-C8627D84FD82}"/>
              </a:ext>
            </a:extLst>
          </p:cNvPr>
          <p:cNvSpPr/>
          <p:nvPr>
            <p:ph type="title"/>
          </p:nvPr>
        </p:nvSpPr>
        <p:spPr>
          <a:xfrm>
            <a:off x="1026302" y="2274858"/>
            <a:ext cx="10139396" cy="230828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4800" b="1" i="0" u="none" strike="noStrike" cap="none" dirty="0">
                <a:solidFill>
                  <a:schemeClr val="lt1"/>
                </a:solidFill>
                <a:latin typeface="Atkinson Hyperlegible Next"/>
                <a:ea typeface="Arial"/>
                <a:cs typeface="Arial"/>
                <a:sym typeface="Arial"/>
              </a:rPr>
              <a:t>What happens if you want to communicate with 15 temperature sensors?</a:t>
            </a:r>
            <a:endParaRPr sz="1100" b="0" i="0" u="none" strike="noStrike" cap="none" dirty="0">
              <a:solidFill>
                <a:srgbClr val="000000"/>
              </a:solidFill>
              <a:latin typeface="Atkinson Hyperlegible Next"/>
              <a:ea typeface="Arial"/>
              <a:cs typeface="Arial"/>
              <a:sym typeface="Arial"/>
            </a:endParaRPr>
          </a:p>
        </p:txBody>
      </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4379E6E5-B909-8DBB-9356-1D0A49331E9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5D2E71F0-3BC8-F7A8-8226-5500502243A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57E8071F-D599-0B85-1A0C-D05F189034A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E67F08F8-E495-3293-8231-30567D0D61BC}"/>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6F5211B6-398D-3B48-6347-22EF4F887239}"/>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530FFD4D-8480-6630-54C1-7A349C76FFA0}"/>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5028715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621D344B-34C4-C335-DD49-4E27E5841F2A}"/>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751D50D-A562-407A-425A-46CB493D7547}"/>
              </a:ext>
            </a:extLst>
          </p:cNvPr>
          <p:cNvGrpSpPr/>
          <p:nvPr/>
        </p:nvGrpSpPr>
        <p:grpSpPr>
          <a:xfrm>
            <a:off x="2206906" y="2674628"/>
            <a:ext cx="7778187" cy="1508744"/>
            <a:chOff x="2206906" y="1491040"/>
            <a:chExt cx="7778187" cy="1508744"/>
          </a:xfrm>
        </p:grpSpPr>
        <p:sp>
          <p:nvSpPr>
            <p:cNvPr id="89" name="Google Shape;89;p27">
              <a:extLst>
                <a:ext uri="{FF2B5EF4-FFF2-40B4-BE49-F238E27FC236}">
                  <a16:creationId xmlns:a16="http://schemas.microsoft.com/office/drawing/2014/main" id="{9BAF097B-4B41-24EB-93FD-D7BB11662E9B}"/>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I2C</a:t>
              </a:r>
              <a:endParaRPr sz="1400" b="0" i="0" u="none" strike="noStrike" cap="none" dirty="0">
                <a:solidFill>
                  <a:srgbClr val="000000"/>
                </a:solidFill>
                <a:latin typeface="Atkinson Hyperlegible Next"/>
                <a:ea typeface="Arial"/>
                <a:cs typeface="Arial"/>
                <a:sym typeface="Arial"/>
              </a:endParaRPr>
            </a:p>
          </p:txBody>
        </p:sp>
        <p:grpSp>
          <p:nvGrpSpPr>
            <p:cNvPr id="91" name="Google Shape;91;p27">
              <a:extLst>
                <a:ext uri="{FF2B5EF4-FFF2-40B4-BE49-F238E27FC236}">
                  <a16:creationId xmlns:a16="http://schemas.microsoft.com/office/drawing/2014/main" id="{4C88420D-27D3-6A7F-E259-B8AB9971B5FA}"/>
                </a:ext>
              </a:extLst>
            </p:cNvPr>
            <p:cNvGrpSpPr/>
            <p:nvPr/>
          </p:nvGrpSpPr>
          <p:grpSpPr>
            <a:xfrm>
              <a:off x="3943790" y="2676939"/>
              <a:ext cx="3861740" cy="322845"/>
              <a:chOff x="3943790" y="2676939"/>
              <a:chExt cx="3861740" cy="322845"/>
            </a:xfrm>
          </p:grpSpPr>
          <p:cxnSp>
            <p:nvCxnSpPr>
              <p:cNvPr id="92" name="Google Shape;92;p27">
                <a:extLst>
                  <a:ext uri="{FF2B5EF4-FFF2-40B4-BE49-F238E27FC236}">
                    <a16:creationId xmlns:a16="http://schemas.microsoft.com/office/drawing/2014/main" id="{D5100363-33AA-F297-53EC-F698EC7DBBE0}"/>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B85D6D7A-BAE9-F05C-245C-2AD52823284B}"/>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AACA8BFC-6902-9915-431F-CDD0ABC690C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88C3552A-315C-7AFD-45A0-B6597BC8671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52FFF52A-D67A-F7A3-668A-D4E22C0A77B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97DB60A1-F2DE-6038-F546-8D0E2D0B10CB}"/>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EF434972-6740-9A13-FB07-31A6D8234C0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44A0F022-25C1-15B9-440E-3B25D737B331}"/>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15142552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F7487F3-F8C5-A4D7-FBE6-64BE928883A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1D357FDE-29D5-D17D-51AB-6167DAF284C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400" dirty="0">
                    <a:latin typeface="Atkinson Hyperlegible Next"/>
                    <a:ea typeface="Arial"/>
                    <a:cs typeface="Arial"/>
                    <a:sym typeface="Arial"/>
                  </a:rPr>
                  <a:t>The I2C bus consists of 2 wires: Serial Data (SDA) and Serial Clock (SCL). Instead of relying active push-pull transistors like SPI (which forces a line high or low), I2C uses an open-draw architecture with passive pull-up resistors.</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0" lvl="0" indent="0">
                  <a:lnSpc>
                    <a:spcPct val="100000"/>
                  </a:lnSpc>
                  <a:spcBef>
                    <a:spcPts val="0"/>
                  </a:spcBef>
                  <a:buSzPts val="3000"/>
                  <a:buNone/>
                </a:pPr>
                <a:r>
                  <a:rPr lang="en-US" sz="2400" dirty="0">
                    <a:latin typeface="Atkinson Hyperlegible Next"/>
                    <a:ea typeface="Arial"/>
                    <a:cs typeface="Arial"/>
                    <a:sym typeface="Arial"/>
                  </a:rPr>
                  <a:t>When a microcontroller wants to send a logical 1, it simply “lets go” of the wire, and the physical pull-up resistor pulls the voltage to </a:t>
                </a:r>
                <a14:m>
                  <m:oMath xmlns:m="http://schemas.openxmlformats.org/officeDocument/2006/math">
                    <m:sSub>
                      <m:sSubPr>
                        <m:ctrlPr>
                          <a:rPr lang="en-US" sz="2400" i="1" smtClean="0">
                            <a:latin typeface="Cambria Math" panose="02040503050406030204" pitchFamily="18" charset="0"/>
                            <a:cs typeface="Arial"/>
                            <a:sym typeface="Arial"/>
                          </a:rPr>
                        </m:ctrlPr>
                      </m:sSubPr>
                      <m:e>
                        <m:r>
                          <m:rPr>
                            <m:sty m:val="p"/>
                          </m:rPr>
                          <a:rPr lang="en-US" sz="2400" b="0" i="1" smtClean="0">
                            <a:latin typeface="Cambria Math" panose="02040503050406030204" pitchFamily="18" charset="0"/>
                            <a:cs typeface="Arial"/>
                            <a:sym typeface="Arial"/>
                          </a:rPr>
                          <m:t>V</m:t>
                        </m:r>
                      </m:e>
                      <m:sub>
                        <m:r>
                          <m:rPr>
                            <m:sty m:val="p"/>
                          </m:rPr>
                          <a:rPr lang="en-US" sz="2400" b="0" i="1" smtClean="0">
                            <a:latin typeface="Cambria Math" panose="02040503050406030204" pitchFamily="18" charset="0"/>
                            <a:cs typeface="Arial"/>
                            <a:sym typeface="Arial"/>
                          </a:rPr>
                          <m:t>cc</m:t>
                        </m:r>
                      </m:sub>
                    </m:sSub>
                  </m:oMath>
                </a14:m>
                <a:r>
                  <a:rPr lang="en-US" sz="2400" dirty="0">
                    <a:latin typeface="Atkinson Hyperlegible Next"/>
                    <a:ea typeface="Arial"/>
                    <a:cs typeface="Arial"/>
                    <a:sym typeface="Arial"/>
                  </a:rPr>
                  <a:t> (e.g., 3.3V). When it wants to send a logical 0, an internal transistor connects the wire to ground.</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400" dirty="0">
                    <a:latin typeface="Atkinson Hyperlegible Next"/>
                    <a:ea typeface="Arial"/>
                    <a:cs typeface="Arial"/>
                    <a:sym typeface="Arial"/>
                  </a:rPr>
                  <a:t>Why?</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400" dirty="0">
                    <a:latin typeface="Atkinson Hyperlegible Next"/>
                    <a:ea typeface="Arial"/>
                    <a:cs typeface="Arial"/>
                    <a:sym typeface="Arial"/>
                  </a:rPr>
                  <a:t>If 2 devices accidentally talk at the exact same time, and one sends a 0 (pulls to ground), while the other sends a 1 (let’s go), the line safely goes to ground. There is no short circuit!</a:t>
                </a:r>
              </a:p>
            </p:txBody>
          </p:sp>
        </mc:Choice>
        <mc:Fallback xmlns="">
          <p:sp>
            <p:nvSpPr>
              <p:cNvPr id="118" name="Google Shape;118;p29">
                <a:extLst>
                  <a:ext uri="{FF2B5EF4-FFF2-40B4-BE49-F238E27FC236}">
                    <a16:creationId xmlns:a16="http://schemas.microsoft.com/office/drawing/2014/main" id="{1D357FDE-29D5-D17D-51AB-6167DAF284CB}"/>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r="-1528" b="-354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8A028D5C-EF47-A065-84B7-9A37F345153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284915D-79F7-C7EA-DDF4-820E489628F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I2C (1/12)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EC77E2A-ECB7-4349-CFE9-6C1226BB7CF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A234193-D738-D71E-4335-BD4FBB266AA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F2DE2C0-A824-993B-E084-DBC20A4EBB7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1CADFDB-5942-3297-5DF3-5708D85C49E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3DDD364-E8B8-459B-20D8-F6962B39727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7D1AEC0-6763-9B36-1651-A82B03C2D57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564537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B84DF02-4701-ED5E-434F-8C62DEB83DA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E765134A-8C9D-26E7-934A-6E5D256A91D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BD7B67E-5ACC-AEF3-5CDC-3C4F91C27A9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I2C (2/12)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6551F54-CD75-F325-D74A-A484A37F778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F391FDC-C7F4-99E5-0EA7-62410D182D2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F8D305A-6BAA-F931-F3DD-5E6C61DE126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BB607B4-2187-F9DF-DB29-249F6C3FD7B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71FF328-E131-F39C-CC4B-0BC683D7CAF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9DD6BA5-DF87-8D67-85C8-A996B881DA2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Circuit: an I2C bus of two shared lines, serial data (SDA) and serial clock (SCL), each tied to V sub DD through its own pullup resistor. Four devices connect in parallel to both lines: a 28x I2C module, an I2C EPROM, an I2C controller, and a second 28x I2C module. Every device shares the same two wires, so many modules can communicate over just two signals.">
            <a:extLst>
              <a:ext uri="{FF2B5EF4-FFF2-40B4-BE49-F238E27FC236}">
                <a16:creationId xmlns:a16="http://schemas.microsoft.com/office/drawing/2014/main" id="{87F78193-1707-7908-BA06-B40E6782147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9201" y="1145610"/>
            <a:ext cx="11119236" cy="5105772"/>
          </a:xfrm>
          <a:prstGeom prst="rect">
            <a:avLst/>
          </a:prstGeom>
        </p:spPr>
      </p:pic>
    </p:spTree>
    <p:extLst>
      <p:ext uri="{BB962C8B-B14F-4D97-AF65-F5344CB8AC3E}">
        <p14:creationId xmlns:p14="http://schemas.microsoft.com/office/powerpoint/2010/main" val="26752059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6F672AC-7FFD-4B4F-0053-69785110245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10086514-791C-25F8-446D-D9D53D32311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E6E730E-0980-D699-20E9-8BEB629F689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I2C (3/12)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035AD2B-C0E5-3CD6-4815-457D08A66A0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8ABF4D9-2A46-B81E-C9D5-2DB42F78AB9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20DE947-4BAB-83AA-E0F6-6356BB9DD4B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F558268-D3A5-5422-F89E-D01A71DE6CC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43F4A17-9C79-78C7-E37F-1F7D1A3B597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0C110E5-0BA2-6222-8F03-97C0DC82D13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Block diagram of the TI I2C module. Bidirectional SDA and SCL pins connect to the module. To transmit, the CPU writes over the peripheral bus to I2CDXR (or through the TX FIFO), which loads the I2CXSR shift register that drives SDA. To receive, SDA shifts into I2CRSR, then I2CDRR, which the bus reads directly or via the RX FIFO. TX and RX FIFO interrupts are ORed into a FIFO interrupt to the CPU/PIE. Control/status registers sit on the bus. A clock synchronizer, prescaler, noise filters and arbitrator support the link. Seven interrupt sources combine into I2C INT to the CPU/PIE.">
            <a:extLst>
              <a:ext uri="{FF2B5EF4-FFF2-40B4-BE49-F238E27FC236}">
                <a16:creationId xmlns:a16="http://schemas.microsoft.com/office/drawing/2014/main" id="{7C788A6C-9173-E3C2-5AA8-97894712E5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00375" y="1053754"/>
            <a:ext cx="6191250" cy="5373235"/>
          </a:xfrm>
          <a:prstGeom prst="rect">
            <a:avLst/>
          </a:prstGeom>
        </p:spPr>
      </p:pic>
    </p:spTree>
    <p:extLst>
      <p:ext uri="{BB962C8B-B14F-4D97-AF65-F5344CB8AC3E}">
        <p14:creationId xmlns:p14="http://schemas.microsoft.com/office/powerpoint/2010/main" val="17289970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BE9971E-13D8-A1E6-F0ED-F7B23E3E457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89FAD190-6CBF-E568-10EF-CE6FBEFABE1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400" dirty="0">
                <a:latin typeface="Atkinson Hyperlegible Next"/>
                <a:ea typeface="Arial"/>
                <a:cs typeface="Arial"/>
                <a:sym typeface="Arial"/>
              </a:rPr>
              <a:t>Because there is no Chip Select wires, the Master must should a specific “Address” onto the bus. Every slave device listens. The protocol is strictly framed as:</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342900">
              <a:lnSpc>
                <a:spcPct val="100000"/>
              </a:lnSpc>
              <a:spcBef>
                <a:spcPts val="0"/>
              </a:spcBef>
              <a:buSzPts val="3000"/>
            </a:pPr>
            <a:r>
              <a:rPr lang="en-US" sz="2400" b="1" dirty="0">
                <a:latin typeface="Atkinson Hyperlegible Next"/>
                <a:ea typeface="Arial"/>
                <a:cs typeface="Arial"/>
                <a:sym typeface="Arial"/>
              </a:rPr>
              <a:t>START condition</a:t>
            </a:r>
            <a:r>
              <a:rPr lang="en-US" sz="2400" dirty="0">
                <a:latin typeface="Atkinson Hyperlegible Next"/>
                <a:ea typeface="Arial"/>
                <a:cs typeface="Arial"/>
                <a:sym typeface="Arial"/>
              </a:rPr>
              <a:t>: The Master pulls SDA low while SCL remains high. This violates normal data rules, acting as a wake-up for all devices.</a:t>
            </a:r>
          </a:p>
          <a:p>
            <a:pPr marL="342900">
              <a:lnSpc>
                <a:spcPct val="100000"/>
              </a:lnSpc>
              <a:spcBef>
                <a:spcPts val="0"/>
              </a:spcBef>
              <a:buSzPts val="3000"/>
            </a:pPr>
            <a:r>
              <a:rPr lang="en-US" sz="2400" b="1" dirty="0">
                <a:latin typeface="Atkinson Hyperlegible Next"/>
                <a:ea typeface="Arial"/>
                <a:cs typeface="Arial"/>
                <a:sym typeface="Arial"/>
              </a:rPr>
              <a:t>Addressing</a:t>
            </a:r>
            <a:r>
              <a:rPr lang="en-US" sz="2400" dirty="0">
                <a:latin typeface="Atkinson Hyperlegible Next"/>
                <a:ea typeface="Arial"/>
                <a:cs typeface="Arial"/>
                <a:sym typeface="Arial"/>
              </a:rPr>
              <a:t>: The Master transmits a 7-bit (or 10-bit) hardware </a:t>
            </a:r>
            <a:r>
              <a:rPr lang="en-US" sz="2400" dirty="0" err="1">
                <a:latin typeface="Atkinson Hyperlegible Next"/>
                <a:ea typeface="Arial"/>
                <a:cs typeface="Arial"/>
                <a:sym typeface="Arial"/>
              </a:rPr>
              <a:t>addres</a:t>
            </a:r>
            <a:r>
              <a:rPr lang="en-US" sz="2400" dirty="0">
                <a:latin typeface="Atkinson Hyperlegible Next"/>
                <a:ea typeface="Arial"/>
                <a:cs typeface="Arial"/>
                <a:sym typeface="Arial"/>
              </a:rPr>
              <a:t>, </a:t>
            </a:r>
            <a:r>
              <a:rPr lang="en-US" sz="2400" dirty="0" err="1">
                <a:latin typeface="Atkinson Hyperlegible Next"/>
                <a:ea typeface="Arial"/>
                <a:cs typeface="Arial"/>
                <a:sym typeface="Arial"/>
              </a:rPr>
              <a:t>folled</a:t>
            </a:r>
            <a:r>
              <a:rPr lang="en-US" sz="2400" dirty="0">
                <a:latin typeface="Atkinson Hyperlegible Next"/>
                <a:ea typeface="Arial"/>
                <a:cs typeface="Arial"/>
                <a:sym typeface="Arial"/>
              </a:rPr>
              <a:t> by a Read/Write direction bit.</a:t>
            </a:r>
          </a:p>
          <a:p>
            <a:pPr marL="342900">
              <a:lnSpc>
                <a:spcPct val="100000"/>
              </a:lnSpc>
              <a:spcBef>
                <a:spcPts val="0"/>
              </a:spcBef>
              <a:buSzPts val="3000"/>
            </a:pPr>
            <a:r>
              <a:rPr lang="en-US" sz="2400" b="1" dirty="0">
                <a:latin typeface="Atkinson Hyperlegible Next"/>
                <a:ea typeface="Arial"/>
                <a:cs typeface="Arial"/>
                <a:sym typeface="Arial"/>
              </a:rPr>
              <a:t>Acknowledge (ACK): </a:t>
            </a:r>
            <a:r>
              <a:rPr lang="en-US" sz="2400" dirty="0">
                <a:latin typeface="Atkinson Hyperlegible Next"/>
                <a:ea typeface="Arial"/>
                <a:cs typeface="Arial"/>
                <a:sym typeface="Arial"/>
              </a:rPr>
              <a:t>The specific Slave that matches the address pulls the SDA line low on the 9</a:t>
            </a:r>
            <a:r>
              <a:rPr lang="en-US" sz="2400" baseline="30000" dirty="0">
                <a:latin typeface="Atkinson Hyperlegible Next"/>
                <a:ea typeface="Arial"/>
                <a:cs typeface="Arial"/>
                <a:sym typeface="Arial"/>
              </a:rPr>
              <a:t>th</a:t>
            </a:r>
            <a:r>
              <a:rPr lang="en-US" sz="2400" dirty="0">
                <a:latin typeface="Atkinson Hyperlegible Next"/>
                <a:ea typeface="Arial"/>
                <a:cs typeface="Arial"/>
                <a:sym typeface="Arial"/>
              </a:rPr>
              <a:t> clock cycle to say “I am here”</a:t>
            </a:r>
          </a:p>
          <a:p>
            <a:pPr marL="342900">
              <a:lnSpc>
                <a:spcPct val="100000"/>
              </a:lnSpc>
              <a:spcBef>
                <a:spcPts val="0"/>
              </a:spcBef>
              <a:buSzPts val="3000"/>
            </a:pPr>
            <a:r>
              <a:rPr lang="en-US" sz="2400" b="1" dirty="0">
                <a:latin typeface="Atkinson Hyperlegible Next"/>
                <a:ea typeface="Arial"/>
                <a:cs typeface="Arial"/>
                <a:sym typeface="Arial"/>
              </a:rPr>
              <a:t>Data Transfer: </a:t>
            </a:r>
            <a:r>
              <a:rPr lang="en-US" sz="2400" dirty="0">
                <a:latin typeface="Atkinson Hyperlegible Next"/>
                <a:ea typeface="Arial"/>
                <a:cs typeface="Arial"/>
                <a:sym typeface="Arial"/>
              </a:rPr>
              <a:t>Butes are clocked across the SDA line</a:t>
            </a:r>
          </a:p>
          <a:p>
            <a:pPr marL="342900">
              <a:lnSpc>
                <a:spcPct val="100000"/>
              </a:lnSpc>
              <a:spcBef>
                <a:spcPts val="0"/>
              </a:spcBef>
              <a:buSzPts val="3000"/>
            </a:pPr>
            <a:r>
              <a:rPr lang="en-US" sz="2400" b="1" dirty="0">
                <a:latin typeface="Atkinson Hyperlegible Next"/>
                <a:ea typeface="Arial"/>
                <a:cs typeface="Arial"/>
                <a:sym typeface="Arial"/>
              </a:rPr>
              <a:t>STOP Condition: </a:t>
            </a:r>
            <a:r>
              <a:rPr lang="en-US" sz="2400" dirty="0">
                <a:latin typeface="Atkinson Hyperlegible Next"/>
                <a:ea typeface="Arial"/>
                <a:cs typeface="Arial"/>
                <a:sym typeface="Arial"/>
              </a:rPr>
              <a:t>The Master releases SDA while SCL is high, signaling the bus is free.</a:t>
            </a:r>
          </a:p>
        </p:txBody>
      </p:sp>
      <p:sp>
        <p:nvSpPr>
          <p:cNvPr id="119" name="Google Shape;119;p29">
            <a:extLst>
              <a:ext uri="{FF2B5EF4-FFF2-40B4-BE49-F238E27FC236}">
                <a16:creationId xmlns:a16="http://schemas.microsoft.com/office/drawing/2014/main" id="{8F3E41B2-88A7-5916-F31D-7DB6B765AA2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0628E1F-1AA7-256E-1384-65A804075CA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I2C (4/12)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77122E7-92DB-A6AD-213E-2E195575F08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4A68C82-4892-9817-1154-1E2D1A4DBF9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28A589C-F79B-37BF-C994-1D5A2FB3ABE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1C4B192-38EC-CA60-8758-E2B09B86A36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E255656-97A1-3E35-62F0-7ED594396F6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24C7368-817C-7E14-C36E-99F75522D40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287186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36A3864-4F69-11BA-53FC-2912087497C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EBE3CBC1-7785-28EF-DB97-973C8332462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690C082-325F-EF50-430C-78F7525E222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I2C (5/12)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CD7A86B-22A4-7413-443C-8B39BE5648D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9CB6B79-A899-83F2-6284-D4ED53BBABB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1B5EA53-CBE5-ED60-A230-D261570A86A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0790389-EAA8-F085-F3F4-8E4D238B5E4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BC3DBA3-198A-C4A3-DF54-8DD00434914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1D30128-EDC6-AEAD-553F-9710289F0FF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Timing diagram of an I2C transfer with 7-bit address and 8-bit data on lines SDA and SCL. START: SDA falls while SCL is high. Seven address bits follow, MSB first, then the R/W-bar bit on clock 8 and the slave's acknowledge (SDA held low) on clock 9. Eight data bits follow, then a ninth-clock acknowledge or no-acknowledge from the receiver. STOP: SDA rises while SCL is high. SDA changes only while SCL is low.">
            <a:extLst>
              <a:ext uri="{FF2B5EF4-FFF2-40B4-BE49-F238E27FC236}">
                <a16:creationId xmlns:a16="http://schemas.microsoft.com/office/drawing/2014/main" id="{B029C68A-1543-011F-D3B6-A4CE4200B82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11854" y="1072273"/>
            <a:ext cx="9168291" cy="2927348"/>
          </a:xfrm>
          <a:prstGeom prst="rect">
            <a:avLst/>
          </a:prstGeom>
        </p:spPr>
      </p:pic>
      <p:pic>
        <p:nvPicPr>
          <p:cNvPr id="7" name="Graphic 6" descr="I2C 7-bit addressing frame format (FDF equals 0, XA equals 0 in I2CMDR), fields in order with bit widths: start bit S (1 bit), 7-bit slave address, R slash W bar (1 bit), ACK (1 bit), Data (n bits), ACK (1 bit), Data (n bits), ACK (1 bit), stop bit P (1 bit). Each data byte is followed by an acknowledge bit.">
            <a:extLst>
              <a:ext uri="{FF2B5EF4-FFF2-40B4-BE49-F238E27FC236}">
                <a16:creationId xmlns:a16="http://schemas.microsoft.com/office/drawing/2014/main" id="{1A4A4412-5944-0B4E-16E8-7FDCA80BC15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46256" y="4203673"/>
            <a:ext cx="9798109" cy="1362069"/>
          </a:xfrm>
          <a:prstGeom prst="rect">
            <a:avLst/>
          </a:prstGeom>
        </p:spPr>
      </p:pic>
      <p:sp>
        <p:nvSpPr>
          <p:cNvPr id="8" name="Google Shape;118;p29">
            <a:extLst>
              <a:ext uri="{FF2B5EF4-FFF2-40B4-BE49-F238E27FC236}">
                <a16:creationId xmlns:a16="http://schemas.microsoft.com/office/drawing/2014/main" id="{5C0D0C41-61BB-1A43-AF16-5292C2E3741F}"/>
              </a:ext>
            </a:extLst>
          </p:cNvPr>
          <p:cNvSpPr txBox="1">
            <a:spLocks noGrp="1"/>
          </p:cNvSpPr>
          <p:nvPr>
            <p:ph type="body" idx="1"/>
          </p:nvPr>
        </p:nvSpPr>
        <p:spPr>
          <a:xfrm>
            <a:off x="376809" y="5674257"/>
            <a:ext cx="11177401" cy="8117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R/W=0: The I2C master writes (transmits) data to the addressed slave.</a:t>
            </a:r>
          </a:p>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R/W=1: The I2C master reads (receives) data from the slave.</a:t>
            </a:r>
          </a:p>
        </p:txBody>
      </p:sp>
    </p:spTree>
    <p:extLst>
      <p:ext uri="{BB962C8B-B14F-4D97-AF65-F5344CB8AC3E}">
        <p14:creationId xmlns:p14="http://schemas.microsoft.com/office/powerpoint/2010/main" val="11647384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CAEDD3C-36CE-F798-2D34-19995D124E7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E006DE9-3D78-FFFD-23E6-B477CB7EE29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400" dirty="0"/>
              <a:t>An extra clock cycle dedicated for acknowledgement (</a:t>
            </a:r>
            <a:r>
              <a:rPr lang="en-US" sz="2400" b="1" dirty="0"/>
              <a:t>ACK</a:t>
            </a:r>
            <a:r>
              <a:rPr lang="en-US" sz="2400" dirty="0"/>
              <a:t>) is inserted after each byte. </a:t>
            </a:r>
          </a:p>
          <a:p>
            <a:pPr marL="0" lvl="0" indent="0">
              <a:lnSpc>
                <a:spcPct val="100000"/>
              </a:lnSpc>
              <a:spcBef>
                <a:spcPts val="0"/>
              </a:spcBef>
              <a:buSzPts val="3000"/>
              <a:buNone/>
            </a:pPr>
            <a:endParaRPr lang="en-US" sz="2400" dirty="0"/>
          </a:p>
          <a:p>
            <a:pPr marL="0" lvl="0" indent="0">
              <a:lnSpc>
                <a:spcPct val="100000"/>
              </a:lnSpc>
              <a:spcBef>
                <a:spcPts val="0"/>
              </a:spcBef>
              <a:buSzPts val="3000"/>
              <a:buNone/>
            </a:pPr>
            <a:r>
              <a:rPr lang="en-US" sz="2400" dirty="0"/>
              <a:t>If the </a:t>
            </a:r>
            <a:r>
              <a:rPr lang="en-US" sz="2400" b="1" dirty="0"/>
              <a:t>ACK</a:t>
            </a:r>
            <a:r>
              <a:rPr lang="en-US" sz="2400" dirty="0"/>
              <a:t> bit is inserted by the slave after the first byte from the master, it is followed by n bits of data from the transmitter (master or slave depending on the R/W bit). </a:t>
            </a:r>
          </a:p>
          <a:p>
            <a:pPr marL="0" lvl="0" indent="0">
              <a:lnSpc>
                <a:spcPct val="100000"/>
              </a:lnSpc>
              <a:spcBef>
                <a:spcPts val="0"/>
              </a:spcBef>
              <a:buSzPts val="3000"/>
              <a:buNone/>
            </a:pPr>
            <a:endParaRPr lang="en-US" sz="2400" dirty="0"/>
          </a:p>
          <a:p>
            <a:pPr marL="0" lvl="0" indent="0">
              <a:lnSpc>
                <a:spcPct val="100000"/>
              </a:lnSpc>
              <a:spcBef>
                <a:spcPts val="0"/>
              </a:spcBef>
              <a:buSzPts val="3000"/>
              <a:buNone/>
            </a:pPr>
            <a:r>
              <a:rPr lang="en-US" sz="2400" dirty="0"/>
              <a:t>n is a number from 1-8 determined by the bit count (</a:t>
            </a:r>
            <a:r>
              <a:rPr lang="en-US" sz="2400" b="1" dirty="0"/>
              <a:t>BC</a:t>
            </a:r>
            <a:r>
              <a:rPr lang="en-US" sz="2400" dirty="0"/>
              <a:t>) field of the </a:t>
            </a:r>
            <a:r>
              <a:rPr lang="en-US" sz="2400" b="1" dirty="0"/>
              <a:t>I2CMDR</a:t>
            </a:r>
            <a:r>
              <a:rPr lang="en-US" sz="2400" dirty="0"/>
              <a:t>. </a:t>
            </a:r>
          </a:p>
          <a:p>
            <a:pPr marL="0" lvl="0" indent="0">
              <a:lnSpc>
                <a:spcPct val="100000"/>
              </a:lnSpc>
              <a:spcBef>
                <a:spcPts val="0"/>
              </a:spcBef>
              <a:buSzPts val="3000"/>
              <a:buNone/>
            </a:pPr>
            <a:endParaRPr lang="en-US" sz="2400" dirty="0"/>
          </a:p>
          <a:p>
            <a:pPr marL="0" lvl="0" indent="0">
              <a:lnSpc>
                <a:spcPct val="100000"/>
              </a:lnSpc>
              <a:spcBef>
                <a:spcPts val="0"/>
              </a:spcBef>
              <a:buSzPts val="3000"/>
              <a:buNone/>
            </a:pPr>
            <a:r>
              <a:rPr lang="en-US" sz="2400" dirty="0"/>
              <a:t>After the data bits have been transferred, the receiver inserts an ACK bit.</a:t>
            </a:r>
          </a:p>
          <a:p>
            <a:pPr marL="0" lvl="0" indent="0">
              <a:lnSpc>
                <a:spcPct val="100000"/>
              </a:lnSpc>
              <a:spcBef>
                <a:spcPts val="0"/>
              </a:spcBef>
              <a:buSzPts val="3000"/>
              <a:buNone/>
            </a:pPr>
            <a:endParaRPr lang="en-US" sz="2400" dirty="0"/>
          </a:p>
          <a:p>
            <a:pPr marL="0" lvl="0" indent="0">
              <a:lnSpc>
                <a:spcPct val="100000"/>
              </a:lnSpc>
              <a:spcBef>
                <a:spcPts val="0"/>
              </a:spcBef>
              <a:buSzPts val="3000"/>
              <a:buNone/>
            </a:pPr>
            <a:r>
              <a:rPr lang="en-US" sz="2400" dirty="0"/>
              <a:t>We can have a 10-bit slave address. The problem is that we have a maximum of 8 bits that we send at a time!</a:t>
            </a:r>
          </a:p>
          <a:p>
            <a:pPr marL="0" lvl="0" indent="0">
              <a:lnSpc>
                <a:spcPct val="100000"/>
              </a:lnSpc>
              <a:spcBef>
                <a:spcPts val="0"/>
              </a:spcBef>
              <a:buSzPts val="3000"/>
              <a:buNone/>
            </a:pPr>
            <a:endParaRPr lang="en-US" sz="2400" dirty="0">
              <a:latin typeface="Atkinson Hyperlegible Next"/>
              <a:ea typeface="Arial"/>
              <a:cs typeface="Arial"/>
              <a:sym typeface="Arial"/>
            </a:endParaRPr>
          </a:p>
          <a:p>
            <a:pPr marL="0" lvl="0" indent="0">
              <a:lnSpc>
                <a:spcPct val="100000"/>
              </a:lnSpc>
              <a:spcBef>
                <a:spcPts val="0"/>
              </a:spcBef>
              <a:buSzPts val="3000"/>
              <a:buNone/>
            </a:pPr>
            <a:endParaRPr lang="en-US" sz="24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C339E387-5944-AE70-BEE4-8EB52E34C54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C32EDE0-99EC-80EA-64F6-C87F629D762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I2C (6/12)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0600181-BF00-DB2D-E878-11CC4D0D776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A010EFD-97E0-85C5-9CA5-A9569898441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49C965B-815D-8CB1-51C2-17F70DC865F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C7016E4-1A2E-1E14-068B-22374F8EE16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7E7CBDE-B0B6-F2C2-94C4-9C388E13187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F83E08F-08C5-5935-D307-429A83FE36F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939925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8E392E1-612C-C130-1945-EF331F96F11D}"/>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F4A05257-8C25-10FD-41A6-F0BF5F22CEF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3DBBBE2-A23D-CEB2-B0F7-D5174A08BD4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I2C (7/12)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9DAA26B-288A-57B7-B8F7-A47772DFFB2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EDDE3A1-A9B1-5BEC-EACE-6EC6F4EC64D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774DB5E-85E6-1D6D-3F00-C5CC2CF3A75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51275BB-3821-6EF9-FE62-ABF5096B0BB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D91A37C-DD8E-55C3-8CC2-183B53C3BA3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2B9B64D-7D92-B705-7F64-3BBD27BBA72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Frame diagram of I2C 10-bit addressing (FDF equals 0, XA equals 1 in I2CMDR), fields in order with bit widths: Start bit; 7 bits &quot;1 1 1 1 0 x x&quot;, where x x are the 2 most significant address bits; 1 read/not-write bit; ACK; 8 bits holding the 8 least significant bits of the slave address; ACK; n data bits; ACK; Stop bit.">
            <a:extLst>
              <a:ext uri="{FF2B5EF4-FFF2-40B4-BE49-F238E27FC236}">
                <a16:creationId xmlns:a16="http://schemas.microsoft.com/office/drawing/2014/main" id="{53F754A7-3686-6B9D-9B12-97F1F3E76F8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1885" y="3047999"/>
            <a:ext cx="11508231" cy="1644033"/>
          </a:xfrm>
          <a:prstGeom prst="rect">
            <a:avLst/>
          </a:prstGeom>
        </p:spPr>
      </p:pic>
    </p:spTree>
    <p:extLst>
      <p:ext uri="{BB962C8B-B14F-4D97-AF65-F5344CB8AC3E}">
        <p14:creationId xmlns:p14="http://schemas.microsoft.com/office/powerpoint/2010/main" val="30572792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75BECFD-9724-832F-7DA6-5F4F59F51C6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38DD1D0-1783-6E64-BD44-26CBD0D5F2D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400" dirty="0"/>
              <a:t>I2C allows </a:t>
            </a:r>
            <a:r>
              <a:rPr lang="en-US" sz="2400"/>
              <a:t>multiple MCU </a:t>
            </a:r>
            <a:r>
              <a:rPr lang="en-US" sz="2400" dirty="0"/>
              <a:t>to exist on the same two wires, potentially attempting a START condition simultaneously.</a:t>
            </a:r>
          </a:p>
          <a:p>
            <a:pPr marL="0" lvl="0" indent="0">
              <a:lnSpc>
                <a:spcPct val="100000"/>
              </a:lnSpc>
              <a:spcBef>
                <a:spcPts val="0"/>
              </a:spcBef>
              <a:buSzPts val="3000"/>
              <a:buNone/>
            </a:pPr>
            <a:endParaRPr lang="en-US" sz="2400" dirty="0">
              <a:latin typeface="Atkinson Hyperlegible Next"/>
              <a:ea typeface="Arial"/>
              <a:cs typeface="Arial"/>
              <a:sym typeface="Arial"/>
            </a:endParaRPr>
          </a:p>
          <a:p>
            <a:pPr marL="0" lvl="0" indent="0">
              <a:lnSpc>
                <a:spcPct val="100000"/>
              </a:lnSpc>
              <a:spcBef>
                <a:spcPts val="0"/>
              </a:spcBef>
              <a:buSzPts val="3000"/>
              <a:buNone/>
            </a:pPr>
            <a:r>
              <a:rPr lang="en-US" sz="2400" dirty="0">
                <a:latin typeface="Atkinson Hyperlegible Next"/>
                <a:ea typeface="Arial"/>
                <a:cs typeface="Arial"/>
                <a:sym typeface="Arial"/>
              </a:rPr>
              <a:t>Both Masters begin clocking out their addresses bit-by-bit, monitoring the actual voltage on the SDA line.</a:t>
            </a:r>
          </a:p>
          <a:p>
            <a:pPr marL="0" lvl="0" indent="0">
              <a:lnSpc>
                <a:spcPct val="100000"/>
              </a:lnSpc>
              <a:spcBef>
                <a:spcPts val="0"/>
              </a:spcBef>
              <a:buSzPts val="3000"/>
              <a:buNone/>
            </a:pPr>
            <a:endParaRPr lang="en-US" sz="2400" dirty="0">
              <a:latin typeface="Atkinson Hyperlegible Next"/>
              <a:ea typeface="Arial"/>
              <a:cs typeface="Arial"/>
              <a:sym typeface="Arial"/>
            </a:endParaRPr>
          </a:p>
          <a:p>
            <a:pPr marL="0" lvl="0" indent="0">
              <a:lnSpc>
                <a:spcPct val="100000"/>
              </a:lnSpc>
              <a:spcBef>
                <a:spcPts val="0"/>
              </a:spcBef>
              <a:buSzPts val="3000"/>
              <a:buNone/>
            </a:pPr>
            <a:r>
              <a:rPr lang="en-US" sz="2400" dirty="0">
                <a:latin typeface="Atkinson Hyperlegible Next"/>
                <a:ea typeface="Arial"/>
                <a:cs typeface="Arial"/>
                <a:sym typeface="Arial"/>
              </a:rPr>
              <a:t>If Master A transmits a 1 (lets go) but physically measures a 0 on the SDA line, it determines another Master (Master B) is pulling it low.</a:t>
            </a:r>
          </a:p>
          <a:p>
            <a:pPr marL="0" lvl="0" indent="0">
              <a:lnSpc>
                <a:spcPct val="100000"/>
              </a:lnSpc>
              <a:spcBef>
                <a:spcPts val="0"/>
              </a:spcBef>
              <a:buSzPts val="3000"/>
              <a:buNone/>
            </a:pPr>
            <a:endParaRPr lang="en-US" sz="2400" dirty="0">
              <a:latin typeface="Atkinson Hyperlegible Next"/>
              <a:ea typeface="Arial"/>
              <a:cs typeface="Arial"/>
              <a:sym typeface="Arial"/>
            </a:endParaRPr>
          </a:p>
          <a:p>
            <a:pPr marL="0" lvl="0" indent="0">
              <a:lnSpc>
                <a:spcPct val="100000"/>
              </a:lnSpc>
              <a:spcBef>
                <a:spcPts val="0"/>
              </a:spcBef>
              <a:buSzPts val="3000"/>
              <a:buNone/>
            </a:pPr>
            <a:r>
              <a:rPr lang="en-US" sz="2400" dirty="0">
                <a:latin typeface="Atkinson Hyperlegible Next"/>
                <a:ea typeface="Arial"/>
                <a:cs typeface="Arial"/>
                <a:sym typeface="Arial"/>
              </a:rPr>
              <a:t>Master A instantly realizes it has lost arbitration, ceases transmission, and returns to slave/listening mode without corrupting Master B's packet. </a:t>
            </a:r>
          </a:p>
        </p:txBody>
      </p:sp>
      <p:sp>
        <p:nvSpPr>
          <p:cNvPr id="119" name="Google Shape;119;p29">
            <a:extLst>
              <a:ext uri="{FF2B5EF4-FFF2-40B4-BE49-F238E27FC236}">
                <a16:creationId xmlns:a16="http://schemas.microsoft.com/office/drawing/2014/main" id="{A5FDE61E-A420-3291-E4E6-9D747E1F587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4E075C7-BD88-26A7-8EEA-EDC5CA3EC99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I2C (8/12)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4E763B4-A8D9-20C6-BDAF-1ABFD1180A6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83E09BC-9EEC-1BF7-3F23-CE20579623D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2281C0E-4E25-712E-A3BB-8C1ED32A073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4C92344-305F-8243-B4B9-B057EA3082A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C0F9952-1400-EAC4-B4CF-5C4E26E2C0A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8C3377F-3447-5A08-619A-C7EBBE75A17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459052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4D4377E-6022-DF57-4F54-BDC8BB583767}"/>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2AC7E5EC-E9C4-6EE7-3246-CC93AB2A4A3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B3832A8-CC55-1448-B1BB-E9F074EE807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I2C (9/12)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FF0413C-DFDA-C427-2DC8-3703C0BBFE2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5C57DF7-BD8B-1F6D-B38C-50F7EC2F630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A9751AE-3C29-7FB3-0560-1283C1915BE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D181074-2FD7-9EDC-FA44-D4BF9D74BB8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B42D78A-E902-68E0-42BE-4C1CB667F44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85078D0-1C76-5CE1-D6EA-457598B6140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Timing diagram: I2C arbitration between two master-transmitters, with traces for the SCL clock, data from device 1, data from device 2, and the SDA bus line. Both devices send 1 then 0, so SDA matches both. On the third bit, device 1 releases SDA high for a 1 while device 2 drives 0. Because the line is wired-AND, SDA stays low. Device 1 sees the mismatch, loses arbitration and switches off. Device 2 drives SDA through its full sequence: 1, 0, 0, 1, 0, 1.">
            <a:extLst>
              <a:ext uri="{FF2B5EF4-FFF2-40B4-BE49-F238E27FC236}">
                <a16:creationId xmlns:a16="http://schemas.microsoft.com/office/drawing/2014/main" id="{61188845-24DF-5C13-BC45-4F51B682913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0760" y="1180443"/>
            <a:ext cx="9882125" cy="5146940"/>
          </a:xfrm>
          <a:prstGeom prst="rect">
            <a:avLst/>
          </a:prstGeom>
        </p:spPr>
      </p:pic>
    </p:spTree>
    <p:extLst>
      <p:ext uri="{BB962C8B-B14F-4D97-AF65-F5344CB8AC3E}">
        <p14:creationId xmlns:p14="http://schemas.microsoft.com/office/powerpoint/2010/main" val="34572699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AD7BF95E-8667-4A44-BA67-BD4F57432EFE}"/>
            </a:ext>
          </a:extLst>
        </p:cNvPr>
        <p:cNvGrpSpPr/>
        <p:nvPr/>
      </p:nvGrpSpPr>
      <p:grpSpPr>
        <a:xfrm>
          <a:off x="0" y="0"/>
          <a:ext cx="0" cy="0"/>
          <a:chOff x="0" y="0"/>
          <a:chExt cx="0" cy="0"/>
        </a:xfrm>
      </p:grpSpPr>
      <p:sp>
        <p:nvSpPr>
          <p:cNvPr id="89" name="Google Shape;89;p27">
            <a:extLst>
              <a:ext uri="{FF2B5EF4-FFF2-40B4-BE49-F238E27FC236}">
                <a16:creationId xmlns:a16="http://schemas.microsoft.com/office/drawing/2014/main" id="{45719416-3BD5-E383-A0CB-E73179505DAD}"/>
              </a:ext>
            </a:extLst>
          </p:cNvPr>
          <p:cNvSpPr/>
          <p:nvPr>
            <p:ph type="title"/>
          </p:nvPr>
        </p:nvSpPr>
        <p:spPr>
          <a:xfrm>
            <a:off x="1026302" y="2274858"/>
            <a:ext cx="10139396" cy="230828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4800" b="1" i="0" u="none" strike="noStrike" cap="none" dirty="0">
                <a:solidFill>
                  <a:schemeClr val="lt1"/>
                </a:solidFill>
                <a:latin typeface="Atkinson Hyperlegible Next"/>
                <a:ea typeface="Arial"/>
                <a:cs typeface="Arial"/>
                <a:sym typeface="Arial"/>
              </a:rPr>
              <a:t>If you have 2 masters sending Serial Clock (SCL) signals what is a problem?</a:t>
            </a:r>
            <a:endParaRPr sz="1100" b="0" i="0" u="none" strike="noStrike" cap="none" dirty="0">
              <a:solidFill>
                <a:srgbClr val="000000"/>
              </a:solidFill>
              <a:latin typeface="Atkinson Hyperlegible Next"/>
              <a:ea typeface="Arial"/>
              <a:cs typeface="Arial"/>
              <a:sym typeface="Arial"/>
            </a:endParaRPr>
          </a:p>
        </p:txBody>
      </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F3A6ACC7-D95C-0659-DC85-D61DF2001C8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7BFB8DCC-EEAF-87C0-FF44-DB896716858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694B86FB-033C-E635-CF45-FBE1DCFEA2F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1FCC97C0-4059-7882-76D8-D1740F00B160}"/>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46BB1CB7-6A4D-56EC-F957-7B965616A557}"/>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407D31D6-E7C2-6977-4F50-7952BC02DD5F}"/>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5319315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24A41A8-CD52-99E7-AB74-235F610D154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A463925-3294-DFB3-2070-A69BA4B88FE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400" dirty="0">
                <a:latin typeface="Atkinson Hyperlegible Next"/>
                <a:ea typeface="Arial"/>
                <a:cs typeface="Arial"/>
                <a:sym typeface="Arial"/>
              </a:rPr>
              <a:t>The microcontrollers on the bus can only drive the SCL line as such:</a:t>
            </a:r>
          </a:p>
          <a:p>
            <a:pPr marL="0" lvl="0" indent="0">
              <a:lnSpc>
                <a:spcPct val="100000"/>
              </a:lnSpc>
              <a:spcBef>
                <a:spcPts val="0"/>
              </a:spcBef>
              <a:buSzPts val="3000"/>
              <a:buNone/>
            </a:pPr>
            <a:endParaRPr lang="en-US" sz="2400" dirty="0">
              <a:latin typeface="Atkinson Hyperlegible Next"/>
              <a:ea typeface="Arial"/>
              <a:cs typeface="Arial"/>
              <a:sym typeface="Arial"/>
            </a:endParaRPr>
          </a:p>
          <a:p>
            <a:pPr marL="342900">
              <a:lnSpc>
                <a:spcPct val="100000"/>
              </a:lnSpc>
              <a:spcBef>
                <a:spcPts val="0"/>
              </a:spcBef>
              <a:buSzPts val="3000"/>
            </a:pPr>
            <a:r>
              <a:rPr lang="en-US" sz="2400" b="1" dirty="0">
                <a:latin typeface="Atkinson Hyperlegible Next"/>
                <a:ea typeface="Arial"/>
                <a:cs typeface="Arial"/>
                <a:sym typeface="Arial"/>
              </a:rPr>
              <a:t>Drive LOW</a:t>
            </a:r>
            <a:r>
              <a:rPr lang="en-US" sz="2400" dirty="0">
                <a:latin typeface="Atkinson Hyperlegible Next"/>
                <a:ea typeface="Arial"/>
                <a:cs typeface="Arial"/>
                <a:sym typeface="Arial"/>
              </a:rPr>
              <a:t>: They can turn on an internal transistor to connect the SCL line to ground (0V)</a:t>
            </a:r>
          </a:p>
          <a:p>
            <a:pPr marL="342900">
              <a:lnSpc>
                <a:spcPct val="100000"/>
              </a:lnSpc>
              <a:spcBef>
                <a:spcPts val="0"/>
              </a:spcBef>
              <a:buSzPts val="3000"/>
            </a:pPr>
            <a:r>
              <a:rPr lang="en-US" sz="2400" b="1" dirty="0">
                <a:latin typeface="Atkinson Hyperlegible Next"/>
                <a:ea typeface="Arial"/>
                <a:cs typeface="Arial"/>
                <a:sym typeface="Arial"/>
              </a:rPr>
              <a:t>Release HIGH</a:t>
            </a:r>
            <a:r>
              <a:rPr lang="en-US" sz="2400" dirty="0">
                <a:latin typeface="Atkinson Hyperlegible Next"/>
                <a:ea typeface="Arial"/>
                <a:cs typeface="Arial"/>
                <a:sym typeface="Arial"/>
              </a:rPr>
              <a:t>: They can turn </a:t>
            </a:r>
            <a:r>
              <a:rPr lang="en-US" sz="2400" b="1" i="1" dirty="0">
                <a:latin typeface="Atkinson Hyperlegible Next"/>
                <a:ea typeface="Arial"/>
                <a:cs typeface="Arial"/>
                <a:sym typeface="Arial"/>
              </a:rPr>
              <a:t>off</a:t>
            </a:r>
            <a:r>
              <a:rPr lang="en-US" sz="2400" dirty="0">
                <a:latin typeface="Atkinson Hyperlegible Next"/>
                <a:ea typeface="Arial"/>
                <a:cs typeface="Arial"/>
                <a:sym typeface="Arial"/>
              </a:rPr>
              <a:t> the transistor, letting go of the line. They cannot force the line high; they rely entirely on the pull-up resistor to pull the voltage back up</a:t>
            </a:r>
          </a:p>
          <a:p>
            <a:pPr marL="0" lvl="0" indent="0">
              <a:lnSpc>
                <a:spcPct val="100000"/>
              </a:lnSpc>
              <a:spcBef>
                <a:spcPts val="0"/>
              </a:spcBef>
              <a:buSzPts val="3000"/>
              <a:buNone/>
            </a:pPr>
            <a:endParaRPr lang="en-US" sz="2400" dirty="0">
              <a:latin typeface="Atkinson Hyperlegible Next"/>
              <a:ea typeface="Arial"/>
              <a:cs typeface="Arial"/>
              <a:sym typeface="Arial"/>
            </a:endParaRPr>
          </a:p>
          <a:p>
            <a:pPr marL="0" lvl="0" indent="0">
              <a:lnSpc>
                <a:spcPct val="100000"/>
              </a:lnSpc>
              <a:spcBef>
                <a:spcPts val="0"/>
              </a:spcBef>
              <a:buSzPts val="3000"/>
              <a:buNone/>
            </a:pPr>
            <a:r>
              <a:rPr lang="en-US" sz="2400" dirty="0">
                <a:latin typeface="Atkinson Hyperlegible Next"/>
                <a:ea typeface="Arial"/>
                <a:cs typeface="Arial"/>
                <a:sym typeface="Arial"/>
              </a:rPr>
              <a:t>Because of this, the SCL line acts as a massive physical </a:t>
            </a:r>
            <a:r>
              <a:rPr lang="en-US" sz="2400" b="1" dirty="0">
                <a:latin typeface="Atkinson Hyperlegible Next"/>
                <a:ea typeface="Arial"/>
                <a:cs typeface="Arial"/>
                <a:sym typeface="Arial"/>
              </a:rPr>
              <a:t>AND</a:t>
            </a:r>
            <a:r>
              <a:rPr lang="en-US" sz="2400" dirty="0">
                <a:latin typeface="Atkinson Hyperlegible Next"/>
                <a:ea typeface="Arial"/>
                <a:cs typeface="Arial"/>
                <a:sym typeface="Arial"/>
              </a:rPr>
              <a:t> gate.</a:t>
            </a:r>
          </a:p>
          <a:p>
            <a:pPr marL="342900">
              <a:lnSpc>
                <a:spcPct val="100000"/>
              </a:lnSpc>
              <a:spcBef>
                <a:spcPts val="0"/>
              </a:spcBef>
              <a:buSzPts val="3000"/>
            </a:pPr>
            <a:r>
              <a:rPr lang="en-US" sz="2400" dirty="0">
                <a:latin typeface="Atkinson Hyperlegible Next"/>
                <a:ea typeface="Arial"/>
                <a:cs typeface="Arial"/>
                <a:sym typeface="Arial"/>
              </a:rPr>
              <a:t>The SCL line will only transition HIGH if </a:t>
            </a:r>
            <a:r>
              <a:rPr lang="en-US" sz="2400" b="1" dirty="0">
                <a:latin typeface="Atkinson Hyperlegible Next"/>
                <a:ea typeface="Arial"/>
                <a:cs typeface="Arial"/>
                <a:sym typeface="Arial"/>
              </a:rPr>
              <a:t>ALL</a:t>
            </a:r>
            <a:r>
              <a:rPr lang="en-US" sz="2400" dirty="0">
                <a:latin typeface="Atkinson Hyperlegible Next"/>
                <a:ea typeface="Arial"/>
                <a:cs typeface="Arial"/>
                <a:sym typeface="Arial"/>
              </a:rPr>
              <a:t> devices let go of it.</a:t>
            </a:r>
          </a:p>
          <a:p>
            <a:pPr marL="342900">
              <a:lnSpc>
                <a:spcPct val="100000"/>
              </a:lnSpc>
              <a:spcBef>
                <a:spcPts val="0"/>
              </a:spcBef>
              <a:buSzPts val="3000"/>
            </a:pPr>
            <a:r>
              <a:rPr lang="en-US" sz="2400" dirty="0">
                <a:latin typeface="Atkinson Hyperlegible Next"/>
                <a:ea typeface="Arial"/>
                <a:cs typeface="Arial"/>
                <a:sym typeface="Arial"/>
              </a:rPr>
              <a:t>The SCL line will instantly transition LOW if </a:t>
            </a:r>
            <a:r>
              <a:rPr lang="en-US" sz="2400" b="1" dirty="0">
                <a:latin typeface="Atkinson Hyperlegible Next"/>
                <a:ea typeface="Arial"/>
                <a:cs typeface="Arial"/>
                <a:sym typeface="Arial"/>
              </a:rPr>
              <a:t>ANY</a:t>
            </a:r>
            <a:r>
              <a:rPr lang="en-US" sz="2400" dirty="0">
                <a:latin typeface="Atkinson Hyperlegible Next"/>
                <a:ea typeface="Arial"/>
                <a:cs typeface="Arial"/>
                <a:sym typeface="Arial"/>
              </a:rPr>
              <a:t> device pulls it to ground.</a:t>
            </a:r>
          </a:p>
        </p:txBody>
      </p:sp>
      <p:sp>
        <p:nvSpPr>
          <p:cNvPr id="119" name="Google Shape;119;p29">
            <a:extLst>
              <a:ext uri="{FF2B5EF4-FFF2-40B4-BE49-F238E27FC236}">
                <a16:creationId xmlns:a16="http://schemas.microsoft.com/office/drawing/2014/main" id="{E959204E-565B-D1B5-164E-DFDB9828F27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76316FF-FACF-B41C-011A-B29BB33EF7D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I2C (10/12)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0EB4395-8BF9-CAD0-9A68-22A4877AA23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D50C7B0-4A70-AACE-FE33-6224AB6479F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A632AD2-DD73-A222-8583-651D398636D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78F1484-5986-8E5E-6E1D-6087540D03B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649364C-440E-B595-A427-FFBCC85D133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553F227-5AFF-47F2-5D10-F84AC8623E8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8527072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20F126F-ABE0-53FE-4040-5DD70C8F730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643EF024-AE49-44D7-3D0E-BDBE542A198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1800" dirty="0">
                    <a:latin typeface="Atkinson Hyperlegible Next"/>
                    <a:ea typeface="Arial"/>
                    <a:cs typeface="Arial"/>
                    <a:sym typeface="Arial"/>
                  </a:rPr>
                  <a:t>Masters attempt to begin their clock cycles by pulling the SCL line LOW.</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Whichever Master pulls the line LOW first instantly forces the entire physical bus to 0V.</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The other Masters, seeing the line go LOW, immediately synchronize its internal state machine to this falling edge and beings counting its own programmed LOW period</a:t>
                </a:r>
                <a14:m>
                  <m:oMath xmlns:m="http://schemas.openxmlformats.org/officeDocument/2006/math">
                    <a:fld id="{825F15A7-03F4-43D7-82C5-3E23DA2F108C}" type="mathplaceholder">
                      <a:rPr lang="en-US" sz="1800" i="1" smtClean="0">
                        <a:latin typeface="Cambria Math" panose="02040503050406030204" pitchFamily="18" charset="0"/>
                        <a:cs typeface="Arial"/>
                        <a:sym typeface="Arial"/>
                      </a:rPr>
                      <a:t>.</a:t>
                    </a:fld>
                  </m:oMath>
                </a14:m>
                <a:endParaRPr lang="en-US" sz="1800" dirty="0">
                  <a:latin typeface="Atkinson Hyperlegible Next"/>
                  <a:ea typeface="Arial"/>
                  <a:cs typeface="Arial"/>
                  <a:sym typeface="Arial"/>
                </a:endParaRP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The synchronized LOW period is strictly determined by the Master with the </a:t>
                </a:r>
                <a:r>
                  <a:rPr lang="en-US" sz="1800" b="1" dirty="0">
                    <a:latin typeface="Atkinson Hyperlegible Next"/>
                    <a:ea typeface="Arial"/>
                    <a:cs typeface="Arial"/>
                    <a:sym typeface="Arial"/>
                  </a:rPr>
                  <a:t>longest</a:t>
                </a:r>
                <a:r>
                  <a:rPr lang="en-US" sz="1800" dirty="0">
                    <a:latin typeface="Atkinson Hyperlegible Next"/>
                    <a:ea typeface="Arial"/>
                    <a:cs typeface="Arial"/>
                    <a:sym typeface="Arial"/>
                  </a:rPr>
                  <a:t> programmed LOW period.</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The synchronized HIGH period is strictly determined by the Master with the </a:t>
                </a:r>
                <a:r>
                  <a:rPr lang="en-US" sz="1800" b="1" dirty="0">
                    <a:latin typeface="Atkinson Hyperlegible Next"/>
                    <a:ea typeface="Arial"/>
                    <a:cs typeface="Arial"/>
                    <a:sym typeface="Arial"/>
                  </a:rPr>
                  <a:t>shortest</a:t>
                </a:r>
                <a:r>
                  <a:rPr lang="en-US" sz="1800" dirty="0">
                    <a:latin typeface="Atkinson Hyperlegible Next"/>
                    <a:ea typeface="Arial"/>
                    <a:cs typeface="Arial"/>
                    <a:sym typeface="Arial"/>
                  </a:rPr>
                  <a:t> programmed HIGH period.</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If a device pulls down the clock line for a longer time, the result is that all clock generators must enter the wait state. In this way, a slave slows down a fast master, and the slow device creates enough time to store a received byte or to prepare a byte to be transmitted.</a:t>
                </a:r>
              </a:p>
            </p:txBody>
          </p:sp>
        </mc:Choice>
        <mc:Fallback xmlns="">
          <p:sp>
            <p:nvSpPr>
              <p:cNvPr id="118" name="Google Shape;118;p29">
                <a:extLst>
                  <a:ext uri="{FF2B5EF4-FFF2-40B4-BE49-F238E27FC236}">
                    <a16:creationId xmlns:a16="http://schemas.microsoft.com/office/drawing/2014/main" id="{643EF024-AE49-44D7-3D0E-BDBE542A1980}"/>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491" t="-759" r="-49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73FBB912-3BE1-0FDC-0F8D-75F17807F43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B753FFA-1062-4F7F-C60E-4F17B9216E1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I2C (11/12)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2671A65-398A-4E29-D9CF-2D806A346A5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4AB7BC8-64B4-8E68-C76C-0246C7DE4C7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1BA12BC-D4AB-639E-6A19-7D09BC8BE62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2E3CBD1-9AE4-6CC7-3BF7-78BDF5533B7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58DF4DC-5B6B-F42C-2A96-D7B2FE5FA56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4E81CC8-3FD2-8E53-EBDC-72FAEEE66C3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751342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E85744D-8F64-9B67-7C52-05D0B3EA7A0F}"/>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6833CF3F-84C2-34A0-2BA3-F9A8B80F23F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1C10439-E04A-9BA5-3801-684146A10E9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I2C (12/12)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93BF50D-F511-4BE4-3D97-103ADE76195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B019C62-854F-AE33-B3C6-E7D14E4E486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6DD070C-1E94-C3FD-5B89-2C48DF26124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4649661-4C33-DF20-5644-DD94DD874D1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B21825C-F709-ED5C-85D5-10058831D15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7FE6DA0-F44D-7571-BF30-5345E2AEA9E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Timing diagram: Synchronization of two I2C clock generators during arbitration. Device 1 pulls SCL low first, and the bus line goes low immediately. Device 2 goes low later and releases later. When device 1 releases its clock high, the bus stays low because device 2 still holds it, so device 1 enters a wait state. The bus goes high only when device 2 releases, starting the HIGH period for both. Both then pull low together. The wired-AND bus follows the longest low and shortest high.">
            <a:extLst>
              <a:ext uri="{FF2B5EF4-FFF2-40B4-BE49-F238E27FC236}">
                <a16:creationId xmlns:a16="http://schemas.microsoft.com/office/drawing/2014/main" id="{89F6B071-B715-7FBB-0E30-D060E408D0E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1126" y="1205042"/>
            <a:ext cx="11281394" cy="5097742"/>
          </a:xfrm>
          <a:prstGeom prst="rect">
            <a:avLst/>
          </a:prstGeom>
        </p:spPr>
      </p:pic>
    </p:spTree>
    <p:extLst>
      <p:ext uri="{BB962C8B-B14F-4D97-AF65-F5344CB8AC3E}">
        <p14:creationId xmlns:p14="http://schemas.microsoft.com/office/powerpoint/2010/main" val="17264475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4C84DABF-1A65-C6B6-59B9-E38B0BF872E4}"/>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8BFBCFF-B319-7084-60B4-F40A9B4A3E3F}"/>
              </a:ext>
            </a:extLst>
          </p:cNvPr>
          <p:cNvGrpSpPr/>
          <p:nvPr/>
        </p:nvGrpSpPr>
        <p:grpSpPr>
          <a:xfrm>
            <a:off x="2206906" y="2674628"/>
            <a:ext cx="7778187" cy="1508744"/>
            <a:chOff x="2206906" y="1491040"/>
            <a:chExt cx="7778187" cy="1508744"/>
          </a:xfrm>
        </p:grpSpPr>
        <p:sp>
          <p:nvSpPr>
            <p:cNvPr id="89" name="Google Shape;89;p27">
              <a:extLst>
                <a:ext uri="{FF2B5EF4-FFF2-40B4-BE49-F238E27FC236}">
                  <a16:creationId xmlns:a16="http://schemas.microsoft.com/office/drawing/2014/main" id="{DFEEFAD1-FD07-DA27-3395-E9F381198CEC}"/>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I2C Code</a:t>
              </a:r>
              <a:endParaRPr sz="1400" b="0" i="0" u="none" strike="noStrike" cap="none" dirty="0">
                <a:solidFill>
                  <a:srgbClr val="000000"/>
                </a:solidFill>
                <a:latin typeface="Atkinson Hyperlegible Next"/>
                <a:ea typeface="Arial"/>
                <a:cs typeface="Arial"/>
                <a:sym typeface="Arial"/>
              </a:endParaRPr>
            </a:p>
          </p:txBody>
        </p:sp>
        <p:grpSp>
          <p:nvGrpSpPr>
            <p:cNvPr id="91" name="Google Shape;91;p27">
              <a:extLst>
                <a:ext uri="{FF2B5EF4-FFF2-40B4-BE49-F238E27FC236}">
                  <a16:creationId xmlns:a16="http://schemas.microsoft.com/office/drawing/2014/main" id="{C1953101-C1B4-8CB0-EDF2-2B63B55E05F5}"/>
                </a:ext>
              </a:extLst>
            </p:cNvPr>
            <p:cNvGrpSpPr/>
            <p:nvPr/>
          </p:nvGrpSpPr>
          <p:grpSpPr>
            <a:xfrm>
              <a:off x="3943790" y="2676939"/>
              <a:ext cx="3861740" cy="322845"/>
              <a:chOff x="3943790" y="2676939"/>
              <a:chExt cx="3861740" cy="322845"/>
            </a:xfrm>
          </p:grpSpPr>
          <p:cxnSp>
            <p:nvCxnSpPr>
              <p:cNvPr id="92" name="Google Shape;92;p27">
                <a:extLst>
                  <a:ext uri="{FF2B5EF4-FFF2-40B4-BE49-F238E27FC236}">
                    <a16:creationId xmlns:a16="http://schemas.microsoft.com/office/drawing/2014/main" id="{B27C0305-474B-0245-D124-55042940E23D}"/>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AA189254-DAC8-83C7-CCA9-AA7F71F3AA12}"/>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7C3506FF-25B6-D07B-BC27-27559D006FF8}"/>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647443F8-13EA-9F99-6347-86686C2F1BE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A9DC57D0-865F-E52A-7998-32204E9C691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71ABA7B5-D926-F07C-904B-3086E1D28534}"/>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CEE29D37-31CC-3B06-AD9F-5E2CFB3184DF}"/>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3E25C5FF-1F7B-1CC5-6931-30EDADB0D41E}"/>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10630841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6AB9445-A2D5-5FC1-BDC2-BEBA1C2E88E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64F7AAD-1DF6-2CFB-9ED5-A6E399F504C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ctr" anchorCtr="0">
            <a:noAutofit/>
          </a:bodyPr>
          <a:lstStyle/>
          <a:p>
            <a:pPr marL="114300" indent="0" algn="l">
              <a:spcBef>
                <a:spcPts val="0"/>
              </a:spcBef>
              <a:buNone/>
            </a:pPr>
            <a:r>
              <a:rPr lang="en-US" sz="1400" dirty="0">
                <a:solidFill>
                  <a:srgbClr val="7F0055"/>
                </a:solidFill>
                <a:latin typeface="Consolas" panose="020B0609020204030204" pitchFamily="49" charset="0"/>
              </a:rPr>
              <a:t>void</a:t>
            </a:r>
            <a:r>
              <a:rPr lang="en-US" sz="1400" dirty="0">
                <a:solidFill>
                  <a:srgbClr val="000000"/>
                </a:solidFill>
                <a:latin typeface="Consolas" panose="020B0609020204030204" pitchFamily="49" charset="0"/>
              </a:rPr>
              <a:t> I2CA_Init(</a:t>
            </a:r>
            <a:r>
              <a:rPr lang="en-US" sz="1400" dirty="0">
                <a:solidFill>
                  <a:srgbClr val="7F0055"/>
                </a:solidFill>
                <a:latin typeface="Consolas" panose="020B0609020204030204" pitchFamily="49" charset="0"/>
              </a:rPr>
              <a:t>void</a:t>
            </a:r>
            <a:r>
              <a:rPr lang="en-US" sz="1400" dirty="0">
                <a:solidFill>
                  <a:srgbClr val="000000"/>
                </a:solidFill>
                <a:latin typeface="Consolas" panose="020B0609020204030204" pitchFamily="49" charset="0"/>
              </a:rPr>
              <a:t>) {</a:t>
            </a:r>
          </a:p>
          <a:p>
            <a:pPr marL="114300" indent="0" algn="l">
              <a:spcBef>
                <a:spcPts val="0"/>
              </a:spcBef>
              <a:buNone/>
            </a:pPr>
            <a:r>
              <a:rPr lang="en-US" sz="1400" dirty="0">
                <a:solidFill>
                  <a:srgbClr val="000000"/>
                </a:solidFill>
                <a:latin typeface="Consolas" panose="020B0609020204030204" pitchFamily="49" charset="0"/>
              </a:rPr>
              <a:t>    </a:t>
            </a:r>
            <a:r>
              <a:rPr lang="en-US" sz="1400" dirty="0">
                <a:solidFill>
                  <a:srgbClr val="3F7F5F"/>
                </a:solidFill>
                <a:latin typeface="Consolas" panose="020B0609020204030204" pitchFamily="49" charset="0"/>
              </a:rPr>
              <a:t>// 1. Set the </a:t>
            </a:r>
            <a:r>
              <a:rPr lang="en-US" sz="1400" dirty="0" err="1">
                <a:solidFill>
                  <a:srgbClr val="3F7F5F"/>
                </a:solidFill>
                <a:latin typeface="Consolas" panose="020B0609020204030204" pitchFamily="49" charset="0"/>
              </a:rPr>
              <a:t>Prescaler</a:t>
            </a:r>
            <a:r>
              <a:rPr lang="en-US" sz="1400" dirty="0">
                <a:solidFill>
                  <a:srgbClr val="3F7F5F"/>
                </a:solidFill>
                <a:latin typeface="Consolas" panose="020B0609020204030204" pitchFamily="49" charset="0"/>
              </a:rPr>
              <a:t> to generate the Module Clock</a:t>
            </a:r>
          </a:p>
          <a:p>
            <a:pPr marL="114300" indent="0" algn="l">
              <a:spcBef>
                <a:spcPts val="0"/>
              </a:spcBef>
              <a:buNone/>
            </a:pPr>
            <a:r>
              <a:rPr lang="en-US" sz="1400" dirty="0">
                <a:solidFill>
                  <a:srgbClr val="000000"/>
                </a:solidFill>
                <a:latin typeface="Consolas" panose="020B0609020204030204" pitchFamily="49" charset="0"/>
              </a:rPr>
              <a:t>    I2caRegs.</a:t>
            </a:r>
            <a:r>
              <a:rPr lang="en-US" sz="1400" dirty="0">
                <a:solidFill>
                  <a:srgbClr val="0000C0"/>
                </a:solidFill>
                <a:latin typeface="Consolas" panose="020B0609020204030204" pitchFamily="49" charset="0"/>
              </a:rPr>
              <a:t>I2CPSC</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all</a:t>
            </a:r>
            <a:r>
              <a:rPr lang="en-US" sz="1400" dirty="0">
                <a:solidFill>
                  <a:srgbClr val="000000"/>
                </a:solidFill>
                <a:latin typeface="Consolas" panose="020B0609020204030204" pitchFamily="49" charset="0"/>
              </a:rPr>
              <a:t> = 16;   </a:t>
            </a:r>
            <a:r>
              <a:rPr lang="en-US" sz="1400" dirty="0">
                <a:solidFill>
                  <a:srgbClr val="3F7F5F"/>
                </a:solidFill>
                <a:latin typeface="Consolas" panose="020B0609020204030204" pitchFamily="49" charset="0"/>
              </a:rPr>
              <a:t>// Divides high-speed system clock down to ~7-12 MHz</a:t>
            </a:r>
          </a:p>
          <a:p>
            <a:pPr marL="114300" indent="0" algn="l">
              <a:spcBef>
                <a:spcPts val="0"/>
              </a:spcBef>
              <a:buNone/>
            </a:pPr>
            <a:r>
              <a:rPr lang="en-US" sz="1400" dirty="0">
                <a:solidFill>
                  <a:srgbClr val="000000"/>
                </a:solidFill>
                <a:latin typeface="Consolas" panose="020B0609020204030204" pitchFamily="49" charset="0"/>
              </a:rPr>
              <a:t>    </a:t>
            </a:r>
          </a:p>
          <a:p>
            <a:pPr marL="114300" indent="0" algn="l">
              <a:spcBef>
                <a:spcPts val="0"/>
              </a:spcBef>
              <a:buNone/>
            </a:pPr>
            <a:r>
              <a:rPr lang="en-US" sz="1400" dirty="0">
                <a:solidFill>
                  <a:srgbClr val="000000"/>
                </a:solidFill>
                <a:latin typeface="Consolas" panose="020B0609020204030204" pitchFamily="49" charset="0"/>
              </a:rPr>
              <a:t>    </a:t>
            </a:r>
            <a:r>
              <a:rPr lang="en-US" sz="1400" dirty="0">
                <a:solidFill>
                  <a:srgbClr val="3F7F5F"/>
                </a:solidFill>
                <a:latin typeface="Consolas" panose="020B0609020204030204" pitchFamily="49" charset="0"/>
              </a:rPr>
              <a:t>// 2. Define the exact characteristics of the SCL wave</a:t>
            </a:r>
          </a:p>
          <a:p>
            <a:pPr marL="114300" indent="0" algn="l">
              <a:spcBef>
                <a:spcPts val="0"/>
              </a:spcBef>
              <a:buNone/>
            </a:pPr>
            <a:r>
              <a:rPr lang="en-US" sz="1400" dirty="0">
                <a:solidFill>
                  <a:srgbClr val="000000"/>
                </a:solidFill>
                <a:latin typeface="Consolas" panose="020B0609020204030204" pitchFamily="49" charset="0"/>
              </a:rPr>
              <a:t>    I2caRegs.</a:t>
            </a:r>
            <a:r>
              <a:rPr lang="en-US" sz="1400" dirty="0">
                <a:solidFill>
                  <a:srgbClr val="0000C0"/>
                </a:solidFill>
                <a:latin typeface="Consolas" panose="020B0609020204030204" pitchFamily="49" charset="0"/>
              </a:rPr>
              <a:t>I2CCLKL</a:t>
            </a:r>
            <a:r>
              <a:rPr lang="en-US" sz="1400" dirty="0">
                <a:solidFill>
                  <a:srgbClr val="000000"/>
                </a:solidFill>
                <a:latin typeface="Consolas" panose="020B0609020204030204" pitchFamily="49" charset="0"/>
              </a:rPr>
              <a:t> = 10;      </a:t>
            </a:r>
            <a:r>
              <a:rPr lang="en-US" sz="1400" dirty="0">
                <a:solidFill>
                  <a:srgbClr val="3F7F5F"/>
                </a:solidFill>
                <a:latin typeface="Consolas" panose="020B0609020204030204" pitchFamily="49" charset="0"/>
              </a:rPr>
              <a:t>// Defines the duration of the SCL LOW period</a:t>
            </a:r>
          </a:p>
          <a:p>
            <a:pPr marL="114300" indent="0" algn="l">
              <a:spcBef>
                <a:spcPts val="0"/>
              </a:spcBef>
              <a:buNone/>
            </a:pPr>
            <a:r>
              <a:rPr lang="en-US" sz="1400" dirty="0">
                <a:solidFill>
                  <a:srgbClr val="000000"/>
                </a:solidFill>
                <a:latin typeface="Consolas" panose="020B0609020204030204" pitchFamily="49" charset="0"/>
              </a:rPr>
              <a:t>    I2caRegs.</a:t>
            </a:r>
            <a:r>
              <a:rPr lang="en-US" sz="1400" dirty="0">
                <a:solidFill>
                  <a:srgbClr val="0000C0"/>
                </a:solidFill>
                <a:latin typeface="Consolas" panose="020B0609020204030204" pitchFamily="49" charset="0"/>
              </a:rPr>
              <a:t>I2CCLKH</a:t>
            </a:r>
            <a:r>
              <a:rPr lang="en-US" sz="1400" dirty="0">
                <a:solidFill>
                  <a:srgbClr val="000000"/>
                </a:solidFill>
                <a:latin typeface="Consolas" panose="020B0609020204030204" pitchFamily="49" charset="0"/>
              </a:rPr>
              <a:t> = 5;       </a:t>
            </a:r>
            <a:r>
              <a:rPr lang="en-US" sz="1400" dirty="0">
                <a:solidFill>
                  <a:srgbClr val="3F7F5F"/>
                </a:solidFill>
                <a:latin typeface="Consolas" panose="020B0609020204030204" pitchFamily="49" charset="0"/>
              </a:rPr>
              <a:t>// Defines the duration of the SCL HIGH period</a:t>
            </a:r>
          </a:p>
          <a:p>
            <a:pPr marL="114300" indent="0" algn="l">
              <a:spcBef>
                <a:spcPts val="0"/>
              </a:spcBef>
              <a:buNone/>
            </a:pPr>
            <a:r>
              <a:rPr lang="en-US" sz="1400" dirty="0">
                <a:solidFill>
                  <a:srgbClr val="000000"/>
                </a:solidFill>
                <a:latin typeface="Consolas" panose="020B0609020204030204" pitchFamily="49" charset="0"/>
              </a:rPr>
              <a:t>    </a:t>
            </a:r>
          </a:p>
          <a:p>
            <a:pPr marL="114300" indent="0" algn="l">
              <a:spcBef>
                <a:spcPts val="0"/>
              </a:spcBef>
              <a:buNone/>
            </a:pPr>
            <a:r>
              <a:rPr lang="en-US" sz="1400" dirty="0">
                <a:solidFill>
                  <a:srgbClr val="000000"/>
                </a:solidFill>
                <a:latin typeface="Consolas" panose="020B0609020204030204" pitchFamily="49" charset="0"/>
              </a:rPr>
              <a:t>    </a:t>
            </a:r>
            <a:r>
              <a:rPr lang="en-US" sz="1400" dirty="0">
                <a:solidFill>
                  <a:srgbClr val="3F7F5F"/>
                </a:solidFill>
                <a:latin typeface="Consolas" panose="020B0609020204030204" pitchFamily="49" charset="0"/>
              </a:rPr>
              <a:t>// 3. Enable Interrupts for critical network events</a:t>
            </a:r>
          </a:p>
          <a:p>
            <a:pPr marL="114300" indent="0" algn="l">
              <a:spcBef>
                <a:spcPts val="0"/>
              </a:spcBef>
              <a:buNone/>
            </a:pPr>
            <a:r>
              <a:rPr lang="en-US" sz="1400" dirty="0">
                <a:solidFill>
                  <a:srgbClr val="000000"/>
                </a:solidFill>
                <a:latin typeface="Consolas" panose="020B0609020204030204" pitchFamily="49" charset="0"/>
              </a:rPr>
              <a:t>    I2caRegs.</a:t>
            </a:r>
            <a:r>
              <a:rPr lang="en-US" sz="1400" dirty="0">
                <a:solidFill>
                  <a:srgbClr val="0000C0"/>
                </a:solidFill>
                <a:latin typeface="Consolas" panose="020B0609020204030204" pitchFamily="49" charset="0"/>
              </a:rPr>
              <a:t>I2CIER</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all</a:t>
            </a:r>
            <a:r>
              <a:rPr lang="en-US" sz="1400" dirty="0">
                <a:solidFill>
                  <a:srgbClr val="000000"/>
                </a:solidFill>
                <a:latin typeface="Consolas" panose="020B0609020204030204" pitchFamily="49" charset="0"/>
              </a:rPr>
              <a:t> = 0x24; </a:t>
            </a:r>
            <a:r>
              <a:rPr lang="en-US" sz="1400" dirty="0">
                <a:solidFill>
                  <a:srgbClr val="3F7F5F"/>
                </a:solidFill>
                <a:latin typeface="Consolas" panose="020B0609020204030204" pitchFamily="49" charset="0"/>
              </a:rPr>
              <a:t>// Enable Start Condition Detected (SCD) &amp; Register Access Ready (ARDY)</a:t>
            </a:r>
          </a:p>
          <a:p>
            <a:pPr marL="114300" indent="0" algn="l">
              <a:spcBef>
                <a:spcPts val="0"/>
              </a:spcBef>
              <a:buNone/>
            </a:pPr>
            <a:r>
              <a:rPr lang="en-US" sz="1400" dirty="0">
                <a:solidFill>
                  <a:srgbClr val="000000"/>
                </a:solidFill>
                <a:latin typeface="Consolas" panose="020B0609020204030204" pitchFamily="49" charset="0"/>
              </a:rPr>
              <a:t>    </a:t>
            </a:r>
          </a:p>
          <a:p>
            <a:pPr marL="114300" indent="0" algn="l">
              <a:spcBef>
                <a:spcPts val="0"/>
              </a:spcBef>
              <a:buNone/>
            </a:pPr>
            <a:r>
              <a:rPr lang="en-US" sz="1400" dirty="0">
                <a:solidFill>
                  <a:srgbClr val="000000"/>
                </a:solidFill>
                <a:latin typeface="Consolas" panose="020B0609020204030204" pitchFamily="49" charset="0"/>
              </a:rPr>
              <a:t>    </a:t>
            </a:r>
            <a:r>
              <a:rPr lang="en-US" sz="1400" dirty="0">
                <a:solidFill>
                  <a:srgbClr val="3F7F5F"/>
                </a:solidFill>
                <a:latin typeface="Consolas" panose="020B0609020204030204" pitchFamily="49" charset="0"/>
              </a:rPr>
              <a:t>// 4. Take the I2C module out of reset</a:t>
            </a:r>
          </a:p>
          <a:p>
            <a:pPr marL="114300" indent="0" algn="l">
              <a:spcBef>
                <a:spcPts val="0"/>
              </a:spcBef>
              <a:buNone/>
            </a:pPr>
            <a:r>
              <a:rPr lang="en-US" sz="1400" dirty="0">
                <a:solidFill>
                  <a:srgbClr val="000000"/>
                </a:solidFill>
                <a:latin typeface="Consolas" panose="020B0609020204030204" pitchFamily="49" charset="0"/>
              </a:rPr>
              <a:t>    I2caRegs.</a:t>
            </a:r>
            <a:r>
              <a:rPr lang="en-US" sz="1400" dirty="0">
                <a:solidFill>
                  <a:srgbClr val="0000C0"/>
                </a:solidFill>
                <a:latin typeface="Consolas" panose="020B0609020204030204" pitchFamily="49" charset="0"/>
              </a:rPr>
              <a:t>I2CMDR</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all</a:t>
            </a:r>
            <a:r>
              <a:rPr lang="en-US" sz="1400" dirty="0">
                <a:solidFill>
                  <a:srgbClr val="000000"/>
                </a:solidFill>
                <a:latin typeface="Consolas" panose="020B0609020204030204" pitchFamily="49" charset="0"/>
              </a:rPr>
              <a:t> = 0x0020; </a:t>
            </a:r>
          </a:p>
          <a:p>
            <a:pPr marL="114300" indent="0" algn="l">
              <a:spcBef>
                <a:spcPts val="0"/>
              </a:spcBef>
              <a:buNone/>
            </a:pPr>
            <a:r>
              <a:rPr lang="en-US" sz="1400" dirty="0">
                <a:solidFill>
                  <a:srgbClr val="000000"/>
                </a:solidFill>
                <a:latin typeface="Consolas" panose="020B0609020204030204" pitchFamily="49" charset="0"/>
              </a:rPr>
              <a:t>    </a:t>
            </a:r>
          </a:p>
          <a:p>
            <a:pPr marL="114300" indent="0" algn="l">
              <a:spcBef>
                <a:spcPts val="0"/>
              </a:spcBef>
              <a:buNone/>
            </a:pPr>
            <a:r>
              <a:rPr lang="en-US" sz="1400" dirty="0">
                <a:solidFill>
                  <a:srgbClr val="000000"/>
                </a:solidFill>
                <a:latin typeface="Consolas" panose="020B0609020204030204" pitchFamily="49" charset="0"/>
              </a:rPr>
              <a:t>    </a:t>
            </a:r>
            <a:r>
              <a:rPr lang="en-US" sz="1400" dirty="0">
                <a:solidFill>
                  <a:srgbClr val="3F7F5F"/>
                </a:solidFill>
                <a:latin typeface="Consolas" panose="020B0609020204030204" pitchFamily="49" charset="0"/>
              </a:rPr>
              <a:t>// 5. Enable the 16-level Transmit and Receive FIFOs</a:t>
            </a:r>
          </a:p>
          <a:p>
            <a:pPr marL="114300" indent="0" algn="l">
              <a:spcBef>
                <a:spcPts val="0"/>
              </a:spcBef>
              <a:buNone/>
            </a:pPr>
            <a:r>
              <a:rPr lang="en-US" sz="1400" dirty="0">
                <a:solidFill>
                  <a:srgbClr val="000000"/>
                </a:solidFill>
                <a:latin typeface="Consolas" panose="020B0609020204030204" pitchFamily="49" charset="0"/>
              </a:rPr>
              <a:t>    I2caRegs.</a:t>
            </a:r>
            <a:r>
              <a:rPr lang="en-US" sz="1400" dirty="0">
                <a:solidFill>
                  <a:srgbClr val="0000C0"/>
                </a:solidFill>
                <a:latin typeface="Consolas" panose="020B0609020204030204" pitchFamily="49" charset="0"/>
              </a:rPr>
              <a:t>I2CFFTX</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all</a:t>
            </a:r>
            <a:r>
              <a:rPr lang="en-US" sz="1400" dirty="0">
                <a:solidFill>
                  <a:srgbClr val="000000"/>
                </a:solidFill>
                <a:latin typeface="Consolas" panose="020B0609020204030204" pitchFamily="49" charset="0"/>
              </a:rPr>
              <a:t> = 0x6000; </a:t>
            </a:r>
            <a:r>
              <a:rPr lang="en-US" sz="1400" dirty="0">
                <a:solidFill>
                  <a:srgbClr val="3F7F5F"/>
                </a:solidFill>
                <a:latin typeface="Consolas" panose="020B0609020204030204" pitchFamily="49" charset="0"/>
              </a:rPr>
              <a:t>// Enable FIFO mode and TXFIFO</a:t>
            </a:r>
          </a:p>
          <a:p>
            <a:pPr marL="114300" indent="0" algn="l">
              <a:spcBef>
                <a:spcPts val="0"/>
              </a:spcBef>
              <a:buNone/>
            </a:pPr>
            <a:r>
              <a:rPr lang="en-US" sz="1400" dirty="0">
                <a:solidFill>
                  <a:srgbClr val="000000"/>
                </a:solidFill>
                <a:latin typeface="Consolas" panose="020B0609020204030204" pitchFamily="49" charset="0"/>
              </a:rPr>
              <a:t>    I2caRegs.</a:t>
            </a:r>
            <a:r>
              <a:rPr lang="en-US" sz="1400" dirty="0">
                <a:solidFill>
                  <a:srgbClr val="0000C0"/>
                </a:solidFill>
                <a:latin typeface="Consolas" panose="020B0609020204030204" pitchFamily="49" charset="0"/>
              </a:rPr>
              <a:t>I2CFFRX</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all</a:t>
            </a:r>
            <a:r>
              <a:rPr lang="en-US" sz="1400" dirty="0">
                <a:solidFill>
                  <a:srgbClr val="000000"/>
                </a:solidFill>
                <a:latin typeface="Consolas" panose="020B0609020204030204" pitchFamily="49" charset="0"/>
              </a:rPr>
              <a:t> = 0x2040; </a:t>
            </a:r>
            <a:r>
              <a:rPr lang="en-US" sz="1400" dirty="0">
                <a:solidFill>
                  <a:srgbClr val="3F7F5F"/>
                </a:solidFill>
                <a:latin typeface="Consolas" panose="020B0609020204030204" pitchFamily="49" charset="0"/>
              </a:rPr>
              <a:t>// Enable RXFIFO and clear interrupt flags</a:t>
            </a:r>
          </a:p>
          <a:p>
            <a:pPr marL="114300" indent="0" algn="l">
              <a:spcBef>
                <a:spcPts val="0"/>
              </a:spcBef>
              <a:buNone/>
            </a:pPr>
            <a:r>
              <a:rPr lang="en-US" sz="1400" dirty="0">
                <a:solidFill>
                  <a:srgbClr val="000000"/>
                </a:solidFill>
                <a:latin typeface="Consolas" panose="020B0609020204030204" pitchFamily="49" charset="0"/>
              </a:rPr>
              <a:t>}</a:t>
            </a:r>
          </a:p>
          <a:p>
            <a:pPr marL="114300" indent="0" algn="l">
              <a:spcBef>
                <a:spcPts val="0"/>
              </a:spcBef>
              <a:buNone/>
            </a:pPr>
            <a:endParaRPr lang="en-US" sz="1400" dirty="0">
              <a:solidFill>
                <a:srgbClr val="000000"/>
              </a:solidFill>
              <a:latin typeface="Consolas" panose="020B0609020204030204" pitchFamily="49" charset="0"/>
              <a:ea typeface="Arial"/>
              <a:cs typeface="Arial"/>
              <a:sym typeface="Arial"/>
            </a:endParaRPr>
          </a:p>
          <a:p>
            <a:pPr marL="114300" indent="0">
              <a:spcBef>
                <a:spcPts val="0"/>
              </a:spcBef>
              <a:buNone/>
            </a:pPr>
            <a:r>
              <a:rPr lang="en-US" sz="1400" dirty="0">
                <a:latin typeface="Atkinson Hyperlegible Next"/>
                <a:ea typeface="Arial"/>
                <a:cs typeface="Arial"/>
                <a:sym typeface="Arial"/>
              </a:rPr>
              <a:t>Notice that </a:t>
            </a:r>
            <a:r>
              <a:rPr lang="en-US" sz="1400" dirty="0">
                <a:solidFill>
                  <a:srgbClr val="0000C0"/>
                </a:solidFill>
                <a:latin typeface="Consolas" panose="020B0609020204030204" pitchFamily="49" charset="0"/>
              </a:rPr>
              <a:t>I2CCLKL</a:t>
            </a:r>
            <a:r>
              <a:rPr lang="en-US" sz="1400" dirty="0">
                <a:latin typeface="Atkinson Hyperlegible Next"/>
                <a:ea typeface="Arial"/>
                <a:cs typeface="Arial"/>
                <a:sym typeface="Arial"/>
              </a:rPr>
              <a:t> (10) is mathematically larger than </a:t>
            </a:r>
            <a:r>
              <a:rPr lang="en-US" sz="1400" dirty="0">
                <a:solidFill>
                  <a:srgbClr val="0000C0"/>
                </a:solidFill>
                <a:latin typeface="Consolas" panose="020B0609020204030204" pitchFamily="49" charset="0"/>
              </a:rPr>
              <a:t>I2CCLKH</a:t>
            </a:r>
            <a:r>
              <a:rPr lang="en-US" sz="1400" dirty="0">
                <a:latin typeface="Atkinson Hyperlegible Next"/>
                <a:ea typeface="Arial"/>
                <a:cs typeface="Arial"/>
                <a:sym typeface="Arial"/>
              </a:rPr>
              <a:t> (5). Because the physical bus relies on passive pull-up resistors to transition HIGH, the rise-time is inherently slower, compared to the transistors, than the fall-time (which is actively pulled LOW by a transistor).</a:t>
            </a:r>
          </a:p>
        </p:txBody>
      </p:sp>
      <p:sp>
        <p:nvSpPr>
          <p:cNvPr id="119" name="Google Shape;119;p29">
            <a:extLst>
              <a:ext uri="{FF2B5EF4-FFF2-40B4-BE49-F238E27FC236}">
                <a16:creationId xmlns:a16="http://schemas.microsoft.com/office/drawing/2014/main" id="{895F2CF9-F9F3-853C-93A6-089F5EECECD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4E18208-B2D2-2EA9-4104-1A4E6257BBD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I2C - Init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98F12A4-E1E6-5C24-9100-6B1E328460A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D654F67-44EB-984F-1CDC-AA66144EBFD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E7D704D-26FA-6372-2EEE-C3B7BE81D5D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5F22221-BB8D-4ABD-3F2C-9DF51F5C2E0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F23AE3F-1633-9D7C-DC38-12ABF363C73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5B159FC-EA3B-C2C2-22D6-327F6226D69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014404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97F4231-B65F-212C-0CA4-631254DC90F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3F088E7-1145-C609-7933-790D8E932D6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ctr" anchorCtr="0">
            <a:noAutofit/>
          </a:bodyPr>
          <a:lstStyle/>
          <a:p>
            <a:pPr marL="114300" indent="0" algn="l">
              <a:spcBef>
                <a:spcPts val="0"/>
              </a:spcBef>
              <a:buNone/>
            </a:pPr>
            <a:r>
              <a:rPr lang="nn-NO" sz="1000" dirty="0">
                <a:solidFill>
                  <a:srgbClr val="005032"/>
                </a:solidFill>
                <a:latin typeface="Consolas" panose="020B0609020204030204" pitchFamily="49" charset="0"/>
              </a:rPr>
              <a:t>Uint16</a:t>
            </a:r>
            <a:r>
              <a:rPr lang="nn-NO" sz="1000" dirty="0">
                <a:solidFill>
                  <a:srgbClr val="000000"/>
                </a:solidFill>
                <a:latin typeface="Consolas" panose="020B0609020204030204" pitchFamily="49" charset="0"/>
              </a:rPr>
              <a:t> I2CA_WriteData(</a:t>
            </a:r>
            <a:r>
              <a:rPr lang="nn-NO" sz="1000" dirty="0">
                <a:solidFill>
                  <a:srgbClr val="7F0055"/>
                </a:solidFill>
                <a:latin typeface="Consolas" panose="020B0609020204030204" pitchFamily="49" charset="0"/>
              </a:rPr>
              <a:t>struct</a:t>
            </a:r>
            <a:r>
              <a:rPr lang="nn-NO" sz="1000" dirty="0">
                <a:solidFill>
                  <a:srgbClr val="000000"/>
                </a:solidFill>
                <a:latin typeface="Consolas" panose="020B0609020204030204" pitchFamily="49" charset="0"/>
              </a:rPr>
              <a:t> </a:t>
            </a:r>
            <a:r>
              <a:rPr lang="nn-NO" sz="1000" dirty="0">
                <a:solidFill>
                  <a:srgbClr val="005032"/>
                </a:solidFill>
                <a:latin typeface="Consolas" panose="020B0609020204030204" pitchFamily="49" charset="0"/>
              </a:rPr>
              <a:t>I2CMSG</a:t>
            </a:r>
            <a:r>
              <a:rPr lang="nn-NO" sz="1000" dirty="0">
                <a:solidFill>
                  <a:srgbClr val="000000"/>
                </a:solidFill>
                <a:latin typeface="Consolas" panose="020B0609020204030204" pitchFamily="49" charset="0"/>
              </a:rPr>
              <a:t> *msg) {</a:t>
            </a: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1. Verify if the previous message completed?</a:t>
            </a: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if</a:t>
            </a:r>
            <a:r>
              <a:rPr lang="en-US" sz="1000" dirty="0">
                <a:solidFill>
                  <a:srgbClr val="000000"/>
                </a:solidFill>
                <a:latin typeface="Consolas" panose="020B0609020204030204" pitchFamily="49" charset="0"/>
              </a:rPr>
              <a:t>(I2caRegs.</a:t>
            </a:r>
            <a:r>
              <a:rPr lang="en-US" sz="1000" dirty="0">
                <a:solidFill>
                  <a:srgbClr val="0000C0"/>
                </a:solidFill>
                <a:latin typeface="Consolas" panose="020B0609020204030204" pitchFamily="49" charset="0"/>
              </a:rPr>
              <a:t>I2CMDR</a:t>
            </a:r>
            <a:r>
              <a:rPr lang="en-US" sz="1000" dirty="0">
                <a:solidFill>
                  <a:srgbClr val="000000"/>
                </a:solidFill>
                <a:latin typeface="Consolas" panose="020B0609020204030204" pitchFamily="49" charset="0"/>
              </a:rPr>
              <a:t>.</a:t>
            </a:r>
            <a:r>
              <a:rPr lang="en-US" sz="1000" dirty="0">
                <a:solidFill>
                  <a:srgbClr val="0000C0"/>
                </a:solidFill>
                <a:latin typeface="Consolas" panose="020B0609020204030204" pitchFamily="49" charset="0"/>
              </a:rPr>
              <a:t>bit</a:t>
            </a:r>
            <a:r>
              <a:rPr lang="en-US" sz="1000" dirty="0">
                <a:solidFill>
                  <a:srgbClr val="000000"/>
                </a:solidFill>
                <a:latin typeface="Consolas" panose="020B0609020204030204" pitchFamily="49" charset="0"/>
              </a:rPr>
              <a:t>.</a:t>
            </a:r>
            <a:r>
              <a:rPr lang="en-US" sz="1000" dirty="0">
                <a:solidFill>
                  <a:srgbClr val="0000C0"/>
                </a:solidFill>
                <a:latin typeface="Consolas" panose="020B0609020204030204" pitchFamily="49" charset="0"/>
              </a:rPr>
              <a:t>STP</a:t>
            </a:r>
            <a:r>
              <a:rPr lang="en-US" sz="1000" dirty="0">
                <a:solidFill>
                  <a:srgbClr val="000000"/>
                </a:solidFill>
                <a:latin typeface="Consolas" panose="020B0609020204030204" pitchFamily="49" charset="0"/>
              </a:rPr>
              <a:t> == 1) {</a:t>
            </a: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return</a:t>
            </a:r>
            <a:r>
              <a:rPr lang="en-US" sz="1000" dirty="0">
                <a:solidFill>
                  <a:srgbClr val="000000"/>
                </a:solidFill>
                <a:latin typeface="Consolas" panose="020B0609020204030204" pitchFamily="49" charset="0"/>
              </a:rPr>
              <a:t> I2C_STP_NOT_READY_ERROR;</a:t>
            </a:r>
          </a:p>
          <a:p>
            <a:pPr marL="114300" indent="0" algn="l">
              <a:spcBef>
                <a:spcPts val="0"/>
              </a:spcBef>
              <a:buNone/>
            </a:pPr>
            <a:r>
              <a:rPr lang="en-US" sz="1000" dirty="0">
                <a:solidFill>
                  <a:srgbClr val="000000"/>
                </a:solidFill>
                <a:latin typeface="Consolas" panose="020B0609020204030204" pitchFamily="49" charset="0"/>
              </a:rPr>
              <a:t>    }</a:t>
            </a: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2. Verify if another Master using the bus?</a:t>
            </a: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if</a:t>
            </a:r>
            <a:r>
              <a:rPr lang="en-US" sz="1000" dirty="0">
                <a:solidFill>
                  <a:srgbClr val="000000"/>
                </a:solidFill>
                <a:latin typeface="Consolas" panose="020B0609020204030204" pitchFamily="49" charset="0"/>
              </a:rPr>
              <a:t>(I2caRegs.</a:t>
            </a:r>
            <a:r>
              <a:rPr lang="en-US" sz="1000" dirty="0">
                <a:solidFill>
                  <a:srgbClr val="0000C0"/>
                </a:solidFill>
                <a:latin typeface="Consolas" panose="020B0609020204030204" pitchFamily="49" charset="0"/>
              </a:rPr>
              <a:t>I2CSTR</a:t>
            </a:r>
            <a:r>
              <a:rPr lang="en-US" sz="1000" dirty="0">
                <a:solidFill>
                  <a:srgbClr val="000000"/>
                </a:solidFill>
                <a:latin typeface="Consolas" panose="020B0609020204030204" pitchFamily="49" charset="0"/>
              </a:rPr>
              <a:t>.</a:t>
            </a:r>
            <a:r>
              <a:rPr lang="en-US" sz="1000" dirty="0">
                <a:solidFill>
                  <a:srgbClr val="0000C0"/>
                </a:solidFill>
                <a:latin typeface="Consolas" panose="020B0609020204030204" pitchFamily="49" charset="0"/>
              </a:rPr>
              <a:t>bit</a:t>
            </a:r>
            <a:r>
              <a:rPr lang="en-US" sz="1000" dirty="0">
                <a:solidFill>
                  <a:srgbClr val="000000"/>
                </a:solidFill>
                <a:latin typeface="Consolas" panose="020B0609020204030204" pitchFamily="49" charset="0"/>
              </a:rPr>
              <a:t>.</a:t>
            </a:r>
            <a:r>
              <a:rPr lang="en-US" sz="1000" dirty="0">
                <a:solidFill>
                  <a:srgbClr val="0000C0"/>
                </a:solidFill>
                <a:latin typeface="Consolas" panose="020B0609020204030204" pitchFamily="49" charset="0"/>
              </a:rPr>
              <a:t>BB</a:t>
            </a:r>
            <a:r>
              <a:rPr lang="en-US" sz="1000" dirty="0">
                <a:solidFill>
                  <a:srgbClr val="000000"/>
                </a:solidFill>
                <a:latin typeface="Consolas" panose="020B0609020204030204" pitchFamily="49" charset="0"/>
              </a:rPr>
              <a:t> == 1) {</a:t>
            </a: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return</a:t>
            </a:r>
            <a:r>
              <a:rPr lang="en-US" sz="1000" dirty="0">
                <a:solidFill>
                  <a:srgbClr val="000000"/>
                </a:solidFill>
                <a:latin typeface="Consolas" panose="020B0609020204030204" pitchFamily="49" charset="0"/>
              </a:rPr>
              <a:t> I2C_BUS_BUSY_ERROR;</a:t>
            </a:r>
          </a:p>
          <a:p>
            <a:pPr marL="114300" indent="0" algn="l">
              <a:spcBef>
                <a:spcPts val="0"/>
              </a:spcBef>
              <a:buNone/>
            </a:pPr>
            <a:r>
              <a:rPr lang="en-US" sz="1000" dirty="0">
                <a:solidFill>
                  <a:srgbClr val="000000"/>
                </a:solidFill>
                <a:latin typeface="Consolas" panose="020B0609020204030204" pitchFamily="49" charset="0"/>
              </a:rPr>
              <a:t>    }</a:t>
            </a: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3. Broadcast the Slave's address (EEPROM is typically 0x50)</a:t>
            </a:r>
          </a:p>
          <a:p>
            <a:pPr marL="114300" indent="0">
              <a:spcBef>
                <a:spcPts val="0"/>
              </a:spcBef>
              <a:buNone/>
            </a:pPr>
            <a:r>
              <a:rPr lang="en-US" sz="1000" dirty="0">
                <a:solidFill>
                  <a:srgbClr val="000000"/>
                </a:solidFill>
                <a:latin typeface="Consolas" panose="020B0609020204030204" pitchFamily="49" charset="0"/>
              </a:rPr>
              <a:t>    I2caRegs.</a:t>
            </a:r>
            <a:r>
              <a:rPr lang="en-US" sz="1000" dirty="0">
                <a:solidFill>
                  <a:srgbClr val="0000C0"/>
                </a:solidFill>
                <a:latin typeface="Consolas" panose="020B0609020204030204" pitchFamily="49" charset="0"/>
              </a:rPr>
              <a:t>I2CSAR</a:t>
            </a:r>
            <a:r>
              <a:rPr lang="en-US" sz="1000" dirty="0">
                <a:solidFill>
                  <a:srgbClr val="000000"/>
                </a:solidFill>
                <a:latin typeface="Consolas" panose="020B0609020204030204" pitchFamily="49" charset="0"/>
              </a:rPr>
              <a:t>.</a:t>
            </a:r>
            <a:r>
              <a:rPr lang="en-US" sz="1000" dirty="0">
                <a:solidFill>
                  <a:srgbClr val="0000C0"/>
                </a:solidFill>
                <a:latin typeface="Consolas" panose="020B0609020204030204" pitchFamily="49" charset="0"/>
              </a:rPr>
              <a:t>all</a:t>
            </a:r>
            <a:r>
              <a:rPr lang="en-US" sz="1000" dirty="0">
                <a:solidFill>
                  <a:srgbClr val="000000"/>
                </a:solidFill>
                <a:latin typeface="Consolas" panose="020B0609020204030204" pitchFamily="49" charset="0"/>
              </a:rPr>
              <a:t> = msg-&gt;</a:t>
            </a:r>
            <a:r>
              <a:rPr lang="en-US" sz="1000" dirty="0" err="1">
                <a:solidFill>
                  <a:srgbClr val="0000C0"/>
                </a:solidFill>
                <a:latin typeface="Consolas" panose="020B0609020204030204" pitchFamily="49" charset="0"/>
              </a:rPr>
              <a:t>SlaveAddress</a:t>
            </a:r>
            <a:r>
              <a:rPr lang="en-US" sz="1000" dirty="0">
                <a:solidFill>
                  <a:srgbClr val="000000"/>
                </a:solidFill>
                <a:latin typeface="Consolas" panose="020B0609020204030204" pitchFamily="49" charset="0"/>
              </a:rPr>
              <a:t>;</a:t>
            </a:r>
            <a:r>
              <a:rPr lang="en-US" sz="1000" dirty="0">
                <a:solidFill>
                  <a:srgbClr val="0000C0"/>
                </a:solidFill>
                <a:latin typeface="Consolas" panose="020B0609020204030204" pitchFamily="49" charset="0"/>
              </a:rPr>
              <a:t> </a:t>
            </a:r>
            <a:endParaRPr lang="en-US" sz="1000" dirty="0">
              <a:solidFill>
                <a:srgbClr val="000000"/>
              </a:solidFill>
              <a:latin typeface="Consolas" panose="020B0609020204030204" pitchFamily="49" charset="0"/>
            </a:endParaRP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4. Define exactly how many bytes we will transmit</a:t>
            </a: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(2 bytes for the EEPROM memory address + the actual data bytes)</a:t>
            </a:r>
          </a:p>
          <a:p>
            <a:pPr marL="114300" indent="0" algn="l">
              <a:spcBef>
                <a:spcPts val="0"/>
              </a:spcBef>
              <a:buNone/>
            </a:pPr>
            <a:r>
              <a:rPr lang="en-US" sz="1000" dirty="0">
                <a:solidFill>
                  <a:srgbClr val="000000"/>
                </a:solidFill>
                <a:latin typeface="Consolas" panose="020B0609020204030204" pitchFamily="49" charset="0"/>
              </a:rPr>
              <a:t>    I2caRegs.</a:t>
            </a:r>
            <a:r>
              <a:rPr lang="en-US" sz="1000" dirty="0">
                <a:solidFill>
                  <a:srgbClr val="0000C0"/>
                </a:solidFill>
                <a:latin typeface="Consolas" panose="020B0609020204030204" pitchFamily="49" charset="0"/>
              </a:rPr>
              <a:t>I2CCNT</a:t>
            </a:r>
            <a:r>
              <a:rPr lang="en-US" sz="1000" dirty="0">
                <a:solidFill>
                  <a:srgbClr val="000000"/>
                </a:solidFill>
                <a:latin typeface="Consolas" panose="020B0609020204030204" pitchFamily="49" charset="0"/>
              </a:rPr>
              <a:t> = 2 + msg-&gt;</a:t>
            </a:r>
            <a:r>
              <a:rPr lang="en-US" sz="1000" dirty="0" err="1">
                <a:solidFill>
                  <a:srgbClr val="0000C0"/>
                </a:solidFill>
                <a:latin typeface="Consolas" panose="020B0609020204030204" pitchFamily="49" charset="0"/>
              </a:rPr>
              <a:t>NumOfBytes</a:t>
            </a:r>
            <a:r>
              <a:rPr lang="en-US" sz="1000" dirty="0">
                <a:solidFill>
                  <a:srgbClr val="000000"/>
                </a:solidFill>
                <a:latin typeface="Consolas" panose="020B0609020204030204" pitchFamily="49" charset="0"/>
              </a:rPr>
              <a:t>;</a:t>
            </a:r>
          </a:p>
          <a:p>
            <a:pPr marL="114300" indent="0" algn="l">
              <a:spcBef>
                <a:spcPts val="0"/>
              </a:spcBef>
              <a:buNone/>
            </a:pPr>
            <a:endParaRPr lang="en-US" sz="1000" dirty="0">
              <a:latin typeface="Consolas" panose="020B0609020204030204" pitchFamily="49" charset="0"/>
            </a:endParaRPr>
          </a:p>
          <a:p>
            <a:pPr marL="114300" indent="0">
              <a:spcBef>
                <a:spcPts val="0"/>
              </a:spcBef>
              <a:buNone/>
            </a:pP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4. Push the EEPROM memory pointer into the Transmit FIFO (think of the Slave's address as the apartment address and this as setting the specific apartment number we want to write to)</a:t>
            </a:r>
          </a:p>
          <a:p>
            <a:pPr marL="114300" indent="0" algn="l">
              <a:spcBef>
                <a:spcPts val="0"/>
              </a:spcBef>
              <a:buNone/>
            </a:pPr>
            <a:r>
              <a:rPr lang="en-US" sz="1000" dirty="0">
                <a:solidFill>
                  <a:srgbClr val="000000"/>
                </a:solidFill>
                <a:latin typeface="Consolas" panose="020B0609020204030204" pitchFamily="49" charset="0"/>
              </a:rPr>
              <a:t>    I2caRegs.</a:t>
            </a:r>
            <a:r>
              <a:rPr lang="en-US" sz="1000" dirty="0">
                <a:solidFill>
                  <a:srgbClr val="0000C0"/>
                </a:solidFill>
                <a:latin typeface="Consolas" panose="020B0609020204030204" pitchFamily="49" charset="0"/>
              </a:rPr>
              <a:t>I2CDXR</a:t>
            </a:r>
            <a:r>
              <a:rPr lang="en-US" sz="1000" dirty="0">
                <a:solidFill>
                  <a:srgbClr val="000000"/>
                </a:solidFill>
                <a:latin typeface="Consolas" panose="020B0609020204030204" pitchFamily="49" charset="0"/>
              </a:rPr>
              <a:t>.</a:t>
            </a:r>
            <a:r>
              <a:rPr lang="en-US" sz="1000" dirty="0">
                <a:solidFill>
                  <a:srgbClr val="0000C0"/>
                </a:solidFill>
                <a:latin typeface="Consolas" panose="020B0609020204030204" pitchFamily="49" charset="0"/>
              </a:rPr>
              <a:t>all</a:t>
            </a:r>
            <a:r>
              <a:rPr lang="en-US" sz="1000" dirty="0">
                <a:solidFill>
                  <a:srgbClr val="000000"/>
                </a:solidFill>
                <a:latin typeface="Consolas" panose="020B0609020204030204" pitchFamily="49" charset="0"/>
              </a:rPr>
              <a:t> = msg-&gt;</a:t>
            </a:r>
            <a:r>
              <a:rPr lang="en-US" sz="1000" dirty="0" err="1">
                <a:solidFill>
                  <a:srgbClr val="0000C0"/>
                </a:solidFill>
                <a:latin typeface="Consolas" panose="020B0609020204030204" pitchFamily="49" charset="0"/>
              </a:rPr>
              <a:t>MemoryHighAddr</a:t>
            </a:r>
            <a:r>
              <a:rPr lang="en-US" sz="1000" dirty="0">
                <a:solidFill>
                  <a:srgbClr val="000000"/>
                </a:solidFill>
                <a:latin typeface="Consolas" panose="020B0609020204030204" pitchFamily="49" charset="0"/>
              </a:rPr>
              <a:t>;</a:t>
            </a:r>
          </a:p>
          <a:p>
            <a:pPr marL="114300" indent="0" algn="l">
              <a:spcBef>
                <a:spcPts val="0"/>
              </a:spcBef>
              <a:buNone/>
            </a:pPr>
            <a:r>
              <a:rPr lang="en-US" sz="1000" dirty="0">
                <a:solidFill>
                  <a:srgbClr val="000000"/>
                </a:solidFill>
                <a:latin typeface="Consolas" panose="020B0609020204030204" pitchFamily="49" charset="0"/>
              </a:rPr>
              <a:t>    I2caRegs.</a:t>
            </a:r>
            <a:r>
              <a:rPr lang="en-US" sz="1000" dirty="0">
                <a:solidFill>
                  <a:srgbClr val="0000C0"/>
                </a:solidFill>
                <a:latin typeface="Consolas" panose="020B0609020204030204" pitchFamily="49" charset="0"/>
              </a:rPr>
              <a:t>I2CDXR</a:t>
            </a:r>
            <a:r>
              <a:rPr lang="en-US" sz="1000" dirty="0">
                <a:solidFill>
                  <a:srgbClr val="000000"/>
                </a:solidFill>
                <a:latin typeface="Consolas" panose="020B0609020204030204" pitchFamily="49" charset="0"/>
              </a:rPr>
              <a:t>.</a:t>
            </a:r>
            <a:r>
              <a:rPr lang="en-US" sz="1000" dirty="0">
                <a:solidFill>
                  <a:srgbClr val="0000C0"/>
                </a:solidFill>
                <a:latin typeface="Consolas" panose="020B0609020204030204" pitchFamily="49" charset="0"/>
              </a:rPr>
              <a:t>all</a:t>
            </a:r>
            <a:r>
              <a:rPr lang="en-US" sz="1000" dirty="0">
                <a:solidFill>
                  <a:srgbClr val="000000"/>
                </a:solidFill>
                <a:latin typeface="Consolas" panose="020B0609020204030204" pitchFamily="49" charset="0"/>
              </a:rPr>
              <a:t> = msg-&gt;</a:t>
            </a:r>
            <a:r>
              <a:rPr lang="en-US" sz="1000" dirty="0" err="1">
                <a:solidFill>
                  <a:srgbClr val="0000C0"/>
                </a:solidFill>
                <a:latin typeface="Consolas" panose="020B0609020204030204" pitchFamily="49" charset="0"/>
              </a:rPr>
              <a:t>MemoryLowAddr</a:t>
            </a:r>
            <a:r>
              <a:rPr lang="en-US" sz="1000" dirty="0">
                <a:solidFill>
                  <a:srgbClr val="000000"/>
                </a:solidFill>
                <a:latin typeface="Consolas" panose="020B0609020204030204" pitchFamily="49" charset="0"/>
              </a:rPr>
              <a:t>;</a:t>
            </a: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5. Push the actual data payload into the Transmit FIFO</a:t>
            </a: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for</a:t>
            </a: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int</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i</a:t>
            </a:r>
            <a:r>
              <a:rPr lang="en-US" sz="1000" dirty="0">
                <a:solidFill>
                  <a:srgbClr val="000000"/>
                </a:solidFill>
                <a:latin typeface="Consolas" panose="020B0609020204030204" pitchFamily="49" charset="0"/>
              </a:rPr>
              <a:t> = 0; </a:t>
            </a:r>
            <a:r>
              <a:rPr lang="en-US" sz="1000" dirty="0" err="1">
                <a:solidFill>
                  <a:srgbClr val="000000"/>
                </a:solidFill>
                <a:latin typeface="Consolas" panose="020B0609020204030204" pitchFamily="49" charset="0"/>
              </a:rPr>
              <a:t>i</a:t>
            </a:r>
            <a:r>
              <a:rPr lang="en-US" sz="1000" dirty="0">
                <a:solidFill>
                  <a:srgbClr val="000000"/>
                </a:solidFill>
                <a:latin typeface="Consolas" panose="020B0609020204030204" pitchFamily="49" charset="0"/>
              </a:rPr>
              <a:t> &lt; msg-&gt;</a:t>
            </a:r>
            <a:r>
              <a:rPr lang="en-US" sz="1000" dirty="0" err="1">
                <a:solidFill>
                  <a:srgbClr val="0000C0"/>
                </a:solidFill>
                <a:latin typeface="Consolas" panose="020B0609020204030204" pitchFamily="49" charset="0"/>
              </a:rPr>
              <a:t>NumOfBytes</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i</a:t>
            </a:r>
            <a:r>
              <a:rPr lang="en-US" sz="1000" dirty="0">
                <a:solidFill>
                  <a:srgbClr val="000000"/>
                </a:solidFill>
                <a:latin typeface="Consolas" panose="020B0609020204030204" pitchFamily="49" charset="0"/>
              </a:rPr>
              <a:t>++) {</a:t>
            </a:r>
          </a:p>
          <a:p>
            <a:pPr marL="114300" indent="0" algn="l">
              <a:spcBef>
                <a:spcPts val="0"/>
              </a:spcBef>
              <a:buNone/>
            </a:pPr>
            <a:r>
              <a:rPr lang="en-US" sz="1000" dirty="0">
                <a:solidFill>
                  <a:srgbClr val="000000"/>
                </a:solidFill>
                <a:latin typeface="Consolas" panose="020B0609020204030204" pitchFamily="49" charset="0"/>
              </a:rPr>
              <a:t>        I2caRegs.</a:t>
            </a:r>
            <a:r>
              <a:rPr lang="en-US" sz="1000" dirty="0">
                <a:solidFill>
                  <a:srgbClr val="0000C0"/>
                </a:solidFill>
                <a:latin typeface="Consolas" panose="020B0609020204030204" pitchFamily="49" charset="0"/>
              </a:rPr>
              <a:t>I2CDXR</a:t>
            </a:r>
            <a:r>
              <a:rPr lang="en-US" sz="1000" dirty="0">
                <a:solidFill>
                  <a:srgbClr val="000000"/>
                </a:solidFill>
                <a:latin typeface="Consolas" panose="020B0609020204030204" pitchFamily="49" charset="0"/>
              </a:rPr>
              <a:t>.</a:t>
            </a:r>
            <a:r>
              <a:rPr lang="en-US" sz="1000" dirty="0">
                <a:solidFill>
                  <a:srgbClr val="0000C0"/>
                </a:solidFill>
                <a:latin typeface="Consolas" panose="020B0609020204030204" pitchFamily="49" charset="0"/>
              </a:rPr>
              <a:t>all</a:t>
            </a:r>
            <a:r>
              <a:rPr lang="en-US" sz="1000" dirty="0">
                <a:solidFill>
                  <a:srgbClr val="000000"/>
                </a:solidFill>
                <a:latin typeface="Consolas" panose="020B0609020204030204" pitchFamily="49" charset="0"/>
              </a:rPr>
              <a:t> = *(msg-&gt;</a:t>
            </a:r>
            <a:r>
              <a:rPr lang="en-US" sz="1000" dirty="0" err="1">
                <a:solidFill>
                  <a:srgbClr val="0000C0"/>
                </a:solidFill>
                <a:latin typeface="Consolas" panose="020B0609020204030204" pitchFamily="49" charset="0"/>
              </a:rPr>
              <a:t>MsgBuffer</a:t>
            </a:r>
            <a:r>
              <a:rPr lang="en-US" sz="1000" dirty="0">
                <a:solidFill>
                  <a:srgbClr val="000000"/>
                </a:solidFill>
                <a:latin typeface="Consolas" panose="020B0609020204030204" pitchFamily="49" charset="0"/>
              </a:rPr>
              <a:t> + </a:t>
            </a:r>
            <a:r>
              <a:rPr lang="en-US" sz="1000" dirty="0" err="1">
                <a:solidFill>
                  <a:srgbClr val="000000"/>
                </a:solidFill>
                <a:latin typeface="Consolas" panose="020B0609020204030204" pitchFamily="49" charset="0"/>
              </a:rPr>
              <a:t>i</a:t>
            </a:r>
            <a:r>
              <a:rPr lang="en-US" sz="1000" dirty="0">
                <a:solidFill>
                  <a:srgbClr val="000000"/>
                </a:solidFill>
                <a:latin typeface="Consolas" panose="020B0609020204030204" pitchFamily="49" charset="0"/>
              </a:rPr>
              <a:t>);</a:t>
            </a:r>
          </a:p>
          <a:p>
            <a:pPr marL="114300" indent="0" algn="l">
              <a:spcBef>
                <a:spcPts val="0"/>
              </a:spcBef>
              <a:buNone/>
            </a:pPr>
            <a:r>
              <a:rPr lang="en-US" sz="1000" dirty="0">
                <a:solidFill>
                  <a:srgbClr val="000000"/>
                </a:solidFill>
                <a:latin typeface="Consolas" panose="020B0609020204030204" pitchFamily="49" charset="0"/>
              </a:rPr>
              <a:t>    }</a:t>
            </a: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6. Command the hardware to execute the transaction</a:t>
            </a: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0x6E20 sets: FREE (run during debug), START, STOP, MASTER, TRANSMIT, and ENABLE bits</a:t>
            </a:r>
          </a:p>
          <a:p>
            <a:pPr marL="114300" indent="0" algn="l">
              <a:spcBef>
                <a:spcPts val="0"/>
              </a:spcBef>
              <a:buNone/>
            </a:pPr>
            <a:r>
              <a:rPr lang="en-US" sz="1000" dirty="0">
                <a:solidFill>
                  <a:srgbClr val="000000"/>
                </a:solidFill>
                <a:latin typeface="Consolas" panose="020B0609020204030204" pitchFamily="49" charset="0"/>
              </a:rPr>
              <a:t>    I2caRegs.</a:t>
            </a:r>
            <a:r>
              <a:rPr lang="en-US" sz="1000" dirty="0">
                <a:solidFill>
                  <a:srgbClr val="0000C0"/>
                </a:solidFill>
                <a:latin typeface="Consolas" panose="020B0609020204030204" pitchFamily="49" charset="0"/>
              </a:rPr>
              <a:t>I2CMDR</a:t>
            </a:r>
            <a:r>
              <a:rPr lang="en-US" sz="1000" dirty="0">
                <a:solidFill>
                  <a:srgbClr val="000000"/>
                </a:solidFill>
                <a:latin typeface="Consolas" panose="020B0609020204030204" pitchFamily="49" charset="0"/>
              </a:rPr>
              <a:t>.</a:t>
            </a:r>
            <a:r>
              <a:rPr lang="en-US" sz="1000" dirty="0">
                <a:solidFill>
                  <a:srgbClr val="0000C0"/>
                </a:solidFill>
                <a:latin typeface="Consolas" panose="020B0609020204030204" pitchFamily="49" charset="0"/>
              </a:rPr>
              <a:t>all</a:t>
            </a:r>
            <a:r>
              <a:rPr lang="en-US" sz="1000" dirty="0">
                <a:solidFill>
                  <a:srgbClr val="000000"/>
                </a:solidFill>
                <a:latin typeface="Consolas" panose="020B0609020204030204" pitchFamily="49" charset="0"/>
              </a:rPr>
              <a:t> = 0x6E20;</a:t>
            </a: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return</a:t>
            </a:r>
            <a:r>
              <a:rPr lang="en-US" sz="1000" dirty="0">
                <a:solidFill>
                  <a:srgbClr val="000000"/>
                </a:solidFill>
                <a:latin typeface="Consolas" panose="020B0609020204030204" pitchFamily="49" charset="0"/>
              </a:rPr>
              <a:t> I2C_SUCCESS;</a:t>
            </a:r>
          </a:p>
          <a:p>
            <a:pPr marL="114300" indent="0" algn="l">
              <a:spcBef>
                <a:spcPts val="0"/>
              </a:spcBef>
              <a:buNone/>
            </a:pPr>
            <a:r>
              <a:rPr lang="en-US" sz="1000" dirty="0">
                <a:solidFill>
                  <a:srgbClr val="000000"/>
                </a:solidFill>
                <a:latin typeface="Consolas" panose="020B0609020204030204" pitchFamily="49" charset="0"/>
              </a:rPr>
              <a:t>}</a:t>
            </a:r>
            <a:endParaRPr lang="en-US" sz="1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444DCDA8-B2DC-D389-AC24-934093A1F4A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3F19BD0-8C1F-F2BA-2D97-1FA5B92539C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Serial Communication – I2C - Init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1BB0513-306A-FD0C-E69D-E0B72EF85B9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5DED8B8-74B5-A936-A54B-451973AFB47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CD8CA38-1255-BEE8-59E1-F4649DD77E0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0719A25-255F-57E9-4EA4-F8775804FBC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DC82D69-0F8D-E590-1CB5-E4F4FF04DF1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7C34F90-B255-9CFB-5140-9BEB92DB782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1756892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p:nvPr>
            <p:ph type="title"/>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6600" b="1" dirty="0">
                <a:solidFill>
                  <a:schemeClr val="lt1"/>
                </a:solidFill>
              </a:rPr>
              <a:t>Questions</a:t>
            </a:r>
            <a:r>
              <a:rPr i="0" lang="en-US" sz="5400" b="1" dirty="0">
                <a:solidFill>
                  <a:schemeClr val="lt1"/>
                </a:solidFill>
              </a:rPr>
              <a:t>? (2/2)</a:t>
            </a:r>
          </a:p>
        </p:txBody>
      </p:sp>
      <p:pic>
        <p:nvPicPr>
          <p:cNvPr id="265" name="Google Shape;265;p37">
            <a:extLst>
              <a:ext uri="{C183D7F6-B498-43B3-948B-1728B52AA6E4}">
                <adec:decorative xmlns:adec="http://schemas.microsoft.com/office/drawing/2017/decorative" val="1"/>
              </a:ex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6" name="Title 276"/>
          <p:cNvSpPr>
            <a:spLocks noGrp="1"/>
          </p:cNvSpPr>
          <p:nvPr>
            <p:ph type="title"/>
          </p:nvPr>
        </p:nvSpPr>
        <p:spPr>
          <a:xfrm>
            <a:off x="0" y="-914400"/>
            <a:ext cx="12192000" cy="685800"/>
          </a:xfrm>
        </p:spPr>
        <p:txBody>
          <a:bodyPr/>
          <a:lstStyle/>
          <a:p>
            <a:r>
              <a:rPr lang="en-US" dirty="0"/>
              <a:t>End of Lecture 10</a:t>
            </a:r>
          </a:p>
        </p:txBody>
      </p:sp>
      <p:pic>
        <p:nvPicPr>
          <p:cNvPr id="275" name="Google Shape;275;p3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963</TotalTime>
  <Words>4431</Words>
  <Application>Microsoft Office PowerPoint</Application>
  <PresentationFormat>Widescreen</PresentationFormat>
  <Paragraphs>550</Paragraphs>
  <Slides>61</Slides>
  <Notes>61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61</vt:i4>
      </vt:variant>
    </vt:vector>
  </HeadingPairs>
  <TitlesOfParts>
    <vt:vector size="66" baseType="lpstr">
      <vt:lpstr>Arial</vt:lpstr>
      <vt:lpstr>Calibri</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244</cp:revision>
  <dcterms:created xsi:type="dcterms:W3CDTF">2019-01-14T22:06:33Z</dcterms:created>
  <dcterms:modified xsi:type="dcterms:W3CDTF">2026-02-24T02:58:25Z</dcterms:modified>
</cp:coreProperties>
</file>