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3"/>
  </p:notesMasterIdLst>
  <p:sldIdLst>
    <p:sldId id="256" r:id="rId2"/>
    <p:sldId id="310" r:id="rId3"/>
    <p:sldId id="257" r:id="rId4"/>
    <p:sldId id="258" r:id="rId5"/>
    <p:sldId id="259" r:id="rId6"/>
    <p:sldId id="313" r:id="rId7"/>
    <p:sldId id="314" r:id="rId8"/>
    <p:sldId id="317" r:id="rId9"/>
    <p:sldId id="316" r:id="rId10"/>
    <p:sldId id="315" r:id="rId11"/>
    <p:sldId id="318" r:id="rId12"/>
    <p:sldId id="319" r:id="rId13"/>
    <p:sldId id="320" r:id="rId14"/>
    <p:sldId id="321" r:id="rId15"/>
    <p:sldId id="322" r:id="rId16"/>
    <p:sldId id="323" r:id="rId17"/>
    <p:sldId id="312" r:id="rId18"/>
    <p:sldId id="324" r:id="rId19"/>
    <p:sldId id="325" r:id="rId20"/>
    <p:sldId id="326" r:id="rId21"/>
    <p:sldId id="327" r:id="rId22"/>
    <p:sldId id="328" r:id="rId23"/>
    <p:sldId id="311" r:id="rId24"/>
    <p:sldId id="329" r:id="rId25"/>
    <p:sldId id="330" r:id="rId26"/>
    <p:sldId id="331" r:id="rId27"/>
    <p:sldId id="332" r:id="rId28"/>
    <p:sldId id="333" r:id="rId29"/>
    <p:sldId id="334" r:id="rId30"/>
    <p:sldId id="335" r:id="rId31"/>
    <p:sldId id="337" r:id="rId32"/>
    <p:sldId id="338" r:id="rId33"/>
    <p:sldId id="339" r:id="rId34"/>
    <p:sldId id="340" r:id="rId35"/>
    <p:sldId id="336" r:id="rId36"/>
    <p:sldId id="341" r:id="rId37"/>
    <p:sldId id="342" r:id="rId38"/>
    <p:sldId id="343" r:id="rId39"/>
    <p:sldId id="387" r:id="rId40"/>
    <p:sldId id="392" r:id="rId41"/>
    <p:sldId id="393" r:id="rId42"/>
    <p:sldId id="395" r:id="rId43"/>
    <p:sldId id="394" r:id="rId44"/>
    <p:sldId id="396" r:id="rId45"/>
    <p:sldId id="398" r:id="rId46"/>
    <p:sldId id="405" r:id="rId47"/>
    <p:sldId id="397" r:id="rId48"/>
    <p:sldId id="399" r:id="rId49"/>
    <p:sldId id="401" r:id="rId50"/>
    <p:sldId id="402" r:id="rId51"/>
    <p:sldId id="403" r:id="rId52"/>
    <p:sldId id="404" r:id="rId53"/>
    <p:sldId id="406" r:id="rId54"/>
    <p:sldId id="407" r:id="rId55"/>
    <p:sldId id="408" r:id="rId56"/>
    <p:sldId id="409" r:id="rId57"/>
    <p:sldId id="410" r:id="rId58"/>
    <p:sldId id="411" r:id="rId59"/>
    <p:sldId id="412" r:id="rId60"/>
    <p:sldId id="271" r:id="rId61"/>
    <p:sldId id="270" r:id="rId6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838" autoAdjust="0"/>
    <p:restoredTop sz="94660"/>
  </p:normalViewPr>
  <p:slideViewPr>
    <p:cSldViewPr snapToGrid="0">
      <p:cViewPr varScale="1">
        <p:scale>
          <a:sx n="150" d="100"/>
          <a:sy n="150" d="100"/>
        </p:scale>
        <p:origin x="56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customschemas.google.com/relationships/presentationmetadata" Target="meta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A43166-8A95-E881-566F-CAD4671DE37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D551DF6-AB9E-0C6E-93B6-D392D41D69A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20BECC3-FFD6-41EB-10C6-1FBE784697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7566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DBFD4D-AE7D-68F8-0C20-4F90269B2C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EEFD2-4ABD-1611-805D-40C4DD0612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41A35EB-A465-B968-46D2-742B878F02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9637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544E87-0EF6-BE29-B579-6FF8B0F389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9560C3-C856-7382-D905-259B867585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18DF1F-5C35-9117-B92F-4BF7924A40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45451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E46F52-EFA8-1F2C-CCA3-C40005553E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719A0D-72EF-B7D0-C582-E56B355ED4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2B6B89-2CF4-ACDF-1977-12F5C7594AB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1761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57DE5A-A5C4-C9D1-471C-D93B3D697E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96E94D-904F-F71E-42DE-121AB1E179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A4129A-E292-4B95-E833-58CA07B3C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183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04A5C2-A0E4-8C0F-AC72-C69B44AD1B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F4D7197-2140-682B-7E57-F58CD0004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803DBD-1BAC-97D2-2B45-E50B43FBBE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72946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5F4E15-1AB0-51B8-A72E-1C7CC32421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30D498-039D-014A-244D-4D5A8B0C6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61235C-A8D1-C2A7-803F-8AE69C8AE4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9754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B94B0C-3F4E-B744-7920-4CFCCB4A1D8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C29DA7-EBD8-6761-34D7-560A32A8CB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9FC028-3DA0-97F3-18AB-E0ADFE67CA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7893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BAD955-BED5-2BE4-0327-CAD16938A2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AA1BF-E6D8-F736-52C9-BD3917EAB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E6F9B9-84D8-C099-085F-1E2ADB7EAE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1061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C650CAE-47A8-B85D-00CA-AD07CD37F58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B6D49CE6-0EB5-A0DD-8BB5-389DBEF8B8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127932C-AF78-2089-3C62-AA07FC6F31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36101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651213-8B35-560F-7759-7764D7FED94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4E3B979-7B93-EAE1-AEF1-557FB7C1B7F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1A24ECE-8009-FD17-8015-7A8B86AB06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75466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DC444-2663-64AD-C9F4-439798AC1BD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AA7E-01EF-AA46-F3EF-DA8AED50D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DAAEE-E6BA-1500-4B64-05DE092AC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240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2E8000-CB92-3A4C-294F-3E054BB5EC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2DDF51-A013-0964-1D79-297A96400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1F7B3D-5DCF-3100-AD2E-94FC8AE883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1037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492335-FBD3-A583-6AA2-D8BFE27806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AEB991-DE04-9ECA-9523-2E5A56D9D8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2E4614-C7E3-A1DD-F21C-7999B738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69444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5692482-4B47-61B5-65EA-56648A060E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830643-B89C-263E-8E5E-48BD6E6DE8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5E3F4C-8045-1EB4-7E3C-B4CA3B968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81249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D160F9B-A215-A17B-8053-7FF3F0FFDA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34ADB5-936C-260F-EFA2-C12C1D38D3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A5F372D-1045-C0EE-2A6F-D40915C5D7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51719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E22260-D135-2677-127C-B369E1B809F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6980CB1-3FD5-4D5F-8261-0A3CF3B55F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08CEC90-7112-495D-B4E0-2B421B9468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3748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2C14D7-E780-55AA-4F75-8143EA0CF6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E901C-E865-B22C-65ED-4705BD4DA0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457A86-0291-05A7-AD45-70A2842B3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463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66E6BC-40B5-22AF-A8A7-82518D66E6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950A21-BACD-4639-332D-A4644D594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DAF0794-FC18-50B4-BD8A-CA0865FD97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27335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C8E0C2-F55E-82D5-7D0D-AEEEE2153EC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D878A16-6351-60A5-4562-EE9767D6A77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C4F313D-CB6A-05E5-3555-E99E058242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97777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6BED32-8511-856D-B8C8-77F1A569ED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79D611-CE19-A6CC-D3B7-DF42F1085F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BD546B-81C8-87C7-EBB7-1A9CD19C6C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77683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BD36C30-3EE8-1198-B9D1-94B5FF146EB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2D0E8C1-3F1B-6B93-136B-0F63394B13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8974777-6097-1A45-8D81-DB61741A25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74403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72A76E-6E6A-EA50-55DD-70C20DFC21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759589-A48B-5967-B686-128C8ACC1C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B602DA-FD5F-2074-E05A-E8C54A9247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29359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49521B6-B356-37C6-5D71-917EAE94FC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8CE8C6-0817-D5D3-3348-833717CBFF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C34C71-A3B3-E160-D0E1-022C34CDE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29470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1BC1B-E5F6-025C-037F-9506FA9579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2B6685-8FF5-C07A-4316-B3F9D3A53B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6BD691-9E58-0580-C6A9-7399099E79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2412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CD259E-766C-0618-FD59-6BF3218F62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EEADBE-E0EC-7510-717E-BA781CCCEB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FDCEF93-CAA8-F422-1065-5EF872A301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64490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338E008-FF89-0B47-1693-5F5BA8BEE1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41FB41-84F3-CA40-1200-E72F89AB49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A45178F-08C2-B5F5-58EB-EF4A74D1F7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39804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4B1404-C649-11DA-7412-51D8FDAC61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F7C5FA-919E-7EE6-B95E-E80BFEAA16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4BFC9E-C88F-6315-325F-BDA7AB4AC8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3475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0C09FE-791D-491B-8E80-8764EDC180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83BE00-14C9-243E-5332-D08D43AB23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558CBD-9FA7-D649-4B03-2BBD420A48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76194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CA83C1-C5EB-0E3D-3E4B-19CCD8C4A0C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A419A-6F23-E879-33AF-D060D903E6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673CD66-11DD-DDF1-ED61-E28B675D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47648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DBD0C6-DB01-83AE-FC17-7D483F0478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3CF3F9-A873-7927-B9EC-DB76405B29E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83E23AE-91DD-CB3E-F421-6196D239AC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462795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D6C1BF-95E1-5523-2293-A87711142B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7259-27F6-F786-03E6-065EE996B3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8D1632-F159-E5D6-9002-D456EEF496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74058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E6A2B2-A172-A77A-F7E2-DAADE14FBB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BB7049-C01F-DECB-B8E5-BACD015FEE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67EE29-D779-B4BC-D825-9EF12DACC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13027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494AC-3CB3-D447-0BB4-5C5FA572D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F888F7-1C04-9E04-E5CD-A003AEA2C1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B602BB-E80F-0FC0-5DFE-AE6522C12A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48170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69BACB3-9250-501E-492B-02368A64646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7FA5AA4-2D06-5E10-E47E-CB58BBC9395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Correct, you would need 15 SPISTE wires to route between the different sensors, this complicates the circuit and, more wires also means more potential interference!</a:t>
            </a:r>
            <a:endParaRPr dirty="0"/>
          </a:p>
        </p:txBody>
      </p:sp>
      <p:sp>
        <p:nvSpPr>
          <p:cNvPr id="87" name="Google Shape;87;p27:notes">
            <a:extLst>
              <a:ext uri="{FF2B5EF4-FFF2-40B4-BE49-F238E27FC236}">
                <a16:creationId xmlns:a16="http://schemas.microsoft.com/office/drawing/2014/main" id="{1506A244-AFEC-BFDE-AA11-AE195A5463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57208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582C02F-C285-F449-8EA1-E1D2F00646F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0A8BC2B-1BF1-D612-F9BF-43641C6BD6F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E2DC188-CDEC-7509-AEFF-4261EDAB4F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33583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090A88-7CE8-CFF4-2F18-8A131D1457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7886F1-886C-5426-615C-E07CAC45B9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6EBE4A-B54F-87FF-7C29-FB4C0F7F6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6262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4BC3D-6452-DF5F-D9A4-D824FB6DCB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D402A8-708B-8999-FE2E-DEFE246631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4CAB557-4D64-AF74-C1CA-FFA2AFEADF9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3242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038A9-C724-CFD4-FA00-03791AF114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5017A38-13D9-10D1-7D26-32370DFBBA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A98F0E-A8B4-7AC6-0AE6-4FC30C1666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313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DCCCF5-0E98-C80D-AD5C-415490B1D7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B2FEDB-159A-F08A-B832-F0452A5527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D7D7E34-683F-B65B-0D1D-8A98D5BCC2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352622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C2667-6FA7-3649-A353-5B09F7FC2D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27687E-7EF7-5767-DD72-91F192651A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330D447-1745-AC3B-2D4C-09F524D63C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92915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6ACAC2C-3B9C-0BF7-6012-9D576CEF6D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09370-3EAD-9487-DAD9-A0E660B6C2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52243D-64FD-AC30-E686-4943A1F0B6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36541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9F9877-9868-3F44-D95D-47C77CE827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69889D-AFD8-5E55-DE1F-21F108BB3C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E1D671-B8A2-DD52-55D7-A55FC4CFEFC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0305744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F60CFF-3499-365F-D27E-D2CE0F624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B49C-9472-9574-FE88-58DFAC2CBD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71F966-285B-370F-E4A0-6D5E2BD963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942757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59F92-92EE-6DCA-5BA0-48586D8AE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8ADEA5-30CA-6754-72C3-7B17F0ABA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460299-1C2E-8129-90D1-FE2AB98CB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5521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9E40127-582A-3A0E-85A3-63EFB7248A5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8980E48-3660-2FC0-3864-7CE0E747A1C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How do we get the electrical signals to agree on a single clock wave?</a:t>
            </a:r>
            <a:endParaRPr dirty="0"/>
          </a:p>
        </p:txBody>
      </p:sp>
      <p:sp>
        <p:nvSpPr>
          <p:cNvPr id="87" name="Google Shape;87;p27:notes">
            <a:extLst>
              <a:ext uri="{FF2B5EF4-FFF2-40B4-BE49-F238E27FC236}">
                <a16:creationId xmlns:a16="http://schemas.microsoft.com/office/drawing/2014/main" id="{F2A128FA-9E8D-47CF-5904-C3CFB67662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86236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4AAAB-8BC6-8921-F38A-EBABF0F44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EC11F6-49EA-F5E6-10FC-4DE5FF0756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AEAD4B2-3CE8-A83A-BDA3-5168650D55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43126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1CBFB4-8EF2-C10E-F9B4-07DDC70F9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05EF9F-11FF-82F6-9958-35D228EA8B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96EC63-E185-5A52-EB13-FE9752A4D9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74162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CA1EA4-1150-7202-D155-3E447F9DC12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460245-CCF5-A0B7-F2E6-677CCB27AE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017F10-C0FF-DD99-9F97-170A808D16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3081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90229A1-C4D5-1E31-B4AE-21F9D76A5FB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B72D92A-40DA-CEAB-651A-6390E806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234B7F8-5202-0577-2128-19A5F21FE4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25698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5EF128-6066-A9F1-7231-CDBCE83D34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2F2CE0-F6CA-3074-37C2-EAA94DB884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8D23E-711B-3969-8670-62F87E480B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6267339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BF2369-0DAB-7754-347F-C85C833F00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FEDA960-0BD6-630C-D2CC-D8E051554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1D1E9B-4136-F5C6-9A15-5DB9488C1F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289479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en.wikipedia.org/wiki/Electromagnetic_interferenc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commons.wikimedia.org/wiki/File:Prinzip_MIMO.svg" TargetMode="External"/><Relationship Id="rId5" Type="http://schemas.openxmlformats.org/officeDocument/2006/relationships/image" Target="../media/image21.sv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qsfptek.com/qt-news/half-duplex-vs-full-duplex-vs-simplex-transmission-mode.html?srsltid=AfmBOopvEYPNWR3lh3_nh46jJxnYWESqNo07pANJhJ3pTBwkhLByDD5J"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hyperlink" Target="https://www.linkedin.com/posts/anis-hassen_communication-modes-simplified-ever-activity-7310553982957948928-FHnT/" TargetMode="External"/><Relationship Id="rId4" Type="http://schemas.openxmlformats.org/officeDocument/2006/relationships/image" Target="../media/image22.gif"/></Relationships>
</file>

<file path=ppt/slides/_rels/slide2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hyperlink" Target="https://marius-juston.github.io/SE-423---Class-Material/Lectures/Slides/L4.pd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Lectures/Slides/L6-7.pdf"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8.gif"/><Relationship Id="rId4" Type="http://schemas.openxmlformats.org/officeDocument/2006/relationships/hyperlink" Target="https://en.wikipedia.org/wiki/Serial_Peripheral_Interface"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4.svg"/><Relationship Id="rId4" Type="http://schemas.openxmlformats.org/officeDocument/2006/relationships/image" Target="../media/image43.png"/></Relationships>
</file>

<file path=ppt/slides/_rels/slide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10: Communication Protocols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23</a:t>
            </a:r>
            <a:r>
              <a:rPr lang="en-US" sz="1800" b="0" i="0" u="none" strike="noStrike" cap="none" baseline="30000" dirty="0">
                <a:solidFill>
                  <a:schemeClr val="lt1"/>
                </a:solidFill>
                <a:latin typeface="Atkinson Hyperlegible Next"/>
                <a:ea typeface="Arial"/>
                <a:cs typeface="Arial"/>
                <a:sym typeface="Arial"/>
              </a:rPr>
              <a:t>rd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a:latin typeface="Atkinson Hyperlegible Next"/>
                <a:ea typeface="Arial"/>
                <a:cs typeface="Arial"/>
                <a:sym typeface="Arial"/>
              </a:rPr>
              <a:t>February 25, </a:t>
            </a:r>
            <a:r>
              <a:rPr lang="en-US" sz="1800" b="1" dirty="0">
                <a:latin typeface="Atkinson Hyperlegible Next"/>
                <a:ea typeface="Arial"/>
                <a:cs typeface="Arial"/>
                <a:sym typeface="Arial"/>
              </a:rPr>
              <a:t>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FCD35529-FC63-DDF1-655B-2AC0C85AA128}"/>
              </a:ext>
            </a:extLst>
          </p:cNvPr>
          <p:cNvGrpSpPr/>
          <p:nvPr/>
        </p:nvGrpSpPr>
        <p:grpSpPr>
          <a:xfrm>
            <a:off x="1441528" y="2296815"/>
            <a:ext cx="9308941" cy="2264370"/>
            <a:chOff x="1441528" y="1491040"/>
            <a:chExt cx="9308941" cy="226437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Serial Communication</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Communication between different signal could happen in 2 ways,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ctr"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Parallel communication vs Serial communication</a:t>
            </a:r>
          </a:p>
          <a:p>
            <a:pPr marL="0" lvl="0" indent="0" algn="ctr"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rtl="0">
              <a:lnSpc>
                <a:spcPct val="100000"/>
              </a:lnSpc>
              <a:spcBef>
                <a:spcPts val="0"/>
              </a:spcBef>
              <a:spcAft>
                <a:spcPts val="0"/>
              </a:spcAft>
              <a:buSzPts val="3000"/>
              <a:buNone/>
            </a:pPr>
            <a:r>
              <a:rPr lang="en-US" sz="1800" dirty="0">
                <a:latin typeface="Atkinson Hyperlegible Next"/>
                <a:ea typeface="Arial"/>
                <a:cs typeface="Arial"/>
                <a:sym typeface="Arial"/>
              </a:rPr>
              <a:t>Why not do parallel communication?</a:t>
            </a:r>
          </a:p>
          <a:p>
            <a:pPr marL="0" lvl="0" indent="0"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Requires many I/O pins, these are already very limited</a:t>
            </a:r>
          </a:p>
          <a:p>
            <a:pPr marL="285750" indent="-285750">
              <a:lnSpc>
                <a:spcPct val="100000"/>
              </a:lnSpc>
              <a:spcBef>
                <a:spcPts val="0"/>
              </a:spcBef>
              <a:buSzPts val="3000"/>
            </a:pPr>
            <a:r>
              <a:rPr lang="en-US" sz="1800" dirty="0">
                <a:latin typeface="Atkinson Hyperlegible Next"/>
                <a:ea typeface="Arial"/>
                <a:cs typeface="Arial"/>
                <a:sym typeface="Arial"/>
              </a:rPr>
              <a:t>With the wires, we can run into electromagnetic interference (EMI) and cross-talk</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Serial communication, serializes data into single-bit stream, requires much less circuit complexity. What is the trade-off?</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Time! </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Serializing an N-bit word requires N discrete clock cycles!</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AD76F1-3EEB-1CE5-BCF3-2CF0F28E5D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3307880-10A8-466C-A82F-AEF87DAF4436}"/>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Interferences</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1D1F95D-0303-C926-6050-F0B7D14BB20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271C797-5FB9-965B-240D-78A6D4BB09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778F9E7-AF03-7080-8DBC-5D3D6C35FD92}"/>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0F792E9-4626-2DD3-8C2F-A7B486F4A06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73BED0-95BB-B9E3-7610-7541656B69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5690095-507F-DB7F-A84A-08C1B586B91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2176AFC-B1C1-C8A6-2878-52B8AA67CF7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0450786-7484-40DA-33F3-14628489E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E5976D0-D247-2180-9FE4-1870155FD0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11277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7FECF8-EBAB-6751-1A3F-B8ACA0522B1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584330-3BFD-10BF-0887-245CBFA444F9}"/>
              </a:ext>
            </a:extLst>
          </p:cNvPr>
          <p:cNvSpPr txBox="1">
            <a:spLocks noGrp="1"/>
          </p:cNvSpPr>
          <p:nvPr>
            <p:ph type="body" idx="1"/>
          </p:nvPr>
        </p:nvSpPr>
        <p:spPr>
          <a:xfrm>
            <a:off x="376810" y="1334279"/>
            <a:ext cx="5719190"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tkinson Hyperlegible Next"/>
                <a:ea typeface="Arial"/>
                <a:cs typeface="Arial"/>
                <a:sym typeface="Arial"/>
              </a:rPr>
              <a:t>There are 4 interference couplings:</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285750" indent="-285750">
              <a:lnSpc>
                <a:spcPct val="100000"/>
              </a:lnSpc>
              <a:spcBef>
                <a:spcPts val="0"/>
              </a:spcBef>
              <a:buSzPts val="3000"/>
            </a:pPr>
            <a:r>
              <a:rPr lang="en-US" sz="1400" b="1" dirty="0">
                <a:latin typeface="Atkinson Hyperlegible Next"/>
                <a:ea typeface="Arial"/>
                <a:cs typeface="Arial"/>
                <a:sym typeface="Arial"/>
              </a:rPr>
              <a:t>Conductive</a:t>
            </a:r>
            <a:r>
              <a:rPr lang="en-US" sz="1400" dirty="0">
                <a:latin typeface="Atkinson Hyperlegible Next"/>
                <a:ea typeface="Arial"/>
                <a:cs typeface="Arial"/>
                <a:sym typeface="Arial"/>
              </a:rPr>
              <a:t>: You have physical connection causing interference</a:t>
            </a:r>
          </a:p>
          <a:p>
            <a:pPr marL="285750" indent="-285750">
              <a:lnSpc>
                <a:spcPct val="100000"/>
              </a:lnSpc>
              <a:spcBef>
                <a:spcPts val="0"/>
              </a:spcBef>
              <a:buSzPts val="3000"/>
            </a:pP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source and victim are separated by a short distance (typically less than a wavelength). Can be of two kinds, electrical induction and magnetic induction. </a:t>
            </a:r>
          </a:p>
          <a:p>
            <a:pPr marL="742950" lvl="1" indent="-285750">
              <a:lnSpc>
                <a:spcPct val="100000"/>
              </a:lnSpc>
              <a:spcBef>
                <a:spcPts val="0"/>
              </a:spcBef>
              <a:buSzPts val="3000"/>
            </a:pPr>
            <a:r>
              <a:rPr lang="en-US" sz="1400" dirty="0">
                <a:latin typeface="Atkinson Hyperlegible Next"/>
                <a:ea typeface="Arial"/>
                <a:cs typeface="Arial"/>
                <a:sym typeface="Arial"/>
              </a:rPr>
              <a:t>It is common to refer to electrical induction as </a:t>
            </a:r>
            <a:r>
              <a:rPr lang="en-US" sz="1400" b="1" dirty="0">
                <a:latin typeface="Atkinson Hyperlegible Next"/>
                <a:ea typeface="Arial"/>
                <a:cs typeface="Arial"/>
                <a:sym typeface="Arial"/>
              </a:rPr>
              <a:t>capacitive</a:t>
            </a:r>
            <a:r>
              <a:rPr lang="en-US" sz="1400" dirty="0">
                <a:latin typeface="Atkinson Hyperlegible Next"/>
                <a:ea typeface="Arial"/>
                <a:cs typeface="Arial"/>
                <a:sym typeface="Arial"/>
              </a:rPr>
              <a:t> coupling, and to magnetic induction as </a:t>
            </a: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coupling.</a:t>
            </a:r>
          </a:p>
          <a:p>
            <a:pPr marL="285750" indent="-285750">
              <a:lnSpc>
                <a:spcPct val="100000"/>
              </a:lnSpc>
              <a:spcBef>
                <a:spcPts val="0"/>
              </a:spcBef>
              <a:buSzPts val="3000"/>
            </a:pPr>
            <a:r>
              <a:rPr lang="en-US" sz="1400" b="1" dirty="0">
                <a:latin typeface="Atkinson Hyperlegible Next"/>
                <a:ea typeface="Arial"/>
                <a:cs typeface="Arial"/>
                <a:sym typeface="Arial"/>
              </a:rPr>
              <a:t>Capacitive:</a:t>
            </a:r>
            <a:r>
              <a:rPr lang="en-US" sz="1400" dirty="0">
                <a:latin typeface="Atkinson Hyperlegible Next"/>
                <a:ea typeface="Arial"/>
                <a:cs typeface="Arial"/>
                <a:sym typeface="Arial"/>
              </a:rPr>
              <a:t> occurs when a varying electrical field exists between two adjacent conductors, inducing a change in voltage on the receiving conductor.</a:t>
            </a:r>
          </a:p>
          <a:p>
            <a:pPr marL="285750" indent="-285750">
              <a:lnSpc>
                <a:spcPct val="100000"/>
              </a:lnSpc>
              <a:spcBef>
                <a:spcPts val="0"/>
              </a:spcBef>
              <a:buSzPts val="3000"/>
            </a:pP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magnetic coupling occurs when a varying magnetic field exists between two parallel conductors, inducing a change in voltage along the receiving conductor.</a:t>
            </a:r>
          </a:p>
          <a:p>
            <a:pPr marL="285750" indent="-285750">
              <a:lnSpc>
                <a:spcPct val="100000"/>
              </a:lnSpc>
              <a:spcBef>
                <a:spcPts val="0"/>
              </a:spcBef>
              <a:buSzPts val="3000"/>
            </a:pPr>
            <a:r>
              <a:rPr lang="en-US" sz="1400" b="1" dirty="0">
                <a:latin typeface="Atkinson Hyperlegible Next"/>
                <a:ea typeface="Arial"/>
                <a:cs typeface="Arial"/>
                <a:sym typeface="Arial"/>
              </a:rPr>
              <a:t>Radiative:</a:t>
            </a:r>
            <a:r>
              <a:rPr lang="en-US" sz="1400" dirty="0">
                <a:latin typeface="Atkinson Hyperlegible Next"/>
                <a:ea typeface="Arial"/>
                <a:cs typeface="Arial"/>
                <a:sym typeface="Arial"/>
              </a:rPr>
              <a:t> electromagnetic coupling occurs when source and victim are separated by a large distance. Source and victim act as radio antennas: the source emits or radiates an electromagnetic wave which is picked up or received by the victim.</a:t>
            </a:r>
          </a:p>
        </p:txBody>
      </p:sp>
      <p:sp>
        <p:nvSpPr>
          <p:cNvPr id="119" name="Google Shape;119;p29">
            <a:extLst>
              <a:ext uri="{FF2B5EF4-FFF2-40B4-BE49-F238E27FC236}">
                <a16:creationId xmlns:a16="http://schemas.microsoft.com/office/drawing/2014/main" id="{284D7BB0-61A9-67FC-EE92-FCE51354AA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14C4942-D2B2-5C2C-6B0B-EC1676AA11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30C2115-54E5-613C-8947-5EE974231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8E4B52-87C7-03E0-4D2B-2221E3E2E6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98937B-C433-974C-6071-64F7F1F225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6971BA-B5D0-ED25-6D47-0747303D5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7603F9-A988-577D-C3A3-D6CD6395BB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E84985-2BBC-D75E-FC29-4D57D5720A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8" name="Group 7">
            <a:extLst>
              <a:ext uri="{FF2B5EF4-FFF2-40B4-BE49-F238E27FC236}">
                <a16:creationId xmlns:a16="http://schemas.microsoft.com/office/drawing/2014/main" id="{6A14C56A-FF96-2426-B536-F84D74CC12ED}"/>
              </a:ext>
            </a:extLst>
          </p:cNvPr>
          <p:cNvGrpSpPr/>
          <p:nvPr/>
        </p:nvGrpSpPr>
        <p:grpSpPr>
          <a:xfrm>
            <a:off x="6269236" y="1626064"/>
            <a:ext cx="5559581" cy="4062325"/>
            <a:chOff x="3543301" y="1928812"/>
            <a:chExt cx="4913074" cy="3200417"/>
          </a:xfrm>
        </p:grpSpPr>
        <p:sp>
          <p:nvSpPr>
            <p:cNvPr id="5" name="TextBox 4">
              <a:extLst>
                <a:ext uri="{FF2B5EF4-FFF2-40B4-BE49-F238E27FC236}">
                  <a16:creationId xmlns:a16="http://schemas.microsoft.com/office/drawing/2014/main" id="{4D3078A5-7752-03DA-28AF-B4F3F489AB95}"/>
                </a:ext>
              </a:extLst>
            </p:cNvPr>
            <p:cNvSpPr txBox="1"/>
            <p:nvPr/>
          </p:nvSpPr>
          <p:spPr>
            <a:xfrm>
              <a:off x="3994169" y="4929187"/>
              <a:ext cx="3675308" cy="200042"/>
            </a:xfrm>
            <a:prstGeom prst="rect">
              <a:avLst/>
            </a:prstGeom>
            <a:noFill/>
          </p:spPr>
          <p:txBody>
            <a:bodyPr wrap="square">
              <a:spAutoFit/>
            </a:bodyPr>
            <a:lstStyle/>
            <a:p>
              <a:pPr algn="ctr"/>
              <a:r>
                <a:rPr lang="en-US" sz="1050" dirty="0">
                  <a:hlinkClick r:id="rId4"/>
                </a:rPr>
                <a:t>https://en.wikipedia.org/wiki/Electromagnetic_interference</a:t>
              </a:r>
              <a:r>
                <a:rPr lang="en-US" sz="1050" dirty="0"/>
                <a:t> </a:t>
              </a:r>
            </a:p>
          </p:txBody>
        </p:sp>
        <p:pic>
          <p:nvPicPr>
            <p:cNvPr id="7" name="Graphic 6">
              <a:extLst>
                <a:ext uri="{FF2B5EF4-FFF2-40B4-BE49-F238E27FC236}">
                  <a16:creationId xmlns:a16="http://schemas.microsoft.com/office/drawing/2014/main" id="{93684A5F-CA2F-28C0-49AD-4A49C4B0AB84}"/>
                </a:ext>
              </a:extLst>
            </p:cNvPr>
            <p:cNvPicPr>
              <a:picLocks noChangeAspect="1"/>
            </p:cNvPicPr>
            <p:nvPr/>
          </p:nvPicPr>
          <p:blipFill>
            <a:blip r:embed="rId5">
              <a:extLst>
                <a:ext uri="{96DAC541-7B7A-43D3-8B79-37D633B846F1}">
                  <asvg:svgBlip xmlns:asvg="http://schemas.microsoft.com/office/drawing/2016/SVG/main" r:embed="rId6"/>
                </a:ext>
              </a:extLst>
            </a:blip>
            <a:srcRect r="3767"/>
            <a:stretch>
              <a:fillRect/>
            </a:stretch>
          </p:blipFill>
          <p:spPr>
            <a:xfrm>
              <a:off x="3543301" y="1928812"/>
              <a:ext cx="4913074" cy="3000375"/>
            </a:xfrm>
            <a:prstGeom prst="rect">
              <a:avLst/>
            </a:prstGeom>
          </p:spPr>
        </p:pic>
      </p:grpSp>
      <p:cxnSp>
        <p:nvCxnSpPr>
          <p:cNvPr id="10" name="Straight Arrow Connector 9">
            <a:extLst>
              <a:ext uri="{FF2B5EF4-FFF2-40B4-BE49-F238E27FC236}">
                <a16:creationId xmlns:a16="http://schemas.microsoft.com/office/drawing/2014/main" id="{C8F2D42A-0976-7F15-4C23-BA3AB1D99CCA}"/>
              </a:ext>
            </a:extLst>
          </p:cNvPr>
          <p:cNvCxnSpPr>
            <a:cxnSpLocks/>
            <a:stCxn id="13" idx="0"/>
          </p:cNvCxnSpPr>
          <p:nvPr/>
        </p:nvCxnSpPr>
        <p:spPr>
          <a:xfrm flipH="1" flipV="1">
            <a:off x="10467642" y="4190538"/>
            <a:ext cx="866441" cy="9463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6855C2B-F69B-16AC-032E-C990BDD8FCFC}"/>
              </a:ext>
            </a:extLst>
          </p:cNvPr>
          <p:cNvSpPr txBox="1"/>
          <p:nvPr/>
        </p:nvSpPr>
        <p:spPr>
          <a:xfrm>
            <a:off x="10742600" y="5136910"/>
            <a:ext cx="1182965" cy="738664"/>
          </a:xfrm>
          <a:prstGeom prst="rect">
            <a:avLst/>
          </a:prstGeom>
          <a:noFill/>
        </p:spPr>
        <p:txBody>
          <a:bodyPr wrap="square" rtlCol="0">
            <a:spAutoFit/>
          </a:bodyPr>
          <a:lstStyle/>
          <a:p>
            <a:pPr algn="ctr"/>
            <a:r>
              <a:rPr lang="en-US" dirty="0">
                <a:solidFill>
                  <a:srgbClr val="FF0000"/>
                </a:solidFill>
              </a:rPr>
              <a:t>Air acts as a conductor as well</a:t>
            </a:r>
          </a:p>
        </p:txBody>
      </p:sp>
    </p:spTree>
    <p:extLst>
      <p:ext uri="{BB962C8B-B14F-4D97-AF65-F5344CB8AC3E}">
        <p14:creationId xmlns:p14="http://schemas.microsoft.com/office/powerpoint/2010/main" val="126141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40C2A3-EB7B-E7F6-3486-472A4B48AB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422022D-3D6E-0FD8-3529-1D91E9C5065A}"/>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Let’s try to explain how we get capacitive interference!</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time-varying voltage on the noisy source wires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r>
                      <m:rPr>
                        <m:sty m:val="p"/>
                      </m:rPr>
                      <a:rPr lang="en-US" sz="1500" i="1">
                        <a:latin typeface="Cambria Math" panose="02040503050406030204" pitchFamily="18" charset="0"/>
                        <a:cs typeface="Arial"/>
                        <a:sym typeface="Arial"/>
                      </a:rPr>
                      <m:t>t</m:t>
                    </m:r>
                    <m:r>
                      <a:rPr lang="en-US" sz="1500" i="1">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voltage on the victim wire. 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oMath>
                </a14:m>
                <a:r>
                  <a:rPr lang="en-US" sz="1500" dirty="0">
                    <a:latin typeface="Atkinson Hyperlegible Next"/>
                    <a:ea typeface="Arial"/>
                    <a:cs typeface="Arial"/>
                    <a:sym typeface="Arial"/>
                  </a:rPr>
                  <a:t> be the mutual stray capacitance between the two wires (could be air), let the victim wire have a resistance of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tkinson Hyperlegible Next"/>
                    <a:ea typeface="Arial"/>
                    <a:cs typeface="Arial"/>
                    <a:sym typeface="Arial"/>
                  </a:rPr>
                  <a:t>. </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 fundamental equation for current through a capacitor is:</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500" b="0" i="1" smtClean="0">
                          <a:latin typeface="Cambria Math" panose="02040503050406030204" pitchFamily="18" charset="0"/>
                          <a:ea typeface="Arial"/>
                          <a:cs typeface="Arial"/>
                          <a:sym typeface="Arial"/>
                        </a:rPr>
                        <m:t>I</m:t>
                      </m:r>
                      <m:r>
                        <a:rPr lang="en-US" sz="1500" b="0" i="1" smtClean="0">
                          <a:latin typeface="Cambria Math" panose="02040503050406030204" pitchFamily="18" charset="0"/>
                          <a:ea typeface="Arial"/>
                          <a:cs typeface="Arial"/>
                          <a:sym typeface="Arial"/>
                        </a:rPr>
                        <m:t>=</m:t>
                      </m:r>
                      <m:r>
                        <m:rPr>
                          <m:sty m:val="p"/>
                        </m:rPr>
                        <a:rPr lang="en-US" sz="1500" b="0" i="1" smtClean="0">
                          <a:latin typeface="Cambria Math" panose="02040503050406030204" pitchFamily="18" charset="0"/>
                          <a:ea typeface="Arial"/>
                          <a:cs typeface="Arial"/>
                          <a:sym typeface="Arial"/>
                        </a:rPr>
                        <m:t>C</m:t>
                      </m:r>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dV</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 current injected from wire 1 into wire 2,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oMath>
                </a14:m>
                <a:r>
                  <a:rPr lang="en-US" sz="1500" dirty="0">
                    <a:latin typeface="Atkinson Hyperlegible Next"/>
                    <a:ea typeface="Arial"/>
                    <a:cs typeface="Arial"/>
                    <a:sym typeface="Arial"/>
                  </a:rPr>
                  <a:t>, is driven from the difference between them across the capacitor.</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m:t>
                          </m:r>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b="0" i="1" smtClean="0">
                              <a:latin typeface="Cambria Math" panose="02040503050406030204" pitchFamily="18" charset="0"/>
                              <a:cs typeface="Arial"/>
                              <a:sym typeface="Arial"/>
                            </a:rPr>
                            <m:t>)</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In practice, the noise source voltage is much larger than the victim’s wire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oMath>
                </a14:m>
                <a:r>
                  <a:rPr lang="en-US" sz="1500" dirty="0">
                    <a:latin typeface="Atkinson Hyperlegible Next"/>
                    <a:ea typeface="Arial"/>
                    <a:cs typeface="Arial"/>
                    <a:sym typeface="Arial"/>
                  </a:rPr>
                  <a:t>), which allows the voltage derivative to simplify to:</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I</m:t>
                          </m:r>
                        </m:e>
                        <m:sub>
                          <m:r>
                            <m:rPr>
                              <m:sty m:val="p"/>
                            </m:rPr>
                            <a:rPr lang="en-US" sz="1500" i="1">
                              <a:latin typeface="Cambria Math" panose="02040503050406030204" pitchFamily="18" charset="0"/>
                              <a:cs typeface="Arial"/>
                              <a:sym typeface="Arial"/>
                            </a:rPr>
                            <m:t>noise</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num>
                        <m:den>
                          <m:r>
                            <m:rPr>
                              <m:sty m:val="p"/>
                            </m:rPr>
                            <a:rPr lang="en-US" sz="1500" i="1">
                              <a:latin typeface="Cambria Math" panose="02040503050406030204" pitchFamily="18" charset="0"/>
                              <a:cs typeface="Arial"/>
                              <a:sym typeface="Arial"/>
                            </a:rPr>
                            <m:t>dt</m:t>
                          </m:r>
                        </m:den>
                      </m:f>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num>
                        <m:den>
                          <m:r>
                            <m:rPr>
                              <m:sty m:val="p"/>
                            </m:rPr>
                            <a:rPr lang="en-US" sz="1500" i="1">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422022D-3D6E-0FD8-3529-1D91E9C5065A}"/>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3"/>
                <a:stretch>
                  <a:fillRect l="-213"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E6F434-EC53-7704-1D46-996DAD5BEB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BFDB0E-6ECD-D980-B5FA-5E87AE54AE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90F7FD-FB2E-F08C-43AB-B23C2F236B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F40BC3-F795-1872-CE66-7DDE02CDF5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88327DF-9B2B-B914-CF1C-C429C8A5A0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84491F-25F2-0A2D-76A5-B1078B262D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218655-DB36-6E32-97C6-CB62756E6A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B9392B-E800-F01A-3F83-80E89DB750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577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3" end="1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AAC887-D2D2-5A17-9CBA-3C11B96DD3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06B594-3503-62C2-C03D-687D4C620B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By Ohm’s law, the inject noise current flows through the victim’s wire </a:t>
                </a:r>
                <a:r>
                  <a:rPr lang="en-US" sz="1800" dirty="0" err="1">
                    <a:solidFill>
                      <a:schemeClr val="dk1"/>
                    </a:solidFill>
                    <a:latin typeface="Atkinson Hyperlegible Next"/>
                    <a:ea typeface="Arial"/>
                    <a:cs typeface="Arial"/>
                    <a:sym typeface="Arial"/>
                  </a:rPr>
                  <a:t>impedence</a:t>
                </a:r>
                <a:r>
                  <a:rPr lang="en-US" sz="1800" dirty="0">
                    <a:solidFill>
                      <a:schemeClr val="dk1"/>
                    </a:solidFill>
                    <a:latin typeface="Atkinson Hyperlegible Next"/>
                    <a:ea typeface="Arial"/>
                    <a:cs typeface="Arial"/>
                    <a:sym typeface="Arial"/>
                  </a:rPr>
                  <a:t> to ground (</a:t>
                </a: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latin typeface="Atkinson Hyperlegible Next"/>
                    <a:ea typeface="Arial"/>
                    <a:cs typeface="Arial"/>
                    <a:sym typeface="Arial"/>
                  </a:rPr>
                  <a:t>), creating a noise voltage:</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V</m:t>
                          </m:r>
                        </m:e>
                        <m:sub>
                          <m:r>
                            <m:rPr>
                              <m:sty m:val="p"/>
                            </m:rPr>
                            <a:rPr lang="en-US" sz="1800" b="0" i="1" smtClean="0">
                              <a:latin typeface="Cambria Math" panose="02040503050406030204" pitchFamily="18" charset="0"/>
                              <a:cs typeface="Arial"/>
                              <a:sym typeface="Arial"/>
                            </a:rPr>
                            <m:t>noise</m:t>
                          </m:r>
                        </m:sub>
                      </m:sSub>
                      <m:r>
                        <a:rPr lang="en-US" sz="1800" i="1" smtClean="0">
                          <a:latin typeface="Cambria Math" panose="02040503050406030204" pitchFamily="18" charset="0"/>
                          <a:ea typeface="Cambria Math" panose="02040503050406030204" pitchFamily="18" charset="0"/>
                          <a:cs typeface="Arial"/>
                          <a:sym typeface="Arial"/>
                        </a:rPr>
                        <m:t>≈</m:t>
                      </m:r>
                      <m:sSub>
                        <m:sSubPr>
                          <m:ctrlPr>
                            <a:rPr lang="en-US" sz="1800" i="1" smtClean="0">
                              <a:latin typeface="Cambria Math" panose="02040503050406030204" pitchFamily="18" charset="0"/>
                              <a:ea typeface="Cambria Math" panose="02040503050406030204" pitchFamily="18" charset="0"/>
                              <a:cs typeface="Arial"/>
                              <a:sym typeface="Arial"/>
                            </a:rPr>
                          </m:ctrlPr>
                        </m:sSubPr>
                        <m:e>
                          <m:r>
                            <m:rPr>
                              <m:sty m:val="p"/>
                            </m:rPr>
                            <a:rPr lang="en-US" sz="1800" b="0" i="1" smtClean="0">
                              <a:latin typeface="Cambria Math" panose="02040503050406030204" pitchFamily="18" charset="0"/>
                              <a:ea typeface="Cambria Math" panose="02040503050406030204" pitchFamily="18" charset="0"/>
                              <a:cs typeface="Arial"/>
                              <a:sym typeface="Arial"/>
                            </a:rPr>
                            <m:t>I</m:t>
                          </m:r>
                        </m:e>
                        <m:sub>
                          <m:r>
                            <m:rPr>
                              <m:sty m:val="p"/>
                            </m:rPr>
                            <a:rPr lang="en-US" sz="1800" b="0" i="1" smtClean="0">
                              <a:latin typeface="Cambria Math" panose="02040503050406030204" pitchFamily="18" charset="0"/>
                              <a:ea typeface="Cambria Math" panose="02040503050406030204" pitchFamily="18" charset="0"/>
                              <a:cs typeface="Arial"/>
                              <a:sym typeface="Arial"/>
                            </a:rPr>
                            <m:t>noise</m:t>
                          </m:r>
                        </m:sub>
                      </m:sSub>
                      <m:r>
                        <m:rPr>
                          <m:sty m:val="p"/>
                        </m:rPr>
                        <a:rPr lang="en-US" sz="1800" b="0" i="1" smtClean="0">
                          <a:latin typeface="Cambria Math" panose="02040503050406030204" pitchFamily="18" charset="0"/>
                          <a:ea typeface="Cambria Math" panose="02040503050406030204" pitchFamily="18" charset="0"/>
                          <a:cs typeface="Arial"/>
                          <a:sym typeface="Arial"/>
                        </a:rPr>
                        <m:t>R</m:t>
                      </m:r>
                      <m:r>
                        <a:rPr lang="en-US" sz="1800" i="1">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R</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C</m:t>
                          </m:r>
                        </m:e>
                        <m:sub>
                          <m:r>
                            <a:rPr lang="en-US" sz="1800" i="1">
                              <a:latin typeface="Cambria Math" panose="02040503050406030204" pitchFamily="18" charset="0"/>
                              <a:cs typeface="Arial"/>
                              <a:sym typeface="Arial"/>
                            </a:rPr>
                            <m:t>12</m:t>
                          </m:r>
                        </m:sub>
                      </m:sSub>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a:rPr lang="en-US" sz="1800" i="1">
                                  <a:latin typeface="Cambria Math" panose="02040503050406030204" pitchFamily="18" charset="0"/>
                                  <a:cs typeface="Arial"/>
                                  <a:sym typeface="Arial"/>
                                </a:rPr>
                                <m:t>1</m:t>
                              </m:r>
                            </m:sub>
                          </m:sSub>
                        </m:num>
                        <m:den>
                          <m:r>
                            <m:rPr>
                              <m:sty m:val="p"/>
                            </m:rPr>
                            <a:rPr lang="en-US" sz="1800" i="1">
                              <a:latin typeface="Cambria Math" panose="02040503050406030204" pitchFamily="18" charset="0"/>
                              <a:cs typeface="Arial"/>
                              <a:sym typeface="Arial"/>
                            </a:rPr>
                            <m:t>dt</m:t>
                          </m:r>
                        </m:den>
                      </m:f>
                    </m:oMath>
                  </m:oMathPara>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tkinson Hyperlegible Next"/>
                    <a:ea typeface="Arial"/>
                    <a:cs typeface="Arial"/>
                    <a:sym typeface="Arial"/>
                  </a:rPr>
                  <a:t> is directly proportion to the rate of change of the source voltage, even if the actual voltage amplitude is moderate!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What causes more digital signal interference?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latin typeface="Atkinson Hyperlegible Next"/>
                    <a:ea typeface="Arial"/>
                    <a:cs typeface="Arial"/>
                    <a:sym typeface="Arial"/>
                  </a:rPr>
                  <a:t>High-frequency vs low-frequency</a:t>
                </a: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Assuming a duty cycle of 50%?</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5000;  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a:t>
                </a: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706B594-3503-62C2-C03D-687D4C620BC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683C7E-7158-75B0-5659-F3A0CC7F9D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ABA672-B9C0-C40E-48E9-C7C4C72EAA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Serial Communication -</a:t>
            </a:r>
            <a:r>
              <a:rPr i="0" b="0" lang="en-US" sz="2400" dirty="0">
                <a:solidFill>
                  <a:schemeClr val="lt1"/>
                </a:solidFill>
              </a:rPr>
              <a:t>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A5230B-52D6-AEC7-6FB9-E0E728389E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BCE374-187C-F87B-0D96-46E82848F4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0872BA-30D8-4AB8-EC55-509E5A0C0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463576-3FCC-78BE-2445-D5CE8DAA6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51FC57-D594-0E18-9A2B-B374AEB1B7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49CED8-3749-DBD1-ABDD-540C421201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A37AD69F-FA9F-ED67-FBD2-B2216717ADCD}"/>
              </a:ext>
            </a:extLst>
          </p:cNvPr>
          <p:cNvSpPr/>
          <p:nvPr/>
        </p:nvSpPr>
        <p:spPr>
          <a:xfrm>
            <a:off x="4258673" y="4297041"/>
            <a:ext cx="1604997"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A8C09F26-E24A-C1A5-34E8-AE2880A14416}"/>
              </a:ext>
            </a:extLst>
          </p:cNvPr>
          <p:cNvSpPr/>
          <p:nvPr/>
        </p:nvSpPr>
        <p:spPr>
          <a:xfrm>
            <a:off x="6096000" y="5370236"/>
            <a:ext cx="2862562"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176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E553810-0993-6CA6-C592-FEEBB293FC5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9462B77-3A90-663C-F3D7-57DB59DCCA5F}"/>
                  </a:ext>
                </a:extLst>
              </p:cNvPr>
              <p:cNvSpPr txBox="1">
                <a:spLocks noGrp="1"/>
              </p:cNvSpPr>
              <p:nvPr>
                <p:ph type="body" idx="1"/>
              </p:nvPr>
            </p:nvSpPr>
            <p:spPr>
              <a:xfrm>
                <a:off x="376810" y="1334279"/>
                <a:ext cx="7352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Let’s try to explain how we get inductive interference!</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Coupling between the circuits can occur when the magnetic field lines from one of the circuits pass through the loop formed by the other circuit.</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Magnetic coupling is governed by </a:t>
                </a:r>
                <a:r>
                  <a:rPr lang="en-US" sz="1500" b="1" dirty="0">
                    <a:latin typeface="Atkinson Hyperlegible Next"/>
                    <a:ea typeface="Arial"/>
                    <a:cs typeface="Arial"/>
                    <a:sym typeface="Arial"/>
                  </a:rPr>
                  <a:t>Ampere's Law </a:t>
                </a:r>
                <a:r>
                  <a:rPr lang="en-US" sz="1500" dirty="0">
                    <a:latin typeface="Atkinson Hyperlegible Next"/>
                    <a:ea typeface="Arial"/>
                    <a:cs typeface="Arial"/>
                    <a:sym typeface="Arial"/>
                  </a:rPr>
                  <a:t>and </a:t>
                </a:r>
                <a:r>
                  <a:rPr lang="en-US" sz="1500" b="1" dirty="0">
                    <a:latin typeface="Atkinson Hyperlegible Next"/>
                    <a:ea typeface="Arial"/>
                    <a:cs typeface="Arial"/>
                    <a:sym typeface="Arial"/>
                  </a:rPr>
                  <a:t>Faraday's Law </a:t>
                </a:r>
                <a:r>
                  <a:rPr lang="en-US" sz="1500" dirty="0">
                    <a:latin typeface="Atkinson Hyperlegible Next"/>
                    <a:ea typeface="Arial"/>
                    <a:cs typeface="Arial"/>
                    <a:sym typeface="Arial"/>
                  </a:rPr>
                  <a:t>of Induction. A time-varying current in a source wire generates a time-varying magnetic field, which penetrates the loop area formed by the victim wire and its ground return path, inducing an electromotive force (EMF).</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time-varying current for. Assuming it is a long, straight wire, we use Ampere’s Law (</a:t>
                </a:r>
                <a14:m>
                  <m:oMath xmlns:m="http://schemas.openxmlformats.org/officeDocument/2006/math">
                    <m:nary>
                      <m:naryPr>
                        <m:chr m:val="∮"/>
                        <m:grow m:val="on"/>
                        <m:subHide m:val="on"/>
                        <m:supHide m:val="on"/>
                        <m:ctrlPr>
                          <a:rPr lang="en-US" sz="1500" i="1" smtClean="0">
                            <a:latin typeface="Cambria Math" panose="02040503050406030204" pitchFamily="18" charset="0"/>
                            <a:sym typeface="Arial"/>
                          </a:rPr>
                        </m:ctrlPr>
                      </m:naryPr>
                      <m:sub/>
                      <m:sup/>
                      <m:e>
                        <m:r>
                          <a:rPr lang="en-US" sz="1500" b="1" i="1" smtClean="0">
                            <a:latin typeface="Cambria Math" panose="02040503050406030204" pitchFamily="18" charset="0"/>
                            <a:sym typeface="Arial"/>
                          </a:rPr>
                          <m:t>𝑩</m:t>
                        </m:r>
                        <m:r>
                          <a:rPr lang="en-US" sz="1500" i="0" smtClean="0">
                            <a:latin typeface="Cambria Math" panose="02040503050406030204" pitchFamily="18" charset="0"/>
                            <a:sym typeface="Arial"/>
                          </a:rPr>
                          <m:t>⋅ⅆ</m:t>
                        </m:r>
                        <m:r>
                          <a:rPr lang="en-US" sz="1500" b="1" i="1" smtClean="0">
                            <a:latin typeface="Cambria Math" panose="02040503050406030204" pitchFamily="18" charset="0"/>
                            <a:sym typeface="Arial"/>
                          </a:rPr>
                          <m:t>𝒍</m:t>
                        </m:r>
                      </m:e>
                    </m:nary>
                    <m:r>
                      <a:rPr lang="en-US" sz="1500" i="0" smtClean="0">
                        <a:latin typeface="Cambria Math" panose="02040503050406030204" pitchFamily="18" charset="0"/>
                        <a:sym typeface="Arial"/>
                      </a:rPr>
                      <m:t>=</m:t>
                    </m:r>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𝜇</m:t>
                        </m:r>
                      </m:e>
                      <m:sub>
                        <m:r>
                          <a:rPr lang="en-US" sz="1500" i="0" smtClean="0">
                            <a:latin typeface="Cambria Math" panose="02040503050406030204" pitchFamily="18" charset="0"/>
                            <a:sym typeface="Arial"/>
                          </a:rPr>
                          <m:t>0</m:t>
                        </m:r>
                      </m:sub>
                    </m:sSub>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𝐼</m:t>
                        </m:r>
                      </m:e>
                      <m:sub>
                        <m:r>
                          <a:rPr lang="en-US" sz="1500" i="1" smtClean="0">
                            <a:latin typeface="Cambria Math" panose="02040503050406030204" pitchFamily="18" charset="0"/>
                            <a:sym typeface="Arial"/>
                          </a:rPr>
                          <m:t>𝑒𝑛𝑐</m:t>
                        </m:r>
                      </m:sub>
                    </m:sSub>
                  </m:oMath>
                </a14:m>
                <a:r>
                  <a:rPr lang="en-US" sz="1500" dirty="0">
                    <a:latin typeface="Atkinson Hyperlegible Next"/>
                    <a:ea typeface="Arial"/>
                    <a:cs typeface="Arial"/>
                    <a:sym typeface="Arial"/>
                  </a:rPr>
                  <a:t>) to find the magnetic field at radial distance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tkinson Hyperlegible Next"/>
                    <a:ea typeface="Arial"/>
                    <a:cs typeface="Arial"/>
                    <a:sym typeface="Arial"/>
                  </a:rPr>
                  <a:t>:</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500" i="1" dirty="0" smtClean="0">
                          <a:latin typeface="Cambria Math" panose="02040503050406030204" pitchFamily="18" charset="0"/>
                          <a:sym typeface="Arial"/>
                        </a:rPr>
                        <m:t>𝐵</m:t>
                      </m:r>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𝑟</m:t>
                          </m:r>
                          <m:r>
                            <a:rPr lang="en-US" sz="1500" i="0" dirty="0" smtClean="0">
                              <a:latin typeface="Cambria Math" panose="02040503050406030204" pitchFamily="18" charset="0"/>
                              <a:sym typeface="Arial"/>
                            </a:rPr>
                            <m:t>,</m:t>
                          </m:r>
                          <m:r>
                            <a:rPr lang="en-US" sz="1500" i="1" dirty="0" smtClean="0">
                              <a:latin typeface="Cambria Math" panose="02040503050406030204" pitchFamily="18" charset="0"/>
                              <a:sym typeface="Arial"/>
                            </a:rPr>
                            <m:t>𝑡</m:t>
                          </m:r>
                        </m:e>
                      </m:d>
                      <m:r>
                        <a:rPr lang="en-US" sz="1500" i="0" dirty="0" smtClean="0">
                          <a:latin typeface="Cambria Math" panose="02040503050406030204" pitchFamily="18" charset="0"/>
                          <a:sym typeface="Arial"/>
                        </a:rPr>
                        <m:t>=</m:t>
                      </m:r>
                      <m:f>
                        <m:fPr>
                          <m:ctrlPr>
                            <a:rPr lang="en-US" sz="1500" i="1" dirty="0" smtClean="0">
                              <a:latin typeface="Cambria Math" panose="02040503050406030204" pitchFamily="18" charset="0"/>
                              <a:sym typeface="Arial"/>
                            </a:rPr>
                          </m:ctrlPr>
                        </m:fPr>
                        <m:num>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𝜇</m:t>
                              </m:r>
                            </m:e>
                            <m:sub>
                              <m:r>
                                <a:rPr lang="en-US" sz="1500" i="0" dirty="0" smtClean="0">
                                  <a:latin typeface="Cambria Math" panose="02040503050406030204" pitchFamily="18" charset="0"/>
                                  <a:sym typeface="Arial"/>
                                </a:rPr>
                                <m:t>0</m:t>
                              </m:r>
                            </m:sub>
                          </m:sSub>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𝐼</m:t>
                              </m:r>
                            </m:e>
                            <m:sub>
                              <m:r>
                                <a:rPr lang="en-US" sz="1500" i="0" dirty="0" smtClean="0">
                                  <a:latin typeface="Cambria Math" panose="02040503050406030204" pitchFamily="18" charset="0"/>
                                  <a:sym typeface="Arial"/>
                                </a:rPr>
                                <m:t>1</m:t>
                              </m:r>
                            </m:sub>
                          </m:sSub>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𝑡</m:t>
                              </m:r>
                            </m:e>
                          </m:d>
                        </m:num>
                        <m:den>
                          <m:r>
                            <a:rPr lang="en-US" sz="1500" i="0" dirty="0" smtClean="0">
                              <a:latin typeface="Cambria Math" panose="02040503050406030204" pitchFamily="18" charset="0"/>
                              <a:sym typeface="Arial"/>
                            </a:rPr>
                            <m:t>2</m:t>
                          </m:r>
                          <m:r>
                            <a:rPr lang="en-US" sz="1500" i="1" dirty="0" smtClean="0">
                              <a:latin typeface="Cambria Math" panose="02040503050406030204" pitchFamily="18" charset="0"/>
                              <a:sym typeface="Arial"/>
                            </a:rPr>
                            <m:t>𝜋</m:t>
                          </m:r>
                          <m:r>
                            <a:rPr lang="en-US" sz="1500" i="1" dirty="0" smtClean="0">
                              <a:latin typeface="Cambria Math" panose="02040503050406030204" pitchFamily="18" charset="0"/>
                              <a:sym typeface="Arial"/>
                            </a:rPr>
                            <m:t>𝑟</m:t>
                          </m:r>
                        </m:den>
                      </m:f>
                      <m:acc>
                        <m:accPr>
                          <m:chr m:val="̂"/>
                          <m:ctrlPr>
                            <a:rPr lang="en-US" sz="1500" i="1" dirty="0" smtClean="0">
                              <a:latin typeface="Cambria Math" panose="02040503050406030204" pitchFamily="18" charset="0"/>
                              <a:sym typeface="Arial"/>
                            </a:rPr>
                          </m:ctrlPr>
                        </m:accPr>
                        <m:e>
                          <m:r>
                            <a:rPr lang="en-US" sz="1500" i="1" dirty="0" smtClean="0">
                              <a:latin typeface="Cambria Math" panose="02040503050406030204" pitchFamily="18" charset="0"/>
                              <a:sym typeface="Arial"/>
                            </a:rPr>
                            <m:t>𝜙</m:t>
                          </m:r>
                        </m:e>
                      </m:acc>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(there </a:t>
                </a:r>
                <a14:m>
                  <m:oMath xmlns:m="http://schemas.openxmlformats.org/officeDocument/2006/math">
                    <m:sSub>
                      <m:sSubPr>
                        <m:ctrlPr>
                          <a:rPr lang="en-US" sz="1500" i="1" dirty="0">
                            <a:latin typeface="Cambria Math" panose="02040503050406030204" pitchFamily="18" charset="0"/>
                            <a:sym typeface="Arial"/>
                          </a:rPr>
                        </m:ctrlPr>
                      </m:sSubPr>
                      <m:e>
                        <m:r>
                          <a:rPr lang="en-US" sz="1500" i="1" dirty="0">
                            <a:latin typeface="Cambria Math" panose="02040503050406030204" pitchFamily="18" charset="0"/>
                            <a:sym typeface="Arial"/>
                          </a:rPr>
                          <m:t>𝜇</m:t>
                        </m:r>
                      </m:e>
                      <m:sub>
                        <m:r>
                          <a:rPr lang="en-US" sz="1500" dirty="0">
                            <a:latin typeface="Cambria Math" panose="02040503050406030204" pitchFamily="18" charset="0"/>
                            <a:sym typeface="Arial"/>
                          </a:rPr>
                          <m:t>0</m:t>
                        </m:r>
                      </m:sub>
                    </m:sSub>
                  </m:oMath>
                </a14:m>
                <a:r>
                  <a:rPr lang="en-US" sz="1500" dirty="0">
                    <a:latin typeface="Atkinson Hyperlegible Next"/>
                    <a:ea typeface="Arial"/>
                    <a:cs typeface="Arial"/>
                    <a:sym typeface="Arial"/>
                  </a:rPr>
                  <a:t>, is the permeability of free space and </a:t>
                </a:r>
                <a14:m>
                  <m:oMath xmlns:m="http://schemas.openxmlformats.org/officeDocument/2006/math">
                    <m:acc>
                      <m:accPr>
                        <m:chr m:val="̂"/>
                        <m:ctrlPr>
                          <a:rPr lang="en-US" sz="1500" i="1" dirty="0">
                            <a:latin typeface="Cambria Math" panose="02040503050406030204" pitchFamily="18" charset="0"/>
                            <a:sym typeface="Arial"/>
                          </a:rPr>
                        </m:ctrlPr>
                      </m:accPr>
                      <m:e>
                        <m:r>
                          <a:rPr lang="en-US" sz="1500" i="1" dirty="0">
                            <a:latin typeface="Cambria Math" panose="02040503050406030204" pitchFamily="18" charset="0"/>
                            <a:sym typeface="Arial"/>
                          </a:rPr>
                          <m:t>𝜙</m:t>
                        </m:r>
                      </m:e>
                    </m:acc>
                  </m:oMath>
                </a14:m>
                <a:r>
                  <a:rPr lang="en-US" sz="1500" dirty="0">
                    <a:latin typeface="Atkinson Hyperlegible Next"/>
                    <a:ea typeface="Arial"/>
                    <a:cs typeface="Arial"/>
                    <a:sym typeface="Arial"/>
                  </a:rPr>
                  <a:t> represents the flux)</a:t>
                </a:r>
              </a:p>
              <a:p>
                <a:pPr marL="0" indent="0">
                  <a:lnSpc>
                    <a:spcPct val="100000"/>
                  </a:lnSpc>
                  <a:spcBef>
                    <a:spcPts val="0"/>
                  </a:spcBef>
                  <a:buSzPts val="3000"/>
                  <a:buNone/>
                </a:pPr>
                <a:endParaRPr lang="en-US" sz="15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9462B77-3A90-663C-F3D7-57DB59DCCA5F}"/>
                  </a:ext>
                </a:extLst>
              </p:cNvPr>
              <p:cNvSpPr txBox="1">
                <a:spLocks noGrp="1" noRot="1" noChangeAspect="1" noMove="1" noResize="1" noEditPoints="1" noAdjustHandles="1" noChangeArrowheads="1" noChangeShapeType="1" noTextEdit="1"/>
              </p:cNvSpPr>
              <p:nvPr>
                <p:ph type="body" idx="1"/>
              </p:nvPr>
            </p:nvSpPr>
            <p:spPr>
              <a:xfrm>
                <a:off x="376810" y="1334279"/>
                <a:ext cx="7352927" cy="4821102"/>
              </a:xfrm>
              <a:prstGeom prst="rect">
                <a:avLst/>
              </a:prstGeom>
              <a:blipFill>
                <a:blip r:embed="rId3"/>
                <a:stretch>
                  <a:fillRect l="-332"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01F065-F6E7-D6D8-DE0F-AABD0B55A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A78B60-B11D-A3DC-1E60-DFC069AF3A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41F66B-3AE3-3256-4B55-8A8C9C4F1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F620FF-E919-339A-F7D0-8CB581A7DF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BE268-749B-832D-D911-C5BE24B7AC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CE9D18-8E15-C4EC-14CF-BBFB30061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5DF155-07AC-5538-C8B8-C11F311B2B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CD11F-7C93-4AE6-D3FF-1FC4A4A872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3B811EB4-FFC8-B884-FA4E-2DE4D94CF01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29737" y="2115192"/>
            <a:ext cx="4099080" cy="2627615"/>
          </a:xfrm>
          <a:prstGeom prst="rect">
            <a:avLst/>
          </a:prstGeom>
        </p:spPr>
      </p:pic>
    </p:spTree>
    <p:extLst>
      <p:ext uri="{BB962C8B-B14F-4D97-AF65-F5344CB8AC3E}">
        <p14:creationId xmlns:p14="http://schemas.microsoft.com/office/powerpoint/2010/main" val="2711201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C46854-055C-B5AF-C373-DC6DDF6C98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B6DE34-97B3-499D-8C3E-581B4B505607}"/>
                  </a:ext>
                </a:extLst>
              </p:cNvPr>
              <p:cNvSpPr txBox="1">
                <a:spLocks noGrp="1"/>
              </p:cNvSpPr>
              <p:nvPr>
                <p:ph type="body" idx="1"/>
              </p:nvPr>
            </p:nvSpPr>
            <p:spPr>
              <a:xfrm>
                <a:off x="376810" y="1334279"/>
                <a:ext cx="11529573" cy="7977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If the victim wire forms a rectangular loop ( not often the case but good enough for showing this specific case), with it’s return path. Having a length </a:t>
                </a:r>
                <a14:m>
                  <m:oMath xmlns:m="http://schemas.openxmlformats.org/officeDocument/2006/math">
                    <m:r>
                      <m:rPr>
                        <m:sty m:val="p"/>
                      </m:rPr>
                      <a:rPr lang="en-US" sz="1500" b="0" i="1" smtClean="0">
                        <a:latin typeface="Cambria Math" panose="02040503050406030204" pitchFamily="18" charset="0"/>
                        <a:ea typeface="Arial"/>
                        <a:cs typeface="Arial"/>
                        <a:sym typeface="Arial"/>
                      </a:rPr>
                      <m:t>l</m:t>
                    </m:r>
                  </m:oMath>
                </a14:m>
                <a:r>
                  <a:rPr lang="en-US" sz="1500" dirty="0">
                    <a:latin typeface="Atkinson Hyperlegible Next"/>
                    <a:ea typeface="Arial"/>
                    <a:cs typeface="Arial"/>
                    <a:sym typeface="Arial"/>
                  </a:rPr>
                  <a:t> and distance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1</m:t>
                        </m:r>
                      </m:sub>
                    </m:sSub>
                  </m:oMath>
                </a14:m>
                <a:r>
                  <a:rPr lang="en-US" sz="1500" dirty="0">
                    <a:latin typeface="Atkinson Hyperlegible Next"/>
                    <a:ea typeface="Arial"/>
                    <a:cs typeface="Arial"/>
                    <a:sym typeface="Arial"/>
                  </a:rPr>
                  <a:t>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2</m:t>
                        </m:r>
                      </m:sub>
                    </m:sSub>
                  </m:oMath>
                </a14:m>
                <a:r>
                  <a:rPr lang="en-US" sz="1500" dirty="0">
                    <a:latin typeface="Atkinson Hyperlegible Next"/>
                    <a:ea typeface="Arial"/>
                    <a:cs typeface="Arial"/>
                    <a:sym typeface="Arial"/>
                  </a:rPr>
                  <a:t> from the source wire. The magnetic flux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l-GR" sz="1500" i="1">
                            <a:latin typeface="Cambria Math" panose="02040503050406030204" pitchFamily="18" charset="0"/>
                            <a:ea typeface="Cambria Math" panose="02040503050406030204" pitchFamily="18" charset="0"/>
                            <a:cs typeface="Arial"/>
                            <a:sym typeface="Arial"/>
                          </a:rPr>
                          <m:t>Φ</m:t>
                        </m:r>
                      </m:e>
                      <m:sub>
                        <m:r>
                          <m:rPr>
                            <m:sty m:val="p"/>
                          </m:rPr>
                          <a:rPr lang="en-US" sz="1500" b="0" i="1" smtClean="0">
                            <a:latin typeface="Cambria Math" panose="02040503050406030204" pitchFamily="18" charset="0"/>
                            <a:cs typeface="Arial"/>
                            <a:sym typeface="Arial"/>
                          </a:rPr>
                          <m:t>B</m:t>
                        </m:r>
                      </m:sub>
                    </m:sSub>
                  </m:oMath>
                </a14:m>
                <a:r>
                  <a:rPr lang="en-US" sz="1500" dirty="0">
                    <a:latin typeface="Atkinson Hyperlegible Next"/>
                    <a:ea typeface="Arial"/>
                    <a:cs typeface="Arial"/>
                    <a:sym typeface="Arial"/>
                  </a:rPr>
                  <a:t>, though this loop is the surface integral of the magnetic field.</a:t>
                </a:r>
              </a:p>
            </p:txBody>
          </p:sp>
        </mc:Choice>
        <mc:Fallback xmlns="">
          <p:sp>
            <p:nvSpPr>
              <p:cNvPr id="118" name="Google Shape;118;p29">
                <a:extLst>
                  <a:ext uri="{FF2B5EF4-FFF2-40B4-BE49-F238E27FC236}">
                    <a16:creationId xmlns:a16="http://schemas.microsoft.com/office/drawing/2014/main" id="{45B6DE34-97B3-499D-8C3E-581B4B505607}"/>
                  </a:ext>
                </a:extLst>
              </p:cNvPr>
              <p:cNvSpPr txBox="1">
                <a:spLocks noGrp="1" noRot="1" noChangeAspect="1" noMove="1" noResize="1" noEditPoints="1" noAdjustHandles="1" noChangeArrowheads="1" noChangeShapeType="1" noTextEdit="1"/>
              </p:cNvSpPr>
              <p:nvPr>
                <p:ph type="body" idx="1"/>
              </p:nvPr>
            </p:nvSpPr>
            <p:spPr>
              <a:xfrm>
                <a:off x="376810" y="1334279"/>
                <a:ext cx="11529573" cy="797771"/>
              </a:xfrm>
              <a:prstGeom prst="rect">
                <a:avLst/>
              </a:prstGeom>
              <a:blipFill>
                <a:blip r:embed="rId3"/>
                <a:stretch>
                  <a:fillRect l="-212" t="-1527" b="-534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EE58DB9-5625-990F-F409-EB9B083C0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7CA482-AB72-74E5-0248-749A0D818B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1E9A12-AB74-EDCA-180A-4B3D72EB2B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B80E4-BF7C-BFC5-F190-CF499181B4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B2A733-C909-DB25-00C1-A1F2DBAC6A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EA645-D3D2-7CF1-299D-FDCAED47ED5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7CDCEC-81D1-298B-318D-D346156D1A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97F273-8E95-CE18-1F68-F4DBF54C924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39B0FC0-03D0-7B0B-BA2C-429A87EC5F84}"/>
              </a:ext>
            </a:extLst>
          </p:cNvPr>
          <p:cNvSpPr txBox="1"/>
          <p:nvPr/>
        </p:nvSpPr>
        <p:spPr>
          <a:xfrm>
            <a:off x="9264863" y="6014058"/>
            <a:ext cx="1330036" cy="307777"/>
          </a:xfrm>
          <a:prstGeom prst="rect">
            <a:avLst/>
          </a:prstGeom>
          <a:noFill/>
        </p:spPr>
        <p:txBody>
          <a:bodyPr wrap="square" rtlCol="0">
            <a:spAutoFit/>
          </a:bodyPr>
          <a:lstStyle/>
          <a:p>
            <a:pPr algn="ctr"/>
            <a:r>
              <a:rPr lang="en-US" dirty="0"/>
              <a:t>Animate this!</a:t>
            </a:r>
          </a:p>
        </p:txBody>
      </p:sp>
      <p:pic>
        <p:nvPicPr>
          <p:cNvPr id="7" name="Graphic 6">
            <a:extLst>
              <a:ext uri="{FF2B5EF4-FFF2-40B4-BE49-F238E27FC236}">
                <a16:creationId xmlns:a16="http://schemas.microsoft.com/office/drawing/2014/main" id="{7FBC60A7-C44A-88C2-2880-42A130B2D873}"/>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557421" y="2247275"/>
            <a:ext cx="5077158" cy="4175778"/>
          </a:xfrm>
          <a:prstGeom prst="rect">
            <a:avLst/>
          </a:prstGeom>
        </p:spPr>
      </p:pic>
    </p:spTree>
    <p:extLst>
      <p:ext uri="{BB962C8B-B14F-4D97-AF65-F5344CB8AC3E}">
        <p14:creationId xmlns:p14="http://schemas.microsoft.com/office/powerpoint/2010/main" val="10441072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E1F92-AC29-518F-C27B-044A750C34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3396D8D-BDCA-968E-907C-556491E12358}"/>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Cambria Math" panose="02040503050406030204" pitchFamily="18" charset="0"/>
                    <a:sym typeface="Arial"/>
                  </a:rPr>
                  <a:t>Integrating the field across the area.</a:t>
                </a:r>
              </a:p>
              <a:p>
                <a:pPr marL="0" indent="0">
                  <a:lnSpc>
                    <a:spcPct val="100000"/>
                  </a:lnSpc>
                  <a:spcBef>
                    <a:spcPts val="0"/>
                  </a:spcBef>
                  <a:buSzPts val="3000"/>
                  <a:buNone/>
                </a:pPr>
                <a:endParaRPr lang="en-US" sz="2000" dirty="0">
                  <a:latin typeface="Cambria Math" panose="02040503050406030204" pitchFamily="18" charset="0"/>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i="0" dirty="0">
                          <a:latin typeface="Cambria Math" panose="02040503050406030204" pitchFamily="18" charset="0"/>
                          <a:sym typeface="Arial"/>
                        </a:rPr>
                        <m:t>=</m:t>
                      </m:r>
                      <m:nary>
                        <m:naryPr>
                          <m:chr m:val="∬"/>
                          <m:limLoc m:val="subSup"/>
                          <m:supHide m:val="on"/>
                          <m:ctrlPr>
                            <a:rPr lang="en-US" sz="2000" i="1" dirty="0">
                              <a:latin typeface="Cambria Math" panose="02040503050406030204" pitchFamily="18" charset="0"/>
                              <a:sym typeface="Arial"/>
                            </a:rPr>
                          </m:ctrlPr>
                        </m:naryPr>
                        <m:sub>
                          <m:r>
                            <a:rPr lang="en-US" sz="2000" i="1" dirty="0">
                              <a:latin typeface="Cambria Math" panose="02040503050406030204" pitchFamily="18" charset="0"/>
                              <a:sym typeface="Arial"/>
                            </a:rPr>
                            <m:t>𝑆</m:t>
                          </m:r>
                        </m:sub>
                        <m:sup/>
                        <m:e>
                          <m:r>
                            <a:rPr lang="en-US" sz="2000" i="1" dirty="0">
                              <a:latin typeface="Cambria Math" panose="02040503050406030204" pitchFamily="18" charset="0"/>
                              <a:sym typeface="Arial"/>
                            </a:rPr>
                            <m:t>𝐵</m:t>
                          </m:r>
                          <m:r>
                            <a:rPr lang="en-US" sz="2000" i="0" dirty="0">
                              <a:latin typeface="Cambria Math" panose="02040503050406030204" pitchFamily="18" charset="0"/>
                              <a:sym typeface="Arial"/>
                            </a:rPr>
                            <m:t>⋅ⅆ</m:t>
                          </m:r>
                          <m:r>
                            <a:rPr lang="en-US" sz="2000" i="1" dirty="0">
                              <a:latin typeface="Cambria Math" panose="02040503050406030204" pitchFamily="18" charset="0"/>
                              <a:sym typeface="Arial"/>
                            </a:rPr>
                            <m:t>𝐴</m:t>
                          </m:r>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and integrating over the area </a:t>
                </a:r>
                <a14:m>
                  <m:oMath xmlns:m="http://schemas.openxmlformats.org/officeDocument/2006/math">
                    <m:r>
                      <m:rPr>
                        <m:sty m:val="p"/>
                      </m:rPr>
                      <a:rPr lang="en-US" sz="2000" b="0" i="1" smtClean="0">
                        <a:latin typeface="Cambria Math" panose="02040503050406030204" pitchFamily="18" charset="0"/>
                        <a:ea typeface="Arial"/>
                        <a:cs typeface="Arial"/>
                        <a:sym typeface="Arial"/>
                      </a:rPr>
                      <m:t>dA</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l</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dr</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𝛷</m:t>
                          </m:r>
                        </m:e>
                        <m:sub>
                          <m:r>
                            <a:rPr lang="en-US" sz="2000" i="1" dirty="0" smtClean="0">
                              <a:latin typeface="Cambria Math" panose="02040503050406030204" pitchFamily="18" charset="0"/>
                              <a:sym typeface="Arial"/>
                            </a:rPr>
                            <m:t>𝐵</m:t>
                          </m:r>
                        </m:sub>
                      </m:sSub>
                      <m:r>
                        <a:rPr lang="en-US" sz="2000" i="0" dirty="0" smtClean="0">
                          <a:latin typeface="Cambria Math" panose="02040503050406030204" pitchFamily="18" charset="0"/>
                          <a:sym typeface="Arial"/>
                        </a:rPr>
                        <m:t>=</m:t>
                      </m:r>
                      <m:nary>
                        <m:naryPr>
                          <m:limLoc m:val="subSup"/>
                          <m:grow m:val="on"/>
                          <m:ctrlPr>
                            <a:rPr lang="en-US" sz="2000" i="1" dirty="0" smtClean="0">
                              <a:latin typeface="Cambria Math" panose="02040503050406030204" pitchFamily="18" charset="0"/>
                              <a:sym typeface="Arial"/>
                            </a:rPr>
                          </m:ctrlPr>
                        </m:naryPr>
                        <m: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1</m:t>
                              </m:r>
                            </m:sub>
                          </m:sSub>
                        </m:sub>
                        <m:sup>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2</m:t>
                              </m:r>
                            </m:sub>
                          </m:sSub>
                        </m:sup>
                        <m:e>
                          <m:d>
                            <m:dPr>
                              <m:ctrlPr>
                                <a:rPr lang="en-US" sz="2000" i="1" dirty="0" smtClean="0">
                                  <a:latin typeface="Cambria Math" panose="02040503050406030204" pitchFamily="18" charset="0"/>
                                  <a:sym typeface="Arial"/>
                                </a:rPr>
                              </m:ctrlPr>
                            </m:dPr>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𝜇</m:t>
                                      </m:r>
                                    </m:e>
                                    <m:sub>
                                      <m:r>
                                        <a:rPr lang="en-US" sz="2000" i="0" dirty="0" smtClean="0">
                                          <a:latin typeface="Cambria Math" panose="02040503050406030204" pitchFamily="18" charset="0"/>
                                          <a:sym typeface="Arial"/>
                                        </a:rPr>
                                        <m:t>0</m:t>
                                      </m:r>
                                    </m:sub>
                                  </m:s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𝐼</m:t>
                                      </m:r>
                                    </m:e>
                                    <m:sub>
                                      <m:r>
                                        <a:rPr lang="en-US" sz="2000" i="0" dirty="0" smtClean="0">
                                          <a:latin typeface="Cambria Math" panose="02040503050406030204" pitchFamily="18" charset="0"/>
                                          <a:sym typeface="Arial"/>
                                        </a:rPr>
                                        <m:t>1</m:t>
                                      </m:r>
                                    </m:sub>
                                  </m:sSub>
                                  <m:d>
                                    <m:dPr>
                                      <m:ctrlPr>
                                        <a:rPr lang="en-US" sz="2000" i="1" dirty="0" smtClean="0">
                                          <a:latin typeface="Cambria Math" panose="02040503050406030204" pitchFamily="18" charset="0"/>
                                          <a:sym typeface="Arial"/>
                                        </a:rPr>
                                      </m:ctrlPr>
                                    </m:dPr>
                                    <m:e>
                                      <m:r>
                                        <a:rPr lang="en-US" sz="2000" i="1" dirty="0" smtClean="0">
                                          <a:latin typeface="Cambria Math" panose="02040503050406030204" pitchFamily="18" charset="0"/>
                                          <a:sym typeface="Arial"/>
                                        </a:rPr>
                                        <m:t>𝑡</m:t>
                                      </m:r>
                                    </m:e>
                                  </m:d>
                                </m:num>
                                <m:den>
                                  <m:r>
                                    <a:rPr lang="en-US" sz="2000" i="0" dirty="0" smtClean="0">
                                      <a:latin typeface="Cambria Math" panose="02040503050406030204" pitchFamily="18" charset="0"/>
                                      <a:sym typeface="Arial"/>
                                    </a:rPr>
                                    <m:t>2</m:t>
                                  </m:r>
                                  <m:r>
                                    <a:rPr lang="en-US" sz="2000" i="1" dirty="0" smtClean="0">
                                      <a:latin typeface="Cambria Math" panose="02040503050406030204" pitchFamily="18" charset="0"/>
                                      <a:sym typeface="Arial"/>
                                    </a:rPr>
                                    <m:t>𝜋</m:t>
                                  </m:r>
                                  <m:r>
                                    <a:rPr lang="en-US" sz="2000" i="1" dirty="0" smtClean="0">
                                      <a:latin typeface="Cambria Math" panose="02040503050406030204" pitchFamily="18" charset="0"/>
                                      <a:sym typeface="Arial"/>
                                    </a:rPr>
                                    <m:t>𝑟</m:t>
                                  </m:r>
                                </m:den>
                              </m:f>
                            </m:e>
                          </m:d>
                        </m:e>
                      </m:nary>
                      <m:r>
                        <a:rPr lang="en-US" sz="2000" i="1" dirty="0" smtClean="0">
                          <a:latin typeface="Cambria Math" panose="02040503050406030204" pitchFamily="18" charset="0"/>
                          <a:sym typeface="Arial"/>
                        </a:rPr>
                        <m:t>𝑙</m:t>
                      </m:r>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𝑑</m:t>
                          </m:r>
                        </m:e>
                        <m:sub>
                          <m:r>
                            <a:rPr lang="en-US" sz="2000" i="1" dirty="0" smtClean="0">
                              <a:latin typeface="Cambria Math" panose="02040503050406030204" pitchFamily="18" charset="0"/>
                              <a:sym typeface="Arial"/>
                            </a:rPr>
                            <m:t>𝑟</m:t>
                          </m:r>
                        </m:sub>
                      </m:sSub>
                    </m:oMath>
                  </m:oMathPara>
                </a14:m>
                <a:endParaRPr lang="en-US" sz="2000" dirty="0">
                  <a:latin typeface="Atkinson Hyperlegible Next"/>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smtClean="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den>
                      </m:f>
                      <m:nary>
                        <m:naryPr>
                          <m:limLoc m:val="subSup"/>
                          <m:grow m:val="on"/>
                          <m:ctrlPr>
                            <a:rPr lang="en-US" sz="2000" i="1" dirty="0">
                              <a:latin typeface="Cambria Math" panose="02040503050406030204" pitchFamily="18" charset="0"/>
                              <a:sym typeface="Arial"/>
                            </a:rPr>
                          </m:ctrlPr>
                        </m:naryPr>
                        <m:sub>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1</m:t>
                              </m:r>
                            </m:sub>
                          </m:sSub>
                        </m:sub>
                        <m:sup>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2</m:t>
                              </m:r>
                            </m:sub>
                          </m:sSub>
                        </m:sup>
                        <m:e>
                          <m:f>
                            <m:fPr>
                              <m:ctrlPr>
                                <a:rPr lang="en-US" sz="2000" i="1" dirty="0" smtClean="0">
                                  <a:latin typeface="Cambria Math" panose="02040503050406030204" pitchFamily="18" charset="0"/>
                                  <a:sym typeface="Arial"/>
                                </a:rPr>
                              </m:ctrlPr>
                            </m:fPr>
                            <m:num>
                              <m:r>
                                <a:rPr lang="en-US" sz="2000" b="0" i="1" dirty="0" smtClean="0">
                                  <a:latin typeface="Cambria Math" panose="02040503050406030204" pitchFamily="18" charset="0"/>
                                  <a:sym typeface="Arial"/>
                                </a:rPr>
                                <m:t>1</m:t>
                              </m:r>
                            </m:num>
                            <m:den>
                              <m:r>
                                <m:rPr>
                                  <m:sty m:val="p"/>
                                </m:rPr>
                                <a:rPr lang="en-US" sz="2000" b="0" i="1" dirty="0" smtClean="0">
                                  <a:latin typeface="Cambria Math" panose="02040503050406030204" pitchFamily="18" charset="0"/>
                                  <a:sym typeface="Arial"/>
                                </a:rPr>
                                <m:t>r</m:t>
                              </m:r>
                            </m:den>
                          </m:f>
                          <m:r>
                            <a:rPr lang="en-US" sz="2000" b="0" i="1" dirty="0" smtClean="0">
                              <a:latin typeface="Cambria Math" panose="02040503050406030204" pitchFamily="18" charset="0"/>
                              <a:sym typeface="Arial"/>
                            </a:rPr>
                            <m:t> </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𝑑</m:t>
                              </m:r>
                            </m:e>
                            <m:sub>
                              <m:r>
                                <a:rPr lang="en-US" sz="2000" i="1" dirty="0">
                                  <a:latin typeface="Cambria Math" panose="02040503050406030204" pitchFamily="18" charset="0"/>
                                  <a:sym typeface="Arial"/>
                                </a:rPr>
                                <m:t>𝑟</m:t>
                              </m:r>
                            </m:sub>
                          </m:sSub>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smtClean="0">
                              <a:latin typeface="Cambria Math" panose="02040503050406030204" pitchFamily="18" charset="0"/>
                              <a:sym typeface="Arial"/>
                            </a:rPr>
                          </m:ctrlPr>
                        </m:funcPr>
                        <m:fName>
                          <m:r>
                            <m:rPr>
                              <m:sty m:val="p"/>
                            </m:rPr>
                            <a:rPr lang="en-US" sz="2000" i="0" dirty="0" smtClean="0">
                              <a:latin typeface="Cambria Math" panose="02040503050406030204" pitchFamily="18" charset="0"/>
                              <a:sym typeface="Arial"/>
                            </a:rPr>
                            <m:t>ln</m:t>
                          </m:r>
                        </m:fName>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2</m:t>
                                  </m:r>
                                </m:sub>
                              </m:sSub>
                            </m:num>
                            <m:den>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1</m:t>
                                  </m:r>
                                </m:sub>
                              </m:sSub>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3396D8D-BDCA-968E-907C-556491E12358}"/>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72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002FC6-E3E8-572A-B600-7CBBCF1C37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08B95C-0BBF-CC82-9110-FC475C78CD7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888AFC-D075-BD8D-DD0B-338D1F71CF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5F8CA8-84D8-8DFA-EBE3-24C97D9167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23BD92-7754-557F-8C94-5FB9E703BD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D042B-EC95-EC00-0937-18D32098E3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3941CD-DC0D-2212-5B6D-10F40B533C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3B8BBB-B406-ECA8-EF03-B57F4AA9A1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D302A98A-CEE1-9372-173D-59C903A10761}"/>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469088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CB3F5C-6E8E-B82B-51A6-A25B573E457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E5C311E-7499-8CF3-2861-156FCBB5C636}"/>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Faraday’s Law states that the induced voltage (EMF) in a closed loop is equal to the negative rate of change of magnetic flux through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num>
                        <m:den>
                          <m:r>
                            <m:rPr>
                              <m:sty m:val="p"/>
                            </m:rPr>
                            <a:rPr lang="en-US" sz="2000" i="1">
                              <a:latin typeface="Cambria Math" panose="02040503050406030204" pitchFamily="18" charset="0"/>
                              <a:cs typeface="Arial"/>
                              <a:sym typeface="Arial"/>
                            </a:rPr>
                            <m:t>dt</m:t>
                          </m:r>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we get: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r>
                            <m:rPr>
                              <m:sty m:val="p"/>
                            </m:rPr>
                            <a:rPr lang="en-US" sz="2000" b="0" i="1" dirty="0" smtClean="0">
                              <a:latin typeface="Cambria Math" panose="02040503050406030204" pitchFamily="18" charset="0"/>
                              <a:sym typeface="Arial"/>
                            </a:rPr>
                            <m:t>l</m:t>
                          </m:r>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a:latin typeface="Cambria Math" panose="02040503050406030204" pitchFamily="18" charset="0"/>
                              <a:sym typeface="Arial"/>
                            </a:rPr>
                          </m:ctrlPr>
                        </m:funcPr>
                        <m:fName>
                          <m:r>
                            <m:rPr>
                              <m:sty m:val="p"/>
                            </m:rPr>
                            <a:rPr lang="en-US" sz="2000" dirty="0">
                              <a:latin typeface="Cambria Math" panose="02040503050406030204" pitchFamily="18" charset="0"/>
                              <a:sym typeface="Arial"/>
                            </a:rPr>
                            <m:t>ln</m:t>
                          </m:r>
                        </m:fName>
                        <m:e>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2</m:t>
                                  </m:r>
                                </m:sub>
                              </m:sSub>
                            </m:num>
                            <m:den>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1</m:t>
                                  </m:r>
                                </m:sub>
                              </m:sSub>
                            </m:den>
                          </m:f>
                          <m:r>
                            <a:rPr lang="en-US" sz="2000" i="1" dirty="0" smtClean="0">
                              <a:latin typeface="Cambria Math" panose="02040503050406030204" pitchFamily="18" charset="0"/>
                              <a:ea typeface="Cambria Math" panose="02040503050406030204" pitchFamily="18" charset="0"/>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I</m:t>
                                  </m:r>
                                </m:e>
                                <m:sub>
                                  <m:r>
                                    <a:rPr lang="en-US" sz="2000" b="0" i="1" dirty="0" smtClean="0">
                                      <a:latin typeface="Cambria Math" panose="02040503050406030204" pitchFamily="18" charset="0"/>
                                      <a:sym typeface="Arial"/>
                                    </a:rPr>
                                    <m:t>1</m:t>
                                  </m:r>
                                </m:sub>
                              </m:sSub>
                              <m:r>
                                <a:rPr lang="en-US" sz="2000" b="0" i="1" dirty="0" smtClean="0">
                                  <a:latin typeface="Cambria Math" panose="02040503050406030204" pitchFamily="18" charset="0"/>
                                  <a:sym typeface="Arial"/>
                                </a:rPr>
                                <m:t>(</m:t>
                              </m:r>
                              <m:r>
                                <m:rPr>
                                  <m:sty m:val="p"/>
                                </m:rPr>
                                <a:rPr lang="en-US" sz="2000" b="0" i="1" dirty="0" smtClean="0">
                                  <a:latin typeface="Cambria Math" panose="02040503050406030204" pitchFamily="18" charset="0"/>
                                  <a:sym typeface="Arial"/>
                                </a:rPr>
                                <m:t>t</m:t>
                              </m:r>
                              <m:r>
                                <a:rPr lang="en-US" sz="2000" b="0" i="1" dirty="0" smtClean="0">
                                  <a:latin typeface="Cambria Math" panose="02040503050406030204" pitchFamily="18" charset="0"/>
                                  <a:sym typeface="Arial"/>
                                </a:rPr>
                                <m:t>)</m:t>
                              </m:r>
                            </m:num>
                            <m:den>
                              <m:r>
                                <m:rPr>
                                  <m:sty m:val="p"/>
                                </m:rPr>
                                <a:rPr lang="en-US" sz="2000" i="1">
                                  <a:latin typeface="Cambria Math" panose="02040503050406030204" pitchFamily="18" charset="0"/>
                                  <a:cs typeface="Arial"/>
                                  <a:sym typeface="Arial"/>
                                </a:rPr>
                                <m:t>dt</m:t>
                              </m:r>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E5C311E-7499-8CF3-2861-156FCBB5C636}"/>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60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3F112B1-E6E1-AA67-74D6-7C4A971EEF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DA730E-BFA0-88D0-75AE-38E738356E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18560E-9B76-88CC-E452-9BE8C74555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069D4-C784-D34B-261D-480048B858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2567D9-699D-3DC5-D22C-6BB5EA9818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16CDFA-8140-D355-7733-B4622131B4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7B5226-E8CC-6E43-C05A-3AA00361C7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2C46A-BA33-2E31-5466-A3D5AE9B82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5247E9EB-6C19-47E0-2230-76E8EDED30CD}"/>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3060680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F17008-1B7C-7A5C-D565-DABBBBCD14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C69FC21-4FE2-D5D3-B148-B6E085C215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Thus, given the final inference noise,</a:t>
                </a: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r>
                        <a:rPr lang="en-US" sz="1800" i="1">
                          <a:latin typeface="Cambria Math" panose="02040503050406030204" pitchFamily="18" charset="0"/>
                          <a:cs typeface="Arial"/>
                          <a:sym typeface="Arial"/>
                        </a:rPr>
                        <m:t>=−</m:t>
                      </m:r>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a:rPr lang="en-US" sz="1800" i="1" dirty="0">
                                  <a:latin typeface="Cambria Math" panose="02040503050406030204" pitchFamily="18" charset="0"/>
                                  <a:sym typeface="Arial"/>
                                </a:rPr>
                                <m:t>𝜇</m:t>
                              </m:r>
                            </m:e>
                            <m:sub>
                              <m:r>
                                <a:rPr lang="en-US" sz="1800" dirty="0">
                                  <a:latin typeface="Cambria Math" panose="02040503050406030204" pitchFamily="18" charset="0"/>
                                  <a:sym typeface="Arial"/>
                                </a:rPr>
                                <m:t>0</m:t>
                              </m:r>
                            </m:sub>
                          </m:sSub>
                          <m:r>
                            <m:rPr>
                              <m:sty m:val="p"/>
                            </m:rPr>
                            <a:rPr lang="en-US" sz="1800" i="1" dirty="0">
                              <a:latin typeface="Cambria Math" panose="02040503050406030204" pitchFamily="18" charset="0"/>
                              <a:sym typeface="Arial"/>
                            </a:rPr>
                            <m:t>l</m:t>
                          </m:r>
                        </m:num>
                        <m:den>
                          <m:r>
                            <a:rPr lang="en-US" sz="1800" dirty="0">
                              <a:latin typeface="Cambria Math" panose="02040503050406030204" pitchFamily="18" charset="0"/>
                              <a:sym typeface="Arial"/>
                            </a:rPr>
                            <m:t>2</m:t>
                          </m:r>
                          <m:r>
                            <a:rPr lang="en-US" sz="1800" i="1" dirty="0">
                              <a:latin typeface="Cambria Math" panose="02040503050406030204" pitchFamily="18" charset="0"/>
                              <a:sym typeface="Arial"/>
                            </a:rPr>
                            <m:t>𝜋</m:t>
                          </m:r>
                          <m:r>
                            <a:rPr lang="en-US" sz="1800" i="1" dirty="0">
                              <a:latin typeface="Cambria Math" panose="02040503050406030204" pitchFamily="18" charset="0"/>
                              <a:sym typeface="Arial"/>
                            </a:rPr>
                            <m:t>𝑟</m:t>
                          </m:r>
                        </m:den>
                      </m:f>
                      <m:func>
                        <m:funcPr>
                          <m:ctrlPr>
                            <a:rPr lang="en-US" sz="1800" i="1" dirty="0">
                              <a:latin typeface="Cambria Math" panose="02040503050406030204" pitchFamily="18" charset="0"/>
                              <a:sym typeface="Arial"/>
                            </a:rPr>
                          </m:ctrlPr>
                        </m:funcPr>
                        <m:fName>
                          <m:r>
                            <m:rPr>
                              <m:sty m:val="p"/>
                            </m:rPr>
                            <a:rPr lang="en-US" sz="1800" dirty="0">
                              <a:latin typeface="Cambria Math" panose="02040503050406030204" pitchFamily="18" charset="0"/>
                              <a:sym typeface="Arial"/>
                            </a:rPr>
                            <m:t>ln</m:t>
                          </m:r>
                        </m:fName>
                        <m:e>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2</m:t>
                                  </m:r>
                                </m:sub>
                              </m:sSub>
                            </m:num>
                            <m:den>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1</m:t>
                                  </m:r>
                                </m:sub>
                              </m:sSub>
                            </m:den>
                          </m:f>
                          <m:r>
                            <a:rPr lang="en-US" sz="1800" i="1" dirty="0">
                              <a:latin typeface="Cambria Math" panose="02040503050406030204" pitchFamily="18" charset="0"/>
                              <a:ea typeface="Cambria Math" panose="02040503050406030204" pitchFamily="18" charset="0"/>
                              <a:sym typeface="Arial"/>
                            </a:rPr>
                            <m:t>×</m:t>
                          </m:r>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I</m:t>
                                  </m:r>
                                </m:e>
                                <m:sub>
                                  <m:r>
                                    <a:rPr lang="en-US" sz="1800" i="1" dirty="0">
                                      <a:latin typeface="Cambria Math" panose="02040503050406030204" pitchFamily="18" charset="0"/>
                                      <a:sym typeface="Arial"/>
                                    </a:rPr>
                                    <m:t>1</m:t>
                                  </m:r>
                                </m:sub>
                              </m:sSub>
                              <m:r>
                                <a:rPr lang="en-US" sz="1800" i="1" dirty="0">
                                  <a:latin typeface="Cambria Math" panose="02040503050406030204" pitchFamily="18" charset="0"/>
                                  <a:sym typeface="Arial"/>
                                </a:rPr>
                                <m:t>(</m:t>
                              </m:r>
                              <m:r>
                                <m:rPr>
                                  <m:sty m:val="p"/>
                                </m:rPr>
                                <a:rPr lang="en-US" sz="1800" i="1" dirty="0">
                                  <a:latin typeface="Cambria Math" panose="02040503050406030204" pitchFamily="18" charset="0"/>
                                  <a:sym typeface="Arial"/>
                                </a:rPr>
                                <m:t>t</m:t>
                              </m:r>
                              <m:r>
                                <a:rPr lang="en-US" sz="1800" i="1" dirty="0">
                                  <a:latin typeface="Cambria Math" panose="02040503050406030204" pitchFamily="18" charset="0"/>
                                  <a:sym typeface="Arial"/>
                                </a:rPr>
                                <m:t>)</m:t>
                              </m:r>
                            </m:num>
                            <m:den>
                              <m:r>
                                <m:rPr>
                                  <m:sty m:val="p"/>
                                </m:rPr>
                                <a:rPr lang="en-US" sz="1800" i="1">
                                  <a:latin typeface="Cambria Math" panose="02040503050406030204" pitchFamily="18" charset="0"/>
                                  <a:cs typeface="Arial"/>
                                  <a:sym typeface="Arial"/>
                                </a:rPr>
                                <m:t>dt</m:t>
                              </m:r>
                            </m:den>
                          </m:f>
                        </m:e>
                      </m:func>
                    </m:oMath>
                  </m:oMathPara>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tkinson Hyperlegible Next"/>
                    <a:ea typeface="Arial"/>
                    <a:cs typeface="Arial"/>
                    <a:sym typeface="Arial"/>
                  </a:rPr>
                  <a:t> is directly proportion to the rate of change of the current in the interfering wire!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This is why heavy machinery or circuits that draw massive, pulsating currents (like motor drives) are notorious sources of magnetic Electromagnetic Interference (EMI)!</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C69FC21-4FE2-D5D3-B148-B6E085C215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82D00-2F9E-CB81-BF19-73F2CF122E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89DC00-0F1C-7538-4AA6-0F1C569B6CD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Serial Communication -</a:t>
            </a:r>
            <a:r>
              <a:rPr i="0" b="0" lang="en-US" sz="2400" dirty="0">
                <a:solidFill>
                  <a:schemeClr val="lt1"/>
                </a:solidFill>
              </a:rPr>
              <a:t>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A2DCD9-805B-BBC8-D52E-ED32F7CC2C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34D1F8-BC9A-FAD3-DF33-DC28A3B501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122DA3-15A3-22CC-86AB-2204A0E75F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13C6AC-2D99-2185-3360-7F8CF7E6D3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901639-5B12-A481-BBAE-7E7A06E350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58338-80EC-C714-C1B9-D6F901134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56787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DC9B6DE-CD64-5B1D-4001-E8D9BF4DE8C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C75C4BB-CFBC-E823-E88A-C70278DBB76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Serial Communication</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7AA5307-D48E-1E1B-468D-4CD9036B6A8E}"/>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022EC9C-AF68-6E2E-E94C-C0D4931ED87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C9B0655-9B3F-61BE-1528-B0FA56E7738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C000F50-1313-4F99-8FCC-B64799CAC77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EB9EDA-9BF9-1FD5-8AD7-15889A955A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D5276A4-A574-7AF1-5F39-7AF7DD1E797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979D-1673-B96E-CA5F-4A8BEB8A43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412B2F6-B81B-889C-2487-F175A54E5E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7958489-3A84-5021-1F6B-F1182744F3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47176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F0F552A-34B4-E9A2-EF72-F0F5E62741D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B475722-7852-B794-D7AC-24FB25E51702}"/>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E3BCEA4A-B251-BC65-0A4B-A707B06A45D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Notation</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4AB43262-0C4F-F28F-38CC-5DB57B4AB5F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55242F9D-4C47-443A-6DA3-EA300AA72D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C775022-A041-8ED9-5EBB-7621D8FD49A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E8AAFAB7-145A-DEBD-B18C-21C31EFD1D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2C60DB-BA4F-B08F-70BE-851172669B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4247FBCA-4866-1130-EB46-8EA483B11B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4C0373D-A724-54AE-21B4-CCFF4DAEF0F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CCF91C-4EFA-5DD5-4703-989E601B6AB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19CA8C5-0427-651D-39E5-F00778AC1F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70161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F62EC-16B5-C75E-0F3C-9785154A38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1E50CBD-6144-F5D1-4782-0C605B8F2E2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We want to be able to communicate with multiple devices. We can a “Master / Slave” paradigm in communication.</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“Master / Slave” is still commonly used but sometimes called Peripheral In and Peripheral Out.</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“Master” Node, holds the authority to initiate data transfers and generates the synchronization clock.</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“Slave” Nodes are strictly reactive and remain low until explicitly addressed.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Think of it as the “Master” node as a “Teacher” asking you to do something, the “Slave” nodes are the “students” doing the work and reporting the results back.</a:t>
            </a:r>
          </a:p>
        </p:txBody>
      </p:sp>
      <p:sp>
        <p:nvSpPr>
          <p:cNvPr id="119" name="Google Shape;119;p29">
            <a:extLst>
              <a:ext uri="{FF2B5EF4-FFF2-40B4-BE49-F238E27FC236}">
                <a16:creationId xmlns:a16="http://schemas.microsoft.com/office/drawing/2014/main" id="{6A625270-3C0C-BD48-721C-32F70E1D8C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D48B32-E626-95D5-4084-96C399CE9FE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Multiple Devices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1AE29E5-A472-309A-3DE1-B0247F0031A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C3DD1A-4D34-65BD-E439-AFE51B5AC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B5910B-29AD-3125-843A-31E1893685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DFE6AF-7AB6-AD0A-A80D-FFB5AD79FE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C39E0D-8327-E057-CB04-9201E8248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03CAFB-3F8B-C2CB-1998-48A1DD9764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70475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B0367F-A769-47E2-3D45-03753F24B3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600BA93-AE60-F4ED-B7E2-C577ADC872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C7063A-110F-CA01-BB52-0E860F07E0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Multiple Devices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2F2D3D4-7109-1D43-62E8-48434D27DD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00FC39-51BC-794E-1381-CD0F692BB6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655E87-219E-51D2-0837-6EBFCEEE24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AF377-E40A-6F63-BDC5-8FBE436B45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2BEBE-0916-C76B-9888-602ED06E76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7A743D-86D6-8A51-C14D-AA23692156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F2DB4266-0321-68D1-A7B8-0DC3666EEF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8275" y="951070"/>
            <a:ext cx="5155450" cy="5425369"/>
          </a:xfrm>
          <a:prstGeom prst="rect">
            <a:avLst/>
          </a:prstGeom>
        </p:spPr>
      </p:pic>
      <p:sp>
        <p:nvSpPr>
          <p:cNvPr id="6" name="TextBox 5">
            <a:extLst>
              <a:ext uri="{FF2B5EF4-FFF2-40B4-BE49-F238E27FC236}">
                <a16:creationId xmlns:a16="http://schemas.microsoft.com/office/drawing/2014/main" id="{82C2F912-C93C-F03C-4DE7-D6A1862D2C91}"/>
              </a:ext>
            </a:extLst>
          </p:cNvPr>
          <p:cNvSpPr txBox="1"/>
          <p:nvPr/>
        </p:nvSpPr>
        <p:spPr>
          <a:xfrm>
            <a:off x="4500716" y="6418067"/>
            <a:ext cx="4296566" cy="253916"/>
          </a:xfrm>
          <a:prstGeom prst="rect">
            <a:avLst/>
          </a:prstGeom>
          <a:noFill/>
        </p:spPr>
        <p:txBody>
          <a:bodyPr wrap="square" rtlCol="0">
            <a:spAutoFit/>
          </a:bodyPr>
          <a:lstStyle/>
          <a:p>
            <a:pPr algn="ctr"/>
            <a:r>
              <a:rPr lang="en-US" sz="1050" dirty="0">
                <a:hlinkClick r:id="rId6"/>
              </a:rPr>
              <a:t>https://commons.wikimedia.org/wiki/File:Prinzip_MIMO.svg</a:t>
            </a:r>
            <a:r>
              <a:rPr lang="en-US" sz="1050" dirty="0"/>
              <a:t> </a:t>
            </a:r>
          </a:p>
        </p:txBody>
      </p:sp>
    </p:spTree>
    <p:extLst>
      <p:ext uri="{BB962C8B-B14F-4D97-AF65-F5344CB8AC3E}">
        <p14:creationId xmlns:p14="http://schemas.microsoft.com/office/powerpoint/2010/main" val="3928058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0395DD-37F8-A7B6-B647-B9252064B8E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0CE324-C301-C820-0EE3-90E95E3E0F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Asynchronous networks (SCI/UART) operate </a:t>
            </a:r>
            <a:r>
              <a:rPr lang="en-US" sz="2400" b="1" dirty="0">
                <a:solidFill>
                  <a:schemeClr val="dk1"/>
                </a:solidFill>
                <a:latin typeface="Atkinson Hyperlegible Next"/>
                <a:ea typeface="Arial"/>
                <a:cs typeface="Arial"/>
                <a:sym typeface="Arial"/>
              </a:rPr>
              <a:t>without</a:t>
            </a:r>
            <a:r>
              <a:rPr lang="en-US" sz="2400" dirty="0">
                <a:solidFill>
                  <a:schemeClr val="dk1"/>
                </a:solidFill>
                <a:latin typeface="Atkinson Hyperlegible Next"/>
                <a:ea typeface="Arial"/>
                <a:cs typeface="Arial"/>
                <a:sym typeface="Arial"/>
              </a:rPr>
              <a:t> a shared, physical clock line routing between nodes.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Nodes rely on independent, internal clocks that must be pre-configured to a matching baud-rate! ( Remember the UART lecture? )</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You don’t properly communicate the correct baud rate</a:t>
            </a:r>
          </a:p>
          <a:p>
            <a:pPr marL="285750" indent="-285750">
              <a:lnSpc>
                <a:spcPct val="100000"/>
              </a:lnSpc>
              <a:spcBef>
                <a:spcPts val="0"/>
              </a:spcBef>
              <a:buSzPts val="3000"/>
            </a:pPr>
            <a:r>
              <a:rPr lang="en-US" sz="2400" dirty="0">
                <a:latin typeface="Atkinson Hyperlegible Next"/>
                <a:ea typeface="Arial"/>
                <a:cs typeface="Arial"/>
                <a:sym typeface="Arial"/>
              </a:rPr>
              <a:t>The internal clocks could drift causing the receiver to sample data out of phase, corrupting the data </a:t>
            </a:r>
          </a:p>
        </p:txBody>
      </p:sp>
      <p:sp>
        <p:nvSpPr>
          <p:cNvPr id="119" name="Google Shape;119;p29">
            <a:extLst>
              <a:ext uri="{FF2B5EF4-FFF2-40B4-BE49-F238E27FC236}">
                <a16:creationId xmlns:a16="http://schemas.microsoft.com/office/drawing/2014/main" id="{4FF97E9A-F5E6-3433-689A-CCC2E6693A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120183-E4BD-0BFF-1D1F-994A268645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Asynchronous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8904CD0-286D-F91F-A905-291355B133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128093-8245-C834-0815-A4E443B42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F280F5-871C-8483-F445-F9DADA4EE0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08C8AF-CFF8-B3D7-0D5F-4E49923C019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CC7DAE-10AB-41E0-9B9B-2B6C6243EB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972DEB-BDE9-BCF5-9C46-0A12169A3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0511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0CF8A-0E0A-4767-51A8-52D7250B79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2CEA2-560B-AD6B-6C17-48FA06E0D8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Synchronous networks (SPI/I2C) operate </a:t>
            </a:r>
            <a:r>
              <a:rPr lang="en-US" sz="2400" b="1" dirty="0">
                <a:solidFill>
                  <a:schemeClr val="dk1"/>
                </a:solidFill>
                <a:latin typeface="Atkinson Hyperlegible Next"/>
                <a:ea typeface="Arial"/>
                <a:cs typeface="Arial"/>
                <a:sym typeface="Arial"/>
              </a:rPr>
              <a:t>with</a:t>
            </a:r>
            <a:r>
              <a:rPr lang="en-US" sz="2400" dirty="0">
                <a:solidFill>
                  <a:schemeClr val="dk1"/>
                </a:solidFill>
                <a:latin typeface="Atkinson Hyperlegible Next"/>
                <a:ea typeface="Arial"/>
                <a:cs typeface="Arial"/>
                <a:sym typeface="Arial"/>
              </a:rPr>
              <a:t> a shared, physical clock line routing between nodes. The Master node routes a clock to all Slave devices.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This shared clock signal dictates the precise times that data lines are driven and sampled!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Extra wiring required, at least one for the clock and one for the data</a:t>
            </a:r>
          </a:p>
          <a:p>
            <a:pPr marL="285750" indent="-285750">
              <a:lnSpc>
                <a:spcPct val="100000"/>
              </a:lnSpc>
              <a:spcBef>
                <a:spcPts val="0"/>
              </a:spcBef>
              <a:buSzPts val="3000"/>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454969F-8A71-33EB-BDDA-023FEEF854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984245-CE1C-4896-8B04-18863A6EF0A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Synchronous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DF8414-A14A-E3F2-87F4-9EFDA1C7D3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881F2-A36F-71CB-43DF-BD63ED2A39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C1BA1D-E816-4D19-F1B9-98A0DAEF3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1C4689-D273-4081-F35D-CE02FCEEFD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76D6BA-E347-1DED-E635-0E67234982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BA2052-6DB8-94EA-4649-9A483759D9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8501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F53376-15D0-00FB-0E3A-16785845D1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AE2CAC-0D6E-C146-E18D-483CB9E8C6C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CC53E3B-0565-87E3-0E78-684BE597409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Simplex vs Half-Duplex vs Full-Duplex</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369FBA1-653F-A825-F0D1-FA441B8AD9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A3CFE2-F40B-F97D-15C9-D419A9AB83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AA91E-1C80-9815-07B5-B44ABFA2E2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967FF0-0709-1B3B-BA44-F441E173F3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501262-88A2-9A72-68B8-20DF8F18F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CB847B-612D-5161-C8B2-65CA94AE74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7" name="Group 6">
            <a:extLst>
              <a:ext uri="{FF2B5EF4-FFF2-40B4-BE49-F238E27FC236}">
                <a16:creationId xmlns:a16="http://schemas.microsoft.com/office/drawing/2014/main" id="{3C3DA59E-3B3B-AB7C-F807-AE38038C7567}"/>
              </a:ext>
            </a:extLst>
          </p:cNvPr>
          <p:cNvGrpSpPr/>
          <p:nvPr/>
        </p:nvGrpSpPr>
        <p:grpSpPr>
          <a:xfrm>
            <a:off x="8734649" y="982357"/>
            <a:ext cx="3094168" cy="5567470"/>
            <a:chOff x="8734649" y="982357"/>
            <a:chExt cx="3094168" cy="5567470"/>
          </a:xfrm>
        </p:grpSpPr>
        <p:pic>
          <p:nvPicPr>
            <p:cNvPr id="3076" name="Picture 4" descr="How data flows in networks: Simplex, Half-Duplex, Full-Duplex | Anis HASSEN  posted on the topic | LinkedIn">
              <a:extLst>
                <a:ext uri="{FF2B5EF4-FFF2-40B4-BE49-F238E27FC236}">
                  <a16:creationId xmlns:a16="http://schemas.microsoft.com/office/drawing/2014/main" id="{99E9D030-886D-7734-B32F-4BB8C199C52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42" t="4466" r="6233" b="2696"/>
            <a:stretch>
              <a:fillRect/>
            </a:stretch>
          </p:blipFill>
          <p:spPr bwMode="auto">
            <a:xfrm>
              <a:off x="8734649" y="982357"/>
              <a:ext cx="3094168" cy="531266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475FB5-0F61-16D6-E1BE-22C648CB3ACB}"/>
                </a:ext>
              </a:extLst>
            </p:cNvPr>
            <p:cNvSpPr txBox="1"/>
            <p:nvPr/>
          </p:nvSpPr>
          <p:spPr>
            <a:xfrm>
              <a:off x="8734650" y="6242050"/>
              <a:ext cx="3094167" cy="307777"/>
            </a:xfrm>
            <a:prstGeom prst="rect">
              <a:avLst/>
            </a:prstGeom>
            <a:noFill/>
          </p:spPr>
          <p:txBody>
            <a:bodyPr wrap="square" rtlCol="0">
              <a:spAutoFit/>
            </a:bodyPr>
            <a:lstStyle/>
            <a:p>
              <a:pPr algn="ctr"/>
              <a:r>
                <a:rPr lang="en-US" sz="700" dirty="0">
                  <a:hlinkClick r:id="rId5"/>
                </a:rPr>
                <a:t>https://www.linkedin.com/posts/anis-hassen_communication-modes-simplified-ever-activity-7310553982957948928-FHnT/</a:t>
              </a:r>
              <a:r>
                <a:rPr lang="en-US" sz="700" dirty="0"/>
                <a:t> </a:t>
              </a:r>
            </a:p>
          </p:txBody>
        </p:sp>
      </p:grpSp>
      <p:grpSp>
        <p:nvGrpSpPr>
          <p:cNvPr id="6" name="Group 5">
            <a:extLst>
              <a:ext uri="{FF2B5EF4-FFF2-40B4-BE49-F238E27FC236}">
                <a16:creationId xmlns:a16="http://schemas.microsoft.com/office/drawing/2014/main" id="{FEFBC80E-7EB9-E901-911A-ED2807369EE2}"/>
              </a:ext>
            </a:extLst>
          </p:cNvPr>
          <p:cNvGrpSpPr/>
          <p:nvPr/>
        </p:nvGrpSpPr>
        <p:grpSpPr>
          <a:xfrm>
            <a:off x="216400" y="982357"/>
            <a:ext cx="8312150" cy="5513608"/>
            <a:chOff x="216400" y="982357"/>
            <a:chExt cx="8312150" cy="5513608"/>
          </a:xfrm>
        </p:grpSpPr>
        <p:pic>
          <p:nvPicPr>
            <p:cNvPr id="3074" name="Picture 2" descr="Half-duplex vs Full-duplex vs Simplex Transmission Mode">
              <a:extLst>
                <a:ext uri="{FF2B5EF4-FFF2-40B4-BE49-F238E27FC236}">
                  <a16:creationId xmlns:a16="http://schemas.microsoft.com/office/drawing/2014/main" id="{CD66EAA8-F009-4E81-E5AB-3F7F4FC56A0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493" r="2565"/>
            <a:stretch>
              <a:fillRect/>
            </a:stretch>
          </p:blipFill>
          <p:spPr bwMode="auto">
            <a:xfrm>
              <a:off x="216400" y="982357"/>
              <a:ext cx="8312150" cy="53077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2AAE732-0000-3CAB-107F-6913C420520C}"/>
                </a:ext>
              </a:extLst>
            </p:cNvPr>
            <p:cNvSpPr txBox="1"/>
            <p:nvPr/>
          </p:nvSpPr>
          <p:spPr>
            <a:xfrm>
              <a:off x="747652" y="6295910"/>
              <a:ext cx="7249646" cy="200055"/>
            </a:xfrm>
            <a:prstGeom prst="rect">
              <a:avLst/>
            </a:prstGeom>
            <a:noFill/>
          </p:spPr>
          <p:txBody>
            <a:bodyPr wrap="square" rtlCol="0">
              <a:spAutoFit/>
            </a:bodyPr>
            <a:lstStyle/>
            <a:p>
              <a:pPr algn="ctr"/>
              <a:r>
                <a:rPr lang="en-US" sz="700" dirty="0">
                  <a:hlinkClick r:id="rId7"/>
                </a:rPr>
                <a:t>https://www.qsfptek.com/qt-news/half-duplex-vs-full-duplex-vs-simplex-transmission-mode.html?srsltid=AfmBOopvEYPNWR3lh3_nh46jJxnYWESqNo07pANJhJ3pTBwkhLByDD5J</a:t>
              </a:r>
              <a:r>
                <a:rPr lang="en-US" sz="700" dirty="0"/>
                <a:t> </a:t>
              </a:r>
            </a:p>
          </p:txBody>
        </p:sp>
      </p:grpSp>
    </p:spTree>
    <p:extLst>
      <p:ext uri="{BB962C8B-B14F-4D97-AF65-F5344CB8AC3E}">
        <p14:creationId xmlns:p14="http://schemas.microsoft.com/office/powerpoint/2010/main" val="1060804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B4D2AB9D-2457-3211-C0D4-DE135DFAAEC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57135A9-31CC-D8EA-1584-009E664D3D7E}"/>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D3AA029-9DAF-CA5C-CC72-86F6C481A94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Protocols</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D5D6850-CB56-3AA3-B8A1-77B54555F9C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ABAA4E85-8BFE-612F-03A7-D582E7A24C0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C1FCE07-7739-7976-0281-85EB57EEFE6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C96BD22F-4C43-AC9C-9F54-F694529DED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C4CA889-AF22-6E85-92EF-A110A86E85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9F85255-AAD3-BD95-8535-ABE4F735CB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814889B-3CBF-D837-0CDA-28FC1BA5274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FDAEA03-58FF-93F6-3AA0-8B81758BFD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549A4B5-E4AB-DCC3-1A49-92E3173D7D4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8578676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F98DDE-B645-BBE4-5756-DF6A05CC329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E6462F-EB74-1857-0B24-DB61ED1523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tkinson Hyperlegible Next"/>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tkinson Hyperlegible Next"/>
                <a:ea typeface="Arial"/>
                <a:cs typeface="Arial"/>
                <a:sym typeface="Arial"/>
              </a:rPr>
              <a:t>SCI</a:t>
            </a:r>
            <a:r>
              <a:rPr lang="en-US" sz="2200" dirty="0">
                <a:latin typeface="Atkinson Hyperlegible Next"/>
                <a:ea typeface="Arial"/>
                <a:cs typeface="Arial"/>
                <a:sym typeface="Arial"/>
              </a:rPr>
              <a:t> – Serial Communications Interface - The classic UART. It is asynchronous, requiring only two wires (TX/RX), but limited in speed due to the lack of a shared clock. Discussed in </a:t>
            </a:r>
            <a:r>
              <a:rPr lang="en-US" sz="2200" dirty="0">
                <a:latin typeface="Atkinson Hyperlegible Next"/>
                <a:ea typeface="Arial"/>
                <a:cs typeface="Arial"/>
                <a:sym typeface="Arial"/>
                <a:hlinkClick r:id="rId3"/>
              </a:rPr>
              <a:t>Lecture 4</a:t>
            </a:r>
            <a:r>
              <a:rPr lang="en-US" sz="2200" dirty="0">
                <a:latin typeface="Atkinson Hyperlegible Next"/>
                <a:ea typeface="Arial"/>
                <a:cs typeface="Arial"/>
                <a:sym typeface="Arial"/>
              </a:rPr>
              <a:t>.</a:t>
            </a:r>
          </a:p>
          <a:p>
            <a:pPr marL="285750" indent="-285750">
              <a:lnSpc>
                <a:spcPct val="100000"/>
              </a:lnSpc>
              <a:spcBef>
                <a:spcPts val="0"/>
              </a:spcBef>
              <a:buSzPts val="3000"/>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SPI</a:t>
            </a:r>
            <a:r>
              <a:rPr lang="en-US" sz="2200" dirty="0">
                <a:latin typeface="Atkinson Hyperlegible Next"/>
                <a:ea typeface="Arial"/>
                <a:cs typeface="Arial"/>
                <a:sym typeface="Arial"/>
              </a:rPr>
              <a:t> – Serial Peripheral Interface - A high-speed synchronous serial input and output (I/O) port. It requires four wires and dominates high-frequency sensor and motor driver applications. Discussed in </a:t>
            </a:r>
            <a:r>
              <a:rPr lang="en-US" sz="2200" dirty="0">
                <a:latin typeface="Atkinson Hyperlegible Next"/>
                <a:ea typeface="Arial"/>
                <a:cs typeface="Arial"/>
                <a:sym typeface="Arial"/>
                <a:hlinkClick r:id="rId4"/>
              </a:rPr>
              <a:t>Lecture 6-7</a:t>
            </a:r>
            <a:endParaRPr lang="en-US" sz="2200" dirty="0">
              <a:latin typeface="Atkinson Hyperlegible Next"/>
              <a:ea typeface="Arial"/>
              <a:cs typeface="Arial"/>
              <a:sym typeface="Arial"/>
            </a:endParaRPr>
          </a:p>
          <a:p>
            <a:pPr marL="285750" indent="-285750">
              <a:lnSpc>
                <a:spcPct val="100000"/>
              </a:lnSpc>
              <a:spcBef>
                <a:spcPts val="0"/>
              </a:spcBef>
              <a:buSzPts val="3000"/>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I2C</a:t>
            </a:r>
            <a:r>
              <a:rPr lang="en-US" sz="2200" dirty="0">
                <a:latin typeface="Atkinson Hyperlegible Next"/>
                <a:ea typeface="Arial"/>
                <a:cs typeface="Arial"/>
                <a:sym typeface="Arial"/>
              </a:rPr>
              <a:t> – Inter-Integrated Circuit Module - A synchronous, two-wire bus using software addressing rather than hardware routing. Uses less wires some can be advantageous over SPI.</a:t>
            </a:r>
          </a:p>
        </p:txBody>
      </p:sp>
      <p:sp>
        <p:nvSpPr>
          <p:cNvPr id="119" name="Google Shape;119;p29">
            <a:extLst>
              <a:ext uri="{FF2B5EF4-FFF2-40B4-BE49-F238E27FC236}">
                <a16:creationId xmlns:a16="http://schemas.microsoft.com/office/drawing/2014/main" id="{D509A953-34FF-EDC4-89AC-1D041972D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9FEF23-FA48-B358-65A6-EAD8D453DC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4A900D-EF32-489F-02FA-1EDF247A3714}"/>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D157C4-14C2-D186-2058-7B8BEAC393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59E22A-9CFF-92DA-34D1-5CDABD737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AED68D-70A7-3D5F-ED5D-ACDD258647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5742C-E51F-C713-500A-5C187E15A5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C43059D-61AB-99B2-30BB-9D3C1BCBEB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29482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7AC97-3F7F-C5C7-1A7D-DB688807DF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82BCD4-24AD-A55D-29C2-6252D8BD14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tkinson Hyperlegible Next"/>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tkinson Hyperlegible Next"/>
                <a:ea typeface="Arial"/>
                <a:cs typeface="Arial"/>
                <a:sym typeface="Arial"/>
              </a:rPr>
              <a:t>CAN</a:t>
            </a:r>
            <a:r>
              <a:rPr lang="en-US" sz="2200" dirty="0">
                <a:latin typeface="Atkinson Hyperlegible Next"/>
                <a:ea typeface="Arial"/>
                <a:cs typeface="Arial"/>
                <a:sym typeface="Arial"/>
              </a:rPr>
              <a:t> – Controller Area Network - A highly robust, differential-signaling serial bus designed for automotive environments. It prioritizes message IDs and deterministic collision resolution over raw speed.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err="1">
                <a:latin typeface="Atkinson Hyperlegible Next"/>
                <a:ea typeface="Arial"/>
                <a:cs typeface="Arial"/>
                <a:sym typeface="Arial"/>
              </a:rPr>
              <a:t>McBSP</a:t>
            </a:r>
            <a:r>
              <a:rPr lang="en-US" sz="2200" dirty="0">
                <a:latin typeface="Atkinson Hyperlegible Next"/>
                <a:ea typeface="Arial"/>
                <a:cs typeface="Arial"/>
                <a:sym typeface="Arial"/>
              </a:rPr>
              <a:t> – Multichannel Buffered Serial Port - A high-speed synchronous serial port capable of handling complex audio streams and telecommunications data.</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USB</a:t>
            </a:r>
            <a:r>
              <a:rPr lang="en-US" sz="2200" dirty="0">
                <a:latin typeface="Atkinson Hyperlegible Next"/>
                <a:ea typeface="Arial"/>
                <a:cs typeface="Arial"/>
                <a:sym typeface="Arial"/>
              </a:rPr>
              <a:t> – Universal Serial Bus - A complex, differential standard used primarily for interfacing the embedded system with host PCs for data logging or firmware updates.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err="1">
                <a:latin typeface="Atkinson Hyperlegible Next"/>
                <a:ea typeface="Arial"/>
                <a:cs typeface="Arial"/>
                <a:sym typeface="Arial"/>
              </a:rPr>
              <a:t>uPP</a:t>
            </a:r>
            <a:r>
              <a:rPr lang="en-US" sz="2200" dirty="0">
                <a:latin typeface="Atkinson Hyperlegible Next"/>
                <a:ea typeface="Arial"/>
                <a:cs typeface="Arial"/>
                <a:sym typeface="Arial"/>
              </a:rPr>
              <a:t> - Universal Parallel Port - A high-speed parallel interface used for connecting directly to FPGAs or massive data-acquisition modules (high-speed ADC).</a:t>
            </a:r>
          </a:p>
        </p:txBody>
      </p:sp>
      <p:sp>
        <p:nvSpPr>
          <p:cNvPr id="119" name="Google Shape;119;p29">
            <a:extLst>
              <a:ext uri="{FF2B5EF4-FFF2-40B4-BE49-F238E27FC236}">
                <a16:creationId xmlns:a16="http://schemas.microsoft.com/office/drawing/2014/main" id="{490F2AEF-C308-6C69-8192-6A3D11936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93DB5E0-7E03-9375-7DED-51DBA1C290C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25CE1D-DBC5-E794-D26D-0664C39FF1D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F33CEA-6097-27AC-96CC-8B2682452DA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A79B5C-62A9-290E-3F21-4B7505FE5D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CB6F1B-99FB-7828-B415-0C215014BE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2A695C-6644-B0C9-217E-6D5AA82AFA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2C9516-CE55-8195-BB96-324549B1C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3191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E90625A-9078-156F-B6A1-401CCE8326D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AFDC12-7B22-50E9-8DD3-4690FB639A68}"/>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07AEA660-E915-AE40-2C20-5964643D8AAE}"/>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SCI / UART</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1DA2B9A3-8A6A-FAFA-669E-652C2694345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36D3443-F5EE-2480-11CF-D3C53E6A9DA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339385CC-8092-7134-E76F-6C774111CB89}"/>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C3321DF-4F11-1823-A0AD-9D817E0A70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8475933-7067-5115-DBEB-7889C12FF0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C8703854-82A4-5410-63D0-A3D90D732A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311F12E-A60F-6DE8-C009-10F9891EA5B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CF3A0FF-06E2-74E0-BD80-252F9F50CD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A939E0D-800D-BBED-15F9-64C08901CFE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851061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AFA798-9BC3-992F-DE00-7A1126761E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89EC1F-48AC-C1A0-EC0C-3532BB482D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200" b="1" dirty="0">
                <a:latin typeface="Atkinson Hyperlegible Next"/>
                <a:ea typeface="Arial"/>
                <a:cs typeface="Arial"/>
                <a:sym typeface="Arial"/>
              </a:rPr>
              <a:t>Asynchronous</a:t>
            </a:r>
            <a:r>
              <a:rPr lang="en-US" sz="2200" dirty="0">
                <a:latin typeface="Atkinson Hyperlegible Next"/>
                <a:ea typeface="Arial"/>
                <a:cs typeface="Arial"/>
                <a:sym typeface="Arial"/>
              </a:rPr>
              <a:t>: No shared clock wire. Timing relies on agreed-upon Baud Rate.</a:t>
            </a: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114300" lvl="0" indent="0" algn="ctr">
              <a:buClr>
                <a:srgbClr val="000000"/>
              </a:buClr>
              <a:buNone/>
            </a:pPr>
            <a:r>
              <a:rPr lang="en-US" sz="1800" dirty="0" err="1">
                <a:solidFill>
                  <a:srgbClr val="000000"/>
                </a:solidFill>
                <a:latin typeface="Consolas" panose="020B0609020204030204" pitchFamily="49" charset="0"/>
              </a:rPr>
              <a:t>init_serialSCIA</a:t>
            </a:r>
            <a:r>
              <a:rPr lang="en-US" sz="1800" dirty="0">
                <a:solidFill>
                  <a:srgbClr val="000000"/>
                </a:solidFill>
                <a:latin typeface="Consolas" panose="020B0609020204030204" pitchFamily="49" charset="0"/>
              </a:rPr>
              <a:t>(&amp;SerialA,115200);</a:t>
            </a:r>
            <a:endParaRPr lang="en-US" sz="1800" dirty="0">
              <a:solidFill>
                <a:srgbClr val="000000"/>
              </a:solidFill>
              <a:latin typeface="Atkinson Hyperlegible Next"/>
            </a:endParaRP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B9BF5F0-457C-4E03-05A4-52C30532A0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C3FDC0-4294-4748-4B32-802F62E91CD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SCI / UART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50A938-DD5E-52AF-1CA9-E1138F1680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67A8A6-916E-A3D8-2000-BBDA2A9936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C767B3-18CC-7410-A90D-AEB3355953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4D76E-B978-AC85-66B0-65FE7AA6D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3A9B12-15C8-B715-D59E-5B99997FD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8BE521-C5BE-B235-B9FD-F59C205385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a:extLst>
              <a:ext uri="{FF2B5EF4-FFF2-40B4-BE49-F238E27FC236}">
                <a16:creationId xmlns:a16="http://schemas.microsoft.com/office/drawing/2014/main" id="{7F3DCA0B-06EC-CDAB-5F7A-048D3BBDB4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77146" y="2747500"/>
            <a:ext cx="10437708" cy="3592382"/>
          </a:xfrm>
          <a:prstGeom prst="rect">
            <a:avLst/>
          </a:prstGeom>
        </p:spPr>
      </p:pic>
    </p:spTree>
    <p:extLst>
      <p:ext uri="{BB962C8B-B14F-4D97-AF65-F5344CB8AC3E}">
        <p14:creationId xmlns:p14="http://schemas.microsoft.com/office/powerpoint/2010/main" val="6803784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0E2740-7630-D3AF-878D-DC6BC376ED6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7C6B595-3CD2-C7CB-F48E-3032BE3B645B}"/>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8CC7C99E-324F-4290-ACFE-0E2D50EC83D5}"/>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SPI</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ACCB0847-714E-0755-C06F-CB227BEB85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5E211AB-C88C-2CB5-8676-F238F700C8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E47F6B4-5228-76E2-4FDD-8509ECDDE0F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9CA9C54-FDCC-27E9-0788-1BB634D86E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63700EE-FC38-B4E4-B9A9-CA1BF5CE6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784BC4D5-CF5F-370C-5401-4CEFEFF6F76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E07FE74-EFD8-6D77-C709-767D3DD6B6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91FB91F-D98B-02B7-3DA6-797F281CB7D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62E80ADB-A2C3-AE7C-E90F-55925015333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854632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44FEC4-F8F6-89C7-072A-F70CD8AD4BF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3D6E-13A5-F39A-8E08-3FC06E9CE4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This is full-duplex protocol, capable of simultaneous transmission and reception during a single clock cycle.</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Multi-device communication is supported by the master or slave operation of the SPI.</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Has 4 wires:</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b="1" dirty="0">
                <a:latin typeface="Atkinson Hyperlegible Next"/>
                <a:ea typeface="Arial"/>
                <a:cs typeface="Arial"/>
                <a:sym typeface="Arial"/>
              </a:rPr>
              <a:t>SPICLK</a:t>
            </a:r>
            <a:r>
              <a:rPr lang="en-US" sz="2200" dirty="0">
                <a:latin typeface="Atkinson Hyperlegible Next"/>
                <a:ea typeface="Arial"/>
                <a:cs typeface="Arial"/>
                <a:sym typeface="Arial"/>
              </a:rPr>
              <a:t>: The SPI serial-clock pin, supplying the synchronous heartbeat</a:t>
            </a:r>
          </a:p>
          <a:p>
            <a:pPr marL="342900">
              <a:lnSpc>
                <a:spcPct val="100000"/>
              </a:lnSpc>
              <a:spcBef>
                <a:spcPts val="0"/>
              </a:spcBef>
              <a:buSzPts val="3000"/>
            </a:pPr>
            <a:r>
              <a:rPr lang="en-US" sz="2200" b="1" dirty="0">
                <a:latin typeface="Atkinson Hyperlegible Next"/>
                <a:ea typeface="Arial"/>
                <a:cs typeface="Arial"/>
                <a:sym typeface="Arial"/>
              </a:rPr>
              <a:t>SPISIMO</a:t>
            </a:r>
            <a:r>
              <a:rPr lang="en-US" sz="2200" dirty="0">
                <a:latin typeface="Atkinson Hyperlegible Next"/>
                <a:ea typeface="Arial"/>
                <a:cs typeface="Arial"/>
                <a:sym typeface="Arial"/>
              </a:rPr>
              <a:t>: The SPI slave-input/master-output pin</a:t>
            </a:r>
          </a:p>
          <a:p>
            <a:pPr marL="342900">
              <a:lnSpc>
                <a:spcPct val="100000"/>
              </a:lnSpc>
              <a:spcBef>
                <a:spcPts val="0"/>
              </a:spcBef>
              <a:buSzPts val="3000"/>
            </a:pPr>
            <a:r>
              <a:rPr lang="en-US" sz="2200" b="1" dirty="0">
                <a:latin typeface="Atkinson Hyperlegible Next"/>
                <a:ea typeface="Arial"/>
                <a:cs typeface="Arial"/>
                <a:sym typeface="Arial"/>
              </a:rPr>
              <a:t>SPISOMI</a:t>
            </a:r>
            <a:r>
              <a:rPr lang="en-US" sz="2200" dirty="0">
                <a:latin typeface="Atkinson Hyperlegible Next"/>
                <a:ea typeface="Arial"/>
                <a:cs typeface="Arial"/>
                <a:sym typeface="Arial"/>
              </a:rPr>
              <a:t>: The SPI slave-output/master-input pin</a:t>
            </a:r>
          </a:p>
          <a:p>
            <a:pPr marL="342900">
              <a:lnSpc>
                <a:spcPct val="100000"/>
              </a:lnSpc>
              <a:spcBef>
                <a:spcPts val="0"/>
              </a:spcBef>
              <a:buSzPts val="3000"/>
            </a:pPr>
            <a:r>
              <a:rPr lang="en-US" sz="2200" b="1" dirty="0">
                <a:latin typeface="Atkinson Hyperlegible Next"/>
                <a:ea typeface="Arial"/>
                <a:cs typeface="Arial"/>
                <a:sym typeface="Arial"/>
              </a:rPr>
              <a:t>SPISTE</a:t>
            </a:r>
            <a:r>
              <a:rPr lang="en-US" sz="2200" dirty="0">
                <a:latin typeface="Atkinson Hyperlegible Next"/>
                <a:ea typeface="Arial"/>
                <a:cs typeface="Arial"/>
                <a:sym typeface="Arial"/>
              </a:rPr>
              <a:t>: The SPI slave transmit-enable pin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All four pins can be used as general-purpose input/output (GPIO) if the SPI module is not used by the system</a:t>
            </a:r>
          </a:p>
        </p:txBody>
      </p:sp>
      <p:sp>
        <p:nvSpPr>
          <p:cNvPr id="119" name="Google Shape;119;p29">
            <a:extLst>
              <a:ext uri="{FF2B5EF4-FFF2-40B4-BE49-F238E27FC236}">
                <a16:creationId xmlns:a16="http://schemas.microsoft.com/office/drawing/2014/main" id="{EF079DDE-859F-E9D9-3720-A9A3356A5B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8E2184-734C-3F76-2088-B47AA211C9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7D4D1E0-C163-FF25-21C5-154E3F1F0D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1C8A1-3D5D-FAEE-026C-EA4060BD4E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169A76-7327-DD1A-A2D7-23AE12B272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5A0E1A-B050-59B2-7D49-9ABFA49806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5F99C-6AB8-F792-22F0-1FBE0EB322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5F7B6-1199-C945-4990-D5060D2827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9058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284FE1-E9DC-00E6-F6E2-1C2ADDE352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6C2B6D-7F85-67B2-82D3-79A52FA6B4C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EDFDCD-1998-A83B-83AC-BED243396E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3E8680-590F-D210-2EF1-48F36467A7E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34A491-FDC4-1DBB-9AEF-4B8F9E3012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46B73-6142-3914-2DBC-2787FD3169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308452-7851-4648-D289-D31D5BC254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0588B-D5F2-FD61-0FC5-32A96DBED9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79F794-D3EF-A710-8C64-EB005E0D4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37104FA7-F39F-8F31-1F55-4826818DCDA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5950" y="1095675"/>
            <a:ext cx="8420100" cy="5341385"/>
          </a:xfrm>
          <a:prstGeom prst="rect">
            <a:avLst/>
          </a:prstGeom>
        </p:spPr>
      </p:pic>
    </p:spTree>
    <p:extLst>
      <p:ext uri="{BB962C8B-B14F-4D97-AF65-F5344CB8AC3E}">
        <p14:creationId xmlns:p14="http://schemas.microsoft.com/office/powerpoint/2010/main" val="13722455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3AE2F2-612A-CC5F-B7D8-E007D6231D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E7553C-0531-1539-0A26-90E4725B384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Has 2 interrupt signal:</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b="1" dirty="0">
                <a:latin typeface="Atkinson Hyperlegible Next"/>
                <a:ea typeface="Arial"/>
                <a:cs typeface="Arial"/>
                <a:sym typeface="Arial"/>
              </a:rPr>
              <a:t>SPIINT: </a:t>
            </a:r>
            <a:r>
              <a:rPr lang="en-US" sz="2400" dirty="0"/>
              <a:t>Transmit interrupt/ Receive Interrupt in non-FIFO mode</a:t>
            </a:r>
            <a:endParaRPr lang="en-US" sz="2200" dirty="0">
              <a:latin typeface="Atkinson Hyperlegible Next"/>
              <a:ea typeface="Arial"/>
              <a:cs typeface="Arial"/>
              <a:sym typeface="Arial"/>
            </a:endParaRPr>
          </a:p>
          <a:p>
            <a:pPr marL="342900">
              <a:lnSpc>
                <a:spcPct val="100000"/>
              </a:lnSpc>
              <a:spcBef>
                <a:spcPts val="0"/>
              </a:spcBef>
              <a:buSzPts val="3000"/>
            </a:pPr>
            <a:r>
              <a:rPr lang="en-US" sz="2400" b="1" dirty="0"/>
              <a:t>SPIRXINT: </a:t>
            </a:r>
            <a:r>
              <a:rPr lang="en-US" sz="2400" dirty="0"/>
              <a:t>Receive interrupt in FIFO mode</a:t>
            </a:r>
            <a:endParaRPr lang="en-US" sz="2400" b="1" dirty="0">
              <a:latin typeface="Atkinson Hyperlegible Next"/>
              <a:ea typeface="Arial"/>
              <a:cs typeface="Arial"/>
              <a:sym typeface="Arial"/>
            </a:endParaRPr>
          </a:p>
          <a:p>
            <a:pPr marL="342900">
              <a:lnSpc>
                <a:spcPct val="100000"/>
              </a:lnSpc>
              <a:spcBef>
                <a:spcPts val="0"/>
              </a:spcBef>
              <a:buSzPts val="3000"/>
            </a:pPr>
            <a:r>
              <a:rPr lang="en-US" sz="2400" b="1" dirty="0"/>
              <a:t>SPITXINT: </a:t>
            </a:r>
            <a:r>
              <a:rPr lang="en-US" sz="2400" dirty="0"/>
              <a:t>Transmit interrupt in FIFO mode</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Can also integrate with the DMA (limited to 16-bit register read/writes and only works when FIFO is enabled)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t>SPITXDMA</a:t>
            </a:r>
            <a:r>
              <a:rPr lang="en-US" sz="2400" dirty="0"/>
              <a:t>: Transmit request to DMA</a:t>
            </a:r>
          </a:p>
          <a:p>
            <a:pPr marL="342900">
              <a:lnSpc>
                <a:spcPct val="100000"/>
              </a:lnSpc>
              <a:spcBef>
                <a:spcPts val="0"/>
              </a:spcBef>
              <a:buSzPts val="3000"/>
            </a:pPr>
            <a:r>
              <a:rPr lang="en-US" sz="2400" b="1" dirty="0"/>
              <a:t>SPIRXDMA</a:t>
            </a:r>
            <a:r>
              <a:rPr lang="en-US" sz="2400" dirty="0"/>
              <a:t>: Receive request to DMA</a:t>
            </a: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3F3420D-6516-22E6-540E-5B0DC22D05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B4F42-B762-AEC8-AFB4-1592EEDFE4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8368B17-F3B3-6B98-394A-4630CA7AB3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FC44A90-552A-61EC-FC7F-1EF1871CEE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C8BAC4-F5DD-AC2B-F80A-82EA81698EC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37CB65-1BC5-3AB7-0D3A-44F23A62DF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B69A63-BE9E-B097-BFD7-FD5DF9B1EA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1A760E7-FAF0-6AEA-584E-295142381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39606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BB06D-4537-9077-FC64-31B182D1D6F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FD9E63C-2556-595F-62E4-10FF5188E3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 SPI module supports 125 different baud rates using the SPIBRR register:</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SPIBRR = 3 to 127:</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ea typeface="Arial"/>
                          <a:cs typeface="Arial"/>
                          <a:sym typeface="Arial"/>
                        </a:rPr>
                        <m:t>SPI</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Baud</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Rate</m:t>
                      </m:r>
                      <m:r>
                        <a:rPr lang="en-US" sz="2000" b="0" i="1" smtClean="0">
                          <a:latin typeface="Cambria Math" panose="02040503050406030204" pitchFamily="18" charset="0"/>
                          <a:ea typeface="Arial"/>
                          <a:cs typeface="Arial"/>
                          <a:sym typeface="Arial"/>
                        </a:rPr>
                        <m:t> = </m:t>
                      </m:r>
                      <m:f>
                        <m:fPr>
                          <m:ctrlPr>
                            <a:rPr lang="en-US" sz="2000" b="0" i="1" smtClean="0">
                              <a:latin typeface="Cambria Math" panose="02040503050406030204" pitchFamily="18" charset="0"/>
                              <a:cs typeface="Arial"/>
                              <a:sym typeface="Arial"/>
                            </a:rPr>
                          </m:ctrlPr>
                        </m:fPr>
                        <m:num>
                          <m:r>
                            <m:rPr>
                              <m:sty m:val="p"/>
                            </m:rPr>
                            <a:rPr lang="en-US" sz="2000" b="0" i="1" smtClean="0">
                              <a:latin typeface="Cambria Math" panose="02040503050406030204" pitchFamily="18" charset="0"/>
                              <a:cs typeface="Arial"/>
                              <a:sym typeface="Arial"/>
                            </a:rPr>
                            <m:t>LSPCLK</m:t>
                          </m:r>
                        </m:num>
                        <m:den>
                          <m:r>
                            <m:rPr>
                              <m:sty m:val="p"/>
                            </m:rPr>
                            <a:rPr lang="en-US" sz="2000" b="0" i="1" smtClean="0">
                              <a:latin typeface="Cambria Math" panose="02040503050406030204" pitchFamily="18" charset="0"/>
                              <a:cs typeface="Arial"/>
                              <a:sym typeface="Arial"/>
                            </a:rPr>
                            <m:t>SPIBRR</m:t>
                          </m:r>
                          <m:r>
                            <a:rPr lang="en-US" sz="2000" b="0" i="1" smtClean="0">
                              <a:latin typeface="Cambria Math" panose="02040503050406030204" pitchFamily="18" charset="0"/>
                              <a:cs typeface="Arial"/>
                              <a:sym typeface="Arial"/>
                            </a:rPr>
                            <m:t> + 1</m:t>
                          </m:r>
                        </m:den>
                      </m:f>
                    </m:oMath>
                  </m:oMathPara>
                </a14:m>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SPIBRR = 0, 1, or 2:</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000" i="1">
                          <a:latin typeface="Cambria Math" panose="02040503050406030204" pitchFamily="18" charset="0"/>
                          <a:ea typeface="Arial"/>
                          <a:cs typeface="Arial"/>
                          <a:sym typeface="Arial"/>
                        </a:rPr>
                        <m:t>SPI</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Baud</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Rate</m:t>
                      </m:r>
                      <m:r>
                        <a:rPr lang="en-US" sz="2000" i="1">
                          <a:latin typeface="Cambria Math" panose="02040503050406030204" pitchFamily="18" charset="0"/>
                          <a:ea typeface="Arial"/>
                          <a:cs typeface="Arial"/>
                          <a:sym typeface="Arial"/>
                        </a:rPr>
                        <m:t> = </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LSPCLK</m:t>
                          </m:r>
                        </m:num>
                        <m:den>
                          <m:r>
                            <a:rPr lang="en-US" sz="2000" b="0" i="1" smtClean="0">
                              <a:latin typeface="Cambria Math" panose="02040503050406030204" pitchFamily="18" charset="0"/>
                              <a:cs typeface="Arial"/>
                              <a:sym typeface="Arial"/>
                            </a:rPr>
                            <m:t>4</m:t>
                          </m:r>
                        </m:den>
                      </m:f>
                    </m:oMath>
                  </m:oMathPara>
                </a14:m>
                <a:endParaRPr lang="en-US" sz="2000" dirty="0">
                  <a:latin typeface="Atkinson Hyperlegible Next"/>
                  <a:ea typeface="Arial"/>
                  <a:cs typeface="Arial"/>
                  <a:sym typeface="Arial"/>
                </a:endParaRP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LSPCLK = Low-speed peripheral clock frequency of the device. Like the </a:t>
                </a:r>
                <a:r>
                  <a:rPr lang="en-US" sz="2000" dirty="0" err="1">
                    <a:latin typeface="Atkinson Hyperlegible Next"/>
                    <a:ea typeface="Arial"/>
                    <a:cs typeface="Arial"/>
                    <a:sym typeface="Arial"/>
                  </a:rPr>
                  <a:t>ePWM</a:t>
                </a:r>
                <a:r>
                  <a:rPr lang="en-US" sz="2000" dirty="0">
                    <a:latin typeface="Atkinson Hyperlegible Next"/>
                    <a:ea typeface="Arial"/>
                    <a:cs typeface="Arial"/>
                    <a:sym typeface="Arial"/>
                  </a:rPr>
                  <a:t> it is 50 </a:t>
                </a:r>
                <a:r>
                  <a:rPr lang="en-US" sz="2000" dirty="0" err="1">
                    <a:latin typeface="Atkinson Hyperlegible Next"/>
                    <a:ea typeface="Arial"/>
                    <a:cs typeface="Arial"/>
                    <a:sym typeface="Arial"/>
                  </a:rPr>
                  <a:t>MHz.</a:t>
                </a:r>
                <a:endParaRPr lang="en-US" sz="2000" dirty="0">
                  <a:latin typeface="Atkinson Hyperlegible Next"/>
                  <a:ea typeface="Arial"/>
                  <a:cs typeface="Arial"/>
                  <a:sym typeface="Arial"/>
                </a:endParaRP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In </a:t>
                </a:r>
                <a:r>
                  <a:rPr lang="en-US" sz="2000" b="1" dirty="0">
                    <a:latin typeface="Atkinson Hyperlegible Next"/>
                    <a:ea typeface="Arial"/>
                    <a:cs typeface="Arial"/>
                    <a:sym typeface="Arial"/>
                  </a:rPr>
                  <a:t>master </a:t>
                </a:r>
                <a:r>
                  <a:rPr lang="en-US" sz="2000" dirty="0">
                    <a:latin typeface="Atkinson Hyperlegible Next"/>
                    <a:ea typeface="Arial"/>
                    <a:cs typeface="Arial"/>
                    <a:sym typeface="Arial"/>
                  </a:rPr>
                  <a:t>mode, the SPI clock is generated by the SPI and is output on the SPICLK pin.</a:t>
                </a:r>
              </a:p>
            </p:txBody>
          </p:sp>
        </mc:Choice>
        <mc:Fallback xmlns="">
          <p:sp>
            <p:nvSpPr>
              <p:cNvPr id="118" name="Google Shape;118;p29">
                <a:extLst>
                  <a:ext uri="{FF2B5EF4-FFF2-40B4-BE49-F238E27FC236}">
                    <a16:creationId xmlns:a16="http://schemas.microsoft.com/office/drawing/2014/main" id="{2FD9E63C-2556-595F-62E4-10FF5188E35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EDFF50B-E9FC-B3C7-9FEC-89DC88149F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47E0A6-DA2E-EB86-1691-22841E29B9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SPICLK</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24CB510-5B58-9C10-A961-11D38573C5E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2486C-02ED-7A58-8752-75F8FECB23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DD08FC4-2814-698D-A874-E0FF2070AD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A21B5E-16C6-9F79-EE93-07B9D8409E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DC23B9-423F-47D4-4FC9-6DE9A444CE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60AC62-4B23-EC82-D9B3-AB4FD309BC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0230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C5B38E-850E-8E68-CBEB-7F0526A07F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62C33B7-B0F4-FE47-9A49-2B15E3D714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a:t>
            </a:r>
            <a:r>
              <a:rPr lang="en-US" sz="3200" b="1" dirty="0">
                <a:latin typeface="Atkinson Hyperlegible Next"/>
                <a:ea typeface="Arial"/>
                <a:cs typeface="Arial"/>
                <a:sym typeface="Arial"/>
              </a:rPr>
              <a:t>SPISIMO</a:t>
            </a:r>
            <a:r>
              <a:rPr lang="en-US" sz="3200" dirty="0">
                <a:latin typeface="Atkinson Hyperlegible Next"/>
                <a:ea typeface="Arial"/>
                <a:cs typeface="Arial"/>
                <a:sym typeface="Arial"/>
              </a:rPr>
              <a:t> pin acts as the primary transmission pin </a:t>
            </a:r>
            <a:r>
              <a:rPr lang="en-US" sz="3200" b="1" dirty="0">
                <a:latin typeface="Atkinson Hyperlegible Next"/>
                <a:ea typeface="Arial"/>
                <a:cs typeface="Arial"/>
                <a:sym typeface="Arial"/>
              </a:rPr>
              <a:t>from </a:t>
            </a:r>
            <a:r>
              <a:rPr lang="en-US" sz="3200" dirty="0">
                <a:latin typeface="Atkinson Hyperlegible Next"/>
                <a:ea typeface="Arial"/>
                <a:cs typeface="Arial"/>
                <a:sym typeface="Arial"/>
              </a:rPr>
              <a:t>the controller </a:t>
            </a:r>
            <a:r>
              <a:rPr lang="en-US" sz="3200" b="1" dirty="0">
                <a:latin typeface="Atkinson Hyperlegible Next"/>
                <a:ea typeface="Arial"/>
                <a:cs typeface="Arial"/>
                <a:sym typeface="Arial"/>
              </a:rPr>
              <a:t>to </a:t>
            </a:r>
            <a:r>
              <a:rPr lang="en-US" sz="3200" dirty="0">
                <a:latin typeface="Atkinson Hyperlegible Next"/>
                <a:ea typeface="Arial"/>
                <a:cs typeface="Arial"/>
                <a:sym typeface="Arial"/>
              </a:rPr>
              <a:t>the peripheral</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If the MCU (Microcontroller Unit), is configured as the master, data is shifted out of it’s transmit buffer and onto this line!</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If the MCU is configured as a slave, this pin receives the incoming data from the network’s master.</a:t>
            </a:r>
          </a:p>
        </p:txBody>
      </p:sp>
      <p:sp>
        <p:nvSpPr>
          <p:cNvPr id="119" name="Google Shape;119;p29">
            <a:extLst>
              <a:ext uri="{FF2B5EF4-FFF2-40B4-BE49-F238E27FC236}">
                <a16:creationId xmlns:a16="http://schemas.microsoft.com/office/drawing/2014/main" id="{42839ED7-1F4C-B900-2BA6-2BD518035C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4E9EFC-94D6-A915-80E2-1DB358318E3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SPISIMO (Master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7942637-A915-F581-B4EB-A1FCCE7FDAD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6E5A-EC5C-B965-A447-E27A9376D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648222-98A7-F398-4BE0-DB33A04339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655D45-B8D6-615E-1AAB-64475BE959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F649C2-3366-A59C-4C99-31F285643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38FF2F-DC22-3CBC-2481-AEB89D5C9F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556027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8ECC21-0235-5246-DCAA-F11DDAB11E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8F0297A-E039-3270-D99A-F06B0FE740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a:t>
            </a:r>
            <a:r>
              <a:rPr lang="en-US" sz="3200" b="1" dirty="0">
                <a:latin typeface="Atkinson Hyperlegible Next"/>
                <a:ea typeface="Arial"/>
                <a:cs typeface="Arial"/>
                <a:sym typeface="Arial"/>
              </a:rPr>
              <a:t>SPISOMI</a:t>
            </a:r>
            <a:r>
              <a:rPr lang="en-US" sz="3200" dirty="0">
                <a:latin typeface="Atkinson Hyperlegible Next"/>
                <a:ea typeface="Arial"/>
                <a:cs typeface="Arial"/>
                <a:sym typeface="Arial"/>
              </a:rPr>
              <a:t> pin acts as the primary receiver pin </a:t>
            </a:r>
            <a:r>
              <a:rPr lang="en-US" sz="3200" b="1" dirty="0">
                <a:latin typeface="Atkinson Hyperlegible Next"/>
                <a:ea typeface="Arial"/>
                <a:cs typeface="Arial"/>
                <a:sym typeface="Arial"/>
              </a:rPr>
              <a:t>from </a:t>
            </a:r>
            <a:r>
              <a:rPr lang="en-US" sz="3200" dirty="0">
                <a:latin typeface="Atkinson Hyperlegible Next"/>
                <a:ea typeface="Arial"/>
                <a:cs typeface="Arial"/>
                <a:sym typeface="Arial"/>
              </a:rPr>
              <a:t>the peripheral back </a:t>
            </a:r>
            <a:r>
              <a:rPr lang="en-US" sz="3200" b="1" dirty="0">
                <a:latin typeface="Atkinson Hyperlegible Next"/>
                <a:ea typeface="Arial"/>
                <a:cs typeface="Arial"/>
                <a:sym typeface="Arial"/>
              </a:rPr>
              <a:t>to </a:t>
            </a:r>
            <a:r>
              <a:rPr lang="en-US" sz="3200" dirty="0">
                <a:latin typeface="Atkinson Hyperlegible Next"/>
                <a:ea typeface="Arial"/>
                <a:cs typeface="Arial"/>
                <a:sym typeface="Arial"/>
              </a:rPr>
              <a:t>the MCU.</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When the SPI transmits data, it can receive characters simultaneously, placing them in the receiver buffer </a:t>
            </a:r>
            <a:r>
              <a:rPr lang="en-US" sz="3200" b="1" dirty="0">
                <a:latin typeface="Atkinson Hyperlegible Next"/>
                <a:ea typeface="Arial"/>
                <a:cs typeface="Arial"/>
                <a:sym typeface="Arial"/>
              </a:rPr>
              <a:t>SPIRXBUF</a:t>
            </a:r>
            <a:r>
              <a:rPr lang="en-US" sz="3200" dirty="0">
                <a:latin typeface="Atkinson Hyperlegible Next"/>
                <a:ea typeface="Arial"/>
                <a:cs typeface="Arial"/>
                <a:sym typeface="Arial"/>
              </a:rPr>
              <a:t>.</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incoming data is stored right-justified within this register</a:t>
            </a:r>
          </a:p>
        </p:txBody>
      </p:sp>
      <p:sp>
        <p:nvSpPr>
          <p:cNvPr id="119" name="Google Shape;119;p29">
            <a:extLst>
              <a:ext uri="{FF2B5EF4-FFF2-40B4-BE49-F238E27FC236}">
                <a16:creationId xmlns:a16="http://schemas.microsoft.com/office/drawing/2014/main" id="{F046BF22-42D0-A0CC-F8E7-6E90045422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151CF3-9331-0DAB-95B4-B76A38AB66E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SPISOMI (Master Input)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7733BA-51E0-691E-A2A6-8C0756040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61B270-91AC-FC21-1684-D5BF10BFD4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023484-694F-ED8F-79BE-621AB61486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FD1BB7-C1BB-C9C4-9EE9-E6B3B1CE5A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98B622-6311-731D-316D-79DD110EB47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354B45-ACCB-D00A-53C6-198FAA02C8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860240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5CDD15-AFE6-7605-AF0A-5D10FB2F48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BCF4FB4-1BEA-AC6A-3F06-DD74FDFE7AB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 </a:t>
            </a:r>
            <a:r>
              <a:rPr lang="en-US" b="1" dirty="0">
                <a:latin typeface="Atkinson Hyperlegible Next"/>
                <a:ea typeface="Arial"/>
                <a:cs typeface="Arial"/>
                <a:sym typeface="Arial"/>
              </a:rPr>
              <a:t>SPISTE</a:t>
            </a:r>
            <a:r>
              <a:rPr lang="en-US" dirty="0">
                <a:latin typeface="Atkinson Hyperlegible Next"/>
                <a:ea typeface="Arial"/>
                <a:cs typeface="Arial"/>
                <a:sym typeface="Arial"/>
              </a:rPr>
              <a:t> provides the ability to gate any clock and data pulses when SPI is in slave mode.</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An active </a:t>
            </a:r>
            <a:r>
              <a:rPr lang="en-US" b="1" dirty="0">
                <a:latin typeface="Atkinson Hyperlegible Next"/>
                <a:ea typeface="Arial"/>
                <a:cs typeface="Arial"/>
                <a:sym typeface="Arial"/>
              </a:rPr>
              <a:t>SPISTE</a:t>
            </a:r>
            <a:r>
              <a:rPr lang="en-US" dirty="0">
                <a:latin typeface="Atkinson Hyperlegible Next"/>
                <a:ea typeface="Arial"/>
                <a:cs typeface="Arial"/>
                <a:sym typeface="Arial"/>
              </a:rPr>
              <a:t> will not allow the slave to receive data, preventing the SPI slave from losing synchronization with the master.</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Toggling the </a:t>
            </a:r>
            <a:r>
              <a:rPr lang="en-US" b="1" dirty="0">
                <a:latin typeface="Atkinson Hyperlegible Next"/>
                <a:ea typeface="Arial"/>
                <a:cs typeface="Arial"/>
                <a:sym typeface="Arial"/>
              </a:rPr>
              <a:t>SPISWRESET</a:t>
            </a:r>
            <a:r>
              <a:rPr lang="en-US" dirty="0">
                <a:latin typeface="Atkinson Hyperlegible Next"/>
                <a:ea typeface="Arial"/>
                <a:cs typeface="Arial"/>
                <a:sym typeface="Arial"/>
              </a:rPr>
              <a:t> bit will reset the internal bit counter and allow a desynchronized slave to recover.</a:t>
            </a:r>
          </a:p>
        </p:txBody>
      </p:sp>
      <p:sp>
        <p:nvSpPr>
          <p:cNvPr id="119" name="Google Shape;119;p29">
            <a:extLst>
              <a:ext uri="{FF2B5EF4-FFF2-40B4-BE49-F238E27FC236}">
                <a16:creationId xmlns:a16="http://schemas.microsoft.com/office/drawing/2014/main" id="{5A261050-3D7F-6018-7427-007591F52C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24DB46D-7DC0-1270-25F4-79CD5E23CB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SPISTE (Slave Transmit Enable)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AF2B11-7E8E-42B6-5552-0913930696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403C6-A5BF-3150-F5E8-3769EB52BC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AEFCE6-D04D-2467-7F9B-4D9682032A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38020E7-89E1-8AA3-4761-AEA9005F48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5672D0-3BEB-B5C3-3FAA-184428A1CD4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9B83F0-E7F8-E3E7-B860-5F7CA01C60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464402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484EB3-7ADF-0B3F-6113-7663E2C8DE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3303FD9-BEA6-DF6F-19C6-CD5B716D0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DB55C3-4C34-072B-DAEC-F7505A532E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1D719C-887E-69EF-24D6-1AE1DF131C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2B721C-3728-4781-3E59-328508D8BE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682E44-516C-34BD-9D39-6B6247AA59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40C99F-96E8-B584-FFCB-39C3C5F41F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EE1D6E-8EDE-8B12-8BF5-527E610836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8611A-0B1D-B91D-EE2C-ADB66C17B4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5" name="TextBox 4">
            <a:extLst>
              <a:ext uri="{FF2B5EF4-FFF2-40B4-BE49-F238E27FC236}">
                <a16:creationId xmlns:a16="http://schemas.microsoft.com/office/drawing/2014/main" id="{F2EE5986-6E63-AB28-8A27-F0791EBCC56F}"/>
              </a:ext>
            </a:extLst>
          </p:cNvPr>
          <p:cNvSpPr txBox="1"/>
          <p:nvPr/>
        </p:nvSpPr>
        <p:spPr>
          <a:xfrm>
            <a:off x="4839249" y="6251431"/>
            <a:ext cx="3619500" cy="253916"/>
          </a:xfrm>
          <a:prstGeom prst="rect">
            <a:avLst/>
          </a:prstGeom>
          <a:noFill/>
        </p:spPr>
        <p:txBody>
          <a:bodyPr wrap="square">
            <a:spAutoFit/>
          </a:bodyPr>
          <a:lstStyle/>
          <a:p>
            <a:pPr algn="ctr"/>
            <a:r>
              <a:rPr lang="en-US" sz="1050" dirty="0">
                <a:hlinkClick r:id="rId4"/>
              </a:rPr>
              <a:t>https://en.wikipedia.org/wiki/Serial_Peripheral_Interface</a:t>
            </a:r>
            <a:r>
              <a:rPr lang="en-US" sz="1050" dirty="0"/>
              <a:t> </a:t>
            </a:r>
          </a:p>
        </p:txBody>
      </p:sp>
      <p:pic>
        <p:nvPicPr>
          <p:cNvPr id="7" name="Picture 6">
            <a:extLst>
              <a:ext uri="{FF2B5EF4-FFF2-40B4-BE49-F238E27FC236}">
                <a16:creationId xmlns:a16="http://schemas.microsoft.com/office/drawing/2014/main" id="{647DD6B5-C8C7-BE73-FB99-988487132B67}"/>
              </a:ext>
            </a:extLst>
          </p:cNvPr>
          <p:cNvPicPr>
            <a:picLocks noChangeAspect="1"/>
          </p:cNvPicPr>
          <p:nvPr/>
        </p:nvPicPr>
        <p:blipFill>
          <a:blip r:embed="rId5"/>
          <a:stretch>
            <a:fillRect/>
          </a:stretch>
        </p:blipFill>
        <p:spPr>
          <a:xfrm>
            <a:off x="423862" y="2081212"/>
            <a:ext cx="11344275" cy="2695575"/>
          </a:xfrm>
          <a:prstGeom prst="rect">
            <a:avLst/>
          </a:prstGeom>
        </p:spPr>
      </p:pic>
    </p:spTree>
    <p:extLst>
      <p:ext uri="{BB962C8B-B14F-4D97-AF65-F5344CB8AC3E}">
        <p14:creationId xmlns:p14="http://schemas.microsoft.com/office/powerpoint/2010/main" val="2509577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117FF3-D79A-4E6D-75C3-CE94ED729B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F2FD01B-408F-E151-CDE7-E4201C6F18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system can be compressed by setting the </a:t>
            </a:r>
            <a:r>
              <a:rPr lang="en-US" sz="1800" b="1" dirty="0">
                <a:latin typeface="Atkinson Hyperlegible Next"/>
                <a:ea typeface="Arial"/>
                <a:cs typeface="Arial"/>
                <a:sym typeface="Arial"/>
              </a:rPr>
              <a:t>TRIWIRE</a:t>
            </a:r>
            <a:r>
              <a:rPr lang="en-US" sz="1800" dirty="0">
                <a:latin typeface="Atkinson Hyperlegible Next"/>
                <a:ea typeface="Arial"/>
                <a:cs typeface="Arial"/>
                <a:sym typeface="Arial"/>
              </a:rPr>
              <a:t> bit to 1, enabling a 3-wire SPI mode.</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SPI 3-wire mode allows for SPI communication over three pins instead of the normal four pins.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Because in 3-wire mode, the receive and transmit paths within the SPI are connected, any data transmitted by the SPI module is also received by itself. The application software must take care to perform a dummy read to clear the SPI data register of the additional received data.</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This helps reduce pin count on your microcontroller when interfacing with peripherals that do not require full-duplex communication.</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If you only need to send/read commands and occasionally read/send data (not simultaneously), 3-wire saves wiring complexity without losing functionality.</a:t>
            </a:r>
          </a:p>
        </p:txBody>
      </p:sp>
      <p:sp>
        <p:nvSpPr>
          <p:cNvPr id="119" name="Google Shape;119;p29">
            <a:extLst>
              <a:ext uri="{FF2B5EF4-FFF2-40B4-BE49-F238E27FC236}">
                <a16:creationId xmlns:a16="http://schemas.microsoft.com/office/drawing/2014/main" id="{7BFEB8EA-0E4F-2EAC-C59E-34F83F5376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E60C4D4-092F-24FC-70E2-4A6FDF1DC1D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3-wire mode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EC345F1-C0B5-77BF-2EFC-16C759F24F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3A5B73-18EC-95BA-6963-29C225325A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B7D5C2-0E3C-4C21-2AA2-DF365254E1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4E95C-CB19-D7B8-C42C-39E440904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7DD552-0BF9-485D-B66F-19FCBB7791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00B087-3BE3-41E6-55F8-128DC1FFB5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7383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F1D52B-88FB-4B21-6A7A-48542FFB11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B5E393-A3EA-A3F7-16EC-C7934B6E0C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To successfully transmit data, the master and slave must share an identical clock wave mapping.</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clock polarity select bit (</a:t>
            </a: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and the clock phase select bit (</a:t>
            </a:r>
            <a:r>
              <a:rPr lang="en-US" sz="1800" b="1" dirty="0">
                <a:latin typeface="Atkinson Hyperlegible Next"/>
                <a:ea typeface="Arial"/>
                <a:cs typeface="Arial"/>
                <a:sym typeface="Arial"/>
              </a:rPr>
              <a:t>CLK_PHASE</a:t>
            </a:r>
            <a:r>
              <a:rPr lang="en-US" sz="1800" dirty="0">
                <a:latin typeface="Atkinson Hyperlegible Next"/>
                <a:ea typeface="Arial"/>
                <a:cs typeface="Arial"/>
                <a:sym typeface="Arial"/>
              </a:rPr>
              <a:t>) control four different clocking schemes on the </a:t>
            </a:r>
            <a:r>
              <a:rPr lang="en-US" sz="1800" b="1" dirty="0">
                <a:latin typeface="Atkinson Hyperlegible Next"/>
                <a:ea typeface="Arial"/>
                <a:cs typeface="Arial"/>
                <a:sym typeface="Arial"/>
              </a:rPr>
              <a:t>SPICLK</a:t>
            </a:r>
            <a:r>
              <a:rPr lang="en-US" sz="1800" dirty="0">
                <a:latin typeface="Atkinson Hyperlegible Next"/>
                <a:ea typeface="Arial"/>
                <a:cs typeface="Arial"/>
                <a:sym typeface="Arial"/>
              </a:rPr>
              <a:t> pin.</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selects the active edge, either rising or falling, of the clock</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CLK_PHASE </a:t>
            </a:r>
            <a:r>
              <a:rPr lang="en-US" sz="1800" dirty="0">
                <a:latin typeface="Atkinson Hyperlegible Next"/>
                <a:ea typeface="Arial"/>
                <a:cs typeface="Arial"/>
                <a:sym typeface="Arial"/>
              </a:rPr>
              <a:t>selects a half-cycle delay of the clock.</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Very dependent on your sensor, look at and understand your dataset to know what is expected!</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If </a:t>
            </a: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and </a:t>
            </a:r>
            <a:r>
              <a:rPr lang="en-US" sz="1800" b="1" dirty="0">
                <a:latin typeface="Atkinson Hyperlegible Next"/>
                <a:ea typeface="Arial"/>
                <a:cs typeface="Arial"/>
                <a:sym typeface="Arial"/>
              </a:rPr>
              <a:t>CLK_PHASE</a:t>
            </a:r>
            <a:r>
              <a:rPr lang="en-US" sz="1800" dirty="0">
                <a:latin typeface="Atkinson Hyperlegible Next"/>
                <a:ea typeface="Arial"/>
                <a:cs typeface="Arial"/>
                <a:sym typeface="Arial"/>
              </a:rPr>
              <a:t> can only 0 or 1 each, how many different modes are there available?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latin typeface="Atkinson Hyperlegible Next"/>
                <a:ea typeface="Arial"/>
                <a:cs typeface="Arial"/>
                <a:sym typeface="Arial"/>
              </a:rPr>
              <a:t>4 Modes!</a:t>
            </a:r>
          </a:p>
        </p:txBody>
      </p:sp>
      <p:sp>
        <p:nvSpPr>
          <p:cNvPr id="119" name="Google Shape;119;p29">
            <a:extLst>
              <a:ext uri="{FF2B5EF4-FFF2-40B4-BE49-F238E27FC236}">
                <a16:creationId xmlns:a16="http://schemas.microsoft.com/office/drawing/2014/main" id="{A1FC147D-272D-7DC0-8061-875C174157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98CECE-7032-DBE7-EA67-9F7E009C01C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33E0F5-E0C4-C971-0B0E-56D1C80A4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C46077-EA7A-7E22-65B9-D382F1C66D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E2001D-A723-FCCF-8558-F03BDF8E0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DD7F2-39FC-F4DF-DB77-DF919EB8A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E126E3-EED5-A37F-D56C-B51F7CA9AF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50334B-2460-FB7A-282A-1C50909667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1314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5EBC93-2C11-C4EE-C644-76FFD4B0744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99FA6D-EE91-A13E-C628-A9AFF64352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t>Rising Edge Without Delay: </a:t>
            </a:r>
            <a:r>
              <a:rPr lang="en-US" sz="2000" b="1" dirty="0"/>
              <a:t>CLKPOLARITY</a:t>
            </a:r>
            <a:r>
              <a:rPr lang="en-US" sz="2000" dirty="0"/>
              <a:t> = 0 and </a:t>
            </a:r>
            <a:r>
              <a:rPr lang="en-US" sz="2000" b="1" dirty="0"/>
              <a:t>CLK_PHASE </a:t>
            </a:r>
            <a:r>
              <a:rPr lang="en-US" sz="2000" dirty="0"/>
              <a:t>= 0</a:t>
            </a:r>
          </a:p>
          <a:p>
            <a:pPr marL="285750" indent="-285750">
              <a:lnSpc>
                <a:spcPct val="100000"/>
              </a:lnSpc>
              <a:spcBef>
                <a:spcPts val="0"/>
              </a:spcBef>
              <a:buSzPts val="3000"/>
            </a:pPr>
            <a:r>
              <a:rPr lang="en-US" sz="2000" dirty="0"/>
              <a:t>The SPI transmits data on the </a:t>
            </a:r>
            <a:r>
              <a:rPr lang="en-US" sz="2000" b="1" dirty="0"/>
              <a:t>rising edge </a:t>
            </a:r>
            <a:r>
              <a:rPr lang="en-US" sz="2000" dirty="0"/>
              <a:t>of the SPICLK signal.</a:t>
            </a:r>
          </a:p>
          <a:p>
            <a:pPr marL="285750" indent="-285750">
              <a:lnSpc>
                <a:spcPct val="100000"/>
              </a:lnSpc>
              <a:spcBef>
                <a:spcPts val="0"/>
              </a:spcBef>
              <a:buSzPts val="3000"/>
            </a:pPr>
            <a:r>
              <a:rPr lang="en-US" sz="2000" dirty="0"/>
              <a:t>The SPI receives data on the </a:t>
            </a:r>
            <a:r>
              <a:rPr lang="en-US" sz="2000" b="1" dirty="0"/>
              <a:t>falling edge </a:t>
            </a:r>
            <a:r>
              <a:rPr lang="en-US" sz="2000" dirty="0"/>
              <a:t>of the SPICLK signal.</a:t>
            </a:r>
          </a:p>
          <a:p>
            <a:pPr marL="0" indent="0">
              <a:lnSpc>
                <a:spcPct val="100000"/>
              </a:lnSpc>
              <a:spcBef>
                <a:spcPts val="0"/>
              </a:spcBef>
              <a:buSzPts val="3000"/>
              <a:buNone/>
            </a:pPr>
            <a:endParaRPr lang="en-US" sz="2000" dirty="0"/>
          </a:p>
          <a:p>
            <a:pPr marL="0" indent="0">
              <a:lnSpc>
                <a:spcPct val="100000"/>
              </a:lnSpc>
              <a:spcBef>
                <a:spcPts val="0"/>
              </a:spcBef>
              <a:buSzPts val="3000"/>
              <a:buNone/>
            </a:pPr>
            <a:r>
              <a:rPr lang="en-US" sz="2000" dirty="0"/>
              <a:t>Rising Edge With Delay: </a:t>
            </a:r>
            <a:r>
              <a:rPr lang="en-US" sz="2000" b="1" dirty="0"/>
              <a:t>CLKPOLARITY</a:t>
            </a:r>
            <a:r>
              <a:rPr lang="en-US" sz="2000" dirty="0"/>
              <a:t> = 0 and </a:t>
            </a:r>
            <a:r>
              <a:rPr lang="en-US" sz="2000" b="1" dirty="0"/>
              <a:t>CLK_PHASE </a:t>
            </a:r>
            <a:r>
              <a:rPr lang="en-US" sz="2000" dirty="0"/>
              <a:t>= 1</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one half-cycle ahead of the rising edge</a:t>
            </a:r>
            <a:r>
              <a:rPr lang="en-US" sz="2000" dirty="0">
                <a:latin typeface="Atkinson Hyperlegible Next"/>
                <a:ea typeface="Arial"/>
                <a:cs typeface="Arial"/>
                <a:sym typeface="Arial"/>
              </a:rPr>
              <a:t> 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rising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t>Falling Edge Without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falling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rising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t>Falling Edge With Delay: </a:t>
            </a:r>
            <a:r>
              <a:rPr lang="en-US" sz="2000" b="1" dirty="0"/>
              <a:t>CLKPOLARITY</a:t>
            </a:r>
            <a:r>
              <a:rPr lang="en-US" sz="2000" dirty="0"/>
              <a:t> = 1 and </a:t>
            </a:r>
            <a:r>
              <a:rPr lang="en-US" sz="2000" b="1" dirty="0"/>
              <a:t>CLK_PHASE </a:t>
            </a:r>
            <a:r>
              <a:rPr lang="en-US" sz="2000" dirty="0"/>
              <a:t>= 1</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one half-cycle ahead of the falling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falling edge </a:t>
            </a:r>
            <a:r>
              <a:rPr lang="en-US" sz="2000" dirty="0">
                <a:latin typeface="Atkinson Hyperlegible Next"/>
                <a:ea typeface="Arial"/>
                <a:cs typeface="Arial"/>
                <a:sym typeface="Arial"/>
              </a:rPr>
              <a:t>of the SPICLK signal.</a:t>
            </a:r>
          </a:p>
        </p:txBody>
      </p:sp>
      <p:sp>
        <p:nvSpPr>
          <p:cNvPr id="119" name="Google Shape;119;p29">
            <a:extLst>
              <a:ext uri="{FF2B5EF4-FFF2-40B4-BE49-F238E27FC236}">
                <a16:creationId xmlns:a16="http://schemas.microsoft.com/office/drawing/2014/main" id="{F86BCD1E-9445-A503-955D-FA134776F5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CA28CE-660E-C139-1CA5-82DBADA393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8D80FE-A2BA-623D-4126-354579FB24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91B12-4D03-F3E8-68A6-FB617718F8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BC6453-2DBD-E3CA-28FE-E3F0C45239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354189E-21FA-7149-818C-7C8F218BA2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3FC35-F134-64FE-A734-A948D473C4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453609-3613-5B02-DD12-7E0407A428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17154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214662" y="3613196"/>
            <a:ext cx="2456175"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What is this registry?</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cxnSpLocks/>
            <a:stCxn id="118" idx="2"/>
          </p:cNvCxnSpPr>
          <p:nvPr/>
        </p:nvCxnSpPr>
        <p:spPr>
          <a:xfrm>
            <a:off x="1442750" y="4180604"/>
            <a:ext cx="1872772" cy="166179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D9949BA-79AB-ED08-D582-E57071277C76}"/>
              </a:ext>
            </a:extLst>
          </p:cNvPr>
          <p:cNvCxnSpPr>
            <a:cxnSpLocks/>
            <a:stCxn id="118" idx="2"/>
          </p:cNvCxnSpPr>
          <p:nvPr/>
        </p:nvCxnSpPr>
        <p:spPr>
          <a:xfrm>
            <a:off x="1442750" y="4180604"/>
            <a:ext cx="1872772" cy="13847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291793F-D77F-A632-4663-3AF450DD5C70}"/>
              </a:ext>
            </a:extLst>
          </p:cNvPr>
          <p:cNvCxnSpPr>
            <a:cxnSpLocks/>
            <a:stCxn id="118" idx="3"/>
          </p:cNvCxnSpPr>
          <p:nvPr/>
        </p:nvCxnSpPr>
        <p:spPr>
          <a:xfrm>
            <a:off x="2670837" y="3896900"/>
            <a:ext cx="64468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607E795-D483-C24E-D6A2-3DFA766E147C}"/>
              </a:ext>
            </a:extLst>
          </p:cNvPr>
          <p:cNvCxnSpPr>
            <a:cxnSpLocks/>
          </p:cNvCxnSpPr>
          <p:nvPr/>
        </p:nvCxnSpPr>
        <p:spPr>
          <a:xfrm flipV="1">
            <a:off x="2670836" y="3289209"/>
            <a:ext cx="598637" cy="59810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36D5DB3-4160-CFBF-3A0C-0D3D386919D9}"/>
              </a:ext>
            </a:extLst>
          </p:cNvPr>
          <p:cNvCxnSpPr>
            <a:cxnSpLocks/>
            <a:stCxn id="118" idx="3"/>
          </p:cNvCxnSpPr>
          <p:nvPr/>
        </p:nvCxnSpPr>
        <p:spPr>
          <a:xfrm flipV="1">
            <a:off x="2670837" y="3336139"/>
            <a:ext cx="1585399" cy="5607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7BB3E1-6E1A-44DC-0599-20BA8D6382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0200B1E-59A5-5DD3-C0A3-6A42067F67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problem is that this can only allow you to communicate to one peripheral, what about if you want to communicate multiple peripherals, i.e., addressing all your wheel motors individually?</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In many systems, a SPI master may be connected to multiple SPI slaves using multiple instances of </a:t>
            </a:r>
            <a:r>
              <a:rPr lang="en-US" sz="1800" b="1" dirty="0">
                <a:latin typeface="Atkinson Hyperlegible Next"/>
                <a:ea typeface="Arial"/>
                <a:cs typeface="Arial"/>
                <a:sym typeface="Arial"/>
              </a:rPr>
              <a:t>SPISTE</a:t>
            </a:r>
            <a:r>
              <a:rPr lang="en-US" sz="1800" dirty="0">
                <a:latin typeface="Atkinson Hyperlegible Next"/>
                <a:ea typeface="Arial"/>
                <a:cs typeface="Arial"/>
                <a:sym typeface="Arial"/>
              </a:rPr>
              <a:t> (You selectively choose which SPI slave to enable and read the incoming data).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Though this SPI module </a:t>
            </a:r>
            <a:r>
              <a:rPr lang="en-US" sz="1800" b="1" dirty="0">
                <a:latin typeface="Atkinson Hyperlegible Next"/>
                <a:ea typeface="Arial"/>
                <a:cs typeface="Arial"/>
                <a:sym typeface="Arial"/>
              </a:rPr>
              <a:t>does not natively support multiple SPISTE signals</a:t>
            </a:r>
            <a:r>
              <a:rPr lang="en-US" sz="1800" dirty="0">
                <a:latin typeface="Atkinson Hyperlegible Next"/>
                <a:ea typeface="Arial"/>
                <a:cs typeface="Arial"/>
                <a:sym typeface="Arial"/>
              </a:rPr>
              <a:t>, it is possible to emulate this behavior in software using GPIOs.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In this configuration, the SPI must be configured as the </a:t>
            </a:r>
            <a:r>
              <a:rPr lang="en-US" sz="1800" b="1" dirty="0">
                <a:latin typeface="Atkinson Hyperlegible Next"/>
                <a:ea typeface="Arial"/>
                <a:cs typeface="Arial"/>
                <a:sym typeface="Arial"/>
              </a:rPr>
              <a:t>master</a:t>
            </a:r>
            <a:r>
              <a:rPr lang="en-US" sz="1800" dirty="0">
                <a:latin typeface="Atkinson Hyperlegible Next"/>
                <a:ea typeface="Arial"/>
                <a:cs typeface="Arial"/>
                <a:sym typeface="Arial"/>
              </a:rPr>
              <a:t>. Rather than using the GPIO Mux to select SPISTE, the application would configure pins to be GPIO outputs, </a:t>
            </a:r>
            <a:r>
              <a:rPr lang="en-US" sz="1800" b="1" dirty="0">
                <a:latin typeface="Atkinson Hyperlegible Next"/>
                <a:ea typeface="Arial"/>
                <a:cs typeface="Arial"/>
                <a:sym typeface="Arial"/>
              </a:rPr>
              <a:t>one GPIO per SPI slave</a:t>
            </a:r>
            <a:r>
              <a:rPr lang="en-US" sz="1800" dirty="0">
                <a:latin typeface="Atkinson Hyperlegible Next"/>
                <a:ea typeface="Arial"/>
                <a:cs typeface="Arial"/>
                <a:sym typeface="Arial"/>
              </a:rPr>
              <a:t>.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Before transmitting any data, the application would drive the desired GPIO to the active state.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Immediately after the transmission has been completed, the GPIO chip select would be driven to the inactive state. This process can be repeated for many slaves which share the SPICLK, SPISIMO, and SPISOMI lines! Essentially creating a </a:t>
            </a:r>
            <a:r>
              <a:rPr lang="en-US" sz="1800" b="1" dirty="0">
                <a:latin typeface="Atkinson Hyperlegible Next"/>
                <a:ea typeface="Arial"/>
                <a:cs typeface="Arial"/>
                <a:sym typeface="Arial"/>
              </a:rPr>
              <a:t>SPISTE pin mux!</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0031E1B-3762-A8B2-8113-06902AD650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D39AFD9-F10C-A3CC-01A3-A48164FE31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Multiple Slaves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7F5880-B6A4-4D89-618C-9127FBD0A8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541E52-2810-B5EE-F26E-4662478287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D0E66-04A7-2098-D41A-3C11B7902F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142DD-EEF9-97D4-78B1-409BA65664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4FF4AF-70A3-A6AB-20E2-9564CFDF4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910CE7-C09B-2922-8BE6-25DE1F3FA4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23234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FD3DA57-ED24-5D05-75BC-7BE3EF59469A}"/>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1EAFD47A-F5AC-7C5A-3353-C8627D84FD82}"/>
              </a:ext>
            </a:extLst>
          </p:cNvPr>
          <p:cNvSpPr/>
          <p:nvPr>
            <p:ph type="title"/>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tkinson Hyperlegible Next"/>
                <a:ea typeface="Arial"/>
                <a:cs typeface="Arial"/>
                <a:sym typeface="Arial"/>
              </a:rPr>
              <a:t>What happens if you want to communicate with 15 temperature sensors?</a:t>
            </a:r>
            <a:endParaRPr sz="1100" b="0" i="0" u="none" strike="noStrike" cap="none" dirty="0">
              <a:solidFill>
                <a:srgbClr val="000000"/>
              </a:solidFill>
              <a:latin typeface="Atkinson Hyperlegible Next"/>
              <a:ea typeface="Arial"/>
              <a:cs typeface="Arial"/>
              <a:sym typeface="Arial"/>
            </a:endParaRPr>
          </a:p>
        </p:txBody>
      </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379E6E5-B909-8DBB-9356-1D0A49331E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5D2E71F0-3BC8-F7A8-8226-5500502243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7E8071F-D599-0B85-1A0C-D05F189034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67F08F8-E495-3293-8231-30567D0D61B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6F5211B6-398D-3B48-6347-22EF4F88723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30FFD4D-8480-6630-54C1-7A349C76FFA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5028715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21D344B-34C4-C335-DD49-4E27E5841F2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751D50D-A562-407A-425A-46CB493D754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BAF097B-4B41-24EB-93FD-D7BB11662E9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I2C</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4C88420D-27D3-6A7F-E259-B8AB9971B5F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5100363-33AA-F297-53EC-F698EC7DBB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85D6D7A-BAE9-F05C-245C-2AD52823284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AACA8BFC-6902-9915-431F-CDD0ABC690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88C3552A-315C-7AFD-45A0-B6597BC867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FFF52A-D67A-F7A3-668A-D4E22C0A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7DB60A1-F2DE-6038-F546-8D0E2D0B10C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F434972-6740-9A13-FB07-31A6D8234C0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4A0F022-25C1-15B9-440E-3B25D737B33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14255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487F3-F8C5-A4D7-FBE6-64BE928883A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357FDE-29D5-D17D-51AB-6167DAF284C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I2C bus consists of 2 wires: Serial Data (SDA) and Serial Clock (SCL). Instead of relying active push-pull transistors like SPI (which forces a line high or low), I2C uses an open-draw architecture with passive pull-up resistors.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When a microcontroller wants to send a logical 1, it simply “lets go” of the wire, and the physical pull-up resistor pulls the voltage to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cc</m:t>
                        </m:r>
                      </m:sub>
                    </m:sSub>
                  </m:oMath>
                </a14:m>
                <a:r>
                  <a:rPr lang="en-US" sz="2400" dirty="0">
                    <a:latin typeface="Atkinson Hyperlegible Next"/>
                    <a:ea typeface="Arial"/>
                    <a:cs typeface="Arial"/>
                    <a:sym typeface="Arial"/>
                  </a:rPr>
                  <a:t> (e.g., 3.3V). When it wants to send a logical 0, an internal transistor connects the wire to ground.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Why?</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If 2 devices accidentally talk at the exact same time, and one sends a 0 (pulls to ground), while the other sends a 1 (let’s go), the line safely goes to ground. There is no short circuit!</a:t>
                </a:r>
              </a:p>
            </p:txBody>
          </p:sp>
        </mc:Choice>
        <mc:Fallback xmlns="">
          <p:sp>
            <p:nvSpPr>
              <p:cNvPr id="118" name="Google Shape;118;p29">
                <a:extLst>
                  <a:ext uri="{FF2B5EF4-FFF2-40B4-BE49-F238E27FC236}">
                    <a16:creationId xmlns:a16="http://schemas.microsoft.com/office/drawing/2014/main" id="{1D357FDE-29D5-D17D-51AB-6167DAF284C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1528"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028D5C-EF47-A065-84B7-9A37F34515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84915D-79F7-C7EA-DDF4-820E489628F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C77E2A-ECB7-4349-CFE9-6C1226BB7C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234193-D738-D71E-4335-BD4FBB266A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DE2C0-A824-993B-E084-DBC20A4EB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CADFDB-5942-3297-5DF3-5708D85C49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DD364-E8B8-459B-20D8-F6962B3972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D1AEC0-6763-9B36-1651-A82B03C2D5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64537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84DF02-4701-ED5E-434F-8C62DEB83D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65134A-8C9D-26E7-934A-6E5D256A91D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BD7B67E-5ACC-AEF3-5CDC-3C4F91C27A9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551F54-CD75-F325-D74A-A484A37F77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391FDC-C7F4-99E5-0EA7-62410D182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8D305A-6BAA-F931-F3DD-5E6C61DE12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B607B4-2187-F9DF-DB29-249F6C3FD7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FF328-E131-F39C-CC4B-0BC683D7C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DD6BA5-DF87-8D67-85C8-A996B881DA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7F78193-1707-7908-BA06-B40E6782147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9201" y="1145610"/>
            <a:ext cx="11119236" cy="5105772"/>
          </a:xfrm>
          <a:prstGeom prst="rect">
            <a:avLst/>
          </a:prstGeom>
        </p:spPr>
      </p:pic>
    </p:spTree>
    <p:extLst>
      <p:ext uri="{BB962C8B-B14F-4D97-AF65-F5344CB8AC3E}">
        <p14:creationId xmlns:p14="http://schemas.microsoft.com/office/powerpoint/2010/main" val="26752059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F672AC-7FFD-4B4F-0053-6978511024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086514-791C-25F8-446D-D9D53D3231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6E730E-0980-D699-20E9-8BEB629F68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035AD2B-C0E5-3CD6-4815-457D08A66A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BF4D9-2A46-B81E-C9D5-2DB42F78AB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0DE947-4BAB-83AA-E0F6-6356BB9DD4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558268-D3A5-5422-F89E-D01A71DE6C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3F4A17-9C79-78C7-E37F-1F7D1A3B59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C110E5-0BA2-6222-8F03-97C0DC82D13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7C788A6C-9173-E3C2-5AA8-97894712E55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00375" y="1053754"/>
            <a:ext cx="6191250" cy="5373235"/>
          </a:xfrm>
          <a:prstGeom prst="rect">
            <a:avLst/>
          </a:prstGeom>
        </p:spPr>
      </p:pic>
    </p:spTree>
    <p:extLst>
      <p:ext uri="{BB962C8B-B14F-4D97-AF65-F5344CB8AC3E}">
        <p14:creationId xmlns:p14="http://schemas.microsoft.com/office/powerpoint/2010/main" val="17289970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E9971E-13D8-A1E6-F0ED-F7B23E3E45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FAD190-6CBF-E568-10EF-CE6FBEFABE1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Because there is no Chip Select wires, the Master must should a specific “Address” onto the bus. Every slave device listens. The protocol is strictly framed as: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latin typeface="Atkinson Hyperlegible Next"/>
                <a:ea typeface="Arial"/>
                <a:cs typeface="Arial"/>
                <a:sym typeface="Arial"/>
              </a:rPr>
              <a:t>START condition</a:t>
            </a:r>
            <a:r>
              <a:rPr lang="en-US" sz="2400" dirty="0">
                <a:latin typeface="Atkinson Hyperlegible Next"/>
                <a:ea typeface="Arial"/>
                <a:cs typeface="Arial"/>
                <a:sym typeface="Arial"/>
              </a:rPr>
              <a:t>: The Master pulls SDA low while SCL remains high. This violates normal data rules, acting as a wake-up for all devices.</a:t>
            </a:r>
          </a:p>
          <a:p>
            <a:pPr marL="342900">
              <a:lnSpc>
                <a:spcPct val="100000"/>
              </a:lnSpc>
              <a:spcBef>
                <a:spcPts val="0"/>
              </a:spcBef>
              <a:buSzPts val="3000"/>
            </a:pPr>
            <a:r>
              <a:rPr lang="en-US" sz="2400" b="1" dirty="0">
                <a:latin typeface="Atkinson Hyperlegible Next"/>
                <a:ea typeface="Arial"/>
                <a:cs typeface="Arial"/>
                <a:sym typeface="Arial"/>
              </a:rPr>
              <a:t>Addressing</a:t>
            </a:r>
            <a:r>
              <a:rPr lang="en-US" sz="2400" dirty="0">
                <a:latin typeface="Atkinson Hyperlegible Next"/>
                <a:ea typeface="Arial"/>
                <a:cs typeface="Arial"/>
                <a:sym typeface="Arial"/>
              </a:rPr>
              <a:t>: The Master transmits a 7-bit (or 10-bit) hardware </a:t>
            </a:r>
            <a:r>
              <a:rPr lang="en-US" sz="2400" dirty="0" err="1">
                <a:latin typeface="Atkinson Hyperlegible Next"/>
                <a:ea typeface="Arial"/>
                <a:cs typeface="Arial"/>
                <a:sym typeface="Arial"/>
              </a:rPr>
              <a:t>addres</a:t>
            </a:r>
            <a:r>
              <a:rPr lang="en-US" sz="2400" dirty="0">
                <a:latin typeface="Atkinson Hyperlegible Next"/>
                <a:ea typeface="Arial"/>
                <a:cs typeface="Arial"/>
                <a:sym typeface="Arial"/>
              </a:rPr>
              <a:t>, </a:t>
            </a:r>
            <a:r>
              <a:rPr lang="en-US" sz="2400" dirty="0" err="1">
                <a:latin typeface="Atkinson Hyperlegible Next"/>
                <a:ea typeface="Arial"/>
                <a:cs typeface="Arial"/>
                <a:sym typeface="Arial"/>
              </a:rPr>
              <a:t>folled</a:t>
            </a:r>
            <a:r>
              <a:rPr lang="en-US" sz="2400" dirty="0">
                <a:latin typeface="Atkinson Hyperlegible Next"/>
                <a:ea typeface="Arial"/>
                <a:cs typeface="Arial"/>
                <a:sym typeface="Arial"/>
              </a:rPr>
              <a:t> by a Read/Write direction bit.</a:t>
            </a:r>
          </a:p>
          <a:p>
            <a:pPr marL="342900">
              <a:lnSpc>
                <a:spcPct val="100000"/>
              </a:lnSpc>
              <a:spcBef>
                <a:spcPts val="0"/>
              </a:spcBef>
              <a:buSzPts val="3000"/>
            </a:pPr>
            <a:r>
              <a:rPr lang="en-US" sz="2400" b="1" dirty="0">
                <a:latin typeface="Atkinson Hyperlegible Next"/>
                <a:ea typeface="Arial"/>
                <a:cs typeface="Arial"/>
                <a:sym typeface="Arial"/>
              </a:rPr>
              <a:t>Acknowledge (ACK): </a:t>
            </a:r>
            <a:r>
              <a:rPr lang="en-US" sz="2400" dirty="0">
                <a:latin typeface="Atkinson Hyperlegible Next"/>
                <a:ea typeface="Arial"/>
                <a:cs typeface="Arial"/>
                <a:sym typeface="Arial"/>
              </a:rPr>
              <a:t>The specific Slave that matches the address pulls the SDA line low on the 9</a:t>
            </a:r>
            <a:r>
              <a:rPr lang="en-US" sz="2400" baseline="30000" dirty="0">
                <a:latin typeface="Atkinson Hyperlegible Next"/>
                <a:ea typeface="Arial"/>
                <a:cs typeface="Arial"/>
                <a:sym typeface="Arial"/>
              </a:rPr>
              <a:t>th</a:t>
            </a:r>
            <a:r>
              <a:rPr lang="en-US" sz="2400" dirty="0">
                <a:latin typeface="Atkinson Hyperlegible Next"/>
                <a:ea typeface="Arial"/>
                <a:cs typeface="Arial"/>
                <a:sym typeface="Arial"/>
              </a:rPr>
              <a:t> clock cycle to say “I am here”</a:t>
            </a:r>
          </a:p>
          <a:p>
            <a:pPr marL="342900">
              <a:lnSpc>
                <a:spcPct val="100000"/>
              </a:lnSpc>
              <a:spcBef>
                <a:spcPts val="0"/>
              </a:spcBef>
              <a:buSzPts val="3000"/>
            </a:pPr>
            <a:r>
              <a:rPr lang="en-US" sz="2400" b="1" dirty="0">
                <a:latin typeface="Atkinson Hyperlegible Next"/>
                <a:ea typeface="Arial"/>
                <a:cs typeface="Arial"/>
                <a:sym typeface="Arial"/>
              </a:rPr>
              <a:t>Data Transfer: </a:t>
            </a:r>
            <a:r>
              <a:rPr lang="en-US" sz="2400" dirty="0">
                <a:latin typeface="Atkinson Hyperlegible Next"/>
                <a:ea typeface="Arial"/>
                <a:cs typeface="Arial"/>
                <a:sym typeface="Arial"/>
              </a:rPr>
              <a:t>Butes are clocked across the SDA line</a:t>
            </a:r>
          </a:p>
          <a:p>
            <a:pPr marL="342900">
              <a:lnSpc>
                <a:spcPct val="100000"/>
              </a:lnSpc>
              <a:spcBef>
                <a:spcPts val="0"/>
              </a:spcBef>
              <a:buSzPts val="3000"/>
            </a:pPr>
            <a:r>
              <a:rPr lang="en-US" sz="2400" b="1" dirty="0">
                <a:latin typeface="Atkinson Hyperlegible Next"/>
                <a:ea typeface="Arial"/>
                <a:cs typeface="Arial"/>
                <a:sym typeface="Arial"/>
              </a:rPr>
              <a:t>STOP Condition: </a:t>
            </a:r>
            <a:r>
              <a:rPr lang="en-US" sz="2400" dirty="0">
                <a:latin typeface="Atkinson Hyperlegible Next"/>
                <a:ea typeface="Arial"/>
                <a:cs typeface="Arial"/>
                <a:sym typeface="Arial"/>
              </a:rPr>
              <a:t>The Master releases SDA while SCL is high, signaling the bus is free.</a:t>
            </a:r>
          </a:p>
        </p:txBody>
      </p:sp>
      <p:sp>
        <p:nvSpPr>
          <p:cNvPr id="119" name="Google Shape;119;p29">
            <a:extLst>
              <a:ext uri="{FF2B5EF4-FFF2-40B4-BE49-F238E27FC236}">
                <a16:creationId xmlns:a16="http://schemas.microsoft.com/office/drawing/2014/main" id="{8F3E41B2-88A7-5916-F31D-7DB6B765AA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628E1F-1AA7-256E-1384-65A804075C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77122E7-92DB-A6AD-213E-2E195575F0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A68C82-4892-9817-1154-1E2D1A4DB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8A589C-F79B-37BF-C994-1D5A2FB3A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C4B192-38EC-CA60-8758-E2B09B86A36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E255656-97A1-3E35-62F0-7ED594396F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24C7368-817C-7E14-C36E-99F75522D40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7186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6A3864-4F69-11BA-53FC-2912087497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3CBC1-7785-28EF-DB97-973C833246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90C082-325F-EF50-430C-78F7525E22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D7A86B-22A4-7413-443C-8B39BE5648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CB6B79-A899-83F2-6284-D4ED53BBAB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B5EA53-CBE5-ED60-A230-D261570A86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90389-EAA8-F085-F3F4-8E4D238B5E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C3DBA3-198A-C4A3-DF54-8DD0043491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D30128-EDC6-AEAD-553F-9710289F0F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B029C68A-1543-011F-D3B6-A4CE4200B82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1854" y="1072273"/>
            <a:ext cx="9168291" cy="2927348"/>
          </a:xfrm>
          <a:prstGeom prst="rect">
            <a:avLst/>
          </a:prstGeom>
        </p:spPr>
      </p:pic>
      <p:pic>
        <p:nvPicPr>
          <p:cNvPr id="7" name="Graphic 6">
            <a:extLst>
              <a:ext uri="{FF2B5EF4-FFF2-40B4-BE49-F238E27FC236}">
                <a16:creationId xmlns:a16="http://schemas.microsoft.com/office/drawing/2014/main" id="{1A4A4412-5944-0B4E-16E8-7FDCA80BC15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46256" y="4203673"/>
            <a:ext cx="9798109" cy="1362069"/>
          </a:xfrm>
          <a:prstGeom prst="rect">
            <a:avLst/>
          </a:prstGeom>
        </p:spPr>
      </p:pic>
      <p:sp>
        <p:nvSpPr>
          <p:cNvPr id="8" name="Google Shape;118;p29">
            <a:extLst>
              <a:ext uri="{FF2B5EF4-FFF2-40B4-BE49-F238E27FC236}">
                <a16:creationId xmlns:a16="http://schemas.microsoft.com/office/drawing/2014/main" id="{5C0D0C41-61BB-1A43-AF16-5292C2E3741F}"/>
              </a:ext>
            </a:extLst>
          </p:cNvPr>
          <p:cNvSpPr txBox="1">
            <a:spLocks noGrp="1"/>
          </p:cNvSpPr>
          <p:nvPr>
            <p:ph type="body" idx="1"/>
          </p:nvPr>
        </p:nvSpPr>
        <p:spPr>
          <a:xfrm>
            <a:off x="376809" y="5674257"/>
            <a:ext cx="11177401" cy="8117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R/W=0: The I2C master writes (transmits) data to the addressed slave.</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R/W=1: The I2C master reads (receives) data from the slave.</a:t>
            </a:r>
          </a:p>
        </p:txBody>
      </p:sp>
    </p:spTree>
    <p:extLst>
      <p:ext uri="{BB962C8B-B14F-4D97-AF65-F5344CB8AC3E}">
        <p14:creationId xmlns:p14="http://schemas.microsoft.com/office/powerpoint/2010/main" val="11647384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AEDD3C-36CE-F798-2D34-19995D124E7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006DE9-3D78-FFFD-23E6-B477CB7EE29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An extra clock cycle dedicated for acknowledgement (</a:t>
            </a:r>
            <a:r>
              <a:rPr lang="en-US" sz="2400" b="1" dirty="0"/>
              <a:t>ACK</a:t>
            </a:r>
            <a:r>
              <a:rPr lang="en-US" sz="2400" dirty="0"/>
              <a:t>) is inserted after each byte.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If the </a:t>
            </a:r>
            <a:r>
              <a:rPr lang="en-US" sz="2400" b="1" dirty="0"/>
              <a:t>ACK</a:t>
            </a:r>
            <a:r>
              <a:rPr lang="en-US" sz="2400" dirty="0"/>
              <a:t> bit is inserted by the slave after the first byte from the master, it is followed by n bits of data from the transmitter (master or slave depending on the R/W bit).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n is a number from 1-8 determined by the bit count (</a:t>
            </a:r>
            <a:r>
              <a:rPr lang="en-US" sz="2400" b="1" dirty="0"/>
              <a:t>BC</a:t>
            </a:r>
            <a:r>
              <a:rPr lang="en-US" sz="2400" dirty="0"/>
              <a:t>) field of the </a:t>
            </a:r>
            <a:r>
              <a:rPr lang="en-US" sz="2400" b="1" dirty="0"/>
              <a:t>I2CMDR</a:t>
            </a:r>
            <a:r>
              <a:rPr lang="en-US" sz="2400" dirty="0"/>
              <a: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After the data bits have been transferred, the receiver inserts an ACK bit.</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We can have a 10-bit slave address. The problem is that we have a maximum of 8 bits that we send at a time!</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339E387-5944-AE70-BEE4-8EB52E34C54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32EDE0-99EC-80EA-64F6-C87F629D762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600181-BF00-DB2D-E878-11CC4D0D776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010EFD-97E0-85C5-9CA5-A9569898441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9C965B-815D-8CB1-51C2-17F70DC865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7016E4-1A2E-1E14-068B-22374F8EE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E7CBDE-B0B6-F2C2-94C4-9C388E1318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83E08F-08C5-5935-D307-429A83FE36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39925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E392E1-612C-C130-1945-EF331F96F1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4A05257-8C25-10FD-41A6-F0BF5F22CEF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DBBBE2-A23D-CEB2-B0F7-D5174A08BD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9DAA26B-288A-57B7-B8F7-A47772DFFB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DDE3A1-A9B1-5BEC-EACE-6EC6F4EC64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74DB5E-85E6-1D6D-3F00-C5CC2CF3A75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1275BB-3821-6EF9-FE62-ABF5096B0B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91A37C-DD8E-55C3-8CC2-183B53C3BA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9B64D-7D92-B705-7F64-3BBD27BBA7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53F754A7-3686-6B9D-9B12-97F1F3E76F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1885" y="3047999"/>
            <a:ext cx="11508231" cy="1644033"/>
          </a:xfrm>
          <a:prstGeom prst="rect">
            <a:avLst/>
          </a:prstGeom>
        </p:spPr>
      </p:pic>
    </p:spTree>
    <p:extLst>
      <p:ext uri="{BB962C8B-B14F-4D97-AF65-F5344CB8AC3E}">
        <p14:creationId xmlns:p14="http://schemas.microsoft.com/office/powerpoint/2010/main" val="30572792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BECFD-9724-832F-7DA6-5F4F59F51C6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8DD1D0-1783-6E64-BD44-26CBD0D5F2D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I2C allows </a:t>
            </a:r>
            <a:r>
              <a:rPr lang="en-US" sz="2400"/>
              <a:t>multiple MCU </a:t>
            </a:r>
            <a:r>
              <a:rPr lang="en-US" sz="2400" dirty="0"/>
              <a:t>to exist on the same two wires, potentially attempting a START condition simultaneously.</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Both Masters begin clocking out their addresses bit-by-bit, monitoring the actual voltage on the SDA line.</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If Master A transmits a 1 (lets go) but physically measures a 0 on the SDA line, it determines another Master (Master B) is pulling it low.</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Master A instantly realizes it has lost arbitration, ceases transmission, and returns to slave/listening mode without corrupting Master B's packet. </a:t>
            </a:r>
          </a:p>
        </p:txBody>
      </p:sp>
      <p:sp>
        <p:nvSpPr>
          <p:cNvPr id="119" name="Google Shape;119;p29">
            <a:extLst>
              <a:ext uri="{FF2B5EF4-FFF2-40B4-BE49-F238E27FC236}">
                <a16:creationId xmlns:a16="http://schemas.microsoft.com/office/drawing/2014/main" id="{A5FDE61E-A420-3291-E4E6-9D747E1F58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4E075C7-BD88-26A7-8EEA-EDC5CA3EC9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E763B4-A8D9-20C6-BDAF-1ABFD1180A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3E09BC-9EEC-1BF7-3F23-CE20579623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281C0E-4E25-712E-A3BB-8C1ED32A07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2344-305F-8243-B4B9-B057EA3082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0F9952-1400-EAC4-B4CF-5C4E26E2C0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3377F-3447-5A08-619A-C7EBBE75A1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59052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D4377E-6022-DF57-4F54-BDC8BB58376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C7E5EC-E9C4-6EE7-3246-CC93AB2A4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3832A8-CC55-1448-B1BB-E9F074EE807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F0413C-DFDA-C427-2DC8-3703C0BBFE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C57DF7-BD8B-1F6D-B38C-50F7EC2F6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9751AE-3C29-7FB3-0560-1283C1915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81074-2FD7-9EDC-FA44-D4BF9D74BB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42D78A-E902-68E0-42BE-4C1CB667F4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5078D0-1C76-5CE1-D6EA-457598B614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61188845-24DF-5C13-BC45-4F51B68291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760" y="1180443"/>
            <a:ext cx="9882125" cy="5146940"/>
          </a:xfrm>
          <a:prstGeom prst="rect">
            <a:avLst/>
          </a:prstGeom>
        </p:spPr>
      </p:pic>
    </p:spTree>
    <p:extLst>
      <p:ext uri="{BB962C8B-B14F-4D97-AF65-F5344CB8AC3E}">
        <p14:creationId xmlns:p14="http://schemas.microsoft.com/office/powerpoint/2010/main" val="34572699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D7BF95E-8667-4A44-BA67-BD4F57432EFE}"/>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45719416-3BD5-E383-A0CB-E73179505DAD}"/>
              </a:ext>
            </a:extLst>
          </p:cNvPr>
          <p:cNvSpPr/>
          <p:nvPr>
            <p:ph type="title"/>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tkinson Hyperlegible Next"/>
                <a:ea typeface="Arial"/>
                <a:cs typeface="Arial"/>
                <a:sym typeface="Arial"/>
              </a:rPr>
              <a:t>If you have 2 masters sending Serial Clock (SCL) signals what is a problem?</a:t>
            </a:r>
            <a:endParaRPr sz="1100" b="0" i="0" u="none" strike="noStrike" cap="none" dirty="0">
              <a:solidFill>
                <a:srgbClr val="000000"/>
              </a:solidFill>
              <a:latin typeface="Atkinson Hyperlegible Next"/>
              <a:ea typeface="Arial"/>
              <a:cs typeface="Arial"/>
              <a:sym typeface="Arial"/>
            </a:endParaRPr>
          </a:p>
        </p:txBody>
      </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F3A6ACC7-D95C-0659-DC85-D61DF2001C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BFB8DCC-EEAF-87C0-FF44-DB89671685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94B86FB-033C-E635-CF45-FBE1DCFEA2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1FCC97C0-4059-7882-76D8-D1740F00B1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46BB1CB7-6A4D-56EC-F957-7B965616A55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07D31D6-E7C2-6977-4F50-7952BC02DD5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5319315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4A41A8-CD52-99E7-AB74-235F610D15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463925-3294-DFB3-2070-A69BA4B88F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tkinson Hyperlegible Next"/>
                <a:ea typeface="Arial"/>
                <a:cs typeface="Arial"/>
                <a:sym typeface="Arial"/>
              </a:rPr>
              <a:t>The microcontrollers on the bus can only drive the SCL line as such:</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latin typeface="Atkinson Hyperlegible Next"/>
                <a:ea typeface="Arial"/>
                <a:cs typeface="Arial"/>
                <a:sym typeface="Arial"/>
              </a:rPr>
              <a:t>Drive LOW</a:t>
            </a:r>
            <a:r>
              <a:rPr lang="en-US" sz="2400" dirty="0">
                <a:latin typeface="Atkinson Hyperlegible Next"/>
                <a:ea typeface="Arial"/>
                <a:cs typeface="Arial"/>
                <a:sym typeface="Arial"/>
              </a:rPr>
              <a:t>: They can turn on an internal transistor to connect the SCL line to ground (0V)</a:t>
            </a:r>
          </a:p>
          <a:p>
            <a:pPr marL="342900">
              <a:lnSpc>
                <a:spcPct val="100000"/>
              </a:lnSpc>
              <a:spcBef>
                <a:spcPts val="0"/>
              </a:spcBef>
              <a:buSzPts val="3000"/>
            </a:pPr>
            <a:r>
              <a:rPr lang="en-US" sz="2400" b="1" dirty="0">
                <a:latin typeface="Atkinson Hyperlegible Next"/>
                <a:ea typeface="Arial"/>
                <a:cs typeface="Arial"/>
                <a:sym typeface="Arial"/>
              </a:rPr>
              <a:t>Release HIGH</a:t>
            </a:r>
            <a:r>
              <a:rPr lang="en-US" sz="2400" dirty="0">
                <a:latin typeface="Atkinson Hyperlegible Next"/>
                <a:ea typeface="Arial"/>
                <a:cs typeface="Arial"/>
                <a:sym typeface="Arial"/>
              </a:rPr>
              <a:t>: They can turn </a:t>
            </a:r>
            <a:r>
              <a:rPr lang="en-US" sz="2400" b="1" i="1" dirty="0">
                <a:latin typeface="Atkinson Hyperlegible Next"/>
                <a:ea typeface="Arial"/>
                <a:cs typeface="Arial"/>
                <a:sym typeface="Arial"/>
              </a:rPr>
              <a:t>off</a:t>
            </a:r>
            <a:r>
              <a:rPr lang="en-US" sz="2400" dirty="0">
                <a:latin typeface="Atkinson Hyperlegible Next"/>
                <a:ea typeface="Arial"/>
                <a:cs typeface="Arial"/>
                <a:sym typeface="Arial"/>
              </a:rPr>
              <a:t> the transistor, letting go of the line. They cannot force the line high; they rely entirely on the pull-up resistor to pull the voltage back up</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Because of this, the SCL line acts as a massive physical </a:t>
            </a:r>
            <a:r>
              <a:rPr lang="en-US" sz="2400" b="1" dirty="0">
                <a:latin typeface="Atkinson Hyperlegible Next"/>
                <a:ea typeface="Arial"/>
                <a:cs typeface="Arial"/>
                <a:sym typeface="Arial"/>
              </a:rPr>
              <a:t>AND</a:t>
            </a:r>
            <a:r>
              <a:rPr lang="en-US" sz="2400" dirty="0">
                <a:latin typeface="Atkinson Hyperlegible Next"/>
                <a:ea typeface="Arial"/>
                <a:cs typeface="Arial"/>
                <a:sym typeface="Arial"/>
              </a:rPr>
              <a:t> gate.</a:t>
            </a:r>
          </a:p>
          <a:p>
            <a:pPr marL="342900">
              <a:lnSpc>
                <a:spcPct val="100000"/>
              </a:lnSpc>
              <a:spcBef>
                <a:spcPts val="0"/>
              </a:spcBef>
              <a:buSzPts val="3000"/>
            </a:pPr>
            <a:r>
              <a:rPr lang="en-US" sz="2400" dirty="0">
                <a:latin typeface="Atkinson Hyperlegible Next"/>
                <a:ea typeface="Arial"/>
                <a:cs typeface="Arial"/>
                <a:sym typeface="Arial"/>
              </a:rPr>
              <a:t>The SCL line will only transition HIGH if </a:t>
            </a:r>
            <a:r>
              <a:rPr lang="en-US" sz="2400" b="1" dirty="0">
                <a:latin typeface="Atkinson Hyperlegible Next"/>
                <a:ea typeface="Arial"/>
                <a:cs typeface="Arial"/>
                <a:sym typeface="Arial"/>
              </a:rPr>
              <a:t>ALL</a:t>
            </a:r>
            <a:r>
              <a:rPr lang="en-US" sz="2400" dirty="0">
                <a:latin typeface="Atkinson Hyperlegible Next"/>
                <a:ea typeface="Arial"/>
                <a:cs typeface="Arial"/>
                <a:sym typeface="Arial"/>
              </a:rPr>
              <a:t> devices let go of it.</a:t>
            </a:r>
          </a:p>
          <a:p>
            <a:pPr marL="342900">
              <a:lnSpc>
                <a:spcPct val="100000"/>
              </a:lnSpc>
              <a:spcBef>
                <a:spcPts val="0"/>
              </a:spcBef>
              <a:buSzPts val="3000"/>
            </a:pPr>
            <a:r>
              <a:rPr lang="en-US" sz="2400" dirty="0">
                <a:latin typeface="Atkinson Hyperlegible Next"/>
                <a:ea typeface="Arial"/>
                <a:cs typeface="Arial"/>
                <a:sym typeface="Arial"/>
              </a:rPr>
              <a:t>The SCL line will instantly transition LOW if </a:t>
            </a:r>
            <a:r>
              <a:rPr lang="en-US" sz="2400" b="1" dirty="0">
                <a:latin typeface="Atkinson Hyperlegible Next"/>
                <a:ea typeface="Arial"/>
                <a:cs typeface="Arial"/>
                <a:sym typeface="Arial"/>
              </a:rPr>
              <a:t>ANY</a:t>
            </a:r>
            <a:r>
              <a:rPr lang="en-US" sz="2400" dirty="0">
                <a:latin typeface="Atkinson Hyperlegible Next"/>
                <a:ea typeface="Arial"/>
                <a:cs typeface="Arial"/>
                <a:sym typeface="Arial"/>
              </a:rPr>
              <a:t> device pulls it to ground.</a:t>
            </a:r>
          </a:p>
        </p:txBody>
      </p:sp>
      <p:sp>
        <p:nvSpPr>
          <p:cNvPr id="119" name="Google Shape;119;p29">
            <a:extLst>
              <a:ext uri="{FF2B5EF4-FFF2-40B4-BE49-F238E27FC236}">
                <a16:creationId xmlns:a16="http://schemas.microsoft.com/office/drawing/2014/main" id="{E959204E-565B-D1B5-164E-DFDB9828F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76316FF-FACF-B41C-011A-B29BB33EF7D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EB4395-8BF9-CAD0-9A68-22A4877AA2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50C7B0-4A70-AACE-FE33-6224AB6479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632AD2-DD73-A222-8583-651D398636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8F1484-5986-8E5E-6E1D-6087540D03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9364C-440E-B595-A427-FFBCC85D13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3F227-5AFF-47F2-5D10-F84AC8623E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27072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F126F-ABE0-53FE-4040-5DD70C8F73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43EF024-AE49-44D7-3D0E-BDBE542A198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tkinson Hyperlegible Next"/>
                    <a:ea typeface="Arial"/>
                    <a:cs typeface="Arial"/>
                    <a:sym typeface="Arial"/>
                  </a:rPr>
                  <a:t>Masters attempt to begin their clock cycles by pulling the SCL line LOW.</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Whichever Master pulls the line LOW first instantly forces the entire physical bus to 0V.</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other Masters, seeing the line go LOW, immediately synchronize its internal state machine to this falling edge and beings counting its own programmed LOW period</a:t>
                </a:r>
                <a14:m>
                  <m:oMath xmlns:m="http://schemas.openxmlformats.org/officeDocument/2006/math">
                    <a:fld id="{825F15A7-03F4-43D7-82C5-3E23DA2F108C}" type="mathplaceholder">
                      <a:rPr lang="en-US" sz="1800" i="1" smtClean="0">
                        <a:latin typeface="Cambria Math" panose="02040503050406030204" pitchFamily="18" charset="0"/>
                        <a:cs typeface="Arial"/>
                        <a:sym typeface="Arial"/>
                      </a:rPr>
                      <a:t>.</a:t>
                    </a:fld>
                  </m:oMath>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synchronized LOW period is strictly determined by the Master with the </a:t>
                </a:r>
                <a:r>
                  <a:rPr lang="en-US" sz="1800" b="1" dirty="0">
                    <a:latin typeface="Atkinson Hyperlegible Next"/>
                    <a:ea typeface="Arial"/>
                    <a:cs typeface="Arial"/>
                    <a:sym typeface="Arial"/>
                  </a:rPr>
                  <a:t>longest</a:t>
                </a:r>
                <a:r>
                  <a:rPr lang="en-US" sz="1800" dirty="0">
                    <a:latin typeface="Atkinson Hyperlegible Next"/>
                    <a:ea typeface="Arial"/>
                    <a:cs typeface="Arial"/>
                    <a:sym typeface="Arial"/>
                  </a:rPr>
                  <a:t> programmed LOW period.</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synchronized HIGH period is strictly determined by the Master with the </a:t>
                </a:r>
                <a:r>
                  <a:rPr lang="en-US" sz="1800" b="1" dirty="0">
                    <a:latin typeface="Atkinson Hyperlegible Next"/>
                    <a:ea typeface="Arial"/>
                    <a:cs typeface="Arial"/>
                    <a:sym typeface="Arial"/>
                  </a:rPr>
                  <a:t>shortest</a:t>
                </a:r>
                <a:r>
                  <a:rPr lang="en-US" sz="1800" dirty="0">
                    <a:latin typeface="Atkinson Hyperlegible Next"/>
                    <a:ea typeface="Arial"/>
                    <a:cs typeface="Arial"/>
                    <a:sym typeface="Arial"/>
                  </a:rPr>
                  <a:t> programmed HIGH period.</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If a device pulls down the clock line for a longer time, the result is that all clock generators must enter the wait state. In this way, a slave slows down a fast master, and the slow device creates enough time to store a received byte or to prepare a byte to be transmitted.</a:t>
                </a:r>
              </a:p>
            </p:txBody>
          </p:sp>
        </mc:Choice>
        <mc:Fallback xmlns="">
          <p:sp>
            <p:nvSpPr>
              <p:cNvPr id="118" name="Google Shape;118;p29">
                <a:extLst>
                  <a:ext uri="{FF2B5EF4-FFF2-40B4-BE49-F238E27FC236}">
                    <a16:creationId xmlns:a16="http://schemas.microsoft.com/office/drawing/2014/main" id="{643EF024-AE49-44D7-3D0E-BDBE542A198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4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3FBB912-3BE1-0FDC-0F8D-75F17807F4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753FFA-1062-4F7F-C60E-4F17B9216E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671A65-398A-4E29-D9CF-2D806A346A5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AB7BC8-64B4-8E68-C76C-0246C7DE4C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BA12BC-D4AB-639E-6A19-7D09BC8BE6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E3CBD1-9AE4-6CC7-3BF7-78BDF5533B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8DF4DC-5B6B-F42C-2A96-D7B2FE5FA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E81CC8-3FD2-8E53-EBDC-72FAEEE66C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134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5744D-8F64-9B67-7C52-05D0B3EA7A0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833CF3F-84C2-34A0-2BA3-F9A8B80F23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C10439-E04A-9BA5-3801-684146A10E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93BF50D-F511-4BE4-3D97-103ADE76195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019C62-854F-AE33-B3C6-E7D14E4E48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DD070C-1E94-C3FD-5B89-2C48DF2612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649661-4C33-DF20-5644-DD94DD874D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B21825C-F709-ED5C-85D5-10058831D1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E6DA0-F44D-7571-BF30-5345E2AEA9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9F6B071-B715-7FBB-0E30-D060E408D0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126" y="1205042"/>
            <a:ext cx="11281394" cy="5097742"/>
          </a:xfrm>
          <a:prstGeom prst="rect">
            <a:avLst/>
          </a:prstGeom>
        </p:spPr>
      </p:pic>
    </p:spTree>
    <p:extLst>
      <p:ext uri="{BB962C8B-B14F-4D97-AF65-F5344CB8AC3E}">
        <p14:creationId xmlns:p14="http://schemas.microsoft.com/office/powerpoint/2010/main" val="17264475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C84DABF-1A65-C6B6-59B9-E38B0BF872E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8BFBCFF-B319-7084-60B4-F40A9B4A3E3F}"/>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DFEEFAD1-FD07-DA27-3395-E9F381198CE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I2C Code</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C1953101-C1B4-8CB0-EDF2-2B63B55E05F5}"/>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27C0305-474B-0245-D124-55042940E23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A189254-DAC8-83C7-CCA9-AA7F71F3AA1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7C3506FF-25B6-D07B-BC27-27559D006FF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47443F8-13EA-9F99-6347-86686C2F1BE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9DC57D0-865F-E52A-7998-32204E9C6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1ABA7B5-D926-F07C-904B-3086E1D2853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EE29D37-31CC-3B06-AD9F-5E2CFB3184D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E25C5FF-1F7B-1CC5-6931-30EDADB0D41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0630841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AB9445-A2D5-5FC1-BDC2-BEBA1C2E88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64F7AAD-1DF6-2CFB-9ED5-A6E399F504C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I2CA_Init(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1. Set the </a:t>
            </a:r>
            <a:r>
              <a:rPr lang="en-US" sz="1400" dirty="0" err="1">
                <a:solidFill>
                  <a:srgbClr val="3F7F5F"/>
                </a:solidFill>
                <a:latin typeface="Consolas" panose="020B0609020204030204" pitchFamily="49" charset="0"/>
              </a:rPr>
              <a:t>Prescaler</a:t>
            </a:r>
            <a:r>
              <a:rPr lang="en-US" sz="1400" dirty="0">
                <a:solidFill>
                  <a:srgbClr val="3F7F5F"/>
                </a:solidFill>
                <a:latin typeface="Consolas" panose="020B0609020204030204" pitchFamily="49" charset="0"/>
              </a:rPr>
              <a:t> to generate the Module Clock</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I2CPSC</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16;   </a:t>
            </a:r>
            <a:r>
              <a:rPr lang="en-US" sz="1400" dirty="0">
                <a:solidFill>
                  <a:srgbClr val="3F7F5F"/>
                </a:solidFill>
                <a:latin typeface="Consolas" panose="020B0609020204030204" pitchFamily="49" charset="0"/>
              </a:rPr>
              <a:t>// Divides high-speed system clock down to ~7-12 MHz</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2. Define the exact characteristics of the SCL wave</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I2CCLKL</a:t>
            </a:r>
            <a:r>
              <a:rPr lang="en-US" sz="1400" dirty="0">
                <a:solidFill>
                  <a:srgbClr val="000000"/>
                </a:solidFill>
                <a:latin typeface="Consolas" panose="020B0609020204030204" pitchFamily="49" charset="0"/>
              </a:rPr>
              <a:t> = 10;      </a:t>
            </a:r>
            <a:r>
              <a:rPr lang="en-US" sz="1400" dirty="0">
                <a:solidFill>
                  <a:srgbClr val="3F7F5F"/>
                </a:solidFill>
                <a:latin typeface="Consolas" panose="020B0609020204030204" pitchFamily="49" charset="0"/>
              </a:rPr>
              <a:t>// Defines the duration of the SCL LOW period</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I2CCLKH</a:t>
            </a:r>
            <a:r>
              <a:rPr lang="en-US" sz="1400" dirty="0">
                <a:solidFill>
                  <a:srgbClr val="000000"/>
                </a:solidFill>
                <a:latin typeface="Consolas" panose="020B0609020204030204" pitchFamily="49" charset="0"/>
              </a:rPr>
              <a:t> = 5;       </a:t>
            </a:r>
            <a:r>
              <a:rPr lang="en-US" sz="1400" dirty="0">
                <a:solidFill>
                  <a:srgbClr val="3F7F5F"/>
                </a:solidFill>
                <a:latin typeface="Consolas" panose="020B0609020204030204" pitchFamily="49" charset="0"/>
              </a:rPr>
              <a:t>// Defines the duration of the SCL HIGH period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3. Enable Interrupts for critical network events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I2CIER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0x24; </a:t>
            </a:r>
            <a:r>
              <a:rPr lang="en-US" sz="1400" dirty="0">
                <a:solidFill>
                  <a:srgbClr val="3F7F5F"/>
                </a:solidFill>
                <a:latin typeface="Consolas" panose="020B0609020204030204" pitchFamily="49" charset="0"/>
              </a:rPr>
              <a:t>// Enable Start Condition Detected (SCD) &amp; Register Access Ready (ARDY)</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4. Take the I2C module out of reset</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I2CMDR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0x0020;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5. Enable the 16-level Transmit and Receive FIFOs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I2CFFTX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0x6000; </a:t>
            </a:r>
            <a:r>
              <a:rPr lang="en-US" sz="1400" dirty="0">
                <a:solidFill>
                  <a:srgbClr val="3F7F5F"/>
                </a:solidFill>
                <a:latin typeface="Consolas" panose="020B0609020204030204" pitchFamily="49" charset="0"/>
              </a:rPr>
              <a:t>// Enable FIFO mode and TXFIFO</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I2CFFRX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0x2040; </a:t>
            </a:r>
            <a:r>
              <a:rPr lang="en-US" sz="1400" dirty="0">
                <a:solidFill>
                  <a:srgbClr val="3F7F5F"/>
                </a:solidFill>
                <a:latin typeface="Consolas" panose="020B0609020204030204" pitchFamily="49" charset="0"/>
              </a:rPr>
              <a:t>// Enable RXFIFO and clear interrupt flags</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a typeface="Arial"/>
              <a:cs typeface="Arial"/>
              <a:sym typeface="Arial"/>
            </a:endParaRPr>
          </a:p>
          <a:p>
            <a:pPr marL="114300" indent="0">
              <a:spcBef>
                <a:spcPts val="0"/>
              </a:spcBef>
              <a:buNone/>
            </a:pPr>
            <a:r>
              <a:rPr lang="en-US" sz="1400" dirty="0">
                <a:latin typeface="Atkinson Hyperlegible Next"/>
                <a:ea typeface="Arial"/>
                <a:cs typeface="Arial"/>
                <a:sym typeface="Arial"/>
              </a:rPr>
              <a:t>Notice that </a:t>
            </a:r>
            <a:r>
              <a:rPr lang="en-US" sz="1400" dirty="0">
                <a:solidFill>
                  <a:srgbClr val="0000C0"/>
                </a:solidFill>
                <a:latin typeface="Consolas" panose="020B0609020204030204" pitchFamily="49" charset="0"/>
              </a:rPr>
              <a:t>I2CCLKL</a:t>
            </a:r>
            <a:r>
              <a:rPr lang="en-US" sz="1400" dirty="0">
                <a:latin typeface="Atkinson Hyperlegible Next"/>
                <a:ea typeface="Arial"/>
                <a:cs typeface="Arial"/>
                <a:sym typeface="Arial"/>
              </a:rPr>
              <a:t> (10) is mathematically larger than </a:t>
            </a:r>
            <a:r>
              <a:rPr lang="en-US" sz="1400" dirty="0">
                <a:solidFill>
                  <a:srgbClr val="0000C0"/>
                </a:solidFill>
                <a:latin typeface="Consolas" panose="020B0609020204030204" pitchFamily="49" charset="0"/>
              </a:rPr>
              <a:t>I2CCLKH</a:t>
            </a:r>
            <a:r>
              <a:rPr lang="en-US" sz="1400" dirty="0">
                <a:latin typeface="Atkinson Hyperlegible Next"/>
                <a:ea typeface="Arial"/>
                <a:cs typeface="Arial"/>
                <a:sym typeface="Arial"/>
              </a:rPr>
              <a:t> (5). Because the physical bus relies on passive pull-up resistors to transition HIGH, the rise-time is inherently slower, compared to the transistors, than the fall-time (which is actively pulled LOW by a transistor).</a:t>
            </a:r>
          </a:p>
        </p:txBody>
      </p:sp>
      <p:sp>
        <p:nvSpPr>
          <p:cNvPr id="119" name="Google Shape;119;p29">
            <a:extLst>
              <a:ext uri="{FF2B5EF4-FFF2-40B4-BE49-F238E27FC236}">
                <a16:creationId xmlns:a16="http://schemas.microsoft.com/office/drawing/2014/main" id="{895F2CF9-F9F3-853C-93A6-089F5EECEC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E18208-B2D2-2EA9-4104-1A4E6257BB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 Init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8F12A4-E1E6-5C24-9100-6B1E328460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654F67-44EB-984F-1CDC-AA66144EBF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7D704D-26FA-6372-2EEE-C3B7BE81D5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F22221-BB8D-4ABD-3F2C-9DF51F5C2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23AE3F-1633-9D7C-DC38-12ABF363C7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B159FC-EA3B-C2C2-22D6-327F6226D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14404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7F4231-B65F-212C-0CA4-631254DC90F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F088E7-1145-C609-7933-790D8E932D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nn-NO" sz="1000" dirty="0">
                <a:solidFill>
                  <a:srgbClr val="005032"/>
                </a:solidFill>
                <a:latin typeface="Consolas" panose="020B0609020204030204" pitchFamily="49" charset="0"/>
              </a:rPr>
              <a:t>Uint16</a:t>
            </a:r>
            <a:r>
              <a:rPr lang="nn-NO" sz="1000" dirty="0">
                <a:solidFill>
                  <a:srgbClr val="000000"/>
                </a:solidFill>
                <a:latin typeface="Consolas" panose="020B0609020204030204" pitchFamily="49" charset="0"/>
              </a:rPr>
              <a:t> I2CA_WriteData(</a:t>
            </a:r>
            <a:r>
              <a:rPr lang="nn-NO" sz="1000" dirty="0">
                <a:solidFill>
                  <a:srgbClr val="7F0055"/>
                </a:solidFill>
                <a:latin typeface="Consolas" panose="020B0609020204030204" pitchFamily="49" charset="0"/>
              </a:rPr>
              <a:t>struct</a:t>
            </a:r>
            <a:r>
              <a:rPr lang="nn-NO" sz="1000" dirty="0">
                <a:solidFill>
                  <a:srgbClr val="000000"/>
                </a:solidFill>
                <a:latin typeface="Consolas" panose="020B0609020204030204" pitchFamily="49" charset="0"/>
              </a:rPr>
              <a:t> </a:t>
            </a:r>
            <a:r>
              <a:rPr lang="nn-NO" sz="1000" dirty="0">
                <a:solidFill>
                  <a:srgbClr val="005032"/>
                </a:solidFill>
                <a:latin typeface="Consolas" panose="020B0609020204030204" pitchFamily="49" charset="0"/>
              </a:rPr>
              <a:t>I2CMSG</a:t>
            </a:r>
            <a:r>
              <a:rPr lang="nn-NO" sz="1000" dirty="0">
                <a:solidFill>
                  <a:srgbClr val="000000"/>
                </a:solidFill>
                <a:latin typeface="Consolas" panose="020B0609020204030204" pitchFamily="49" charset="0"/>
              </a:rPr>
              <a:t> *msg)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1. Verify if the previous message completed?</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STP</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I2C_STP_NOT_READY_ERROR;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Verify if another Master using the bus?</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I2CSTR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BB</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I2C_BUS_BUSY_ERROR;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3. Broadcast the Slave's address (EEPROM is typically 0x50)</a:t>
            </a:r>
          </a:p>
          <a:p>
            <a:pPr marL="114300" indent="0">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I2CSAR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SlaveAddress</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 </a:t>
            </a:r>
            <a:endParaRPr lang="en-US" sz="1000" dirty="0">
              <a:solidFill>
                <a:srgbClr val="000000"/>
              </a:solidFill>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Define exactly how many bytes we will transmit</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bytes for the EEPROM memory address + the actual data bytes)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I2CCNT</a:t>
            </a:r>
            <a:r>
              <a:rPr lang="en-US" sz="1000" dirty="0">
                <a:solidFill>
                  <a:srgbClr val="000000"/>
                </a:solidFill>
                <a:latin typeface="Consolas" panose="020B0609020204030204" pitchFamily="49" charset="0"/>
              </a:rPr>
              <a:t> = 2 +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Push the EEPROM memory pointer into the Transmit FIFO (think of the Slave's address as the apartment address and this as setting the specific apartment number we want to write to)</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MemoryHighAddr</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MemoryLowAddr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5. Push the actual data payload into the Transmit FIFO</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for</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 0;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&lt;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MsgBuffer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6. Command the hardware to execute the transaction</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0x6E20 sets: FREE (run during debug), START, STOP, MASTER, TRANSMIT, and ENABLE bits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0x6E20;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I2C_SUCCESS;</a:t>
            </a:r>
          </a:p>
          <a:p>
            <a:pPr marL="114300" indent="0" algn="l">
              <a:spcBef>
                <a:spcPts val="0"/>
              </a:spcBef>
              <a:buNone/>
            </a:pPr>
            <a:r>
              <a:rPr lang="en-US" sz="1000" dirty="0">
                <a:solidFill>
                  <a:srgbClr val="000000"/>
                </a:solidFill>
                <a:latin typeface="Consolas" panose="020B0609020204030204" pitchFamily="49" charset="0"/>
              </a:rPr>
              <a:t>}</a:t>
            </a:r>
            <a:endParaRPr lang="en-US" sz="1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44DCDA8-B2DC-D389-AC24-934093A1F4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F19BD0-8C1F-F2BA-2D97-1FA5B92539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 Init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BB0513-306A-FD0C-E69D-E0B72EF85B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DED8B8-74B5-A936-A54B-451973AFB47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D8CA38-1255-BEE8-59E1-F4649DD77E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719A25-255F-57E9-4EA4-F8775804FB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C82D69-0F8D-E590-1CB5-E4F4FF04DF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C34F90-B255-9CFB-5140-9BEB92DB78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756892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10</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963</TotalTime>
  <Words>4431</Words>
  <Application>Microsoft Office PowerPoint</Application>
  <PresentationFormat>Widescreen</PresentationFormat>
  <Paragraphs>550</Paragraphs>
  <Slides>61</Slides>
  <Notes>61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61</vt:i4>
      </vt:variant>
    </vt:vector>
  </HeadingPairs>
  <TitlesOfParts>
    <vt:vector size="66"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244</cp:revision>
  <dcterms:created xsi:type="dcterms:W3CDTF">2019-01-14T22:06:33Z</dcterms:created>
  <dcterms:modified xsi:type="dcterms:W3CDTF">2026-02-24T02:58:25Z</dcterms:modified>
</cp:coreProperties>
</file>