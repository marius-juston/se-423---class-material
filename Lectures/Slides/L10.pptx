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1"/>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12" r:id="rId17"/>
    <p:sldId id="311" r:id="rId18"/>
    <p:sldId id="260" r:id="rId19"/>
    <p:sldId id="261" r:id="rId20"/>
    <p:sldId id="262" r:id="rId21"/>
    <p:sldId id="263" r:id="rId22"/>
    <p:sldId id="264" r:id="rId23"/>
    <p:sldId id="265" r:id="rId24"/>
    <p:sldId id="266" r:id="rId25"/>
    <p:sldId id="267" r:id="rId26"/>
    <p:sldId id="268" r:id="rId27"/>
    <p:sldId id="269" r:id="rId28"/>
    <p:sldId id="271" r:id="rId29"/>
    <p:sldId id="270" r:id="rId3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2"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9" d="100"/>
          <a:sy n="149" d="100"/>
        </p:scale>
        <p:origin x="138"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10: UART, SPI</a:t>
            </a:r>
            <a:r>
              <a:rPr lang="en-US" sz="2500">
                <a:solidFill>
                  <a:schemeClr val="lt1"/>
                </a:solidFill>
              </a:rPr>
              <a:t>, I2C</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23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rial"/>
              <a:ea typeface="Arial"/>
              <a:cs typeface="Arial"/>
              <a:sym typeface="Arial"/>
            </a:endParaRPr>
          </a:p>
          <a:p>
            <a:pPr marL="0" lvl="0" indent="0" rtl="0">
              <a:lnSpc>
                <a:spcPct val="100000"/>
              </a:lnSpc>
              <a:spcBef>
                <a:spcPts val="0"/>
              </a:spcBef>
              <a:spcAft>
                <a:spcPts val="0"/>
              </a:spcAft>
              <a:buSzPts val="3000"/>
              <a:buNone/>
            </a:pPr>
            <a:r>
              <a:rPr lang="en-US" sz="1800" dirty="0">
                <a:latin typeface="Arial"/>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rial"/>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Time!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Interferences</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There are 4 interference couplings:</a:t>
            </a:r>
          </a:p>
          <a:p>
            <a:pPr marL="0" indent="0">
              <a:lnSpc>
                <a:spcPct val="100000"/>
              </a:lnSpc>
              <a:spcBef>
                <a:spcPts val="0"/>
              </a:spcBef>
              <a:buSzPts val="3000"/>
              <a:buNone/>
            </a:pPr>
            <a:endParaRPr lang="en-US" sz="1400" dirty="0">
              <a:latin typeface="Arial"/>
              <a:ea typeface="Arial"/>
              <a:cs typeface="Arial"/>
              <a:sym typeface="Arial"/>
            </a:endParaRPr>
          </a:p>
          <a:p>
            <a:pPr marL="285750" indent="-285750">
              <a:lnSpc>
                <a:spcPct val="100000"/>
              </a:lnSpc>
              <a:spcBef>
                <a:spcPts val="0"/>
              </a:spcBef>
              <a:buSzPts val="3000"/>
            </a:pPr>
            <a:r>
              <a:rPr lang="en-US" sz="1400" b="1" dirty="0">
                <a:latin typeface="Arial"/>
                <a:ea typeface="Arial"/>
                <a:cs typeface="Arial"/>
                <a:sym typeface="Arial"/>
              </a:rPr>
              <a:t>Conductive</a:t>
            </a:r>
            <a:r>
              <a:rPr lang="en-US" sz="1400" dirty="0">
                <a:latin typeface="Arial"/>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rial"/>
                <a:ea typeface="Arial"/>
                <a:cs typeface="Arial"/>
                <a:sym typeface="Arial"/>
              </a:rPr>
              <a:t>It is common to refer to electrical induction as </a:t>
            </a:r>
            <a:r>
              <a:rPr lang="en-US" sz="1400" b="1" dirty="0">
                <a:latin typeface="Arial"/>
                <a:ea typeface="Arial"/>
                <a:cs typeface="Arial"/>
                <a:sym typeface="Arial"/>
              </a:rPr>
              <a:t>capacitive</a:t>
            </a:r>
            <a:r>
              <a:rPr lang="en-US" sz="1400" dirty="0">
                <a:latin typeface="Arial"/>
                <a:ea typeface="Arial"/>
                <a:cs typeface="Arial"/>
                <a:sym typeface="Arial"/>
              </a:rPr>
              <a:t> coupling, and to magnetic induction as </a:t>
            </a:r>
            <a:r>
              <a:rPr lang="en-US" sz="1400" b="1" dirty="0">
                <a:latin typeface="Arial"/>
                <a:ea typeface="Arial"/>
                <a:cs typeface="Arial"/>
                <a:sym typeface="Arial"/>
              </a:rPr>
              <a:t>inductive</a:t>
            </a:r>
            <a:r>
              <a:rPr lang="en-US" sz="1400" dirty="0">
                <a:latin typeface="Arial"/>
                <a:ea typeface="Arial"/>
                <a:cs typeface="Arial"/>
                <a:sym typeface="Arial"/>
              </a:rPr>
              <a:t> coupling.</a:t>
            </a:r>
          </a:p>
          <a:p>
            <a:pPr marL="285750" indent="-285750">
              <a:lnSpc>
                <a:spcPct val="100000"/>
              </a:lnSpc>
              <a:spcBef>
                <a:spcPts val="0"/>
              </a:spcBef>
              <a:buSzPts val="3000"/>
            </a:pPr>
            <a:r>
              <a:rPr lang="en-US" sz="1400" b="1" dirty="0">
                <a:latin typeface="Arial"/>
                <a:ea typeface="Arial"/>
                <a:cs typeface="Arial"/>
                <a:sym typeface="Arial"/>
              </a:rPr>
              <a:t>Capacitive:</a:t>
            </a:r>
            <a:r>
              <a:rPr lang="en-US" sz="1400" dirty="0">
                <a:latin typeface="Arial"/>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rial"/>
                <a:ea typeface="Arial"/>
                <a:cs typeface="Arial"/>
                <a:sym typeface="Arial"/>
              </a:rPr>
              <a:t>Radiative:</a:t>
            </a:r>
            <a:r>
              <a:rPr lang="en-US" sz="1400" dirty="0">
                <a:latin typeface="Arial"/>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140474"/>
            <a:chOff x="3543301" y="1928812"/>
            <a:chExt cx="4913074" cy="3261985"/>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61610"/>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rial"/>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rial"/>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 </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rial"/>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By Ohm’s law, the inject noise current flows through the victim’s wire </a:t>
                </a:r>
                <a:r>
                  <a:rPr lang="en-US" sz="1800" dirty="0" err="1">
                    <a:solidFill>
                      <a:schemeClr val="dk1"/>
                    </a:solidFill>
                    <a:latin typeface="Arial"/>
                    <a:ea typeface="Arial"/>
                    <a:cs typeface="Arial"/>
                    <a:sym typeface="Arial"/>
                  </a:rPr>
                  <a:t>impedence</a:t>
                </a:r>
                <a:r>
                  <a:rPr lang="en-US" sz="1800" dirty="0">
                    <a:solidFill>
                      <a:schemeClr val="dk1"/>
                    </a:solidFill>
                    <a:latin typeface="Arial"/>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rial"/>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High-frequency vs low-frequency</a:t>
                </a: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Assuming a duty cycle of 50%?</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Magnetic coupling is governed by </a:t>
                </a:r>
                <a:r>
                  <a:rPr lang="en-US" sz="1500" b="1" dirty="0">
                    <a:latin typeface="Arial"/>
                    <a:ea typeface="Arial"/>
                    <a:cs typeface="Arial"/>
                    <a:sym typeface="Arial"/>
                  </a:rPr>
                  <a:t>Ampere's Law </a:t>
                </a:r>
                <a:r>
                  <a:rPr lang="en-US" sz="1500" dirty="0">
                    <a:latin typeface="Arial"/>
                    <a:ea typeface="Arial"/>
                    <a:cs typeface="Arial"/>
                    <a:sym typeface="Arial"/>
                  </a:rPr>
                  <a:t>and </a:t>
                </a:r>
                <a:r>
                  <a:rPr lang="en-US" sz="1500" b="1" dirty="0">
                    <a:latin typeface="Arial"/>
                    <a:ea typeface="Arial"/>
                    <a:cs typeface="Arial"/>
                    <a:sym typeface="Arial"/>
                  </a:rPr>
                  <a:t>Faraday's Law </a:t>
                </a:r>
                <a:r>
                  <a:rPr lang="en-US" sz="1500" dirty="0">
                    <a:latin typeface="Arial"/>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rial"/>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rial"/>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rial"/>
                    <a:ea typeface="Arial"/>
                    <a:cs typeface="Arial"/>
                    <a:sym typeface="Arial"/>
                  </a:rPr>
                  <a:t> represents the flux)</a:t>
                </a:r>
              </a:p>
              <a:p>
                <a:pPr marL="0" indent="0">
                  <a:lnSpc>
                    <a:spcPct val="100000"/>
                  </a:lnSpc>
                  <a:spcBef>
                    <a:spcPts val="0"/>
                  </a:spcBef>
                  <a:buSzPts val="3000"/>
                  <a:buNone/>
                </a:pPr>
                <a:endParaRPr lang="en-US" sz="15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rial"/>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rial"/>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rial"/>
                    <a:ea typeface="Arial"/>
                    <a:cs typeface="Arial"/>
                    <a:sym typeface="Arial"/>
                  </a:rPr>
                  <a:t>, though this loop is the surface integral of the magnetic field.</a:t>
                </a:r>
              </a:p>
            </p:txBody>
          </p:sp>
        </mc:Choice>
        <mc:Fallback>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we get: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Thus, given the final inference noise,</a:t>
                </a: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why heavy machinery or circuits that draw massive, pulsating currents (like motor drives) are notorious sources of magnetic </a:t>
                </a:r>
                <a:r>
                  <a:rPr lang="en-US" sz="1800">
                    <a:latin typeface="Arial"/>
                    <a:ea typeface="Arial"/>
                    <a:cs typeface="Arial"/>
                    <a:sym typeface="Arial"/>
                  </a:rPr>
                  <a:t>Electromagnetic Interference (EMI)!</a:t>
                </a: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rial"/>
              <a:ea typeface="Arial"/>
              <a:cs typeface="Arial"/>
              <a:sym typeface="Arial"/>
            </a:endParaRPr>
          </a:p>
          <a:p>
            <a:pPr marL="0" lvl="0" indent="0" rtl="0">
              <a:lnSpc>
                <a:spcPct val="100000"/>
              </a:lnSpc>
              <a:spcBef>
                <a:spcPts val="0"/>
              </a:spcBef>
              <a:spcAft>
                <a:spcPts val="0"/>
              </a:spcAft>
              <a:buSzPts val="3000"/>
              <a:buNone/>
            </a:pPr>
            <a:r>
              <a:rPr lang="en-US" sz="1800" dirty="0">
                <a:latin typeface="Arial"/>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rial"/>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527</TotalTime>
  <Words>2030</Words>
  <Application>Microsoft Office PowerPoint</Application>
  <PresentationFormat>Widescreen</PresentationFormat>
  <Paragraphs>274</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Cambria Math</vt:lpstr>
      <vt:lpstr>Consolas</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61</cp:revision>
  <dcterms:created xsi:type="dcterms:W3CDTF">2019-01-14T22:06:33Z</dcterms:created>
  <dcterms:modified xsi:type="dcterms:W3CDTF">2026-02-22T08:41:20Z</dcterms:modified>
</cp:coreProperties>
</file>