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Communication Protocols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23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a:latin typeface="Arial"/>
                <a:ea typeface="Arial"/>
                <a:cs typeface="Arial"/>
                <a:sym typeface="Arial"/>
              </a:rPr>
              <a:t>February 25, </a:t>
            </a:r>
            <a:r>
              <a:rPr lang="en-US" sz="1800" b="1" dirty="0">
                <a:latin typeface="Arial"/>
                <a:ea typeface="Arial"/>
                <a:cs typeface="Arial"/>
                <a:sym typeface="Arial"/>
              </a:rPr>
              <a:t>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Time!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Interferences</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There are 4 interference couplings:</a:t>
            </a:r>
          </a:p>
          <a:p>
            <a:pPr marL="0" indent="0">
              <a:lnSpc>
                <a:spcPct val="100000"/>
              </a:lnSpc>
              <a:spcBef>
                <a:spcPts val="0"/>
              </a:spcBef>
              <a:buSzPts val="3000"/>
              <a:buNone/>
            </a:pPr>
            <a:endParaRPr lang="en-US" sz="1400" dirty="0">
              <a:latin typeface="Arial"/>
              <a:ea typeface="Arial"/>
              <a:cs typeface="Arial"/>
              <a:sym typeface="Arial"/>
            </a:endParaRPr>
          </a:p>
          <a:p>
            <a:pPr marL="285750" indent="-285750">
              <a:lnSpc>
                <a:spcPct val="100000"/>
              </a:lnSpc>
              <a:spcBef>
                <a:spcPts val="0"/>
              </a:spcBef>
              <a:buSzPts val="3000"/>
            </a:pPr>
            <a:r>
              <a:rPr lang="en-US" sz="1400" b="1" dirty="0">
                <a:latin typeface="Arial"/>
                <a:ea typeface="Arial"/>
                <a:cs typeface="Arial"/>
                <a:sym typeface="Arial"/>
              </a:rPr>
              <a:t>Conductive</a:t>
            </a:r>
            <a:r>
              <a:rPr lang="en-US" sz="1400" dirty="0">
                <a:latin typeface="Arial"/>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rial"/>
                <a:ea typeface="Arial"/>
                <a:cs typeface="Arial"/>
                <a:sym typeface="Arial"/>
              </a:rPr>
              <a:t>It is common to refer to electrical induction as </a:t>
            </a:r>
            <a:r>
              <a:rPr lang="en-US" sz="1400" b="1" dirty="0">
                <a:latin typeface="Arial"/>
                <a:ea typeface="Arial"/>
                <a:cs typeface="Arial"/>
                <a:sym typeface="Arial"/>
              </a:rPr>
              <a:t>capacitive</a:t>
            </a:r>
            <a:r>
              <a:rPr lang="en-US" sz="1400" dirty="0">
                <a:latin typeface="Arial"/>
                <a:ea typeface="Arial"/>
                <a:cs typeface="Arial"/>
                <a:sym typeface="Arial"/>
              </a:rPr>
              <a:t> coupling, and to magnetic induction as </a:t>
            </a:r>
            <a:r>
              <a:rPr lang="en-US" sz="1400" b="1" dirty="0">
                <a:latin typeface="Arial"/>
                <a:ea typeface="Arial"/>
                <a:cs typeface="Arial"/>
                <a:sym typeface="Arial"/>
              </a:rPr>
              <a:t>inductive</a:t>
            </a:r>
            <a:r>
              <a:rPr lang="en-US" sz="1400" dirty="0">
                <a:latin typeface="Arial"/>
                <a:ea typeface="Arial"/>
                <a:cs typeface="Arial"/>
                <a:sym typeface="Arial"/>
              </a:rPr>
              <a:t> coupling.</a:t>
            </a:r>
          </a:p>
          <a:p>
            <a:pPr marL="285750" indent="-285750">
              <a:lnSpc>
                <a:spcPct val="100000"/>
              </a:lnSpc>
              <a:spcBef>
                <a:spcPts val="0"/>
              </a:spcBef>
              <a:buSzPts val="3000"/>
            </a:pPr>
            <a:r>
              <a:rPr lang="en-US" sz="1400" b="1" dirty="0">
                <a:latin typeface="Arial"/>
                <a:ea typeface="Arial"/>
                <a:cs typeface="Arial"/>
                <a:sym typeface="Arial"/>
              </a:rPr>
              <a:t>Capacitive:</a:t>
            </a:r>
            <a:r>
              <a:rPr lang="en-US" sz="1400" dirty="0">
                <a:latin typeface="Arial"/>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rial"/>
                <a:ea typeface="Arial"/>
                <a:cs typeface="Arial"/>
                <a:sym typeface="Arial"/>
              </a:rPr>
              <a:t>Radiative:</a:t>
            </a:r>
            <a:r>
              <a:rPr lang="en-US" sz="1400" dirty="0">
                <a:latin typeface="Arial"/>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rial"/>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rial"/>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 </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rial"/>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By Ohm’s law, the inject noise current flows through the victim’s wire </a:t>
                </a:r>
                <a:r>
                  <a:rPr lang="en-US" sz="1800" dirty="0" err="1">
                    <a:solidFill>
                      <a:schemeClr val="dk1"/>
                    </a:solidFill>
                    <a:latin typeface="Arial"/>
                    <a:ea typeface="Arial"/>
                    <a:cs typeface="Arial"/>
                    <a:sym typeface="Arial"/>
                  </a:rPr>
                  <a:t>impedence</a:t>
                </a:r>
                <a:r>
                  <a:rPr lang="en-US" sz="1800" dirty="0">
                    <a:solidFill>
                      <a:schemeClr val="dk1"/>
                    </a:solidFill>
                    <a:latin typeface="Arial"/>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rial"/>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High-frequency vs low-frequency</a:t>
                </a: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Assuming a duty cycle of 50%?</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Magnetic coupling is governed by </a:t>
                </a:r>
                <a:r>
                  <a:rPr lang="en-US" sz="1500" b="1" dirty="0">
                    <a:latin typeface="Arial"/>
                    <a:ea typeface="Arial"/>
                    <a:cs typeface="Arial"/>
                    <a:sym typeface="Arial"/>
                  </a:rPr>
                  <a:t>Ampere's Law </a:t>
                </a:r>
                <a:r>
                  <a:rPr lang="en-US" sz="1500" dirty="0">
                    <a:latin typeface="Arial"/>
                    <a:ea typeface="Arial"/>
                    <a:cs typeface="Arial"/>
                    <a:sym typeface="Arial"/>
                  </a:rPr>
                  <a:t>and </a:t>
                </a:r>
                <a:r>
                  <a:rPr lang="en-US" sz="1500" b="1" dirty="0">
                    <a:latin typeface="Arial"/>
                    <a:ea typeface="Arial"/>
                    <a:cs typeface="Arial"/>
                    <a:sym typeface="Arial"/>
                  </a:rPr>
                  <a:t>Faraday's Law </a:t>
                </a:r>
                <a:r>
                  <a:rPr lang="en-US" sz="1500" dirty="0">
                    <a:latin typeface="Arial"/>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rial"/>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rial"/>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rial"/>
                    <a:ea typeface="Arial"/>
                    <a:cs typeface="Arial"/>
                    <a:sym typeface="Arial"/>
                  </a:rPr>
                  <a:t> represents the flux)</a:t>
                </a:r>
              </a:p>
              <a:p>
                <a:pPr marL="0" indent="0">
                  <a:lnSpc>
                    <a:spcPct val="100000"/>
                  </a:lnSpc>
                  <a:spcBef>
                    <a:spcPts val="0"/>
                  </a:spcBef>
                  <a:buSzPts val="3000"/>
                  <a:buNone/>
                </a:pPr>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rial"/>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rial"/>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rial"/>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we get: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Thus, given the final inference noise,</a:t>
                </a: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Notation</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Asynchronous networks (SCI/UART) operate </a:t>
            </a:r>
            <a:r>
              <a:rPr lang="en-US" sz="2400" b="1" dirty="0">
                <a:solidFill>
                  <a:schemeClr val="dk1"/>
                </a:solidFill>
                <a:latin typeface="Arial"/>
                <a:ea typeface="Arial"/>
                <a:cs typeface="Arial"/>
                <a:sym typeface="Arial"/>
              </a:rPr>
              <a:t>without</a:t>
            </a:r>
            <a:r>
              <a:rPr lang="en-US" sz="2400" dirty="0">
                <a:solidFill>
                  <a:schemeClr val="dk1"/>
                </a:solidFill>
                <a:latin typeface="Arial"/>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rial"/>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Asynchronous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Synchronous networks (SPI/I2C) operate </a:t>
            </a:r>
            <a:r>
              <a:rPr lang="en-US" sz="2400" b="1" dirty="0">
                <a:solidFill>
                  <a:schemeClr val="dk1"/>
                </a:solidFill>
                <a:latin typeface="Arial"/>
                <a:ea typeface="Arial"/>
                <a:cs typeface="Arial"/>
                <a:sym typeface="Arial"/>
              </a:rPr>
              <a:t>with</a:t>
            </a:r>
            <a:r>
              <a:rPr lang="en-US" sz="2400" dirty="0">
                <a:solidFill>
                  <a:schemeClr val="dk1"/>
                </a:solidFill>
                <a:latin typeface="Arial"/>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Simplex vs Half-Duplex vs Full-Duplex</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Protocols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SCI</a:t>
            </a:r>
            <a:r>
              <a:rPr lang="en-US" sz="2200" dirty="0">
                <a:latin typeface="Arial"/>
                <a:ea typeface="Arial"/>
                <a:cs typeface="Arial"/>
                <a:sym typeface="Arial"/>
              </a:rPr>
              <a:t> – Serial Peripheral Interface - The classic UART. It is asynchronous, requiring only two wires (TX/RX), but limited in speed due to the lack of a shared clock. Discussed in </a:t>
            </a:r>
            <a:r>
              <a:rPr lang="en-US" sz="2200" dirty="0">
                <a:latin typeface="Arial"/>
                <a:ea typeface="Arial"/>
                <a:cs typeface="Arial"/>
                <a:sym typeface="Arial"/>
                <a:hlinkClick r:id="rId3"/>
              </a:rPr>
              <a:t>Lecture 4</a:t>
            </a:r>
            <a:r>
              <a:rPr lang="en-US" sz="2200" dirty="0">
                <a:latin typeface="Arial"/>
                <a:ea typeface="Arial"/>
                <a:cs typeface="Arial"/>
                <a:sym typeface="Arial"/>
              </a:rPr>
              <a:t>.</a:t>
            </a: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SPI</a:t>
            </a:r>
            <a:r>
              <a:rPr lang="en-US" sz="2200" dirty="0">
                <a:latin typeface="Arial"/>
                <a:ea typeface="Arial"/>
                <a:cs typeface="Arial"/>
                <a:sym typeface="Arial"/>
              </a:rPr>
              <a:t> – Serial Communications Interface - A high-speed synchronous serial input and output (I/O) port. It requires four wires and dominates high-frequency sensor and motor driver applications. Discussed in </a:t>
            </a:r>
            <a:r>
              <a:rPr lang="en-US" sz="2200" dirty="0">
                <a:latin typeface="Arial"/>
                <a:ea typeface="Arial"/>
                <a:cs typeface="Arial"/>
                <a:sym typeface="Arial"/>
                <a:hlinkClick r:id="rId4"/>
              </a:rPr>
              <a:t>Lecture 6-7</a:t>
            </a:r>
            <a:endParaRPr lang="en-US" sz="2200" dirty="0">
              <a:latin typeface="Arial"/>
              <a:ea typeface="Arial"/>
              <a:cs typeface="Arial"/>
              <a:sym typeface="Arial"/>
            </a:endParaRP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I2C</a:t>
            </a:r>
            <a:r>
              <a:rPr lang="en-US" sz="2200" dirty="0">
                <a:latin typeface="Arial"/>
                <a:ea typeface="Arial"/>
                <a:cs typeface="Arial"/>
                <a:sym typeface="Arial"/>
              </a:rPr>
              <a:t> – Inter-Integrated Circuit Module - A synchronous, two-wire bus using software addressing rather than hardware routing. Uses less wires some can be advantageous over SCI.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CAN</a:t>
            </a:r>
            <a:r>
              <a:rPr lang="en-US" sz="2200" dirty="0">
                <a:latin typeface="Arial"/>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McBSP</a:t>
            </a:r>
            <a:r>
              <a:rPr lang="en-US" sz="2200" dirty="0">
                <a:latin typeface="Arial"/>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USB</a:t>
            </a:r>
            <a:r>
              <a:rPr lang="en-US" sz="2200" dirty="0">
                <a:latin typeface="Arial"/>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uPP</a:t>
            </a:r>
            <a:r>
              <a:rPr lang="en-US" sz="2200" dirty="0">
                <a:latin typeface="Arial"/>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SCI / UART</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rial"/>
                <a:ea typeface="Arial"/>
                <a:cs typeface="Arial"/>
                <a:sym typeface="Arial"/>
              </a:rPr>
              <a:t>Asynchronous</a:t>
            </a:r>
            <a:r>
              <a:rPr lang="en-US" sz="2200" dirty="0">
                <a:latin typeface="Arial"/>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rial"/>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SCI / UART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SPI</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Multi-device communions are supported by the master or slave operation of the SPI.</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SPICLK</a:t>
            </a:r>
            <a:r>
              <a:rPr lang="en-US" sz="2200" dirty="0">
                <a:latin typeface="Arial"/>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rial"/>
                <a:ea typeface="Arial"/>
                <a:cs typeface="Arial"/>
                <a:sym typeface="Arial"/>
              </a:rPr>
              <a:t>SPISIMO</a:t>
            </a:r>
            <a:r>
              <a:rPr lang="en-US" sz="2200" dirty="0">
                <a:latin typeface="Arial"/>
                <a:ea typeface="Arial"/>
                <a:cs typeface="Arial"/>
                <a:sym typeface="Arial"/>
              </a:rPr>
              <a:t>: The SPI slave-input/master-output pin</a:t>
            </a:r>
          </a:p>
          <a:p>
            <a:pPr marL="342900">
              <a:lnSpc>
                <a:spcPct val="100000"/>
              </a:lnSpc>
              <a:spcBef>
                <a:spcPts val="0"/>
              </a:spcBef>
              <a:buSzPts val="3000"/>
            </a:pPr>
            <a:r>
              <a:rPr lang="en-US" sz="2200" b="1" dirty="0">
                <a:latin typeface="Arial"/>
                <a:ea typeface="Arial"/>
                <a:cs typeface="Arial"/>
                <a:sym typeface="Arial"/>
              </a:rPr>
              <a:t>SPISOMI</a:t>
            </a:r>
            <a:r>
              <a:rPr lang="en-US" sz="2200" dirty="0">
                <a:latin typeface="Arial"/>
                <a:ea typeface="Arial"/>
                <a:cs typeface="Arial"/>
                <a:sym typeface="Arial"/>
              </a:rPr>
              <a:t>: The SPI slave-output/master-input pin</a:t>
            </a:r>
          </a:p>
          <a:p>
            <a:pPr marL="342900">
              <a:lnSpc>
                <a:spcPct val="100000"/>
              </a:lnSpc>
              <a:spcBef>
                <a:spcPts val="0"/>
              </a:spcBef>
              <a:buSzPts val="3000"/>
            </a:pPr>
            <a:r>
              <a:rPr lang="en-US" sz="2200" b="1" dirty="0">
                <a:latin typeface="Arial"/>
                <a:ea typeface="Arial"/>
                <a:cs typeface="Arial"/>
                <a:sym typeface="Arial"/>
              </a:rPr>
              <a:t>SPISTE</a:t>
            </a:r>
            <a:r>
              <a:rPr lang="en-US" sz="2200" dirty="0">
                <a:latin typeface="Arial"/>
                <a:ea typeface="Arial"/>
                <a:cs typeface="Arial"/>
                <a:sym typeface="Arial"/>
              </a:rPr>
              <a:t>: The SPI slave transmit-enable pin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SPIINT: </a:t>
            </a:r>
            <a:r>
              <a:rPr lang="en-US" sz="2400" dirty="0"/>
              <a:t>Transmit interrupt/ Receive Interrupt in non-FIFO mode</a:t>
            </a:r>
            <a:endParaRPr lang="en-US" sz="2200" dirty="0">
              <a:latin typeface="Arial"/>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rial"/>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LSPCLK = Low-speed peripheral clock frequency of the device. Like the </a:t>
                </a:r>
                <a:r>
                  <a:rPr lang="en-US" sz="2000" dirty="0" err="1">
                    <a:latin typeface="Arial"/>
                    <a:ea typeface="Arial"/>
                    <a:cs typeface="Arial"/>
                    <a:sym typeface="Arial"/>
                  </a:rPr>
                  <a:t>ePWM</a:t>
                </a:r>
                <a:r>
                  <a:rPr lang="en-US" sz="2000" dirty="0">
                    <a:latin typeface="Arial"/>
                    <a:ea typeface="Arial"/>
                    <a:cs typeface="Arial"/>
                    <a:sym typeface="Arial"/>
                  </a:rPr>
                  <a:t> it is 50 </a:t>
                </a:r>
                <a:r>
                  <a:rPr lang="en-US" sz="2000" dirty="0" err="1">
                    <a:latin typeface="Arial"/>
                    <a:ea typeface="Arial"/>
                    <a:cs typeface="Arial"/>
                    <a:sym typeface="Arial"/>
                  </a:rPr>
                  <a:t>MHz.</a:t>
                </a:r>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In </a:t>
                </a:r>
                <a:r>
                  <a:rPr lang="en-US" sz="2000" b="1" dirty="0">
                    <a:latin typeface="Arial"/>
                    <a:ea typeface="Arial"/>
                    <a:cs typeface="Arial"/>
                    <a:sym typeface="Arial"/>
                  </a:rPr>
                  <a:t>master </a:t>
                </a:r>
                <a:r>
                  <a:rPr lang="en-US" sz="2000" dirty="0">
                    <a:latin typeface="Arial"/>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SPICLK</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SPISIMO</a:t>
            </a:r>
            <a:r>
              <a:rPr lang="en-US" sz="3200" dirty="0">
                <a:latin typeface="Arial"/>
                <a:ea typeface="Arial"/>
                <a:cs typeface="Arial"/>
                <a:sym typeface="Arial"/>
              </a:rPr>
              <a:t> pin acts as the primary transmission pin </a:t>
            </a:r>
            <a:r>
              <a:rPr lang="en-US" sz="3200" b="1" dirty="0">
                <a:latin typeface="Arial"/>
                <a:ea typeface="Arial"/>
                <a:cs typeface="Arial"/>
                <a:sym typeface="Arial"/>
              </a:rPr>
              <a:t>from </a:t>
            </a:r>
            <a:r>
              <a:rPr lang="en-US" sz="3200" dirty="0">
                <a:latin typeface="Arial"/>
                <a:ea typeface="Arial"/>
                <a:cs typeface="Arial"/>
                <a:sym typeface="Arial"/>
              </a:rPr>
              <a:t>the controller </a:t>
            </a:r>
            <a:r>
              <a:rPr lang="en-US" sz="3200" b="1" dirty="0">
                <a:latin typeface="Arial"/>
                <a:ea typeface="Arial"/>
                <a:cs typeface="Arial"/>
                <a:sym typeface="Arial"/>
              </a:rPr>
              <a:t>to </a:t>
            </a:r>
            <a:r>
              <a:rPr lang="en-US" sz="3200" dirty="0">
                <a:latin typeface="Arial"/>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SPISIMO (Master Output)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SPISOMI</a:t>
            </a:r>
            <a:r>
              <a:rPr lang="en-US" sz="3200" dirty="0">
                <a:latin typeface="Arial"/>
                <a:ea typeface="Arial"/>
                <a:cs typeface="Arial"/>
                <a:sym typeface="Arial"/>
              </a:rPr>
              <a:t> pin acts as the primary receiver pin </a:t>
            </a:r>
            <a:r>
              <a:rPr lang="en-US" sz="3200" b="1" dirty="0">
                <a:latin typeface="Arial"/>
                <a:ea typeface="Arial"/>
                <a:cs typeface="Arial"/>
                <a:sym typeface="Arial"/>
              </a:rPr>
              <a:t>from </a:t>
            </a:r>
            <a:r>
              <a:rPr lang="en-US" sz="3200" dirty="0">
                <a:latin typeface="Arial"/>
                <a:ea typeface="Arial"/>
                <a:cs typeface="Arial"/>
                <a:sym typeface="Arial"/>
              </a:rPr>
              <a:t>the peripheral back </a:t>
            </a:r>
            <a:r>
              <a:rPr lang="en-US" sz="3200" b="1" dirty="0">
                <a:latin typeface="Arial"/>
                <a:ea typeface="Arial"/>
                <a:cs typeface="Arial"/>
                <a:sym typeface="Arial"/>
              </a:rPr>
              <a:t>to </a:t>
            </a:r>
            <a:r>
              <a:rPr lang="en-US" sz="3200" dirty="0">
                <a:latin typeface="Arial"/>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the SPI transmits data, it can receive characters simultaneously, placing them in the receiver buffer </a:t>
            </a:r>
            <a:r>
              <a:rPr lang="en-US" sz="3200" b="1" dirty="0">
                <a:latin typeface="Arial"/>
                <a:ea typeface="Arial"/>
                <a:cs typeface="Arial"/>
                <a:sym typeface="Arial"/>
              </a:rPr>
              <a:t>SPIRXBUF</a:t>
            </a:r>
            <a:r>
              <a:rPr lang="en-US" sz="3200" dirty="0">
                <a:latin typeface="Arial"/>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SPISOMI (Master Input)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The </a:t>
            </a:r>
            <a:r>
              <a:rPr lang="en-US" b="1" dirty="0">
                <a:latin typeface="Arial"/>
                <a:ea typeface="Arial"/>
                <a:cs typeface="Arial"/>
                <a:sym typeface="Arial"/>
              </a:rPr>
              <a:t>SPISTE</a:t>
            </a:r>
            <a:r>
              <a:rPr lang="en-US" dirty="0">
                <a:latin typeface="Arial"/>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An active </a:t>
            </a:r>
            <a:r>
              <a:rPr lang="en-US" b="1" dirty="0">
                <a:latin typeface="Arial"/>
                <a:ea typeface="Arial"/>
                <a:cs typeface="Arial"/>
                <a:sym typeface="Arial"/>
              </a:rPr>
              <a:t>SPISTE</a:t>
            </a:r>
            <a:r>
              <a:rPr lang="en-US" dirty="0">
                <a:latin typeface="Arial"/>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Toggling the </a:t>
            </a:r>
            <a:r>
              <a:rPr lang="en-US" b="1" dirty="0">
                <a:latin typeface="Arial"/>
                <a:ea typeface="Arial"/>
                <a:cs typeface="Arial"/>
                <a:sym typeface="Arial"/>
              </a:rPr>
              <a:t>SPISWRESET</a:t>
            </a:r>
            <a:r>
              <a:rPr lang="en-US" dirty="0">
                <a:latin typeface="Arial"/>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SPISTE (Slave Transmit Enable)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system can be compressed by setting the </a:t>
            </a:r>
            <a:r>
              <a:rPr lang="en-US" sz="1800" b="1" dirty="0">
                <a:latin typeface="Arial"/>
                <a:ea typeface="Arial"/>
                <a:cs typeface="Arial"/>
                <a:sym typeface="Arial"/>
              </a:rPr>
              <a:t>TRIWIRE</a:t>
            </a:r>
            <a:r>
              <a:rPr lang="en-US" sz="1800" dirty="0">
                <a:latin typeface="Arial"/>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3-wire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clock polarity select bit (</a:t>
            </a:r>
            <a:r>
              <a:rPr lang="en-US" sz="1800" b="1" dirty="0">
                <a:latin typeface="Arial"/>
                <a:ea typeface="Arial"/>
                <a:cs typeface="Arial"/>
                <a:sym typeface="Arial"/>
              </a:rPr>
              <a:t>CLKPOLARITY</a:t>
            </a:r>
            <a:r>
              <a:rPr lang="en-US" sz="1800" dirty="0">
                <a:latin typeface="Arial"/>
                <a:ea typeface="Arial"/>
                <a:cs typeface="Arial"/>
                <a:sym typeface="Arial"/>
              </a:rPr>
              <a:t>) and the clock phase select bit (CLK_</a:t>
            </a:r>
            <a:r>
              <a:rPr lang="en-US" sz="1800" b="1" dirty="0">
                <a:latin typeface="Arial"/>
                <a:ea typeface="Arial"/>
                <a:cs typeface="Arial"/>
                <a:sym typeface="Arial"/>
              </a:rPr>
              <a:t>PHASE</a:t>
            </a:r>
            <a:r>
              <a:rPr lang="en-US" sz="1800" dirty="0">
                <a:latin typeface="Arial"/>
                <a:ea typeface="Arial"/>
                <a:cs typeface="Arial"/>
                <a:sym typeface="Arial"/>
              </a:rPr>
              <a:t>) control four different clocking schemes on the </a:t>
            </a:r>
            <a:r>
              <a:rPr lang="en-US" sz="1800" b="1" dirty="0">
                <a:latin typeface="Arial"/>
                <a:ea typeface="Arial"/>
                <a:cs typeface="Arial"/>
                <a:sym typeface="Arial"/>
              </a:rPr>
              <a:t>SPICLK</a:t>
            </a:r>
            <a:r>
              <a:rPr lang="en-US" sz="1800" dirty="0">
                <a:latin typeface="Arial"/>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CLKPOLARITY</a:t>
            </a:r>
            <a:r>
              <a:rPr lang="en-US" sz="1800" dirty="0">
                <a:latin typeface="Arial"/>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CLK_PHASE </a:t>
            </a:r>
            <a:r>
              <a:rPr lang="en-US" sz="1800" dirty="0">
                <a:latin typeface="Arial"/>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are 4 different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rising edge</a:t>
            </a:r>
            <a:r>
              <a:rPr lang="en-US" sz="2000" dirty="0">
                <a:latin typeface="Arial"/>
                <a:ea typeface="Arial"/>
                <a:cs typeface="Arial"/>
                <a:sym typeface="Arial"/>
              </a:rPr>
              <a:t> 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many systems, a SPI master may be connected to multiple SPI slaves using multiple instances of </a:t>
            </a:r>
            <a:r>
              <a:rPr lang="en-US" sz="1800" b="1" dirty="0">
                <a:latin typeface="Arial"/>
                <a:ea typeface="Arial"/>
                <a:cs typeface="Arial"/>
                <a:sym typeface="Arial"/>
              </a:rPr>
              <a:t>SPISTE</a:t>
            </a:r>
            <a:r>
              <a:rPr lang="en-US" sz="1800" dirty="0">
                <a:latin typeface="Arial"/>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Though this SPI module </a:t>
            </a:r>
            <a:r>
              <a:rPr lang="en-US" sz="1800" b="1" dirty="0">
                <a:latin typeface="Arial"/>
                <a:ea typeface="Arial"/>
                <a:cs typeface="Arial"/>
                <a:sym typeface="Arial"/>
              </a:rPr>
              <a:t>does not natively support multiple SPISTE signals</a:t>
            </a:r>
            <a:r>
              <a:rPr lang="en-US" sz="1800" dirty="0">
                <a:latin typeface="Arial"/>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this configuration, the SPI must be configured as the </a:t>
            </a:r>
            <a:r>
              <a:rPr lang="en-US" sz="1800" b="1" dirty="0">
                <a:latin typeface="Arial"/>
                <a:ea typeface="Arial"/>
                <a:cs typeface="Arial"/>
                <a:sym typeface="Arial"/>
              </a:rPr>
              <a:t>master</a:t>
            </a:r>
            <a:r>
              <a:rPr lang="en-US" sz="1800" dirty="0">
                <a:latin typeface="Arial"/>
                <a:ea typeface="Arial"/>
                <a:cs typeface="Arial"/>
                <a:sym typeface="Arial"/>
              </a:rPr>
              <a:t>. Rather than using the GPIO Mux to select SPISTE, the application would configure pins to be GPIO outputs, </a:t>
            </a:r>
            <a:r>
              <a:rPr lang="en-US" sz="1800" b="1" dirty="0">
                <a:latin typeface="Arial"/>
                <a:ea typeface="Arial"/>
                <a:cs typeface="Arial"/>
                <a:sym typeface="Arial"/>
              </a:rPr>
              <a:t>one GPIO per SPI slave</a:t>
            </a:r>
            <a:r>
              <a:rPr lang="en-US" sz="1800" dirty="0">
                <a:latin typeface="Arial"/>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rial"/>
                <a:ea typeface="Arial"/>
                <a:cs typeface="Arial"/>
                <a:sym typeface="Arial"/>
              </a:rPr>
              <a:t>SPISTE pin mux!</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Multiple Slaves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What happens if you want to communicate with 15 temperature sensors?</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rial"/>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START condition</a:t>
            </a:r>
            <a:r>
              <a:rPr lang="en-US" sz="2400" dirty="0">
                <a:latin typeface="Arial"/>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rial"/>
                <a:ea typeface="Arial"/>
                <a:cs typeface="Arial"/>
                <a:sym typeface="Arial"/>
              </a:rPr>
              <a:t>Addressing</a:t>
            </a:r>
            <a:r>
              <a:rPr lang="en-US" sz="2400" dirty="0">
                <a:latin typeface="Arial"/>
                <a:ea typeface="Arial"/>
                <a:cs typeface="Arial"/>
                <a:sym typeface="Arial"/>
              </a:rPr>
              <a:t>: The Master transmits a 7-bit (or 10-bit) hardware </a:t>
            </a:r>
            <a:r>
              <a:rPr lang="en-US" sz="2400" dirty="0" err="1">
                <a:latin typeface="Arial"/>
                <a:ea typeface="Arial"/>
                <a:cs typeface="Arial"/>
                <a:sym typeface="Arial"/>
              </a:rPr>
              <a:t>addres</a:t>
            </a:r>
            <a:r>
              <a:rPr lang="en-US" sz="2400" dirty="0">
                <a:latin typeface="Arial"/>
                <a:ea typeface="Arial"/>
                <a:cs typeface="Arial"/>
                <a:sym typeface="Arial"/>
              </a:rPr>
              <a:t>, </a:t>
            </a:r>
            <a:r>
              <a:rPr lang="en-US" sz="2400" dirty="0" err="1">
                <a:latin typeface="Arial"/>
                <a:ea typeface="Arial"/>
                <a:cs typeface="Arial"/>
                <a:sym typeface="Arial"/>
              </a:rPr>
              <a:t>folled</a:t>
            </a:r>
            <a:r>
              <a:rPr lang="en-US" sz="2400" dirty="0">
                <a:latin typeface="Arial"/>
                <a:ea typeface="Arial"/>
                <a:cs typeface="Arial"/>
                <a:sym typeface="Arial"/>
              </a:rPr>
              <a:t> by a Read/Write direction bit.</a:t>
            </a:r>
          </a:p>
          <a:p>
            <a:pPr marL="342900">
              <a:lnSpc>
                <a:spcPct val="100000"/>
              </a:lnSpc>
              <a:spcBef>
                <a:spcPts val="0"/>
              </a:spcBef>
              <a:buSzPts val="3000"/>
            </a:pPr>
            <a:r>
              <a:rPr lang="en-US" sz="2400" b="1" dirty="0">
                <a:latin typeface="Arial"/>
                <a:ea typeface="Arial"/>
                <a:cs typeface="Arial"/>
                <a:sym typeface="Arial"/>
              </a:rPr>
              <a:t>Acknowledge (ACK): </a:t>
            </a:r>
            <a:r>
              <a:rPr lang="en-US" sz="2400" dirty="0">
                <a:latin typeface="Arial"/>
                <a:ea typeface="Arial"/>
                <a:cs typeface="Arial"/>
                <a:sym typeface="Arial"/>
              </a:rPr>
              <a:t>The specific Slave that matches the address pulls the SDA line low on the 9</a:t>
            </a:r>
            <a:r>
              <a:rPr lang="en-US" sz="2400" baseline="30000" dirty="0">
                <a:latin typeface="Arial"/>
                <a:ea typeface="Arial"/>
                <a:cs typeface="Arial"/>
                <a:sym typeface="Arial"/>
              </a:rPr>
              <a:t>th</a:t>
            </a:r>
            <a:r>
              <a:rPr lang="en-US" sz="2400" dirty="0">
                <a:latin typeface="Arial"/>
                <a:ea typeface="Arial"/>
                <a:cs typeface="Arial"/>
                <a:sym typeface="Arial"/>
              </a:rPr>
              <a:t> clock cycle to say “I am here”</a:t>
            </a:r>
          </a:p>
          <a:p>
            <a:pPr marL="342900">
              <a:lnSpc>
                <a:spcPct val="100000"/>
              </a:lnSpc>
              <a:spcBef>
                <a:spcPts val="0"/>
              </a:spcBef>
              <a:buSzPts val="3000"/>
            </a:pPr>
            <a:r>
              <a:rPr lang="en-US" sz="2400" b="1" dirty="0">
                <a:latin typeface="Arial"/>
                <a:ea typeface="Arial"/>
                <a:cs typeface="Arial"/>
                <a:sym typeface="Arial"/>
              </a:rPr>
              <a:t>Data Transfer: </a:t>
            </a:r>
            <a:r>
              <a:rPr lang="en-US" sz="2400" dirty="0">
                <a:latin typeface="Arial"/>
                <a:ea typeface="Arial"/>
                <a:cs typeface="Arial"/>
                <a:sym typeface="Arial"/>
              </a:rPr>
              <a:t>Butes are clocked across the SDA line</a:t>
            </a:r>
          </a:p>
          <a:p>
            <a:pPr marL="342900">
              <a:lnSpc>
                <a:spcPct val="100000"/>
              </a:lnSpc>
              <a:spcBef>
                <a:spcPts val="0"/>
              </a:spcBef>
              <a:buSzPts val="3000"/>
            </a:pPr>
            <a:r>
              <a:rPr lang="en-US" sz="2400" b="1" dirty="0">
                <a:latin typeface="Arial"/>
                <a:ea typeface="Arial"/>
                <a:cs typeface="Arial"/>
                <a:sym typeface="Arial"/>
              </a:rPr>
              <a:t>STOP Condition: </a:t>
            </a:r>
            <a:r>
              <a:rPr lang="en-US" sz="2400" dirty="0">
                <a:latin typeface="Arial"/>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rial"/>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multiple MCUI to exist on the same two wires, potentially attempting a START condition simultaneously.</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If you have 2 masters sending Serial Clock (SCL) signals what is a problem?</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Drive LOW</a:t>
            </a:r>
            <a:r>
              <a:rPr lang="en-US" sz="2400" dirty="0">
                <a:latin typeface="Arial"/>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rial"/>
                <a:ea typeface="Arial"/>
                <a:cs typeface="Arial"/>
                <a:sym typeface="Arial"/>
              </a:rPr>
              <a:t>Release HIGH</a:t>
            </a:r>
            <a:r>
              <a:rPr lang="en-US" sz="2400" dirty="0">
                <a:latin typeface="Arial"/>
                <a:ea typeface="Arial"/>
                <a:cs typeface="Arial"/>
                <a:sym typeface="Arial"/>
              </a:rPr>
              <a:t>: They can turn </a:t>
            </a:r>
            <a:r>
              <a:rPr lang="en-US" sz="2400" b="1" i="1" dirty="0">
                <a:latin typeface="Arial"/>
                <a:ea typeface="Arial"/>
                <a:cs typeface="Arial"/>
                <a:sym typeface="Arial"/>
              </a:rPr>
              <a:t>off</a:t>
            </a:r>
            <a:r>
              <a:rPr lang="en-US" sz="2400" dirty="0">
                <a:latin typeface="Arial"/>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Because of this, the SCL line acts as a massive physical </a:t>
            </a:r>
            <a:r>
              <a:rPr lang="en-US" sz="2400" b="1" dirty="0">
                <a:latin typeface="Arial"/>
                <a:ea typeface="Arial"/>
                <a:cs typeface="Arial"/>
                <a:sym typeface="Arial"/>
              </a:rPr>
              <a:t>AND</a:t>
            </a:r>
            <a:r>
              <a:rPr lang="en-US" sz="2400" dirty="0">
                <a:latin typeface="Arial"/>
                <a:ea typeface="Arial"/>
                <a:cs typeface="Arial"/>
                <a:sym typeface="Arial"/>
              </a:rPr>
              <a:t> gate.</a:t>
            </a:r>
          </a:p>
          <a:p>
            <a:pPr marL="342900">
              <a:lnSpc>
                <a:spcPct val="100000"/>
              </a:lnSpc>
              <a:spcBef>
                <a:spcPts val="0"/>
              </a:spcBef>
              <a:buSzPts val="3000"/>
            </a:pPr>
            <a:r>
              <a:rPr lang="en-US" sz="2400" dirty="0">
                <a:latin typeface="Arial"/>
                <a:ea typeface="Arial"/>
                <a:cs typeface="Arial"/>
                <a:sym typeface="Arial"/>
              </a:rPr>
              <a:t>The SCL line will only transition HIGH if </a:t>
            </a:r>
            <a:r>
              <a:rPr lang="en-US" sz="2400" b="1" dirty="0">
                <a:latin typeface="Arial"/>
                <a:ea typeface="Arial"/>
                <a:cs typeface="Arial"/>
                <a:sym typeface="Arial"/>
              </a:rPr>
              <a:t>ALL</a:t>
            </a:r>
            <a:r>
              <a:rPr lang="en-US" sz="2400" dirty="0">
                <a:latin typeface="Arial"/>
                <a:ea typeface="Arial"/>
                <a:cs typeface="Arial"/>
                <a:sym typeface="Arial"/>
              </a:rPr>
              <a:t> devices let go of it.</a:t>
            </a:r>
          </a:p>
          <a:p>
            <a:pPr marL="342900">
              <a:lnSpc>
                <a:spcPct val="100000"/>
              </a:lnSpc>
              <a:spcBef>
                <a:spcPts val="0"/>
              </a:spcBef>
              <a:buSzPts val="3000"/>
            </a:pPr>
            <a:r>
              <a:rPr lang="en-US" sz="2400" dirty="0">
                <a:latin typeface="Arial"/>
                <a:ea typeface="Arial"/>
                <a:cs typeface="Arial"/>
                <a:sym typeface="Arial"/>
              </a:rPr>
              <a:t>The SCL line will instantly transition LOW if </a:t>
            </a:r>
            <a:r>
              <a:rPr lang="en-US" sz="2400" b="1" dirty="0">
                <a:latin typeface="Arial"/>
                <a:ea typeface="Arial"/>
                <a:cs typeface="Arial"/>
                <a:sym typeface="Arial"/>
              </a:rPr>
              <a:t>ANY</a:t>
            </a:r>
            <a:r>
              <a:rPr lang="en-US" sz="2400" dirty="0">
                <a:latin typeface="Arial"/>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LOW period is strictly determined by the Master with the </a:t>
                </a:r>
                <a:r>
                  <a:rPr lang="en-US" sz="1800" b="1" dirty="0">
                    <a:latin typeface="Arial"/>
                    <a:ea typeface="Arial"/>
                    <a:cs typeface="Arial"/>
                    <a:sym typeface="Arial"/>
                  </a:rPr>
                  <a:t>longest</a:t>
                </a:r>
                <a:r>
                  <a:rPr lang="en-US" sz="1800" dirty="0">
                    <a:latin typeface="Arial"/>
                    <a:ea typeface="Arial"/>
                    <a:cs typeface="Arial"/>
                    <a:sym typeface="Arial"/>
                  </a:rPr>
                  <a:t> programmed LOW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HIGH period is strictly determined by the Master with the </a:t>
                </a:r>
                <a:r>
                  <a:rPr lang="en-US" sz="1800" b="1" dirty="0">
                    <a:latin typeface="Arial"/>
                    <a:ea typeface="Arial"/>
                    <a:cs typeface="Arial"/>
                    <a:sym typeface="Arial"/>
                  </a:rPr>
                  <a:t>shortest</a:t>
                </a:r>
                <a:r>
                  <a:rPr lang="en-US" sz="1800" dirty="0">
                    <a:latin typeface="Arial"/>
                    <a:ea typeface="Arial"/>
                    <a:cs typeface="Arial"/>
                    <a:sym typeface="Arial"/>
                  </a:rPr>
                  <a:t> programmed HIGH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 Code</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rial"/>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rial"/>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rial"/>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957</TotalTime>
  <Words>4413</Words>
  <Application>Microsoft Office PowerPoint</Application>
  <PresentationFormat>Widescreen</PresentationFormat>
  <Paragraphs>548</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235</cp:revision>
  <dcterms:created xsi:type="dcterms:W3CDTF">2019-01-14T22:06:33Z</dcterms:created>
  <dcterms:modified xsi:type="dcterms:W3CDTF">2026-02-23T00:43:14Z</dcterms:modified>
</cp:coreProperties>
</file>