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310" r:id="rId3"/>
    <p:sldId id="257" r:id="rId4"/>
    <p:sldId id="258" r:id="rId5"/>
    <p:sldId id="259" r:id="rId6"/>
    <p:sldId id="313" r:id="rId7"/>
    <p:sldId id="314" r:id="rId8"/>
    <p:sldId id="317" r:id="rId9"/>
    <p:sldId id="316" r:id="rId10"/>
    <p:sldId id="315" r:id="rId11"/>
    <p:sldId id="318" r:id="rId12"/>
    <p:sldId id="319" r:id="rId13"/>
    <p:sldId id="320" r:id="rId14"/>
    <p:sldId id="321" r:id="rId15"/>
    <p:sldId id="322" r:id="rId16"/>
    <p:sldId id="323" r:id="rId17"/>
    <p:sldId id="312" r:id="rId18"/>
    <p:sldId id="324" r:id="rId19"/>
    <p:sldId id="325" r:id="rId20"/>
    <p:sldId id="326" r:id="rId21"/>
    <p:sldId id="327" r:id="rId22"/>
    <p:sldId id="328" r:id="rId23"/>
    <p:sldId id="311" r:id="rId24"/>
    <p:sldId id="329" r:id="rId25"/>
    <p:sldId id="271" r:id="rId26"/>
    <p:sldId id="270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9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AA43166-8A95-E881-566F-CAD4671DE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D551DF6-AB9E-0C6E-93B6-D392D41D69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20BECC3-FFD6-41EB-10C6-1FBE784697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75665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DBFD4D-AE7D-68F8-0C20-4F90269B2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9EEFD2-4ABD-1611-805D-40C4DD0612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1A35EB-A465-B968-46D2-742B878F0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39637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544E87-0EF6-BE29-B579-6FF8B0F38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E9560C3-C856-7382-D905-259B867585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B18DF1F-5C35-9117-B92F-4BF7924A40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454518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E46F52-EFA8-1F2C-CCA3-C40005553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719A0D-72EF-B7D0-C582-E56B355ED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2B6B89-2CF4-ACDF-1977-12F5C7594A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517619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57DE5A-A5C4-C9D1-471C-D93B3D697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96E94D-904F-F71E-42DE-121AB1E179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EA4129A-E292-4B95-E833-58CA07B3C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801832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04A5C2-A0E4-8C0F-AC72-C69B44AD1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F4D7197-2140-682B-7E57-F58CD00043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803DBD-1BAC-97D2-2B45-E50B43FBBE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72946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D5F4E15-1AB0-51B8-A72E-1C7CC3242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130D498-039D-014A-244D-4D5A8B0C6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861235C-A8D1-C2A7-803F-8AE69C8AE4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99754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DB94B0C-3F4E-B744-7920-4CFCCB4A1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1C29DA7-EBD8-6761-34D7-560A32A8CB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FC028-3DA0-97F3-18AB-E0ADFE67CA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7893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BAD955-BED5-2BE4-0327-CAD16938A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EAA1BF-E6D8-F736-52C9-BD3917EAB5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E6F9B9-84D8-C099-085F-1E2ADB7EAE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41061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C650CAE-47A8-B85D-00CA-AD07CD37F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B6D49CE6-0EB5-A0DD-8BB5-389DBEF8B8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127932C-AF78-2089-3C62-AA07FC6F31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61015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0651213-8B35-560F-7759-7764D7FED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4E3B979-7B93-EAE1-AEF1-557FB7C1B7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41A24ECE-8009-FD17-8015-7A8B86AB06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7546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DDC444-2663-64AD-C9F4-439798AC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D84AA7E-01EF-AA46-F3EF-DA8AED50D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5DAAEE-E6BA-1500-4B64-05DE092ACE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81240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2E8000-CB92-3A4C-294F-3E054BB5E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92DDF51-A013-0964-1D79-297A96400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1F7B3D-5DCF-3100-AD2E-94FC8AE883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471037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7492335-FBD3-A583-6AA2-D8BFE2780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9AEB991-DE04-9ECA-9523-2E5A56D9D8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42E4614-C7E3-A1DD-F21C-7999B7385B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869444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5692482-4B47-61B5-65EA-56648A060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A830643-B89C-263E-8E5E-48BD6E6DE8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E3F4C-8045-1EB4-7E3C-B4CA3B968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08124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D160F9B-A215-A17B-8053-7FF3F0FFD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34ADB5-936C-260F-EFA2-C12C1D38D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A5F372D-1045-C0EE-2A6F-D40915C5D7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51719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EE22260-D135-2677-127C-B369E1B80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A6980CB1-3FD5-4D5F-8261-0A3CF3B55F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08CEC90-7112-495D-B4E0-2B421B946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837486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42C14D7-E780-55AA-4F75-8143EA0CF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FE901C-E865-B22C-65ED-4705BD4DA0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457A86-0291-05A7-AD45-70A2842B30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40463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666E6BC-40B5-22AF-A8A7-82518D66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950A21-BACD-4639-332D-A4644D5941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DAF0794-FC18-50B4-BD8A-CA0865FD97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27335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2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marius-juston.github.io/SE-423---Class-Material/Homeworks/LabVIEW2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hyperlink" Target="https://en.wikipedia.org/wiki/Electromagnetic_interferenc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ommons.wikimedia.org/wiki/File:Prinzip_MIMO.svg" TargetMode="Externa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qsfptek.com/qt-news/half-duplex-vs-full-duplex-vs-simplex-transmission-mode.html?srsltid=AfmBOopvEYPNWR3lh3_nh46jJxnYWESqNo07pANJhJ3pTBwkhLByDD5J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hyperlink" Target="https://www.linkedin.com/posts/anis-hassen_communication-modes-simplified-ever-activity-7310553982957948928-FHnT/" TargetMode="External"/><Relationship Id="rId4" Type="http://schemas.openxmlformats.org/officeDocument/2006/relationships/image" Target="../media/image22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10: </a:t>
            </a:r>
            <a:r>
              <a:rPr lang="en-US" sz="2500">
                <a:solidFill>
                  <a:schemeClr val="lt1"/>
                </a:solidFill>
              </a:rPr>
              <a:t>Communication Protocols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February 23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2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17,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LabVIEW 2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26,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CD35529-FC63-DDF1-655B-2AC0C85AA128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/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/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 questions?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/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/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/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Serial Communication</a:t>
            </a:r>
            <a:endParaRPr lang="en-US"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Communication between different signal could happen in 2 ways,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Parallel communication vs Serial communication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not do parallel communication?</a:t>
            </a: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Requires many I/O pins, these are already very limited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With the wires, we can run into electromagnetic interference (EMI) and cross-talk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Serial communication, serializes data into single-bit stream, requires much less circuit complexity. What is the trade-off?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Time! 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Serializing an N-bit word requires N discrete clock cycles!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FAD76F1-3EEB-1CE5-BCF3-2CF0F28E5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3307880-10A8-466C-A82F-AEF87DAF4436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Interferences</a:t>
            </a:r>
            <a:endParaRPr lang="en-US"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1D1F95D-0303-C926-6050-F0B7D14BB20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271C797-5FB9-965B-240D-78A6D4BB0916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7778F9E7-AF03-7080-8DBC-5D3D6C35FD92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F0F792E9-4626-2DD3-8C2F-A7B486F4A06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73BED0-95BB-B9E3-7610-7541656B69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5690095-507F-DB7F-A84A-08C1B586B91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72176AFC-B1C1-C8A6-2878-52B8AA67CF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0450786-7484-40DA-33F3-14628489E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8E5976D0-D247-2180-9FE4-1870155FD0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11277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7FECF8-EBAB-6751-1A3F-B8ACA0522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E584330-3BFD-10BF-0887-245CBFA444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719190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There are 4 interference couplings: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Conductive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: You have physical connection causing interference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Inductive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: source and victim are separated by a short distance (typically less than a wavelength). Can be of two kinds, electrical induction and magnetic induction. 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It is common to refer to electrical induction as 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capacitive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coupling, and to magnetic induction as 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inductive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coupling.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Capacitive: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occurs when a varying electrical field exists between two adjacent conductors, inducing a change in voltage on the receiving conductor.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Inductive: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magnetic coupling occurs when a varying magnetic field exists between two parallel conductors, inducing a change in voltage along the receiving conductor.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Radiative: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electromagnetic coupling occurs when source and victim are separated by a large distance. Source and victim act as radio antennas: the source emits or radiates an electromagnetic wave which is picked up or received by the victim.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4D7BB0-61A9-67FC-EE92-FCE51354AA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14C4942-D2B2-5C2C-6B0B-EC1676AA119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- Interferences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30C2115-54E5-613C-8947-5EE9742311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8E4B52-87C7-03E0-4D2B-2221E3E2E6D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98937B-C433-974C-6071-64F7F1F225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F6971BA-B5D0-ED25-6D47-0747303D5E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27603F9-A988-577D-C3A3-D6CD6395BB2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6E84985-2BBC-D75E-FC29-4D57D5720AD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A14C56A-FF96-2426-B536-F84D74CC12ED}"/>
              </a:ext>
            </a:extLst>
          </p:cNvPr>
          <p:cNvGrpSpPr/>
          <p:nvPr/>
        </p:nvGrpSpPr>
        <p:grpSpPr>
          <a:xfrm>
            <a:off x="6269236" y="1626064"/>
            <a:ext cx="5559581" cy="4062325"/>
            <a:chOff x="3543301" y="1928812"/>
            <a:chExt cx="4913074" cy="32004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D3078A5-7752-03DA-28AF-B4F3F489AB95}"/>
                </a:ext>
              </a:extLst>
            </p:cNvPr>
            <p:cNvSpPr txBox="1"/>
            <p:nvPr/>
          </p:nvSpPr>
          <p:spPr>
            <a:xfrm>
              <a:off x="3994169" y="4929187"/>
              <a:ext cx="3675308" cy="2000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50" dirty="0">
                  <a:hlinkClick r:id="rId4"/>
                </a:rPr>
                <a:t>https://en.wikipedia.org/wiki/Electromagnetic_interference</a:t>
              </a:r>
              <a:r>
                <a:rPr lang="en-US" sz="1050" dirty="0"/>
                <a:t> </a:t>
              </a:r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3684A5F-CA2F-28C0-49AD-4A49C4B0A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r="3767"/>
            <a:stretch>
              <a:fillRect/>
            </a:stretch>
          </p:blipFill>
          <p:spPr>
            <a:xfrm>
              <a:off x="3543301" y="1928812"/>
              <a:ext cx="4913074" cy="3000375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F2D42A-0976-7F15-4C23-BA3AB1D99CCA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10467642" y="4190538"/>
            <a:ext cx="866441" cy="9463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6855C2B-F69B-16AC-032E-C990BDD8FCFC}"/>
              </a:ext>
            </a:extLst>
          </p:cNvPr>
          <p:cNvSpPr txBox="1"/>
          <p:nvPr/>
        </p:nvSpPr>
        <p:spPr>
          <a:xfrm>
            <a:off x="10742600" y="5136910"/>
            <a:ext cx="11829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Air acts as a conductor as well</a:t>
            </a:r>
          </a:p>
        </p:txBody>
      </p:sp>
    </p:spTree>
    <p:extLst>
      <p:ext uri="{BB962C8B-B14F-4D97-AF65-F5344CB8AC3E}">
        <p14:creationId xmlns:p14="http://schemas.microsoft.com/office/powerpoint/2010/main" val="126141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040C2A3-EB7B-E7F6-3486-472A4B48A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422022D-3D6E-0FD8-3529-1D91E9C506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Let’s try to explain how we get capacitive interference!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V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1500" b="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t</m:t>
                    </m:r>
                    <m:r>
                      <a:rPr lang="en-US" sz="1500" b="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be the time-varying voltage on the noisy source wires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V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  <m:r>
                      <a:rPr lang="en-US" sz="15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15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t</m:t>
                    </m:r>
                    <m:r>
                      <a:rPr lang="en-US" sz="15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be the voltage on the victim wire. 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12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be the mutual stray capacitance between the two wires (could be air), let the victim wire have a resistance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R</m:t>
                    </m:r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The fundamental equation for current through a capacitor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5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I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5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C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The current injected from wire 1 into wire 2,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noise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, is driven from the difference between them across the capacitor.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a:rPr lang="en-US" sz="15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12</m:t>
                          </m:r>
                        </m:sub>
                      </m:sSub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5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5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5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In practice, the noise source voltage is much larger than the victim’s wire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V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≫</m:t>
                    </m:r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V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), which allows the voltage derivative to simplify to: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12</m:t>
                          </m:r>
                        </m:sub>
                      </m:sSub>
                      <m:f>
                        <m:fPr>
                          <m:ctrl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dt</m:t>
                          </m:r>
                        </m:den>
                      </m:f>
                      <m:r>
                        <a:rPr lang="en-US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≈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12</m:t>
                          </m:r>
                        </m:sub>
                      </m:sSub>
                      <m:f>
                        <m:fPr>
                          <m:ctrl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5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422022D-3D6E-0FD8-3529-1D91E9C506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blipFill>
                <a:blip r:embed="rId3"/>
                <a:stretch>
                  <a:fillRect l="-213" t="-25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E6F434-EC53-7704-1D46-996DAD5BEBC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BFDB0E-6ECD-D980-B5FA-5E87AE54AE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Interferences - Capacitive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B90F7FD-FB2E-F08C-43AB-B23C2F236B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F40BC3-F795-1872-CE66-7DDE02CDF5C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88327DF-9B2B-B914-CF1C-C429C8A5A06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84491F-25F2-0A2D-76A5-B1078B262D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218655-DB36-6E32-97C6-CB62756E6A5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B9392B-E800-F01A-3F83-80E89DB750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9577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AAC887-D2D2-5A17-9CBA-3C11B96D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06B594-3503-62C2-C03D-687D4C620BC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By Ohm’s law, the inject noise current flows through the victim’s wire </a:t>
                </a:r>
                <a:r>
                  <a:rPr lang="en-US" sz="1800" dirty="0" err="1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impedence</a:t>
                </a: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to ground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R</m:t>
                    </m:r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), creating a noise voltage: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≈</m:t>
                      </m:r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R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R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12</m:t>
                          </m:r>
                        </m:sub>
                      </m:sSub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interference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noise</m:t>
                        </m:r>
                      </m:sub>
                    </m:sSub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is directly proportion to the rate of change of the source voltage, even if the actual voltage amplitude is moderate! 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What causes more digital signal interference?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High-frequency vs low-frequency</a:t>
                </a: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Assuming a duty cycle of 50%?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EPwm7Regs.</a:t>
                </a:r>
                <a:r>
                  <a:rPr lang="en-US" sz="1800" dirty="0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TBPRD</a:t>
                </a:r>
                <a:r>
                  <a:rPr lang="en-US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= 5000;  EPwm7Regs.</a:t>
                </a:r>
                <a:r>
                  <a:rPr lang="en-US" sz="1800" dirty="0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TBPRD</a:t>
                </a:r>
                <a:r>
                  <a:rPr lang="en-US" sz="1800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 = 500;</a:t>
                </a: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06B594-3503-62C2-C03D-687D4C620BC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683C7E-7158-75B0-5659-F3A0CC7F9DB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ABA672-B9C0-C40E-48E9-C7C4C72EAA5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-</a:t>
            </a:r>
            <a:r>
              <a:rPr lang="en-US" sz="2400" dirty="0">
                <a:solidFill>
                  <a:schemeClr val="lt1"/>
                </a:solidFill>
              </a:rPr>
              <a:t> Interferences - Capacitive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A5230B-52D6-AEC7-6FB9-E0E728389EA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5BCE374-187C-F87B-0D96-46E82848F44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70872BA-30D8-4AB8-EC55-509E5A0C0B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463576-3FCC-78BE-2445-D5CE8DAA64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51FC57-D594-0E18-9A2B-B374AEB1B7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49CED8-3749-DBD1-ABDD-540C421201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37AD69F-FA9F-ED67-FBD2-B2216717ADCD}"/>
              </a:ext>
            </a:extLst>
          </p:cNvPr>
          <p:cNvSpPr/>
          <p:nvPr/>
        </p:nvSpPr>
        <p:spPr>
          <a:xfrm>
            <a:off x="4258673" y="4297041"/>
            <a:ext cx="1604997" cy="4540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C09F26-E24A-C1A5-34E8-AE2880A14416}"/>
              </a:ext>
            </a:extLst>
          </p:cNvPr>
          <p:cNvSpPr/>
          <p:nvPr/>
        </p:nvSpPr>
        <p:spPr>
          <a:xfrm>
            <a:off x="6096000" y="5370236"/>
            <a:ext cx="2862562" cy="4540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76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E553810-0993-6CA6-C592-FEEBB293F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9462B77-3A90-663C-F3D7-57DB59DCCA5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7352927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Let’s try to explain how we get inductive interference!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Coupling between the circuits can occur when the magnetic field lines from one of the circuits pass through the loop formed by the other circuit.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Magnetic coupling is governed by </a:t>
                </a:r>
                <a:r>
                  <a:rPr lang="en-US" sz="1500" b="1" dirty="0">
                    <a:latin typeface="Arial"/>
                    <a:ea typeface="Arial"/>
                    <a:cs typeface="Arial"/>
                    <a:sym typeface="Arial"/>
                  </a:rPr>
                  <a:t>Ampere's Law </a:t>
                </a: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and </a:t>
                </a:r>
                <a:r>
                  <a:rPr lang="en-US" sz="1500" b="1" dirty="0">
                    <a:latin typeface="Arial"/>
                    <a:ea typeface="Arial"/>
                    <a:cs typeface="Arial"/>
                    <a:sym typeface="Arial"/>
                  </a:rPr>
                  <a:t>Faraday's Law </a:t>
                </a: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of Induction. A time-varying current in a source wire generates a time-varying magnetic field, which penetrates the loop area formed by the victim wire and its ground return path, inducing an electromotive force (EMF).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I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  <m:r>
                      <a:rPr lang="en-US" sz="1500" b="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t</m:t>
                    </m:r>
                    <m:r>
                      <a:rPr lang="en-US" sz="1500" b="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be the time-varying current for. Assuming it is a long, straight wire, we use Ampere’s Law (</a:t>
                </a:r>
                <a14:m>
                  <m:oMath xmlns:m="http://schemas.openxmlformats.org/officeDocument/2006/math">
                    <m:nary>
                      <m:naryPr>
                        <m:chr m:val="∮"/>
                        <m:grow m:val="on"/>
                        <m:subHide m:val="on"/>
                        <m:supHide m:val="on"/>
                        <m:ctrlPr>
                          <a:rPr lang="en-US" sz="1500" smtClean="0">
                            <a:latin typeface="Cambria Math" panose="02040503050406030204" pitchFamily="18" charset="0"/>
                            <a:sym typeface="Arial"/>
                          </a:rPr>
                        </m:ctrlPr>
                      </m:naryPr>
                      <m:sub/>
                      <m:sup/>
                      <m:e>
                        <m:r>
                          <a:rPr lang="en-US" sz="1500" b="1" i="1" smtClean="0">
                            <a:latin typeface="Cambria Math" panose="02040503050406030204" pitchFamily="18" charset="0"/>
                            <a:sym typeface="Arial"/>
                          </a:rPr>
                          <m:t>𝑩</m:t>
                        </m:r>
                        <m:r>
                          <a:rPr lang="en-US" sz="1500" i="0" smtClean="0">
                            <a:latin typeface="Cambria Math" panose="02040503050406030204" pitchFamily="18" charset="0"/>
                            <a:sym typeface="Arial"/>
                          </a:rPr>
                          <m:t>⋅ⅆ</m:t>
                        </m:r>
                        <m:r>
                          <a:rPr lang="en-US" sz="1500" b="1" i="1" smtClean="0">
                            <a:latin typeface="Cambria Math" panose="02040503050406030204" pitchFamily="18" charset="0"/>
                            <a:sym typeface="Arial"/>
                          </a:rPr>
                          <m:t>𝒍</m:t>
                        </m:r>
                      </m:e>
                    </m:nary>
                    <m:r>
                      <a:rPr lang="en-US" sz="1500" i="0" smtClean="0">
                        <a:latin typeface="Cambria Math" panose="02040503050406030204" pitchFamily="18" charset="0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lang="en-US" sz="1500" i="1" smtClean="0">
                            <a:latin typeface="Cambria Math" panose="02040503050406030204" pitchFamily="18" charset="0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1500" i="0" smtClean="0">
                            <a:latin typeface="Cambria Math" panose="02040503050406030204" pitchFamily="18" charset="0"/>
                            <a:sym typeface="Arial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lang="en-US" sz="1500" i="1" smtClean="0">
                            <a:latin typeface="Cambria Math" panose="02040503050406030204" pitchFamily="18" charset="0"/>
                            <a:sym typeface="Arial"/>
                          </a:rPr>
                          <m:t>𝐼</m:t>
                        </m:r>
                      </m:e>
                      <m:sub>
                        <m:r>
                          <a:rPr lang="en-US" sz="1500" i="1" smtClean="0">
                            <a:latin typeface="Cambria Math" panose="02040503050406030204" pitchFamily="18" charset="0"/>
                            <a:sym typeface="Arial"/>
                          </a:rPr>
                          <m:t>𝑒𝑛𝑐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) to find the magnetic field at radial distance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r</m:t>
                    </m:r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 dirty="0" smtClean="0">
                          <a:latin typeface="Cambria Math" panose="02040503050406030204" pitchFamily="18" charset="0"/>
                          <a:sym typeface="Arial"/>
                        </a:rPr>
                        <m:t>𝐵</m:t>
                      </m:r>
                      <m:d>
                        <m:dPr>
                          <m:ctrlP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𝑟</m:t>
                          </m:r>
                          <m:r>
                            <a:rPr lang="en-US" sz="1500" i="0" dirty="0" smtClean="0">
                              <a:latin typeface="Cambria Math" panose="02040503050406030204" pitchFamily="18" charset="0"/>
                              <a:sym typeface="Arial"/>
                            </a:rPr>
                            <m:t>,</m:t>
                          </m:r>
                          <m: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1500" i="0" dirty="0" smtClean="0"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5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500" i="0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5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5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500" i="0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15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sz="1500" i="0" dirty="0" smtClean="0">
                              <a:latin typeface="Cambria Math" panose="02040503050406030204" pitchFamily="18" charset="0"/>
                              <a:sym typeface="Arial"/>
                            </a:rPr>
                            <m:t>2</m:t>
                          </m:r>
                          <m: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𝜋</m:t>
                          </m:r>
                          <m: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𝑟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15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𝜙</m:t>
                          </m:r>
                        </m:e>
                      </m:acc>
                    </m:oMath>
                  </m:oMathPara>
                </a14:m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(there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dirty="0">
                            <a:latin typeface="Cambria Math" panose="02040503050406030204" pitchFamily="18" charset="0"/>
                            <a:sym typeface="Arial"/>
                          </a:rPr>
                        </m:ctrlPr>
                      </m:sSub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1500" dirty="0">
                            <a:latin typeface="Cambria Math" panose="02040503050406030204" pitchFamily="18" charset="0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, is the permeability of free space and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500" i="1" dirty="0">
                            <a:latin typeface="Cambria Math" panose="02040503050406030204" pitchFamily="18" charset="0"/>
                            <a:sym typeface="Arial"/>
                          </a:rPr>
                        </m:ctrlPr>
                      </m:accPr>
                      <m:e>
                        <m:r>
                          <a:rPr lang="en-US" sz="1500" i="1" dirty="0">
                            <a:latin typeface="Cambria Math" panose="02040503050406030204" pitchFamily="18" charset="0"/>
                            <a:sym typeface="Arial"/>
                          </a:rPr>
                          <m:t>𝜙</m:t>
                        </m:r>
                      </m:e>
                    </m:acc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represents the flux)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5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9462B77-3A90-663C-F3D7-57DB59DCCA5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7352927" cy="4821102"/>
              </a:xfrm>
              <a:prstGeom prst="rect">
                <a:avLst/>
              </a:prstGeom>
              <a:blipFill>
                <a:blip r:embed="rId3"/>
                <a:stretch>
                  <a:fillRect l="-332" t="-25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01F065-F6E7-D6D8-DE0F-AABD0B55A9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5A78B60-B11D-A3DC-1E60-DFC069AF3A0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Interferences - Inductive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141F66B-3AE3-3256-4B55-8A8C9C4F1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5F620FF-E919-339A-F7D0-8CB581A7DFA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26BE268-749B-832D-D911-C5BE24B7AC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CE9D18-8E15-C4EC-14CF-BBFB30061C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5DF155-07AC-5538-C8B8-C11F311B2B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CD11F-7C93-4AE6-D3FF-1FC4A4A872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3B811EB4-FFC8-B884-FA4E-2DE4D94CF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29737" y="2115192"/>
            <a:ext cx="4099080" cy="2627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201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2C46854-055C-B5AF-C373-DC6DDF6C9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B6DE34-97B3-499D-8C3E-581B4B50560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11529573" cy="79777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If the victim wire forms a rectangular loop ( not often the case but good enough for showing this specific case), with it’s return path. Having a length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l</m:t>
                    </m:r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and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5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 from the source wire. The magnetic flux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B</m:t>
                        </m:r>
                      </m:sub>
                    </m:sSub>
                  </m:oMath>
                </a14:m>
                <a:r>
                  <a:rPr lang="en-US" sz="1500" dirty="0">
                    <a:latin typeface="Arial"/>
                    <a:ea typeface="Arial"/>
                    <a:cs typeface="Arial"/>
                    <a:sym typeface="Arial"/>
                  </a:rPr>
                  <a:t>, though this loop is the surface integral of the magnetic field.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5B6DE34-97B3-499D-8C3E-581B4B50560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11529573" cy="797771"/>
              </a:xfrm>
              <a:prstGeom prst="rect">
                <a:avLst/>
              </a:prstGeom>
              <a:blipFill>
                <a:blip r:embed="rId3"/>
                <a:stretch>
                  <a:fillRect l="-212" t="-1527" b="-53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EE58DB9-5625-990F-F409-EB9B083C05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7CA482-AB72-74E5-0248-749A0D818BF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Interferences - Inductive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1E9A12-AB74-EDCA-180A-4B3D72EB2B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0FB80E4-BF7C-BFC5-F190-CF499181B4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B2A733-C909-DB25-00C1-A1F2DBAC6A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0EA645-D3D2-7CF1-299D-FDCAED47ED5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77CDCEC-81D1-298B-318D-D346156D1A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797F273-8E95-CE18-1F68-F4DBF54C924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39B0FC0-03D0-7B0B-BA2C-429A87EC5F84}"/>
              </a:ext>
            </a:extLst>
          </p:cNvPr>
          <p:cNvSpPr txBox="1"/>
          <p:nvPr/>
        </p:nvSpPr>
        <p:spPr>
          <a:xfrm>
            <a:off x="9264863" y="6014058"/>
            <a:ext cx="13300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Animate this!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FBC60A7-C44A-88C2-2880-42A130B2D8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3557421" y="2247275"/>
            <a:ext cx="5077158" cy="417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0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AE1F92-AC29-518F-C27B-044A750C3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3396D8D-BDCA-968E-907C-556491E1235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522754" cy="50745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Cambria Math" panose="02040503050406030204" pitchFamily="18" charset="0"/>
                    <a:sym typeface="Arial"/>
                  </a:rPr>
                  <a:t>Integrating the field across the area.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Cambria Math" panose="02040503050406030204" pitchFamily="18" charset="0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𝐵</m:t>
                          </m:r>
                        </m:sub>
                      </m:sSub>
                      <m:r>
                        <a:rPr lang="en-US" sz="2000" i="0" dirty="0"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nary>
                        <m:naryPr>
                          <m:chr m:val="∬"/>
                          <m:limLoc m:val="subSup"/>
                          <m:supHide m:val="on"/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𝐵</m:t>
                          </m:r>
                          <m:r>
                            <a:rPr lang="en-US" sz="2000" i="0" dirty="0">
                              <a:latin typeface="Cambria Math" panose="02040503050406030204" pitchFamily="18" charset="0"/>
                              <a:sym typeface="Arial"/>
                            </a:rPr>
                            <m:t>⋅ⅆ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𝐴</m:t>
                          </m:r>
                        </m:e>
                      </m:nary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Substituting and integrating over the area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dA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l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dr</m:t>
                    </m:r>
                  </m:oMath>
                </a14:m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𝛷</m:t>
                          </m:r>
                        </m:e>
                        <m:sub>
                          <m: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𝐵</m:t>
                          </m:r>
                        </m:sub>
                      </m:sSub>
                      <m:r>
                        <a:rPr lang="en-US" sz="2000" i="0" dirty="0" smtClean="0"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nary>
                        <m:naryPr>
                          <m:limLoc m:val="subSup"/>
                          <m:grow m:val="on"/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i="0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i="0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2000" i="0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i="1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sz="2000" i="0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  <m:t>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 dirty="0" smtClean="0">
                                          <a:latin typeface="Cambria Math" panose="02040503050406030204" pitchFamily="18" charset="0"/>
                                          <a:sym typeface="Arial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000" i="0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2</m:t>
                                  </m:r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𝜋</m:t>
                                  </m:r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𝑟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000" i="1" dirty="0" smtClean="0">
                          <a:latin typeface="Cambria Math" panose="02040503050406030204" pitchFamily="18" charset="0"/>
                          <a:sym typeface="Arial"/>
                        </a:rPr>
                        <m:t>𝑙</m:t>
                      </m:r>
                      <m:sSub>
                        <m:sSub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𝑑</m:t>
                          </m:r>
                        </m:e>
                        <m:sub>
                          <m: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000" dirty="0">
                  <a:latin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𝐵</m:t>
                          </m:r>
                        </m:sub>
                      </m:sSub>
                      <m:r>
                        <a:rPr lang="en-US" sz="2000" dirty="0"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l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sz="2000" dirty="0">
                              <a:latin typeface="Cambria Math" panose="02040503050406030204" pitchFamily="18" charset="0"/>
                              <a:sym typeface="Arial"/>
                            </a:rPr>
                            <m:t>2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subSup"/>
                          <m:grow m:val="on"/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r</m:t>
                              </m:r>
                            </m:den>
                          </m:f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𝑟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𝛷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𝐵</m:t>
                          </m:r>
                        </m:sub>
                      </m:sSub>
                      <m:r>
                        <a:rPr lang="en-US" sz="2000" dirty="0">
                          <a:latin typeface="Cambria Math" panose="02040503050406030204" pitchFamily="18" charset="0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l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sz="2000" dirty="0">
                              <a:latin typeface="Cambria Math" panose="02040503050406030204" pitchFamily="18" charset="0"/>
                              <a:sym typeface="Arial"/>
                            </a:rPr>
                            <m:t>2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𝜋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𝑟</m:t>
                          </m:r>
                        </m:den>
                      </m:f>
                      <m:func>
                        <m:func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  <a:sym typeface="Arial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sz="2000" b="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sz="2000" b="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3396D8D-BDCA-968E-907C-556491E1235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522754" cy="5074536"/>
              </a:xfrm>
              <a:prstGeom prst="rect">
                <a:avLst/>
              </a:prstGeom>
              <a:blipFill>
                <a:blip r:embed="rId3"/>
                <a:stretch>
                  <a:fillRect l="-1028" t="-72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3002FC6-E3E8-572A-B600-7CBBCF1C37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08B95C-0BBF-CC82-9110-FC475C78CD7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Interferences - Inductive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888AFC-D075-BD8D-DD0B-338D1F71CF3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95F8CA8-84D8-8DFA-EBE3-24C97D9167E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523BD92-7754-557F-8C94-5FB9E703BDF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CD042B-EC95-EC00-0937-18D32098E3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3941CD-DC0D-2212-5B6D-10F40B533C6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3B8BBB-B406-ECA8-EF03-B57F4AA9A15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302A98A-CEE1-9372-173D-59C903A107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899564" y="1341110"/>
            <a:ext cx="5077158" cy="417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088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9CB3F5C-6E8E-B82B-51A6-A25B573E4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E5C311E-7499-8CF3-2861-156FCBB5C63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522754" cy="50745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Faraday’s Law states that the induced voltage (EMF) in a closed loop is equal to the negative rate of change of magnetic flux through the loop: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=−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𝛷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rial"/>
                    <a:ea typeface="Arial"/>
                    <a:cs typeface="Arial"/>
                    <a:sym typeface="Arial"/>
                  </a:rPr>
                  <a:t>Substituting we get: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−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b="0" i="1" dirty="0" smtClean="0">
                              <a:latin typeface="Cambria Math" panose="02040503050406030204" pitchFamily="18" charset="0"/>
                              <a:sym typeface="Arial"/>
                            </a:rPr>
                            <m:t>l</m:t>
                          </m:r>
                        </m:num>
                        <m:den>
                          <m:r>
                            <a:rPr lang="en-US" sz="2000" dirty="0">
                              <a:latin typeface="Cambria Math" panose="02040503050406030204" pitchFamily="18" charset="0"/>
                              <a:sym typeface="Arial"/>
                            </a:rPr>
                            <m:t>2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𝜋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  <m:t>𝑟</m:t>
                          </m:r>
                        </m:den>
                      </m:f>
                      <m:func>
                        <m:funcPr>
                          <m:ctrlPr>
                            <a:rPr lang="en-US" sz="20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000" dirty="0">
                              <a:latin typeface="Cambria Math" panose="02040503050406030204" pitchFamily="18" charset="0"/>
                              <a:sym typeface="Arial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Arial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20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en-US" sz="2000" b="0" i="1" dirty="0" smtClean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t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sym typeface="Arial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20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dt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E5C311E-7499-8CF3-2861-156FCBB5C63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522754" cy="5074536"/>
              </a:xfrm>
              <a:prstGeom prst="rect">
                <a:avLst/>
              </a:prstGeom>
              <a:blipFill>
                <a:blip r:embed="rId3"/>
                <a:stretch>
                  <a:fillRect l="-1028" t="-60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3F112B1-E6E1-AA67-74D6-7C4A971EEF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DA730E-BFA0-88D0-75AE-38E738356E3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Interferences - Inductive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618560E-9B76-88CC-E452-9BE8C74555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48069D4-C784-D34B-261D-480048B8586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C2567D9-699D-3DC5-D22C-6BB5EA9818B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16CDFA-8140-D355-7733-B4622131B4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E7B5226-E8CC-6E43-C05A-3AA00361C7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212C46A-BA33-2E31-5466-A3D5AE9B82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5247E9EB-6C19-47E0-2230-76E8EDED30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899564" y="1341110"/>
            <a:ext cx="5077158" cy="417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680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F17008-1B7C-7A5C-D565-DABBBBCD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C69FC21-4FE2-D5D3-B148-B6E085C215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Thus, given the final inference noise,</a:t>
                </a: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noise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18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−</m:t>
                      </m:r>
                      <m:f>
                        <m:fPr>
                          <m:ctrlPr>
                            <a:rPr lang="en-US" sz="18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8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800" dirty="0">
                                  <a:latin typeface="Cambria Math" panose="02040503050406030204" pitchFamily="18" charset="0"/>
                                  <a:sym typeface="Arial"/>
                                </a:rPr>
                                <m:t>0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800" i="1" dirty="0">
                              <a:latin typeface="Cambria Math" panose="02040503050406030204" pitchFamily="18" charset="0"/>
                              <a:sym typeface="Arial"/>
                            </a:rPr>
                            <m:t>l</m:t>
                          </m:r>
                        </m:num>
                        <m:den>
                          <m:r>
                            <a:rPr lang="en-US" sz="1800" dirty="0">
                              <a:latin typeface="Cambria Math" panose="02040503050406030204" pitchFamily="18" charset="0"/>
                              <a:sym typeface="Arial"/>
                            </a:rPr>
                            <m:t>2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  <a:sym typeface="Arial"/>
                            </a:rPr>
                            <m:t>𝜋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  <a:sym typeface="Arial"/>
                            </a:rPr>
                            <m:t>𝑟</m:t>
                          </m:r>
                        </m:den>
                      </m:f>
                      <m:func>
                        <m:funcPr>
                          <m:ctrlPr>
                            <a:rPr lang="en-US" sz="1800" i="1" dirty="0">
                              <a:latin typeface="Cambria Math" panose="02040503050406030204" pitchFamily="18" charset="0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dirty="0">
                              <a:latin typeface="Cambria Math" panose="02040503050406030204" pitchFamily="18" charset="0"/>
                              <a:sym typeface="Arial"/>
                            </a:rPr>
                            <m:t>ln</m:t>
                          </m:r>
                        </m:fName>
                        <m:e>
                          <m:f>
                            <m:fPr>
                              <m:ctrlPr>
                                <a:rPr lang="en-US" sz="18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8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Arial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8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I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18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t</m:t>
                              </m:r>
                              <m:r>
                                <a:rPr lang="en-US" sz="1800" i="1" dirty="0">
                                  <a:latin typeface="Cambria Math" panose="02040503050406030204" pitchFamily="18" charset="0"/>
                                  <a:sym typeface="Arial"/>
                                </a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dt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interference voltage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noise</m:t>
                        </m:r>
                      </m:sub>
                    </m:sSub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is directly proportion to the rate of change of the current in the interfering wire! 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This is why heavy machinery or circuits that draw massive, pulsating currents (like motor drives) are notorious sources of magnetic Electromagnetic Interference (EMI)!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C69FC21-4FE2-D5D3-B148-B6E085C215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1782D00-2F9E-CB81-BF19-73F2CF122E6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89DC00-0F1C-7538-4AA6-0F1C569B6C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-</a:t>
            </a:r>
            <a:r>
              <a:rPr lang="en-US" sz="2400" dirty="0">
                <a:solidFill>
                  <a:schemeClr val="lt1"/>
                </a:solidFill>
              </a:rPr>
              <a:t> Interferences - Capacitive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A2DCD9-805B-BBC8-D52E-ED32F7CC2C6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34D1F8-BC9A-FAD3-DF33-DC28A3B501D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E122DA3-15A3-22CC-86AB-2204A0E75F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13C6AC-2D99-2185-3360-7F8CF7E6D3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1901639-5B12-A481-BBAE-7E7A06E350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58338-80EC-C714-C1B9-D6F901134B8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6787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EDC9B6DE-CD64-5B1D-4001-E8D9BF4DE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9C75C4BB-CFBC-E823-E88A-C70278DBB76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Serial Communication</a:t>
            </a:r>
            <a:endParaRPr lang="en-US"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7AA5307-D48E-1E1B-468D-4CD9036B6A8E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0022EC9C-AF68-6E2E-E94C-C0D4931ED87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C9B0655-9B3F-61BE-1528-B0FA56E7738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C000F50-1313-4F99-8FCC-B64799CAC77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52EB9EDA-9BF9-1FD5-8AD7-15889A955A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D5276A4-A574-7AF1-5F39-7AF7DD1E797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C8B979D-1673-B96E-CA5F-4A8BEB8A438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412B2F6-B81B-889C-2487-F175A54E5E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97958489-3A84-5021-1F6B-F1182744F3D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17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6F0F552A-34B4-E9A2-EF72-F0F5E6274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B475722-7852-B794-D7AC-24FB25E51702}"/>
              </a:ext>
            </a:extLst>
          </p:cNvPr>
          <p:cNvGrpSpPr/>
          <p:nvPr/>
        </p:nvGrpSpPr>
        <p:grpSpPr>
          <a:xfrm>
            <a:off x="2206906" y="2674628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E3BCEA4A-B251-BC65-0A4B-A707B06A45DB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Notation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4AB43262-0C4F-F28F-38CC-5DB57B4AB5F4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55242F9D-4C47-443A-6DA3-EA300AA72D5B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DC775022-A041-8ED9-5EBB-7621D8FD49AC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8AAFAB7-145A-DEBD-B18C-21C31EFD1D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D2C60DB-BA4F-B08F-70BE-851172669B9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4247FBCA-4866-1130-EB46-8EA483B11B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94C0373D-A724-54AE-21B4-CCFF4DAEF0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7CCF91C-4EFA-5DD5-4703-989E601B6A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19CA8C5-0427-651D-39E5-F00778AC1F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0161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F62EC-16B5-C75E-0F3C-9785154A3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1E50CBD-6144-F5D1-4782-0C605B8F2E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want to be able to communicate with multiple devices. We can a “Master / Slave” paradigm in communication.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“Master / Slave” is still commonly used but sometimes called Peripheral In and Peripheral Out.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“Master” Node, holds the authority to initiate data transfers and generates the synchronization clock.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“Slave” Nodes are strictly reactive and remain low until explicitly addressed.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Think of it as the “Master” node as a “Teacher” asking you to do something, the “Slave” nodes are the “students” doing the work and reporting the results back.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5270-3C0C-BD48-721C-32F70E1D8C3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D48B32-E626-95D5-4084-96C399CE9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Multiple Devices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AE29E5-A472-309A-3DE1-B0247F0031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C3DD1A-4D34-65BD-E439-AFE51B5AC51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B5910B-29AD-3125-843A-31E18936851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3DFE6AF-7AB6-AD0A-A80D-FFB5AD79FEC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4C39E0D-8327-E057-CB04-9201E8248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03CAFB-3F8B-C2CB-1998-48A1DD9764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70475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EB0367F-A769-47E2-3D45-03753F24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600BA93-AE60-F4ED-B7E2-C577ADC8729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C7063A-110F-CA01-BB52-0E860F07E0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Multiple Devices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2F2D3D4-7109-1D43-62E8-48434D27DD2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00FC39-51BC-794E-1381-CD0F692BB60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9655E87-219E-51D2-0837-6EBFCEEE242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CAF377-E40A-6F63-BDC5-8FBE436B45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2BEBE-0916-C76B-9888-602ED06E765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37A743D-86D6-8A51-C14D-AA236921564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F2DB4266-0321-68D1-A7B8-0DC3666EEF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18275" y="951070"/>
            <a:ext cx="5155450" cy="54253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C2F912-C93C-F03C-4DE7-D6A1862D2C91}"/>
              </a:ext>
            </a:extLst>
          </p:cNvPr>
          <p:cNvSpPr txBox="1"/>
          <p:nvPr/>
        </p:nvSpPr>
        <p:spPr>
          <a:xfrm>
            <a:off x="4500716" y="6418067"/>
            <a:ext cx="429656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hlinkClick r:id="rId6"/>
              </a:rPr>
              <a:t>https://commons.wikimedia.org/wiki/File:Prinzip_MIMO.svg</a:t>
            </a:r>
            <a:r>
              <a:rPr 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28058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0395DD-37F8-A7B6-B647-B9252064B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A0CE324-C301-C820-0EE3-90E95E3E0F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Asynchronous networks (SCI/UART) operate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without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shared, physical clock line routing between nodes.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Nodes rely on independent, internal clocks that must be pre-configured to a matching baud-rate! ( Remember the UART lecture?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could be some issue?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You don’t properly communicate the correct baud rate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internal clocks could drift causing the receiver to sample data out of phase, corrupting the data 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F97E9A-F5E6-3433-689A-CCC2E6693A8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20183-E4BD-0BFF-1D1F-994A2686453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Asynchronous Communication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8904CD0-286D-F91F-A905-291355B1331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128093-8245-C834-0815-A4E443B42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2F280F5-871C-8483-F445-F9DADA4EE0D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08C8AF-CFF8-B3D7-0D5F-4E49923C019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CC7DAE-10AB-41E0-9B9B-2B6C6243EB5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972DEB-BDE9-BCF5-9C46-0A12169A370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5119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0CF8A-0E0A-4767-51A8-52D7250B7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2CEA2-560B-AD6B-6C17-48FA06E0D8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Synchronous networks (SPI/I2C) operate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shared, physical clock line routing between nodes. The Master node routes a clock to all Slave devices.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This shared clock signal dictates the precise times that data lines are driven and sampled!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could be some issue?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Extra wiring required, at least one for the clock and one for the data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54969F-8A71-33EB-BDDA-023FEEF854B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E984245-CE1C-4896-8B04-18863A6EF0A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Synchronous Communication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DDF8414-A14A-E3F2-87F4-9EFDA1C7D3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8881F2-A36F-71CB-43DF-BD63ED2A396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C1BA1D-E816-4D19-F1B9-98A0DAEF36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71C4689-D273-4081-F35D-CE02FCEEFD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76D6BA-E347-1DED-E635-0E67234982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BA2052-6DB8-94EA-4649-9A483759D9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0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F53376-15D0-00FB-0E3A-16785845D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8AE2CAC-0D6E-C146-E18D-483CB9E8C6C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CC53E3B-0565-87E3-0E78-684BE597409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 – Simplex vs Half-Duplex vs Full-Duplex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369FBA1-653F-A825-F0D1-FA441B8AD95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A3CFE2-F40B-F97D-15C9-D419A9AB83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DAAA91E-1C80-9815-07B5-B44ABFA2E2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967FF0-0709-1B3B-BA44-F441E173F3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501262-88A2-9A72-68B8-20DF8F18F73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3CB847B-612D-5161-C8B2-65CA94AE74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3C3DA59E-3B3B-AB7C-F807-AE38038C7567}"/>
              </a:ext>
            </a:extLst>
          </p:cNvPr>
          <p:cNvGrpSpPr/>
          <p:nvPr/>
        </p:nvGrpSpPr>
        <p:grpSpPr>
          <a:xfrm>
            <a:off x="8734649" y="982357"/>
            <a:ext cx="3094168" cy="5567470"/>
            <a:chOff x="8734649" y="982357"/>
            <a:chExt cx="3094168" cy="5567470"/>
          </a:xfrm>
        </p:grpSpPr>
        <p:pic>
          <p:nvPicPr>
            <p:cNvPr id="3076" name="Picture 4" descr="How data flows in networks: Simplex, Half-Duplex, Full-Duplex | Anis HASSEN  posted on the topic | LinkedIn">
              <a:extLst>
                <a:ext uri="{FF2B5EF4-FFF2-40B4-BE49-F238E27FC236}">
                  <a16:creationId xmlns:a16="http://schemas.microsoft.com/office/drawing/2014/main" id="{99E9D030-886D-7734-B32F-4BB8C199C52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42" t="4466" r="6233" b="2696"/>
            <a:stretch>
              <a:fillRect/>
            </a:stretch>
          </p:blipFill>
          <p:spPr bwMode="auto">
            <a:xfrm>
              <a:off x="8734649" y="982357"/>
              <a:ext cx="3094168" cy="53126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475FB5-0F61-16D6-E1BE-22C648CB3ACB}"/>
                </a:ext>
              </a:extLst>
            </p:cNvPr>
            <p:cNvSpPr txBox="1"/>
            <p:nvPr/>
          </p:nvSpPr>
          <p:spPr>
            <a:xfrm>
              <a:off x="8734650" y="6242050"/>
              <a:ext cx="30941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>
                  <a:hlinkClick r:id="rId5"/>
                </a:rPr>
                <a:t>https://www.linkedin.com/posts/anis-hassen_communication-modes-simplified-ever-activity-7310553982957948928-FHnT/</a:t>
              </a:r>
              <a:r>
                <a:rPr lang="en-US" sz="700" dirty="0"/>
                <a:t> 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EFBC80E-7EB9-E901-911A-ED2807369EE2}"/>
              </a:ext>
            </a:extLst>
          </p:cNvPr>
          <p:cNvGrpSpPr/>
          <p:nvPr/>
        </p:nvGrpSpPr>
        <p:grpSpPr>
          <a:xfrm>
            <a:off x="216400" y="982357"/>
            <a:ext cx="8312150" cy="5513608"/>
            <a:chOff x="216400" y="982357"/>
            <a:chExt cx="8312150" cy="5513608"/>
          </a:xfrm>
        </p:grpSpPr>
        <p:pic>
          <p:nvPicPr>
            <p:cNvPr id="3074" name="Picture 2" descr="Half-duplex vs Full-duplex vs Simplex Transmission Mode">
              <a:extLst>
                <a:ext uri="{FF2B5EF4-FFF2-40B4-BE49-F238E27FC236}">
                  <a16:creationId xmlns:a16="http://schemas.microsoft.com/office/drawing/2014/main" id="{CD66EAA8-F009-4E81-E5AB-3F7F4FC56A0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93" r="2565"/>
            <a:stretch>
              <a:fillRect/>
            </a:stretch>
          </p:blipFill>
          <p:spPr bwMode="auto">
            <a:xfrm>
              <a:off x="216400" y="982357"/>
              <a:ext cx="8312150" cy="53077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AAE732-0000-3CAB-107F-6913C420520C}"/>
                </a:ext>
              </a:extLst>
            </p:cNvPr>
            <p:cNvSpPr txBox="1"/>
            <p:nvPr/>
          </p:nvSpPr>
          <p:spPr>
            <a:xfrm>
              <a:off x="747652" y="6295910"/>
              <a:ext cx="724964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>
                  <a:hlinkClick r:id="rId7"/>
                </a:rPr>
                <a:t>https://www.qsfptek.com/qt-news/half-duplex-vs-full-duplex-vs-simplex-transmission-mode.html?srsltid=AfmBOopvEYPNWR3lh3_nh46jJxnYWESqNo07pANJhJ3pTBwkhLByDD5J</a:t>
              </a:r>
              <a:r>
                <a:rPr lang="en-US" sz="7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0804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B4D2AB9D-2457-3211-C0D4-DE135DFAA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57135A9-31CC-D8EA-1584-009E664D3D7E}"/>
              </a:ext>
            </a:extLst>
          </p:cNvPr>
          <p:cNvGrpSpPr/>
          <p:nvPr/>
        </p:nvGrpSpPr>
        <p:grpSpPr>
          <a:xfrm>
            <a:off x="2206906" y="2674628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D3AA029-9DAF-CA5C-CC72-86F6C481A94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Protocols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0D5D6850-CB56-3AA3-B8A1-77B54555F9CA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ABAA4E85-8BFE-612F-03A7-D582E7A24C04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C1FCE07-7739-7976-0281-85EB57EEFE62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C96BD22F-4C43-AC9C-9F54-F694529DED4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AC4CA889-AF22-6E85-92EF-A110A86E85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99F85255-AAD3-BD95-8535-ABE4F735CB1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814889B-3CBF-D837-0CDA-28FC1BA5274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FDAEA03-58FF-93F6-3AA0-8B81758BFDB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549A4B5-E4AB-DCC3-1A49-92E3173D7D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7867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F98DDE-B645-BBE4-5756-DF6A05CC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E6462F-EB74-1857-0B24-DB61ED152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Red Board supports a lot of communication protocols: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>
                <a:latin typeface="Arial"/>
                <a:ea typeface="Arial"/>
                <a:cs typeface="Arial"/>
                <a:sym typeface="Arial"/>
              </a:rPr>
              <a:t>SPI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– Serial Peripheral Interface - The classic UART. It is asynchronous, requiring only two wires (TX/RX), but limited in speed due to the lack of a shared clock.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>
                <a:latin typeface="Arial"/>
                <a:ea typeface="Arial"/>
                <a:cs typeface="Arial"/>
                <a:sym typeface="Arial"/>
              </a:rPr>
              <a:t>SCI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– Serial Communications Interface - A high-speed synchronous serial input and output (I/O) port. It requires four wires and dominates high-frequency sensor and motor driver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>
                <a:latin typeface="Arial"/>
                <a:ea typeface="Arial"/>
                <a:cs typeface="Arial"/>
                <a:sym typeface="Arial"/>
              </a:rPr>
              <a:t>I2C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– Inter-Integrated Circuit Module - A synchronous, two-wire bus using software addressing rather than hardware routing. Uses less wires some can be advantageous over SCI.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09A953-34FF-EDC4-89AC-1D041972D5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F9FEF23-FA48-B358-65A6-EAD8D453DC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04A900D-EF32-489F-02FA-1EDF247A37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2D157C4-14C2-D186-2058-7B8BEAC393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559E22A-9CFF-92DA-34D1-5CDABD737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4AED68D-70A7-3D5F-ED5D-ACDD258647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785742C-E51F-C713-500A-5C187E15A5D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C43059D-61AB-99B2-30BB-9D3C1BCBEB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9482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37AC97-3F7F-C5C7-1A7D-DB688807D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C82BCD4-24AD-A55D-29C2-6252D8BD14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Red Board supports a lot of communication protocols: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>
                <a:latin typeface="Arial"/>
                <a:ea typeface="Arial"/>
                <a:cs typeface="Arial"/>
                <a:sym typeface="Arial"/>
              </a:rPr>
              <a:t>CAN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– Controller Area Network - A highly robust, differential-signaling serial bus designed for automotive environments. It prioritizes message IDs and deterministic collision resolution over raw speed.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 err="1">
                <a:latin typeface="Arial"/>
                <a:ea typeface="Arial"/>
                <a:cs typeface="Arial"/>
                <a:sym typeface="Arial"/>
              </a:rPr>
              <a:t>McBSP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– Multichannel Buffered Serial Port - A high-speed synchronous serial port capable of handling complex audio streams and telecommunications data.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>
                <a:latin typeface="Arial"/>
                <a:ea typeface="Arial"/>
                <a:cs typeface="Arial"/>
                <a:sym typeface="Arial"/>
              </a:rPr>
              <a:t>USB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– Universal Serial Bus - A complex, differential standard used primarily for interfacing the embedded system with host PCs for data logging or firmware updates.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200" b="1" dirty="0" err="1">
                <a:latin typeface="Arial"/>
                <a:ea typeface="Arial"/>
                <a:cs typeface="Arial"/>
                <a:sym typeface="Arial"/>
              </a:rPr>
              <a:t>uPP</a:t>
            </a:r>
            <a:r>
              <a:rPr lang="en-US" sz="2200" dirty="0">
                <a:latin typeface="Arial"/>
                <a:ea typeface="Arial"/>
                <a:cs typeface="Arial"/>
                <a:sym typeface="Arial"/>
              </a:rPr>
              <a:t> - Universal Parallel Port - A high-speed parallel interface used for connecting directly to FPGAs or massive data-acquisition modules (high-speed ADC).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90F2AEF-C308-6C69-8192-6A3D11936D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93DB5E0-7E03-9375-7DED-51DBA1C290C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Serial Communication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625CE1D-DBC5-E794-D26D-0664C39FF1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F33CEA-6097-27AC-96CC-8B2682452DA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A79B5C-62A9-290E-3F21-4B7505FE5DC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CB6F1B-99FB-7828-B415-0C215014BE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52A695C-6644-B0C9-217E-6D5AA82AFA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F2C9516-CE55-8195-BB96-324549B1C2F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19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1656</Words>
  <Application>Microsoft Office PowerPoint</Application>
  <PresentationFormat>Widescreen</PresentationFormat>
  <Paragraphs>225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99</cp:revision>
  <dcterms:created xsi:type="dcterms:W3CDTF">2019-01-14T22:06:33Z</dcterms:created>
  <dcterms:modified xsi:type="dcterms:W3CDTF">2026-02-22T10:05:42Z</dcterms:modified>
</cp:coreProperties>
</file>